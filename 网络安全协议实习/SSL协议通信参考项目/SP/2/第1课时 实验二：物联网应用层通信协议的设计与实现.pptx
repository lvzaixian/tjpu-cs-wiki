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bin" ContentType="application/vnd.openxmlformats-officedocument.oleObject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412" r:id="rId2"/>
    <p:sldId id="433" r:id="rId3"/>
    <p:sldId id="434" r:id="rId4"/>
    <p:sldId id="427" r:id="rId5"/>
    <p:sldId id="436" r:id="rId6"/>
    <p:sldId id="437" r:id="rId7"/>
    <p:sldId id="440" r:id="rId8"/>
    <p:sldId id="442" r:id="rId9"/>
    <p:sldId id="438" r:id="rId10"/>
    <p:sldId id="441" r:id="rId11"/>
    <p:sldId id="445" r:id="rId12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C0C9E6"/>
    <a:srgbClr val="EAF0DC"/>
    <a:srgbClr val="FFFFCC"/>
    <a:srgbClr val="DFF5DF"/>
    <a:srgbClr val="FF3399"/>
    <a:srgbClr val="CCFFFF"/>
    <a:srgbClr val="FFCCFF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vertBarState="maximized">
    <p:restoredLeft sz="15617"/>
    <p:restoredTop sz="93877"/>
  </p:normalViewPr>
  <p:slideViewPr>
    <p:cSldViewPr showGuides="1">
      <p:cViewPr varScale="1">
        <p:scale>
          <a:sx n="84" d="100"/>
          <a:sy n="84" d="100"/>
        </p:scale>
        <p:origin x="-954" y="-90"/>
      </p:cViewPr>
      <p:guideLst>
        <p:guide orient="horz" pos="2160"/>
        <p:guide pos="289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buFontTx/>
              <a:buNone/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buFontTx/>
              <a:buNone/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buFontTx/>
              <a:buNone/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buFont typeface="Arial" panose="020B0604020202020204" pitchFamily="34" charset="0"/>
              <a:buNone/>
              <a:defRPr sz="1200" noProof="1">
                <a:cs typeface="+mn-ea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67A7F4B-6462-4226-89CB-AA7EFE37916F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9459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r>
              <a:rPr lang="zh-CN" altLang="en-US" b="1" dirty="0"/>
              <a:t>例如：网络协议的三要素语法、语义、同步分别对应协议设计的结构体、业务逻辑和</a:t>
            </a:r>
            <a:r>
              <a:rPr lang="zh-CN" altLang="zh-CN" b="1" dirty="0"/>
              <a:t>网络事件本身顺序关系</a:t>
            </a:r>
            <a:r>
              <a:rPr lang="zh-CN" altLang="en-US" b="1" dirty="0"/>
              <a:t>。</a:t>
            </a:r>
            <a:endParaRPr lang="zh-CN" altLang="zh-CN" b="1" dirty="0"/>
          </a:p>
          <a:p>
            <a:pPr lvl="0"/>
            <a:endParaRPr lang="zh-CN" altLang="en-US" dirty="0"/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/>
          </p:nvPr>
        </p:nvSpPr>
        <p:spPr>
          <a:noFill/>
        </p:spPr>
        <p:txBody>
          <a:bodyPr lIns="91440" tIns="45720" rIns="91440" bIns="45720" rtlCol="0" anchor="b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EDADCF8-E669-4E56-A51D-7D04557E7E3B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4579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/>
          </p:nvPr>
        </p:nvSpPr>
        <p:spPr>
          <a:noFill/>
        </p:spPr>
        <p:txBody>
          <a:bodyPr lIns="91440" tIns="45720" rIns="91440" bIns="45720" rtlCol="0" anchor="b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109EC4B-9A6A-47A3-B234-7C55B89E5D35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C6FFFD0-02FA-472F-9A0B-3B347DBF61D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  <p:transition>
    <p:dissolv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4291970-59E5-41C4-92E1-1BFFED90BCB6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  <p:transition>
    <p:dissolv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87843DD-0D94-4CA0-B1C3-EEF0B63450E8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  <p:transition>
    <p:dissolv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4CDECF6-8759-4692-B698-2D8886CA702D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  <p:transition>
    <p:dissolv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C5AF296-0D88-4A0A-8DB3-027B0B57E616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  <p:transition>
    <p:dissolv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AFC0577-4607-4395-A5D7-2BBF7B899C04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  <p:transition>
    <p:dissolv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0F4F653-7F32-4A4E-BB20-F8FF35F46A75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  <p:transition>
    <p:dissolv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5C40512-CD49-473C-B266-DA4B44576E3B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  <p:transition>
    <p:dissolv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604B458-DBE8-4EED-8F55-7071C6C7D3BE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  <p:transition>
    <p:dissolv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67DF67B-1841-4DFB-B61F-DFCACD18378A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  <p:transition>
    <p:dissolv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DDB94FA-A0B1-4098-B8C9-CE61A7CF6B91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  <p:transition>
    <p:dissolv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hangingPunct="1">
              <a:buFont typeface="Arial" panose="020B0604020202020204" pitchFamily="34" charset="0"/>
              <a:buNone/>
              <a:defRPr sz="1200" noProof="1">
                <a:solidFill>
                  <a:srgbClr val="898989"/>
                </a:solidFill>
                <a:latin typeface="Calibri" panose="020F0502020204030204" pitchFamily="34" charset="0"/>
                <a:cs typeface="+mn-ea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87C372E-FA7A-4011-8B80-55A0375DC061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dissolve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8" name="组合 9"/>
          <p:cNvGrpSpPr/>
          <p:nvPr/>
        </p:nvGrpSpPr>
        <p:grpSpPr>
          <a:xfrm>
            <a:off x="0" y="0"/>
            <a:ext cx="9144000" cy="1268413"/>
            <a:chOff x="0" y="0"/>
            <a:chExt cx="9144000" cy="1268413"/>
          </a:xfrm>
        </p:grpSpPr>
        <p:sp>
          <p:nvSpPr>
            <p:cNvPr id="14341" name="AutoShape 2"/>
            <p:cNvSpPr/>
            <p:nvPr/>
          </p:nvSpPr>
          <p:spPr>
            <a:xfrm>
              <a:off x="0" y="0"/>
              <a:ext cx="9144000" cy="1268413"/>
            </a:xfrm>
            <a:prstGeom prst="flowChartDocument">
              <a:avLst/>
            </a:prstGeom>
            <a:solidFill>
              <a:srgbClr val="C0C0C0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14342" name="AutoShape 4"/>
            <p:cNvSpPr/>
            <p:nvPr/>
          </p:nvSpPr>
          <p:spPr>
            <a:xfrm>
              <a:off x="0" y="0"/>
              <a:ext cx="9144000" cy="1196975"/>
            </a:xfrm>
            <a:prstGeom prst="flowChartDocument">
              <a:avLst/>
            </a:prstGeom>
            <a:solidFill>
              <a:srgbClr val="4052AE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graphicFrame>
          <p:nvGraphicFramePr>
            <p:cNvPr id="14343" name="Object 5"/>
            <p:cNvGraphicFramePr>
              <a:graphicFrameLocks/>
            </p:cNvGraphicFramePr>
            <p:nvPr/>
          </p:nvGraphicFramePr>
          <p:xfrm>
            <a:off x="323850" y="273050"/>
            <a:ext cx="2663825" cy="623888"/>
          </p:xfrm>
          <a:graphic>
            <a:graphicData uri="http://schemas.openxmlformats.org/presentationml/2006/ole">
              <p:oleObj spid="_x0000_s3076" r:id="rId3" imgW="8483040" imgH="1983240" progId="">
                <p:embed/>
              </p:oleObj>
            </a:graphicData>
          </a:graphic>
        </p:graphicFrame>
        <p:sp>
          <p:nvSpPr>
            <p:cNvPr id="7" name="矩形 6"/>
            <p:cNvSpPr/>
            <p:nvPr/>
          </p:nvSpPr>
          <p:spPr>
            <a:xfrm>
              <a:off x="2857488" y="357166"/>
              <a:ext cx="2784475" cy="369888"/>
            </a:xfrm>
            <a:prstGeom prst="rect">
              <a:avLst/>
            </a:prstGeom>
            <a:noFill/>
            <a:ln w="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rPr>
                <a:t>软件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rPr>
                <a:t>学院</a:t>
              </a:r>
            </a:p>
          </p:txBody>
        </p:sp>
      </p:grpSp>
      <p:sp>
        <p:nvSpPr>
          <p:cNvPr id="14339" name="标题 7"/>
          <p:cNvSpPr>
            <a:spLocks noGrp="1"/>
          </p:cNvSpPr>
          <p:nvPr>
            <p:ph type="ctrTitle"/>
          </p:nvPr>
        </p:nvSpPr>
        <p:spPr>
          <a:xfrm>
            <a:off x="176213" y="2159000"/>
            <a:ext cx="8358187" cy="2714625"/>
          </a:xfrm>
          <a:ln/>
        </p:spPr>
        <p:txBody>
          <a:bodyPr vert="horz" wrap="square" lIns="91440" tIns="45720" rIns="91440" bIns="45720" anchor="ctr" anchorCtr="0"/>
          <a:lstStyle/>
          <a:p>
            <a:pPr>
              <a:buClrTx/>
              <a:buSzTx/>
              <a:buFontTx/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b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实验二：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物</a:t>
            </a:r>
            <a:r>
              <a:rPr lang="zh-CN" altLang="en-US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联网应用层通信协议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的设计与实现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b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340" name="副标题 8"/>
          <p:cNvSpPr>
            <a:spLocks noGrp="1"/>
          </p:cNvSpPr>
          <p:nvPr>
            <p:ph type="subTitle" idx="1"/>
          </p:nvPr>
        </p:nvSpPr>
        <p:spPr>
          <a:xfrm>
            <a:off x="1371600" y="5105400"/>
            <a:ext cx="6400800" cy="1752600"/>
          </a:xfrm>
          <a:ln/>
        </p:spPr>
        <p:txBody>
          <a:bodyPr vert="horz" wrap="square" lIns="91440" tIns="45720" rIns="91440" bIns="45720" anchor="t" anchorCtr="0"/>
          <a:lstStyle/>
          <a:p>
            <a:pPr>
              <a:buClrTx/>
              <a:buSzTx/>
            </a:pPr>
            <a:r>
              <a:rPr lang="zh-CN" altLang="en-US" kern="1200" dirty="0" smtClean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软件</a:t>
            </a:r>
            <a:r>
              <a:rPr lang="zh-CN" altLang="en-US" kern="12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学院    </a:t>
            </a:r>
          </a:p>
          <a:p>
            <a:pPr>
              <a:buClrTx/>
              <a:buSzTx/>
            </a:pPr>
            <a:r>
              <a:rPr lang="zh-CN" altLang="en-US" kern="12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张振  </a:t>
            </a:r>
            <a:r>
              <a:rPr lang="en-US" altLang="zh-CN" kern="1200" dirty="0" smtClean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2025-06-09</a:t>
            </a:r>
            <a:r>
              <a:rPr lang="zh-CN" altLang="en-US" kern="1200" dirty="0" smtClean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   </a:t>
            </a:r>
            <a:endParaRPr lang="en-US" altLang="zh-CN" kern="1200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pPr>
              <a:buClrTx/>
              <a:buSzTx/>
            </a:pPr>
            <a:r>
              <a:rPr lang="en-US" altLang="zh-CN" kern="12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                                  </a:t>
            </a:r>
            <a:endParaRPr lang="zh-CN" altLang="en-US" kern="1200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lstStyle/>
          <a:p>
            <a:pPr algn="l" eaLnBrk="1" hangingPunct="1"/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实验目的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387" name="内容占位符 2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AutoNum type="arabicPeriod"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学习网络协议设计的一般思路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AutoNum type="arabicPeriod"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掌握网络协议实现的关键技术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AutoNum type="arabicPeriod"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理解实际生活中“互联网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+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”项目的网络通信实现原理</a:t>
            </a:r>
            <a:endParaRPr kumimoji="0" lang="zh-CN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5364" name="Picture 2" descr="https://ss0.bdstatic.com/70cFvHSh_Q1YnxGkpoWK1HF6hhy/it/u=2865071150,3412242008&amp;fm=27&amp;gp=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988" y="4032250"/>
            <a:ext cx="2808287" cy="20589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365" name="Picture 4" descr="https://ss1.bdstatic.com/70cFuXSh_Q1YnxGkpoWK1HF6hhy/it/u=529884512,4106071015&amp;fm=200&amp;gp=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5738" y="3905250"/>
            <a:ext cx="2070100" cy="24034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dissolv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/>
          <p:cNvSpPr>
            <a:spLocks noGrp="1"/>
          </p:cNvSpPr>
          <p:nvPr>
            <p:ph type="title"/>
          </p:nvPr>
        </p:nvSpPr>
        <p:spPr>
          <a:xfrm>
            <a:off x="523875" y="404813"/>
            <a:ext cx="8229600" cy="1143000"/>
          </a:xfrm>
          <a:ln/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网络协议设计的一般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思路</a:t>
            </a:r>
            <a:endParaRPr lang="zh-CN" altLang="en-US" sz="36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4294967295"/>
          </p:nvPr>
        </p:nvGraphicFramePr>
        <p:xfrm>
          <a:off x="457200" y="2060575"/>
          <a:ext cx="8362951" cy="4536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4459"/>
                <a:gridCol w="3384246"/>
                <a:gridCol w="3384246"/>
              </a:tblGrid>
              <a:tr h="85766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800" b="1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网络协议三要素</a:t>
                      </a:r>
                      <a:endParaRPr lang="zh-CN" sz="2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7" marR="68577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800" b="1" kern="100" dirty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理论上所指</a:t>
                      </a:r>
                    </a:p>
                  </a:txBody>
                  <a:tcPr marL="68577" marR="68577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800" b="1" kern="100" dirty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对应的协议实现</a:t>
                      </a:r>
                    </a:p>
                  </a:txBody>
                  <a:tcPr marL="68577" marR="68577" marT="0" marB="0"/>
                </a:tc>
              </a:tr>
              <a:tr h="929833"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语法</a:t>
                      </a:r>
                      <a:endParaRPr lang="zh-CN" altLang="en-US" sz="2400" b="1" dirty="0"/>
                    </a:p>
                  </a:txBody>
                  <a:tcPr marL="91436" marR="91436" marT="45723" marB="45723"/>
                </a:tc>
                <a:tc>
                  <a:txBody>
                    <a:bodyPr/>
                    <a:lstStyle/>
                    <a:p>
                      <a:r>
                        <a:rPr lang="zh-CN" altLang="zh-CN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数据与控制信息的结构或格式</a:t>
                      </a:r>
                      <a:endParaRPr lang="zh-CN" altLang="en-US" sz="2400" b="1" dirty="0"/>
                    </a:p>
                  </a:txBody>
                  <a:tcPr marL="91436" marR="91436" marT="45723" marB="45723"/>
                </a:tc>
                <a:tc>
                  <a:txBody>
                    <a:bodyPr/>
                    <a:lstStyle/>
                    <a:p>
                      <a:r>
                        <a:rPr lang="zh-CN" altLang="zh-CN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定义结构体、类</a:t>
                      </a:r>
                      <a:endParaRPr lang="zh-CN" altLang="en-US" sz="2400" b="1" dirty="0"/>
                    </a:p>
                  </a:txBody>
                  <a:tcPr marL="91436" marR="91436" marT="45723" marB="45723"/>
                </a:tc>
              </a:tr>
              <a:tr h="1194607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语义</a:t>
                      </a:r>
                    </a:p>
                  </a:txBody>
                  <a:tcPr marL="68577" marR="68577" marT="0" marB="0"/>
                </a:tc>
                <a:tc>
                  <a:txBody>
                    <a:bodyPr/>
                    <a:lstStyle/>
                    <a:p>
                      <a:r>
                        <a:rPr lang="zh-CN" altLang="zh-CN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需要发出何种控制信息</a:t>
                      </a:r>
                      <a:r>
                        <a:rPr lang="en-US" altLang="zh-CN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zh-CN" altLang="zh-CN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完成何种动作以及做出何种响应</a:t>
                      </a:r>
                      <a:endParaRPr lang="zh-CN" altLang="en-US" sz="2400" b="1" dirty="0"/>
                    </a:p>
                  </a:txBody>
                  <a:tcPr marL="91436" marR="91436" marT="45723" marB="45723"/>
                </a:tc>
                <a:tc>
                  <a:txBody>
                    <a:bodyPr/>
                    <a:lstStyle/>
                    <a:p>
                      <a:r>
                        <a:rPr lang="zh-CN" altLang="zh-CN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网络事件的业务逻辑</a:t>
                      </a:r>
                      <a:endParaRPr lang="zh-CN" altLang="en-US" sz="2400" b="1" dirty="0"/>
                    </a:p>
                  </a:txBody>
                  <a:tcPr marL="91436" marR="91436" marT="45723" marB="45723"/>
                </a:tc>
              </a:tr>
              <a:tr h="1194607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同步</a:t>
                      </a:r>
                    </a:p>
                  </a:txBody>
                  <a:tcPr marL="68577" marR="68577" marT="0" marB="0"/>
                </a:tc>
                <a:tc>
                  <a:txBody>
                    <a:bodyPr/>
                    <a:lstStyle/>
                    <a:p>
                      <a:r>
                        <a:rPr lang="zh-CN" altLang="zh-CN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事件实现顺序的详细说明</a:t>
                      </a:r>
                      <a:endParaRPr lang="zh-CN" altLang="en-US" sz="2400" b="1" dirty="0"/>
                    </a:p>
                  </a:txBody>
                  <a:tcPr marL="91436" marR="91436" marT="45723" marB="45723"/>
                </a:tc>
                <a:tc>
                  <a:txBody>
                    <a:bodyPr/>
                    <a:lstStyle/>
                    <a:p>
                      <a:r>
                        <a:rPr lang="zh-CN" altLang="zh-CN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网络事件本身顺序关系逻辑，</a:t>
                      </a:r>
                      <a:r>
                        <a:rPr lang="zh-CN" alt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如：</a:t>
                      </a:r>
                      <a:r>
                        <a:rPr lang="en-US" altLang="zh-CN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Socket</a:t>
                      </a:r>
                      <a:r>
                        <a:rPr lang="zh-CN" alt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的</a:t>
                      </a:r>
                      <a:r>
                        <a:rPr lang="en-US" altLang="zh-CN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listen</a:t>
                      </a:r>
                      <a:r>
                        <a:rPr lang="zh-CN" altLang="en-US" sz="2400" b="1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、</a:t>
                      </a:r>
                      <a:r>
                        <a:rPr lang="en-US" altLang="zh-CN" sz="2400" b="1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accept</a:t>
                      </a:r>
                      <a:r>
                        <a:rPr lang="zh-CN" altLang="en-US" sz="2400" b="1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、</a:t>
                      </a:r>
                      <a:r>
                        <a:rPr lang="en-US" altLang="zh-CN" sz="2400" b="1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send</a:t>
                      </a:r>
                      <a:r>
                        <a:rPr lang="zh-CN" altLang="en-US" sz="2400" b="1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、</a:t>
                      </a:r>
                      <a:r>
                        <a:rPr lang="en-US" altLang="zh-CN" sz="2400" b="1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receive</a:t>
                      </a:r>
                      <a:r>
                        <a:rPr lang="zh-CN" altLang="en-US" sz="2400" b="1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状态转换</a:t>
                      </a:r>
                      <a:endParaRPr lang="zh-CN" altLang="en-US" sz="2400" b="1" dirty="0"/>
                    </a:p>
                  </a:txBody>
                  <a:tcPr marL="91436" marR="91436" marT="45723" marB="45723"/>
                </a:tc>
              </a:tr>
            </a:tbl>
          </a:graphicData>
        </a:graphic>
      </p:graphicFrame>
      <p:sp>
        <p:nvSpPr>
          <p:cNvPr id="5" name="标题 1"/>
          <p:cNvSpPr txBox="1"/>
          <p:nvPr/>
        </p:nvSpPr>
        <p:spPr>
          <a:xfrm>
            <a:off x="2195513" y="1384300"/>
            <a:ext cx="4325937" cy="6762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FontTx/>
              <a:buNone/>
            </a:pPr>
            <a:r>
              <a:rPr lang="en-US" altLang="zh-CN" sz="3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★</a:t>
            </a:r>
            <a:r>
              <a:rPr lang="zh-CN" altLang="en-US" sz="3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理论指导实践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/>
          </p:cNvSpPr>
          <p:nvPr>
            <p:ph type="title"/>
          </p:nvPr>
        </p:nvSpPr>
        <p:spPr>
          <a:xfrm>
            <a:off x="433388" y="293688"/>
            <a:ext cx="8229600" cy="1143000"/>
          </a:xfrm>
          <a:ln/>
        </p:spPr>
        <p:txBody>
          <a:bodyPr vert="horz" wrap="square" lIns="91440" tIns="45720" rIns="91440" bIns="45720" anchor="ctr" anchorCtr="0"/>
          <a:lstStyle/>
          <a:p>
            <a:pPr algn="l"/>
            <a:r>
              <a:rPr lang="zh-CN" altLang="en-US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实验项目：</a:t>
            </a:r>
            <a:r>
              <a:rPr lang="en-US" altLang="zh-CN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br>
              <a:rPr lang="en-US" altLang="zh-CN" sz="4000" b="1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投票应用层协议的设计与实现</a:t>
            </a:r>
            <a:r>
              <a:rPr lang="en-US" altLang="zh-CN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br>
              <a:rPr lang="en-US" altLang="zh-CN" sz="4000" b="1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（基于</a:t>
            </a:r>
            <a:r>
              <a:rPr lang="en-US" altLang="zh-CN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Java</a:t>
            </a:r>
            <a:r>
              <a:rPr lang="zh-CN" altLang="en-US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21507" name="内容占位符 2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8436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" y="2197100"/>
            <a:ext cx="7781925" cy="2895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矩形 3"/>
          <p:cNvSpPr/>
          <p:nvPr/>
        </p:nvSpPr>
        <p:spPr>
          <a:xfrm>
            <a:off x="2387600" y="5402263"/>
            <a:ext cx="4321175" cy="5762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图：投票案例描述示意图</a:t>
            </a:r>
          </a:p>
        </p:txBody>
      </p:sp>
      <p:sp>
        <p:nvSpPr>
          <p:cNvPr id="6" name="矩形 5"/>
          <p:cNvSpPr/>
          <p:nvPr/>
        </p:nvSpPr>
        <p:spPr>
          <a:xfrm>
            <a:off x="655638" y="4097338"/>
            <a:ext cx="2241550" cy="3603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客户端</a:t>
            </a:r>
          </a:p>
        </p:txBody>
      </p:sp>
      <p:sp>
        <p:nvSpPr>
          <p:cNvPr id="7" name="矩形 6"/>
          <p:cNvSpPr/>
          <p:nvPr/>
        </p:nvSpPr>
        <p:spPr>
          <a:xfrm>
            <a:off x="6443663" y="4073525"/>
            <a:ext cx="1668463" cy="3603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服务端</a:t>
            </a:r>
          </a:p>
        </p:txBody>
      </p:sp>
    </p:spTree>
  </p:cSld>
  <p:clrMapOvr>
    <a:masterClrMapping/>
  </p:clrMapOvr>
  <p:transition>
    <p:dissolv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/>
          <p:cNvSpPr>
            <a:spLocks noGrp="1"/>
          </p:cNvSpPr>
          <p:nvPr>
            <p:ph type="title"/>
          </p:nvPr>
        </p:nvSpPr>
        <p:spPr>
          <a:xfrm>
            <a:off x="523875" y="404813"/>
            <a:ext cx="8229600" cy="1143000"/>
          </a:xfrm>
          <a:ln/>
        </p:spPr>
        <p:txBody>
          <a:bodyPr vert="horz" wrap="square" lIns="91440" tIns="45720" rIns="91440" bIns="45720" anchor="ctr" anchorCtr="0"/>
          <a:lstStyle/>
          <a:p>
            <a:r>
              <a:rPr lang="zh-CN" altLang="en-US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投票协议报文格式（参考）</a:t>
            </a:r>
          </a:p>
        </p:txBody>
      </p:sp>
      <p:graphicFrame>
        <p:nvGraphicFramePr>
          <p:cNvPr id="6" name="内容占位符 5"/>
          <p:cNvGraphicFramePr>
            <a:graphicFrameLocks noGrp="1"/>
          </p:cNvGraphicFramePr>
          <p:nvPr>
            <p:ph idx="4294967295"/>
          </p:nvPr>
        </p:nvGraphicFramePr>
        <p:xfrm>
          <a:off x="457200" y="1600200"/>
          <a:ext cx="8296275" cy="43497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5578"/>
                <a:gridCol w="1887376"/>
                <a:gridCol w="4293321"/>
              </a:tblGrid>
              <a:tr h="765456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zh-CN" sz="2800" b="1" kern="100" dirty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字段</a:t>
                      </a:r>
                      <a:endParaRPr lang="zh-CN" altLang="en-US" sz="2800" b="1" kern="100" dirty="0">
                        <a:solidFill>
                          <a:schemeClr val="lt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zh-CN" sz="2800" b="1" kern="100" dirty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字段类型</a:t>
                      </a:r>
                      <a:endParaRPr lang="zh-CN" altLang="en-US" sz="2800" b="1" kern="100" dirty="0">
                        <a:solidFill>
                          <a:schemeClr val="lt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800" b="1" kern="100" dirty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含义</a:t>
                      </a:r>
                    </a:p>
                  </a:txBody>
                  <a:tcPr marT="45727" marB="45727"/>
                </a:tc>
              </a:tr>
              <a:tr h="939613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4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isInquiry</a:t>
                      </a:r>
                      <a:endParaRPr lang="zh-CN" altLang="en-US" sz="24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bool</a:t>
                      </a:r>
                      <a:endParaRPr lang="zh-CN" altLang="en-US" sz="24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True</a:t>
                      </a:r>
                      <a:r>
                        <a:rPr lang="zh-CN" alt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：表示该消息是查询请求；</a:t>
                      </a:r>
                      <a:r>
                        <a:rPr lang="en-US" altLang="zh-CN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</a:t>
                      </a:r>
                      <a:r>
                        <a:rPr 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alse</a:t>
                      </a:r>
                      <a:r>
                        <a:rPr lang="zh-CN" alt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：表示该消息是投票信息</a:t>
                      </a:r>
                    </a:p>
                  </a:txBody>
                  <a:tcPr marL="68580" marR="68580" marT="0" marB="0" anchor="ctr"/>
                </a:tc>
              </a:tr>
              <a:tr h="939613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isResponse</a:t>
                      </a:r>
                      <a:endParaRPr lang="zh-CN" altLang="en-US" sz="24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bool</a:t>
                      </a:r>
                      <a:endParaRPr lang="zh-CN" altLang="en-US" sz="24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True</a:t>
                      </a:r>
                      <a:r>
                        <a:rPr lang="zh-CN" alt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：表示该消息是响应；</a:t>
                      </a:r>
                      <a:r>
                        <a:rPr lang="en-US" altLang="zh-CN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</a:t>
                      </a:r>
                      <a:r>
                        <a:rPr 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alse</a:t>
                      </a:r>
                      <a:r>
                        <a:rPr lang="zh-CN" alt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：表示该消息是请求</a:t>
                      </a:r>
                    </a:p>
                  </a:txBody>
                  <a:tcPr marL="68580" marR="68580" marT="0" marB="0"/>
                </a:tc>
              </a:tr>
              <a:tr h="76545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CandidateID</a:t>
                      </a:r>
                      <a:endParaRPr lang="zh-CN" altLang="en-US" sz="24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</a:t>
                      </a:r>
                      <a:r>
                        <a:rPr 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zh-CN" altLang="en-US" sz="24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4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指示候选人的</a:t>
                      </a:r>
                      <a:r>
                        <a:rPr lang="en-US" sz="24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ID, </a:t>
                      </a:r>
                      <a:r>
                        <a:rPr lang="zh-CN" altLang="en-US" sz="24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范围</a:t>
                      </a:r>
                      <a:r>
                        <a:rPr lang="en-US" sz="24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:0-1000</a:t>
                      </a:r>
                      <a:endParaRPr lang="zh-CN" altLang="en-US" sz="2400" b="1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</a:tr>
              <a:tr h="939613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voteCount</a:t>
                      </a:r>
                      <a:endParaRPr lang="zh-CN" altLang="en-US" sz="24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long</a:t>
                      </a:r>
                      <a:endParaRPr lang="zh-CN" altLang="en-US" sz="24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指示出所查询的候选人获得的总选票数</a:t>
                      </a: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</p:cSld>
  <p:clrMapOvr>
    <a:masterClrMapping/>
  </p:clrMapOvr>
  <p:transition>
    <p:dissolv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lstStyle/>
          <a:p>
            <a:pPr algn="l" eaLnBrk="1" hangingPunct="1"/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协议实现关键技术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507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lstStyle/>
          <a:p>
            <a:pPr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将对象转换成字节序列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Java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中序列化方法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Serialization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的局限性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解决办法：二进制表示方法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对协议消息进行编码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解码</a:t>
            </a:r>
            <a:endParaRPr lang="zh-CN" altLang="zh-CN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Font typeface="Arial" panose="020B0604020202020204" pitchFamily="34" charset="0"/>
              <a:buChar char="•"/>
            </a:pPr>
            <a:endParaRPr lang="zh-CN" altLang="en-US" sz="2400" b="1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lstStyle/>
          <a:p>
            <a:pPr algn="l" eaLnBrk="1" hangingPunct="1"/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关键技术─对象和字节流的转换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387" name="内容占位符 2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将协议的消息对象转换为二进制字节发送出去可以使用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Java</a:t>
            </a:r>
            <a:r>
              <a:rPr kumimoji="0" lang="zh-CN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语言的</a:t>
            </a:r>
            <a:r>
              <a:rPr kumimoji="0" lang="en-US" altLang="zh-CN" sz="32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DataOutputStream</a:t>
            </a:r>
            <a:r>
              <a:rPr kumimoji="0" lang="zh-CN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类和 </a:t>
            </a:r>
            <a:r>
              <a:rPr kumimoji="0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By</a:t>
            </a:r>
            <a:r>
              <a:rPr lang="en-US" altLang="zh-CN" b="1" dirty="0" smtClean="0"/>
              <a:t>t</a:t>
            </a:r>
            <a:r>
              <a:rPr kumimoji="0" lang="en-US" altLang="zh-CN" sz="32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eArrayOutputstream</a:t>
            </a:r>
            <a:r>
              <a:rPr kumimoji="0" lang="zh-CN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类。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利用</a:t>
            </a:r>
            <a:r>
              <a:rPr kumimoji="0" lang="en-US" altLang="zh-CN" sz="32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ByteArrayInputStream</a:t>
            </a:r>
            <a:r>
              <a:rPr kumimoji="0" lang="zh-CN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类和</a:t>
            </a:r>
            <a:r>
              <a:rPr kumimoji="0" lang="en-US" altLang="zh-CN" sz="32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DataInputStream</a:t>
            </a:r>
            <a:r>
              <a:rPr kumimoji="0" lang="zh-CN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类，可以将读入的</a:t>
            </a:r>
            <a:r>
              <a:rPr kumimoji="0" lang="zh-CN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二进制字节流消息还原为对象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得到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socket</a:t>
            </a:r>
            <a:r>
              <a:rPr kumimoji="0" lang="zh-CN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的输入流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zh-CN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输出流方法：</a:t>
            </a:r>
            <a:r>
              <a:rPr kumimoji="0" lang="en-US" altLang="zh-CN" sz="3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socket.getInputStream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()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en-US" altLang="zh-CN" sz="3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socket.getOutputStream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()</a:t>
            </a:r>
            <a:endParaRPr kumimoji="0" lang="zh-CN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dissolv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lstStyle/>
          <a:p>
            <a:pPr algn="l" eaLnBrk="1" hangingPunct="1"/>
            <a:r>
              <a:rPr lang="zh-CN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充电桩通信协议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387" name="内容占位符 2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6628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188" y="1335088"/>
            <a:ext cx="7632700" cy="50561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dissolv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lstStyle/>
          <a:p>
            <a:pPr algn="l" eaLnBrk="1" hangingPunct="1"/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实际科研项目中用到的技术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387" name="内容占位符 2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1,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此次实验的报文设计、编码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/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解码技术以及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Socket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通信编程。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，引入</a:t>
            </a:r>
            <a:r>
              <a:rPr kumimoji="0" lang="en-US" altLang="zh-CN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netty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、</a:t>
            </a:r>
            <a:r>
              <a:rPr kumimoji="0" lang="en-US" altLang="zh-CN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quickserver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等网络通信框架，简化开发步骤，提高通信性能。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，对于报文成帧、粘包处理的细节</a:t>
            </a:r>
            <a:endParaRPr kumimoji="0" lang="zh-CN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dissolv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lstStyle/>
          <a:p>
            <a:pPr algn="l" eaLnBrk="1" hangingPunct="1"/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现实中的网络通信案例原理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8675" name="Picture 2" descr="https://ss3.bdstatic.com/70cFv8Sh_Q1YnxGkpoWK1HF6hhy/it/u=1030867665,3974242186&amp;fm=200&amp;gp=0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58888" y="3895725"/>
            <a:ext cx="895350" cy="13414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8676" name="Picture 8" descr="https://ss0.bdstatic.com/70cFvHSh_Q1YnxGkpoWK1HF6hhy/it/u=2831324834,3072136310&amp;fm=27&amp;gp=0.jpg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3419475" y="1628775"/>
            <a:ext cx="1546225" cy="1544638"/>
          </a:xfrm>
          <a:ln/>
        </p:spPr>
      </p:pic>
      <p:pic>
        <p:nvPicPr>
          <p:cNvPr id="28677" name="Picture 10" descr="https://ss1.bdstatic.com/70cFvXSh_Q1YnxGkpoWK1HF6hhy/it/u=3237885808,154359741&amp;fm=27&amp;gp=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1500" y="3895725"/>
            <a:ext cx="2381250" cy="152400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10" name="直接箭头连接符 9"/>
          <p:cNvCxnSpPr/>
          <p:nvPr/>
        </p:nvCxnSpPr>
        <p:spPr>
          <a:xfrm flipV="1">
            <a:off x="1979613" y="2852738"/>
            <a:ext cx="1296988" cy="1042988"/>
          </a:xfrm>
          <a:prstGeom prst="straightConnector1">
            <a:avLst/>
          </a:prstGeom>
          <a:ln w="539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>
            <a:off x="5076825" y="2636838"/>
            <a:ext cx="1943100" cy="1258888"/>
          </a:xfrm>
          <a:prstGeom prst="straightConnector1">
            <a:avLst/>
          </a:prstGeom>
          <a:ln w="539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dissolv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lstStyle/>
          <a:p>
            <a:pPr algn="l" eaLnBrk="1" hangingPunct="1"/>
            <a:r>
              <a:rPr lang="zh-CN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教材及教学参考书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387" name="内容占位符 2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[1]</a:t>
            </a:r>
            <a:r>
              <a:rPr kumimoji="0" lang="zh-CN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《计算机网络》（第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6</a:t>
            </a:r>
            <a:r>
              <a:rPr kumimoji="0" lang="zh-CN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版） 谢希仁 著 电子工业出版社</a:t>
            </a:r>
            <a:endParaRPr kumimoji="0" lang="zh-CN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[2]</a:t>
            </a:r>
            <a:r>
              <a:rPr kumimoji="0" lang="zh-CN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《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Java TCP/IP Socket </a:t>
            </a:r>
            <a:r>
              <a:rPr kumimoji="0" lang="zh-CN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编程》（第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版） （美）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Kenneth </a:t>
            </a:r>
            <a:r>
              <a:rPr kumimoji="0" lang="en-US" altLang="zh-CN" sz="3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L.Calvet</a:t>
            </a:r>
            <a:r>
              <a:rPr kumimoji="0" lang="zh-CN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著 周恒民 译 机械工业出版社</a:t>
            </a:r>
            <a:endParaRPr kumimoji="0" lang="zh-CN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9700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0338" y="4075113"/>
            <a:ext cx="5561012" cy="23653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dissolve/>
  </p:transition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1060</TotalTime>
  <Words>429</Words>
  <Application>WPS 演示</Application>
  <PresentationFormat>全屏显示(4:3)</PresentationFormat>
  <Paragraphs>64</Paragraphs>
  <Slides>11</Slides>
  <Notes>2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11</vt:i4>
      </vt:variant>
    </vt:vector>
  </HeadingPairs>
  <TitlesOfParts>
    <vt:vector size="12" baseType="lpstr">
      <vt:lpstr>Office 主题</vt:lpstr>
      <vt:lpstr> 实验二：物联网应用层通信协议的设计与实现 </vt:lpstr>
      <vt:lpstr>实验目的</vt:lpstr>
      <vt:lpstr>网络协议设计的一般思路</vt:lpstr>
      <vt:lpstr>实验项目： 投票应用层协议的设计与实现 （基于Java）</vt:lpstr>
      <vt:lpstr>投票协议报文格式（参考）</vt:lpstr>
      <vt:lpstr>协议实现关键技术</vt:lpstr>
      <vt:lpstr>关键技术─对象和字节流的转换</vt:lpstr>
      <vt:lpstr>充电桩通信协议</vt:lpstr>
      <vt:lpstr>实际科研项目中用到的技术</vt:lpstr>
      <vt:lpstr>现实中的网络通信案例原理</vt:lpstr>
      <vt:lpstr>教材及教学参考书</vt:lpstr>
    </vt:vector>
  </TitlesOfParts>
  <Company>番茄花园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番茄花园</dc:creator>
  <cp:lastModifiedBy>SoftwareStu</cp:lastModifiedBy>
  <cp:revision>332</cp:revision>
  <dcterms:created xsi:type="dcterms:W3CDTF">2008-05-20T13:06:53Z</dcterms:created>
  <dcterms:modified xsi:type="dcterms:W3CDTF">2025-06-09T07:50:34Z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2052-11.1.0.10700</vt:lpwstr>
  </property>
  <property fmtid="{D5CDD505-2E9C-101B-9397-08002B2CF9AE}" pid="3" name="ICV">
    <vt:lpwstr>E3622A1311AE4686BF03161B72D56A7C</vt:lpwstr>
  </property>
</Properties>
</file>