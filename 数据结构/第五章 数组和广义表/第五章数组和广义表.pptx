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62"/>
  </p:handoutMasterIdLst>
  <p:sldIdLst>
    <p:sldId id="276" r:id="rId3"/>
    <p:sldId id="257" r:id="rId4"/>
    <p:sldId id="258" r:id="rId5"/>
    <p:sldId id="306" r:id="rId6"/>
    <p:sldId id="259" r:id="rId7"/>
    <p:sldId id="260" r:id="rId8"/>
    <p:sldId id="261" r:id="rId9"/>
    <p:sldId id="262" r:id="rId10"/>
    <p:sldId id="307" r:id="rId11"/>
    <p:sldId id="263" r:id="rId12"/>
    <p:sldId id="308" r:id="rId13"/>
    <p:sldId id="309" r:id="rId14"/>
    <p:sldId id="310" r:id="rId15"/>
    <p:sldId id="264" r:id="rId17"/>
    <p:sldId id="265" r:id="rId18"/>
    <p:sldId id="278" r:id="rId19"/>
    <p:sldId id="279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20" r:id="rId29"/>
    <p:sldId id="31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326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1" r:id="rId57"/>
    <p:sldId id="322" r:id="rId58"/>
    <p:sldId id="323" r:id="rId59"/>
    <p:sldId id="324" r:id="rId60"/>
    <p:sldId id="325" r:id="rId6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0099"/>
    <a:srgbClr val="FF0000"/>
    <a:srgbClr val="FF3399"/>
    <a:srgbClr val="00008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3039"/>
    <p:restoredTop sz="93437"/>
  </p:normalViewPr>
  <p:slideViewPr>
    <p:cSldViewPr showGuides="1">
      <p:cViewPr varScale="1">
        <p:scale>
          <a:sx n="93" d="100"/>
          <a:sy n="93" d="100"/>
        </p:scale>
        <p:origin x="68" y="1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4" Type="http://schemas.openxmlformats.org/officeDocument/2006/relationships/hyperlink" Target="https://baike.baidu.com/item/%E7%9F%A9%E9%98%B5/18069" TargetMode="External"/><Relationship Id="rId3" Type="http://schemas.openxmlformats.org/officeDocument/2006/relationships/hyperlink" Target="https://baike.baidu.com/item/%E4%B8%BB%E5%AF%B9%E8%A7%92%E7%BA%BF/4269887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二维数组</a:t>
            </a:r>
            <a:r>
              <a:rPr lang="en-US" altLang="zh-CN" dirty="0"/>
              <a:t>A(3,4):</a:t>
            </a:r>
            <a:endParaRPr lang="en-US" altLang="zh-CN" dirty="0"/>
          </a:p>
          <a:p>
            <a:pPr lvl="0"/>
            <a:r>
              <a:rPr lang="en-US" altLang="zh-CN" dirty="0"/>
              <a:t>bounds[] = [3,4]; constants[] = [4,1]:</a:t>
            </a:r>
            <a:r>
              <a:rPr lang="zh-CN" altLang="en-US" dirty="0"/>
              <a:t>代表第</a:t>
            </a:r>
            <a:r>
              <a:rPr lang="en-US" altLang="zh-CN" dirty="0"/>
              <a:t>0</a:t>
            </a:r>
            <a:r>
              <a:rPr lang="zh-CN" altLang="en-US" dirty="0"/>
              <a:t>维上的数字每加一</a:t>
            </a:r>
            <a:r>
              <a:rPr lang="en-US" altLang="zh-CN" dirty="0"/>
              <a:t>, </a:t>
            </a:r>
            <a:r>
              <a:rPr lang="zh-CN" altLang="en-US" dirty="0"/>
              <a:t>元素在线性结构</a:t>
            </a:r>
            <a:r>
              <a:rPr lang="en-US" altLang="zh-CN" dirty="0"/>
              <a:t>L</a:t>
            </a:r>
            <a:r>
              <a:rPr lang="zh-CN" altLang="en-US" dirty="0"/>
              <a:t>中的位置就增加了</a:t>
            </a:r>
            <a:r>
              <a:rPr lang="en-US" altLang="zh-CN" dirty="0"/>
              <a:t>4; </a:t>
            </a:r>
            <a:r>
              <a:rPr lang="zh-CN" altLang="en-US" dirty="0"/>
              <a:t>而第一维上的数字每加一</a:t>
            </a:r>
            <a:r>
              <a:rPr lang="en-US" altLang="zh-CN" dirty="0"/>
              <a:t>, </a:t>
            </a:r>
            <a:r>
              <a:rPr lang="zh-CN" altLang="en-US" dirty="0"/>
              <a:t>元素位置也是加一若要求坐标为</a:t>
            </a:r>
            <a:r>
              <a:rPr lang="en-US" altLang="zh-CN" dirty="0"/>
              <a:t>(2,2)</a:t>
            </a:r>
            <a:r>
              <a:rPr lang="zh-CN" altLang="en-US" dirty="0"/>
              <a:t>的元素地址</a:t>
            </a:r>
            <a:r>
              <a:rPr lang="en-US" altLang="zh-CN" dirty="0"/>
              <a:t>addr.(</a:t>
            </a:r>
            <a:r>
              <a:rPr lang="zh-CN" altLang="en-US" dirty="0"/>
              <a:t>处在第三行</a:t>
            </a:r>
            <a:r>
              <a:rPr lang="en-US" altLang="zh-CN" dirty="0"/>
              <a:t>,</a:t>
            </a:r>
            <a:r>
              <a:rPr lang="zh-CN" altLang="en-US" dirty="0"/>
              <a:t>第三列的位置</a:t>
            </a:r>
            <a:r>
              <a:rPr lang="en-US" altLang="zh-CN" dirty="0"/>
              <a:t>),</a:t>
            </a:r>
            <a:r>
              <a:rPr lang="zh-CN" altLang="en-US" dirty="0"/>
              <a:t>则</a:t>
            </a:r>
            <a:r>
              <a:rPr lang="en-US" altLang="zh-CN" dirty="0"/>
              <a:t>addr = </a:t>
            </a:r>
            <a:r>
              <a:rPr lang="zh-CN" altLang="en-US" dirty="0"/>
              <a:t>数组</a:t>
            </a:r>
            <a:r>
              <a:rPr lang="en-US" altLang="zh-CN" dirty="0"/>
              <a:t>A</a:t>
            </a:r>
            <a:r>
              <a:rPr lang="zh-CN" altLang="en-US" dirty="0"/>
              <a:t>首元素地址 </a:t>
            </a:r>
            <a:r>
              <a:rPr lang="en-US" altLang="zh-CN" dirty="0"/>
              <a:t>+ 2*constants[0] + 2*constants[1] = </a:t>
            </a:r>
            <a:r>
              <a:rPr lang="zh-CN" altLang="en-US" dirty="0"/>
              <a:t>数组</a:t>
            </a:r>
            <a:r>
              <a:rPr lang="en-US" altLang="zh-CN" dirty="0"/>
              <a:t>A</a:t>
            </a:r>
            <a:r>
              <a:rPr lang="zh-CN" altLang="en-US" dirty="0"/>
              <a:t>首元素地址 </a:t>
            </a:r>
            <a:r>
              <a:rPr lang="en-US" altLang="zh-CN" dirty="0"/>
              <a:t>+  2*4+2 = </a:t>
            </a:r>
            <a:r>
              <a:rPr lang="zh-CN" altLang="en-US" dirty="0"/>
              <a:t>数组</a:t>
            </a:r>
            <a:r>
              <a:rPr lang="en-US" altLang="zh-CN" dirty="0"/>
              <a:t>A</a:t>
            </a:r>
            <a:r>
              <a:rPr lang="zh-CN" altLang="en-US" dirty="0"/>
              <a:t>首元素地址 </a:t>
            </a:r>
            <a:r>
              <a:rPr lang="en-US" altLang="zh-CN" dirty="0"/>
              <a:t>+ 10</a:t>
            </a:r>
            <a:endParaRPr lang="en-US" altLang="zh-CN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对称矩阵（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Symmetric Matrices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）是指以</a:t>
            </a:r>
            <a:r>
              <a:rPr lang="zh-CN" altLang="en-US" dirty="0">
                <a:solidFill>
                  <a:srgbClr val="FF0000"/>
                </a:solidFill>
                <a:latin typeface="Helvetica Neue"/>
                <a:hlinkClick r:id="rId3"/>
              </a:rPr>
              <a:t>主对角线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为对称轴，各元素对应相等的矩阵。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对角矩阵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(diagonal matrix)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是一个</a:t>
            </a:r>
            <a:r>
              <a:rPr lang="zh-CN" altLang="en-US" dirty="0">
                <a:solidFill>
                  <a:srgbClr val="333333"/>
                </a:solidFill>
                <a:latin typeface="Helvetica Neue"/>
                <a:hlinkClick r:id="rId3"/>
              </a:rPr>
              <a:t>主对角线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之外的元素皆为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的</a:t>
            </a:r>
            <a:r>
              <a:rPr lang="zh-CN" altLang="en-US" dirty="0">
                <a:solidFill>
                  <a:srgbClr val="333333"/>
                </a:solidFill>
                <a:latin typeface="Helvetica Neue"/>
                <a:hlinkClick r:id="rId4"/>
              </a:rPr>
              <a:t>矩阵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三角矩阵是方形矩阵的一种，因其非零系数的排列呈三角形状而得名。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在</a:t>
            </a:r>
            <a:r>
              <a:rPr lang="zh-CN" altLang="en-US" dirty="0">
                <a:solidFill>
                  <a:srgbClr val="333333"/>
                </a:solidFill>
                <a:latin typeface="Helvetica Neue"/>
                <a:hlinkClick r:id="rId4"/>
              </a:rPr>
              <a:t>矩阵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中，若数值为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的元素数目远远多于非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元素的数目，并且非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元素分布没有规律时，则称该矩阵为稀疏矩阵；</a:t>
            </a:r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slide" Target="slide8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slide" Target="slide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>
          <a:xfrm>
            <a:off x="1905000" y="304800"/>
            <a:ext cx="5867400" cy="914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数据结构课程的内容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4100" name="Picture 3" descr="数据结构内容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196975"/>
            <a:ext cx="8370888" cy="510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AutoShape 4">
            <a:hlinkClick r:id="" action="ppaction://hlinkshowjump?jump=nextslide"/>
          </p:cNvPr>
          <p:cNvSpPr/>
          <p:nvPr/>
        </p:nvSpPr>
        <p:spPr>
          <a:xfrm>
            <a:off x="8001000" y="6096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99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4102" name="Group 5"/>
          <p:cNvGrpSpPr/>
          <p:nvPr/>
        </p:nvGrpSpPr>
        <p:grpSpPr>
          <a:xfrm>
            <a:off x="1431925" y="1568450"/>
            <a:ext cx="3544888" cy="4198938"/>
            <a:chOff x="902" y="988"/>
            <a:chExt cx="2233" cy="2645"/>
          </a:xfrm>
        </p:grpSpPr>
        <p:sp>
          <p:nvSpPr>
            <p:cNvPr id="4116" name="AutoShape 6"/>
            <p:cNvSpPr/>
            <p:nvPr/>
          </p:nvSpPr>
          <p:spPr>
            <a:xfrm>
              <a:off x="902" y="1200"/>
              <a:ext cx="249" cy="2016"/>
            </a:xfrm>
            <a:prstGeom prst="leftBrace">
              <a:avLst>
                <a:gd name="adj1" fmla="val 67469"/>
                <a:gd name="adj2" fmla="val 50000"/>
              </a:avLst>
            </a:prstGeom>
            <a:noFill/>
            <a:ln w="635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117" name="AutoShape 7"/>
            <p:cNvSpPr/>
            <p:nvPr/>
          </p:nvSpPr>
          <p:spPr>
            <a:xfrm>
              <a:off x="1966" y="988"/>
              <a:ext cx="102" cy="394"/>
            </a:xfrm>
            <a:prstGeom prst="leftBrace">
              <a:avLst>
                <a:gd name="adj1" fmla="val 32189"/>
                <a:gd name="adj2" fmla="val 50000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118" name="AutoShape 8"/>
            <p:cNvSpPr/>
            <p:nvPr/>
          </p:nvSpPr>
          <p:spPr>
            <a:xfrm>
              <a:off x="2695" y="1679"/>
              <a:ext cx="125" cy="750"/>
            </a:xfrm>
            <a:prstGeom prst="leftBrace">
              <a:avLst>
                <a:gd name="adj1" fmla="val 50000"/>
                <a:gd name="adj2" fmla="val 48667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119" name="AutoShape 9"/>
            <p:cNvSpPr/>
            <p:nvPr/>
          </p:nvSpPr>
          <p:spPr>
            <a:xfrm>
              <a:off x="3010" y="1180"/>
              <a:ext cx="125" cy="298"/>
            </a:xfrm>
            <a:prstGeom prst="leftBrace">
              <a:avLst>
                <a:gd name="adj1" fmla="val 19866"/>
                <a:gd name="adj2" fmla="val 48667"/>
              </a:avLst>
            </a:prstGeom>
            <a:noFill/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120" name="AutoShape 10"/>
            <p:cNvSpPr/>
            <p:nvPr/>
          </p:nvSpPr>
          <p:spPr>
            <a:xfrm>
              <a:off x="1943" y="2693"/>
              <a:ext cx="125" cy="940"/>
            </a:xfrm>
            <a:prstGeom prst="leftBrace">
              <a:avLst>
                <a:gd name="adj1" fmla="val 62666"/>
                <a:gd name="adj2" fmla="val 48667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4103" name="Line 11"/>
          <p:cNvSpPr/>
          <p:nvPr/>
        </p:nvSpPr>
        <p:spPr>
          <a:xfrm>
            <a:off x="5486400" y="1676400"/>
            <a:ext cx="1905000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104" name="Group 12"/>
          <p:cNvGrpSpPr/>
          <p:nvPr/>
        </p:nvGrpSpPr>
        <p:grpSpPr>
          <a:xfrm>
            <a:off x="1905000" y="1676400"/>
            <a:ext cx="3733800" cy="3733800"/>
            <a:chOff x="1200" y="1056"/>
            <a:chExt cx="2352" cy="2352"/>
          </a:xfrm>
        </p:grpSpPr>
        <p:sp>
          <p:nvSpPr>
            <p:cNvPr id="4106" name="Line 13"/>
            <p:cNvSpPr/>
            <p:nvPr/>
          </p:nvSpPr>
          <p:spPr>
            <a:xfrm>
              <a:off x="1200" y="1344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7" name="Line 14"/>
            <p:cNvSpPr/>
            <p:nvPr/>
          </p:nvSpPr>
          <p:spPr>
            <a:xfrm>
              <a:off x="2112" y="1056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8" name="Line 15"/>
            <p:cNvSpPr/>
            <p:nvPr/>
          </p:nvSpPr>
          <p:spPr>
            <a:xfrm>
              <a:off x="2976" y="1056"/>
              <a:ext cx="48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9" name="Line 16"/>
            <p:cNvSpPr/>
            <p:nvPr/>
          </p:nvSpPr>
          <p:spPr>
            <a:xfrm>
              <a:off x="1248" y="2256"/>
              <a:ext cx="1296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0" name="Line 17"/>
            <p:cNvSpPr/>
            <p:nvPr/>
          </p:nvSpPr>
          <p:spPr>
            <a:xfrm>
              <a:off x="2832" y="1872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1" name="Line 18"/>
            <p:cNvSpPr/>
            <p:nvPr/>
          </p:nvSpPr>
          <p:spPr>
            <a:xfrm>
              <a:off x="2832" y="2112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2" name="Line 19"/>
            <p:cNvSpPr/>
            <p:nvPr/>
          </p:nvSpPr>
          <p:spPr>
            <a:xfrm>
              <a:off x="2112" y="2880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3" name="Line 20"/>
            <p:cNvSpPr/>
            <p:nvPr/>
          </p:nvSpPr>
          <p:spPr>
            <a:xfrm>
              <a:off x="2112" y="3120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4" name="Line 21"/>
            <p:cNvSpPr/>
            <p:nvPr/>
          </p:nvSpPr>
          <p:spPr>
            <a:xfrm>
              <a:off x="2064" y="3408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5" name="Line 22"/>
            <p:cNvSpPr/>
            <p:nvPr/>
          </p:nvSpPr>
          <p:spPr>
            <a:xfrm>
              <a:off x="1200" y="3408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3575" name="Oval 23"/>
          <p:cNvSpPr/>
          <p:nvPr/>
        </p:nvSpPr>
        <p:spPr>
          <a:xfrm>
            <a:off x="7620000" y="1066800"/>
            <a:ext cx="762000" cy="762000"/>
          </a:xfrm>
          <a:prstGeom prst="ellipse">
            <a:avLst/>
          </a:prstGeom>
          <a:noFill/>
          <a:ln w="254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/>
      <p:bldP spid="2357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228600" y="295275"/>
            <a:ext cx="80010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第</a:t>
            </a:r>
            <a:r>
              <a:rPr lang="en-US" altLang="zh-CN" sz="3200" b="1" dirty="0"/>
              <a:t>5</a:t>
            </a:r>
            <a:r>
              <a:rPr lang="zh-CN" altLang="en-US" sz="3200" b="1" dirty="0"/>
              <a:t>章   数组和广义表（</a:t>
            </a:r>
            <a:r>
              <a:rPr lang="en-US" altLang="zh-CN" sz="3200" b="1" dirty="0">
                <a:solidFill>
                  <a:schemeClr val="tx1"/>
                </a:solidFill>
              </a:rPr>
              <a:t>Arrays &amp; Lists</a:t>
            </a:r>
            <a:r>
              <a:rPr lang="zh-CN" altLang="en-US" sz="3200" b="1" dirty="0"/>
              <a:t>）</a:t>
            </a:r>
            <a:endParaRPr lang="zh-CN" altLang="en-US" sz="3200" b="1" dirty="0"/>
          </a:p>
        </p:txBody>
      </p:sp>
      <p:sp>
        <p:nvSpPr>
          <p:cNvPr id="3075" name="Text Box 3"/>
          <p:cNvSpPr txBox="1"/>
          <p:nvPr/>
        </p:nvSpPr>
        <p:spPr>
          <a:xfrm>
            <a:off x="228600" y="1665288"/>
            <a:ext cx="82296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71500" lvl="0" indent="-571500" algn="just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① </a:t>
            </a:r>
            <a:r>
              <a:rPr lang="zh-CN" altLang="en-US" sz="2400" b="1" dirty="0">
                <a:latin typeface="楷体_GB2312"/>
                <a:ea typeface="楷体_GB2312"/>
              </a:rPr>
              <a:t>元素的值并非原子类型，可以再分解，表中元素也是一个线性表（即广义的线性表）。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571500" lvl="0" indent="-57150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② 所有数据元素仍属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同一数据类型</a:t>
            </a:r>
            <a:r>
              <a:rPr lang="zh-CN" altLang="en-US" sz="2400" b="1" dirty="0">
                <a:latin typeface="楷体_GB2312"/>
                <a:ea typeface="楷体_GB2312"/>
              </a:rPr>
              <a:t>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3076" name="Rectangle 4"/>
          <p:cNvSpPr/>
          <p:nvPr/>
        </p:nvSpPr>
        <p:spPr>
          <a:xfrm>
            <a:off x="990600" y="3124200"/>
            <a:ext cx="6324600" cy="3048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</a:rPr>
              <a:t>5.1  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  <a:hlinkClick r:id="" action="ppaction://hlinkshowjump?jump=nextslide"/>
              </a:rPr>
              <a:t>数组的定义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楷体_GB2312"/>
            </a:endParaRPr>
          </a:p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</a:rPr>
              <a:t>5.2  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  <a:hlinkClick r:id="" action="ppaction://noaction"/>
              </a:rPr>
              <a:t>数组的顺序表示和实现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楷体_GB2312"/>
            </a:endParaRPr>
          </a:p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</a:rPr>
              <a:t>5.3  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</a:rPr>
              <a:t>矩阵的压缩存储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楷体_GB2312"/>
            </a:endParaRPr>
          </a:p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</a:rPr>
              <a:t>5.4  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</a:rPr>
              <a:t>广义表的定义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楷体_GB2312"/>
            </a:endParaRPr>
          </a:p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</a:rPr>
              <a:t>5.5  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/>
              </a:rPr>
              <a:t>广义表的存储结构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077" name="Rectangle 5"/>
          <p:cNvSpPr/>
          <p:nvPr/>
        </p:nvSpPr>
        <p:spPr>
          <a:xfrm>
            <a:off x="304800" y="1055688"/>
            <a:ext cx="7239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数组和广义表的特点：</a:t>
            </a:r>
            <a:r>
              <a:rPr lang="zh-CN" altLang="en-US" sz="2800" b="1" dirty="0">
                <a:latin typeface="楷体_GB2312"/>
                <a:ea typeface="楷体_GB2312"/>
              </a:rPr>
              <a:t>一种特殊的线性表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  <p:bldP spid="3076" grpId="0"/>
      <p:bldP spid="30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5380038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600" b="1" dirty="0"/>
              <a:t>5.1   </a:t>
            </a:r>
            <a:r>
              <a:rPr lang="zh-CN" altLang="en-US" sz="3600" b="1" dirty="0">
                <a:ea typeface="黑体" panose="02010609060101010101" pitchFamily="49" charset="-122"/>
              </a:rPr>
              <a:t>数组的定义</a:t>
            </a:r>
            <a:r>
              <a:rPr lang="zh-CN" altLang="en-US" b="1" dirty="0"/>
              <a:t> </a:t>
            </a:r>
            <a:endParaRPr lang="zh-CN" altLang="en-US" b="1" dirty="0"/>
          </a:p>
        </p:txBody>
      </p:sp>
      <p:sp>
        <p:nvSpPr>
          <p:cNvPr id="4099" name="Rectangle 3"/>
          <p:cNvSpPr/>
          <p:nvPr/>
        </p:nvSpPr>
        <p:spPr>
          <a:xfrm>
            <a:off x="381000" y="1066800"/>
            <a:ext cx="83058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楷体_GB2312"/>
              </a:rPr>
              <a:t>数组：</a:t>
            </a:r>
            <a:r>
              <a:rPr lang="zh-CN" altLang="en-US" sz="2800" b="1" dirty="0">
                <a:latin typeface="Arial" panose="020B0604020202020204" pitchFamily="34" charset="0"/>
                <a:ea typeface="楷体_GB2312"/>
              </a:rPr>
              <a:t> 由一组名字相同、下标不同的变量构成</a:t>
            </a:r>
            <a:endParaRPr lang="zh-CN" altLang="en-US" sz="2800" b="1" dirty="0"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4100" name="Rectangle 4"/>
          <p:cNvSpPr/>
          <p:nvPr/>
        </p:nvSpPr>
        <p:spPr>
          <a:xfrm>
            <a:off x="533400" y="1676400"/>
            <a:ext cx="8305800" cy="12001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楷体_GB2312"/>
              </a:rPr>
              <a:t>注意：</a:t>
            </a:r>
            <a:r>
              <a:rPr lang="zh-CN" altLang="en-US" sz="2400" b="1" dirty="0">
                <a:latin typeface="Arial" panose="020B0604020202020204" pitchFamily="34" charset="0"/>
                <a:ea typeface="楷体_GB2312"/>
              </a:rPr>
              <a:t> 本章所讨论的数组与高级语言中的数组有所区别：高级语言中的数组是顺序结构；而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楷体_GB2312"/>
              </a:rPr>
              <a:t>本章的数组既可以是顺序的，也可以是链式结构</a:t>
            </a:r>
            <a:r>
              <a:rPr lang="zh-CN" altLang="en-US" sz="2400" b="1" dirty="0">
                <a:latin typeface="Arial" panose="020B0604020202020204" pitchFamily="34" charset="0"/>
                <a:ea typeface="楷体_GB2312"/>
              </a:rPr>
              <a:t>，用户可根据需要选择。</a:t>
            </a:r>
            <a:endParaRPr lang="zh-CN" altLang="en-US" sz="2400" b="1" dirty="0"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4101" name="AutoShape 5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4102" name="Rectangle 6"/>
          <p:cNvSpPr/>
          <p:nvPr/>
        </p:nvSpPr>
        <p:spPr>
          <a:xfrm>
            <a:off x="609600" y="3581400"/>
            <a:ext cx="8001000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76250" lvl="0" indent="-47625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楷体_GB2312"/>
              </a:rPr>
              <a:t>答：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对的</a:t>
            </a:r>
            <a:r>
              <a:rPr lang="zh-CN" altLang="en-US" sz="2400" b="1" dirty="0">
                <a:ea typeface="楷体_GB2312"/>
              </a:rPr>
              <a:t>。因为：</a:t>
            </a:r>
            <a:endParaRPr lang="zh-CN" altLang="en-US" sz="2400" b="1" dirty="0">
              <a:ea typeface="楷体_GB2312"/>
            </a:endParaRPr>
          </a:p>
          <a:p>
            <a:pPr marL="476250" lvl="0" indent="-47625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① 数组中各元素具有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统一的类型</a:t>
            </a:r>
            <a:r>
              <a:rPr lang="zh-CN" altLang="en-US" sz="2400" b="1" dirty="0">
                <a:ea typeface="楷体_GB2312"/>
              </a:rPr>
              <a:t>；</a:t>
            </a:r>
            <a:endParaRPr lang="zh-CN" altLang="en-US" sz="2400" b="1" dirty="0">
              <a:ea typeface="楷体_GB2312"/>
            </a:endParaRPr>
          </a:p>
          <a:p>
            <a:pPr marL="476250" lvl="0" indent="-47625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② 数组元素的下标一般具有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固定的上界和下界</a:t>
            </a:r>
            <a:r>
              <a:rPr lang="zh-CN" altLang="en-US" sz="2400" b="1" dirty="0">
                <a:ea typeface="楷体_GB2312"/>
              </a:rPr>
              <a:t>，即数组一旦被定义，它的维数和维界就不再改变。</a:t>
            </a:r>
            <a:endParaRPr lang="zh-CN" altLang="en-US" sz="2400" b="1" dirty="0">
              <a:ea typeface="楷体_GB2312"/>
            </a:endParaRPr>
          </a:p>
          <a:p>
            <a:pPr marL="476250" lvl="0" indent="-47625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③数组的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基本操作比较简单</a:t>
            </a:r>
            <a:r>
              <a:rPr lang="zh-CN" altLang="en-US" sz="2400" b="1" dirty="0">
                <a:ea typeface="楷体_GB2312"/>
              </a:rPr>
              <a:t>，除了结构的初始化和销毁之外，只有存取元素和修改元素值的操作。</a:t>
            </a:r>
            <a:endParaRPr lang="zh-CN" altLang="en-US" sz="2400" b="1" dirty="0">
              <a:solidFill>
                <a:schemeClr val="tx2"/>
              </a:solidFill>
              <a:ea typeface="楷体_GB2312"/>
            </a:endParaRPr>
          </a:p>
        </p:txBody>
      </p:sp>
      <p:sp>
        <p:nvSpPr>
          <p:cNvPr id="4103" name="Rectangle 7"/>
          <p:cNvSpPr/>
          <p:nvPr/>
        </p:nvSpPr>
        <p:spPr>
          <a:xfrm>
            <a:off x="533400" y="3124200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楷体_GB2312"/>
              </a:rPr>
              <a:t>讨论：“数组的处理比其它复杂的结构要简单”，对吗？</a:t>
            </a:r>
            <a:endParaRPr lang="zh-CN" altLang="en-US" sz="2400" b="1" dirty="0">
              <a:solidFill>
                <a:schemeClr val="tx2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0">
                                            <p:txEl>
                                              <p:charRg st="0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3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charRg st="9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02">
                                            <p:txEl>
                                              <p:charRg st="9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charRg st="2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02">
                                            <p:txEl>
                                              <p:charRg st="26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charRg st="71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02">
                                            <p:txEl>
                                              <p:charRg st="71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4100" grpId="0" build="p"/>
      <p:bldP spid="4101" grpId="0" animBg="1"/>
      <p:bldP spid="4102" grpId="0" build="p"/>
      <p:bldP spid="410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171" name="Rectangle 4"/>
          <p:cNvSpPr>
            <a:spLocks noGrp="1"/>
          </p:cNvSpPr>
          <p:nvPr>
            <p:ph idx="1"/>
          </p:nvPr>
        </p:nvSpPr>
        <p:spPr>
          <a:xfrm>
            <a:off x="990600" y="609600"/>
            <a:ext cx="6858000" cy="68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b="1" dirty="0"/>
              <a:t>一维数组存储方式</a:t>
            </a:r>
            <a:endParaRPr lang="zh-CN" altLang="en-US" b="1" dirty="0"/>
          </a:p>
        </p:txBody>
      </p:sp>
      <p:grpSp>
        <p:nvGrpSpPr>
          <p:cNvPr id="7172" name="Group 5"/>
          <p:cNvGrpSpPr/>
          <p:nvPr/>
        </p:nvGrpSpPr>
        <p:grpSpPr>
          <a:xfrm>
            <a:off x="611188" y="1557338"/>
            <a:ext cx="7956550" cy="4451350"/>
            <a:chOff x="508" y="1200"/>
            <a:chExt cx="5012" cy="2804"/>
          </a:xfrm>
        </p:grpSpPr>
        <p:sp>
          <p:nvSpPr>
            <p:cNvPr id="7173" name="Rectangle 6"/>
            <p:cNvSpPr/>
            <p:nvPr/>
          </p:nvSpPr>
          <p:spPr>
            <a:xfrm>
              <a:off x="816" y="2429"/>
              <a:ext cx="4272" cy="432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rgbClr val="3333CC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dirty="0">
                <a:solidFill>
                  <a:srgbClr val="3333CC"/>
                </a:solidFill>
              </a:endParaRPr>
            </a:p>
          </p:txBody>
        </p:sp>
        <p:sp>
          <p:nvSpPr>
            <p:cNvPr id="7174" name="Text Box 7"/>
            <p:cNvSpPr txBox="1"/>
            <p:nvPr/>
          </p:nvSpPr>
          <p:spPr>
            <a:xfrm>
              <a:off x="864" y="2476"/>
              <a:ext cx="425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dirty="0">
                  <a:solidFill>
                    <a:srgbClr val="FF3300"/>
                  </a:solidFill>
                  <a:latin typeface="Arial Narrow" panose="020B0606020202030204" pitchFamily="34" charset="0"/>
                  <a:ea typeface="仿宋_GB2312"/>
                </a:rPr>
                <a:t>35   27 49  18  60  54   77  83  41 02</a:t>
              </a:r>
              <a:endParaRPr lang="en-US" altLang="zh-CN" sz="3600" dirty="0"/>
            </a:p>
          </p:txBody>
        </p:sp>
        <p:sp>
          <p:nvSpPr>
            <p:cNvPr id="7175" name="Line 8"/>
            <p:cNvSpPr/>
            <p:nvPr/>
          </p:nvSpPr>
          <p:spPr>
            <a:xfrm>
              <a:off x="1248" y="2429"/>
              <a:ext cx="0" cy="432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6" name="Line 9"/>
            <p:cNvSpPr/>
            <p:nvPr/>
          </p:nvSpPr>
          <p:spPr>
            <a:xfrm>
              <a:off x="1680" y="2429"/>
              <a:ext cx="0" cy="432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" name="Line 10"/>
            <p:cNvSpPr/>
            <p:nvPr/>
          </p:nvSpPr>
          <p:spPr>
            <a:xfrm>
              <a:off x="2112" y="2429"/>
              <a:ext cx="0" cy="432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8" name="Line 11"/>
            <p:cNvSpPr/>
            <p:nvPr/>
          </p:nvSpPr>
          <p:spPr>
            <a:xfrm>
              <a:off x="2544" y="2429"/>
              <a:ext cx="0" cy="432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" name="Line 12"/>
            <p:cNvSpPr/>
            <p:nvPr/>
          </p:nvSpPr>
          <p:spPr>
            <a:xfrm>
              <a:off x="2976" y="2429"/>
              <a:ext cx="0" cy="432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" name="Line 13"/>
            <p:cNvSpPr/>
            <p:nvPr/>
          </p:nvSpPr>
          <p:spPr>
            <a:xfrm>
              <a:off x="3408" y="2429"/>
              <a:ext cx="0" cy="432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" name="Line 14"/>
            <p:cNvSpPr/>
            <p:nvPr/>
          </p:nvSpPr>
          <p:spPr>
            <a:xfrm>
              <a:off x="3840" y="2429"/>
              <a:ext cx="0" cy="432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2" name="Line 15"/>
            <p:cNvSpPr/>
            <p:nvPr/>
          </p:nvSpPr>
          <p:spPr>
            <a:xfrm>
              <a:off x="4272" y="2429"/>
              <a:ext cx="0" cy="432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3" name="Line 16"/>
            <p:cNvSpPr/>
            <p:nvPr/>
          </p:nvSpPr>
          <p:spPr>
            <a:xfrm>
              <a:off x="4704" y="2429"/>
              <a:ext cx="0" cy="432"/>
            </a:xfrm>
            <a:prstGeom prst="line">
              <a:avLst/>
            </a:prstGeom>
            <a:ln w="38100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4" name="Text Box 17"/>
            <p:cNvSpPr txBox="1"/>
            <p:nvPr/>
          </p:nvSpPr>
          <p:spPr>
            <a:xfrm>
              <a:off x="768" y="2064"/>
              <a:ext cx="427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dirty="0">
                  <a:solidFill>
                    <a:srgbClr val="3333CC"/>
                  </a:solidFill>
                </a:rPr>
                <a:t> 0     1     2     3     4     5    6     7     8     9</a:t>
              </a:r>
              <a:endParaRPr lang="en-US" altLang="zh-CN" b="1" dirty="0">
                <a:solidFill>
                  <a:srgbClr val="3333CC"/>
                </a:solidFill>
              </a:endParaRPr>
            </a:p>
          </p:txBody>
        </p:sp>
        <p:sp>
          <p:nvSpPr>
            <p:cNvPr id="7185" name="AutoShape 18"/>
            <p:cNvSpPr/>
            <p:nvPr/>
          </p:nvSpPr>
          <p:spPr>
            <a:xfrm rot="-5400000">
              <a:off x="984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86" name="AutoShape 19"/>
            <p:cNvSpPr/>
            <p:nvPr/>
          </p:nvSpPr>
          <p:spPr>
            <a:xfrm rot="-5400000">
              <a:off x="1416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87" name="AutoShape 20"/>
            <p:cNvSpPr/>
            <p:nvPr/>
          </p:nvSpPr>
          <p:spPr>
            <a:xfrm rot="-5400000">
              <a:off x="1848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88" name="AutoShape 21"/>
            <p:cNvSpPr/>
            <p:nvPr/>
          </p:nvSpPr>
          <p:spPr>
            <a:xfrm rot="-5400000">
              <a:off x="2280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89" name="AutoShape 22"/>
            <p:cNvSpPr/>
            <p:nvPr/>
          </p:nvSpPr>
          <p:spPr>
            <a:xfrm rot="-5400000">
              <a:off x="2712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90" name="AutoShape 23"/>
            <p:cNvSpPr/>
            <p:nvPr/>
          </p:nvSpPr>
          <p:spPr>
            <a:xfrm rot="-5400000">
              <a:off x="3144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91" name="AutoShape 24"/>
            <p:cNvSpPr/>
            <p:nvPr/>
          </p:nvSpPr>
          <p:spPr>
            <a:xfrm rot="-5400000">
              <a:off x="3576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92" name="AutoShape 25"/>
            <p:cNvSpPr/>
            <p:nvPr/>
          </p:nvSpPr>
          <p:spPr>
            <a:xfrm rot="-5400000">
              <a:off x="4008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93" name="AutoShape 26"/>
            <p:cNvSpPr/>
            <p:nvPr/>
          </p:nvSpPr>
          <p:spPr>
            <a:xfrm rot="-5400000">
              <a:off x="4392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94" name="AutoShape 27"/>
            <p:cNvSpPr/>
            <p:nvPr/>
          </p:nvSpPr>
          <p:spPr>
            <a:xfrm rot="-5400000">
              <a:off x="4824" y="2760"/>
              <a:ext cx="96" cy="432"/>
            </a:xfrm>
            <a:prstGeom prst="leftBrace">
              <a:avLst>
                <a:gd name="adj1" fmla="val 37500"/>
                <a:gd name="adj2" fmla="val 49699"/>
              </a:avLst>
            </a:prstGeom>
            <a:noFill/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7195" name="Text Box 28"/>
            <p:cNvSpPr txBox="1"/>
            <p:nvPr/>
          </p:nvSpPr>
          <p:spPr>
            <a:xfrm>
              <a:off x="902" y="3024"/>
              <a:ext cx="421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rgbClr val="CC0066"/>
                  </a:solidFill>
                </a:rPr>
                <a:t>l      l      l     l      l      l     l      l     l      l</a:t>
              </a:r>
              <a:r>
                <a:rPr lang="en-US" altLang="zh-CN" b="1" i="1" dirty="0"/>
                <a:t>  </a:t>
              </a:r>
              <a:endParaRPr lang="en-US" altLang="zh-CN" sz="3600" dirty="0"/>
            </a:p>
          </p:txBody>
        </p:sp>
        <p:sp>
          <p:nvSpPr>
            <p:cNvPr id="7196" name="Rectangle 29"/>
            <p:cNvSpPr/>
            <p:nvPr/>
          </p:nvSpPr>
          <p:spPr>
            <a:xfrm>
              <a:off x="689" y="3600"/>
              <a:ext cx="4831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3600" b="1" dirty="0">
                  <a:solidFill>
                    <a:srgbClr val="CC0066"/>
                  </a:solidFill>
                </a:rPr>
                <a:t>LOC(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i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) = LOC(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i</a:t>
              </a:r>
              <a:r>
                <a:rPr lang="en-US" altLang="zh-CN" sz="3600" b="1" dirty="0">
                  <a:solidFill>
                    <a:srgbClr val="CC0066"/>
                  </a:solidFill>
                  <a:latin typeface="宋体" panose="02010600030101010101" pitchFamily="2" charset="-122"/>
                </a:rPr>
                <a:t>-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1)+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l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 = 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a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+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i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*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l</a:t>
              </a:r>
              <a:endParaRPr lang="en-US" altLang="zh-CN" sz="3600" dirty="0">
                <a:solidFill>
                  <a:srgbClr val="CC0066"/>
                </a:solidFill>
              </a:endParaRPr>
            </a:p>
          </p:txBody>
        </p:sp>
        <p:sp>
          <p:nvSpPr>
            <p:cNvPr id="7197" name="AutoShape 30"/>
            <p:cNvSpPr/>
            <p:nvPr/>
          </p:nvSpPr>
          <p:spPr>
            <a:xfrm>
              <a:off x="1920" y="1296"/>
              <a:ext cx="96" cy="720"/>
            </a:xfrm>
            <a:prstGeom prst="leftBrace">
              <a:avLst>
                <a:gd name="adj1" fmla="val 62500"/>
                <a:gd name="adj2" fmla="val 50000"/>
              </a:avLst>
            </a:prstGeom>
            <a:noFill/>
            <a:ln w="38100" cap="flat" cmpd="sng">
              <a:solidFill>
                <a:srgbClr val="CC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dirty="0">
                <a:solidFill>
                  <a:schemeClr val="bg2"/>
                </a:solidFill>
              </a:endParaRPr>
            </a:p>
          </p:txBody>
        </p:sp>
        <p:sp>
          <p:nvSpPr>
            <p:cNvPr id="7198" name="Rectangle 31"/>
            <p:cNvSpPr/>
            <p:nvPr/>
          </p:nvSpPr>
          <p:spPr>
            <a:xfrm>
              <a:off x="624" y="1420"/>
              <a:ext cx="129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3600" b="1" dirty="0">
                  <a:solidFill>
                    <a:srgbClr val="CC0066"/>
                  </a:solidFill>
                </a:rPr>
                <a:t>LOC(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i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) =</a:t>
              </a:r>
              <a:r>
                <a:rPr lang="en-US" altLang="zh-CN" sz="3600" b="1" dirty="0">
                  <a:solidFill>
                    <a:schemeClr val="bg2"/>
                  </a:solidFill>
                </a:rPr>
                <a:t> </a:t>
              </a:r>
              <a:endParaRPr lang="en-US" altLang="zh-CN" sz="3600" dirty="0"/>
            </a:p>
          </p:txBody>
        </p:sp>
        <p:sp>
          <p:nvSpPr>
            <p:cNvPr id="7199" name="Rectangle 32"/>
            <p:cNvSpPr/>
            <p:nvPr/>
          </p:nvSpPr>
          <p:spPr>
            <a:xfrm>
              <a:off x="2064" y="1660"/>
              <a:ext cx="331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3600" b="1" dirty="0">
                  <a:solidFill>
                    <a:srgbClr val="CC0066"/>
                  </a:solidFill>
                </a:rPr>
                <a:t>LOC(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i</a:t>
              </a:r>
              <a:r>
                <a:rPr lang="en-US" altLang="zh-CN" sz="3600" b="1" dirty="0">
                  <a:solidFill>
                    <a:srgbClr val="CC0066"/>
                  </a:solidFill>
                  <a:latin typeface="宋体" panose="02010600030101010101" pitchFamily="2" charset="-122"/>
                </a:rPr>
                <a:t>-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1)+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l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 = 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a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+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i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*</a:t>
              </a:r>
              <a:r>
                <a:rPr lang="en-US" altLang="zh-CN" sz="3600" b="1" i="1" dirty="0">
                  <a:solidFill>
                    <a:srgbClr val="CC0066"/>
                  </a:solidFill>
                </a:rPr>
                <a:t>l,  i &gt; 0</a:t>
              </a:r>
              <a:r>
                <a:rPr lang="en-US" altLang="zh-CN" sz="3600" b="1" i="1" dirty="0">
                  <a:solidFill>
                    <a:schemeClr val="bg2"/>
                  </a:solidFill>
                </a:rPr>
                <a:t> </a:t>
              </a:r>
              <a:endParaRPr lang="en-US" altLang="zh-CN" sz="3600" dirty="0"/>
            </a:p>
          </p:txBody>
        </p:sp>
        <p:sp>
          <p:nvSpPr>
            <p:cNvPr id="7200" name="Text Box 33"/>
            <p:cNvSpPr txBox="1"/>
            <p:nvPr/>
          </p:nvSpPr>
          <p:spPr>
            <a:xfrm>
              <a:off x="2064" y="1200"/>
              <a:ext cx="187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3600" b="1" i="1" dirty="0">
                  <a:solidFill>
                    <a:srgbClr val="CC0066"/>
                  </a:solidFill>
                </a:rPr>
                <a:t>a,         i </a:t>
              </a:r>
              <a:r>
                <a:rPr lang="en-US" altLang="zh-CN" sz="3600" b="1" dirty="0">
                  <a:solidFill>
                    <a:srgbClr val="CC0066"/>
                  </a:solidFill>
                </a:rPr>
                <a:t>= 0</a:t>
              </a:r>
              <a:r>
                <a:rPr lang="en-US" altLang="zh-CN" sz="3600" i="1" dirty="0">
                  <a:solidFill>
                    <a:srgbClr val="3333CC"/>
                  </a:solidFill>
                </a:rPr>
                <a:t>     </a:t>
              </a:r>
              <a:endParaRPr lang="en-US" altLang="zh-CN" sz="3600" dirty="0"/>
            </a:p>
          </p:txBody>
        </p:sp>
        <p:sp>
          <p:nvSpPr>
            <p:cNvPr id="7201" name="Line 34"/>
            <p:cNvSpPr/>
            <p:nvPr/>
          </p:nvSpPr>
          <p:spPr>
            <a:xfrm flipV="1">
              <a:off x="3072" y="2976"/>
              <a:ext cx="0" cy="52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7202" name="Text Box 35"/>
            <p:cNvSpPr txBox="1"/>
            <p:nvPr/>
          </p:nvSpPr>
          <p:spPr>
            <a:xfrm>
              <a:off x="3072" y="3312"/>
              <a:ext cx="6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accent2"/>
                  </a:solidFill>
                </a:rPr>
                <a:t>a+i*l</a:t>
              </a:r>
              <a:endParaRPr lang="en-US" altLang="zh-CN" sz="2400" dirty="0"/>
            </a:p>
          </p:txBody>
        </p:sp>
        <p:sp>
          <p:nvSpPr>
            <p:cNvPr id="7203" name="Text Box 36"/>
            <p:cNvSpPr txBox="1"/>
            <p:nvPr/>
          </p:nvSpPr>
          <p:spPr>
            <a:xfrm>
              <a:off x="508" y="2380"/>
              <a:ext cx="26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3600" b="1" i="1" dirty="0">
                  <a:solidFill>
                    <a:schemeClr val="accent2"/>
                  </a:solidFill>
                </a:rPr>
                <a:t>a</a:t>
              </a:r>
              <a:endParaRPr lang="en-US" altLang="zh-CN" sz="24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468313" y="476250"/>
            <a:ext cx="35814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仿宋_GB2312"/>
                <a:ea typeface="仿宋_GB2312"/>
              </a:rPr>
              <a:t>二维数组的特点：</a:t>
            </a:r>
            <a:endParaRPr lang="zh-CN" altLang="en-US" sz="2800" b="1" dirty="0">
              <a:solidFill>
                <a:schemeClr val="accent1"/>
              </a:solidFill>
              <a:latin typeface="仿宋_GB2312"/>
              <a:ea typeface="仿宋_GB2312"/>
            </a:endParaRPr>
          </a:p>
        </p:txBody>
      </p:sp>
      <p:sp>
        <p:nvSpPr>
          <p:cNvPr id="5125" name="Rectangle 5"/>
          <p:cNvSpPr/>
          <p:nvPr/>
        </p:nvSpPr>
        <p:spPr>
          <a:xfrm>
            <a:off x="3348038" y="404813"/>
            <a:ext cx="5486400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latin typeface="楷体_GB2312"/>
                <a:ea typeface="楷体_GB2312"/>
              </a:rPr>
              <a:t>个下标，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每个元素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a</a:t>
            </a:r>
            <a:r>
              <a:rPr lang="en-US" altLang="zh-CN" sz="2400" b="1" baseline="-25000" dirty="0">
                <a:solidFill>
                  <a:schemeClr val="tx2"/>
                </a:solidFill>
                <a:ea typeface="楷体_GB2312"/>
              </a:rPr>
              <a:t>i,j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受到两个关系（行关系和列关系）的约束：</a:t>
            </a:r>
            <a:endParaRPr lang="zh-CN" altLang="en-US" sz="2400" b="1" dirty="0">
              <a:solidFill>
                <a:schemeClr val="tx2"/>
              </a:solidFill>
              <a:latin typeface="楷体_GB2312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5126" name="Rectangle 6"/>
          <p:cNvSpPr/>
          <p:nvPr/>
        </p:nvSpPr>
        <p:spPr>
          <a:xfrm>
            <a:off x="4800600" y="2128838"/>
            <a:ext cx="3810000" cy="11874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  <a:sym typeface="Symbol" panose="05050102010706020507" pitchFamily="18" charset="2"/>
              </a:rPr>
              <a:t>一个</a:t>
            </a:r>
            <a:r>
              <a:rPr lang="en-US" altLang="zh-CN" sz="2400" b="1" dirty="0">
                <a:ea typeface="楷体_GB2312"/>
                <a:sym typeface="Symbol" panose="05050102010706020507" pitchFamily="18" charset="2"/>
              </a:rPr>
              <a:t>m×n</a:t>
            </a:r>
            <a:r>
              <a:rPr lang="zh-CN" altLang="en-US" sz="2400" b="1" dirty="0">
                <a:latin typeface="楷体_GB2312"/>
                <a:ea typeface="楷体_GB2312"/>
                <a:sym typeface="Symbol" panose="05050102010706020507" pitchFamily="18" charset="2"/>
              </a:rPr>
              <a:t>的二维数组可以看成是</a:t>
            </a:r>
            <a:r>
              <a:rPr lang="en-US" altLang="zh-CN" sz="2400" b="1" dirty="0">
                <a:ea typeface="楷体_GB2312"/>
                <a:sym typeface="Symbol" panose="05050102010706020507" pitchFamily="18" charset="2"/>
              </a:rPr>
              <a:t>m</a:t>
            </a:r>
            <a:r>
              <a:rPr lang="zh-CN" altLang="en-US" sz="2400" b="1" dirty="0">
                <a:ea typeface="楷体_GB2312"/>
                <a:sym typeface="Symbol" panose="05050102010706020507" pitchFamily="18" charset="2"/>
              </a:rPr>
              <a:t>行的一维数组，或者</a:t>
            </a:r>
            <a:r>
              <a:rPr lang="en-US" altLang="zh-CN" sz="2400" b="1" dirty="0">
                <a:ea typeface="楷体_GB2312"/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ea typeface="楷体_GB2312"/>
                <a:sym typeface="Symbol" panose="05050102010706020507" pitchFamily="18" charset="2"/>
              </a:rPr>
              <a:t>列的一维数组。</a:t>
            </a:r>
            <a:endParaRPr lang="zh-CN" altLang="en-US" sz="2400" b="1" dirty="0"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5127" name="Rectangle 7"/>
          <p:cNvSpPr/>
          <p:nvPr/>
        </p:nvSpPr>
        <p:spPr>
          <a:xfrm>
            <a:off x="376238" y="4230688"/>
            <a:ext cx="3048000" cy="533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仿宋_GB2312"/>
                <a:ea typeface="仿宋_GB2312"/>
              </a:rPr>
              <a:t>N</a:t>
            </a:r>
            <a:r>
              <a:rPr lang="zh-CN" altLang="en-US" sz="2800" b="1" dirty="0">
                <a:solidFill>
                  <a:schemeClr val="accent1"/>
                </a:solidFill>
                <a:latin typeface="仿宋_GB2312"/>
                <a:ea typeface="仿宋_GB2312"/>
              </a:rPr>
              <a:t>维数组的特点：</a:t>
            </a:r>
            <a:endParaRPr lang="zh-CN" altLang="en-US" sz="2800" b="1" dirty="0">
              <a:solidFill>
                <a:schemeClr val="accent1"/>
              </a:solidFill>
              <a:latin typeface="仿宋_GB2312"/>
              <a:ea typeface="仿宋_GB2312"/>
            </a:endParaRPr>
          </a:p>
        </p:txBody>
      </p:sp>
      <p:sp>
        <p:nvSpPr>
          <p:cNvPr id="5128" name="Rectangle 8"/>
          <p:cNvSpPr/>
          <p:nvPr/>
        </p:nvSpPr>
        <p:spPr>
          <a:xfrm>
            <a:off x="3348038" y="4230688"/>
            <a:ext cx="53340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n</a:t>
            </a:r>
            <a:r>
              <a:rPr lang="zh-CN" altLang="en-US" sz="2400" b="1" dirty="0">
                <a:latin typeface="楷体_GB2312"/>
                <a:ea typeface="楷体_GB2312"/>
              </a:rPr>
              <a:t>个下标，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每个元素受到</a:t>
            </a: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个关系约束</a:t>
            </a:r>
            <a:endParaRPr lang="zh-CN" altLang="en-US" sz="2400" b="1" dirty="0">
              <a:solidFill>
                <a:schemeClr val="tx2"/>
              </a:solidFill>
              <a:latin typeface="楷体_GB2312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5129" name="Rectangle 9"/>
          <p:cNvSpPr/>
          <p:nvPr/>
        </p:nvSpPr>
        <p:spPr>
          <a:xfrm>
            <a:off x="223838" y="4916488"/>
            <a:ext cx="81534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  <a:sym typeface="Symbol" panose="05050102010706020507" pitchFamily="18" charset="2"/>
              </a:rPr>
              <a:t>一个</a:t>
            </a:r>
            <a:r>
              <a:rPr lang="en-US" altLang="zh-CN" sz="2400" b="1" dirty="0">
                <a:ea typeface="楷体_GB2312"/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latin typeface="楷体_GB2312"/>
                <a:ea typeface="楷体_GB2312"/>
                <a:sym typeface="Symbol" panose="05050102010706020507" pitchFamily="18" charset="2"/>
              </a:rPr>
              <a:t>维数组可以看成是</a:t>
            </a:r>
            <a:r>
              <a:rPr lang="zh-CN" altLang="en-US" sz="2400" b="1" dirty="0">
                <a:ea typeface="楷体_GB2312"/>
                <a:sym typeface="Symbol" panose="05050102010706020507" pitchFamily="18" charset="2"/>
              </a:rPr>
              <a:t>由若干个</a:t>
            </a:r>
            <a:r>
              <a:rPr lang="en-US" altLang="zh-CN" sz="2400" dirty="0"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ea typeface="楷体_GB2312"/>
                <a:sym typeface="Symbol" panose="05050102010706020507" pitchFamily="18" charset="2"/>
              </a:rPr>
              <a:t>－</a:t>
            </a:r>
            <a:r>
              <a:rPr lang="en-US" altLang="zh-CN" sz="2400" b="1" dirty="0">
                <a:ea typeface="楷体_GB2312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ea typeface="楷体_GB2312"/>
                <a:sym typeface="Symbol" panose="05050102010706020507" pitchFamily="18" charset="2"/>
              </a:rPr>
              <a:t>维数组组成的线性表。</a:t>
            </a:r>
            <a:endParaRPr lang="zh-CN" altLang="en-US" sz="2400" b="1" dirty="0">
              <a:ea typeface="楷体_GB2312"/>
              <a:sym typeface="Symbol" panose="05050102010706020507" pitchFamily="18" charset="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152400" y="1747838"/>
            <a:ext cx="4800600" cy="1752600"/>
            <a:chOff x="864" y="1056"/>
            <a:chExt cx="3024" cy="1104"/>
          </a:xfrm>
        </p:grpSpPr>
        <p:sp>
          <p:nvSpPr>
            <p:cNvPr id="8203" name="Rectangle 11"/>
            <p:cNvSpPr/>
            <p:nvPr/>
          </p:nvSpPr>
          <p:spPr>
            <a:xfrm>
              <a:off x="864" y="1056"/>
              <a:ext cx="3024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                     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11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12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… 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1n</a:t>
              </a:r>
              <a:b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</a:b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                     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21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22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… 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2n</a:t>
              </a:r>
              <a:b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</a:b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                       …   …  … …</a:t>
              </a:r>
              <a:b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</a:b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                     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m1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m2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…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mn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8204" name="Text Box 12"/>
            <p:cNvSpPr txBox="1"/>
            <p:nvPr/>
          </p:nvSpPr>
          <p:spPr>
            <a:xfrm>
              <a:off x="1248" y="1440"/>
              <a:ext cx="7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楷体_GB2312"/>
                </a:rPr>
                <a:t>A</a:t>
              </a:r>
              <a:r>
                <a:rPr lang="en-US" altLang="zh-CN" sz="2800" b="1" baseline="-20000" dirty="0">
                  <a:solidFill>
                    <a:schemeClr val="tx2"/>
                  </a:solidFill>
                  <a:ea typeface="楷体_GB2312"/>
                </a:rPr>
                <a:t>mn</a:t>
              </a:r>
              <a:r>
                <a:rPr lang="en-US" altLang="zh-CN" sz="2800" b="1" dirty="0">
                  <a:solidFill>
                    <a:schemeClr val="tx2"/>
                  </a:solidFill>
                  <a:ea typeface="楷体_GB2312"/>
                </a:rPr>
                <a:t>=</a:t>
              </a:r>
              <a:endParaRPr lang="en-US" altLang="zh-CN" sz="2800" b="1" dirty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8205" name="Line 13"/>
            <p:cNvSpPr/>
            <p:nvPr/>
          </p:nvSpPr>
          <p:spPr>
            <a:xfrm flipH="1">
              <a:off x="1824" y="1152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8206" name="Line 14"/>
            <p:cNvSpPr/>
            <p:nvPr/>
          </p:nvSpPr>
          <p:spPr>
            <a:xfrm>
              <a:off x="1824" y="1152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8207" name="Line 15"/>
            <p:cNvSpPr/>
            <p:nvPr/>
          </p:nvSpPr>
          <p:spPr>
            <a:xfrm>
              <a:off x="1824" y="211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8208" name="Line 16"/>
            <p:cNvSpPr/>
            <p:nvPr/>
          </p:nvSpPr>
          <p:spPr>
            <a:xfrm>
              <a:off x="3408" y="1200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8209" name="Line 17"/>
            <p:cNvSpPr/>
            <p:nvPr/>
          </p:nvSpPr>
          <p:spPr>
            <a:xfrm>
              <a:off x="3360" y="1200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8210" name="Line 18"/>
            <p:cNvSpPr/>
            <p:nvPr/>
          </p:nvSpPr>
          <p:spPr>
            <a:xfrm flipH="1">
              <a:off x="3312" y="216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5139" name="AutoShape 19">
            <a:hlinkClick r:id="" action="ppaction://hlinkshowjump?jump=nextslide"/>
          </p:cNvPr>
          <p:cNvSpPr/>
          <p:nvPr/>
        </p:nvSpPr>
        <p:spPr>
          <a:xfrm>
            <a:off x="8027988" y="549275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5" grpId="0"/>
      <p:bldP spid="5126" grpId="0"/>
      <p:bldP spid="5127" grpId="0"/>
      <p:bldP spid="5128" grpId="0"/>
      <p:bldP spid="5129" grpId="0"/>
      <p:bldP spid="51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67056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accent1"/>
                </a:solidFill>
              </a:rPr>
              <a:t>N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维数组的数据类型定义</a:t>
            </a:r>
            <a:endParaRPr lang="zh-CN" altLang="en-US" sz="2800" b="1" dirty="0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6147" name="Rectangle 3"/>
          <p:cNvSpPr/>
          <p:nvPr/>
        </p:nvSpPr>
        <p:spPr>
          <a:xfrm>
            <a:off x="1425575" y="1025525"/>
            <a:ext cx="3157538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n_ARRAY = (</a:t>
            </a:r>
            <a:r>
              <a:rPr lang="en-US" altLang="zh-CN" sz="2800" b="1" dirty="0">
                <a:solidFill>
                  <a:schemeClr val="accent1"/>
                </a:solidFill>
              </a:rPr>
              <a:t>D, R</a:t>
            </a:r>
            <a:r>
              <a:rPr lang="en-US" altLang="zh-CN" sz="2800" b="1" dirty="0"/>
              <a:t>)</a:t>
            </a:r>
            <a:endParaRPr lang="en-US" altLang="zh-CN" sz="2800" b="1" dirty="0"/>
          </a:p>
        </p:txBody>
      </p:sp>
      <p:sp>
        <p:nvSpPr>
          <p:cNvPr id="6148" name="Rectangle 4"/>
          <p:cNvSpPr/>
          <p:nvPr/>
        </p:nvSpPr>
        <p:spPr>
          <a:xfrm>
            <a:off x="5083175" y="1057275"/>
            <a:ext cx="16764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其中：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6149" name="Rectangle 5"/>
          <p:cNvSpPr/>
          <p:nvPr/>
        </p:nvSpPr>
        <p:spPr>
          <a:xfrm>
            <a:off x="1958975" y="2809875"/>
            <a:ext cx="6934200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FF00"/>
                </a:solidFill>
              </a:rPr>
              <a:t>      </a:t>
            </a:r>
            <a:r>
              <a:rPr lang="en-US" altLang="zh-CN" sz="2400" b="1" dirty="0">
                <a:solidFill>
                  <a:schemeClr val="accent1"/>
                </a:solidFill>
              </a:rPr>
              <a:t>Ri</a:t>
            </a:r>
            <a:r>
              <a:rPr lang="en-US" altLang="zh-CN" sz="2400" b="1" dirty="0">
                <a:solidFill>
                  <a:srgbClr val="00FF00"/>
                </a:solidFill>
              </a:rPr>
              <a:t> </a:t>
            </a:r>
            <a:r>
              <a:rPr lang="en-US" altLang="zh-CN" sz="2400" b="1" dirty="0"/>
              <a:t>= {&lt;</a:t>
            </a:r>
            <a:r>
              <a:rPr lang="en-US" altLang="zh-CN" sz="2400" b="1" dirty="0">
                <a:solidFill>
                  <a:schemeClr val="hlink"/>
                </a:solidFill>
              </a:rPr>
              <a:t>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j1,j2,…ji…jn</a:t>
            </a:r>
            <a:r>
              <a:rPr lang="en-US" altLang="zh-CN" sz="2400" b="1" dirty="0"/>
              <a:t> , </a:t>
            </a:r>
            <a:r>
              <a:rPr lang="en-US" altLang="zh-CN" sz="2400" b="1" dirty="0">
                <a:solidFill>
                  <a:schemeClr val="hlink"/>
                </a:solidFill>
              </a:rPr>
              <a:t>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j1,j2,…ji+1…jn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&gt;| 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                              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j1,j2,…ji…jn</a:t>
            </a:r>
            <a:r>
              <a:rPr lang="en-US" altLang="zh-CN" sz="2400" b="1" dirty="0"/>
              <a:t> , a</a:t>
            </a:r>
            <a:r>
              <a:rPr lang="en-US" altLang="zh-CN" sz="2400" b="1" baseline="-25000" dirty="0"/>
              <a:t>j1,j2,…ji+1…jn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D </a:t>
            </a:r>
            <a:r>
              <a:rPr lang="en-US" altLang="zh-CN" sz="2400" b="1" dirty="0"/>
              <a:t>}</a:t>
            </a:r>
            <a:endParaRPr lang="en-US" altLang="zh-CN" sz="2400" b="1" dirty="0"/>
          </a:p>
        </p:txBody>
      </p:sp>
      <p:sp>
        <p:nvSpPr>
          <p:cNvPr id="6150" name="Rectangle 6"/>
          <p:cNvSpPr/>
          <p:nvPr/>
        </p:nvSpPr>
        <p:spPr>
          <a:xfrm>
            <a:off x="130175" y="2352675"/>
            <a:ext cx="4708525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数据关系：</a:t>
            </a:r>
            <a:r>
              <a:rPr lang="en-US" altLang="zh-CN" sz="2400" b="1" dirty="0"/>
              <a:t>R = { </a:t>
            </a:r>
            <a:r>
              <a:rPr lang="en-US" altLang="zh-CN" sz="2400" b="1" dirty="0">
                <a:solidFill>
                  <a:schemeClr val="tx2"/>
                </a:solidFill>
              </a:rPr>
              <a:t>R1 ,R2</a:t>
            </a:r>
            <a:r>
              <a:rPr lang="zh-CN" altLang="en-US" sz="2400" b="1" dirty="0">
                <a:solidFill>
                  <a:schemeClr val="tx2"/>
                </a:solidFill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</a:rPr>
              <a:t>…. Rn</a:t>
            </a:r>
            <a:r>
              <a:rPr lang="en-US" altLang="zh-CN" sz="2400" b="1" dirty="0"/>
              <a:t> }</a:t>
            </a:r>
            <a:endParaRPr lang="en-US" altLang="zh-CN" sz="2400" b="1" dirty="0"/>
          </a:p>
        </p:txBody>
      </p:sp>
      <p:sp>
        <p:nvSpPr>
          <p:cNvPr id="6151" name="Rectangle 7"/>
          <p:cNvSpPr/>
          <p:nvPr/>
        </p:nvSpPr>
        <p:spPr>
          <a:xfrm>
            <a:off x="0" y="1676400"/>
            <a:ext cx="91440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数据对象：</a:t>
            </a:r>
            <a:r>
              <a:rPr lang="en-US" altLang="zh-CN" sz="2400" b="1" dirty="0"/>
              <a:t>D = {</a:t>
            </a: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j1,j2…jn</a:t>
            </a:r>
            <a:r>
              <a:rPr lang="en-US" altLang="zh-CN" sz="2400" b="1" dirty="0"/>
              <a:t>| </a:t>
            </a:r>
            <a:r>
              <a:rPr lang="en-US" altLang="zh-CN" sz="2000" b="1" dirty="0">
                <a:sym typeface="Symbol" panose="05050102010706020507" pitchFamily="18" charset="2"/>
              </a:rPr>
              <a:t>j</a:t>
            </a:r>
            <a:r>
              <a:rPr lang="en-US" altLang="zh-CN" sz="2000" b="1" baseline="-25000" dirty="0">
                <a:sym typeface="Symbol" panose="05050102010706020507" pitchFamily="18" charset="2"/>
              </a:rPr>
              <a:t>i</a:t>
            </a:r>
            <a:r>
              <a:rPr lang="zh-CN" altLang="en-US" sz="2000" b="1" dirty="0">
                <a:sym typeface="Symbol" panose="05050102010706020507" pitchFamily="18" charset="2"/>
              </a:rPr>
              <a:t>为数组元素的第</a:t>
            </a:r>
            <a:r>
              <a:rPr lang="en-US" altLang="zh-CN" sz="2000" b="1" dirty="0">
                <a:sym typeface="Symbol" panose="05050102010706020507" pitchFamily="18" charset="2"/>
              </a:rPr>
              <a:t>i </a:t>
            </a:r>
            <a:r>
              <a:rPr lang="zh-CN" altLang="en-US" sz="2000" b="1" dirty="0">
                <a:sym typeface="Symbol" panose="05050102010706020507" pitchFamily="18" charset="2"/>
              </a:rPr>
              <a:t>维下标</a:t>
            </a:r>
            <a:r>
              <a:rPr lang="zh-CN" altLang="en-US" sz="2400" b="1" dirty="0">
                <a:sym typeface="Symbol" panose="05050102010706020507" pitchFamily="18" charset="2"/>
              </a:rPr>
              <a:t> ，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j1,j2…jn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Elemset</a:t>
            </a:r>
            <a:r>
              <a:rPr lang="en-US" altLang="zh-CN" sz="2400" b="1" dirty="0"/>
              <a:t>}</a:t>
            </a:r>
            <a:endParaRPr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6152" name="Rectangle 8"/>
          <p:cNvSpPr/>
          <p:nvPr/>
        </p:nvSpPr>
        <p:spPr>
          <a:xfrm>
            <a:off x="1044575" y="4638675"/>
            <a:ext cx="6794500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数组的抽象数据类型定义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略</a:t>
            </a:r>
            <a:r>
              <a:rPr lang="zh-CN" altLang="en-US" sz="2800" b="1" dirty="0">
                <a:latin typeface="楷体_GB2312"/>
                <a:ea typeface="楷体_GB2312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参见教材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P90</a:t>
            </a:r>
            <a:endParaRPr lang="en-US" altLang="zh-CN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6153" name="Rectangle 9"/>
          <p:cNvSpPr/>
          <p:nvPr/>
        </p:nvSpPr>
        <p:spPr>
          <a:xfrm>
            <a:off x="1654175" y="3800475"/>
            <a:ext cx="68580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构造数组、销毁数组、读数组元素、写数组元素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6154" name="Rectangle 10"/>
          <p:cNvSpPr/>
          <p:nvPr/>
        </p:nvSpPr>
        <p:spPr>
          <a:xfrm>
            <a:off x="130175" y="3800475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基本操作：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155" name="AutoShape 11">
            <a:hlinkClick r:id="" action="ppaction://noaction"/>
          </p:cNvPr>
          <p:cNvSpPr/>
          <p:nvPr/>
        </p:nvSpPr>
        <p:spPr>
          <a:xfrm flipH="1">
            <a:off x="8142288" y="5805488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48" grpId="0"/>
      <p:bldP spid="6149" grpId="0"/>
      <p:bldP spid="6150" grpId="0"/>
      <p:bldP spid="6151" grpId="0"/>
      <p:bldP spid="6152" grpId="0"/>
      <p:bldP spid="6153" grpId="0"/>
      <p:bldP spid="6154" grpId="0"/>
      <p:bldP spid="61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563563" y="304800"/>
            <a:ext cx="7285037" cy="7620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5.2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数组的顺序存储表示和实现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71" name="Rectangle 3"/>
          <p:cNvSpPr/>
          <p:nvPr/>
        </p:nvSpPr>
        <p:spPr>
          <a:xfrm>
            <a:off x="533400" y="1066800"/>
            <a:ext cx="8286750" cy="23082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047750" lvl="0" indent="-104775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问题：</a:t>
            </a:r>
            <a:r>
              <a:rPr lang="zh-CN" altLang="en-US" sz="2400" b="1" dirty="0">
                <a:latin typeface="楷体_GB2312"/>
                <a:ea typeface="楷体_GB2312"/>
              </a:rPr>
              <a:t>计算机的存储结构是一维的，而数组一般是多维的，怎样存放？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1047750" lvl="0" indent="-104775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解决办法：</a:t>
            </a:r>
            <a:r>
              <a:rPr lang="zh-CN" altLang="en-US" sz="2400" b="1" dirty="0">
                <a:latin typeface="楷体_GB2312"/>
                <a:ea typeface="楷体_GB2312"/>
              </a:rPr>
              <a:t>事先约定按某种次序将数组元素排成一列序列，  </a:t>
            </a:r>
            <a:br>
              <a:rPr lang="en-US" altLang="zh-CN" sz="2400" b="1" dirty="0">
                <a:latin typeface="楷体_GB2312"/>
                <a:ea typeface="楷体_GB2312"/>
              </a:rPr>
            </a:br>
            <a:r>
              <a:rPr lang="en-US" altLang="zh-CN" sz="2400" b="1" dirty="0">
                <a:latin typeface="楷体_GB2312"/>
                <a:ea typeface="楷体_GB2312"/>
              </a:rPr>
              <a:t>   </a:t>
            </a:r>
            <a:r>
              <a:rPr lang="zh-CN" altLang="en-US" sz="2400" b="1" dirty="0">
                <a:latin typeface="楷体_GB2312"/>
                <a:ea typeface="楷体_GB2312"/>
              </a:rPr>
              <a:t>然后将这个线性序列存入存储器中。</a:t>
            </a:r>
            <a:endParaRPr lang="zh-CN" altLang="en-US" sz="2400" b="1" dirty="0">
              <a:solidFill>
                <a:schemeClr val="tx2"/>
              </a:solidFill>
              <a:ea typeface="楷体_GB2312"/>
            </a:endParaRPr>
          </a:p>
          <a:p>
            <a:pPr marL="1047750" lvl="0" indent="-104775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例如：</a:t>
            </a:r>
            <a:r>
              <a:rPr lang="zh-CN" altLang="en-US" sz="2400" b="1" dirty="0">
                <a:ea typeface="楷体_GB2312"/>
              </a:rPr>
              <a:t>在二维数组中，我们既可以规定按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行</a:t>
            </a:r>
            <a:r>
              <a:rPr lang="zh-CN" altLang="en-US" sz="2400" b="1" dirty="0">
                <a:ea typeface="楷体_GB2312"/>
              </a:rPr>
              <a:t>存储，也可以规定按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列</a:t>
            </a:r>
            <a:r>
              <a:rPr lang="zh-CN" altLang="en-US" sz="2400" b="1" dirty="0">
                <a:ea typeface="楷体_GB2312"/>
              </a:rPr>
              <a:t>存储</a:t>
            </a:r>
            <a:r>
              <a:rPr lang="zh-CN" altLang="en-US" sz="2400" b="1" dirty="0">
                <a:ea typeface="黑体" panose="02010609060101010101" pitchFamily="49" charset="-122"/>
              </a:rPr>
              <a:t>。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7172" name="Rectangle 4"/>
          <p:cNvSpPr/>
          <p:nvPr/>
        </p:nvSpPr>
        <p:spPr>
          <a:xfrm>
            <a:off x="609600" y="3505200"/>
            <a:ext cx="8153400" cy="19177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1000" lvl="0" indent="-38100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注意：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381000" lvl="0" indent="-381000" eaLnBrk="1" hangingPunct="1">
              <a:spcBef>
                <a:spcPct val="0"/>
              </a:spcBef>
            </a:pPr>
            <a:r>
              <a:rPr lang="zh-CN" altLang="en-US" sz="2400" b="1" dirty="0">
                <a:latin typeface="楷体_GB2312"/>
                <a:ea typeface="楷体_GB2312"/>
              </a:rPr>
              <a:t>若规定好了次序，则数组中任意一个元素的存放地址便有规律可寻，可形成地址计算公式；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381000" lvl="0" indent="-381000" eaLnBrk="1" hangingPunct="1">
              <a:spcBef>
                <a:spcPct val="0"/>
              </a:spcBef>
            </a:pPr>
            <a:r>
              <a:rPr lang="zh-CN" altLang="en-US" sz="2400" b="1" dirty="0">
                <a:latin typeface="楷体_GB2312"/>
                <a:ea typeface="楷体_GB2312"/>
              </a:rPr>
              <a:t>约定的次序不同，则计算元素地址的公式也有所不同；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381000" lvl="0" indent="-38100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C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和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PASCAL</a:t>
            </a:r>
            <a:r>
              <a:rPr lang="zh-CN" altLang="en-US" sz="2400" b="1" dirty="0">
                <a:latin typeface="楷体_GB2312"/>
                <a:ea typeface="楷体_GB2312"/>
              </a:rPr>
              <a:t>中一般采用行优先顺序；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FORTRAN</a:t>
            </a:r>
            <a:r>
              <a:rPr lang="zh-CN" altLang="en-US" sz="2400" b="1" dirty="0">
                <a:latin typeface="楷体_GB2312"/>
                <a:ea typeface="楷体_GB2312"/>
              </a:rPr>
              <a:t>采用列优先。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7173" name="AutoShape 5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3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charRg st="32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81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charRg st="81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charRg st="4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2">
                                            <p:txEl>
                                              <p:charRg st="4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charRg st="4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2">
                                            <p:txEl>
                                              <p:charRg st="45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charRg st="70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72">
                                            <p:txEl>
                                              <p:charRg st="70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2" grpId="0" build="p"/>
      <p:bldP spid="717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427788"/>
            <a:ext cx="1905000" cy="457200"/>
          </a:xfrm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617788"/>
            <a:ext cx="85344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补充：计算二维数组元素地址的通式</a:t>
            </a:r>
            <a:b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设一般的二维数组是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A[c</a:t>
            </a:r>
            <a:r>
              <a:rPr kumimoji="1" lang="en-US" altLang="zh-CN" sz="2400" b="1" i="0" u="none" strike="noStrike" kern="0" cap="none" spc="0" normalizeH="0" baseline="-18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..d</a:t>
            </a:r>
            <a:r>
              <a:rPr kumimoji="1" lang="en-US" altLang="zh-CN" sz="2400" b="1" i="0" u="none" strike="noStrike" kern="0" cap="none" spc="0" normalizeH="0" baseline="-18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, c</a:t>
            </a:r>
            <a:r>
              <a:rPr kumimoji="1" lang="en-US" altLang="zh-CN" sz="2400" b="1" i="0" u="none" strike="noStrike" kern="0" cap="none" spc="0" normalizeH="0" baseline="-18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..d</a:t>
            </a:r>
            <a:r>
              <a:rPr kumimoji="1" lang="en-US" altLang="zh-CN" sz="2400" b="1" i="0" u="none" strike="noStrike" kern="0" cap="none" spc="0" normalizeH="0" baseline="-18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]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，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这里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c</a:t>
            </a:r>
            <a:r>
              <a:rPr kumimoji="1" lang="en-US" altLang="zh-CN" sz="2400" b="1" i="0" u="none" strike="noStrike" kern="0" cap="none" spc="0" normalizeH="0" baseline="-18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,c</a:t>
            </a:r>
            <a:r>
              <a:rPr kumimoji="1" lang="en-US" altLang="zh-CN" sz="2400" b="1" i="0" u="none" strike="noStrike" kern="0" cap="none" spc="0" normalizeH="0" baseline="-18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不一定是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0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。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8195" name="Rectangle 3"/>
          <p:cNvSpPr/>
          <p:nvPr/>
        </p:nvSpPr>
        <p:spPr>
          <a:xfrm>
            <a:off x="228600" y="255588"/>
            <a:ext cx="8534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无论规定行优先或列优先，只要知道以下三要素便可随时求出任一元素的地址（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这样数组中的任一元素便可以</a:t>
            </a:r>
            <a:r>
              <a:rPr lang="zh-CN" altLang="en-US" sz="2400" b="1" dirty="0">
                <a:solidFill>
                  <a:srgbClr val="FF0000"/>
                </a:solidFill>
                <a:latin typeface="楷体_GB2312"/>
                <a:ea typeface="楷体_GB2312"/>
              </a:rPr>
              <a:t>随机存取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！</a:t>
            </a:r>
            <a:r>
              <a:rPr lang="zh-CN" altLang="en-US" sz="2400" b="1" dirty="0">
                <a:latin typeface="楷体_GB2312"/>
                <a:ea typeface="楷体_GB2312"/>
              </a:rPr>
              <a:t>）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：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228600" y="5132388"/>
            <a:ext cx="7162800" cy="831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二维数组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列优先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存储的通式为：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LOC(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1800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ij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)=LOC(a</a:t>
            </a:r>
            <a:r>
              <a:rPr kumimoji="1" lang="en-US" altLang="zh-CN" sz="2400" b="1" i="0" u="none" strike="noStrike" kern="1200" cap="none" spc="0" normalizeH="0" baseline="-16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</a:t>
            </a:r>
            <a:r>
              <a:rPr kumimoji="1" lang="en-US" altLang="zh-CN" sz="2400" b="1" i="0" u="none" strike="noStrike" kern="1200" cap="none" spc="0" normalizeH="0" baseline="-36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-36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</a:t>
            </a:r>
            <a:r>
              <a:rPr kumimoji="1" lang="en-US" altLang="zh-CN" sz="2400" b="1" i="0" u="none" strike="noStrike" kern="1200" cap="none" spc="0" normalizeH="0" baseline="-34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)+[(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j-c</a:t>
            </a:r>
            <a:r>
              <a:rPr kumimoji="1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)*(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-c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+1)+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i-c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)]*L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429250" y="1550988"/>
            <a:ext cx="3028950" cy="1524000"/>
            <a:chOff x="3420" y="864"/>
            <a:chExt cx="1908" cy="960"/>
          </a:xfrm>
        </p:grpSpPr>
        <p:sp>
          <p:nvSpPr>
            <p:cNvPr id="11279" name="Rectangle 6"/>
            <p:cNvSpPr/>
            <p:nvPr/>
          </p:nvSpPr>
          <p:spPr>
            <a:xfrm>
              <a:off x="3984" y="912"/>
              <a:ext cx="1344" cy="7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c1,c2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… 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c1,d2</a:t>
              </a:r>
              <a:endParaRPr lang="en-US" altLang="zh-CN" sz="2400" b="1" baseline="-20000" dirty="0">
                <a:solidFill>
                  <a:schemeClr val="tx2"/>
                </a:solidFill>
                <a:ea typeface="楷体_GB2312"/>
              </a:endParaRPr>
            </a:p>
            <a:p>
              <a:pPr marL="0" lvl="0" indent="0" eaLnBrk="1" hangingPunct="1"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 …    </a:t>
              </a:r>
              <a:r>
                <a:rPr lang="en-US" altLang="zh-CN" sz="2400" b="1" dirty="0">
                  <a:solidFill>
                    <a:schemeClr val="accent1"/>
                  </a:solidFill>
                  <a:ea typeface="楷体_GB2312"/>
                </a:rPr>
                <a:t>a</a:t>
              </a:r>
              <a:r>
                <a:rPr lang="en-US" altLang="zh-CN" sz="2400" b="1" baseline="-18000" dirty="0">
                  <a:solidFill>
                    <a:schemeClr val="accent1"/>
                  </a:solidFill>
                  <a:ea typeface="楷体_GB2312"/>
                </a:rPr>
                <a:t>ij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   … </a:t>
              </a:r>
              <a:b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</a:b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d1,c2  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… a</a:t>
              </a:r>
              <a:r>
                <a:rPr lang="en-US" altLang="zh-CN" sz="2400" b="1" baseline="-20000" dirty="0">
                  <a:solidFill>
                    <a:schemeClr val="tx2"/>
                  </a:solidFill>
                  <a:ea typeface="楷体_GB2312"/>
                </a:rPr>
                <a:t>d1,d2</a:t>
              </a:r>
              <a:r>
                <a:rPr lang="en-US" altLang="zh-CN" sz="2400" b="1" dirty="0">
                  <a:solidFill>
                    <a:schemeClr val="tx2"/>
                  </a:solidFill>
                  <a:ea typeface="楷体_GB231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11280" name="Text Box 7"/>
            <p:cNvSpPr txBox="1"/>
            <p:nvPr/>
          </p:nvSpPr>
          <p:spPr>
            <a:xfrm>
              <a:off x="3420" y="1104"/>
              <a:ext cx="7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楷体_GB2312"/>
                </a:rPr>
                <a:t>A</a:t>
              </a:r>
              <a:r>
                <a:rPr lang="en-US" altLang="zh-CN" sz="2800" b="1" baseline="-20000" dirty="0">
                  <a:solidFill>
                    <a:schemeClr val="tx2"/>
                  </a:solidFill>
                  <a:ea typeface="楷体_GB2312"/>
                </a:rPr>
                <a:t>mn</a:t>
              </a:r>
              <a:r>
                <a:rPr lang="en-US" altLang="zh-CN" sz="2800" b="1" dirty="0">
                  <a:solidFill>
                    <a:schemeClr val="tx2"/>
                  </a:solidFill>
                  <a:ea typeface="楷体_GB2312"/>
                </a:rPr>
                <a:t>=</a:t>
              </a:r>
              <a:endParaRPr lang="en-US" altLang="zh-CN" sz="2800" b="1" dirty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11281" name="Line 8"/>
            <p:cNvSpPr/>
            <p:nvPr/>
          </p:nvSpPr>
          <p:spPr>
            <a:xfrm flipH="1">
              <a:off x="4017" y="86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82" name="Line 9"/>
            <p:cNvSpPr/>
            <p:nvPr/>
          </p:nvSpPr>
          <p:spPr>
            <a:xfrm>
              <a:off x="4017" y="864"/>
              <a:ext cx="4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83" name="Line 10"/>
            <p:cNvSpPr/>
            <p:nvPr/>
          </p:nvSpPr>
          <p:spPr>
            <a:xfrm>
              <a:off x="4017" y="1824"/>
              <a:ext cx="9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84" name="Line 11"/>
            <p:cNvSpPr/>
            <p:nvPr/>
          </p:nvSpPr>
          <p:spPr>
            <a:xfrm>
              <a:off x="5279" y="86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85" name="Line 12"/>
            <p:cNvSpPr/>
            <p:nvPr/>
          </p:nvSpPr>
          <p:spPr>
            <a:xfrm>
              <a:off x="5231" y="864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86" name="Line 13"/>
            <p:cNvSpPr/>
            <p:nvPr/>
          </p:nvSpPr>
          <p:spPr>
            <a:xfrm flipH="1">
              <a:off x="5184" y="1824"/>
              <a:ext cx="9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8206" name="AutoShape 14"/>
          <p:cNvSpPr/>
          <p:nvPr/>
        </p:nvSpPr>
        <p:spPr>
          <a:xfrm>
            <a:off x="7451725" y="4400550"/>
            <a:ext cx="1219200" cy="576263"/>
          </a:xfrm>
          <a:prstGeom prst="wedgeRoundRectCallout">
            <a:avLst>
              <a:gd name="adj1" fmla="val -125389"/>
              <a:gd name="adj2" fmla="val -66528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楷体_GB2312"/>
                <a:ea typeface="楷体_GB2312"/>
              </a:rPr>
              <a:t>单个元素长度</a:t>
            </a:r>
            <a:endParaRPr lang="zh-CN" altLang="en-US" sz="1800" b="1" dirty="0">
              <a:latin typeface="楷体_GB2312"/>
              <a:ea typeface="楷体_GB2312"/>
            </a:endParaRPr>
          </a:p>
        </p:txBody>
      </p:sp>
      <p:sp>
        <p:nvSpPr>
          <p:cNvPr id="8207" name="AutoShape 15">
            <a:hlinkClick r:id="" action="ppaction://hlinkshowjump?jump=nextslide"/>
          </p:cNvPr>
          <p:cNvSpPr/>
          <p:nvPr/>
        </p:nvSpPr>
        <p:spPr>
          <a:xfrm>
            <a:off x="8077200" y="5970588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8208" name="AutoShape 16"/>
          <p:cNvSpPr/>
          <p:nvPr/>
        </p:nvSpPr>
        <p:spPr>
          <a:xfrm>
            <a:off x="2339975" y="4471988"/>
            <a:ext cx="1295400" cy="609600"/>
          </a:xfrm>
          <a:prstGeom prst="wedgeRoundRectCallout">
            <a:avLst>
              <a:gd name="adj1" fmla="val 58824"/>
              <a:gd name="adj2" fmla="val -90884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/>
              </a:rPr>
              <a:t>a</a:t>
            </a:r>
            <a:r>
              <a:rPr lang="en-US" altLang="zh-CN" sz="2400" b="1" baseline="-18000" dirty="0">
                <a:solidFill>
                  <a:schemeClr val="accent2"/>
                </a:solidFill>
                <a:ea typeface="楷体_GB2312"/>
              </a:rPr>
              <a:t>ij</a:t>
            </a:r>
            <a:r>
              <a:rPr lang="zh-CN" altLang="en-US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之前的行数</a:t>
            </a:r>
            <a:endParaRPr lang="zh-CN" altLang="en-US" sz="18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8209" name="AutoShape 17"/>
          <p:cNvSpPr/>
          <p:nvPr/>
        </p:nvSpPr>
        <p:spPr>
          <a:xfrm>
            <a:off x="468313" y="4545013"/>
            <a:ext cx="1447800" cy="304800"/>
          </a:xfrm>
          <a:prstGeom prst="wedgeRoundRectCallout">
            <a:avLst>
              <a:gd name="adj1" fmla="val 84431"/>
              <a:gd name="adj2" fmla="val -161458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楷体_GB2312"/>
                <a:ea typeface="楷体_GB2312"/>
              </a:rPr>
              <a:t>数组基址</a:t>
            </a:r>
            <a:endParaRPr lang="zh-CN" altLang="en-US" sz="1800" b="1" dirty="0">
              <a:latin typeface="楷体_GB2312"/>
              <a:ea typeface="楷体_GB2312"/>
            </a:endParaRPr>
          </a:p>
        </p:txBody>
      </p:sp>
      <p:sp>
        <p:nvSpPr>
          <p:cNvPr id="8210" name="AutoShape 18"/>
          <p:cNvSpPr/>
          <p:nvPr/>
        </p:nvSpPr>
        <p:spPr>
          <a:xfrm>
            <a:off x="3733800" y="4598988"/>
            <a:ext cx="1447800" cy="522287"/>
          </a:xfrm>
          <a:prstGeom prst="wedgeRoundRectCallout">
            <a:avLst>
              <a:gd name="adj1" fmla="val 40352"/>
              <a:gd name="adj2" fmla="val -117782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总列数，即第</a:t>
            </a:r>
            <a:r>
              <a:rPr lang="en-US" altLang="zh-CN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2</a:t>
            </a:r>
            <a:r>
              <a:rPr lang="zh-CN" altLang="en-US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维长度</a:t>
            </a:r>
            <a:endParaRPr lang="zh-CN" altLang="en-US" sz="18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8211" name="AutoShape 19"/>
          <p:cNvSpPr/>
          <p:nvPr/>
        </p:nvSpPr>
        <p:spPr>
          <a:xfrm>
            <a:off x="5364163" y="4545013"/>
            <a:ext cx="1512887" cy="609600"/>
          </a:xfrm>
          <a:prstGeom prst="wedgeRoundRectCallout">
            <a:avLst>
              <a:gd name="adj1" fmla="val -16106"/>
              <a:gd name="adj2" fmla="val -100523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楷体_GB2312"/>
              </a:rPr>
              <a:t>a</a:t>
            </a:r>
            <a:r>
              <a:rPr lang="en-US" altLang="zh-CN" sz="2400" b="1" baseline="-18000" dirty="0">
                <a:solidFill>
                  <a:schemeClr val="accent2"/>
                </a:solidFill>
                <a:ea typeface="楷体_GB2312"/>
              </a:rPr>
              <a:t>ij</a:t>
            </a:r>
            <a:r>
              <a:rPr lang="zh-CN" altLang="en-US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本行前面的元素个数</a:t>
            </a:r>
            <a:endParaRPr lang="zh-CN" altLang="en-US" sz="18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8212" name="Rectangle 20"/>
          <p:cNvSpPr/>
          <p:nvPr/>
        </p:nvSpPr>
        <p:spPr>
          <a:xfrm>
            <a:off x="381000" y="1093788"/>
            <a:ext cx="54864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仿宋_GB2312"/>
                <a:ea typeface="仿宋_GB2312"/>
              </a:rPr>
              <a:t>①</a:t>
            </a:r>
            <a:r>
              <a:rPr lang="zh-CN" altLang="en-US" sz="2400" b="1" dirty="0">
                <a:solidFill>
                  <a:schemeClr val="accent1"/>
                </a:solidFill>
                <a:latin typeface="仿宋_GB2312"/>
                <a:ea typeface="仿宋_GB2312"/>
              </a:rPr>
              <a:t>开始结点的存放地址（即基地址）</a:t>
            </a:r>
            <a:endParaRPr lang="zh-CN" altLang="en-US" sz="2400" b="1" dirty="0">
              <a:solidFill>
                <a:schemeClr val="accent1"/>
              </a:solidFill>
              <a:latin typeface="仿宋_GB2312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仿宋_GB2312"/>
                <a:ea typeface="仿宋_GB2312"/>
              </a:rPr>
              <a:t>②维数和每维的上、下界；</a:t>
            </a:r>
            <a:endParaRPr lang="zh-CN" altLang="en-US" sz="2400" b="1" dirty="0">
              <a:solidFill>
                <a:schemeClr val="accent1"/>
              </a:solidFill>
              <a:latin typeface="仿宋_GB2312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仿宋_GB2312"/>
                <a:ea typeface="仿宋_GB2312"/>
              </a:rPr>
              <a:t>③每个数组元素所占用的单元数</a:t>
            </a:r>
            <a:endParaRPr lang="zh-CN" altLang="en-US" sz="2400" b="1" dirty="0">
              <a:solidFill>
                <a:schemeClr val="accent1"/>
              </a:solidFill>
              <a:latin typeface="仿宋_GB2312"/>
              <a:ea typeface="仿宋_GB2312"/>
            </a:endParaRPr>
          </a:p>
        </p:txBody>
      </p:sp>
      <p:sp>
        <p:nvSpPr>
          <p:cNvPr id="8213" name="Rectangle 21"/>
          <p:cNvSpPr/>
          <p:nvPr/>
        </p:nvSpPr>
        <p:spPr>
          <a:xfrm>
            <a:off x="381000" y="3532188"/>
            <a:ext cx="7772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则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行优先</a:t>
            </a:r>
            <a:r>
              <a:rPr lang="zh-CN" altLang="en-US" sz="2400" b="1" dirty="0">
                <a:latin typeface="楷体_GB2312"/>
                <a:ea typeface="楷体_GB2312"/>
              </a:rPr>
              <a:t>存储时的地址公式为：</a:t>
            </a:r>
            <a:b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</a:b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LOC(</a:t>
            </a: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a</a:t>
            </a:r>
            <a:r>
              <a:rPr lang="en-US" altLang="zh-CN" sz="2400" b="1" baseline="-18000" dirty="0">
                <a:solidFill>
                  <a:schemeClr val="accent1"/>
                </a:solidFill>
                <a:ea typeface="楷体_GB2312"/>
              </a:rPr>
              <a:t>ij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)=LOC(a</a:t>
            </a:r>
            <a:r>
              <a:rPr lang="en-US" altLang="zh-CN" sz="2400" b="1" baseline="-16000" dirty="0">
                <a:solidFill>
                  <a:schemeClr val="tx2"/>
                </a:solidFill>
                <a:ea typeface="楷体_GB2312"/>
              </a:rPr>
              <a:t>c</a:t>
            </a:r>
            <a:r>
              <a:rPr lang="en-US" altLang="zh-CN" sz="2400" b="1" baseline="-36000" dirty="0">
                <a:solidFill>
                  <a:schemeClr val="tx2"/>
                </a:solidFill>
                <a:ea typeface="楷体_GB2312"/>
              </a:rPr>
              <a:t>1</a:t>
            </a:r>
            <a:r>
              <a:rPr lang="zh-CN" altLang="en-US" sz="2400" b="1" baseline="-36000" dirty="0">
                <a:solidFill>
                  <a:schemeClr val="tx2"/>
                </a:solidFill>
                <a:ea typeface="楷体_GB2312"/>
              </a:rPr>
              <a:t>，</a:t>
            </a:r>
            <a:r>
              <a:rPr lang="en-US" altLang="zh-CN" sz="2400" b="1" baseline="-18000" dirty="0">
                <a:solidFill>
                  <a:schemeClr val="tx2"/>
                </a:solidFill>
                <a:ea typeface="楷体_GB2312"/>
              </a:rPr>
              <a:t>c</a:t>
            </a:r>
            <a:r>
              <a:rPr lang="en-US" altLang="zh-CN" sz="2400" b="1" baseline="-34000" dirty="0">
                <a:solidFill>
                  <a:schemeClr val="tx2"/>
                </a:solidFill>
                <a:ea typeface="楷体_GB231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)+[(i-c</a:t>
            </a:r>
            <a:r>
              <a:rPr lang="en-US" altLang="zh-CN" sz="2400" b="1" baseline="-18000" dirty="0">
                <a:solidFill>
                  <a:schemeClr val="tx2"/>
                </a:solidFill>
                <a:ea typeface="楷体_GB231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)*(d</a:t>
            </a:r>
            <a:r>
              <a:rPr lang="en-US" altLang="zh-CN" sz="2400" b="1" baseline="-18000" dirty="0">
                <a:solidFill>
                  <a:schemeClr val="tx2"/>
                </a:solidFill>
                <a:ea typeface="楷体_GB231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-c</a:t>
            </a:r>
            <a:r>
              <a:rPr lang="en-US" altLang="zh-CN" sz="2400" b="1" baseline="-18000" dirty="0">
                <a:solidFill>
                  <a:schemeClr val="tx2"/>
                </a:solidFill>
                <a:ea typeface="楷体_GB231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+1)+j-c</a:t>
            </a:r>
            <a:r>
              <a:rPr lang="en-US" altLang="zh-CN" sz="2400" b="1" baseline="-18000" dirty="0">
                <a:solidFill>
                  <a:schemeClr val="tx2"/>
                </a:solidFill>
                <a:ea typeface="楷体_GB231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)]*L</a:t>
            </a:r>
            <a:endParaRPr lang="en-US" altLang="zh-CN" sz="2400" b="1" dirty="0">
              <a:solidFill>
                <a:schemeClr val="tx2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">
                                            <p:txEl>
                                              <p:charRg st="17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19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charRg st="1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196">
                                            <p:txEl>
                                              <p:charRg st="15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uild="p"/>
      <p:bldP spid="8195" grpId="0"/>
      <p:bldP spid="8196" grpId="0" build="p"/>
      <p:bldP spid="8206" grpId="0" animBg="1"/>
      <p:bldP spid="8207" grpId="0" animBg="1"/>
      <p:bldP spid="8208" grpId="0" animBg="1"/>
      <p:bldP spid="8209" grpId="0" animBg="1"/>
      <p:bldP spid="8210" grpId="0" animBg="1"/>
      <p:bldP spid="8211" grpId="0" animBg="1"/>
      <p:bldP spid="8212" grpId="0" build="p"/>
      <p:bldP spid="82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1140" name="Rectangle 4"/>
          <p:cNvSpPr>
            <a:spLocks noGrp="1" noChangeArrowheads="1"/>
          </p:cNvSpPr>
          <p:nvPr>
            <p:ph idx="1"/>
          </p:nvPr>
        </p:nvSpPr>
        <p:spPr>
          <a:xfrm>
            <a:off x="0" y="228600"/>
            <a:ext cx="7772400" cy="68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</a:rPr>
            </a:b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12292" name="Text Box 5"/>
          <p:cNvSpPr txBox="1"/>
          <p:nvPr/>
        </p:nvSpPr>
        <p:spPr>
          <a:xfrm>
            <a:off x="890588" y="935038"/>
            <a:ext cx="2762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sp>
        <p:nvSpPr>
          <p:cNvPr id="12293" name="Text Box 6"/>
          <p:cNvSpPr txBox="1"/>
          <p:nvPr/>
        </p:nvSpPr>
        <p:spPr>
          <a:xfrm>
            <a:off x="1485900" y="1327150"/>
            <a:ext cx="8001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000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dirty="0"/>
          </a:p>
        </p:txBody>
      </p:sp>
      <p:sp>
        <p:nvSpPr>
          <p:cNvPr id="12294" name="Text Box 7"/>
          <p:cNvSpPr txBox="1"/>
          <p:nvPr/>
        </p:nvSpPr>
        <p:spPr>
          <a:xfrm>
            <a:off x="2286000" y="1965325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1800" i="1" dirty="0"/>
          </a:p>
        </p:txBody>
      </p:sp>
      <p:sp>
        <p:nvSpPr>
          <p:cNvPr id="91144" name="Text Box 8"/>
          <p:cNvSpPr txBox="1">
            <a:spLocks noChangeArrowheads="1"/>
          </p:cNvSpPr>
          <p:nvPr/>
        </p:nvSpPr>
        <p:spPr bwMode="auto">
          <a:xfrm>
            <a:off x="539750" y="260350"/>
            <a:ext cx="3436938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>
                <a:srgbClr val="CC0000"/>
              </a:buClr>
              <a:buSzPct val="50000"/>
              <a:buFont typeface="Monotype Sorts" pitchFamily="2" charset="2"/>
              <a:buNone/>
              <a:defRPr/>
            </a:pPr>
            <a:r>
              <a:rPr kumimoji="1" lang="en-US" altLang="zh-CN" sz="3600" b="1" kern="1200" cap="none" spc="0" normalizeH="0" baseline="0" noProof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3600" b="1" kern="1200" cap="none" spc="0" normalizeH="0" baseline="0" noProof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二维数组</a:t>
            </a:r>
            <a:r>
              <a:rPr kumimoji="1" lang="en-US" altLang="zh-CN" sz="3600" b="1" kern="1200" cap="none" spc="0" normalizeH="0" baseline="0" noProof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3600" b="1" kern="1200" cap="none" spc="0" normalizeH="0" baseline="0" noProof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书上</a:t>
            </a:r>
            <a:r>
              <a:rPr kumimoji="1" lang="en-US" altLang="zh-CN" sz="3600" b="1" kern="1200" cap="none" spc="0" normalizeH="0" baseline="0" noProof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endParaRPr kumimoji="1" lang="en-US" altLang="zh-CN" sz="3600" b="1" kern="1200" cap="none" spc="0" normalizeH="0" baseline="0" noProof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12296" name="Object 9"/>
          <p:cNvGraphicFramePr>
            <a:graphicFrameLocks noChangeAspect="1"/>
          </p:cNvGraphicFramePr>
          <p:nvPr/>
        </p:nvGraphicFramePr>
        <p:xfrm>
          <a:off x="827088" y="981075"/>
          <a:ext cx="6840537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136900" imgH="1143000" progId="Equation.3">
                  <p:embed/>
                </p:oleObj>
              </mc:Choice>
              <mc:Fallback>
                <p:oleObj name="" r:id="rId1" imgW="3136900" imgH="1143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981075"/>
                        <a:ext cx="6840537" cy="281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10"/>
          <p:cNvSpPr txBox="1"/>
          <p:nvPr/>
        </p:nvSpPr>
        <p:spPr>
          <a:xfrm>
            <a:off x="539750" y="3933825"/>
            <a:ext cx="7918450" cy="198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3366"/>
                </a:solidFill>
                <a:ea typeface="楷体_GB2312"/>
              </a:rPr>
              <a:t>行优先存放：</a:t>
            </a:r>
            <a:endParaRPr lang="zh-CN" altLang="en-US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3366"/>
                </a:solidFill>
                <a:ea typeface="楷体_GB2312"/>
              </a:rPr>
              <a:t>    设数组开始存放位置 </a:t>
            </a:r>
            <a:r>
              <a:rPr lang="en-US" altLang="zh-CN" sz="2800" b="1" dirty="0">
                <a:solidFill>
                  <a:srgbClr val="003366"/>
                </a:solidFill>
                <a:ea typeface="楷体_GB2312"/>
              </a:rPr>
              <a:t>LOC( 0, 0 ) </a:t>
            </a:r>
            <a:r>
              <a:rPr lang="zh-CN" altLang="en-US" sz="2800" b="1" dirty="0">
                <a:solidFill>
                  <a:srgbClr val="003366"/>
                </a:solidFill>
                <a:ea typeface="楷体_GB2312"/>
              </a:rPr>
              <a:t>，每个元素占用 </a:t>
            </a:r>
            <a:r>
              <a:rPr lang="en-US" altLang="zh-CN" sz="2800" b="1" i="1" dirty="0">
                <a:solidFill>
                  <a:srgbClr val="003366"/>
                </a:solidFill>
                <a:ea typeface="楷体_GB2312"/>
              </a:rPr>
              <a:t>l </a:t>
            </a:r>
            <a:r>
              <a:rPr lang="zh-CN" altLang="zh-CN" sz="2800" b="1" dirty="0">
                <a:solidFill>
                  <a:srgbClr val="003366"/>
                </a:solidFill>
                <a:ea typeface="楷体_GB2312"/>
              </a:rPr>
              <a:t>个存储单元</a:t>
            </a:r>
            <a:endParaRPr lang="zh-CN" altLang="en-US" sz="2800" b="1" dirty="0">
              <a:solidFill>
                <a:srgbClr val="003366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003366"/>
                </a:solidFill>
                <a:ea typeface="楷体_GB2312"/>
              </a:rPr>
              <a:t> </a:t>
            </a:r>
            <a:r>
              <a:rPr lang="en-US" altLang="zh-CN" sz="3600" b="1" i="1" dirty="0">
                <a:solidFill>
                  <a:srgbClr val="003366"/>
                </a:solidFill>
                <a:ea typeface="楷体_GB2312"/>
              </a:rPr>
              <a:t>LOC ( i, j ) = </a:t>
            </a:r>
            <a:r>
              <a:rPr lang="en-US" altLang="zh-CN" sz="2400" b="1" dirty="0">
                <a:solidFill>
                  <a:srgbClr val="003366"/>
                </a:solidFill>
              </a:rPr>
              <a:t>LOC( 0, 0 )</a:t>
            </a:r>
            <a:r>
              <a:rPr lang="en-US" altLang="zh-CN" sz="3600" b="1" i="1" dirty="0">
                <a:solidFill>
                  <a:srgbClr val="003366"/>
                </a:solidFill>
                <a:ea typeface="楷体_GB2312"/>
              </a:rPr>
              <a:t> + ( i * m + j ) * l</a:t>
            </a:r>
            <a:endParaRPr lang="en-US" altLang="zh-CN" sz="3600" b="1" i="1" dirty="0">
              <a:solidFill>
                <a:srgbClr val="003366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323850" y="2133600"/>
            <a:ext cx="8229600" cy="990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</a:rPr>
              <a:t>已知二维数组</a:t>
            </a:r>
            <a:r>
              <a:rPr lang="en-US" altLang="zh-CN" sz="2400" b="1" dirty="0">
                <a:solidFill>
                  <a:schemeClr val="accent1"/>
                </a:solidFill>
              </a:rPr>
              <a:t>A</a:t>
            </a:r>
            <a:r>
              <a:rPr lang="en-US" altLang="zh-CN" sz="2400" b="1" baseline="-25000" dirty="0">
                <a:solidFill>
                  <a:schemeClr val="accent1"/>
                </a:solidFill>
              </a:rPr>
              <a:t>m,m</a:t>
            </a:r>
            <a:r>
              <a:rPr lang="zh-CN" altLang="en-US" sz="2400" b="1" dirty="0">
                <a:solidFill>
                  <a:schemeClr val="tx1"/>
                </a:solidFill>
              </a:rPr>
              <a:t>按行存储的元素地址公式是：</a:t>
            </a:r>
            <a:br>
              <a:rPr lang="zh-CN" altLang="en-US" sz="2400" b="1" dirty="0">
                <a:solidFill>
                  <a:schemeClr val="tx1"/>
                </a:solidFill>
              </a:rPr>
            </a:br>
            <a:r>
              <a:rPr lang="zh-CN" altLang="en-US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</a:rPr>
              <a:t>Loc(a</a:t>
            </a:r>
            <a:r>
              <a:rPr lang="en-US" altLang="zh-CN" sz="2400" b="1" baseline="-25000" dirty="0">
                <a:solidFill>
                  <a:schemeClr val="tx1"/>
                </a:solidFill>
              </a:rPr>
              <a:t>ij</a:t>
            </a:r>
            <a:r>
              <a:rPr lang="en-US" altLang="zh-CN" sz="2400" b="1" dirty="0">
                <a:solidFill>
                  <a:schemeClr val="tx1"/>
                </a:solidFill>
              </a:rPr>
              <a:t>)= Loc(a</a:t>
            </a:r>
            <a:r>
              <a:rPr lang="en-US" altLang="zh-CN" sz="2400" b="1" baseline="-25000" dirty="0">
                <a:solidFill>
                  <a:schemeClr val="tx1"/>
                </a:solidFill>
              </a:rPr>
              <a:t>11</a:t>
            </a:r>
            <a:r>
              <a:rPr lang="en-US" altLang="zh-CN" sz="2400" b="1" dirty="0">
                <a:solidFill>
                  <a:schemeClr val="tx1"/>
                </a:solidFill>
              </a:rPr>
              <a:t>)+[(i-1)*m+(j-1)]*K , </a:t>
            </a:r>
            <a:r>
              <a:rPr lang="zh-CN" altLang="en-US" sz="2400" b="1" dirty="0">
                <a:solidFill>
                  <a:schemeClr val="tx1"/>
                </a:solidFill>
              </a:rPr>
              <a:t>按列存储的公式是？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395288" y="3141663"/>
            <a:ext cx="8458200" cy="45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chemeClr val="tx2"/>
                </a:solidFill>
              </a:rPr>
              <a:t>Loc(a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ij</a:t>
            </a:r>
            <a:r>
              <a:rPr lang="en-US" altLang="zh-CN" sz="2400" b="1" dirty="0">
                <a:solidFill>
                  <a:schemeClr val="tx2"/>
                </a:solidFill>
              </a:rPr>
              <a:t>)=Loc(a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11</a:t>
            </a:r>
            <a:r>
              <a:rPr lang="en-US" altLang="zh-CN" sz="2400" b="1" dirty="0">
                <a:solidFill>
                  <a:schemeClr val="tx2"/>
                </a:solidFill>
              </a:rPr>
              <a:t>)+[(j-1)*m+(i-1)]*K  </a:t>
            </a:r>
            <a:r>
              <a:rPr lang="zh-CN" altLang="en-US" sz="2000" b="1" dirty="0">
                <a:solidFill>
                  <a:schemeClr val="tx2"/>
                </a:solidFill>
                <a:ea typeface="楷体_GB2312"/>
              </a:rPr>
              <a:t>（尽管是方阵，但公式仍不同）</a:t>
            </a:r>
            <a:endParaRPr lang="zh-CN" altLang="en-US" sz="2000" b="1" dirty="0">
              <a:solidFill>
                <a:schemeClr val="tx2"/>
              </a:solidFill>
              <a:ea typeface="楷体_GB2312"/>
            </a:endParaRPr>
          </a:p>
        </p:txBody>
      </p:sp>
      <p:sp>
        <p:nvSpPr>
          <p:cNvPr id="9220" name="Text Box 4"/>
          <p:cNvSpPr txBox="1"/>
          <p:nvPr/>
        </p:nvSpPr>
        <p:spPr>
          <a:xfrm>
            <a:off x="304800" y="228600"/>
            <a:ext cx="8515350" cy="1249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</a:rPr>
              <a:t>1</a:t>
            </a:r>
            <a:r>
              <a:rPr lang="en-US" altLang="zh-CN" sz="2400" b="1" dirty="0">
                <a:solidFill>
                  <a:schemeClr val="accent2"/>
                </a:solidFill>
              </a:rPr>
              <a:t>〖</a:t>
            </a:r>
            <a:r>
              <a:rPr lang="zh-CN" altLang="en-US" sz="2400" b="1" dirty="0">
                <a:solidFill>
                  <a:schemeClr val="accent2"/>
                </a:solidFill>
              </a:rPr>
              <a:t>软考题</a:t>
            </a:r>
            <a:r>
              <a:rPr lang="en-US" altLang="zh-CN" sz="2400" b="1" dirty="0">
                <a:solidFill>
                  <a:schemeClr val="accent2"/>
                </a:solidFill>
              </a:rPr>
              <a:t>〗</a:t>
            </a:r>
            <a:r>
              <a:rPr lang="zh-CN" altLang="en-US" sz="2800" b="1" dirty="0">
                <a:solidFill>
                  <a:schemeClr val="accent1"/>
                </a:solidFill>
              </a:rPr>
              <a:t>：</a:t>
            </a:r>
            <a:r>
              <a:rPr lang="zh-CN" altLang="en-US" sz="2400" b="1" dirty="0"/>
              <a:t>一个二维数组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，行下标的范围是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，列下标的范围是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，每个数组元素用相邻的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个字节存储，存储器按字节编址。那么，这个数组的体积是</a:t>
            </a:r>
            <a:r>
              <a:rPr lang="zh-CN" altLang="en-US" sz="2400" b="1" u="sng" dirty="0"/>
              <a:t>         </a:t>
            </a:r>
            <a:r>
              <a:rPr lang="zh-CN" altLang="en-US" sz="2400" b="1" dirty="0"/>
              <a:t>个字节。 </a:t>
            </a:r>
            <a:endParaRPr lang="zh-CN" altLang="en-US" sz="2400" b="1" dirty="0"/>
          </a:p>
        </p:txBody>
      </p:sp>
      <p:sp>
        <p:nvSpPr>
          <p:cNvPr id="9221" name="Text Box 5"/>
          <p:cNvSpPr txBox="1"/>
          <p:nvPr/>
        </p:nvSpPr>
        <p:spPr>
          <a:xfrm>
            <a:off x="6227763" y="1052513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</a:rPr>
              <a:t>288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9222" name="Text Box 6"/>
          <p:cNvSpPr txBox="1"/>
          <p:nvPr/>
        </p:nvSpPr>
        <p:spPr>
          <a:xfrm>
            <a:off x="323850" y="3644900"/>
            <a:ext cx="8001000" cy="1249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</a:rPr>
              <a:t>：</a:t>
            </a:r>
            <a:r>
              <a:rPr lang="en-US" altLang="zh-CN" sz="2400" b="1" dirty="0">
                <a:solidFill>
                  <a:schemeClr val="accent2"/>
                </a:solidFill>
              </a:rPr>
              <a:t>〖00</a:t>
            </a:r>
            <a:r>
              <a:rPr lang="zh-CN" altLang="en-US" sz="2400" b="1" dirty="0">
                <a:solidFill>
                  <a:schemeClr val="accent2"/>
                </a:solidFill>
              </a:rPr>
              <a:t>年计算机系考研题</a:t>
            </a:r>
            <a:r>
              <a:rPr lang="en-US" altLang="zh-CN" sz="2400" b="1" dirty="0">
                <a:solidFill>
                  <a:schemeClr val="accent2"/>
                </a:solidFill>
              </a:rPr>
              <a:t>〗</a:t>
            </a:r>
            <a:r>
              <a:rPr lang="zh-CN" altLang="en-US" sz="2400" b="1" dirty="0"/>
              <a:t>设数组</a:t>
            </a:r>
            <a:r>
              <a:rPr lang="en-US" altLang="zh-CN" sz="2400" b="1" dirty="0"/>
              <a:t>a[1…60, 1…70]</a:t>
            </a:r>
            <a:r>
              <a:rPr lang="zh-CN" altLang="en-US" sz="2400" b="1" dirty="0"/>
              <a:t>的基地址为</a:t>
            </a:r>
            <a:r>
              <a:rPr lang="en-US" altLang="zh-CN" sz="2400" b="1" dirty="0"/>
              <a:t>2048</a:t>
            </a:r>
            <a:r>
              <a:rPr lang="zh-CN" altLang="en-US" sz="2400" b="1" dirty="0"/>
              <a:t>，每个元素占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个存储单元，若以列序为主序顺序存储，则元素</a:t>
            </a:r>
            <a:r>
              <a:rPr lang="en-US" altLang="zh-CN" sz="2400" b="1" dirty="0"/>
              <a:t>a[32,58]</a:t>
            </a:r>
            <a:r>
              <a:rPr lang="zh-CN" altLang="en-US" sz="2400" b="1" dirty="0"/>
              <a:t>的存储地址为</a:t>
            </a:r>
            <a:r>
              <a:rPr lang="zh-CN" altLang="en-US" sz="2400" b="1" u="sng" dirty="0"/>
              <a:t>    </a:t>
            </a:r>
            <a:r>
              <a:rPr lang="zh-CN" altLang="en-US" sz="2400" b="1" dirty="0">
                <a:solidFill>
                  <a:schemeClr val="accent1"/>
                </a:solidFill>
              </a:rPr>
              <a:t>        </a:t>
            </a:r>
            <a:r>
              <a:rPr lang="zh-CN" altLang="en-US" sz="2400" b="1" u="sng" dirty="0"/>
              <a:t>            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9223" name="Rectangle 7"/>
          <p:cNvSpPr/>
          <p:nvPr/>
        </p:nvSpPr>
        <p:spPr>
          <a:xfrm>
            <a:off x="6156325" y="4365625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</a:rPr>
              <a:t>8950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9224" name="Rectangle 8"/>
          <p:cNvSpPr/>
          <p:nvPr/>
        </p:nvSpPr>
        <p:spPr>
          <a:xfrm>
            <a:off x="539750" y="5373688"/>
            <a:ext cx="7620000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LOC(a</a:t>
            </a:r>
            <a:r>
              <a:rPr lang="en-US" altLang="zh-CN" sz="2400" b="1" baseline="-18000" dirty="0">
                <a:solidFill>
                  <a:schemeClr val="tx2"/>
                </a:solidFill>
                <a:ea typeface="楷体_GB2312"/>
              </a:rPr>
              <a:t>ij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)=LOC(a</a:t>
            </a:r>
            <a:r>
              <a:rPr lang="en-US" altLang="zh-CN" sz="2400" b="1" baseline="-16000" dirty="0">
                <a:solidFill>
                  <a:schemeClr val="tx2"/>
                </a:solidFill>
                <a:ea typeface="楷体_GB2312"/>
              </a:rPr>
              <a:t>c</a:t>
            </a:r>
            <a:r>
              <a:rPr lang="en-US" altLang="zh-CN" sz="2400" b="1" baseline="-36000" dirty="0">
                <a:solidFill>
                  <a:schemeClr val="tx2"/>
                </a:solidFill>
                <a:ea typeface="楷体_GB2312"/>
              </a:rPr>
              <a:t>1</a:t>
            </a:r>
            <a:r>
              <a:rPr lang="zh-CN" altLang="en-US" sz="2400" b="1" baseline="-36000" dirty="0">
                <a:solidFill>
                  <a:schemeClr val="tx2"/>
                </a:solidFill>
                <a:ea typeface="楷体_GB2312"/>
              </a:rPr>
              <a:t>，</a:t>
            </a:r>
            <a:r>
              <a:rPr lang="en-US" altLang="zh-CN" sz="2400" b="1" baseline="-18000" dirty="0">
                <a:solidFill>
                  <a:schemeClr val="tx2"/>
                </a:solidFill>
                <a:ea typeface="楷体_GB2312"/>
              </a:rPr>
              <a:t>c</a:t>
            </a:r>
            <a:r>
              <a:rPr lang="en-US" altLang="zh-CN" sz="2400" b="1" baseline="-34000" dirty="0">
                <a:solidFill>
                  <a:schemeClr val="tx2"/>
                </a:solidFill>
                <a:ea typeface="楷体_GB231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)+[(j-c2)*(d1-c1+1)+i-c</a:t>
            </a:r>
            <a:r>
              <a:rPr lang="en-US" altLang="zh-CN" sz="2400" b="1" baseline="-18000" dirty="0">
                <a:solidFill>
                  <a:schemeClr val="tx2"/>
                </a:solidFill>
                <a:ea typeface="楷体_GB231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)]*L</a:t>
            </a:r>
            <a:endParaRPr lang="en-US" altLang="zh-CN" sz="2400" b="1" dirty="0">
              <a:solidFill>
                <a:schemeClr val="tx2"/>
              </a:solidFill>
              <a:ea typeface="楷体_GB231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楷体_GB2312"/>
              </a:rPr>
              <a:t>得：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LOC(</a:t>
            </a: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32,58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)=2048+[(58-1)*(60-1+1)+32-1)]*2</a:t>
            </a:r>
            <a:r>
              <a:rPr lang="zh-CN" altLang="en-US" sz="2400" b="1" dirty="0">
                <a:solidFill>
                  <a:schemeClr val="tx2"/>
                </a:solidFill>
                <a:ea typeface="楷体_GB231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8950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9225" name="Rectangle 9"/>
          <p:cNvSpPr/>
          <p:nvPr/>
        </p:nvSpPr>
        <p:spPr>
          <a:xfrm>
            <a:off x="323850" y="4797425"/>
            <a:ext cx="2822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答：请注意审题！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9226" name="Rectangle 10"/>
          <p:cNvSpPr/>
          <p:nvPr/>
        </p:nvSpPr>
        <p:spPr>
          <a:xfrm>
            <a:off x="2843213" y="4797425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利用列优先通式：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9227" name="AutoShape 11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9229" name="Rectangle 13"/>
          <p:cNvSpPr/>
          <p:nvPr/>
        </p:nvSpPr>
        <p:spPr>
          <a:xfrm>
            <a:off x="468313" y="1700213"/>
            <a:ext cx="7467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答：</a:t>
            </a:r>
            <a:r>
              <a:rPr lang="zh-CN" altLang="en-US" sz="2400" b="1" dirty="0"/>
              <a:t> </a:t>
            </a:r>
            <a:r>
              <a:rPr lang="en-US" altLang="zh-CN" sz="2400" b="1" dirty="0">
                <a:solidFill>
                  <a:schemeClr val="tx2"/>
                </a:solidFill>
              </a:rPr>
              <a:t>Volume=m*n*L=6*8*6=48*6=288</a:t>
            </a:r>
            <a:endParaRPr lang="en-US" altLang="zh-CN" sz="2000" b="1" dirty="0">
              <a:solidFill>
                <a:schemeClr val="tx2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build="p"/>
      <p:bldP spid="9220" grpId="0"/>
      <p:bldP spid="9221" grpId="0"/>
      <p:bldP spid="9222" grpId="0"/>
      <p:bldP spid="9223" grpId="0"/>
      <p:bldP spid="9224" grpId="0"/>
      <p:bldP spid="9225" grpId="0"/>
      <p:bldP spid="9226" grpId="0"/>
      <p:bldP spid="9227" grpId="0" animBg="1"/>
      <p:bldP spid="92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433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6975"/>
            <a:ext cx="9151938" cy="3657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0" name="Rectangle 5"/>
          <p:cNvSpPr/>
          <p:nvPr/>
        </p:nvSpPr>
        <p:spPr>
          <a:xfrm>
            <a:off x="0" y="4797425"/>
            <a:ext cx="8515350" cy="160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5000"/>
              </a:spcBef>
              <a:buNone/>
            </a:pPr>
            <a:r>
              <a:rPr lang="zh-CN" altLang="en-US" b="1" dirty="0">
                <a:solidFill>
                  <a:srgbClr val="000099"/>
                </a:solidFill>
                <a:ea typeface="楷体_GB2312"/>
              </a:rPr>
              <a:t>行向量  下标 </a:t>
            </a: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i             </a:t>
            </a:r>
            <a:r>
              <a:rPr lang="zh-CN" altLang="en-US" b="1" dirty="0">
                <a:solidFill>
                  <a:srgbClr val="000099"/>
                </a:solidFill>
                <a:ea typeface="楷体_GB2312"/>
              </a:rPr>
              <a:t>页向量  下标 </a:t>
            </a: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i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342900" lvl="0" indent="-342900" algn="ctr" eaLnBrk="1" hangingPunct="1">
              <a:spcBef>
                <a:spcPct val="5000"/>
              </a:spcBef>
              <a:buNone/>
            </a:pPr>
            <a:r>
              <a:rPr lang="zh-CN" altLang="zh-CN" b="1" dirty="0">
                <a:solidFill>
                  <a:srgbClr val="000099"/>
                </a:solidFill>
                <a:ea typeface="楷体_GB2312"/>
              </a:rPr>
              <a:t>列向量  下标 </a:t>
            </a: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j             </a:t>
            </a:r>
            <a:r>
              <a:rPr lang="zh-CN" altLang="en-US" b="1" dirty="0">
                <a:solidFill>
                  <a:srgbClr val="000099"/>
                </a:solidFill>
                <a:ea typeface="楷体_GB2312"/>
              </a:rPr>
              <a:t>行向量  下标 </a:t>
            </a: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j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  <a:p>
            <a:pPr marL="342900" lvl="0" indent="-342900" algn="ctr" eaLnBrk="1" hangingPunct="1">
              <a:spcBef>
                <a:spcPct val="500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                                      </a:t>
            </a:r>
            <a:r>
              <a:rPr lang="zh-CN" altLang="zh-CN" b="1" dirty="0">
                <a:solidFill>
                  <a:srgbClr val="000099"/>
                </a:solidFill>
                <a:ea typeface="楷体_GB2312"/>
              </a:rPr>
              <a:t>列向量  下标 </a:t>
            </a: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k</a:t>
            </a:r>
            <a:endParaRPr lang="en-US" altLang="zh-CN" b="1" dirty="0">
              <a:solidFill>
                <a:srgbClr val="000099"/>
              </a:solidFill>
              <a:ea typeface="楷体_GB2312"/>
            </a:endParaRPr>
          </a:p>
        </p:txBody>
      </p:sp>
      <p:sp>
        <p:nvSpPr>
          <p:cNvPr id="14341" name="Text Box 6"/>
          <p:cNvSpPr txBox="1"/>
          <p:nvPr/>
        </p:nvSpPr>
        <p:spPr>
          <a:xfrm>
            <a:off x="685800" y="425450"/>
            <a:ext cx="7620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</a:t>
            </a:r>
            <a:r>
              <a:rPr lang="zh-CN" altLang="en-US" sz="3600" b="1" dirty="0">
                <a:solidFill>
                  <a:srgbClr val="FF0000"/>
                </a:solidFill>
                <a:latin typeface="仿宋_GB2312"/>
                <a:ea typeface="楷体_GB2312"/>
              </a:rPr>
              <a:t>二维数组           三维数组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3" name="Rectangle 4"/>
          <p:cNvSpPr>
            <a:spLocks noGrp="1"/>
          </p:cNvSpPr>
          <p:nvPr>
            <p:ph type="title"/>
          </p:nvPr>
        </p:nvSpPr>
        <p:spPr>
          <a:xfrm>
            <a:off x="762000" y="381000"/>
            <a:ext cx="6858000" cy="7620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buClr>
                <a:srgbClr val="CC0000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b="1" dirty="0"/>
              <a:t>三维数组</a:t>
            </a:r>
            <a:endParaRPr lang="zh-CN" altLang="en-US" b="1" dirty="0"/>
          </a:p>
        </p:txBody>
      </p:sp>
      <p:sp>
        <p:nvSpPr>
          <p:cNvPr id="18436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82000" cy="1905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各维元素个数为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m1, m2, m3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下标为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, i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, i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的数组元素的存储地址：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     （按页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行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列存放）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3190" name="Text Box 6"/>
          <p:cNvSpPr txBox="1">
            <a:spLocks noChangeArrowheads="1"/>
          </p:cNvSpPr>
          <p:nvPr/>
        </p:nvSpPr>
        <p:spPr bwMode="auto">
          <a:xfrm>
            <a:off x="1314450" y="2971800"/>
            <a:ext cx="6115050" cy="1301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LOC (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2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3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) =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+ </a:t>
            </a:r>
            <a:endParaRPr kumimoji="1" lang="en-US" altLang="zh-CN" sz="3600" b="1" kern="1200" cap="none" spc="0" normalizeH="0" baseline="0" noProof="0">
              <a:solidFill>
                <a:srgbClr val="FF3300"/>
              </a:solidFill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 (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m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2 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m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3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+ 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2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 m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3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+ 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3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) *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l 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</a:t>
            </a:r>
            <a:endParaRPr kumimoji="1" lang="en-US" altLang="zh-CN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5366" name="AutoShape 7"/>
          <p:cNvSpPr/>
          <p:nvPr/>
        </p:nvSpPr>
        <p:spPr>
          <a:xfrm rot="-5400000">
            <a:off x="2838450" y="3409950"/>
            <a:ext cx="228600" cy="1943100"/>
          </a:xfrm>
          <a:prstGeom prst="leftBrace">
            <a:avLst>
              <a:gd name="adj1" fmla="val 70833"/>
              <a:gd name="adj2" fmla="val 50000"/>
            </a:avLst>
          </a:prstGeom>
          <a:noFill/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5367" name="Text Box 8"/>
          <p:cNvSpPr txBox="1"/>
          <p:nvPr/>
        </p:nvSpPr>
        <p:spPr>
          <a:xfrm>
            <a:off x="2057400" y="4419600"/>
            <a:ext cx="1828800" cy="1128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accent2"/>
                </a:solidFill>
                <a:ea typeface="仿宋_GB2312"/>
              </a:rPr>
              <a:t>前</a:t>
            </a:r>
            <a:r>
              <a:rPr lang="en-US" altLang="zh-CN" sz="3600" b="1" i="1" dirty="0">
                <a:solidFill>
                  <a:schemeClr val="tx2"/>
                </a:solidFill>
                <a:ea typeface="仿宋_GB2312"/>
              </a:rPr>
              <a:t>i</a:t>
            </a:r>
            <a:r>
              <a:rPr lang="en-US" altLang="zh-CN" sz="3600" b="1" baseline="-25000" dirty="0">
                <a:solidFill>
                  <a:schemeClr val="tx2"/>
                </a:solidFill>
                <a:ea typeface="仿宋_GB231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ea typeface="仿宋_GB2312"/>
              </a:rPr>
              <a:t>页总</a:t>
            </a:r>
            <a:endParaRPr lang="zh-CN" altLang="en-US" b="1" dirty="0">
              <a:solidFill>
                <a:schemeClr val="accent2"/>
              </a:solidFill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accent2"/>
                </a:solidFill>
                <a:ea typeface="仿宋_GB2312"/>
              </a:rPr>
              <a:t>元素个数</a:t>
            </a:r>
            <a:endParaRPr lang="zh-CN" altLang="en-US" b="1" dirty="0">
              <a:solidFill>
                <a:schemeClr val="accent2"/>
              </a:solidFill>
              <a:ea typeface="仿宋_GB2312"/>
            </a:endParaRPr>
          </a:p>
        </p:txBody>
      </p:sp>
      <p:sp>
        <p:nvSpPr>
          <p:cNvPr id="15368" name="AutoShape 9"/>
          <p:cNvSpPr/>
          <p:nvPr/>
        </p:nvSpPr>
        <p:spPr>
          <a:xfrm rot="-5400000">
            <a:off x="4895850" y="3829050"/>
            <a:ext cx="228600" cy="1104900"/>
          </a:xfrm>
          <a:prstGeom prst="leftBrace">
            <a:avLst>
              <a:gd name="adj1" fmla="val 40277"/>
              <a:gd name="adj2" fmla="val 50000"/>
            </a:avLst>
          </a:prstGeom>
          <a:noFill/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5369" name="Text Box 10"/>
          <p:cNvSpPr txBox="1"/>
          <p:nvPr/>
        </p:nvSpPr>
        <p:spPr>
          <a:xfrm>
            <a:off x="4114800" y="4419600"/>
            <a:ext cx="1828800" cy="1677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accent2"/>
                </a:solidFill>
                <a:ea typeface="仿宋_GB2312"/>
              </a:rPr>
              <a:t>第</a:t>
            </a:r>
            <a:r>
              <a:rPr lang="en-US" altLang="zh-CN" sz="3600" b="1" i="1" dirty="0">
                <a:solidFill>
                  <a:schemeClr val="tx2"/>
                </a:solidFill>
                <a:ea typeface="仿宋_GB2312"/>
              </a:rPr>
              <a:t>i</a:t>
            </a:r>
            <a:r>
              <a:rPr lang="en-US" altLang="zh-CN" sz="3600" b="1" baseline="-25000" dirty="0">
                <a:solidFill>
                  <a:schemeClr val="tx2"/>
                </a:solidFill>
                <a:ea typeface="仿宋_GB231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ea typeface="仿宋_GB2312"/>
              </a:rPr>
              <a:t>页的</a:t>
            </a:r>
            <a:endParaRPr lang="zh-CN" altLang="en-US" b="1" dirty="0">
              <a:solidFill>
                <a:schemeClr val="accent2"/>
              </a:solidFill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accent2"/>
                </a:solidFill>
                <a:ea typeface="仿宋_GB2312"/>
              </a:rPr>
              <a:t>前</a:t>
            </a:r>
            <a:r>
              <a:rPr lang="en-US" altLang="zh-CN" sz="3600" b="1" i="1" dirty="0">
                <a:solidFill>
                  <a:srgbClr val="FF3300"/>
                </a:solidFill>
                <a:ea typeface="仿宋_GB2312"/>
              </a:rPr>
              <a:t>i</a:t>
            </a:r>
            <a:r>
              <a:rPr lang="en-US" altLang="zh-CN" sz="3600" b="1" baseline="-25000" dirty="0">
                <a:solidFill>
                  <a:srgbClr val="FF3300"/>
                </a:solidFill>
                <a:ea typeface="仿宋_GB2312"/>
              </a:rPr>
              <a:t>2</a:t>
            </a:r>
            <a:r>
              <a:rPr lang="zh-CN" altLang="en-US" sz="3600" b="1" dirty="0">
                <a:solidFill>
                  <a:schemeClr val="accent2"/>
                </a:solidFill>
                <a:ea typeface="仿宋_GB2312"/>
              </a:rPr>
              <a:t>行</a:t>
            </a:r>
            <a:r>
              <a:rPr lang="zh-CN" altLang="en-US" b="1" dirty="0">
                <a:solidFill>
                  <a:schemeClr val="accent2"/>
                </a:solidFill>
                <a:ea typeface="仿宋_GB2312"/>
              </a:rPr>
              <a:t>总元素个数</a:t>
            </a:r>
            <a:endParaRPr lang="zh-CN" altLang="en-US" b="1" dirty="0">
              <a:solidFill>
                <a:schemeClr val="accent2"/>
              </a:solidFill>
              <a:ea typeface="仿宋_GB231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6387" name="Rectangle 4"/>
          <p:cNvSpPr>
            <a:spLocks noGrp="1"/>
          </p:cNvSpPr>
          <p:nvPr>
            <p:ph type="title"/>
          </p:nvPr>
        </p:nvSpPr>
        <p:spPr>
          <a:xfrm>
            <a:off x="304800" y="381000"/>
            <a:ext cx="6553200" cy="7620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buClr>
                <a:schemeClr val="tx1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  <a:r>
              <a:rPr lang="en-US" altLang="zh-CN" b="1" dirty="0"/>
              <a:t>n </a:t>
            </a:r>
            <a:r>
              <a:rPr lang="zh-CN" altLang="en-US" b="1" dirty="0"/>
              <a:t>维数组</a:t>
            </a:r>
            <a:endParaRPr lang="zh-CN" altLang="en-US" b="1" dirty="0"/>
          </a:p>
        </p:txBody>
      </p:sp>
      <p:sp>
        <p:nvSpPr>
          <p:cNvPr id="16388" name="Rectangle 5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1349375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dirty="0"/>
              <a:t> </a:t>
            </a:r>
            <a:r>
              <a:rPr lang="zh-CN" altLang="en-US" b="1" dirty="0"/>
              <a:t>各维元素个数为  </a:t>
            </a:r>
            <a:r>
              <a:rPr lang="en-US" altLang="zh-CN" b="1" dirty="0"/>
              <a:t>m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 m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 m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, …, m</a:t>
            </a:r>
            <a:r>
              <a:rPr lang="en-US" altLang="zh-CN" b="1" baseline="-25000" dirty="0"/>
              <a:t>n</a:t>
            </a:r>
            <a:endParaRPr lang="en-US" altLang="zh-CN" b="1" baseline="-25000" dirty="0"/>
          </a:p>
          <a:p>
            <a:pPr lvl="1" eaLnBrk="1" hangingPunct="1"/>
            <a:r>
              <a:rPr lang="en-US" altLang="zh-CN" b="1" dirty="0"/>
              <a:t> </a:t>
            </a:r>
            <a:r>
              <a:rPr lang="zh-CN" altLang="en-US" b="1" dirty="0"/>
              <a:t>下标为 </a:t>
            </a:r>
            <a:r>
              <a:rPr lang="en-US" altLang="zh-CN" b="1" dirty="0"/>
              <a:t>i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 i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 i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, …, i</a:t>
            </a:r>
            <a:r>
              <a:rPr lang="en-US" altLang="zh-CN" b="1" baseline="-25000" dirty="0"/>
              <a:t>n</a:t>
            </a:r>
            <a:r>
              <a:rPr lang="en-US" altLang="zh-CN" b="1" dirty="0"/>
              <a:t> </a:t>
            </a:r>
            <a:r>
              <a:rPr lang="zh-CN" altLang="en-US" b="1" dirty="0"/>
              <a:t>的数组元素的存储地址：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aphicFrame>
        <p:nvGraphicFramePr>
          <p:cNvPr id="16389" name="Object 6"/>
          <p:cNvGraphicFramePr>
            <a:graphicFrameLocks noChangeAspect="1"/>
          </p:cNvGraphicFramePr>
          <p:nvPr/>
        </p:nvGraphicFramePr>
        <p:xfrm>
          <a:off x="1116013" y="4437063"/>
          <a:ext cx="5259387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714500" imgH="508000" progId="Equation.3">
                  <p:embed/>
                </p:oleObj>
              </mc:Choice>
              <mc:Fallback>
                <p:oleObj name="" r:id="rId1" imgW="1714500" imgH="5080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4437063"/>
                        <a:ext cx="5259387" cy="1443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AutoShape 7">
            <a:hlinkClick r:id="rId3" action="ppaction://hlinksldjump"/>
          </p:cNvPr>
          <p:cNvSpPr/>
          <p:nvPr/>
        </p:nvSpPr>
        <p:spPr>
          <a:xfrm>
            <a:off x="8001000" y="5943600"/>
            <a:ext cx="685800" cy="457200"/>
          </a:xfrm>
          <a:prstGeom prst="actionButtonBackPrevious">
            <a:avLst/>
          </a:prstGeom>
          <a:solidFill>
            <a:srgbClr val="C0C0C0"/>
          </a:solidFill>
          <a:ln w="0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94216" name="Text Box 8"/>
          <p:cNvSpPr txBox="1">
            <a:spLocks noChangeArrowheads="1"/>
          </p:cNvSpPr>
          <p:nvPr/>
        </p:nvSpPr>
        <p:spPr bwMode="auto">
          <a:xfrm>
            <a:off x="900113" y="2349500"/>
            <a:ext cx="7813675" cy="1906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LOC (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2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…, i</a:t>
            </a:r>
            <a:r>
              <a:rPr kumimoji="1" lang="en-US" altLang="zh-CN" sz="3600" b="1" i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) =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+ </a:t>
            </a:r>
            <a:endParaRPr kumimoji="1" lang="en-US" altLang="zh-CN" sz="3600" b="1" kern="1200" cap="none" spc="0" normalizeH="0" baseline="0" noProof="0">
              <a:solidFill>
                <a:srgbClr val="FF3300"/>
              </a:solidFill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 ( 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m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2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m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3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…*m</a:t>
            </a:r>
            <a:r>
              <a:rPr kumimoji="1" lang="en-US" altLang="zh-CN" sz="3600" b="1" i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+ i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2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*m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3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*m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4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…*m</a:t>
            </a:r>
            <a:r>
              <a:rPr kumimoji="1" lang="en-US" altLang="zh-CN" sz="3600" b="1" i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+</a:t>
            </a:r>
            <a:endParaRPr kumimoji="1" lang="en-US" altLang="zh-CN" sz="3600" b="1" i="1" kern="1200" cap="none" spc="0" normalizeH="0" baseline="0" noProof="0">
              <a:solidFill>
                <a:srgbClr val="FF3300"/>
              </a:solidFill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 + ……+ i</a:t>
            </a:r>
            <a:r>
              <a:rPr kumimoji="1" lang="en-US" altLang="zh-CN" sz="3600" b="1" i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</a:t>
            </a:r>
            <a:r>
              <a:rPr kumimoji="1" lang="en-US" altLang="zh-CN" sz="3600" b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-1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*m</a:t>
            </a:r>
            <a:r>
              <a:rPr kumimoji="1" lang="en-US" altLang="zh-CN" sz="3600" b="1" i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+ i</a:t>
            </a:r>
            <a:r>
              <a:rPr kumimoji="1" lang="en-US" altLang="zh-CN" sz="3600" b="1" i="1" kern="1200" cap="none" spc="0" normalizeH="0" baseline="-2500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</a:t>
            </a:r>
            <a:r>
              <a:rPr kumimoji="1" lang="en-US" altLang="zh-CN" sz="3600" b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) *</a:t>
            </a:r>
            <a:r>
              <a:rPr kumimoji="1" lang="en-US" altLang="zh-CN" sz="3600" b="1" i="1" kern="1200" cap="none" spc="0" normalizeH="0" baseline="0" noProof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l 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</a:t>
            </a:r>
            <a:endParaRPr kumimoji="1" lang="en-US" altLang="zh-CN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2" name="Rectangle 2"/>
          <p:cNvSpPr>
            <a:spLocks noGrp="1"/>
          </p:cNvSpPr>
          <p:nvPr>
            <p:ph idx="1"/>
          </p:nvPr>
        </p:nvSpPr>
        <p:spPr>
          <a:xfrm>
            <a:off x="827088" y="2133600"/>
            <a:ext cx="6172200" cy="106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None/>
            </a:pPr>
            <a:endParaRPr lang="en-US" altLang="zh-CN" sz="2400" b="1" dirty="0">
              <a:solidFill>
                <a:schemeClr val="bg2"/>
              </a:solidFill>
              <a:latin typeface="楷体_GB2312"/>
              <a:ea typeface="楷体_GB2312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Loc(j</a:t>
            </a:r>
            <a:r>
              <a:rPr lang="en-US" altLang="zh-CN" sz="2400" b="1" baseline="-25000" dirty="0">
                <a:solidFill>
                  <a:schemeClr val="accent1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,j</a:t>
            </a:r>
            <a:r>
              <a:rPr lang="en-US" altLang="zh-CN" sz="2400" b="1" baseline="-25000" dirty="0">
                <a:solidFill>
                  <a:schemeClr val="accent1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,</a:t>
            </a: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…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j</a:t>
            </a:r>
            <a:r>
              <a:rPr lang="en-US" altLang="zh-CN" sz="2400" b="1" baseline="-25000" dirty="0">
                <a:solidFill>
                  <a:schemeClr val="accent1"/>
                </a:solidFill>
                <a:latin typeface="楷体_GB2312"/>
                <a:ea typeface="楷体_GB2312"/>
              </a:rPr>
              <a:t>n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)=LOC(0,0,</a:t>
            </a: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…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0)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＋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10243" name="Rectangle 3"/>
          <p:cNvSpPr/>
          <p:nvPr>
            <p:ph type="title"/>
          </p:nvPr>
        </p:nvSpPr>
        <p:spPr>
          <a:xfrm>
            <a:off x="533400" y="457200"/>
            <a:ext cx="7999413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ea typeface="楷体_GB2312"/>
              </a:rPr>
              <a:t>若是</a:t>
            </a:r>
            <a:r>
              <a:rPr lang="en-US" altLang="zh-CN" sz="2800" b="1" dirty="0">
                <a:ea typeface="楷体_GB2312"/>
              </a:rPr>
              <a:t>N</a:t>
            </a:r>
            <a:r>
              <a:rPr lang="zh-CN" altLang="en-US" sz="2800" b="1" dirty="0">
                <a:latin typeface="楷体_GB2312"/>
                <a:ea typeface="楷体_GB2312"/>
              </a:rPr>
              <a:t>维数组，其中任一元素的地址该如何计算？</a:t>
            </a:r>
            <a:endParaRPr lang="zh-CN" altLang="en-US" sz="2800" b="1" dirty="0">
              <a:solidFill>
                <a:schemeClr val="tx1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5257800" y="2265363"/>
          <a:ext cx="9906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57200" imgH="431800" progId="Equation.3">
                  <p:embed/>
                </p:oleObj>
              </mc:Choice>
              <mc:Fallback>
                <p:oleObj name="" r:id="rId1" imgW="457200" imgH="431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57800" y="2265363"/>
                        <a:ext cx="990600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/>
          <p:nvPr/>
        </p:nvSpPr>
        <p:spPr>
          <a:xfrm>
            <a:off x="762000" y="4191000"/>
            <a:ext cx="624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其中</a:t>
            </a:r>
            <a:r>
              <a:rPr lang="en-US" altLang="zh-CN" sz="2400" b="1" dirty="0">
                <a:ea typeface="楷体_GB2312"/>
              </a:rPr>
              <a:t>C</a:t>
            </a:r>
            <a:r>
              <a:rPr lang="en-US" altLang="zh-CN" sz="2400" b="1" baseline="-25000" dirty="0">
                <a:ea typeface="楷体_GB2312"/>
              </a:rPr>
              <a:t>n</a:t>
            </a:r>
            <a:r>
              <a:rPr lang="en-US" altLang="zh-CN" sz="2400" b="1" dirty="0">
                <a:ea typeface="楷体_GB2312"/>
              </a:rPr>
              <a:t>=L, C</a:t>
            </a:r>
            <a:r>
              <a:rPr lang="en-US" altLang="zh-CN" sz="2400" b="1" baseline="-25000" dirty="0">
                <a:ea typeface="楷体_GB2312"/>
              </a:rPr>
              <a:t>i-1</a:t>
            </a:r>
            <a:r>
              <a:rPr lang="en-US" altLang="zh-CN" sz="2400" b="1" dirty="0">
                <a:ea typeface="楷体_GB2312"/>
              </a:rPr>
              <a:t>=b</a:t>
            </a:r>
            <a:r>
              <a:rPr lang="en-US" altLang="zh-CN" sz="2400" b="1" baseline="-25000" dirty="0">
                <a:ea typeface="楷体_GB2312"/>
              </a:rPr>
              <a:t>i</a:t>
            </a:r>
            <a:r>
              <a:rPr lang="en-US" altLang="zh-CN" sz="2400" b="1" dirty="0">
                <a:ea typeface="楷体_GB2312"/>
              </a:rPr>
              <a:t>×C</a:t>
            </a:r>
            <a:r>
              <a:rPr lang="en-US" altLang="zh-CN" sz="2400" b="1" baseline="-25000" dirty="0">
                <a:ea typeface="楷体_GB2312"/>
              </a:rPr>
              <a:t>i</a:t>
            </a:r>
            <a:r>
              <a:rPr lang="zh-CN" altLang="en-US" sz="2400" b="1" baseline="-25000" dirty="0">
                <a:ea typeface="楷体_GB2312"/>
              </a:rPr>
              <a:t>，    </a:t>
            </a:r>
            <a:r>
              <a:rPr lang="en-US" altLang="zh-CN" sz="2400" b="1" dirty="0">
                <a:ea typeface="楷体_GB2312"/>
              </a:rPr>
              <a:t>1&lt;i≤n</a:t>
            </a:r>
            <a:endParaRPr lang="en-US" altLang="zh-CN" sz="2400" b="1" baseline="-25000" dirty="0">
              <a:ea typeface="楷体_GB2312"/>
            </a:endParaRPr>
          </a:p>
        </p:txBody>
      </p:sp>
      <p:sp>
        <p:nvSpPr>
          <p:cNvPr id="10246" name="AutoShape 6"/>
          <p:cNvSpPr/>
          <p:nvPr/>
        </p:nvSpPr>
        <p:spPr>
          <a:xfrm>
            <a:off x="609600" y="4953000"/>
            <a:ext cx="1066800" cy="533400"/>
          </a:xfrm>
          <a:prstGeom prst="wedgeRoundRectCallout">
            <a:avLst>
              <a:gd name="adj1" fmla="val 79019"/>
              <a:gd name="adj2" fmla="val -122620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楷体_GB2312"/>
                <a:ea typeface="楷体_GB2312"/>
              </a:rPr>
              <a:t>一个元素长度</a:t>
            </a:r>
            <a:endParaRPr lang="zh-CN" altLang="en-US" sz="1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10247" name="AutoShape 7"/>
          <p:cNvSpPr/>
          <p:nvPr/>
        </p:nvSpPr>
        <p:spPr>
          <a:xfrm>
            <a:off x="4419600" y="3733800"/>
            <a:ext cx="1371600" cy="381000"/>
          </a:xfrm>
          <a:prstGeom prst="wedgeRoundRectCallout">
            <a:avLst>
              <a:gd name="adj1" fmla="val -76620"/>
              <a:gd name="adj2" fmla="val -287917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楷体_GB2312"/>
                <a:ea typeface="楷体_GB2312"/>
              </a:rPr>
              <a:t>数组基址</a:t>
            </a:r>
            <a:endParaRPr lang="zh-CN" altLang="en-US" sz="1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10248" name="AutoShape 8"/>
          <p:cNvSpPr/>
          <p:nvPr/>
        </p:nvSpPr>
        <p:spPr>
          <a:xfrm>
            <a:off x="6324600" y="3581400"/>
            <a:ext cx="2209800" cy="533400"/>
          </a:xfrm>
          <a:prstGeom prst="wedgeRoundRectCallout">
            <a:avLst>
              <a:gd name="adj1" fmla="val -80745"/>
              <a:gd name="adj2" fmla="val -161903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楷体_GB2312"/>
                <a:ea typeface="楷体_GB2312"/>
              </a:rPr>
              <a:t>前面若干元素占用的地址字节总数</a:t>
            </a:r>
            <a:endParaRPr lang="zh-CN" altLang="en-US" sz="1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10249" name="AutoShape 9"/>
          <p:cNvSpPr/>
          <p:nvPr/>
        </p:nvSpPr>
        <p:spPr>
          <a:xfrm>
            <a:off x="2667000" y="5105400"/>
            <a:ext cx="1371600" cy="304800"/>
          </a:xfrm>
          <a:prstGeom prst="wedgeRoundRectCallout">
            <a:avLst>
              <a:gd name="adj1" fmla="val -21412"/>
              <a:gd name="adj2" fmla="val -225000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楷体_GB2312"/>
                <a:ea typeface="楷体_GB2312"/>
              </a:rPr>
              <a:t>第</a:t>
            </a:r>
            <a:r>
              <a:rPr lang="en-US" altLang="zh-CN" sz="1800" b="1" dirty="0">
                <a:solidFill>
                  <a:schemeClr val="tx2"/>
                </a:solidFill>
                <a:latin typeface="楷体_GB2312"/>
                <a:ea typeface="楷体_GB2312"/>
              </a:rPr>
              <a:t>i</a:t>
            </a:r>
            <a:r>
              <a:rPr lang="zh-CN" altLang="en-US" sz="1800" b="1" dirty="0">
                <a:solidFill>
                  <a:schemeClr val="tx2"/>
                </a:solidFill>
                <a:latin typeface="楷体_GB2312"/>
                <a:ea typeface="楷体_GB2312"/>
              </a:rPr>
              <a:t>维长度</a:t>
            </a:r>
            <a:endParaRPr lang="zh-CN" altLang="en-US" sz="1800" b="1" dirty="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0250" name="AutoShape 10"/>
          <p:cNvSpPr/>
          <p:nvPr/>
        </p:nvSpPr>
        <p:spPr>
          <a:xfrm>
            <a:off x="4284663" y="5013325"/>
            <a:ext cx="2971800" cy="533400"/>
          </a:xfrm>
          <a:prstGeom prst="wedgeRoundRectCallout">
            <a:avLst>
              <a:gd name="adj1" fmla="val -65384"/>
              <a:gd name="adj2" fmla="val -128273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楷体_GB2312"/>
                <a:ea typeface="楷体_GB2312"/>
              </a:rPr>
              <a:t>与所存元素个数有关的系数，可用递推法求出</a:t>
            </a:r>
            <a:endParaRPr lang="zh-CN" altLang="en-US" sz="1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10251" name="AutoShape 11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0252" name="Rectangle 12"/>
          <p:cNvSpPr/>
          <p:nvPr/>
        </p:nvSpPr>
        <p:spPr>
          <a:xfrm>
            <a:off x="611188" y="1125538"/>
            <a:ext cx="76676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教材已给出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低维</a:t>
            </a:r>
            <a:r>
              <a:rPr lang="zh-CN" altLang="en-US" sz="2800" b="1" dirty="0">
                <a:latin typeface="楷体_GB2312"/>
                <a:ea typeface="楷体_GB2312"/>
              </a:rPr>
              <a:t>优先的地址计算公式，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见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P93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5-2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）式</a:t>
            </a:r>
            <a:r>
              <a:rPr lang="zh-CN" altLang="en-US" sz="2400" b="1" dirty="0">
                <a:latin typeface="楷体_GB2312"/>
                <a:ea typeface="楷体_GB2312"/>
              </a:rPr>
              <a:t>该式称为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n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维数组的映像函数</a:t>
            </a:r>
            <a:r>
              <a:rPr lang="zh-CN" altLang="en-US" sz="2400" b="1" dirty="0">
                <a:latin typeface="楷体_GB2312"/>
                <a:ea typeface="楷体_GB2312"/>
              </a:rPr>
              <a:t>：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charRg st="1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42">
                                            <p:txEl>
                                              <p:charRg st="1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/>
      <p:bldP spid="10243" grpId="0"/>
      <p:bldP spid="10245" grpId="0"/>
      <p:bldP spid="10246" grpId="0" animBg="1"/>
      <p:bldP spid="10247" grpId="0" animBg="1"/>
      <p:bldP spid="10248" grpId="0" animBg="1"/>
      <p:bldP spid="10249" grpId="0" animBg="1"/>
      <p:bldP spid="10250" grpId="0" animBg="1"/>
      <p:bldP spid="10251" grpId="0" animBg="1"/>
      <p:bldP spid="1025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266" name="Text Box 2"/>
          <p:cNvSpPr txBox="1"/>
          <p:nvPr/>
        </p:nvSpPr>
        <p:spPr>
          <a:xfrm>
            <a:off x="304800" y="1066800"/>
            <a:ext cx="8305800" cy="33813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#define MAX_ARRAY_DIM   8   </a:t>
            </a:r>
            <a:r>
              <a:rPr lang="en-US" altLang="zh-CN" sz="2400" b="1" dirty="0">
                <a:ea typeface="黑体" panose="02010609060101010101" pitchFamily="49" charset="-122"/>
              </a:rPr>
              <a:t>//</a:t>
            </a:r>
            <a:r>
              <a:rPr lang="zh-CN" altLang="en-US" sz="2400" b="1" dirty="0">
                <a:ea typeface="黑体" panose="02010609060101010101" pitchFamily="49" charset="-122"/>
              </a:rPr>
              <a:t>假设最大维数为</a:t>
            </a:r>
            <a:r>
              <a:rPr lang="en-US" altLang="zh-CN" sz="2400" b="1" dirty="0">
                <a:ea typeface="黑体" panose="02010609060101010101" pitchFamily="49" charset="-122"/>
              </a:rPr>
              <a:t>8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457200" lvl="0" indent="-457200" eaLnBrk="1" hangingPunct="1"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typedef struct{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ELemType *base;       </a:t>
            </a:r>
            <a:r>
              <a:rPr lang="en-US" altLang="zh-CN" sz="2400" b="1" dirty="0">
                <a:ea typeface="黑体" panose="02010609060101010101" pitchFamily="49" charset="-122"/>
              </a:rPr>
              <a:t>//</a:t>
            </a:r>
            <a:r>
              <a:rPr lang="zh-CN" altLang="en-US" sz="2400" b="1" dirty="0">
                <a:ea typeface="黑体" panose="02010609060101010101" pitchFamily="49" charset="-122"/>
              </a:rPr>
              <a:t>数组元素基址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 </a:t>
            </a:r>
            <a:r>
              <a:rPr lang="en-US" altLang="zh-CN" sz="2800" b="1" dirty="0">
                <a:ea typeface="黑体" panose="02010609060101010101" pitchFamily="49" charset="-122"/>
              </a:rPr>
              <a:t>int            dim;             </a:t>
            </a:r>
            <a:r>
              <a:rPr lang="en-US" altLang="zh-CN" sz="2400" b="1" dirty="0">
                <a:ea typeface="黑体" panose="02010609060101010101" pitchFamily="49" charset="-122"/>
              </a:rPr>
              <a:t>//</a:t>
            </a:r>
            <a:r>
              <a:rPr lang="zh-CN" altLang="en-US" sz="2400" b="1" dirty="0">
                <a:ea typeface="黑体" panose="02010609060101010101" pitchFamily="49" charset="-122"/>
              </a:rPr>
              <a:t>数组维数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 </a:t>
            </a:r>
            <a:r>
              <a:rPr lang="en-US" altLang="zh-CN" sz="2800" b="1" dirty="0">
                <a:ea typeface="黑体" panose="02010609060101010101" pitchFamily="49" charset="-122"/>
              </a:rPr>
              <a:t>int          *bound;        </a:t>
            </a:r>
            <a:r>
              <a:rPr lang="en-US" altLang="zh-CN" sz="2400" b="1" dirty="0">
                <a:ea typeface="黑体" panose="02010609060101010101" pitchFamily="49" charset="-122"/>
              </a:rPr>
              <a:t>//</a:t>
            </a:r>
            <a:r>
              <a:rPr lang="zh-CN" altLang="en-US" sz="2400" b="1" dirty="0">
                <a:ea typeface="黑体" panose="02010609060101010101" pitchFamily="49" charset="-122"/>
              </a:rPr>
              <a:t>数组</a:t>
            </a: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各维长度信息保存区</a:t>
            </a:r>
            <a:r>
              <a:rPr lang="zh-CN" altLang="en-US" sz="2400" b="1" dirty="0">
                <a:ea typeface="黑体" panose="02010609060101010101" pitchFamily="49" charset="-122"/>
              </a:rPr>
              <a:t>基址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457200" lvl="0" indent="-45720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 </a:t>
            </a:r>
            <a:r>
              <a:rPr lang="en-US" altLang="zh-CN" sz="2800" b="1" dirty="0">
                <a:ea typeface="黑体" panose="02010609060101010101" pitchFamily="49" charset="-122"/>
              </a:rPr>
              <a:t>int         *constants;   </a:t>
            </a:r>
            <a:r>
              <a:rPr lang="en-US" altLang="zh-CN" sz="2400" b="1" dirty="0">
                <a:ea typeface="黑体" panose="02010609060101010101" pitchFamily="49" charset="-122"/>
              </a:rPr>
              <a:t>//</a:t>
            </a:r>
            <a:r>
              <a:rPr lang="zh-CN" altLang="en-US" sz="2400" b="1" dirty="0">
                <a:ea typeface="黑体" panose="02010609060101010101" pitchFamily="49" charset="-122"/>
              </a:rPr>
              <a:t>数组</a:t>
            </a: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映像函数常量</a:t>
            </a:r>
            <a:r>
              <a:rPr lang="zh-CN" altLang="en-US" sz="2400" b="1" dirty="0">
                <a:ea typeface="黑体" panose="02010609060101010101" pitchFamily="49" charset="-122"/>
              </a:rPr>
              <a:t>的基址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</a:t>
            </a:r>
            <a:r>
              <a:rPr lang="en-US" altLang="zh-CN" sz="2800" b="1" dirty="0">
                <a:ea typeface="黑体" panose="02010609060101010101" pitchFamily="49" charset="-122"/>
              </a:rPr>
              <a:t>}Array;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11267" name="AutoShape 3">
            <a:hlinkClick r:id="" action="ppaction://hlinkshowjump?jump=nextslide"/>
          </p:cNvPr>
          <p:cNvSpPr/>
          <p:nvPr/>
        </p:nvSpPr>
        <p:spPr>
          <a:xfrm>
            <a:off x="80010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1268" name="AutoShape 4"/>
          <p:cNvSpPr/>
          <p:nvPr/>
        </p:nvSpPr>
        <p:spPr>
          <a:xfrm>
            <a:off x="6705600" y="4038600"/>
            <a:ext cx="2133600" cy="381000"/>
          </a:xfrm>
          <a:prstGeom prst="wedgeRoundRectCallout">
            <a:avLst>
              <a:gd name="adj1" fmla="val -81995"/>
              <a:gd name="adj2" fmla="val -13083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即</a:t>
            </a:r>
            <a:r>
              <a:rPr lang="en-US" altLang="zh-CN" sz="2000" b="1" dirty="0">
                <a:solidFill>
                  <a:schemeClr val="bg1"/>
                </a:solidFill>
              </a:rPr>
              <a:t>C</a:t>
            </a:r>
            <a:r>
              <a:rPr lang="en-US" altLang="zh-CN" sz="2000" b="1" baseline="-25000" dirty="0">
                <a:solidFill>
                  <a:schemeClr val="bg1"/>
                </a:solidFill>
              </a:rPr>
              <a:t>i</a:t>
            </a:r>
            <a:r>
              <a:rPr lang="zh-CN" altLang="en-US" sz="2000" b="1" dirty="0">
                <a:solidFill>
                  <a:schemeClr val="bg1"/>
                </a:solidFill>
              </a:rPr>
              <a:t>信息保存区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468313" y="4797425"/>
            <a:ext cx="6629400" cy="9461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数组的基本操作函数说明（有</a:t>
            </a: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个）</a:t>
            </a:r>
            <a:endParaRPr lang="zh-CN" altLang="en-US" sz="2800" b="1" dirty="0">
              <a:solidFill>
                <a:schemeClr val="tx2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（请阅读教材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P93-95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）</a:t>
            </a:r>
            <a:endParaRPr lang="zh-CN" altLang="en-US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19463" name="Rectangle 6"/>
          <p:cNvSpPr>
            <a:spLocks noGrp="1"/>
          </p:cNvSpPr>
          <p:nvPr>
            <p:ph type="title"/>
          </p:nvPr>
        </p:nvSpPr>
        <p:spPr>
          <a:xfrm>
            <a:off x="539750" y="333375"/>
            <a:ext cx="70104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ea typeface="黑体" panose="02010609060101010101" pitchFamily="49" charset="-122"/>
              </a:rPr>
              <a:t>N</a:t>
            </a:r>
            <a:r>
              <a:rPr lang="zh-CN" altLang="en-US" sz="2800" b="1" dirty="0">
                <a:ea typeface="黑体" panose="02010609060101010101" pitchFamily="49" charset="-122"/>
              </a:rPr>
              <a:t>维数组的顺序存储表示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（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见教材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P93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）</a:t>
            </a:r>
            <a:endParaRPr lang="zh-CN" altLang="en-US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 animBg="1"/>
      <p:bldP spid="11268" grpId="0" animBg="1"/>
      <p:bldP spid="1126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458200" cy="990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spcBef>
                <a:spcPct val="100000"/>
              </a:spcBef>
            </a:pPr>
            <a:r>
              <a:rPr lang="zh-CN" altLang="en-US" sz="2400" b="1" dirty="0">
                <a:solidFill>
                  <a:schemeClr val="accent1"/>
                </a:solidFill>
              </a:rPr>
              <a:t>顺序存储方式：</a:t>
            </a:r>
            <a:r>
              <a:rPr lang="zh-CN" altLang="en-US" sz="2400" b="1" dirty="0">
                <a:solidFill>
                  <a:schemeClr val="tx1"/>
                </a:solidFill>
                <a:ea typeface="楷体_GB2312"/>
              </a:rPr>
              <a:t>按低地址优先（或高地址优先）顺序存入一维数组。</a:t>
            </a:r>
            <a:endParaRPr lang="zh-CN" altLang="en-US" sz="2400" b="1" dirty="0">
              <a:solidFill>
                <a:schemeClr val="tx1"/>
              </a:solidFill>
              <a:ea typeface="楷体_GB231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447800" y="2362200"/>
            <a:ext cx="533400" cy="2525713"/>
            <a:chOff x="624" y="2009"/>
            <a:chExt cx="336" cy="1591"/>
          </a:xfrm>
        </p:grpSpPr>
        <p:sp>
          <p:nvSpPr>
            <p:cNvPr id="21580" name="Rectangle 4"/>
            <p:cNvSpPr/>
            <p:nvPr/>
          </p:nvSpPr>
          <p:spPr>
            <a:xfrm>
              <a:off x="624" y="3313"/>
              <a:ext cx="33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^</a:t>
              </a:r>
              <a:endParaRPr lang="en-US" altLang="zh-CN" sz="2400" b="1" dirty="0"/>
            </a:p>
          </p:txBody>
        </p:sp>
        <p:sp>
          <p:nvSpPr>
            <p:cNvPr id="21581" name="Rectangle 5"/>
            <p:cNvSpPr/>
            <p:nvPr/>
          </p:nvSpPr>
          <p:spPr>
            <a:xfrm>
              <a:off x="624" y="2987"/>
              <a:ext cx="33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800" dirty="0"/>
            </a:p>
          </p:txBody>
        </p:sp>
        <p:sp>
          <p:nvSpPr>
            <p:cNvPr id="21582" name="Rectangle 6"/>
            <p:cNvSpPr/>
            <p:nvPr/>
          </p:nvSpPr>
          <p:spPr>
            <a:xfrm>
              <a:off x="624" y="2661"/>
              <a:ext cx="33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800" dirty="0"/>
                <a:t>…</a:t>
              </a:r>
              <a:endParaRPr lang="en-US" altLang="zh-CN" sz="2800" dirty="0"/>
            </a:p>
          </p:txBody>
        </p:sp>
        <p:sp>
          <p:nvSpPr>
            <p:cNvPr id="21583" name="Rectangle 7"/>
            <p:cNvSpPr/>
            <p:nvPr/>
          </p:nvSpPr>
          <p:spPr>
            <a:xfrm>
              <a:off x="624" y="2335"/>
              <a:ext cx="33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800" dirty="0"/>
                <a:t>…</a:t>
              </a:r>
              <a:endParaRPr lang="en-US" altLang="zh-CN" sz="2800" dirty="0"/>
            </a:p>
          </p:txBody>
        </p:sp>
        <p:sp>
          <p:nvSpPr>
            <p:cNvPr id="21584" name="Rectangle 8"/>
            <p:cNvSpPr/>
            <p:nvPr/>
          </p:nvSpPr>
          <p:spPr>
            <a:xfrm>
              <a:off x="624" y="2009"/>
              <a:ext cx="33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800" dirty="0"/>
            </a:p>
          </p:txBody>
        </p:sp>
        <p:sp>
          <p:nvSpPr>
            <p:cNvPr id="21585" name="Line 9"/>
            <p:cNvSpPr/>
            <p:nvPr/>
          </p:nvSpPr>
          <p:spPr>
            <a:xfrm>
              <a:off x="624" y="2009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86" name="Line 10"/>
            <p:cNvSpPr/>
            <p:nvPr/>
          </p:nvSpPr>
          <p:spPr>
            <a:xfrm>
              <a:off x="624" y="2335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87" name="Line 11"/>
            <p:cNvSpPr/>
            <p:nvPr/>
          </p:nvSpPr>
          <p:spPr>
            <a:xfrm>
              <a:off x="624" y="2661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88" name="Line 12"/>
            <p:cNvSpPr/>
            <p:nvPr/>
          </p:nvSpPr>
          <p:spPr>
            <a:xfrm>
              <a:off x="624" y="2987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89" name="Line 13"/>
            <p:cNvSpPr/>
            <p:nvPr/>
          </p:nvSpPr>
          <p:spPr>
            <a:xfrm>
              <a:off x="624" y="3313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90" name="Line 14"/>
            <p:cNvSpPr/>
            <p:nvPr/>
          </p:nvSpPr>
          <p:spPr>
            <a:xfrm>
              <a:off x="624" y="3600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91" name="Line 15"/>
            <p:cNvSpPr/>
            <p:nvPr/>
          </p:nvSpPr>
          <p:spPr>
            <a:xfrm>
              <a:off x="624" y="2009"/>
              <a:ext cx="0" cy="159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92" name="Line 16"/>
            <p:cNvSpPr/>
            <p:nvPr/>
          </p:nvSpPr>
          <p:spPr>
            <a:xfrm>
              <a:off x="960" y="2009"/>
              <a:ext cx="0" cy="159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53265" name="Text Box 17"/>
          <p:cNvSpPr txBox="1"/>
          <p:nvPr/>
        </p:nvSpPr>
        <p:spPr>
          <a:xfrm>
            <a:off x="914400" y="1828800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行指针向量</a:t>
            </a:r>
            <a:endParaRPr lang="zh-CN" altLang="en-US" sz="2400" b="1" dirty="0">
              <a:solidFill>
                <a:schemeClr val="accent1"/>
              </a:solidFill>
              <a:ea typeface="楷体_GB2312"/>
            </a:endParaRPr>
          </a:p>
        </p:txBody>
      </p:sp>
      <p:grpSp>
        <p:nvGrpSpPr>
          <p:cNvPr id="3" name="Group 18"/>
          <p:cNvGrpSpPr/>
          <p:nvPr/>
        </p:nvGrpSpPr>
        <p:grpSpPr>
          <a:xfrm>
            <a:off x="1828800" y="2438400"/>
            <a:ext cx="6096000" cy="395288"/>
            <a:chOff x="864" y="2057"/>
            <a:chExt cx="3840" cy="249"/>
          </a:xfrm>
        </p:grpSpPr>
        <p:sp>
          <p:nvSpPr>
            <p:cNvPr id="21548" name="Rectangle 19"/>
            <p:cNvSpPr/>
            <p:nvPr/>
          </p:nvSpPr>
          <p:spPr>
            <a:xfrm>
              <a:off x="1637" y="2057"/>
              <a:ext cx="283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21549" name="Rectangle 20"/>
            <p:cNvSpPr/>
            <p:nvPr/>
          </p:nvSpPr>
          <p:spPr>
            <a:xfrm>
              <a:off x="1248" y="2057"/>
              <a:ext cx="389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11</a:t>
              </a:r>
              <a:endParaRPr lang="en-US" altLang="zh-CN" sz="2000" baseline="-25000" dirty="0"/>
            </a:p>
          </p:txBody>
        </p:sp>
        <p:sp>
          <p:nvSpPr>
            <p:cNvPr id="21550" name="Line 21"/>
            <p:cNvSpPr/>
            <p:nvPr/>
          </p:nvSpPr>
          <p:spPr>
            <a:xfrm>
              <a:off x="1248" y="2057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51" name="Line 22"/>
            <p:cNvSpPr/>
            <p:nvPr/>
          </p:nvSpPr>
          <p:spPr>
            <a:xfrm>
              <a:off x="1248" y="2306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52" name="Line 23"/>
            <p:cNvSpPr/>
            <p:nvPr/>
          </p:nvSpPr>
          <p:spPr>
            <a:xfrm>
              <a:off x="1248" y="2057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53" name="Line 24"/>
            <p:cNvSpPr/>
            <p:nvPr/>
          </p:nvSpPr>
          <p:spPr>
            <a:xfrm>
              <a:off x="1637" y="2057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54" name="Line 25"/>
            <p:cNvSpPr/>
            <p:nvPr/>
          </p:nvSpPr>
          <p:spPr>
            <a:xfrm>
              <a:off x="1920" y="2057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55" name="Line 26"/>
            <p:cNvSpPr/>
            <p:nvPr/>
          </p:nvSpPr>
          <p:spPr>
            <a:xfrm rot="5400000" flipH="1" flipV="1">
              <a:off x="1056" y="1961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1556" name="Line 27"/>
            <p:cNvSpPr/>
            <p:nvPr/>
          </p:nvSpPr>
          <p:spPr>
            <a:xfrm rot="5400000" flipH="1" flipV="1">
              <a:off x="1968" y="1961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1557" name="Rectangle 28"/>
            <p:cNvSpPr/>
            <p:nvPr/>
          </p:nvSpPr>
          <p:spPr>
            <a:xfrm>
              <a:off x="2597" y="2057"/>
              <a:ext cx="283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21558" name="Rectangle 29"/>
            <p:cNvSpPr/>
            <p:nvPr/>
          </p:nvSpPr>
          <p:spPr>
            <a:xfrm>
              <a:off x="2208" y="2057"/>
              <a:ext cx="389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12</a:t>
              </a:r>
              <a:endParaRPr lang="en-US" altLang="zh-CN" sz="2000" baseline="-25000" dirty="0"/>
            </a:p>
          </p:txBody>
        </p:sp>
        <p:sp>
          <p:nvSpPr>
            <p:cNvPr id="21559" name="Line 30"/>
            <p:cNvSpPr/>
            <p:nvPr/>
          </p:nvSpPr>
          <p:spPr>
            <a:xfrm>
              <a:off x="2208" y="2057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0" name="Line 31"/>
            <p:cNvSpPr/>
            <p:nvPr/>
          </p:nvSpPr>
          <p:spPr>
            <a:xfrm>
              <a:off x="2208" y="2306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1" name="Line 32"/>
            <p:cNvSpPr/>
            <p:nvPr/>
          </p:nvSpPr>
          <p:spPr>
            <a:xfrm>
              <a:off x="2208" y="2057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2" name="Line 33"/>
            <p:cNvSpPr/>
            <p:nvPr/>
          </p:nvSpPr>
          <p:spPr>
            <a:xfrm>
              <a:off x="2597" y="2057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3" name="Line 34"/>
            <p:cNvSpPr/>
            <p:nvPr/>
          </p:nvSpPr>
          <p:spPr>
            <a:xfrm>
              <a:off x="2880" y="2057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4" name="Line 35"/>
            <p:cNvSpPr/>
            <p:nvPr/>
          </p:nvSpPr>
          <p:spPr>
            <a:xfrm rot="5400000" flipH="1" flipV="1">
              <a:off x="2928" y="1961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1565" name="Rectangle 36"/>
            <p:cNvSpPr/>
            <p:nvPr/>
          </p:nvSpPr>
          <p:spPr>
            <a:xfrm>
              <a:off x="3509" y="2057"/>
              <a:ext cx="283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21566" name="Rectangle 37"/>
            <p:cNvSpPr/>
            <p:nvPr/>
          </p:nvSpPr>
          <p:spPr>
            <a:xfrm>
              <a:off x="3120" y="2057"/>
              <a:ext cx="389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…</a:t>
              </a:r>
              <a:endParaRPr lang="en-US" altLang="zh-CN" sz="2000" dirty="0"/>
            </a:p>
          </p:txBody>
        </p:sp>
        <p:sp>
          <p:nvSpPr>
            <p:cNvPr id="21567" name="Line 38"/>
            <p:cNvSpPr/>
            <p:nvPr/>
          </p:nvSpPr>
          <p:spPr>
            <a:xfrm>
              <a:off x="3120" y="2057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8" name="Line 39"/>
            <p:cNvSpPr/>
            <p:nvPr/>
          </p:nvSpPr>
          <p:spPr>
            <a:xfrm>
              <a:off x="3120" y="2306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9" name="Line 40"/>
            <p:cNvSpPr/>
            <p:nvPr/>
          </p:nvSpPr>
          <p:spPr>
            <a:xfrm>
              <a:off x="3120" y="2057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70" name="Line 41"/>
            <p:cNvSpPr/>
            <p:nvPr/>
          </p:nvSpPr>
          <p:spPr>
            <a:xfrm>
              <a:off x="3509" y="2057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71" name="Line 42"/>
            <p:cNvSpPr/>
            <p:nvPr/>
          </p:nvSpPr>
          <p:spPr>
            <a:xfrm>
              <a:off x="3792" y="2057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72" name="Line 43"/>
            <p:cNvSpPr/>
            <p:nvPr/>
          </p:nvSpPr>
          <p:spPr>
            <a:xfrm rot="5400000" flipH="1" flipV="1">
              <a:off x="3840" y="1961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1573" name="Rectangle 44"/>
            <p:cNvSpPr/>
            <p:nvPr/>
          </p:nvSpPr>
          <p:spPr>
            <a:xfrm>
              <a:off x="4421" y="2057"/>
              <a:ext cx="283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^</a:t>
              </a:r>
              <a:endParaRPr lang="en-US" altLang="zh-CN" sz="2000" dirty="0"/>
            </a:p>
          </p:txBody>
        </p:sp>
        <p:sp>
          <p:nvSpPr>
            <p:cNvPr id="21574" name="Rectangle 45"/>
            <p:cNvSpPr/>
            <p:nvPr/>
          </p:nvSpPr>
          <p:spPr>
            <a:xfrm>
              <a:off x="4032" y="2057"/>
              <a:ext cx="389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1n</a:t>
              </a:r>
              <a:endParaRPr lang="en-US" altLang="zh-CN" sz="2000" baseline="-25000" dirty="0"/>
            </a:p>
          </p:txBody>
        </p:sp>
        <p:sp>
          <p:nvSpPr>
            <p:cNvPr id="21575" name="Line 46"/>
            <p:cNvSpPr/>
            <p:nvPr/>
          </p:nvSpPr>
          <p:spPr>
            <a:xfrm>
              <a:off x="4032" y="2057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76" name="Line 47"/>
            <p:cNvSpPr/>
            <p:nvPr/>
          </p:nvSpPr>
          <p:spPr>
            <a:xfrm>
              <a:off x="4032" y="2306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77" name="Line 48"/>
            <p:cNvSpPr/>
            <p:nvPr/>
          </p:nvSpPr>
          <p:spPr>
            <a:xfrm>
              <a:off x="4032" y="2057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78" name="Line 49"/>
            <p:cNvSpPr/>
            <p:nvPr/>
          </p:nvSpPr>
          <p:spPr>
            <a:xfrm>
              <a:off x="4421" y="2057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79" name="Line 50"/>
            <p:cNvSpPr/>
            <p:nvPr/>
          </p:nvSpPr>
          <p:spPr>
            <a:xfrm>
              <a:off x="4704" y="2057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4" name="Group 51"/>
          <p:cNvGrpSpPr/>
          <p:nvPr/>
        </p:nvGrpSpPr>
        <p:grpSpPr>
          <a:xfrm>
            <a:off x="1828800" y="4024313"/>
            <a:ext cx="6096000" cy="395287"/>
            <a:chOff x="864" y="3056"/>
            <a:chExt cx="3840" cy="249"/>
          </a:xfrm>
        </p:grpSpPr>
        <p:sp>
          <p:nvSpPr>
            <p:cNvPr id="21516" name="Rectangle 52"/>
            <p:cNvSpPr/>
            <p:nvPr/>
          </p:nvSpPr>
          <p:spPr>
            <a:xfrm>
              <a:off x="1637" y="3056"/>
              <a:ext cx="283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21517" name="Rectangle 53"/>
            <p:cNvSpPr/>
            <p:nvPr/>
          </p:nvSpPr>
          <p:spPr>
            <a:xfrm>
              <a:off x="1248" y="3056"/>
              <a:ext cx="389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m1</a:t>
              </a:r>
              <a:endParaRPr lang="en-US" altLang="zh-CN" sz="2000" baseline="-25000" dirty="0"/>
            </a:p>
          </p:txBody>
        </p:sp>
        <p:sp>
          <p:nvSpPr>
            <p:cNvPr id="21518" name="Line 54"/>
            <p:cNvSpPr/>
            <p:nvPr/>
          </p:nvSpPr>
          <p:spPr>
            <a:xfrm>
              <a:off x="1248" y="3056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19" name="Line 55"/>
            <p:cNvSpPr/>
            <p:nvPr/>
          </p:nvSpPr>
          <p:spPr>
            <a:xfrm>
              <a:off x="1248" y="3305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0" name="Line 56"/>
            <p:cNvSpPr/>
            <p:nvPr/>
          </p:nvSpPr>
          <p:spPr>
            <a:xfrm>
              <a:off x="1248" y="305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1" name="Line 57"/>
            <p:cNvSpPr/>
            <p:nvPr/>
          </p:nvSpPr>
          <p:spPr>
            <a:xfrm>
              <a:off x="1637" y="3056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2" name="Line 58"/>
            <p:cNvSpPr/>
            <p:nvPr/>
          </p:nvSpPr>
          <p:spPr>
            <a:xfrm>
              <a:off x="1920" y="305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3" name="Line 59"/>
            <p:cNvSpPr/>
            <p:nvPr/>
          </p:nvSpPr>
          <p:spPr>
            <a:xfrm rot="5400000" flipH="1" flipV="1">
              <a:off x="1056" y="2960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1524" name="Line 60"/>
            <p:cNvSpPr/>
            <p:nvPr/>
          </p:nvSpPr>
          <p:spPr>
            <a:xfrm rot="5400000" flipH="1" flipV="1">
              <a:off x="1968" y="2960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1525" name="Rectangle 61"/>
            <p:cNvSpPr/>
            <p:nvPr/>
          </p:nvSpPr>
          <p:spPr>
            <a:xfrm>
              <a:off x="2597" y="3056"/>
              <a:ext cx="283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21526" name="Rectangle 62"/>
            <p:cNvSpPr/>
            <p:nvPr/>
          </p:nvSpPr>
          <p:spPr>
            <a:xfrm>
              <a:off x="2208" y="3056"/>
              <a:ext cx="389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m2</a:t>
              </a:r>
              <a:endParaRPr lang="en-US" altLang="zh-CN" sz="2000" baseline="-25000" dirty="0"/>
            </a:p>
          </p:txBody>
        </p:sp>
        <p:sp>
          <p:nvSpPr>
            <p:cNvPr id="21527" name="Line 63"/>
            <p:cNvSpPr/>
            <p:nvPr/>
          </p:nvSpPr>
          <p:spPr>
            <a:xfrm>
              <a:off x="2208" y="3056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8" name="Line 64"/>
            <p:cNvSpPr/>
            <p:nvPr/>
          </p:nvSpPr>
          <p:spPr>
            <a:xfrm>
              <a:off x="2208" y="3305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9" name="Line 65"/>
            <p:cNvSpPr/>
            <p:nvPr/>
          </p:nvSpPr>
          <p:spPr>
            <a:xfrm>
              <a:off x="2208" y="305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0" name="Line 66"/>
            <p:cNvSpPr/>
            <p:nvPr/>
          </p:nvSpPr>
          <p:spPr>
            <a:xfrm>
              <a:off x="2597" y="3056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1" name="Line 67"/>
            <p:cNvSpPr/>
            <p:nvPr/>
          </p:nvSpPr>
          <p:spPr>
            <a:xfrm>
              <a:off x="2880" y="305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2" name="Line 68"/>
            <p:cNvSpPr/>
            <p:nvPr/>
          </p:nvSpPr>
          <p:spPr>
            <a:xfrm rot="5400000" flipH="1" flipV="1">
              <a:off x="2928" y="2960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1533" name="Rectangle 69"/>
            <p:cNvSpPr/>
            <p:nvPr/>
          </p:nvSpPr>
          <p:spPr>
            <a:xfrm>
              <a:off x="3509" y="3056"/>
              <a:ext cx="283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21534" name="Rectangle 70"/>
            <p:cNvSpPr/>
            <p:nvPr/>
          </p:nvSpPr>
          <p:spPr>
            <a:xfrm>
              <a:off x="3120" y="3056"/>
              <a:ext cx="389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…</a:t>
              </a:r>
              <a:endParaRPr lang="en-US" altLang="zh-CN" sz="2000" dirty="0"/>
            </a:p>
          </p:txBody>
        </p:sp>
        <p:sp>
          <p:nvSpPr>
            <p:cNvPr id="21535" name="Line 71"/>
            <p:cNvSpPr/>
            <p:nvPr/>
          </p:nvSpPr>
          <p:spPr>
            <a:xfrm>
              <a:off x="3120" y="3056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6" name="Line 72"/>
            <p:cNvSpPr/>
            <p:nvPr/>
          </p:nvSpPr>
          <p:spPr>
            <a:xfrm>
              <a:off x="3120" y="3305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7" name="Line 73"/>
            <p:cNvSpPr/>
            <p:nvPr/>
          </p:nvSpPr>
          <p:spPr>
            <a:xfrm>
              <a:off x="3120" y="305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8" name="Line 74"/>
            <p:cNvSpPr/>
            <p:nvPr/>
          </p:nvSpPr>
          <p:spPr>
            <a:xfrm>
              <a:off x="3509" y="3056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9" name="Line 75"/>
            <p:cNvSpPr/>
            <p:nvPr/>
          </p:nvSpPr>
          <p:spPr>
            <a:xfrm>
              <a:off x="3792" y="305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0" name="Line 76"/>
            <p:cNvSpPr/>
            <p:nvPr/>
          </p:nvSpPr>
          <p:spPr>
            <a:xfrm rot="5400000" flipH="1" flipV="1">
              <a:off x="3840" y="2960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1541" name="Rectangle 77"/>
            <p:cNvSpPr/>
            <p:nvPr/>
          </p:nvSpPr>
          <p:spPr>
            <a:xfrm>
              <a:off x="4421" y="3056"/>
              <a:ext cx="283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^</a:t>
              </a:r>
              <a:endParaRPr lang="en-US" altLang="zh-CN" sz="2000" dirty="0"/>
            </a:p>
          </p:txBody>
        </p:sp>
        <p:sp>
          <p:nvSpPr>
            <p:cNvPr id="21542" name="Rectangle 78"/>
            <p:cNvSpPr/>
            <p:nvPr/>
          </p:nvSpPr>
          <p:spPr>
            <a:xfrm>
              <a:off x="4032" y="3056"/>
              <a:ext cx="389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mn</a:t>
              </a:r>
              <a:endParaRPr lang="en-US" altLang="zh-CN" sz="2000" baseline="-25000" dirty="0"/>
            </a:p>
          </p:txBody>
        </p:sp>
        <p:sp>
          <p:nvSpPr>
            <p:cNvPr id="21543" name="Line 79"/>
            <p:cNvSpPr/>
            <p:nvPr/>
          </p:nvSpPr>
          <p:spPr>
            <a:xfrm>
              <a:off x="4032" y="3056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4" name="Line 80"/>
            <p:cNvSpPr/>
            <p:nvPr/>
          </p:nvSpPr>
          <p:spPr>
            <a:xfrm>
              <a:off x="4032" y="3305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5" name="Line 81"/>
            <p:cNvSpPr/>
            <p:nvPr/>
          </p:nvSpPr>
          <p:spPr>
            <a:xfrm>
              <a:off x="4032" y="305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6" name="Line 82"/>
            <p:cNvSpPr/>
            <p:nvPr/>
          </p:nvSpPr>
          <p:spPr>
            <a:xfrm>
              <a:off x="4421" y="3056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7" name="Line 83"/>
            <p:cNvSpPr/>
            <p:nvPr/>
          </p:nvSpPr>
          <p:spPr>
            <a:xfrm>
              <a:off x="4704" y="305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53332" name="AutoShape 84">
            <a:hlinkClick r:id="" action="ppaction://hlinkshowjump?jump=previousslide"/>
          </p:cNvPr>
          <p:cNvSpPr/>
          <p:nvPr/>
        </p:nvSpPr>
        <p:spPr>
          <a:xfrm flipH="1"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3333" name="Rectangle 85"/>
          <p:cNvSpPr/>
          <p:nvPr/>
        </p:nvSpPr>
        <p:spPr>
          <a:xfrm>
            <a:off x="152400" y="990600"/>
            <a:ext cx="7086600" cy="884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</a:rPr>
              <a:t>补充：</a:t>
            </a:r>
            <a:br>
              <a:rPr lang="zh-CN" altLang="en-US" sz="2800" b="1" dirty="0">
                <a:solidFill>
                  <a:schemeClr val="accent1"/>
                </a:solidFill>
              </a:rPr>
            </a:br>
            <a:r>
              <a:rPr lang="zh-CN" altLang="en-US" sz="2400" b="1" dirty="0">
                <a:solidFill>
                  <a:schemeClr val="accent1"/>
                </a:solidFill>
              </a:rPr>
              <a:t>链式存储方式：</a:t>
            </a:r>
            <a:r>
              <a:rPr lang="zh-CN" altLang="en-US" sz="2400" b="1" dirty="0">
                <a:ea typeface="楷体_GB2312"/>
              </a:rPr>
              <a:t>用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带行指针向量的单链表</a:t>
            </a:r>
            <a:r>
              <a:rPr lang="zh-CN" altLang="en-US" sz="2400" b="1" dirty="0">
                <a:ea typeface="楷体_GB2312"/>
              </a:rPr>
              <a:t>来表示。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53334" name="Rectangle 86"/>
          <p:cNvSpPr/>
          <p:nvPr/>
        </p:nvSpPr>
        <p:spPr>
          <a:xfrm>
            <a:off x="457200" y="5181600"/>
            <a:ext cx="7162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注：数组的运算参见下一节实例（稀疏矩阵的转置）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53335" name="Rectangle 87"/>
          <p:cNvSpPr/>
          <p:nvPr/>
        </p:nvSpPr>
        <p:spPr>
          <a:xfrm>
            <a:off x="1371600" y="533400"/>
            <a:ext cx="6584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（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难点是多维数组与一维数组的地址映射关系</a:t>
            </a:r>
            <a:r>
              <a:rPr lang="zh-CN" altLang="en-US" sz="2400" b="1" dirty="0">
                <a:ea typeface="楷体_GB2312"/>
              </a:rPr>
              <a:t>）</a:t>
            </a:r>
            <a:endParaRPr lang="zh-CN" altLang="en-US" sz="2400" b="1" dirty="0"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3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65" grpId="0"/>
      <p:bldP spid="53332" grpId="0" animBg="1"/>
      <p:bldP spid="53333" grpId="0" build="p"/>
      <p:bldP spid="53334" grpId="0"/>
      <p:bldP spid="533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5227638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5.3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</a:rPr>
              <a:t>矩阵的压缩存储</a:t>
            </a:r>
            <a:endParaRPr lang="zh-CN" altLang="en-US" sz="36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4275" name="Rectangle 3"/>
          <p:cNvSpPr/>
          <p:nvPr/>
        </p:nvSpPr>
        <p:spPr>
          <a:xfrm>
            <a:off x="228600" y="914400"/>
            <a:ext cx="8489950" cy="46926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楷体_GB2312"/>
              </a:rPr>
              <a:t>讨论：</a:t>
            </a:r>
            <a:endParaRPr lang="zh-CN" altLang="en-US" sz="2400" b="1" dirty="0">
              <a:solidFill>
                <a:schemeClr val="tx2"/>
              </a:solidFill>
              <a:ea typeface="楷体_GB2312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1. 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什么是压缩存储？</a:t>
            </a:r>
            <a:endParaRPr lang="zh-CN" altLang="en-US" sz="24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ea typeface="楷体_GB2312"/>
              </a:rPr>
              <a:t>若多个数据元素的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值都相同</a:t>
            </a:r>
            <a:r>
              <a:rPr lang="zh-CN" altLang="en-US" sz="2400" b="1" dirty="0">
                <a:ea typeface="楷体_GB2312"/>
              </a:rPr>
              <a:t>，则只分配一个元素值的存储空间，且零元素不占存储空间。</a:t>
            </a:r>
            <a:endParaRPr lang="zh-CN" altLang="en-US" sz="2400" b="1" dirty="0">
              <a:ea typeface="楷体_GB2312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2. 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所有二维数组（矩阵）都能压缩吗？</a:t>
            </a:r>
            <a:endParaRPr lang="zh-CN" altLang="en-US" sz="24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ea typeface="楷体_GB2312"/>
              </a:rPr>
              <a:t>未必，要看矩阵是否具备以上压缩条件。</a:t>
            </a:r>
            <a:endParaRPr lang="zh-CN" altLang="en-US" sz="2400" b="1" dirty="0">
              <a:ea typeface="楷体_GB2312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3. 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什么样的矩阵具备以上压缩条件？</a:t>
            </a:r>
            <a:r>
              <a:rPr lang="zh-CN" altLang="en-US" sz="2400" b="1" dirty="0">
                <a:ea typeface="楷体_GB2312"/>
              </a:rPr>
              <a:t>       </a:t>
            </a:r>
            <a:endParaRPr lang="zh-CN" altLang="en-US" sz="2400" b="1" dirty="0">
              <a:ea typeface="楷体_GB231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ea typeface="楷体_GB2312"/>
              </a:rPr>
              <a:t>一些特殊矩阵，如：对称矩阵，对角矩阵，三角矩阵，稀疏矩阵等。</a:t>
            </a:r>
            <a:endParaRPr lang="zh-CN" altLang="en-US" sz="2400" b="1" dirty="0">
              <a:ea typeface="楷体_GB2312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4. 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什么叫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稀疏矩阵？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矩阵中非零元素的个数较少（一般小于</a:t>
            </a:r>
            <a:r>
              <a:rPr lang="en-US" altLang="zh-CN" sz="2400" b="1" dirty="0">
                <a:latin typeface="楷体_GB2312"/>
                <a:ea typeface="楷体_GB2312"/>
              </a:rPr>
              <a:t>5%</a:t>
            </a:r>
            <a:r>
              <a:rPr lang="zh-CN" altLang="en-US" sz="2400" b="1" dirty="0">
                <a:latin typeface="楷体_GB2312"/>
                <a:ea typeface="楷体_GB2312"/>
              </a:rPr>
              <a:t>）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54276" name="Rectangle 4"/>
          <p:cNvSpPr/>
          <p:nvPr/>
        </p:nvSpPr>
        <p:spPr>
          <a:xfrm>
            <a:off x="990600" y="5638800"/>
            <a:ext cx="572770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重点介绍稀疏矩阵的压缩和相应的操作。</a:t>
            </a:r>
            <a:endParaRPr lang="zh-CN" altLang="en-US" sz="24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54277" name="AutoShape 5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4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5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76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95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21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52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64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  <p:bldP spid="54276" grpId="0"/>
      <p:bldP spid="5427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b="1" dirty="0"/>
              <a:t>特殊矩阵的压缩存储</a:t>
            </a:r>
            <a:endParaRPr lang="zh-CN" altLang="en-US" b="1" dirty="0"/>
          </a:p>
        </p:txBody>
      </p:sp>
      <p:sp>
        <p:nvSpPr>
          <p:cNvPr id="24580" name="Rectangle 5"/>
          <p:cNvSpPr>
            <a:spLocks noGrp="1"/>
          </p:cNvSpPr>
          <p:nvPr>
            <p:ph idx="1"/>
          </p:nvPr>
        </p:nvSpPr>
        <p:spPr>
          <a:xfrm>
            <a:off x="685800" y="1219200"/>
            <a:ext cx="80010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特殊矩阵是指非零元素或零元素的分布有一定规律的矩阵。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特殊矩阵的压缩存储主要是针对阶数很高的特殊矩阵。为节省存储空间，对可以不存储的元素，如零元素或对称元素，不再存储。</a:t>
            </a:r>
            <a:endParaRPr lang="zh-CN" altLang="en-US" b="1" dirty="0"/>
          </a:p>
          <a:p>
            <a:pPr lvl="1" eaLnBrk="1" hangingPunct="1"/>
            <a:r>
              <a:rPr lang="zh-CN" altLang="en-US" b="1" dirty="0"/>
              <a:t>对称矩阵</a:t>
            </a:r>
            <a:endParaRPr lang="zh-CN" altLang="en-US" b="1" dirty="0"/>
          </a:p>
          <a:p>
            <a:pPr lvl="1" eaLnBrk="1" hangingPunct="1"/>
            <a:r>
              <a:rPr lang="zh-CN" altLang="en-US" b="1" dirty="0"/>
              <a:t>三对角矩阵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5603" name="Rectangle 4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b="1" dirty="0"/>
              <a:t>对称矩阵的压缩存储</a:t>
            </a:r>
            <a:endParaRPr lang="zh-CN" altLang="en-US" b="1" dirty="0"/>
          </a:p>
        </p:txBody>
      </p:sp>
      <p:sp>
        <p:nvSpPr>
          <p:cNvPr id="25604" name="Rectangle 5"/>
          <p:cNvSpPr>
            <a:spLocks noGrp="1"/>
          </p:cNvSpPr>
          <p:nvPr>
            <p:ph idx="1"/>
          </p:nvPr>
        </p:nvSpPr>
        <p:spPr>
          <a:xfrm>
            <a:off x="609600" y="1219200"/>
            <a:ext cx="8001000" cy="68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b="1" dirty="0"/>
              <a:t>设有一个 </a:t>
            </a:r>
            <a:r>
              <a:rPr lang="en-US" altLang="zh-CN" b="1" dirty="0"/>
              <a:t>n</a:t>
            </a:r>
            <a:r>
              <a:rPr lang="en-US" altLang="zh-CN" b="1" dirty="0">
                <a:sym typeface="Symbol" panose="05050102010706020507" pitchFamily="18" charset="2"/>
              </a:rPr>
              <a:t></a:t>
            </a:r>
            <a:r>
              <a:rPr lang="en-US" altLang="zh-CN" b="1" dirty="0"/>
              <a:t>n </a:t>
            </a:r>
            <a:r>
              <a:rPr lang="zh-CN" altLang="en-US" b="1" dirty="0"/>
              <a:t>的对称矩阵 </a:t>
            </a:r>
            <a:r>
              <a:rPr lang="en-US" altLang="zh-CN" b="1" dirty="0"/>
              <a:t>A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graphicFrame>
        <p:nvGraphicFramePr>
          <p:cNvPr id="25605" name="Object 6"/>
          <p:cNvGraphicFramePr>
            <a:graphicFrameLocks noChangeAspect="1"/>
          </p:cNvGraphicFramePr>
          <p:nvPr/>
        </p:nvGraphicFramePr>
        <p:xfrm>
          <a:off x="1219200" y="1828800"/>
          <a:ext cx="66294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159000" imgH="914400" progId="Equation.3">
                  <p:embed/>
                </p:oleObj>
              </mc:Choice>
              <mc:Fallback>
                <p:oleObj name="" r:id="rId1" imgW="2159000" imgH="9144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9200" y="1828800"/>
                        <a:ext cx="6629400" cy="304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Line 7"/>
          <p:cNvSpPr/>
          <p:nvPr/>
        </p:nvSpPr>
        <p:spPr>
          <a:xfrm>
            <a:off x="2362200" y="2057400"/>
            <a:ext cx="4876800" cy="2590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07" name="Text Box 8"/>
          <p:cNvSpPr txBox="1"/>
          <p:nvPr/>
        </p:nvSpPr>
        <p:spPr>
          <a:xfrm>
            <a:off x="1127125" y="5029200"/>
            <a:ext cx="46640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3366"/>
                </a:solidFill>
                <a:ea typeface="楷体_GB2312"/>
              </a:rPr>
              <a:t>在矩阵中，</a:t>
            </a:r>
            <a:r>
              <a:rPr lang="en-US" altLang="zh-CN" b="1" dirty="0">
                <a:solidFill>
                  <a:srgbClr val="003366"/>
                </a:solidFill>
                <a:ea typeface="楷体_GB2312"/>
              </a:rPr>
              <a:t>a</a:t>
            </a:r>
            <a:r>
              <a:rPr lang="en-US" altLang="zh-CN" b="1" baseline="-25000" dirty="0">
                <a:solidFill>
                  <a:srgbClr val="003366"/>
                </a:solidFill>
                <a:ea typeface="楷体_GB2312"/>
              </a:rPr>
              <a:t>ij</a:t>
            </a:r>
            <a:r>
              <a:rPr lang="en-US" altLang="zh-CN" b="1" dirty="0">
                <a:solidFill>
                  <a:srgbClr val="003366"/>
                </a:solidFill>
                <a:ea typeface="楷体_GB2312"/>
              </a:rPr>
              <a:t> = a</a:t>
            </a:r>
            <a:r>
              <a:rPr lang="en-US" altLang="zh-CN" b="1" baseline="-25000" dirty="0">
                <a:solidFill>
                  <a:srgbClr val="003366"/>
                </a:solidFill>
                <a:ea typeface="楷体_GB2312"/>
              </a:rPr>
              <a:t>ji</a:t>
            </a:r>
            <a:endParaRPr lang="en-US" altLang="zh-CN" b="1" dirty="0">
              <a:solidFill>
                <a:srgbClr val="003366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6627" name="Rectangle 4"/>
          <p:cNvSpPr>
            <a:spLocks noGrp="1"/>
          </p:cNvSpPr>
          <p:nvPr>
            <p:ph idx="1"/>
          </p:nvPr>
        </p:nvSpPr>
        <p:spPr>
          <a:xfrm>
            <a:off x="533400" y="8382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为节约存储空间，只存对角线及对角线以上的元素，或者只存对角线及对角线以下的元素。前者称为上三角矩阵，后者称为下三角矩阵。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把它们按行存放于一个一维数组 </a:t>
            </a:r>
            <a:r>
              <a:rPr lang="en-US" altLang="zh-CN" b="1" dirty="0"/>
              <a:t>B </a:t>
            </a:r>
            <a:r>
              <a:rPr lang="zh-CN" altLang="en-US" b="1" dirty="0"/>
              <a:t>中，称之为对称矩阵 </a:t>
            </a:r>
            <a:r>
              <a:rPr lang="en-US" altLang="zh-CN" b="1" dirty="0"/>
              <a:t>A </a:t>
            </a:r>
            <a:r>
              <a:rPr lang="zh-CN" altLang="en-US" b="1" dirty="0"/>
              <a:t>的压缩存储方式。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数组 </a:t>
            </a:r>
            <a:r>
              <a:rPr lang="en-US" altLang="zh-CN" b="1" dirty="0"/>
              <a:t>B </a:t>
            </a:r>
            <a:r>
              <a:rPr lang="zh-CN" altLang="en-US" b="1" dirty="0"/>
              <a:t>共有 </a:t>
            </a:r>
            <a:r>
              <a:rPr lang="en-US" altLang="zh-CN" b="1" dirty="0"/>
              <a:t>n + ( n - 1 ) + </a:t>
            </a:r>
            <a:r>
              <a:rPr lang="en-US" altLang="zh-CN" b="1" dirty="0">
                <a:sym typeface="Wingdings" panose="05000000000000000000" pitchFamily="2" charset="2"/>
              </a:rPr>
              <a:t> </a:t>
            </a:r>
            <a:r>
              <a:rPr lang="en-US" altLang="zh-CN" b="1" dirty="0"/>
              <a:t>+ 1 =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              n*(n+1)/2 </a:t>
            </a:r>
            <a:r>
              <a:rPr lang="zh-CN" altLang="en-US" b="1" dirty="0"/>
              <a:t>个元素。</a:t>
            </a:r>
            <a:endParaRPr lang="zh-CN" altLang="en-US" b="1" dirty="0"/>
          </a:p>
          <a:p>
            <a:pPr eaLnBrk="1" hangingPunct="1">
              <a:buClr>
                <a:schemeClr val="hlink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CN" b="1" dirty="0">
              <a:solidFill>
                <a:srgbClr val="003366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7651" name="Text Box 4"/>
          <p:cNvSpPr txBox="1"/>
          <p:nvPr/>
        </p:nvSpPr>
        <p:spPr>
          <a:xfrm>
            <a:off x="7239000" y="609600"/>
            <a:ext cx="701675" cy="2528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4000" dirty="0">
                <a:solidFill>
                  <a:srgbClr val="0000CC"/>
                </a:solidFill>
                <a:ea typeface="隶书" panose="02010509060101010101" pitchFamily="49" charset="-122"/>
              </a:rPr>
              <a:t>上三角矩阵</a:t>
            </a:r>
            <a:endParaRPr lang="zh-CN" altLang="en-US" sz="2400" dirty="0"/>
          </a:p>
        </p:txBody>
      </p:sp>
      <p:sp>
        <p:nvSpPr>
          <p:cNvPr id="27652" name="Text Box 5"/>
          <p:cNvSpPr txBox="1"/>
          <p:nvPr/>
        </p:nvSpPr>
        <p:spPr>
          <a:xfrm>
            <a:off x="7315200" y="3581400"/>
            <a:ext cx="701675" cy="2528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4000" dirty="0">
                <a:solidFill>
                  <a:srgbClr val="0000CC"/>
                </a:solidFill>
                <a:ea typeface="隶书" panose="02010509060101010101" pitchFamily="49" charset="-122"/>
              </a:rPr>
              <a:t>下三角矩阵</a:t>
            </a:r>
            <a:endParaRPr lang="zh-CN" altLang="en-US" sz="2400" dirty="0"/>
          </a:p>
        </p:txBody>
      </p:sp>
      <p:sp>
        <p:nvSpPr>
          <p:cNvPr id="27653" name="Rectangle 11"/>
          <p:cNvSpPr/>
          <p:nvPr/>
        </p:nvSpPr>
        <p:spPr>
          <a:xfrm>
            <a:off x="1981200" y="3733800"/>
            <a:ext cx="914400" cy="24384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7654" name="Rectangle 12"/>
          <p:cNvSpPr/>
          <p:nvPr/>
        </p:nvSpPr>
        <p:spPr>
          <a:xfrm>
            <a:off x="2895600" y="4419600"/>
            <a:ext cx="914400" cy="1752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7655" name="Rectangle 13"/>
          <p:cNvSpPr/>
          <p:nvPr/>
        </p:nvSpPr>
        <p:spPr>
          <a:xfrm>
            <a:off x="3810000" y="4953000"/>
            <a:ext cx="914400" cy="1219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7656" name="Rectangle 14"/>
          <p:cNvSpPr/>
          <p:nvPr/>
        </p:nvSpPr>
        <p:spPr>
          <a:xfrm>
            <a:off x="4724400" y="5486400"/>
            <a:ext cx="838200" cy="685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graphicFrame>
        <p:nvGraphicFramePr>
          <p:cNvPr id="27657" name="Object 15"/>
          <p:cNvGraphicFramePr>
            <a:graphicFrameLocks noChangeAspect="1"/>
          </p:cNvGraphicFramePr>
          <p:nvPr/>
        </p:nvGraphicFramePr>
        <p:xfrm flipH="1">
          <a:off x="1905000" y="3657600"/>
          <a:ext cx="3810000" cy="258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193800" imgH="787400" progId="Equation.3">
                  <p:embed/>
                </p:oleObj>
              </mc:Choice>
              <mc:Fallback>
                <p:oleObj name="" r:id="rId1" imgW="1193800" imgH="7874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 flipH="1">
                        <a:off x="1905000" y="3657600"/>
                        <a:ext cx="3810000" cy="2586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8" name="Group 60"/>
          <p:cNvGrpSpPr/>
          <p:nvPr/>
        </p:nvGrpSpPr>
        <p:grpSpPr>
          <a:xfrm>
            <a:off x="1828800" y="457200"/>
            <a:ext cx="4171950" cy="2762250"/>
            <a:chOff x="1152" y="288"/>
            <a:chExt cx="2628" cy="1740"/>
          </a:xfrm>
        </p:grpSpPr>
        <p:sp>
          <p:nvSpPr>
            <p:cNvPr id="27659" name="Rectangle 6"/>
            <p:cNvSpPr/>
            <p:nvPr/>
          </p:nvSpPr>
          <p:spPr>
            <a:xfrm>
              <a:off x="1248" y="384"/>
              <a:ext cx="576" cy="38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60" name="Rectangle 7"/>
            <p:cNvSpPr/>
            <p:nvPr/>
          </p:nvSpPr>
          <p:spPr>
            <a:xfrm>
              <a:off x="1824" y="384"/>
              <a:ext cx="576" cy="81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61" name="Rectangle 8"/>
            <p:cNvSpPr/>
            <p:nvPr/>
          </p:nvSpPr>
          <p:spPr>
            <a:xfrm>
              <a:off x="2400" y="384"/>
              <a:ext cx="576" cy="1152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62" name="Rectangle 9"/>
            <p:cNvSpPr/>
            <p:nvPr/>
          </p:nvSpPr>
          <p:spPr>
            <a:xfrm>
              <a:off x="2976" y="384"/>
              <a:ext cx="528" cy="14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grpSp>
          <p:nvGrpSpPr>
            <p:cNvPr id="27663" name="Group 17"/>
            <p:cNvGrpSpPr>
              <a:grpSpLocks noChangeAspect="1"/>
            </p:cNvGrpSpPr>
            <p:nvPr/>
          </p:nvGrpSpPr>
          <p:grpSpPr>
            <a:xfrm>
              <a:off x="1152" y="288"/>
              <a:ext cx="2628" cy="1740"/>
              <a:chOff x="1152" y="288"/>
              <a:chExt cx="2628" cy="1740"/>
            </a:xfrm>
          </p:grpSpPr>
          <p:sp>
            <p:nvSpPr>
              <p:cNvPr id="27664" name="AutoShape 16"/>
              <p:cNvSpPr>
                <a:spLocks noChangeAspect="1" noTextEdit="1"/>
              </p:cNvSpPr>
              <p:nvPr/>
            </p:nvSpPr>
            <p:spPr>
              <a:xfrm>
                <a:off x="1152" y="288"/>
                <a:ext cx="2496" cy="16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665" name="Rectangle 18"/>
              <p:cNvSpPr/>
              <p:nvPr/>
            </p:nvSpPr>
            <p:spPr>
              <a:xfrm>
                <a:off x="3467" y="1275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27666" name="Rectangle 19"/>
              <p:cNvSpPr/>
              <p:nvPr/>
            </p:nvSpPr>
            <p:spPr>
              <a:xfrm>
                <a:off x="3467" y="960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27667" name="Rectangle 20"/>
              <p:cNvSpPr/>
              <p:nvPr/>
            </p:nvSpPr>
            <p:spPr>
              <a:xfrm>
                <a:off x="3467" y="646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27668" name="Rectangle 21"/>
              <p:cNvSpPr/>
              <p:nvPr/>
            </p:nvSpPr>
            <p:spPr>
              <a:xfrm>
                <a:off x="3467" y="1555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û</a:t>
                </a:r>
                <a:endParaRPr lang="en-US" altLang="zh-CN" sz="2400" dirty="0"/>
              </a:p>
            </p:txBody>
          </p:sp>
          <p:sp>
            <p:nvSpPr>
              <p:cNvPr id="27669" name="Rectangle 22"/>
              <p:cNvSpPr/>
              <p:nvPr/>
            </p:nvSpPr>
            <p:spPr>
              <a:xfrm>
                <a:off x="3467" y="332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ù</a:t>
                </a:r>
                <a:endParaRPr lang="en-US" altLang="zh-CN" sz="2400" dirty="0"/>
              </a:p>
            </p:txBody>
          </p:sp>
          <p:sp>
            <p:nvSpPr>
              <p:cNvPr id="27670" name="Rectangle 23"/>
              <p:cNvSpPr/>
              <p:nvPr/>
            </p:nvSpPr>
            <p:spPr>
              <a:xfrm>
                <a:off x="1205" y="1275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27671" name="Rectangle 24"/>
              <p:cNvSpPr/>
              <p:nvPr/>
            </p:nvSpPr>
            <p:spPr>
              <a:xfrm>
                <a:off x="1205" y="960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27672" name="Rectangle 25"/>
              <p:cNvSpPr/>
              <p:nvPr/>
            </p:nvSpPr>
            <p:spPr>
              <a:xfrm>
                <a:off x="1205" y="646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27673" name="Rectangle 26"/>
              <p:cNvSpPr/>
              <p:nvPr/>
            </p:nvSpPr>
            <p:spPr>
              <a:xfrm>
                <a:off x="1205" y="1555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ë</a:t>
                </a:r>
                <a:endParaRPr lang="en-US" altLang="zh-CN" sz="2400" dirty="0"/>
              </a:p>
            </p:txBody>
          </p:sp>
          <p:sp>
            <p:nvSpPr>
              <p:cNvPr id="27674" name="Rectangle 27"/>
              <p:cNvSpPr/>
              <p:nvPr/>
            </p:nvSpPr>
            <p:spPr>
              <a:xfrm>
                <a:off x="1205" y="332"/>
                <a:ext cx="313" cy="4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é</a:t>
                </a:r>
                <a:endParaRPr lang="en-US" altLang="zh-CN" sz="2400" dirty="0"/>
              </a:p>
            </p:txBody>
          </p:sp>
          <p:sp>
            <p:nvSpPr>
              <p:cNvPr id="27675" name="Rectangle 28"/>
              <p:cNvSpPr/>
              <p:nvPr/>
            </p:nvSpPr>
            <p:spPr>
              <a:xfrm>
                <a:off x="3243" y="170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33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76" name="Rectangle 29"/>
              <p:cNvSpPr/>
              <p:nvPr/>
            </p:nvSpPr>
            <p:spPr>
              <a:xfrm>
                <a:off x="2656" y="1708"/>
                <a:ext cx="262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32</a:t>
                </a:r>
                <a:endParaRPr lang="en-US" altLang="zh-CN" sz="2400" dirty="0"/>
              </a:p>
            </p:txBody>
          </p:sp>
          <p:sp>
            <p:nvSpPr>
              <p:cNvPr id="27677" name="Rectangle 30"/>
              <p:cNvSpPr/>
              <p:nvPr/>
            </p:nvSpPr>
            <p:spPr>
              <a:xfrm>
                <a:off x="2082" y="1708"/>
                <a:ext cx="262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31</a:t>
                </a:r>
                <a:endParaRPr lang="en-US" altLang="zh-CN" sz="2400" dirty="0"/>
              </a:p>
            </p:txBody>
          </p:sp>
          <p:sp>
            <p:nvSpPr>
              <p:cNvPr id="27678" name="Rectangle 31"/>
              <p:cNvSpPr/>
              <p:nvPr/>
            </p:nvSpPr>
            <p:spPr>
              <a:xfrm>
                <a:off x="1496" y="1708"/>
                <a:ext cx="262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30</a:t>
                </a:r>
                <a:endParaRPr lang="en-US" altLang="zh-CN" sz="2400" dirty="0"/>
              </a:p>
            </p:txBody>
          </p:sp>
          <p:sp>
            <p:nvSpPr>
              <p:cNvPr id="27679" name="Rectangle 32"/>
              <p:cNvSpPr/>
              <p:nvPr/>
            </p:nvSpPr>
            <p:spPr>
              <a:xfrm>
                <a:off x="3246" y="1322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23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80" name="Rectangle 33"/>
              <p:cNvSpPr/>
              <p:nvPr/>
            </p:nvSpPr>
            <p:spPr>
              <a:xfrm>
                <a:off x="2659" y="1322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22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81" name="Rectangle 34"/>
              <p:cNvSpPr/>
              <p:nvPr/>
            </p:nvSpPr>
            <p:spPr>
              <a:xfrm>
                <a:off x="2086" y="1322"/>
                <a:ext cx="262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21</a:t>
                </a:r>
                <a:endParaRPr lang="en-US" altLang="zh-CN" sz="2400" dirty="0"/>
              </a:p>
            </p:txBody>
          </p:sp>
          <p:sp>
            <p:nvSpPr>
              <p:cNvPr id="27682" name="Rectangle 35"/>
              <p:cNvSpPr/>
              <p:nvPr/>
            </p:nvSpPr>
            <p:spPr>
              <a:xfrm>
                <a:off x="1498" y="1322"/>
                <a:ext cx="262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20</a:t>
                </a:r>
                <a:endParaRPr lang="en-US" altLang="zh-CN" sz="2400" dirty="0"/>
              </a:p>
            </p:txBody>
          </p:sp>
          <p:sp>
            <p:nvSpPr>
              <p:cNvPr id="27683" name="Rectangle 36"/>
              <p:cNvSpPr/>
              <p:nvPr/>
            </p:nvSpPr>
            <p:spPr>
              <a:xfrm>
                <a:off x="3236" y="935"/>
                <a:ext cx="262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13</a:t>
                </a:r>
                <a:endParaRPr lang="en-US" altLang="zh-CN" sz="2400" dirty="0"/>
              </a:p>
            </p:txBody>
          </p:sp>
          <p:sp>
            <p:nvSpPr>
              <p:cNvPr id="27684" name="Rectangle 37"/>
              <p:cNvSpPr/>
              <p:nvPr/>
            </p:nvSpPr>
            <p:spPr>
              <a:xfrm>
                <a:off x="2649" y="935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12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85" name="Rectangle 38"/>
              <p:cNvSpPr/>
              <p:nvPr/>
            </p:nvSpPr>
            <p:spPr>
              <a:xfrm>
                <a:off x="2075" y="935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11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86" name="Rectangle 39"/>
              <p:cNvSpPr/>
              <p:nvPr/>
            </p:nvSpPr>
            <p:spPr>
              <a:xfrm>
                <a:off x="1488" y="935"/>
                <a:ext cx="262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10</a:t>
                </a:r>
                <a:endParaRPr lang="en-US" altLang="zh-CN" sz="2400" dirty="0"/>
              </a:p>
            </p:txBody>
          </p:sp>
          <p:sp>
            <p:nvSpPr>
              <p:cNvPr id="27687" name="Rectangle 40"/>
              <p:cNvSpPr/>
              <p:nvPr/>
            </p:nvSpPr>
            <p:spPr>
              <a:xfrm>
                <a:off x="3245" y="54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03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88" name="Rectangle 41"/>
              <p:cNvSpPr/>
              <p:nvPr/>
            </p:nvSpPr>
            <p:spPr>
              <a:xfrm>
                <a:off x="2657" y="548"/>
                <a:ext cx="262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02</a:t>
                </a:r>
                <a:endParaRPr lang="en-US" altLang="zh-CN" sz="2400" dirty="0"/>
              </a:p>
            </p:txBody>
          </p:sp>
          <p:sp>
            <p:nvSpPr>
              <p:cNvPr id="27689" name="Rectangle 42"/>
              <p:cNvSpPr/>
              <p:nvPr/>
            </p:nvSpPr>
            <p:spPr>
              <a:xfrm>
                <a:off x="2084" y="54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01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90" name="Rectangle 43"/>
              <p:cNvSpPr/>
              <p:nvPr/>
            </p:nvSpPr>
            <p:spPr>
              <a:xfrm>
                <a:off x="1496" y="54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00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91" name="Rectangle 44"/>
              <p:cNvSpPr/>
              <p:nvPr/>
            </p:nvSpPr>
            <p:spPr>
              <a:xfrm>
                <a:off x="3085" y="150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92" name="Rectangle 45"/>
              <p:cNvSpPr/>
              <p:nvPr/>
            </p:nvSpPr>
            <p:spPr>
              <a:xfrm>
                <a:off x="2499" y="1506"/>
                <a:ext cx="287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7693" name="Rectangle 46"/>
              <p:cNvSpPr/>
              <p:nvPr/>
            </p:nvSpPr>
            <p:spPr>
              <a:xfrm>
                <a:off x="1925" y="1506"/>
                <a:ext cx="287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7694" name="Rectangle 47"/>
              <p:cNvSpPr/>
              <p:nvPr/>
            </p:nvSpPr>
            <p:spPr>
              <a:xfrm>
                <a:off x="1338" y="1506"/>
                <a:ext cx="287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7695" name="Rectangle 48"/>
              <p:cNvSpPr/>
              <p:nvPr/>
            </p:nvSpPr>
            <p:spPr>
              <a:xfrm>
                <a:off x="3083" y="1120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96" name="Rectangle 49"/>
              <p:cNvSpPr/>
              <p:nvPr/>
            </p:nvSpPr>
            <p:spPr>
              <a:xfrm>
                <a:off x="2495" y="1120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697" name="Rectangle 50"/>
              <p:cNvSpPr/>
              <p:nvPr/>
            </p:nvSpPr>
            <p:spPr>
              <a:xfrm>
                <a:off x="1922" y="1120"/>
                <a:ext cx="287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7698" name="Rectangle 51"/>
              <p:cNvSpPr/>
              <p:nvPr/>
            </p:nvSpPr>
            <p:spPr>
              <a:xfrm>
                <a:off x="1335" y="1120"/>
                <a:ext cx="287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7699" name="Rectangle 52"/>
              <p:cNvSpPr/>
              <p:nvPr/>
            </p:nvSpPr>
            <p:spPr>
              <a:xfrm>
                <a:off x="3093" y="733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700" name="Rectangle 53"/>
              <p:cNvSpPr/>
              <p:nvPr/>
            </p:nvSpPr>
            <p:spPr>
              <a:xfrm>
                <a:off x="2506" y="733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701" name="Rectangle 54"/>
              <p:cNvSpPr/>
              <p:nvPr/>
            </p:nvSpPr>
            <p:spPr>
              <a:xfrm>
                <a:off x="1932" y="733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702" name="Rectangle 55"/>
              <p:cNvSpPr/>
              <p:nvPr/>
            </p:nvSpPr>
            <p:spPr>
              <a:xfrm>
                <a:off x="1345" y="733"/>
                <a:ext cx="287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7703" name="Rectangle 56"/>
              <p:cNvSpPr/>
              <p:nvPr/>
            </p:nvSpPr>
            <p:spPr>
              <a:xfrm>
                <a:off x="3085" y="34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704" name="Rectangle 57"/>
              <p:cNvSpPr/>
              <p:nvPr/>
            </p:nvSpPr>
            <p:spPr>
              <a:xfrm>
                <a:off x="2497" y="34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705" name="Rectangle 58"/>
              <p:cNvSpPr/>
              <p:nvPr/>
            </p:nvSpPr>
            <p:spPr>
              <a:xfrm>
                <a:off x="1924" y="34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706" name="Rectangle 59"/>
              <p:cNvSpPr/>
              <p:nvPr/>
            </p:nvSpPr>
            <p:spPr>
              <a:xfrm>
                <a:off x="1336" y="34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5" name="Text Box 10"/>
          <p:cNvSpPr txBox="1"/>
          <p:nvPr/>
        </p:nvSpPr>
        <p:spPr>
          <a:xfrm>
            <a:off x="7391400" y="381000"/>
            <a:ext cx="701675" cy="2528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4000" dirty="0">
                <a:solidFill>
                  <a:srgbClr val="0000CC"/>
                </a:solidFill>
                <a:ea typeface="隶书" panose="02010509060101010101" pitchFamily="49" charset="-122"/>
              </a:rPr>
              <a:t>下三角矩阵</a:t>
            </a:r>
            <a:endParaRPr lang="zh-CN" altLang="en-US" sz="2400" dirty="0"/>
          </a:p>
        </p:txBody>
      </p:sp>
      <p:sp>
        <p:nvSpPr>
          <p:cNvPr id="28676" name="Rectangle 11"/>
          <p:cNvSpPr/>
          <p:nvPr/>
        </p:nvSpPr>
        <p:spPr>
          <a:xfrm>
            <a:off x="1143000" y="3886200"/>
            <a:ext cx="7391400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8677" name="Text Box 12"/>
          <p:cNvSpPr txBox="1"/>
          <p:nvPr/>
        </p:nvSpPr>
        <p:spPr>
          <a:xfrm>
            <a:off x="700088" y="3840163"/>
            <a:ext cx="8031162" cy="579437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</a:rPr>
              <a:t>B</a:t>
            </a:r>
            <a:r>
              <a:rPr lang="en-US" altLang="zh-CN" b="1" i="1" dirty="0">
                <a:solidFill>
                  <a:srgbClr val="000099"/>
                </a:solidFill>
              </a:rPr>
              <a:t>  a</a:t>
            </a:r>
            <a:r>
              <a:rPr lang="en-US" altLang="zh-CN" b="1" baseline="-25000" dirty="0">
                <a:solidFill>
                  <a:srgbClr val="000099"/>
                </a:solidFill>
              </a:rPr>
              <a:t>00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10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11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20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21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22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30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31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32   ……</a:t>
            </a:r>
            <a:r>
              <a:rPr lang="en-US" altLang="zh-CN" b="1" baseline="-25000" dirty="0">
                <a:solidFill>
                  <a:srgbClr val="0000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n-1n-1</a:t>
            </a:r>
            <a:r>
              <a:rPr lang="en-US" altLang="zh-CN" b="1" baseline="-25000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endParaRPr lang="en-US" altLang="zh-CN" b="1" baseline="-25000" dirty="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28678" name="Line 13"/>
          <p:cNvSpPr/>
          <p:nvPr/>
        </p:nvSpPr>
        <p:spPr>
          <a:xfrm>
            <a:off x="17526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9" name="Line 14"/>
          <p:cNvSpPr/>
          <p:nvPr/>
        </p:nvSpPr>
        <p:spPr>
          <a:xfrm>
            <a:off x="23622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Line 15"/>
          <p:cNvSpPr/>
          <p:nvPr/>
        </p:nvSpPr>
        <p:spPr>
          <a:xfrm>
            <a:off x="29718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Line 16"/>
          <p:cNvSpPr/>
          <p:nvPr/>
        </p:nvSpPr>
        <p:spPr>
          <a:xfrm>
            <a:off x="35814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2" name="Line 17"/>
          <p:cNvSpPr/>
          <p:nvPr/>
        </p:nvSpPr>
        <p:spPr>
          <a:xfrm>
            <a:off x="41910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3" name="Line 18"/>
          <p:cNvSpPr/>
          <p:nvPr/>
        </p:nvSpPr>
        <p:spPr>
          <a:xfrm>
            <a:off x="48006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4" name="Line 19"/>
          <p:cNvSpPr/>
          <p:nvPr/>
        </p:nvSpPr>
        <p:spPr>
          <a:xfrm>
            <a:off x="54102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5" name="Line 20"/>
          <p:cNvSpPr/>
          <p:nvPr/>
        </p:nvSpPr>
        <p:spPr>
          <a:xfrm>
            <a:off x="60198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6" name="Line 21"/>
          <p:cNvSpPr/>
          <p:nvPr/>
        </p:nvSpPr>
        <p:spPr>
          <a:xfrm>
            <a:off x="66294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7" name="Line 22"/>
          <p:cNvSpPr/>
          <p:nvPr/>
        </p:nvSpPr>
        <p:spPr>
          <a:xfrm>
            <a:off x="7391400" y="3886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8" name="Text Box 23"/>
          <p:cNvSpPr txBox="1"/>
          <p:nvPr/>
        </p:nvSpPr>
        <p:spPr>
          <a:xfrm>
            <a:off x="1203325" y="3470275"/>
            <a:ext cx="7526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0     1      2      3      4      5      6      7      8              n(n+1)/2-1</a:t>
            </a:r>
            <a:endParaRPr lang="en-US" altLang="zh-CN" sz="2400" dirty="0"/>
          </a:p>
        </p:txBody>
      </p:sp>
      <p:sp>
        <p:nvSpPr>
          <p:cNvPr id="28689" name="Text Box 24"/>
          <p:cNvSpPr txBox="1"/>
          <p:nvPr/>
        </p:nvSpPr>
        <p:spPr>
          <a:xfrm>
            <a:off x="1279525" y="49736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sp>
        <p:nvSpPr>
          <p:cNvPr id="28690" name="Text Box 25"/>
          <p:cNvSpPr txBox="1"/>
          <p:nvPr/>
        </p:nvSpPr>
        <p:spPr>
          <a:xfrm>
            <a:off x="457200" y="4724400"/>
            <a:ext cx="83820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99"/>
                </a:solidFill>
                <a:ea typeface="楷体_GB2312"/>
              </a:rPr>
              <a:t>若 </a:t>
            </a:r>
            <a:r>
              <a:rPr lang="en-US" altLang="zh-CN" b="1" dirty="0">
                <a:solidFill>
                  <a:srgbClr val="FF3300"/>
                </a:solidFill>
                <a:ea typeface="楷体_GB2312"/>
              </a:rPr>
              <a:t>i </a:t>
            </a:r>
            <a:r>
              <a:rPr lang="en-US" altLang="zh-CN" b="1" dirty="0">
                <a:solidFill>
                  <a:srgbClr val="FF3300"/>
                </a:solidFill>
                <a:ea typeface="楷体_GB2312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solidFill>
                  <a:srgbClr val="FF3300"/>
                </a:solidFill>
                <a:ea typeface="楷体_GB2312"/>
              </a:rPr>
              <a:t> j</a:t>
            </a: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, </a:t>
            </a:r>
            <a:r>
              <a:rPr lang="zh-CN" altLang="en-US" b="1" dirty="0">
                <a:solidFill>
                  <a:srgbClr val="000099"/>
                </a:solidFill>
                <a:ea typeface="楷体_GB2312"/>
              </a:rPr>
              <a:t>数组元素</a:t>
            </a: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A[i][j]</a:t>
            </a:r>
            <a:r>
              <a:rPr lang="zh-CN" altLang="en-US" b="1" dirty="0">
                <a:solidFill>
                  <a:srgbClr val="000099"/>
                </a:solidFill>
                <a:ea typeface="楷体_GB2312"/>
              </a:rPr>
              <a:t>在数组</a:t>
            </a:r>
            <a:r>
              <a:rPr lang="en-US" altLang="zh-CN" b="1" dirty="0">
                <a:solidFill>
                  <a:srgbClr val="000099"/>
                </a:solidFill>
                <a:ea typeface="楷体_GB2312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ea typeface="楷体_GB2312"/>
              </a:rPr>
              <a:t>中的存放位置为 </a:t>
            </a:r>
            <a:r>
              <a:rPr lang="en-US" altLang="zh-CN" b="1" dirty="0">
                <a:ea typeface="楷体_GB2312"/>
              </a:rPr>
              <a:t>1 + 2 + </a:t>
            </a:r>
            <a:r>
              <a:rPr lang="en-US" altLang="zh-CN" b="1" dirty="0">
                <a:ea typeface="楷体_GB2312"/>
                <a:sym typeface="Wingdings" panose="05000000000000000000" pitchFamily="2" charset="2"/>
              </a:rPr>
              <a:t></a:t>
            </a:r>
            <a:r>
              <a:rPr lang="en-US" altLang="zh-CN" b="1" dirty="0">
                <a:ea typeface="楷体_GB2312"/>
              </a:rPr>
              <a:t> + i + j = (i + 1)* i / 2 + j</a:t>
            </a:r>
            <a:endParaRPr lang="en-US" altLang="zh-CN" sz="2400" b="1" dirty="0">
              <a:latin typeface="楷体_GB2312"/>
              <a:ea typeface="楷体_GB2312"/>
            </a:endParaRPr>
          </a:p>
        </p:txBody>
      </p:sp>
      <p:sp>
        <p:nvSpPr>
          <p:cNvPr id="28691" name="AutoShape 26"/>
          <p:cNvSpPr/>
          <p:nvPr/>
        </p:nvSpPr>
        <p:spPr>
          <a:xfrm rot="-5400000">
            <a:off x="2133600" y="4800600"/>
            <a:ext cx="76200" cy="2209800"/>
          </a:xfrm>
          <a:prstGeom prst="leftBrace">
            <a:avLst>
              <a:gd name="adj1" fmla="val 241666"/>
              <a:gd name="adj2" fmla="val 50000"/>
            </a:avLst>
          </a:prstGeom>
          <a:noFill/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000099"/>
              </a:solidFill>
            </a:endParaRPr>
          </a:p>
        </p:txBody>
      </p:sp>
      <p:sp>
        <p:nvSpPr>
          <p:cNvPr id="28692" name="Text Box 27"/>
          <p:cNvSpPr txBox="1"/>
          <p:nvPr/>
        </p:nvSpPr>
        <p:spPr>
          <a:xfrm>
            <a:off x="1431925" y="60404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sp>
        <p:nvSpPr>
          <p:cNvPr id="28693" name="Text Box 28"/>
          <p:cNvSpPr txBox="1"/>
          <p:nvPr/>
        </p:nvSpPr>
        <p:spPr>
          <a:xfrm>
            <a:off x="609600" y="5897563"/>
            <a:ext cx="768350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990099"/>
                </a:solidFill>
                <a:ea typeface="楷体_GB2312"/>
              </a:rPr>
              <a:t>前</a:t>
            </a:r>
            <a:r>
              <a:rPr lang="en-US" altLang="zh-CN" b="1" dirty="0">
                <a:solidFill>
                  <a:srgbClr val="FF3300"/>
                </a:solidFill>
                <a:ea typeface="楷体_GB2312"/>
              </a:rPr>
              <a:t>i</a:t>
            </a:r>
            <a:r>
              <a:rPr lang="zh-CN" altLang="en-US" b="1" dirty="0">
                <a:solidFill>
                  <a:srgbClr val="990099"/>
                </a:solidFill>
                <a:ea typeface="楷体_GB2312"/>
              </a:rPr>
              <a:t>行</a:t>
            </a:r>
            <a:r>
              <a:rPr lang="zh-CN" altLang="en-US" b="1" dirty="0">
                <a:solidFill>
                  <a:srgbClr val="008080"/>
                </a:solidFill>
                <a:ea typeface="楷体_GB2312"/>
              </a:rPr>
              <a:t>元素总数  </a:t>
            </a:r>
            <a:r>
              <a:rPr lang="zh-CN" altLang="en-US" b="1" dirty="0">
                <a:solidFill>
                  <a:srgbClr val="990099"/>
                </a:solidFill>
                <a:ea typeface="楷体_GB2312"/>
              </a:rPr>
              <a:t>第</a:t>
            </a:r>
            <a:r>
              <a:rPr lang="en-US" altLang="zh-CN" b="1" dirty="0">
                <a:solidFill>
                  <a:srgbClr val="FF3300"/>
                </a:solidFill>
                <a:ea typeface="楷体_GB2312"/>
              </a:rPr>
              <a:t>i</a:t>
            </a:r>
            <a:r>
              <a:rPr lang="zh-CN" altLang="en-US" b="1" dirty="0">
                <a:solidFill>
                  <a:srgbClr val="990099"/>
                </a:solidFill>
                <a:ea typeface="楷体_GB2312"/>
              </a:rPr>
              <a:t>行第</a:t>
            </a:r>
            <a:r>
              <a:rPr lang="en-US" altLang="zh-CN" b="1" dirty="0">
                <a:solidFill>
                  <a:srgbClr val="FF3300"/>
                </a:solidFill>
                <a:ea typeface="楷体_GB2312"/>
              </a:rPr>
              <a:t>j</a:t>
            </a:r>
            <a:r>
              <a:rPr lang="zh-CN" altLang="en-US" b="1" dirty="0">
                <a:solidFill>
                  <a:srgbClr val="990099"/>
                </a:solidFill>
                <a:ea typeface="楷体_GB2312"/>
              </a:rPr>
              <a:t>个</a:t>
            </a:r>
            <a:r>
              <a:rPr lang="zh-CN" altLang="en-US" b="1" dirty="0">
                <a:solidFill>
                  <a:srgbClr val="008080"/>
                </a:solidFill>
                <a:ea typeface="楷体_GB2312"/>
              </a:rPr>
              <a:t>元素前元素个数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28694" name="AutoShape 29"/>
          <p:cNvSpPr/>
          <p:nvPr/>
        </p:nvSpPr>
        <p:spPr>
          <a:xfrm rot="-5400000">
            <a:off x="3695700" y="5676900"/>
            <a:ext cx="76200" cy="4572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000099"/>
              </a:solidFill>
            </a:endParaRPr>
          </a:p>
        </p:txBody>
      </p:sp>
      <p:sp>
        <p:nvSpPr>
          <p:cNvPr id="28695" name="AutoShape 30"/>
          <p:cNvSpPr/>
          <p:nvPr/>
        </p:nvSpPr>
        <p:spPr>
          <a:xfrm>
            <a:off x="6248400" y="4419600"/>
            <a:ext cx="219075" cy="381000"/>
          </a:xfrm>
          <a:prstGeom prst="triangle">
            <a:avLst>
              <a:gd name="adj" fmla="val 50000"/>
            </a:avLst>
          </a:prstGeom>
          <a:solidFill>
            <a:schemeClr val="tx2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8696" name="Line 31"/>
          <p:cNvSpPr/>
          <p:nvPr/>
        </p:nvSpPr>
        <p:spPr>
          <a:xfrm>
            <a:off x="1116013" y="3860800"/>
            <a:ext cx="0" cy="5048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28697" name="Group 107"/>
          <p:cNvGrpSpPr/>
          <p:nvPr/>
        </p:nvGrpSpPr>
        <p:grpSpPr>
          <a:xfrm>
            <a:off x="1476375" y="404813"/>
            <a:ext cx="5581650" cy="3048000"/>
            <a:chOff x="912" y="240"/>
            <a:chExt cx="3516" cy="1920"/>
          </a:xfrm>
        </p:grpSpPr>
        <p:sp>
          <p:nvSpPr>
            <p:cNvPr id="28698" name="Rectangle 4"/>
            <p:cNvSpPr/>
            <p:nvPr/>
          </p:nvSpPr>
          <p:spPr>
            <a:xfrm>
              <a:off x="3504" y="1824"/>
              <a:ext cx="768" cy="2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8699" name="Rectangle 5"/>
            <p:cNvSpPr/>
            <p:nvPr/>
          </p:nvSpPr>
          <p:spPr>
            <a:xfrm>
              <a:off x="3024" y="1536"/>
              <a:ext cx="528" cy="57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8700" name="Rectangle 6"/>
            <p:cNvSpPr/>
            <p:nvPr/>
          </p:nvSpPr>
          <p:spPr>
            <a:xfrm>
              <a:off x="2304" y="1152"/>
              <a:ext cx="720" cy="96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8701" name="Rectangle 7"/>
            <p:cNvSpPr/>
            <p:nvPr/>
          </p:nvSpPr>
          <p:spPr>
            <a:xfrm>
              <a:off x="1632" y="768"/>
              <a:ext cx="720" cy="134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8702" name="Rectangle 8"/>
            <p:cNvSpPr/>
            <p:nvPr/>
          </p:nvSpPr>
          <p:spPr>
            <a:xfrm>
              <a:off x="1056" y="336"/>
              <a:ext cx="624" cy="177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grpSp>
          <p:nvGrpSpPr>
            <p:cNvPr id="28703" name="Group 33"/>
            <p:cNvGrpSpPr>
              <a:grpSpLocks noChangeAspect="1"/>
            </p:cNvGrpSpPr>
            <p:nvPr/>
          </p:nvGrpSpPr>
          <p:grpSpPr>
            <a:xfrm>
              <a:off x="912" y="240"/>
              <a:ext cx="3516" cy="1920"/>
              <a:chOff x="912" y="240"/>
              <a:chExt cx="3516" cy="1920"/>
            </a:xfrm>
          </p:grpSpPr>
          <p:sp>
            <p:nvSpPr>
              <p:cNvPr id="28704" name="AutoShape 32"/>
              <p:cNvSpPr>
                <a:spLocks noChangeAspect="1" noTextEdit="1"/>
              </p:cNvSpPr>
              <p:nvPr/>
            </p:nvSpPr>
            <p:spPr>
              <a:xfrm>
                <a:off x="912" y="240"/>
                <a:ext cx="3516" cy="19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705" name="Rectangle 34"/>
              <p:cNvSpPr/>
              <p:nvPr/>
            </p:nvSpPr>
            <p:spPr>
              <a:xfrm>
                <a:off x="4254" y="1496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28706" name="Rectangle 35"/>
              <p:cNvSpPr/>
              <p:nvPr/>
            </p:nvSpPr>
            <p:spPr>
              <a:xfrm>
                <a:off x="4254" y="1189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28707" name="Rectangle 36"/>
              <p:cNvSpPr/>
              <p:nvPr/>
            </p:nvSpPr>
            <p:spPr>
              <a:xfrm>
                <a:off x="4254" y="882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28708" name="Rectangle 37"/>
              <p:cNvSpPr/>
              <p:nvPr/>
            </p:nvSpPr>
            <p:spPr>
              <a:xfrm>
                <a:off x="4254" y="576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28709" name="Rectangle 38"/>
              <p:cNvSpPr/>
              <p:nvPr/>
            </p:nvSpPr>
            <p:spPr>
              <a:xfrm>
                <a:off x="4254" y="1757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û</a:t>
                </a:r>
                <a:endParaRPr lang="en-US" altLang="zh-CN" sz="2400" dirty="0"/>
              </a:p>
            </p:txBody>
          </p:sp>
          <p:sp>
            <p:nvSpPr>
              <p:cNvPr id="28710" name="Rectangle 39"/>
              <p:cNvSpPr/>
              <p:nvPr/>
            </p:nvSpPr>
            <p:spPr>
              <a:xfrm>
                <a:off x="4254" y="269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ù</a:t>
                </a:r>
                <a:endParaRPr lang="en-US" altLang="zh-CN" sz="2400" dirty="0"/>
              </a:p>
            </p:txBody>
          </p:sp>
          <p:sp>
            <p:nvSpPr>
              <p:cNvPr id="28711" name="Rectangle 40"/>
              <p:cNvSpPr/>
              <p:nvPr/>
            </p:nvSpPr>
            <p:spPr>
              <a:xfrm>
                <a:off x="959" y="1496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28712" name="Rectangle 41"/>
              <p:cNvSpPr/>
              <p:nvPr/>
            </p:nvSpPr>
            <p:spPr>
              <a:xfrm>
                <a:off x="959" y="1189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28713" name="Rectangle 42"/>
              <p:cNvSpPr/>
              <p:nvPr/>
            </p:nvSpPr>
            <p:spPr>
              <a:xfrm>
                <a:off x="959" y="882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28714" name="Rectangle 43"/>
              <p:cNvSpPr/>
              <p:nvPr/>
            </p:nvSpPr>
            <p:spPr>
              <a:xfrm>
                <a:off x="959" y="576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28715" name="Rectangle 44"/>
              <p:cNvSpPr/>
              <p:nvPr/>
            </p:nvSpPr>
            <p:spPr>
              <a:xfrm>
                <a:off x="959" y="1757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ë</a:t>
                </a:r>
                <a:endParaRPr lang="en-US" altLang="zh-CN" sz="2400" dirty="0"/>
              </a:p>
            </p:txBody>
          </p:sp>
          <p:sp>
            <p:nvSpPr>
              <p:cNvPr id="28716" name="Rectangle 45"/>
              <p:cNvSpPr/>
              <p:nvPr/>
            </p:nvSpPr>
            <p:spPr>
              <a:xfrm>
                <a:off x="959" y="269"/>
                <a:ext cx="123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é</a:t>
                </a:r>
                <a:endParaRPr lang="en-US" altLang="zh-CN" sz="2400" dirty="0"/>
              </a:p>
            </p:txBody>
          </p:sp>
          <p:sp>
            <p:nvSpPr>
              <p:cNvPr id="28717" name="Rectangle 46"/>
              <p:cNvSpPr/>
              <p:nvPr/>
            </p:nvSpPr>
            <p:spPr>
              <a:xfrm>
                <a:off x="4066" y="1887"/>
                <a:ext cx="101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endParaRPr lang="en-US" altLang="zh-CN" sz="2400" dirty="0"/>
              </a:p>
            </p:txBody>
          </p:sp>
          <p:sp>
            <p:nvSpPr>
              <p:cNvPr id="28718" name="Rectangle 47"/>
              <p:cNvSpPr/>
              <p:nvPr/>
            </p:nvSpPr>
            <p:spPr>
              <a:xfrm>
                <a:off x="3809" y="1887"/>
                <a:ext cx="101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  <a:latin typeface="Symbol" panose="05050102010706020507" pitchFamily="18" charset="2"/>
                  </a:rPr>
                  <a:t>-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19" name="Rectangle 48"/>
              <p:cNvSpPr/>
              <p:nvPr/>
            </p:nvSpPr>
            <p:spPr>
              <a:xfrm>
                <a:off x="2694" y="1887"/>
                <a:ext cx="101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endParaRPr lang="en-US" altLang="zh-CN" sz="2400" dirty="0"/>
              </a:p>
            </p:txBody>
          </p:sp>
          <p:sp>
            <p:nvSpPr>
              <p:cNvPr id="28720" name="Rectangle 49"/>
              <p:cNvSpPr/>
              <p:nvPr/>
            </p:nvSpPr>
            <p:spPr>
              <a:xfrm>
                <a:off x="2009" y="1887"/>
                <a:ext cx="101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endParaRPr lang="en-US" altLang="zh-CN" sz="2400" dirty="0"/>
              </a:p>
            </p:txBody>
          </p:sp>
          <p:sp>
            <p:nvSpPr>
              <p:cNvPr id="28721" name="Rectangle 50"/>
              <p:cNvSpPr/>
              <p:nvPr/>
            </p:nvSpPr>
            <p:spPr>
              <a:xfrm>
                <a:off x="1312" y="1887"/>
                <a:ext cx="101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endParaRPr lang="en-US" altLang="zh-CN" sz="2400" dirty="0"/>
              </a:p>
            </p:txBody>
          </p:sp>
          <p:sp>
            <p:nvSpPr>
              <p:cNvPr id="28722" name="Rectangle 51"/>
              <p:cNvSpPr/>
              <p:nvPr/>
            </p:nvSpPr>
            <p:spPr>
              <a:xfrm>
                <a:off x="3985" y="1215"/>
                <a:ext cx="101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endParaRPr lang="en-US" altLang="zh-CN" sz="2400" dirty="0"/>
              </a:p>
            </p:txBody>
          </p:sp>
          <p:sp>
            <p:nvSpPr>
              <p:cNvPr id="28723" name="Rectangle 52"/>
              <p:cNvSpPr/>
              <p:nvPr/>
            </p:nvSpPr>
            <p:spPr>
              <a:xfrm>
                <a:off x="3969" y="837"/>
                <a:ext cx="101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endParaRPr lang="en-US" altLang="zh-CN" sz="2400" dirty="0"/>
              </a:p>
            </p:txBody>
          </p:sp>
          <p:sp>
            <p:nvSpPr>
              <p:cNvPr id="28724" name="Rectangle 53"/>
              <p:cNvSpPr/>
              <p:nvPr/>
            </p:nvSpPr>
            <p:spPr>
              <a:xfrm>
                <a:off x="3983" y="460"/>
                <a:ext cx="101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endParaRPr lang="en-US" altLang="zh-CN" sz="2400" dirty="0"/>
              </a:p>
            </p:txBody>
          </p:sp>
          <p:sp>
            <p:nvSpPr>
              <p:cNvPr id="28725" name="Rectangle 54"/>
              <p:cNvSpPr/>
              <p:nvPr/>
            </p:nvSpPr>
            <p:spPr>
              <a:xfrm>
                <a:off x="4148" y="1907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1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26" name="Rectangle 55"/>
              <p:cNvSpPr/>
              <p:nvPr/>
            </p:nvSpPr>
            <p:spPr>
              <a:xfrm>
                <a:off x="3891" y="1907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1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27" name="Rectangle 56"/>
              <p:cNvSpPr/>
              <p:nvPr/>
            </p:nvSpPr>
            <p:spPr>
              <a:xfrm>
                <a:off x="2775" y="1907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12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28" name="Rectangle 57"/>
              <p:cNvSpPr/>
              <p:nvPr/>
            </p:nvSpPr>
            <p:spPr>
              <a:xfrm>
                <a:off x="2091" y="1907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11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29" name="Rectangle 58"/>
              <p:cNvSpPr/>
              <p:nvPr/>
            </p:nvSpPr>
            <p:spPr>
              <a:xfrm>
                <a:off x="1394" y="1907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10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30" name="Rectangle 59"/>
              <p:cNvSpPr/>
              <p:nvPr/>
            </p:nvSpPr>
            <p:spPr>
              <a:xfrm>
                <a:off x="4067" y="1235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</a:rPr>
                  <a:t>1</a:t>
                </a:r>
                <a:endParaRPr lang="en-US" altLang="zh-CN" sz="2400" dirty="0"/>
              </a:p>
            </p:txBody>
          </p:sp>
          <p:sp>
            <p:nvSpPr>
              <p:cNvPr id="28731" name="Rectangle 60"/>
              <p:cNvSpPr/>
              <p:nvPr/>
            </p:nvSpPr>
            <p:spPr>
              <a:xfrm>
                <a:off x="3798" y="1235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</a:rPr>
                  <a:t>2</a:t>
                </a:r>
                <a:endParaRPr lang="en-US" altLang="zh-CN" sz="2400" dirty="0"/>
              </a:p>
            </p:txBody>
          </p:sp>
          <p:sp>
            <p:nvSpPr>
              <p:cNvPr id="28732" name="Rectangle 61"/>
              <p:cNvSpPr/>
              <p:nvPr/>
            </p:nvSpPr>
            <p:spPr>
              <a:xfrm>
                <a:off x="2688" y="1235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22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33" name="Rectangle 62"/>
              <p:cNvSpPr/>
              <p:nvPr/>
            </p:nvSpPr>
            <p:spPr>
              <a:xfrm>
                <a:off x="2004" y="1235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21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34" name="Rectangle 63"/>
              <p:cNvSpPr/>
              <p:nvPr/>
            </p:nvSpPr>
            <p:spPr>
              <a:xfrm>
                <a:off x="1307" y="1235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20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35" name="Rectangle 64"/>
              <p:cNvSpPr/>
              <p:nvPr/>
            </p:nvSpPr>
            <p:spPr>
              <a:xfrm>
                <a:off x="4051" y="857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</a:rPr>
                  <a:t>1</a:t>
                </a:r>
                <a:endParaRPr lang="en-US" altLang="zh-CN" sz="2400" dirty="0"/>
              </a:p>
            </p:txBody>
          </p:sp>
          <p:sp>
            <p:nvSpPr>
              <p:cNvPr id="28736" name="Rectangle 65"/>
              <p:cNvSpPr/>
              <p:nvPr/>
            </p:nvSpPr>
            <p:spPr>
              <a:xfrm>
                <a:off x="3795" y="857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</a:rPr>
                  <a:t>1</a:t>
                </a:r>
                <a:endParaRPr lang="en-US" altLang="zh-CN" sz="2400" dirty="0"/>
              </a:p>
            </p:txBody>
          </p:sp>
          <p:sp>
            <p:nvSpPr>
              <p:cNvPr id="28737" name="Rectangle 66"/>
              <p:cNvSpPr/>
              <p:nvPr/>
            </p:nvSpPr>
            <p:spPr>
              <a:xfrm>
                <a:off x="2679" y="857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</a:rPr>
                  <a:t>12</a:t>
                </a:r>
                <a:endParaRPr lang="en-US" altLang="zh-CN" sz="2400" dirty="0"/>
              </a:p>
            </p:txBody>
          </p:sp>
          <p:sp>
            <p:nvSpPr>
              <p:cNvPr id="28738" name="Rectangle 67"/>
              <p:cNvSpPr/>
              <p:nvPr/>
            </p:nvSpPr>
            <p:spPr>
              <a:xfrm>
                <a:off x="1995" y="857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11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39" name="Rectangle 68"/>
              <p:cNvSpPr/>
              <p:nvPr/>
            </p:nvSpPr>
            <p:spPr>
              <a:xfrm>
                <a:off x="1298" y="857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10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40" name="Rectangle 69"/>
              <p:cNvSpPr/>
              <p:nvPr/>
            </p:nvSpPr>
            <p:spPr>
              <a:xfrm>
                <a:off x="4065" y="480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</a:rPr>
                  <a:t>1</a:t>
                </a:r>
                <a:endParaRPr lang="en-US" altLang="zh-CN" sz="2400" dirty="0"/>
              </a:p>
            </p:txBody>
          </p:sp>
          <p:sp>
            <p:nvSpPr>
              <p:cNvPr id="28741" name="Rectangle 70"/>
              <p:cNvSpPr/>
              <p:nvPr/>
            </p:nvSpPr>
            <p:spPr>
              <a:xfrm>
                <a:off x="3796" y="480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</a:rPr>
                  <a:t>0</a:t>
                </a:r>
                <a:endParaRPr lang="en-US" altLang="zh-CN" sz="2400" dirty="0"/>
              </a:p>
            </p:txBody>
          </p:sp>
          <p:sp>
            <p:nvSpPr>
              <p:cNvPr id="28742" name="Rectangle 71"/>
              <p:cNvSpPr/>
              <p:nvPr/>
            </p:nvSpPr>
            <p:spPr>
              <a:xfrm>
                <a:off x="2686" y="480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</a:rPr>
                  <a:t>02</a:t>
                </a:r>
                <a:endParaRPr lang="en-US" altLang="zh-CN" sz="2400" dirty="0"/>
              </a:p>
            </p:txBody>
          </p:sp>
          <p:sp>
            <p:nvSpPr>
              <p:cNvPr id="28743" name="Rectangle 72"/>
              <p:cNvSpPr/>
              <p:nvPr/>
            </p:nvSpPr>
            <p:spPr>
              <a:xfrm>
                <a:off x="2003" y="480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rgbClr val="000000"/>
                    </a:solidFill>
                  </a:rPr>
                  <a:t>01</a:t>
                </a:r>
                <a:endParaRPr lang="en-US" altLang="zh-CN" sz="2400" dirty="0"/>
              </a:p>
            </p:txBody>
          </p:sp>
          <p:sp>
            <p:nvSpPr>
              <p:cNvPr id="28744" name="Rectangle 73"/>
              <p:cNvSpPr/>
              <p:nvPr/>
            </p:nvSpPr>
            <p:spPr>
              <a:xfrm>
                <a:off x="1305" y="480"/>
                <a:ext cx="184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dirty="0">
                    <a:solidFill>
                      <a:schemeClr val="bg1"/>
                    </a:solidFill>
                  </a:rPr>
                  <a:t>00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45" name="Rectangle 74"/>
              <p:cNvSpPr/>
              <p:nvPr/>
            </p:nvSpPr>
            <p:spPr>
              <a:xfrm>
                <a:off x="3973" y="1908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i="1" dirty="0">
                    <a:solidFill>
                      <a:schemeClr val="bg1"/>
                    </a:solidFill>
                  </a:rPr>
                  <a:t>n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46" name="Rectangle 75"/>
              <p:cNvSpPr/>
              <p:nvPr/>
            </p:nvSpPr>
            <p:spPr>
              <a:xfrm>
                <a:off x="3716" y="1908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i="1" dirty="0">
                    <a:solidFill>
                      <a:schemeClr val="bg1"/>
                    </a:solidFill>
                  </a:rPr>
                  <a:t>n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47" name="Rectangle 76"/>
              <p:cNvSpPr/>
              <p:nvPr/>
            </p:nvSpPr>
            <p:spPr>
              <a:xfrm>
                <a:off x="2601" y="1908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i="1" dirty="0">
                    <a:solidFill>
                      <a:schemeClr val="bg1"/>
                    </a:solidFill>
                  </a:rPr>
                  <a:t>n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48" name="Rectangle 77"/>
              <p:cNvSpPr/>
              <p:nvPr/>
            </p:nvSpPr>
            <p:spPr>
              <a:xfrm>
                <a:off x="1916" y="1908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i="1" dirty="0">
                    <a:solidFill>
                      <a:schemeClr val="bg1"/>
                    </a:solidFill>
                  </a:rPr>
                  <a:t>n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49" name="Rectangle 78"/>
              <p:cNvSpPr/>
              <p:nvPr/>
            </p:nvSpPr>
            <p:spPr>
              <a:xfrm>
                <a:off x="1220" y="1908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i="1" dirty="0">
                    <a:solidFill>
                      <a:schemeClr val="bg1"/>
                    </a:solidFill>
                  </a:rPr>
                  <a:t>n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50" name="Rectangle 79"/>
              <p:cNvSpPr/>
              <p:nvPr/>
            </p:nvSpPr>
            <p:spPr>
              <a:xfrm>
                <a:off x="3892" y="1236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i="1" dirty="0">
                    <a:solidFill>
                      <a:srgbClr val="000000"/>
                    </a:solidFill>
                  </a:rPr>
                  <a:t>n</a:t>
                </a:r>
                <a:endParaRPr lang="en-US" altLang="zh-CN" sz="2400" dirty="0"/>
              </a:p>
            </p:txBody>
          </p:sp>
          <p:sp>
            <p:nvSpPr>
              <p:cNvPr id="28751" name="Rectangle 80"/>
              <p:cNvSpPr/>
              <p:nvPr/>
            </p:nvSpPr>
            <p:spPr>
              <a:xfrm>
                <a:off x="3876" y="858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i="1" dirty="0">
                    <a:solidFill>
                      <a:srgbClr val="000000"/>
                    </a:solidFill>
                  </a:rPr>
                  <a:t>n</a:t>
                </a:r>
                <a:endParaRPr lang="en-US" altLang="zh-CN" sz="2400" dirty="0"/>
              </a:p>
            </p:txBody>
          </p:sp>
          <p:sp>
            <p:nvSpPr>
              <p:cNvPr id="28752" name="Rectangle 81"/>
              <p:cNvSpPr/>
              <p:nvPr/>
            </p:nvSpPr>
            <p:spPr>
              <a:xfrm>
                <a:off x="3890" y="481"/>
                <a:ext cx="92" cy="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300" i="1" dirty="0">
                    <a:solidFill>
                      <a:srgbClr val="000000"/>
                    </a:solidFill>
                  </a:rPr>
                  <a:t>n</a:t>
                </a:r>
                <a:endParaRPr lang="en-US" altLang="zh-CN" sz="2400" dirty="0"/>
              </a:p>
            </p:txBody>
          </p:sp>
          <p:sp>
            <p:nvSpPr>
              <p:cNvPr id="28753" name="Rectangle 82"/>
              <p:cNvSpPr/>
              <p:nvPr/>
            </p:nvSpPr>
            <p:spPr>
              <a:xfrm>
                <a:off x="3571" y="1710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54" name="Rectangle 83"/>
              <p:cNvSpPr/>
              <p:nvPr/>
            </p:nvSpPr>
            <p:spPr>
              <a:xfrm>
                <a:off x="2455" y="1710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55" name="Rectangle 84"/>
              <p:cNvSpPr/>
              <p:nvPr/>
            </p:nvSpPr>
            <p:spPr>
              <a:xfrm>
                <a:off x="1771" y="1710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56" name="Rectangle 85"/>
              <p:cNvSpPr/>
              <p:nvPr/>
            </p:nvSpPr>
            <p:spPr>
              <a:xfrm>
                <a:off x="1074" y="1710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57" name="Rectangle 86"/>
              <p:cNvSpPr/>
              <p:nvPr/>
            </p:nvSpPr>
            <p:spPr>
              <a:xfrm>
                <a:off x="3652" y="1038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8758" name="Rectangle 87"/>
              <p:cNvSpPr/>
              <p:nvPr/>
            </p:nvSpPr>
            <p:spPr>
              <a:xfrm>
                <a:off x="2542" y="1038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59" name="Rectangle 88"/>
              <p:cNvSpPr/>
              <p:nvPr/>
            </p:nvSpPr>
            <p:spPr>
              <a:xfrm>
                <a:off x="1859" y="1038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60" name="Rectangle 89"/>
              <p:cNvSpPr/>
              <p:nvPr/>
            </p:nvSpPr>
            <p:spPr>
              <a:xfrm>
                <a:off x="1161" y="1038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61" name="Rectangle 90"/>
              <p:cNvSpPr/>
              <p:nvPr/>
            </p:nvSpPr>
            <p:spPr>
              <a:xfrm>
                <a:off x="3668" y="660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8762" name="Rectangle 91"/>
              <p:cNvSpPr/>
              <p:nvPr/>
            </p:nvSpPr>
            <p:spPr>
              <a:xfrm>
                <a:off x="2552" y="660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8763" name="Rectangle 92"/>
              <p:cNvSpPr/>
              <p:nvPr/>
            </p:nvSpPr>
            <p:spPr>
              <a:xfrm>
                <a:off x="1868" y="660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64" name="Rectangle 93"/>
              <p:cNvSpPr/>
              <p:nvPr/>
            </p:nvSpPr>
            <p:spPr>
              <a:xfrm>
                <a:off x="1171" y="660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65" name="Rectangle 94"/>
              <p:cNvSpPr/>
              <p:nvPr/>
            </p:nvSpPr>
            <p:spPr>
              <a:xfrm>
                <a:off x="3654" y="283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8766" name="Rectangle 95"/>
              <p:cNvSpPr/>
              <p:nvPr/>
            </p:nvSpPr>
            <p:spPr>
              <a:xfrm>
                <a:off x="2544" y="283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8767" name="Rectangle 96"/>
              <p:cNvSpPr/>
              <p:nvPr/>
            </p:nvSpPr>
            <p:spPr>
              <a:xfrm>
                <a:off x="1860" y="283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28768" name="Rectangle 97"/>
              <p:cNvSpPr/>
              <p:nvPr/>
            </p:nvSpPr>
            <p:spPr>
              <a:xfrm>
                <a:off x="1163" y="283"/>
                <a:ext cx="1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69" name="Rectangle 98"/>
              <p:cNvSpPr/>
              <p:nvPr/>
            </p:nvSpPr>
            <p:spPr>
              <a:xfrm>
                <a:off x="3126" y="1740"/>
                <a:ext cx="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MT Extra" panose="05050102010205020202" pitchFamily="18" charset="2"/>
                  </a:rPr>
                  <a:t>L</a:t>
                </a:r>
                <a:endParaRPr lang="en-US" altLang="zh-CN" sz="2400" dirty="0"/>
              </a:p>
            </p:txBody>
          </p:sp>
          <p:sp>
            <p:nvSpPr>
              <p:cNvPr id="28770" name="Rectangle 99"/>
              <p:cNvSpPr/>
              <p:nvPr/>
            </p:nvSpPr>
            <p:spPr>
              <a:xfrm>
                <a:off x="3764" y="1445"/>
                <a:ext cx="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MT Extra" panose="05050102010205020202" pitchFamily="18" charset="2"/>
                  </a:rPr>
                  <a:t>L</a:t>
                </a:r>
                <a:endParaRPr lang="en-US" altLang="zh-CN" sz="2400" dirty="0"/>
              </a:p>
            </p:txBody>
          </p:sp>
          <p:sp>
            <p:nvSpPr>
              <p:cNvPr id="28771" name="Rectangle 100"/>
              <p:cNvSpPr/>
              <p:nvPr/>
            </p:nvSpPr>
            <p:spPr>
              <a:xfrm>
                <a:off x="3126" y="1445"/>
                <a:ext cx="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chemeClr val="bg1"/>
                    </a:solidFill>
                    <a:latin typeface="MT Extra" panose="05050102010205020202" pitchFamily="18" charset="2"/>
                  </a:rPr>
                  <a:t>L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72" name="Rectangle 101"/>
              <p:cNvSpPr/>
              <p:nvPr/>
            </p:nvSpPr>
            <p:spPr>
              <a:xfrm>
                <a:off x="2567" y="1445"/>
                <a:ext cx="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chemeClr val="bg1"/>
                    </a:solidFill>
                    <a:latin typeface="MT Extra" panose="05050102010205020202" pitchFamily="18" charset="2"/>
                  </a:rPr>
                  <a:t>L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73" name="Rectangle 102"/>
              <p:cNvSpPr/>
              <p:nvPr/>
            </p:nvSpPr>
            <p:spPr>
              <a:xfrm>
                <a:off x="1877" y="1445"/>
                <a:ext cx="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chemeClr val="bg1"/>
                    </a:solidFill>
                    <a:latin typeface="MT Extra" panose="05050102010205020202" pitchFamily="18" charset="2"/>
                  </a:rPr>
                  <a:t>L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74" name="Rectangle 103"/>
              <p:cNvSpPr/>
              <p:nvPr/>
            </p:nvSpPr>
            <p:spPr>
              <a:xfrm>
                <a:off x="1186" y="1445"/>
                <a:ext cx="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chemeClr val="bg1"/>
                    </a:solidFill>
                    <a:latin typeface="MT Extra" panose="05050102010205020202" pitchFamily="18" charset="2"/>
                  </a:rPr>
                  <a:t>L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775" name="Rectangle 104"/>
              <p:cNvSpPr/>
              <p:nvPr/>
            </p:nvSpPr>
            <p:spPr>
              <a:xfrm>
                <a:off x="3126" y="1068"/>
                <a:ext cx="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MT Extra" panose="05050102010205020202" pitchFamily="18" charset="2"/>
                  </a:rPr>
                  <a:t>L</a:t>
                </a:r>
                <a:endParaRPr lang="en-US" altLang="zh-CN" sz="2400" dirty="0"/>
              </a:p>
            </p:txBody>
          </p:sp>
          <p:sp>
            <p:nvSpPr>
              <p:cNvPr id="28776" name="Rectangle 105"/>
              <p:cNvSpPr/>
              <p:nvPr/>
            </p:nvSpPr>
            <p:spPr>
              <a:xfrm>
                <a:off x="3126" y="690"/>
                <a:ext cx="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MT Extra" panose="05050102010205020202" pitchFamily="18" charset="2"/>
                  </a:rPr>
                  <a:t>L</a:t>
                </a:r>
                <a:endParaRPr lang="en-US" altLang="zh-CN" sz="2400" dirty="0"/>
              </a:p>
            </p:txBody>
          </p:sp>
          <p:sp>
            <p:nvSpPr>
              <p:cNvPr id="28777" name="Rectangle 106"/>
              <p:cNvSpPr/>
              <p:nvPr/>
            </p:nvSpPr>
            <p:spPr>
              <a:xfrm>
                <a:off x="3126" y="313"/>
                <a:ext cx="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000" dirty="0">
                    <a:solidFill>
                      <a:srgbClr val="000000"/>
                    </a:solidFill>
                    <a:latin typeface="MT Extra" panose="05050102010205020202" pitchFamily="18" charset="2"/>
                  </a:rPr>
                  <a:t>L</a:t>
                </a:r>
                <a:endParaRPr lang="en-US" altLang="zh-CN" sz="2400" dirty="0"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457200" y="990600"/>
            <a:ext cx="8001000" cy="2114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  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若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 &lt; j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，数组元素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A[i][j]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在矩阵的上三角部分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在数组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中没有存放，可以找它的对称元素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A[j][i]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：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 j *(j +1) / 2 + i 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23" name="Text Box 9"/>
          <p:cNvSpPr txBox="1"/>
          <p:nvPr/>
        </p:nvSpPr>
        <p:spPr>
          <a:xfrm>
            <a:off x="7467600" y="519113"/>
            <a:ext cx="701675" cy="2528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4000" dirty="0">
                <a:solidFill>
                  <a:srgbClr val="0000CC"/>
                </a:solidFill>
                <a:ea typeface="隶书" panose="02010509060101010101" pitchFamily="49" charset="-122"/>
              </a:rPr>
              <a:t>上三角矩阵</a:t>
            </a:r>
            <a:endParaRPr lang="zh-CN" altLang="en-US" sz="2400" dirty="0"/>
          </a:p>
        </p:txBody>
      </p:sp>
      <p:sp>
        <p:nvSpPr>
          <p:cNvPr id="30724" name="Rectangle 10"/>
          <p:cNvSpPr/>
          <p:nvPr/>
        </p:nvSpPr>
        <p:spPr>
          <a:xfrm>
            <a:off x="1052513" y="3505200"/>
            <a:ext cx="6262687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0725" name="Text Box 11"/>
          <p:cNvSpPr txBox="1"/>
          <p:nvPr/>
        </p:nvSpPr>
        <p:spPr>
          <a:xfrm>
            <a:off x="609600" y="3459163"/>
            <a:ext cx="6831013" cy="579437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</a:rPr>
              <a:t>B</a:t>
            </a:r>
            <a:r>
              <a:rPr lang="en-US" altLang="zh-CN" b="1" i="1" dirty="0">
                <a:solidFill>
                  <a:srgbClr val="000099"/>
                </a:solidFill>
              </a:rPr>
              <a:t>  a</a:t>
            </a:r>
            <a:r>
              <a:rPr lang="en-US" altLang="zh-CN" b="1" baseline="-25000" dirty="0">
                <a:solidFill>
                  <a:srgbClr val="000099"/>
                </a:solidFill>
              </a:rPr>
              <a:t>00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01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02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03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11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12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13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22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23</a:t>
            </a:r>
            <a:r>
              <a:rPr lang="en-US" altLang="zh-CN" b="1" dirty="0">
                <a:solidFill>
                  <a:srgbClr val="000099"/>
                </a:solidFill>
              </a:rPr>
              <a:t>  </a:t>
            </a:r>
            <a:r>
              <a:rPr lang="en-US" altLang="zh-CN" b="1" i="1" dirty="0">
                <a:solidFill>
                  <a:srgbClr val="000099"/>
                </a:solidFill>
              </a:rPr>
              <a:t>a</a:t>
            </a:r>
            <a:r>
              <a:rPr lang="en-US" altLang="zh-CN" b="1" baseline="-25000" dirty="0">
                <a:solidFill>
                  <a:srgbClr val="000099"/>
                </a:solidFill>
              </a:rPr>
              <a:t>33</a:t>
            </a:r>
            <a:r>
              <a:rPr lang="en-US" altLang="zh-CN" b="1" dirty="0">
                <a:solidFill>
                  <a:srgbClr val="000099"/>
                </a:solidFill>
              </a:rPr>
              <a:t>  </a:t>
            </a:r>
            <a:endParaRPr lang="en-US" altLang="zh-CN" b="1" dirty="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30726" name="Line 12"/>
          <p:cNvSpPr/>
          <p:nvPr/>
        </p:nvSpPr>
        <p:spPr>
          <a:xfrm>
            <a:off x="16621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7" name="Line 13"/>
          <p:cNvSpPr/>
          <p:nvPr/>
        </p:nvSpPr>
        <p:spPr>
          <a:xfrm>
            <a:off x="22717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8" name="Line 14"/>
          <p:cNvSpPr/>
          <p:nvPr/>
        </p:nvSpPr>
        <p:spPr>
          <a:xfrm>
            <a:off x="28813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9" name="Line 15"/>
          <p:cNvSpPr/>
          <p:nvPr/>
        </p:nvSpPr>
        <p:spPr>
          <a:xfrm>
            <a:off x="34909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0" name="Line 16"/>
          <p:cNvSpPr/>
          <p:nvPr/>
        </p:nvSpPr>
        <p:spPr>
          <a:xfrm>
            <a:off x="41005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1" name="Line 17"/>
          <p:cNvSpPr/>
          <p:nvPr/>
        </p:nvSpPr>
        <p:spPr>
          <a:xfrm>
            <a:off x="47101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2" name="Line 18"/>
          <p:cNvSpPr/>
          <p:nvPr/>
        </p:nvSpPr>
        <p:spPr>
          <a:xfrm>
            <a:off x="53197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3" name="Line 19"/>
          <p:cNvSpPr/>
          <p:nvPr/>
        </p:nvSpPr>
        <p:spPr>
          <a:xfrm>
            <a:off x="59293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4" name="Line 20"/>
          <p:cNvSpPr/>
          <p:nvPr/>
        </p:nvSpPr>
        <p:spPr>
          <a:xfrm>
            <a:off x="65389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5" name="Line 21"/>
          <p:cNvSpPr/>
          <p:nvPr/>
        </p:nvSpPr>
        <p:spPr>
          <a:xfrm>
            <a:off x="7300913" y="3505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6" name="Text Box 22"/>
          <p:cNvSpPr txBox="1"/>
          <p:nvPr/>
        </p:nvSpPr>
        <p:spPr>
          <a:xfrm>
            <a:off x="1112838" y="3089275"/>
            <a:ext cx="5746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0     1      2      3      4      5      6      7      8      9</a:t>
            </a:r>
            <a:endParaRPr lang="en-US" altLang="zh-CN" sz="2400" dirty="0"/>
          </a:p>
        </p:txBody>
      </p:sp>
      <p:sp>
        <p:nvSpPr>
          <p:cNvPr id="30737" name="Text Box 23"/>
          <p:cNvSpPr txBox="1"/>
          <p:nvPr/>
        </p:nvSpPr>
        <p:spPr>
          <a:xfrm>
            <a:off x="609600" y="4416425"/>
            <a:ext cx="8153400" cy="1127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若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 </a:t>
            </a:r>
            <a:r>
              <a:rPr lang="en-US" altLang="zh-CN" b="1" dirty="0">
                <a:solidFill>
                  <a:srgbClr val="FF3300"/>
                </a:solidFill>
                <a:ea typeface="仿宋_GB2312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 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j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，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数组元素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A[</a:t>
            </a:r>
            <a:r>
              <a:rPr lang="en-US" altLang="zh-CN" b="1" i="1" dirty="0">
                <a:solidFill>
                  <a:srgbClr val="000099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][</a:t>
            </a:r>
            <a:r>
              <a:rPr lang="en-US" altLang="zh-CN" b="1" i="1" dirty="0">
                <a:solidFill>
                  <a:srgbClr val="000099"/>
                </a:solidFill>
                <a:ea typeface="仿宋_GB2312"/>
              </a:rPr>
              <a:t>j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]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在数组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中的存放位置为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	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 + (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FF330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1) + (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FF330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2) + </a:t>
            </a:r>
            <a:r>
              <a:rPr lang="en-US" altLang="zh-CN" b="1" dirty="0">
                <a:solidFill>
                  <a:srgbClr val="FF3300"/>
                </a:solidFill>
                <a:ea typeface="仿宋_GB2312"/>
                <a:sym typeface="Wingdings" panose="05000000000000000000" pitchFamily="2" charset="2"/>
              </a:rPr>
              <a:t>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 + (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FF330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+1) + 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j</a:t>
            </a:r>
            <a:r>
              <a:rPr lang="en-US" altLang="zh-CN" b="1" dirty="0">
                <a:solidFill>
                  <a:srgbClr val="FF330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i</a:t>
            </a:r>
            <a:endParaRPr lang="en-US" altLang="zh-CN" b="1" dirty="0">
              <a:ea typeface="仿宋_GB2312"/>
            </a:endParaRPr>
          </a:p>
        </p:txBody>
      </p:sp>
      <p:sp>
        <p:nvSpPr>
          <p:cNvPr id="30738" name="AutoShape 24"/>
          <p:cNvSpPr/>
          <p:nvPr/>
        </p:nvSpPr>
        <p:spPr>
          <a:xfrm rot="-5400000">
            <a:off x="4305300" y="2933700"/>
            <a:ext cx="76200" cy="5334000"/>
          </a:xfrm>
          <a:prstGeom prst="leftBrace">
            <a:avLst>
              <a:gd name="adj1" fmla="val 583333"/>
              <a:gd name="adj2" fmla="val 50000"/>
            </a:avLst>
          </a:prstGeom>
          <a:noFill/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000099"/>
              </a:solidFill>
            </a:endParaRPr>
          </a:p>
        </p:txBody>
      </p:sp>
      <p:sp>
        <p:nvSpPr>
          <p:cNvPr id="30739" name="Text Box 25"/>
          <p:cNvSpPr txBox="1"/>
          <p:nvPr/>
        </p:nvSpPr>
        <p:spPr>
          <a:xfrm>
            <a:off x="1128713" y="5638800"/>
            <a:ext cx="7923212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990099"/>
                </a:solidFill>
                <a:ea typeface="隶书" panose="02010509060101010101" pitchFamily="49" charset="-122"/>
              </a:rPr>
              <a:t>前</a:t>
            </a:r>
            <a:r>
              <a:rPr lang="en-US" altLang="zh-CN" b="1" i="1" dirty="0">
                <a:solidFill>
                  <a:srgbClr val="FF3300"/>
                </a:solidFill>
                <a:ea typeface="隶书" panose="02010509060101010101" pitchFamily="49" charset="-122"/>
              </a:rPr>
              <a:t>i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行元素总数  第</a:t>
            </a:r>
            <a:r>
              <a:rPr lang="en-US" altLang="zh-CN" b="1" i="1" dirty="0">
                <a:solidFill>
                  <a:srgbClr val="FF3300"/>
                </a:solidFill>
                <a:ea typeface="隶书" panose="02010509060101010101" pitchFamily="49" charset="-122"/>
              </a:rPr>
              <a:t>i</a:t>
            </a:r>
            <a:r>
              <a:rPr lang="zh-CN" altLang="en-US" dirty="0">
                <a:solidFill>
                  <a:srgbClr val="990099"/>
                </a:solidFill>
                <a:ea typeface="隶书" panose="02010509060101010101" pitchFamily="49" charset="-122"/>
              </a:rPr>
              <a:t>行第</a:t>
            </a:r>
            <a:r>
              <a:rPr lang="en-US" altLang="zh-CN" b="1" i="1" dirty="0">
                <a:solidFill>
                  <a:srgbClr val="FF3300"/>
                </a:solidFill>
                <a:ea typeface="隶书" panose="02010509060101010101" pitchFamily="49" charset="-122"/>
              </a:rPr>
              <a:t>j</a:t>
            </a:r>
            <a:r>
              <a:rPr lang="zh-CN" altLang="en-US" dirty="0">
                <a:solidFill>
                  <a:srgbClr val="990099"/>
                </a:solidFill>
                <a:ea typeface="隶书" panose="02010509060101010101" pitchFamily="49" charset="-122"/>
              </a:rPr>
              <a:t>个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元素前元素个数</a:t>
            </a:r>
            <a:endParaRPr lang="zh-CN" altLang="en-US" b="1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740" name="AutoShape 26"/>
          <p:cNvSpPr/>
          <p:nvPr/>
        </p:nvSpPr>
        <p:spPr>
          <a:xfrm rot="-5400000">
            <a:off x="7658100" y="5295900"/>
            <a:ext cx="76200" cy="609600"/>
          </a:xfrm>
          <a:prstGeom prst="leftBrace">
            <a:avLst>
              <a:gd name="adj1" fmla="val 66666"/>
              <a:gd name="adj2" fmla="val 50000"/>
            </a:avLst>
          </a:prstGeom>
          <a:noFill/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000099"/>
              </a:solidFill>
            </a:endParaRPr>
          </a:p>
        </p:txBody>
      </p:sp>
      <p:sp>
        <p:nvSpPr>
          <p:cNvPr id="30741" name="AutoShape 27"/>
          <p:cNvSpPr/>
          <p:nvPr/>
        </p:nvSpPr>
        <p:spPr>
          <a:xfrm>
            <a:off x="6105525" y="4038600"/>
            <a:ext cx="219075" cy="381000"/>
          </a:xfrm>
          <a:prstGeom prst="triangle">
            <a:avLst>
              <a:gd name="adj" fmla="val 50000"/>
            </a:avLst>
          </a:prstGeom>
          <a:solidFill>
            <a:schemeClr val="tx2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0742" name="Text Box 28"/>
          <p:cNvSpPr txBox="1"/>
          <p:nvPr/>
        </p:nvSpPr>
        <p:spPr>
          <a:xfrm>
            <a:off x="914400" y="2286000"/>
            <a:ext cx="11557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i="1" dirty="0"/>
              <a:t>n</a:t>
            </a:r>
            <a:r>
              <a:rPr lang="en-US" altLang="zh-CN" sz="3600" b="1" dirty="0"/>
              <a:t> = 4</a:t>
            </a:r>
            <a:endParaRPr lang="en-US" altLang="zh-CN" sz="2400" dirty="0"/>
          </a:p>
        </p:txBody>
      </p:sp>
      <p:sp>
        <p:nvSpPr>
          <p:cNvPr id="30743" name="Line 29"/>
          <p:cNvSpPr/>
          <p:nvPr/>
        </p:nvSpPr>
        <p:spPr>
          <a:xfrm>
            <a:off x="1042988" y="3500438"/>
            <a:ext cx="0" cy="5762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30744" name="Group 30"/>
          <p:cNvGrpSpPr/>
          <p:nvPr/>
        </p:nvGrpSpPr>
        <p:grpSpPr>
          <a:xfrm>
            <a:off x="1979613" y="476250"/>
            <a:ext cx="3962400" cy="2689225"/>
            <a:chOff x="1152" y="288"/>
            <a:chExt cx="2496" cy="1694"/>
          </a:xfrm>
        </p:grpSpPr>
        <p:sp>
          <p:nvSpPr>
            <p:cNvPr id="30745" name="Rectangle 31"/>
            <p:cNvSpPr/>
            <p:nvPr/>
          </p:nvSpPr>
          <p:spPr>
            <a:xfrm>
              <a:off x="1248" y="384"/>
              <a:ext cx="576" cy="38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0746" name="Rectangle 32"/>
            <p:cNvSpPr/>
            <p:nvPr/>
          </p:nvSpPr>
          <p:spPr>
            <a:xfrm>
              <a:off x="1824" y="384"/>
              <a:ext cx="576" cy="81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0747" name="Rectangle 33"/>
            <p:cNvSpPr/>
            <p:nvPr/>
          </p:nvSpPr>
          <p:spPr>
            <a:xfrm>
              <a:off x="2400" y="384"/>
              <a:ext cx="576" cy="1152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0748" name="Rectangle 34"/>
            <p:cNvSpPr/>
            <p:nvPr/>
          </p:nvSpPr>
          <p:spPr>
            <a:xfrm>
              <a:off x="2976" y="384"/>
              <a:ext cx="528" cy="14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grpSp>
          <p:nvGrpSpPr>
            <p:cNvPr id="30749" name="Group 35"/>
            <p:cNvGrpSpPr>
              <a:grpSpLocks noChangeAspect="1"/>
            </p:cNvGrpSpPr>
            <p:nvPr/>
          </p:nvGrpSpPr>
          <p:grpSpPr>
            <a:xfrm>
              <a:off x="1152" y="288"/>
              <a:ext cx="2496" cy="1694"/>
              <a:chOff x="1152" y="288"/>
              <a:chExt cx="2496" cy="1694"/>
            </a:xfrm>
          </p:grpSpPr>
          <p:sp>
            <p:nvSpPr>
              <p:cNvPr id="30750" name="AutoShape 36"/>
              <p:cNvSpPr>
                <a:spLocks noChangeAspect="1" noTextEdit="1"/>
              </p:cNvSpPr>
              <p:nvPr/>
            </p:nvSpPr>
            <p:spPr>
              <a:xfrm>
                <a:off x="1152" y="288"/>
                <a:ext cx="2496" cy="16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1" name="Rectangle 37"/>
              <p:cNvSpPr/>
              <p:nvPr/>
            </p:nvSpPr>
            <p:spPr>
              <a:xfrm>
                <a:off x="3467" y="1275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30752" name="Rectangle 38"/>
              <p:cNvSpPr/>
              <p:nvPr/>
            </p:nvSpPr>
            <p:spPr>
              <a:xfrm>
                <a:off x="3467" y="960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30753" name="Rectangle 39"/>
              <p:cNvSpPr/>
              <p:nvPr/>
            </p:nvSpPr>
            <p:spPr>
              <a:xfrm>
                <a:off x="3467" y="646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 sz="2400" dirty="0"/>
              </a:p>
            </p:txBody>
          </p:sp>
          <p:sp>
            <p:nvSpPr>
              <p:cNvPr id="30754" name="Rectangle 40"/>
              <p:cNvSpPr/>
              <p:nvPr/>
            </p:nvSpPr>
            <p:spPr>
              <a:xfrm>
                <a:off x="3467" y="1555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û</a:t>
                </a:r>
                <a:endParaRPr lang="en-US" altLang="zh-CN" sz="2400" dirty="0"/>
              </a:p>
            </p:txBody>
          </p:sp>
          <p:sp>
            <p:nvSpPr>
              <p:cNvPr id="30755" name="Rectangle 41"/>
              <p:cNvSpPr/>
              <p:nvPr/>
            </p:nvSpPr>
            <p:spPr>
              <a:xfrm>
                <a:off x="3467" y="332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ù</a:t>
                </a:r>
                <a:endParaRPr lang="en-US" altLang="zh-CN" sz="2400" dirty="0"/>
              </a:p>
            </p:txBody>
          </p:sp>
          <p:sp>
            <p:nvSpPr>
              <p:cNvPr id="30756" name="Rectangle 42"/>
              <p:cNvSpPr/>
              <p:nvPr/>
            </p:nvSpPr>
            <p:spPr>
              <a:xfrm>
                <a:off x="1205" y="1275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30757" name="Rectangle 43"/>
              <p:cNvSpPr/>
              <p:nvPr/>
            </p:nvSpPr>
            <p:spPr>
              <a:xfrm>
                <a:off x="1205" y="960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30758" name="Rectangle 44"/>
              <p:cNvSpPr/>
              <p:nvPr/>
            </p:nvSpPr>
            <p:spPr>
              <a:xfrm>
                <a:off x="1205" y="646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 sz="2400" dirty="0"/>
              </a:p>
            </p:txBody>
          </p:sp>
          <p:sp>
            <p:nvSpPr>
              <p:cNvPr id="30759" name="Rectangle 45"/>
              <p:cNvSpPr/>
              <p:nvPr/>
            </p:nvSpPr>
            <p:spPr>
              <a:xfrm>
                <a:off x="1205" y="1555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ë</a:t>
                </a:r>
                <a:endParaRPr lang="en-US" altLang="zh-CN" sz="2400" dirty="0"/>
              </a:p>
            </p:txBody>
          </p:sp>
          <p:sp>
            <p:nvSpPr>
              <p:cNvPr id="30760" name="Rectangle 46"/>
              <p:cNvSpPr/>
              <p:nvPr/>
            </p:nvSpPr>
            <p:spPr>
              <a:xfrm>
                <a:off x="1205" y="332"/>
                <a:ext cx="126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é</a:t>
                </a:r>
                <a:endParaRPr lang="en-US" altLang="zh-CN" sz="2400" dirty="0"/>
              </a:p>
            </p:txBody>
          </p:sp>
          <p:sp>
            <p:nvSpPr>
              <p:cNvPr id="30761" name="Rectangle 47"/>
              <p:cNvSpPr/>
              <p:nvPr/>
            </p:nvSpPr>
            <p:spPr>
              <a:xfrm>
                <a:off x="3243" y="170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33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62" name="Rectangle 48"/>
              <p:cNvSpPr/>
              <p:nvPr/>
            </p:nvSpPr>
            <p:spPr>
              <a:xfrm>
                <a:off x="2656" y="170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32</a:t>
                </a:r>
                <a:endParaRPr lang="en-US" altLang="zh-CN" sz="2400" dirty="0"/>
              </a:p>
            </p:txBody>
          </p:sp>
          <p:sp>
            <p:nvSpPr>
              <p:cNvPr id="30763" name="Rectangle 49"/>
              <p:cNvSpPr/>
              <p:nvPr/>
            </p:nvSpPr>
            <p:spPr>
              <a:xfrm>
                <a:off x="2082" y="170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31</a:t>
                </a:r>
                <a:endParaRPr lang="en-US" altLang="zh-CN" sz="2400" dirty="0"/>
              </a:p>
            </p:txBody>
          </p:sp>
          <p:sp>
            <p:nvSpPr>
              <p:cNvPr id="30764" name="Rectangle 50"/>
              <p:cNvSpPr/>
              <p:nvPr/>
            </p:nvSpPr>
            <p:spPr>
              <a:xfrm>
                <a:off x="1496" y="170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30</a:t>
                </a:r>
                <a:endParaRPr lang="en-US" altLang="zh-CN" sz="2400" dirty="0"/>
              </a:p>
            </p:txBody>
          </p:sp>
          <p:sp>
            <p:nvSpPr>
              <p:cNvPr id="30765" name="Rectangle 51"/>
              <p:cNvSpPr/>
              <p:nvPr/>
            </p:nvSpPr>
            <p:spPr>
              <a:xfrm>
                <a:off x="3246" y="1322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23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66" name="Rectangle 52"/>
              <p:cNvSpPr/>
              <p:nvPr/>
            </p:nvSpPr>
            <p:spPr>
              <a:xfrm>
                <a:off x="2659" y="1322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22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67" name="Rectangle 53"/>
              <p:cNvSpPr/>
              <p:nvPr/>
            </p:nvSpPr>
            <p:spPr>
              <a:xfrm>
                <a:off x="2086" y="1322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21</a:t>
                </a:r>
                <a:endParaRPr lang="en-US" altLang="zh-CN" sz="2400" dirty="0"/>
              </a:p>
            </p:txBody>
          </p:sp>
          <p:sp>
            <p:nvSpPr>
              <p:cNvPr id="30768" name="Rectangle 54"/>
              <p:cNvSpPr/>
              <p:nvPr/>
            </p:nvSpPr>
            <p:spPr>
              <a:xfrm>
                <a:off x="1498" y="1322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20</a:t>
                </a:r>
                <a:endParaRPr lang="en-US" altLang="zh-CN" sz="2400" dirty="0"/>
              </a:p>
            </p:txBody>
          </p:sp>
          <p:sp>
            <p:nvSpPr>
              <p:cNvPr id="30769" name="Rectangle 55"/>
              <p:cNvSpPr/>
              <p:nvPr/>
            </p:nvSpPr>
            <p:spPr>
              <a:xfrm>
                <a:off x="3236" y="935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13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70" name="Rectangle 56"/>
              <p:cNvSpPr/>
              <p:nvPr/>
            </p:nvSpPr>
            <p:spPr>
              <a:xfrm>
                <a:off x="2649" y="935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12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71" name="Rectangle 57"/>
              <p:cNvSpPr/>
              <p:nvPr/>
            </p:nvSpPr>
            <p:spPr>
              <a:xfrm>
                <a:off x="2075" y="935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11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72" name="Rectangle 58"/>
              <p:cNvSpPr/>
              <p:nvPr/>
            </p:nvSpPr>
            <p:spPr>
              <a:xfrm>
                <a:off x="1488" y="935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10</a:t>
                </a:r>
                <a:endParaRPr lang="en-US" altLang="zh-CN" sz="2400" dirty="0"/>
              </a:p>
            </p:txBody>
          </p:sp>
          <p:sp>
            <p:nvSpPr>
              <p:cNvPr id="30773" name="Rectangle 59"/>
              <p:cNvSpPr/>
              <p:nvPr/>
            </p:nvSpPr>
            <p:spPr>
              <a:xfrm>
                <a:off x="3245" y="54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03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74" name="Rectangle 60"/>
              <p:cNvSpPr/>
              <p:nvPr/>
            </p:nvSpPr>
            <p:spPr>
              <a:xfrm>
                <a:off x="2657" y="54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75" name="Rectangle 61"/>
              <p:cNvSpPr/>
              <p:nvPr/>
            </p:nvSpPr>
            <p:spPr>
              <a:xfrm>
                <a:off x="2084" y="54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01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76" name="Rectangle 62"/>
              <p:cNvSpPr/>
              <p:nvPr/>
            </p:nvSpPr>
            <p:spPr>
              <a:xfrm>
                <a:off x="1496" y="548"/>
                <a:ext cx="19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00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77" name="Rectangle 63"/>
              <p:cNvSpPr/>
              <p:nvPr/>
            </p:nvSpPr>
            <p:spPr>
              <a:xfrm>
                <a:off x="3085" y="150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78" name="Rectangle 64"/>
              <p:cNvSpPr/>
              <p:nvPr/>
            </p:nvSpPr>
            <p:spPr>
              <a:xfrm>
                <a:off x="2499" y="150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30779" name="Rectangle 65"/>
              <p:cNvSpPr/>
              <p:nvPr/>
            </p:nvSpPr>
            <p:spPr>
              <a:xfrm>
                <a:off x="1925" y="150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30780" name="Rectangle 66"/>
              <p:cNvSpPr/>
              <p:nvPr/>
            </p:nvSpPr>
            <p:spPr>
              <a:xfrm>
                <a:off x="1338" y="150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30781" name="Rectangle 67"/>
              <p:cNvSpPr/>
              <p:nvPr/>
            </p:nvSpPr>
            <p:spPr>
              <a:xfrm>
                <a:off x="3083" y="1120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82" name="Rectangle 68"/>
              <p:cNvSpPr/>
              <p:nvPr/>
            </p:nvSpPr>
            <p:spPr>
              <a:xfrm>
                <a:off x="2495" y="1120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83" name="Rectangle 69"/>
              <p:cNvSpPr/>
              <p:nvPr/>
            </p:nvSpPr>
            <p:spPr>
              <a:xfrm>
                <a:off x="1922" y="1120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30784" name="Rectangle 70"/>
              <p:cNvSpPr/>
              <p:nvPr/>
            </p:nvSpPr>
            <p:spPr>
              <a:xfrm>
                <a:off x="1335" y="1120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30785" name="Rectangle 71"/>
              <p:cNvSpPr/>
              <p:nvPr/>
            </p:nvSpPr>
            <p:spPr>
              <a:xfrm>
                <a:off x="3093" y="733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86" name="Rectangle 72"/>
              <p:cNvSpPr/>
              <p:nvPr/>
            </p:nvSpPr>
            <p:spPr>
              <a:xfrm>
                <a:off x="2506" y="733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87" name="Rectangle 73"/>
              <p:cNvSpPr/>
              <p:nvPr/>
            </p:nvSpPr>
            <p:spPr>
              <a:xfrm>
                <a:off x="1932" y="733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88" name="Rectangle 74"/>
              <p:cNvSpPr/>
              <p:nvPr/>
            </p:nvSpPr>
            <p:spPr>
              <a:xfrm>
                <a:off x="1345" y="733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rgbClr val="000000"/>
                    </a:solidFill>
                  </a:rPr>
                  <a:t>a</a:t>
                </a:r>
                <a:endParaRPr lang="en-US" altLang="zh-CN" sz="2400" dirty="0"/>
              </a:p>
            </p:txBody>
          </p:sp>
          <p:sp>
            <p:nvSpPr>
              <p:cNvPr id="30789" name="Rectangle 75"/>
              <p:cNvSpPr/>
              <p:nvPr/>
            </p:nvSpPr>
            <p:spPr>
              <a:xfrm>
                <a:off x="3085" y="34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90" name="Rectangle 76"/>
              <p:cNvSpPr/>
              <p:nvPr/>
            </p:nvSpPr>
            <p:spPr>
              <a:xfrm>
                <a:off x="2497" y="34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91" name="Rectangle 77"/>
              <p:cNvSpPr/>
              <p:nvPr/>
            </p:nvSpPr>
            <p:spPr>
              <a:xfrm>
                <a:off x="1924" y="34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92" name="Rectangle 78"/>
              <p:cNvSpPr/>
              <p:nvPr/>
            </p:nvSpPr>
            <p:spPr>
              <a:xfrm>
                <a:off x="1336" y="346"/>
                <a:ext cx="164" cy="3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4100" i="1" dirty="0">
                    <a:solidFill>
                      <a:schemeClr val="bg1"/>
                    </a:solidFill>
                  </a:rPr>
                  <a:t>a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747" name="Rectangle 4"/>
          <p:cNvSpPr/>
          <p:nvPr/>
        </p:nvSpPr>
        <p:spPr>
          <a:xfrm>
            <a:off x="762000" y="511175"/>
            <a:ext cx="7848600" cy="5262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    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 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 </a:t>
            </a:r>
            <a:r>
              <a:rPr lang="en-US" altLang="zh-CN" b="1" dirty="0">
                <a:solidFill>
                  <a:srgbClr val="FF3300"/>
                </a:solidFill>
                <a:ea typeface="仿宋_GB2312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 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j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，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数组元素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A[</a:t>
            </a:r>
            <a:r>
              <a:rPr lang="en-US" altLang="zh-CN" b="1" i="1" dirty="0">
                <a:solidFill>
                  <a:srgbClr val="000099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][</a:t>
            </a:r>
            <a:r>
              <a:rPr lang="en-US" altLang="zh-CN" b="1" i="1" dirty="0">
                <a:solidFill>
                  <a:srgbClr val="000099"/>
                </a:solidFill>
                <a:ea typeface="仿宋_GB2312"/>
              </a:rPr>
              <a:t>j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]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在数组</a:t>
            </a:r>
            <a:r>
              <a:rPr lang="en-US" altLang="zh-CN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中的存放位置为</a:t>
            </a:r>
            <a:endParaRPr lang="zh-CN" altLang="en-US" b="1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     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 + (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00808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1) + (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00808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2) + </a:t>
            </a:r>
            <a:r>
              <a:rPr lang="en-US" altLang="zh-CN" b="1" dirty="0">
                <a:solidFill>
                  <a:srgbClr val="008080"/>
                </a:solidFill>
                <a:ea typeface="仿宋_GB2312"/>
                <a:sym typeface="Wingdings" panose="05000000000000000000" pitchFamily="2" charset="2"/>
              </a:rPr>
              <a:t></a:t>
            </a: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 + (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00808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+1) + 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j</a:t>
            </a:r>
            <a:r>
              <a:rPr lang="en-US" altLang="zh-CN" b="1" dirty="0">
                <a:solidFill>
                  <a:srgbClr val="00808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 =</a:t>
            </a:r>
            <a:endParaRPr lang="en-US" altLang="zh-CN" b="1" dirty="0">
              <a:solidFill>
                <a:srgbClr val="008080"/>
              </a:solidFill>
              <a:ea typeface="仿宋_GB2312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  = (2*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00808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+1) * 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 / 2 + 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j</a:t>
            </a:r>
            <a:r>
              <a:rPr lang="en-US" altLang="zh-CN" b="1" dirty="0">
                <a:solidFill>
                  <a:srgbClr val="00808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i="1" dirty="0">
                <a:solidFill>
                  <a:srgbClr val="00808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 = </a:t>
            </a:r>
            <a:endParaRPr lang="en-US" altLang="zh-CN" b="1" dirty="0">
              <a:solidFill>
                <a:srgbClr val="008080"/>
              </a:solidFill>
              <a:ea typeface="仿宋_GB2312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8080"/>
                </a:solidFill>
                <a:ea typeface="仿宋_GB2312"/>
              </a:rPr>
              <a:t>  = 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(2*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FF330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FF330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1) * 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 / 2 + 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j</a:t>
            </a:r>
            <a:endParaRPr lang="en-US" altLang="zh-CN" b="1" i="1" dirty="0">
              <a:solidFill>
                <a:srgbClr val="FF3300"/>
              </a:solidFill>
              <a:ea typeface="仿宋_GB2312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    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 &gt; 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j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，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数组元素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A[i][j]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在矩阵的下三角部分，在数组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 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中没有存放。因此，找它的对称元素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A[</a:t>
            </a:r>
            <a:r>
              <a:rPr lang="en-US" altLang="zh-CN" b="1" i="1" dirty="0">
                <a:solidFill>
                  <a:srgbClr val="000099"/>
                </a:solidFill>
                <a:ea typeface="仿宋_GB2312"/>
              </a:rPr>
              <a:t>j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][</a:t>
            </a:r>
            <a:r>
              <a:rPr lang="en-US" altLang="zh-CN" b="1" i="1" dirty="0">
                <a:solidFill>
                  <a:srgbClr val="000099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]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。 </a:t>
            </a:r>
            <a:endParaRPr lang="zh-CN" altLang="en-US" b="1" dirty="0">
              <a:solidFill>
                <a:srgbClr val="000099"/>
              </a:solidFill>
              <a:ea typeface="仿宋_GB2312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    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A[</a:t>
            </a:r>
            <a:r>
              <a:rPr lang="en-US" altLang="zh-CN" b="1" i="1" dirty="0">
                <a:solidFill>
                  <a:srgbClr val="000099"/>
                </a:solidFill>
                <a:ea typeface="仿宋_GB2312"/>
              </a:rPr>
              <a:t>j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][</a:t>
            </a:r>
            <a:r>
              <a:rPr lang="en-US" altLang="zh-CN" b="1" i="1" dirty="0">
                <a:solidFill>
                  <a:srgbClr val="000099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]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在数组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 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B 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的第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 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(2*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n</a:t>
            </a:r>
            <a:r>
              <a:rPr lang="en-US" altLang="zh-CN" b="1" dirty="0">
                <a:solidFill>
                  <a:srgbClr val="FF330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j</a:t>
            </a:r>
            <a:r>
              <a:rPr lang="en-US" altLang="zh-CN" b="1" dirty="0">
                <a:solidFill>
                  <a:srgbClr val="FF330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1) * 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j</a:t>
            </a:r>
            <a:r>
              <a:rPr lang="en-US" altLang="zh-CN" b="1" dirty="0">
                <a:solidFill>
                  <a:srgbClr val="FF3300"/>
                </a:solidFill>
                <a:ea typeface="仿宋_GB2312"/>
              </a:rPr>
              <a:t> / 2 + </a:t>
            </a:r>
            <a:r>
              <a:rPr lang="en-US" altLang="zh-CN" b="1" i="1" dirty="0">
                <a:solidFill>
                  <a:srgbClr val="FF3300"/>
                </a:solidFill>
                <a:ea typeface="仿宋_GB2312"/>
              </a:rPr>
              <a:t>i</a:t>
            </a:r>
            <a:r>
              <a:rPr lang="en-US" altLang="zh-CN" b="1" dirty="0">
                <a:solidFill>
                  <a:srgbClr val="000099"/>
                </a:solidFill>
                <a:ea typeface="仿宋_GB2312"/>
              </a:rPr>
              <a:t> 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的位置中找到</a:t>
            </a:r>
            <a:r>
              <a:rPr lang="zh-CN" altLang="en-US" b="1" dirty="0">
                <a:solidFill>
                  <a:srgbClr val="000099"/>
                </a:solidFill>
                <a:ea typeface="仿宋_GB2312"/>
              </a:rPr>
              <a:t>。</a:t>
            </a:r>
            <a:endParaRPr lang="zh-CN" altLang="en-US" b="1" dirty="0">
              <a:solidFill>
                <a:srgbClr val="000099"/>
              </a:solidFill>
              <a:ea typeface="仿宋_GB231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771" name="Rectangle 4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三对角矩阵的压缩存储</a:t>
            </a:r>
            <a:endParaRPr lang="zh-CN" altLang="en-US" b="1" dirty="0"/>
          </a:p>
        </p:txBody>
      </p:sp>
      <p:graphicFrame>
        <p:nvGraphicFramePr>
          <p:cNvPr id="32772" name="Rectangle 5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0" imgH="0" progId="Equation.3">
                  <p:embed/>
                </p:oleObj>
              </mc:Choice>
              <mc:Fallback>
                <p:oleObj name="" r:id="rId1" imgW="0" imgH="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6"/>
          <p:cNvGraphicFramePr>
            <a:graphicFrameLocks noChangeAspect="1"/>
          </p:cNvGraphicFramePr>
          <p:nvPr/>
        </p:nvGraphicFramePr>
        <p:xfrm>
          <a:off x="1219200" y="1143000"/>
          <a:ext cx="65532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" imgW="2641600" imgH="1117600" progId="Equation.3">
                  <p:embed/>
                </p:oleObj>
              </mc:Choice>
              <mc:Fallback>
                <p:oleObj name="" r:id="rId2" imgW="2641600" imgH="1117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19200" y="1143000"/>
                        <a:ext cx="6553200" cy="358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Rectangle 7"/>
          <p:cNvSpPr/>
          <p:nvPr/>
        </p:nvSpPr>
        <p:spPr>
          <a:xfrm>
            <a:off x="1052513" y="5181600"/>
            <a:ext cx="7710487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2775" name="Text Box 8"/>
          <p:cNvSpPr txBox="1"/>
          <p:nvPr/>
        </p:nvSpPr>
        <p:spPr>
          <a:xfrm>
            <a:off x="609600" y="5135563"/>
            <a:ext cx="8383588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en-US" altLang="zh-CN" b="1" i="1" dirty="0">
                <a:solidFill>
                  <a:schemeClr val="bg1"/>
                </a:solidFill>
              </a:rPr>
              <a:t>  a</a:t>
            </a:r>
            <a:r>
              <a:rPr lang="en-US" altLang="zh-CN" b="1" baseline="-25000" dirty="0">
                <a:solidFill>
                  <a:schemeClr val="bg1"/>
                </a:solidFill>
              </a:rPr>
              <a:t>00  </a:t>
            </a:r>
            <a:r>
              <a:rPr lang="en-US" altLang="zh-CN" b="1" i="1" dirty="0">
                <a:solidFill>
                  <a:schemeClr val="bg1"/>
                </a:solidFill>
              </a:rPr>
              <a:t>a</a:t>
            </a:r>
            <a:r>
              <a:rPr lang="en-US" altLang="zh-CN" b="1" baseline="-25000" dirty="0">
                <a:solidFill>
                  <a:schemeClr val="bg1"/>
                </a:solidFill>
              </a:rPr>
              <a:t>01  </a:t>
            </a:r>
            <a:r>
              <a:rPr lang="en-US" altLang="zh-CN" b="1" i="1" dirty="0">
                <a:solidFill>
                  <a:schemeClr val="bg1"/>
                </a:solidFill>
              </a:rPr>
              <a:t>a</a:t>
            </a:r>
            <a:r>
              <a:rPr lang="en-US" altLang="zh-CN" b="1" baseline="-25000" dirty="0">
                <a:solidFill>
                  <a:schemeClr val="bg1"/>
                </a:solidFill>
              </a:rPr>
              <a:t>10  </a:t>
            </a:r>
            <a:r>
              <a:rPr lang="en-US" altLang="zh-CN" b="1" i="1" dirty="0">
                <a:solidFill>
                  <a:schemeClr val="bg1"/>
                </a:solidFill>
              </a:rPr>
              <a:t>a</a:t>
            </a:r>
            <a:r>
              <a:rPr lang="en-US" altLang="zh-CN" b="1" baseline="-25000" dirty="0">
                <a:solidFill>
                  <a:schemeClr val="bg1"/>
                </a:solidFill>
              </a:rPr>
              <a:t>11  </a:t>
            </a:r>
            <a:r>
              <a:rPr lang="en-US" altLang="zh-CN" b="1" i="1" dirty="0">
                <a:solidFill>
                  <a:schemeClr val="bg1"/>
                </a:solidFill>
              </a:rPr>
              <a:t>a</a:t>
            </a:r>
            <a:r>
              <a:rPr lang="en-US" altLang="zh-CN" b="1" baseline="-25000" dirty="0">
                <a:solidFill>
                  <a:schemeClr val="bg1"/>
                </a:solidFill>
              </a:rPr>
              <a:t>12  </a:t>
            </a:r>
            <a:r>
              <a:rPr lang="en-US" altLang="zh-CN" b="1" i="1" dirty="0">
                <a:solidFill>
                  <a:schemeClr val="bg1"/>
                </a:solidFill>
              </a:rPr>
              <a:t>a</a:t>
            </a:r>
            <a:r>
              <a:rPr lang="en-US" altLang="zh-CN" b="1" baseline="-25000" dirty="0">
                <a:solidFill>
                  <a:schemeClr val="bg1"/>
                </a:solidFill>
              </a:rPr>
              <a:t>21  </a:t>
            </a:r>
            <a:r>
              <a:rPr lang="en-US" altLang="zh-CN" b="1" i="1" dirty="0">
                <a:solidFill>
                  <a:schemeClr val="bg1"/>
                </a:solidFill>
              </a:rPr>
              <a:t>a</a:t>
            </a:r>
            <a:r>
              <a:rPr lang="en-US" altLang="zh-CN" b="1" baseline="-25000" dirty="0">
                <a:solidFill>
                  <a:schemeClr val="bg1"/>
                </a:solidFill>
              </a:rPr>
              <a:t>22  </a:t>
            </a:r>
            <a:r>
              <a:rPr lang="en-US" altLang="zh-CN" b="1" i="1" dirty="0">
                <a:solidFill>
                  <a:schemeClr val="bg1"/>
                </a:solidFill>
              </a:rPr>
              <a:t>a</a:t>
            </a:r>
            <a:r>
              <a:rPr lang="en-US" altLang="zh-CN" b="1" baseline="-25000" dirty="0">
                <a:solidFill>
                  <a:schemeClr val="bg1"/>
                </a:solidFill>
              </a:rPr>
              <a:t>23   </a:t>
            </a:r>
            <a:r>
              <a:rPr lang="en-US" altLang="zh-CN" b="1" i="1" dirty="0">
                <a:solidFill>
                  <a:schemeClr val="bg1"/>
                </a:solidFill>
              </a:rPr>
              <a:t>…</a:t>
            </a:r>
            <a:r>
              <a:rPr lang="en-US" altLang="zh-CN" b="1" dirty="0">
                <a:solidFill>
                  <a:schemeClr val="bg1"/>
                </a:solidFill>
              </a:rPr>
              <a:t>  </a:t>
            </a:r>
            <a:r>
              <a:rPr lang="en-US" altLang="zh-CN" b="1" i="1" dirty="0">
                <a:solidFill>
                  <a:schemeClr val="bg1"/>
                </a:solidFill>
              </a:rPr>
              <a:t>a</a:t>
            </a:r>
            <a:r>
              <a:rPr lang="en-US" altLang="zh-CN" b="1" i="1" baseline="-25000" dirty="0">
                <a:solidFill>
                  <a:schemeClr val="bg1"/>
                </a:solidFill>
              </a:rPr>
              <a:t>n</a:t>
            </a:r>
            <a:r>
              <a:rPr lang="en-US" altLang="zh-CN" b="1" baseline="-25000" dirty="0">
                <a:solidFill>
                  <a:schemeClr val="bg1"/>
                </a:solidFill>
              </a:rPr>
              <a:t>-1</a:t>
            </a:r>
            <a:r>
              <a:rPr lang="en-US" altLang="zh-CN" b="1" i="1" baseline="-25000" dirty="0">
                <a:solidFill>
                  <a:schemeClr val="bg1"/>
                </a:solidFill>
              </a:rPr>
              <a:t>n</a:t>
            </a:r>
            <a:r>
              <a:rPr lang="en-US" altLang="zh-CN" b="1" baseline="-25000" dirty="0">
                <a:solidFill>
                  <a:schemeClr val="bg1"/>
                </a:solidFill>
              </a:rPr>
              <a:t>-2  </a:t>
            </a:r>
            <a:r>
              <a:rPr lang="en-US" altLang="zh-CN" i="1" dirty="0">
                <a:solidFill>
                  <a:schemeClr val="bg1"/>
                </a:solidFill>
              </a:rPr>
              <a:t>a</a:t>
            </a:r>
            <a:r>
              <a:rPr lang="en-US" altLang="zh-CN" b="1" i="1" baseline="-25000" dirty="0">
                <a:solidFill>
                  <a:schemeClr val="bg1"/>
                </a:solidFill>
              </a:rPr>
              <a:t>n</a:t>
            </a:r>
            <a:r>
              <a:rPr lang="en-US" altLang="zh-CN" b="1" baseline="-25000" dirty="0">
                <a:solidFill>
                  <a:schemeClr val="bg1"/>
                </a:solidFill>
              </a:rPr>
              <a:t>-1</a:t>
            </a:r>
            <a:r>
              <a:rPr lang="en-US" altLang="zh-CN" b="1" i="1" baseline="-25000" dirty="0">
                <a:solidFill>
                  <a:schemeClr val="bg1"/>
                </a:solidFill>
              </a:rPr>
              <a:t>n</a:t>
            </a:r>
            <a:r>
              <a:rPr lang="en-US" altLang="zh-CN" b="1" baseline="-25000" dirty="0">
                <a:solidFill>
                  <a:schemeClr val="bg1"/>
                </a:solidFill>
              </a:rPr>
              <a:t>-1</a:t>
            </a:r>
            <a:r>
              <a:rPr lang="en-US" altLang="zh-CN" b="1" dirty="0">
                <a:solidFill>
                  <a:schemeClr val="bg1"/>
                </a:solidFill>
              </a:rPr>
              <a:t>  </a:t>
            </a:r>
            <a:endParaRPr lang="en-US" altLang="zh-CN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2776" name="Line 9"/>
          <p:cNvSpPr/>
          <p:nvPr/>
        </p:nvSpPr>
        <p:spPr>
          <a:xfrm>
            <a:off x="1662113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7" name="Line 10"/>
          <p:cNvSpPr/>
          <p:nvPr/>
        </p:nvSpPr>
        <p:spPr>
          <a:xfrm>
            <a:off x="2271713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8" name="Line 11"/>
          <p:cNvSpPr/>
          <p:nvPr/>
        </p:nvSpPr>
        <p:spPr>
          <a:xfrm>
            <a:off x="2881313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9" name="Line 12"/>
          <p:cNvSpPr/>
          <p:nvPr/>
        </p:nvSpPr>
        <p:spPr>
          <a:xfrm>
            <a:off x="3490913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0" name="Line 13"/>
          <p:cNvSpPr/>
          <p:nvPr/>
        </p:nvSpPr>
        <p:spPr>
          <a:xfrm>
            <a:off x="4100513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1" name="Line 14"/>
          <p:cNvSpPr/>
          <p:nvPr/>
        </p:nvSpPr>
        <p:spPr>
          <a:xfrm>
            <a:off x="4710113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2" name="Line 15"/>
          <p:cNvSpPr/>
          <p:nvPr/>
        </p:nvSpPr>
        <p:spPr>
          <a:xfrm>
            <a:off x="5319713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3" name="Line 16"/>
          <p:cNvSpPr/>
          <p:nvPr/>
        </p:nvSpPr>
        <p:spPr>
          <a:xfrm>
            <a:off x="5929313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4" name="Line 17"/>
          <p:cNvSpPr/>
          <p:nvPr/>
        </p:nvSpPr>
        <p:spPr>
          <a:xfrm>
            <a:off x="6538913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5" name="Text Box 18"/>
          <p:cNvSpPr txBox="1"/>
          <p:nvPr/>
        </p:nvSpPr>
        <p:spPr>
          <a:xfrm>
            <a:off x="1270000" y="4765675"/>
            <a:ext cx="7118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0     1      2      3      4      5      6      7      8       9             10</a:t>
            </a:r>
            <a:endParaRPr lang="en-US" altLang="zh-CN" sz="2400" dirty="0"/>
          </a:p>
        </p:txBody>
      </p:sp>
      <p:sp>
        <p:nvSpPr>
          <p:cNvPr id="32786" name="Line 19"/>
          <p:cNvSpPr/>
          <p:nvPr/>
        </p:nvSpPr>
        <p:spPr>
          <a:xfrm>
            <a:off x="7696200" y="5181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7" name="AutoShape 20"/>
          <p:cNvSpPr/>
          <p:nvPr/>
        </p:nvSpPr>
        <p:spPr>
          <a:xfrm rot="-5400000">
            <a:off x="1600200" y="5486400"/>
            <a:ext cx="152400" cy="1066800"/>
          </a:xfrm>
          <a:prstGeom prst="leftBrace">
            <a:avLst>
              <a:gd name="adj1" fmla="val 58333"/>
              <a:gd name="adj2" fmla="val 52528"/>
            </a:avLst>
          </a:prstGeom>
          <a:noFill/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000099"/>
              </a:solidFill>
            </a:endParaRPr>
          </a:p>
        </p:txBody>
      </p:sp>
      <p:sp>
        <p:nvSpPr>
          <p:cNvPr id="32788" name="AutoShape 21"/>
          <p:cNvSpPr/>
          <p:nvPr/>
        </p:nvSpPr>
        <p:spPr>
          <a:xfrm rot="-5400000">
            <a:off x="3124200" y="5181600"/>
            <a:ext cx="152400" cy="1676400"/>
          </a:xfrm>
          <a:prstGeom prst="leftBrace">
            <a:avLst>
              <a:gd name="adj1" fmla="val 91666"/>
              <a:gd name="adj2" fmla="val 52528"/>
            </a:avLst>
          </a:prstGeom>
          <a:noFill/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000099"/>
              </a:solidFill>
            </a:endParaRPr>
          </a:p>
        </p:txBody>
      </p:sp>
      <p:sp>
        <p:nvSpPr>
          <p:cNvPr id="32789" name="AutoShape 22"/>
          <p:cNvSpPr/>
          <p:nvPr/>
        </p:nvSpPr>
        <p:spPr>
          <a:xfrm rot="-5400000">
            <a:off x="4953000" y="5181600"/>
            <a:ext cx="152400" cy="1676400"/>
          </a:xfrm>
          <a:prstGeom prst="leftBrace">
            <a:avLst>
              <a:gd name="adj1" fmla="val 91666"/>
              <a:gd name="adj2" fmla="val 52528"/>
            </a:avLst>
          </a:prstGeom>
          <a:noFill/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000099"/>
              </a:solidFill>
            </a:endParaRPr>
          </a:p>
        </p:txBody>
      </p:sp>
      <p:sp>
        <p:nvSpPr>
          <p:cNvPr id="32790" name="AutoShape 23"/>
          <p:cNvSpPr/>
          <p:nvPr/>
        </p:nvSpPr>
        <p:spPr>
          <a:xfrm rot="-5400000">
            <a:off x="7581900" y="4991100"/>
            <a:ext cx="152400" cy="2057400"/>
          </a:xfrm>
          <a:prstGeom prst="leftBrace">
            <a:avLst>
              <a:gd name="adj1" fmla="val 112500"/>
              <a:gd name="adj2" fmla="val 52528"/>
            </a:avLst>
          </a:prstGeom>
          <a:noFill/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5" name="Rectangle 4"/>
          <p:cNvSpPr>
            <a:spLocks noGrp="1"/>
          </p:cNvSpPr>
          <p:nvPr>
            <p:ph idx="1"/>
          </p:nvPr>
        </p:nvSpPr>
        <p:spPr>
          <a:xfrm>
            <a:off x="539750" y="333375"/>
            <a:ext cx="8064500" cy="590391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三对角矩阵中除主对角线及在主对角线上 下最临近的两条对角线上的元素外，所有其它元素均为</a:t>
            </a:r>
            <a:r>
              <a:rPr lang="en-US" altLang="zh-CN" b="1" dirty="0"/>
              <a:t>0</a:t>
            </a:r>
            <a:r>
              <a:rPr lang="zh-CN" altLang="en-US" b="1" dirty="0"/>
              <a:t>。总共有</a:t>
            </a:r>
            <a:r>
              <a:rPr lang="en-US" altLang="zh-CN" b="1" dirty="0">
                <a:solidFill>
                  <a:srgbClr val="FF0000"/>
                </a:solidFill>
              </a:rPr>
              <a:t>3n-2</a:t>
            </a:r>
            <a:r>
              <a:rPr lang="zh-CN" altLang="en-US" b="1" dirty="0"/>
              <a:t>个非零元素。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将三对角矩阵</a:t>
            </a:r>
            <a:r>
              <a:rPr lang="en-US" altLang="zh-CN" b="1" dirty="0"/>
              <a:t>A</a:t>
            </a:r>
            <a:r>
              <a:rPr lang="zh-CN" altLang="en-US" b="1" dirty="0"/>
              <a:t>中三条对角线上的元素</a:t>
            </a:r>
            <a:r>
              <a:rPr lang="zh-CN" altLang="en-US" b="1" dirty="0">
                <a:highlight>
                  <a:srgbClr val="FFFF00"/>
                </a:highlight>
              </a:rPr>
              <a:t>按行存放在一维数组 </a:t>
            </a:r>
            <a:r>
              <a:rPr lang="en-US" altLang="zh-CN" b="1" dirty="0">
                <a:highlight>
                  <a:srgbClr val="FFFF00"/>
                </a:highlight>
              </a:rPr>
              <a:t>B </a:t>
            </a:r>
            <a:r>
              <a:rPr lang="zh-CN" altLang="en-US" b="1" dirty="0">
                <a:highlight>
                  <a:srgbClr val="FFFF00"/>
                </a:highlight>
              </a:rPr>
              <a:t>中，且</a:t>
            </a:r>
            <a:r>
              <a:rPr lang="en-US" altLang="zh-CN" b="1" dirty="0">
                <a:highlight>
                  <a:srgbClr val="FFFF00"/>
                </a:highlight>
              </a:rPr>
              <a:t>a</a:t>
            </a:r>
            <a:r>
              <a:rPr lang="en-US" altLang="zh-CN" b="1" baseline="-25000" dirty="0">
                <a:highlight>
                  <a:srgbClr val="FFFF00"/>
                </a:highlight>
              </a:rPr>
              <a:t>00</a:t>
            </a:r>
            <a:r>
              <a:rPr lang="zh-CN" altLang="en-US" b="1" dirty="0">
                <a:highlight>
                  <a:srgbClr val="FFFF00"/>
                </a:highlight>
              </a:rPr>
              <a:t>存放于</a:t>
            </a:r>
            <a:r>
              <a:rPr lang="en-US" altLang="zh-CN" b="1" dirty="0">
                <a:highlight>
                  <a:srgbClr val="FFFF00"/>
                </a:highlight>
              </a:rPr>
              <a:t>B[0]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在三条对角线上的元素</a:t>
            </a:r>
            <a:r>
              <a:rPr lang="en-US" altLang="zh-CN" b="1" dirty="0"/>
              <a:t>a</a:t>
            </a:r>
            <a:r>
              <a:rPr lang="en-US" altLang="zh-CN" b="1" baseline="-25000" dirty="0"/>
              <a:t>ij</a:t>
            </a:r>
            <a:r>
              <a:rPr lang="en-US" altLang="zh-CN" b="1" dirty="0"/>
              <a:t> </a:t>
            </a:r>
            <a:r>
              <a:rPr lang="zh-CN" altLang="zh-CN" b="1" dirty="0"/>
              <a:t>满足 </a:t>
            </a:r>
            <a:endParaRPr lang="zh-CN" altLang="zh-CN" b="1" dirty="0"/>
          </a:p>
          <a:p>
            <a:pPr eaLnBrk="1" hangingPunct="1"/>
            <a:r>
              <a:rPr lang="zh-CN" altLang="zh-CN" b="1" dirty="0"/>
              <a:t>               0 </a:t>
            </a:r>
            <a:r>
              <a:rPr lang="en-US" altLang="zh-CN" b="1" dirty="0">
                <a:sym typeface="Symbol" panose="05050102010706020507" pitchFamily="18" charset="2"/>
              </a:rPr>
              <a:t></a:t>
            </a:r>
            <a:r>
              <a:rPr lang="en-US" altLang="zh-CN" b="1" dirty="0"/>
              <a:t> i </a:t>
            </a:r>
            <a:r>
              <a:rPr lang="en-US" altLang="zh-CN" b="1" dirty="0">
                <a:sym typeface="Symbol" panose="05050102010706020507" pitchFamily="18" charset="2"/>
              </a:rPr>
              <a:t></a:t>
            </a:r>
            <a:r>
              <a:rPr lang="en-US" altLang="zh-CN" b="1" dirty="0"/>
              <a:t> n-1, i-1 </a:t>
            </a:r>
            <a:r>
              <a:rPr lang="en-US" altLang="zh-CN" b="1" dirty="0">
                <a:sym typeface="Symbol" panose="05050102010706020507" pitchFamily="18" charset="2"/>
              </a:rPr>
              <a:t></a:t>
            </a:r>
            <a:r>
              <a:rPr lang="en-US" altLang="zh-CN" b="1" dirty="0"/>
              <a:t> j </a:t>
            </a:r>
            <a:r>
              <a:rPr lang="en-US" altLang="zh-CN" b="1" dirty="0">
                <a:sym typeface="Symbol" panose="05050102010706020507" pitchFamily="18" charset="2"/>
              </a:rPr>
              <a:t></a:t>
            </a:r>
            <a:r>
              <a:rPr lang="en-US" altLang="zh-CN" b="1" dirty="0"/>
              <a:t> i+1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在一维数组 </a:t>
            </a:r>
            <a:r>
              <a:rPr lang="en-US" altLang="zh-CN" b="1" dirty="0"/>
              <a:t>B </a:t>
            </a:r>
            <a:r>
              <a:rPr lang="zh-CN" altLang="en-US" b="1" dirty="0"/>
              <a:t>中 </a:t>
            </a:r>
            <a:r>
              <a:rPr lang="en-US" altLang="zh-CN" b="1" dirty="0"/>
              <a:t>A[i][j] </a:t>
            </a:r>
            <a:r>
              <a:rPr lang="zh-CN" altLang="en-US" b="1" dirty="0"/>
              <a:t>在第 </a:t>
            </a:r>
            <a:r>
              <a:rPr lang="en-US" altLang="zh-CN" b="1" dirty="0"/>
              <a:t>i </a:t>
            </a:r>
            <a:r>
              <a:rPr lang="zh-CN" altLang="en-US" b="1" dirty="0"/>
              <a:t>行，它前面有 </a:t>
            </a:r>
            <a:r>
              <a:rPr lang="en-US" altLang="zh-CN" b="1" dirty="0"/>
              <a:t>3*i-1 </a:t>
            </a:r>
            <a:r>
              <a:rPr lang="zh-CN" altLang="en-US" b="1" dirty="0"/>
              <a:t>个非零元素</a:t>
            </a:r>
            <a:r>
              <a:rPr lang="en-US" altLang="zh-CN" b="1" dirty="0"/>
              <a:t>, </a:t>
            </a:r>
            <a:r>
              <a:rPr lang="zh-CN" altLang="en-US" b="1" dirty="0"/>
              <a:t>在本行中第 </a:t>
            </a:r>
            <a:r>
              <a:rPr lang="en-US" altLang="zh-CN" b="1" dirty="0"/>
              <a:t>j </a:t>
            </a:r>
            <a:r>
              <a:rPr lang="zh-CN" altLang="en-US" b="1" dirty="0"/>
              <a:t>列前面有 </a:t>
            </a:r>
            <a:r>
              <a:rPr lang="en-US" altLang="zh-CN" b="1" dirty="0"/>
              <a:t>j-i+1 </a:t>
            </a:r>
            <a:r>
              <a:rPr lang="zh-CN" altLang="en-US" b="1" dirty="0"/>
              <a:t>个，所以元素 </a:t>
            </a:r>
            <a:r>
              <a:rPr lang="en-US" altLang="zh-CN" b="1" dirty="0"/>
              <a:t>A[i][j] </a:t>
            </a:r>
            <a:r>
              <a:rPr lang="zh-CN" altLang="en-US" b="1" dirty="0"/>
              <a:t>在 </a:t>
            </a:r>
            <a:r>
              <a:rPr lang="en-US" altLang="zh-CN" b="1" dirty="0"/>
              <a:t>B </a:t>
            </a:r>
            <a:r>
              <a:rPr lang="zh-CN" altLang="en-US" b="1" dirty="0"/>
              <a:t>中位置为 </a:t>
            </a:r>
            <a:r>
              <a:rPr lang="en-US" altLang="zh-CN" b="1" dirty="0"/>
              <a:t>k = 2*i + j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675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59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8675">
                                            <p:txEl>
                                              <p:charRg st="59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03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675">
                                            <p:txEl>
                                              <p:charRg st="103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21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8675">
                                            <p:txEl>
                                              <p:charRg st="121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163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8675">
                                            <p:txEl>
                                              <p:charRg st="163" end="2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xfrm>
            <a:off x="236538" y="381000"/>
            <a:ext cx="4191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latin typeface="宋体" panose="02010600030101010101" pitchFamily="2" charset="-122"/>
              </a:rPr>
              <a:t>一、</a:t>
            </a:r>
            <a:r>
              <a:rPr lang="zh-CN" altLang="en-US" sz="2800" b="1" dirty="0">
                <a:solidFill>
                  <a:schemeClr val="hlink"/>
                </a:solidFill>
                <a:latin typeface="宋体" panose="02010600030101010101" pitchFamily="2" charset="-122"/>
              </a:rPr>
              <a:t>稀疏矩阵的压缩存储</a:t>
            </a:r>
            <a:endParaRPr lang="zh-CN" altLang="en-US" sz="28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55299" name="Rectangle 3"/>
          <p:cNvSpPr/>
          <p:nvPr/>
        </p:nvSpPr>
        <p:spPr>
          <a:xfrm>
            <a:off x="304800" y="1447800"/>
            <a:ext cx="8213725" cy="419258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问题：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/>
              </a:rPr>
              <a:t>如果只存储</a:t>
            </a:r>
            <a:r>
              <a:rPr lang="zh-CN" altLang="en-US" sz="2800" b="1" dirty="0">
                <a:latin typeface="楷体_GB2312"/>
                <a:ea typeface="楷体_GB2312"/>
              </a:rPr>
              <a:t>稀疏矩阵中的非零元素，那这些元素的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位置信息</a:t>
            </a:r>
            <a:r>
              <a:rPr lang="zh-CN" altLang="en-US" sz="2800" b="1" dirty="0">
                <a:latin typeface="楷体_GB2312"/>
                <a:ea typeface="楷体_GB2312"/>
              </a:rPr>
              <a:t>该如何表示？</a:t>
            </a:r>
            <a:endParaRPr lang="zh-CN" altLang="en-US" sz="2800" b="1" dirty="0">
              <a:ea typeface="楷体_GB2312"/>
            </a:endParaRP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解决思路：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楷体_GB2312"/>
              </a:rPr>
              <a:t>对每个非零元素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增开</a:t>
            </a:r>
            <a:r>
              <a:rPr lang="zh-CN" altLang="en-US" sz="2800" b="1" dirty="0">
                <a:ea typeface="楷体_GB2312"/>
              </a:rPr>
              <a:t>若干存储单元，例如存放其所在的行号和列号，便可准确反映该元素所在位置。</a:t>
            </a:r>
            <a:endParaRPr lang="zh-CN" altLang="en-US" sz="2800" b="1" dirty="0">
              <a:ea typeface="楷体_GB2312"/>
            </a:endParaRPr>
          </a:p>
          <a:p>
            <a:pPr marL="0" lvl="0" indent="0" eaLnBrk="1" hangingPunct="1">
              <a:spcBef>
                <a:spcPct val="3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实现方法：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将每个非零元素用一个三元组</a:t>
            </a:r>
            <a:r>
              <a:rPr lang="zh-CN" altLang="en-US" sz="2800" b="1" dirty="0">
                <a:ea typeface="楷体_GB231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i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，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j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，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a</a:t>
            </a:r>
            <a:r>
              <a:rPr lang="en-US" altLang="zh-CN" sz="2800" b="1" baseline="-25000" dirty="0">
                <a:solidFill>
                  <a:schemeClr val="accent1"/>
                </a:solidFill>
                <a:ea typeface="楷体_GB2312"/>
              </a:rPr>
              <a:t>ij</a:t>
            </a:r>
            <a:r>
              <a:rPr lang="zh-CN" altLang="en-US" sz="2800" b="1" dirty="0">
                <a:ea typeface="楷体_GB2312"/>
              </a:rPr>
              <a:t>）来表示，则每个</a:t>
            </a:r>
            <a:r>
              <a:rPr lang="zh-CN" altLang="en-US" sz="2800" b="1" dirty="0">
                <a:latin typeface="楷体_GB2312"/>
                <a:ea typeface="楷体_GB2312"/>
              </a:rPr>
              <a:t>稀疏矩阵可用一个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三元组表</a:t>
            </a:r>
            <a:r>
              <a:rPr lang="zh-CN" altLang="en-US" sz="2800" b="1" dirty="0">
                <a:latin typeface="楷体_GB2312"/>
                <a:ea typeface="楷体_GB2312"/>
              </a:rPr>
              <a:t>来表示。</a:t>
            </a:r>
            <a:endParaRPr lang="zh-CN" altLang="en-US" sz="2800" b="1" dirty="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55300" name="Rectangle 4"/>
          <p:cNvSpPr/>
          <p:nvPr/>
        </p:nvSpPr>
        <p:spPr>
          <a:xfrm>
            <a:off x="4800600" y="457200"/>
            <a:ext cx="3657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二、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hlinkClick r:id="rId1" action="ppaction://hlinksldjump"/>
              </a:rPr>
              <a:t>稀疏矩阵的操作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55301" name="AutoShape 5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5302" name="AutoShape 6"/>
          <p:cNvSpPr/>
          <p:nvPr/>
        </p:nvSpPr>
        <p:spPr>
          <a:xfrm>
            <a:off x="1981200" y="914400"/>
            <a:ext cx="8382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4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3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43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88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94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  <p:bldP spid="55299" grpId="0" build="p"/>
      <p:bldP spid="55300" grpId="0"/>
      <p:bldP spid="55301" grpId="0" animBg="1"/>
      <p:bldP spid="5530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22098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/>
              <a:t>例</a:t>
            </a:r>
            <a:r>
              <a:rPr lang="en-US" altLang="zh-CN" sz="2800" b="1" dirty="0"/>
              <a:t>1 </a:t>
            </a:r>
            <a:r>
              <a:rPr lang="zh-CN" altLang="en-US" sz="2800" b="1" dirty="0"/>
              <a:t>：</a:t>
            </a:r>
            <a:endParaRPr lang="zh-CN" altLang="en-US" sz="2800" b="1" dirty="0"/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381000" y="457200"/>
            <a:ext cx="8229600" cy="1447800"/>
          </a:xfrm>
          <a:ln/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800" b="1" dirty="0"/>
              <a:t>             </a:t>
            </a:r>
            <a:r>
              <a:rPr lang="zh-CN" altLang="en-US" sz="2800" b="1" dirty="0"/>
              <a:t>三元素组表中的每个结点对应于稀疏矩阵的一个非零元素，它包含有三个数据项，分别表示该元素的</a:t>
            </a:r>
            <a:r>
              <a:rPr lang="zh-CN" altLang="en-US" sz="2800" b="1" u="sng" dirty="0"/>
              <a:t>                </a:t>
            </a:r>
            <a:r>
              <a:rPr lang="zh-CN" altLang="en-US" sz="2800" b="1" dirty="0"/>
              <a:t>、</a:t>
            </a:r>
            <a:r>
              <a:rPr lang="zh-CN" altLang="en-US" sz="2800" b="1" u="sng" dirty="0"/>
              <a:t>                 </a:t>
            </a:r>
            <a:r>
              <a:rPr lang="zh-CN" altLang="en-US" sz="2800" b="1" dirty="0"/>
              <a:t>和</a:t>
            </a:r>
            <a:r>
              <a:rPr lang="zh-CN" altLang="en-US" sz="2800" b="1" u="sng" dirty="0"/>
              <a:t>                      </a:t>
            </a:r>
            <a:r>
              <a:rPr lang="zh-CN" altLang="en-US" sz="2800" b="1" dirty="0"/>
              <a:t>。 </a:t>
            </a:r>
            <a:endParaRPr lang="zh-CN" altLang="en-US" sz="2800" b="1" dirty="0"/>
          </a:p>
        </p:txBody>
      </p:sp>
      <p:sp>
        <p:nvSpPr>
          <p:cNvPr id="56324" name="Rectangle 4"/>
          <p:cNvSpPr/>
          <p:nvPr/>
        </p:nvSpPr>
        <p:spPr>
          <a:xfrm>
            <a:off x="1600200" y="1295400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行下标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56325" name="Rectangle 5"/>
          <p:cNvSpPr/>
          <p:nvPr/>
        </p:nvSpPr>
        <p:spPr>
          <a:xfrm>
            <a:off x="3505200" y="1295400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列下标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56326" name="Rectangle 6"/>
          <p:cNvSpPr/>
          <p:nvPr/>
        </p:nvSpPr>
        <p:spPr>
          <a:xfrm>
            <a:off x="5486400" y="12954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元素值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56327" name="Rectangle 7"/>
          <p:cNvSpPr/>
          <p:nvPr/>
        </p:nvSpPr>
        <p:spPr>
          <a:xfrm>
            <a:off x="533400" y="2286000"/>
            <a:ext cx="4114800" cy="9461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/>
              <a:t>写出右图所示稀疏矩阵的压缩存储形式。</a:t>
            </a:r>
            <a:endParaRPr lang="zh-CN" altLang="en-US" sz="2800" b="1" dirty="0"/>
          </a:p>
        </p:txBody>
      </p:sp>
      <p:grpSp>
        <p:nvGrpSpPr>
          <p:cNvPr id="2" name="Group 8"/>
          <p:cNvGrpSpPr/>
          <p:nvPr/>
        </p:nvGrpSpPr>
        <p:grpSpPr>
          <a:xfrm>
            <a:off x="5257800" y="2209800"/>
            <a:ext cx="3124200" cy="2362200"/>
            <a:chOff x="1536" y="480"/>
            <a:chExt cx="2304" cy="2160"/>
          </a:xfrm>
        </p:grpSpPr>
        <p:sp>
          <p:nvSpPr>
            <p:cNvPr id="35862" name="AutoShape 9"/>
            <p:cNvSpPr/>
            <p:nvPr/>
          </p:nvSpPr>
          <p:spPr>
            <a:xfrm>
              <a:off x="1536" y="480"/>
              <a:ext cx="48" cy="2160"/>
            </a:xfrm>
            <a:prstGeom prst="lef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5863" name="AutoShape 10"/>
            <p:cNvSpPr/>
            <p:nvPr/>
          </p:nvSpPr>
          <p:spPr>
            <a:xfrm>
              <a:off x="3792" y="480"/>
              <a:ext cx="48" cy="2160"/>
            </a:xfrm>
            <a:prstGeom prst="righ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5864" name="Rectangle 11"/>
            <p:cNvSpPr/>
            <p:nvPr/>
          </p:nvSpPr>
          <p:spPr>
            <a:xfrm>
              <a:off x="1656" y="480"/>
              <a:ext cx="2040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12    9    0    0    0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35865" name="Rectangle 12"/>
            <p:cNvSpPr/>
            <p:nvPr/>
          </p:nvSpPr>
          <p:spPr>
            <a:xfrm>
              <a:off x="1680" y="864"/>
              <a:ext cx="2016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ea typeface="黑体" panose="02010609060101010101" pitchFamily="49" charset="-122"/>
                </a:rPr>
                <a:t>     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0     0    0    0    0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35866" name="Rectangle 13"/>
            <p:cNvSpPr/>
            <p:nvPr/>
          </p:nvSpPr>
          <p:spPr>
            <a:xfrm>
              <a:off x="1656" y="1248"/>
              <a:ext cx="199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  -3    0     0    0   14   0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35867" name="Rectangle 14"/>
            <p:cNvSpPr/>
            <p:nvPr/>
          </p:nvSpPr>
          <p:spPr>
            <a:xfrm>
              <a:off x="1680" y="163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 0    24    0    0    0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35868" name="Rectangle 15"/>
            <p:cNvSpPr/>
            <p:nvPr/>
          </p:nvSpPr>
          <p:spPr>
            <a:xfrm>
              <a:off x="1680" y="2016"/>
              <a:ext cx="211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18    0    0    0    0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35869" name="Rectangle 16"/>
            <p:cNvSpPr/>
            <p:nvPr/>
          </p:nvSpPr>
          <p:spPr>
            <a:xfrm>
              <a:off x="1680" y="235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15</a:t>
              </a:r>
              <a:r>
                <a:rPr lang="en-US" altLang="zh-CN" sz="24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0    0    -7    0 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56337" name="AutoShape 17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6338" name="Text Box 18"/>
          <p:cNvSpPr txBox="1"/>
          <p:nvPr/>
        </p:nvSpPr>
        <p:spPr>
          <a:xfrm>
            <a:off x="381000" y="4724400"/>
            <a:ext cx="8077200" cy="1031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(</a:t>
            </a:r>
            <a:r>
              <a:rPr lang="en-US" altLang="zh-CN" sz="2800" b="1" dirty="0">
                <a:latin typeface="楷体_GB2312"/>
                <a:ea typeface="楷体_GB2312"/>
              </a:rPr>
              <a:t>( 1,2,12)</a:t>
            </a:r>
            <a:r>
              <a:rPr lang="en-US" altLang="zh-CN" sz="2800" b="1" dirty="0">
                <a:latin typeface="楷体_GB2312"/>
                <a:ea typeface="楷体_GB2312"/>
                <a:sym typeface="Wingdings" panose="05000000000000000000" pitchFamily="2" charset="2"/>
              </a:rPr>
              <a:t> </a:t>
            </a:r>
            <a:r>
              <a:rPr lang="zh-CN" altLang="en-US" sz="2800" b="1" dirty="0">
                <a:latin typeface="楷体_GB2312"/>
                <a:ea typeface="楷体_GB2312"/>
              </a:rPr>
              <a:t>，</a:t>
            </a:r>
            <a:r>
              <a:rPr lang="en-US" altLang="zh-CN" sz="2800" b="1" dirty="0">
                <a:latin typeface="楷体_GB2312"/>
                <a:ea typeface="楷体_GB2312"/>
              </a:rPr>
              <a:t>(1,3,9)</a:t>
            </a:r>
            <a:r>
              <a:rPr lang="zh-CN" altLang="en-US" sz="2800" b="1" dirty="0">
                <a:latin typeface="楷体_GB2312"/>
                <a:ea typeface="楷体_GB2312"/>
              </a:rPr>
              <a:t>， </a:t>
            </a:r>
            <a:r>
              <a:rPr lang="en-US" altLang="zh-CN" sz="2800" b="1" dirty="0">
                <a:latin typeface="楷体_GB2312"/>
                <a:ea typeface="楷体_GB2312"/>
              </a:rPr>
              <a:t>(3,1,-3)</a:t>
            </a:r>
            <a:r>
              <a:rPr lang="zh-CN" altLang="en-US" sz="2800" b="1" dirty="0">
                <a:latin typeface="楷体_GB2312"/>
                <a:ea typeface="楷体_GB2312"/>
              </a:rPr>
              <a:t>， </a:t>
            </a:r>
            <a:r>
              <a:rPr lang="en-US" altLang="zh-CN" sz="2800" b="1" dirty="0">
                <a:latin typeface="楷体_GB2312"/>
                <a:ea typeface="楷体_GB2312"/>
              </a:rPr>
              <a:t>(3,5,14)</a:t>
            </a:r>
            <a:r>
              <a:rPr lang="zh-CN" altLang="en-US" sz="2800" b="1" dirty="0">
                <a:latin typeface="楷体_GB2312"/>
                <a:ea typeface="楷体_GB2312"/>
              </a:rPr>
              <a:t>，</a:t>
            </a: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 </a:t>
            </a:r>
            <a:r>
              <a:rPr lang="en-US" altLang="zh-CN" sz="2800" b="1" dirty="0">
                <a:latin typeface="楷体_GB2312"/>
                <a:ea typeface="楷体_GB2312"/>
              </a:rPr>
              <a:t>(4,3,24)</a:t>
            </a:r>
            <a:r>
              <a:rPr lang="zh-CN" altLang="en-US" sz="2800" b="1" dirty="0">
                <a:latin typeface="楷体_GB2312"/>
                <a:ea typeface="楷体_GB2312"/>
              </a:rPr>
              <a:t>， </a:t>
            </a:r>
            <a:r>
              <a:rPr lang="en-US" altLang="zh-CN" sz="2800" b="1" dirty="0">
                <a:latin typeface="楷体_GB2312"/>
                <a:ea typeface="楷体_GB2312"/>
              </a:rPr>
              <a:t>(5,2,18) </a:t>
            </a:r>
            <a:r>
              <a:rPr lang="zh-CN" altLang="en-US" sz="2800" b="1" dirty="0">
                <a:latin typeface="楷体_GB2312"/>
                <a:ea typeface="楷体_GB2312"/>
              </a:rPr>
              <a:t>，</a:t>
            </a:r>
            <a:r>
              <a:rPr lang="en-US" altLang="zh-CN" sz="2800" b="1" dirty="0">
                <a:latin typeface="楷体_GB2312"/>
                <a:ea typeface="楷体_GB2312"/>
              </a:rPr>
              <a:t>(6,1,15)</a:t>
            </a:r>
            <a:r>
              <a:rPr lang="zh-CN" altLang="en-US" sz="2800" b="1" dirty="0">
                <a:latin typeface="楷体_GB2312"/>
                <a:ea typeface="楷体_GB2312"/>
              </a:rPr>
              <a:t>， </a:t>
            </a:r>
            <a:r>
              <a:rPr lang="en-US" altLang="zh-CN" sz="2800" b="1" dirty="0">
                <a:latin typeface="楷体_GB2312"/>
                <a:ea typeface="楷体_GB2312"/>
              </a:rPr>
              <a:t>(6,4,-7)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)</a:t>
            </a:r>
            <a:endParaRPr lang="en-US" altLang="zh-CN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56339" name="Rectangle 19"/>
          <p:cNvSpPr/>
          <p:nvPr/>
        </p:nvSpPr>
        <p:spPr>
          <a:xfrm>
            <a:off x="533400" y="4038600"/>
            <a:ext cx="4038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法</a:t>
            </a:r>
            <a:r>
              <a:rPr lang="en-US" altLang="zh-CN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 b="1" dirty="0">
                <a:latin typeface="楷体_GB2312"/>
                <a:ea typeface="楷体_GB2312"/>
              </a:rPr>
              <a:t>用线性表表示：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grpSp>
        <p:nvGrpSpPr>
          <p:cNvPr id="3" name="Group 20"/>
          <p:cNvGrpSpPr/>
          <p:nvPr/>
        </p:nvGrpSpPr>
        <p:grpSpPr>
          <a:xfrm>
            <a:off x="5257800" y="2209800"/>
            <a:ext cx="3124200" cy="2362200"/>
            <a:chOff x="1536" y="480"/>
            <a:chExt cx="2304" cy="2160"/>
          </a:xfrm>
        </p:grpSpPr>
        <p:sp>
          <p:nvSpPr>
            <p:cNvPr id="35854" name="AutoShape 21"/>
            <p:cNvSpPr/>
            <p:nvPr/>
          </p:nvSpPr>
          <p:spPr>
            <a:xfrm>
              <a:off x="1536" y="480"/>
              <a:ext cx="48" cy="2160"/>
            </a:xfrm>
            <a:prstGeom prst="lef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5855" name="AutoShape 22"/>
            <p:cNvSpPr/>
            <p:nvPr/>
          </p:nvSpPr>
          <p:spPr>
            <a:xfrm>
              <a:off x="3792" y="480"/>
              <a:ext cx="48" cy="2160"/>
            </a:xfrm>
            <a:prstGeom prst="righ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5856" name="Rectangle 23"/>
            <p:cNvSpPr/>
            <p:nvPr/>
          </p:nvSpPr>
          <p:spPr>
            <a:xfrm>
              <a:off x="1656" y="480"/>
              <a:ext cx="2040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12    9    0    0    0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35857" name="Rectangle 24"/>
            <p:cNvSpPr/>
            <p:nvPr/>
          </p:nvSpPr>
          <p:spPr>
            <a:xfrm>
              <a:off x="1680" y="864"/>
              <a:ext cx="2016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solidFill>
                    <a:schemeClr val="accent2"/>
                  </a:solidFill>
                  <a:ea typeface="黑体" panose="02010609060101010101" pitchFamily="49" charset="-122"/>
                </a:rPr>
                <a:t>       </a:t>
              </a:r>
              <a:r>
                <a:rPr lang="en-US" altLang="zh-CN" sz="2400" b="1" dirty="0">
                  <a:solidFill>
                    <a:schemeClr val="accent2"/>
                  </a:solidFill>
                  <a:ea typeface="黑体" panose="02010609060101010101" pitchFamily="49" charset="-122"/>
                </a:rPr>
                <a:t>0     0    0    0    0</a:t>
              </a:r>
              <a:endPara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5858" name="Rectangle 25"/>
            <p:cNvSpPr/>
            <p:nvPr/>
          </p:nvSpPr>
          <p:spPr>
            <a:xfrm>
              <a:off x="1656" y="1248"/>
              <a:ext cx="199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99FF33"/>
                  </a:solidFill>
                  <a:ea typeface="黑体" panose="02010609060101010101" pitchFamily="49" charset="-122"/>
                </a:rPr>
                <a:t>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-3    0     0    0   14   0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35859" name="Rectangle 26"/>
            <p:cNvSpPr/>
            <p:nvPr/>
          </p:nvSpPr>
          <p:spPr>
            <a:xfrm>
              <a:off x="1680" y="163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 0    24    0    0    0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35860" name="Rectangle 27"/>
            <p:cNvSpPr/>
            <p:nvPr/>
          </p:nvSpPr>
          <p:spPr>
            <a:xfrm>
              <a:off x="1680" y="2016"/>
              <a:ext cx="211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18    0    0    0    0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35861" name="Rectangle 28"/>
            <p:cNvSpPr/>
            <p:nvPr/>
          </p:nvSpPr>
          <p:spPr>
            <a:xfrm>
              <a:off x="1680" y="235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15</a:t>
              </a:r>
              <a:r>
                <a:rPr lang="en-US" altLang="zh-CN" sz="24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ea typeface="黑体" panose="02010609060101010101" pitchFamily="49" charset="-122"/>
                </a:rPr>
                <a:t>0    0    -7    0    0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8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8">
                                            <p:txEl>
                                              <p:charRg st="41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/>
      <p:bldP spid="56325" grpId="0"/>
      <p:bldP spid="56326" grpId="0"/>
      <p:bldP spid="56327" grpId="0"/>
      <p:bldP spid="56337" grpId="0" animBg="1"/>
      <p:bldP spid="56338" grpId="0" build="p"/>
      <p:bldP spid="5633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7346" name="Rectangle 2"/>
          <p:cNvSpPr/>
          <p:nvPr/>
        </p:nvSpPr>
        <p:spPr>
          <a:xfrm>
            <a:off x="304800" y="228600"/>
            <a:ext cx="4038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法</a:t>
            </a:r>
            <a:r>
              <a:rPr lang="en-US" altLang="zh-CN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 b="1" dirty="0">
                <a:latin typeface="楷体_GB2312"/>
                <a:ea typeface="楷体_GB2312"/>
              </a:rPr>
              <a:t>用三元组矩阵表示：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486400" y="304800"/>
            <a:ext cx="3124200" cy="2362200"/>
            <a:chOff x="1536" y="480"/>
            <a:chExt cx="2304" cy="2160"/>
          </a:xfrm>
        </p:grpSpPr>
        <p:sp>
          <p:nvSpPr>
            <p:cNvPr id="36934" name="AutoShape 4"/>
            <p:cNvSpPr/>
            <p:nvPr/>
          </p:nvSpPr>
          <p:spPr>
            <a:xfrm>
              <a:off x="1536" y="480"/>
              <a:ext cx="48" cy="2160"/>
            </a:xfrm>
            <a:prstGeom prst="lef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6935" name="AutoShape 5"/>
            <p:cNvSpPr/>
            <p:nvPr/>
          </p:nvSpPr>
          <p:spPr>
            <a:xfrm>
              <a:off x="3792" y="480"/>
              <a:ext cx="48" cy="2160"/>
            </a:xfrm>
            <a:prstGeom prst="righ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6936" name="Rectangle 6"/>
            <p:cNvSpPr/>
            <p:nvPr/>
          </p:nvSpPr>
          <p:spPr>
            <a:xfrm>
              <a:off x="1656" y="480"/>
              <a:ext cx="2040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solidFill>
                    <a:schemeClr val="accent1"/>
                  </a:solidFill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12    9    0    0    0</a:t>
              </a:r>
              <a:endPara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6937" name="Rectangle 7"/>
            <p:cNvSpPr/>
            <p:nvPr/>
          </p:nvSpPr>
          <p:spPr>
            <a:xfrm>
              <a:off x="1680" y="864"/>
              <a:ext cx="2016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0       0     0    0    0    0</a:t>
              </a:r>
              <a:endPara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6938" name="Rectangle 8"/>
            <p:cNvSpPr/>
            <p:nvPr/>
          </p:nvSpPr>
          <p:spPr>
            <a:xfrm>
              <a:off x="1656" y="1248"/>
              <a:ext cx="199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99FF33"/>
                  </a:solidFill>
                  <a:ea typeface="黑体" panose="02010609060101010101" pitchFamily="49" charset="-122"/>
                </a:rPr>
                <a:t>  </a:t>
              </a:r>
              <a:r>
                <a:rPr lang="en-US" altLang="zh-CN" sz="24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-3    0     0    0   14   0</a:t>
              </a:r>
              <a:endPara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6939" name="Rectangle 9"/>
            <p:cNvSpPr/>
            <p:nvPr/>
          </p:nvSpPr>
          <p:spPr>
            <a:xfrm>
              <a:off x="1680" y="163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0      0    24    0    0    0</a:t>
              </a:r>
              <a:endPara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6940" name="Rectangle 10"/>
            <p:cNvSpPr/>
            <p:nvPr/>
          </p:nvSpPr>
          <p:spPr>
            <a:xfrm>
              <a:off x="1680" y="2016"/>
              <a:ext cx="211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0     18    0    0    0    0</a:t>
              </a:r>
              <a:endPara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6941" name="Rectangle 11"/>
            <p:cNvSpPr/>
            <p:nvPr/>
          </p:nvSpPr>
          <p:spPr>
            <a:xfrm>
              <a:off x="1680" y="235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15     0    0    -7    0    0</a:t>
              </a:r>
              <a:endPara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57356" name="Group 12"/>
          <p:cNvGraphicFramePr>
            <a:graphicFrameLocks noGrp="1"/>
          </p:cNvGraphicFramePr>
          <p:nvPr/>
        </p:nvGraphicFramePr>
        <p:xfrm>
          <a:off x="533400" y="1600200"/>
          <a:ext cx="4495800" cy="3797300"/>
        </p:xfrm>
        <a:graphic>
          <a:graphicData uri="http://schemas.openxmlformats.org/drawingml/2006/table">
            <a:tbl>
              <a:tblPr/>
              <a:tblGrid>
                <a:gridCol w="1473200"/>
                <a:gridCol w="1317625"/>
                <a:gridCol w="1704975"/>
              </a:tblGrid>
              <a:tr h="474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94" name="AutoShape 50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7395" name="Rectangle 51"/>
          <p:cNvSpPr/>
          <p:nvPr/>
        </p:nvSpPr>
        <p:spPr>
          <a:xfrm>
            <a:off x="5638800" y="3276600"/>
            <a:ext cx="3124200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注意：</a:t>
            </a:r>
            <a:r>
              <a:rPr lang="zh-CN" altLang="en-US" sz="2400" b="1" dirty="0">
                <a:highlight>
                  <a:srgbClr val="FFFF00"/>
                </a:highlight>
                <a:latin typeface="楷体_GB2312"/>
                <a:ea typeface="楷体_GB2312"/>
              </a:rPr>
              <a:t>为更可靠描述，通常再加一行</a:t>
            </a:r>
            <a:r>
              <a:rPr lang="zh-CN" altLang="en-US" sz="2400" b="1" dirty="0">
                <a:highlight>
                  <a:srgbClr val="FFFF00"/>
                </a:highlight>
                <a:ea typeface="楷体_GB2312"/>
              </a:rPr>
              <a:t>“</a:t>
            </a:r>
            <a:r>
              <a:rPr lang="zh-CN" altLang="en-US" sz="2400" b="1" dirty="0">
                <a:highlight>
                  <a:srgbClr val="FFFF00"/>
                </a:highlight>
                <a:latin typeface="楷体_GB2312"/>
                <a:ea typeface="楷体_GB2312"/>
              </a:rPr>
              <a:t>总体</a:t>
            </a:r>
            <a:r>
              <a:rPr lang="zh-CN" altLang="en-US" sz="2400" b="1" dirty="0">
                <a:highlight>
                  <a:srgbClr val="FFFF00"/>
                </a:highlight>
                <a:ea typeface="楷体_GB2312"/>
              </a:rPr>
              <a:t>”</a:t>
            </a:r>
            <a:r>
              <a:rPr lang="zh-CN" altLang="en-US" sz="2400" b="1" dirty="0">
                <a:highlight>
                  <a:srgbClr val="FFFF00"/>
                </a:highlight>
                <a:latin typeface="楷体_GB2312"/>
                <a:ea typeface="楷体_GB2312"/>
              </a:rPr>
              <a:t>信息：即</a:t>
            </a:r>
            <a:r>
              <a:rPr lang="zh-CN" altLang="en-US" sz="2400" b="1" dirty="0">
                <a:solidFill>
                  <a:schemeClr val="accent1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总行数、总列数、非零元素总个数</a:t>
            </a:r>
            <a:endParaRPr lang="zh-CN" altLang="en-US" sz="2400" b="1" dirty="0">
              <a:solidFill>
                <a:schemeClr val="accent1"/>
              </a:solidFill>
              <a:highlight>
                <a:srgbClr val="FFFF00"/>
              </a:highlight>
              <a:latin typeface="楷体_GB2312"/>
              <a:ea typeface="楷体_GB2312"/>
            </a:endParaRPr>
          </a:p>
        </p:txBody>
      </p:sp>
      <p:graphicFrame>
        <p:nvGraphicFramePr>
          <p:cNvPr id="57396" name="Group 52"/>
          <p:cNvGraphicFramePr>
            <a:graphicFrameLocks noGrp="1"/>
          </p:cNvGraphicFramePr>
          <p:nvPr/>
        </p:nvGraphicFramePr>
        <p:xfrm>
          <a:off x="533400" y="1143000"/>
          <a:ext cx="4495800" cy="457200"/>
        </p:xfrm>
        <a:graphic>
          <a:graphicData uri="http://schemas.openxmlformats.org/drawingml/2006/table">
            <a:tbl>
              <a:tblPr/>
              <a:tblGrid>
                <a:gridCol w="1473200"/>
                <a:gridCol w="1317625"/>
                <a:gridCol w="1704975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7406" name="Group 62"/>
          <p:cNvGraphicFramePr>
            <a:graphicFrameLocks noGrp="1"/>
          </p:cNvGraphicFramePr>
          <p:nvPr/>
        </p:nvGraphicFramePr>
        <p:xfrm>
          <a:off x="533400" y="685800"/>
          <a:ext cx="4495800" cy="457200"/>
        </p:xfrm>
        <a:graphic>
          <a:graphicData uri="http://schemas.openxmlformats.org/drawingml/2006/table">
            <a:tbl>
              <a:tblPr/>
              <a:tblGrid>
                <a:gridCol w="1473200"/>
                <a:gridCol w="1317625"/>
                <a:gridCol w="1704975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418" name="Rectangle 74"/>
          <p:cNvSpPr/>
          <p:nvPr/>
        </p:nvSpPr>
        <p:spPr>
          <a:xfrm>
            <a:off x="457200" y="5562600"/>
            <a:ext cx="69342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accent1"/>
                </a:solidFill>
                <a:ea typeface="楷体_GB2312"/>
              </a:rPr>
              <a:t>稀疏矩阵压缩存储的</a:t>
            </a:r>
            <a:r>
              <a:rPr lang="zh-CN" altLang="en-US" sz="2200" b="1" dirty="0">
                <a:solidFill>
                  <a:schemeClr val="accent2"/>
                </a:solidFill>
                <a:ea typeface="楷体_GB2312"/>
              </a:rPr>
              <a:t>缺点</a:t>
            </a:r>
            <a:r>
              <a:rPr lang="zh-CN" altLang="en-US" sz="2200" b="1" dirty="0">
                <a:solidFill>
                  <a:schemeClr val="accent1"/>
                </a:solidFill>
                <a:ea typeface="楷体_GB2312"/>
              </a:rPr>
              <a:t>：</a:t>
            </a:r>
            <a:r>
              <a:rPr lang="zh-CN" altLang="en-US" sz="2200" b="1" dirty="0">
                <a:solidFill>
                  <a:schemeClr val="accent2"/>
                </a:solidFill>
                <a:ea typeface="楷体_GB2312"/>
              </a:rPr>
              <a:t>将失去</a:t>
            </a:r>
            <a:r>
              <a:rPr lang="zh-CN" altLang="en-US" sz="2200" b="1" i="1" dirty="0">
                <a:solidFill>
                  <a:srgbClr val="FF0000"/>
                </a:solidFill>
                <a:ea typeface="楷体_GB2312"/>
              </a:rPr>
              <a:t>随机存取</a:t>
            </a:r>
            <a:r>
              <a:rPr lang="zh-CN" altLang="en-US" sz="2200" b="1" dirty="0">
                <a:solidFill>
                  <a:schemeClr val="accent2"/>
                </a:solidFill>
                <a:ea typeface="楷体_GB2312"/>
              </a:rPr>
              <a:t>功能   </a:t>
            </a:r>
            <a:r>
              <a:rPr lang="en-US" altLang="zh-CN" sz="2200" b="1" dirty="0">
                <a:solidFill>
                  <a:schemeClr val="accent2"/>
                </a:solidFill>
                <a:ea typeface="楷体_GB2312"/>
              </a:rPr>
              <a:t>:-(</a:t>
            </a:r>
            <a:endParaRPr lang="en-US" altLang="zh-CN" sz="2200" b="1" dirty="0">
              <a:solidFill>
                <a:schemeClr val="accent2"/>
              </a:solidFill>
              <a:ea typeface="楷体_GB2312"/>
            </a:endParaRPr>
          </a:p>
        </p:txBody>
      </p:sp>
      <p:graphicFrame>
        <p:nvGraphicFramePr>
          <p:cNvPr id="57419" name="Group 75"/>
          <p:cNvGraphicFramePr>
            <a:graphicFrameLocks noGrp="1"/>
          </p:cNvGraphicFramePr>
          <p:nvPr/>
        </p:nvGraphicFramePr>
        <p:xfrm>
          <a:off x="304800" y="1219200"/>
          <a:ext cx="304800" cy="4267200"/>
        </p:xfrm>
        <a:graphic>
          <a:graphicData uri="http://schemas.openxmlformats.org/drawingml/2006/table">
            <a:tbl>
              <a:tblPr/>
              <a:tblGrid>
                <a:gridCol w="304800"/>
              </a:tblGrid>
              <a:tr h="441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5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394" grpId="0" animBg="1"/>
      <p:bldP spid="57395" grpId="0"/>
      <p:bldP spid="574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152400" y="152400"/>
            <a:ext cx="5638800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法三：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</a:rPr>
              <a:t>用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带辅助向量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</a:rPr>
              <a:t>的三元组表示。</a:t>
            </a:r>
            <a:endParaRPr lang="zh-CN" altLang="en-US" sz="2800" b="1" dirty="0">
              <a:solidFill>
                <a:schemeClr val="tx1"/>
              </a:solidFill>
              <a:ea typeface="楷体_GB2312"/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0" y="1371600"/>
            <a:ext cx="5940425" cy="1447800"/>
          </a:xfrm>
          <a:ln/>
        </p:spPr>
        <p:txBody>
          <a:bodyPr vert="horz" wrap="square" lIns="91440" tIns="45720" rIns="91440" bIns="45720" anchor="t" anchorCtr="0"/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200" b="1" dirty="0">
                <a:solidFill>
                  <a:schemeClr val="accent1"/>
                </a:solidFill>
              </a:rPr>
              <a:t>   </a:t>
            </a:r>
            <a:r>
              <a:rPr lang="zh-CN" altLang="en-US" sz="2200" b="1" dirty="0">
                <a:solidFill>
                  <a:schemeClr val="accent1"/>
                </a:solidFill>
              </a:rPr>
              <a:t>方法：</a:t>
            </a:r>
            <a:r>
              <a:rPr lang="zh-CN" altLang="en-US" sz="2200" b="1" dirty="0">
                <a:solidFill>
                  <a:srgbClr val="99FF33"/>
                </a:solidFill>
              </a:rPr>
              <a:t> </a:t>
            </a:r>
            <a:r>
              <a:rPr lang="zh-CN" altLang="en-US" sz="2200" b="1" dirty="0">
                <a:solidFill>
                  <a:schemeClr val="accent1"/>
                </a:solidFill>
              </a:rPr>
              <a:t>增加</a:t>
            </a:r>
            <a:r>
              <a:rPr lang="en-US" altLang="zh-CN" sz="2200" b="1" dirty="0">
                <a:solidFill>
                  <a:schemeClr val="accent1"/>
                </a:solidFill>
              </a:rPr>
              <a:t>2</a:t>
            </a:r>
            <a:r>
              <a:rPr lang="zh-CN" altLang="en-US" sz="2200" b="1" dirty="0">
                <a:solidFill>
                  <a:schemeClr val="accent1"/>
                </a:solidFill>
              </a:rPr>
              <a:t>个辅助向量：</a:t>
            </a:r>
            <a:endParaRPr lang="zh-CN" altLang="en-US" sz="2200" b="1" dirty="0">
              <a:solidFill>
                <a:schemeClr val="accent1"/>
              </a:solidFill>
            </a:endParaRP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zh-CN" altLang="en-US" sz="2200" b="1" dirty="0">
                <a:ea typeface="楷体_GB2312"/>
              </a:rPr>
              <a:t>① 记录每行非</a:t>
            </a:r>
            <a:r>
              <a:rPr lang="en-US" altLang="zh-CN" sz="2200" b="1" dirty="0">
                <a:ea typeface="楷体_GB2312"/>
              </a:rPr>
              <a:t>0</a:t>
            </a:r>
            <a:r>
              <a:rPr lang="zh-CN" altLang="en-US" sz="2200" b="1" dirty="0">
                <a:ea typeface="楷体_GB2312"/>
              </a:rPr>
              <a:t>元素个数，用</a:t>
            </a:r>
            <a:r>
              <a:rPr lang="en-US" altLang="zh-CN" sz="2200" b="1" dirty="0">
                <a:solidFill>
                  <a:schemeClr val="tx2"/>
                </a:solidFill>
                <a:ea typeface="楷体_GB2312"/>
              </a:rPr>
              <a:t>NUM</a:t>
            </a:r>
            <a:r>
              <a:rPr lang="zh-CN" altLang="en-US" sz="2200" b="1" dirty="0">
                <a:solidFill>
                  <a:schemeClr val="tx2"/>
                </a:solidFill>
                <a:ea typeface="楷体_GB2312"/>
              </a:rPr>
              <a:t>（</a:t>
            </a:r>
            <a:r>
              <a:rPr lang="en-US" altLang="zh-CN" sz="2200" b="1" dirty="0">
                <a:solidFill>
                  <a:schemeClr val="tx2"/>
                </a:solidFill>
                <a:ea typeface="楷体_GB2312"/>
              </a:rPr>
              <a:t>i</a:t>
            </a:r>
            <a:r>
              <a:rPr lang="zh-CN" altLang="en-US" sz="2200" b="1" dirty="0">
                <a:solidFill>
                  <a:schemeClr val="tx2"/>
                </a:solidFill>
                <a:ea typeface="楷体_GB2312"/>
              </a:rPr>
              <a:t>）</a:t>
            </a:r>
            <a:r>
              <a:rPr lang="zh-CN" altLang="en-US" sz="2200" b="1" dirty="0">
                <a:ea typeface="楷体_GB2312"/>
              </a:rPr>
              <a:t>表示；</a:t>
            </a:r>
            <a:endParaRPr lang="zh-CN" altLang="en-US" sz="2200" b="1" dirty="0">
              <a:ea typeface="楷体_GB2312"/>
            </a:endParaRP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zh-CN" altLang="en-US" sz="2200" b="1" dirty="0">
                <a:ea typeface="楷体_GB2312"/>
              </a:rPr>
              <a:t> ② 记录稀疏矩阵中每行第一个非</a:t>
            </a:r>
            <a:r>
              <a:rPr lang="en-US" altLang="zh-CN" sz="2200" b="1" dirty="0">
                <a:ea typeface="楷体_GB2312"/>
              </a:rPr>
              <a:t>0</a:t>
            </a:r>
            <a:r>
              <a:rPr lang="zh-CN" altLang="en-US" sz="2200" b="1" dirty="0">
                <a:ea typeface="楷体_GB2312"/>
              </a:rPr>
              <a:t>元素</a:t>
            </a:r>
            <a:r>
              <a:rPr lang="zh-CN" altLang="en-US" sz="2200" b="1" dirty="0">
                <a:solidFill>
                  <a:schemeClr val="accent1"/>
                </a:solidFill>
                <a:ea typeface="楷体_GB2312"/>
              </a:rPr>
              <a:t>在三元组中的行号</a:t>
            </a:r>
            <a:r>
              <a:rPr lang="zh-CN" altLang="en-US" sz="2200" b="1" dirty="0">
                <a:ea typeface="楷体_GB2312"/>
              </a:rPr>
              <a:t>，用</a:t>
            </a:r>
            <a:r>
              <a:rPr lang="en-US" altLang="zh-CN" sz="2200" b="1" dirty="0">
                <a:solidFill>
                  <a:schemeClr val="tx2"/>
                </a:solidFill>
                <a:ea typeface="楷体_GB2312"/>
              </a:rPr>
              <a:t>POS</a:t>
            </a:r>
            <a:r>
              <a:rPr lang="zh-CN" altLang="en-US" sz="2200" b="1" dirty="0">
                <a:solidFill>
                  <a:schemeClr val="tx2"/>
                </a:solidFill>
                <a:ea typeface="楷体_GB2312"/>
              </a:rPr>
              <a:t>（</a:t>
            </a:r>
            <a:r>
              <a:rPr lang="en-US" altLang="zh-CN" sz="2200" b="1" dirty="0">
                <a:solidFill>
                  <a:schemeClr val="tx2"/>
                </a:solidFill>
                <a:ea typeface="楷体_GB2312"/>
              </a:rPr>
              <a:t>i</a:t>
            </a:r>
            <a:r>
              <a:rPr lang="zh-CN" altLang="en-US" sz="2200" b="1" dirty="0">
                <a:solidFill>
                  <a:schemeClr val="tx2"/>
                </a:solidFill>
                <a:ea typeface="楷体_GB2312"/>
              </a:rPr>
              <a:t>）</a:t>
            </a:r>
            <a:r>
              <a:rPr lang="zh-CN" altLang="en-US" sz="2200" b="1" dirty="0">
                <a:ea typeface="楷体_GB2312"/>
              </a:rPr>
              <a:t>表示。</a:t>
            </a:r>
            <a:endParaRPr lang="zh-CN" altLang="en-US" sz="2200" b="1" dirty="0">
              <a:ea typeface="楷体_GB2312"/>
            </a:endParaRPr>
          </a:p>
        </p:txBody>
      </p:sp>
      <p:sp>
        <p:nvSpPr>
          <p:cNvPr id="58372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8373" name="Rectangle 5"/>
          <p:cNvSpPr/>
          <p:nvPr/>
        </p:nvSpPr>
        <p:spPr>
          <a:xfrm>
            <a:off x="4800600" y="4114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7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58374" name="Rectangle 6"/>
          <p:cNvSpPr/>
          <p:nvPr/>
        </p:nvSpPr>
        <p:spPr>
          <a:xfrm>
            <a:off x="4114800" y="41148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6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58375" name="Rectangle 7"/>
          <p:cNvSpPr/>
          <p:nvPr/>
        </p:nvSpPr>
        <p:spPr>
          <a:xfrm>
            <a:off x="3581400" y="41148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5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58376" name="Rectangle 8"/>
          <p:cNvSpPr/>
          <p:nvPr/>
        </p:nvSpPr>
        <p:spPr>
          <a:xfrm>
            <a:off x="2971800" y="4114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3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58377" name="Rectangle 9"/>
          <p:cNvSpPr/>
          <p:nvPr/>
        </p:nvSpPr>
        <p:spPr>
          <a:xfrm>
            <a:off x="1752600" y="4114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1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685800" y="3200400"/>
            <a:ext cx="4724400" cy="1371600"/>
            <a:chOff x="432" y="2016"/>
            <a:chExt cx="2976" cy="864"/>
          </a:xfrm>
        </p:grpSpPr>
        <p:sp>
          <p:nvSpPr>
            <p:cNvPr id="37988" name="Rectangle 11"/>
            <p:cNvSpPr/>
            <p:nvPr/>
          </p:nvSpPr>
          <p:spPr>
            <a:xfrm>
              <a:off x="3024" y="230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2</a:t>
              </a:r>
              <a:endParaRPr lang="en-US" altLang="zh-CN" sz="2400" b="1" dirty="0"/>
            </a:p>
          </p:txBody>
        </p:sp>
        <p:sp>
          <p:nvSpPr>
            <p:cNvPr id="37989" name="Rectangle 12"/>
            <p:cNvSpPr/>
            <p:nvPr/>
          </p:nvSpPr>
          <p:spPr>
            <a:xfrm>
              <a:off x="2592" y="2304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1</a:t>
              </a:r>
              <a:endParaRPr lang="en-US" altLang="zh-CN" sz="2400" b="1" dirty="0"/>
            </a:p>
          </p:txBody>
        </p:sp>
        <p:sp>
          <p:nvSpPr>
            <p:cNvPr id="37990" name="Rectangle 13"/>
            <p:cNvSpPr/>
            <p:nvPr/>
          </p:nvSpPr>
          <p:spPr>
            <a:xfrm>
              <a:off x="2256" y="230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1</a:t>
              </a:r>
              <a:endParaRPr lang="en-US" altLang="zh-CN" sz="2400" b="1" dirty="0"/>
            </a:p>
          </p:txBody>
        </p:sp>
        <p:sp>
          <p:nvSpPr>
            <p:cNvPr id="37991" name="Rectangle 14"/>
            <p:cNvSpPr/>
            <p:nvPr/>
          </p:nvSpPr>
          <p:spPr>
            <a:xfrm>
              <a:off x="1872" y="230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2</a:t>
              </a:r>
              <a:endParaRPr lang="en-US" altLang="zh-CN" sz="2400" b="1" dirty="0"/>
            </a:p>
          </p:txBody>
        </p:sp>
        <p:sp>
          <p:nvSpPr>
            <p:cNvPr id="37992" name="Rectangle 15"/>
            <p:cNvSpPr/>
            <p:nvPr/>
          </p:nvSpPr>
          <p:spPr>
            <a:xfrm>
              <a:off x="1488" y="230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0</a:t>
              </a:r>
              <a:endParaRPr lang="en-US" altLang="zh-CN" sz="2400" b="1" dirty="0"/>
            </a:p>
          </p:txBody>
        </p:sp>
        <p:sp>
          <p:nvSpPr>
            <p:cNvPr id="37993" name="Rectangle 16"/>
            <p:cNvSpPr/>
            <p:nvPr/>
          </p:nvSpPr>
          <p:spPr>
            <a:xfrm>
              <a:off x="1104" y="230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2</a:t>
              </a:r>
              <a:endParaRPr lang="en-US" altLang="zh-CN" sz="2400" b="1" dirty="0"/>
            </a:p>
          </p:txBody>
        </p:sp>
        <p:sp>
          <p:nvSpPr>
            <p:cNvPr id="37994" name="Rectangle 17"/>
            <p:cNvSpPr/>
            <p:nvPr/>
          </p:nvSpPr>
          <p:spPr>
            <a:xfrm>
              <a:off x="432" y="2304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</a:rPr>
                <a:t>NUM( i)</a:t>
              </a:r>
              <a:endParaRPr lang="en-US" altLang="zh-CN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95" name="Rectangle 18"/>
            <p:cNvSpPr/>
            <p:nvPr/>
          </p:nvSpPr>
          <p:spPr>
            <a:xfrm>
              <a:off x="3024" y="201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6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96" name="Rectangle 19"/>
            <p:cNvSpPr/>
            <p:nvPr/>
          </p:nvSpPr>
          <p:spPr>
            <a:xfrm>
              <a:off x="2592" y="2016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5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97" name="Rectangle 20"/>
            <p:cNvSpPr/>
            <p:nvPr/>
          </p:nvSpPr>
          <p:spPr>
            <a:xfrm>
              <a:off x="2256" y="2016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4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98" name="Rectangle 21"/>
            <p:cNvSpPr/>
            <p:nvPr/>
          </p:nvSpPr>
          <p:spPr>
            <a:xfrm>
              <a:off x="1872" y="201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3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99" name="Rectangle 22"/>
            <p:cNvSpPr/>
            <p:nvPr/>
          </p:nvSpPr>
          <p:spPr>
            <a:xfrm>
              <a:off x="1488" y="2592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38000" name="Rectangle 23"/>
            <p:cNvSpPr/>
            <p:nvPr/>
          </p:nvSpPr>
          <p:spPr>
            <a:xfrm>
              <a:off x="432" y="2592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</a:rPr>
                <a:t>POS( i )</a:t>
              </a:r>
              <a:endParaRPr lang="en-US" altLang="zh-CN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38001" name="Rectangle 24"/>
            <p:cNvSpPr/>
            <p:nvPr/>
          </p:nvSpPr>
          <p:spPr>
            <a:xfrm>
              <a:off x="1488" y="201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2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8002" name="Rectangle 25"/>
            <p:cNvSpPr/>
            <p:nvPr/>
          </p:nvSpPr>
          <p:spPr>
            <a:xfrm>
              <a:off x="1104" y="201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1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8003" name="Rectangle 26"/>
            <p:cNvSpPr/>
            <p:nvPr/>
          </p:nvSpPr>
          <p:spPr>
            <a:xfrm>
              <a:off x="432" y="2016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</a:rPr>
                <a:t>i</a:t>
              </a:r>
              <a:endParaRPr lang="en-US" altLang="zh-CN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38004" name="Line 27"/>
            <p:cNvSpPr/>
            <p:nvPr/>
          </p:nvSpPr>
          <p:spPr>
            <a:xfrm>
              <a:off x="432" y="2016"/>
              <a:ext cx="2976" cy="0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05" name="Line 28"/>
            <p:cNvSpPr/>
            <p:nvPr/>
          </p:nvSpPr>
          <p:spPr>
            <a:xfrm>
              <a:off x="432" y="2880"/>
              <a:ext cx="2976" cy="0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06" name="Line 29"/>
            <p:cNvSpPr/>
            <p:nvPr/>
          </p:nvSpPr>
          <p:spPr>
            <a:xfrm>
              <a:off x="432" y="2016"/>
              <a:ext cx="0" cy="864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07" name="Line 30"/>
            <p:cNvSpPr/>
            <p:nvPr/>
          </p:nvSpPr>
          <p:spPr>
            <a:xfrm>
              <a:off x="3408" y="2016"/>
              <a:ext cx="0" cy="864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08" name="Line 31"/>
            <p:cNvSpPr/>
            <p:nvPr/>
          </p:nvSpPr>
          <p:spPr>
            <a:xfrm>
              <a:off x="1104" y="2016"/>
              <a:ext cx="0" cy="864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09" name="Line 32"/>
            <p:cNvSpPr/>
            <p:nvPr/>
          </p:nvSpPr>
          <p:spPr>
            <a:xfrm>
              <a:off x="1488" y="2016"/>
              <a:ext cx="0" cy="864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10" name="Line 33"/>
            <p:cNvSpPr/>
            <p:nvPr/>
          </p:nvSpPr>
          <p:spPr>
            <a:xfrm>
              <a:off x="432" y="2304"/>
              <a:ext cx="2976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11" name="Line 34"/>
            <p:cNvSpPr/>
            <p:nvPr/>
          </p:nvSpPr>
          <p:spPr>
            <a:xfrm>
              <a:off x="1872" y="2016"/>
              <a:ext cx="0" cy="864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12" name="Line 35"/>
            <p:cNvSpPr/>
            <p:nvPr/>
          </p:nvSpPr>
          <p:spPr>
            <a:xfrm>
              <a:off x="2256" y="2016"/>
              <a:ext cx="0" cy="864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13" name="Line 36"/>
            <p:cNvSpPr/>
            <p:nvPr/>
          </p:nvSpPr>
          <p:spPr>
            <a:xfrm>
              <a:off x="2592" y="2016"/>
              <a:ext cx="0" cy="864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14" name="Line 37"/>
            <p:cNvSpPr/>
            <p:nvPr/>
          </p:nvSpPr>
          <p:spPr>
            <a:xfrm>
              <a:off x="3024" y="2016"/>
              <a:ext cx="0" cy="864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015" name="Line 38"/>
            <p:cNvSpPr/>
            <p:nvPr/>
          </p:nvSpPr>
          <p:spPr>
            <a:xfrm>
              <a:off x="432" y="2592"/>
              <a:ext cx="2976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39"/>
          <p:cNvGrpSpPr/>
          <p:nvPr/>
        </p:nvGrpSpPr>
        <p:grpSpPr>
          <a:xfrm>
            <a:off x="6096000" y="76200"/>
            <a:ext cx="2819400" cy="2133600"/>
            <a:chOff x="1536" y="480"/>
            <a:chExt cx="2304" cy="2160"/>
          </a:xfrm>
        </p:grpSpPr>
        <p:sp>
          <p:nvSpPr>
            <p:cNvPr id="37980" name="AutoShape 40"/>
            <p:cNvSpPr/>
            <p:nvPr/>
          </p:nvSpPr>
          <p:spPr>
            <a:xfrm>
              <a:off x="1536" y="480"/>
              <a:ext cx="48" cy="2160"/>
            </a:xfrm>
            <a:prstGeom prst="lef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7981" name="AutoShape 41"/>
            <p:cNvSpPr/>
            <p:nvPr/>
          </p:nvSpPr>
          <p:spPr>
            <a:xfrm>
              <a:off x="3792" y="480"/>
              <a:ext cx="48" cy="2160"/>
            </a:xfrm>
            <a:prstGeom prst="righ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7982" name="Rectangle 42"/>
            <p:cNvSpPr/>
            <p:nvPr/>
          </p:nvSpPr>
          <p:spPr>
            <a:xfrm>
              <a:off x="1656" y="480"/>
              <a:ext cx="2040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solidFill>
                    <a:schemeClr val="tx2"/>
                  </a:solidFill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12    9    0    0    0</a:t>
              </a:r>
              <a:endParaRPr lang="en-US" altLang="zh-CN" sz="24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83" name="Rectangle 43"/>
            <p:cNvSpPr/>
            <p:nvPr/>
          </p:nvSpPr>
          <p:spPr>
            <a:xfrm>
              <a:off x="1680" y="864"/>
              <a:ext cx="2016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solidFill>
                    <a:schemeClr val="tx2"/>
                  </a:solidFill>
                  <a:ea typeface="黑体" panose="02010609060101010101" pitchFamily="49" charset="-122"/>
                </a:rPr>
                <a:t>       </a:t>
              </a: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0     0    0    0    0</a:t>
              </a:r>
              <a:endParaRPr lang="en-US" altLang="zh-CN" sz="24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84" name="Rectangle 44"/>
            <p:cNvSpPr/>
            <p:nvPr/>
          </p:nvSpPr>
          <p:spPr>
            <a:xfrm>
              <a:off x="1656" y="1248"/>
              <a:ext cx="199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  -3    0     0    0   14   0</a:t>
              </a:r>
              <a:endParaRPr lang="en-US" altLang="zh-CN" sz="24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85" name="Rectangle 45"/>
            <p:cNvSpPr/>
            <p:nvPr/>
          </p:nvSpPr>
          <p:spPr>
            <a:xfrm>
              <a:off x="1680" y="163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solidFill>
                    <a:schemeClr val="tx2"/>
                  </a:solidFill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 0    24    0    0    0</a:t>
              </a:r>
              <a:endParaRPr lang="en-US" altLang="zh-CN" sz="24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86" name="Rectangle 46"/>
            <p:cNvSpPr/>
            <p:nvPr/>
          </p:nvSpPr>
          <p:spPr>
            <a:xfrm>
              <a:off x="1680" y="2016"/>
              <a:ext cx="211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400" b="1" baseline="-6000" dirty="0">
                  <a:solidFill>
                    <a:schemeClr val="tx2"/>
                  </a:solidFill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18    0    0    0    0</a:t>
              </a:r>
              <a:endParaRPr lang="en-US" altLang="zh-CN" sz="24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87" name="Rectangle 47"/>
            <p:cNvSpPr/>
            <p:nvPr/>
          </p:nvSpPr>
          <p:spPr>
            <a:xfrm>
              <a:off x="1680" y="235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15</a:t>
              </a:r>
              <a:r>
                <a:rPr lang="en-US" altLang="zh-CN" sz="2400" b="1" baseline="-6000" dirty="0">
                  <a:solidFill>
                    <a:schemeClr val="tx2"/>
                  </a:solidFill>
                  <a:ea typeface="黑体" panose="02010609060101010101" pitchFamily="49" charset="-122"/>
                </a:rPr>
                <a:t>     </a:t>
              </a:r>
              <a:r>
                <a:rPr lang="en-US" altLang="zh-CN" sz="24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0    0    -7    0    0</a:t>
              </a:r>
              <a:endParaRPr lang="en-US" altLang="zh-CN" sz="24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48"/>
          <p:cNvGrpSpPr/>
          <p:nvPr/>
        </p:nvGrpSpPr>
        <p:grpSpPr>
          <a:xfrm>
            <a:off x="6553200" y="2209800"/>
            <a:ext cx="2286000" cy="3416300"/>
            <a:chOff x="2688" y="1352"/>
            <a:chExt cx="2832" cy="2968"/>
          </a:xfrm>
        </p:grpSpPr>
        <p:sp>
          <p:nvSpPr>
            <p:cNvPr id="37923" name="Rectangle 49"/>
            <p:cNvSpPr/>
            <p:nvPr/>
          </p:nvSpPr>
          <p:spPr>
            <a:xfrm>
              <a:off x="4446" y="4021"/>
              <a:ext cx="1074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-7</a:t>
              </a:r>
              <a:endParaRPr lang="en-US" altLang="zh-CN" sz="2400" b="1" dirty="0"/>
            </a:p>
          </p:txBody>
        </p:sp>
        <p:sp>
          <p:nvSpPr>
            <p:cNvPr id="37924" name="Rectangle 50"/>
            <p:cNvSpPr/>
            <p:nvPr/>
          </p:nvSpPr>
          <p:spPr>
            <a:xfrm>
              <a:off x="3616" y="4021"/>
              <a:ext cx="83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4</a:t>
              </a:r>
              <a:endParaRPr lang="en-US" altLang="zh-CN" sz="2400" b="1" dirty="0"/>
            </a:p>
          </p:txBody>
        </p:sp>
        <p:sp>
          <p:nvSpPr>
            <p:cNvPr id="37925" name="Rectangle 51"/>
            <p:cNvSpPr/>
            <p:nvPr/>
          </p:nvSpPr>
          <p:spPr>
            <a:xfrm>
              <a:off x="2688" y="4021"/>
              <a:ext cx="92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6</a:t>
              </a:r>
              <a:endParaRPr lang="en-US" altLang="zh-CN" sz="2400" b="1" dirty="0"/>
            </a:p>
          </p:txBody>
        </p:sp>
        <p:sp>
          <p:nvSpPr>
            <p:cNvPr id="37926" name="Rectangle 52"/>
            <p:cNvSpPr/>
            <p:nvPr/>
          </p:nvSpPr>
          <p:spPr>
            <a:xfrm>
              <a:off x="4446" y="3722"/>
              <a:ext cx="1074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15</a:t>
              </a:r>
              <a:endParaRPr lang="en-US" altLang="zh-CN" sz="2400" b="1" dirty="0"/>
            </a:p>
          </p:txBody>
        </p:sp>
        <p:sp>
          <p:nvSpPr>
            <p:cNvPr id="37927" name="Rectangle 53"/>
            <p:cNvSpPr/>
            <p:nvPr/>
          </p:nvSpPr>
          <p:spPr>
            <a:xfrm>
              <a:off x="3616" y="3722"/>
              <a:ext cx="83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1</a:t>
              </a:r>
              <a:endParaRPr lang="en-US" altLang="zh-CN" sz="2400" b="1" dirty="0"/>
            </a:p>
          </p:txBody>
        </p:sp>
        <p:sp>
          <p:nvSpPr>
            <p:cNvPr id="37928" name="Rectangle 54"/>
            <p:cNvSpPr/>
            <p:nvPr/>
          </p:nvSpPr>
          <p:spPr>
            <a:xfrm>
              <a:off x="2688" y="3722"/>
              <a:ext cx="92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6</a:t>
              </a:r>
              <a:endParaRPr lang="en-US" altLang="zh-CN" sz="2400" b="1" dirty="0"/>
            </a:p>
          </p:txBody>
        </p:sp>
        <p:sp>
          <p:nvSpPr>
            <p:cNvPr id="37929" name="Rectangle 55"/>
            <p:cNvSpPr/>
            <p:nvPr/>
          </p:nvSpPr>
          <p:spPr>
            <a:xfrm>
              <a:off x="4446" y="3423"/>
              <a:ext cx="1074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18</a:t>
              </a:r>
              <a:endParaRPr lang="en-US" altLang="zh-CN" sz="2400" b="1" dirty="0"/>
            </a:p>
          </p:txBody>
        </p:sp>
        <p:sp>
          <p:nvSpPr>
            <p:cNvPr id="37930" name="Rectangle 56"/>
            <p:cNvSpPr/>
            <p:nvPr/>
          </p:nvSpPr>
          <p:spPr>
            <a:xfrm>
              <a:off x="3616" y="3423"/>
              <a:ext cx="83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2</a:t>
              </a:r>
              <a:endParaRPr lang="en-US" altLang="zh-CN" sz="2400" b="1" dirty="0"/>
            </a:p>
          </p:txBody>
        </p:sp>
        <p:sp>
          <p:nvSpPr>
            <p:cNvPr id="37931" name="Rectangle 57"/>
            <p:cNvSpPr/>
            <p:nvPr/>
          </p:nvSpPr>
          <p:spPr>
            <a:xfrm>
              <a:off x="2688" y="3423"/>
              <a:ext cx="92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5</a:t>
              </a:r>
              <a:endParaRPr lang="en-US" altLang="zh-CN" sz="2400" b="1" dirty="0"/>
            </a:p>
          </p:txBody>
        </p:sp>
        <p:sp>
          <p:nvSpPr>
            <p:cNvPr id="37932" name="Rectangle 58"/>
            <p:cNvSpPr/>
            <p:nvPr/>
          </p:nvSpPr>
          <p:spPr>
            <a:xfrm>
              <a:off x="4446" y="3124"/>
              <a:ext cx="1074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24</a:t>
              </a:r>
              <a:endParaRPr lang="en-US" altLang="zh-CN" sz="2400" b="1" dirty="0"/>
            </a:p>
          </p:txBody>
        </p:sp>
        <p:sp>
          <p:nvSpPr>
            <p:cNvPr id="37933" name="Rectangle 59"/>
            <p:cNvSpPr/>
            <p:nvPr/>
          </p:nvSpPr>
          <p:spPr>
            <a:xfrm>
              <a:off x="3616" y="3124"/>
              <a:ext cx="83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3</a:t>
              </a:r>
              <a:endParaRPr lang="en-US" altLang="zh-CN" sz="2400" b="1" dirty="0"/>
            </a:p>
          </p:txBody>
        </p:sp>
        <p:sp>
          <p:nvSpPr>
            <p:cNvPr id="37934" name="Rectangle 60"/>
            <p:cNvSpPr/>
            <p:nvPr/>
          </p:nvSpPr>
          <p:spPr>
            <a:xfrm>
              <a:off x="2688" y="3124"/>
              <a:ext cx="92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4</a:t>
              </a:r>
              <a:endParaRPr lang="en-US" altLang="zh-CN" sz="2400" b="1" dirty="0"/>
            </a:p>
          </p:txBody>
        </p:sp>
        <p:sp>
          <p:nvSpPr>
            <p:cNvPr id="37935" name="Rectangle 61"/>
            <p:cNvSpPr/>
            <p:nvPr/>
          </p:nvSpPr>
          <p:spPr>
            <a:xfrm>
              <a:off x="4446" y="2825"/>
              <a:ext cx="1074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14</a:t>
              </a:r>
              <a:endParaRPr lang="en-US" altLang="zh-CN" sz="2400" b="1" dirty="0"/>
            </a:p>
          </p:txBody>
        </p:sp>
        <p:sp>
          <p:nvSpPr>
            <p:cNvPr id="37936" name="Rectangle 62"/>
            <p:cNvSpPr/>
            <p:nvPr/>
          </p:nvSpPr>
          <p:spPr>
            <a:xfrm>
              <a:off x="3616" y="2825"/>
              <a:ext cx="83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5</a:t>
              </a:r>
              <a:endParaRPr lang="en-US" altLang="zh-CN" sz="2400" b="1" dirty="0"/>
            </a:p>
          </p:txBody>
        </p:sp>
        <p:sp>
          <p:nvSpPr>
            <p:cNvPr id="37937" name="Rectangle 63"/>
            <p:cNvSpPr/>
            <p:nvPr/>
          </p:nvSpPr>
          <p:spPr>
            <a:xfrm>
              <a:off x="2688" y="2825"/>
              <a:ext cx="92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3</a:t>
              </a:r>
              <a:endParaRPr lang="en-US" altLang="zh-CN" sz="2400" b="1" dirty="0"/>
            </a:p>
          </p:txBody>
        </p:sp>
        <p:sp>
          <p:nvSpPr>
            <p:cNvPr id="37938" name="Rectangle 64"/>
            <p:cNvSpPr/>
            <p:nvPr/>
          </p:nvSpPr>
          <p:spPr>
            <a:xfrm>
              <a:off x="4446" y="2526"/>
              <a:ext cx="1074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-3</a:t>
              </a:r>
              <a:endParaRPr lang="en-US" altLang="zh-CN" sz="2400" b="1" dirty="0"/>
            </a:p>
          </p:txBody>
        </p:sp>
        <p:sp>
          <p:nvSpPr>
            <p:cNvPr id="37939" name="Rectangle 65"/>
            <p:cNvSpPr/>
            <p:nvPr/>
          </p:nvSpPr>
          <p:spPr>
            <a:xfrm>
              <a:off x="3616" y="2526"/>
              <a:ext cx="83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1</a:t>
              </a:r>
              <a:endParaRPr lang="en-US" altLang="zh-CN" sz="2400" b="1" dirty="0"/>
            </a:p>
          </p:txBody>
        </p:sp>
        <p:sp>
          <p:nvSpPr>
            <p:cNvPr id="37940" name="Rectangle 66"/>
            <p:cNvSpPr/>
            <p:nvPr/>
          </p:nvSpPr>
          <p:spPr>
            <a:xfrm>
              <a:off x="2688" y="2526"/>
              <a:ext cx="92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3</a:t>
              </a:r>
              <a:endParaRPr lang="en-US" altLang="zh-CN" sz="2400" b="1" dirty="0"/>
            </a:p>
          </p:txBody>
        </p:sp>
        <p:sp>
          <p:nvSpPr>
            <p:cNvPr id="37941" name="Rectangle 67"/>
            <p:cNvSpPr/>
            <p:nvPr/>
          </p:nvSpPr>
          <p:spPr>
            <a:xfrm>
              <a:off x="4446" y="2227"/>
              <a:ext cx="1074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9</a:t>
              </a:r>
              <a:endParaRPr lang="en-US" altLang="zh-CN" sz="2400" b="1" dirty="0"/>
            </a:p>
          </p:txBody>
        </p:sp>
        <p:sp>
          <p:nvSpPr>
            <p:cNvPr id="37942" name="Rectangle 68"/>
            <p:cNvSpPr/>
            <p:nvPr/>
          </p:nvSpPr>
          <p:spPr>
            <a:xfrm>
              <a:off x="3616" y="2227"/>
              <a:ext cx="83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3</a:t>
              </a:r>
              <a:endParaRPr lang="en-US" altLang="zh-CN" sz="2400" b="1" dirty="0"/>
            </a:p>
          </p:txBody>
        </p:sp>
        <p:sp>
          <p:nvSpPr>
            <p:cNvPr id="37943" name="Rectangle 69"/>
            <p:cNvSpPr/>
            <p:nvPr/>
          </p:nvSpPr>
          <p:spPr>
            <a:xfrm>
              <a:off x="2688" y="2227"/>
              <a:ext cx="92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1</a:t>
              </a:r>
              <a:endParaRPr lang="en-US" altLang="zh-CN" sz="2400" b="1" dirty="0"/>
            </a:p>
          </p:txBody>
        </p:sp>
        <p:sp>
          <p:nvSpPr>
            <p:cNvPr id="37944" name="Rectangle 70"/>
            <p:cNvSpPr/>
            <p:nvPr/>
          </p:nvSpPr>
          <p:spPr>
            <a:xfrm>
              <a:off x="4446" y="1928"/>
              <a:ext cx="1074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12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37945" name="Rectangle 71"/>
            <p:cNvSpPr/>
            <p:nvPr/>
          </p:nvSpPr>
          <p:spPr>
            <a:xfrm>
              <a:off x="3616" y="1928"/>
              <a:ext cx="830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2</a:t>
              </a:r>
              <a:endParaRPr lang="en-US" altLang="zh-CN" sz="2400" b="1" dirty="0"/>
            </a:p>
          </p:txBody>
        </p:sp>
        <p:sp>
          <p:nvSpPr>
            <p:cNvPr id="37946" name="Rectangle 72"/>
            <p:cNvSpPr/>
            <p:nvPr/>
          </p:nvSpPr>
          <p:spPr>
            <a:xfrm>
              <a:off x="2688" y="1928"/>
              <a:ext cx="92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/>
                <a:t>1</a:t>
              </a:r>
              <a:endParaRPr lang="en-US" altLang="zh-CN" sz="2400" b="1" dirty="0"/>
            </a:p>
          </p:txBody>
        </p:sp>
        <p:sp>
          <p:nvSpPr>
            <p:cNvPr id="37947" name="Line 73"/>
            <p:cNvSpPr/>
            <p:nvPr/>
          </p:nvSpPr>
          <p:spPr>
            <a:xfrm>
              <a:off x="2688" y="1928"/>
              <a:ext cx="2832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8" name="Line 74"/>
            <p:cNvSpPr/>
            <p:nvPr/>
          </p:nvSpPr>
          <p:spPr>
            <a:xfrm>
              <a:off x="2688" y="4320"/>
              <a:ext cx="283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9" name="Line 75"/>
            <p:cNvSpPr/>
            <p:nvPr/>
          </p:nvSpPr>
          <p:spPr>
            <a:xfrm>
              <a:off x="2688" y="2227"/>
              <a:ext cx="28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0" name="Line 76"/>
            <p:cNvSpPr/>
            <p:nvPr/>
          </p:nvSpPr>
          <p:spPr>
            <a:xfrm>
              <a:off x="2688" y="2526"/>
              <a:ext cx="28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1" name="Line 77"/>
            <p:cNvSpPr/>
            <p:nvPr/>
          </p:nvSpPr>
          <p:spPr>
            <a:xfrm>
              <a:off x="2688" y="2825"/>
              <a:ext cx="28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2" name="Line 78"/>
            <p:cNvSpPr/>
            <p:nvPr/>
          </p:nvSpPr>
          <p:spPr>
            <a:xfrm>
              <a:off x="2688" y="3124"/>
              <a:ext cx="28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3" name="Line 79"/>
            <p:cNvSpPr/>
            <p:nvPr/>
          </p:nvSpPr>
          <p:spPr>
            <a:xfrm>
              <a:off x="2688" y="3423"/>
              <a:ext cx="28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4" name="Line 80"/>
            <p:cNvSpPr/>
            <p:nvPr/>
          </p:nvSpPr>
          <p:spPr>
            <a:xfrm>
              <a:off x="2688" y="3722"/>
              <a:ext cx="28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5" name="Line 81"/>
            <p:cNvSpPr/>
            <p:nvPr/>
          </p:nvSpPr>
          <p:spPr>
            <a:xfrm>
              <a:off x="2688" y="4021"/>
              <a:ext cx="283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6" name="Line 82"/>
            <p:cNvSpPr/>
            <p:nvPr/>
          </p:nvSpPr>
          <p:spPr>
            <a:xfrm>
              <a:off x="2688" y="1928"/>
              <a:ext cx="0" cy="2392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7" name="Line 83"/>
            <p:cNvSpPr/>
            <p:nvPr/>
          </p:nvSpPr>
          <p:spPr>
            <a:xfrm>
              <a:off x="3616" y="1928"/>
              <a:ext cx="0" cy="23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8" name="Line 84"/>
            <p:cNvSpPr/>
            <p:nvPr/>
          </p:nvSpPr>
          <p:spPr>
            <a:xfrm>
              <a:off x="4446" y="1928"/>
              <a:ext cx="0" cy="23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9" name="Line 85"/>
            <p:cNvSpPr/>
            <p:nvPr/>
          </p:nvSpPr>
          <p:spPr>
            <a:xfrm>
              <a:off x="5520" y="1928"/>
              <a:ext cx="0" cy="2392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0" name="Rectangle 86"/>
            <p:cNvSpPr/>
            <p:nvPr/>
          </p:nvSpPr>
          <p:spPr>
            <a:xfrm>
              <a:off x="4446" y="1640"/>
              <a:ext cx="10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8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61" name="Rectangle 87"/>
            <p:cNvSpPr/>
            <p:nvPr/>
          </p:nvSpPr>
          <p:spPr>
            <a:xfrm>
              <a:off x="3616" y="1640"/>
              <a:ext cx="8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6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62" name="Rectangle 88"/>
            <p:cNvSpPr/>
            <p:nvPr/>
          </p:nvSpPr>
          <p:spPr>
            <a:xfrm>
              <a:off x="2688" y="1640"/>
              <a:ext cx="9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6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63" name="Line 89"/>
            <p:cNvSpPr/>
            <p:nvPr/>
          </p:nvSpPr>
          <p:spPr>
            <a:xfrm>
              <a:off x="2688" y="1640"/>
              <a:ext cx="2832" cy="0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4" name="Line 90"/>
            <p:cNvSpPr/>
            <p:nvPr/>
          </p:nvSpPr>
          <p:spPr>
            <a:xfrm>
              <a:off x="2688" y="1928"/>
              <a:ext cx="2832" cy="0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5" name="Line 91"/>
            <p:cNvSpPr/>
            <p:nvPr/>
          </p:nvSpPr>
          <p:spPr>
            <a:xfrm>
              <a:off x="2688" y="1640"/>
              <a:ext cx="0" cy="288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6" name="Line 92"/>
            <p:cNvSpPr/>
            <p:nvPr/>
          </p:nvSpPr>
          <p:spPr>
            <a:xfrm>
              <a:off x="5520" y="1640"/>
              <a:ext cx="0" cy="288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7" name="Line 93"/>
            <p:cNvSpPr/>
            <p:nvPr/>
          </p:nvSpPr>
          <p:spPr>
            <a:xfrm>
              <a:off x="3616" y="1640"/>
              <a:ext cx="0" cy="288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8" name="Line 94"/>
            <p:cNvSpPr/>
            <p:nvPr/>
          </p:nvSpPr>
          <p:spPr>
            <a:xfrm>
              <a:off x="4446" y="1640"/>
              <a:ext cx="0" cy="288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9" name="Rectangle 95"/>
            <p:cNvSpPr/>
            <p:nvPr/>
          </p:nvSpPr>
          <p:spPr>
            <a:xfrm>
              <a:off x="4446" y="1352"/>
              <a:ext cx="10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v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70" name="Rectangle 96"/>
            <p:cNvSpPr/>
            <p:nvPr/>
          </p:nvSpPr>
          <p:spPr>
            <a:xfrm>
              <a:off x="3616" y="1352"/>
              <a:ext cx="8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j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71" name="Rectangle 97"/>
            <p:cNvSpPr/>
            <p:nvPr/>
          </p:nvSpPr>
          <p:spPr>
            <a:xfrm>
              <a:off x="2688" y="1352"/>
              <a:ext cx="9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i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37972" name="Line 98"/>
            <p:cNvSpPr/>
            <p:nvPr/>
          </p:nvSpPr>
          <p:spPr>
            <a:xfrm>
              <a:off x="2688" y="1352"/>
              <a:ext cx="928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7973" name="Line 99"/>
            <p:cNvSpPr/>
            <p:nvPr/>
          </p:nvSpPr>
          <p:spPr>
            <a:xfrm>
              <a:off x="2688" y="1640"/>
              <a:ext cx="928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7974" name="Line 100"/>
            <p:cNvSpPr/>
            <p:nvPr/>
          </p:nvSpPr>
          <p:spPr>
            <a:xfrm>
              <a:off x="2688" y="1352"/>
              <a:ext cx="0" cy="288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7975" name="Line 101"/>
            <p:cNvSpPr/>
            <p:nvPr/>
          </p:nvSpPr>
          <p:spPr>
            <a:xfrm>
              <a:off x="5520" y="1352"/>
              <a:ext cx="0" cy="288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7976" name="Line 102"/>
            <p:cNvSpPr/>
            <p:nvPr/>
          </p:nvSpPr>
          <p:spPr>
            <a:xfrm>
              <a:off x="3616" y="1352"/>
              <a:ext cx="830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7977" name="Line 103"/>
            <p:cNvSpPr/>
            <p:nvPr/>
          </p:nvSpPr>
          <p:spPr>
            <a:xfrm>
              <a:off x="3616" y="1640"/>
              <a:ext cx="830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7978" name="Line 104"/>
            <p:cNvSpPr/>
            <p:nvPr/>
          </p:nvSpPr>
          <p:spPr>
            <a:xfrm>
              <a:off x="4446" y="1352"/>
              <a:ext cx="1074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37979" name="Line 105"/>
            <p:cNvSpPr/>
            <p:nvPr/>
          </p:nvSpPr>
          <p:spPr>
            <a:xfrm>
              <a:off x="4446" y="1640"/>
              <a:ext cx="1074" cy="0"/>
            </a:xfrm>
            <a:prstGeom prst="line">
              <a:avLst/>
            </a:prstGeom>
            <a:ln w="28575">
              <a:noFill/>
            </a:ln>
          </p:spPr>
        </p:sp>
      </p:grpSp>
      <p:graphicFrame>
        <p:nvGraphicFramePr>
          <p:cNvPr id="58474" name="Group 106"/>
          <p:cNvGraphicFramePr>
            <a:graphicFrameLocks noGrp="1"/>
          </p:cNvGraphicFramePr>
          <p:nvPr/>
        </p:nvGraphicFramePr>
        <p:xfrm>
          <a:off x="6172200" y="2646363"/>
          <a:ext cx="304800" cy="2940050"/>
        </p:xfrm>
        <a:graphic>
          <a:graphicData uri="http://schemas.openxmlformats.org/drawingml/2006/table">
            <a:tbl>
              <a:tblPr/>
              <a:tblGrid>
                <a:gridCol w="304800"/>
              </a:tblGrid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504" name="Rectangle 136"/>
          <p:cNvSpPr/>
          <p:nvPr/>
        </p:nvSpPr>
        <p:spPr>
          <a:xfrm>
            <a:off x="2514600" y="4114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3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58505" name="Rectangle 137"/>
          <p:cNvSpPr/>
          <p:nvPr/>
        </p:nvSpPr>
        <p:spPr>
          <a:xfrm>
            <a:off x="228600" y="609600"/>
            <a:ext cx="5562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用途：</a:t>
            </a:r>
            <a:r>
              <a:rPr lang="zh-CN" altLang="en-US" sz="2400" b="1" dirty="0">
                <a:ea typeface="楷体_GB2312"/>
              </a:rPr>
              <a:t>通过三元组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高效访问稀疏矩阵</a:t>
            </a:r>
            <a:r>
              <a:rPr lang="zh-CN" altLang="en-US" sz="2400" b="1" dirty="0">
                <a:ea typeface="楷体_GB2312"/>
              </a:rPr>
              <a:t>中任一非零元素。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58506" name="Rectangle 138"/>
          <p:cNvSpPr/>
          <p:nvPr/>
        </p:nvSpPr>
        <p:spPr>
          <a:xfrm>
            <a:off x="533400" y="5029200"/>
            <a:ext cx="5029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规律：</a:t>
            </a:r>
            <a:r>
              <a:rPr lang="en-US" altLang="zh-CN" sz="2400" b="1" dirty="0">
                <a:solidFill>
                  <a:schemeClr val="accent1"/>
                </a:solidFill>
                <a:highlight>
                  <a:srgbClr val="FFFF00"/>
                </a:highlight>
              </a:rPr>
              <a:t>POS(1)</a:t>
            </a:r>
            <a:r>
              <a:rPr lang="zh-CN" altLang="en-US" sz="2400" b="1" dirty="0">
                <a:solidFill>
                  <a:schemeClr val="accent1"/>
                </a:solidFill>
                <a:highlight>
                  <a:srgbClr val="FFFF00"/>
                </a:highlight>
              </a:rPr>
              <a:t>＝</a:t>
            </a:r>
            <a:r>
              <a:rPr lang="en-US" altLang="zh-CN" sz="2400" b="1" dirty="0">
                <a:solidFill>
                  <a:schemeClr val="accent1"/>
                </a:solidFill>
                <a:highlight>
                  <a:srgbClr val="FFFF00"/>
                </a:highlight>
              </a:rPr>
              <a:t>1</a:t>
            </a:r>
            <a:endParaRPr lang="en-US" altLang="zh-CN" sz="2400" b="1" dirty="0">
              <a:solidFill>
                <a:schemeClr val="accent1"/>
              </a:solidFill>
              <a:highlight>
                <a:srgbClr val="FFFF00"/>
              </a:highlight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highlight>
                  <a:srgbClr val="FFFF00"/>
                </a:highlight>
              </a:rPr>
              <a:t>            POS(i)</a:t>
            </a:r>
            <a:r>
              <a:rPr lang="zh-CN" altLang="en-US" sz="2400" b="1" dirty="0">
                <a:solidFill>
                  <a:schemeClr val="accent1"/>
                </a:solidFill>
                <a:highlight>
                  <a:srgbClr val="FFFF00"/>
                </a:highlight>
              </a:rPr>
              <a:t>＝</a:t>
            </a:r>
            <a:r>
              <a:rPr lang="en-US" altLang="zh-CN" sz="2400" b="1" dirty="0">
                <a:solidFill>
                  <a:schemeClr val="accent1"/>
                </a:solidFill>
                <a:highlight>
                  <a:srgbClr val="FFFF00"/>
                </a:highlight>
              </a:rPr>
              <a:t>POS(i-1)+NUM(i-1)</a:t>
            </a:r>
            <a:endParaRPr lang="en-US" altLang="zh-CN" sz="2400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58507" name="Line 139"/>
          <p:cNvSpPr/>
          <p:nvPr/>
        </p:nvSpPr>
        <p:spPr>
          <a:xfrm flipV="1">
            <a:off x="1981200" y="4495800"/>
            <a:ext cx="457200" cy="5334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" name="Group 140"/>
          <p:cNvGrpSpPr/>
          <p:nvPr/>
        </p:nvGrpSpPr>
        <p:grpSpPr>
          <a:xfrm>
            <a:off x="1219200" y="228600"/>
            <a:ext cx="5562600" cy="2895600"/>
            <a:chOff x="768" y="144"/>
            <a:chExt cx="3504" cy="1824"/>
          </a:xfrm>
        </p:grpSpPr>
        <p:sp>
          <p:nvSpPr>
            <p:cNvPr id="37917" name="Line 141"/>
            <p:cNvSpPr/>
            <p:nvPr/>
          </p:nvSpPr>
          <p:spPr>
            <a:xfrm flipH="1">
              <a:off x="768" y="1824"/>
              <a:ext cx="2928" cy="0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918" name="Group 142"/>
            <p:cNvGrpSpPr/>
            <p:nvPr/>
          </p:nvGrpSpPr>
          <p:grpSpPr>
            <a:xfrm>
              <a:off x="768" y="144"/>
              <a:ext cx="3504" cy="1824"/>
              <a:chOff x="768" y="144"/>
              <a:chExt cx="3504" cy="1824"/>
            </a:xfrm>
          </p:grpSpPr>
          <p:sp>
            <p:nvSpPr>
              <p:cNvPr id="37919" name="Line 143"/>
              <p:cNvSpPr/>
              <p:nvPr/>
            </p:nvSpPr>
            <p:spPr>
              <a:xfrm flipH="1">
                <a:off x="3696" y="14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accent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7920" name="Line 144"/>
              <p:cNvSpPr/>
              <p:nvPr/>
            </p:nvSpPr>
            <p:spPr>
              <a:xfrm>
                <a:off x="3696" y="144"/>
                <a:ext cx="0" cy="1680"/>
              </a:xfrm>
              <a:prstGeom prst="line">
                <a:avLst/>
              </a:prstGeom>
              <a:ln w="9525" cap="flat" cmpd="sng">
                <a:solidFill>
                  <a:schemeClr val="accent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1" name="Line 145"/>
              <p:cNvSpPr/>
              <p:nvPr/>
            </p:nvSpPr>
            <p:spPr>
              <a:xfrm>
                <a:off x="768" y="182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accent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7922" name="Line 146"/>
              <p:cNvSpPr/>
              <p:nvPr/>
            </p:nvSpPr>
            <p:spPr>
              <a:xfrm>
                <a:off x="3696" y="144"/>
                <a:ext cx="192" cy="0"/>
              </a:xfrm>
              <a:prstGeom prst="line">
                <a:avLst/>
              </a:prstGeom>
              <a:ln w="25400" cap="flat" cmpd="sng">
                <a:solidFill>
                  <a:schemeClr val="accent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837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837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1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8371">
                                            <p:txEl>
                                              <p:charRg st="1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8371">
                                            <p:txEl>
                                              <p:charRg st="1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4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8371">
                                            <p:txEl>
                                              <p:charRg st="4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371">
                                            <p:txEl>
                                              <p:charRg st="4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0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06">
                                            <p:txEl>
                                              <p:charRg st="12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8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8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  <p:bldP spid="58372" grpId="0" animBg="1"/>
      <p:bldP spid="58373" grpId="0"/>
      <p:bldP spid="58374" grpId="0"/>
      <p:bldP spid="58375" grpId="0"/>
      <p:bldP spid="58376" grpId="0"/>
      <p:bldP spid="58377" grpId="0"/>
      <p:bldP spid="58504" grpId="0"/>
      <p:bldP spid="58505" grpId="0"/>
      <p:bldP spid="5850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8915" name="Rectangle 2"/>
          <p:cNvSpPr/>
          <p:nvPr>
            <p:ph type="title"/>
          </p:nvPr>
        </p:nvSpPr>
        <p:spPr>
          <a:xfrm>
            <a:off x="228600" y="304800"/>
            <a:ext cx="41148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法四：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</a:rPr>
              <a:t>用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十字链表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</a:rPr>
              <a:t>表示</a:t>
            </a:r>
            <a:endParaRPr lang="zh-CN" altLang="en-US" sz="2800" b="1" dirty="0">
              <a:solidFill>
                <a:schemeClr val="tx1"/>
              </a:solidFill>
              <a:ea typeface="楷体_GB2312"/>
            </a:endParaRPr>
          </a:p>
        </p:txBody>
      </p:sp>
      <p:sp>
        <p:nvSpPr>
          <p:cNvPr id="59395" name="AutoShape 3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9396" name="Rectangle 4"/>
          <p:cNvSpPr/>
          <p:nvPr/>
        </p:nvSpPr>
        <p:spPr>
          <a:xfrm>
            <a:off x="152400" y="838200"/>
            <a:ext cx="4800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用途：</a:t>
            </a:r>
            <a:r>
              <a:rPr lang="zh-CN" altLang="en-US" sz="2400" b="1" dirty="0">
                <a:ea typeface="楷体_GB2312"/>
              </a:rPr>
              <a:t>方便稀疏矩阵的加减运算；</a:t>
            </a:r>
            <a:endParaRPr lang="zh-CN" altLang="en-US" sz="2400" b="1" dirty="0"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方法：</a:t>
            </a:r>
            <a:r>
              <a:rPr lang="zh-CN" altLang="en-US" sz="2400" b="1" dirty="0">
                <a:ea typeface="楷体_GB2312"/>
              </a:rPr>
              <a:t>每个非</a:t>
            </a:r>
            <a:r>
              <a:rPr lang="en-US" altLang="zh-CN" sz="2400" b="1" dirty="0">
                <a:ea typeface="楷体_GB2312"/>
              </a:rPr>
              <a:t>0</a:t>
            </a:r>
            <a:r>
              <a:rPr lang="zh-CN" altLang="en-US" sz="2400" b="1" dirty="0">
                <a:ea typeface="楷体_GB2312"/>
              </a:rPr>
              <a:t>元素占用</a:t>
            </a: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5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个域。</a:t>
            </a:r>
            <a:endParaRPr lang="zh-CN" altLang="en-US" sz="2400" b="1" dirty="0">
              <a:solidFill>
                <a:schemeClr val="accent1"/>
              </a:solidFill>
              <a:ea typeface="楷体_GB231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5638800" y="304800"/>
            <a:ext cx="3276600" cy="914400"/>
            <a:chOff x="480" y="1200"/>
            <a:chExt cx="2064" cy="576"/>
          </a:xfrm>
        </p:grpSpPr>
        <p:sp>
          <p:nvSpPr>
            <p:cNvPr id="38992" name="Rectangle 6"/>
            <p:cNvSpPr/>
            <p:nvPr/>
          </p:nvSpPr>
          <p:spPr>
            <a:xfrm>
              <a:off x="1776" y="1488"/>
              <a:ext cx="7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right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38993" name="Rectangle 7"/>
            <p:cNvSpPr/>
            <p:nvPr/>
          </p:nvSpPr>
          <p:spPr>
            <a:xfrm>
              <a:off x="480" y="1488"/>
              <a:ext cx="12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400" b="1" dirty="0">
                  <a:solidFill>
                    <a:srgbClr val="99FF33"/>
                  </a:solidFill>
                </a:rPr>
                <a:t>   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down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38994" name="Rectangle 8"/>
            <p:cNvSpPr/>
            <p:nvPr/>
          </p:nvSpPr>
          <p:spPr>
            <a:xfrm>
              <a:off x="1776" y="1200"/>
              <a:ext cx="7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dirty="0">
                  <a:solidFill>
                    <a:schemeClr val="accent1"/>
                  </a:solidFill>
                </a:rPr>
                <a:t>v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38995" name="Rectangle 9"/>
            <p:cNvSpPr/>
            <p:nvPr/>
          </p:nvSpPr>
          <p:spPr>
            <a:xfrm>
              <a:off x="1231" y="1200"/>
              <a:ext cx="54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dirty="0">
                  <a:solidFill>
                    <a:schemeClr val="accent1"/>
                  </a:solidFill>
                </a:rPr>
                <a:t>j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38996" name="Rectangle 10"/>
            <p:cNvSpPr/>
            <p:nvPr/>
          </p:nvSpPr>
          <p:spPr>
            <a:xfrm>
              <a:off x="480" y="1200"/>
              <a:ext cx="7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</a:rPr>
                <a:t>i</a:t>
              </a:r>
              <a:endParaRPr lang="en-US" altLang="zh-CN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38997" name="Line 11"/>
            <p:cNvSpPr/>
            <p:nvPr/>
          </p:nvSpPr>
          <p:spPr>
            <a:xfrm>
              <a:off x="480" y="1200"/>
              <a:ext cx="2064" cy="0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8" name="Line 12"/>
            <p:cNvSpPr/>
            <p:nvPr/>
          </p:nvSpPr>
          <p:spPr>
            <a:xfrm>
              <a:off x="480" y="1776"/>
              <a:ext cx="2064" cy="0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9" name="Line 13"/>
            <p:cNvSpPr/>
            <p:nvPr/>
          </p:nvSpPr>
          <p:spPr>
            <a:xfrm>
              <a:off x="480" y="1200"/>
              <a:ext cx="0" cy="576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0" name="Line 14"/>
            <p:cNvSpPr/>
            <p:nvPr/>
          </p:nvSpPr>
          <p:spPr>
            <a:xfrm>
              <a:off x="2544" y="1200"/>
              <a:ext cx="0" cy="576"/>
            </a:xfrm>
            <a:prstGeom prst="line">
              <a:avLst/>
            </a:prstGeom>
            <a:ln w="31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1" name="Line 15"/>
            <p:cNvSpPr/>
            <p:nvPr/>
          </p:nvSpPr>
          <p:spPr>
            <a:xfrm>
              <a:off x="1231" y="1200"/>
              <a:ext cx="0" cy="288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2" name="Line 16"/>
            <p:cNvSpPr/>
            <p:nvPr/>
          </p:nvSpPr>
          <p:spPr>
            <a:xfrm>
              <a:off x="1776" y="1200"/>
              <a:ext cx="0" cy="288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3" name="Line 17"/>
            <p:cNvSpPr/>
            <p:nvPr/>
          </p:nvSpPr>
          <p:spPr>
            <a:xfrm>
              <a:off x="480" y="1488"/>
              <a:ext cx="2064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4" name="Line 18"/>
            <p:cNvSpPr/>
            <p:nvPr/>
          </p:nvSpPr>
          <p:spPr>
            <a:xfrm>
              <a:off x="1488" y="148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9411" name="AutoShape 19"/>
          <p:cNvSpPr/>
          <p:nvPr/>
        </p:nvSpPr>
        <p:spPr>
          <a:xfrm>
            <a:off x="4572000" y="1524000"/>
            <a:ext cx="1981200" cy="685800"/>
          </a:xfrm>
          <a:prstGeom prst="wedgeRoundRectCallout">
            <a:avLst>
              <a:gd name="adj1" fmla="val 43750"/>
              <a:gd name="adj2" fmla="val -104398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0000CC"/>
                </a:solidFill>
                <a:ea typeface="楷体_GB2312"/>
              </a:rPr>
              <a:t>同一列中下一非零元素的指针</a:t>
            </a:r>
            <a:endParaRPr lang="zh-CN" altLang="en-US" sz="1800" b="1" dirty="0">
              <a:solidFill>
                <a:srgbClr val="0000CC"/>
              </a:solidFill>
              <a:ea typeface="楷体_GB2312"/>
            </a:endParaRPr>
          </a:p>
        </p:txBody>
      </p:sp>
      <p:sp>
        <p:nvSpPr>
          <p:cNvPr id="59412" name="AutoShape 20"/>
          <p:cNvSpPr/>
          <p:nvPr/>
        </p:nvSpPr>
        <p:spPr>
          <a:xfrm>
            <a:off x="6781800" y="1600200"/>
            <a:ext cx="2057400" cy="609600"/>
          </a:xfrm>
          <a:prstGeom prst="wedgeRoundRectCallout">
            <a:avLst>
              <a:gd name="adj1" fmla="val 23380"/>
              <a:gd name="adj2" fmla="val -119273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0000CC"/>
                </a:solidFill>
                <a:ea typeface="楷体_GB2312"/>
              </a:rPr>
              <a:t>同一行中下一非零元素的指针</a:t>
            </a:r>
            <a:endParaRPr lang="zh-CN" altLang="en-US" sz="1800" b="1" dirty="0">
              <a:solidFill>
                <a:srgbClr val="0000CC"/>
              </a:solidFill>
              <a:ea typeface="楷体_GB2312"/>
            </a:endParaRPr>
          </a:p>
        </p:txBody>
      </p:sp>
      <p:sp>
        <p:nvSpPr>
          <p:cNvPr id="59413" name="Rectangle 21"/>
          <p:cNvSpPr/>
          <p:nvPr/>
        </p:nvSpPr>
        <p:spPr>
          <a:xfrm>
            <a:off x="304800" y="2209800"/>
            <a:ext cx="8229600" cy="1979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十字链表的特点：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①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每行非零元素链接</a:t>
            </a:r>
            <a:r>
              <a:rPr lang="zh-CN" altLang="en-US" sz="2400" b="1" dirty="0">
                <a:ea typeface="楷体_GB2312"/>
              </a:rPr>
              <a:t>成带表头结点的循环链表；</a:t>
            </a:r>
            <a:endParaRPr lang="zh-CN" altLang="en-US" sz="2400" b="1" dirty="0"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②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每列非零元素也链接</a:t>
            </a:r>
            <a:r>
              <a:rPr lang="zh-CN" altLang="en-US" sz="2400" b="1" dirty="0">
                <a:ea typeface="楷体_GB2312"/>
              </a:rPr>
              <a:t>成带表头结点的循环链表。</a:t>
            </a:r>
            <a:endParaRPr lang="zh-CN" altLang="en-US" sz="2400" b="1" dirty="0"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则每个非零元素既是行循环链表中的一个结点；又是列循环链表中的一个结点，即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呈十字链状。</a:t>
            </a:r>
            <a:endParaRPr lang="zh-CN" altLang="en-US" sz="24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59414" name="AutoShape 22">
            <a:hlinkClick r:id="" action="ppaction://hlinkshowjump?jump=previousslide"/>
          </p:cNvPr>
          <p:cNvSpPr/>
          <p:nvPr/>
        </p:nvSpPr>
        <p:spPr>
          <a:xfrm rot="5400000" flipH="1">
            <a:off x="647700" y="57531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9415" name="Rectangle 23"/>
          <p:cNvSpPr/>
          <p:nvPr/>
        </p:nvSpPr>
        <p:spPr>
          <a:xfrm>
            <a:off x="304800" y="4419600"/>
            <a:ext cx="14478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以刚才的稀疏矩阵为例：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</p:txBody>
      </p:sp>
      <p:grpSp>
        <p:nvGrpSpPr>
          <p:cNvPr id="3" name="Group 24"/>
          <p:cNvGrpSpPr/>
          <p:nvPr/>
        </p:nvGrpSpPr>
        <p:grpSpPr>
          <a:xfrm>
            <a:off x="2057400" y="4267200"/>
            <a:ext cx="5867400" cy="2057400"/>
            <a:chOff x="864" y="2640"/>
            <a:chExt cx="3888" cy="1632"/>
          </a:xfrm>
        </p:grpSpPr>
        <p:grpSp>
          <p:nvGrpSpPr>
            <p:cNvPr id="38925" name="Group 25"/>
            <p:cNvGrpSpPr/>
            <p:nvPr/>
          </p:nvGrpSpPr>
          <p:grpSpPr>
            <a:xfrm>
              <a:off x="2640" y="2832"/>
              <a:ext cx="864" cy="480"/>
              <a:chOff x="480" y="1200"/>
              <a:chExt cx="2064" cy="576"/>
            </a:xfrm>
          </p:grpSpPr>
          <p:sp>
            <p:nvSpPr>
              <p:cNvPr id="38979" name="Rectangle 26"/>
              <p:cNvSpPr/>
              <p:nvPr/>
            </p:nvSpPr>
            <p:spPr>
              <a:xfrm>
                <a:off x="1776" y="1488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>
                  <a:solidFill>
                    <a:srgbClr val="99FF33"/>
                  </a:solidFill>
                </a:endParaRPr>
              </a:p>
            </p:txBody>
          </p:sp>
          <p:sp>
            <p:nvSpPr>
              <p:cNvPr id="38980" name="Rectangle 27"/>
              <p:cNvSpPr/>
              <p:nvPr/>
            </p:nvSpPr>
            <p:spPr>
              <a:xfrm>
                <a:off x="480" y="1488"/>
                <a:ext cx="12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b="1" dirty="0">
                  <a:solidFill>
                    <a:srgbClr val="99FF33"/>
                  </a:solidFill>
                </a:endParaRPr>
              </a:p>
            </p:txBody>
          </p:sp>
          <p:sp>
            <p:nvSpPr>
              <p:cNvPr id="38981" name="Rectangle 28"/>
              <p:cNvSpPr/>
              <p:nvPr/>
            </p:nvSpPr>
            <p:spPr>
              <a:xfrm>
                <a:off x="1776" y="1200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>
                    <a:solidFill>
                      <a:schemeClr val="hlink"/>
                    </a:solidFill>
                  </a:rPr>
                  <a:t>12</a:t>
                </a:r>
                <a:endParaRPr lang="en-US" altLang="zh-CN" sz="20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38982" name="Rectangle 29"/>
              <p:cNvSpPr/>
              <p:nvPr/>
            </p:nvSpPr>
            <p:spPr>
              <a:xfrm>
                <a:off x="1231" y="1200"/>
                <a:ext cx="54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>
                    <a:solidFill>
                      <a:schemeClr val="accent1"/>
                    </a:solidFill>
                  </a:rPr>
                  <a:t>2</a:t>
                </a:r>
                <a:endParaRPr lang="en-US" altLang="zh-CN" sz="20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8983" name="Rectangle 30"/>
              <p:cNvSpPr/>
              <p:nvPr/>
            </p:nvSpPr>
            <p:spPr>
              <a:xfrm>
                <a:off x="480" y="1200"/>
                <a:ext cx="75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/>
                  <a:t>1</a:t>
                </a:r>
                <a:endParaRPr lang="en-US" altLang="zh-CN" sz="2000" b="1" dirty="0"/>
              </a:p>
            </p:txBody>
          </p:sp>
          <p:sp>
            <p:nvSpPr>
              <p:cNvPr id="38984" name="Line 31"/>
              <p:cNvSpPr/>
              <p:nvPr/>
            </p:nvSpPr>
            <p:spPr>
              <a:xfrm>
                <a:off x="480" y="1200"/>
                <a:ext cx="2064" cy="0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85" name="Line 32"/>
              <p:cNvSpPr/>
              <p:nvPr/>
            </p:nvSpPr>
            <p:spPr>
              <a:xfrm>
                <a:off x="480" y="1776"/>
                <a:ext cx="2064" cy="0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86" name="Line 33"/>
              <p:cNvSpPr/>
              <p:nvPr/>
            </p:nvSpPr>
            <p:spPr>
              <a:xfrm>
                <a:off x="480" y="1200"/>
                <a:ext cx="0" cy="576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87" name="Line 34"/>
              <p:cNvSpPr/>
              <p:nvPr/>
            </p:nvSpPr>
            <p:spPr>
              <a:xfrm>
                <a:off x="2544" y="1200"/>
                <a:ext cx="0" cy="576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88" name="Line 35"/>
              <p:cNvSpPr/>
              <p:nvPr/>
            </p:nvSpPr>
            <p:spPr>
              <a:xfrm>
                <a:off x="1231" y="1200"/>
                <a:ext cx="0" cy="288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89" name="Line 36"/>
              <p:cNvSpPr/>
              <p:nvPr/>
            </p:nvSpPr>
            <p:spPr>
              <a:xfrm>
                <a:off x="1776" y="1200"/>
                <a:ext cx="0" cy="288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90" name="Line 37"/>
              <p:cNvSpPr/>
              <p:nvPr/>
            </p:nvSpPr>
            <p:spPr>
              <a:xfrm>
                <a:off x="480" y="1488"/>
                <a:ext cx="2064" cy="0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91" name="Line 38"/>
              <p:cNvSpPr/>
              <p:nvPr/>
            </p:nvSpPr>
            <p:spPr>
              <a:xfrm>
                <a:off x="1488" y="1488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8926" name="Group 39"/>
            <p:cNvGrpSpPr/>
            <p:nvPr/>
          </p:nvGrpSpPr>
          <p:grpSpPr>
            <a:xfrm>
              <a:off x="1632" y="2832"/>
              <a:ext cx="768" cy="480"/>
              <a:chOff x="480" y="1200"/>
              <a:chExt cx="2064" cy="576"/>
            </a:xfrm>
          </p:grpSpPr>
          <p:sp>
            <p:nvSpPr>
              <p:cNvPr id="38966" name="Rectangle 40"/>
              <p:cNvSpPr/>
              <p:nvPr/>
            </p:nvSpPr>
            <p:spPr>
              <a:xfrm>
                <a:off x="1776" y="1488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>
                  <a:solidFill>
                    <a:srgbClr val="99FF33"/>
                  </a:solidFill>
                </a:endParaRPr>
              </a:p>
            </p:txBody>
          </p:sp>
          <p:sp>
            <p:nvSpPr>
              <p:cNvPr id="38967" name="Rectangle 41"/>
              <p:cNvSpPr/>
              <p:nvPr/>
            </p:nvSpPr>
            <p:spPr>
              <a:xfrm>
                <a:off x="480" y="1488"/>
                <a:ext cx="12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b="1" dirty="0">
                  <a:solidFill>
                    <a:srgbClr val="99FF33"/>
                  </a:solidFill>
                </a:endParaRPr>
              </a:p>
            </p:txBody>
          </p:sp>
          <p:sp>
            <p:nvSpPr>
              <p:cNvPr id="38968" name="Rectangle 42"/>
              <p:cNvSpPr/>
              <p:nvPr/>
            </p:nvSpPr>
            <p:spPr>
              <a:xfrm>
                <a:off x="1776" y="1200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endParaRPr lang="zh-CN" altLang="zh-CN" sz="20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8969" name="Rectangle 43"/>
              <p:cNvSpPr/>
              <p:nvPr/>
            </p:nvSpPr>
            <p:spPr>
              <a:xfrm>
                <a:off x="1231" y="1200"/>
                <a:ext cx="54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/>
                  <a:t>0</a:t>
                </a:r>
                <a:endParaRPr lang="en-US" altLang="zh-CN" sz="2000" b="1" dirty="0"/>
              </a:p>
            </p:txBody>
          </p:sp>
          <p:sp>
            <p:nvSpPr>
              <p:cNvPr id="38970" name="Rectangle 44"/>
              <p:cNvSpPr/>
              <p:nvPr/>
            </p:nvSpPr>
            <p:spPr>
              <a:xfrm>
                <a:off x="480" y="1200"/>
                <a:ext cx="75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/>
                  <a:t>0</a:t>
                </a:r>
                <a:endParaRPr lang="en-US" altLang="zh-CN" sz="2000" b="1" dirty="0"/>
              </a:p>
            </p:txBody>
          </p:sp>
          <p:sp>
            <p:nvSpPr>
              <p:cNvPr id="38971" name="Line 45"/>
              <p:cNvSpPr/>
              <p:nvPr/>
            </p:nvSpPr>
            <p:spPr>
              <a:xfrm>
                <a:off x="480" y="1200"/>
                <a:ext cx="2064" cy="0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2" name="Line 46"/>
              <p:cNvSpPr/>
              <p:nvPr/>
            </p:nvSpPr>
            <p:spPr>
              <a:xfrm>
                <a:off x="480" y="1776"/>
                <a:ext cx="2064" cy="0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3" name="Line 47"/>
              <p:cNvSpPr/>
              <p:nvPr/>
            </p:nvSpPr>
            <p:spPr>
              <a:xfrm>
                <a:off x="480" y="1200"/>
                <a:ext cx="0" cy="576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4" name="Line 48"/>
              <p:cNvSpPr/>
              <p:nvPr/>
            </p:nvSpPr>
            <p:spPr>
              <a:xfrm>
                <a:off x="2544" y="1200"/>
                <a:ext cx="0" cy="576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5" name="Line 49"/>
              <p:cNvSpPr/>
              <p:nvPr/>
            </p:nvSpPr>
            <p:spPr>
              <a:xfrm>
                <a:off x="1231" y="1200"/>
                <a:ext cx="0" cy="288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6" name="Line 50"/>
              <p:cNvSpPr/>
              <p:nvPr/>
            </p:nvSpPr>
            <p:spPr>
              <a:xfrm>
                <a:off x="1776" y="1200"/>
                <a:ext cx="0" cy="288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7" name="Line 51"/>
              <p:cNvSpPr/>
              <p:nvPr/>
            </p:nvSpPr>
            <p:spPr>
              <a:xfrm>
                <a:off x="480" y="1488"/>
                <a:ext cx="2064" cy="0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8" name="Line 52"/>
              <p:cNvSpPr/>
              <p:nvPr/>
            </p:nvSpPr>
            <p:spPr>
              <a:xfrm>
                <a:off x="1488" y="1488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8927" name="Line 53"/>
            <p:cNvSpPr/>
            <p:nvPr/>
          </p:nvSpPr>
          <p:spPr>
            <a:xfrm>
              <a:off x="1200" y="3155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28" name="Rectangle 54"/>
            <p:cNvSpPr/>
            <p:nvPr/>
          </p:nvSpPr>
          <p:spPr>
            <a:xfrm>
              <a:off x="864" y="2928"/>
              <a:ext cx="380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ea typeface="楷体_GB2312"/>
                </a:rPr>
                <a:t>H1</a:t>
              </a:r>
              <a:endParaRPr lang="en-US" altLang="zh-CN" sz="2400" b="1" dirty="0">
                <a:solidFill>
                  <a:schemeClr val="accent2"/>
                </a:solidFill>
                <a:ea typeface="楷体_GB2312"/>
              </a:endParaRPr>
            </a:p>
          </p:txBody>
        </p:sp>
        <p:sp>
          <p:nvSpPr>
            <p:cNvPr id="38929" name="Line 55"/>
            <p:cNvSpPr/>
            <p:nvPr/>
          </p:nvSpPr>
          <p:spPr>
            <a:xfrm>
              <a:off x="2208" y="3168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0" name="Line 56"/>
            <p:cNvSpPr/>
            <p:nvPr/>
          </p:nvSpPr>
          <p:spPr>
            <a:xfrm>
              <a:off x="3264" y="3168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38931" name="Group 57"/>
            <p:cNvGrpSpPr/>
            <p:nvPr/>
          </p:nvGrpSpPr>
          <p:grpSpPr>
            <a:xfrm>
              <a:off x="3696" y="2832"/>
              <a:ext cx="864" cy="480"/>
              <a:chOff x="480" y="1200"/>
              <a:chExt cx="2064" cy="576"/>
            </a:xfrm>
          </p:grpSpPr>
          <p:sp>
            <p:nvSpPr>
              <p:cNvPr id="38953" name="Rectangle 58"/>
              <p:cNvSpPr/>
              <p:nvPr/>
            </p:nvSpPr>
            <p:spPr>
              <a:xfrm>
                <a:off x="1776" y="1488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>
                  <a:solidFill>
                    <a:srgbClr val="99FF33"/>
                  </a:solidFill>
                </a:endParaRPr>
              </a:p>
            </p:txBody>
          </p:sp>
          <p:sp>
            <p:nvSpPr>
              <p:cNvPr id="38954" name="Rectangle 59"/>
              <p:cNvSpPr/>
              <p:nvPr/>
            </p:nvSpPr>
            <p:spPr>
              <a:xfrm>
                <a:off x="480" y="1488"/>
                <a:ext cx="12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b="1" dirty="0">
                  <a:solidFill>
                    <a:srgbClr val="99FF33"/>
                  </a:solidFill>
                </a:endParaRPr>
              </a:p>
            </p:txBody>
          </p:sp>
          <p:sp>
            <p:nvSpPr>
              <p:cNvPr id="38955" name="Rectangle 60"/>
              <p:cNvSpPr/>
              <p:nvPr/>
            </p:nvSpPr>
            <p:spPr>
              <a:xfrm>
                <a:off x="1776" y="1200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>
                    <a:solidFill>
                      <a:schemeClr val="hlink"/>
                    </a:solidFill>
                  </a:rPr>
                  <a:t>9</a:t>
                </a:r>
                <a:endParaRPr lang="en-US" altLang="zh-CN" sz="20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38956" name="Rectangle 61"/>
              <p:cNvSpPr/>
              <p:nvPr/>
            </p:nvSpPr>
            <p:spPr>
              <a:xfrm>
                <a:off x="1231" y="1200"/>
                <a:ext cx="54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/>
                  <a:t>3</a:t>
                </a:r>
                <a:endParaRPr lang="en-US" altLang="zh-CN" sz="2000" b="1" dirty="0"/>
              </a:p>
            </p:txBody>
          </p:sp>
          <p:sp>
            <p:nvSpPr>
              <p:cNvPr id="38957" name="Rectangle 62"/>
              <p:cNvSpPr/>
              <p:nvPr/>
            </p:nvSpPr>
            <p:spPr>
              <a:xfrm>
                <a:off x="480" y="1200"/>
                <a:ext cx="75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/>
                  <a:t>1</a:t>
                </a:r>
                <a:endParaRPr lang="en-US" altLang="zh-CN" sz="2000" b="1" dirty="0"/>
              </a:p>
            </p:txBody>
          </p:sp>
          <p:sp>
            <p:nvSpPr>
              <p:cNvPr id="38958" name="Line 63"/>
              <p:cNvSpPr/>
              <p:nvPr/>
            </p:nvSpPr>
            <p:spPr>
              <a:xfrm>
                <a:off x="480" y="1200"/>
                <a:ext cx="2064" cy="0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59" name="Line 64"/>
              <p:cNvSpPr/>
              <p:nvPr/>
            </p:nvSpPr>
            <p:spPr>
              <a:xfrm>
                <a:off x="480" y="1776"/>
                <a:ext cx="2064" cy="0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0" name="Line 65"/>
              <p:cNvSpPr/>
              <p:nvPr/>
            </p:nvSpPr>
            <p:spPr>
              <a:xfrm>
                <a:off x="480" y="1200"/>
                <a:ext cx="0" cy="576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1" name="Line 66"/>
              <p:cNvSpPr/>
              <p:nvPr/>
            </p:nvSpPr>
            <p:spPr>
              <a:xfrm>
                <a:off x="2544" y="1200"/>
                <a:ext cx="0" cy="576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2" name="Line 67"/>
              <p:cNvSpPr/>
              <p:nvPr/>
            </p:nvSpPr>
            <p:spPr>
              <a:xfrm>
                <a:off x="1231" y="1200"/>
                <a:ext cx="0" cy="288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3" name="Line 68"/>
              <p:cNvSpPr/>
              <p:nvPr/>
            </p:nvSpPr>
            <p:spPr>
              <a:xfrm>
                <a:off x="1776" y="1200"/>
                <a:ext cx="0" cy="288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4" name="Line 69"/>
              <p:cNvSpPr/>
              <p:nvPr/>
            </p:nvSpPr>
            <p:spPr>
              <a:xfrm>
                <a:off x="480" y="1488"/>
                <a:ext cx="2064" cy="0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5" name="Line 70"/>
              <p:cNvSpPr/>
              <p:nvPr/>
            </p:nvSpPr>
            <p:spPr>
              <a:xfrm>
                <a:off x="1488" y="1488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8932" name="Line 71"/>
            <p:cNvSpPr/>
            <p:nvPr/>
          </p:nvSpPr>
          <p:spPr>
            <a:xfrm>
              <a:off x="4320" y="3168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3" name="Line 72"/>
            <p:cNvSpPr/>
            <p:nvPr/>
          </p:nvSpPr>
          <p:spPr>
            <a:xfrm flipV="1">
              <a:off x="4752" y="264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4" name="Line 73"/>
            <p:cNvSpPr/>
            <p:nvPr/>
          </p:nvSpPr>
          <p:spPr>
            <a:xfrm flipH="1">
              <a:off x="1344" y="2640"/>
              <a:ext cx="3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5" name="Line 74"/>
            <p:cNvSpPr/>
            <p:nvPr/>
          </p:nvSpPr>
          <p:spPr>
            <a:xfrm>
              <a:off x="1344" y="264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6" name="Line 75"/>
            <p:cNvSpPr/>
            <p:nvPr/>
          </p:nvSpPr>
          <p:spPr>
            <a:xfrm>
              <a:off x="2928" y="316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38937" name="Group 76"/>
            <p:cNvGrpSpPr/>
            <p:nvPr/>
          </p:nvGrpSpPr>
          <p:grpSpPr>
            <a:xfrm>
              <a:off x="2640" y="3552"/>
              <a:ext cx="864" cy="480"/>
              <a:chOff x="480" y="1200"/>
              <a:chExt cx="2064" cy="576"/>
            </a:xfrm>
          </p:grpSpPr>
          <p:sp>
            <p:nvSpPr>
              <p:cNvPr id="38940" name="Rectangle 77"/>
              <p:cNvSpPr/>
              <p:nvPr/>
            </p:nvSpPr>
            <p:spPr>
              <a:xfrm>
                <a:off x="1776" y="1488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dirty="0">
                  <a:solidFill>
                    <a:srgbClr val="99FF33"/>
                  </a:solidFill>
                </a:endParaRPr>
              </a:p>
            </p:txBody>
          </p:sp>
          <p:sp>
            <p:nvSpPr>
              <p:cNvPr id="38941" name="Rectangle 78"/>
              <p:cNvSpPr/>
              <p:nvPr/>
            </p:nvSpPr>
            <p:spPr>
              <a:xfrm>
                <a:off x="480" y="1488"/>
                <a:ext cx="12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buNone/>
                </a:pPr>
                <a:endParaRPr lang="zh-CN" altLang="zh-CN" sz="2400" b="1" dirty="0">
                  <a:solidFill>
                    <a:srgbClr val="99FF33"/>
                  </a:solidFill>
                </a:endParaRPr>
              </a:p>
            </p:txBody>
          </p:sp>
          <p:sp>
            <p:nvSpPr>
              <p:cNvPr id="38942" name="Rectangle 79"/>
              <p:cNvSpPr/>
              <p:nvPr/>
            </p:nvSpPr>
            <p:spPr>
              <a:xfrm>
                <a:off x="1776" y="1200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>
                    <a:solidFill>
                      <a:schemeClr val="hlink"/>
                    </a:solidFill>
                  </a:rPr>
                  <a:t>18</a:t>
                </a:r>
                <a:endParaRPr lang="en-US" altLang="zh-CN" sz="20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38943" name="Rectangle 80"/>
              <p:cNvSpPr/>
              <p:nvPr/>
            </p:nvSpPr>
            <p:spPr>
              <a:xfrm>
                <a:off x="1231" y="1200"/>
                <a:ext cx="54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>
                    <a:solidFill>
                      <a:schemeClr val="accent1"/>
                    </a:solidFill>
                  </a:rPr>
                  <a:t>2</a:t>
                </a:r>
                <a:endParaRPr lang="en-US" altLang="zh-CN" sz="20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8944" name="Rectangle 81"/>
              <p:cNvSpPr/>
              <p:nvPr/>
            </p:nvSpPr>
            <p:spPr>
              <a:xfrm>
                <a:off x="480" y="1200"/>
                <a:ext cx="75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None/>
                </a:pPr>
                <a:r>
                  <a:rPr lang="en-US" altLang="zh-CN" sz="2000" b="1" dirty="0"/>
                  <a:t>5</a:t>
                </a:r>
                <a:endParaRPr lang="en-US" altLang="zh-CN" sz="2000" b="1" dirty="0"/>
              </a:p>
            </p:txBody>
          </p:sp>
          <p:sp>
            <p:nvSpPr>
              <p:cNvPr id="38945" name="Line 82"/>
              <p:cNvSpPr/>
              <p:nvPr/>
            </p:nvSpPr>
            <p:spPr>
              <a:xfrm>
                <a:off x="480" y="1200"/>
                <a:ext cx="2064" cy="0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46" name="Line 83"/>
              <p:cNvSpPr/>
              <p:nvPr/>
            </p:nvSpPr>
            <p:spPr>
              <a:xfrm>
                <a:off x="480" y="1776"/>
                <a:ext cx="2064" cy="0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47" name="Line 84"/>
              <p:cNvSpPr/>
              <p:nvPr/>
            </p:nvSpPr>
            <p:spPr>
              <a:xfrm>
                <a:off x="480" y="1200"/>
                <a:ext cx="0" cy="576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48" name="Line 85"/>
              <p:cNvSpPr/>
              <p:nvPr/>
            </p:nvSpPr>
            <p:spPr>
              <a:xfrm>
                <a:off x="2544" y="1200"/>
                <a:ext cx="0" cy="576"/>
              </a:xfrm>
              <a:prstGeom prst="line">
                <a:avLst/>
              </a:prstGeom>
              <a:ln w="31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49" name="Line 86"/>
              <p:cNvSpPr/>
              <p:nvPr/>
            </p:nvSpPr>
            <p:spPr>
              <a:xfrm>
                <a:off x="1231" y="1200"/>
                <a:ext cx="0" cy="288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50" name="Line 87"/>
              <p:cNvSpPr/>
              <p:nvPr/>
            </p:nvSpPr>
            <p:spPr>
              <a:xfrm>
                <a:off x="1776" y="1200"/>
                <a:ext cx="0" cy="288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51" name="Line 88"/>
              <p:cNvSpPr/>
              <p:nvPr/>
            </p:nvSpPr>
            <p:spPr>
              <a:xfrm>
                <a:off x="480" y="1488"/>
                <a:ext cx="2064" cy="0"/>
              </a:xfrm>
              <a:prstGeom prst="line">
                <a:avLst/>
              </a:prstGeom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52" name="Line 89"/>
              <p:cNvSpPr/>
              <p:nvPr/>
            </p:nvSpPr>
            <p:spPr>
              <a:xfrm>
                <a:off x="1488" y="1488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8938" name="Line 90"/>
            <p:cNvSpPr/>
            <p:nvPr/>
          </p:nvSpPr>
          <p:spPr>
            <a:xfrm>
              <a:off x="2880" y="388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9" name="Line 91"/>
            <p:cNvSpPr/>
            <p:nvPr/>
          </p:nvSpPr>
          <p:spPr>
            <a:xfrm>
              <a:off x="3312" y="3888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charRg st="16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3">
                                            <p:txEl>
                                              <p:charRg st="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3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3">
                                            <p:txEl>
                                              <p:charRg st="5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nimBg="1"/>
      <p:bldP spid="59396" grpId="0" build="p"/>
      <p:bldP spid="59411" grpId="0" animBg="1"/>
      <p:bldP spid="59412" grpId="0" animBg="1"/>
      <p:bldP spid="59413" grpId="0" build="p"/>
      <p:bldP spid="59414" grpId="0" animBg="1"/>
      <p:bldP spid="594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0418" name="Text Box 2"/>
          <p:cNvSpPr txBox="1"/>
          <p:nvPr/>
        </p:nvSpPr>
        <p:spPr>
          <a:xfrm>
            <a:off x="304800" y="381000"/>
            <a:ext cx="8458200" cy="55086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762500" lvl="0" indent="-4762500" eaLnBrk="1" hangingPunct="1"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#define MAXSIZE 125000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设非零元素最大个数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125000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typedef struct{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int i;          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元素行号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int j;          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元素列号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ElemType e;     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元素值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}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Triple</a:t>
            </a:r>
            <a:r>
              <a:rPr lang="en-US" altLang="zh-CN" sz="2400" b="1" dirty="0">
                <a:latin typeface="宋体" panose="02010600030101010101" pitchFamily="2" charset="-122"/>
              </a:rPr>
              <a:t>;        </a:t>
            </a:r>
            <a:endParaRPr lang="en-US" altLang="zh-CN" sz="2000" b="1" dirty="0">
              <a:solidFill>
                <a:srgbClr val="99FF33"/>
              </a:solidFill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typedef struct{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Triple</a:t>
            </a:r>
            <a:r>
              <a:rPr lang="en-US" altLang="zh-CN" sz="2400" b="1" dirty="0">
                <a:latin typeface="宋体" panose="02010600030101010101" pitchFamily="2" charset="-122"/>
              </a:rPr>
              <a:t> data[MAXSIZE+1];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三元组表，以行为主序存入一维向量 </a:t>
            </a:r>
            <a:r>
              <a:rPr lang="en-US" altLang="zh-CN" sz="2000" b="1" dirty="0">
                <a:solidFill>
                  <a:schemeClr val="accent1"/>
                </a:solidFill>
                <a:latin typeface="宋体" panose="02010600030101010101" pitchFamily="2" charset="-122"/>
              </a:rPr>
              <a:t>data[ ]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中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int mu;      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矩阵总行数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int nu;      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矩阵总列数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int tu;      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矩阵中非零元素总个数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762500" lvl="0" indent="-4762500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}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TsMatrix</a:t>
            </a:r>
            <a:r>
              <a:rPr lang="en-US" altLang="zh-CN" sz="2400" b="1" dirty="0">
                <a:latin typeface="宋体" panose="02010600030101010101" pitchFamily="2" charset="-122"/>
              </a:rPr>
              <a:t>;     </a:t>
            </a:r>
            <a:endParaRPr lang="en-US" altLang="zh-CN" sz="2000" b="1" dirty="0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60419" name="AutoShape 3">
            <a:hlinkClick r:id="rId1" action="ppaction://hlinksldjump"/>
          </p:cNvPr>
          <p:cNvSpPr/>
          <p:nvPr/>
        </p:nvSpPr>
        <p:spPr>
          <a:xfrm flipH="1">
            <a:off x="80010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9941" name="Rectangle 4"/>
          <p:cNvSpPr/>
          <p:nvPr/>
        </p:nvSpPr>
        <p:spPr>
          <a:xfrm>
            <a:off x="304800" y="0"/>
            <a:ext cx="5886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三元组表的顺序存储表示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（见教材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P98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）：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60421" name="Rectangle 5"/>
          <p:cNvSpPr/>
          <p:nvPr/>
        </p:nvSpPr>
        <p:spPr>
          <a:xfrm>
            <a:off x="3124200" y="2438400"/>
            <a:ext cx="27416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一个结点的结构定义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60422" name="Rectangle 6"/>
          <p:cNvSpPr/>
          <p:nvPr/>
        </p:nvSpPr>
        <p:spPr>
          <a:xfrm>
            <a:off x="2895600" y="5562600"/>
            <a:ext cx="27416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整个三元组表的定义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  <p:bldP spid="60419" grpId="0" animBg="1"/>
      <p:bldP spid="60421" grpId="0"/>
      <p:bldP spid="604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35814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稀疏矩阵的操作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447800" y="990600"/>
            <a:ext cx="2362200" cy="1981200"/>
            <a:chOff x="1536" y="480"/>
            <a:chExt cx="2304" cy="2160"/>
          </a:xfrm>
        </p:grpSpPr>
        <p:sp>
          <p:nvSpPr>
            <p:cNvPr id="41033" name="AutoShape 4"/>
            <p:cNvSpPr/>
            <p:nvPr/>
          </p:nvSpPr>
          <p:spPr>
            <a:xfrm>
              <a:off x="1536" y="480"/>
              <a:ext cx="48" cy="2160"/>
            </a:xfrm>
            <a:prstGeom prst="lef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1034" name="AutoShape 5"/>
            <p:cNvSpPr/>
            <p:nvPr/>
          </p:nvSpPr>
          <p:spPr>
            <a:xfrm>
              <a:off x="3792" y="480"/>
              <a:ext cx="48" cy="2160"/>
            </a:xfrm>
            <a:prstGeom prst="righ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1035" name="Rectangle 6"/>
            <p:cNvSpPr/>
            <p:nvPr/>
          </p:nvSpPr>
          <p:spPr>
            <a:xfrm>
              <a:off x="1656" y="480"/>
              <a:ext cx="2040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12    9    0    0    0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36" name="Rectangle 7"/>
            <p:cNvSpPr/>
            <p:nvPr/>
          </p:nvSpPr>
          <p:spPr>
            <a:xfrm>
              <a:off x="1680" y="864"/>
              <a:ext cx="2016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     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0     0    0    0    0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37" name="Rectangle 8"/>
            <p:cNvSpPr/>
            <p:nvPr/>
          </p:nvSpPr>
          <p:spPr>
            <a:xfrm>
              <a:off x="1656" y="1248"/>
              <a:ext cx="199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-3     0     0    0    14   0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38" name="Rectangle 9"/>
            <p:cNvSpPr/>
            <p:nvPr/>
          </p:nvSpPr>
          <p:spPr>
            <a:xfrm>
              <a:off x="1680" y="163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 0    24    0    0    0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39" name="Rectangle 10"/>
            <p:cNvSpPr/>
            <p:nvPr/>
          </p:nvSpPr>
          <p:spPr>
            <a:xfrm>
              <a:off x="1680" y="2016"/>
              <a:ext cx="211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18    0    0    0    0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40" name="Rectangle 11"/>
            <p:cNvSpPr/>
            <p:nvPr/>
          </p:nvSpPr>
          <p:spPr>
            <a:xfrm>
              <a:off x="1680" y="235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15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0    0    -7    0 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5410200" y="914400"/>
            <a:ext cx="2438400" cy="2133600"/>
            <a:chOff x="1536" y="480"/>
            <a:chExt cx="2304" cy="2160"/>
          </a:xfrm>
        </p:grpSpPr>
        <p:sp>
          <p:nvSpPr>
            <p:cNvPr id="41025" name="AutoShape 13"/>
            <p:cNvSpPr/>
            <p:nvPr/>
          </p:nvSpPr>
          <p:spPr>
            <a:xfrm>
              <a:off x="1536" y="480"/>
              <a:ext cx="48" cy="2160"/>
            </a:xfrm>
            <a:prstGeom prst="lef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1026" name="AutoShape 14"/>
            <p:cNvSpPr/>
            <p:nvPr/>
          </p:nvSpPr>
          <p:spPr>
            <a:xfrm>
              <a:off x="3792" y="480"/>
              <a:ext cx="48" cy="2160"/>
            </a:xfrm>
            <a:prstGeom prst="righ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1027" name="Rectangle 15"/>
            <p:cNvSpPr/>
            <p:nvPr/>
          </p:nvSpPr>
          <p:spPr>
            <a:xfrm>
              <a:off x="1656" y="480"/>
              <a:ext cx="2040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0   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0   –3    0    0    15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28" name="Rectangle 16"/>
            <p:cNvSpPr/>
            <p:nvPr/>
          </p:nvSpPr>
          <p:spPr>
            <a:xfrm>
              <a:off x="1680" y="864"/>
              <a:ext cx="2016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12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0     0    0    18    0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29" name="Rectangle 17"/>
            <p:cNvSpPr/>
            <p:nvPr/>
          </p:nvSpPr>
          <p:spPr>
            <a:xfrm>
              <a:off x="1656" y="1248"/>
              <a:ext cx="199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  9    0     0    24    0     0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30" name="Rectangle 18"/>
            <p:cNvSpPr/>
            <p:nvPr/>
          </p:nvSpPr>
          <p:spPr>
            <a:xfrm>
              <a:off x="1680" y="163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 0     0     0     0    -7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31" name="Rectangle 19"/>
            <p:cNvSpPr/>
            <p:nvPr/>
          </p:nvSpPr>
          <p:spPr>
            <a:xfrm>
              <a:off x="1680" y="2016"/>
              <a:ext cx="211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     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0    14     0    0    0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1032" name="Rectangle 20"/>
            <p:cNvSpPr/>
            <p:nvPr/>
          </p:nvSpPr>
          <p:spPr>
            <a:xfrm>
              <a:off x="1680" y="235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ea typeface="黑体" panose="02010609060101010101" pitchFamily="49" charset="-122"/>
                </a:rPr>
                <a:t>       </a:t>
              </a:r>
              <a:r>
                <a:rPr lang="en-US" altLang="zh-CN" sz="2000" b="1" dirty="0">
                  <a:ea typeface="黑体" panose="02010609060101010101" pitchFamily="49" charset="-122"/>
                </a:rPr>
                <a:t>0     0     0     0    0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61461" name="Group 21"/>
          <p:cNvGraphicFramePr>
            <a:graphicFrameLocks noGrp="1"/>
          </p:cNvGraphicFramePr>
          <p:nvPr/>
        </p:nvGraphicFramePr>
        <p:xfrm>
          <a:off x="2133600" y="3200400"/>
          <a:ext cx="1371600" cy="3170238"/>
        </p:xfrm>
        <a:graphic>
          <a:graphicData uri="http://schemas.openxmlformats.org/drawingml/2006/table">
            <a:tbl>
              <a:tblPr/>
              <a:tblGrid>
                <a:gridCol w="1371600"/>
              </a:tblGrid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1, 2, 12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1, 3,  9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1, -3)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(3, 5, 14)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(4, 3,  24)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(5, 2, 18)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(6, 1, 15)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(6, 4, -7)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481" name="Group 41"/>
          <p:cNvGraphicFramePr>
            <a:graphicFrameLocks noGrp="1"/>
          </p:cNvGraphicFramePr>
          <p:nvPr/>
        </p:nvGraphicFramePr>
        <p:xfrm>
          <a:off x="5715000" y="3238500"/>
          <a:ext cx="1371600" cy="3170238"/>
        </p:xfrm>
        <a:graphic>
          <a:graphicData uri="http://schemas.openxmlformats.org/drawingml/2006/table">
            <a:tbl>
              <a:tblPr/>
              <a:tblGrid>
                <a:gridCol w="1371600"/>
              </a:tblGrid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 3, -3)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(1, 6, 15)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(2, 1, 12)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(2, 5, 18)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(3, 1,  9)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(3, 4, 24)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(4, 6, -7)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(5, 3, 14)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501" name="Line 61"/>
          <p:cNvSpPr/>
          <p:nvPr/>
        </p:nvSpPr>
        <p:spPr>
          <a:xfrm>
            <a:off x="3581400" y="3365500"/>
            <a:ext cx="2057400" cy="8255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502" name="Line 62"/>
          <p:cNvSpPr/>
          <p:nvPr/>
        </p:nvSpPr>
        <p:spPr>
          <a:xfrm>
            <a:off x="3581400" y="3746500"/>
            <a:ext cx="2057400" cy="12065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" name="Group 63"/>
          <p:cNvGrpSpPr/>
          <p:nvPr/>
        </p:nvGrpSpPr>
        <p:grpSpPr>
          <a:xfrm>
            <a:off x="3505200" y="3441700"/>
            <a:ext cx="2209800" cy="2730500"/>
            <a:chOff x="2208" y="2168"/>
            <a:chExt cx="1392" cy="1720"/>
          </a:xfrm>
        </p:grpSpPr>
        <p:sp>
          <p:nvSpPr>
            <p:cNvPr id="41019" name="Line 64"/>
            <p:cNvSpPr/>
            <p:nvPr/>
          </p:nvSpPr>
          <p:spPr>
            <a:xfrm flipV="1">
              <a:off x="2256" y="2168"/>
              <a:ext cx="1296" cy="4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20" name="Line 65"/>
            <p:cNvSpPr/>
            <p:nvPr/>
          </p:nvSpPr>
          <p:spPr>
            <a:xfrm>
              <a:off x="2208" y="2880"/>
              <a:ext cx="1344" cy="9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21" name="Line 66"/>
            <p:cNvSpPr/>
            <p:nvPr/>
          </p:nvSpPr>
          <p:spPr>
            <a:xfrm flipV="1">
              <a:off x="2256" y="3648"/>
              <a:ext cx="1296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22" name="Line 67"/>
            <p:cNvSpPr/>
            <p:nvPr/>
          </p:nvSpPr>
          <p:spPr>
            <a:xfrm>
              <a:off x="2256" y="3176"/>
              <a:ext cx="1296" cy="1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23" name="Line 68"/>
            <p:cNvSpPr/>
            <p:nvPr/>
          </p:nvSpPr>
          <p:spPr>
            <a:xfrm flipV="1">
              <a:off x="2208" y="2880"/>
              <a:ext cx="1392" cy="5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24" name="Line 69"/>
            <p:cNvSpPr/>
            <p:nvPr/>
          </p:nvSpPr>
          <p:spPr>
            <a:xfrm flipV="1">
              <a:off x="2208" y="2400"/>
              <a:ext cx="1392" cy="12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1510" name="Rectangle 70"/>
          <p:cNvSpPr/>
          <p:nvPr/>
        </p:nvSpPr>
        <p:spPr>
          <a:xfrm>
            <a:off x="609600" y="3505200"/>
            <a:ext cx="989013" cy="19177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三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元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组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表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a.data</a:t>
            </a:r>
            <a:endParaRPr lang="en-US" altLang="zh-CN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61511" name="Rectangle 71"/>
          <p:cNvSpPr/>
          <p:nvPr/>
        </p:nvSpPr>
        <p:spPr>
          <a:xfrm>
            <a:off x="7467600" y="3581400"/>
            <a:ext cx="1006475" cy="19177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三</a:t>
            </a:r>
            <a:endParaRPr lang="zh-CN" altLang="en-US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元</a:t>
            </a:r>
            <a:endParaRPr lang="zh-CN" altLang="en-US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组</a:t>
            </a:r>
            <a:endParaRPr lang="zh-CN" altLang="en-US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表</a:t>
            </a:r>
            <a:endParaRPr lang="zh-CN" altLang="en-US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b.data</a:t>
            </a:r>
            <a:endParaRPr lang="en-US" altLang="zh-CN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</p:txBody>
      </p:sp>
      <p:grpSp>
        <p:nvGrpSpPr>
          <p:cNvPr id="5" name="Group 72"/>
          <p:cNvGrpSpPr/>
          <p:nvPr/>
        </p:nvGrpSpPr>
        <p:grpSpPr>
          <a:xfrm>
            <a:off x="4038600" y="1524000"/>
            <a:ext cx="1295400" cy="838200"/>
            <a:chOff x="2768" y="1296"/>
            <a:chExt cx="592" cy="528"/>
          </a:xfrm>
        </p:grpSpPr>
        <p:sp>
          <p:nvSpPr>
            <p:cNvPr id="41017" name="AutoShape 73"/>
            <p:cNvSpPr/>
            <p:nvPr/>
          </p:nvSpPr>
          <p:spPr>
            <a:xfrm>
              <a:off x="2832" y="1488"/>
              <a:ext cx="528" cy="336"/>
            </a:xfrm>
            <a:prstGeom prst="rightArrow">
              <a:avLst>
                <a:gd name="adj1" fmla="val 50000"/>
                <a:gd name="adj2" fmla="val 39285"/>
              </a:avLst>
            </a:prstGeom>
            <a:solidFill>
              <a:schemeClr val="accent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1018" name="Rectangle 74"/>
            <p:cNvSpPr/>
            <p:nvPr/>
          </p:nvSpPr>
          <p:spPr>
            <a:xfrm>
              <a:off x="2768" y="1296"/>
              <a:ext cx="50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楷体_GB2312"/>
                  <a:ea typeface="楷体_GB2312"/>
                </a:rPr>
                <a:t>转置后</a:t>
              </a:r>
              <a:endParaRPr lang="zh-CN" altLang="en-US" sz="2400" b="1" dirty="0">
                <a:latin typeface="楷体_GB2312"/>
                <a:ea typeface="楷体_GB2312"/>
              </a:endParaRPr>
            </a:p>
          </p:txBody>
        </p:sp>
      </p:grpSp>
      <p:sp>
        <p:nvSpPr>
          <p:cNvPr id="61515" name="Rectangle 75"/>
          <p:cNvSpPr/>
          <p:nvPr/>
        </p:nvSpPr>
        <p:spPr>
          <a:xfrm>
            <a:off x="838200" y="1728788"/>
            <a:ext cx="519113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ea typeface="黑体" panose="02010609060101010101" pitchFamily="49" charset="-122"/>
              </a:rPr>
              <a:t>M</a:t>
            </a:r>
            <a:endParaRPr lang="en-US" altLang="zh-CN" sz="28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61516" name="Rectangle 76"/>
          <p:cNvSpPr/>
          <p:nvPr/>
        </p:nvSpPr>
        <p:spPr>
          <a:xfrm>
            <a:off x="8167688" y="1752600"/>
            <a:ext cx="420687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chemeClr val="accent1"/>
              </a:buClr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T</a:t>
            </a:r>
            <a:endParaRPr lang="en-US" altLang="zh-CN" sz="2800" b="1" dirty="0">
              <a:solidFill>
                <a:schemeClr val="accent1"/>
              </a:solidFill>
              <a:ea typeface="黑体" panose="02010609060101010101" pitchFamily="49" charset="-122"/>
            </a:endParaRPr>
          </a:p>
        </p:txBody>
      </p:sp>
      <p:sp>
        <p:nvSpPr>
          <p:cNvPr id="61517" name="Rectangle 77"/>
          <p:cNvSpPr/>
          <p:nvPr/>
        </p:nvSpPr>
        <p:spPr>
          <a:xfrm>
            <a:off x="3657600" y="319088"/>
            <a:ext cx="34131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（以转置运算为例）</a:t>
            </a:r>
            <a:endParaRPr lang="zh-CN" altLang="en-US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61518" name="Rectangle 78"/>
          <p:cNvSpPr/>
          <p:nvPr/>
        </p:nvSpPr>
        <p:spPr>
          <a:xfrm>
            <a:off x="228600" y="9144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目的：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61519" name="AutoShape 79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0" grpId="0"/>
      <p:bldP spid="61511" grpId="0"/>
      <p:bldP spid="61515" grpId="0"/>
      <p:bldP spid="61516" grpId="0"/>
      <p:bldP spid="61517" grpId="0"/>
      <p:bldP spid="61518" grpId="0"/>
      <p:bldP spid="615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2466" name="Rectangle 2"/>
          <p:cNvSpPr/>
          <p:nvPr/>
        </p:nvSpPr>
        <p:spPr>
          <a:xfrm>
            <a:off x="457200" y="1752600"/>
            <a:ext cx="8435975" cy="23082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095500" lvl="0" indent="-209550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答：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肯定不正确！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  <a:sym typeface="Wingdings" panose="05000000000000000000" pitchFamily="2" charset="2"/>
            </a:endParaRPr>
          </a:p>
          <a:p>
            <a:pPr marL="2095500" lvl="0" indent="-209550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除了：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  （</a:t>
            </a: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）每个元素的行下标和列下标互换（即三元组中的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i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和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j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互换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）；</a:t>
            </a:r>
            <a:endParaRPr lang="zh-CN" altLang="en-US" sz="2400" b="1" dirty="0">
              <a:latin typeface="楷体_GB2312"/>
              <a:ea typeface="楷体_GB2312"/>
              <a:sym typeface="Wingdings" panose="05000000000000000000" pitchFamily="2" charset="2"/>
            </a:endParaRPr>
          </a:p>
          <a:p>
            <a:pPr marL="2095500" lvl="0" indent="-209550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还应该：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2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）</a:t>
            </a: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T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的总行数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mu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和总列数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nu</a:t>
            </a:r>
            <a:r>
              <a:rPr lang="zh-CN" altLang="en-US" sz="2400" b="1" dirty="0">
                <a:latin typeface="楷体_GB2312"/>
                <a:ea typeface="楷体_GB2312"/>
              </a:rPr>
              <a:t>与</a:t>
            </a:r>
            <a:r>
              <a:rPr lang="en-US" altLang="zh-CN" sz="2400" b="1" dirty="0">
                <a:latin typeface="楷体_GB2312"/>
                <a:ea typeface="楷体_GB2312"/>
              </a:rPr>
              <a:t>M</a:t>
            </a:r>
            <a:r>
              <a:rPr lang="zh-CN" altLang="en-US" sz="2400" b="1" dirty="0">
                <a:latin typeface="楷体_GB2312"/>
                <a:ea typeface="楷体_GB2312"/>
              </a:rPr>
              <a:t>值不同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互换）；</a:t>
            </a:r>
            <a:endParaRPr lang="zh-CN" altLang="en-US" sz="2400" b="1" dirty="0">
              <a:latin typeface="楷体_GB2312"/>
              <a:ea typeface="楷体_GB2312"/>
              <a:sym typeface="Wingdings" panose="05000000000000000000" pitchFamily="2" charset="2"/>
            </a:endParaRPr>
          </a:p>
          <a:p>
            <a:pPr marL="2095500" lvl="0" indent="-209550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        （</a:t>
            </a: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3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）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重排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三元组内元素顺序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，使转置后的三元组也按行（或列）为主序有规律的排列。</a:t>
            </a:r>
            <a:endParaRPr lang="zh-CN" altLang="en-US" sz="2400" b="1" dirty="0">
              <a:latin typeface="楷体_GB2312"/>
              <a:ea typeface="楷体_GB2312"/>
              <a:sym typeface="Wingdings" panose="05000000000000000000" pitchFamily="2" charset="2"/>
            </a:endParaRPr>
          </a:p>
        </p:txBody>
      </p:sp>
      <p:sp>
        <p:nvSpPr>
          <p:cNvPr id="62467" name="Rectangle 3"/>
          <p:cNvSpPr/>
          <p:nvPr/>
        </p:nvSpPr>
        <p:spPr>
          <a:xfrm>
            <a:off x="609600" y="4267200"/>
            <a:ext cx="64770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上述（</a:t>
            </a: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）和（</a:t>
            </a: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2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）容易实现，难点在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3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）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。</a:t>
            </a:r>
            <a:endParaRPr lang="zh-CN" altLang="en-US" sz="2400" b="1" dirty="0">
              <a:latin typeface="楷体_GB2312"/>
              <a:ea typeface="楷体_GB2312"/>
              <a:sym typeface="Wingdings" panose="05000000000000000000" pitchFamily="2" charset="2"/>
            </a:endParaRPr>
          </a:p>
        </p:txBody>
      </p:sp>
      <p:sp>
        <p:nvSpPr>
          <p:cNvPr id="62468" name="Rectangle 4"/>
          <p:cNvSpPr/>
          <p:nvPr/>
        </p:nvSpPr>
        <p:spPr>
          <a:xfrm>
            <a:off x="684213" y="333375"/>
            <a:ext cx="79248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     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若采用三元组压缩技术存储稀疏矩阵，只要把每个元素的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行下标和列下标互换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，就完成了对该矩阵的转置运算，这种说法正确吗？ </a:t>
            </a:r>
            <a:endParaRPr lang="zh-CN" altLang="en-US" sz="2400" b="1" dirty="0">
              <a:latin typeface="楷体_GB2312"/>
              <a:ea typeface="楷体_GB2312"/>
              <a:sym typeface="Wingdings" panose="05000000000000000000" pitchFamily="2" charset="2"/>
            </a:endParaRPr>
          </a:p>
        </p:txBody>
      </p:sp>
      <p:sp>
        <p:nvSpPr>
          <p:cNvPr id="62469" name="AutoShape 5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2470" name="AutoShape 6">
            <a:hlinkClick r:id="" action="ppaction://hlinkshowjump?jump=previousslide"/>
          </p:cNvPr>
          <p:cNvSpPr/>
          <p:nvPr/>
        </p:nvSpPr>
        <p:spPr>
          <a:xfrm flipH="1">
            <a:off x="7451725" y="5805488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2471" name="Rectangle 7"/>
          <p:cNvSpPr/>
          <p:nvPr/>
        </p:nvSpPr>
        <p:spPr>
          <a:xfrm>
            <a:off x="1295400" y="5105400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有两种实现方法</a:t>
            </a:r>
            <a:endParaRPr lang="zh-CN" altLang="en-US" sz="2400" b="1" dirty="0">
              <a:latin typeface="楷体_GB2312"/>
              <a:ea typeface="楷体_GB2312"/>
              <a:sym typeface="Wingdings" panose="05000000000000000000" pitchFamily="2" charset="2"/>
            </a:endParaRPr>
          </a:p>
        </p:txBody>
      </p:sp>
      <p:sp>
        <p:nvSpPr>
          <p:cNvPr id="62472" name="Rectangle 8"/>
          <p:cNvSpPr/>
          <p:nvPr/>
        </p:nvSpPr>
        <p:spPr>
          <a:xfrm>
            <a:off x="3810000" y="4800600"/>
            <a:ext cx="27432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压缩转置</a:t>
            </a:r>
            <a:endParaRPr lang="zh-CN" altLang="en-US" sz="2400" b="1" dirty="0">
              <a:latin typeface="楷体_GB2312"/>
              <a:ea typeface="楷体_GB2312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(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压缩</a:t>
            </a: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)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快速转置</a:t>
            </a:r>
            <a:endParaRPr lang="zh-CN" altLang="en-US" sz="2400" b="1" dirty="0">
              <a:latin typeface="楷体_GB2312"/>
              <a:ea typeface="楷体_GB2312"/>
              <a:sym typeface="Wingdings" panose="05000000000000000000" pitchFamily="2" charset="2"/>
            </a:endParaRPr>
          </a:p>
        </p:txBody>
      </p:sp>
      <p:sp>
        <p:nvSpPr>
          <p:cNvPr id="62473" name="AutoShape 9"/>
          <p:cNvSpPr/>
          <p:nvPr/>
        </p:nvSpPr>
        <p:spPr>
          <a:xfrm>
            <a:off x="3657600" y="4953000"/>
            <a:ext cx="76200" cy="762000"/>
          </a:xfrm>
          <a:prstGeom prst="leftBrace">
            <a:avLst>
              <a:gd name="adj1" fmla="val 83333"/>
              <a:gd name="adj2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41995" name="Rectangle 10"/>
          <p:cNvSpPr/>
          <p:nvPr/>
        </p:nvSpPr>
        <p:spPr>
          <a:xfrm>
            <a:off x="263525" y="3810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提问：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charRg st="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charRg st="4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charRg st="77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2">
                                            <p:txEl>
                                              <p:charRg st="5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build="p"/>
      <p:bldP spid="62467" grpId="0"/>
      <p:bldP spid="62468" grpId="0"/>
      <p:bldP spid="62469" grpId="0" animBg="1"/>
      <p:bldP spid="62470" grpId="0" animBg="1"/>
      <p:bldP spid="62471" grpId="0"/>
      <p:bldP spid="62472" grpId="0" advAuto="1000" build="p"/>
      <p:bldP spid="6247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3475038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压缩转置</a:t>
            </a:r>
            <a:endParaRPr lang="zh-CN" altLang="en-US" sz="2800" b="1" dirty="0">
              <a:solidFill>
                <a:schemeClr val="accent1"/>
              </a:solidFill>
              <a:latin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3491" name="Rectangle 3"/>
          <p:cNvSpPr/>
          <p:nvPr/>
        </p:nvSpPr>
        <p:spPr>
          <a:xfrm>
            <a:off x="304800" y="1066800"/>
            <a:ext cx="8534400" cy="4889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chemeClr val="accent1"/>
                </a:solidFill>
                <a:latin typeface="楷体_GB2312"/>
                <a:ea typeface="楷体_GB2312"/>
              </a:rPr>
              <a:t>思路：</a:t>
            </a:r>
            <a:r>
              <a:rPr lang="zh-CN" altLang="en-US" sz="2600" b="1" dirty="0">
                <a:latin typeface="楷体_GB2312"/>
                <a:ea typeface="楷体_GB2312"/>
              </a:rPr>
              <a:t>反复扫描</a:t>
            </a:r>
            <a:r>
              <a:rPr lang="en-US" altLang="zh-CN" sz="2600" b="1" dirty="0">
                <a:latin typeface="楷体_GB2312"/>
                <a:ea typeface="楷体_GB2312"/>
              </a:rPr>
              <a:t>a.data</a:t>
            </a:r>
            <a:r>
              <a:rPr lang="zh-CN" altLang="en-US" sz="2600" b="1" dirty="0">
                <a:latin typeface="楷体_GB2312"/>
                <a:ea typeface="楷体_GB2312"/>
              </a:rPr>
              <a:t>中的</a:t>
            </a:r>
            <a:r>
              <a:rPr lang="zh-CN" altLang="en-US" sz="2600" b="1" dirty="0">
                <a:solidFill>
                  <a:schemeClr val="hlink"/>
                </a:solidFill>
                <a:latin typeface="楷体_GB2312"/>
                <a:ea typeface="楷体_GB2312"/>
              </a:rPr>
              <a:t>列序</a:t>
            </a:r>
            <a:r>
              <a:rPr lang="zh-CN" altLang="en-US" sz="2600" b="1" dirty="0">
                <a:latin typeface="楷体_GB2312"/>
                <a:ea typeface="楷体_GB2312"/>
              </a:rPr>
              <a:t>，从小到大依次进行转置。</a:t>
            </a:r>
            <a:endParaRPr lang="zh-CN" altLang="en-US" sz="2600" b="1" dirty="0">
              <a:latin typeface="楷体_GB2312"/>
              <a:ea typeface="楷体_GB2312"/>
            </a:endParaRPr>
          </a:p>
        </p:txBody>
      </p:sp>
      <p:graphicFrame>
        <p:nvGraphicFramePr>
          <p:cNvPr id="63492" name="Group 4"/>
          <p:cNvGraphicFramePr>
            <a:graphicFrameLocks noGrp="1"/>
          </p:cNvGraphicFramePr>
          <p:nvPr/>
        </p:nvGraphicFramePr>
        <p:xfrm>
          <a:off x="5637213" y="1920875"/>
          <a:ext cx="1371600" cy="3657600"/>
        </p:xfrm>
        <a:graphic>
          <a:graphicData uri="http://schemas.openxmlformats.org/drawingml/2006/table">
            <a:tbl>
              <a:tblPr/>
              <a:tblGrid>
                <a:gridCol w="1371600"/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512" name="Rectangle 24"/>
          <p:cNvSpPr/>
          <p:nvPr/>
        </p:nvSpPr>
        <p:spPr>
          <a:xfrm>
            <a:off x="762000" y="2362200"/>
            <a:ext cx="989013" cy="19177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三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元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组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表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a.data</a:t>
            </a:r>
            <a:endParaRPr lang="en-US" altLang="zh-CN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63513" name="Rectangle 25"/>
          <p:cNvSpPr/>
          <p:nvPr/>
        </p:nvSpPr>
        <p:spPr>
          <a:xfrm>
            <a:off x="7315200" y="2438400"/>
            <a:ext cx="1006475" cy="19177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三</a:t>
            </a:r>
            <a:endParaRPr lang="zh-CN" altLang="en-US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元</a:t>
            </a:r>
            <a:endParaRPr lang="zh-CN" altLang="en-US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组</a:t>
            </a:r>
            <a:endParaRPr lang="zh-CN" altLang="en-US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表</a:t>
            </a:r>
            <a:endParaRPr lang="zh-CN" altLang="en-US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b.data</a:t>
            </a:r>
            <a:endParaRPr lang="en-US" altLang="zh-CN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</p:txBody>
      </p:sp>
      <p:grpSp>
        <p:nvGrpSpPr>
          <p:cNvPr id="2" name="Group 26"/>
          <p:cNvGrpSpPr/>
          <p:nvPr/>
        </p:nvGrpSpPr>
        <p:grpSpPr>
          <a:xfrm>
            <a:off x="3351213" y="1931988"/>
            <a:ext cx="3506787" cy="1360487"/>
            <a:chOff x="2111" y="1217"/>
            <a:chExt cx="2209" cy="857"/>
          </a:xfrm>
        </p:grpSpPr>
        <p:sp>
          <p:nvSpPr>
            <p:cNvPr id="43101" name="Line 27"/>
            <p:cNvSpPr/>
            <p:nvPr/>
          </p:nvSpPr>
          <p:spPr>
            <a:xfrm flipV="1">
              <a:off x="2304" y="1344"/>
              <a:ext cx="1249" cy="63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102" name="Rectangle 28"/>
            <p:cNvSpPr/>
            <p:nvPr/>
          </p:nvSpPr>
          <p:spPr>
            <a:xfrm>
              <a:off x="2111" y="1824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①</a:t>
              </a:r>
              <a:endParaRPr lang="en-US" altLang="zh-CN" sz="2000" dirty="0"/>
            </a:p>
          </p:txBody>
        </p:sp>
        <p:sp>
          <p:nvSpPr>
            <p:cNvPr id="43103" name="Rectangle 29"/>
            <p:cNvSpPr/>
            <p:nvPr/>
          </p:nvSpPr>
          <p:spPr>
            <a:xfrm>
              <a:off x="3602" y="1217"/>
              <a:ext cx="71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(</a:t>
              </a:r>
              <a:r>
                <a:rPr lang="en-US" altLang="zh-CN" sz="2000" b="1" dirty="0">
                  <a:solidFill>
                    <a:schemeClr val="accent1"/>
                  </a:solidFill>
                  <a:latin typeface="Arial" panose="020B0604020202020204" pitchFamily="34" charset="0"/>
                </a:rPr>
                <a:t>1</a:t>
              </a: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000" b="1" dirty="0">
                  <a:latin typeface="Arial" panose="020B0604020202020204" pitchFamily="34" charset="0"/>
                </a:rPr>
                <a:t>3, -3)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30"/>
          <p:cNvGrpSpPr/>
          <p:nvPr/>
        </p:nvGrpSpPr>
        <p:grpSpPr>
          <a:xfrm>
            <a:off x="3352800" y="2362200"/>
            <a:ext cx="3540125" cy="2747963"/>
            <a:chOff x="2124" y="1485"/>
            <a:chExt cx="2230" cy="1731"/>
          </a:xfrm>
        </p:grpSpPr>
        <p:sp>
          <p:nvSpPr>
            <p:cNvPr id="43098" name="Line 31"/>
            <p:cNvSpPr/>
            <p:nvPr/>
          </p:nvSpPr>
          <p:spPr>
            <a:xfrm flipV="1">
              <a:off x="2303" y="1632"/>
              <a:ext cx="1249" cy="13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99" name="Rectangle 32"/>
            <p:cNvSpPr/>
            <p:nvPr/>
          </p:nvSpPr>
          <p:spPr>
            <a:xfrm>
              <a:off x="2124" y="2966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②</a:t>
              </a:r>
              <a:endParaRPr lang="en-US" altLang="zh-CN" sz="2000" dirty="0"/>
            </a:p>
          </p:txBody>
        </p:sp>
        <p:sp>
          <p:nvSpPr>
            <p:cNvPr id="43100" name="Rectangle 33"/>
            <p:cNvSpPr/>
            <p:nvPr/>
          </p:nvSpPr>
          <p:spPr>
            <a:xfrm>
              <a:off x="3600" y="1485"/>
              <a:ext cx="754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(</a:t>
              </a:r>
              <a:r>
                <a:rPr lang="en-US" altLang="zh-CN" sz="2000" b="1" dirty="0">
                  <a:solidFill>
                    <a:schemeClr val="accent1"/>
                  </a:solidFill>
                  <a:latin typeface="Arial" panose="020B0604020202020204" pitchFamily="34" charset="0"/>
                </a:rPr>
                <a:t>1</a:t>
              </a: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000" b="1" dirty="0">
                  <a:latin typeface="Arial" panose="020B0604020202020204" pitchFamily="34" charset="0"/>
                </a:rPr>
                <a:t>6, 15)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34"/>
          <p:cNvGrpSpPr/>
          <p:nvPr/>
        </p:nvGrpSpPr>
        <p:grpSpPr>
          <a:xfrm>
            <a:off x="3351213" y="1981200"/>
            <a:ext cx="3560762" cy="1262063"/>
            <a:chOff x="2111" y="1248"/>
            <a:chExt cx="2243" cy="795"/>
          </a:xfrm>
        </p:grpSpPr>
        <p:sp>
          <p:nvSpPr>
            <p:cNvPr id="43095" name="Line 35"/>
            <p:cNvSpPr/>
            <p:nvPr/>
          </p:nvSpPr>
          <p:spPr>
            <a:xfrm>
              <a:off x="2303" y="1402"/>
              <a:ext cx="1201" cy="5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96" name="Rectangle 36"/>
            <p:cNvSpPr/>
            <p:nvPr/>
          </p:nvSpPr>
          <p:spPr>
            <a:xfrm>
              <a:off x="2111" y="1248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③</a:t>
              </a:r>
              <a:endParaRPr lang="en-US" altLang="zh-CN" sz="2000" dirty="0"/>
            </a:p>
          </p:txBody>
        </p:sp>
        <p:sp>
          <p:nvSpPr>
            <p:cNvPr id="43097" name="Rectangle 37"/>
            <p:cNvSpPr/>
            <p:nvPr/>
          </p:nvSpPr>
          <p:spPr>
            <a:xfrm>
              <a:off x="3600" y="1793"/>
              <a:ext cx="754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(</a:t>
              </a:r>
              <a:r>
                <a:rPr lang="en-US" altLang="zh-CN" sz="2000" b="1" dirty="0">
                  <a:solidFill>
                    <a:schemeClr val="accent1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CN" sz="2000" b="1" dirty="0">
                  <a:latin typeface="Arial" panose="020B0604020202020204" pitchFamily="34" charset="0"/>
                </a:rPr>
                <a:t>, 1, 12)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38"/>
          <p:cNvGrpSpPr/>
          <p:nvPr/>
        </p:nvGrpSpPr>
        <p:grpSpPr>
          <a:xfrm>
            <a:off x="3351213" y="3303588"/>
            <a:ext cx="3630612" cy="1344612"/>
            <a:chOff x="2111" y="2081"/>
            <a:chExt cx="2287" cy="847"/>
          </a:xfrm>
        </p:grpSpPr>
        <p:sp>
          <p:nvSpPr>
            <p:cNvPr id="43092" name="Line 39"/>
            <p:cNvSpPr/>
            <p:nvPr/>
          </p:nvSpPr>
          <p:spPr>
            <a:xfrm flipV="1">
              <a:off x="2303" y="2208"/>
              <a:ext cx="1249" cy="5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93" name="Rectangle 40"/>
            <p:cNvSpPr/>
            <p:nvPr/>
          </p:nvSpPr>
          <p:spPr>
            <a:xfrm>
              <a:off x="2111" y="2678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④</a:t>
              </a:r>
              <a:endParaRPr lang="en-US" altLang="zh-CN" sz="2000" dirty="0"/>
            </a:p>
          </p:txBody>
        </p:sp>
        <p:sp>
          <p:nvSpPr>
            <p:cNvPr id="43094" name="Rectangle 41"/>
            <p:cNvSpPr/>
            <p:nvPr/>
          </p:nvSpPr>
          <p:spPr>
            <a:xfrm>
              <a:off x="3600" y="2081"/>
              <a:ext cx="79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2000" b="1" dirty="0">
                  <a:latin typeface="Arial" panose="020B0604020202020204" pitchFamily="34" charset="0"/>
                </a:rPr>
                <a:t>(</a:t>
              </a:r>
              <a:r>
                <a:rPr lang="en-US" altLang="zh-CN" sz="2000" b="1" dirty="0">
                  <a:solidFill>
                    <a:schemeClr val="accent1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000" b="1" dirty="0">
                  <a:latin typeface="Arial" panose="020B0604020202020204" pitchFamily="34" charset="0"/>
                </a:rPr>
                <a:t>5, 18)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42"/>
          <p:cNvGrpSpPr/>
          <p:nvPr/>
        </p:nvGrpSpPr>
        <p:grpSpPr>
          <a:xfrm>
            <a:off x="3351213" y="2486025"/>
            <a:ext cx="3565525" cy="1671638"/>
            <a:chOff x="2111" y="1566"/>
            <a:chExt cx="2246" cy="1053"/>
          </a:xfrm>
        </p:grpSpPr>
        <p:sp>
          <p:nvSpPr>
            <p:cNvPr id="43089" name="Line 43"/>
            <p:cNvSpPr/>
            <p:nvPr/>
          </p:nvSpPr>
          <p:spPr>
            <a:xfrm>
              <a:off x="2304" y="1728"/>
              <a:ext cx="1248" cy="76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90" name="Rectangle 44"/>
            <p:cNvSpPr/>
            <p:nvPr/>
          </p:nvSpPr>
          <p:spPr>
            <a:xfrm>
              <a:off x="2111" y="1566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⑤</a:t>
              </a:r>
              <a:endParaRPr lang="en-US" altLang="zh-CN" sz="2000" dirty="0"/>
            </a:p>
          </p:txBody>
        </p:sp>
        <p:sp>
          <p:nvSpPr>
            <p:cNvPr id="43091" name="Rectangle 45"/>
            <p:cNvSpPr/>
            <p:nvPr/>
          </p:nvSpPr>
          <p:spPr>
            <a:xfrm>
              <a:off x="3648" y="2369"/>
              <a:ext cx="709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(3, 1,  9)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46"/>
          <p:cNvGrpSpPr/>
          <p:nvPr/>
        </p:nvGrpSpPr>
        <p:grpSpPr>
          <a:xfrm>
            <a:off x="3351213" y="3797300"/>
            <a:ext cx="3630612" cy="817563"/>
            <a:chOff x="2111" y="2392"/>
            <a:chExt cx="2287" cy="515"/>
          </a:xfrm>
        </p:grpSpPr>
        <p:sp>
          <p:nvSpPr>
            <p:cNvPr id="43086" name="Line 47"/>
            <p:cNvSpPr/>
            <p:nvPr/>
          </p:nvSpPr>
          <p:spPr>
            <a:xfrm>
              <a:off x="2303" y="2536"/>
              <a:ext cx="1249" cy="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87" name="Rectangle 48"/>
            <p:cNvSpPr/>
            <p:nvPr/>
          </p:nvSpPr>
          <p:spPr>
            <a:xfrm>
              <a:off x="2111" y="2392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⑥</a:t>
              </a:r>
              <a:endParaRPr lang="en-US" altLang="zh-CN" sz="2000" dirty="0"/>
            </a:p>
          </p:txBody>
        </p:sp>
        <p:sp>
          <p:nvSpPr>
            <p:cNvPr id="43088" name="Rectangle 49"/>
            <p:cNvSpPr/>
            <p:nvPr/>
          </p:nvSpPr>
          <p:spPr>
            <a:xfrm>
              <a:off x="3600" y="2657"/>
              <a:ext cx="79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 (3, 4, 24)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50"/>
          <p:cNvGrpSpPr/>
          <p:nvPr/>
        </p:nvGrpSpPr>
        <p:grpSpPr>
          <a:xfrm>
            <a:off x="3352800" y="4708525"/>
            <a:ext cx="3571875" cy="854075"/>
            <a:chOff x="2112" y="2966"/>
            <a:chExt cx="2250" cy="538"/>
          </a:xfrm>
        </p:grpSpPr>
        <p:sp>
          <p:nvSpPr>
            <p:cNvPr id="43083" name="Line 51"/>
            <p:cNvSpPr/>
            <p:nvPr/>
          </p:nvSpPr>
          <p:spPr>
            <a:xfrm flipV="1">
              <a:off x="2292" y="3120"/>
              <a:ext cx="126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84" name="Rectangle 52"/>
            <p:cNvSpPr/>
            <p:nvPr/>
          </p:nvSpPr>
          <p:spPr>
            <a:xfrm>
              <a:off x="2112" y="3254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⑦</a:t>
              </a:r>
              <a:endParaRPr lang="en-US" altLang="zh-CN" sz="2000" dirty="0"/>
            </a:p>
          </p:txBody>
        </p:sp>
        <p:sp>
          <p:nvSpPr>
            <p:cNvPr id="43085" name="Rectangle 53"/>
            <p:cNvSpPr/>
            <p:nvPr/>
          </p:nvSpPr>
          <p:spPr>
            <a:xfrm>
              <a:off x="3600" y="2966"/>
              <a:ext cx="762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2000" b="1" dirty="0">
                  <a:latin typeface="Arial" panose="020B0604020202020204" pitchFamily="34" charset="0"/>
                </a:rPr>
                <a:t>(4, 6, -7)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54"/>
          <p:cNvGrpSpPr/>
          <p:nvPr/>
        </p:nvGrpSpPr>
        <p:grpSpPr>
          <a:xfrm>
            <a:off x="3352800" y="3352800"/>
            <a:ext cx="3622675" cy="2225675"/>
            <a:chOff x="2112" y="2102"/>
            <a:chExt cx="2282" cy="1402"/>
          </a:xfrm>
        </p:grpSpPr>
        <p:sp>
          <p:nvSpPr>
            <p:cNvPr id="43080" name="Line 55"/>
            <p:cNvSpPr/>
            <p:nvPr/>
          </p:nvSpPr>
          <p:spPr>
            <a:xfrm>
              <a:off x="2303" y="2218"/>
              <a:ext cx="1201" cy="119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81" name="Rectangle 56"/>
            <p:cNvSpPr/>
            <p:nvPr/>
          </p:nvSpPr>
          <p:spPr>
            <a:xfrm>
              <a:off x="2112" y="2102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⑧</a:t>
              </a:r>
              <a:endParaRPr lang="en-US" altLang="zh-CN" sz="2000" dirty="0"/>
            </a:p>
          </p:txBody>
        </p:sp>
        <p:sp>
          <p:nvSpPr>
            <p:cNvPr id="43082" name="Rectangle 57"/>
            <p:cNvSpPr/>
            <p:nvPr/>
          </p:nvSpPr>
          <p:spPr>
            <a:xfrm>
              <a:off x="3552" y="3254"/>
              <a:ext cx="842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  (5, 3, 14)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63546" name="Group 58"/>
          <p:cNvGraphicFramePr>
            <a:graphicFrameLocks noGrp="1"/>
          </p:cNvGraphicFramePr>
          <p:nvPr/>
        </p:nvGraphicFramePr>
        <p:xfrm>
          <a:off x="2055813" y="1920875"/>
          <a:ext cx="1296988" cy="3657600"/>
        </p:xfrm>
        <a:graphic>
          <a:graphicData uri="http://schemas.openxmlformats.org/drawingml/2006/table">
            <a:tbl>
              <a:tblPr/>
              <a:tblGrid>
                <a:gridCol w="1296987"/>
              </a:tblGrid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(1, 2, 12)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(1, 3,  9 )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1, -3)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(3, 5, 14)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(4, 3, 24)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(5, 2, 18)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(6, 1, 15)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(6, 4, -7)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566" name="AutoShape 78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3567" name="Rectangle 79"/>
          <p:cNvSpPr/>
          <p:nvPr/>
        </p:nvSpPr>
        <p:spPr>
          <a:xfrm>
            <a:off x="2482850" y="2819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</a:rPr>
              <a:t>1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63568" name="Rectangle 80"/>
          <p:cNvSpPr/>
          <p:nvPr/>
        </p:nvSpPr>
        <p:spPr>
          <a:xfrm>
            <a:off x="2482850" y="4648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</a:rPr>
              <a:t>1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63569" name="Rectangle 81"/>
          <p:cNvSpPr/>
          <p:nvPr/>
        </p:nvSpPr>
        <p:spPr>
          <a:xfrm>
            <a:off x="2362200" y="1919288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</a:rPr>
              <a:t> 2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63570" name="Rectangle 82"/>
          <p:cNvSpPr/>
          <p:nvPr/>
        </p:nvSpPr>
        <p:spPr>
          <a:xfrm>
            <a:off x="2438400" y="4191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</a:rPr>
              <a:t>2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63571" name="Rectangle 83"/>
          <p:cNvSpPr/>
          <p:nvPr/>
        </p:nvSpPr>
        <p:spPr>
          <a:xfrm>
            <a:off x="2457450" y="1447800"/>
            <a:ext cx="590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col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63572" name="Rectangle 84"/>
          <p:cNvSpPr/>
          <p:nvPr/>
        </p:nvSpPr>
        <p:spPr>
          <a:xfrm>
            <a:off x="5105400" y="1447800"/>
            <a:ext cx="4302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 q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63573" name="Rectangle 85"/>
          <p:cNvSpPr/>
          <p:nvPr/>
        </p:nvSpPr>
        <p:spPr>
          <a:xfrm>
            <a:off x="5226050" y="1905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1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63574" name="Rectangle 86"/>
          <p:cNvSpPr/>
          <p:nvPr/>
        </p:nvSpPr>
        <p:spPr>
          <a:xfrm>
            <a:off x="5257800" y="2362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2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63575" name="Rectangle 87"/>
          <p:cNvSpPr/>
          <p:nvPr/>
        </p:nvSpPr>
        <p:spPr>
          <a:xfrm>
            <a:off x="5257800" y="2819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3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63576" name="Rectangle 88"/>
          <p:cNvSpPr/>
          <p:nvPr/>
        </p:nvSpPr>
        <p:spPr>
          <a:xfrm>
            <a:off x="5257800" y="3276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4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grpSp>
        <p:nvGrpSpPr>
          <p:cNvPr id="10" name="Group 89"/>
          <p:cNvGrpSpPr/>
          <p:nvPr/>
        </p:nvGrpSpPr>
        <p:grpSpPr>
          <a:xfrm>
            <a:off x="1550988" y="1447800"/>
            <a:ext cx="430212" cy="2286000"/>
            <a:chOff x="977" y="912"/>
            <a:chExt cx="271" cy="1440"/>
          </a:xfrm>
        </p:grpSpPr>
        <p:sp>
          <p:nvSpPr>
            <p:cNvPr id="43075" name="Rectangle 90"/>
            <p:cNvSpPr/>
            <p:nvPr/>
          </p:nvSpPr>
          <p:spPr>
            <a:xfrm>
              <a:off x="977" y="912"/>
              <a:ext cx="2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 p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43076" name="Rectangle 91"/>
            <p:cNvSpPr/>
            <p:nvPr/>
          </p:nvSpPr>
          <p:spPr>
            <a:xfrm>
              <a:off x="1008" y="12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1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43077" name="Rectangle 92"/>
            <p:cNvSpPr/>
            <p:nvPr/>
          </p:nvSpPr>
          <p:spPr>
            <a:xfrm>
              <a:off x="1028" y="148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2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43078" name="Rectangle 93"/>
            <p:cNvSpPr/>
            <p:nvPr/>
          </p:nvSpPr>
          <p:spPr>
            <a:xfrm>
              <a:off x="1028" y="177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3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43079" name="Rectangle 94"/>
            <p:cNvSpPr/>
            <p:nvPr/>
          </p:nvSpPr>
          <p:spPr>
            <a:xfrm>
              <a:off x="1028" y="206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4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/>
      <p:bldP spid="63512" grpId="0"/>
      <p:bldP spid="63513" grpId="0"/>
      <p:bldP spid="63566" grpId="0" animBg="1"/>
      <p:bldP spid="63567" grpId="0"/>
      <p:bldP spid="63568" grpId="0"/>
      <p:bldP spid="63569" grpId="0"/>
      <p:bldP spid="63570" grpId="0"/>
      <p:bldP spid="63571" grpId="0"/>
      <p:bldP spid="63572" grpId="0"/>
      <p:bldP spid="63573" grpId="0"/>
      <p:bldP spid="63574" grpId="0"/>
      <p:bldP spid="63575" grpId="0"/>
      <p:bldP spid="6357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4514" name="Text Box 2"/>
          <p:cNvSpPr txBox="1"/>
          <p:nvPr/>
        </p:nvSpPr>
        <p:spPr>
          <a:xfrm>
            <a:off x="1219200" y="617538"/>
            <a:ext cx="7334250" cy="56197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Status</a:t>
            </a:r>
            <a:r>
              <a:rPr lang="en-US" altLang="zh-CN" sz="2200" b="1" dirty="0">
                <a:solidFill>
                  <a:schemeClr val="accent1"/>
                </a:solidFill>
                <a:ea typeface="黑体" panose="02010609060101010101" pitchFamily="49" charset="-122"/>
              </a:rPr>
              <a:t> TransPoseSMatrix</a:t>
            </a:r>
            <a:r>
              <a:rPr lang="en-US" altLang="zh-CN" sz="2200" b="1" dirty="0">
                <a:ea typeface="黑体" panose="02010609060101010101" pitchFamily="49" charset="-122"/>
              </a:rPr>
              <a:t>(TSMatrix </a:t>
            </a:r>
            <a:r>
              <a:rPr lang="en-US" altLang="zh-CN" sz="2200" b="1" dirty="0">
                <a:solidFill>
                  <a:schemeClr val="accent1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200" b="1" dirty="0">
                <a:ea typeface="黑体" panose="02010609060101010101" pitchFamily="49" charset="-122"/>
              </a:rPr>
              <a:t>, TSMatrix </a:t>
            </a:r>
            <a:r>
              <a:rPr lang="en-US" altLang="zh-CN" sz="2200" b="1" dirty="0">
                <a:solidFill>
                  <a:schemeClr val="accent1"/>
                </a:solidFill>
                <a:ea typeface="黑体" panose="02010609060101010101" pitchFamily="49" charset="-122"/>
              </a:rPr>
              <a:t>&amp;T</a:t>
            </a:r>
            <a:r>
              <a:rPr lang="en-US" altLang="zh-CN" sz="2200" b="1" dirty="0">
                <a:ea typeface="黑体" panose="02010609060101010101" pitchFamily="49" charset="-122"/>
              </a:rPr>
              <a:t>)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{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solidFill>
                  <a:schemeClr val="tx2"/>
                </a:solidFill>
                <a:ea typeface="黑体" panose="02010609060101010101" pitchFamily="49" charset="-122"/>
              </a:rPr>
              <a:t>T.mu</a:t>
            </a:r>
            <a:r>
              <a:rPr lang="en-US" altLang="zh-CN" sz="2200" b="1" dirty="0">
                <a:ea typeface="黑体" panose="02010609060101010101" pitchFamily="49" charset="-122"/>
              </a:rPr>
              <a:t>=M.nu;  </a:t>
            </a:r>
            <a:r>
              <a:rPr lang="en-US" altLang="zh-CN" sz="2200" b="1" dirty="0">
                <a:solidFill>
                  <a:schemeClr val="tx2"/>
                </a:solidFill>
                <a:ea typeface="黑体" panose="02010609060101010101" pitchFamily="49" charset="-122"/>
              </a:rPr>
              <a:t>T.nu</a:t>
            </a:r>
            <a:r>
              <a:rPr lang="en-US" altLang="zh-CN" sz="2200" b="1" dirty="0">
                <a:ea typeface="黑体" panose="02010609060101010101" pitchFamily="49" charset="-122"/>
              </a:rPr>
              <a:t>=M.mu;  </a:t>
            </a:r>
            <a:r>
              <a:rPr lang="en-US" altLang="zh-CN" sz="2200" b="1" dirty="0">
                <a:solidFill>
                  <a:schemeClr val="tx2"/>
                </a:solidFill>
                <a:ea typeface="黑体" panose="02010609060101010101" pitchFamily="49" charset="-122"/>
              </a:rPr>
              <a:t>T.tu</a:t>
            </a:r>
            <a:r>
              <a:rPr lang="en-US" altLang="zh-CN" sz="2200" b="1" dirty="0">
                <a:ea typeface="黑体" panose="02010609060101010101" pitchFamily="49" charset="-122"/>
              </a:rPr>
              <a:t>=M.tu;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if (T.tu) 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{ </a:t>
            </a:r>
            <a:endParaRPr lang="en-US" altLang="zh-CN" sz="2200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q=1</a:t>
            </a:r>
            <a:r>
              <a:rPr lang="en-US" altLang="zh-CN" sz="2200" b="1" dirty="0">
                <a:ea typeface="黑体" panose="02010609060101010101" pitchFamily="49" charset="-122"/>
              </a:rPr>
              <a:t>;          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for(</a:t>
            </a:r>
            <a:r>
              <a:rPr lang="en-US" altLang="zh-CN" sz="2200" b="1" dirty="0">
                <a:solidFill>
                  <a:schemeClr val="tx2"/>
                </a:solidFill>
                <a:ea typeface="黑体" panose="02010609060101010101" pitchFamily="49" charset="-122"/>
              </a:rPr>
              <a:t>col=1</a:t>
            </a:r>
            <a:r>
              <a:rPr lang="en-US" altLang="zh-CN" sz="2200" b="1" dirty="0">
                <a:ea typeface="黑体" panose="02010609060101010101" pitchFamily="49" charset="-122"/>
              </a:rPr>
              <a:t>; col&lt;=</a:t>
            </a:r>
            <a:r>
              <a:rPr lang="en-US" altLang="zh-CN" sz="2200" b="1" dirty="0">
                <a:solidFill>
                  <a:schemeClr val="tx2"/>
                </a:solidFill>
                <a:ea typeface="黑体" panose="02010609060101010101" pitchFamily="49" charset="-122"/>
              </a:rPr>
              <a:t>M.nu</a:t>
            </a:r>
            <a:r>
              <a:rPr lang="en-US" altLang="zh-CN" sz="2200" b="1" dirty="0">
                <a:ea typeface="黑体" panose="02010609060101010101" pitchFamily="49" charset="-122"/>
              </a:rPr>
              <a:t>; col++) 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  {for(</a:t>
            </a:r>
            <a:r>
              <a:rPr lang="en-US" altLang="zh-CN" sz="2200" b="1" dirty="0">
                <a:solidFill>
                  <a:schemeClr val="accent1"/>
                </a:solidFill>
                <a:ea typeface="黑体" panose="02010609060101010101" pitchFamily="49" charset="-122"/>
              </a:rPr>
              <a:t>p=1</a:t>
            </a:r>
            <a:r>
              <a:rPr lang="en-US" altLang="zh-CN" sz="2200" b="1" dirty="0">
                <a:ea typeface="黑体" panose="02010609060101010101" pitchFamily="49" charset="-122"/>
              </a:rPr>
              <a:t>; p&lt;=</a:t>
            </a:r>
            <a:r>
              <a:rPr lang="en-US" altLang="zh-CN" sz="2200" b="1" dirty="0">
                <a:solidFill>
                  <a:schemeClr val="tx2"/>
                </a:solidFill>
                <a:ea typeface="黑体" panose="02010609060101010101" pitchFamily="49" charset="-122"/>
              </a:rPr>
              <a:t>M.tu</a:t>
            </a:r>
            <a:r>
              <a:rPr lang="en-US" altLang="zh-CN" sz="2200" b="1" dirty="0">
                <a:ea typeface="黑体" panose="02010609060101010101" pitchFamily="49" charset="-122"/>
              </a:rPr>
              <a:t>; p++) 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     {if (M.data[p].j==</a:t>
            </a:r>
            <a:r>
              <a:rPr lang="en-US" altLang="zh-CN" sz="2200" b="1" dirty="0">
                <a:solidFill>
                  <a:schemeClr val="tx2"/>
                </a:solidFill>
                <a:ea typeface="黑体" panose="02010609060101010101" pitchFamily="49" charset="-122"/>
              </a:rPr>
              <a:t>col</a:t>
            </a:r>
            <a:r>
              <a:rPr lang="en-US" altLang="zh-CN" sz="2200" b="1" dirty="0">
                <a:ea typeface="黑体" panose="02010609060101010101" pitchFamily="49" charset="-122"/>
              </a:rPr>
              <a:t>)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         {T.data[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q</a:t>
            </a:r>
            <a:r>
              <a:rPr lang="en-US" altLang="zh-CN" sz="2200" b="1" dirty="0">
                <a:ea typeface="黑体" panose="02010609060101010101" pitchFamily="49" charset="-122"/>
              </a:rPr>
              <a:t>]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.i</a:t>
            </a:r>
            <a:r>
              <a:rPr lang="en-US" altLang="zh-CN" sz="2200" b="1" dirty="0">
                <a:ea typeface="黑体" panose="02010609060101010101" pitchFamily="49" charset="-122"/>
              </a:rPr>
              <a:t>=M.data[p].j;  T.data[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q</a:t>
            </a:r>
            <a:r>
              <a:rPr lang="en-US" altLang="zh-CN" sz="2200" b="1" dirty="0">
                <a:ea typeface="黑体" panose="02010609060101010101" pitchFamily="49" charset="-122"/>
              </a:rPr>
              <a:t>]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.j</a:t>
            </a:r>
            <a:r>
              <a:rPr lang="en-US" altLang="zh-CN" sz="2200" b="1" dirty="0">
                <a:ea typeface="黑体" panose="02010609060101010101" pitchFamily="49" charset="-122"/>
              </a:rPr>
              <a:t>=M.data[p].i;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             T.data[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q</a:t>
            </a:r>
            <a:r>
              <a:rPr lang="en-US" altLang="zh-CN" sz="2200" b="1" dirty="0">
                <a:ea typeface="黑体" panose="02010609060101010101" pitchFamily="49" charset="-122"/>
              </a:rPr>
              <a:t>]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.value</a:t>
            </a:r>
            <a:r>
              <a:rPr lang="en-US" altLang="zh-CN" sz="2200" b="1" dirty="0">
                <a:ea typeface="黑体" panose="02010609060101010101" pitchFamily="49" charset="-122"/>
              </a:rPr>
              <a:t>=M.data[p].value;  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q++</a:t>
            </a:r>
            <a:r>
              <a:rPr lang="en-US" altLang="zh-CN" sz="2200" b="1" dirty="0">
                <a:ea typeface="黑体" panose="02010609060101010101" pitchFamily="49" charset="-122"/>
              </a:rPr>
              <a:t>;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         }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       }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   }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}</a:t>
            </a:r>
            <a:endParaRPr lang="en-US" altLang="zh-CN" sz="2200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  return OK;</a:t>
            </a:r>
            <a:endParaRPr lang="en-US" altLang="zh-CN" sz="22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} </a:t>
            </a:r>
            <a:r>
              <a:rPr lang="en-US" altLang="zh-CN" sz="2200" b="1" dirty="0">
                <a:solidFill>
                  <a:schemeClr val="accent1"/>
                </a:solidFill>
                <a:ea typeface="黑体" panose="02010609060101010101" pitchFamily="49" charset="-122"/>
              </a:rPr>
              <a:t>//TranposeSMatrix;</a:t>
            </a:r>
            <a:endParaRPr lang="en-US" altLang="zh-CN" sz="2200" b="1" dirty="0">
              <a:solidFill>
                <a:schemeClr val="accent1"/>
              </a:solidFill>
              <a:ea typeface="黑体" panose="02010609060101010101" pitchFamily="49" charset="-122"/>
            </a:endParaRPr>
          </a:p>
        </p:txBody>
      </p:sp>
      <p:sp>
        <p:nvSpPr>
          <p:cNvPr id="44036" name="Rectangle 3"/>
          <p:cNvSpPr/>
          <p:nvPr/>
        </p:nvSpPr>
        <p:spPr>
          <a:xfrm>
            <a:off x="161925" y="92075"/>
            <a:ext cx="4986338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压缩转置算法描述</a:t>
            </a:r>
            <a:r>
              <a:rPr lang="zh-CN" altLang="en-US" sz="2400" b="1" dirty="0">
                <a:solidFill>
                  <a:schemeClr val="accent1"/>
                </a:solidFill>
                <a:sym typeface="Wingdings" panose="05000000000000000000" pitchFamily="2" charset="2"/>
              </a:rPr>
              <a:t>：</a:t>
            </a:r>
            <a:r>
              <a:rPr lang="zh-CN" altLang="en-US" sz="2400" b="1" dirty="0">
                <a:solidFill>
                  <a:schemeClr val="accent2"/>
                </a:solidFill>
                <a:sym typeface="Wingdings" panose="05000000000000000000" pitchFamily="2" charset="2"/>
              </a:rPr>
              <a:t>（见教材</a:t>
            </a:r>
            <a:r>
              <a:rPr lang="en-US" altLang="zh-CN" sz="2400" b="1" dirty="0">
                <a:solidFill>
                  <a:schemeClr val="accent2"/>
                </a:solidFill>
                <a:sym typeface="Wingdings" panose="05000000000000000000" pitchFamily="2" charset="2"/>
              </a:rPr>
              <a:t>P99</a:t>
            </a:r>
            <a:r>
              <a:rPr lang="zh-CN" altLang="en-US" sz="2400" b="1" dirty="0">
                <a:solidFill>
                  <a:schemeClr val="accent2"/>
                </a:solidFill>
                <a:sym typeface="Wingdings" panose="05000000000000000000" pitchFamily="2" charset="2"/>
              </a:rPr>
              <a:t>）</a:t>
            </a:r>
            <a:endParaRPr lang="zh-CN" altLang="en-US" sz="2400" b="1" dirty="0">
              <a:solidFill>
                <a:schemeClr val="accent2"/>
              </a:solidFill>
              <a:sym typeface="Wingdings" panose="05000000000000000000" pitchFamily="2" charset="2"/>
            </a:endParaRPr>
          </a:p>
        </p:txBody>
      </p:sp>
      <p:sp>
        <p:nvSpPr>
          <p:cNvPr id="64516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4517" name="Rectangle 5"/>
          <p:cNvSpPr/>
          <p:nvPr/>
        </p:nvSpPr>
        <p:spPr>
          <a:xfrm>
            <a:off x="2411413" y="985838"/>
            <a:ext cx="57340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用三元组表存放稀疏矩阵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M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，求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M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的转置矩阵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T</a:t>
            </a:r>
            <a:endParaRPr lang="en-US" altLang="zh-CN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4518" name="Rectangle 6"/>
          <p:cNvSpPr/>
          <p:nvPr/>
        </p:nvSpPr>
        <p:spPr>
          <a:xfrm>
            <a:off x="3059113" y="2138363"/>
            <a:ext cx="33242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en-US" altLang="zh-CN" sz="2000" b="1" dirty="0">
                <a:solidFill>
                  <a:schemeClr val="hlink"/>
                </a:solidFill>
                <a:latin typeface="楷体_GB2312"/>
                <a:ea typeface="楷体_GB2312"/>
              </a:rPr>
              <a:t>q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是转置矩阵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T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的结点编号</a:t>
            </a:r>
            <a:endParaRPr lang="zh-CN" altLang="en-US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4519" name="Rectangle 7"/>
          <p:cNvSpPr/>
          <p:nvPr/>
        </p:nvSpPr>
        <p:spPr>
          <a:xfrm>
            <a:off x="4953000" y="2425700"/>
            <a:ext cx="389096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</a:rPr>
              <a:t>col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是扫描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M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三元表列序的变量</a:t>
            </a:r>
            <a:endParaRPr lang="zh-CN" altLang="en-US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4520" name="Rectangle 8"/>
          <p:cNvSpPr/>
          <p:nvPr/>
        </p:nvSpPr>
        <p:spPr>
          <a:xfrm>
            <a:off x="4859338" y="2786063"/>
            <a:ext cx="314483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en-US" altLang="zh-CN" sz="2000" b="1" dirty="0">
                <a:solidFill>
                  <a:schemeClr val="accent1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是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M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三元表中结点编号</a:t>
            </a:r>
            <a:endParaRPr lang="zh-CN" altLang="en-US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6" grpId="0" animBg="1"/>
      <p:bldP spid="64517" grpId="0"/>
      <p:bldP spid="64518" grpId="0"/>
      <p:bldP spid="64519" grpId="0"/>
      <p:bldP spid="645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5538" name="Text Box 2"/>
          <p:cNvSpPr txBox="1"/>
          <p:nvPr/>
        </p:nvSpPr>
        <p:spPr>
          <a:xfrm>
            <a:off x="228600" y="879475"/>
            <a:ext cx="8520113" cy="50879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latin typeface="楷体_GB2312"/>
                <a:ea typeface="楷体_GB2312"/>
                <a:sym typeface="Wingdings" panose="05000000000000000000" pitchFamily="2" charset="2"/>
              </a:rPr>
              <a:t>、</a:t>
            </a:r>
            <a:r>
              <a:rPr lang="zh-CN" altLang="en-US" sz="2400" b="1" dirty="0">
                <a:latin typeface="楷体_GB2312"/>
                <a:ea typeface="楷体_GB2312"/>
              </a:rPr>
              <a:t>主要时间消耗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在查找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M.data[p].j=col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的元素</a:t>
            </a:r>
            <a:r>
              <a:rPr lang="zh-CN" altLang="en-US" sz="2400" b="1" dirty="0">
                <a:latin typeface="楷体_GB2312"/>
                <a:ea typeface="楷体_GB2312"/>
              </a:rPr>
              <a:t>，由两重循环完成</a:t>
            </a:r>
            <a:r>
              <a:rPr lang="en-US" altLang="zh-CN" sz="2400" b="1" dirty="0">
                <a:latin typeface="楷体_GB2312"/>
                <a:ea typeface="楷体_GB2312"/>
              </a:rPr>
              <a:t>:  </a:t>
            </a:r>
            <a:r>
              <a:rPr lang="en-US" altLang="zh-CN" sz="2200" b="1" dirty="0">
                <a:ea typeface="黑体" panose="02010609060101010101" pitchFamily="49" charset="-122"/>
              </a:rPr>
              <a:t>for(</a:t>
            </a:r>
            <a:r>
              <a:rPr lang="en-US" altLang="zh-CN" sz="2200" b="1" dirty="0">
                <a:solidFill>
                  <a:schemeClr val="tx2"/>
                </a:solidFill>
                <a:ea typeface="黑体" panose="02010609060101010101" pitchFamily="49" charset="-122"/>
              </a:rPr>
              <a:t>col=1</a:t>
            </a:r>
            <a:r>
              <a:rPr lang="en-US" altLang="zh-CN" sz="2200" b="1" dirty="0">
                <a:ea typeface="黑体" panose="02010609060101010101" pitchFamily="49" charset="-122"/>
              </a:rPr>
              <a:t>; col&lt;=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M.nu</a:t>
            </a:r>
            <a:r>
              <a:rPr lang="en-US" altLang="zh-CN" sz="2200" b="1" dirty="0">
                <a:ea typeface="黑体" panose="02010609060101010101" pitchFamily="49" charset="-122"/>
              </a:rPr>
              <a:t>; col++)  </a:t>
            </a:r>
            <a:r>
              <a:rPr lang="zh-CN" altLang="en-US" sz="2000" b="1" dirty="0">
                <a:latin typeface="楷体_GB2312"/>
                <a:ea typeface="楷体_GB2312"/>
              </a:rPr>
              <a:t>循环次数＝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nu</a:t>
            </a:r>
            <a:endParaRPr lang="en-US" altLang="zh-CN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200" b="1" dirty="0">
                <a:ea typeface="黑体" panose="02010609060101010101" pitchFamily="49" charset="-122"/>
              </a:rPr>
              <a:t>                         </a:t>
            </a:r>
            <a:r>
              <a:rPr lang="en-US" altLang="zh-CN" sz="2200" b="1" dirty="0">
                <a:solidFill>
                  <a:schemeClr val="hlink"/>
                </a:solidFill>
                <a:ea typeface="黑体" panose="02010609060101010101" pitchFamily="49" charset="-122"/>
              </a:rPr>
              <a:t>{</a:t>
            </a:r>
            <a:r>
              <a:rPr lang="en-US" altLang="zh-CN" sz="2200" b="1" dirty="0">
                <a:ea typeface="黑体" panose="02010609060101010101" pitchFamily="49" charset="-122"/>
              </a:rPr>
              <a:t>for(</a:t>
            </a:r>
            <a:r>
              <a:rPr lang="en-US" altLang="zh-CN" sz="2200" b="1" dirty="0">
                <a:solidFill>
                  <a:schemeClr val="accent1"/>
                </a:solidFill>
                <a:ea typeface="黑体" panose="02010609060101010101" pitchFamily="49" charset="-122"/>
              </a:rPr>
              <a:t>p=1</a:t>
            </a:r>
            <a:r>
              <a:rPr lang="en-US" altLang="zh-CN" sz="2200" b="1" dirty="0">
                <a:ea typeface="黑体" panose="02010609060101010101" pitchFamily="49" charset="-122"/>
              </a:rPr>
              <a:t>; p&lt;=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M.tu</a:t>
            </a:r>
            <a:r>
              <a:rPr lang="en-US" altLang="zh-CN" sz="2200" b="1" dirty="0">
                <a:ea typeface="黑体" panose="02010609060101010101" pitchFamily="49" charset="-122"/>
              </a:rPr>
              <a:t>; p++)    </a:t>
            </a:r>
            <a:r>
              <a:rPr lang="zh-CN" altLang="en-US" sz="2000" b="1" dirty="0">
                <a:latin typeface="楷体_GB2312"/>
                <a:ea typeface="楷体_GB2312"/>
              </a:rPr>
              <a:t>循环次数＝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tu</a:t>
            </a:r>
            <a:endParaRPr lang="en-US" altLang="zh-CN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所以该算法的时间复杂度为</a:t>
            </a:r>
            <a:r>
              <a:rPr lang="en-US" altLang="zh-CN" sz="2400" b="1" dirty="0">
                <a:latin typeface="楷体_GB2312"/>
                <a:ea typeface="楷体_GB2312"/>
              </a:rPr>
              <a:t>O(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nu*tu</a:t>
            </a:r>
            <a:r>
              <a:rPr lang="en-US" altLang="zh-CN" sz="2400" b="1" dirty="0">
                <a:latin typeface="楷体_GB2312"/>
                <a:ea typeface="楷体_GB2312"/>
              </a:rPr>
              <a:t>)</a:t>
            </a:r>
            <a:endParaRPr lang="en-US" altLang="zh-CN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        ----</a:t>
            </a:r>
            <a:r>
              <a:rPr lang="zh-CN" altLang="en-US" sz="2400" b="1" dirty="0">
                <a:latin typeface="楷体_GB2312"/>
                <a:ea typeface="楷体_GB2312"/>
              </a:rPr>
              <a:t>即</a:t>
            </a:r>
            <a:r>
              <a:rPr lang="en-US" altLang="zh-CN" sz="2400" b="1" dirty="0">
                <a:latin typeface="楷体_GB2312"/>
                <a:ea typeface="楷体_GB2312"/>
              </a:rPr>
              <a:t>M</a:t>
            </a:r>
            <a:r>
              <a:rPr lang="zh-CN" altLang="en-US" sz="2400" b="1" dirty="0">
                <a:latin typeface="楷体_GB2312"/>
                <a:ea typeface="楷体_GB2312"/>
              </a:rPr>
              <a:t>的列数与</a:t>
            </a:r>
            <a:r>
              <a:rPr lang="en-US" altLang="zh-CN" sz="2400" b="1" dirty="0">
                <a:latin typeface="楷体_GB2312"/>
                <a:ea typeface="楷体_GB2312"/>
              </a:rPr>
              <a:t>M</a:t>
            </a:r>
            <a:r>
              <a:rPr lang="zh-CN" altLang="en-US" sz="2400" b="1" dirty="0">
                <a:latin typeface="楷体_GB2312"/>
                <a:ea typeface="楷体_GB2312"/>
              </a:rPr>
              <a:t>中非零元素的个数之</a:t>
            </a:r>
            <a:r>
              <a:rPr lang="zh-CN" altLang="en-US" sz="2400" b="1" dirty="0">
                <a:solidFill>
                  <a:schemeClr val="hlink"/>
                </a:solidFill>
                <a:latin typeface="楷体_GB2312"/>
                <a:ea typeface="楷体_GB2312"/>
              </a:rPr>
              <a:t>积</a:t>
            </a:r>
            <a:endParaRPr lang="zh-CN" altLang="en-US" sz="2400" b="1" dirty="0">
              <a:solidFill>
                <a:schemeClr val="hlink"/>
              </a:solidFill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最恶劣情况：</a:t>
            </a:r>
            <a:r>
              <a:rPr lang="en-US" altLang="zh-CN" sz="2400" b="1" dirty="0">
                <a:latin typeface="楷体_GB2312"/>
                <a:ea typeface="楷体_GB2312"/>
              </a:rPr>
              <a:t>M</a:t>
            </a:r>
            <a:r>
              <a:rPr lang="zh-CN" altLang="en-US" sz="2400" b="1" dirty="0">
                <a:latin typeface="楷体_GB2312"/>
                <a:ea typeface="楷体_GB2312"/>
              </a:rPr>
              <a:t>中全是非零元素，此时</a:t>
            </a:r>
            <a:r>
              <a:rPr lang="en-US" altLang="zh-CN" sz="2400" b="1" dirty="0">
                <a:latin typeface="楷体_GB2312"/>
                <a:ea typeface="楷体_GB2312"/>
              </a:rPr>
              <a:t>tu=mu*nu</a:t>
            </a:r>
            <a:r>
              <a:rPr lang="zh-CN" altLang="en-US" sz="2400" b="1" dirty="0">
                <a:latin typeface="楷体_GB2312"/>
                <a:ea typeface="楷体_GB2312"/>
              </a:rPr>
              <a:t>， 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            时间复杂度为 </a:t>
            </a:r>
            <a:r>
              <a:rPr lang="en-US" altLang="zh-CN" sz="2400" b="1" dirty="0">
                <a:latin typeface="楷体_GB2312"/>
                <a:ea typeface="楷体_GB2312"/>
              </a:rPr>
              <a:t>O(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nu</a:t>
            </a:r>
            <a:r>
              <a:rPr lang="en-US" altLang="zh-CN" sz="2400" b="1" baseline="38000" dirty="0">
                <a:solidFill>
                  <a:schemeClr val="accent1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*mu</a:t>
            </a:r>
            <a:r>
              <a:rPr lang="en-US" altLang="zh-CN" sz="2400" b="1" dirty="0">
                <a:latin typeface="楷体_GB2312"/>
                <a:ea typeface="楷体_GB2312"/>
              </a:rPr>
              <a:t> )</a:t>
            </a:r>
            <a:endParaRPr lang="en-US" altLang="zh-CN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注：</a:t>
            </a:r>
            <a:r>
              <a:rPr lang="zh-CN" altLang="en-US" sz="2400" b="1" dirty="0">
                <a:latin typeface="楷体_GB2312"/>
                <a:ea typeface="楷体_GB2312"/>
              </a:rPr>
              <a:t>若</a:t>
            </a:r>
            <a:r>
              <a:rPr lang="en-US" altLang="zh-CN" sz="2400" b="1" dirty="0">
                <a:latin typeface="楷体_GB2312"/>
                <a:ea typeface="楷体_GB2312"/>
              </a:rPr>
              <a:t>M</a:t>
            </a:r>
            <a:r>
              <a:rPr lang="zh-CN" altLang="en-US" sz="2400" b="1" dirty="0">
                <a:latin typeface="楷体_GB2312"/>
                <a:ea typeface="楷体_GB2312"/>
              </a:rPr>
              <a:t>中基本上是非零元素时，即使用非压缩传统转置算法的时间复杂度也不过是</a:t>
            </a:r>
            <a:r>
              <a:rPr lang="en-US" altLang="zh-CN" sz="2400" b="1" dirty="0">
                <a:latin typeface="楷体_GB2312"/>
                <a:ea typeface="楷体_GB2312"/>
              </a:rPr>
              <a:t>O(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nu*mu</a:t>
            </a:r>
            <a:r>
              <a:rPr lang="en-US" altLang="zh-CN" sz="2400" b="1" dirty="0">
                <a:latin typeface="楷体_GB2312"/>
                <a:ea typeface="楷体_GB2312"/>
              </a:rPr>
              <a:t>)   </a:t>
            </a:r>
            <a:r>
              <a:rPr lang="zh-CN" altLang="en-US" sz="2400" b="1" dirty="0">
                <a:latin typeface="楷体_GB2312"/>
                <a:ea typeface="楷体_GB2312"/>
              </a:rPr>
              <a:t>（程序见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教材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P99</a:t>
            </a:r>
            <a:r>
              <a:rPr lang="zh-CN" altLang="en-US" sz="2400" b="1" dirty="0">
                <a:latin typeface="楷体_GB2312"/>
                <a:ea typeface="楷体_GB2312"/>
              </a:rPr>
              <a:t>）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结论：</a:t>
            </a:r>
            <a:r>
              <a:rPr lang="zh-CN" altLang="en-US" sz="2400" b="1" dirty="0">
                <a:latin typeface="楷体_GB2312"/>
                <a:ea typeface="楷体_GB2312"/>
              </a:rPr>
              <a:t>压缩转置算法不能滥用。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前提：</a:t>
            </a:r>
            <a:r>
              <a:rPr lang="zh-CN" altLang="en-US" sz="2400" b="1" dirty="0">
                <a:highlight>
                  <a:srgbClr val="FFFF00"/>
                </a:highlight>
                <a:latin typeface="楷体_GB2312"/>
                <a:ea typeface="楷体_GB2312"/>
              </a:rPr>
              <a:t>仅适用于非零元素个数很少（即</a:t>
            </a:r>
            <a:r>
              <a:rPr lang="en-US" altLang="zh-CN" sz="2400" b="1" dirty="0">
                <a:highlight>
                  <a:srgbClr val="FFFF00"/>
                </a:highlight>
                <a:latin typeface="楷体_GB2312"/>
                <a:ea typeface="楷体_GB2312"/>
              </a:rPr>
              <a:t>tu</a:t>
            </a:r>
            <a:r>
              <a:rPr lang="en-US" altLang="zh-CN" sz="2400" b="1" dirty="0">
                <a:solidFill>
                  <a:schemeClr val="hlink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&lt;&lt;</a:t>
            </a:r>
            <a:r>
              <a:rPr lang="en-US" altLang="zh-CN" sz="2400" b="1" dirty="0">
                <a:highlight>
                  <a:srgbClr val="FFFF00"/>
                </a:highlight>
                <a:latin typeface="楷体_GB2312"/>
                <a:ea typeface="楷体_GB2312"/>
              </a:rPr>
              <a:t>mu*nu</a:t>
            </a:r>
            <a:r>
              <a:rPr lang="zh-CN" altLang="en-US" sz="2400" b="1" dirty="0">
                <a:highlight>
                  <a:srgbClr val="FFFF00"/>
                </a:highlight>
                <a:latin typeface="楷体_GB2312"/>
                <a:ea typeface="楷体_GB2312"/>
              </a:rPr>
              <a:t>）的情况</a:t>
            </a:r>
            <a:r>
              <a:rPr lang="zh-CN" altLang="en-US" sz="2400" b="1" dirty="0">
                <a:latin typeface="楷体_GB2312"/>
                <a:ea typeface="楷体_GB2312"/>
              </a:rPr>
              <a:t>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45060" name="Rectangle 3"/>
          <p:cNvSpPr/>
          <p:nvPr/>
        </p:nvSpPr>
        <p:spPr>
          <a:xfrm>
            <a:off x="304800" y="304800"/>
            <a:ext cx="38798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压缩转置算法的效率分析</a:t>
            </a:r>
            <a:r>
              <a:rPr lang="zh-CN" altLang="en-US" sz="2400" b="1" dirty="0">
                <a:solidFill>
                  <a:schemeClr val="accent1"/>
                </a:solidFill>
                <a:sym typeface="Wingdings" panose="05000000000000000000" pitchFamily="2" charset="2"/>
              </a:rPr>
              <a:t>：</a:t>
            </a:r>
            <a:endParaRPr lang="zh-CN" altLang="en-US" sz="2400" b="1" dirty="0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  <p:sp>
        <p:nvSpPr>
          <p:cNvPr id="65540" name="AutoShape 4">
            <a:hlinkClick r:id="" action="ppaction://hlinkshowjump?jump=nextslide"/>
          </p:cNvPr>
          <p:cNvSpPr/>
          <p:nvPr/>
        </p:nvSpPr>
        <p:spPr>
          <a:xfrm>
            <a:off x="7667625" y="594995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538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78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5538">
                                            <p:txEl>
                                              <p:charRg st="78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138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5538">
                                            <p:txEl>
                                              <p:charRg st="138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159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5538">
                                            <p:txEl>
                                              <p:charRg st="159" end="1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189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5538">
                                            <p:txEl>
                                              <p:charRg st="189" end="2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217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5538">
                                            <p:txEl>
                                              <p:charRg st="217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247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5538">
                                            <p:txEl>
                                              <p:charRg st="247" end="3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306" end="3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5538">
                                            <p:txEl>
                                              <p:charRg st="306" end="3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charRg st="321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5538">
                                            <p:txEl>
                                              <p:charRg st="321" end="3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 build="p"/>
      <p:bldP spid="6554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4541838" cy="5334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3200" b="1" dirty="0">
                <a:solidFill>
                  <a:srgbClr val="E0B080"/>
                </a:solidFill>
                <a:ea typeface="黑体" panose="02010609060101010101" pitchFamily="49" charset="-122"/>
              </a:rPr>
              <a:t>   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快速转置</a:t>
            </a:r>
            <a:endParaRPr lang="zh-CN" altLang="en-US" sz="2800" b="1" dirty="0">
              <a:solidFill>
                <a:schemeClr val="accent1"/>
              </a:solidFill>
              <a:latin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6563" name="Rectangle 3"/>
          <p:cNvSpPr/>
          <p:nvPr/>
        </p:nvSpPr>
        <p:spPr>
          <a:xfrm>
            <a:off x="304800" y="2620963"/>
            <a:ext cx="989013" cy="19177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三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元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组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表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a.data</a:t>
            </a:r>
            <a:endParaRPr lang="en-US" altLang="zh-CN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66564" name="Rectangle 4"/>
          <p:cNvSpPr/>
          <p:nvPr/>
        </p:nvSpPr>
        <p:spPr>
          <a:xfrm>
            <a:off x="7246938" y="2614613"/>
            <a:ext cx="1006475" cy="19177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三</a:t>
            </a:r>
            <a:endParaRPr lang="zh-CN" altLang="en-US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元</a:t>
            </a:r>
            <a:endParaRPr lang="zh-CN" altLang="en-US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组</a:t>
            </a:r>
            <a:endParaRPr lang="zh-CN" altLang="en-US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表</a:t>
            </a:r>
            <a:endParaRPr lang="zh-CN" altLang="en-US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b.data</a:t>
            </a:r>
            <a:endParaRPr lang="en-US" altLang="zh-CN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971800" y="2209800"/>
            <a:ext cx="3733800" cy="1081088"/>
            <a:chOff x="1872" y="1392"/>
            <a:chExt cx="2352" cy="681"/>
          </a:xfrm>
        </p:grpSpPr>
        <p:sp>
          <p:nvSpPr>
            <p:cNvPr id="46159" name="Line 6"/>
            <p:cNvSpPr/>
            <p:nvPr/>
          </p:nvSpPr>
          <p:spPr>
            <a:xfrm flipV="1">
              <a:off x="2112" y="1488"/>
              <a:ext cx="1296" cy="4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60" name="Rectangle 7"/>
            <p:cNvSpPr/>
            <p:nvPr/>
          </p:nvSpPr>
          <p:spPr>
            <a:xfrm>
              <a:off x="1872" y="1824"/>
              <a:ext cx="276" cy="24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③</a:t>
              </a:r>
              <a:endParaRPr lang="en-US" altLang="zh-CN" sz="2000" dirty="0"/>
            </a:p>
          </p:txBody>
        </p:sp>
        <p:sp>
          <p:nvSpPr>
            <p:cNvPr id="46161" name="Rectangle 8"/>
            <p:cNvSpPr/>
            <p:nvPr/>
          </p:nvSpPr>
          <p:spPr>
            <a:xfrm>
              <a:off x="3508" y="1392"/>
              <a:ext cx="71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(1, 3, -3)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2971800" y="2057400"/>
            <a:ext cx="3733800" cy="1274763"/>
            <a:chOff x="1872" y="1296"/>
            <a:chExt cx="2352" cy="803"/>
          </a:xfrm>
        </p:grpSpPr>
        <p:sp>
          <p:nvSpPr>
            <p:cNvPr id="46156" name="Line 10"/>
            <p:cNvSpPr/>
            <p:nvPr/>
          </p:nvSpPr>
          <p:spPr>
            <a:xfrm>
              <a:off x="2112" y="1440"/>
              <a:ext cx="1296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57" name="Rectangle 11"/>
            <p:cNvSpPr/>
            <p:nvPr/>
          </p:nvSpPr>
          <p:spPr>
            <a:xfrm>
              <a:off x="1872" y="1296"/>
              <a:ext cx="301" cy="27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</a:rPr>
                <a:t>①</a:t>
              </a:r>
              <a:endParaRPr lang="en-US" altLang="zh-CN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46158" name="Rectangle 12"/>
            <p:cNvSpPr/>
            <p:nvPr/>
          </p:nvSpPr>
          <p:spPr>
            <a:xfrm>
              <a:off x="3510" y="1825"/>
              <a:ext cx="714" cy="27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CN" sz="1800" b="1" dirty="0">
                  <a:latin typeface="Arial" panose="020B0604020202020204" pitchFamily="34" charset="0"/>
                </a:rPr>
                <a:t>2 ,1, 12</a:t>
              </a: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2971800" y="3338513"/>
            <a:ext cx="3962400" cy="1084262"/>
            <a:chOff x="1872" y="2103"/>
            <a:chExt cx="2496" cy="683"/>
          </a:xfrm>
        </p:grpSpPr>
        <p:sp>
          <p:nvSpPr>
            <p:cNvPr id="46153" name="Line 14"/>
            <p:cNvSpPr/>
            <p:nvPr/>
          </p:nvSpPr>
          <p:spPr>
            <a:xfrm flipV="1">
              <a:off x="2112" y="2208"/>
              <a:ext cx="1296" cy="4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54" name="Rectangle 15"/>
            <p:cNvSpPr/>
            <p:nvPr/>
          </p:nvSpPr>
          <p:spPr>
            <a:xfrm>
              <a:off x="1872" y="2536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⑥</a:t>
              </a:r>
              <a:endParaRPr lang="en-US" altLang="zh-CN" sz="2000" dirty="0"/>
            </a:p>
          </p:txBody>
        </p:sp>
        <p:sp>
          <p:nvSpPr>
            <p:cNvPr id="46155" name="Rectangle 16"/>
            <p:cNvSpPr/>
            <p:nvPr/>
          </p:nvSpPr>
          <p:spPr>
            <a:xfrm>
              <a:off x="3510" y="2103"/>
              <a:ext cx="85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(2, 5, 18)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7"/>
          <p:cNvGrpSpPr/>
          <p:nvPr/>
        </p:nvGrpSpPr>
        <p:grpSpPr>
          <a:xfrm>
            <a:off x="2971800" y="2438400"/>
            <a:ext cx="3810000" cy="1709738"/>
            <a:chOff x="1872" y="1536"/>
            <a:chExt cx="2400" cy="1077"/>
          </a:xfrm>
        </p:grpSpPr>
        <p:sp>
          <p:nvSpPr>
            <p:cNvPr id="46150" name="Line 18"/>
            <p:cNvSpPr/>
            <p:nvPr/>
          </p:nvSpPr>
          <p:spPr>
            <a:xfrm>
              <a:off x="2064" y="1680"/>
              <a:ext cx="1296" cy="720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51" name="Rectangle 19"/>
            <p:cNvSpPr/>
            <p:nvPr/>
          </p:nvSpPr>
          <p:spPr>
            <a:xfrm>
              <a:off x="1872" y="1536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</a:rPr>
                <a:t>②</a:t>
              </a:r>
              <a:endParaRPr lang="en-US" altLang="zh-CN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46152" name="Rectangle 20"/>
            <p:cNvSpPr/>
            <p:nvPr/>
          </p:nvSpPr>
          <p:spPr>
            <a:xfrm>
              <a:off x="3510" y="2363"/>
              <a:ext cx="762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CN" sz="2000" b="1" dirty="0">
                  <a:solidFill>
                    <a:schemeClr val="accent1"/>
                  </a:solidFill>
                  <a:latin typeface="Arial" panose="020B0604020202020204" pitchFamily="34" charset="0"/>
                </a:rPr>
                <a:t>3, 1,  9</a:t>
              </a: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21"/>
          <p:cNvGrpSpPr/>
          <p:nvPr/>
        </p:nvGrpSpPr>
        <p:grpSpPr>
          <a:xfrm>
            <a:off x="2971800" y="4557713"/>
            <a:ext cx="4038600" cy="639762"/>
            <a:chOff x="1872" y="2871"/>
            <a:chExt cx="2544" cy="403"/>
          </a:xfrm>
        </p:grpSpPr>
        <p:sp>
          <p:nvSpPr>
            <p:cNvPr id="46147" name="Line 22"/>
            <p:cNvSpPr/>
            <p:nvPr/>
          </p:nvSpPr>
          <p:spPr>
            <a:xfrm flipV="1">
              <a:off x="2118" y="2976"/>
              <a:ext cx="1242" cy="1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48" name="Rectangle 23"/>
            <p:cNvSpPr/>
            <p:nvPr/>
          </p:nvSpPr>
          <p:spPr>
            <a:xfrm>
              <a:off x="1872" y="3024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⑧</a:t>
              </a:r>
              <a:endParaRPr lang="en-US" altLang="zh-CN" sz="2000" dirty="0"/>
            </a:p>
          </p:txBody>
        </p:sp>
        <p:sp>
          <p:nvSpPr>
            <p:cNvPr id="46149" name="Rectangle 24"/>
            <p:cNvSpPr/>
            <p:nvPr/>
          </p:nvSpPr>
          <p:spPr>
            <a:xfrm>
              <a:off x="3510" y="2871"/>
              <a:ext cx="90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(4, 6, -7)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25"/>
          <p:cNvGrpSpPr/>
          <p:nvPr/>
        </p:nvGrpSpPr>
        <p:grpSpPr>
          <a:xfrm>
            <a:off x="2971800" y="3276600"/>
            <a:ext cx="3810000" cy="2073275"/>
            <a:chOff x="1872" y="2054"/>
            <a:chExt cx="2400" cy="1306"/>
          </a:xfrm>
        </p:grpSpPr>
        <p:sp>
          <p:nvSpPr>
            <p:cNvPr id="46144" name="Line 26"/>
            <p:cNvSpPr/>
            <p:nvPr/>
          </p:nvSpPr>
          <p:spPr>
            <a:xfrm>
              <a:off x="2112" y="2160"/>
              <a:ext cx="1248" cy="10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45" name="Rectangle 27"/>
            <p:cNvSpPr/>
            <p:nvPr/>
          </p:nvSpPr>
          <p:spPr>
            <a:xfrm>
              <a:off x="1872" y="2054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④</a:t>
              </a:r>
              <a:endParaRPr lang="en-US" altLang="zh-CN" sz="2000" dirty="0"/>
            </a:p>
          </p:txBody>
        </p:sp>
        <p:sp>
          <p:nvSpPr>
            <p:cNvPr id="46146" name="Rectangle 28"/>
            <p:cNvSpPr/>
            <p:nvPr/>
          </p:nvSpPr>
          <p:spPr>
            <a:xfrm>
              <a:off x="3504" y="3110"/>
              <a:ext cx="76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(5, 3, 14)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29"/>
          <p:cNvGrpSpPr/>
          <p:nvPr/>
        </p:nvGrpSpPr>
        <p:grpSpPr>
          <a:xfrm>
            <a:off x="5410200" y="2133600"/>
            <a:ext cx="1371600" cy="3162300"/>
            <a:chOff x="3408" y="1344"/>
            <a:chExt cx="864" cy="1992"/>
          </a:xfrm>
        </p:grpSpPr>
        <p:sp>
          <p:nvSpPr>
            <p:cNvPr id="46133" name="Line 30"/>
            <p:cNvSpPr/>
            <p:nvPr/>
          </p:nvSpPr>
          <p:spPr>
            <a:xfrm>
              <a:off x="3408" y="1344"/>
              <a:ext cx="86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4" name="Line 31"/>
            <p:cNvSpPr/>
            <p:nvPr/>
          </p:nvSpPr>
          <p:spPr>
            <a:xfrm>
              <a:off x="3408" y="1593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5" name="Line 32"/>
            <p:cNvSpPr/>
            <p:nvPr/>
          </p:nvSpPr>
          <p:spPr>
            <a:xfrm>
              <a:off x="3408" y="1842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6" name="Line 33"/>
            <p:cNvSpPr/>
            <p:nvPr/>
          </p:nvSpPr>
          <p:spPr>
            <a:xfrm>
              <a:off x="3408" y="2091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7" name="Line 34"/>
            <p:cNvSpPr/>
            <p:nvPr/>
          </p:nvSpPr>
          <p:spPr>
            <a:xfrm>
              <a:off x="3408" y="2340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8" name="Line 35"/>
            <p:cNvSpPr/>
            <p:nvPr/>
          </p:nvSpPr>
          <p:spPr>
            <a:xfrm>
              <a:off x="3408" y="2589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9" name="Line 36"/>
            <p:cNvSpPr/>
            <p:nvPr/>
          </p:nvSpPr>
          <p:spPr>
            <a:xfrm>
              <a:off x="3408" y="2838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40" name="Line 37"/>
            <p:cNvSpPr/>
            <p:nvPr/>
          </p:nvSpPr>
          <p:spPr>
            <a:xfrm>
              <a:off x="3408" y="3087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41" name="Line 38"/>
            <p:cNvSpPr/>
            <p:nvPr/>
          </p:nvSpPr>
          <p:spPr>
            <a:xfrm>
              <a:off x="3408" y="3336"/>
              <a:ext cx="86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42" name="Line 39"/>
            <p:cNvSpPr/>
            <p:nvPr/>
          </p:nvSpPr>
          <p:spPr>
            <a:xfrm>
              <a:off x="3408" y="1344"/>
              <a:ext cx="0" cy="19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43" name="Line 40"/>
            <p:cNvSpPr/>
            <p:nvPr/>
          </p:nvSpPr>
          <p:spPr>
            <a:xfrm>
              <a:off x="4272" y="1344"/>
              <a:ext cx="0" cy="19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41"/>
          <p:cNvGrpSpPr/>
          <p:nvPr/>
        </p:nvGrpSpPr>
        <p:grpSpPr>
          <a:xfrm>
            <a:off x="2971800" y="2560638"/>
            <a:ext cx="3962400" cy="2255837"/>
            <a:chOff x="1872" y="1613"/>
            <a:chExt cx="2496" cy="1421"/>
          </a:xfrm>
        </p:grpSpPr>
        <p:sp>
          <p:nvSpPr>
            <p:cNvPr id="46130" name="Rectangle 42"/>
            <p:cNvSpPr/>
            <p:nvPr/>
          </p:nvSpPr>
          <p:spPr>
            <a:xfrm>
              <a:off x="1872" y="2783"/>
              <a:ext cx="276" cy="25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⑦</a:t>
              </a:r>
              <a:endParaRPr lang="en-US" altLang="zh-CN" sz="2000" dirty="0"/>
            </a:p>
          </p:txBody>
        </p:sp>
        <p:sp>
          <p:nvSpPr>
            <p:cNvPr id="46131" name="Rectangle 43"/>
            <p:cNvSpPr/>
            <p:nvPr/>
          </p:nvSpPr>
          <p:spPr>
            <a:xfrm>
              <a:off x="3510" y="1613"/>
              <a:ext cx="85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(1, 6, 15)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132" name="Line 44"/>
            <p:cNvSpPr/>
            <p:nvPr/>
          </p:nvSpPr>
          <p:spPr>
            <a:xfrm flipV="1">
              <a:off x="2112" y="1728"/>
              <a:ext cx="1296" cy="11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" name="Group 45"/>
          <p:cNvGrpSpPr/>
          <p:nvPr/>
        </p:nvGrpSpPr>
        <p:grpSpPr>
          <a:xfrm>
            <a:off x="2971800" y="3644900"/>
            <a:ext cx="3797300" cy="911225"/>
            <a:chOff x="1872" y="2296"/>
            <a:chExt cx="2392" cy="574"/>
          </a:xfrm>
        </p:grpSpPr>
        <p:sp>
          <p:nvSpPr>
            <p:cNvPr id="46127" name="Line 46"/>
            <p:cNvSpPr/>
            <p:nvPr/>
          </p:nvSpPr>
          <p:spPr>
            <a:xfrm>
              <a:off x="2112" y="2429"/>
              <a:ext cx="1296" cy="25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128" name="Rectangle 47"/>
            <p:cNvSpPr/>
            <p:nvPr/>
          </p:nvSpPr>
          <p:spPr>
            <a:xfrm>
              <a:off x="1872" y="2296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⑤</a:t>
              </a:r>
              <a:endParaRPr lang="en-US" altLang="zh-CN" sz="2000" dirty="0"/>
            </a:p>
          </p:txBody>
        </p:sp>
        <p:sp>
          <p:nvSpPr>
            <p:cNvPr id="46129" name="Rectangle 48"/>
            <p:cNvSpPr/>
            <p:nvPr/>
          </p:nvSpPr>
          <p:spPr>
            <a:xfrm>
              <a:off x="3510" y="2620"/>
              <a:ext cx="754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(3, 4, 24)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66609" name="Group 49"/>
          <p:cNvGraphicFramePr>
            <a:graphicFrameLocks noGrp="1"/>
          </p:cNvGraphicFramePr>
          <p:nvPr/>
        </p:nvGraphicFramePr>
        <p:xfrm>
          <a:off x="1522413" y="2058988"/>
          <a:ext cx="1371600" cy="3170238"/>
        </p:xfrm>
        <a:graphic>
          <a:graphicData uri="http://schemas.openxmlformats.org/drawingml/2006/table">
            <a:tbl>
              <a:tblPr/>
              <a:tblGrid>
                <a:gridCol w="1371600"/>
              </a:tblGrid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1, 2, 12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1, 3,  9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1, -3)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(3, 5, 14)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(4, 3, 24)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(5, 2, 18)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(6, 1, 15)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(6, 4, -7)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629" name="Rectangle 69"/>
          <p:cNvSpPr/>
          <p:nvPr/>
        </p:nvSpPr>
        <p:spPr>
          <a:xfrm>
            <a:off x="381000" y="838200"/>
            <a:ext cx="8382000" cy="8858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chemeClr val="accent1"/>
                </a:solidFill>
                <a:latin typeface="楷体_GB2312"/>
                <a:ea typeface="楷体_GB2312"/>
              </a:rPr>
              <a:t>思路：依次</a:t>
            </a:r>
            <a:r>
              <a:rPr lang="zh-CN" altLang="en-US" sz="2600" b="1" dirty="0">
                <a:latin typeface="楷体_GB2312"/>
                <a:ea typeface="楷体_GB2312"/>
              </a:rPr>
              <a:t>把</a:t>
            </a:r>
            <a:r>
              <a:rPr lang="en-US" altLang="zh-CN" sz="2600" b="1" dirty="0">
                <a:latin typeface="楷体_GB2312"/>
                <a:ea typeface="楷体_GB2312"/>
              </a:rPr>
              <a:t>a.data</a:t>
            </a:r>
            <a:r>
              <a:rPr lang="zh-CN" altLang="en-US" sz="2600" b="1" dirty="0">
                <a:latin typeface="楷体_GB2312"/>
                <a:ea typeface="楷体_GB2312"/>
              </a:rPr>
              <a:t>中的元素直接送入</a:t>
            </a:r>
            <a:r>
              <a:rPr lang="en-US" altLang="zh-CN" sz="2600" b="1" dirty="0">
                <a:latin typeface="楷体_GB2312"/>
                <a:ea typeface="楷体_GB2312"/>
              </a:rPr>
              <a:t>b.data</a:t>
            </a:r>
            <a:r>
              <a:rPr lang="zh-CN" altLang="en-US" sz="2600" b="1" dirty="0">
                <a:latin typeface="楷体_GB2312"/>
                <a:ea typeface="楷体_GB2312"/>
              </a:rPr>
              <a:t>的恰当位置上（</a:t>
            </a:r>
            <a:r>
              <a:rPr lang="zh-CN" altLang="en-US" sz="2600" b="1" dirty="0">
                <a:solidFill>
                  <a:schemeClr val="accent1"/>
                </a:solidFill>
                <a:latin typeface="楷体_GB2312"/>
                <a:ea typeface="楷体_GB2312"/>
              </a:rPr>
              <a:t>即</a:t>
            </a:r>
            <a:r>
              <a:rPr lang="en-US" altLang="zh-CN" sz="2600" b="1" dirty="0">
                <a:solidFill>
                  <a:schemeClr val="accent1"/>
                </a:solidFill>
                <a:latin typeface="楷体_GB2312"/>
                <a:ea typeface="楷体_GB2312"/>
              </a:rPr>
              <a:t>M</a:t>
            </a:r>
            <a:r>
              <a:rPr lang="zh-CN" altLang="en-US" sz="2600" b="1" dirty="0">
                <a:solidFill>
                  <a:schemeClr val="accent1"/>
                </a:solidFill>
                <a:latin typeface="楷体_GB2312"/>
                <a:ea typeface="楷体_GB2312"/>
              </a:rPr>
              <a:t>三元组的</a:t>
            </a:r>
            <a:r>
              <a:rPr lang="en-US" altLang="zh-CN" sz="2600" b="1" dirty="0">
                <a:solidFill>
                  <a:schemeClr val="accent1"/>
                </a:solidFill>
                <a:latin typeface="楷体_GB2312"/>
                <a:ea typeface="楷体_GB2312"/>
              </a:rPr>
              <a:t>p</a:t>
            </a:r>
            <a:r>
              <a:rPr lang="zh-CN" altLang="en-US" sz="2600" b="1" dirty="0">
                <a:solidFill>
                  <a:schemeClr val="accent1"/>
                </a:solidFill>
                <a:latin typeface="楷体_GB2312"/>
                <a:ea typeface="楷体_GB2312"/>
              </a:rPr>
              <a:t>指针不回溯</a:t>
            </a:r>
            <a:r>
              <a:rPr lang="zh-CN" altLang="en-US" sz="2600" b="1" dirty="0">
                <a:latin typeface="楷体_GB2312"/>
                <a:ea typeface="楷体_GB2312"/>
              </a:rPr>
              <a:t>）。</a:t>
            </a:r>
            <a:endParaRPr lang="zh-CN" altLang="en-US" sz="2600" b="1" dirty="0">
              <a:latin typeface="楷体_GB2312"/>
              <a:ea typeface="楷体_GB2312"/>
            </a:endParaRPr>
          </a:p>
        </p:txBody>
      </p:sp>
      <p:sp>
        <p:nvSpPr>
          <p:cNvPr id="66630" name="AutoShape 70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6631" name="Rectangle 71"/>
          <p:cNvSpPr/>
          <p:nvPr/>
        </p:nvSpPr>
        <p:spPr>
          <a:xfrm>
            <a:off x="533400" y="5638800"/>
            <a:ext cx="6553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关键：</a:t>
            </a:r>
            <a:r>
              <a:rPr lang="zh-CN" altLang="en-US" sz="2800" b="1" dirty="0">
                <a:latin typeface="楷体_GB2312"/>
                <a:ea typeface="楷体_GB2312"/>
              </a:rPr>
              <a:t>怎样寻找</a:t>
            </a:r>
            <a:r>
              <a:rPr lang="en-US" altLang="zh-CN" sz="2800" b="1" dirty="0">
                <a:latin typeface="楷体_GB2312"/>
                <a:ea typeface="楷体_GB2312"/>
              </a:rPr>
              <a:t>b.data</a:t>
            </a:r>
            <a:r>
              <a:rPr lang="zh-CN" altLang="en-US" sz="2800" b="1" dirty="0">
                <a:latin typeface="楷体_GB2312"/>
                <a:ea typeface="楷体_GB2312"/>
              </a:rPr>
              <a:t>的</a:t>
            </a:r>
            <a:r>
              <a:rPr lang="zh-CN" altLang="en-US" sz="2800" b="1" dirty="0">
                <a:ea typeface="楷体_GB2312"/>
              </a:rPr>
              <a:t>“</a:t>
            </a:r>
            <a:r>
              <a:rPr lang="zh-CN" altLang="en-US" sz="2800" b="1" dirty="0">
                <a:latin typeface="楷体_GB2312"/>
                <a:ea typeface="楷体_GB2312"/>
              </a:rPr>
              <a:t>恰当</a:t>
            </a:r>
            <a:r>
              <a:rPr lang="zh-CN" altLang="en-US" sz="2800" b="1" dirty="0">
                <a:ea typeface="楷体_GB2312"/>
              </a:rPr>
              <a:t>”</a:t>
            </a:r>
            <a:r>
              <a:rPr lang="zh-CN" altLang="en-US" sz="2800" b="1" dirty="0">
                <a:latin typeface="楷体_GB2312"/>
                <a:ea typeface="楷体_GB2312"/>
              </a:rPr>
              <a:t>位置？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grpSp>
        <p:nvGrpSpPr>
          <p:cNvPr id="11" name="Group 72"/>
          <p:cNvGrpSpPr/>
          <p:nvPr/>
        </p:nvGrpSpPr>
        <p:grpSpPr>
          <a:xfrm>
            <a:off x="1066800" y="1692275"/>
            <a:ext cx="430213" cy="2041525"/>
            <a:chOff x="977" y="912"/>
            <a:chExt cx="271" cy="1484"/>
          </a:xfrm>
        </p:grpSpPr>
        <p:sp>
          <p:nvSpPr>
            <p:cNvPr id="46122" name="Rectangle 73"/>
            <p:cNvSpPr/>
            <p:nvPr/>
          </p:nvSpPr>
          <p:spPr>
            <a:xfrm>
              <a:off x="977" y="912"/>
              <a:ext cx="271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 p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46123" name="Rectangle 74"/>
            <p:cNvSpPr/>
            <p:nvPr/>
          </p:nvSpPr>
          <p:spPr>
            <a:xfrm>
              <a:off x="1008" y="1200"/>
              <a:ext cx="212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1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46124" name="Rectangle 75"/>
            <p:cNvSpPr/>
            <p:nvPr/>
          </p:nvSpPr>
          <p:spPr>
            <a:xfrm>
              <a:off x="1028" y="1488"/>
              <a:ext cx="212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2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46125" name="Rectangle 76"/>
            <p:cNvSpPr/>
            <p:nvPr/>
          </p:nvSpPr>
          <p:spPr>
            <a:xfrm>
              <a:off x="1028" y="1776"/>
              <a:ext cx="212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3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46126" name="Rectangle 77"/>
            <p:cNvSpPr/>
            <p:nvPr/>
          </p:nvSpPr>
          <p:spPr>
            <a:xfrm>
              <a:off x="1028" y="2064"/>
              <a:ext cx="212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4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6638" name="Rectangle 78"/>
          <p:cNvSpPr/>
          <p:nvPr/>
        </p:nvSpPr>
        <p:spPr>
          <a:xfrm>
            <a:off x="4979988" y="1676400"/>
            <a:ext cx="4302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 q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66639" name="Rectangle 79"/>
          <p:cNvSpPr/>
          <p:nvPr/>
        </p:nvSpPr>
        <p:spPr>
          <a:xfrm>
            <a:off x="4953000" y="2895600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 3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66640" name="Rectangle 80"/>
          <p:cNvSpPr/>
          <p:nvPr/>
        </p:nvSpPr>
        <p:spPr>
          <a:xfrm>
            <a:off x="4953000" y="3733800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 5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6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6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6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6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/>
      <p:bldP spid="66564" grpId="0"/>
      <p:bldP spid="66629" grpId="0"/>
      <p:bldP spid="66630" grpId="0" animBg="1"/>
      <p:bldP spid="66631" grpId="0"/>
      <p:bldP spid="66638" grpId="0"/>
      <p:bldP spid="66639" grpId="0"/>
      <p:bldP spid="6664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7586" name="Rectangle 2"/>
          <p:cNvSpPr/>
          <p:nvPr/>
        </p:nvSpPr>
        <p:spPr>
          <a:xfrm>
            <a:off x="228600" y="685800"/>
            <a:ext cx="8088313" cy="12001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如果能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预知</a:t>
            </a:r>
            <a:r>
              <a:rPr lang="en-US" altLang="zh-CN" sz="2400" b="1" dirty="0">
                <a:ea typeface="楷体_GB2312"/>
              </a:rPr>
              <a:t>M</a:t>
            </a:r>
            <a:r>
              <a:rPr lang="zh-CN" altLang="en-US" sz="2400" b="1" dirty="0">
                <a:latin typeface="楷体_GB2312"/>
                <a:ea typeface="楷体_GB2312"/>
              </a:rPr>
              <a:t>矩阵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每一列</a:t>
            </a:r>
            <a:r>
              <a:rPr lang="en-US" altLang="zh-CN" sz="2400" b="1" dirty="0">
                <a:latin typeface="楷体_GB2312"/>
                <a:ea typeface="楷体_GB2312"/>
              </a:rPr>
              <a:t>(</a:t>
            </a:r>
            <a:r>
              <a:rPr lang="zh-CN" altLang="en-US" sz="2400" b="1" dirty="0">
                <a:latin typeface="楷体_GB2312"/>
                <a:ea typeface="楷体_GB2312"/>
              </a:rPr>
              <a:t>即</a:t>
            </a:r>
            <a:r>
              <a:rPr lang="en-US" altLang="zh-CN" sz="2400" b="1" dirty="0">
                <a:ea typeface="楷体_GB2312"/>
              </a:rPr>
              <a:t>T</a:t>
            </a:r>
            <a:r>
              <a:rPr lang="zh-CN" altLang="en-US" sz="2400" b="1" dirty="0">
                <a:latin typeface="楷体_GB2312"/>
                <a:ea typeface="楷体_GB2312"/>
              </a:rPr>
              <a:t>的每一行</a:t>
            </a:r>
            <a:r>
              <a:rPr lang="en-US" altLang="zh-CN" sz="2400" b="1" dirty="0">
                <a:latin typeface="楷体_GB2312"/>
                <a:ea typeface="楷体_GB2312"/>
              </a:rPr>
              <a:t>)</a:t>
            </a:r>
            <a:r>
              <a:rPr lang="zh-CN" altLang="en-US" sz="2400" b="1" dirty="0">
                <a:latin typeface="楷体_GB2312"/>
                <a:ea typeface="楷体_GB2312"/>
              </a:rPr>
              <a:t>的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非零元素个数</a:t>
            </a:r>
            <a:r>
              <a:rPr lang="zh-CN" altLang="en-US" sz="2400" b="1" dirty="0">
                <a:latin typeface="楷体_GB2312"/>
                <a:ea typeface="楷体_GB2312"/>
              </a:rPr>
              <a:t>，又能预知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第一个非零元素</a:t>
            </a:r>
            <a:r>
              <a:rPr lang="zh-CN" altLang="en-US" sz="2400" b="1" dirty="0">
                <a:latin typeface="楷体_GB2312"/>
                <a:ea typeface="楷体_GB2312"/>
              </a:rPr>
              <a:t>在</a:t>
            </a:r>
            <a:r>
              <a:rPr lang="en-US" altLang="zh-CN" sz="2400" b="1" dirty="0">
                <a:latin typeface="楷体_GB2312"/>
                <a:ea typeface="楷体_GB2312"/>
              </a:rPr>
              <a:t>b.data</a:t>
            </a:r>
            <a:r>
              <a:rPr lang="zh-CN" altLang="en-US" sz="2400" b="1" dirty="0">
                <a:latin typeface="楷体_GB2312"/>
                <a:ea typeface="楷体_GB2312"/>
              </a:rPr>
              <a:t>中的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位置</a:t>
            </a:r>
            <a:r>
              <a:rPr lang="en-US" altLang="zh-CN" sz="2400" b="1" dirty="0">
                <a:latin typeface="楷体_GB2312"/>
                <a:ea typeface="楷体_GB2312"/>
              </a:rPr>
              <a:t>,</a:t>
            </a:r>
            <a:r>
              <a:rPr lang="zh-CN" altLang="en-US" sz="2400" b="1" dirty="0">
                <a:latin typeface="楷体_GB2312"/>
                <a:ea typeface="楷体_GB2312"/>
              </a:rPr>
              <a:t>则扫描</a:t>
            </a:r>
            <a:r>
              <a:rPr lang="en-US" altLang="zh-CN" sz="2400" b="1" dirty="0">
                <a:ea typeface="楷体_GB2312"/>
              </a:rPr>
              <a:t>a.data</a:t>
            </a:r>
            <a:r>
              <a:rPr lang="zh-CN" altLang="en-US" sz="2400" b="1" dirty="0">
                <a:latin typeface="楷体_GB2312"/>
                <a:ea typeface="楷体_GB2312"/>
              </a:rPr>
              <a:t>时便可以将每个元素准确定位（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因为已知若干参考点</a:t>
            </a:r>
            <a:r>
              <a:rPr lang="zh-CN" altLang="en-US" sz="2400" b="1" dirty="0">
                <a:latin typeface="楷体_GB2312"/>
                <a:ea typeface="楷体_GB2312"/>
              </a:rPr>
              <a:t>）。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7587" name="AutoShape 3">
            <a:hlinkClick r:id="" action="ppaction://hlinkshowjump?jump=nextslide"/>
          </p:cNvPr>
          <p:cNvSpPr/>
          <p:nvPr/>
        </p:nvSpPr>
        <p:spPr>
          <a:xfrm>
            <a:off x="79248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7589" name="Rectangle 5"/>
          <p:cNvSpPr/>
          <p:nvPr/>
        </p:nvSpPr>
        <p:spPr>
          <a:xfrm>
            <a:off x="228600" y="2528888"/>
            <a:ext cx="837565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62000" lvl="0" indent="-76200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技巧：</a:t>
            </a:r>
            <a:r>
              <a:rPr lang="zh-CN" altLang="en-US" sz="2400" b="1" dirty="0">
                <a:ea typeface="楷体_GB2312"/>
              </a:rPr>
              <a:t>利用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带辅助向量</a:t>
            </a:r>
            <a:r>
              <a:rPr lang="zh-CN" altLang="en-US" sz="2400" b="1" dirty="0">
                <a:ea typeface="楷体_GB2312"/>
              </a:rPr>
              <a:t>的三元组表，它正好携带每行（或列）的非零元素个数 </a:t>
            </a:r>
            <a:r>
              <a:rPr lang="en-US" altLang="zh-CN" sz="2000" b="1" dirty="0">
                <a:solidFill>
                  <a:schemeClr val="accent1"/>
                </a:solidFill>
              </a:rPr>
              <a:t>NUM(i)</a:t>
            </a:r>
            <a:r>
              <a:rPr lang="zh-CN" altLang="en-US" sz="2400" b="1" dirty="0">
                <a:ea typeface="楷体_GB2312"/>
              </a:rPr>
              <a:t>以及每行（或列）的第一个非零元素在三元组表中的位置</a:t>
            </a:r>
            <a:r>
              <a:rPr lang="en-US" altLang="zh-CN" sz="2000" b="1" dirty="0">
                <a:solidFill>
                  <a:schemeClr val="accent2"/>
                </a:solidFill>
              </a:rPr>
              <a:t>POS(i)</a:t>
            </a:r>
            <a:r>
              <a:rPr lang="en-US" altLang="zh-CN" sz="2400" b="1" dirty="0">
                <a:ea typeface="楷体_GB2312"/>
              </a:rPr>
              <a:t> </a:t>
            </a:r>
            <a:r>
              <a:rPr lang="zh-CN" altLang="en-US" sz="2400" b="1" dirty="0">
                <a:ea typeface="楷体_GB2312"/>
              </a:rPr>
              <a:t>等信息。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47110" name="Rectangle 6"/>
          <p:cNvSpPr>
            <a:spLocks noGrp="1"/>
          </p:cNvSpPr>
          <p:nvPr>
            <p:ph type="title"/>
          </p:nvPr>
        </p:nvSpPr>
        <p:spPr>
          <a:xfrm>
            <a:off x="179388" y="188913"/>
            <a:ext cx="1944687" cy="4572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设计思路：</a:t>
            </a:r>
            <a:endParaRPr lang="zh-CN" altLang="en-US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67591" name="Group 7"/>
          <p:cNvGraphicFramePr>
            <a:graphicFrameLocks noGrp="1"/>
          </p:cNvGraphicFramePr>
          <p:nvPr/>
        </p:nvGraphicFramePr>
        <p:xfrm>
          <a:off x="228600" y="3886200"/>
          <a:ext cx="4419600" cy="1431925"/>
        </p:xfrm>
        <a:graphic>
          <a:graphicData uri="http://schemas.openxmlformats.org/drawingml/2006/table">
            <a:tbl>
              <a:tblPr/>
              <a:tblGrid>
                <a:gridCol w="998538"/>
                <a:gridCol w="569912"/>
                <a:gridCol w="569913"/>
                <a:gridCol w="569912"/>
                <a:gridCol w="500063"/>
                <a:gridCol w="641350"/>
                <a:gridCol w="569912"/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NUM(i)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POS(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25" name="Rectangle 41"/>
          <p:cNvSpPr/>
          <p:nvPr/>
        </p:nvSpPr>
        <p:spPr>
          <a:xfrm>
            <a:off x="304800" y="5638800"/>
            <a:ext cx="693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highlight>
                  <a:srgbClr val="FFFF00"/>
                </a:highlight>
                <a:latin typeface="楷体_GB2312"/>
                <a:ea typeface="楷体_GB2312"/>
              </a:rPr>
              <a:t>不过我们需要的是</a:t>
            </a:r>
            <a:r>
              <a:rPr lang="zh-CN" altLang="en-US" sz="2400" b="1" dirty="0">
                <a:solidFill>
                  <a:schemeClr val="accent1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按列生成的</a:t>
            </a:r>
            <a:r>
              <a:rPr lang="en-US" altLang="zh-CN" sz="2400" b="1" dirty="0">
                <a:highlight>
                  <a:srgbClr val="FFFF00"/>
                </a:highlight>
                <a:ea typeface="楷体_GB2312"/>
              </a:rPr>
              <a:t>M</a:t>
            </a:r>
            <a:r>
              <a:rPr lang="zh-CN" altLang="en-US" sz="2400" b="1" dirty="0">
                <a:highlight>
                  <a:srgbClr val="FFFF00"/>
                </a:highlight>
                <a:latin typeface="楷体_GB2312"/>
                <a:ea typeface="楷体_GB2312"/>
              </a:rPr>
              <a:t>矩阵的辅助向量。</a:t>
            </a:r>
            <a:endParaRPr lang="zh-CN" altLang="en-US" sz="2400" b="1" dirty="0">
              <a:highlight>
                <a:srgbClr val="FFFF00"/>
              </a:highlight>
              <a:latin typeface="楷体_GB2312"/>
              <a:ea typeface="楷体_GB2312"/>
            </a:endParaRPr>
          </a:p>
        </p:txBody>
      </p:sp>
      <p:sp>
        <p:nvSpPr>
          <p:cNvPr id="67626" name="Rectangle 42"/>
          <p:cNvSpPr/>
          <p:nvPr/>
        </p:nvSpPr>
        <p:spPr>
          <a:xfrm>
            <a:off x="4876800" y="4343400"/>
            <a:ext cx="3886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规律：</a:t>
            </a:r>
            <a:r>
              <a:rPr lang="en-US" altLang="zh-CN" sz="2400" b="1" dirty="0">
                <a:solidFill>
                  <a:schemeClr val="accent1"/>
                </a:solidFill>
              </a:rPr>
              <a:t>POS(1)</a:t>
            </a:r>
            <a:r>
              <a:rPr lang="zh-CN" altLang="en-US" sz="2400" b="1" dirty="0">
                <a:solidFill>
                  <a:schemeClr val="accent1"/>
                </a:solidFill>
              </a:rPr>
              <a:t>＝</a:t>
            </a:r>
            <a:r>
              <a:rPr lang="en-US" altLang="zh-CN" sz="2400" b="1" dirty="0">
                <a:solidFill>
                  <a:schemeClr val="accent1"/>
                </a:solidFill>
              </a:rPr>
              <a:t>1</a:t>
            </a:r>
            <a:endParaRPr lang="en-US" altLang="zh-CN" sz="2400" b="1" dirty="0">
              <a:solidFill>
                <a:schemeClr val="accent1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</a:rPr>
              <a:t>POS(i)</a:t>
            </a:r>
            <a:r>
              <a:rPr lang="zh-CN" altLang="en-US" sz="2400" b="1" dirty="0">
                <a:solidFill>
                  <a:schemeClr val="accent1"/>
                </a:solidFill>
              </a:rPr>
              <a:t>＝</a:t>
            </a:r>
            <a:r>
              <a:rPr lang="en-US" altLang="zh-CN" sz="2400" b="1" dirty="0">
                <a:solidFill>
                  <a:schemeClr val="accent1"/>
                </a:solidFill>
              </a:rPr>
              <a:t>POS(i-1)+NUM(i-1)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67627" name="AutoShape 43"/>
          <p:cNvSpPr/>
          <p:nvPr/>
        </p:nvSpPr>
        <p:spPr>
          <a:xfrm>
            <a:off x="6934200" y="3657600"/>
            <a:ext cx="1371600" cy="457200"/>
          </a:xfrm>
          <a:prstGeom prst="wedgeEllipseCallout">
            <a:avLst>
              <a:gd name="adj1" fmla="val -198264"/>
              <a:gd name="adj2" fmla="val 729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请回忆：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67628" name="Rectangle 44"/>
          <p:cNvSpPr/>
          <p:nvPr/>
        </p:nvSpPr>
        <p:spPr>
          <a:xfrm>
            <a:off x="304800" y="1963738"/>
            <a:ext cx="78930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请注意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a.data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特征：每列首个非零元素必定先被扫描到。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charRg st="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586">
                                            <p:txEl>
                                              <p:charRg st="0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7589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7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7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7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build="p"/>
      <p:bldP spid="67587" grpId="0" animBg="1"/>
      <p:bldP spid="67589" grpId="0" build="p"/>
      <p:bldP spid="67625" grpId="0"/>
      <p:bldP spid="67626" grpId="0"/>
      <p:bldP spid="67627" grpId="0" animBg="1"/>
      <p:bldP spid="6762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8610" name="Rectang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8534400" cy="1371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令：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ea typeface="楷体_GB2312"/>
              </a:rPr>
              <a:t>中的列变量用</a:t>
            </a: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col</a:t>
            </a:r>
            <a:r>
              <a:rPr lang="zh-CN" altLang="en-US" sz="2400" b="1" dirty="0">
                <a:solidFill>
                  <a:schemeClr val="tx1"/>
                </a:solidFill>
                <a:ea typeface="楷体_GB2312"/>
              </a:rPr>
              <a:t>表示；</a:t>
            </a:r>
            <a:br>
              <a:rPr lang="zh-CN" altLang="en-US" sz="2400" b="1" dirty="0">
                <a:solidFill>
                  <a:schemeClr val="accent1"/>
                </a:solidFill>
                <a:ea typeface="楷体_GB2312"/>
              </a:rPr>
            </a:b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        </a:t>
            </a: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num[ col ]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存放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中第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</a:rPr>
              <a:t>col 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列中非</a:t>
            </a:r>
            <a:r>
              <a:rPr lang="en-US" altLang="zh-CN" sz="2400" b="1" dirty="0">
                <a:solidFill>
                  <a:schemeClr val="tx1"/>
                </a:solidFill>
                <a:latin typeface="楷体_GB2312"/>
                <a:ea typeface="楷体_GB2312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元素个数，</a:t>
            </a:r>
            <a:b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       </a:t>
            </a:r>
            <a:r>
              <a:rPr lang="en-US" altLang="zh-CN" sz="2400" b="1" dirty="0">
                <a:solidFill>
                  <a:schemeClr val="accent2"/>
                </a:solidFill>
                <a:ea typeface="楷体_GB2312"/>
              </a:rPr>
              <a:t>cpot[ col ]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存放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中第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</a:rPr>
              <a:t>col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列的第一个非</a:t>
            </a:r>
            <a:r>
              <a:rPr lang="en-US" altLang="zh-CN" sz="2400" b="1" dirty="0">
                <a:solidFill>
                  <a:schemeClr val="tx1"/>
                </a:solidFill>
                <a:latin typeface="楷体_GB2312"/>
                <a:ea typeface="楷体_GB2312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元素的位置，</a:t>
            </a:r>
            <a:b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            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（即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b.data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中待计算的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“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恰当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”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位置所需参考点）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8611" name="Rectangle 3"/>
          <p:cNvSpPr/>
          <p:nvPr/>
        </p:nvSpPr>
        <p:spPr>
          <a:xfrm>
            <a:off x="304800" y="4724400"/>
            <a:ext cx="8077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讨论：按列优先的辅助向量求出后，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下一步该如何操作？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由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a.data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中每个元素的列信息，即可直接查出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b.data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中的重要参考点之位置，进而可确定当前元素之位置！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68612" name="Group 4"/>
          <p:cNvGraphicFramePr>
            <a:graphicFrameLocks noGrp="1"/>
          </p:cNvGraphicFramePr>
          <p:nvPr/>
        </p:nvGraphicFramePr>
        <p:xfrm>
          <a:off x="228600" y="2362200"/>
          <a:ext cx="4953000" cy="1431925"/>
        </p:xfrm>
        <a:graphic>
          <a:graphicData uri="http://schemas.openxmlformats.org/drawingml/2006/table">
            <a:tbl>
              <a:tblPr/>
              <a:tblGrid>
                <a:gridCol w="1119188"/>
                <a:gridCol w="638175"/>
                <a:gridCol w="639762"/>
                <a:gridCol w="638175"/>
                <a:gridCol w="560388"/>
                <a:gridCol w="719137"/>
                <a:gridCol w="638175"/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num[col]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cpot[col]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646" name="Rectangle 38"/>
          <p:cNvSpPr/>
          <p:nvPr/>
        </p:nvSpPr>
        <p:spPr>
          <a:xfrm>
            <a:off x="533400" y="3886200"/>
            <a:ext cx="44958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规律： </a:t>
            </a:r>
            <a:r>
              <a:rPr lang="en-US" altLang="zh-CN" sz="2400" b="1" dirty="0">
                <a:ea typeface="楷体_GB2312"/>
              </a:rPr>
              <a:t>cpot</a:t>
            </a:r>
            <a:r>
              <a:rPr lang="en-US" altLang="zh-CN" sz="2400" b="1" dirty="0"/>
              <a:t>(1)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ea typeface="楷体_GB2312"/>
              </a:rPr>
              <a:t>cpot[col]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＝</a:t>
            </a:r>
            <a:r>
              <a:rPr lang="zh-CN" altLang="en-US" sz="2000" b="1" dirty="0">
                <a:ea typeface="楷体_GB2312"/>
              </a:rPr>
              <a:t> </a:t>
            </a:r>
            <a:r>
              <a:rPr lang="en-US" altLang="zh-CN" sz="2000" b="1" dirty="0">
                <a:ea typeface="楷体_GB2312"/>
              </a:rPr>
              <a:t>cpot[col-1]</a:t>
            </a:r>
            <a:r>
              <a:rPr lang="en-US" altLang="zh-CN" sz="2000" b="1" dirty="0"/>
              <a:t> + </a:t>
            </a:r>
            <a:r>
              <a:rPr lang="en-US" altLang="zh-CN" sz="2000" b="1" dirty="0">
                <a:ea typeface="楷体_GB2312"/>
              </a:rPr>
              <a:t>num[col-1]</a:t>
            </a:r>
            <a:endParaRPr lang="en-US" altLang="zh-CN" sz="2000" b="1" dirty="0">
              <a:ea typeface="楷体_GB2312"/>
            </a:endParaRPr>
          </a:p>
        </p:txBody>
      </p:sp>
      <p:grpSp>
        <p:nvGrpSpPr>
          <p:cNvPr id="2" name="Group 39"/>
          <p:cNvGrpSpPr/>
          <p:nvPr/>
        </p:nvGrpSpPr>
        <p:grpSpPr>
          <a:xfrm>
            <a:off x="6172200" y="2209800"/>
            <a:ext cx="2362200" cy="1981200"/>
            <a:chOff x="1536" y="480"/>
            <a:chExt cx="2304" cy="2160"/>
          </a:xfrm>
        </p:grpSpPr>
        <p:sp>
          <p:nvSpPr>
            <p:cNvPr id="48177" name="AutoShape 40"/>
            <p:cNvSpPr/>
            <p:nvPr/>
          </p:nvSpPr>
          <p:spPr>
            <a:xfrm>
              <a:off x="1536" y="480"/>
              <a:ext cx="48" cy="2160"/>
            </a:xfrm>
            <a:prstGeom prst="lef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8178" name="AutoShape 41"/>
            <p:cNvSpPr/>
            <p:nvPr/>
          </p:nvSpPr>
          <p:spPr>
            <a:xfrm>
              <a:off x="3792" y="480"/>
              <a:ext cx="48" cy="2160"/>
            </a:xfrm>
            <a:prstGeom prst="rightBracket">
              <a:avLst>
                <a:gd name="adj" fmla="val 375000"/>
              </a:avLst>
            </a:prstGeom>
            <a:noFill/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8179" name="Rectangle 42"/>
            <p:cNvSpPr/>
            <p:nvPr/>
          </p:nvSpPr>
          <p:spPr>
            <a:xfrm>
              <a:off x="1656" y="480"/>
              <a:ext cx="2040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solidFill>
                    <a:schemeClr val="accent1"/>
                  </a:solidFill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12    9    0    0    0</a:t>
              </a:r>
              <a:endParaRPr lang="en-US" altLang="zh-CN" sz="20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0" name="Rectangle 43"/>
            <p:cNvSpPr/>
            <p:nvPr/>
          </p:nvSpPr>
          <p:spPr>
            <a:xfrm>
              <a:off x="1680" y="864"/>
              <a:ext cx="2016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solidFill>
                    <a:schemeClr val="accent1"/>
                  </a:solidFill>
                  <a:ea typeface="黑体" panose="02010609060101010101" pitchFamily="49" charset="-122"/>
                </a:rPr>
                <a:t>       </a:t>
              </a: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0     0    0    0    0</a:t>
              </a:r>
              <a:endParaRPr lang="en-US" altLang="zh-CN" sz="20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1" name="Rectangle 44"/>
            <p:cNvSpPr/>
            <p:nvPr/>
          </p:nvSpPr>
          <p:spPr>
            <a:xfrm>
              <a:off x="1656" y="1248"/>
              <a:ext cx="199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-3     0     0    0    14   0</a:t>
              </a:r>
              <a:endParaRPr lang="en-US" altLang="zh-CN" sz="20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2" name="Rectangle 45"/>
            <p:cNvSpPr/>
            <p:nvPr/>
          </p:nvSpPr>
          <p:spPr>
            <a:xfrm>
              <a:off x="1680" y="163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solidFill>
                    <a:schemeClr val="accent1"/>
                  </a:solidFill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 0    24    0    0    0</a:t>
              </a:r>
              <a:endParaRPr lang="en-US" altLang="zh-CN" sz="20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3" name="Rectangle 46"/>
            <p:cNvSpPr/>
            <p:nvPr/>
          </p:nvSpPr>
          <p:spPr>
            <a:xfrm>
              <a:off x="1680" y="2016"/>
              <a:ext cx="2112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000" b="1" baseline="-6000" dirty="0">
                  <a:solidFill>
                    <a:schemeClr val="accent1"/>
                  </a:solidFill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18    0    0    0    0</a:t>
              </a:r>
              <a:endParaRPr lang="en-US" altLang="zh-CN" sz="20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8184" name="Rectangle 47"/>
            <p:cNvSpPr/>
            <p:nvPr/>
          </p:nvSpPr>
          <p:spPr>
            <a:xfrm>
              <a:off x="1680" y="2352"/>
              <a:ext cx="2064" cy="27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15</a:t>
              </a:r>
              <a:r>
                <a:rPr lang="en-US" altLang="zh-CN" sz="2000" b="1" baseline="-6000" dirty="0">
                  <a:solidFill>
                    <a:schemeClr val="accent1"/>
                  </a:solidFill>
                  <a:ea typeface="黑体" panose="02010609060101010101" pitchFamily="49" charset="-122"/>
                </a:rPr>
                <a:t>     </a:t>
              </a:r>
              <a:r>
                <a:rPr lang="en-US" altLang="zh-CN" sz="2000" b="1" dirty="0">
                  <a:solidFill>
                    <a:schemeClr val="accent1"/>
                  </a:solidFill>
                  <a:ea typeface="黑体" panose="02010609060101010101" pitchFamily="49" charset="-122"/>
                </a:rPr>
                <a:t>0    0    -7    0    0</a:t>
              </a:r>
              <a:endParaRPr lang="en-US" altLang="zh-CN" sz="2000" b="1" dirty="0">
                <a:solidFill>
                  <a:schemeClr val="accent1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68656" name="Rectangle 48"/>
          <p:cNvSpPr/>
          <p:nvPr/>
        </p:nvSpPr>
        <p:spPr>
          <a:xfrm>
            <a:off x="5562600" y="2743200"/>
            <a:ext cx="519113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M</a:t>
            </a:r>
            <a:endParaRPr lang="en-US" altLang="zh-CN" sz="2800" b="1" dirty="0">
              <a:solidFill>
                <a:schemeClr val="accent1"/>
              </a:solidFill>
              <a:ea typeface="黑体" panose="02010609060101010101" pitchFamily="49" charset="-122"/>
            </a:endParaRPr>
          </a:p>
        </p:txBody>
      </p:sp>
      <p:sp>
        <p:nvSpPr>
          <p:cNvPr id="68657" name="AutoShape 49">
            <a:hlinkClick r:id="" action="ppaction://hlinkshowjump?jump=nextslide"/>
          </p:cNvPr>
          <p:cNvSpPr/>
          <p:nvPr/>
        </p:nvSpPr>
        <p:spPr>
          <a:xfrm>
            <a:off x="80010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8658" name="Rectangle 50"/>
          <p:cNvSpPr/>
          <p:nvPr/>
        </p:nvSpPr>
        <p:spPr>
          <a:xfrm>
            <a:off x="1981200" y="3352800"/>
            <a:ext cx="320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  3      5      7       8       8</a:t>
            </a:r>
            <a:endParaRPr lang="en-US" altLang="zh-CN" sz="2400" dirty="0">
              <a:solidFill>
                <a:schemeClr val="accent2"/>
              </a:solidFill>
            </a:endParaRPr>
          </a:p>
        </p:txBody>
      </p:sp>
      <p:sp>
        <p:nvSpPr>
          <p:cNvPr id="68659" name="AutoShape 51"/>
          <p:cNvSpPr/>
          <p:nvPr/>
        </p:nvSpPr>
        <p:spPr>
          <a:xfrm>
            <a:off x="971550" y="260350"/>
            <a:ext cx="76200" cy="914400"/>
          </a:xfrm>
          <a:prstGeom prst="leftBrace">
            <a:avLst>
              <a:gd name="adj1" fmla="val 100000"/>
              <a:gd name="adj2" fmla="val 50000"/>
            </a:avLst>
          </a:prstGeom>
          <a:noFill/>
          <a:ln w="222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8660" name="Text Box 52"/>
          <p:cNvSpPr txBox="1"/>
          <p:nvPr/>
        </p:nvSpPr>
        <p:spPr>
          <a:xfrm>
            <a:off x="5562600" y="1828800"/>
            <a:ext cx="312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col   1    2   3   4   5   6</a:t>
            </a:r>
            <a:endParaRPr lang="en-US" altLang="zh-CN" sz="2400" b="1" dirty="0">
              <a:solidFill>
                <a:schemeClr val="accent1"/>
              </a:solidFill>
              <a:ea typeface="楷体_GB2312"/>
            </a:endParaRPr>
          </a:p>
        </p:txBody>
      </p:sp>
      <p:grpSp>
        <p:nvGrpSpPr>
          <p:cNvPr id="3" name="Group 53"/>
          <p:cNvGrpSpPr/>
          <p:nvPr/>
        </p:nvGrpSpPr>
        <p:grpSpPr>
          <a:xfrm>
            <a:off x="762000" y="2057400"/>
            <a:ext cx="4800600" cy="228600"/>
            <a:chOff x="480" y="1296"/>
            <a:chExt cx="3024" cy="144"/>
          </a:xfrm>
        </p:grpSpPr>
        <p:sp>
          <p:nvSpPr>
            <p:cNvPr id="48175" name="Line 54"/>
            <p:cNvSpPr/>
            <p:nvPr/>
          </p:nvSpPr>
          <p:spPr>
            <a:xfrm flipH="1">
              <a:off x="480" y="1296"/>
              <a:ext cx="3024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6" name="Line 55"/>
            <p:cNvSpPr/>
            <p:nvPr/>
          </p:nvSpPr>
          <p:spPr>
            <a:xfrm>
              <a:off x="480" y="1296"/>
              <a:ext cx="0" cy="144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charRg st="0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610">
                                            <p:txEl>
                                              <p:charRg st="0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26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dvAuto="1000" build="p"/>
      <p:bldP spid="68611" grpId="0" build="p"/>
      <p:bldP spid="68646" grpId="0"/>
      <p:bldP spid="68656" grpId="0"/>
      <p:bldP spid="68657" grpId="0" animBg="1"/>
      <p:bldP spid="68658" grpId="0"/>
      <p:bldP spid="68659" grpId="0" animBg="1"/>
      <p:bldP spid="6866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" name="Rectangle 3"/>
          <p:cNvSpPr/>
          <p:nvPr/>
        </p:nvSpPr>
        <p:spPr>
          <a:xfrm>
            <a:off x="304800" y="3076575"/>
            <a:ext cx="989013" cy="19177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三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元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组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表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a.data</a:t>
            </a:r>
            <a:endParaRPr lang="en-US" altLang="zh-CN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/>
          <p:nvPr/>
        </p:nvSpPr>
        <p:spPr>
          <a:xfrm>
            <a:off x="7246938" y="3070225"/>
            <a:ext cx="1006475" cy="19177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三</a:t>
            </a:r>
            <a:endParaRPr lang="zh-CN" altLang="en-US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元</a:t>
            </a:r>
            <a:endParaRPr lang="zh-CN" altLang="en-US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组</a:t>
            </a:r>
            <a:endParaRPr lang="zh-CN" altLang="en-US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表</a:t>
            </a:r>
            <a:endParaRPr lang="zh-CN" altLang="en-US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b.data</a:t>
            </a:r>
            <a:endParaRPr lang="en-US" altLang="zh-CN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grpSp>
        <p:nvGrpSpPr>
          <p:cNvPr id="8" name="Group 5"/>
          <p:cNvGrpSpPr/>
          <p:nvPr/>
        </p:nvGrpSpPr>
        <p:grpSpPr>
          <a:xfrm>
            <a:off x="2971800" y="2665413"/>
            <a:ext cx="3733800" cy="1081087"/>
            <a:chOff x="1872" y="1392"/>
            <a:chExt cx="2352" cy="681"/>
          </a:xfrm>
        </p:grpSpPr>
        <p:sp>
          <p:nvSpPr>
            <p:cNvPr id="49257" name="Line 6"/>
            <p:cNvSpPr/>
            <p:nvPr/>
          </p:nvSpPr>
          <p:spPr>
            <a:xfrm flipV="1">
              <a:off x="2112" y="1488"/>
              <a:ext cx="1296" cy="4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58" name="Rectangle 7"/>
            <p:cNvSpPr/>
            <p:nvPr/>
          </p:nvSpPr>
          <p:spPr>
            <a:xfrm>
              <a:off x="1872" y="1824"/>
              <a:ext cx="276" cy="24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③</a:t>
              </a:r>
              <a:endParaRPr lang="en-US" altLang="zh-CN" sz="2000" dirty="0"/>
            </a:p>
          </p:txBody>
        </p:sp>
        <p:sp>
          <p:nvSpPr>
            <p:cNvPr id="49259" name="Rectangle 8"/>
            <p:cNvSpPr/>
            <p:nvPr/>
          </p:nvSpPr>
          <p:spPr>
            <a:xfrm>
              <a:off x="3508" y="1392"/>
              <a:ext cx="71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(1, 3, -3)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Group 9"/>
          <p:cNvGrpSpPr/>
          <p:nvPr/>
        </p:nvGrpSpPr>
        <p:grpSpPr>
          <a:xfrm>
            <a:off x="2971800" y="2513013"/>
            <a:ext cx="3733800" cy="1274762"/>
            <a:chOff x="1872" y="1296"/>
            <a:chExt cx="2352" cy="803"/>
          </a:xfrm>
        </p:grpSpPr>
        <p:sp>
          <p:nvSpPr>
            <p:cNvPr id="49254" name="Line 10"/>
            <p:cNvSpPr/>
            <p:nvPr/>
          </p:nvSpPr>
          <p:spPr>
            <a:xfrm>
              <a:off x="2112" y="1440"/>
              <a:ext cx="1296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55" name="Rectangle 11"/>
            <p:cNvSpPr/>
            <p:nvPr/>
          </p:nvSpPr>
          <p:spPr>
            <a:xfrm>
              <a:off x="1872" y="1296"/>
              <a:ext cx="301" cy="27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</a:rPr>
                <a:t>①</a:t>
              </a:r>
              <a:endParaRPr lang="en-US" altLang="zh-CN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49256" name="Rectangle 12"/>
            <p:cNvSpPr/>
            <p:nvPr/>
          </p:nvSpPr>
          <p:spPr>
            <a:xfrm>
              <a:off x="3510" y="1825"/>
              <a:ext cx="714" cy="27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CN" sz="1800" b="1" dirty="0">
                  <a:latin typeface="Arial" panose="020B0604020202020204" pitchFamily="34" charset="0"/>
                </a:rPr>
                <a:t>2 ,1, 12</a:t>
              </a: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13"/>
          <p:cNvGrpSpPr/>
          <p:nvPr/>
        </p:nvGrpSpPr>
        <p:grpSpPr>
          <a:xfrm>
            <a:off x="2971800" y="3794125"/>
            <a:ext cx="3962400" cy="1084263"/>
            <a:chOff x="1872" y="2103"/>
            <a:chExt cx="2496" cy="683"/>
          </a:xfrm>
        </p:grpSpPr>
        <p:sp>
          <p:nvSpPr>
            <p:cNvPr id="49251" name="Line 14"/>
            <p:cNvSpPr/>
            <p:nvPr/>
          </p:nvSpPr>
          <p:spPr>
            <a:xfrm flipV="1">
              <a:off x="2112" y="2208"/>
              <a:ext cx="1296" cy="4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52" name="Rectangle 15"/>
            <p:cNvSpPr/>
            <p:nvPr/>
          </p:nvSpPr>
          <p:spPr>
            <a:xfrm>
              <a:off x="1872" y="2536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⑥</a:t>
              </a:r>
              <a:endParaRPr lang="en-US" altLang="zh-CN" sz="2000" dirty="0"/>
            </a:p>
          </p:txBody>
        </p:sp>
        <p:sp>
          <p:nvSpPr>
            <p:cNvPr id="49253" name="Rectangle 16"/>
            <p:cNvSpPr/>
            <p:nvPr/>
          </p:nvSpPr>
          <p:spPr>
            <a:xfrm>
              <a:off x="3510" y="2103"/>
              <a:ext cx="85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(2, 5, 18)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17"/>
          <p:cNvGrpSpPr/>
          <p:nvPr/>
        </p:nvGrpSpPr>
        <p:grpSpPr>
          <a:xfrm>
            <a:off x="2971800" y="2894013"/>
            <a:ext cx="3810000" cy="1709737"/>
            <a:chOff x="1872" y="1536"/>
            <a:chExt cx="2400" cy="1077"/>
          </a:xfrm>
        </p:grpSpPr>
        <p:sp>
          <p:nvSpPr>
            <p:cNvPr id="49248" name="Line 18"/>
            <p:cNvSpPr/>
            <p:nvPr/>
          </p:nvSpPr>
          <p:spPr>
            <a:xfrm>
              <a:off x="2064" y="1680"/>
              <a:ext cx="1296" cy="720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49" name="Rectangle 19"/>
            <p:cNvSpPr/>
            <p:nvPr/>
          </p:nvSpPr>
          <p:spPr>
            <a:xfrm>
              <a:off x="1872" y="1536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accent1"/>
                  </a:solidFill>
                </a:rPr>
                <a:t>②</a:t>
              </a:r>
              <a:endParaRPr lang="en-US" altLang="zh-CN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49250" name="Rectangle 20"/>
            <p:cNvSpPr/>
            <p:nvPr/>
          </p:nvSpPr>
          <p:spPr>
            <a:xfrm>
              <a:off x="3510" y="2363"/>
              <a:ext cx="762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CN" sz="2000" b="1" dirty="0">
                  <a:solidFill>
                    <a:schemeClr val="accent1"/>
                  </a:solidFill>
                  <a:latin typeface="Arial" panose="020B0604020202020204" pitchFamily="34" charset="0"/>
                </a:rPr>
                <a:t>3, 1,  9</a:t>
              </a: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4" name="Group 21"/>
          <p:cNvGrpSpPr/>
          <p:nvPr/>
        </p:nvGrpSpPr>
        <p:grpSpPr>
          <a:xfrm>
            <a:off x="2971800" y="5013325"/>
            <a:ext cx="4038600" cy="639763"/>
            <a:chOff x="1872" y="2871"/>
            <a:chExt cx="2544" cy="403"/>
          </a:xfrm>
        </p:grpSpPr>
        <p:sp>
          <p:nvSpPr>
            <p:cNvPr id="49245" name="Line 22"/>
            <p:cNvSpPr/>
            <p:nvPr/>
          </p:nvSpPr>
          <p:spPr>
            <a:xfrm flipV="1">
              <a:off x="2118" y="2976"/>
              <a:ext cx="1242" cy="1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46" name="Rectangle 23"/>
            <p:cNvSpPr/>
            <p:nvPr/>
          </p:nvSpPr>
          <p:spPr>
            <a:xfrm>
              <a:off x="1872" y="3024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⑧</a:t>
              </a:r>
              <a:endParaRPr lang="en-US" altLang="zh-CN" sz="2000" dirty="0"/>
            </a:p>
          </p:txBody>
        </p:sp>
        <p:sp>
          <p:nvSpPr>
            <p:cNvPr id="49247" name="Rectangle 24"/>
            <p:cNvSpPr/>
            <p:nvPr/>
          </p:nvSpPr>
          <p:spPr>
            <a:xfrm>
              <a:off x="3510" y="2871"/>
              <a:ext cx="90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(4, 6, -7)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Group 25"/>
          <p:cNvGrpSpPr/>
          <p:nvPr/>
        </p:nvGrpSpPr>
        <p:grpSpPr>
          <a:xfrm>
            <a:off x="2971800" y="3732213"/>
            <a:ext cx="3810000" cy="2073275"/>
            <a:chOff x="1872" y="2054"/>
            <a:chExt cx="2400" cy="1306"/>
          </a:xfrm>
        </p:grpSpPr>
        <p:sp>
          <p:nvSpPr>
            <p:cNvPr id="49242" name="Line 26"/>
            <p:cNvSpPr/>
            <p:nvPr/>
          </p:nvSpPr>
          <p:spPr>
            <a:xfrm>
              <a:off x="2112" y="2160"/>
              <a:ext cx="1248" cy="10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43" name="Rectangle 27"/>
            <p:cNvSpPr/>
            <p:nvPr/>
          </p:nvSpPr>
          <p:spPr>
            <a:xfrm>
              <a:off x="1872" y="2054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④</a:t>
              </a:r>
              <a:endParaRPr lang="en-US" altLang="zh-CN" sz="2000" dirty="0"/>
            </a:p>
          </p:txBody>
        </p:sp>
        <p:sp>
          <p:nvSpPr>
            <p:cNvPr id="49244" name="Rectangle 28"/>
            <p:cNvSpPr/>
            <p:nvPr/>
          </p:nvSpPr>
          <p:spPr>
            <a:xfrm>
              <a:off x="3504" y="3110"/>
              <a:ext cx="76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(5, 3, 14)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29"/>
          <p:cNvGrpSpPr/>
          <p:nvPr/>
        </p:nvGrpSpPr>
        <p:grpSpPr>
          <a:xfrm>
            <a:off x="5410200" y="2589213"/>
            <a:ext cx="1371600" cy="3162300"/>
            <a:chOff x="3408" y="1344"/>
            <a:chExt cx="864" cy="1992"/>
          </a:xfrm>
        </p:grpSpPr>
        <p:sp>
          <p:nvSpPr>
            <p:cNvPr id="49231" name="Line 30"/>
            <p:cNvSpPr/>
            <p:nvPr/>
          </p:nvSpPr>
          <p:spPr>
            <a:xfrm>
              <a:off x="3408" y="1344"/>
              <a:ext cx="86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32" name="Line 31"/>
            <p:cNvSpPr/>
            <p:nvPr/>
          </p:nvSpPr>
          <p:spPr>
            <a:xfrm>
              <a:off x="3408" y="1593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33" name="Line 32"/>
            <p:cNvSpPr/>
            <p:nvPr/>
          </p:nvSpPr>
          <p:spPr>
            <a:xfrm>
              <a:off x="3408" y="1842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34" name="Line 33"/>
            <p:cNvSpPr/>
            <p:nvPr/>
          </p:nvSpPr>
          <p:spPr>
            <a:xfrm>
              <a:off x="3408" y="2091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35" name="Line 34"/>
            <p:cNvSpPr/>
            <p:nvPr/>
          </p:nvSpPr>
          <p:spPr>
            <a:xfrm>
              <a:off x="3408" y="2340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36" name="Line 35"/>
            <p:cNvSpPr/>
            <p:nvPr/>
          </p:nvSpPr>
          <p:spPr>
            <a:xfrm>
              <a:off x="3408" y="2589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37" name="Line 36"/>
            <p:cNvSpPr/>
            <p:nvPr/>
          </p:nvSpPr>
          <p:spPr>
            <a:xfrm>
              <a:off x="3408" y="2838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38" name="Line 37"/>
            <p:cNvSpPr/>
            <p:nvPr/>
          </p:nvSpPr>
          <p:spPr>
            <a:xfrm>
              <a:off x="3408" y="3087"/>
              <a:ext cx="8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39" name="Line 38"/>
            <p:cNvSpPr/>
            <p:nvPr/>
          </p:nvSpPr>
          <p:spPr>
            <a:xfrm>
              <a:off x="3408" y="3336"/>
              <a:ext cx="86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40" name="Line 39"/>
            <p:cNvSpPr/>
            <p:nvPr/>
          </p:nvSpPr>
          <p:spPr>
            <a:xfrm>
              <a:off x="3408" y="1344"/>
              <a:ext cx="0" cy="19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41" name="Line 40"/>
            <p:cNvSpPr/>
            <p:nvPr/>
          </p:nvSpPr>
          <p:spPr>
            <a:xfrm>
              <a:off x="4272" y="1344"/>
              <a:ext cx="0" cy="19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4" name="Group 41"/>
          <p:cNvGrpSpPr/>
          <p:nvPr/>
        </p:nvGrpSpPr>
        <p:grpSpPr>
          <a:xfrm>
            <a:off x="2971800" y="3016250"/>
            <a:ext cx="3962400" cy="2255838"/>
            <a:chOff x="1872" y="1613"/>
            <a:chExt cx="2496" cy="1421"/>
          </a:xfrm>
        </p:grpSpPr>
        <p:sp>
          <p:nvSpPr>
            <p:cNvPr id="49228" name="Rectangle 42"/>
            <p:cNvSpPr/>
            <p:nvPr/>
          </p:nvSpPr>
          <p:spPr>
            <a:xfrm>
              <a:off x="1872" y="2783"/>
              <a:ext cx="276" cy="25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⑦</a:t>
              </a:r>
              <a:endParaRPr lang="en-US" altLang="zh-CN" sz="2000" dirty="0"/>
            </a:p>
          </p:txBody>
        </p:sp>
        <p:sp>
          <p:nvSpPr>
            <p:cNvPr id="49229" name="Rectangle 43"/>
            <p:cNvSpPr/>
            <p:nvPr/>
          </p:nvSpPr>
          <p:spPr>
            <a:xfrm>
              <a:off x="3510" y="1613"/>
              <a:ext cx="85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(1, 6, 15)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30" name="Line 44"/>
            <p:cNvSpPr/>
            <p:nvPr/>
          </p:nvSpPr>
          <p:spPr>
            <a:xfrm flipV="1">
              <a:off x="2112" y="1728"/>
              <a:ext cx="1296" cy="11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8" name="Group 45"/>
          <p:cNvGrpSpPr/>
          <p:nvPr/>
        </p:nvGrpSpPr>
        <p:grpSpPr>
          <a:xfrm>
            <a:off x="2971800" y="4100513"/>
            <a:ext cx="3797300" cy="911225"/>
            <a:chOff x="1872" y="2296"/>
            <a:chExt cx="2392" cy="574"/>
          </a:xfrm>
        </p:grpSpPr>
        <p:sp>
          <p:nvSpPr>
            <p:cNvPr id="49225" name="Line 46"/>
            <p:cNvSpPr/>
            <p:nvPr/>
          </p:nvSpPr>
          <p:spPr>
            <a:xfrm>
              <a:off x="2112" y="2429"/>
              <a:ext cx="1296" cy="25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26" name="Rectangle 47"/>
            <p:cNvSpPr/>
            <p:nvPr/>
          </p:nvSpPr>
          <p:spPr>
            <a:xfrm>
              <a:off x="1872" y="2296"/>
              <a:ext cx="27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⑤</a:t>
              </a:r>
              <a:endParaRPr lang="en-US" altLang="zh-CN" sz="2000" dirty="0"/>
            </a:p>
          </p:txBody>
        </p:sp>
        <p:sp>
          <p:nvSpPr>
            <p:cNvPr id="49227" name="Rectangle 48"/>
            <p:cNvSpPr/>
            <p:nvPr/>
          </p:nvSpPr>
          <p:spPr>
            <a:xfrm>
              <a:off x="3510" y="2620"/>
              <a:ext cx="754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FF"/>
                  </a:solidFill>
                  <a:latin typeface="Arial" panose="020B0604020202020204" pitchFamily="34" charset="0"/>
                </a:rPr>
                <a:t>(3, 4, 24)</a:t>
              </a:r>
              <a:endPara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52" name="Group 49"/>
          <p:cNvGraphicFramePr>
            <a:graphicFrameLocks noGrp="1"/>
          </p:cNvGraphicFramePr>
          <p:nvPr/>
        </p:nvGraphicFramePr>
        <p:xfrm>
          <a:off x="1522413" y="2514600"/>
          <a:ext cx="1371600" cy="3170238"/>
        </p:xfrm>
        <a:graphic>
          <a:graphicData uri="http://schemas.openxmlformats.org/drawingml/2006/table">
            <a:tbl>
              <a:tblPr/>
              <a:tblGrid>
                <a:gridCol w="1371600"/>
              </a:tblGrid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1, 2, 12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1, 3,  9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1, -3)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(3, 5, 14)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(4, 3, 24)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(5, 2, 18)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(6, 1, 15)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(6, 4, -7)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" name="Rectangle 79"/>
          <p:cNvSpPr/>
          <p:nvPr/>
        </p:nvSpPr>
        <p:spPr>
          <a:xfrm>
            <a:off x="4953000" y="3351213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 3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54" name="Rectangle 80"/>
          <p:cNvSpPr/>
          <p:nvPr/>
        </p:nvSpPr>
        <p:spPr>
          <a:xfrm>
            <a:off x="4953000" y="4189413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 5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graphicFrame>
        <p:nvGraphicFramePr>
          <p:cNvPr id="55" name="Group 4"/>
          <p:cNvGraphicFramePr>
            <a:graphicFrameLocks noGrp="1"/>
          </p:cNvGraphicFramePr>
          <p:nvPr/>
        </p:nvGraphicFramePr>
        <p:xfrm>
          <a:off x="323850" y="611188"/>
          <a:ext cx="4953000" cy="1431925"/>
        </p:xfrm>
        <a:graphic>
          <a:graphicData uri="http://schemas.openxmlformats.org/drawingml/2006/table">
            <a:tbl>
              <a:tblPr/>
              <a:tblGrid>
                <a:gridCol w="1119188"/>
                <a:gridCol w="638175"/>
                <a:gridCol w="639762"/>
                <a:gridCol w="638175"/>
                <a:gridCol w="560388"/>
                <a:gridCol w="719137"/>
                <a:gridCol w="638175"/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num[col]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cpot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[col]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9222" name="Rectangle 50"/>
          <p:cNvSpPr/>
          <p:nvPr/>
        </p:nvSpPr>
        <p:spPr>
          <a:xfrm>
            <a:off x="2057400" y="1628775"/>
            <a:ext cx="320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  3      5      7       8       8</a:t>
            </a:r>
            <a:endParaRPr lang="en-US" altLang="zh-CN" sz="2400" dirty="0">
              <a:solidFill>
                <a:schemeClr val="accent2"/>
              </a:solidFill>
            </a:endParaRPr>
          </a:p>
        </p:txBody>
      </p:sp>
      <p:sp>
        <p:nvSpPr>
          <p:cNvPr id="49223" name="文本框 57"/>
          <p:cNvSpPr txBox="1"/>
          <p:nvPr/>
        </p:nvSpPr>
        <p:spPr>
          <a:xfrm>
            <a:off x="5872163" y="252413"/>
            <a:ext cx="238125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Num[]</a:t>
            </a:r>
            <a:r>
              <a:rPr lang="zh-CN" altLang="en-US" sz="2400" b="1" dirty="0">
                <a:solidFill>
                  <a:schemeClr val="tx2"/>
                </a:solidFill>
                <a:ea typeface="楷体_GB2312"/>
              </a:rPr>
              <a:t>怎么求？</a:t>
            </a:r>
            <a:endParaRPr lang="en-US" altLang="zh-CN" sz="2400" b="1" dirty="0">
              <a:solidFill>
                <a:schemeClr val="tx2"/>
              </a:solidFill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楷体_GB2312"/>
              </a:rPr>
              <a:t>cpot[]</a:t>
            </a:r>
            <a:r>
              <a:rPr lang="zh-CN" altLang="en-US" sz="2400" b="1" dirty="0">
                <a:solidFill>
                  <a:schemeClr val="tx2"/>
                </a:solidFill>
                <a:ea typeface="楷体_GB2312"/>
              </a:rPr>
              <a:t>怎么求？</a:t>
            </a:r>
            <a:endParaRPr lang="zh-CN" altLang="en-US" sz="2400" dirty="0"/>
          </a:p>
        </p:txBody>
      </p:sp>
      <p:sp>
        <p:nvSpPr>
          <p:cNvPr id="49224" name="文本框 59"/>
          <p:cNvSpPr txBox="1"/>
          <p:nvPr/>
        </p:nvSpPr>
        <p:spPr>
          <a:xfrm>
            <a:off x="5508625" y="1123950"/>
            <a:ext cx="3311525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ea typeface="楷体_GB2312"/>
              </a:rPr>
              <a:t>规律： </a:t>
            </a:r>
            <a:r>
              <a:rPr lang="en-US" altLang="zh-CN" sz="2000" b="1" dirty="0">
                <a:ea typeface="楷体_GB2312"/>
              </a:rPr>
              <a:t>cpot</a:t>
            </a:r>
            <a:r>
              <a:rPr lang="en-US" altLang="zh-CN" sz="2000" b="1" dirty="0"/>
              <a:t>(1)</a:t>
            </a:r>
            <a:r>
              <a:rPr lang="zh-CN" altLang="en-US" sz="2000" b="1" dirty="0"/>
              <a:t>＝</a:t>
            </a:r>
            <a:r>
              <a:rPr lang="en-US" altLang="zh-CN" sz="2000" b="1" dirty="0"/>
              <a:t>1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ea typeface="楷体_GB2312"/>
              </a:rPr>
              <a:t>cpot[col]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＝</a:t>
            </a:r>
            <a:r>
              <a:rPr lang="zh-CN" altLang="en-US" sz="2000" b="1" dirty="0">
                <a:ea typeface="楷体_GB2312"/>
              </a:rPr>
              <a:t> </a:t>
            </a:r>
            <a:r>
              <a:rPr lang="en-US" altLang="zh-CN" sz="2000" b="1" dirty="0">
                <a:ea typeface="楷体_GB2312"/>
              </a:rPr>
              <a:t>cpot[col-1]</a:t>
            </a:r>
            <a:r>
              <a:rPr lang="en-US" altLang="zh-CN" sz="2000" b="1" dirty="0"/>
              <a:t> +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                     </a:t>
            </a:r>
            <a:r>
              <a:rPr lang="en-US" altLang="zh-CN" sz="2000" b="1" dirty="0">
                <a:ea typeface="楷体_GB2312"/>
              </a:rPr>
              <a:t>num[col-1]</a:t>
            </a:r>
            <a:endParaRPr lang="en-US" altLang="zh-CN" sz="2000" b="1" dirty="0"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53" grpId="0"/>
      <p:bldP spid="5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8229600" cy="557847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Status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FastTransposeSMatrix</a:t>
            </a:r>
            <a:r>
              <a:rPr kumimoji="1" lang="zh-CN" altLang="en-US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TSMatirx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M,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TSMatirx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&amp;T</a:t>
            </a:r>
            <a:r>
              <a:rPr kumimoji="1" lang="zh-CN" altLang="en-US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</a:t>
            </a:r>
            <a:endParaRPr kumimoji="1" lang="zh-CN" altLang="en-US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{           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T.mu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M.nu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;T .nu =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M.mu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;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T.tu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M.tu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;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if (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T.tu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) {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for(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1; 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&lt;=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M.nu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 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++) num[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] =0;  </a:t>
            </a:r>
            <a:endParaRPr kumimoji="1" lang="en-US" altLang="zh-CN" sz="2000" b="1" kern="1200" cap="none" spc="0" normalizeH="0" baseline="0" noProof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for( 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1; 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&lt;=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M.tu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 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++) {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M.data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 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] .j ; ++num [</a:t>
            </a:r>
            <a:r>
              <a:rPr kumimoji="1" lang="en-US" altLang="zh-CN" sz="2000" b="1" kern="1200" cap="none" spc="0" normalizeH="0" baseline="0" noProof="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] ;}</a:t>
            </a:r>
            <a:endParaRPr kumimoji="1" lang="en-US" altLang="zh-CN" sz="2000" b="1" kern="1200" cap="none" spc="0" normalizeH="0" baseline="0" noProof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cpos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[ 1 ] =1;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000" b="1" kern="1200" cap="none" spc="0" normalizeH="0" baseline="0" noProof="0" dirty="0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for(</a:t>
            </a:r>
            <a:r>
              <a:rPr kumimoji="1" lang="en-US" altLang="zh-CN" sz="2000" b="1" kern="1200" cap="none" spc="0" normalizeH="0" baseline="0" noProof="0" dirty="0" err="1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2; </a:t>
            </a:r>
            <a:r>
              <a:rPr kumimoji="1" lang="en-US" altLang="zh-CN" sz="2000" b="1" kern="1200" cap="none" spc="0" normalizeH="0" baseline="0" noProof="0" dirty="0" err="1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&lt;=</a:t>
            </a:r>
            <a:r>
              <a:rPr kumimoji="1" lang="en-US" altLang="zh-CN" sz="2000" b="1" kern="1200" cap="none" spc="0" normalizeH="0" baseline="0" noProof="0" dirty="0" err="1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M.nu</a:t>
            </a:r>
            <a:r>
              <a:rPr kumimoji="1" lang="en-US" altLang="zh-CN" sz="2000" b="1" kern="1200" cap="none" spc="0" normalizeH="0" baseline="0" noProof="0" dirty="0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 </a:t>
            </a:r>
            <a:r>
              <a:rPr kumimoji="1" lang="en-US" altLang="zh-CN" sz="2000" b="1" kern="1200" cap="none" spc="0" normalizeH="0" baseline="0" noProof="0" dirty="0" err="1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++)  </a:t>
            </a:r>
            <a:r>
              <a:rPr kumimoji="1" lang="en-US" altLang="zh-CN" sz="2000" b="1" kern="1200" cap="none" spc="0" normalizeH="0" baseline="0" noProof="0" dirty="0" err="1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cpos</a:t>
            </a:r>
            <a:r>
              <a:rPr kumimoji="1" lang="en-US" altLang="zh-CN" sz="2000" b="1" kern="1200" cap="none" spc="0" normalizeH="0" baseline="0" noProof="0" dirty="0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</a:t>
            </a:r>
            <a:r>
              <a:rPr kumimoji="1" lang="en-US" altLang="zh-CN" sz="2000" b="1" kern="1200" cap="none" spc="0" normalizeH="0" baseline="0" noProof="0" dirty="0" err="1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]=</a:t>
            </a:r>
            <a:r>
              <a:rPr kumimoji="1" lang="en-US" altLang="zh-CN" sz="2000" b="1" kern="1200" cap="none" spc="0" normalizeH="0" baseline="0" noProof="0" dirty="0" err="1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cpos</a:t>
            </a:r>
            <a:r>
              <a:rPr kumimoji="1" lang="en-US" altLang="zh-CN" sz="2000" b="1" kern="1200" cap="none" spc="0" normalizeH="0" baseline="0" noProof="0" dirty="0">
                <a:solidFill>
                  <a:srgbClr val="CC00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[col-1]+num [col-1 ] ;</a:t>
            </a:r>
            <a:endParaRPr kumimoji="1" lang="en-US" altLang="zh-CN" sz="2000" b="1" kern="1200" cap="none" spc="0" normalizeH="0" baseline="0" noProof="0" dirty="0">
              <a:solidFill>
                <a:srgbClr val="CC0099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for( p =1; p &lt;=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M.tu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; p ++ )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{ col =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M.data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 p ]. j ; q =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cpos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[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]; 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        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T.data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[q].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M.data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[p]. j;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        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T.data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[q].j =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M.data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[p].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        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T.data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[q]. value =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M.data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[p]. value;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       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+ + 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cpos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[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col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] ;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}  //for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}  //if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return OK; 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476750" marR="0" indent="-447675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}  //</a:t>
            </a:r>
            <a:r>
              <a:rPr kumimoji="1" lang="en-US" altLang="zh-CN" sz="2000" b="1" kern="1200" cap="none" spc="0" normalizeH="0" baseline="0" noProof="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FastTranposeSMatrix</a:t>
            </a:r>
            <a:r>
              <a:rPr kumimoji="1" lang="en-US" altLang="zh-CN" sz="2000" b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0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180" name="Rectangle 3"/>
          <p:cNvSpPr/>
          <p:nvPr/>
        </p:nvSpPr>
        <p:spPr>
          <a:xfrm>
            <a:off x="261938" y="0"/>
            <a:ext cx="2941637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快速转置算法描述</a:t>
            </a:r>
            <a:r>
              <a:rPr lang="zh-CN" altLang="en-US" sz="2400" b="1" dirty="0">
                <a:solidFill>
                  <a:schemeClr val="accent1"/>
                </a:solidFill>
                <a:sym typeface="Wingdings" panose="05000000000000000000" pitchFamily="2" charset="2"/>
              </a:rPr>
              <a:t>：</a:t>
            </a:r>
            <a:endParaRPr lang="zh-CN" altLang="en-US" sz="2400" b="1" dirty="0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  <p:sp>
        <p:nvSpPr>
          <p:cNvPr id="69636" name="Rectangle 4"/>
          <p:cNvSpPr/>
          <p:nvPr/>
        </p:nvSpPr>
        <p:spPr>
          <a:xfrm>
            <a:off x="1600200" y="820738"/>
            <a:ext cx="44053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//M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用顺序存储表示，求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M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的转置矩阵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T</a:t>
            </a:r>
            <a:endParaRPr lang="en-US" altLang="zh-CN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9637" name="AutoShape 5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9638" name="Rectangle 6"/>
          <p:cNvSpPr/>
          <p:nvPr/>
        </p:nvSpPr>
        <p:spPr>
          <a:xfrm>
            <a:off x="5410200" y="1752600"/>
            <a:ext cx="32527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先统计每列非零元素个数</a:t>
            </a:r>
            <a:endParaRPr lang="zh-CN" altLang="en-US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9639" name="Rectangle 7"/>
          <p:cNvSpPr/>
          <p:nvPr/>
        </p:nvSpPr>
        <p:spPr>
          <a:xfrm>
            <a:off x="4876800" y="2438400"/>
            <a:ext cx="4038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再生成每列首元位置辅助向量表</a:t>
            </a:r>
            <a:endParaRPr lang="zh-CN" altLang="en-US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9640" name="Rectangle 8"/>
          <p:cNvSpPr/>
          <p:nvPr/>
        </p:nvSpPr>
        <p:spPr>
          <a:xfrm>
            <a:off x="3635375" y="2954338"/>
            <a:ext cx="55086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//p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指向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a.data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，循环次数为非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0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元素总个数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tu</a:t>
            </a:r>
            <a:endParaRPr lang="en-US" altLang="zh-CN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9641" name="Rectangle 9"/>
          <p:cNvSpPr/>
          <p:nvPr/>
        </p:nvSpPr>
        <p:spPr>
          <a:xfrm>
            <a:off x="4495800" y="3276600"/>
            <a:ext cx="4114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查辅助向量表得</a:t>
            </a:r>
            <a:r>
              <a:rPr lang="en-US" altLang="zh-CN" sz="2000" b="1" dirty="0">
                <a:solidFill>
                  <a:schemeClr val="hlink"/>
                </a:solidFill>
                <a:latin typeface="楷体_GB2312"/>
                <a:ea typeface="楷体_GB2312"/>
              </a:rPr>
              <a:t>q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，即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T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中位置</a:t>
            </a:r>
            <a:endParaRPr lang="zh-CN" altLang="en-US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69642" name="Rectangle 10"/>
          <p:cNvSpPr/>
          <p:nvPr/>
        </p:nvSpPr>
        <p:spPr>
          <a:xfrm>
            <a:off x="3538538" y="4479925"/>
            <a:ext cx="4919662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000" b="1" dirty="0">
                <a:solidFill>
                  <a:schemeClr val="hlink"/>
                </a:solidFill>
                <a:latin typeface="楷体_GB2312"/>
                <a:ea typeface="楷体_GB2312"/>
              </a:rPr>
              <a:t>重要语句！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修改向量表中列坐标值，供</a:t>
            </a:r>
            <a:r>
              <a:rPr lang="zh-CN" altLang="en-US" sz="2000" b="1" dirty="0">
                <a:solidFill>
                  <a:schemeClr val="hlink"/>
                </a:solidFill>
                <a:latin typeface="楷体_GB2312"/>
                <a:ea typeface="楷体_GB2312"/>
              </a:rPr>
              <a:t>同一列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下一非零元素定位之用！</a:t>
            </a:r>
            <a:endParaRPr lang="zh-CN" altLang="en-US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/>
      <p:bldP spid="69636" grpId="0"/>
      <p:bldP spid="69637" grpId="0" animBg="1"/>
      <p:bldP spid="69638" grpId="0"/>
      <p:bldP spid="69639" grpId="0"/>
      <p:bldP spid="69640" grpId="0"/>
      <p:bldP spid="69641" grpId="0"/>
      <p:bldP spid="6964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031163" y="6427788"/>
            <a:ext cx="501650" cy="457200"/>
          </a:xfrm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0658" name="Rectangle 2"/>
          <p:cNvSpPr/>
          <p:nvPr/>
        </p:nvSpPr>
        <p:spPr>
          <a:xfrm>
            <a:off x="152400" y="509588"/>
            <a:ext cx="8458200" cy="8731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71500" lvl="0" indent="-571500" algn="just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1. 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与常规算法相比，附加了生成辅助向量表的工作。增开了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个长度为列长的数组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(</a:t>
            </a:r>
            <a:r>
              <a: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num[ ]</a:t>
            </a: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cpos[ ]</a:t>
            </a: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。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70659" name="Rectangle 3"/>
          <p:cNvSpPr/>
          <p:nvPr/>
        </p:nvSpPr>
        <p:spPr>
          <a:xfrm>
            <a:off x="539750" y="5192713"/>
            <a:ext cx="8280400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        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传统转置：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O(mu*nu)    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压缩转置：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O(mu*tu) </a:t>
            </a:r>
            <a:endParaRPr lang="en-US" altLang="zh-CN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    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压缩快速转置：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O(nu+tu)</a:t>
            </a: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——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牺牲空间效率换时间效率。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51205" name="Rectangle 4"/>
          <p:cNvSpPr/>
          <p:nvPr/>
        </p:nvSpPr>
        <p:spPr>
          <a:xfrm>
            <a:off x="101600" y="19050"/>
            <a:ext cx="386080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快速转置算法的效率分析</a:t>
            </a:r>
            <a:r>
              <a:rPr lang="zh-CN" altLang="en-US" sz="2400" b="1" dirty="0">
                <a:solidFill>
                  <a:schemeClr val="accent1"/>
                </a:solidFill>
                <a:sym typeface="Wingdings" panose="05000000000000000000" pitchFamily="2" charset="2"/>
              </a:rPr>
              <a:t>：</a:t>
            </a:r>
            <a:endParaRPr lang="zh-CN" altLang="en-US" sz="2400" b="1" dirty="0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  <p:sp>
        <p:nvSpPr>
          <p:cNvPr id="70661" name="AutoShape 5">
            <a:hlinkClick r:id="rId1" action="ppaction://hlinksldjump"/>
          </p:cNvPr>
          <p:cNvSpPr/>
          <p:nvPr/>
        </p:nvSpPr>
        <p:spPr>
          <a:xfrm flipH="1">
            <a:off x="7924800" y="5970588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0662" name="Rectangle 6"/>
          <p:cNvSpPr/>
          <p:nvPr/>
        </p:nvSpPr>
        <p:spPr>
          <a:xfrm>
            <a:off x="214313" y="1382713"/>
            <a:ext cx="8534400" cy="243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76250" lvl="0" indent="-476250" algn="just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2. 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从时间上，此算法用了</a:t>
            </a: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4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个并列的单循环，而且其中前</a:t>
            </a: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3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个单循环都是用来产生辅助向量表的。</a:t>
            </a:r>
            <a:endParaRPr lang="zh-CN" altLang="en-US" sz="2400" b="1" dirty="0">
              <a:solidFill>
                <a:schemeClr val="tx2"/>
              </a:solidFill>
              <a:latin typeface="楷体_GB2312"/>
              <a:ea typeface="楷体_GB2312"/>
            </a:endParaRPr>
          </a:p>
          <a:p>
            <a:pPr marL="476250" lvl="0" indent="-476250" algn="just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tx2"/>
                </a:solidFill>
                <a:ea typeface="黑体" panose="02010609060101010101" pitchFamily="49" charset="-122"/>
              </a:rPr>
              <a:t>       </a:t>
            </a:r>
            <a:r>
              <a:rPr lang="en-US" altLang="zh-CN" sz="2000" b="1" dirty="0">
                <a:solidFill>
                  <a:schemeClr val="tx2"/>
                </a:solidFill>
                <a:ea typeface="黑体" panose="02010609060101010101" pitchFamily="49" charset="-122"/>
              </a:rPr>
              <a:t>for(col = 1; col &lt;=M.nu; col++)  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</a:rPr>
              <a:t>循环次数＝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</a:rPr>
              <a:t>nu;</a:t>
            </a:r>
            <a:r>
              <a:rPr lang="en-US" altLang="zh-CN" sz="2000" b="1" dirty="0">
                <a:solidFill>
                  <a:schemeClr val="tx2"/>
                </a:solidFill>
                <a:ea typeface="黑体" panose="02010609060101010101" pitchFamily="49" charset="-122"/>
              </a:rPr>
              <a:t>  </a:t>
            </a:r>
            <a:endParaRPr lang="en-US" altLang="zh-CN" sz="2000" b="1" dirty="0">
              <a:solidFill>
                <a:schemeClr val="tx2"/>
              </a:solidFill>
              <a:latin typeface="楷体_GB2312"/>
              <a:ea typeface="楷体_GB2312"/>
            </a:endParaRPr>
          </a:p>
          <a:p>
            <a:pPr marL="476250" lvl="0" indent="-476250" algn="just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ea typeface="黑体" panose="02010609060101010101" pitchFamily="49" charset="-122"/>
              </a:rPr>
              <a:t>       for( i = 1; i &lt;=M.tu; i ++)            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</a:rPr>
              <a:t>循环次数＝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</a:rPr>
              <a:t>tu;</a:t>
            </a:r>
            <a:r>
              <a:rPr lang="en-US" altLang="zh-CN" sz="2000" b="1" dirty="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endParaRPr lang="en-US" altLang="zh-CN" sz="2000" b="1" dirty="0">
              <a:solidFill>
                <a:schemeClr val="tx2"/>
              </a:solidFill>
              <a:ea typeface="黑体" panose="02010609060101010101" pitchFamily="49" charset="-122"/>
            </a:endParaRPr>
          </a:p>
          <a:p>
            <a:pPr marL="476250" lvl="0" indent="-476250" algn="just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ea typeface="黑体" panose="02010609060101010101" pitchFamily="49" charset="-122"/>
              </a:rPr>
              <a:t>       for(col = 2; col &lt;=M.nu; col++)  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</a:rPr>
              <a:t>循环次数＝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</a:rPr>
              <a:t>nu;</a:t>
            </a:r>
            <a:endParaRPr lang="en-US" altLang="zh-CN" sz="2000" b="1" dirty="0">
              <a:solidFill>
                <a:schemeClr val="tx2"/>
              </a:solidFill>
              <a:latin typeface="楷体_GB2312"/>
              <a:ea typeface="楷体_GB2312"/>
            </a:endParaRPr>
          </a:p>
          <a:p>
            <a:pPr marL="476250" lvl="0" indent="-476250" algn="just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ea typeface="黑体" panose="02010609060101010101" pitchFamily="49" charset="-122"/>
              </a:rPr>
              <a:t>       for( p =1; p &lt;=M.tu ; p ++ )       </a:t>
            </a:r>
            <a:r>
              <a:rPr lang="zh-CN" altLang="en-US" sz="2000" b="1" dirty="0">
                <a:solidFill>
                  <a:schemeClr val="tx2"/>
                </a:solidFill>
                <a:latin typeface="楷体_GB2312"/>
                <a:ea typeface="楷体_GB2312"/>
              </a:rPr>
              <a:t>循环次数＝</a:t>
            </a: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</a:rPr>
              <a:t>tu;</a:t>
            </a:r>
            <a:r>
              <a:rPr lang="en-US" altLang="zh-CN" sz="2000" b="1" dirty="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endParaRPr lang="en-US" altLang="zh-CN" sz="2000" b="1" dirty="0">
              <a:solidFill>
                <a:schemeClr val="tx2"/>
              </a:solidFill>
              <a:ea typeface="黑体" panose="02010609060101010101" pitchFamily="49" charset="-122"/>
            </a:endParaRPr>
          </a:p>
          <a:p>
            <a:pPr marL="476250" lvl="0" indent="-47625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该算法的时间复杂度＝</a:t>
            </a: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(nu*2)+(tu*2)=O(nu+tu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）</a:t>
            </a:r>
            <a:endParaRPr lang="zh-CN" altLang="en-US" sz="2400" b="1" dirty="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70663" name="Rectangle 7"/>
          <p:cNvSpPr/>
          <p:nvPr/>
        </p:nvSpPr>
        <p:spPr>
          <a:xfrm>
            <a:off x="250825" y="3860800"/>
            <a:ext cx="8497888" cy="128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讨论：最恶劣情况是</a:t>
            </a:r>
            <a:r>
              <a:rPr lang="en-US" altLang="zh-CN" sz="2400" b="1" dirty="0">
                <a:latin typeface="楷体_GB2312"/>
                <a:ea typeface="楷体_GB2312"/>
              </a:rPr>
              <a:t>tu=nu*mu(</a:t>
            </a:r>
            <a:r>
              <a:rPr lang="zh-CN" altLang="en-US" sz="2400" b="1" dirty="0">
                <a:latin typeface="楷体_GB2312"/>
                <a:ea typeface="楷体_GB2312"/>
              </a:rPr>
              <a:t>即矩阵中全部是非零元素），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而此时的时间复杂度也只是</a:t>
            </a:r>
            <a:r>
              <a:rPr lang="en-US" altLang="zh-CN" sz="2400" b="1" dirty="0">
                <a:latin typeface="楷体_GB2312"/>
                <a:ea typeface="楷体_GB2312"/>
              </a:rPr>
              <a:t>O(mu*nu)</a:t>
            </a:r>
            <a:r>
              <a:rPr lang="zh-CN" altLang="en-US" sz="2400" b="1" dirty="0">
                <a:latin typeface="楷体_GB2312"/>
                <a:ea typeface="楷体_GB2312"/>
              </a:rPr>
              <a:t>，并未超过传统转置算法的时间复杂度。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70664" name="Rectangle 8"/>
          <p:cNvSpPr/>
          <p:nvPr/>
        </p:nvSpPr>
        <p:spPr>
          <a:xfrm>
            <a:off x="250825" y="5121275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小结：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70665" name="Rectangle 9"/>
          <p:cNvSpPr/>
          <p:nvPr/>
        </p:nvSpPr>
        <p:spPr>
          <a:xfrm>
            <a:off x="1116013" y="6056313"/>
            <a:ext cx="5092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稀疏矩阵相乘的算法见教材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P101-103</a:t>
            </a:r>
            <a:endParaRPr lang="en-US" altLang="zh-CN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70662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46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0662">
                                            <p:txEl>
                                              <p:charRg st="46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97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70662">
                                            <p:txEl>
                                              <p:charRg st="97" end="1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153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70662">
                                            <p:txEl>
                                              <p:charRg st="153" end="2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202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70662">
                                            <p:txEl>
                                              <p:charRg st="202" end="2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charRg st="254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70662">
                                            <p:txEl>
                                              <p:charRg st="254" end="2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0663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>
                                            <p:txEl>
                                              <p:charRg st="32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0663">
                                            <p:txEl>
                                              <p:charRg st="32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70659" grpId="0"/>
      <p:bldP spid="70661" grpId="0" animBg="1"/>
      <p:bldP spid="70662" grpId="0" build="p"/>
      <p:bldP spid="70663" grpId="0" build="p"/>
      <p:bldP spid="70664" grpId="0"/>
      <p:bldP spid="7066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5075238" cy="762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b="1" dirty="0">
                <a:latin typeface="宋体" panose="02010600030101010101" pitchFamily="2" charset="-122"/>
              </a:rPr>
              <a:t>5.4  </a:t>
            </a:r>
            <a:r>
              <a:rPr lang="zh-CN" altLang="en-US" sz="3600" b="1" dirty="0">
                <a:latin typeface="宋体" panose="02010600030101010101" pitchFamily="2" charset="-122"/>
              </a:rPr>
              <a:t>广义表的定义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71683" name="Text Box 3"/>
          <p:cNvSpPr txBox="1"/>
          <p:nvPr/>
        </p:nvSpPr>
        <p:spPr>
          <a:xfrm>
            <a:off x="1600200" y="1371600"/>
            <a:ext cx="6781800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广义表是线性表的推广，也称为列表（</a:t>
            </a:r>
            <a:r>
              <a:rPr lang="en-US" altLang="zh-CN" sz="2400" b="1" dirty="0">
                <a:ea typeface="黑体" panose="02010609060101010101" pitchFamily="49" charset="-122"/>
              </a:rPr>
              <a:t>lists</a:t>
            </a:r>
            <a:r>
              <a:rPr lang="zh-CN" altLang="en-US" sz="2400" b="1" dirty="0">
                <a:ea typeface="黑体" panose="02010609060101010101" pitchFamily="49" charset="-122"/>
              </a:rPr>
              <a:t>）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记为：     </a:t>
            </a:r>
            <a:r>
              <a:rPr lang="en-US" altLang="zh-CN" sz="2400" b="1" dirty="0">
                <a:ea typeface="黑体" panose="02010609060101010101" pitchFamily="49" charset="-122"/>
              </a:rPr>
              <a:t>LS   =  (   a</a:t>
            </a:r>
            <a:r>
              <a:rPr lang="en-US" altLang="zh-CN" sz="2400" b="1" baseline="-25000" dirty="0"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ea typeface="黑体" panose="02010609060101010101" pitchFamily="49" charset="-122"/>
              </a:rPr>
              <a:t> ,  a</a:t>
            </a:r>
            <a:r>
              <a:rPr lang="en-US" altLang="zh-CN" sz="2400" b="1" baseline="-25000" dirty="0"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ea typeface="黑体" panose="02010609060101010101" pitchFamily="49" charset="-122"/>
              </a:rPr>
              <a:t> ,   ……</a:t>
            </a:r>
            <a:r>
              <a:rPr lang="zh-CN" altLang="en-US" sz="2400" b="1" dirty="0">
                <a:ea typeface="黑体" panose="02010609060101010101" pitchFamily="49" charset="-122"/>
              </a:rPr>
              <a:t>， </a:t>
            </a:r>
            <a:r>
              <a:rPr lang="en-US" altLang="zh-CN" sz="2400" b="1" dirty="0">
                <a:ea typeface="黑体" panose="02010609060101010101" pitchFamily="49" charset="-122"/>
              </a:rPr>
              <a:t>a</a:t>
            </a:r>
            <a:r>
              <a:rPr lang="en-US" altLang="zh-CN" sz="2400" b="1" baseline="-25000" dirty="0">
                <a:ea typeface="黑体" panose="02010609060101010101" pitchFamily="49" charset="-122"/>
              </a:rPr>
              <a:t>n</a:t>
            </a:r>
            <a:r>
              <a:rPr lang="en-US" altLang="zh-CN" sz="2400" b="1" dirty="0">
                <a:ea typeface="黑体" panose="02010609060101010101" pitchFamily="49" charset="-122"/>
              </a:rPr>
              <a:t> )                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71684" name="Text Box 4"/>
          <p:cNvSpPr txBox="1"/>
          <p:nvPr/>
        </p:nvSpPr>
        <p:spPr>
          <a:xfrm>
            <a:off x="2286000" y="2590800"/>
            <a:ext cx="51054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广义表名   表头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(Head</a:t>
            </a: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） </a:t>
            </a:r>
            <a:r>
              <a:rPr lang="zh-CN" altLang="en-US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表尾 </a:t>
            </a:r>
            <a:r>
              <a:rPr lang="en-US" altLang="zh-CN" sz="2400" b="1" dirty="0">
                <a:solidFill>
                  <a:schemeClr val="accent1"/>
                </a:solidFill>
                <a:ea typeface="黑体" panose="02010609060101010101" pitchFamily="49" charset="-122"/>
              </a:rPr>
              <a:t>(Tail)</a:t>
            </a:r>
            <a:endParaRPr lang="en-US" altLang="zh-CN" sz="2400" b="1" dirty="0">
              <a:solidFill>
                <a:schemeClr val="accent1"/>
              </a:solidFill>
              <a:ea typeface="黑体" panose="02010609060101010101" pitchFamily="49" charset="-122"/>
            </a:endParaRPr>
          </a:p>
        </p:txBody>
      </p:sp>
      <p:sp>
        <p:nvSpPr>
          <p:cNvPr id="71685" name="Line 5"/>
          <p:cNvSpPr/>
          <p:nvPr/>
        </p:nvSpPr>
        <p:spPr>
          <a:xfrm>
            <a:off x="3200400" y="2209800"/>
            <a:ext cx="0" cy="381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686" name="Line 6"/>
          <p:cNvSpPr/>
          <p:nvPr/>
        </p:nvSpPr>
        <p:spPr>
          <a:xfrm>
            <a:off x="4419600" y="2209800"/>
            <a:ext cx="0" cy="381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687" name="Rectangle 7"/>
          <p:cNvSpPr/>
          <p:nvPr/>
        </p:nvSpPr>
        <p:spPr>
          <a:xfrm>
            <a:off x="304800" y="914400"/>
            <a:ext cx="1797050" cy="519113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、定义：</a:t>
            </a:r>
            <a:endParaRPr lang="zh-CN" altLang="en-US" sz="2800" b="1" dirty="0">
              <a:solidFill>
                <a:schemeClr val="accent1"/>
              </a:solidFill>
              <a:ea typeface="黑体" panose="02010609060101010101" pitchFamily="49" charset="-122"/>
            </a:endParaRPr>
          </a:p>
        </p:txBody>
      </p:sp>
      <p:sp>
        <p:nvSpPr>
          <p:cNvPr id="71688" name="Rectangle 8"/>
          <p:cNvSpPr/>
          <p:nvPr/>
        </p:nvSpPr>
        <p:spPr>
          <a:xfrm>
            <a:off x="228600" y="3567113"/>
            <a:ext cx="8153400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ea typeface="楷体_GB2312"/>
              </a:rPr>
              <a:t>① </a:t>
            </a:r>
            <a:r>
              <a:rPr lang="zh-CN" altLang="en-US" sz="2400" b="1" dirty="0">
                <a:ea typeface="楷体_GB2312"/>
              </a:rPr>
              <a:t>第一个元素是表头，</a:t>
            </a:r>
            <a:r>
              <a:rPr lang="zh-CN" altLang="en-US" sz="2400" b="1" dirty="0">
                <a:highlight>
                  <a:srgbClr val="FFFF00"/>
                </a:highlight>
                <a:ea typeface="楷体_GB2312"/>
              </a:rPr>
              <a:t>而其余元素组成的表称为表尾</a:t>
            </a:r>
            <a:r>
              <a:rPr lang="zh-CN" altLang="en-US" sz="2400" b="1" dirty="0">
                <a:ea typeface="楷体_GB2312"/>
              </a:rPr>
              <a:t>；</a:t>
            </a:r>
            <a:endParaRPr lang="zh-CN" altLang="en-US" sz="2400" b="1" dirty="0"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ea typeface="楷体_GB2312"/>
              </a:rPr>
              <a:t>② 用小写字母表示原子类型，用大写字母表示列表。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71689" name="AutoShape 9"/>
          <p:cNvSpPr/>
          <p:nvPr/>
        </p:nvSpPr>
        <p:spPr>
          <a:xfrm>
            <a:off x="7391400" y="2590800"/>
            <a:ext cx="1447800" cy="457200"/>
          </a:xfrm>
          <a:prstGeom prst="wedgeRoundRectCallout">
            <a:avLst>
              <a:gd name="adj1" fmla="val -101644"/>
              <a:gd name="adj2" fmla="val -152778"/>
              <a:gd name="adj3" fmla="val 16667"/>
            </a:avLst>
          </a:prstGeom>
          <a:noFill/>
          <a:ln w="222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n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是表长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71690" name="Rectangle 10"/>
          <p:cNvSpPr/>
          <p:nvPr/>
        </p:nvSpPr>
        <p:spPr>
          <a:xfrm>
            <a:off x="76200" y="30480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在广义表中约定：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</p:txBody>
      </p:sp>
      <p:sp>
        <p:nvSpPr>
          <p:cNvPr id="71691" name="AutoShape 11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1692" name="AutoShape 12"/>
          <p:cNvSpPr/>
          <p:nvPr/>
        </p:nvSpPr>
        <p:spPr>
          <a:xfrm rot="-5400000">
            <a:off x="5638800" y="1524000"/>
            <a:ext cx="228600" cy="1752600"/>
          </a:xfrm>
          <a:prstGeom prst="leftBrace">
            <a:avLst>
              <a:gd name="adj1" fmla="val 63888"/>
              <a:gd name="adj2" fmla="val 49301"/>
            </a:avLst>
          </a:prstGeom>
          <a:noFill/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1693" name="Rectangle 13"/>
          <p:cNvSpPr/>
          <p:nvPr/>
        </p:nvSpPr>
        <p:spPr>
          <a:xfrm>
            <a:off x="381000" y="4572000"/>
            <a:ext cx="757555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讨论：</a:t>
            </a:r>
            <a:r>
              <a:rPr lang="zh-CN" altLang="en-US" sz="2400" b="1" dirty="0">
                <a:ea typeface="楷体_GB2312"/>
              </a:rPr>
              <a:t>广义表与线性表的区别和联系？</a:t>
            </a:r>
            <a:endParaRPr lang="zh-CN" altLang="en-US" sz="2400" b="1" dirty="0"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99FF33"/>
                </a:solidFill>
                <a:ea typeface="楷体_GB2312"/>
              </a:rPr>
              <a:t>        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广义表中元素既可以是原子类型，也可以是列表</a:t>
            </a:r>
            <a:r>
              <a:rPr lang="zh-CN" altLang="en-US" sz="2400" b="1" dirty="0">
                <a:solidFill>
                  <a:srgbClr val="99FF33"/>
                </a:solidFill>
                <a:ea typeface="楷体_GB2312"/>
              </a:rPr>
              <a:t>；</a:t>
            </a:r>
            <a:endParaRPr lang="zh-CN" altLang="en-US" sz="2400" b="1" dirty="0">
              <a:solidFill>
                <a:srgbClr val="99FF33"/>
              </a:solidFill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       当每个元素都为原子且类型相同时，就是线性表。</a:t>
            </a:r>
            <a:endParaRPr lang="zh-CN" altLang="en-US" sz="2400" b="1" dirty="0">
              <a:solidFill>
                <a:schemeClr val="accent1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charRg st="24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charRg st="26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9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93">
                                            <p:txEl>
                                              <p:charRg st="18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93">
                                            <p:txEl>
                                              <p:charRg st="49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  <p:bldP spid="71684" grpId="0"/>
      <p:bldP spid="71687" grpId="0"/>
      <p:bldP spid="71688" grpId="0" build="p"/>
      <p:bldP spid="71689" grpId="0" animBg="1"/>
      <p:bldP spid="71690" grpId="0"/>
      <p:bldP spid="71691" grpId="0" animBg="1"/>
      <p:bldP spid="71692" grpId="0" animBg="1"/>
      <p:bldP spid="7169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609600" y="304800"/>
            <a:ext cx="19812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、特点：</a:t>
            </a:r>
            <a:endParaRPr lang="zh-CN" altLang="en-US" sz="2800" b="1" dirty="0">
              <a:ea typeface="楷体_GB2312"/>
            </a:endParaRP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685800" y="1066800"/>
            <a:ext cx="2514600" cy="3124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有次序性</a:t>
            </a:r>
            <a:endParaRPr lang="zh-CN" altLang="en-US" sz="2800" b="1" dirty="0"/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有长度</a:t>
            </a:r>
            <a:endParaRPr lang="zh-CN" altLang="en-US" sz="2800" b="1" dirty="0"/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有深度</a:t>
            </a:r>
            <a:endParaRPr lang="zh-CN" altLang="en-US" sz="2800" b="1" dirty="0"/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可递归</a:t>
            </a:r>
            <a:endParaRPr lang="zh-CN" altLang="en-US" sz="2800" b="1" dirty="0"/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可共享</a:t>
            </a:r>
            <a:endParaRPr lang="zh-CN" altLang="en-US" sz="2800" b="1" dirty="0"/>
          </a:p>
        </p:txBody>
      </p:sp>
      <p:sp>
        <p:nvSpPr>
          <p:cNvPr id="72708" name="Rectangle 4"/>
          <p:cNvSpPr/>
          <p:nvPr/>
        </p:nvSpPr>
        <p:spPr>
          <a:xfrm>
            <a:off x="2971800" y="1066800"/>
            <a:ext cx="5257800" cy="312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一个直接前驱和一个直接后继</a:t>
            </a:r>
            <a:endParaRPr lang="zh-CN" altLang="en-US" sz="2800" b="1" dirty="0">
              <a:solidFill>
                <a:schemeClr val="accent1"/>
              </a:solidFill>
            </a:endParaRP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＝表中元素个数</a:t>
            </a:r>
            <a:endParaRPr lang="zh-CN" altLang="en-US" sz="2800" b="1" dirty="0">
              <a:solidFill>
                <a:schemeClr val="accent1"/>
              </a:solidFill>
            </a:endParaRP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＝表中括号的重数</a:t>
            </a:r>
            <a:endParaRPr lang="zh-CN" altLang="en-US" sz="2800" b="1" dirty="0">
              <a:solidFill>
                <a:schemeClr val="accent1"/>
              </a:solidFill>
            </a:endParaRP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自己可以作为自己的子表</a:t>
            </a:r>
            <a:endParaRPr lang="zh-CN" altLang="en-US" sz="2800" b="1" dirty="0">
              <a:solidFill>
                <a:schemeClr val="accent1"/>
              </a:solidFill>
            </a:endParaRP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可以为其他广义表所共享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72709" name="AutoShape 5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2710" name="Rectangle 6"/>
          <p:cNvSpPr/>
          <p:nvPr/>
        </p:nvSpPr>
        <p:spPr>
          <a:xfrm>
            <a:off x="533400" y="4495800"/>
            <a:ext cx="7772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楷体_GB2312"/>
              </a:rPr>
              <a:t>特别提示：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ea typeface="楷体_GB2312"/>
              </a:rPr>
              <a:t>任何一个非空表，表头可能是原子，也可能是列表；但表尾一定是列表。</a:t>
            </a:r>
            <a:endParaRPr lang="zh-CN" altLang="en-US" sz="2400" b="1" dirty="0">
              <a:solidFill>
                <a:srgbClr val="FF0000"/>
              </a:solidFill>
              <a:highlight>
                <a:srgbClr val="FFFF00"/>
              </a:highlight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5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9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charRg st="22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charRg st="3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charRg st="43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/>
      <p:bldP spid="72708" grpId="0" build="p"/>
      <p:bldP spid="72709" grpId="0" animBg="1"/>
      <p:bldP spid="727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3730" name="AutoShape 2"/>
          <p:cNvSpPr/>
          <p:nvPr/>
        </p:nvSpPr>
        <p:spPr>
          <a:xfrm>
            <a:off x="1905000" y="4876800"/>
            <a:ext cx="6934200" cy="609600"/>
          </a:xfrm>
          <a:prstGeom prst="wedgeRectCallout">
            <a:avLst>
              <a:gd name="adj1" fmla="val -51051"/>
              <a:gd name="adj2" fmla="val -194273"/>
            </a:avLst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E=(a,E)=(a,(a,E))= </a:t>
            </a:r>
            <a:r>
              <a:rPr lang="en-US" altLang="zh-CN" sz="2800" b="1" dirty="0">
                <a:solidFill>
                  <a:schemeClr val="bg1"/>
                </a:solidFill>
                <a:ea typeface="黑体" panose="02010609060101010101" pitchFamily="49" charset="-122"/>
              </a:rPr>
              <a:t>(a,(a,(a,…….)))</a:t>
            </a:r>
            <a:r>
              <a:rPr lang="zh-CN" altLang="en-US" sz="2800" b="1" dirty="0">
                <a:solidFill>
                  <a:schemeClr val="bg1"/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  <a:ea typeface="楷体_GB2312"/>
              </a:rPr>
              <a:t>E</a:t>
            </a:r>
            <a:r>
              <a:rPr lang="zh-CN" altLang="en-US" sz="2400" b="1" dirty="0">
                <a:solidFill>
                  <a:schemeClr val="bg1"/>
                </a:solidFill>
                <a:ea typeface="楷体_GB2312"/>
              </a:rPr>
              <a:t>为递归表</a:t>
            </a:r>
            <a:endParaRPr lang="zh-CN" altLang="en-US" sz="2400" b="1" dirty="0">
              <a:solidFill>
                <a:schemeClr val="bg1"/>
              </a:solidFill>
              <a:ea typeface="楷体_GB2312"/>
            </a:endParaRPr>
          </a:p>
        </p:txBody>
      </p:sp>
      <p:sp>
        <p:nvSpPr>
          <p:cNvPr id="73731" name="Text Box 3"/>
          <p:cNvSpPr txBox="1"/>
          <p:nvPr/>
        </p:nvSpPr>
        <p:spPr>
          <a:xfrm>
            <a:off x="228600" y="914400"/>
            <a:ext cx="3581400" cy="30845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ea typeface="黑体" panose="02010609060101010101" pitchFamily="49" charset="-122"/>
              </a:rPr>
              <a:t>）</a:t>
            </a:r>
            <a:r>
              <a:rPr lang="en-US" altLang="zh-CN" sz="2800" b="1" dirty="0">
                <a:ea typeface="黑体" panose="02010609060101010101" pitchFamily="49" charset="-122"/>
              </a:rPr>
              <a:t>A =( )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ea typeface="黑体" panose="02010609060101010101" pitchFamily="49" charset="-122"/>
              </a:rPr>
              <a:t>）</a:t>
            </a:r>
            <a:r>
              <a:rPr lang="en-US" altLang="zh-CN" sz="2800" b="1" dirty="0">
                <a:ea typeface="黑体" panose="02010609060101010101" pitchFamily="49" charset="-122"/>
              </a:rPr>
              <a:t>B = ( e ) 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ea typeface="黑体" panose="02010609060101010101" pitchFamily="49" charset="-122"/>
              </a:rPr>
              <a:t>）</a:t>
            </a:r>
            <a:r>
              <a:rPr lang="en-US" altLang="zh-CN" sz="2800" b="1" dirty="0">
                <a:ea typeface="黑体" panose="02010609060101010101" pitchFamily="49" charset="-122"/>
              </a:rPr>
              <a:t>C =( a ,( b , c , d ) ) 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ea typeface="黑体" panose="02010609060101010101" pitchFamily="49" charset="-122"/>
              </a:rPr>
              <a:t>）</a:t>
            </a:r>
            <a:r>
              <a:rPr lang="en-US" altLang="zh-CN" sz="2800" b="1" dirty="0">
                <a:ea typeface="黑体" panose="02010609060101010101" pitchFamily="49" charset="-122"/>
              </a:rPr>
              <a:t>D=( A , B ,C )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ea typeface="黑体" panose="02010609060101010101" pitchFamily="49" charset="-122"/>
              </a:rPr>
              <a:t>）</a:t>
            </a:r>
            <a:r>
              <a:rPr lang="en-US" altLang="zh-CN" sz="2800" b="1" dirty="0">
                <a:ea typeface="黑体" panose="02010609060101010101" pitchFamily="49" charset="-122"/>
              </a:rPr>
              <a:t>E=(a, E)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54277" name="Rectangle 4"/>
          <p:cNvSpPr/>
          <p:nvPr/>
        </p:nvSpPr>
        <p:spPr>
          <a:xfrm>
            <a:off x="457200" y="304800"/>
            <a:ext cx="52578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ea typeface="楷体_GB2312"/>
              </a:rPr>
              <a:t>求下列广义表的长度。</a:t>
            </a:r>
            <a:endParaRPr lang="zh-CN" altLang="en-US" sz="2800" b="1" dirty="0">
              <a:ea typeface="楷体_GB2312"/>
            </a:endParaRPr>
          </a:p>
        </p:txBody>
      </p:sp>
      <p:sp>
        <p:nvSpPr>
          <p:cNvPr id="73733" name="Rectangle 5"/>
          <p:cNvSpPr/>
          <p:nvPr/>
        </p:nvSpPr>
        <p:spPr>
          <a:xfrm>
            <a:off x="3810000" y="914400"/>
            <a:ext cx="4870450" cy="30845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n=0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因为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A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是空表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n=1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，表中元素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e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是原子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n=2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，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a 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为原子，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(b,c,d)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为子表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n=3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，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个元素都是子表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n=2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，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a 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为原子，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E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为子表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</p:txBody>
      </p:sp>
      <p:sp>
        <p:nvSpPr>
          <p:cNvPr id="73734" name="AutoShape 6"/>
          <p:cNvSpPr/>
          <p:nvPr/>
        </p:nvSpPr>
        <p:spPr>
          <a:xfrm>
            <a:off x="2971800" y="4114800"/>
            <a:ext cx="5562600" cy="533400"/>
          </a:xfrm>
          <a:prstGeom prst="wedgeRectCallout">
            <a:avLst>
              <a:gd name="adj1" fmla="val -65667"/>
              <a:gd name="adj2" fmla="val -188690"/>
            </a:avLst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D=(A,B,C)=(( ),(e),(a,(b,c,d)))</a:t>
            </a:r>
            <a:r>
              <a:rPr lang="zh-CN" altLang="en-US" sz="2400" b="1" dirty="0">
                <a:solidFill>
                  <a:schemeClr val="bg1"/>
                </a:solidFill>
              </a:rPr>
              <a:t>，</a:t>
            </a:r>
            <a:r>
              <a:rPr lang="zh-CN" altLang="en-US" sz="2400" b="1" dirty="0">
                <a:solidFill>
                  <a:schemeClr val="bg1"/>
                </a:solidFill>
                <a:ea typeface="楷体_GB2312"/>
              </a:rPr>
              <a:t>共享表</a:t>
            </a:r>
            <a:endParaRPr lang="zh-CN" altLang="en-US" sz="2400" b="1" dirty="0">
              <a:solidFill>
                <a:schemeClr val="bg1"/>
              </a:solidFill>
              <a:ea typeface="楷体_GB2312"/>
            </a:endParaRPr>
          </a:p>
        </p:txBody>
      </p:sp>
      <p:sp>
        <p:nvSpPr>
          <p:cNvPr id="73735" name="AutoShape 7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charRg st="11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charRg st="24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charRg st="45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charRg st="58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nimBg="1"/>
      <p:bldP spid="73731" grpId="0"/>
      <p:bldP spid="73733" grpId="0" build="p"/>
      <p:bldP spid="73734" grpId="0" animBg="1"/>
      <p:bldP spid="7373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228600" y="1752600"/>
            <a:ext cx="4876800" cy="3200400"/>
            <a:chOff x="2544" y="1584"/>
            <a:chExt cx="3072" cy="2016"/>
          </a:xfrm>
        </p:grpSpPr>
        <p:sp>
          <p:nvSpPr>
            <p:cNvPr id="55322" name="Line 3"/>
            <p:cNvSpPr/>
            <p:nvPr/>
          </p:nvSpPr>
          <p:spPr>
            <a:xfrm>
              <a:off x="3024" y="2400"/>
              <a:ext cx="1488" cy="0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5323" name="Line 4"/>
            <p:cNvSpPr/>
            <p:nvPr/>
          </p:nvSpPr>
          <p:spPr>
            <a:xfrm>
              <a:off x="4560" y="3456"/>
              <a:ext cx="816" cy="0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5324" name="Text Box 5"/>
            <p:cNvSpPr txBox="1"/>
            <p:nvPr/>
          </p:nvSpPr>
          <p:spPr>
            <a:xfrm>
              <a:off x="2544" y="2160"/>
              <a:ext cx="24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A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55325" name="Text Box 6"/>
            <p:cNvSpPr txBox="1"/>
            <p:nvPr/>
          </p:nvSpPr>
          <p:spPr>
            <a:xfrm>
              <a:off x="3744" y="2112"/>
              <a:ext cx="19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B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55326" name="Text Box 7"/>
            <p:cNvSpPr txBox="1"/>
            <p:nvPr/>
          </p:nvSpPr>
          <p:spPr>
            <a:xfrm>
              <a:off x="3744" y="1584"/>
              <a:ext cx="2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D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55327" name="Text Box 8"/>
            <p:cNvSpPr txBox="1"/>
            <p:nvPr/>
          </p:nvSpPr>
          <p:spPr>
            <a:xfrm>
              <a:off x="4704" y="2160"/>
              <a:ext cx="52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C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55328" name="Oval 9"/>
            <p:cNvSpPr/>
            <p:nvPr/>
          </p:nvSpPr>
          <p:spPr>
            <a:xfrm>
              <a:off x="3600" y="2304"/>
              <a:ext cx="144" cy="144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5329" name="Oval 10"/>
            <p:cNvSpPr/>
            <p:nvPr/>
          </p:nvSpPr>
          <p:spPr>
            <a:xfrm>
              <a:off x="3600" y="1728"/>
              <a:ext cx="144" cy="144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5330" name="Oval 11"/>
            <p:cNvSpPr/>
            <p:nvPr/>
          </p:nvSpPr>
          <p:spPr>
            <a:xfrm>
              <a:off x="2784" y="2304"/>
              <a:ext cx="144" cy="144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5331" name="Rectangle 12"/>
            <p:cNvSpPr/>
            <p:nvPr/>
          </p:nvSpPr>
          <p:spPr>
            <a:xfrm>
              <a:off x="3552" y="2976"/>
              <a:ext cx="288" cy="288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rgbClr val="BADE7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ea typeface="黑体" panose="02010609060101010101" pitchFamily="49" charset="-122"/>
                </a:rPr>
                <a:t>e</a:t>
              </a:r>
              <a:endParaRPr lang="en-US" altLang="zh-CN" sz="2400" b="1" dirty="0">
                <a:solidFill>
                  <a:schemeClr val="bg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5332" name="Line 13"/>
            <p:cNvSpPr/>
            <p:nvPr/>
          </p:nvSpPr>
          <p:spPr>
            <a:xfrm flipH="1">
              <a:off x="2928" y="1920"/>
              <a:ext cx="672" cy="384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5333" name="Group 14"/>
            <p:cNvGrpSpPr/>
            <p:nvPr/>
          </p:nvGrpSpPr>
          <p:grpSpPr>
            <a:xfrm>
              <a:off x="3936" y="2352"/>
              <a:ext cx="1680" cy="1248"/>
              <a:chOff x="336" y="2304"/>
              <a:chExt cx="1680" cy="1248"/>
            </a:xfrm>
          </p:grpSpPr>
          <p:sp>
            <p:nvSpPr>
              <p:cNvPr id="55338" name="Oval 15"/>
              <p:cNvSpPr/>
              <p:nvPr/>
            </p:nvSpPr>
            <p:spPr>
              <a:xfrm>
                <a:off x="1008" y="2304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38100" cap="flat" cmpd="sng">
                <a:solidFill>
                  <a:srgbClr val="BADE78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sp>
            <p:nvSpPr>
              <p:cNvPr id="55339" name="Oval 16"/>
              <p:cNvSpPr/>
              <p:nvPr/>
            </p:nvSpPr>
            <p:spPr>
              <a:xfrm>
                <a:off x="1296" y="2640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38100" cap="flat" cmpd="sng">
                <a:solidFill>
                  <a:srgbClr val="BADE78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sp>
            <p:nvSpPr>
              <p:cNvPr id="55340" name="Rectangle 17"/>
              <p:cNvSpPr/>
              <p:nvPr/>
            </p:nvSpPr>
            <p:spPr>
              <a:xfrm>
                <a:off x="336" y="254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rgbClr val="BADE78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bg1"/>
                    </a:solidFill>
                    <a:ea typeface="黑体" panose="02010609060101010101" pitchFamily="49" charset="-122"/>
                  </a:rPr>
                  <a:t>a</a:t>
                </a:r>
                <a:endParaRPr lang="en-US" altLang="zh-CN" sz="2400" b="1" dirty="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5341" name="Rectangle 18"/>
              <p:cNvSpPr/>
              <p:nvPr/>
            </p:nvSpPr>
            <p:spPr>
              <a:xfrm>
                <a:off x="720" y="326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rgbClr val="BADE78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bg1"/>
                    </a:solidFill>
                    <a:ea typeface="黑体" panose="02010609060101010101" pitchFamily="49" charset="-122"/>
                  </a:rPr>
                  <a:t>b</a:t>
                </a:r>
                <a:endParaRPr lang="en-US" altLang="zh-CN" sz="2400" b="1" dirty="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5342" name="Rectangle 19"/>
              <p:cNvSpPr/>
              <p:nvPr/>
            </p:nvSpPr>
            <p:spPr>
              <a:xfrm>
                <a:off x="1248" y="326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rgbClr val="BADE78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bg1"/>
                    </a:solidFill>
                    <a:ea typeface="黑体" panose="02010609060101010101" pitchFamily="49" charset="-122"/>
                  </a:rPr>
                  <a:t>c</a:t>
                </a:r>
                <a:endParaRPr lang="en-US" altLang="zh-CN" sz="2400" b="1" dirty="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5343" name="Rectangle 20"/>
              <p:cNvSpPr/>
              <p:nvPr/>
            </p:nvSpPr>
            <p:spPr>
              <a:xfrm>
                <a:off x="1728" y="326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rgbClr val="BADE78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bg1"/>
                    </a:solidFill>
                    <a:ea typeface="黑体" panose="02010609060101010101" pitchFamily="49" charset="-122"/>
                  </a:rPr>
                  <a:t>d</a:t>
                </a:r>
                <a:endParaRPr lang="en-US" altLang="zh-CN" sz="2400" b="1" dirty="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55344" name="Line 21"/>
              <p:cNvSpPr/>
              <p:nvPr/>
            </p:nvSpPr>
            <p:spPr>
              <a:xfrm flipH="1">
                <a:off x="624" y="2400"/>
                <a:ext cx="384" cy="288"/>
              </a:xfrm>
              <a:prstGeom prst="line">
                <a:avLst/>
              </a:prstGeom>
              <a:ln w="38100" cap="flat" cmpd="sng">
                <a:solidFill>
                  <a:srgbClr val="BADE78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5" name="Line 22"/>
              <p:cNvSpPr/>
              <p:nvPr/>
            </p:nvSpPr>
            <p:spPr>
              <a:xfrm>
                <a:off x="1152" y="2448"/>
                <a:ext cx="192" cy="192"/>
              </a:xfrm>
              <a:prstGeom prst="line">
                <a:avLst/>
              </a:prstGeom>
              <a:ln w="38100" cap="flat" cmpd="sng">
                <a:solidFill>
                  <a:srgbClr val="BADE78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6" name="Line 23"/>
              <p:cNvSpPr/>
              <p:nvPr/>
            </p:nvSpPr>
            <p:spPr>
              <a:xfrm flipH="1">
                <a:off x="864" y="2784"/>
                <a:ext cx="432" cy="432"/>
              </a:xfrm>
              <a:prstGeom prst="line">
                <a:avLst/>
              </a:prstGeom>
              <a:ln w="38100" cap="flat" cmpd="sng">
                <a:solidFill>
                  <a:srgbClr val="BADE78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7" name="Line 24"/>
              <p:cNvSpPr/>
              <p:nvPr/>
            </p:nvSpPr>
            <p:spPr>
              <a:xfrm>
                <a:off x="1392" y="2832"/>
                <a:ext cx="0" cy="384"/>
              </a:xfrm>
              <a:prstGeom prst="line">
                <a:avLst/>
              </a:prstGeom>
              <a:ln w="38100" cap="flat" cmpd="sng">
                <a:solidFill>
                  <a:srgbClr val="BADE78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8" name="Line 25"/>
              <p:cNvSpPr/>
              <p:nvPr/>
            </p:nvSpPr>
            <p:spPr>
              <a:xfrm>
                <a:off x="1488" y="2784"/>
                <a:ext cx="336" cy="432"/>
              </a:xfrm>
              <a:prstGeom prst="line">
                <a:avLst/>
              </a:prstGeom>
              <a:ln w="38100" cap="flat" cmpd="sng">
                <a:solidFill>
                  <a:srgbClr val="BADE78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5334" name="Line 26"/>
            <p:cNvSpPr/>
            <p:nvPr/>
          </p:nvSpPr>
          <p:spPr>
            <a:xfrm>
              <a:off x="3696" y="1920"/>
              <a:ext cx="0" cy="432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5" name="Line 27"/>
            <p:cNvSpPr/>
            <p:nvPr/>
          </p:nvSpPr>
          <p:spPr>
            <a:xfrm>
              <a:off x="3792" y="1872"/>
              <a:ext cx="864" cy="480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6" name="Line 28"/>
            <p:cNvSpPr/>
            <p:nvPr/>
          </p:nvSpPr>
          <p:spPr>
            <a:xfrm>
              <a:off x="3696" y="2496"/>
              <a:ext cx="0" cy="432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7" name="Line 29"/>
            <p:cNvSpPr/>
            <p:nvPr/>
          </p:nvSpPr>
          <p:spPr>
            <a:xfrm>
              <a:off x="4272" y="2784"/>
              <a:ext cx="576" cy="0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74782" name="Text Box 30"/>
          <p:cNvSpPr txBox="1"/>
          <p:nvPr/>
        </p:nvSpPr>
        <p:spPr>
          <a:xfrm>
            <a:off x="5791200" y="1524000"/>
            <a:ext cx="28194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② A=( a ,  (b, A) )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55301" name="Rectangle 31"/>
          <p:cNvSpPr/>
          <p:nvPr/>
        </p:nvSpPr>
        <p:spPr>
          <a:xfrm>
            <a:off x="228600" y="381000"/>
            <a:ext cx="6324600" cy="884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 b="1" dirty="0">
                <a:latin typeface="楷体_GB2312"/>
                <a:ea typeface="楷体_GB2312"/>
              </a:rPr>
              <a:t>试用图形表示下列广义表</a:t>
            </a:r>
            <a:r>
              <a:rPr lang="en-US" altLang="zh-CN" sz="2800" b="1" dirty="0">
                <a:latin typeface="楷体_GB2312"/>
                <a:ea typeface="楷体_GB2312"/>
              </a:rPr>
              <a:t>.</a:t>
            </a:r>
            <a:endParaRPr lang="en-US" altLang="zh-CN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（设    代表原子，  代表子表）</a:t>
            </a: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5302" name="Oval 32"/>
          <p:cNvSpPr/>
          <p:nvPr/>
        </p:nvSpPr>
        <p:spPr>
          <a:xfrm>
            <a:off x="2763838" y="914400"/>
            <a:ext cx="207962" cy="2286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rgbClr val="BADE78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5303" name="Rectangle 33"/>
          <p:cNvSpPr/>
          <p:nvPr/>
        </p:nvSpPr>
        <p:spPr>
          <a:xfrm>
            <a:off x="990600" y="914400"/>
            <a:ext cx="209550" cy="3048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rgbClr val="BADE78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64BD3"/>
                </a:solidFill>
                <a:ea typeface="黑体" panose="02010609060101010101" pitchFamily="49" charset="-122"/>
              </a:rPr>
              <a:t>e</a:t>
            </a:r>
            <a:endParaRPr lang="en-US" altLang="zh-CN" sz="2400" b="1" dirty="0">
              <a:solidFill>
                <a:srgbClr val="C64BD3"/>
              </a:solidFill>
              <a:ea typeface="黑体" panose="02010609060101010101" pitchFamily="49" charset="-122"/>
            </a:endParaRPr>
          </a:p>
        </p:txBody>
      </p:sp>
      <p:sp>
        <p:nvSpPr>
          <p:cNvPr id="74786" name="Rectangle 34"/>
          <p:cNvSpPr/>
          <p:nvPr/>
        </p:nvSpPr>
        <p:spPr>
          <a:xfrm>
            <a:off x="152400" y="1447800"/>
            <a:ext cx="487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① D=(A,B,C)=( ( ),(e),( a, (b,c,d) ) )</a:t>
            </a:r>
            <a:endParaRPr lang="en-US" altLang="zh-CN" sz="2400" b="1" dirty="0"/>
          </a:p>
        </p:txBody>
      </p:sp>
      <p:sp>
        <p:nvSpPr>
          <p:cNvPr id="74787" name="AutoShape 35">
            <a:hlinkClick r:id="" action="ppaction://hlinkshowjump?jump=nextslide"/>
          </p:cNvPr>
          <p:cNvSpPr/>
          <p:nvPr/>
        </p:nvSpPr>
        <p:spPr>
          <a:xfrm>
            <a:off x="80010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4" name="Group 36"/>
          <p:cNvGrpSpPr/>
          <p:nvPr/>
        </p:nvGrpSpPr>
        <p:grpSpPr>
          <a:xfrm>
            <a:off x="6019800" y="2209800"/>
            <a:ext cx="2514600" cy="2362200"/>
            <a:chOff x="3600" y="1632"/>
            <a:chExt cx="1584" cy="1488"/>
          </a:xfrm>
        </p:grpSpPr>
        <p:sp>
          <p:nvSpPr>
            <p:cNvPr id="55312" name="Text Box 37"/>
            <p:cNvSpPr txBox="1"/>
            <p:nvPr/>
          </p:nvSpPr>
          <p:spPr>
            <a:xfrm>
              <a:off x="4032" y="1632"/>
              <a:ext cx="24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A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55313" name="Oval 38"/>
            <p:cNvSpPr/>
            <p:nvPr/>
          </p:nvSpPr>
          <p:spPr>
            <a:xfrm>
              <a:off x="4272" y="1872"/>
              <a:ext cx="144" cy="144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5314" name="Oval 39"/>
            <p:cNvSpPr/>
            <p:nvPr/>
          </p:nvSpPr>
          <p:spPr>
            <a:xfrm>
              <a:off x="4560" y="2208"/>
              <a:ext cx="144" cy="144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5315" name="Rectangle 40"/>
            <p:cNvSpPr/>
            <p:nvPr/>
          </p:nvSpPr>
          <p:spPr>
            <a:xfrm>
              <a:off x="3600" y="2112"/>
              <a:ext cx="288" cy="288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rgbClr val="BADE7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ea typeface="黑体" panose="02010609060101010101" pitchFamily="49" charset="-122"/>
                </a:rPr>
                <a:t>a</a:t>
              </a:r>
              <a:endParaRPr lang="en-US" altLang="zh-CN" sz="2400" b="1" dirty="0">
                <a:solidFill>
                  <a:schemeClr val="bg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5316" name="Rectangle 41"/>
            <p:cNvSpPr/>
            <p:nvPr/>
          </p:nvSpPr>
          <p:spPr>
            <a:xfrm>
              <a:off x="3984" y="2832"/>
              <a:ext cx="288" cy="288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rgbClr val="BADE7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ea typeface="黑体" panose="02010609060101010101" pitchFamily="49" charset="-122"/>
                </a:rPr>
                <a:t>b</a:t>
              </a:r>
              <a:endParaRPr lang="en-US" altLang="zh-CN" sz="2400" b="1" dirty="0">
                <a:solidFill>
                  <a:schemeClr val="bg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5317" name="Line 42"/>
            <p:cNvSpPr/>
            <p:nvPr/>
          </p:nvSpPr>
          <p:spPr>
            <a:xfrm flipH="1">
              <a:off x="3888" y="1968"/>
              <a:ext cx="384" cy="288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8" name="Line 43"/>
            <p:cNvSpPr/>
            <p:nvPr/>
          </p:nvSpPr>
          <p:spPr>
            <a:xfrm>
              <a:off x="4416" y="2016"/>
              <a:ext cx="192" cy="192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9" name="Line 44"/>
            <p:cNvSpPr/>
            <p:nvPr/>
          </p:nvSpPr>
          <p:spPr>
            <a:xfrm flipH="1">
              <a:off x="4128" y="2352"/>
              <a:ext cx="432" cy="432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0" name="Line 45"/>
            <p:cNvSpPr/>
            <p:nvPr/>
          </p:nvSpPr>
          <p:spPr>
            <a:xfrm>
              <a:off x="3936" y="2304"/>
              <a:ext cx="576" cy="0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5321" name="Freeform 46"/>
            <p:cNvSpPr/>
            <p:nvPr/>
          </p:nvSpPr>
          <p:spPr>
            <a:xfrm>
              <a:off x="4416" y="1920"/>
              <a:ext cx="768" cy="336"/>
            </a:xfrm>
            <a:custGeom>
              <a:avLst/>
              <a:gdLst>
                <a:gd name="txL" fmla="*/ 0 w 760"/>
                <a:gd name="txT" fmla="*/ 0 h 384"/>
                <a:gd name="txR" fmla="*/ 760 w 760"/>
                <a:gd name="txB" fmla="*/ 384 h 384"/>
              </a:gdLst>
              <a:ahLst/>
              <a:cxnLst>
                <a:cxn ang="0">
                  <a:pos x="303" y="24"/>
                </a:cxn>
                <a:cxn ang="0">
                  <a:pos x="898" y="12"/>
                </a:cxn>
                <a:cxn ang="0">
                  <a:pos x="0" y="0"/>
                </a:cxn>
              </a:cxnLst>
              <a:rect l="txL" t="txT" r="txR" b="txB"/>
              <a:pathLst>
                <a:path w="760" h="384">
                  <a:moveTo>
                    <a:pt x="240" y="384"/>
                  </a:moveTo>
                  <a:cubicBezTo>
                    <a:pt x="500" y="320"/>
                    <a:pt x="760" y="256"/>
                    <a:pt x="720" y="192"/>
                  </a:cubicBezTo>
                  <a:cubicBezTo>
                    <a:pt x="680" y="128"/>
                    <a:pt x="120" y="24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74799" name="Rectangle 47"/>
          <p:cNvSpPr/>
          <p:nvPr/>
        </p:nvSpPr>
        <p:spPr>
          <a:xfrm>
            <a:off x="381000" y="5181600"/>
            <a:ext cx="32464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ea typeface="楷体_GB2312"/>
              </a:rPr>
              <a:t>①</a:t>
            </a:r>
            <a:r>
              <a:rPr lang="zh-CN" altLang="en-US" sz="2400" b="1" dirty="0">
                <a:ea typeface="楷体_GB2312"/>
              </a:rPr>
              <a:t>的长度为</a:t>
            </a:r>
            <a:r>
              <a:rPr lang="en-US" altLang="zh-CN" sz="2400" b="1" dirty="0">
                <a:ea typeface="楷体_GB2312"/>
              </a:rPr>
              <a:t>3</a:t>
            </a:r>
            <a:r>
              <a:rPr lang="zh-CN" altLang="en-US" sz="2400" b="1" dirty="0">
                <a:ea typeface="楷体_GB2312"/>
              </a:rPr>
              <a:t>，深度为</a:t>
            </a:r>
            <a:r>
              <a:rPr lang="en-US" altLang="zh-CN" sz="2400" b="1" dirty="0">
                <a:ea typeface="楷体_GB2312"/>
              </a:rPr>
              <a:t>3</a:t>
            </a:r>
            <a:endParaRPr lang="en-US" altLang="zh-CN" sz="2400" b="1" dirty="0">
              <a:ea typeface="楷体_GB2312"/>
            </a:endParaRPr>
          </a:p>
        </p:txBody>
      </p:sp>
      <p:sp>
        <p:nvSpPr>
          <p:cNvPr id="74800" name="Rectangle 48"/>
          <p:cNvSpPr>
            <a:spLocks noChangeArrowheads="1"/>
          </p:cNvSpPr>
          <p:nvPr/>
        </p:nvSpPr>
        <p:spPr bwMode="auto">
          <a:xfrm>
            <a:off x="5486400" y="5181600"/>
            <a:ext cx="34004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②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的长度为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，深度为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∞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pSp>
        <p:nvGrpSpPr>
          <p:cNvPr id="5" name="Group 49"/>
          <p:cNvGrpSpPr/>
          <p:nvPr/>
        </p:nvGrpSpPr>
        <p:grpSpPr>
          <a:xfrm>
            <a:off x="457200" y="5638800"/>
            <a:ext cx="5181600" cy="460375"/>
            <a:chOff x="576" y="3744"/>
            <a:chExt cx="3264" cy="290"/>
          </a:xfrm>
        </p:grpSpPr>
        <p:sp>
          <p:nvSpPr>
            <p:cNvPr id="55310" name="Rectangle 50"/>
            <p:cNvSpPr/>
            <p:nvPr/>
          </p:nvSpPr>
          <p:spPr>
            <a:xfrm>
              <a:off x="576" y="3744"/>
              <a:ext cx="326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accent1"/>
                  </a:solidFill>
                  <a:highlight>
                    <a:srgbClr val="FFFF00"/>
                  </a:highlight>
                  <a:ea typeface="楷体_GB2312"/>
                </a:rPr>
                <a:t>深度＝括号的重数＝    结点的层数</a:t>
              </a:r>
              <a:endParaRPr lang="zh-CN" altLang="en-US" sz="2400" b="1" dirty="0">
                <a:solidFill>
                  <a:schemeClr val="accent1"/>
                </a:solidFill>
                <a:highlight>
                  <a:srgbClr val="FFFF00"/>
                </a:highlight>
                <a:ea typeface="楷体_GB2312"/>
              </a:endParaRPr>
            </a:p>
          </p:txBody>
        </p:sp>
        <p:sp>
          <p:nvSpPr>
            <p:cNvPr id="55311" name="Oval 51"/>
            <p:cNvSpPr/>
            <p:nvPr/>
          </p:nvSpPr>
          <p:spPr>
            <a:xfrm>
              <a:off x="2413" y="3792"/>
              <a:ext cx="131" cy="144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BADE78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82" grpId="0"/>
      <p:bldP spid="74786" grpId="0"/>
      <p:bldP spid="74787" grpId="0" animBg="1"/>
      <p:bldP spid="74799" grpId="0"/>
      <p:bldP spid="7480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778" name="Rectangle 2"/>
          <p:cNvSpPr/>
          <p:nvPr/>
        </p:nvSpPr>
        <p:spPr>
          <a:xfrm>
            <a:off x="609600" y="1371600"/>
            <a:ext cx="7848600" cy="26543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介绍两种特殊的基本操作：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GetHead( L) ——</a:t>
            </a:r>
            <a:r>
              <a:rPr lang="zh-CN" altLang="en-US" sz="2800" b="1" dirty="0">
                <a:ea typeface="黑体" panose="02010609060101010101" pitchFamily="49" charset="-122"/>
              </a:rPr>
              <a:t>取表头</a:t>
            </a:r>
            <a:r>
              <a:rPr lang="en-US" altLang="zh-CN" sz="2800" b="1" dirty="0"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ea typeface="楷体_GB2312"/>
              </a:rPr>
              <a:t>可能是原子或列表</a:t>
            </a:r>
            <a:r>
              <a:rPr lang="en-US" altLang="zh-CN" sz="2800" b="1" dirty="0">
                <a:ea typeface="楷体_GB2312"/>
              </a:rPr>
              <a:t>);</a:t>
            </a:r>
            <a:endParaRPr lang="en-US" altLang="zh-CN" sz="2800" b="1" dirty="0">
              <a:solidFill>
                <a:srgbClr val="99FF33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b="1" dirty="0">
              <a:solidFill>
                <a:schemeClr val="tx2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GetTail(L )   ——</a:t>
            </a:r>
            <a:r>
              <a:rPr lang="zh-CN" altLang="en-US" sz="2800" b="1" dirty="0">
                <a:ea typeface="黑体" panose="02010609060101010101" pitchFamily="49" charset="-122"/>
              </a:rPr>
              <a:t>取表尾</a:t>
            </a:r>
            <a:r>
              <a:rPr lang="en-US" altLang="zh-CN" sz="2800" b="1" dirty="0"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ea typeface="楷体_GB2312"/>
              </a:rPr>
              <a:t>一定是列表</a:t>
            </a:r>
            <a:r>
              <a:rPr lang="en-US" altLang="zh-CN" sz="2800" b="1" dirty="0">
                <a:ea typeface="楷体_GB2312"/>
              </a:rPr>
              <a:t>)</a:t>
            </a:r>
            <a:r>
              <a:rPr lang="en-US" altLang="zh-CN" sz="2800" b="1" dirty="0">
                <a:solidFill>
                  <a:srgbClr val="99FF33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99FF33"/>
                </a:solidFill>
                <a:ea typeface="黑体" panose="02010609060101010101" pitchFamily="49" charset="-122"/>
              </a:rPr>
              <a:t>。</a:t>
            </a:r>
            <a:endParaRPr lang="zh-CN" altLang="en-US" sz="2800" b="1" dirty="0">
              <a:solidFill>
                <a:srgbClr val="99FF33"/>
              </a:solidFill>
              <a:ea typeface="黑体" panose="02010609060101010101" pitchFamily="49" charset="-122"/>
            </a:endParaRPr>
          </a:p>
        </p:txBody>
      </p:sp>
      <p:sp>
        <p:nvSpPr>
          <p:cNvPr id="75779" name="AutoShape 3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6325" name="Rectangle 4"/>
          <p:cNvSpPr/>
          <p:nvPr/>
        </p:nvSpPr>
        <p:spPr>
          <a:xfrm>
            <a:off x="990600" y="533400"/>
            <a:ext cx="70104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广义表的抽象数据类型定义见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教材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P107-108</a:t>
            </a:r>
            <a:endParaRPr lang="en-US" altLang="zh-CN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charRg st="1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charRg st="1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charRg st="45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build="p"/>
      <p:bldP spid="7577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6802" name="Text Box 2"/>
          <p:cNvSpPr txBox="1"/>
          <p:nvPr/>
        </p:nvSpPr>
        <p:spPr>
          <a:xfrm>
            <a:off x="609600" y="1143000"/>
            <a:ext cx="7620000" cy="256698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60000"/>
              </a:spcBef>
              <a:buNone/>
            </a:pPr>
            <a:r>
              <a:rPr lang="en-US" altLang="zh-CN" sz="2800" b="1" dirty="0"/>
              <a:t>1.  GetTail【(b, k, p, h)】</a:t>
            </a:r>
            <a:r>
              <a:rPr lang="zh-CN" altLang="en-US" sz="2800" b="1" dirty="0"/>
              <a:t>＝</a:t>
            </a:r>
            <a:r>
              <a:rPr lang="zh-CN" altLang="en-US" sz="2800" b="1" u="sng" dirty="0"/>
              <a:t>                         </a:t>
            </a:r>
            <a:r>
              <a:rPr lang="en-US" altLang="zh-CN" sz="2800" b="1" dirty="0"/>
              <a:t>; </a:t>
            </a:r>
            <a:endParaRPr lang="en-US" altLang="zh-CN" sz="2800" b="1" dirty="0"/>
          </a:p>
          <a:p>
            <a:pPr marL="0" lvl="0" indent="0" eaLnBrk="1" hangingPunct="1">
              <a:spcBef>
                <a:spcPct val="60000"/>
              </a:spcBef>
              <a:buNone/>
            </a:pPr>
            <a:r>
              <a:rPr lang="en-US" altLang="zh-CN" sz="2800" b="1" dirty="0"/>
              <a:t>2. GetHead【( (a,b), (c,d) )】</a:t>
            </a:r>
            <a:r>
              <a:rPr lang="zh-CN" altLang="en-US" sz="2800" b="1" dirty="0"/>
              <a:t>＝</a:t>
            </a:r>
            <a:r>
              <a:rPr lang="zh-CN" altLang="en-US" sz="2800" b="1" u="sng" dirty="0"/>
              <a:t>                         </a:t>
            </a:r>
            <a:r>
              <a:rPr lang="zh-CN" altLang="en-US" sz="2800" b="1" dirty="0"/>
              <a:t>   </a:t>
            </a:r>
            <a:r>
              <a:rPr lang="en-US" altLang="zh-CN" sz="2800" b="1" dirty="0"/>
              <a:t>;   </a:t>
            </a:r>
            <a:endParaRPr lang="en-US" altLang="zh-CN" sz="2800" b="1" dirty="0"/>
          </a:p>
          <a:p>
            <a:pPr marL="0" lvl="0" indent="0" eaLnBrk="1" hangingPunct="1">
              <a:spcBef>
                <a:spcPct val="60000"/>
              </a:spcBef>
              <a:buNone/>
            </a:pPr>
            <a:r>
              <a:rPr lang="en-US" altLang="zh-CN" sz="2800" b="1" dirty="0"/>
              <a:t>3. GetTail【( (a,b), (c,d) )】</a:t>
            </a:r>
            <a:r>
              <a:rPr lang="zh-CN" altLang="en-US" sz="2800" b="1" dirty="0"/>
              <a:t>＝</a:t>
            </a:r>
            <a:r>
              <a:rPr lang="zh-CN" altLang="en-US" sz="2800" b="1" u="sng" dirty="0"/>
              <a:t>                         </a:t>
            </a:r>
            <a:r>
              <a:rPr lang="zh-CN" altLang="en-US" sz="2800" b="1" dirty="0"/>
              <a:t>   </a:t>
            </a:r>
            <a:r>
              <a:rPr lang="en-US" altLang="zh-CN" sz="2800" b="1" dirty="0"/>
              <a:t>; </a:t>
            </a:r>
            <a:endParaRPr lang="en-US" altLang="zh-CN" sz="2800" b="1" dirty="0"/>
          </a:p>
          <a:p>
            <a:pPr marL="0" lvl="0" indent="0" eaLnBrk="1" hangingPunct="1">
              <a:spcBef>
                <a:spcPct val="60000"/>
              </a:spcBef>
              <a:buNone/>
            </a:pPr>
            <a:r>
              <a:rPr lang="en-US" altLang="zh-CN" sz="2800" b="1" dirty="0"/>
              <a:t>4. GetTail【 GetHead【((a,b),(c,d))】】</a:t>
            </a:r>
            <a:r>
              <a:rPr lang="zh-CN" altLang="en-US" sz="2800" b="1" dirty="0"/>
              <a:t>＝</a:t>
            </a:r>
            <a:r>
              <a:rPr lang="zh-CN" altLang="en-US" sz="2800" b="1" u="sng" dirty="0"/>
              <a:t>         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;</a:t>
            </a:r>
            <a:endParaRPr lang="en-US" altLang="zh-CN" sz="2800" b="1" dirty="0"/>
          </a:p>
        </p:txBody>
      </p:sp>
      <p:sp>
        <p:nvSpPr>
          <p:cNvPr id="57348" name="Rectangle 3"/>
          <p:cNvSpPr/>
          <p:nvPr/>
        </p:nvSpPr>
        <p:spPr>
          <a:xfrm>
            <a:off x="533400" y="457200"/>
            <a:ext cx="80772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例：</a:t>
            </a:r>
            <a:r>
              <a:rPr lang="zh-CN" altLang="en-US" sz="2800" b="1" dirty="0"/>
              <a:t>求下列广义表操作的结果（</a:t>
            </a:r>
            <a:r>
              <a:rPr lang="zh-CN" altLang="en-US" sz="2400" b="1" dirty="0">
                <a:solidFill>
                  <a:schemeClr val="accent1"/>
                </a:solidFill>
              </a:rPr>
              <a:t>严题集</a:t>
            </a:r>
            <a:r>
              <a:rPr lang="en-US" altLang="zh-CN" sz="2400" b="1" dirty="0">
                <a:solidFill>
                  <a:schemeClr val="accent1"/>
                </a:solidFill>
              </a:rPr>
              <a:t>5.10②</a:t>
            </a:r>
            <a:r>
              <a:rPr lang="zh-CN" altLang="en-US" sz="2800" b="1" dirty="0"/>
              <a:t>）</a:t>
            </a:r>
            <a:endParaRPr lang="zh-CN" altLang="en-US" sz="2800" b="1" dirty="0"/>
          </a:p>
        </p:txBody>
      </p:sp>
      <p:sp>
        <p:nvSpPr>
          <p:cNvPr id="76804" name="Rectangle 4"/>
          <p:cNvSpPr/>
          <p:nvPr/>
        </p:nvSpPr>
        <p:spPr>
          <a:xfrm>
            <a:off x="5410200" y="990600"/>
            <a:ext cx="13731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</a:rPr>
              <a:t>(k, p, h)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  <p:sp>
        <p:nvSpPr>
          <p:cNvPr id="76805" name="Rectangle 5"/>
          <p:cNvSpPr/>
          <p:nvPr/>
        </p:nvSpPr>
        <p:spPr>
          <a:xfrm>
            <a:off x="7010400" y="3138488"/>
            <a:ext cx="838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</a:rPr>
              <a:t>b</a:t>
            </a:r>
            <a:r>
              <a:rPr lang="zh-CN" altLang="en-US" sz="2800" b="1" dirty="0">
                <a:solidFill>
                  <a:schemeClr val="accent1"/>
                </a:solidFill>
              </a:rPr>
              <a:t>）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76806" name="AutoShape 6"/>
          <p:cNvSpPr/>
          <p:nvPr/>
        </p:nvSpPr>
        <p:spPr>
          <a:xfrm>
            <a:off x="6553200" y="4038600"/>
            <a:ext cx="990600" cy="457200"/>
          </a:xfrm>
          <a:prstGeom prst="wedgeRoundRectCallout">
            <a:avLst>
              <a:gd name="adj1" fmla="val -303685"/>
              <a:gd name="adj2" fmla="val -13263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(a,b)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76807" name="Text Box 7"/>
          <p:cNvSpPr txBox="1"/>
          <p:nvPr/>
        </p:nvSpPr>
        <p:spPr>
          <a:xfrm>
            <a:off x="609600" y="3810000"/>
            <a:ext cx="5791200" cy="188436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60000"/>
              </a:spcBef>
              <a:buNone/>
            </a:pPr>
            <a:r>
              <a:rPr lang="en-US" altLang="zh-CN" sz="2800" b="1" dirty="0"/>
              <a:t>5. GetTail【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e</a:t>
            </a:r>
            <a:r>
              <a:rPr lang="zh-CN" altLang="en-US" sz="2800" b="1" dirty="0"/>
              <a:t>）</a:t>
            </a:r>
            <a:r>
              <a:rPr lang="en-US" altLang="zh-CN" sz="2800" b="1" dirty="0"/>
              <a:t>】</a:t>
            </a:r>
            <a:r>
              <a:rPr lang="zh-CN" altLang="en-US" sz="2800" b="1" dirty="0"/>
              <a:t>＝</a:t>
            </a:r>
            <a:r>
              <a:rPr lang="zh-CN" altLang="en-US" sz="2800" b="1" u="sng" dirty="0"/>
              <a:t>                       </a:t>
            </a:r>
            <a:r>
              <a:rPr lang="en-US" altLang="zh-CN" sz="2800" b="1" dirty="0"/>
              <a:t>;        </a:t>
            </a:r>
            <a:endParaRPr lang="en-US" altLang="zh-CN" sz="2800" b="1" dirty="0"/>
          </a:p>
          <a:p>
            <a:pPr marL="0" lvl="0" indent="0" eaLnBrk="1" hangingPunct="1">
              <a:spcBef>
                <a:spcPct val="60000"/>
              </a:spcBef>
              <a:buNone/>
            </a:pPr>
            <a:r>
              <a:rPr lang="en-US" altLang="zh-CN" sz="2800" b="1" dirty="0"/>
              <a:t>6. GetHead 【 ( ( ) )】</a:t>
            </a:r>
            <a:r>
              <a:rPr lang="zh-CN" altLang="en-US" sz="2800" b="1" dirty="0"/>
              <a:t>＝</a:t>
            </a:r>
            <a:r>
              <a:rPr lang="zh-CN" altLang="en-US" sz="2800" b="1" u="sng" dirty="0"/>
              <a:t>              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.</a:t>
            </a:r>
            <a:endParaRPr lang="en-US" altLang="zh-CN" sz="2800" b="1" dirty="0"/>
          </a:p>
          <a:p>
            <a:pPr marL="0" lvl="0" indent="0" eaLnBrk="1" hangingPunct="1">
              <a:spcBef>
                <a:spcPct val="60000"/>
              </a:spcBef>
              <a:buNone/>
            </a:pPr>
            <a:r>
              <a:rPr lang="en-US" altLang="zh-CN" sz="2800" b="1" dirty="0"/>
              <a:t>7. GetTail【 ( ( ) ) 】</a:t>
            </a:r>
            <a:r>
              <a:rPr lang="zh-CN" altLang="en-US" sz="2800" b="1" dirty="0"/>
              <a:t>＝</a:t>
            </a:r>
            <a:r>
              <a:rPr lang="zh-CN" altLang="en-US" sz="2800" b="1" u="sng" dirty="0"/>
              <a:t>                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sp>
        <p:nvSpPr>
          <p:cNvPr id="76808" name="Rectangle 8"/>
          <p:cNvSpPr/>
          <p:nvPr/>
        </p:nvSpPr>
        <p:spPr>
          <a:xfrm>
            <a:off x="4594225" y="3748088"/>
            <a:ext cx="5111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</a:rPr>
              <a:t>( )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  <p:sp>
        <p:nvSpPr>
          <p:cNvPr id="76809" name="Rectangle 9"/>
          <p:cNvSpPr/>
          <p:nvPr/>
        </p:nvSpPr>
        <p:spPr>
          <a:xfrm>
            <a:off x="5867400" y="175260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</a:rPr>
              <a:t>(a,b)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  <p:sp>
        <p:nvSpPr>
          <p:cNvPr id="76810" name="Rectangle 10"/>
          <p:cNvSpPr/>
          <p:nvPr/>
        </p:nvSpPr>
        <p:spPr>
          <a:xfrm>
            <a:off x="4724400" y="4419600"/>
            <a:ext cx="511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</a:rPr>
              <a:t>( )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  <p:sp>
        <p:nvSpPr>
          <p:cNvPr id="76811" name="AutoShape 11">
            <a:hlinkClick r:id="rId1" action="ppaction://hlinksldjump"/>
          </p:cNvPr>
          <p:cNvSpPr/>
          <p:nvPr/>
        </p:nvSpPr>
        <p:spPr>
          <a:xfrm flipH="1"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6812" name="Rectangle 12"/>
          <p:cNvSpPr/>
          <p:nvPr/>
        </p:nvSpPr>
        <p:spPr>
          <a:xfrm>
            <a:off x="4648200" y="5105400"/>
            <a:ext cx="511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</a:rPr>
              <a:t>( )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  <p:sp>
        <p:nvSpPr>
          <p:cNvPr id="76813" name="Rectangle 13"/>
          <p:cNvSpPr/>
          <p:nvPr/>
        </p:nvSpPr>
        <p:spPr>
          <a:xfrm>
            <a:off x="5791200" y="24384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</a:rPr>
              <a:t>((c,d))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802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54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6802">
                                            <p:txEl>
                                              <p:charRg st="54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116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6802">
                                            <p:txEl>
                                              <p:charRg st="116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charRg st="176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6802">
                                            <p:txEl>
                                              <p:charRg st="176" end="2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advAuto="1000" build="p"/>
      <p:bldP spid="76804" grpId="0"/>
      <p:bldP spid="76805" grpId="0"/>
      <p:bldP spid="76806" grpId="0" animBg="1"/>
      <p:bldP spid="76807" grpId="0"/>
      <p:bldP spid="76808" grpId="0"/>
      <p:bldP spid="76809" grpId="0"/>
      <p:bldP spid="76810" grpId="0"/>
      <p:bldP spid="76811" grpId="0" animBg="1"/>
      <p:bldP spid="76812" grpId="0"/>
      <p:bldP spid="768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186488"/>
            <a:ext cx="1905000" cy="457200"/>
          </a:xfrm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1371600" y="304800"/>
            <a:ext cx="5029200" cy="990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600" b="1" dirty="0">
                <a:ea typeface="黑体" panose="02010609060101010101" pitchFamily="49" charset="-122"/>
              </a:rPr>
              <a:t>5.5  </a:t>
            </a:r>
            <a:r>
              <a:rPr lang="zh-CN" altLang="en-US" sz="3600" b="1" dirty="0">
                <a:ea typeface="黑体" panose="02010609060101010101" pitchFamily="49" charset="-122"/>
              </a:rPr>
              <a:t>广义表的存储结构</a:t>
            </a:r>
            <a:endParaRPr lang="zh-CN" altLang="en-US" sz="3600" b="1" dirty="0">
              <a:ea typeface="黑体" panose="02010609060101010101" pitchFamily="49" charset="-122"/>
            </a:endParaRPr>
          </a:p>
        </p:txBody>
      </p:sp>
      <p:sp>
        <p:nvSpPr>
          <p:cNvPr id="77827" name="Text Box 3"/>
          <p:cNvSpPr txBox="1"/>
          <p:nvPr/>
        </p:nvSpPr>
        <p:spPr>
          <a:xfrm>
            <a:off x="457200" y="1295400"/>
            <a:ext cx="8229600" cy="11874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由于广义表的元素可以是不同结构（原子或列表），难以用顺序存储结构表示 ，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通常用链式结构</a:t>
            </a:r>
            <a:r>
              <a:rPr lang="zh-CN" altLang="en-US" sz="2400" b="1" dirty="0">
                <a:latin typeface="楷体_GB2312"/>
                <a:ea typeface="楷体_GB2312"/>
              </a:rPr>
              <a:t>，每个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元素</a:t>
            </a:r>
            <a:r>
              <a:rPr lang="zh-CN" altLang="en-US" sz="2400" b="1" dirty="0">
                <a:latin typeface="楷体_GB2312"/>
                <a:ea typeface="楷体_GB2312"/>
              </a:rPr>
              <a:t>用一个结点表示。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357188" y="3214688"/>
            <a:ext cx="8305800" cy="4572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原子结点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表示原子，可设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个域或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个域，依习惯而选。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85800" y="4452938"/>
            <a:ext cx="2667000" cy="1295400"/>
            <a:chOff x="96" y="2016"/>
            <a:chExt cx="1680" cy="816"/>
          </a:xfrm>
        </p:grpSpPr>
        <p:sp>
          <p:nvSpPr>
            <p:cNvPr id="58394" name="Rectangle 6"/>
            <p:cNvSpPr/>
            <p:nvPr/>
          </p:nvSpPr>
          <p:spPr>
            <a:xfrm>
              <a:off x="1008" y="2016"/>
              <a:ext cx="768" cy="336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value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8395" name="Rectangle 7"/>
            <p:cNvSpPr/>
            <p:nvPr/>
          </p:nvSpPr>
          <p:spPr>
            <a:xfrm>
              <a:off x="192" y="2016"/>
              <a:ext cx="816" cy="336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tag=0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8396" name="Line 8"/>
            <p:cNvSpPr/>
            <p:nvPr/>
          </p:nvSpPr>
          <p:spPr>
            <a:xfrm>
              <a:off x="192" y="2016"/>
              <a:ext cx="158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7" name="Line 9"/>
            <p:cNvSpPr/>
            <p:nvPr/>
          </p:nvSpPr>
          <p:spPr>
            <a:xfrm>
              <a:off x="192" y="2352"/>
              <a:ext cx="158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8" name="Line 10"/>
            <p:cNvSpPr/>
            <p:nvPr/>
          </p:nvSpPr>
          <p:spPr>
            <a:xfrm>
              <a:off x="192" y="2016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9" name="Line 11"/>
            <p:cNvSpPr/>
            <p:nvPr/>
          </p:nvSpPr>
          <p:spPr>
            <a:xfrm>
              <a:off x="1008" y="2016"/>
              <a:ext cx="0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0" name="Line 12"/>
            <p:cNvSpPr/>
            <p:nvPr/>
          </p:nvSpPr>
          <p:spPr>
            <a:xfrm>
              <a:off x="1776" y="2016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01" name="Text Box 13"/>
            <p:cNvSpPr txBox="1"/>
            <p:nvPr/>
          </p:nvSpPr>
          <p:spPr>
            <a:xfrm>
              <a:off x="96" y="2544"/>
              <a:ext cx="163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标志域       数值域</a:t>
              </a:r>
              <a:endParaRPr lang="zh-CN" altLang="en-US" sz="24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8402" name="Line 14"/>
            <p:cNvSpPr/>
            <p:nvPr/>
          </p:nvSpPr>
          <p:spPr>
            <a:xfrm>
              <a:off x="528" y="2400"/>
              <a:ext cx="0" cy="192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8403" name="Line 15"/>
            <p:cNvSpPr/>
            <p:nvPr/>
          </p:nvSpPr>
          <p:spPr>
            <a:xfrm>
              <a:off x="1344" y="2352"/>
              <a:ext cx="0" cy="240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77840" name="Rectangle 16"/>
          <p:cNvSpPr/>
          <p:nvPr/>
        </p:nvSpPr>
        <p:spPr>
          <a:xfrm>
            <a:off x="357188" y="2500313"/>
            <a:ext cx="87868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注意：列表的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“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元素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”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还可以是列表，所以结点可能有两种形式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77841" name="AutoShape 17">
            <a:hlinkClick r:id="" action="ppaction://hlinkshowjump?jump=nextslide"/>
          </p:cNvPr>
          <p:cNvSpPr/>
          <p:nvPr/>
        </p:nvSpPr>
        <p:spPr>
          <a:xfrm>
            <a:off x="7924800" y="6053138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3" name="Group 18"/>
          <p:cNvGrpSpPr/>
          <p:nvPr/>
        </p:nvGrpSpPr>
        <p:grpSpPr>
          <a:xfrm>
            <a:off x="4572000" y="4452938"/>
            <a:ext cx="3657600" cy="1079500"/>
            <a:chOff x="2208" y="2016"/>
            <a:chExt cx="3024" cy="834"/>
          </a:xfrm>
        </p:grpSpPr>
        <p:sp>
          <p:nvSpPr>
            <p:cNvPr id="58381" name="Rectangle 19"/>
            <p:cNvSpPr/>
            <p:nvPr/>
          </p:nvSpPr>
          <p:spPr>
            <a:xfrm>
              <a:off x="4192" y="2016"/>
              <a:ext cx="944" cy="336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</a:rPr>
                <a:t>tp</a:t>
              </a:r>
              <a:endParaRPr lang="en-US" altLang="zh-CN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58382" name="Rectangle 20"/>
            <p:cNvSpPr/>
            <p:nvPr/>
          </p:nvSpPr>
          <p:spPr>
            <a:xfrm>
              <a:off x="3248" y="2016"/>
              <a:ext cx="944" cy="336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atom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8383" name="Rectangle 21"/>
            <p:cNvSpPr/>
            <p:nvPr/>
          </p:nvSpPr>
          <p:spPr>
            <a:xfrm>
              <a:off x="2304" y="2016"/>
              <a:ext cx="944" cy="336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tag=</a:t>
              </a:r>
              <a:r>
                <a:rPr lang="zh-CN" altLang="en-US" sz="2400" b="1" dirty="0">
                  <a:solidFill>
                    <a:schemeClr val="hlink"/>
                  </a:solidFill>
                </a:rPr>
                <a:t>０</a:t>
              </a:r>
              <a:endParaRPr lang="zh-CN" altLang="en-US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8384" name="Line 22"/>
            <p:cNvSpPr/>
            <p:nvPr/>
          </p:nvSpPr>
          <p:spPr>
            <a:xfrm>
              <a:off x="2304" y="2016"/>
              <a:ext cx="283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5" name="Line 23"/>
            <p:cNvSpPr/>
            <p:nvPr/>
          </p:nvSpPr>
          <p:spPr>
            <a:xfrm>
              <a:off x="2304" y="2352"/>
              <a:ext cx="283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6" name="Line 24"/>
            <p:cNvSpPr/>
            <p:nvPr/>
          </p:nvSpPr>
          <p:spPr>
            <a:xfrm>
              <a:off x="2304" y="2016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7" name="Line 25"/>
            <p:cNvSpPr/>
            <p:nvPr/>
          </p:nvSpPr>
          <p:spPr>
            <a:xfrm>
              <a:off x="3248" y="2016"/>
              <a:ext cx="0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8" name="Line 26"/>
            <p:cNvSpPr/>
            <p:nvPr/>
          </p:nvSpPr>
          <p:spPr>
            <a:xfrm>
              <a:off x="4192" y="2016"/>
              <a:ext cx="0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9" name="Line 27"/>
            <p:cNvSpPr/>
            <p:nvPr/>
          </p:nvSpPr>
          <p:spPr>
            <a:xfrm>
              <a:off x="5136" y="2016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0" name="Text Box 28"/>
            <p:cNvSpPr txBox="1"/>
            <p:nvPr/>
          </p:nvSpPr>
          <p:spPr>
            <a:xfrm>
              <a:off x="2208" y="2544"/>
              <a:ext cx="3024" cy="306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sz="20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标志域  　　值域</a:t>
              </a:r>
              <a:r>
                <a:rPr lang="zh-CN" altLang="en-US" sz="2000" b="1" dirty="0">
                  <a:solidFill>
                    <a:srgbClr val="C64BD3"/>
                  </a:solidFill>
                  <a:ea typeface="黑体" panose="02010609060101010101" pitchFamily="49" charset="-122"/>
                </a:rPr>
                <a:t>　</a:t>
              </a:r>
              <a:r>
                <a:rPr lang="zh-CN" altLang="en-US" sz="2000" b="1" dirty="0">
                  <a:ea typeface="黑体" panose="02010609060101010101" pitchFamily="49" charset="-122"/>
                </a:rPr>
                <a:t>表尾指针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58391" name="Line 29"/>
            <p:cNvSpPr/>
            <p:nvPr/>
          </p:nvSpPr>
          <p:spPr>
            <a:xfrm>
              <a:off x="2688" y="2400"/>
              <a:ext cx="0" cy="144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8392" name="Line 30"/>
            <p:cNvSpPr/>
            <p:nvPr/>
          </p:nvSpPr>
          <p:spPr>
            <a:xfrm>
              <a:off x="3648" y="2400"/>
              <a:ext cx="0" cy="144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8393" name="Line 31"/>
            <p:cNvSpPr/>
            <p:nvPr/>
          </p:nvSpPr>
          <p:spPr>
            <a:xfrm>
              <a:off x="4512" y="2400"/>
              <a:ext cx="0" cy="144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77856" name="Rectangle 32"/>
          <p:cNvSpPr/>
          <p:nvPr/>
        </p:nvSpPr>
        <p:spPr>
          <a:xfrm>
            <a:off x="4191000" y="3843338"/>
            <a:ext cx="43434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法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：标志域、值域、表尾指针</a:t>
            </a:r>
            <a:endParaRPr lang="zh-CN" altLang="en-US" sz="2400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77857" name="AutoShape 33"/>
          <p:cNvSpPr/>
          <p:nvPr/>
        </p:nvSpPr>
        <p:spPr>
          <a:xfrm>
            <a:off x="5181600" y="5824538"/>
            <a:ext cx="2362200" cy="381000"/>
          </a:xfrm>
          <a:prstGeom prst="wedgeRoundRectCallout">
            <a:avLst>
              <a:gd name="adj1" fmla="val 42407"/>
              <a:gd name="adj2" fmla="val -14041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指向下一结点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77858" name="Rectangle 34"/>
          <p:cNvSpPr/>
          <p:nvPr/>
        </p:nvSpPr>
        <p:spPr>
          <a:xfrm>
            <a:off x="457200" y="3843338"/>
            <a:ext cx="31115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法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1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：标志域，数值域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/>
      <p:bldP spid="77828" grpId="0" build="p"/>
      <p:bldP spid="77840" grpId="0"/>
      <p:bldP spid="77841" grpId="0" animBg="1"/>
      <p:bldP spid="77856" grpId="0" build="p"/>
      <p:bldP spid="77857" grpId="0" animBg="1"/>
      <p:bldP spid="7785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2133600" y="1143000"/>
            <a:ext cx="4800600" cy="1295400"/>
            <a:chOff x="2208" y="2016"/>
            <a:chExt cx="3024" cy="816"/>
          </a:xfrm>
        </p:grpSpPr>
        <p:sp>
          <p:nvSpPr>
            <p:cNvPr id="59527" name="Rectangle 3"/>
            <p:cNvSpPr/>
            <p:nvPr/>
          </p:nvSpPr>
          <p:spPr>
            <a:xfrm>
              <a:off x="4192" y="2016"/>
              <a:ext cx="944" cy="33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tp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528" name="Rectangle 4"/>
            <p:cNvSpPr/>
            <p:nvPr/>
          </p:nvSpPr>
          <p:spPr>
            <a:xfrm>
              <a:off x="3248" y="2016"/>
              <a:ext cx="944" cy="33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hp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529" name="Rectangle 5"/>
            <p:cNvSpPr/>
            <p:nvPr/>
          </p:nvSpPr>
          <p:spPr>
            <a:xfrm>
              <a:off x="2304" y="2016"/>
              <a:ext cx="944" cy="33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tag=1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530" name="Line 6"/>
            <p:cNvSpPr/>
            <p:nvPr/>
          </p:nvSpPr>
          <p:spPr>
            <a:xfrm>
              <a:off x="2304" y="2016"/>
              <a:ext cx="283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31" name="Line 7"/>
            <p:cNvSpPr/>
            <p:nvPr/>
          </p:nvSpPr>
          <p:spPr>
            <a:xfrm>
              <a:off x="2304" y="2352"/>
              <a:ext cx="283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32" name="Line 8"/>
            <p:cNvSpPr/>
            <p:nvPr/>
          </p:nvSpPr>
          <p:spPr>
            <a:xfrm>
              <a:off x="2304" y="2016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33" name="Line 9"/>
            <p:cNvSpPr/>
            <p:nvPr/>
          </p:nvSpPr>
          <p:spPr>
            <a:xfrm>
              <a:off x="3248" y="2016"/>
              <a:ext cx="0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34" name="Line 10"/>
            <p:cNvSpPr/>
            <p:nvPr/>
          </p:nvSpPr>
          <p:spPr>
            <a:xfrm>
              <a:off x="4192" y="2016"/>
              <a:ext cx="0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35" name="Line 11"/>
            <p:cNvSpPr/>
            <p:nvPr/>
          </p:nvSpPr>
          <p:spPr>
            <a:xfrm>
              <a:off x="5136" y="2016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36" name="Text Box 12"/>
            <p:cNvSpPr txBox="1"/>
            <p:nvPr/>
          </p:nvSpPr>
          <p:spPr>
            <a:xfrm>
              <a:off x="2208" y="2544"/>
              <a:ext cx="30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  </a:t>
              </a:r>
              <a:r>
                <a:rPr lang="zh-CN" altLang="en-US" sz="24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标志域      表头指针     表尾指针</a:t>
              </a:r>
              <a:endParaRPr lang="zh-CN" altLang="en-US" sz="24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537" name="Line 13"/>
            <p:cNvSpPr/>
            <p:nvPr/>
          </p:nvSpPr>
          <p:spPr>
            <a:xfrm>
              <a:off x="2688" y="2400"/>
              <a:ext cx="0" cy="144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9538" name="Line 14"/>
            <p:cNvSpPr/>
            <p:nvPr/>
          </p:nvSpPr>
          <p:spPr>
            <a:xfrm>
              <a:off x="3648" y="2400"/>
              <a:ext cx="0" cy="144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9539" name="Line 15"/>
            <p:cNvSpPr/>
            <p:nvPr/>
          </p:nvSpPr>
          <p:spPr>
            <a:xfrm>
              <a:off x="4512" y="2400"/>
              <a:ext cx="0" cy="144"/>
            </a:xfrm>
            <a:prstGeom prst="line">
              <a:avLst/>
            </a:prstGeom>
            <a:ln w="38100" cap="flat" cmpd="sng">
              <a:solidFill>
                <a:srgbClr val="BADE78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59396" name="Text Box 16"/>
          <p:cNvSpPr txBox="1"/>
          <p:nvPr/>
        </p:nvSpPr>
        <p:spPr>
          <a:xfrm>
            <a:off x="457200" y="228600"/>
            <a:ext cx="8001000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表结点：</a:t>
            </a:r>
            <a:r>
              <a:rPr lang="zh-CN" altLang="en-US" sz="2400" b="1" dirty="0">
                <a:latin typeface="楷体_GB2312"/>
                <a:ea typeface="楷体_GB2312"/>
              </a:rPr>
              <a:t>表示列表，若表不空，则可分解为表头和表尾，用</a:t>
            </a:r>
            <a:r>
              <a:rPr lang="en-US" altLang="zh-CN" sz="2400" b="1" dirty="0">
                <a:latin typeface="楷体_GB2312"/>
                <a:ea typeface="楷体_GB2312"/>
              </a:rPr>
              <a:t>3</a:t>
            </a:r>
            <a:r>
              <a:rPr lang="zh-CN" altLang="en-US" sz="2400" b="1" dirty="0">
                <a:latin typeface="楷体_GB2312"/>
                <a:ea typeface="楷体_GB2312"/>
              </a:rPr>
              <a:t>个域表示：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标志域，表头指针，表尾指针</a:t>
            </a:r>
            <a:r>
              <a:rPr lang="zh-CN" altLang="en-US" sz="2400" b="1" dirty="0">
                <a:latin typeface="楷体_GB2312"/>
                <a:ea typeface="楷体_GB2312"/>
              </a:rPr>
              <a:t>。                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78865" name="Rectangle 17"/>
          <p:cNvSpPr/>
          <p:nvPr/>
        </p:nvSpPr>
        <p:spPr>
          <a:xfrm>
            <a:off x="1295400" y="3200400"/>
            <a:ext cx="14478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① A =( )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  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grpSp>
        <p:nvGrpSpPr>
          <p:cNvPr id="3" name="Group 18"/>
          <p:cNvGrpSpPr/>
          <p:nvPr/>
        </p:nvGrpSpPr>
        <p:grpSpPr>
          <a:xfrm>
            <a:off x="304800" y="4481513"/>
            <a:ext cx="2057400" cy="533400"/>
            <a:chOff x="3024" y="816"/>
            <a:chExt cx="1632" cy="576"/>
          </a:xfrm>
        </p:grpSpPr>
        <p:sp>
          <p:nvSpPr>
            <p:cNvPr id="59516" name="Rectangle 19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^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517" name="Rectangle 20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518" name="Rectangle 21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59519" name="Line 22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0" name="Line 23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1" name="Line 24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2" name="Line 25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3" name="Line 26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4" name="Line 27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25" name="Line 28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526" name="Line 29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78878" name="Group 30"/>
          <p:cNvGraphicFramePr>
            <a:graphicFrameLocks noGrp="1"/>
          </p:cNvGraphicFramePr>
          <p:nvPr/>
        </p:nvGraphicFramePr>
        <p:xfrm>
          <a:off x="1066800" y="5014913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sp>
        <p:nvSpPr>
          <p:cNvPr id="78886" name="Rectangle 38"/>
          <p:cNvSpPr/>
          <p:nvPr/>
        </p:nvSpPr>
        <p:spPr>
          <a:xfrm>
            <a:off x="3733800" y="3962400"/>
            <a:ext cx="34290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③ C =( a ,( b , c , d ) ) </a:t>
            </a:r>
            <a:endParaRPr lang="en-US" altLang="zh-CN" sz="2400" b="1" dirty="0"/>
          </a:p>
        </p:txBody>
      </p:sp>
      <p:grpSp>
        <p:nvGrpSpPr>
          <p:cNvPr id="4" name="Group 39"/>
          <p:cNvGrpSpPr/>
          <p:nvPr/>
        </p:nvGrpSpPr>
        <p:grpSpPr>
          <a:xfrm>
            <a:off x="3505200" y="4495800"/>
            <a:ext cx="1447800" cy="533400"/>
            <a:chOff x="3024" y="816"/>
            <a:chExt cx="1632" cy="576"/>
          </a:xfrm>
        </p:grpSpPr>
        <p:sp>
          <p:nvSpPr>
            <p:cNvPr id="59505" name="Rectangle 40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506" name="Rectangle 41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507" name="Rectangle 42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59508" name="Line 43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9" name="Line 44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0" name="Line 45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1" name="Line 46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2" name="Line 47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3" name="Line 48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14" name="Line 49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515" name="Line 50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51"/>
          <p:cNvGrpSpPr/>
          <p:nvPr/>
        </p:nvGrpSpPr>
        <p:grpSpPr>
          <a:xfrm>
            <a:off x="4800600" y="4495800"/>
            <a:ext cx="1524000" cy="533400"/>
            <a:chOff x="3024" y="816"/>
            <a:chExt cx="1632" cy="576"/>
          </a:xfrm>
        </p:grpSpPr>
        <p:sp>
          <p:nvSpPr>
            <p:cNvPr id="59494" name="Rectangle 52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^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95" name="Rectangle 53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96" name="Rectangle 54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59497" name="Line 55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98" name="Line 56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99" name="Line 57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0" name="Line 58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1" name="Line 59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2" name="Line 60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03" name="Line 61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504" name="Line 62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" name="Group 63"/>
          <p:cNvGrpSpPr/>
          <p:nvPr/>
        </p:nvGrpSpPr>
        <p:grpSpPr>
          <a:xfrm>
            <a:off x="5181600" y="5029200"/>
            <a:ext cx="1149350" cy="533400"/>
            <a:chOff x="3356" y="816"/>
            <a:chExt cx="724" cy="336"/>
          </a:xfrm>
        </p:grpSpPr>
        <p:sp>
          <p:nvSpPr>
            <p:cNvPr id="59484" name="Rectangle 64"/>
            <p:cNvSpPr/>
            <p:nvPr/>
          </p:nvSpPr>
          <p:spPr>
            <a:xfrm>
              <a:off x="3839" y="816"/>
              <a:ext cx="241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85" name="Rectangle 65"/>
            <p:cNvSpPr/>
            <p:nvPr/>
          </p:nvSpPr>
          <p:spPr>
            <a:xfrm>
              <a:off x="3597" y="816"/>
              <a:ext cx="242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86" name="Rectangle 66"/>
            <p:cNvSpPr/>
            <p:nvPr/>
          </p:nvSpPr>
          <p:spPr>
            <a:xfrm>
              <a:off x="3356" y="816"/>
              <a:ext cx="241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59487" name="Line 67"/>
            <p:cNvSpPr/>
            <p:nvPr/>
          </p:nvSpPr>
          <p:spPr>
            <a:xfrm>
              <a:off x="3356" y="816"/>
              <a:ext cx="72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88" name="Line 68"/>
            <p:cNvSpPr/>
            <p:nvPr/>
          </p:nvSpPr>
          <p:spPr>
            <a:xfrm>
              <a:off x="3356" y="1006"/>
              <a:ext cx="72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89" name="Line 69"/>
            <p:cNvSpPr/>
            <p:nvPr/>
          </p:nvSpPr>
          <p:spPr>
            <a:xfrm>
              <a:off x="3356" y="816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90" name="Line 70"/>
            <p:cNvSpPr/>
            <p:nvPr/>
          </p:nvSpPr>
          <p:spPr>
            <a:xfrm>
              <a:off x="3597" y="816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91" name="Line 71"/>
            <p:cNvSpPr/>
            <p:nvPr/>
          </p:nvSpPr>
          <p:spPr>
            <a:xfrm>
              <a:off x="3839" y="816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92" name="Line 72"/>
            <p:cNvSpPr/>
            <p:nvPr/>
          </p:nvSpPr>
          <p:spPr>
            <a:xfrm>
              <a:off x="4080" y="816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93" name="Line 73"/>
            <p:cNvSpPr/>
            <p:nvPr/>
          </p:nvSpPr>
          <p:spPr>
            <a:xfrm>
              <a:off x="3704" y="900"/>
              <a:ext cx="0" cy="25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78922" name="Group 74"/>
          <p:cNvGraphicFramePr>
            <a:graphicFrameLocks noGrp="1"/>
          </p:cNvGraphicFramePr>
          <p:nvPr/>
        </p:nvGraphicFramePr>
        <p:xfrm>
          <a:off x="3886200" y="5029200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930" name="Group 82"/>
          <p:cNvGraphicFramePr>
            <a:graphicFrameLocks noGrp="1"/>
          </p:cNvGraphicFramePr>
          <p:nvPr/>
        </p:nvGraphicFramePr>
        <p:xfrm>
          <a:off x="5257800" y="5562600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938" name="Group 90"/>
          <p:cNvGraphicFramePr>
            <a:graphicFrameLocks noGrp="1"/>
          </p:cNvGraphicFramePr>
          <p:nvPr/>
        </p:nvGraphicFramePr>
        <p:xfrm>
          <a:off x="7924800" y="5562600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946" name="Group 98"/>
          <p:cNvGraphicFramePr>
            <a:graphicFrameLocks noGrp="1"/>
          </p:cNvGraphicFramePr>
          <p:nvPr/>
        </p:nvGraphicFramePr>
        <p:xfrm>
          <a:off x="6553200" y="5562600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106"/>
          <p:cNvGrpSpPr/>
          <p:nvPr/>
        </p:nvGrpSpPr>
        <p:grpSpPr>
          <a:xfrm>
            <a:off x="6248400" y="5029200"/>
            <a:ext cx="1447800" cy="533400"/>
            <a:chOff x="3024" y="816"/>
            <a:chExt cx="1632" cy="576"/>
          </a:xfrm>
        </p:grpSpPr>
        <p:sp>
          <p:nvSpPr>
            <p:cNvPr id="59473" name="Rectangle 107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74" name="Rectangle 108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75" name="Rectangle 109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59476" name="Line 110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77" name="Line 111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78" name="Line 112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79" name="Line 113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80" name="Line 114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81" name="Line 115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82" name="Line 116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83" name="Line 117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" name="Group 118"/>
          <p:cNvGrpSpPr/>
          <p:nvPr/>
        </p:nvGrpSpPr>
        <p:grpSpPr>
          <a:xfrm>
            <a:off x="7543800" y="5029200"/>
            <a:ext cx="1447800" cy="533400"/>
            <a:chOff x="3024" y="816"/>
            <a:chExt cx="1632" cy="576"/>
          </a:xfrm>
        </p:grpSpPr>
        <p:sp>
          <p:nvSpPr>
            <p:cNvPr id="59462" name="Rectangle 119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^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63" name="Rectangle 120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64" name="Rectangle 121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59465" name="Line 122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66" name="Line 123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67" name="Line 124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68" name="Line 125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69" name="Line 126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70" name="Line 127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71" name="Line 128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72" name="Line 129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8978" name="Rectangle 130"/>
          <p:cNvSpPr/>
          <p:nvPr/>
        </p:nvSpPr>
        <p:spPr>
          <a:xfrm>
            <a:off x="381000" y="3124200"/>
            <a:ext cx="685800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49" charset="-122"/>
              </a:rPr>
              <a:t>例：</a:t>
            </a:r>
            <a:endParaRPr lang="zh-CN" altLang="en-US" sz="2800" b="1" dirty="0">
              <a:solidFill>
                <a:schemeClr val="accent1"/>
              </a:solidFill>
              <a:ea typeface="黑体" panose="02010609060101010101" pitchFamily="49" charset="-122"/>
            </a:endParaRPr>
          </a:p>
        </p:txBody>
      </p:sp>
      <p:sp>
        <p:nvSpPr>
          <p:cNvPr id="78979" name="Rectangle 131"/>
          <p:cNvSpPr/>
          <p:nvPr/>
        </p:nvSpPr>
        <p:spPr>
          <a:xfrm>
            <a:off x="466725" y="3886200"/>
            <a:ext cx="15113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② B=( e )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78980" name="AutoShape 132">
            <a:hlinkClick r:id="" action="ppaction://hlinkshowjump?jump=nextslide"/>
          </p:cNvPr>
          <p:cNvSpPr/>
          <p:nvPr/>
        </p:nvSpPr>
        <p:spPr>
          <a:xfrm>
            <a:off x="8382000" y="6172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78981" name="Rectangle 133"/>
          <p:cNvSpPr/>
          <p:nvPr/>
        </p:nvSpPr>
        <p:spPr>
          <a:xfrm>
            <a:off x="2971800" y="3200400"/>
            <a:ext cx="14255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A=NULL</a:t>
            </a:r>
            <a:endParaRPr lang="en-US" altLang="zh-CN" sz="2400" b="1" dirty="0">
              <a:solidFill>
                <a:schemeClr val="hlink"/>
              </a:solidFill>
              <a:ea typeface="黑体" panose="02010609060101010101" pitchFamily="49" charset="-122"/>
            </a:endParaRPr>
          </a:p>
        </p:txBody>
      </p:sp>
      <p:sp>
        <p:nvSpPr>
          <p:cNvPr id="78982" name="AutoShape 134"/>
          <p:cNvSpPr/>
          <p:nvPr/>
        </p:nvSpPr>
        <p:spPr>
          <a:xfrm>
            <a:off x="2819400" y="2590800"/>
            <a:ext cx="1752600" cy="381000"/>
          </a:xfrm>
          <a:prstGeom prst="wedgeRoundRectCallout">
            <a:avLst>
              <a:gd name="adj1" fmla="val 50273"/>
              <a:gd name="adj2" fmla="val -122500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指向表头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78983" name="AutoShape 135"/>
          <p:cNvSpPr/>
          <p:nvPr/>
        </p:nvSpPr>
        <p:spPr>
          <a:xfrm>
            <a:off x="6096000" y="2590800"/>
            <a:ext cx="2362200" cy="381000"/>
          </a:xfrm>
          <a:prstGeom prst="wedgeRoundRectCallout">
            <a:avLst>
              <a:gd name="adj1" fmla="val -45699"/>
              <a:gd name="adj2" fmla="val -11333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指向表尾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9" name="Group 136"/>
          <p:cNvGrpSpPr/>
          <p:nvPr/>
        </p:nvGrpSpPr>
        <p:grpSpPr>
          <a:xfrm>
            <a:off x="4876800" y="3352800"/>
            <a:ext cx="2057400" cy="301625"/>
            <a:chOff x="3072" y="2112"/>
            <a:chExt cx="1296" cy="190"/>
          </a:xfrm>
        </p:grpSpPr>
        <p:sp>
          <p:nvSpPr>
            <p:cNvPr id="59452" name="Rectangle 137"/>
            <p:cNvSpPr/>
            <p:nvPr/>
          </p:nvSpPr>
          <p:spPr>
            <a:xfrm>
              <a:off x="4025" y="2112"/>
              <a:ext cx="343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^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53" name="Rectangle 138"/>
            <p:cNvSpPr/>
            <p:nvPr/>
          </p:nvSpPr>
          <p:spPr>
            <a:xfrm>
              <a:off x="3696" y="2112"/>
              <a:ext cx="343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^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59454" name="Rectangle 139"/>
            <p:cNvSpPr/>
            <p:nvPr/>
          </p:nvSpPr>
          <p:spPr>
            <a:xfrm>
              <a:off x="3339" y="2112"/>
              <a:ext cx="343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59455" name="Line 140"/>
            <p:cNvSpPr/>
            <p:nvPr/>
          </p:nvSpPr>
          <p:spPr>
            <a:xfrm>
              <a:off x="3339" y="2112"/>
              <a:ext cx="102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6" name="Line 141"/>
            <p:cNvSpPr/>
            <p:nvPr/>
          </p:nvSpPr>
          <p:spPr>
            <a:xfrm>
              <a:off x="3339" y="2302"/>
              <a:ext cx="102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7" name="Line 142"/>
            <p:cNvSpPr/>
            <p:nvPr/>
          </p:nvSpPr>
          <p:spPr>
            <a:xfrm>
              <a:off x="3339" y="2112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8" name="Line 143"/>
            <p:cNvSpPr/>
            <p:nvPr/>
          </p:nvSpPr>
          <p:spPr>
            <a:xfrm>
              <a:off x="3682" y="2112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59" name="Line 144"/>
            <p:cNvSpPr/>
            <p:nvPr/>
          </p:nvSpPr>
          <p:spPr>
            <a:xfrm>
              <a:off x="4025" y="2112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60" name="Line 145"/>
            <p:cNvSpPr/>
            <p:nvPr/>
          </p:nvSpPr>
          <p:spPr>
            <a:xfrm>
              <a:off x="4368" y="2112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61" name="Line 146"/>
            <p:cNvSpPr/>
            <p:nvPr/>
          </p:nvSpPr>
          <p:spPr>
            <a:xfrm>
              <a:off x="3072" y="2196"/>
              <a:ext cx="267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78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78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78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3" dur="500"/>
                                        <p:tgtEl>
                                          <p:spTgt spid="789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78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5" grpId="0"/>
      <p:bldP spid="78886" grpId="0"/>
      <p:bldP spid="78978" grpId="0"/>
      <p:bldP spid="78979" grpId="0"/>
      <p:bldP spid="78980" grpId="0" animBg="1"/>
      <p:bldP spid="78981" grpId="0"/>
      <p:bldP spid="78982" grpId="0" animBg="1"/>
      <p:bldP spid="7898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9874" name="Rectangle 2"/>
          <p:cNvSpPr/>
          <p:nvPr/>
        </p:nvSpPr>
        <p:spPr>
          <a:xfrm>
            <a:off x="533400" y="3414713"/>
            <a:ext cx="21336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⑤  E=(a, E)         </a:t>
            </a:r>
            <a:endParaRPr lang="en-US" altLang="zh-CN" sz="2400" b="1" dirty="0"/>
          </a:p>
        </p:txBody>
      </p:sp>
      <p:sp>
        <p:nvSpPr>
          <p:cNvPr id="60420" name="Rectangle 3"/>
          <p:cNvSpPr/>
          <p:nvPr/>
        </p:nvSpPr>
        <p:spPr>
          <a:xfrm>
            <a:off x="457200" y="381000"/>
            <a:ext cx="60960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④  D=( A , B ,C )</a:t>
            </a:r>
            <a:r>
              <a:rPr lang="zh-CN" altLang="en-US" sz="2400" b="1" dirty="0">
                <a:ea typeface="黑体" panose="02010609060101010101" pitchFamily="49" charset="-122"/>
              </a:rPr>
              <a:t>＝</a:t>
            </a:r>
            <a:r>
              <a:rPr lang="en-US" altLang="zh-CN" sz="2400" b="1" dirty="0"/>
              <a:t>(( ),(e),(a,(b,c,d)))</a:t>
            </a:r>
            <a:r>
              <a:rPr lang="en-US" altLang="zh-CN" sz="2400" b="1" dirty="0">
                <a:ea typeface="黑体" panose="02010609060101010101" pitchFamily="49" charset="-122"/>
              </a:rPr>
              <a:t>   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graphicFrame>
        <p:nvGraphicFramePr>
          <p:cNvPr id="79876" name="Group 4"/>
          <p:cNvGraphicFramePr>
            <a:graphicFrameLocks noGrp="1"/>
          </p:cNvGraphicFramePr>
          <p:nvPr/>
        </p:nvGraphicFramePr>
        <p:xfrm>
          <a:off x="1524000" y="4862513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12"/>
          <p:cNvGrpSpPr/>
          <p:nvPr/>
        </p:nvGrpSpPr>
        <p:grpSpPr>
          <a:xfrm>
            <a:off x="381000" y="1052513"/>
            <a:ext cx="1447800" cy="301625"/>
            <a:chOff x="384" y="1920"/>
            <a:chExt cx="912" cy="190"/>
          </a:xfrm>
        </p:grpSpPr>
        <p:sp>
          <p:nvSpPr>
            <p:cNvPr id="60595" name="Rectangle 13"/>
            <p:cNvSpPr/>
            <p:nvPr/>
          </p:nvSpPr>
          <p:spPr>
            <a:xfrm>
              <a:off x="1055" y="1920"/>
              <a:ext cx="241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596" name="Rectangle 14"/>
            <p:cNvSpPr/>
            <p:nvPr/>
          </p:nvSpPr>
          <p:spPr>
            <a:xfrm>
              <a:off x="813" y="1920"/>
              <a:ext cx="242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</a:rPr>
                <a:t>^</a:t>
              </a:r>
              <a:endParaRPr lang="en-US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597" name="Rectangle 15"/>
            <p:cNvSpPr/>
            <p:nvPr/>
          </p:nvSpPr>
          <p:spPr>
            <a:xfrm>
              <a:off x="572" y="1920"/>
              <a:ext cx="241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60598" name="Line 16"/>
            <p:cNvSpPr/>
            <p:nvPr/>
          </p:nvSpPr>
          <p:spPr>
            <a:xfrm>
              <a:off x="572" y="1920"/>
              <a:ext cx="72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99" name="Line 17"/>
            <p:cNvSpPr/>
            <p:nvPr/>
          </p:nvSpPr>
          <p:spPr>
            <a:xfrm>
              <a:off x="572" y="2110"/>
              <a:ext cx="72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600" name="Line 18"/>
            <p:cNvSpPr/>
            <p:nvPr/>
          </p:nvSpPr>
          <p:spPr>
            <a:xfrm>
              <a:off x="572" y="1920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601" name="Line 19"/>
            <p:cNvSpPr/>
            <p:nvPr/>
          </p:nvSpPr>
          <p:spPr>
            <a:xfrm>
              <a:off x="813" y="1920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602" name="Line 20"/>
            <p:cNvSpPr/>
            <p:nvPr/>
          </p:nvSpPr>
          <p:spPr>
            <a:xfrm>
              <a:off x="1055" y="1920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603" name="Line 21"/>
            <p:cNvSpPr/>
            <p:nvPr/>
          </p:nvSpPr>
          <p:spPr>
            <a:xfrm>
              <a:off x="384" y="2004"/>
              <a:ext cx="188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22"/>
          <p:cNvGrpSpPr/>
          <p:nvPr/>
        </p:nvGrpSpPr>
        <p:grpSpPr>
          <a:xfrm>
            <a:off x="762000" y="4329113"/>
            <a:ext cx="1905000" cy="533400"/>
            <a:chOff x="3024" y="816"/>
            <a:chExt cx="1632" cy="576"/>
          </a:xfrm>
        </p:grpSpPr>
        <p:sp>
          <p:nvSpPr>
            <p:cNvPr id="60584" name="Rectangle 23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585" name="Rectangle 24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586" name="Rectangle 25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60587" name="Line 26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88" name="Line 27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89" name="Line 28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90" name="Line 29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91" name="Line 30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92" name="Line 31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93" name="Line 32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594" name="Line 33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34"/>
          <p:cNvGrpSpPr/>
          <p:nvPr/>
        </p:nvGrpSpPr>
        <p:grpSpPr>
          <a:xfrm>
            <a:off x="1676400" y="1585913"/>
            <a:ext cx="1457325" cy="552450"/>
            <a:chOff x="1482" y="1440"/>
            <a:chExt cx="918" cy="348"/>
          </a:xfrm>
        </p:grpSpPr>
        <p:sp>
          <p:nvSpPr>
            <p:cNvPr id="60573" name="Line 35"/>
            <p:cNvSpPr/>
            <p:nvPr/>
          </p:nvSpPr>
          <p:spPr>
            <a:xfrm>
              <a:off x="1494" y="1440"/>
              <a:ext cx="90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74" name="Line 36"/>
            <p:cNvSpPr/>
            <p:nvPr/>
          </p:nvSpPr>
          <p:spPr>
            <a:xfrm>
              <a:off x="1482" y="1440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75" name="Line 37"/>
            <p:cNvSpPr/>
            <p:nvPr/>
          </p:nvSpPr>
          <p:spPr>
            <a:xfrm>
              <a:off x="2400" y="1440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0576" name="Group 38"/>
            <p:cNvGrpSpPr/>
            <p:nvPr/>
          </p:nvGrpSpPr>
          <p:grpSpPr>
            <a:xfrm>
              <a:off x="1482" y="1440"/>
              <a:ext cx="906" cy="348"/>
              <a:chOff x="1452" y="1440"/>
              <a:chExt cx="906" cy="348"/>
            </a:xfrm>
          </p:grpSpPr>
          <p:sp>
            <p:nvSpPr>
              <p:cNvPr id="60577" name="Rectangle 39"/>
              <p:cNvSpPr/>
              <p:nvPr/>
            </p:nvSpPr>
            <p:spPr>
              <a:xfrm>
                <a:off x="2056" y="1440"/>
                <a:ext cx="302" cy="190"/>
              </a:xfrm>
              <a:prstGeom prst="rect">
                <a:avLst/>
              </a:prstGeom>
              <a:solidFill>
                <a:srgbClr val="BADE78"/>
              </a:solidFill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</a:rPr>
                  <a:t>^</a:t>
                </a:r>
                <a:endParaRPr lang="en-US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60578" name="Rectangle 40"/>
              <p:cNvSpPr/>
              <p:nvPr/>
            </p:nvSpPr>
            <p:spPr>
              <a:xfrm>
                <a:off x="1754" y="1440"/>
                <a:ext cx="302" cy="190"/>
              </a:xfrm>
              <a:prstGeom prst="rect">
                <a:avLst/>
              </a:prstGeom>
              <a:solidFill>
                <a:srgbClr val="BADE78"/>
              </a:solidFill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60579" name="Rectangle 41"/>
              <p:cNvSpPr/>
              <p:nvPr/>
            </p:nvSpPr>
            <p:spPr>
              <a:xfrm>
                <a:off x="1452" y="1440"/>
                <a:ext cx="302" cy="190"/>
              </a:xfrm>
              <a:prstGeom prst="rect">
                <a:avLst/>
              </a:prstGeom>
              <a:solidFill>
                <a:srgbClr val="BADE78"/>
              </a:solidFill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hlink"/>
                    </a:solidFill>
                  </a:rPr>
                  <a:t>1</a:t>
                </a:r>
                <a:endParaRPr lang="en-US" altLang="zh-CN" sz="18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60580" name="Line 42"/>
              <p:cNvSpPr/>
              <p:nvPr/>
            </p:nvSpPr>
            <p:spPr>
              <a:xfrm>
                <a:off x="1452" y="1630"/>
                <a:ext cx="906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81" name="Line 43"/>
              <p:cNvSpPr/>
              <p:nvPr/>
            </p:nvSpPr>
            <p:spPr>
              <a:xfrm>
                <a:off x="1754" y="1440"/>
                <a:ext cx="0" cy="19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82" name="Line 44"/>
              <p:cNvSpPr/>
              <p:nvPr/>
            </p:nvSpPr>
            <p:spPr>
              <a:xfrm>
                <a:off x="2056" y="1440"/>
                <a:ext cx="0" cy="19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83" name="Line 45"/>
              <p:cNvSpPr/>
              <p:nvPr/>
            </p:nvSpPr>
            <p:spPr>
              <a:xfrm>
                <a:off x="1920" y="1536"/>
                <a:ext cx="1" cy="252"/>
              </a:xfrm>
              <a:prstGeom prst="line">
                <a:avLst/>
              </a:prstGeom>
              <a:ln w="38100" cap="flat" cmpd="sng">
                <a:solidFill>
                  <a:srgbClr val="C64BD3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aphicFrame>
        <p:nvGraphicFramePr>
          <p:cNvPr id="79918" name="Group 46"/>
          <p:cNvGraphicFramePr>
            <a:graphicFrameLocks noGrp="1"/>
          </p:cNvGraphicFramePr>
          <p:nvPr/>
        </p:nvGraphicFramePr>
        <p:xfrm>
          <a:off x="2066925" y="2138363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54"/>
          <p:cNvGrpSpPr/>
          <p:nvPr/>
        </p:nvGrpSpPr>
        <p:grpSpPr>
          <a:xfrm>
            <a:off x="1676400" y="1052513"/>
            <a:ext cx="1447800" cy="533400"/>
            <a:chOff x="3024" y="816"/>
            <a:chExt cx="1632" cy="576"/>
          </a:xfrm>
        </p:grpSpPr>
        <p:sp>
          <p:nvSpPr>
            <p:cNvPr id="60562" name="Rectangle 55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563" name="Rectangle 56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564" name="Rectangle 57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60565" name="Line 58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66" name="Line 59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67" name="Line 60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68" name="Line 61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69" name="Line 62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70" name="Line 63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71" name="Line 64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572" name="Line 65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" name="Group 66"/>
          <p:cNvGrpSpPr/>
          <p:nvPr/>
        </p:nvGrpSpPr>
        <p:grpSpPr>
          <a:xfrm>
            <a:off x="3048000" y="1052513"/>
            <a:ext cx="1447800" cy="533400"/>
            <a:chOff x="3024" y="816"/>
            <a:chExt cx="1632" cy="576"/>
          </a:xfrm>
        </p:grpSpPr>
        <p:sp>
          <p:nvSpPr>
            <p:cNvPr id="60551" name="Rectangle 67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</a:rPr>
                <a:t>^</a:t>
              </a:r>
              <a:endParaRPr lang="en-US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552" name="Rectangle 68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553" name="Rectangle 69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60554" name="Line 70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55" name="Line 71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56" name="Line 72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57" name="Line 73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58" name="Line 74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59" name="Line 75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60" name="Line 76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561" name="Line 77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" name="Group 78"/>
          <p:cNvGrpSpPr/>
          <p:nvPr/>
        </p:nvGrpSpPr>
        <p:grpSpPr>
          <a:xfrm>
            <a:off x="3276600" y="1585913"/>
            <a:ext cx="1149350" cy="552450"/>
            <a:chOff x="2208" y="2256"/>
            <a:chExt cx="724" cy="348"/>
          </a:xfrm>
        </p:grpSpPr>
        <p:grpSp>
          <p:nvGrpSpPr>
            <p:cNvPr id="60540" name="Group 79"/>
            <p:cNvGrpSpPr/>
            <p:nvPr/>
          </p:nvGrpSpPr>
          <p:grpSpPr>
            <a:xfrm>
              <a:off x="2208" y="2256"/>
              <a:ext cx="724" cy="190"/>
              <a:chOff x="2156" y="2268"/>
              <a:chExt cx="724" cy="190"/>
            </a:xfrm>
          </p:grpSpPr>
          <p:sp>
            <p:nvSpPr>
              <p:cNvPr id="60542" name="Rectangle 80"/>
              <p:cNvSpPr/>
              <p:nvPr/>
            </p:nvSpPr>
            <p:spPr>
              <a:xfrm>
                <a:off x="2639" y="2268"/>
                <a:ext cx="241" cy="190"/>
              </a:xfrm>
              <a:prstGeom prst="rect">
                <a:avLst/>
              </a:prstGeom>
              <a:solidFill>
                <a:srgbClr val="BADE78"/>
              </a:solidFill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60543" name="Rectangle 81"/>
              <p:cNvSpPr/>
              <p:nvPr/>
            </p:nvSpPr>
            <p:spPr>
              <a:xfrm>
                <a:off x="2397" y="2268"/>
                <a:ext cx="242" cy="190"/>
              </a:xfrm>
              <a:prstGeom prst="rect">
                <a:avLst/>
              </a:prstGeom>
              <a:solidFill>
                <a:srgbClr val="BADE78"/>
              </a:solidFill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60544" name="Rectangle 82"/>
              <p:cNvSpPr/>
              <p:nvPr/>
            </p:nvSpPr>
            <p:spPr>
              <a:xfrm>
                <a:off x="2156" y="2268"/>
                <a:ext cx="241" cy="190"/>
              </a:xfrm>
              <a:prstGeom prst="rect">
                <a:avLst/>
              </a:prstGeom>
              <a:solidFill>
                <a:srgbClr val="BADE78"/>
              </a:solidFill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hlink"/>
                    </a:solidFill>
                  </a:rPr>
                  <a:t>1</a:t>
                </a:r>
                <a:endParaRPr lang="en-US" altLang="zh-CN" sz="18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60545" name="Line 83"/>
              <p:cNvSpPr/>
              <p:nvPr/>
            </p:nvSpPr>
            <p:spPr>
              <a:xfrm>
                <a:off x="2156" y="2268"/>
                <a:ext cx="72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46" name="Line 84"/>
              <p:cNvSpPr/>
              <p:nvPr/>
            </p:nvSpPr>
            <p:spPr>
              <a:xfrm>
                <a:off x="2156" y="2458"/>
                <a:ext cx="72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47" name="Line 85"/>
              <p:cNvSpPr/>
              <p:nvPr/>
            </p:nvSpPr>
            <p:spPr>
              <a:xfrm>
                <a:off x="2156" y="2268"/>
                <a:ext cx="0" cy="19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48" name="Line 86"/>
              <p:cNvSpPr/>
              <p:nvPr/>
            </p:nvSpPr>
            <p:spPr>
              <a:xfrm>
                <a:off x="2397" y="2268"/>
                <a:ext cx="0" cy="19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49" name="Line 87"/>
              <p:cNvSpPr/>
              <p:nvPr/>
            </p:nvSpPr>
            <p:spPr>
              <a:xfrm>
                <a:off x="2639" y="2268"/>
                <a:ext cx="0" cy="19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50" name="Line 88"/>
              <p:cNvSpPr/>
              <p:nvPr/>
            </p:nvSpPr>
            <p:spPr>
              <a:xfrm>
                <a:off x="2880" y="2268"/>
                <a:ext cx="0" cy="19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0541" name="Line 89"/>
            <p:cNvSpPr/>
            <p:nvPr/>
          </p:nvSpPr>
          <p:spPr>
            <a:xfrm>
              <a:off x="2544" y="2352"/>
              <a:ext cx="0" cy="25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" name="Group 90"/>
          <p:cNvGrpSpPr/>
          <p:nvPr/>
        </p:nvGrpSpPr>
        <p:grpSpPr>
          <a:xfrm>
            <a:off x="4343400" y="1585913"/>
            <a:ext cx="1524000" cy="533400"/>
            <a:chOff x="3024" y="816"/>
            <a:chExt cx="1632" cy="576"/>
          </a:xfrm>
        </p:grpSpPr>
        <p:sp>
          <p:nvSpPr>
            <p:cNvPr id="60529" name="Rectangle 91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^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0530" name="Rectangle 92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0531" name="Rectangle 93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60532" name="Line 94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3" name="Line 95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4" name="Line 96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5" name="Line 97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6" name="Line 98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7" name="Line 99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38" name="Line 100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539" name="Line 101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1" name="Group 102"/>
          <p:cNvGrpSpPr/>
          <p:nvPr/>
        </p:nvGrpSpPr>
        <p:grpSpPr>
          <a:xfrm>
            <a:off x="4724400" y="2119313"/>
            <a:ext cx="1149350" cy="533400"/>
            <a:chOff x="3356" y="816"/>
            <a:chExt cx="724" cy="336"/>
          </a:xfrm>
        </p:grpSpPr>
        <p:sp>
          <p:nvSpPr>
            <p:cNvPr id="60519" name="Rectangle 103"/>
            <p:cNvSpPr/>
            <p:nvPr/>
          </p:nvSpPr>
          <p:spPr>
            <a:xfrm>
              <a:off x="3839" y="816"/>
              <a:ext cx="241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0520" name="Rectangle 104"/>
            <p:cNvSpPr/>
            <p:nvPr/>
          </p:nvSpPr>
          <p:spPr>
            <a:xfrm>
              <a:off x="3597" y="816"/>
              <a:ext cx="242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0521" name="Rectangle 105"/>
            <p:cNvSpPr/>
            <p:nvPr/>
          </p:nvSpPr>
          <p:spPr>
            <a:xfrm>
              <a:off x="3356" y="816"/>
              <a:ext cx="241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60522" name="Line 106"/>
            <p:cNvSpPr/>
            <p:nvPr/>
          </p:nvSpPr>
          <p:spPr>
            <a:xfrm>
              <a:off x="3356" y="816"/>
              <a:ext cx="72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23" name="Line 107"/>
            <p:cNvSpPr/>
            <p:nvPr/>
          </p:nvSpPr>
          <p:spPr>
            <a:xfrm>
              <a:off x="3356" y="1006"/>
              <a:ext cx="72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24" name="Line 108"/>
            <p:cNvSpPr/>
            <p:nvPr/>
          </p:nvSpPr>
          <p:spPr>
            <a:xfrm>
              <a:off x="3356" y="816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25" name="Line 109"/>
            <p:cNvSpPr/>
            <p:nvPr/>
          </p:nvSpPr>
          <p:spPr>
            <a:xfrm>
              <a:off x="3597" y="816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26" name="Line 110"/>
            <p:cNvSpPr/>
            <p:nvPr/>
          </p:nvSpPr>
          <p:spPr>
            <a:xfrm>
              <a:off x="3839" y="816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27" name="Line 111"/>
            <p:cNvSpPr/>
            <p:nvPr/>
          </p:nvSpPr>
          <p:spPr>
            <a:xfrm>
              <a:off x="4080" y="816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28" name="Line 112"/>
            <p:cNvSpPr/>
            <p:nvPr/>
          </p:nvSpPr>
          <p:spPr>
            <a:xfrm>
              <a:off x="3704" y="900"/>
              <a:ext cx="0" cy="25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79985" name="Group 113"/>
          <p:cNvGraphicFramePr>
            <a:graphicFrameLocks noGrp="1"/>
          </p:cNvGraphicFramePr>
          <p:nvPr/>
        </p:nvGraphicFramePr>
        <p:xfrm>
          <a:off x="3429000" y="2119313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993" name="Group 121"/>
          <p:cNvGraphicFramePr>
            <a:graphicFrameLocks noGrp="1"/>
          </p:cNvGraphicFramePr>
          <p:nvPr/>
        </p:nvGraphicFramePr>
        <p:xfrm>
          <a:off x="4800600" y="2652713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001" name="Group 129"/>
          <p:cNvGraphicFramePr>
            <a:graphicFrameLocks noGrp="1"/>
          </p:cNvGraphicFramePr>
          <p:nvPr/>
        </p:nvGraphicFramePr>
        <p:xfrm>
          <a:off x="7467600" y="2652713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009" name="Group 137"/>
          <p:cNvGraphicFramePr>
            <a:graphicFrameLocks noGrp="1"/>
          </p:cNvGraphicFramePr>
          <p:nvPr/>
        </p:nvGraphicFramePr>
        <p:xfrm>
          <a:off x="6096000" y="2652713"/>
          <a:ext cx="990600" cy="396875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DE78"/>
                    </a:solidFill>
                  </a:tcPr>
                </a:tc>
              </a:tr>
            </a:tbl>
          </a:graphicData>
        </a:graphic>
      </p:graphicFrame>
      <p:grpSp>
        <p:nvGrpSpPr>
          <p:cNvPr id="12" name="Group 145"/>
          <p:cNvGrpSpPr/>
          <p:nvPr/>
        </p:nvGrpSpPr>
        <p:grpSpPr>
          <a:xfrm>
            <a:off x="5791200" y="2119313"/>
            <a:ext cx="1447800" cy="533400"/>
            <a:chOff x="3024" y="816"/>
            <a:chExt cx="1632" cy="576"/>
          </a:xfrm>
        </p:grpSpPr>
        <p:sp>
          <p:nvSpPr>
            <p:cNvPr id="60508" name="Rectangle 146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0509" name="Rectangle 147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0510" name="Rectangle 148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60511" name="Line 149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12" name="Line 150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13" name="Line 151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14" name="Line 152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15" name="Line 153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16" name="Line 154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17" name="Line 155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518" name="Line 156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" name="Group 157"/>
          <p:cNvGrpSpPr/>
          <p:nvPr/>
        </p:nvGrpSpPr>
        <p:grpSpPr>
          <a:xfrm>
            <a:off x="7086600" y="2119313"/>
            <a:ext cx="1447800" cy="533400"/>
            <a:chOff x="3024" y="816"/>
            <a:chExt cx="1632" cy="576"/>
          </a:xfrm>
        </p:grpSpPr>
        <p:sp>
          <p:nvSpPr>
            <p:cNvPr id="60497" name="Rectangle 158"/>
            <p:cNvSpPr/>
            <p:nvPr/>
          </p:nvSpPr>
          <p:spPr>
            <a:xfrm>
              <a:off x="4224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</a:rPr>
                <a:t>^</a:t>
              </a:r>
              <a:endParaRPr lang="en-US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0498" name="Rectangle 159"/>
            <p:cNvSpPr/>
            <p:nvPr/>
          </p:nvSpPr>
          <p:spPr>
            <a:xfrm>
              <a:off x="3792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0499" name="Rectangle 160"/>
            <p:cNvSpPr/>
            <p:nvPr/>
          </p:nvSpPr>
          <p:spPr>
            <a:xfrm>
              <a:off x="3360" y="816"/>
              <a:ext cx="432" cy="326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60500" name="Line 161"/>
            <p:cNvSpPr/>
            <p:nvPr/>
          </p:nvSpPr>
          <p:spPr>
            <a:xfrm>
              <a:off x="3360" y="81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01" name="Line 162"/>
            <p:cNvSpPr/>
            <p:nvPr/>
          </p:nvSpPr>
          <p:spPr>
            <a:xfrm>
              <a:off x="3360" y="114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02" name="Line 163"/>
            <p:cNvSpPr/>
            <p:nvPr/>
          </p:nvSpPr>
          <p:spPr>
            <a:xfrm>
              <a:off x="3360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03" name="Line 164"/>
            <p:cNvSpPr/>
            <p:nvPr/>
          </p:nvSpPr>
          <p:spPr>
            <a:xfrm>
              <a:off x="3792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04" name="Line 165"/>
            <p:cNvSpPr/>
            <p:nvPr/>
          </p:nvSpPr>
          <p:spPr>
            <a:xfrm>
              <a:off x="4224" y="81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05" name="Line 166"/>
            <p:cNvSpPr/>
            <p:nvPr/>
          </p:nvSpPr>
          <p:spPr>
            <a:xfrm>
              <a:off x="4656" y="81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506" name="Line 167"/>
            <p:cNvSpPr/>
            <p:nvPr/>
          </p:nvSpPr>
          <p:spPr>
            <a:xfrm>
              <a:off x="3024" y="960"/>
              <a:ext cx="336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507" name="Line 168"/>
            <p:cNvSpPr/>
            <p:nvPr/>
          </p:nvSpPr>
          <p:spPr>
            <a:xfrm>
              <a:off x="3984" y="960"/>
              <a:ext cx="0" cy="432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4" name="Group 169"/>
          <p:cNvGrpSpPr/>
          <p:nvPr/>
        </p:nvGrpSpPr>
        <p:grpSpPr>
          <a:xfrm>
            <a:off x="2425700" y="4332288"/>
            <a:ext cx="2451100" cy="301625"/>
            <a:chOff x="1528" y="3516"/>
            <a:chExt cx="912" cy="190"/>
          </a:xfrm>
        </p:grpSpPr>
        <p:sp>
          <p:nvSpPr>
            <p:cNvPr id="60487" name="Rectangle 170"/>
            <p:cNvSpPr/>
            <p:nvPr/>
          </p:nvSpPr>
          <p:spPr>
            <a:xfrm>
              <a:off x="2199" y="3516"/>
              <a:ext cx="241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</a:rPr>
                <a:t>^</a:t>
              </a:r>
              <a:endParaRPr lang="en-US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488" name="Rectangle 171"/>
            <p:cNvSpPr/>
            <p:nvPr/>
          </p:nvSpPr>
          <p:spPr>
            <a:xfrm>
              <a:off x="1957" y="3516"/>
              <a:ext cx="242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800" b="1" dirty="0">
                <a:solidFill>
                  <a:schemeClr val="hlink"/>
                </a:solidFill>
              </a:endParaRPr>
            </a:p>
          </p:txBody>
        </p:sp>
        <p:sp>
          <p:nvSpPr>
            <p:cNvPr id="60489" name="Rectangle 172"/>
            <p:cNvSpPr/>
            <p:nvPr/>
          </p:nvSpPr>
          <p:spPr>
            <a:xfrm>
              <a:off x="1716" y="3516"/>
              <a:ext cx="241" cy="190"/>
            </a:xfrm>
            <a:prstGeom prst="rect">
              <a:avLst/>
            </a:prstGeom>
            <a:solidFill>
              <a:srgbClr val="BADE78"/>
            </a:solidFill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60490" name="Line 173"/>
            <p:cNvSpPr/>
            <p:nvPr/>
          </p:nvSpPr>
          <p:spPr>
            <a:xfrm>
              <a:off x="1716" y="3516"/>
              <a:ext cx="72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91" name="Line 174"/>
            <p:cNvSpPr/>
            <p:nvPr/>
          </p:nvSpPr>
          <p:spPr>
            <a:xfrm>
              <a:off x="1716" y="3706"/>
              <a:ext cx="72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92" name="Line 175"/>
            <p:cNvSpPr/>
            <p:nvPr/>
          </p:nvSpPr>
          <p:spPr>
            <a:xfrm>
              <a:off x="1716" y="3516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93" name="Line 176"/>
            <p:cNvSpPr/>
            <p:nvPr/>
          </p:nvSpPr>
          <p:spPr>
            <a:xfrm>
              <a:off x="1957" y="3516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94" name="Line 177"/>
            <p:cNvSpPr/>
            <p:nvPr/>
          </p:nvSpPr>
          <p:spPr>
            <a:xfrm>
              <a:off x="2199" y="3516"/>
              <a:ext cx="0" cy="1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95" name="Line 178"/>
            <p:cNvSpPr/>
            <p:nvPr/>
          </p:nvSpPr>
          <p:spPr>
            <a:xfrm>
              <a:off x="2440" y="3516"/>
              <a:ext cx="0" cy="19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96" name="Line 179"/>
            <p:cNvSpPr/>
            <p:nvPr/>
          </p:nvSpPr>
          <p:spPr>
            <a:xfrm>
              <a:off x="1528" y="3600"/>
              <a:ext cx="188" cy="0"/>
            </a:xfrm>
            <a:prstGeom prst="line">
              <a:avLst/>
            </a:prstGeom>
            <a:ln w="38100" cap="flat" cmpd="sng">
              <a:solidFill>
                <a:srgbClr val="C64BD3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5" name="Group 180"/>
          <p:cNvGrpSpPr/>
          <p:nvPr/>
        </p:nvGrpSpPr>
        <p:grpSpPr>
          <a:xfrm>
            <a:off x="838200" y="4024313"/>
            <a:ext cx="3124200" cy="447675"/>
            <a:chOff x="528" y="2304"/>
            <a:chExt cx="1968" cy="282"/>
          </a:xfrm>
        </p:grpSpPr>
        <p:sp>
          <p:nvSpPr>
            <p:cNvPr id="60484" name="Line 181"/>
            <p:cNvSpPr/>
            <p:nvPr/>
          </p:nvSpPr>
          <p:spPr>
            <a:xfrm>
              <a:off x="528" y="2304"/>
              <a:ext cx="0" cy="24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85" name="Line 182"/>
            <p:cNvSpPr/>
            <p:nvPr/>
          </p:nvSpPr>
          <p:spPr>
            <a:xfrm>
              <a:off x="528" y="2304"/>
              <a:ext cx="1968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86" name="Line 183"/>
            <p:cNvSpPr/>
            <p:nvPr/>
          </p:nvSpPr>
          <p:spPr>
            <a:xfrm>
              <a:off x="2496" y="2304"/>
              <a:ext cx="0" cy="282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0056" name="AutoShape 184">
            <a:hlinkClick r:id="" action="ppaction://hlinkshowjump?jump=nextslide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80057" name="Rectangle 185"/>
          <p:cNvSpPr/>
          <p:nvPr/>
        </p:nvSpPr>
        <p:spPr>
          <a:xfrm>
            <a:off x="4343400" y="5715000"/>
            <a:ext cx="1981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楷体_GB2312"/>
              </a:rPr>
              <a:t>本章结束</a:t>
            </a:r>
            <a:endParaRPr lang="zh-CN" altLang="en-US" sz="28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80058" name="Rectangle 186"/>
          <p:cNvSpPr/>
          <p:nvPr/>
        </p:nvSpPr>
        <p:spPr>
          <a:xfrm>
            <a:off x="5181600" y="3352800"/>
            <a:ext cx="3429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（参见教材</a:t>
            </a:r>
            <a:r>
              <a:rPr lang="en-US" altLang="zh-CN" sz="2800" b="1" dirty="0">
                <a:solidFill>
                  <a:schemeClr val="accent1"/>
                </a:solidFill>
                <a:ea typeface="楷体_GB2312"/>
              </a:rPr>
              <a:t>P109</a:t>
            </a: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图）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799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79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799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80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0" dur="500"/>
                                        <p:tgtEl>
                                          <p:spTgt spid="800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/>
      <p:bldP spid="80056" grpId="0" animBg="1"/>
      <p:bldP spid="80057" grpId="0"/>
      <p:bldP spid="8005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43" name="Rectangle 1"/>
          <p:cNvSpPr/>
          <p:nvPr/>
        </p:nvSpPr>
        <p:spPr>
          <a:xfrm>
            <a:off x="106363" y="501650"/>
            <a:ext cx="8929687" cy="5692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r>
              <a:rPr lang="en-US" altLang="zh-CN" sz="2800" b="1" dirty="0">
                <a:latin typeface="宋体" panose="02010600030101010101" pitchFamily="2" charset="-122"/>
              </a:rPr>
              <a:t>1. </a:t>
            </a:r>
            <a:r>
              <a:rPr lang="zh-CN" altLang="en-US" sz="2800" b="1" dirty="0">
                <a:latin typeface="宋体" panose="02010600030101010101" pitchFamily="2" charset="-122"/>
              </a:rPr>
              <a:t>数组</a:t>
            </a:r>
            <a:r>
              <a:rPr lang="en-US" altLang="zh-CN" sz="2800" b="1" dirty="0">
                <a:latin typeface="宋体" panose="02010600030101010101" pitchFamily="2" charset="-122"/>
              </a:rPr>
              <a:t>A[0..5,0..6]</a:t>
            </a:r>
            <a:r>
              <a:rPr lang="zh-CN" altLang="en-US" sz="2800" b="1" dirty="0">
                <a:latin typeface="宋体" panose="02010600030101010101" pitchFamily="2" charset="-122"/>
              </a:rPr>
              <a:t>的每个元素占五个字节，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r>
              <a:rPr lang="zh-CN" altLang="en-US" sz="2800" b="1" dirty="0">
                <a:latin typeface="宋体" panose="02010600030101010101" pitchFamily="2" charset="-122"/>
              </a:rPr>
              <a:t>将其按列优先次序存储在起始地址为</a:t>
            </a:r>
            <a:r>
              <a:rPr lang="en-US" altLang="zh-CN" sz="2800" b="1" dirty="0">
                <a:latin typeface="宋体" panose="02010600030101010101" pitchFamily="2" charset="-122"/>
              </a:rPr>
              <a:t>1000</a:t>
            </a:r>
            <a:r>
              <a:rPr lang="zh-CN" altLang="en-US" sz="2800" b="1" dirty="0">
                <a:latin typeface="宋体" panose="02010600030101010101" pitchFamily="2" charset="-122"/>
              </a:rPr>
              <a:t>的内存单元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r>
              <a:rPr lang="zh-CN" altLang="en-US" sz="2800" b="1" dirty="0">
                <a:latin typeface="宋体" panose="02010600030101010101" pitchFamily="2" charset="-122"/>
              </a:rPr>
              <a:t>中，则元素</a:t>
            </a:r>
            <a:r>
              <a:rPr lang="en-US" altLang="zh-CN" sz="2800" b="1" dirty="0">
                <a:latin typeface="宋体" panose="02010600030101010101" pitchFamily="2" charset="-122"/>
              </a:rPr>
              <a:t>A[5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5]</a:t>
            </a:r>
            <a:r>
              <a:rPr lang="zh-CN" altLang="en-US" sz="2800" b="1" dirty="0">
                <a:latin typeface="宋体" panose="02010600030101010101" pitchFamily="2" charset="-122"/>
              </a:rPr>
              <a:t>的地址是</a:t>
            </a:r>
            <a:r>
              <a:rPr lang="en-US" altLang="zh-CN" sz="2800" b="1" dirty="0">
                <a:latin typeface="宋体" panose="02010600030101010101" pitchFamily="2" charset="-122"/>
              </a:rPr>
              <a:t>(  )</a:t>
            </a:r>
            <a:r>
              <a:rPr lang="zh-CN" altLang="en-US" sz="2800" b="1" dirty="0">
                <a:latin typeface="宋体" panose="02010600030101010101" pitchFamily="2" charset="-122"/>
              </a:rPr>
              <a:t>。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r>
              <a:rPr lang="en-US" altLang="zh-CN" sz="2800" b="1" dirty="0">
                <a:latin typeface="宋体" panose="02010600030101010101" pitchFamily="2" charset="-122"/>
              </a:rPr>
              <a:t>A. 1175     B. 1180      C. 1205      D. 1210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endParaRPr lang="en-US" altLang="zh-CN" sz="2800" dirty="0"/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r>
              <a:rPr lang="en-US" altLang="zh-CN" sz="2800" b="1" dirty="0"/>
              <a:t>2</a:t>
            </a:r>
            <a:r>
              <a:rPr lang="zh-CN" altLang="en-US" sz="2800" b="1" dirty="0">
                <a:cs typeface="Times New Roman" panose="02020603050405020304" pitchFamily="18" charset="0"/>
              </a:rPr>
              <a:t>、二维数组</a:t>
            </a:r>
            <a:r>
              <a:rPr lang="en-US" altLang="zh-CN" sz="2800" b="1" dirty="0"/>
              <a:t>M</a:t>
            </a:r>
            <a:r>
              <a:rPr lang="zh-CN" altLang="en-US" sz="2800" b="1" dirty="0">
                <a:cs typeface="Times New Roman" panose="02020603050405020304" pitchFamily="18" charset="0"/>
              </a:rPr>
              <a:t>的元素是</a:t>
            </a:r>
            <a:r>
              <a:rPr lang="en-US" altLang="zh-CN" sz="2800" b="1" dirty="0"/>
              <a:t>4</a:t>
            </a:r>
            <a:r>
              <a:rPr lang="zh-CN" altLang="en-US" sz="2800" b="1" dirty="0">
                <a:cs typeface="Times New Roman" panose="02020603050405020304" pitchFamily="18" charset="0"/>
              </a:rPr>
              <a:t>个字符（每个字符占一个存</a:t>
            </a:r>
            <a:endParaRPr lang="en-US" altLang="zh-CN" sz="2800" b="1" dirty="0">
              <a:cs typeface="Times New Roman" panose="02020603050405020304" pitchFamily="18" charset="0"/>
            </a:endParaRPr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r>
              <a:rPr lang="zh-CN" altLang="en-US" sz="2800" b="1" dirty="0">
                <a:cs typeface="Times New Roman" panose="02020603050405020304" pitchFamily="18" charset="0"/>
              </a:rPr>
              <a:t>储单元）组成的串，行下标</a:t>
            </a:r>
            <a:r>
              <a:rPr lang="en-US" altLang="zh-CN" sz="2800" b="1" dirty="0"/>
              <a:t>k</a:t>
            </a:r>
            <a:r>
              <a:rPr lang="zh-CN" altLang="en-US" sz="2800" b="1" dirty="0">
                <a:cs typeface="Times New Roman" panose="02020603050405020304" pitchFamily="18" charset="0"/>
              </a:rPr>
              <a:t>的范围从</a:t>
            </a:r>
            <a:r>
              <a:rPr lang="en-US" altLang="zh-CN" sz="2800" b="1" dirty="0"/>
              <a:t>0</a:t>
            </a:r>
            <a:r>
              <a:rPr lang="zh-CN" altLang="en-US" sz="2800" b="1" dirty="0">
                <a:cs typeface="Times New Roman" panose="02020603050405020304" pitchFamily="18" charset="0"/>
              </a:rPr>
              <a:t>到</a:t>
            </a:r>
            <a:r>
              <a:rPr lang="en-US" altLang="zh-CN" sz="2800" b="1" dirty="0"/>
              <a:t>4</a:t>
            </a:r>
            <a:r>
              <a:rPr lang="zh-CN" altLang="en-US" sz="2800" b="1" dirty="0">
                <a:cs typeface="Times New Roman" panose="02020603050405020304" pitchFamily="18" charset="0"/>
              </a:rPr>
              <a:t>，列下标</a:t>
            </a:r>
            <a:r>
              <a:rPr lang="en-US" altLang="zh-CN" sz="2800" b="1" dirty="0"/>
              <a:t>j</a:t>
            </a:r>
            <a:r>
              <a:rPr lang="zh-CN" altLang="en-US" sz="2800" b="1" dirty="0">
                <a:cs typeface="Times New Roman" panose="02020603050405020304" pitchFamily="18" charset="0"/>
              </a:rPr>
              <a:t>的</a:t>
            </a:r>
            <a:endParaRPr lang="en-US" altLang="zh-CN" sz="2800" b="1" dirty="0">
              <a:cs typeface="Times New Roman" panose="02020603050405020304" pitchFamily="18" charset="0"/>
            </a:endParaRPr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r>
              <a:rPr lang="zh-CN" altLang="en-US" sz="2800" b="1" dirty="0">
                <a:cs typeface="Times New Roman" panose="02020603050405020304" pitchFamily="18" charset="0"/>
              </a:rPr>
              <a:t>范围从</a:t>
            </a:r>
            <a:r>
              <a:rPr lang="en-US" altLang="zh-CN" sz="2800" b="1" dirty="0"/>
              <a:t>0</a:t>
            </a:r>
            <a:r>
              <a:rPr lang="zh-CN" altLang="en-US" sz="2800" b="1" dirty="0">
                <a:cs typeface="Times New Roman" panose="02020603050405020304" pitchFamily="18" charset="0"/>
              </a:rPr>
              <a:t>到</a:t>
            </a:r>
            <a:r>
              <a:rPr lang="en-US" altLang="zh-CN" sz="2800" b="1" dirty="0"/>
              <a:t>5</a:t>
            </a:r>
            <a:r>
              <a:rPr lang="zh-CN" altLang="en-US" sz="2800" b="1" dirty="0">
                <a:cs typeface="Times New Roman" panose="02020603050405020304" pitchFamily="18" charset="0"/>
              </a:rPr>
              <a:t>，</a:t>
            </a:r>
            <a:r>
              <a:rPr lang="en-US" altLang="zh-CN" sz="2800" b="1" dirty="0"/>
              <a:t>M</a:t>
            </a:r>
            <a:r>
              <a:rPr lang="zh-CN" altLang="en-US" sz="2800" b="1" dirty="0">
                <a:cs typeface="Times New Roman" panose="02020603050405020304" pitchFamily="18" charset="0"/>
              </a:rPr>
              <a:t>按行存储时元素</a:t>
            </a:r>
            <a:r>
              <a:rPr lang="en-US" altLang="zh-CN" sz="2800" b="1" dirty="0"/>
              <a:t>M[3][5]</a:t>
            </a:r>
            <a:r>
              <a:rPr lang="zh-CN" altLang="en-US" sz="2800" b="1" dirty="0">
                <a:cs typeface="Times New Roman" panose="02020603050405020304" pitchFamily="18" charset="0"/>
              </a:rPr>
              <a:t>的起始地址与</a:t>
            </a:r>
            <a:r>
              <a:rPr lang="en-US" altLang="zh-CN" sz="2800" b="1" dirty="0"/>
              <a:t>M</a:t>
            </a:r>
            <a:endParaRPr lang="en-US" altLang="zh-CN" sz="2800" b="1" dirty="0"/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r>
              <a:rPr lang="zh-CN" altLang="en-US" sz="2800" b="1" dirty="0">
                <a:cs typeface="Times New Roman" panose="02020603050405020304" pitchFamily="18" charset="0"/>
              </a:rPr>
              <a:t>按列存储时元素</a:t>
            </a:r>
            <a:r>
              <a:rPr lang="zh-CN" altLang="en-US" sz="2800" b="1" u="sng" dirty="0"/>
              <a:t>         </a:t>
            </a:r>
            <a:r>
              <a:rPr lang="zh-CN" altLang="en-US" sz="2800" b="1" dirty="0">
                <a:cs typeface="Times New Roman" panose="02020603050405020304" pitchFamily="18" charset="0"/>
              </a:rPr>
              <a:t>的起始地址相同。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</a:tabLst>
            </a:pPr>
            <a:r>
              <a:rPr lang="en-US" altLang="zh-CN" sz="2800" b="1" dirty="0"/>
              <a:t>3</a:t>
            </a:r>
            <a:r>
              <a:rPr lang="zh-CN" altLang="en-US" sz="2800" b="1" dirty="0">
                <a:cs typeface="Times New Roman" panose="02020603050405020304" pitchFamily="18" charset="0"/>
              </a:rPr>
              <a:t> 、数</a:t>
            </a:r>
            <a:r>
              <a:rPr lang="zh-CN" altLang="en-US" sz="2800" b="1" dirty="0"/>
              <a:t>组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中，每个元素的长度是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个字节，行下标</a:t>
            </a:r>
            <a:r>
              <a:rPr lang="en-US" altLang="zh-CN" sz="2800" b="1" dirty="0"/>
              <a:t>k</a:t>
            </a:r>
            <a:r>
              <a:rPr lang="zh-CN" altLang="en-US" sz="2800" b="1" dirty="0"/>
              <a:t>的范围从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到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，列下标</a:t>
            </a:r>
            <a:r>
              <a:rPr lang="en-US" altLang="zh-CN" sz="2800" b="1" dirty="0"/>
              <a:t>j</a:t>
            </a:r>
            <a:r>
              <a:rPr lang="zh-CN" altLang="en-US" sz="2800" b="1" dirty="0"/>
              <a:t>的范围从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到</a:t>
            </a:r>
            <a:r>
              <a:rPr lang="en-US" altLang="zh-CN" sz="2800" b="1" dirty="0"/>
              <a:t>10</a:t>
            </a:r>
            <a:r>
              <a:rPr lang="zh-CN" altLang="en-US" sz="2800" b="1" dirty="0"/>
              <a:t>，从首地址</a:t>
            </a:r>
            <a:r>
              <a:rPr lang="en-US" altLang="zh-CN" sz="2800" b="1" dirty="0"/>
              <a:t>SA</a:t>
            </a:r>
            <a:r>
              <a:rPr lang="zh-CN" altLang="en-US" sz="2800" b="1" dirty="0"/>
              <a:t>开始连续存放在存储器中，该数组按行存放时，元素</a:t>
            </a:r>
            <a:r>
              <a:rPr lang="en-US" altLang="zh-CN" sz="2800" b="1" dirty="0"/>
              <a:t>A[8][5]</a:t>
            </a:r>
            <a:r>
              <a:rPr lang="zh-CN" altLang="en-US" sz="2800" b="1" dirty="0"/>
              <a:t>的起始地址为</a:t>
            </a:r>
            <a:r>
              <a:rPr lang="zh-CN" altLang="en-US" sz="2800" b="1" u="sng" dirty="0"/>
              <a:t>               </a:t>
            </a:r>
            <a:r>
              <a:rPr lang="zh-CN" altLang="en-US" sz="2800" b="1" dirty="0"/>
              <a:t>。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4932363" y="1412875"/>
            <a:ext cx="7540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A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7235825" y="4005263"/>
            <a:ext cx="14398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u="sng" dirty="0">
                <a:solidFill>
                  <a:srgbClr val="FF0000"/>
                </a:solidFill>
              </a:rPr>
              <a:t>M[4][3]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932363" y="5711825"/>
            <a:ext cx="1727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SA+74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0897" name="Rectangle 1"/>
          <p:cNvSpPr>
            <a:spLocks noChangeArrowheads="1"/>
          </p:cNvSpPr>
          <p:nvPr/>
        </p:nvSpPr>
        <p:spPr bwMode="auto">
          <a:xfrm>
            <a:off x="214313" y="285750"/>
            <a:ext cx="8643938" cy="5694363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5257800" algn="l"/>
              </a:tabLst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设数组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a[1..50,1..80]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的基地址为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，每个元素占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个存储单元，若以行序为主序顺序存储，则元素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a[45,68]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的存储地址为</a:t>
            </a:r>
            <a:r>
              <a:rPr kumimoji="1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若以列序为主序顺序存储，则元素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a[45,68]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的存储地址为</a:t>
            </a:r>
            <a:r>
              <a:rPr kumimoji="1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、二维数组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A[10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20][5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10]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采用行序为主方式存储，每个元素占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个存储单元，并且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A[10][5]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的存储地址是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1000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，则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A[18][9]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的地址是</a:t>
            </a:r>
            <a:r>
              <a:rPr kumimoji="1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、有一个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阶对称矩阵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采用压缩存储方式存储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上三角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，（按行为主序，并且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A[0][0]=1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A[8][5]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的地址为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42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3491" name="Rectangle 1"/>
          <p:cNvSpPr/>
          <p:nvPr/>
        </p:nvSpPr>
        <p:spPr>
          <a:xfrm>
            <a:off x="0" y="428625"/>
            <a:ext cx="8929688" cy="9540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  <a:tab pos="5257800" algn="l"/>
              </a:tabLst>
            </a:pPr>
            <a:endParaRPr lang="zh-CN" altLang="en-US" sz="2800" b="1" dirty="0"/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  <a:tab pos="5257800" algn="l"/>
              </a:tabLst>
            </a:pPr>
            <a:r>
              <a:rPr lang="en-US" altLang="zh-CN" sz="2800" b="1" dirty="0"/>
              <a:t>8</a:t>
            </a:r>
            <a:r>
              <a:rPr lang="zh-CN" altLang="en-US" sz="2800" b="1" dirty="0">
                <a:cs typeface="Times New Roman" panose="02020603050405020304" pitchFamily="18" charset="0"/>
              </a:rPr>
              <a:t>、一个稀疏矩阵如图</a:t>
            </a:r>
            <a:r>
              <a:rPr lang="en-US" altLang="zh-CN" sz="2800" b="1" dirty="0"/>
              <a:t>,</a:t>
            </a:r>
            <a:r>
              <a:rPr lang="zh-CN" altLang="en-US" sz="2800" b="1" dirty="0">
                <a:cs typeface="Times New Roman" panose="02020603050405020304" pitchFamily="18" charset="0"/>
              </a:rPr>
              <a:t>则对应的三元组为：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63492" name="AutoShape 2"/>
          <p:cNvSpPr/>
          <p:nvPr/>
        </p:nvSpPr>
        <p:spPr>
          <a:xfrm>
            <a:off x="2000250" y="2786063"/>
            <a:ext cx="2486025" cy="2089150"/>
          </a:xfrm>
          <a:prstGeom prst="bracketPair">
            <a:avLst>
              <a:gd name="adj" fmla="val 16667"/>
            </a:avLst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63493" name="Rectangle 3"/>
          <p:cNvSpPr/>
          <p:nvPr/>
        </p:nvSpPr>
        <p:spPr>
          <a:xfrm>
            <a:off x="2214563" y="2786063"/>
            <a:ext cx="2071687" cy="18161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  <a:tab pos="5257800" algn="l"/>
              </a:tabLst>
            </a:pPr>
            <a:r>
              <a:rPr lang="en-US" altLang="zh-CN" sz="2800" b="1" dirty="0"/>
              <a:t>0   0   2    0</a:t>
            </a:r>
            <a:endParaRPr lang="en-US" altLang="zh-CN" sz="2800" dirty="0"/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  <a:tab pos="5257800" algn="l"/>
              </a:tabLst>
            </a:pPr>
            <a:r>
              <a:rPr lang="en-US" altLang="zh-CN" sz="2800" b="1" dirty="0"/>
              <a:t>3   0   0    0</a:t>
            </a:r>
            <a:endParaRPr lang="en-US" altLang="zh-CN" sz="2800" dirty="0"/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  <a:tab pos="5257800" algn="l"/>
              </a:tabLst>
            </a:pPr>
            <a:r>
              <a:rPr lang="en-US" altLang="zh-CN" sz="2800" b="1" dirty="0"/>
              <a:t>0   0   -1   5</a:t>
            </a:r>
            <a:endParaRPr lang="en-US" altLang="zh-CN" sz="2800" b="1" dirty="0"/>
          </a:p>
          <a:p>
            <a:pPr marL="0" lvl="0" indent="114300" defTabSz="914400">
              <a:spcBef>
                <a:spcPct val="0"/>
              </a:spcBef>
              <a:buNone/>
              <a:tabLst>
                <a:tab pos="114300" algn="l"/>
                <a:tab pos="5257800" algn="l"/>
              </a:tabLst>
            </a:pPr>
            <a:r>
              <a:rPr lang="en-US" altLang="zh-CN" sz="2800" b="1" dirty="0"/>
              <a:t>0   0   0    0</a:t>
            </a:r>
            <a:r>
              <a:rPr lang="en-US" altLang="zh-CN" sz="2800" dirty="0"/>
              <a:t> 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4515" name="矩形 2"/>
          <p:cNvSpPr/>
          <p:nvPr/>
        </p:nvSpPr>
        <p:spPr>
          <a:xfrm>
            <a:off x="179388" y="214313"/>
            <a:ext cx="8607425" cy="6370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9</a:t>
            </a:r>
            <a:r>
              <a:rPr lang="zh-CN" altLang="en-US" sz="2400" b="1" dirty="0">
                <a:cs typeface="Times New Roman" panose="02020603050405020304" pitchFamily="18" charset="0"/>
              </a:rPr>
              <a:t> 、</a:t>
            </a:r>
            <a:r>
              <a:rPr lang="zh-CN" altLang="zh-CN" sz="2400" b="1" dirty="0"/>
              <a:t>一个稀疏矩阵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m*n</a:t>
            </a:r>
            <a:r>
              <a:rPr lang="zh-CN" altLang="zh-CN" sz="2400" b="1" dirty="0"/>
              <a:t>采用三元组形式表示，</a:t>
            </a:r>
            <a:r>
              <a:rPr lang="en-US" altLang="zh-CN" sz="2400" b="1" dirty="0"/>
              <a:t>  </a:t>
            </a:r>
            <a:r>
              <a:rPr lang="zh-CN" altLang="zh-CN" sz="2400" b="1" dirty="0"/>
              <a:t>若把三元组中有关行下标与列下标的值互换，并把</a:t>
            </a:r>
            <a:r>
              <a:rPr lang="en-US" altLang="zh-CN" sz="2400" b="1" dirty="0"/>
              <a:t>m</a:t>
            </a:r>
            <a:r>
              <a:rPr lang="zh-CN" altLang="zh-CN" sz="2400" b="1" dirty="0"/>
              <a:t>和</a:t>
            </a:r>
            <a:r>
              <a:rPr lang="en-US" altLang="zh-CN" sz="2400" b="1" dirty="0"/>
              <a:t>n</a:t>
            </a:r>
            <a:r>
              <a:rPr lang="zh-CN" altLang="zh-CN" sz="2400" b="1" dirty="0"/>
              <a:t>的值互换，则就完成了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m*n</a:t>
            </a:r>
            <a:r>
              <a:rPr lang="zh-CN" altLang="zh-CN" sz="2400" b="1" dirty="0"/>
              <a:t>的转置运算。（</a:t>
            </a:r>
            <a:r>
              <a:rPr lang="en-US" altLang="zh-CN" sz="2400" b="1" dirty="0"/>
              <a:t>  )</a:t>
            </a:r>
            <a:r>
              <a:rPr lang="zh-CN" altLang="zh-CN" sz="2400" b="1" dirty="0"/>
              <a:t>【西安交通大学</a:t>
            </a:r>
            <a:r>
              <a:rPr lang="en-US" altLang="zh-CN" sz="2400" b="1" dirty="0"/>
              <a:t> 1996 </a:t>
            </a:r>
            <a:r>
              <a:rPr lang="zh-CN" altLang="zh-CN" sz="2400" b="1" dirty="0"/>
              <a:t>二、</a:t>
            </a:r>
            <a:r>
              <a:rPr lang="en-US" altLang="zh-CN" sz="2400" b="1" dirty="0"/>
              <a:t>8 (3</a:t>
            </a:r>
            <a:r>
              <a:rPr lang="zh-CN" altLang="zh-CN" sz="2400" b="1" dirty="0"/>
              <a:t>分</a:t>
            </a:r>
            <a:r>
              <a:rPr lang="en-US" altLang="zh-CN" sz="2400" b="1" dirty="0"/>
              <a:t>)</a:t>
            </a:r>
            <a:r>
              <a:rPr lang="zh-CN" altLang="zh-CN" sz="2400" b="1" dirty="0"/>
              <a:t>】</a:t>
            </a:r>
            <a:endParaRPr lang="en-US" altLang="zh-CN" sz="2400" b="1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400" b="1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10. </a:t>
            </a:r>
            <a:r>
              <a:rPr lang="zh-CN" altLang="zh-CN" sz="2400" b="1" dirty="0"/>
              <a:t>二维以上的数组其实是一种特殊的广义表。（</a:t>
            </a:r>
            <a:r>
              <a:rPr lang="en-US" altLang="zh-CN" sz="2400" b="1" dirty="0"/>
              <a:t>    </a:t>
            </a:r>
            <a:r>
              <a:rPr lang="zh-CN" altLang="zh-CN" sz="2400" b="1" dirty="0"/>
              <a:t>） 【北京邮电大学</a:t>
            </a:r>
            <a:r>
              <a:rPr lang="en-US" altLang="zh-CN" sz="2400" b="1" dirty="0"/>
              <a:t> 2002 </a:t>
            </a:r>
            <a:r>
              <a:rPr lang="zh-CN" altLang="zh-CN" sz="2400" b="1" dirty="0"/>
              <a:t>一、</a:t>
            </a:r>
            <a:r>
              <a:rPr lang="en-US" altLang="zh-CN" sz="2400" b="1" dirty="0"/>
              <a:t>5 </a:t>
            </a:r>
            <a:r>
              <a:rPr lang="zh-CN" altLang="zh-CN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zh-CN" sz="2400" b="1" dirty="0"/>
              <a:t>分）】</a:t>
            </a:r>
            <a:endParaRPr lang="en-US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11. </a:t>
            </a:r>
            <a:r>
              <a:rPr lang="zh-CN" altLang="zh-CN" sz="2400" b="1" dirty="0"/>
              <a:t>广义表的取表尾运算，其结果通常是个表，但有时也可是个单元素值。（</a:t>
            </a:r>
            <a:r>
              <a:rPr lang="en-US" altLang="zh-CN" sz="2400" b="1" dirty="0"/>
              <a:t>   </a:t>
            </a:r>
            <a:r>
              <a:rPr lang="zh-CN" altLang="zh-CN" sz="2400" b="1" dirty="0"/>
              <a:t>）</a:t>
            </a:r>
            <a:endParaRPr lang="en-US" altLang="zh-CN" sz="2400" b="1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400" b="1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12</a:t>
            </a:r>
            <a:r>
              <a:rPr lang="zh-CN" altLang="zh-CN" sz="2400" b="1" dirty="0"/>
              <a:t>、广义表（</a:t>
            </a:r>
            <a:r>
              <a:rPr lang="en-US" altLang="zh-CN" sz="2400" b="1" dirty="0"/>
              <a:t>a,b,c,d</a:t>
            </a:r>
            <a:r>
              <a:rPr lang="zh-CN" altLang="zh-CN" sz="2400" b="1" dirty="0"/>
              <a:t>）的表头是</a:t>
            </a:r>
            <a:r>
              <a:rPr lang="en-US" altLang="zh-CN" sz="2400" b="1" u="sng" dirty="0"/>
              <a:t>           </a:t>
            </a:r>
            <a:r>
              <a:rPr lang="zh-CN" altLang="zh-CN" sz="2400" b="1" dirty="0"/>
              <a:t>，表尾是</a:t>
            </a:r>
            <a:r>
              <a:rPr lang="en-US" altLang="zh-CN" sz="2400" b="1" u="sng" dirty="0"/>
              <a:t>          </a:t>
            </a:r>
            <a:r>
              <a:rPr lang="zh-CN" altLang="zh-CN" sz="2400" b="1" dirty="0"/>
              <a:t>。</a:t>
            </a:r>
            <a:endParaRPr lang="zh-CN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13</a:t>
            </a:r>
            <a:r>
              <a:rPr lang="zh-CN" altLang="zh-CN" sz="2400" b="1" dirty="0"/>
              <a:t>、广义表（（</a:t>
            </a:r>
            <a:r>
              <a:rPr lang="en-US" altLang="zh-CN" sz="2400" b="1" dirty="0"/>
              <a:t>a,b,c,d</a:t>
            </a:r>
            <a:r>
              <a:rPr lang="zh-CN" altLang="zh-CN" sz="2400" b="1" dirty="0"/>
              <a:t>））的表头是</a:t>
            </a:r>
            <a:r>
              <a:rPr lang="en-US" altLang="zh-CN" sz="2400" b="1" u="sng" dirty="0"/>
              <a:t>           </a:t>
            </a:r>
            <a:r>
              <a:rPr lang="zh-CN" altLang="zh-CN" sz="2400" b="1" dirty="0"/>
              <a:t>，表尾是</a:t>
            </a:r>
            <a:r>
              <a:rPr lang="en-US" altLang="zh-CN" sz="2400" b="1" u="sng" dirty="0"/>
              <a:t>          </a:t>
            </a:r>
            <a:r>
              <a:rPr lang="zh-CN" altLang="zh-CN" sz="2400" b="1" dirty="0"/>
              <a:t>。</a:t>
            </a:r>
            <a:endParaRPr lang="zh-CN" altLang="zh-CN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14</a:t>
            </a:r>
            <a:r>
              <a:rPr lang="zh-CN" altLang="zh-CN" sz="2400" b="1" dirty="0"/>
              <a:t>、广义表（</a:t>
            </a:r>
            <a:r>
              <a:rPr lang="en-US" altLang="zh-CN" sz="2400" b="1" dirty="0"/>
              <a:t>a,</a:t>
            </a:r>
            <a:r>
              <a:rPr lang="zh-CN" altLang="zh-CN" sz="2400" b="1" dirty="0"/>
              <a:t>（</a:t>
            </a:r>
            <a:r>
              <a:rPr lang="en-US" altLang="zh-CN" sz="2400" b="1" dirty="0"/>
              <a:t>b,c,d</a:t>
            </a:r>
            <a:r>
              <a:rPr lang="zh-CN" altLang="zh-CN" sz="2400" b="1" dirty="0"/>
              <a:t>））的表头是</a:t>
            </a:r>
            <a:r>
              <a:rPr lang="en-US" altLang="zh-CN" sz="2400" b="1" u="sng" dirty="0"/>
              <a:t>           </a:t>
            </a:r>
            <a:r>
              <a:rPr lang="zh-CN" altLang="zh-CN" sz="2400" b="1" dirty="0"/>
              <a:t>，表尾是</a:t>
            </a:r>
            <a:r>
              <a:rPr lang="en-US" altLang="zh-CN" sz="2400" b="1" u="sng" dirty="0"/>
              <a:t>          </a:t>
            </a:r>
            <a:r>
              <a:rPr lang="zh-CN" altLang="zh-CN" sz="2400" b="1" dirty="0"/>
              <a:t>。</a:t>
            </a:r>
            <a:endParaRPr lang="en-US" altLang="zh-CN" sz="2400" b="1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15</a:t>
            </a:r>
            <a:r>
              <a:rPr lang="zh-CN" altLang="zh-CN" sz="2400" b="1" dirty="0"/>
              <a:t>、广义表（</a:t>
            </a:r>
            <a:r>
              <a:rPr lang="en-US" altLang="zh-CN" sz="2400" b="1" dirty="0"/>
              <a:t>a,</a:t>
            </a:r>
            <a:r>
              <a:rPr lang="zh-CN" altLang="zh-CN" sz="2400" b="1" dirty="0"/>
              <a:t>（</a:t>
            </a:r>
            <a:r>
              <a:rPr lang="en-US" altLang="zh-CN" sz="2400" b="1" dirty="0"/>
              <a:t>b,(c,(d))</a:t>
            </a:r>
            <a:r>
              <a:rPr lang="zh-CN" altLang="zh-CN" sz="2400" b="1" dirty="0"/>
              <a:t>））的表头是</a:t>
            </a:r>
            <a:r>
              <a:rPr lang="en-US" altLang="zh-CN" sz="2400" b="1" u="sng" dirty="0"/>
              <a:t>           </a:t>
            </a:r>
            <a:r>
              <a:rPr lang="zh-CN" altLang="zh-CN" sz="2400" b="1" dirty="0"/>
              <a:t>，表尾是</a:t>
            </a:r>
            <a:r>
              <a:rPr lang="en-US" altLang="zh-CN" sz="2400" b="1" u="sng" dirty="0"/>
              <a:t>          </a:t>
            </a:r>
            <a:r>
              <a:rPr lang="en-US" altLang="zh-CN" sz="2400" b="1" dirty="0"/>
              <a:t>,</a:t>
            </a:r>
            <a:r>
              <a:rPr lang="zh-CN" altLang="zh-CN" sz="2400" b="1" dirty="0"/>
              <a:t>长度是</a:t>
            </a:r>
            <a:r>
              <a:rPr lang="en-US" altLang="zh-CN" sz="2400" b="1" u="sng" dirty="0"/>
              <a:t>         </a:t>
            </a:r>
            <a:r>
              <a:rPr lang="zh-CN" altLang="zh-CN" sz="2400" b="1" dirty="0"/>
              <a:t>，深度是</a:t>
            </a:r>
            <a:r>
              <a:rPr lang="en-US" altLang="zh-CN" sz="2400" b="1" u="sng" dirty="0"/>
              <a:t>         </a:t>
            </a:r>
            <a:r>
              <a:rPr lang="zh-CN" altLang="zh-CN" sz="2400" b="1" dirty="0"/>
              <a:t>。</a:t>
            </a:r>
            <a:endParaRPr lang="en-US" altLang="zh-CN" sz="2400" b="1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zh-CN" sz="2400" b="1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16</a:t>
            </a:r>
            <a:r>
              <a:rPr lang="zh-CN" altLang="zh-CN" sz="2400" b="1" dirty="0"/>
              <a:t>、广义表（</a:t>
            </a:r>
            <a:r>
              <a:rPr lang="en-US" altLang="zh-CN" sz="2400" b="1" dirty="0"/>
              <a:t>a,(</a:t>
            </a:r>
            <a:r>
              <a:rPr lang="zh-CN" altLang="zh-CN" sz="2400" b="1" dirty="0"/>
              <a:t>（</a:t>
            </a:r>
            <a:r>
              <a:rPr lang="en-US" altLang="zh-CN" sz="2400" b="1" dirty="0"/>
              <a:t>b, (c</a:t>
            </a:r>
            <a:r>
              <a:rPr lang="zh-CN" altLang="zh-CN" sz="2400" b="1" dirty="0"/>
              <a:t>）</a:t>
            </a:r>
            <a:r>
              <a:rPr lang="en-US" altLang="zh-CN" sz="2400" b="1" dirty="0"/>
              <a:t>,f</a:t>
            </a:r>
            <a:r>
              <a:rPr lang="zh-CN" altLang="zh-CN" sz="2400" b="1" dirty="0"/>
              <a:t>）</a:t>
            </a:r>
            <a:r>
              <a:rPr lang="en-US" altLang="zh-CN" sz="2400" b="1" dirty="0"/>
              <a:t>,e</a:t>
            </a:r>
            <a:r>
              <a:rPr lang="zh-CN" altLang="zh-CN" sz="2400" b="1" dirty="0"/>
              <a:t>）</a:t>
            </a:r>
            <a:r>
              <a:rPr lang="en-US" altLang="zh-CN" sz="2400" b="1" dirty="0"/>
              <a:t>, d</a:t>
            </a:r>
            <a:r>
              <a:rPr lang="zh-CN" altLang="zh-CN" sz="2400" b="1" dirty="0"/>
              <a:t>）的表头是</a:t>
            </a:r>
            <a:r>
              <a:rPr lang="en-US" altLang="zh-CN" sz="2400" b="1" u="sng" dirty="0"/>
              <a:t>           </a:t>
            </a:r>
            <a:r>
              <a:rPr lang="zh-CN" altLang="zh-CN" sz="2400" b="1" dirty="0"/>
              <a:t>，表尾是</a:t>
            </a:r>
            <a:r>
              <a:rPr lang="en-US" altLang="zh-CN" sz="2400" b="1" u="sng" dirty="0"/>
              <a:t>          </a:t>
            </a:r>
            <a:r>
              <a:rPr lang="en-US" altLang="zh-CN" sz="2400" b="1" dirty="0"/>
              <a:t>,</a:t>
            </a:r>
            <a:r>
              <a:rPr lang="zh-CN" altLang="zh-CN" sz="2400" b="1" dirty="0"/>
              <a:t>长度是</a:t>
            </a:r>
            <a:r>
              <a:rPr lang="en-US" altLang="zh-CN" sz="2400" b="1" u="sng" dirty="0"/>
              <a:t>         </a:t>
            </a:r>
            <a:r>
              <a:rPr lang="zh-CN" altLang="zh-CN" sz="2400" b="1" dirty="0"/>
              <a:t>，深度是</a:t>
            </a:r>
            <a:r>
              <a:rPr lang="en-US" altLang="zh-CN" sz="2400" b="1" u="sng" dirty="0"/>
              <a:t>         </a:t>
            </a:r>
            <a:r>
              <a:rPr lang="zh-CN" altLang="zh-CN" sz="2400" b="1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2945" name="Rectangle 1"/>
          <p:cNvSpPr>
            <a:spLocks noChangeArrowheads="1"/>
          </p:cNvSpPr>
          <p:nvPr/>
        </p:nvSpPr>
        <p:spPr bwMode="auto">
          <a:xfrm>
            <a:off x="34925" y="398463"/>
            <a:ext cx="8929688" cy="5262563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1143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343400" algn="l"/>
              </a:tabLst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17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HEAD[TAIL[(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a,b,c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)]]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的结果是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26860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343400" algn="l"/>
              </a:tabLst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TAIL[HEAD[((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),(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c,d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))]]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的结果是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26860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343400" algn="l"/>
              </a:tabLst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HEAD[HEAD[((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),(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c,d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))]]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的结果是</a:t>
            </a:r>
            <a:r>
              <a:rPr kumimoji="1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26860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343400" algn="l"/>
              </a:tabLst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18.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已知广义表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LS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＝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a,b,c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),(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d,e,f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)),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运用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head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和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tail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函数取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LS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中原子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e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的运算是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    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26860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343400" algn="l"/>
              </a:tabLst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A. head(tail(LS))   B. tail(head(LS))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26860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343400" algn="l"/>
              </a:tabLst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C. head(tail(head(tail(LS)))    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26860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343400" algn="l"/>
              </a:tabLst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D. head(tail(tail(head(LS))))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19.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广义表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A=(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c,d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),(e,(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f,g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))),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则下面式子的值为（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）。</a:t>
            </a:r>
            <a:endParaRPr kumimoji="1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Head(Tail(Head(Tail(Tail(A)))))</a:t>
            </a:r>
            <a:endParaRPr kumimoji="1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A. (g)            B. (d)               C. c              D. d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CC"/>
      </a:dk1>
      <a:lt1>
        <a:srgbClr val="FFFFFF"/>
      </a:lt1>
      <a:dk2>
        <a:srgbClr val="000000"/>
      </a:dk2>
      <a:lt2>
        <a:srgbClr val="CCFFFF"/>
      </a:lt2>
      <a:accent1>
        <a:srgbClr val="000000"/>
      </a:accent1>
      <a:accent2>
        <a:srgbClr val="0000CC"/>
      </a:accent2>
      <a:accent3>
        <a:srgbClr val="FFFFFF"/>
      </a:accent3>
      <a:accent4>
        <a:srgbClr val="0000AE"/>
      </a:accent4>
      <a:accent5>
        <a:srgbClr val="AAAAAA"/>
      </a:accent5>
      <a:accent6>
        <a:srgbClr val="0000B9"/>
      </a:accent6>
      <a:hlink>
        <a:srgbClr val="FF0066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Designs\Azure.pot</Template>
  <TotalTime>0</TotalTime>
  <Words>15382</Words>
  <Application>WPS 演示</Application>
  <PresentationFormat>全屏显示(4:3)</PresentationFormat>
  <Paragraphs>2052</Paragraphs>
  <Slides>58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58</vt:i4>
      </vt:variant>
    </vt:vector>
  </HeadingPairs>
  <TitlesOfParts>
    <vt:vector size="87" baseType="lpstr">
      <vt:lpstr>Arial</vt:lpstr>
      <vt:lpstr>宋体</vt:lpstr>
      <vt:lpstr>Wingdings</vt:lpstr>
      <vt:lpstr>Times New Roman</vt:lpstr>
      <vt:lpstr>楷体_GB2312</vt:lpstr>
      <vt:lpstr>新宋体</vt:lpstr>
      <vt:lpstr>黑体</vt:lpstr>
      <vt:lpstr>Arial Narrow</vt:lpstr>
      <vt:lpstr>仿宋_GB2312</vt:lpstr>
      <vt:lpstr>仿宋</vt:lpstr>
      <vt:lpstr>Symbol</vt:lpstr>
      <vt:lpstr>Monotype Sorts</vt:lpstr>
      <vt:lpstr>Wingdings</vt:lpstr>
      <vt:lpstr>隶书</vt:lpstr>
      <vt:lpstr>MT Extra</vt:lpstr>
      <vt:lpstr>楷体</vt:lpstr>
      <vt:lpstr>Helvetica Neue</vt:lpstr>
      <vt:lpstr>楷体_GB2312</vt:lpstr>
      <vt:lpstr>微软雅黑</vt:lpstr>
      <vt:lpstr>Arial Unicode MS</vt:lpstr>
      <vt:lpstr>仿宋_GB2312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河南大学计算机与信息工程学院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数据结构课件</dc:title>
  <dc:creator>张连堂</dc:creator>
  <cp:lastModifiedBy>裴前.贤hj</cp:lastModifiedBy>
  <cp:revision>100</cp:revision>
  <dcterms:created xsi:type="dcterms:W3CDTF">2002-10-11T06:23:44Z</dcterms:created>
  <dcterms:modified xsi:type="dcterms:W3CDTF">2024-11-24T10:06:16Z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4D35690D7B604B2283832A9916D097DE_12</vt:lpwstr>
  </property>
  <property fmtid="{D5CDD505-2E9C-101B-9397-08002B2CF9AE}" pid="3" name="KSOProductBuildVer">
    <vt:lpwstr>2052-12.1.0.18912</vt:lpwstr>
  </property>
</Properties>
</file>