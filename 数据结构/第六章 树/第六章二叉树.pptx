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7"/>
  </p:handoutMasterIdLst>
  <p:sldIdLst>
    <p:sldId id="276" r:id="rId3"/>
    <p:sldId id="257" r:id="rId4"/>
    <p:sldId id="348" r:id="rId5"/>
    <p:sldId id="374" r:id="rId6"/>
    <p:sldId id="470" r:id="rId7"/>
    <p:sldId id="392" r:id="rId8"/>
    <p:sldId id="347" r:id="rId9"/>
    <p:sldId id="396" r:id="rId10"/>
    <p:sldId id="397" r:id="rId12"/>
    <p:sldId id="349" r:id="rId13"/>
    <p:sldId id="375" r:id="rId14"/>
    <p:sldId id="377" r:id="rId15"/>
    <p:sldId id="387" r:id="rId16"/>
    <p:sldId id="389" r:id="rId17"/>
    <p:sldId id="393" r:id="rId18"/>
    <p:sldId id="352" r:id="rId19"/>
    <p:sldId id="353" r:id="rId20"/>
    <p:sldId id="399" r:id="rId21"/>
    <p:sldId id="354" r:id="rId22"/>
    <p:sldId id="361" r:id="rId23"/>
    <p:sldId id="400" r:id="rId24"/>
    <p:sldId id="1037" r:id="rId25"/>
    <p:sldId id="1038" r:id="rId26"/>
    <p:sldId id="402" r:id="rId27"/>
    <p:sldId id="403" r:id="rId28"/>
    <p:sldId id="355" r:id="rId29"/>
    <p:sldId id="401" r:id="rId30"/>
    <p:sldId id="364" r:id="rId31"/>
    <p:sldId id="362" r:id="rId32"/>
    <p:sldId id="471" r:id="rId33"/>
    <p:sldId id="543" r:id="rId34"/>
    <p:sldId id="404" r:id="rId35"/>
    <p:sldId id="405" r:id="rId36"/>
    <p:sldId id="406" r:id="rId37"/>
    <p:sldId id="407" r:id="rId38"/>
    <p:sldId id="408" r:id="rId39"/>
    <p:sldId id="409" r:id="rId40"/>
    <p:sldId id="1025" r:id="rId41"/>
    <p:sldId id="410" r:id="rId42"/>
    <p:sldId id="411" r:id="rId43"/>
    <p:sldId id="1032" r:id="rId44"/>
    <p:sldId id="1033" r:id="rId45"/>
    <p:sldId id="1034" r:id="rId46"/>
    <p:sldId id="1035" r:id="rId47"/>
    <p:sldId id="1031" r:id="rId48"/>
    <p:sldId id="489" r:id="rId49"/>
    <p:sldId id="490" r:id="rId50"/>
    <p:sldId id="1026" r:id="rId51"/>
    <p:sldId id="1028" r:id="rId52"/>
    <p:sldId id="1029" r:id="rId53"/>
    <p:sldId id="1030" r:id="rId54"/>
    <p:sldId id="415" r:id="rId55"/>
    <p:sldId id="416" r:id="rId56"/>
    <p:sldId id="509" r:id="rId57"/>
    <p:sldId id="512" r:id="rId58"/>
    <p:sldId id="417" r:id="rId59"/>
    <p:sldId id="430" r:id="rId60"/>
    <p:sldId id="431" r:id="rId61"/>
    <p:sldId id="432" r:id="rId62"/>
    <p:sldId id="433" r:id="rId63"/>
    <p:sldId id="434" r:id="rId64"/>
    <p:sldId id="435" r:id="rId65"/>
    <p:sldId id="436" r:id="rId66"/>
    <p:sldId id="437" r:id="rId67"/>
    <p:sldId id="438" r:id="rId68"/>
    <p:sldId id="439" r:id="rId69"/>
    <p:sldId id="440" r:id="rId70"/>
    <p:sldId id="441" r:id="rId71"/>
    <p:sldId id="456" r:id="rId72"/>
    <p:sldId id="457" r:id="rId73"/>
    <p:sldId id="458" r:id="rId74"/>
    <p:sldId id="459" r:id="rId75"/>
    <p:sldId id="460" r:id="rId76"/>
    <p:sldId id="461" r:id="rId77"/>
    <p:sldId id="462" r:id="rId78"/>
    <p:sldId id="463" r:id="rId79"/>
    <p:sldId id="464" r:id="rId80"/>
    <p:sldId id="483" r:id="rId81"/>
    <p:sldId id="465" r:id="rId82"/>
    <p:sldId id="484" r:id="rId83"/>
    <p:sldId id="466" r:id="rId84"/>
    <p:sldId id="485" r:id="rId85"/>
    <p:sldId id="467" r:id="rId86"/>
    <p:sldId id="494" r:id="rId87"/>
    <p:sldId id="468" r:id="rId88"/>
    <p:sldId id="510" r:id="rId89"/>
    <p:sldId id="511" r:id="rId90"/>
    <p:sldId id="443" r:id="rId91"/>
    <p:sldId id="444" r:id="rId92"/>
    <p:sldId id="1036" r:id="rId93"/>
    <p:sldId id="514" r:id="rId94"/>
    <p:sldId id="515" r:id="rId95"/>
    <p:sldId id="516" r:id="rId96"/>
    <p:sldId id="445" r:id="rId97"/>
    <p:sldId id="447" r:id="rId98"/>
    <p:sldId id="522" r:id="rId99"/>
    <p:sldId id="523" r:id="rId100"/>
    <p:sldId id="524" r:id="rId101"/>
    <p:sldId id="525" r:id="rId102"/>
    <p:sldId id="446" r:id="rId103"/>
    <p:sldId id="448" r:id="rId104"/>
    <p:sldId id="479" r:id="rId105"/>
    <p:sldId id="498" r:id="rId106"/>
    <p:sldId id="499" r:id="rId107"/>
    <p:sldId id="500" r:id="rId108"/>
    <p:sldId id="501" r:id="rId109"/>
    <p:sldId id="495" r:id="rId110"/>
    <p:sldId id="496" r:id="rId111"/>
    <p:sldId id="497" r:id="rId112"/>
    <p:sldId id="449" r:id="rId113"/>
    <p:sldId id="450" r:id="rId114"/>
    <p:sldId id="451" r:id="rId115"/>
    <p:sldId id="452" r:id="rId116"/>
    <p:sldId id="513" r:id="rId117"/>
    <p:sldId id="455" r:id="rId118"/>
    <p:sldId id="502" r:id="rId119"/>
    <p:sldId id="503" r:id="rId120"/>
    <p:sldId id="504" r:id="rId121"/>
    <p:sldId id="505" r:id="rId122"/>
    <p:sldId id="506" r:id="rId123"/>
    <p:sldId id="507" r:id="rId124"/>
    <p:sldId id="508" r:id="rId125"/>
    <p:sldId id="418" r:id="rId12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CC99FF"/>
    <a:srgbClr val="800000"/>
    <a:srgbClr val="9900FF"/>
    <a:srgbClr val="FF00FF"/>
    <a:srgbClr val="99FF33"/>
    <a:srgbClr val="00008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9"/>
    <p:restoredTop sz="94683"/>
  </p:normalViewPr>
  <p:slideViewPr>
    <p:cSldViewPr showGuides="1">
      <p:cViewPr varScale="1">
        <p:scale>
          <a:sx n="91" d="100"/>
          <a:sy n="91" d="100"/>
        </p:scale>
        <p:origin x="77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0" Type="http://schemas.openxmlformats.org/officeDocument/2006/relationships/tableStyles" Target="tableStyles.xml"/><Relationship Id="rId13" Type="http://schemas.openxmlformats.org/officeDocument/2006/relationships/slide" Target="slides/slide10.xml"/><Relationship Id="rId129" Type="http://schemas.openxmlformats.org/officeDocument/2006/relationships/viewProps" Target="viewProps.xml"/><Relationship Id="rId128" Type="http://schemas.openxmlformats.org/officeDocument/2006/relationships/presProps" Target="presProps.xml"/><Relationship Id="rId127" Type="http://schemas.openxmlformats.org/officeDocument/2006/relationships/handoutMaster" Target="handoutMasters/handoutMaster1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notesMaster" Target="notesMasters/notesMaster1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b="1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b="1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b="1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</a:fld>
            <a:endParaRPr lang="en-US" altLang="zh-CN" sz="12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62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ln w="12700"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/>
          </p:cNvSpPr>
          <p:nvPr>
            <p:ph type="body" idx="1"/>
          </p:nvPr>
        </p:nvSpPr>
        <p:spPr>
          <a:ln w="12700"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/>
          </p:cNvSpPr>
          <p:nvPr>
            <p:ph type="body" idx="1"/>
          </p:nvPr>
        </p:nvSpPr>
        <p:spPr>
          <a:ln w="12700"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82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38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29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9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9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88.xml"/><Relationship Id="rId3" Type="http://schemas.openxmlformats.org/officeDocument/2006/relationships/slide" Target="slide69.xml"/><Relationship Id="rId2" Type="http://schemas.openxmlformats.org/officeDocument/2006/relationships/slide" Target="slide32.xml"/><Relationship Id="rId1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14.xml"/><Relationship Id="rId3" Type="http://schemas.openxmlformats.org/officeDocument/2006/relationships/slide" Target="slide12.xml"/><Relationship Id="rId2" Type="http://schemas.openxmlformats.org/officeDocument/2006/relationships/slide" Target="slide10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3.xml"/><Relationship Id="rId3" Type="http://schemas.openxmlformats.org/officeDocument/2006/relationships/slide" Target="slide13.xml"/><Relationship Id="rId2" Type="http://schemas.openxmlformats.org/officeDocument/2006/relationships/slide" Target="slide9.xml"/><Relationship Id="rId1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2.xml"/><Relationship Id="rId3" Type="http://schemas.openxmlformats.org/officeDocument/2006/relationships/slide" Target="slide26.xml"/><Relationship Id="rId2" Type="http://schemas.openxmlformats.org/officeDocument/2006/relationships/slide" Target="slide17.xml"/><Relationship Id="rId1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7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85.xml"/><Relationship Id="rId2" Type="http://schemas.openxmlformats.org/officeDocument/2006/relationships/slide" Target="slide76.xml"/><Relationship Id="rId1" Type="http://schemas.openxmlformats.org/officeDocument/2006/relationships/slide" Target="slide7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2.bin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10.xml"/><Relationship Id="rId1" Type="http://schemas.openxmlformats.org/officeDocument/2006/relationships/image" Target="../media/image7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8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9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>
          <a:xfrm>
            <a:off x="1905000" y="304800"/>
            <a:ext cx="5867400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数据结构课程的内容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4100" name="Picture 3" descr="数据结构内容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196975"/>
            <a:ext cx="8370888" cy="510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AutoShape 4">
            <a:hlinkClick r:id="" action="ppaction://hlinkshowjump?jump=nextslide"/>
          </p:cNvPr>
          <p:cNvSpPr/>
          <p:nvPr/>
        </p:nvSpPr>
        <p:spPr>
          <a:xfrm>
            <a:off x="8001000" y="6096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99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4102" name="Group 5"/>
          <p:cNvGrpSpPr/>
          <p:nvPr/>
        </p:nvGrpSpPr>
        <p:grpSpPr>
          <a:xfrm>
            <a:off x="1431925" y="1568450"/>
            <a:ext cx="3544888" cy="4198938"/>
            <a:chOff x="902" y="988"/>
            <a:chExt cx="2233" cy="2645"/>
          </a:xfrm>
        </p:grpSpPr>
        <p:sp>
          <p:nvSpPr>
            <p:cNvPr id="4117" name="AutoShape 6"/>
            <p:cNvSpPr/>
            <p:nvPr/>
          </p:nvSpPr>
          <p:spPr>
            <a:xfrm>
              <a:off x="902" y="1200"/>
              <a:ext cx="249" cy="2016"/>
            </a:xfrm>
            <a:prstGeom prst="leftBrace">
              <a:avLst>
                <a:gd name="adj1" fmla="val 67469"/>
                <a:gd name="adj2" fmla="val 50000"/>
              </a:avLst>
            </a:prstGeom>
            <a:noFill/>
            <a:ln w="635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18" name="AutoShape 7"/>
            <p:cNvSpPr/>
            <p:nvPr/>
          </p:nvSpPr>
          <p:spPr>
            <a:xfrm>
              <a:off x="1966" y="988"/>
              <a:ext cx="102" cy="394"/>
            </a:xfrm>
            <a:prstGeom prst="leftBrace">
              <a:avLst>
                <a:gd name="adj1" fmla="val 32189"/>
                <a:gd name="adj2" fmla="val 50000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19" name="AutoShape 8"/>
            <p:cNvSpPr/>
            <p:nvPr/>
          </p:nvSpPr>
          <p:spPr>
            <a:xfrm>
              <a:off x="2695" y="1679"/>
              <a:ext cx="125" cy="750"/>
            </a:xfrm>
            <a:prstGeom prst="leftBrace">
              <a:avLst>
                <a:gd name="adj1" fmla="val 50000"/>
                <a:gd name="adj2" fmla="val 48667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20" name="AutoShape 9"/>
            <p:cNvSpPr/>
            <p:nvPr/>
          </p:nvSpPr>
          <p:spPr>
            <a:xfrm>
              <a:off x="3010" y="1180"/>
              <a:ext cx="125" cy="298"/>
            </a:xfrm>
            <a:prstGeom prst="leftBrace">
              <a:avLst>
                <a:gd name="adj1" fmla="val 19866"/>
                <a:gd name="adj2" fmla="val 48667"/>
              </a:avLst>
            </a:prstGeom>
            <a:noFill/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21" name="AutoShape 10"/>
            <p:cNvSpPr/>
            <p:nvPr/>
          </p:nvSpPr>
          <p:spPr>
            <a:xfrm>
              <a:off x="1943" y="2693"/>
              <a:ext cx="125" cy="940"/>
            </a:xfrm>
            <a:prstGeom prst="leftBrace">
              <a:avLst>
                <a:gd name="adj1" fmla="val 62666"/>
                <a:gd name="adj2" fmla="val 48667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4103" name="Line 11"/>
          <p:cNvSpPr/>
          <p:nvPr/>
        </p:nvSpPr>
        <p:spPr>
          <a:xfrm>
            <a:off x="5486400" y="1676400"/>
            <a:ext cx="2819400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104" name="Group 12"/>
          <p:cNvGrpSpPr/>
          <p:nvPr/>
        </p:nvGrpSpPr>
        <p:grpSpPr>
          <a:xfrm>
            <a:off x="1905000" y="1676400"/>
            <a:ext cx="3733800" cy="3733800"/>
            <a:chOff x="1200" y="1056"/>
            <a:chExt cx="2352" cy="2352"/>
          </a:xfrm>
        </p:grpSpPr>
        <p:sp>
          <p:nvSpPr>
            <p:cNvPr id="4107" name="Line 13"/>
            <p:cNvSpPr/>
            <p:nvPr/>
          </p:nvSpPr>
          <p:spPr>
            <a:xfrm>
              <a:off x="1200" y="1344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8" name="Line 14"/>
            <p:cNvSpPr/>
            <p:nvPr/>
          </p:nvSpPr>
          <p:spPr>
            <a:xfrm>
              <a:off x="2112" y="1056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09" name="Line 15"/>
            <p:cNvSpPr/>
            <p:nvPr/>
          </p:nvSpPr>
          <p:spPr>
            <a:xfrm>
              <a:off x="2976" y="1056"/>
              <a:ext cx="48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0" name="Line 16"/>
            <p:cNvSpPr/>
            <p:nvPr/>
          </p:nvSpPr>
          <p:spPr>
            <a:xfrm>
              <a:off x="1248" y="2256"/>
              <a:ext cx="1296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1" name="Line 17"/>
            <p:cNvSpPr/>
            <p:nvPr/>
          </p:nvSpPr>
          <p:spPr>
            <a:xfrm>
              <a:off x="2832" y="1872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2" name="Line 18"/>
            <p:cNvSpPr/>
            <p:nvPr/>
          </p:nvSpPr>
          <p:spPr>
            <a:xfrm>
              <a:off x="2832" y="2112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3" name="Line 19"/>
            <p:cNvSpPr/>
            <p:nvPr/>
          </p:nvSpPr>
          <p:spPr>
            <a:xfrm>
              <a:off x="2112" y="2880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4" name="Line 20"/>
            <p:cNvSpPr/>
            <p:nvPr/>
          </p:nvSpPr>
          <p:spPr>
            <a:xfrm>
              <a:off x="2112" y="3120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5" name="Line 21"/>
            <p:cNvSpPr/>
            <p:nvPr/>
          </p:nvSpPr>
          <p:spPr>
            <a:xfrm>
              <a:off x="2064" y="3408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16" name="Line 22"/>
            <p:cNvSpPr/>
            <p:nvPr/>
          </p:nvSpPr>
          <p:spPr>
            <a:xfrm>
              <a:off x="1200" y="3408"/>
              <a:ext cx="720" cy="0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3575" name="Oval 23"/>
          <p:cNvSpPr/>
          <p:nvPr/>
        </p:nvSpPr>
        <p:spPr>
          <a:xfrm>
            <a:off x="4876800" y="1752600"/>
            <a:ext cx="1143000" cy="457200"/>
          </a:xfrm>
          <a:prstGeom prst="ellipse">
            <a:avLst/>
          </a:prstGeom>
          <a:noFill/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576" name="Line 24"/>
          <p:cNvSpPr/>
          <p:nvPr/>
        </p:nvSpPr>
        <p:spPr>
          <a:xfrm>
            <a:off x="3352800" y="2362200"/>
            <a:ext cx="1295400" cy="0"/>
          </a:xfrm>
          <a:prstGeom prst="line">
            <a:avLst/>
          </a:prstGeom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7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01000" cy="6858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第</a:t>
            </a:r>
            <a:r>
              <a:rPr lang="en-US" altLang="zh-CN" sz="3200" b="1" dirty="0"/>
              <a:t>6</a:t>
            </a:r>
            <a:r>
              <a:rPr lang="zh-CN" altLang="en-US" sz="3200" b="1" dirty="0"/>
              <a:t>章   树和二叉树（ </a:t>
            </a:r>
            <a:r>
              <a:rPr lang="en-US" altLang="zh-CN" sz="3200" b="1" dirty="0">
                <a:solidFill>
                  <a:schemeClr val="tx1"/>
                </a:solidFill>
              </a:rPr>
              <a:t>Tree &amp; Binary Tree </a:t>
            </a:r>
            <a:r>
              <a:rPr lang="zh-CN" altLang="en-US" sz="3200" b="1" dirty="0"/>
              <a:t>）</a:t>
            </a:r>
            <a:endParaRPr lang="zh-CN" altLang="en-US" sz="3200" b="1" dirty="0"/>
          </a:p>
        </p:txBody>
      </p:sp>
      <p:sp>
        <p:nvSpPr>
          <p:cNvPr id="3076" name="Rectangle 4"/>
          <p:cNvSpPr/>
          <p:nvPr/>
        </p:nvSpPr>
        <p:spPr>
          <a:xfrm>
            <a:off x="838200" y="2209800"/>
            <a:ext cx="6400800" cy="312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ea typeface="楷体_GB2312"/>
              </a:rPr>
              <a:t>6.1   </a:t>
            </a:r>
            <a:r>
              <a:rPr lang="zh-CN" altLang="en-US" b="1" dirty="0">
                <a:latin typeface="Times New Roman" panose="02020603050405020304" pitchFamily="18" charset="0"/>
                <a:hlinkClick r:id="" action="ppaction://hlinkshowjump?jump=nextslide"/>
              </a:rPr>
              <a:t>树的基本概念</a:t>
            </a:r>
            <a:endParaRPr lang="zh-CN" altLang="en-US" b="1" dirty="0">
              <a:solidFill>
                <a:schemeClr val="hlink"/>
              </a:solidFill>
              <a:ea typeface="楷体_GB2312"/>
            </a:endParaRPr>
          </a:p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ea typeface="楷体_GB2312"/>
              </a:rPr>
              <a:t>6.2   </a:t>
            </a:r>
            <a:r>
              <a:rPr lang="zh-CN" altLang="en-US" b="1" dirty="0">
                <a:latin typeface="Times New Roman" panose="02020603050405020304" pitchFamily="18" charset="0"/>
                <a:hlinkClick r:id="rId1" action="ppaction://hlinksldjump"/>
              </a:rPr>
              <a:t>二叉树</a:t>
            </a:r>
            <a:endParaRPr lang="zh-CN" altLang="en-US" b="1" dirty="0">
              <a:solidFill>
                <a:schemeClr val="tx2"/>
              </a:solidFill>
              <a:ea typeface="楷体_GB2312"/>
            </a:endParaRPr>
          </a:p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ea typeface="楷体_GB2312"/>
              </a:rPr>
              <a:t>6.3   </a:t>
            </a:r>
            <a:r>
              <a:rPr lang="zh-CN" altLang="en-US" b="1" dirty="0">
                <a:latin typeface="Times New Roman" panose="02020603050405020304" pitchFamily="18" charset="0"/>
                <a:hlinkClick r:id="rId2" action="ppaction://hlinksldjump"/>
              </a:rPr>
              <a:t>遍历二叉树和线索二叉树</a:t>
            </a:r>
            <a:endParaRPr lang="zh-CN" altLang="en-US" b="1" dirty="0">
              <a:solidFill>
                <a:schemeClr val="tx2"/>
              </a:solidFill>
              <a:ea typeface="楷体_GB2312"/>
            </a:endParaRPr>
          </a:p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ea typeface="楷体_GB2312"/>
              </a:rPr>
              <a:t>6.4   </a:t>
            </a:r>
            <a:r>
              <a:rPr lang="zh-CN" altLang="en-US" b="1" dirty="0">
                <a:latin typeface="Times New Roman" panose="02020603050405020304" pitchFamily="18" charset="0"/>
                <a:hlinkClick r:id="rId3" action="ppaction://hlinksldjump"/>
              </a:rPr>
              <a:t>树和森林</a:t>
            </a:r>
            <a:endParaRPr lang="zh-CN" altLang="en-US" b="1" dirty="0">
              <a:solidFill>
                <a:schemeClr val="tx2"/>
              </a:solidFill>
              <a:ea typeface="楷体_GB2312"/>
            </a:endParaRPr>
          </a:p>
          <a:p>
            <a:pPr marL="342900" lvl="0" indent="-342900" eaLnBrk="1" hangingPunct="1"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2"/>
                </a:solidFill>
                <a:ea typeface="楷体_GB2312"/>
              </a:rPr>
              <a:t>6.5   </a:t>
            </a:r>
            <a:r>
              <a:rPr lang="zh-CN" altLang="en-US" b="1" dirty="0">
                <a:latin typeface="Times New Roman" panose="02020603050405020304" pitchFamily="18" charset="0"/>
                <a:hlinkClick r:id="rId4" action="ppaction://hlinksldjump"/>
              </a:rPr>
              <a:t>赫夫曼树及其应用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3077" name="Rectangle 5"/>
          <p:cNvSpPr/>
          <p:nvPr/>
        </p:nvSpPr>
        <p:spPr>
          <a:xfrm>
            <a:off x="304800" y="914400"/>
            <a:ext cx="8153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143000" lvl="0" indent="-114300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特点：</a:t>
            </a:r>
            <a:r>
              <a:rPr lang="zh-CN" altLang="en-US" sz="2800" b="1" dirty="0">
                <a:latin typeface="楷体_GB2312"/>
                <a:ea typeface="楷体_GB2312"/>
              </a:rPr>
              <a:t>非线性结构，一个直接前驱，但可能有多个直接后继（</a:t>
            </a:r>
            <a:r>
              <a:rPr lang="en-US" altLang="zh-CN" sz="2800" b="1" dirty="0">
                <a:latin typeface="楷体_GB2312"/>
                <a:ea typeface="楷体_GB2312"/>
              </a:rPr>
              <a:t>1</a:t>
            </a:r>
            <a:r>
              <a:rPr lang="zh-CN" altLang="en-US" sz="2800" b="1" dirty="0">
                <a:latin typeface="楷体_GB2312"/>
                <a:ea typeface="楷体_GB2312"/>
              </a:rPr>
              <a:t>：</a:t>
            </a:r>
            <a:r>
              <a:rPr lang="en-US" altLang="zh-CN" sz="2800" b="1" dirty="0">
                <a:latin typeface="楷体_GB2312"/>
                <a:ea typeface="楷体_GB2312"/>
              </a:rPr>
              <a:t>n</a:t>
            </a:r>
            <a:r>
              <a:rPr lang="zh-CN" altLang="en-US" sz="2800" b="1" dirty="0">
                <a:latin typeface="楷体_GB2312"/>
                <a:ea typeface="楷体_GB2312"/>
              </a:rPr>
              <a:t>）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sp>
        <p:nvSpPr>
          <p:cNvPr id="3079" name="AutoShape 7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3077" grpId="0"/>
      <p:bldP spid="307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990600" y="381000"/>
            <a:ext cx="5029200" cy="9144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600" b="1" dirty="0"/>
              <a:t>6.1</a:t>
            </a:r>
            <a:r>
              <a:rPr lang="en-US" altLang="zh-CN" sz="3600" dirty="0"/>
              <a:t>     </a:t>
            </a:r>
            <a:r>
              <a:rPr lang="zh-CN" altLang="en-US" sz="3600" dirty="0">
                <a:ea typeface="黑体" panose="02010609060101010101" pitchFamily="49" charset="-122"/>
              </a:rPr>
              <a:t>树的基本概念</a:t>
            </a:r>
            <a:endParaRPr lang="zh-CN" altLang="en-US" sz="3600" dirty="0">
              <a:ea typeface="黑体" panose="02010609060101010101" pitchFamily="49" charset="-122"/>
            </a:endParaRPr>
          </a:p>
        </p:txBody>
      </p:sp>
      <p:sp>
        <p:nvSpPr>
          <p:cNvPr id="174086" name="AutoShape 6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088" name="Text Box 8"/>
          <p:cNvSpPr txBox="1"/>
          <p:nvPr/>
        </p:nvSpPr>
        <p:spPr>
          <a:xfrm>
            <a:off x="1676400" y="1600200"/>
            <a:ext cx="4495800" cy="3084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 	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hlinkClick r:id="rId1" action="ppaction://hlinksldjump"/>
              </a:rPr>
              <a:t>树的定义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    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hlinkClick r:id="rId2" action="ppaction://hlinksldjump"/>
              </a:rPr>
              <a:t>若干术语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3. 	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hlinkClick r:id="rId3" action="ppaction://hlinksldjump"/>
              </a:rPr>
              <a:t>逻辑结构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4.	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  <a:hlinkClick r:id="rId3" action="ppaction://hlinksldjump"/>
              </a:rPr>
              <a:t>存储结构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5. 	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hlinkClick r:id="rId4" action="ppaction://hlinksldjump"/>
              </a:rPr>
              <a:t>树的运算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6" grpId="0" animBg="1"/>
      <p:bldP spid="1740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381000" y="381000"/>
            <a:ext cx="3048000" cy="5334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hlink"/>
                </a:solidFill>
                <a:ea typeface="楷体_GB2312"/>
              </a:rPr>
              <a:t>1.    </a:t>
            </a:r>
            <a:r>
              <a:rPr lang="zh-CN" altLang="en-US" sz="2800" b="1" dirty="0">
                <a:solidFill>
                  <a:schemeClr val="hlink"/>
                </a:solidFill>
                <a:ea typeface="楷体_GB2312"/>
              </a:rPr>
              <a:t>树的定义</a:t>
            </a:r>
            <a:endParaRPr lang="zh-CN" altLang="en-US" sz="2800" b="1" dirty="0">
              <a:solidFill>
                <a:schemeClr val="hlink"/>
              </a:solidFill>
              <a:ea typeface="楷体_GB2312"/>
            </a:endParaRPr>
          </a:p>
        </p:txBody>
      </p:sp>
      <p:sp>
        <p:nvSpPr>
          <p:cNvPr id="201734" name="Text Box 6"/>
          <p:cNvSpPr txBox="1"/>
          <p:nvPr/>
        </p:nvSpPr>
        <p:spPr>
          <a:xfrm>
            <a:off x="457200" y="3276600"/>
            <a:ext cx="8001000" cy="1463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注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过去许多书籍中都定义树为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n≥1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，曾经有“空树不是树”的说法，但现在树的定义已修改。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注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树的定义具有</a:t>
            </a:r>
            <a:r>
              <a:rPr lang="zh-CN" altLang="en-US" sz="2800" b="1" dirty="0">
                <a:solidFill>
                  <a:schemeClr val="hlink"/>
                </a:solidFill>
                <a:latin typeface="仿宋_GB2312"/>
                <a:ea typeface="仿宋_GB2312"/>
              </a:rPr>
              <a:t>递归性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，即树中还有树。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01735" name="Text Box 7"/>
          <p:cNvSpPr txBox="1"/>
          <p:nvPr/>
        </p:nvSpPr>
        <p:spPr>
          <a:xfrm>
            <a:off x="304800" y="1095375"/>
            <a:ext cx="8382000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666750" algn="just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仿宋_GB2312"/>
                <a:ea typeface="仿宋_GB2312"/>
              </a:rPr>
              <a:t>由零个或多个</a:t>
            </a:r>
            <a:r>
              <a:rPr lang="en-US" altLang="zh-CN" sz="2800" b="1" dirty="0">
                <a:latin typeface="仿宋_GB2312"/>
                <a:ea typeface="仿宋_GB2312"/>
              </a:rPr>
              <a:t>(</a:t>
            </a:r>
            <a:r>
              <a:rPr lang="en-US" altLang="zh-CN" sz="2800" b="1" dirty="0">
                <a:solidFill>
                  <a:schemeClr val="hlink"/>
                </a:solidFill>
                <a:latin typeface="仿宋_GB2312"/>
                <a:ea typeface="仿宋_GB2312"/>
              </a:rPr>
              <a:t>n≥0</a:t>
            </a:r>
            <a:r>
              <a:rPr lang="en-US" altLang="zh-CN" sz="2800" b="1" dirty="0">
                <a:latin typeface="仿宋_GB2312"/>
                <a:ea typeface="仿宋_GB2312"/>
              </a:rPr>
              <a:t>)</a:t>
            </a:r>
            <a:r>
              <a:rPr lang="zh-CN" altLang="en-US" sz="2800" b="1" dirty="0">
                <a:latin typeface="仿宋_GB2312"/>
                <a:ea typeface="仿宋_GB2312"/>
              </a:rPr>
              <a:t>结点组成的有限集合</a:t>
            </a:r>
            <a:r>
              <a:rPr lang="en-US" altLang="zh-CN" sz="2800" b="1" dirty="0">
                <a:latin typeface="仿宋_GB2312"/>
                <a:ea typeface="仿宋_GB2312"/>
              </a:rPr>
              <a:t>T</a:t>
            </a:r>
            <a:r>
              <a:rPr lang="zh-CN" altLang="en-US" sz="2800" b="1" dirty="0">
                <a:latin typeface="仿宋_GB2312"/>
                <a:ea typeface="仿宋_GB2312"/>
              </a:rPr>
              <a:t>，有且仅有</a:t>
            </a:r>
            <a:r>
              <a:rPr lang="zh-CN" altLang="en-US" sz="2800" b="1" dirty="0">
                <a:solidFill>
                  <a:schemeClr val="hlink"/>
                </a:solidFill>
                <a:latin typeface="仿宋_GB2312"/>
                <a:ea typeface="仿宋_GB2312"/>
              </a:rPr>
              <a:t>一个结点称为根</a:t>
            </a:r>
            <a:r>
              <a:rPr lang="zh-CN" altLang="en-US" sz="2800" b="1" dirty="0">
                <a:latin typeface="仿宋_GB2312"/>
                <a:ea typeface="仿宋_GB2312"/>
              </a:rPr>
              <a:t>（</a:t>
            </a:r>
            <a:r>
              <a:rPr lang="en-US" altLang="zh-CN" sz="2800" b="1" dirty="0">
                <a:latin typeface="仿宋_GB2312"/>
                <a:ea typeface="仿宋_GB2312"/>
              </a:rPr>
              <a:t>root</a:t>
            </a:r>
            <a:r>
              <a:rPr lang="zh-CN" altLang="en-US" sz="2800" b="1" dirty="0">
                <a:latin typeface="仿宋_GB2312"/>
                <a:ea typeface="仿宋_GB2312"/>
              </a:rPr>
              <a:t>），</a:t>
            </a:r>
            <a:r>
              <a:rPr lang="zh-CN" altLang="en-US" sz="2800" b="1" dirty="0">
                <a:latin typeface="仿宋_GB2312"/>
                <a:ea typeface="仿宋_GB2312"/>
                <a:sym typeface="Wingdings" panose="05000000000000000000" pitchFamily="2" charset="2"/>
              </a:rPr>
              <a:t>当</a:t>
            </a:r>
            <a:r>
              <a:rPr lang="en-US" altLang="zh-CN" sz="2800" b="1" dirty="0">
                <a:latin typeface="仿宋_GB2312"/>
                <a:ea typeface="仿宋_GB2312"/>
              </a:rPr>
              <a:t>n&gt;1</a:t>
            </a:r>
            <a:r>
              <a:rPr lang="zh-CN" altLang="en-US" sz="2800" b="1" dirty="0">
                <a:latin typeface="仿宋_GB2312"/>
                <a:ea typeface="仿宋_GB2312"/>
              </a:rPr>
              <a:t>时，其余的结点分为</a:t>
            </a:r>
            <a:r>
              <a:rPr lang="en-US" altLang="zh-CN" sz="2800" b="1" dirty="0">
                <a:latin typeface="仿宋_GB2312"/>
                <a:ea typeface="仿宋_GB2312"/>
              </a:rPr>
              <a:t>m(m≥0)</a:t>
            </a:r>
            <a:r>
              <a:rPr lang="zh-CN" altLang="en-US" sz="2800" b="1" dirty="0">
                <a:latin typeface="仿宋_GB2312"/>
                <a:ea typeface="仿宋_GB2312"/>
              </a:rPr>
              <a:t>个</a:t>
            </a:r>
            <a:r>
              <a:rPr lang="zh-CN" altLang="en-US" sz="2800" b="1" dirty="0">
                <a:solidFill>
                  <a:schemeClr val="hlink"/>
                </a:solidFill>
                <a:latin typeface="仿宋_GB2312"/>
                <a:ea typeface="仿宋_GB2312"/>
              </a:rPr>
              <a:t>互不相交</a:t>
            </a:r>
            <a:r>
              <a:rPr lang="zh-CN" altLang="en-US" sz="2800" b="1" dirty="0">
                <a:latin typeface="仿宋_GB2312"/>
                <a:ea typeface="仿宋_GB2312"/>
              </a:rPr>
              <a:t>的有限集合</a:t>
            </a:r>
            <a:r>
              <a:rPr lang="en-US" altLang="zh-CN" sz="2800" b="1" dirty="0">
                <a:latin typeface="仿宋_GB2312"/>
                <a:ea typeface="仿宋_GB2312"/>
              </a:rPr>
              <a:t>T1,T2</a:t>
            </a:r>
            <a:r>
              <a:rPr lang="zh-CN" altLang="en-US" sz="2800" b="1" dirty="0">
                <a:latin typeface="仿宋_GB2312"/>
                <a:ea typeface="仿宋_GB2312"/>
              </a:rPr>
              <a:t>，</a:t>
            </a:r>
            <a:r>
              <a:rPr lang="en-US" altLang="zh-CN" sz="2800" b="1" dirty="0">
                <a:latin typeface="Times New Roman" panose="02020603050405020304" pitchFamily="18" charset="0"/>
                <a:ea typeface="仿宋_GB2312"/>
              </a:rPr>
              <a:t>…</a:t>
            </a:r>
            <a:r>
              <a:rPr lang="zh-CN" altLang="en-US" sz="2800" b="1" dirty="0">
                <a:latin typeface="仿宋_GB2312"/>
                <a:ea typeface="仿宋_GB2312"/>
              </a:rPr>
              <a:t>，</a:t>
            </a:r>
            <a:r>
              <a:rPr lang="en-US" altLang="zh-CN" sz="2800" b="1" dirty="0">
                <a:latin typeface="仿宋_GB2312"/>
                <a:ea typeface="仿宋_GB2312"/>
              </a:rPr>
              <a:t>Tm</a:t>
            </a:r>
            <a:r>
              <a:rPr lang="zh-CN" altLang="en-US" sz="2800" b="1" dirty="0">
                <a:latin typeface="仿宋_GB2312"/>
                <a:ea typeface="仿宋_GB2312"/>
              </a:rPr>
              <a:t>。每个集合本身又是棵树，被称作这个根的</a:t>
            </a:r>
            <a:r>
              <a:rPr lang="zh-CN" altLang="en-US" sz="2800" b="1" dirty="0">
                <a:solidFill>
                  <a:schemeClr val="hlink"/>
                </a:solidFill>
                <a:latin typeface="仿宋_GB2312"/>
                <a:ea typeface="仿宋_GB2312"/>
              </a:rPr>
              <a:t>子树</a:t>
            </a:r>
            <a:r>
              <a:rPr lang="zh-CN" altLang="en-US" sz="2800" b="1" dirty="0">
                <a:latin typeface="仿宋_GB2312"/>
                <a:ea typeface="仿宋_GB2312"/>
              </a:rPr>
              <a:t> 。</a:t>
            </a:r>
            <a:endParaRPr lang="zh-CN" altLang="en-US" sz="2800" b="1" dirty="0">
              <a:latin typeface="仿宋_GB2312"/>
              <a:ea typeface="仿宋_GB2312"/>
            </a:endParaRPr>
          </a:p>
        </p:txBody>
      </p:sp>
      <p:sp>
        <p:nvSpPr>
          <p:cNvPr id="201736" name="AutoShape 8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7" name="Group 4"/>
          <p:cNvGrpSpPr/>
          <p:nvPr/>
        </p:nvGrpSpPr>
        <p:grpSpPr>
          <a:xfrm>
            <a:off x="5991225" y="3770313"/>
            <a:ext cx="3257550" cy="2017712"/>
            <a:chOff x="3011" y="84"/>
            <a:chExt cx="2605" cy="1550"/>
          </a:xfrm>
        </p:grpSpPr>
        <p:grpSp>
          <p:nvGrpSpPr>
            <p:cNvPr id="7176" name="Group 5"/>
            <p:cNvGrpSpPr/>
            <p:nvPr/>
          </p:nvGrpSpPr>
          <p:grpSpPr>
            <a:xfrm>
              <a:off x="4164" y="84"/>
              <a:ext cx="276" cy="253"/>
              <a:chOff x="4226" y="1329"/>
              <a:chExt cx="363" cy="378"/>
            </a:xfrm>
          </p:grpSpPr>
          <p:sp>
            <p:nvSpPr>
              <p:cNvPr id="7225" name="Oval 6"/>
              <p:cNvSpPr/>
              <p:nvPr/>
            </p:nvSpPr>
            <p:spPr>
              <a:xfrm>
                <a:off x="4229" y="134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26" name="Rectangle 7"/>
              <p:cNvSpPr/>
              <p:nvPr/>
            </p:nvSpPr>
            <p:spPr>
              <a:xfrm>
                <a:off x="4226" y="1329"/>
                <a:ext cx="223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77" name="Group 8"/>
            <p:cNvGrpSpPr/>
            <p:nvPr/>
          </p:nvGrpSpPr>
          <p:grpSpPr>
            <a:xfrm>
              <a:off x="3588" y="469"/>
              <a:ext cx="283" cy="249"/>
              <a:chOff x="3607" y="2053"/>
              <a:chExt cx="371" cy="373"/>
            </a:xfrm>
          </p:grpSpPr>
          <p:sp>
            <p:nvSpPr>
              <p:cNvPr id="7223" name="Oval 9"/>
              <p:cNvSpPr/>
              <p:nvPr/>
            </p:nvSpPr>
            <p:spPr>
              <a:xfrm>
                <a:off x="3618" y="2067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24" name="Rectangle 10"/>
              <p:cNvSpPr/>
              <p:nvPr/>
            </p:nvSpPr>
            <p:spPr>
              <a:xfrm>
                <a:off x="3607" y="2053"/>
                <a:ext cx="214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78" name="Line 11"/>
            <p:cNvSpPr/>
            <p:nvPr/>
          </p:nvSpPr>
          <p:spPr>
            <a:xfrm flipH="1">
              <a:off x="3744" y="303"/>
              <a:ext cx="471" cy="1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179" name="Group 12"/>
            <p:cNvGrpSpPr/>
            <p:nvPr/>
          </p:nvGrpSpPr>
          <p:grpSpPr>
            <a:xfrm>
              <a:off x="4224" y="470"/>
              <a:ext cx="275" cy="253"/>
              <a:chOff x="4809" y="2070"/>
              <a:chExt cx="360" cy="377"/>
            </a:xfrm>
          </p:grpSpPr>
          <p:sp>
            <p:nvSpPr>
              <p:cNvPr id="7221" name="Oval 13"/>
              <p:cNvSpPr/>
              <p:nvPr/>
            </p:nvSpPr>
            <p:spPr>
              <a:xfrm>
                <a:off x="4809" y="208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22" name="Rectangle 14"/>
              <p:cNvSpPr/>
              <p:nvPr/>
            </p:nvSpPr>
            <p:spPr>
              <a:xfrm>
                <a:off x="4811" y="2070"/>
                <a:ext cx="222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80" name="Group 15"/>
            <p:cNvGrpSpPr/>
            <p:nvPr/>
          </p:nvGrpSpPr>
          <p:grpSpPr>
            <a:xfrm>
              <a:off x="4224" y="912"/>
              <a:ext cx="274" cy="240"/>
              <a:chOff x="5130" y="2764"/>
              <a:chExt cx="360" cy="359"/>
            </a:xfrm>
          </p:grpSpPr>
          <p:sp>
            <p:nvSpPr>
              <p:cNvPr id="7219" name="Oval 16"/>
              <p:cNvSpPr/>
              <p:nvPr/>
            </p:nvSpPr>
            <p:spPr>
              <a:xfrm>
                <a:off x="5130" y="276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20" name="Rectangle 17"/>
              <p:cNvSpPr/>
              <p:nvPr/>
            </p:nvSpPr>
            <p:spPr>
              <a:xfrm>
                <a:off x="5132" y="2766"/>
                <a:ext cx="231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G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81" name="Line 18"/>
            <p:cNvSpPr/>
            <p:nvPr/>
          </p:nvSpPr>
          <p:spPr>
            <a:xfrm>
              <a:off x="5184" y="720"/>
              <a:ext cx="288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182" name="Group 19"/>
            <p:cNvGrpSpPr/>
            <p:nvPr/>
          </p:nvGrpSpPr>
          <p:grpSpPr>
            <a:xfrm>
              <a:off x="3300" y="912"/>
              <a:ext cx="282" cy="239"/>
              <a:chOff x="3940" y="2795"/>
              <a:chExt cx="371" cy="359"/>
            </a:xfrm>
          </p:grpSpPr>
          <p:sp>
            <p:nvSpPr>
              <p:cNvPr id="7217" name="Oval 20"/>
              <p:cNvSpPr/>
              <p:nvPr/>
            </p:nvSpPr>
            <p:spPr>
              <a:xfrm>
                <a:off x="3951" y="2795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18" name="Rectangle 21"/>
              <p:cNvSpPr/>
              <p:nvPr/>
            </p:nvSpPr>
            <p:spPr>
              <a:xfrm>
                <a:off x="3940" y="2797"/>
                <a:ext cx="215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83" name="Group 22"/>
            <p:cNvGrpSpPr/>
            <p:nvPr/>
          </p:nvGrpSpPr>
          <p:grpSpPr>
            <a:xfrm>
              <a:off x="4992" y="912"/>
              <a:ext cx="273" cy="240"/>
              <a:chOff x="3662" y="3556"/>
              <a:chExt cx="360" cy="359"/>
            </a:xfrm>
          </p:grpSpPr>
          <p:sp>
            <p:nvSpPr>
              <p:cNvPr id="7215" name="Oval 23"/>
              <p:cNvSpPr/>
              <p:nvPr/>
            </p:nvSpPr>
            <p:spPr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16" name="Rectangle 24"/>
              <p:cNvSpPr/>
              <p:nvPr/>
            </p:nvSpPr>
            <p:spPr>
              <a:xfrm>
                <a:off x="3731" y="3558"/>
                <a:ext cx="176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I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84" name="Line 25"/>
            <p:cNvSpPr/>
            <p:nvPr/>
          </p:nvSpPr>
          <p:spPr>
            <a:xfrm>
              <a:off x="3504" y="1152"/>
              <a:ext cx="204" cy="25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185" name="Group 26"/>
            <p:cNvGrpSpPr/>
            <p:nvPr/>
          </p:nvGrpSpPr>
          <p:grpSpPr>
            <a:xfrm>
              <a:off x="4950" y="470"/>
              <a:ext cx="274" cy="253"/>
              <a:chOff x="3328" y="2766"/>
              <a:chExt cx="360" cy="377"/>
            </a:xfrm>
          </p:grpSpPr>
          <p:sp>
            <p:nvSpPr>
              <p:cNvPr id="7213" name="Oval 27"/>
              <p:cNvSpPr/>
              <p:nvPr/>
            </p:nvSpPr>
            <p:spPr>
              <a:xfrm>
                <a:off x="3328" y="278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14" name="Rectangle 28"/>
              <p:cNvSpPr/>
              <p:nvPr/>
            </p:nvSpPr>
            <p:spPr>
              <a:xfrm>
                <a:off x="3360" y="2766"/>
                <a:ext cx="223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86" name="Group 29"/>
            <p:cNvGrpSpPr/>
            <p:nvPr/>
          </p:nvGrpSpPr>
          <p:grpSpPr>
            <a:xfrm>
              <a:off x="4656" y="912"/>
              <a:ext cx="274" cy="240"/>
              <a:chOff x="2975" y="3533"/>
              <a:chExt cx="360" cy="359"/>
            </a:xfrm>
          </p:grpSpPr>
          <p:sp>
            <p:nvSpPr>
              <p:cNvPr id="7211" name="Oval 30"/>
              <p:cNvSpPr/>
              <p:nvPr/>
            </p:nvSpPr>
            <p:spPr>
              <a:xfrm>
                <a:off x="2975" y="353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12" name="Rectangle 31"/>
              <p:cNvSpPr/>
              <p:nvPr/>
            </p:nvSpPr>
            <p:spPr>
              <a:xfrm>
                <a:off x="3015" y="3535"/>
                <a:ext cx="231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H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87" name="Group 32"/>
            <p:cNvGrpSpPr/>
            <p:nvPr/>
          </p:nvGrpSpPr>
          <p:grpSpPr>
            <a:xfrm>
              <a:off x="3875" y="912"/>
              <a:ext cx="282" cy="240"/>
              <a:chOff x="4507" y="2763"/>
              <a:chExt cx="371" cy="359"/>
            </a:xfrm>
          </p:grpSpPr>
          <p:sp>
            <p:nvSpPr>
              <p:cNvPr id="7209" name="Oval 33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10" name="Rectangle 34"/>
              <p:cNvSpPr/>
              <p:nvPr/>
            </p:nvSpPr>
            <p:spPr>
              <a:xfrm>
                <a:off x="4507" y="2765"/>
                <a:ext cx="207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F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88" name="Line 35"/>
            <p:cNvSpPr/>
            <p:nvPr/>
          </p:nvSpPr>
          <p:spPr>
            <a:xfrm>
              <a:off x="4368" y="72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89" name="Line 36"/>
            <p:cNvSpPr/>
            <p:nvPr/>
          </p:nvSpPr>
          <p:spPr>
            <a:xfrm>
              <a:off x="3840" y="720"/>
              <a:ext cx="19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0" name="Line 37"/>
            <p:cNvSpPr/>
            <p:nvPr/>
          </p:nvSpPr>
          <p:spPr>
            <a:xfrm flipH="1">
              <a:off x="3456" y="672"/>
              <a:ext cx="192" cy="25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1" name="Line 38"/>
            <p:cNvSpPr/>
            <p:nvPr/>
          </p:nvSpPr>
          <p:spPr>
            <a:xfrm flipH="1">
              <a:off x="4800" y="720"/>
              <a:ext cx="19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2" name="Line 39"/>
            <p:cNvSpPr/>
            <p:nvPr/>
          </p:nvSpPr>
          <p:spPr>
            <a:xfrm>
              <a:off x="4394" y="310"/>
              <a:ext cx="694" cy="17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3" name="Line 40"/>
            <p:cNvSpPr/>
            <p:nvPr/>
          </p:nvSpPr>
          <p:spPr>
            <a:xfrm>
              <a:off x="4330" y="336"/>
              <a:ext cx="38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194" name="Group 41"/>
            <p:cNvGrpSpPr/>
            <p:nvPr/>
          </p:nvGrpSpPr>
          <p:grpSpPr>
            <a:xfrm>
              <a:off x="5343" y="912"/>
              <a:ext cx="273" cy="240"/>
              <a:chOff x="3662" y="3556"/>
              <a:chExt cx="360" cy="359"/>
            </a:xfrm>
          </p:grpSpPr>
          <p:sp>
            <p:nvSpPr>
              <p:cNvPr id="7207" name="Oval 42"/>
              <p:cNvSpPr/>
              <p:nvPr/>
            </p:nvSpPr>
            <p:spPr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08" name="Rectangle 43"/>
              <p:cNvSpPr/>
              <p:nvPr/>
            </p:nvSpPr>
            <p:spPr>
              <a:xfrm>
                <a:off x="3731" y="3558"/>
                <a:ext cx="191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J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95" name="Line 44"/>
            <p:cNvSpPr/>
            <p:nvPr/>
          </p:nvSpPr>
          <p:spPr>
            <a:xfrm>
              <a:off x="5136" y="72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96" name="Line 45"/>
            <p:cNvSpPr/>
            <p:nvPr/>
          </p:nvSpPr>
          <p:spPr>
            <a:xfrm flipH="1">
              <a:off x="3168" y="1152"/>
              <a:ext cx="192" cy="25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197" name="Group 46"/>
            <p:cNvGrpSpPr/>
            <p:nvPr/>
          </p:nvGrpSpPr>
          <p:grpSpPr>
            <a:xfrm>
              <a:off x="4659" y="1357"/>
              <a:ext cx="278" cy="277"/>
              <a:chOff x="4512" y="2708"/>
              <a:chExt cx="366" cy="414"/>
            </a:xfrm>
          </p:grpSpPr>
          <p:sp>
            <p:nvSpPr>
              <p:cNvPr id="7205" name="Oval 47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06" name="Rectangle 48"/>
              <p:cNvSpPr/>
              <p:nvPr/>
            </p:nvSpPr>
            <p:spPr>
              <a:xfrm>
                <a:off x="4512" y="2708"/>
                <a:ext cx="256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M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98" name="Group 49"/>
            <p:cNvGrpSpPr/>
            <p:nvPr/>
          </p:nvGrpSpPr>
          <p:grpSpPr>
            <a:xfrm>
              <a:off x="3648" y="1357"/>
              <a:ext cx="274" cy="277"/>
              <a:chOff x="4518" y="2708"/>
              <a:chExt cx="360" cy="414"/>
            </a:xfrm>
          </p:grpSpPr>
          <p:sp>
            <p:nvSpPr>
              <p:cNvPr id="7203" name="Oval 50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04" name="Rectangle 51"/>
              <p:cNvSpPr/>
              <p:nvPr/>
            </p:nvSpPr>
            <p:spPr>
              <a:xfrm>
                <a:off x="4520" y="2708"/>
                <a:ext cx="215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L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99" name="Group 52"/>
            <p:cNvGrpSpPr/>
            <p:nvPr/>
          </p:nvGrpSpPr>
          <p:grpSpPr>
            <a:xfrm>
              <a:off x="3011" y="1357"/>
              <a:ext cx="282" cy="277"/>
              <a:chOff x="4507" y="2708"/>
              <a:chExt cx="371" cy="414"/>
            </a:xfrm>
          </p:grpSpPr>
          <p:sp>
            <p:nvSpPr>
              <p:cNvPr id="7201" name="Oval 53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02" name="Rectangle 54"/>
              <p:cNvSpPr/>
              <p:nvPr/>
            </p:nvSpPr>
            <p:spPr>
              <a:xfrm>
                <a:off x="4507" y="2708"/>
                <a:ext cx="231" cy="2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K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200" name="Line 55"/>
            <p:cNvSpPr/>
            <p:nvPr/>
          </p:nvSpPr>
          <p:spPr>
            <a:xfrm>
              <a:off x="4800" y="1152"/>
              <a:ext cx="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01734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charRg st="4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01734">
                                            <p:txEl>
                                              <p:charRg st="45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4" grpId="0" build="p"/>
      <p:bldP spid="201735" grpId="0"/>
      <p:bldP spid="2017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8195" name="Group 4"/>
          <p:cNvGrpSpPr/>
          <p:nvPr/>
        </p:nvGrpSpPr>
        <p:grpSpPr>
          <a:xfrm>
            <a:off x="4406900" y="901700"/>
            <a:ext cx="4038600" cy="2854325"/>
            <a:chOff x="2640" y="562"/>
            <a:chExt cx="2832" cy="1948"/>
          </a:xfrm>
        </p:grpSpPr>
        <p:sp>
          <p:nvSpPr>
            <p:cNvPr id="8201" name="Line 5"/>
            <p:cNvSpPr/>
            <p:nvPr/>
          </p:nvSpPr>
          <p:spPr>
            <a:xfrm>
              <a:off x="4992" y="1392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2" name="Line 6"/>
            <p:cNvSpPr/>
            <p:nvPr/>
          </p:nvSpPr>
          <p:spPr>
            <a:xfrm flipH="1">
              <a:off x="4464" y="1392"/>
              <a:ext cx="28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3" name="Line 7"/>
            <p:cNvSpPr/>
            <p:nvPr/>
          </p:nvSpPr>
          <p:spPr>
            <a:xfrm>
              <a:off x="4848" y="1440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4" name="Line 8"/>
            <p:cNvSpPr/>
            <p:nvPr/>
          </p:nvSpPr>
          <p:spPr>
            <a:xfrm>
              <a:off x="4464" y="1968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5" name="Line 9"/>
            <p:cNvSpPr/>
            <p:nvPr/>
          </p:nvSpPr>
          <p:spPr>
            <a:xfrm>
              <a:off x="4128" y="816"/>
              <a:ext cx="67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6" name="Line 10"/>
            <p:cNvSpPr/>
            <p:nvPr/>
          </p:nvSpPr>
          <p:spPr>
            <a:xfrm flipH="1">
              <a:off x="3312" y="816"/>
              <a:ext cx="576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7" name="Line 11"/>
            <p:cNvSpPr/>
            <p:nvPr/>
          </p:nvSpPr>
          <p:spPr>
            <a:xfrm>
              <a:off x="4032" y="864"/>
              <a:ext cx="0" cy="110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8" name="Line 12"/>
            <p:cNvSpPr/>
            <p:nvPr/>
          </p:nvSpPr>
          <p:spPr>
            <a:xfrm>
              <a:off x="3360" y="1392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9" name="Line 13"/>
            <p:cNvSpPr/>
            <p:nvPr/>
          </p:nvSpPr>
          <p:spPr>
            <a:xfrm>
              <a:off x="3120" y="1920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0" name="Line 14"/>
            <p:cNvSpPr/>
            <p:nvPr/>
          </p:nvSpPr>
          <p:spPr>
            <a:xfrm flipH="1">
              <a:off x="2784" y="1392"/>
              <a:ext cx="432" cy="96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1" name="Oval 15"/>
            <p:cNvSpPr/>
            <p:nvPr/>
          </p:nvSpPr>
          <p:spPr>
            <a:xfrm>
              <a:off x="3840" y="57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12" name="Oval 16"/>
            <p:cNvSpPr/>
            <p:nvPr/>
          </p:nvSpPr>
          <p:spPr>
            <a:xfrm>
              <a:off x="3120" y="110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13" name="Oval 17"/>
            <p:cNvSpPr/>
            <p:nvPr/>
          </p:nvSpPr>
          <p:spPr>
            <a:xfrm>
              <a:off x="3840" y="110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14" name="Oval 18"/>
            <p:cNvSpPr/>
            <p:nvPr/>
          </p:nvSpPr>
          <p:spPr>
            <a:xfrm>
              <a:off x="4704" y="110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15" name="Oval 19"/>
            <p:cNvSpPr/>
            <p:nvPr/>
          </p:nvSpPr>
          <p:spPr>
            <a:xfrm>
              <a:off x="2880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16" name="Oval 20"/>
            <p:cNvSpPr/>
            <p:nvPr/>
          </p:nvSpPr>
          <p:spPr>
            <a:xfrm>
              <a:off x="3312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17" name="Oval 21"/>
            <p:cNvSpPr/>
            <p:nvPr/>
          </p:nvSpPr>
          <p:spPr>
            <a:xfrm>
              <a:off x="3840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18" name="Oval 22"/>
            <p:cNvSpPr/>
            <p:nvPr/>
          </p:nvSpPr>
          <p:spPr>
            <a:xfrm>
              <a:off x="4272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19" name="Oval 23"/>
            <p:cNvSpPr/>
            <p:nvPr/>
          </p:nvSpPr>
          <p:spPr>
            <a:xfrm>
              <a:off x="4704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20" name="Oval 24"/>
            <p:cNvSpPr/>
            <p:nvPr/>
          </p:nvSpPr>
          <p:spPr>
            <a:xfrm>
              <a:off x="5136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21" name="Oval 25"/>
            <p:cNvSpPr/>
            <p:nvPr/>
          </p:nvSpPr>
          <p:spPr>
            <a:xfrm>
              <a:off x="2640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22" name="Oval 26"/>
            <p:cNvSpPr/>
            <p:nvPr/>
          </p:nvSpPr>
          <p:spPr>
            <a:xfrm>
              <a:off x="3120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23" name="Oval 27"/>
            <p:cNvSpPr/>
            <p:nvPr/>
          </p:nvSpPr>
          <p:spPr>
            <a:xfrm>
              <a:off x="4272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8224" name="Text Box 28"/>
            <p:cNvSpPr txBox="1"/>
            <p:nvPr/>
          </p:nvSpPr>
          <p:spPr>
            <a:xfrm>
              <a:off x="3872" y="562"/>
              <a:ext cx="310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5" name="Text Box 29"/>
            <p:cNvSpPr txBox="1"/>
            <p:nvPr/>
          </p:nvSpPr>
          <p:spPr>
            <a:xfrm>
              <a:off x="3872" y="1091"/>
              <a:ext cx="310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6" name="Text Box 30"/>
            <p:cNvSpPr txBox="1"/>
            <p:nvPr/>
          </p:nvSpPr>
          <p:spPr>
            <a:xfrm>
              <a:off x="3867" y="1627"/>
              <a:ext cx="323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7" name="Text Box 31"/>
            <p:cNvSpPr txBox="1"/>
            <p:nvPr/>
          </p:nvSpPr>
          <p:spPr>
            <a:xfrm>
              <a:off x="3153" y="1091"/>
              <a:ext cx="310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8" name="Text Box 32"/>
            <p:cNvSpPr txBox="1"/>
            <p:nvPr/>
          </p:nvSpPr>
          <p:spPr>
            <a:xfrm>
              <a:off x="4737" y="1101"/>
              <a:ext cx="310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9" name="Text Box 33"/>
            <p:cNvSpPr txBox="1"/>
            <p:nvPr/>
          </p:nvSpPr>
          <p:spPr>
            <a:xfrm>
              <a:off x="2919" y="1627"/>
              <a:ext cx="295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0" name="Text Box 34"/>
            <p:cNvSpPr txBox="1"/>
            <p:nvPr/>
          </p:nvSpPr>
          <p:spPr>
            <a:xfrm>
              <a:off x="3352" y="1627"/>
              <a:ext cx="282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1" name="Text Box 35"/>
            <p:cNvSpPr txBox="1"/>
            <p:nvPr/>
          </p:nvSpPr>
          <p:spPr>
            <a:xfrm>
              <a:off x="2683" y="2156"/>
              <a:ext cx="310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K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2" name="Text Box 36"/>
            <p:cNvSpPr txBox="1"/>
            <p:nvPr/>
          </p:nvSpPr>
          <p:spPr>
            <a:xfrm>
              <a:off x="3154" y="2156"/>
              <a:ext cx="282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L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3" name="Text Box 37"/>
            <p:cNvSpPr txBox="1"/>
            <p:nvPr/>
          </p:nvSpPr>
          <p:spPr>
            <a:xfrm>
              <a:off x="4300" y="1627"/>
              <a:ext cx="309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4" name="Text Box 38"/>
            <p:cNvSpPr txBox="1"/>
            <p:nvPr/>
          </p:nvSpPr>
          <p:spPr>
            <a:xfrm>
              <a:off x="4260" y="2156"/>
              <a:ext cx="337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M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5" name="Text Box 39"/>
            <p:cNvSpPr txBox="1"/>
            <p:nvPr/>
          </p:nvSpPr>
          <p:spPr>
            <a:xfrm>
              <a:off x="4760" y="1628"/>
              <a:ext cx="198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6" name="Text Box 40"/>
            <p:cNvSpPr txBox="1"/>
            <p:nvPr/>
          </p:nvSpPr>
          <p:spPr>
            <a:xfrm>
              <a:off x="5183" y="1628"/>
              <a:ext cx="268" cy="3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FFFFCC"/>
                  </a:solidFill>
                </a:rPr>
                <a:t>J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196" name="Text Box 41"/>
          <p:cNvSpPr txBox="1"/>
          <p:nvPr/>
        </p:nvSpPr>
        <p:spPr>
          <a:xfrm>
            <a:off x="1038225" y="512763"/>
            <a:ext cx="10001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A30398"/>
                </a:solidFill>
                <a:latin typeface="Times New Roman" panose="02020603050405020304" pitchFamily="18" charset="0"/>
                <a:ea typeface="楷体_GB2312"/>
              </a:rPr>
              <a:t>例如</a:t>
            </a:r>
            <a:endParaRPr lang="zh-CN" altLang="en-US" b="1" dirty="0">
              <a:solidFill>
                <a:srgbClr val="A30398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197" name="Oval 42"/>
          <p:cNvSpPr/>
          <p:nvPr/>
        </p:nvSpPr>
        <p:spPr>
          <a:xfrm>
            <a:off x="1511300" y="1587500"/>
            <a:ext cx="533400" cy="5334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76393B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8" name="Text Box 43"/>
          <p:cNvSpPr txBox="1"/>
          <p:nvPr/>
        </p:nvSpPr>
        <p:spPr>
          <a:xfrm>
            <a:off x="977900" y="2349500"/>
            <a:ext cx="23288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只有根结点的树</a:t>
            </a:r>
            <a:endParaRPr lang="zh-CN" altLang="en-US" sz="2400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199" name="Text Box 44"/>
          <p:cNvSpPr txBox="1"/>
          <p:nvPr/>
        </p:nvSpPr>
        <p:spPr>
          <a:xfrm>
            <a:off x="5397500" y="3873500"/>
            <a:ext cx="23272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有</a:t>
            </a:r>
            <a:r>
              <a:rPr lang="en-US" altLang="zh-CN" sz="2400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13</a:t>
            </a:r>
            <a:r>
              <a:rPr lang="zh-CN" altLang="en-US" sz="2400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个结点的树</a:t>
            </a:r>
            <a:endParaRPr lang="zh-CN" altLang="en-US" sz="2400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200" name="Text Box 45"/>
          <p:cNvSpPr txBox="1"/>
          <p:nvPr/>
        </p:nvSpPr>
        <p:spPr>
          <a:xfrm>
            <a:off x="825500" y="4643438"/>
            <a:ext cx="8299450" cy="16303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其中：</a:t>
            </a:r>
            <a:r>
              <a:rPr lang="en-US" altLang="zh-CN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zh-CN" altLang="en-US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是根；其余结点分成三个互不相交的子集，</a:t>
            </a:r>
            <a:endParaRPr lang="zh-CN" altLang="en-US" sz="2800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T1={B,E,F,K,L}</a:t>
            </a:r>
            <a:r>
              <a:rPr lang="zh-CN" altLang="en-US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； </a:t>
            </a:r>
            <a:r>
              <a:rPr lang="en-US" altLang="zh-CN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T2={C,G}</a:t>
            </a:r>
            <a:r>
              <a:rPr lang="zh-CN" altLang="en-US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； </a:t>
            </a:r>
            <a:r>
              <a:rPr lang="en-US" altLang="zh-CN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T3={D,H,I,J,M},</a:t>
            </a:r>
            <a:endParaRPr lang="en-US" altLang="zh-CN" sz="2800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T1,T2,T3</a:t>
            </a:r>
            <a:r>
              <a:rPr lang="zh-CN" altLang="en-US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都是根</a:t>
            </a:r>
            <a:r>
              <a:rPr lang="en-US" altLang="zh-CN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zh-CN" altLang="en-US" sz="2800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的子树，且本身也是一棵树</a:t>
            </a:r>
            <a:endParaRPr lang="zh-CN" altLang="en-US" sz="2800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51054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</a:rPr>
              <a:t>树的表示法有几种：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221189" name="Rectangle 5"/>
          <p:cNvSpPr/>
          <p:nvPr/>
        </p:nvSpPr>
        <p:spPr>
          <a:xfrm>
            <a:off x="685800" y="990600"/>
            <a:ext cx="5348288" cy="3506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" lvl="0" indent="-476250" defTabSz="914400" eaLnBrk="1" hangingPunct="1">
              <a:spcBef>
                <a:spcPct val="50000"/>
              </a:spcBef>
              <a:tabLst>
                <a:tab pos="952500" algn="l"/>
              </a:tabLst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hlinkClick r:id="" action="ppaction://hlinkshowjump?jump=nextslide"/>
              </a:rPr>
              <a:t>图形表示法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476250" lvl="0" indent="-476250" defTabSz="914400" eaLnBrk="1" hangingPunct="1">
              <a:spcBef>
                <a:spcPct val="50000"/>
              </a:spcBef>
              <a:tabLst>
                <a:tab pos="9525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嵌套集合表示法</a:t>
            </a:r>
            <a:endParaRPr lang="zh-CN" altLang="en-US" b="1" dirty="0">
              <a:latin typeface="Times New Roman" panose="02020603050405020304" pitchFamily="18" charset="0"/>
              <a:ea typeface="楷体_GB2312"/>
            </a:endParaRPr>
          </a:p>
          <a:p>
            <a:pPr marL="476250" lvl="0" indent="-476250" defTabSz="914400" eaLnBrk="1" hangingPunct="1">
              <a:spcBef>
                <a:spcPct val="50000"/>
              </a:spcBef>
              <a:tabLst>
                <a:tab pos="9525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楷体_GB2312"/>
                <a:hlinkClick r:id="rId1" action="ppaction://hlinksldjump"/>
              </a:rPr>
              <a:t>广义表表示法</a:t>
            </a:r>
            <a:endParaRPr lang="zh-CN" altLang="en-US" b="1" dirty="0">
              <a:latin typeface="Times New Roman" panose="02020603050405020304" pitchFamily="18" charset="0"/>
              <a:ea typeface="楷体_GB2312"/>
            </a:endParaRPr>
          </a:p>
          <a:p>
            <a:pPr marL="476250" lvl="0" indent="-476250" defTabSz="914400" eaLnBrk="1" hangingPunct="1">
              <a:spcBef>
                <a:spcPct val="50000"/>
              </a:spcBef>
              <a:tabLst>
                <a:tab pos="9525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目录表示法</a:t>
            </a:r>
            <a:endParaRPr lang="zh-CN" altLang="en-US" b="1" dirty="0">
              <a:latin typeface="Times New Roman" panose="02020603050405020304" pitchFamily="18" charset="0"/>
              <a:ea typeface="楷体_GB2312"/>
            </a:endParaRPr>
          </a:p>
          <a:p>
            <a:pPr marL="476250" lvl="0" indent="-476250" defTabSz="914400" eaLnBrk="1" hangingPunct="1">
              <a:spcBef>
                <a:spcPct val="50000"/>
              </a:spcBef>
              <a:tabLst>
                <a:tab pos="9525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楷体_GB2312"/>
                <a:hlinkClick r:id="rId2" action="ppaction://hlinksldjump"/>
              </a:rPr>
              <a:t>左孩子－右兄弟表示法</a:t>
            </a:r>
            <a:endParaRPr lang="zh-CN" altLang="en-US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21190" name="Rectangle 6"/>
          <p:cNvSpPr/>
          <p:nvPr/>
        </p:nvSpPr>
        <p:spPr>
          <a:xfrm>
            <a:off x="4800600" y="2209800"/>
            <a:ext cx="3657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这些表示法的示意图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参见教材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P120</a:t>
            </a:r>
            <a:endParaRPr lang="en-US" altLang="zh-CN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221193" name="AutoShape 9"/>
          <p:cNvSpPr/>
          <p:nvPr/>
        </p:nvSpPr>
        <p:spPr>
          <a:xfrm>
            <a:off x="4191000" y="1828800"/>
            <a:ext cx="228600" cy="1828800"/>
          </a:xfrm>
          <a:prstGeom prst="rightBrace">
            <a:avLst>
              <a:gd name="adj1" fmla="val 66666"/>
              <a:gd name="adj2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21194" name="Rectangle 10"/>
          <p:cNvSpPr/>
          <p:nvPr/>
        </p:nvSpPr>
        <p:spPr>
          <a:xfrm>
            <a:off x="609600" y="5257800"/>
            <a:ext cx="7162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hlinkClick r:id="rId3" action="ppaction://hlinksldjump"/>
              </a:rPr>
              <a:t>树的抽象数据类型定义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参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见教材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  <a:sym typeface="Wingdings" panose="05000000000000000000" pitchFamily="2" charset="2"/>
              </a:rPr>
              <a:t>P118-119</a:t>
            </a:r>
            <a:endParaRPr lang="en-US" altLang="zh-CN" sz="2800" b="1" dirty="0">
              <a:solidFill>
                <a:schemeClr val="accent1"/>
              </a:solidFill>
              <a:latin typeface="楷体_GB2312"/>
              <a:ea typeface="楷体_GB2312"/>
              <a:sym typeface="Wingdings" panose="05000000000000000000" pitchFamily="2" charset="2"/>
            </a:endParaRPr>
          </a:p>
        </p:txBody>
      </p:sp>
      <p:sp>
        <p:nvSpPr>
          <p:cNvPr id="221195" name="AutoShape 11">
            <a:hlinkClick r:id="rId4" action="ppaction://hlinksldjump"/>
          </p:cNvPr>
          <p:cNvSpPr/>
          <p:nvPr/>
        </p:nvSpPr>
        <p:spPr>
          <a:xfrm flipH="1"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9" grpId="0"/>
      <p:bldP spid="221190" grpId="0"/>
      <p:bldP spid="221193" grpId="0" animBg="1"/>
      <p:bldP spid="221194" grpId="0"/>
      <p:bldP spid="22119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76200" y="152400"/>
            <a:ext cx="2743200" cy="381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</a:rPr>
              <a:t>图形表示法：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  <p:grpSp>
        <p:nvGrpSpPr>
          <p:cNvPr id="2" name="Group 35"/>
          <p:cNvGrpSpPr/>
          <p:nvPr/>
        </p:nvGrpSpPr>
        <p:grpSpPr>
          <a:xfrm>
            <a:off x="595313" y="2525713"/>
            <a:ext cx="4041775" cy="1281112"/>
            <a:chOff x="375" y="1591"/>
            <a:chExt cx="2546" cy="807"/>
          </a:xfrm>
        </p:grpSpPr>
        <p:sp>
          <p:nvSpPr>
            <p:cNvPr id="10269" name="Rectangle 11"/>
            <p:cNvSpPr/>
            <p:nvPr/>
          </p:nvSpPr>
          <p:spPr>
            <a:xfrm>
              <a:off x="375" y="2101"/>
              <a:ext cx="617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教师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70" name="Rectangle 12"/>
            <p:cNvSpPr/>
            <p:nvPr/>
          </p:nvSpPr>
          <p:spPr>
            <a:xfrm>
              <a:off x="1262" y="2101"/>
              <a:ext cx="617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学生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71" name="Rectangle 13"/>
            <p:cNvSpPr/>
            <p:nvPr/>
          </p:nvSpPr>
          <p:spPr>
            <a:xfrm>
              <a:off x="2149" y="2101"/>
              <a:ext cx="772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其他人员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72" name="Line 14"/>
            <p:cNvSpPr/>
            <p:nvPr/>
          </p:nvSpPr>
          <p:spPr>
            <a:xfrm flipH="1">
              <a:off x="683" y="1591"/>
              <a:ext cx="309" cy="5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73" name="Line 15"/>
            <p:cNvSpPr/>
            <p:nvPr/>
          </p:nvSpPr>
          <p:spPr>
            <a:xfrm>
              <a:off x="992" y="1591"/>
              <a:ext cx="579" cy="5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74" name="Line 16"/>
            <p:cNvSpPr/>
            <p:nvPr/>
          </p:nvSpPr>
          <p:spPr>
            <a:xfrm>
              <a:off x="992" y="1591"/>
              <a:ext cx="1543" cy="5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" name="Group 37"/>
          <p:cNvGrpSpPr/>
          <p:nvPr/>
        </p:nvGrpSpPr>
        <p:grpSpPr>
          <a:xfrm>
            <a:off x="533400" y="3806825"/>
            <a:ext cx="4484688" cy="1146175"/>
            <a:chOff x="336" y="2398"/>
            <a:chExt cx="2825" cy="722"/>
          </a:xfrm>
        </p:grpSpPr>
        <p:sp>
          <p:nvSpPr>
            <p:cNvPr id="10261" name="Rectangle 17"/>
            <p:cNvSpPr/>
            <p:nvPr/>
          </p:nvSpPr>
          <p:spPr>
            <a:xfrm>
              <a:off x="336" y="2823"/>
              <a:ext cx="617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2003</a:t>
              </a: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级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62" name="Rectangle 18"/>
            <p:cNvSpPr/>
            <p:nvPr/>
          </p:nvSpPr>
          <p:spPr>
            <a:xfrm>
              <a:off x="1056" y="2823"/>
              <a:ext cx="617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2004</a:t>
              </a: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级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63" name="Rectangle 19"/>
            <p:cNvSpPr/>
            <p:nvPr/>
          </p:nvSpPr>
          <p:spPr>
            <a:xfrm>
              <a:off x="1776" y="2823"/>
              <a:ext cx="617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2005</a:t>
              </a: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级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64" name="Rectangle 20"/>
            <p:cNvSpPr/>
            <p:nvPr/>
          </p:nvSpPr>
          <p:spPr>
            <a:xfrm>
              <a:off x="2544" y="2823"/>
              <a:ext cx="617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2006</a:t>
              </a: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级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65" name="Line 21"/>
            <p:cNvSpPr/>
            <p:nvPr/>
          </p:nvSpPr>
          <p:spPr>
            <a:xfrm flipH="1">
              <a:off x="645" y="2398"/>
              <a:ext cx="926" cy="4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6" name="Line 22"/>
            <p:cNvSpPr/>
            <p:nvPr/>
          </p:nvSpPr>
          <p:spPr>
            <a:xfrm flipH="1">
              <a:off x="1416" y="2398"/>
              <a:ext cx="155" cy="4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7" name="Line 23"/>
            <p:cNvSpPr/>
            <p:nvPr/>
          </p:nvSpPr>
          <p:spPr>
            <a:xfrm>
              <a:off x="1571" y="2398"/>
              <a:ext cx="493" cy="4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8" name="Line 24"/>
            <p:cNvSpPr/>
            <p:nvPr/>
          </p:nvSpPr>
          <p:spPr>
            <a:xfrm>
              <a:off x="1571" y="2398"/>
              <a:ext cx="1466" cy="4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73081" name="Rectangle 25"/>
          <p:cNvSpPr/>
          <p:nvPr/>
        </p:nvSpPr>
        <p:spPr>
          <a:xfrm>
            <a:off x="6705600" y="2667000"/>
            <a:ext cx="1130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仿宋_GB2312"/>
              </a:rPr>
              <a:t>……</a:t>
            </a:r>
            <a:endParaRPr lang="en-US" altLang="zh-CN" sz="2400" b="1" dirty="0">
              <a:latin typeface="仿宋_GB2312"/>
              <a:ea typeface="仿宋_GB2312"/>
            </a:endParaRPr>
          </a:p>
        </p:txBody>
      </p:sp>
      <p:sp>
        <p:nvSpPr>
          <p:cNvPr id="173060" name="Rectangle 4"/>
          <p:cNvSpPr/>
          <p:nvPr/>
        </p:nvSpPr>
        <p:spPr>
          <a:xfrm>
            <a:off x="3203575" y="533400"/>
            <a:ext cx="1800225" cy="47148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工业大学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962025" y="990600"/>
            <a:ext cx="7953375" cy="1538288"/>
            <a:chOff x="606" y="624"/>
            <a:chExt cx="5010" cy="969"/>
          </a:xfrm>
        </p:grpSpPr>
        <p:sp>
          <p:nvSpPr>
            <p:cNvPr id="10254" name="Rectangle 5"/>
            <p:cNvSpPr/>
            <p:nvPr/>
          </p:nvSpPr>
          <p:spPr>
            <a:xfrm>
              <a:off x="3216" y="1296"/>
              <a:ext cx="810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物理系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55" name="Rectangle 6"/>
            <p:cNvSpPr/>
            <p:nvPr/>
          </p:nvSpPr>
          <p:spPr>
            <a:xfrm>
              <a:off x="606" y="1294"/>
              <a:ext cx="772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计算机系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56" name="Rectangle 7"/>
            <p:cNvSpPr/>
            <p:nvPr/>
          </p:nvSpPr>
          <p:spPr>
            <a:xfrm>
              <a:off x="4176" y="1296"/>
              <a:ext cx="771" cy="29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仿宋_GB2312"/>
                  <a:ea typeface="仿宋_GB2312"/>
                </a:rPr>
                <a:t>化学系</a:t>
              </a:r>
              <a:endParaRPr lang="zh-CN" altLang="en-US" sz="2400" b="1" dirty="0">
                <a:solidFill>
                  <a:schemeClr val="bg1"/>
                </a:solidFill>
                <a:latin typeface="仿宋_GB2312"/>
                <a:ea typeface="仿宋_GB2312"/>
              </a:endParaRPr>
            </a:p>
          </p:txBody>
        </p:sp>
        <p:sp>
          <p:nvSpPr>
            <p:cNvPr id="10257" name="Line 8"/>
            <p:cNvSpPr/>
            <p:nvPr/>
          </p:nvSpPr>
          <p:spPr>
            <a:xfrm flipH="1">
              <a:off x="1056" y="624"/>
              <a:ext cx="1392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58" name="Line 9"/>
            <p:cNvSpPr/>
            <p:nvPr/>
          </p:nvSpPr>
          <p:spPr>
            <a:xfrm>
              <a:off x="2496" y="624"/>
              <a:ext cx="1152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59" name="Line 10"/>
            <p:cNvSpPr/>
            <p:nvPr/>
          </p:nvSpPr>
          <p:spPr>
            <a:xfrm>
              <a:off x="2592" y="624"/>
              <a:ext cx="1968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0260" name="Rectangle 26"/>
            <p:cNvSpPr/>
            <p:nvPr/>
          </p:nvSpPr>
          <p:spPr>
            <a:xfrm>
              <a:off x="4992" y="1152"/>
              <a:ext cx="62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dirty="0">
                  <a:latin typeface="Times New Roman" panose="02020603050405020304" pitchFamily="18" charset="0"/>
                </a:rPr>
                <a:t>……</a:t>
              </a:r>
              <a:endParaRPr lang="en-US" altLang="zh-CN" dirty="0"/>
            </a:p>
          </p:txBody>
        </p:sp>
      </p:grpSp>
      <p:sp>
        <p:nvSpPr>
          <p:cNvPr id="173083" name="AutoShape 27"/>
          <p:cNvSpPr/>
          <p:nvPr/>
        </p:nvSpPr>
        <p:spPr>
          <a:xfrm>
            <a:off x="5029200" y="5410200"/>
            <a:ext cx="863600" cy="571500"/>
          </a:xfrm>
          <a:prstGeom prst="wedgeRoundRectCallout">
            <a:avLst>
              <a:gd name="adj1" fmla="val -194116"/>
              <a:gd name="adj2" fmla="val -128611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9900FF"/>
                </a:solidFill>
                <a:ea typeface="楷体_GB2312"/>
              </a:rPr>
              <a:t>叶子</a:t>
            </a:r>
            <a:endParaRPr lang="zh-CN" altLang="en-US" sz="2400" b="1" dirty="0">
              <a:solidFill>
                <a:srgbClr val="9900FF"/>
              </a:solidFill>
              <a:ea typeface="楷体_GB2312"/>
            </a:endParaRPr>
          </a:p>
        </p:txBody>
      </p:sp>
      <p:sp>
        <p:nvSpPr>
          <p:cNvPr id="173085" name="AutoShape 29"/>
          <p:cNvSpPr/>
          <p:nvPr/>
        </p:nvSpPr>
        <p:spPr>
          <a:xfrm>
            <a:off x="6156325" y="549275"/>
            <a:ext cx="863600" cy="571500"/>
          </a:xfrm>
          <a:prstGeom prst="wedgeRoundRectCallout">
            <a:avLst>
              <a:gd name="adj1" fmla="val -186398"/>
              <a:gd name="adj2" fmla="val -29722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9900FF"/>
                </a:solidFill>
                <a:latin typeface="Times New Roman" panose="02020603050405020304" pitchFamily="18" charset="0"/>
                <a:ea typeface="楷体_GB2312"/>
              </a:rPr>
              <a:t>根</a:t>
            </a:r>
            <a:endParaRPr lang="zh-CN" altLang="en-US" sz="2400" b="1" dirty="0">
              <a:solidFill>
                <a:srgbClr val="9900FF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73086" name="Oval 30"/>
          <p:cNvSpPr/>
          <p:nvPr/>
        </p:nvSpPr>
        <p:spPr>
          <a:xfrm>
            <a:off x="0" y="1447800"/>
            <a:ext cx="5562600" cy="4419600"/>
          </a:xfrm>
          <a:prstGeom prst="ellipse">
            <a:avLst/>
          </a:prstGeom>
          <a:noFill/>
          <a:ln w="22225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3087" name="AutoShape 31"/>
          <p:cNvSpPr/>
          <p:nvPr/>
        </p:nvSpPr>
        <p:spPr>
          <a:xfrm>
            <a:off x="6324600" y="4191000"/>
            <a:ext cx="863600" cy="571500"/>
          </a:xfrm>
          <a:prstGeom prst="wedgeRoundRectCallout">
            <a:avLst>
              <a:gd name="adj1" fmla="val -139523"/>
              <a:gd name="adj2" fmla="val -115278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9900FF"/>
                </a:solidFill>
                <a:latin typeface="仿宋_GB2312"/>
                <a:ea typeface="仿宋_GB2312"/>
              </a:rPr>
              <a:t>子树</a:t>
            </a:r>
            <a:endParaRPr lang="zh-CN" altLang="en-US" sz="2400" b="1" dirty="0">
              <a:solidFill>
                <a:srgbClr val="9900FF"/>
              </a:solidFill>
              <a:latin typeface="仿宋_GB2312"/>
              <a:ea typeface="仿宋_GB2312"/>
            </a:endParaRPr>
          </a:p>
        </p:txBody>
      </p:sp>
      <p:sp>
        <p:nvSpPr>
          <p:cNvPr id="173088" name="AutoShape 32">
            <a:hlinkClick r:id="" action="ppaction://hlinkshowjump?jump=previousslide"/>
          </p:cNvPr>
          <p:cNvSpPr/>
          <p:nvPr/>
        </p:nvSpPr>
        <p:spPr>
          <a:xfrm flipH="1"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3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3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3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3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81" grpId="0"/>
      <p:bldP spid="173060" grpId="0" animBg="1"/>
      <p:bldP spid="173083" grpId="0" animBg="1"/>
      <p:bldP spid="173085" grpId="0" animBg="1"/>
      <p:bldP spid="173086" grpId="0" animBg="1"/>
      <p:bldP spid="173087" grpId="0" animBg="1"/>
      <p:bldP spid="1730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838200" y="381000"/>
            <a:ext cx="5943600" cy="762000"/>
          </a:xfrm>
        </p:spPr>
        <p:txBody>
          <a:bodyPr vert="horz" wrap="square" lIns="92075" tIns="46038" rIns="92075" bIns="46038" anchor="ctr" anchorCtr="0"/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</a:rPr>
              <a:t>广义表表示法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1268" name="Rectangle 3"/>
          <p:cNvSpPr/>
          <p:nvPr/>
        </p:nvSpPr>
        <p:spPr>
          <a:xfrm>
            <a:off x="508000" y="1309688"/>
            <a:ext cx="8128000" cy="14335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zh-TW" altLang="en-US" sz="2800" b="1" dirty="0">
                <a:ea typeface="楷体_GB2312"/>
              </a:rPr>
              <a:t>( </a:t>
            </a:r>
            <a:r>
              <a:rPr lang="en-US" altLang="zh-TW" sz="2800" b="1" dirty="0">
                <a:ea typeface="楷体_GB2312"/>
              </a:rPr>
              <a:t>A ( B ( E ( K, L ), F ), C ( G ), D ( H ( M ), I, J ) ) </a:t>
            </a:r>
            <a:endParaRPr lang="en-US" altLang="zh-TW" sz="2800" b="1" dirty="0">
              <a:ea typeface="楷体_GB2312"/>
            </a:endParaRPr>
          </a:p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ea typeface="楷体_GB2312"/>
              </a:rPr>
              <a:t>根作为</a:t>
            </a:r>
            <a:r>
              <a:rPr lang="zh-CN" altLang="en-US" sz="2800" b="1" dirty="0">
                <a:ea typeface="楷体_GB2312"/>
              </a:rPr>
              <a:t>由子树森林组成的</a:t>
            </a:r>
            <a:r>
              <a:rPr lang="zh-CN" altLang="en-US" sz="2800" b="1" dirty="0">
                <a:solidFill>
                  <a:schemeClr val="hlink"/>
                </a:solidFill>
                <a:ea typeface="楷体_GB2312"/>
              </a:rPr>
              <a:t>表的名字写在表的左边</a:t>
            </a:r>
            <a:endParaRPr lang="zh-TW" altLang="en-US" sz="2800" b="1" dirty="0">
              <a:solidFill>
                <a:schemeClr val="hlink"/>
              </a:solidFill>
              <a:ea typeface="楷体_GB2312"/>
            </a:endParaRPr>
          </a:p>
        </p:txBody>
      </p:sp>
      <p:grpSp>
        <p:nvGrpSpPr>
          <p:cNvPr id="11269" name="Group 4"/>
          <p:cNvGrpSpPr/>
          <p:nvPr/>
        </p:nvGrpSpPr>
        <p:grpSpPr>
          <a:xfrm>
            <a:off x="609600" y="2667000"/>
            <a:ext cx="7569200" cy="685800"/>
            <a:chOff x="804" y="2496"/>
            <a:chExt cx="4768" cy="432"/>
          </a:xfrm>
        </p:grpSpPr>
        <p:sp>
          <p:nvSpPr>
            <p:cNvPr id="11272" name="Rectangle 5"/>
            <p:cNvSpPr/>
            <p:nvPr/>
          </p:nvSpPr>
          <p:spPr>
            <a:xfrm>
              <a:off x="804" y="2500"/>
              <a:ext cx="4744" cy="424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1273" name="Line 6"/>
            <p:cNvSpPr/>
            <p:nvPr/>
          </p:nvSpPr>
          <p:spPr>
            <a:xfrm>
              <a:off x="1616" y="2496"/>
              <a:ext cx="0" cy="43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74" name="Line 7"/>
            <p:cNvSpPr/>
            <p:nvPr/>
          </p:nvSpPr>
          <p:spPr>
            <a:xfrm>
              <a:off x="2192" y="2496"/>
              <a:ext cx="0" cy="43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75" name="Line 8"/>
            <p:cNvSpPr/>
            <p:nvPr/>
          </p:nvSpPr>
          <p:spPr>
            <a:xfrm>
              <a:off x="2768" y="2496"/>
              <a:ext cx="0" cy="43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76" name="Line 9"/>
            <p:cNvSpPr/>
            <p:nvPr/>
          </p:nvSpPr>
          <p:spPr>
            <a:xfrm>
              <a:off x="4976" y="2496"/>
              <a:ext cx="0" cy="43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277" name="Rectangle 10"/>
            <p:cNvSpPr/>
            <p:nvPr/>
          </p:nvSpPr>
          <p:spPr>
            <a:xfrm>
              <a:off x="982" y="2594"/>
              <a:ext cx="4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data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11278" name="Rectangle 11"/>
            <p:cNvSpPr/>
            <p:nvPr/>
          </p:nvSpPr>
          <p:spPr>
            <a:xfrm>
              <a:off x="1654" y="2594"/>
              <a:ext cx="5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link 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11279" name="Rectangle 12"/>
            <p:cNvSpPr/>
            <p:nvPr/>
          </p:nvSpPr>
          <p:spPr>
            <a:xfrm>
              <a:off x="2230" y="2594"/>
              <a:ext cx="5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link 2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11280" name="Rectangle 13"/>
            <p:cNvSpPr/>
            <p:nvPr/>
          </p:nvSpPr>
          <p:spPr>
            <a:xfrm>
              <a:off x="2854" y="2594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...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11281" name="Rectangle 14"/>
            <p:cNvSpPr/>
            <p:nvPr/>
          </p:nvSpPr>
          <p:spPr>
            <a:xfrm>
              <a:off x="5014" y="2594"/>
              <a:ext cx="5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link n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</p:grpSp>
      <p:sp>
        <p:nvSpPr>
          <p:cNvPr id="11270" name="AutoShape 15"/>
          <p:cNvSpPr/>
          <p:nvPr/>
        </p:nvSpPr>
        <p:spPr>
          <a:xfrm rot="10800000">
            <a:off x="2743200" y="3587750"/>
            <a:ext cx="4576763" cy="69373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TW" altLang="en-US" sz="2400" b="1" dirty="0">
                <a:latin typeface="Times New Roman" panose="02020603050405020304" pitchFamily="18" charset="0"/>
                <a:ea typeface="PMingLiU" pitchFamily="18" charset="-120"/>
              </a:rPr>
              <a:t>麻烦问题：应当开设多少个链域?</a:t>
            </a:r>
            <a:endParaRPr lang="zh-TW" altLang="en-US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25297" name="AutoShape 17">
            <a:hlinkClick r:id="" action="ppaction://hlinkshowjump?jump=previousslide"/>
          </p:cNvPr>
          <p:cNvSpPr/>
          <p:nvPr/>
        </p:nvSpPr>
        <p:spPr>
          <a:xfrm flipH="1">
            <a:off x="79248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209550" y="152400"/>
            <a:ext cx="3981450" cy="609600"/>
          </a:xfrm>
        </p:spPr>
        <p:txBody>
          <a:bodyPr vert="horz" wrap="square" lIns="92075" tIns="46038" rIns="92075" bIns="46038" anchor="ctr" anchorCtr="0"/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</a:rPr>
              <a:t>左孩子－右兄弟表示法</a:t>
            </a:r>
            <a:endParaRPr lang="zh-TW" altLang="en-US" sz="2800" b="1" dirty="0">
              <a:solidFill>
                <a:schemeClr val="accent2"/>
              </a:solidFill>
            </a:endParaRPr>
          </a:p>
        </p:txBody>
      </p:sp>
      <p:grpSp>
        <p:nvGrpSpPr>
          <p:cNvPr id="13316" name="Group 3"/>
          <p:cNvGrpSpPr/>
          <p:nvPr/>
        </p:nvGrpSpPr>
        <p:grpSpPr>
          <a:xfrm>
            <a:off x="3048000" y="1377950"/>
            <a:ext cx="5334000" cy="3498850"/>
            <a:chOff x="532" y="1366"/>
            <a:chExt cx="4405" cy="2372"/>
          </a:xfrm>
        </p:grpSpPr>
        <p:grpSp>
          <p:nvGrpSpPr>
            <p:cNvPr id="13326" name="Group 4"/>
            <p:cNvGrpSpPr/>
            <p:nvPr/>
          </p:nvGrpSpPr>
          <p:grpSpPr>
            <a:xfrm>
              <a:off x="2556" y="1366"/>
              <a:ext cx="374" cy="359"/>
              <a:chOff x="2396" y="1402"/>
              <a:chExt cx="374" cy="359"/>
            </a:xfrm>
          </p:grpSpPr>
          <p:sp>
            <p:nvSpPr>
              <p:cNvPr id="13375" name="Oval 5"/>
              <p:cNvSpPr/>
              <p:nvPr/>
            </p:nvSpPr>
            <p:spPr>
              <a:xfrm>
                <a:off x="2396" y="1402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34" name="Rectangle 6"/>
              <p:cNvSpPr>
                <a:spLocks noChangeArrowheads="1"/>
              </p:cNvSpPr>
              <p:nvPr/>
            </p:nvSpPr>
            <p:spPr bwMode="auto">
              <a:xfrm>
                <a:off x="2466" y="1455"/>
                <a:ext cx="304" cy="2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A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27" name="Group 7"/>
            <p:cNvGrpSpPr/>
            <p:nvPr/>
          </p:nvGrpSpPr>
          <p:grpSpPr>
            <a:xfrm>
              <a:off x="1354" y="1917"/>
              <a:ext cx="362" cy="358"/>
              <a:chOff x="1194" y="1953"/>
              <a:chExt cx="362" cy="358"/>
            </a:xfrm>
          </p:grpSpPr>
          <p:sp>
            <p:nvSpPr>
              <p:cNvPr id="13373" name="Oval 8"/>
              <p:cNvSpPr/>
              <p:nvPr/>
            </p:nvSpPr>
            <p:spPr>
              <a:xfrm>
                <a:off x="1194" y="1953"/>
                <a:ext cx="360" cy="35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37" name="Rectangle 9"/>
              <p:cNvSpPr>
                <a:spLocks noChangeArrowheads="1"/>
              </p:cNvSpPr>
              <p:nvPr/>
            </p:nvSpPr>
            <p:spPr bwMode="auto">
              <a:xfrm>
                <a:off x="1263" y="2006"/>
                <a:ext cx="290" cy="27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B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28" name="Group 10"/>
            <p:cNvGrpSpPr/>
            <p:nvPr/>
          </p:nvGrpSpPr>
          <p:grpSpPr>
            <a:xfrm>
              <a:off x="2555" y="1897"/>
              <a:ext cx="374" cy="358"/>
              <a:chOff x="2395" y="1933"/>
              <a:chExt cx="374" cy="358"/>
            </a:xfrm>
          </p:grpSpPr>
          <p:sp>
            <p:nvSpPr>
              <p:cNvPr id="13371" name="Oval 11"/>
              <p:cNvSpPr/>
              <p:nvPr/>
            </p:nvSpPr>
            <p:spPr>
              <a:xfrm>
                <a:off x="2395" y="1933"/>
                <a:ext cx="360" cy="35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40" name="Rectangle 12"/>
              <p:cNvSpPr>
                <a:spLocks noChangeArrowheads="1"/>
              </p:cNvSpPr>
              <p:nvPr/>
            </p:nvSpPr>
            <p:spPr bwMode="auto">
              <a:xfrm>
                <a:off x="2464" y="1983"/>
                <a:ext cx="302" cy="2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C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29" name="Group 13"/>
            <p:cNvGrpSpPr/>
            <p:nvPr/>
          </p:nvGrpSpPr>
          <p:grpSpPr>
            <a:xfrm>
              <a:off x="3920" y="1877"/>
              <a:ext cx="373" cy="358"/>
              <a:chOff x="3760" y="1913"/>
              <a:chExt cx="373" cy="358"/>
            </a:xfrm>
          </p:grpSpPr>
          <p:sp>
            <p:nvSpPr>
              <p:cNvPr id="13369" name="Oval 14"/>
              <p:cNvSpPr/>
              <p:nvPr/>
            </p:nvSpPr>
            <p:spPr>
              <a:xfrm>
                <a:off x="3760" y="1913"/>
                <a:ext cx="360" cy="35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43" name="Rectangle 15"/>
              <p:cNvSpPr>
                <a:spLocks noChangeArrowheads="1"/>
              </p:cNvSpPr>
              <p:nvPr/>
            </p:nvSpPr>
            <p:spPr bwMode="auto">
              <a:xfrm>
                <a:off x="3829" y="1966"/>
                <a:ext cx="304" cy="26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D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sp>
          <p:nvSpPr>
            <p:cNvPr id="13330" name="Line 16"/>
            <p:cNvSpPr/>
            <p:nvPr/>
          </p:nvSpPr>
          <p:spPr>
            <a:xfrm flipH="1">
              <a:off x="1532" y="1609"/>
              <a:ext cx="1016" cy="2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31" name="Line 17"/>
            <p:cNvSpPr/>
            <p:nvPr/>
          </p:nvSpPr>
          <p:spPr>
            <a:xfrm>
              <a:off x="1706" y="2110"/>
              <a:ext cx="85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332" name="Group 18"/>
            <p:cNvGrpSpPr/>
            <p:nvPr/>
          </p:nvGrpSpPr>
          <p:grpSpPr>
            <a:xfrm>
              <a:off x="932" y="2642"/>
              <a:ext cx="362" cy="359"/>
              <a:chOff x="772" y="2678"/>
              <a:chExt cx="362" cy="359"/>
            </a:xfrm>
          </p:grpSpPr>
          <p:sp>
            <p:nvSpPr>
              <p:cNvPr id="13367" name="Oval 19"/>
              <p:cNvSpPr/>
              <p:nvPr/>
            </p:nvSpPr>
            <p:spPr>
              <a:xfrm>
                <a:off x="772" y="267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48" name="Rectangle 20"/>
              <p:cNvSpPr>
                <a:spLocks noChangeArrowheads="1"/>
              </p:cNvSpPr>
              <p:nvPr/>
            </p:nvSpPr>
            <p:spPr bwMode="auto">
              <a:xfrm>
                <a:off x="841" y="2731"/>
                <a:ext cx="290" cy="26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E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33" name="Group 21"/>
            <p:cNvGrpSpPr/>
            <p:nvPr/>
          </p:nvGrpSpPr>
          <p:grpSpPr>
            <a:xfrm>
              <a:off x="1713" y="2632"/>
              <a:ext cx="360" cy="358"/>
              <a:chOff x="1553" y="2668"/>
              <a:chExt cx="360" cy="358"/>
            </a:xfrm>
          </p:grpSpPr>
          <p:sp>
            <p:nvSpPr>
              <p:cNvPr id="13365" name="Oval 22"/>
              <p:cNvSpPr/>
              <p:nvPr/>
            </p:nvSpPr>
            <p:spPr>
              <a:xfrm>
                <a:off x="1553" y="2668"/>
                <a:ext cx="360" cy="35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51" name="Rectangle 23"/>
              <p:cNvSpPr>
                <a:spLocks noChangeArrowheads="1"/>
              </p:cNvSpPr>
              <p:nvPr/>
            </p:nvSpPr>
            <p:spPr bwMode="auto">
              <a:xfrm>
                <a:off x="1623" y="2718"/>
                <a:ext cx="279" cy="2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F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34" name="Group 24"/>
            <p:cNvGrpSpPr/>
            <p:nvPr/>
          </p:nvGrpSpPr>
          <p:grpSpPr>
            <a:xfrm>
              <a:off x="2566" y="2622"/>
              <a:ext cx="382" cy="359"/>
              <a:chOff x="2406" y="2658"/>
              <a:chExt cx="382" cy="359"/>
            </a:xfrm>
          </p:grpSpPr>
          <p:sp>
            <p:nvSpPr>
              <p:cNvPr id="13363" name="Oval 25"/>
              <p:cNvSpPr/>
              <p:nvPr/>
            </p:nvSpPr>
            <p:spPr>
              <a:xfrm>
                <a:off x="2406" y="2658"/>
                <a:ext cx="359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54" name="Rectangle 26"/>
              <p:cNvSpPr>
                <a:spLocks noChangeArrowheads="1"/>
              </p:cNvSpPr>
              <p:nvPr/>
            </p:nvSpPr>
            <p:spPr bwMode="auto">
              <a:xfrm>
                <a:off x="2474" y="2711"/>
                <a:ext cx="317" cy="27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G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35" name="Group 27"/>
            <p:cNvGrpSpPr/>
            <p:nvPr/>
          </p:nvGrpSpPr>
          <p:grpSpPr>
            <a:xfrm>
              <a:off x="3324" y="2612"/>
              <a:ext cx="385" cy="358"/>
              <a:chOff x="3164" y="2648"/>
              <a:chExt cx="385" cy="358"/>
            </a:xfrm>
          </p:grpSpPr>
          <p:sp>
            <p:nvSpPr>
              <p:cNvPr id="13361" name="Oval 28"/>
              <p:cNvSpPr/>
              <p:nvPr/>
            </p:nvSpPr>
            <p:spPr>
              <a:xfrm>
                <a:off x="3164" y="2648"/>
                <a:ext cx="360" cy="35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57" name="Rectangle 29"/>
              <p:cNvSpPr>
                <a:spLocks noChangeArrowheads="1"/>
              </p:cNvSpPr>
              <p:nvPr/>
            </p:nvSpPr>
            <p:spPr bwMode="auto">
              <a:xfrm>
                <a:off x="3234" y="2701"/>
                <a:ext cx="315" cy="26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H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36" name="Group 30"/>
            <p:cNvGrpSpPr/>
            <p:nvPr/>
          </p:nvGrpSpPr>
          <p:grpSpPr>
            <a:xfrm>
              <a:off x="3940" y="2601"/>
              <a:ext cx="360" cy="359"/>
              <a:chOff x="3780" y="2637"/>
              <a:chExt cx="360" cy="359"/>
            </a:xfrm>
          </p:grpSpPr>
          <p:sp>
            <p:nvSpPr>
              <p:cNvPr id="13359" name="Oval 31"/>
              <p:cNvSpPr/>
              <p:nvPr/>
            </p:nvSpPr>
            <p:spPr>
              <a:xfrm>
                <a:off x="3780" y="2637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60" name="Rectangle 32"/>
              <p:cNvSpPr>
                <a:spLocks noChangeArrowheads="1"/>
              </p:cNvSpPr>
              <p:nvPr/>
            </p:nvSpPr>
            <p:spPr bwMode="auto">
              <a:xfrm>
                <a:off x="3850" y="2691"/>
                <a:ext cx="233" cy="26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I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37" name="Group 33"/>
            <p:cNvGrpSpPr/>
            <p:nvPr/>
          </p:nvGrpSpPr>
          <p:grpSpPr>
            <a:xfrm>
              <a:off x="4577" y="2592"/>
              <a:ext cx="360" cy="358"/>
              <a:chOff x="4417" y="2628"/>
              <a:chExt cx="360" cy="358"/>
            </a:xfrm>
          </p:grpSpPr>
          <p:sp>
            <p:nvSpPr>
              <p:cNvPr id="13357" name="Oval 34"/>
              <p:cNvSpPr/>
              <p:nvPr/>
            </p:nvSpPr>
            <p:spPr>
              <a:xfrm>
                <a:off x="4417" y="2628"/>
                <a:ext cx="360" cy="35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63" name="Rectangle 35"/>
              <p:cNvSpPr>
                <a:spLocks noChangeArrowheads="1"/>
              </p:cNvSpPr>
              <p:nvPr/>
            </p:nvSpPr>
            <p:spPr bwMode="auto">
              <a:xfrm>
                <a:off x="4486" y="2681"/>
                <a:ext cx="257" cy="27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J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38" name="Group 36"/>
            <p:cNvGrpSpPr/>
            <p:nvPr/>
          </p:nvGrpSpPr>
          <p:grpSpPr>
            <a:xfrm>
              <a:off x="532" y="3379"/>
              <a:ext cx="383" cy="359"/>
              <a:chOff x="372" y="3415"/>
              <a:chExt cx="383" cy="359"/>
            </a:xfrm>
          </p:grpSpPr>
          <p:sp>
            <p:nvSpPr>
              <p:cNvPr id="13355" name="Oval 37"/>
              <p:cNvSpPr/>
              <p:nvPr/>
            </p:nvSpPr>
            <p:spPr>
              <a:xfrm>
                <a:off x="372" y="3415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66" name="Rectangle 38"/>
              <p:cNvSpPr>
                <a:spLocks noChangeArrowheads="1"/>
              </p:cNvSpPr>
              <p:nvPr/>
            </p:nvSpPr>
            <p:spPr bwMode="auto">
              <a:xfrm>
                <a:off x="440" y="3465"/>
                <a:ext cx="315" cy="27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K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39" name="Group 39"/>
            <p:cNvGrpSpPr/>
            <p:nvPr/>
          </p:nvGrpSpPr>
          <p:grpSpPr>
            <a:xfrm>
              <a:off x="1292" y="3369"/>
              <a:ext cx="361" cy="358"/>
              <a:chOff x="1132" y="3405"/>
              <a:chExt cx="361" cy="358"/>
            </a:xfrm>
          </p:grpSpPr>
          <p:sp>
            <p:nvSpPr>
              <p:cNvPr id="13353" name="Oval 40"/>
              <p:cNvSpPr/>
              <p:nvPr/>
            </p:nvSpPr>
            <p:spPr>
              <a:xfrm>
                <a:off x="1132" y="3405"/>
                <a:ext cx="359" cy="35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69" name="Rectangle 41"/>
              <p:cNvSpPr>
                <a:spLocks noChangeArrowheads="1"/>
              </p:cNvSpPr>
              <p:nvPr/>
            </p:nvSpPr>
            <p:spPr bwMode="auto">
              <a:xfrm>
                <a:off x="1202" y="3458"/>
                <a:ext cx="291" cy="27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L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13340" name="Group 42"/>
            <p:cNvGrpSpPr/>
            <p:nvPr/>
          </p:nvGrpSpPr>
          <p:grpSpPr>
            <a:xfrm>
              <a:off x="3345" y="3328"/>
              <a:ext cx="420" cy="358"/>
              <a:chOff x="3185" y="3364"/>
              <a:chExt cx="420" cy="358"/>
            </a:xfrm>
          </p:grpSpPr>
          <p:sp>
            <p:nvSpPr>
              <p:cNvPr id="13351" name="Oval 43"/>
              <p:cNvSpPr/>
              <p:nvPr/>
            </p:nvSpPr>
            <p:spPr>
              <a:xfrm>
                <a:off x="3185" y="3364"/>
                <a:ext cx="360" cy="35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27372" name="Rectangle 44"/>
              <p:cNvSpPr>
                <a:spLocks noChangeArrowheads="1"/>
              </p:cNvSpPr>
              <p:nvPr/>
            </p:nvSpPr>
            <p:spPr bwMode="auto">
              <a:xfrm>
                <a:off x="3255" y="3417"/>
                <a:ext cx="350" cy="27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M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sp>
          <p:nvSpPr>
            <p:cNvPr id="13341" name="Line 45"/>
            <p:cNvSpPr/>
            <p:nvPr/>
          </p:nvSpPr>
          <p:spPr>
            <a:xfrm flipH="1">
              <a:off x="1121" y="2233"/>
              <a:ext cx="267" cy="3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42" name="Line 46"/>
            <p:cNvSpPr/>
            <p:nvPr/>
          </p:nvSpPr>
          <p:spPr>
            <a:xfrm>
              <a:off x="1296" y="2826"/>
              <a:ext cx="41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43" name="Line 47"/>
            <p:cNvSpPr/>
            <p:nvPr/>
          </p:nvSpPr>
          <p:spPr>
            <a:xfrm flipH="1">
              <a:off x="721" y="2979"/>
              <a:ext cx="288" cy="38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44" name="Line 48"/>
            <p:cNvSpPr/>
            <p:nvPr/>
          </p:nvSpPr>
          <p:spPr>
            <a:xfrm>
              <a:off x="896" y="3572"/>
              <a:ext cx="37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45" name="Line 49"/>
            <p:cNvSpPr/>
            <p:nvPr/>
          </p:nvSpPr>
          <p:spPr>
            <a:xfrm>
              <a:off x="2744" y="2274"/>
              <a:ext cx="0" cy="33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46" name="Line 50"/>
            <p:cNvSpPr/>
            <p:nvPr/>
          </p:nvSpPr>
          <p:spPr>
            <a:xfrm flipH="1">
              <a:off x="3513" y="2222"/>
              <a:ext cx="503" cy="38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47" name="Line 51"/>
            <p:cNvSpPr/>
            <p:nvPr/>
          </p:nvSpPr>
          <p:spPr>
            <a:xfrm>
              <a:off x="3687" y="2784"/>
              <a:ext cx="23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48" name="Line 52"/>
            <p:cNvSpPr/>
            <p:nvPr/>
          </p:nvSpPr>
          <p:spPr>
            <a:xfrm>
              <a:off x="4293" y="2784"/>
              <a:ext cx="2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49" name="Line 53"/>
            <p:cNvSpPr/>
            <p:nvPr/>
          </p:nvSpPr>
          <p:spPr>
            <a:xfrm>
              <a:off x="3513" y="2979"/>
              <a:ext cx="0" cy="3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50" name="Line 54"/>
            <p:cNvSpPr/>
            <p:nvPr/>
          </p:nvSpPr>
          <p:spPr>
            <a:xfrm>
              <a:off x="2918" y="2100"/>
              <a:ext cx="99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3317" name="Group 55"/>
          <p:cNvGrpSpPr/>
          <p:nvPr/>
        </p:nvGrpSpPr>
        <p:grpSpPr>
          <a:xfrm>
            <a:off x="307975" y="1579563"/>
            <a:ext cx="3044825" cy="935037"/>
            <a:chOff x="3624" y="1187"/>
            <a:chExt cx="1918" cy="589"/>
          </a:xfrm>
        </p:grpSpPr>
        <p:sp>
          <p:nvSpPr>
            <p:cNvPr id="13320" name="Rectangle 56"/>
            <p:cNvSpPr/>
            <p:nvPr/>
          </p:nvSpPr>
          <p:spPr>
            <a:xfrm>
              <a:off x="3630" y="1187"/>
              <a:ext cx="1908" cy="572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3321" name="Line 57"/>
            <p:cNvSpPr/>
            <p:nvPr/>
          </p:nvSpPr>
          <p:spPr>
            <a:xfrm>
              <a:off x="3624" y="1485"/>
              <a:ext cx="191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22" name="Line 58"/>
            <p:cNvSpPr/>
            <p:nvPr/>
          </p:nvSpPr>
          <p:spPr>
            <a:xfrm>
              <a:off x="4579" y="1495"/>
              <a:ext cx="0" cy="2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323" name="Rectangle 59"/>
            <p:cNvSpPr/>
            <p:nvPr/>
          </p:nvSpPr>
          <p:spPr>
            <a:xfrm>
              <a:off x="4348" y="1198"/>
              <a:ext cx="5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楷体_GB2312"/>
                </a:rPr>
                <a:t>数据</a:t>
              </a:r>
              <a:endParaRPr lang="zh-TW" altLang="en-US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13324" name="Rectangle 60"/>
            <p:cNvSpPr/>
            <p:nvPr/>
          </p:nvSpPr>
          <p:spPr>
            <a:xfrm>
              <a:off x="3693" y="148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楷体_GB2312"/>
                </a:rPr>
                <a:t>左孩子</a:t>
              </a:r>
              <a:endParaRPr lang="zh-TW" altLang="en-US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13325" name="Rectangle 61"/>
            <p:cNvSpPr/>
            <p:nvPr/>
          </p:nvSpPr>
          <p:spPr>
            <a:xfrm>
              <a:off x="4552" y="1478"/>
              <a:ext cx="7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PMingLiU" pitchFamily="18" charset="-12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_GB2312"/>
                </a:rPr>
                <a:t>右兄弟</a:t>
              </a:r>
              <a:endParaRPr lang="zh-TW" altLang="en-US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</p:grpSp>
      <p:sp>
        <p:nvSpPr>
          <p:cNvPr id="13318" name="Text Box 62"/>
          <p:cNvSpPr txBox="1"/>
          <p:nvPr/>
        </p:nvSpPr>
        <p:spPr>
          <a:xfrm>
            <a:off x="92075" y="838200"/>
            <a:ext cx="7299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TW" altLang="en-US" sz="2400" b="1" dirty="0"/>
              <a:t>( </a:t>
            </a:r>
            <a:r>
              <a:rPr lang="en-US" altLang="zh-TW" sz="2400" b="1" dirty="0"/>
              <a:t>A ( B ( E ( K, L ), F ), C ( G ), D ( H ( M ), I, J ) ) )</a:t>
            </a:r>
            <a:endParaRPr lang="en-US" altLang="zh-CN" sz="2400" b="1" dirty="0"/>
          </a:p>
        </p:txBody>
      </p:sp>
      <p:sp>
        <p:nvSpPr>
          <p:cNvPr id="227392" name="AutoShape 64">
            <a:hlinkClick r:id="" action="ppaction://hlinkshowjump?jump=previousslide"/>
          </p:cNvPr>
          <p:cNvSpPr/>
          <p:nvPr/>
        </p:nvSpPr>
        <p:spPr>
          <a:xfrm flipH="1">
            <a:off x="79248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9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381000" y="457200"/>
            <a:ext cx="30480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hlink"/>
                </a:solidFill>
                <a:ea typeface="楷体_GB2312"/>
              </a:rPr>
              <a:t>2.    </a:t>
            </a:r>
            <a:r>
              <a:rPr lang="zh-CN" altLang="en-US" sz="2800" b="1" dirty="0">
                <a:solidFill>
                  <a:schemeClr val="hlink"/>
                </a:solidFill>
                <a:ea typeface="楷体_GB2312"/>
              </a:rPr>
              <a:t>若干术语</a:t>
            </a:r>
            <a:endParaRPr lang="zh-CN" altLang="en-US" sz="2800" b="1" dirty="0">
              <a:solidFill>
                <a:schemeClr val="hlink"/>
              </a:solidFill>
              <a:ea typeface="楷体_GB2312"/>
            </a:endParaRPr>
          </a:p>
        </p:txBody>
      </p:sp>
      <p:sp>
        <p:nvSpPr>
          <p:cNvPr id="176165" name="Text Box 37"/>
          <p:cNvSpPr txBox="1"/>
          <p:nvPr/>
        </p:nvSpPr>
        <p:spPr>
          <a:xfrm>
            <a:off x="1143000" y="3813175"/>
            <a:ext cx="701040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238250" lvl="0" indent="-123825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即上层的那个结点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直接前驱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楷体_GB2312"/>
            </a:endParaRPr>
          </a:p>
          <a:p>
            <a:pPr marL="1238250" lvl="0" indent="-123825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即下层结点的子树的根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直接后继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楷体_GB2312"/>
            </a:endParaRPr>
          </a:p>
          <a:p>
            <a:pPr marL="1238250" lvl="0" indent="-123825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同一双亲下的同层结点（孩子之间互称兄弟）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1238250" lvl="0" indent="-123825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即双亲位于同一层的结点（但并非同一双亲）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1238250" lvl="0" indent="-123825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即从根到该结点所经分支的所有结点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1238250" lvl="0" indent="-123825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即该结点下层子树中的任一结点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grpSp>
        <p:nvGrpSpPr>
          <p:cNvPr id="2" name="Group 91"/>
          <p:cNvGrpSpPr/>
          <p:nvPr/>
        </p:nvGrpSpPr>
        <p:grpSpPr>
          <a:xfrm>
            <a:off x="5029200" y="7938"/>
            <a:ext cx="3886200" cy="2476500"/>
            <a:chOff x="3024" y="96"/>
            <a:chExt cx="2592" cy="1560"/>
          </a:xfrm>
        </p:grpSpPr>
        <p:grpSp>
          <p:nvGrpSpPr>
            <p:cNvPr id="15371" name="Group 40"/>
            <p:cNvGrpSpPr/>
            <p:nvPr/>
          </p:nvGrpSpPr>
          <p:grpSpPr>
            <a:xfrm>
              <a:off x="4170" y="96"/>
              <a:ext cx="286" cy="267"/>
              <a:chOff x="4229" y="1348"/>
              <a:chExt cx="376" cy="399"/>
            </a:xfrm>
          </p:grpSpPr>
          <p:sp>
            <p:nvSpPr>
              <p:cNvPr id="15420" name="Oval 41"/>
              <p:cNvSpPr/>
              <p:nvPr/>
            </p:nvSpPr>
            <p:spPr>
              <a:xfrm>
                <a:off x="4229" y="134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21" name="Rectangle 42"/>
              <p:cNvSpPr/>
              <p:nvPr/>
            </p:nvSpPr>
            <p:spPr>
              <a:xfrm>
                <a:off x="4299" y="1402"/>
                <a:ext cx="306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5372" name="Group 43"/>
            <p:cNvGrpSpPr/>
            <p:nvPr/>
          </p:nvGrpSpPr>
          <p:grpSpPr>
            <a:xfrm>
              <a:off x="3600" y="480"/>
              <a:ext cx="277" cy="266"/>
              <a:chOff x="3618" y="2067"/>
              <a:chExt cx="363" cy="398"/>
            </a:xfrm>
          </p:grpSpPr>
          <p:sp>
            <p:nvSpPr>
              <p:cNvPr id="15418" name="Oval 44"/>
              <p:cNvSpPr/>
              <p:nvPr/>
            </p:nvSpPr>
            <p:spPr>
              <a:xfrm>
                <a:off x="3618" y="2067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19" name="Rectangle 45"/>
              <p:cNvSpPr/>
              <p:nvPr/>
            </p:nvSpPr>
            <p:spPr>
              <a:xfrm>
                <a:off x="3688" y="2119"/>
                <a:ext cx="293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5373" name="Line 46"/>
            <p:cNvSpPr/>
            <p:nvPr/>
          </p:nvSpPr>
          <p:spPr>
            <a:xfrm flipH="1">
              <a:off x="3744" y="303"/>
              <a:ext cx="471" cy="1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374" name="Group 47"/>
            <p:cNvGrpSpPr/>
            <p:nvPr/>
          </p:nvGrpSpPr>
          <p:grpSpPr>
            <a:xfrm>
              <a:off x="4224" y="483"/>
              <a:ext cx="286" cy="266"/>
              <a:chOff x="4809" y="2088"/>
              <a:chExt cx="375" cy="397"/>
            </a:xfrm>
          </p:grpSpPr>
          <p:sp>
            <p:nvSpPr>
              <p:cNvPr id="15416" name="Oval 48"/>
              <p:cNvSpPr/>
              <p:nvPr/>
            </p:nvSpPr>
            <p:spPr>
              <a:xfrm>
                <a:off x="4809" y="208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17" name="Rectangle 49"/>
              <p:cNvSpPr/>
              <p:nvPr/>
            </p:nvSpPr>
            <p:spPr>
              <a:xfrm>
                <a:off x="4879" y="2140"/>
                <a:ext cx="305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5375" name="Group 50"/>
            <p:cNvGrpSpPr/>
            <p:nvPr/>
          </p:nvGrpSpPr>
          <p:grpSpPr>
            <a:xfrm>
              <a:off x="4224" y="912"/>
              <a:ext cx="292" cy="265"/>
              <a:chOff x="5130" y="2764"/>
              <a:chExt cx="383" cy="397"/>
            </a:xfrm>
          </p:grpSpPr>
          <p:sp>
            <p:nvSpPr>
              <p:cNvPr id="15414" name="Oval 51"/>
              <p:cNvSpPr/>
              <p:nvPr/>
            </p:nvSpPr>
            <p:spPr>
              <a:xfrm>
                <a:off x="5130" y="276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15" name="Rectangle 52"/>
              <p:cNvSpPr/>
              <p:nvPr/>
            </p:nvSpPr>
            <p:spPr>
              <a:xfrm>
                <a:off x="5196" y="2815"/>
                <a:ext cx="317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G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5376" name="Line 53"/>
            <p:cNvSpPr/>
            <p:nvPr/>
          </p:nvSpPr>
          <p:spPr>
            <a:xfrm>
              <a:off x="5184" y="720"/>
              <a:ext cx="288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377" name="Group 54"/>
            <p:cNvGrpSpPr/>
            <p:nvPr/>
          </p:nvGrpSpPr>
          <p:grpSpPr>
            <a:xfrm>
              <a:off x="3312" y="912"/>
              <a:ext cx="276" cy="264"/>
              <a:chOff x="3951" y="2795"/>
              <a:chExt cx="362" cy="396"/>
            </a:xfrm>
          </p:grpSpPr>
          <p:sp>
            <p:nvSpPr>
              <p:cNvPr id="15412" name="Oval 55"/>
              <p:cNvSpPr/>
              <p:nvPr/>
            </p:nvSpPr>
            <p:spPr>
              <a:xfrm>
                <a:off x="3951" y="2795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13" name="Rectangle 56"/>
              <p:cNvSpPr/>
              <p:nvPr/>
            </p:nvSpPr>
            <p:spPr>
              <a:xfrm>
                <a:off x="4019" y="2844"/>
                <a:ext cx="294" cy="3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5378" name="Group 57"/>
            <p:cNvGrpSpPr/>
            <p:nvPr/>
          </p:nvGrpSpPr>
          <p:grpSpPr>
            <a:xfrm>
              <a:off x="4992" y="912"/>
              <a:ext cx="273" cy="266"/>
              <a:chOff x="3662" y="3556"/>
              <a:chExt cx="360" cy="398"/>
            </a:xfrm>
          </p:grpSpPr>
          <p:sp>
            <p:nvSpPr>
              <p:cNvPr id="15410" name="Oval 58"/>
              <p:cNvSpPr/>
              <p:nvPr/>
            </p:nvSpPr>
            <p:spPr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11" name="Rectangle 59"/>
              <p:cNvSpPr/>
              <p:nvPr/>
            </p:nvSpPr>
            <p:spPr>
              <a:xfrm>
                <a:off x="3731" y="3608"/>
                <a:ext cx="240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I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5379" name="Line 60"/>
            <p:cNvSpPr/>
            <p:nvPr/>
          </p:nvSpPr>
          <p:spPr>
            <a:xfrm>
              <a:off x="3504" y="1152"/>
              <a:ext cx="204" cy="25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380" name="Group 61"/>
            <p:cNvGrpSpPr/>
            <p:nvPr/>
          </p:nvGrpSpPr>
          <p:grpSpPr>
            <a:xfrm>
              <a:off x="4950" y="483"/>
              <a:ext cx="283" cy="266"/>
              <a:chOff x="3328" y="2784"/>
              <a:chExt cx="372" cy="397"/>
            </a:xfrm>
          </p:grpSpPr>
          <p:sp>
            <p:nvSpPr>
              <p:cNvPr id="15408" name="Oval 62"/>
              <p:cNvSpPr/>
              <p:nvPr/>
            </p:nvSpPr>
            <p:spPr>
              <a:xfrm>
                <a:off x="3328" y="278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09" name="Rectangle 63"/>
              <p:cNvSpPr/>
              <p:nvPr/>
            </p:nvSpPr>
            <p:spPr>
              <a:xfrm>
                <a:off x="3394" y="2836"/>
                <a:ext cx="306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5381" name="Group 64"/>
            <p:cNvGrpSpPr/>
            <p:nvPr/>
          </p:nvGrpSpPr>
          <p:grpSpPr>
            <a:xfrm>
              <a:off x="4656" y="912"/>
              <a:ext cx="293" cy="266"/>
              <a:chOff x="2975" y="3533"/>
              <a:chExt cx="385" cy="398"/>
            </a:xfrm>
          </p:grpSpPr>
          <p:sp>
            <p:nvSpPr>
              <p:cNvPr id="15406" name="Oval 65"/>
              <p:cNvSpPr/>
              <p:nvPr/>
            </p:nvSpPr>
            <p:spPr>
              <a:xfrm>
                <a:off x="2975" y="353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07" name="Rectangle 66"/>
              <p:cNvSpPr/>
              <p:nvPr/>
            </p:nvSpPr>
            <p:spPr>
              <a:xfrm>
                <a:off x="3043" y="3585"/>
                <a:ext cx="317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H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5382" name="Group 67"/>
            <p:cNvGrpSpPr/>
            <p:nvPr/>
          </p:nvGrpSpPr>
          <p:grpSpPr>
            <a:xfrm>
              <a:off x="3888" y="912"/>
              <a:ext cx="274" cy="264"/>
              <a:chOff x="4518" y="2763"/>
              <a:chExt cx="360" cy="395"/>
            </a:xfrm>
          </p:grpSpPr>
          <p:sp>
            <p:nvSpPr>
              <p:cNvPr id="15404" name="Oval 68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05" name="Rectangle 69"/>
              <p:cNvSpPr/>
              <p:nvPr/>
            </p:nvSpPr>
            <p:spPr>
              <a:xfrm>
                <a:off x="4585" y="2812"/>
                <a:ext cx="284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F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5383" name="Line 70"/>
            <p:cNvSpPr/>
            <p:nvPr/>
          </p:nvSpPr>
          <p:spPr>
            <a:xfrm>
              <a:off x="4368" y="72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384" name="Line 71"/>
            <p:cNvSpPr/>
            <p:nvPr/>
          </p:nvSpPr>
          <p:spPr>
            <a:xfrm>
              <a:off x="3840" y="720"/>
              <a:ext cx="19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385" name="Line 72"/>
            <p:cNvSpPr/>
            <p:nvPr/>
          </p:nvSpPr>
          <p:spPr>
            <a:xfrm flipH="1">
              <a:off x="3456" y="672"/>
              <a:ext cx="192" cy="25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386" name="Line 73"/>
            <p:cNvSpPr/>
            <p:nvPr/>
          </p:nvSpPr>
          <p:spPr>
            <a:xfrm flipH="1">
              <a:off x="4800" y="720"/>
              <a:ext cx="19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387" name="Line 74"/>
            <p:cNvSpPr/>
            <p:nvPr/>
          </p:nvSpPr>
          <p:spPr>
            <a:xfrm>
              <a:off x="4394" y="310"/>
              <a:ext cx="694" cy="17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388" name="Line 75"/>
            <p:cNvSpPr/>
            <p:nvPr/>
          </p:nvSpPr>
          <p:spPr>
            <a:xfrm>
              <a:off x="4330" y="336"/>
              <a:ext cx="38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389" name="Group 76"/>
            <p:cNvGrpSpPr/>
            <p:nvPr/>
          </p:nvGrpSpPr>
          <p:grpSpPr>
            <a:xfrm>
              <a:off x="5343" y="912"/>
              <a:ext cx="273" cy="266"/>
              <a:chOff x="3662" y="3556"/>
              <a:chExt cx="360" cy="398"/>
            </a:xfrm>
          </p:grpSpPr>
          <p:sp>
            <p:nvSpPr>
              <p:cNvPr id="15402" name="Oval 77"/>
              <p:cNvSpPr/>
              <p:nvPr/>
            </p:nvSpPr>
            <p:spPr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03" name="Rectangle 78"/>
              <p:cNvSpPr/>
              <p:nvPr/>
            </p:nvSpPr>
            <p:spPr>
              <a:xfrm>
                <a:off x="3731" y="3608"/>
                <a:ext cx="262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J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5390" name="Line 79"/>
            <p:cNvSpPr/>
            <p:nvPr/>
          </p:nvSpPr>
          <p:spPr>
            <a:xfrm>
              <a:off x="5136" y="72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391" name="Line 80"/>
            <p:cNvSpPr/>
            <p:nvPr/>
          </p:nvSpPr>
          <p:spPr>
            <a:xfrm flipH="1">
              <a:off x="3168" y="1152"/>
              <a:ext cx="192" cy="25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392" name="Group 81"/>
            <p:cNvGrpSpPr/>
            <p:nvPr/>
          </p:nvGrpSpPr>
          <p:grpSpPr>
            <a:xfrm>
              <a:off x="4670" y="1392"/>
              <a:ext cx="318" cy="264"/>
              <a:chOff x="4518" y="2763"/>
              <a:chExt cx="418" cy="395"/>
            </a:xfrm>
          </p:grpSpPr>
          <p:sp>
            <p:nvSpPr>
              <p:cNvPr id="15400" name="Oval 82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01" name="Rectangle 83"/>
              <p:cNvSpPr/>
              <p:nvPr/>
            </p:nvSpPr>
            <p:spPr>
              <a:xfrm>
                <a:off x="4585" y="2812"/>
                <a:ext cx="351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M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5393" name="Group 84"/>
            <p:cNvGrpSpPr/>
            <p:nvPr/>
          </p:nvGrpSpPr>
          <p:grpSpPr>
            <a:xfrm>
              <a:off x="3648" y="1392"/>
              <a:ext cx="274" cy="264"/>
              <a:chOff x="4518" y="2763"/>
              <a:chExt cx="360" cy="395"/>
            </a:xfrm>
          </p:grpSpPr>
          <p:sp>
            <p:nvSpPr>
              <p:cNvPr id="15398" name="Oval 85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399" name="Rectangle 86"/>
              <p:cNvSpPr/>
              <p:nvPr/>
            </p:nvSpPr>
            <p:spPr>
              <a:xfrm>
                <a:off x="4582" y="2812"/>
                <a:ext cx="296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L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5394" name="Group 87"/>
            <p:cNvGrpSpPr/>
            <p:nvPr/>
          </p:nvGrpSpPr>
          <p:grpSpPr>
            <a:xfrm>
              <a:off x="3024" y="1392"/>
              <a:ext cx="292" cy="264"/>
              <a:chOff x="4518" y="2763"/>
              <a:chExt cx="383" cy="395"/>
            </a:xfrm>
          </p:grpSpPr>
          <p:sp>
            <p:nvSpPr>
              <p:cNvPr id="15396" name="Oval 88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397" name="Rectangle 89"/>
              <p:cNvSpPr/>
              <p:nvPr/>
            </p:nvSpPr>
            <p:spPr>
              <a:xfrm>
                <a:off x="4585" y="2812"/>
                <a:ext cx="316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K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5395" name="Line 90"/>
            <p:cNvSpPr/>
            <p:nvPr/>
          </p:nvSpPr>
          <p:spPr>
            <a:xfrm>
              <a:off x="4800" y="1152"/>
              <a:ext cx="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76220" name="AutoShape 92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6221" name="Rectangle 93"/>
          <p:cNvSpPr/>
          <p:nvPr/>
        </p:nvSpPr>
        <p:spPr>
          <a:xfrm>
            <a:off x="0" y="1219200"/>
            <a:ext cx="1108075" cy="22828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根 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 叶子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 森林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有序树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无序树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76222" name="Rectangle 94"/>
          <p:cNvSpPr/>
          <p:nvPr/>
        </p:nvSpPr>
        <p:spPr>
          <a:xfrm>
            <a:off x="762000" y="1190625"/>
            <a:ext cx="40386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即根结点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没有前驱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即终端结点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没有后继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指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棵不相交的树的集合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例如删除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后的子树个数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76223" name="Rectangle 95"/>
          <p:cNvSpPr/>
          <p:nvPr/>
        </p:nvSpPr>
        <p:spPr>
          <a:xfrm>
            <a:off x="152400" y="3810000"/>
            <a:ext cx="1108075" cy="22828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双亲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孩子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兄弟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堂兄弟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祖先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子孙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76224" name="Rectangle 96"/>
          <p:cNvSpPr/>
          <p:nvPr/>
        </p:nvSpPr>
        <p:spPr>
          <a:xfrm>
            <a:off x="1066800" y="2667000"/>
            <a:ext cx="8077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结点各子树从左至右有序，不能互换（左为第一）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结点各子树可互换位置。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2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22">
                                            <p:txEl>
                                              <p:charRg st="13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22">
                                            <p:txEl>
                                              <p:charRg st="27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2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24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6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65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65">
                                            <p:txEl>
                                              <p:charRg st="36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65">
                                            <p:txEl>
                                              <p:charRg st="59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65">
                                            <p:txEl>
                                              <p:charRg st="82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65">
                                            <p:txEl>
                                              <p:charRg st="101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6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6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65" grpId="0" build="p"/>
      <p:bldP spid="176220" grpId="0" animBg="1"/>
      <p:bldP spid="176221" grpId="0"/>
      <p:bldP spid="176222" grpId="0" build="p"/>
      <p:bldP spid="176223" grpId="0"/>
      <p:bldP spid="17622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3352800" cy="4572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hlink"/>
                </a:solidFill>
                <a:ea typeface="楷体_GB2312"/>
              </a:rPr>
              <a:t>2.    </a:t>
            </a:r>
            <a:r>
              <a:rPr lang="zh-CN" altLang="en-US" sz="2800" b="1" dirty="0">
                <a:solidFill>
                  <a:schemeClr val="hlink"/>
                </a:solidFill>
                <a:ea typeface="楷体_GB2312"/>
              </a:rPr>
              <a:t>若干术语（续）</a:t>
            </a:r>
            <a:endParaRPr lang="zh-CN" altLang="en-US" sz="2800" b="1" dirty="0">
              <a:solidFill>
                <a:schemeClr val="hlink"/>
              </a:solidFill>
              <a:ea typeface="楷体_GB2312"/>
            </a:endParaRPr>
          </a:p>
        </p:txBody>
      </p:sp>
      <p:sp>
        <p:nvSpPr>
          <p:cNvPr id="202757" name="Rectangle 5"/>
          <p:cNvSpPr/>
          <p:nvPr/>
        </p:nvSpPr>
        <p:spPr>
          <a:xfrm>
            <a:off x="1447800" y="838200"/>
            <a:ext cx="3429000" cy="1431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即树的数据元素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结点挂接的子树数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（</a:t>
            </a:r>
            <a:r>
              <a:rPr lang="zh-CN" altLang="en-US" sz="2000" b="1" dirty="0">
                <a:solidFill>
                  <a:schemeClr val="accent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有几个直接后继就是几度，亦称“次数”</a:t>
            </a:r>
            <a:r>
              <a:rPr lang="zh-CN" alt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）</a:t>
            </a:r>
            <a:endParaRPr lang="zh-CN" altLang="en-US" sz="20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02758" name="Rectangle 6"/>
          <p:cNvSpPr/>
          <p:nvPr/>
        </p:nvSpPr>
        <p:spPr>
          <a:xfrm>
            <a:off x="228600" y="838200"/>
            <a:ext cx="1724025" cy="301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结点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结点的度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结点的层次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终端结点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分支结点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02759" name="Rectangle 7"/>
          <p:cNvSpPr/>
          <p:nvPr/>
        </p:nvSpPr>
        <p:spPr>
          <a:xfrm>
            <a:off x="304800" y="4114800"/>
            <a:ext cx="1416050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树的度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树的深度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或高度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endParaRPr lang="en-US" altLang="zh-CN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5029200" y="7938"/>
            <a:ext cx="3886200" cy="2476500"/>
            <a:chOff x="3024" y="96"/>
            <a:chExt cx="2592" cy="1560"/>
          </a:xfrm>
        </p:grpSpPr>
        <p:grpSp>
          <p:nvGrpSpPr>
            <p:cNvPr id="16399" name="Group 9"/>
            <p:cNvGrpSpPr/>
            <p:nvPr/>
          </p:nvGrpSpPr>
          <p:grpSpPr>
            <a:xfrm>
              <a:off x="4170" y="96"/>
              <a:ext cx="286" cy="267"/>
              <a:chOff x="4229" y="1348"/>
              <a:chExt cx="376" cy="399"/>
            </a:xfrm>
          </p:grpSpPr>
          <p:sp>
            <p:nvSpPr>
              <p:cNvPr id="16448" name="Oval 10"/>
              <p:cNvSpPr/>
              <p:nvPr/>
            </p:nvSpPr>
            <p:spPr>
              <a:xfrm>
                <a:off x="4229" y="134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49" name="Rectangle 11"/>
              <p:cNvSpPr/>
              <p:nvPr/>
            </p:nvSpPr>
            <p:spPr>
              <a:xfrm>
                <a:off x="4299" y="1402"/>
                <a:ext cx="306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6400" name="Group 12"/>
            <p:cNvGrpSpPr/>
            <p:nvPr/>
          </p:nvGrpSpPr>
          <p:grpSpPr>
            <a:xfrm>
              <a:off x="3600" y="480"/>
              <a:ext cx="277" cy="266"/>
              <a:chOff x="3618" y="2067"/>
              <a:chExt cx="363" cy="398"/>
            </a:xfrm>
          </p:grpSpPr>
          <p:sp>
            <p:nvSpPr>
              <p:cNvPr id="16446" name="Oval 13"/>
              <p:cNvSpPr/>
              <p:nvPr/>
            </p:nvSpPr>
            <p:spPr>
              <a:xfrm>
                <a:off x="3618" y="2067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47" name="Rectangle 14"/>
              <p:cNvSpPr/>
              <p:nvPr/>
            </p:nvSpPr>
            <p:spPr>
              <a:xfrm>
                <a:off x="3688" y="2119"/>
                <a:ext cx="293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6401" name="Line 15"/>
            <p:cNvSpPr/>
            <p:nvPr/>
          </p:nvSpPr>
          <p:spPr>
            <a:xfrm flipH="1">
              <a:off x="3744" y="303"/>
              <a:ext cx="471" cy="1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402" name="Group 16"/>
            <p:cNvGrpSpPr/>
            <p:nvPr/>
          </p:nvGrpSpPr>
          <p:grpSpPr>
            <a:xfrm>
              <a:off x="4224" y="483"/>
              <a:ext cx="286" cy="266"/>
              <a:chOff x="4809" y="2088"/>
              <a:chExt cx="375" cy="397"/>
            </a:xfrm>
          </p:grpSpPr>
          <p:sp>
            <p:nvSpPr>
              <p:cNvPr id="16444" name="Oval 17"/>
              <p:cNvSpPr/>
              <p:nvPr/>
            </p:nvSpPr>
            <p:spPr>
              <a:xfrm>
                <a:off x="4809" y="208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45" name="Rectangle 18"/>
              <p:cNvSpPr/>
              <p:nvPr/>
            </p:nvSpPr>
            <p:spPr>
              <a:xfrm>
                <a:off x="4879" y="2140"/>
                <a:ext cx="305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6403" name="Group 19"/>
            <p:cNvGrpSpPr/>
            <p:nvPr/>
          </p:nvGrpSpPr>
          <p:grpSpPr>
            <a:xfrm>
              <a:off x="4224" y="912"/>
              <a:ext cx="292" cy="265"/>
              <a:chOff x="5130" y="2764"/>
              <a:chExt cx="383" cy="397"/>
            </a:xfrm>
          </p:grpSpPr>
          <p:sp>
            <p:nvSpPr>
              <p:cNvPr id="16442" name="Oval 20"/>
              <p:cNvSpPr/>
              <p:nvPr/>
            </p:nvSpPr>
            <p:spPr>
              <a:xfrm>
                <a:off x="5130" y="276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43" name="Rectangle 21"/>
              <p:cNvSpPr/>
              <p:nvPr/>
            </p:nvSpPr>
            <p:spPr>
              <a:xfrm>
                <a:off x="5196" y="2815"/>
                <a:ext cx="317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G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6404" name="Line 22"/>
            <p:cNvSpPr/>
            <p:nvPr/>
          </p:nvSpPr>
          <p:spPr>
            <a:xfrm>
              <a:off x="5184" y="720"/>
              <a:ext cx="288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405" name="Group 23"/>
            <p:cNvGrpSpPr/>
            <p:nvPr/>
          </p:nvGrpSpPr>
          <p:grpSpPr>
            <a:xfrm>
              <a:off x="3312" y="912"/>
              <a:ext cx="276" cy="264"/>
              <a:chOff x="3951" y="2795"/>
              <a:chExt cx="362" cy="396"/>
            </a:xfrm>
          </p:grpSpPr>
          <p:sp>
            <p:nvSpPr>
              <p:cNvPr id="16440" name="Oval 24"/>
              <p:cNvSpPr/>
              <p:nvPr/>
            </p:nvSpPr>
            <p:spPr>
              <a:xfrm>
                <a:off x="3951" y="2795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41" name="Rectangle 25"/>
              <p:cNvSpPr/>
              <p:nvPr/>
            </p:nvSpPr>
            <p:spPr>
              <a:xfrm>
                <a:off x="4019" y="2844"/>
                <a:ext cx="294" cy="3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6406" name="Group 26"/>
            <p:cNvGrpSpPr/>
            <p:nvPr/>
          </p:nvGrpSpPr>
          <p:grpSpPr>
            <a:xfrm>
              <a:off x="4992" y="912"/>
              <a:ext cx="273" cy="266"/>
              <a:chOff x="3662" y="3556"/>
              <a:chExt cx="360" cy="398"/>
            </a:xfrm>
          </p:grpSpPr>
          <p:sp>
            <p:nvSpPr>
              <p:cNvPr id="16438" name="Oval 27"/>
              <p:cNvSpPr/>
              <p:nvPr/>
            </p:nvSpPr>
            <p:spPr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9" name="Rectangle 28"/>
              <p:cNvSpPr/>
              <p:nvPr/>
            </p:nvSpPr>
            <p:spPr>
              <a:xfrm>
                <a:off x="3731" y="3608"/>
                <a:ext cx="240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I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6407" name="Line 29"/>
            <p:cNvSpPr/>
            <p:nvPr/>
          </p:nvSpPr>
          <p:spPr>
            <a:xfrm>
              <a:off x="3504" y="1152"/>
              <a:ext cx="204" cy="25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408" name="Group 30"/>
            <p:cNvGrpSpPr/>
            <p:nvPr/>
          </p:nvGrpSpPr>
          <p:grpSpPr>
            <a:xfrm>
              <a:off x="4950" y="483"/>
              <a:ext cx="283" cy="266"/>
              <a:chOff x="3328" y="2784"/>
              <a:chExt cx="372" cy="397"/>
            </a:xfrm>
          </p:grpSpPr>
          <p:sp>
            <p:nvSpPr>
              <p:cNvPr id="16436" name="Oval 31"/>
              <p:cNvSpPr/>
              <p:nvPr/>
            </p:nvSpPr>
            <p:spPr>
              <a:xfrm>
                <a:off x="3328" y="278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7" name="Rectangle 32"/>
              <p:cNvSpPr/>
              <p:nvPr/>
            </p:nvSpPr>
            <p:spPr>
              <a:xfrm>
                <a:off x="3394" y="2836"/>
                <a:ext cx="306" cy="3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6409" name="Group 33"/>
            <p:cNvGrpSpPr/>
            <p:nvPr/>
          </p:nvGrpSpPr>
          <p:grpSpPr>
            <a:xfrm>
              <a:off x="4656" y="912"/>
              <a:ext cx="293" cy="266"/>
              <a:chOff x="2975" y="3533"/>
              <a:chExt cx="385" cy="398"/>
            </a:xfrm>
          </p:grpSpPr>
          <p:sp>
            <p:nvSpPr>
              <p:cNvPr id="16434" name="Oval 34"/>
              <p:cNvSpPr/>
              <p:nvPr/>
            </p:nvSpPr>
            <p:spPr>
              <a:xfrm>
                <a:off x="2975" y="353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5" name="Rectangle 35"/>
              <p:cNvSpPr/>
              <p:nvPr/>
            </p:nvSpPr>
            <p:spPr>
              <a:xfrm>
                <a:off x="3043" y="3585"/>
                <a:ext cx="317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H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6410" name="Group 36"/>
            <p:cNvGrpSpPr/>
            <p:nvPr/>
          </p:nvGrpSpPr>
          <p:grpSpPr>
            <a:xfrm>
              <a:off x="3888" y="912"/>
              <a:ext cx="274" cy="264"/>
              <a:chOff x="4518" y="2763"/>
              <a:chExt cx="360" cy="395"/>
            </a:xfrm>
          </p:grpSpPr>
          <p:sp>
            <p:nvSpPr>
              <p:cNvPr id="16432" name="Oval 37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3" name="Rectangle 38"/>
              <p:cNvSpPr/>
              <p:nvPr/>
            </p:nvSpPr>
            <p:spPr>
              <a:xfrm>
                <a:off x="4585" y="2812"/>
                <a:ext cx="284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F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6411" name="Line 39"/>
            <p:cNvSpPr/>
            <p:nvPr/>
          </p:nvSpPr>
          <p:spPr>
            <a:xfrm>
              <a:off x="4368" y="72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2" name="Line 40"/>
            <p:cNvSpPr/>
            <p:nvPr/>
          </p:nvSpPr>
          <p:spPr>
            <a:xfrm>
              <a:off x="3840" y="720"/>
              <a:ext cx="19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3" name="Line 41"/>
            <p:cNvSpPr/>
            <p:nvPr/>
          </p:nvSpPr>
          <p:spPr>
            <a:xfrm flipH="1">
              <a:off x="3456" y="672"/>
              <a:ext cx="192" cy="25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4" name="Line 42"/>
            <p:cNvSpPr/>
            <p:nvPr/>
          </p:nvSpPr>
          <p:spPr>
            <a:xfrm flipH="1">
              <a:off x="4800" y="720"/>
              <a:ext cx="19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5" name="Line 43"/>
            <p:cNvSpPr/>
            <p:nvPr/>
          </p:nvSpPr>
          <p:spPr>
            <a:xfrm>
              <a:off x="4394" y="310"/>
              <a:ext cx="694" cy="17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6" name="Line 44"/>
            <p:cNvSpPr/>
            <p:nvPr/>
          </p:nvSpPr>
          <p:spPr>
            <a:xfrm>
              <a:off x="4330" y="336"/>
              <a:ext cx="38" cy="14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417" name="Group 45"/>
            <p:cNvGrpSpPr/>
            <p:nvPr/>
          </p:nvGrpSpPr>
          <p:grpSpPr>
            <a:xfrm>
              <a:off x="5343" y="912"/>
              <a:ext cx="273" cy="266"/>
              <a:chOff x="3662" y="3556"/>
              <a:chExt cx="360" cy="398"/>
            </a:xfrm>
          </p:grpSpPr>
          <p:sp>
            <p:nvSpPr>
              <p:cNvPr id="16430" name="Oval 46"/>
              <p:cNvSpPr/>
              <p:nvPr/>
            </p:nvSpPr>
            <p:spPr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31" name="Rectangle 47"/>
              <p:cNvSpPr/>
              <p:nvPr/>
            </p:nvSpPr>
            <p:spPr>
              <a:xfrm>
                <a:off x="3731" y="3608"/>
                <a:ext cx="262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J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6418" name="Line 48"/>
            <p:cNvSpPr/>
            <p:nvPr/>
          </p:nvSpPr>
          <p:spPr>
            <a:xfrm>
              <a:off x="5136" y="720"/>
              <a:ext cx="0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9" name="Line 49"/>
            <p:cNvSpPr/>
            <p:nvPr/>
          </p:nvSpPr>
          <p:spPr>
            <a:xfrm flipH="1">
              <a:off x="3168" y="1152"/>
              <a:ext cx="192" cy="25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420" name="Group 50"/>
            <p:cNvGrpSpPr/>
            <p:nvPr/>
          </p:nvGrpSpPr>
          <p:grpSpPr>
            <a:xfrm>
              <a:off x="4670" y="1392"/>
              <a:ext cx="318" cy="264"/>
              <a:chOff x="4518" y="2763"/>
              <a:chExt cx="418" cy="395"/>
            </a:xfrm>
          </p:grpSpPr>
          <p:sp>
            <p:nvSpPr>
              <p:cNvPr id="16428" name="Oval 51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29" name="Rectangle 52"/>
              <p:cNvSpPr/>
              <p:nvPr/>
            </p:nvSpPr>
            <p:spPr>
              <a:xfrm>
                <a:off x="4585" y="2812"/>
                <a:ext cx="351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M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6421" name="Group 53"/>
            <p:cNvGrpSpPr/>
            <p:nvPr/>
          </p:nvGrpSpPr>
          <p:grpSpPr>
            <a:xfrm>
              <a:off x="3648" y="1392"/>
              <a:ext cx="274" cy="264"/>
              <a:chOff x="4518" y="2763"/>
              <a:chExt cx="360" cy="395"/>
            </a:xfrm>
          </p:grpSpPr>
          <p:sp>
            <p:nvSpPr>
              <p:cNvPr id="16426" name="Oval 54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27" name="Rectangle 55"/>
              <p:cNvSpPr/>
              <p:nvPr/>
            </p:nvSpPr>
            <p:spPr>
              <a:xfrm>
                <a:off x="4582" y="2812"/>
                <a:ext cx="296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L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16422" name="Group 56"/>
            <p:cNvGrpSpPr/>
            <p:nvPr/>
          </p:nvGrpSpPr>
          <p:grpSpPr>
            <a:xfrm>
              <a:off x="3024" y="1392"/>
              <a:ext cx="292" cy="264"/>
              <a:chOff x="4518" y="2763"/>
              <a:chExt cx="383" cy="395"/>
            </a:xfrm>
          </p:grpSpPr>
          <p:sp>
            <p:nvSpPr>
              <p:cNvPr id="16424" name="Oval 57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25" name="Rectangle 58"/>
              <p:cNvSpPr/>
              <p:nvPr/>
            </p:nvSpPr>
            <p:spPr>
              <a:xfrm>
                <a:off x="4585" y="2812"/>
                <a:ext cx="316" cy="3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K</a:t>
                </a:r>
                <a:endParaRPr lang="en-US" altLang="zh-TW" sz="1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6423" name="Line 59"/>
            <p:cNvSpPr/>
            <p:nvPr/>
          </p:nvSpPr>
          <p:spPr>
            <a:xfrm>
              <a:off x="4800" y="1152"/>
              <a:ext cx="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02812" name="Rectangle 60"/>
          <p:cNvSpPr/>
          <p:nvPr/>
        </p:nvSpPr>
        <p:spPr>
          <a:xfrm>
            <a:off x="1828800" y="2667000"/>
            <a:ext cx="6280150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从根到该结点的层数（根结点算第一层）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即度为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的结点，即叶子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即度不为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的结点（也称为内部结点）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02813" name="Rectangle 61"/>
          <p:cNvSpPr/>
          <p:nvPr/>
        </p:nvSpPr>
        <p:spPr>
          <a:xfrm>
            <a:off x="1524000" y="4130675"/>
            <a:ext cx="7478713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所有结点度中的最大值（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Max{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各结点的度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}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指所有结点中最大的层数（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Max{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各结点的层次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}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02815" name="Rectangle 63"/>
          <p:cNvSpPr/>
          <p:nvPr/>
        </p:nvSpPr>
        <p:spPr>
          <a:xfrm>
            <a:off x="0" y="54864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楷体_GB2312"/>
                <a:ea typeface="楷体_GB2312"/>
              </a:rPr>
              <a:t>问：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右上图中的结点数＝  ；树的度＝  ；树的深度＝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02816" name="AutoShape 64">
            <a:hlinkClick r:id="rId1" action="ppaction://hlinksldjump"/>
          </p:cNvPr>
          <p:cNvSpPr/>
          <p:nvPr/>
        </p:nvSpPr>
        <p:spPr>
          <a:xfrm flipH="1"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02817" name="Rectangle 65"/>
          <p:cNvSpPr/>
          <p:nvPr/>
        </p:nvSpPr>
        <p:spPr>
          <a:xfrm>
            <a:off x="3276600" y="5492750"/>
            <a:ext cx="492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13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02818" name="Rectangle 66"/>
          <p:cNvSpPr/>
          <p:nvPr/>
        </p:nvSpPr>
        <p:spPr>
          <a:xfrm>
            <a:off x="5149850" y="5486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3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02819" name="Rectangle 67"/>
          <p:cNvSpPr/>
          <p:nvPr/>
        </p:nvSpPr>
        <p:spPr>
          <a:xfrm>
            <a:off x="7283450" y="5486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4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7">
                                            <p:txEl>
                                              <p:charRg st="1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2">
                                            <p:txEl>
                                              <p:charRg st="21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2">
                                            <p:txEl>
                                              <p:charRg st="3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281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2813">
                                            <p:txEl>
                                              <p:charRg st="25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7" grpId="0" build="p"/>
      <p:bldP spid="202758" grpId="0"/>
      <p:bldP spid="202759" grpId="0"/>
      <p:bldP spid="202812" grpId="0" build="p"/>
      <p:bldP spid="202813" grpId="0" build="p"/>
      <p:bldP spid="202815" grpId="0"/>
      <p:bldP spid="202816" grpId="0" animBg="1"/>
      <p:bldP spid="202817" grpId="0"/>
      <p:bldP spid="202818" grpId="0"/>
      <p:bldP spid="2028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304800" y="284163"/>
            <a:ext cx="35814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hlink"/>
                </a:solidFill>
                <a:ea typeface="楷体_GB2312"/>
              </a:rPr>
              <a:t>3. </a:t>
            </a:r>
            <a:r>
              <a:rPr lang="zh-CN" altLang="en-US" sz="2800" b="1" dirty="0">
                <a:solidFill>
                  <a:schemeClr val="hlink"/>
                </a:solidFill>
                <a:ea typeface="楷体_GB2312"/>
              </a:rPr>
              <a:t>树的逻辑结构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204803" name="Rectangle 3"/>
          <p:cNvSpPr>
            <a:spLocks noGrp="1"/>
          </p:cNvSpPr>
          <p:nvPr>
            <p:ph idx="1"/>
          </p:nvPr>
        </p:nvSpPr>
        <p:spPr>
          <a:xfrm>
            <a:off x="304800" y="1046163"/>
            <a:ext cx="8077200" cy="1447800"/>
          </a:xfrm>
        </p:spPr>
        <p:txBody>
          <a:bodyPr vert="horz" wrap="square" lIns="91440" tIns="45720" rIns="91440" bIns="45720" anchor="t" anchorCtr="0"/>
          <a:p>
            <a:pPr marL="1619250" indent="-1619250" eaLnBrk="1" hangingPunct="1">
              <a:buNone/>
            </a:pPr>
            <a:r>
              <a:rPr lang="en-US" altLang="zh-CN" sz="2600" b="1" dirty="0">
                <a:solidFill>
                  <a:schemeClr val="accent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600" b="1" dirty="0">
                <a:solidFill>
                  <a:schemeClr val="accent1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sz="2600" b="1" dirty="0">
                <a:solidFill>
                  <a:schemeClr val="accent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600" b="1" dirty="0">
                <a:latin typeface="宋体" panose="02010600030101010101" pitchFamily="2" charset="-122"/>
              </a:rPr>
              <a:t>： 一对多（</a:t>
            </a:r>
            <a:r>
              <a:rPr lang="en-US" altLang="zh-CN" sz="2600" b="1" dirty="0">
                <a:latin typeface="宋体" panose="02010600030101010101" pitchFamily="2" charset="-122"/>
              </a:rPr>
              <a:t>1:n</a:t>
            </a:r>
            <a:r>
              <a:rPr lang="zh-CN" altLang="en-US" sz="2600" b="1" dirty="0">
                <a:latin typeface="宋体" panose="02010600030101010101" pitchFamily="2" charset="-122"/>
              </a:rPr>
              <a:t>），有多个直接后继（如家谱树、目录树等等），但只有一个根结点，且</a:t>
            </a:r>
            <a:r>
              <a:rPr lang="zh-CN" altLang="en-US" sz="2600" b="1" dirty="0">
                <a:solidFill>
                  <a:schemeClr val="accent2"/>
                </a:solidFill>
                <a:latin typeface="宋体" panose="02010600030101010101" pitchFamily="2" charset="-122"/>
              </a:rPr>
              <a:t>子树之间互不相交</a:t>
            </a:r>
            <a:r>
              <a:rPr lang="zh-CN" altLang="en-US" sz="2600" b="1" dirty="0">
                <a:latin typeface="宋体" panose="02010600030101010101" pitchFamily="2" charset="-122"/>
              </a:rPr>
              <a:t>。 </a:t>
            </a:r>
            <a:endParaRPr lang="zh-CN" altLang="en-US" sz="2600" b="1" dirty="0">
              <a:latin typeface="宋体" panose="02010600030101010101" pitchFamily="2" charset="-122"/>
            </a:endParaRPr>
          </a:p>
        </p:txBody>
      </p:sp>
      <p:sp>
        <p:nvSpPr>
          <p:cNvPr id="204805" name="Rectangle 5"/>
          <p:cNvSpPr/>
          <p:nvPr/>
        </p:nvSpPr>
        <p:spPr>
          <a:xfrm>
            <a:off x="228600" y="2798763"/>
            <a:ext cx="358140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4. 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树的存储结构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sz="4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06" name="Text Box 6"/>
          <p:cNvSpPr txBox="1"/>
          <p:nvPr/>
        </p:nvSpPr>
        <p:spPr>
          <a:xfrm>
            <a:off x="381000" y="3636963"/>
            <a:ext cx="784860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讨论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</a:rPr>
              <a:t>树是非线性结构，该怎样存储？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————</a:t>
            </a:r>
            <a:r>
              <a:rPr lang="zh-CN" altLang="en-US" sz="2800" b="1" dirty="0">
                <a:latin typeface="楷体_GB2312"/>
                <a:ea typeface="楷体_GB2312"/>
              </a:rPr>
              <a:t>仍然有顺序存储、链式存储等方式。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 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204808" name="AutoShape 8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6">
                                            <p:txEl>
                                              <p:charRg st="1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build="p"/>
      <p:bldP spid="204805" grpId="0"/>
      <p:bldP spid="204806" grpId="0" build="p"/>
      <p:bldP spid="20480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6066" name="Rectangle 2"/>
          <p:cNvSpPr>
            <a:spLocks noGrp="1"/>
          </p:cNvSpPr>
          <p:nvPr>
            <p:ph type="title"/>
          </p:nvPr>
        </p:nvSpPr>
        <p:spPr>
          <a:xfrm>
            <a:off x="381000" y="1752600"/>
            <a:ext cx="7543800" cy="762000"/>
          </a:xfrm>
        </p:spPr>
        <p:txBody>
          <a:bodyPr vert="horz" wrap="square" lIns="91440" tIns="45720" rIns="91440" bIns="45720" anchor="ctr" anchorCtr="0"/>
          <a:p>
            <a:pPr algn="just" eaLnBrk="1" hangingPunct="1"/>
            <a:r>
              <a:rPr lang="zh-CN" altLang="en-US" sz="2800" b="1" dirty="0">
                <a:solidFill>
                  <a:schemeClr val="accent1"/>
                </a:solidFill>
              </a:rPr>
              <a:t>讨论</a:t>
            </a:r>
            <a:r>
              <a:rPr lang="en-US" altLang="zh-CN" sz="2800" b="1" dirty="0">
                <a:solidFill>
                  <a:schemeClr val="accent1"/>
                </a:solidFill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</a:rPr>
              <a:t>树的</a:t>
            </a:r>
            <a:r>
              <a:rPr lang="zh-CN" altLang="en-US" sz="2800" b="1" dirty="0">
                <a:solidFill>
                  <a:schemeClr val="accent2"/>
                </a:solidFill>
              </a:rPr>
              <a:t>链式存储</a:t>
            </a:r>
            <a:r>
              <a:rPr lang="zh-CN" altLang="en-US" sz="2800" b="1" dirty="0">
                <a:solidFill>
                  <a:schemeClr val="tx1"/>
                </a:solidFill>
              </a:rPr>
              <a:t>方案应该怎样制定？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16067" name="Rectangle 3"/>
          <p:cNvSpPr>
            <a:spLocks noGrp="1"/>
          </p:cNvSpPr>
          <p:nvPr>
            <p:ph idx="1"/>
          </p:nvPr>
        </p:nvSpPr>
        <p:spPr>
          <a:xfrm>
            <a:off x="358775" y="854075"/>
            <a:ext cx="8316913" cy="9906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可规定为：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从上至下、从左至右</a:t>
            </a:r>
            <a:r>
              <a:rPr lang="zh-CN" altLang="en-US" sz="2400" b="1" dirty="0">
                <a:latin typeface="楷体_GB2312"/>
                <a:ea typeface="楷体_GB2312"/>
              </a:rPr>
              <a:t>将树的结点依次存入内存。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algn="just" eaLnBrk="1" hangingPunct="1"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重大缺陷：复原困难（不能唯一复原就没有实用价值）。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16068" name="Rectangle 4"/>
          <p:cNvSpPr/>
          <p:nvPr/>
        </p:nvSpPr>
        <p:spPr>
          <a:xfrm>
            <a:off x="381000" y="69850"/>
            <a:ext cx="7543800" cy="838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讨论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</a:rPr>
              <a:t>树的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顺序存储</a:t>
            </a:r>
            <a:r>
              <a:rPr lang="zh-CN" altLang="en-US" sz="2800" b="1" dirty="0">
                <a:latin typeface="Times New Roman" panose="02020603050405020304" pitchFamily="18" charset="0"/>
              </a:rPr>
              <a:t>方案应该怎样制定？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16069" name="Rectangle 5"/>
          <p:cNvSpPr/>
          <p:nvPr/>
        </p:nvSpPr>
        <p:spPr>
          <a:xfrm>
            <a:off x="381000" y="2360613"/>
            <a:ext cx="7924800" cy="2095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楷体_GB2312"/>
                <a:ea typeface="楷体_GB2312"/>
              </a:rPr>
              <a:t>可用多重链表：</a:t>
            </a:r>
            <a:r>
              <a:rPr lang="zh-CN" altLang="en-US" sz="2400" b="1" dirty="0">
                <a:latin typeface="楷体_GB2312"/>
                <a:ea typeface="楷体_GB2312"/>
              </a:rPr>
              <a:t>一个前趋指针，</a:t>
            </a:r>
            <a:r>
              <a:rPr lang="en-US" altLang="zh-CN" sz="2400" b="1" dirty="0">
                <a:solidFill>
                  <a:schemeClr val="folHlink"/>
                </a:solidFill>
                <a:latin typeface="楷体_GB2312"/>
                <a:ea typeface="楷体_GB2312"/>
              </a:rPr>
              <a:t>n</a:t>
            </a:r>
            <a:r>
              <a:rPr lang="zh-CN" altLang="en-US" sz="2400" b="1" dirty="0">
                <a:latin typeface="楷体_GB2312"/>
                <a:ea typeface="楷体_GB2312"/>
              </a:rPr>
              <a:t>个后继指针。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楷体_GB2312"/>
                <a:ea typeface="楷体_GB2312"/>
              </a:rPr>
              <a:t>细节问题：</a:t>
            </a:r>
            <a:r>
              <a:rPr lang="zh-CN" altLang="en-US" sz="2400" b="1" dirty="0">
                <a:latin typeface="楷体_GB2312"/>
                <a:ea typeface="楷体_GB2312"/>
              </a:rPr>
              <a:t>树中结点的结构类型样式该如何设计？</a:t>
            </a:r>
            <a:endParaRPr lang="zh-CN" altLang="en-US" sz="2400" b="1" dirty="0">
              <a:solidFill>
                <a:srgbClr val="99FF33"/>
              </a:solidFill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99FF33"/>
                </a:solidFill>
                <a:latin typeface="楷体_GB2312"/>
                <a:ea typeface="楷体_GB2312"/>
              </a:rPr>
              <a:t>          </a:t>
            </a:r>
            <a:r>
              <a:rPr lang="zh-CN" altLang="en-US" sz="2400" b="1" dirty="0">
                <a:latin typeface="楷体_GB2312"/>
                <a:ea typeface="楷体_GB2312"/>
              </a:rPr>
              <a:t>即应该设计成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“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等长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”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还是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“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不等长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”</a:t>
            </a:r>
            <a:r>
              <a:rPr lang="zh-CN" altLang="en-US" sz="2400" b="1" dirty="0">
                <a:latin typeface="楷体_GB2312"/>
                <a:ea typeface="楷体_GB2312"/>
              </a:rPr>
              <a:t>？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楷体_GB2312"/>
                <a:ea typeface="楷体_GB2312"/>
              </a:rPr>
              <a:t>缺点：</a:t>
            </a:r>
            <a:r>
              <a:rPr lang="zh-CN" altLang="en-US" sz="2400" b="1" dirty="0">
                <a:latin typeface="楷体_GB2312"/>
                <a:ea typeface="楷体_GB2312"/>
              </a:rPr>
              <a:t>等长结构太浪费（每个结点的度不一定相同）；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      不等长结构太复杂（要定义好多种结构类型）。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16070" name="Rectangle 6"/>
          <p:cNvSpPr/>
          <p:nvPr/>
        </p:nvSpPr>
        <p:spPr>
          <a:xfrm>
            <a:off x="407988" y="4724400"/>
            <a:ext cx="80518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524000" lvl="0" indent="-152400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解决思路：</a:t>
            </a:r>
            <a:r>
              <a:rPr lang="zh-CN" altLang="en-US" sz="2400" b="1" dirty="0">
                <a:solidFill>
                  <a:schemeClr val="tx2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先研究最简单、最有规律的树，然后设法把一般的树转化为简单树。</a:t>
            </a:r>
            <a:endParaRPr lang="zh-CN" altLang="en-US" sz="2400" b="1" dirty="0">
              <a:solidFill>
                <a:schemeClr val="tx2"/>
              </a:solidFill>
              <a:highlight>
                <a:srgbClr val="FFFF00"/>
              </a:highlight>
              <a:latin typeface="楷体_GB2312"/>
              <a:ea typeface="楷体_GB2312"/>
            </a:endParaRPr>
          </a:p>
        </p:txBody>
      </p:sp>
      <p:sp>
        <p:nvSpPr>
          <p:cNvPr id="216071" name="AutoShape 7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16072" name="AutoShape 8"/>
          <p:cNvSpPr>
            <a:spLocks noChangeArrowheads="1"/>
          </p:cNvSpPr>
          <p:nvPr/>
        </p:nvSpPr>
        <p:spPr bwMode="auto">
          <a:xfrm>
            <a:off x="5562600" y="5562600"/>
            <a:ext cx="1752600" cy="609600"/>
          </a:xfrm>
          <a:prstGeom prst="wedgeRoundRectCallout">
            <a:avLst>
              <a:gd name="adj1" fmla="val -70560"/>
              <a:gd name="adj2" fmla="val -115884"/>
              <a:gd name="adj3" fmla="val 16667"/>
            </a:avLst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二叉树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21606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charRg st="27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16067">
                                            <p:txEl>
                                              <p:charRg st="27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1606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charRg st="22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216069">
                                            <p:txEl>
                                              <p:charRg st="22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charRg st="4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16069">
                                            <p:txEl>
                                              <p:charRg st="45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16069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>
                                            <p:txEl>
                                              <p:charRg st="99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216069">
                                            <p:txEl>
                                              <p:charRg st="99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6" grpId="0"/>
      <p:bldP spid="216067" grpId="0" build="p"/>
      <p:bldP spid="216068" grpId="0"/>
      <p:bldP spid="216069" grpId="0" build="p"/>
      <p:bldP spid="216070" grpId="0"/>
      <p:bldP spid="216071" grpId="0" animBg="1"/>
      <p:bldP spid="21607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77724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hlink"/>
                </a:solidFill>
                <a:ea typeface="楷体_GB2312"/>
              </a:rPr>
              <a:t>5. </a:t>
            </a:r>
            <a:r>
              <a:rPr lang="zh-CN" altLang="en-US" sz="2800" b="1" dirty="0">
                <a:solidFill>
                  <a:schemeClr val="hlink"/>
                </a:solidFill>
                <a:ea typeface="楷体_GB2312"/>
              </a:rPr>
              <a:t>树的运算</a:t>
            </a:r>
            <a:r>
              <a:rPr lang="zh-CN" altLang="en-US" dirty="0">
                <a:solidFill>
                  <a:schemeClr val="hlink"/>
                </a:solidFill>
              </a:rPr>
              <a:t> </a:t>
            </a:r>
            <a:endParaRPr lang="zh-CN" altLang="en-US" dirty="0">
              <a:solidFill>
                <a:schemeClr val="hlink"/>
              </a:solidFill>
            </a:endParaRPr>
          </a:p>
        </p:txBody>
      </p:sp>
      <p:sp>
        <p:nvSpPr>
          <p:cNvPr id="218115" name="Rectangle 3"/>
          <p:cNvSpPr>
            <a:spLocks noGrp="1"/>
          </p:cNvSpPr>
          <p:nvPr>
            <p:ph idx="1"/>
          </p:nvPr>
        </p:nvSpPr>
        <p:spPr>
          <a:xfrm>
            <a:off x="457200" y="990600"/>
            <a:ext cx="7772400" cy="38100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要明确：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algn="just" eaLnBrk="1" hangingPunct="1">
              <a:buNone/>
            </a:pPr>
            <a:r>
              <a:rPr lang="en-US" altLang="zh-CN" sz="2800" b="1" dirty="0">
                <a:ea typeface="楷体_GB2312"/>
              </a:rPr>
              <a:t>1. </a:t>
            </a:r>
            <a:r>
              <a:rPr lang="zh-CN" altLang="en-US" sz="2800" b="1" dirty="0">
                <a:ea typeface="楷体_GB2312"/>
              </a:rPr>
              <a:t>普通树（即多叉树）若不转化为二叉树，则运算很难实现。</a:t>
            </a:r>
            <a:endParaRPr lang="zh-CN" altLang="en-US" sz="2800" b="1" dirty="0">
              <a:ea typeface="楷体_GB2312"/>
            </a:endParaRPr>
          </a:p>
          <a:p>
            <a:pPr algn="just" eaLnBrk="1" hangingPunct="1">
              <a:buNone/>
            </a:pPr>
            <a:r>
              <a:rPr lang="en-US" altLang="zh-CN" sz="2800" b="1" dirty="0">
                <a:ea typeface="楷体_GB2312"/>
              </a:rPr>
              <a:t>2. </a:t>
            </a:r>
            <a:r>
              <a:rPr lang="zh-CN" altLang="en-US" sz="2800" b="1" dirty="0">
                <a:ea typeface="楷体_GB2312"/>
              </a:rPr>
              <a:t>二叉树的运算仍然是插入、删除、修改、查找、排序等，但这些操作必须建立在</a:t>
            </a:r>
            <a:r>
              <a:rPr lang="zh-CN" altLang="en-US" sz="2800" b="1" dirty="0">
                <a:solidFill>
                  <a:schemeClr val="accent2"/>
                </a:solidFill>
                <a:ea typeface="楷体_GB2312"/>
              </a:rPr>
              <a:t>对树结点能够“遍历”</a:t>
            </a:r>
            <a:r>
              <a:rPr lang="zh-CN" altLang="en-US" sz="2800" b="1" dirty="0">
                <a:ea typeface="楷体_GB2312"/>
              </a:rPr>
              <a:t>的基础上！</a:t>
            </a:r>
            <a:endParaRPr lang="zh-CN" altLang="en-US" sz="2800" b="1" dirty="0">
              <a:ea typeface="楷体_GB2312"/>
            </a:endParaRPr>
          </a:p>
          <a:p>
            <a:pPr algn="just" eaLnBrk="1" hangingPunct="1">
              <a:buNone/>
            </a:pPr>
            <a:r>
              <a:rPr lang="zh-CN" altLang="en-US" sz="2800" b="1" dirty="0">
                <a:ea typeface="楷体_GB2312"/>
              </a:rPr>
              <a:t>（</a:t>
            </a:r>
            <a:r>
              <a:rPr lang="zh-CN" altLang="en-US" sz="2800" b="1" dirty="0">
                <a:solidFill>
                  <a:schemeClr val="accent2"/>
                </a:solidFill>
                <a:ea typeface="楷体_GB2312"/>
              </a:rPr>
              <a:t>遍历</a:t>
            </a:r>
            <a:r>
              <a:rPr lang="en-US" altLang="zh-CN" sz="2800" b="1" dirty="0">
                <a:ea typeface="楷体_GB2312"/>
              </a:rPr>
              <a:t>——</a:t>
            </a:r>
            <a:r>
              <a:rPr lang="zh-CN" altLang="en-US" sz="2800" b="1" dirty="0">
                <a:ea typeface="楷体_GB2312"/>
              </a:rPr>
              <a:t>指每个结点都被访问且仅访问一次，不遗漏不重复）。</a:t>
            </a:r>
            <a:endParaRPr lang="zh-CN" altLang="en-US" dirty="0">
              <a:solidFill>
                <a:srgbClr val="99FF33"/>
              </a:solidFill>
            </a:endParaRPr>
          </a:p>
        </p:txBody>
      </p:sp>
      <p:sp>
        <p:nvSpPr>
          <p:cNvPr id="218117" name="Rectangle 5"/>
          <p:cNvSpPr/>
          <p:nvPr/>
        </p:nvSpPr>
        <p:spPr>
          <a:xfrm>
            <a:off x="838200" y="5029200"/>
            <a:ext cx="58483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本章重点：二叉树的表示和实现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8118" name="AutoShape 6">
            <a:hlinkClick r:id="" action="ppaction://hlinkshowjump?jump=nextslide"/>
          </p:cNvPr>
          <p:cNvSpPr/>
          <p:nvPr/>
        </p:nvSpPr>
        <p:spPr>
          <a:xfrm>
            <a:off x="80010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charRg st="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charRg st="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charRg st="35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18115">
                                            <p:txEl>
                                              <p:charRg st="35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charRg st="8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18115">
                                            <p:txEl>
                                              <p:charRg st="89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build="p"/>
      <p:bldP spid="218117" grpId="0"/>
      <p:bldP spid="2181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6.2  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二叉树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2212" name="Rectangle 4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1371600"/>
          </a:xfrm>
        </p:spPr>
        <p:txBody>
          <a:bodyPr vert="horz" wrap="square" lIns="91440" tIns="45720" rIns="91440" bIns="45720" anchor="t" anchorCtr="0"/>
          <a:p>
            <a:pPr marL="476250" indent="-476250" algn="just" eaLnBrk="1" hangingPunct="1"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为何要重点研究每结点最多只有两个 </a:t>
            </a:r>
            <a:r>
              <a:rPr lang="zh-CN" altLang="en-US" sz="2400" b="1" dirty="0">
                <a:ea typeface="楷体_GB2312"/>
              </a:rPr>
              <a:t>“</a:t>
            </a:r>
            <a:r>
              <a:rPr lang="zh-CN" altLang="en-US" sz="2400" b="1" dirty="0">
                <a:latin typeface="楷体_GB2312"/>
                <a:ea typeface="楷体_GB2312"/>
              </a:rPr>
              <a:t>叉</a:t>
            </a:r>
            <a:r>
              <a:rPr lang="zh-CN" altLang="en-US" sz="2400" b="1" dirty="0">
                <a:ea typeface="楷体_GB2312"/>
              </a:rPr>
              <a:t>”</a:t>
            </a:r>
            <a:r>
              <a:rPr lang="zh-CN" altLang="en-US" sz="2400" b="1" dirty="0">
                <a:latin typeface="楷体_GB2312"/>
                <a:ea typeface="楷体_GB2312"/>
              </a:rPr>
              <a:t> 的树？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476250" indent="-476250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楷体_GB2312"/>
                <a:ea typeface="楷体_GB2312"/>
              </a:rPr>
              <a:t>二叉树的结构最简单，规律性最强；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476250" indent="-476250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highlight>
                  <a:srgbClr val="FFFF00"/>
                </a:highlight>
                <a:latin typeface="楷体_GB2312"/>
                <a:ea typeface="楷体_GB2312"/>
              </a:rPr>
              <a:t>可以证明，所有树都能转为唯一对应的二叉树，不失一般性。</a:t>
            </a:r>
            <a:endParaRPr lang="zh-CN" altLang="en-US" sz="2400" b="1" dirty="0">
              <a:highlight>
                <a:srgbClr val="FFFF00"/>
              </a:highlight>
              <a:latin typeface="楷体_GB2312"/>
              <a:ea typeface="楷体_GB2312"/>
            </a:endParaRPr>
          </a:p>
        </p:txBody>
      </p:sp>
      <p:sp>
        <p:nvSpPr>
          <p:cNvPr id="222213" name="Text Box 5"/>
          <p:cNvSpPr txBox="1"/>
          <p:nvPr/>
        </p:nvSpPr>
        <p:spPr>
          <a:xfrm>
            <a:off x="1066800" y="2743200"/>
            <a:ext cx="6096000" cy="180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 	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hlinkClick r:id="rId1" action="ppaction://hlinksldjump"/>
              </a:rPr>
              <a:t>二叉树的定义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2. 	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hlinkClick r:id="rId2" action="ppaction://hlinksldjump"/>
              </a:rPr>
              <a:t>二叉树的性质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3. 	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hlinkClick r:id="rId3" action="ppaction://hlinksldjump"/>
              </a:rPr>
              <a:t>二叉树的存储结构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22214" name="AutoShape 6">
            <a:hlinkClick r:id="rId4" action="ppaction://hlinksldjump"/>
          </p:cNvPr>
          <p:cNvSpPr/>
          <p:nvPr/>
        </p:nvSpPr>
        <p:spPr>
          <a:xfrm flipH="1">
            <a:off x="79248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22215" name="Rectangle 7"/>
          <p:cNvSpPr/>
          <p:nvPr/>
        </p:nvSpPr>
        <p:spPr>
          <a:xfrm>
            <a:off x="1371600" y="4953000"/>
            <a:ext cx="42164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（二叉树的运算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见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6.3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节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）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charRg st="25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2">
                                            <p:txEl>
                                              <p:charRg st="42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2" grpId="0" build="p"/>
      <p:bldP spid="222213" grpId="0"/>
      <p:bldP spid="222214" grpId="0" animBg="1"/>
      <p:bldP spid="2222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35814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1.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二叉树的定义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79224" name="AutoShape 24">
            <a:hlinkClick r:id="" action="ppaction://hlinkshowjump?jump=nextslide"/>
          </p:cNvPr>
          <p:cNvSpPr/>
          <p:nvPr/>
        </p:nvSpPr>
        <p:spPr>
          <a:xfrm>
            <a:off x="80010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9225" name="Text Box 25"/>
          <p:cNvSpPr txBox="1"/>
          <p:nvPr/>
        </p:nvSpPr>
        <p:spPr>
          <a:xfrm>
            <a:off x="228600" y="762000"/>
            <a:ext cx="8382000" cy="2898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62000" lvl="0" indent="-76200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定义：</a:t>
            </a:r>
            <a:r>
              <a:rPr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lang="en-US" altLang="zh-CN" sz="2400" b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n≥0</a:t>
            </a:r>
            <a:r>
              <a:rPr lang="zh-CN" altLang="en-US" sz="2400" b="1" dirty="0">
                <a:latin typeface="Times New Roman" panose="02020603050405020304" pitchFamily="18" charset="0"/>
              </a:rPr>
              <a:t>）个结点的有限集合，由一个根结点以及两棵互不相交的、分别称为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左子树和右子树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的二叉树组成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 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762000" lvl="0" indent="-762000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逻辑结构：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一对二（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762000" lvl="0" indent="-762000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基本特征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:</a:t>
            </a:r>
            <a:endParaRPr lang="en-US" altLang="zh-CN" sz="24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  <a:p>
            <a:pPr marL="762000" lvl="0" indent="-7620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① </a:t>
            </a:r>
            <a:r>
              <a:rPr lang="zh-CN" altLang="en-US" sz="2400" b="1" dirty="0">
                <a:latin typeface="楷体_GB2312"/>
                <a:ea typeface="楷体_GB2312"/>
              </a:rPr>
              <a:t>每个结点</a:t>
            </a:r>
            <a:r>
              <a:rPr lang="zh-CN" altLang="en-US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最多</a:t>
            </a:r>
            <a:r>
              <a:rPr lang="zh-CN" altLang="en-US" sz="2400" b="1" dirty="0">
                <a:latin typeface="楷体_GB2312"/>
                <a:ea typeface="楷体_GB2312"/>
              </a:rPr>
              <a:t>只有两棵子树（</a:t>
            </a:r>
            <a:r>
              <a:rPr lang="zh-CN" altLang="en-US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不</a:t>
            </a:r>
            <a:r>
              <a:rPr lang="zh-CN" altLang="en-US" sz="2400" b="1" dirty="0">
                <a:latin typeface="楷体_GB2312"/>
                <a:ea typeface="楷体_GB2312"/>
              </a:rPr>
              <a:t>存在度</a:t>
            </a:r>
            <a:r>
              <a:rPr lang="zh-CN" altLang="en-US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大于</a:t>
            </a:r>
            <a:r>
              <a:rPr lang="en-US" altLang="zh-CN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latin typeface="楷体_GB2312"/>
                <a:ea typeface="楷体_GB2312"/>
              </a:rPr>
              <a:t>的结点）；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762000" lvl="0" indent="-76200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② 左子树和右子树次序不能颠倒（</a:t>
            </a:r>
            <a:r>
              <a:rPr lang="zh-CN" altLang="en-US" sz="2400" b="1" i="1" dirty="0">
                <a:solidFill>
                  <a:srgbClr val="FF0000"/>
                </a:solidFill>
                <a:latin typeface="楷体_GB2312"/>
                <a:ea typeface="楷体_GB2312"/>
              </a:rPr>
              <a:t>有序树</a:t>
            </a:r>
            <a:r>
              <a:rPr lang="zh-CN" altLang="en-US" sz="2400" b="1" dirty="0">
                <a:latin typeface="楷体_GB2312"/>
                <a:ea typeface="楷体_GB2312"/>
              </a:rPr>
              <a:t>）。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762000" lvl="0" indent="-762000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基本形态：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00"/>
          <p:cNvGrpSpPr/>
          <p:nvPr/>
        </p:nvGrpSpPr>
        <p:grpSpPr>
          <a:xfrm>
            <a:off x="1828800" y="3276600"/>
            <a:ext cx="5940425" cy="838200"/>
            <a:chOff x="1152" y="2064"/>
            <a:chExt cx="3742" cy="528"/>
          </a:xfrm>
        </p:grpSpPr>
        <p:grpSp>
          <p:nvGrpSpPr>
            <p:cNvPr id="21544" name="Group 36"/>
            <p:cNvGrpSpPr/>
            <p:nvPr/>
          </p:nvGrpSpPr>
          <p:grpSpPr>
            <a:xfrm>
              <a:off x="4752" y="2160"/>
              <a:ext cx="142" cy="231"/>
              <a:chOff x="4032" y="2159"/>
              <a:chExt cx="190" cy="279"/>
            </a:xfrm>
          </p:grpSpPr>
          <p:sp>
            <p:nvSpPr>
              <p:cNvPr id="21561" name="Oval 8"/>
              <p:cNvSpPr/>
              <p:nvPr/>
            </p:nvSpPr>
            <p:spPr>
              <a:xfrm>
                <a:off x="4032" y="2205"/>
                <a:ext cx="190" cy="183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62" name="Line 22"/>
              <p:cNvSpPr/>
              <p:nvPr/>
            </p:nvSpPr>
            <p:spPr>
              <a:xfrm flipH="1">
                <a:off x="4040" y="2159"/>
                <a:ext cx="174" cy="27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545" name="Oval 28"/>
            <p:cNvSpPr/>
            <p:nvPr/>
          </p:nvSpPr>
          <p:spPr>
            <a:xfrm>
              <a:off x="4176" y="2208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21546" name="Group 35"/>
            <p:cNvGrpSpPr/>
            <p:nvPr/>
          </p:nvGrpSpPr>
          <p:grpSpPr>
            <a:xfrm>
              <a:off x="3360" y="2126"/>
              <a:ext cx="432" cy="418"/>
              <a:chOff x="3838" y="2548"/>
              <a:chExt cx="672" cy="514"/>
            </a:xfrm>
          </p:grpSpPr>
          <p:sp>
            <p:nvSpPr>
              <p:cNvPr id="21558" name="Oval 11"/>
              <p:cNvSpPr/>
              <p:nvPr/>
            </p:nvSpPr>
            <p:spPr>
              <a:xfrm>
                <a:off x="3838" y="2548"/>
                <a:ext cx="190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b="1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1559" name="Line 12"/>
              <p:cNvSpPr/>
              <p:nvPr/>
            </p:nvSpPr>
            <p:spPr>
              <a:xfrm>
                <a:off x="4005" y="2718"/>
                <a:ext cx="369" cy="23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60" name="Oval 29"/>
              <p:cNvSpPr/>
              <p:nvPr/>
            </p:nvSpPr>
            <p:spPr>
              <a:xfrm>
                <a:off x="4320" y="2880"/>
                <a:ext cx="190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21547" name="Group 34"/>
            <p:cNvGrpSpPr/>
            <p:nvPr/>
          </p:nvGrpSpPr>
          <p:grpSpPr>
            <a:xfrm>
              <a:off x="2448" y="2112"/>
              <a:ext cx="382" cy="432"/>
              <a:chOff x="3074" y="2512"/>
              <a:chExt cx="526" cy="550"/>
            </a:xfrm>
          </p:grpSpPr>
          <p:sp>
            <p:nvSpPr>
              <p:cNvPr id="21555" name="Oval 9"/>
              <p:cNvSpPr/>
              <p:nvPr/>
            </p:nvSpPr>
            <p:spPr>
              <a:xfrm>
                <a:off x="3411" y="2512"/>
                <a:ext cx="189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b="1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1556" name="Line 20"/>
              <p:cNvSpPr/>
              <p:nvPr/>
            </p:nvSpPr>
            <p:spPr>
              <a:xfrm flipH="1">
                <a:off x="3216" y="2684"/>
                <a:ext cx="228" cy="2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57" name="Oval 30"/>
              <p:cNvSpPr/>
              <p:nvPr/>
            </p:nvSpPr>
            <p:spPr>
              <a:xfrm>
                <a:off x="3074" y="2880"/>
                <a:ext cx="190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21548" name="Group 33"/>
            <p:cNvGrpSpPr/>
            <p:nvPr/>
          </p:nvGrpSpPr>
          <p:grpSpPr>
            <a:xfrm>
              <a:off x="1152" y="2064"/>
              <a:ext cx="864" cy="528"/>
              <a:chOff x="2736" y="2526"/>
              <a:chExt cx="960" cy="536"/>
            </a:xfrm>
          </p:grpSpPr>
          <p:sp>
            <p:nvSpPr>
              <p:cNvPr id="21549" name="Oval 14"/>
              <p:cNvSpPr/>
              <p:nvPr/>
            </p:nvSpPr>
            <p:spPr>
              <a:xfrm>
                <a:off x="3096" y="2526"/>
                <a:ext cx="190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50" name="Line 15"/>
              <p:cNvSpPr/>
              <p:nvPr/>
            </p:nvSpPr>
            <p:spPr>
              <a:xfrm flipH="1">
                <a:off x="2837" y="2682"/>
                <a:ext cx="295" cy="2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51" name="Line 16"/>
              <p:cNvSpPr/>
              <p:nvPr/>
            </p:nvSpPr>
            <p:spPr>
              <a:xfrm>
                <a:off x="3267" y="2682"/>
                <a:ext cx="309" cy="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52" name="Text Box 17"/>
              <p:cNvSpPr txBox="1"/>
              <p:nvPr/>
            </p:nvSpPr>
            <p:spPr>
              <a:xfrm>
                <a:off x="3106" y="2526"/>
                <a:ext cx="182" cy="2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TW" altLang="en-US" sz="2400" b="1" dirty="0">
                    <a:latin typeface="Times New Roman" panose="02020603050405020304" pitchFamily="18" charset="0"/>
                    <a:ea typeface="PMingLiU" pitchFamily="18" charset="-120"/>
                  </a:rPr>
                  <a:t> </a:t>
                </a:r>
                <a:endParaRPr lang="zh-TW" altLang="en-US" sz="2400" b="1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1553" name="Oval 31"/>
              <p:cNvSpPr/>
              <p:nvPr/>
            </p:nvSpPr>
            <p:spPr>
              <a:xfrm>
                <a:off x="3506" y="2880"/>
                <a:ext cx="190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1554" name="Oval 32"/>
              <p:cNvSpPr/>
              <p:nvPr/>
            </p:nvSpPr>
            <p:spPr>
              <a:xfrm>
                <a:off x="2736" y="2880"/>
                <a:ext cx="190" cy="18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</p:grpSp>
      <p:sp>
        <p:nvSpPr>
          <p:cNvPr id="179238" name="Rectangle 38"/>
          <p:cNvSpPr>
            <a:spLocks noChangeArrowheads="1"/>
          </p:cNvSpPr>
          <p:nvPr/>
        </p:nvSpPr>
        <p:spPr bwMode="auto">
          <a:xfrm>
            <a:off x="76200" y="4419600"/>
            <a:ext cx="8305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问：具有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个结点的二叉树可能有几种不同形态？普通树呢？ 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7" name="Group 59"/>
          <p:cNvGrpSpPr/>
          <p:nvPr/>
        </p:nvGrpSpPr>
        <p:grpSpPr>
          <a:xfrm>
            <a:off x="381000" y="4876800"/>
            <a:ext cx="1371600" cy="838200"/>
            <a:chOff x="2736" y="2526"/>
            <a:chExt cx="960" cy="536"/>
          </a:xfrm>
        </p:grpSpPr>
        <p:sp>
          <p:nvSpPr>
            <p:cNvPr id="21538" name="Oval 60"/>
            <p:cNvSpPr/>
            <p:nvPr/>
          </p:nvSpPr>
          <p:spPr>
            <a:xfrm>
              <a:off x="3096" y="2526"/>
              <a:ext cx="190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9" name="Line 61"/>
            <p:cNvSpPr/>
            <p:nvPr/>
          </p:nvSpPr>
          <p:spPr>
            <a:xfrm flipH="1">
              <a:off x="2837" y="2682"/>
              <a:ext cx="295" cy="2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0" name="Line 62"/>
            <p:cNvSpPr/>
            <p:nvPr/>
          </p:nvSpPr>
          <p:spPr>
            <a:xfrm>
              <a:off x="3267" y="2682"/>
              <a:ext cx="309" cy="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1" name="Text Box 63"/>
            <p:cNvSpPr txBox="1"/>
            <p:nvPr/>
          </p:nvSpPr>
          <p:spPr>
            <a:xfrm>
              <a:off x="3106" y="2526"/>
              <a:ext cx="182" cy="2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 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42" name="Oval 64"/>
            <p:cNvSpPr/>
            <p:nvPr/>
          </p:nvSpPr>
          <p:spPr>
            <a:xfrm>
              <a:off x="3506" y="2880"/>
              <a:ext cx="190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43" name="Oval 65"/>
            <p:cNvSpPr/>
            <p:nvPr/>
          </p:nvSpPr>
          <p:spPr>
            <a:xfrm>
              <a:off x="2736" y="2880"/>
              <a:ext cx="190" cy="18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179267" name="Rectangle 67"/>
          <p:cNvSpPr/>
          <p:nvPr/>
        </p:nvSpPr>
        <p:spPr>
          <a:xfrm>
            <a:off x="7543800" y="49530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种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/2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种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" name="Group 98"/>
          <p:cNvGrpSpPr/>
          <p:nvPr/>
        </p:nvGrpSpPr>
        <p:grpSpPr>
          <a:xfrm>
            <a:off x="2135188" y="4876800"/>
            <a:ext cx="989012" cy="1143000"/>
            <a:chOff x="1296" y="3360"/>
            <a:chExt cx="623" cy="720"/>
          </a:xfrm>
        </p:grpSpPr>
        <p:sp>
          <p:nvSpPr>
            <p:cNvPr id="21533" name="Oval 44"/>
            <p:cNvSpPr/>
            <p:nvPr/>
          </p:nvSpPr>
          <p:spPr>
            <a:xfrm>
              <a:off x="1776" y="3360"/>
              <a:ext cx="143" cy="15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34" name="Line 45"/>
            <p:cNvSpPr/>
            <p:nvPr/>
          </p:nvSpPr>
          <p:spPr>
            <a:xfrm flipH="1">
              <a:off x="1632" y="3456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5" name="Oval 46"/>
            <p:cNvSpPr/>
            <p:nvPr/>
          </p:nvSpPr>
          <p:spPr>
            <a:xfrm>
              <a:off x="1536" y="3648"/>
              <a:ext cx="144" cy="15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6" name="Oval 74"/>
            <p:cNvSpPr/>
            <p:nvPr/>
          </p:nvSpPr>
          <p:spPr>
            <a:xfrm>
              <a:off x="1296" y="3936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7" name="Line 82"/>
            <p:cNvSpPr/>
            <p:nvPr/>
          </p:nvSpPr>
          <p:spPr>
            <a:xfrm flipH="1">
              <a:off x="1392" y="3744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92"/>
          <p:cNvGrpSpPr/>
          <p:nvPr/>
        </p:nvGrpSpPr>
        <p:grpSpPr>
          <a:xfrm>
            <a:off x="4879975" y="4876800"/>
            <a:ext cx="987425" cy="1295400"/>
            <a:chOff x="2352" y="3360"/>
            <a:chExt cx="622" cy="816"/>
          </a:xfrm>
        </p:grpSpPr>
        <p:sp>
          <p:nvSpPr>
            <p:cNvPr id="21528" name="Oval 71"/>
            <p:cNvSpPr/>
            <p:nvPr/>
          </p:nvSpPr>
          <p:spPr>
            <a:xfrm>
              <a:off x="2832" y="4032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9" name="Oval 72"/>
            <p:cNvSpPr/>
            <p:nvPr/>
          </p:nvSpPr>
          <p:spPr>
            <a:xfrm>
              <a:off x="2592" y="3696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0" name="Oval 73"/>
            <p:cNvSpPr/>
            <p:nvPr/>
          </p:nvSpPr>
          <p:spPr>
            <a:xfrm>
              <a:off x="2352" y="3360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31" name="Line 81"/>
            <p:cNvSpPr/>
            <p:nvPr/>
          </p:nvSpPr>
          <p:spPr>
            <a:xfrm>
              <a:off x="2496" y="3504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32" name="Line 83"/>
            <p:cNvSpPr/>
            <p:nvPr/>
          </p:nvSpPr>
          <p:spPr>
            <a:xfrm>
              <a:off x="2736" y="3840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91"/>
          <p:cNvGrpSpPr/>
          <p:nvPr/>
        </p:nvGrpSpPr>
        <p:grpSpPr>
          <a:xfrm>
            <a:off x="6477000" y="4876800"/>
            <a:ext cx="609600" cy="1219200"/>
            <a:chOff x="3744" y="3264"/>
            <a:chExt cx="384" cy="768"/>
          </a:xfrm>
        </p:grpSpPr>
        <p:sp>
          <p:nvSpPr>
            <p:cNvPr id="21523" name="Line 80"/>
            <p:cNvSpPr/>
            <p:nvPr/>
          </p:nvSpPr>
          <p:spPr>
            <a:xfrm flipH="1">
              <a:off x="3840" y="3744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4" name="Oval 86"/>
            <p:cNvSpPr/>
            <p:nvPr/>
          </p:nvSpPr>
          <p:spPr>
            <a:xfrm>
              <a:off x="3744" y="3888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5" name="Oval 87"/>
            <p:cNvSpPr/>
            <p:nvPr/>
          </p:nvSpPr>
          <p:spPr>
            <a:xfrm>
              <a:off x="3986" y="3600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6" name="Oval 88"/>
            <p:cNvSpPr/>
            <p:nvPr/>
          </p:nvSpPr>
          <p:spPr>
            <a:xfrm>
              <a:off x="3746" y="3264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7" name="Line 89"/>
            <p:cNvSpPr/>
            <p:nvPr/>
          </p:nvSpPr>
          <p:spPr>
            <a:xfrm>
              <a:off x="3890" y="3408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99"/>
          <p:cNvGrpSpPr/>
          <p:nvPr/>
        </p:nvGrpSpPr>
        <p:grpSpPr>
          <a:xfrm>
            <a:off x="3735388" y="4953000"/>
            <a:ext cx="608012" cy="1143000"/>
            <a:chOff x="2353" y="3264"/>
            <a:chExt cx="383" cy="720"/>
          </a:xfrm>
        </p:grpSpPr>
        <p:sp>
          <p:nvSpPr>
            <p:cNvPr id="21518" name="Line 85"/>
            <p:cNvSpPr/>
            <p:nvPr/>
          </p:nvSpPr>
          <p:spPr>
            <a:xfrm>
              <a:off x="2496" y="3696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9" name="Oval 93"/>
            <p:cNvSpPr/>
            <p:nvPr/>
          </p:nvSpPr>
          <p:spPr>
            <a:xfrm>
              <a:off x="2593" y="3264"/>
              <a:ext cx="143" cy="15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1520" name="Line 94"/>
            <p:cNvSpPr/>
            <p:nvPr/>
          </p:nvSpPr>
          <p:spPr>
            <a:xfrm flipH="1">
              <a:off x="2449" y="3360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21" name="Oval 95"/>
            <p:cNvSpPr/>
            <p:nvPr/>
          </p:nvSpPr>
          <p:spPr>
            <a:xfrm>
              <a:off x="2353" y="3552"/>
              <a:ext cx="144" cy="15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1522" name="Oval 96"/>
            <p:cNvSpPr/>
            <p:nvPr/>
          </p:nvSpPr>
          <p:spPr>
            <a:xfrm>
              <a:off x="2592" y="3840"/>
              <a:ext cx="142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5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79225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5">
                                            <p:txEl>
                                              <p:charRg st="55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79225">
                                            <p:txEl>
                                              <p:charRg st="55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5">
                                            <p:txEl>
                                              <p:charRg st="72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79225">
                                            <p:txEl>
                                              <p:charRg st="72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5">
                                            <p:txEl>
                                              <p:charRg st="78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79225">
                                            <p:txEl>
                                              <p:charRg st="78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5">
                                            <p:txEl>
                                              <p:charRg st="106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79225">
                                            <p:txEl>
                                              <p:charRg st="106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5">
                                            <p:txEl>
                                              <p:charRg st="128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79225">
                                            <p:txEl>
                                              <p:charRg st="128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9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9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24" grpId="0" animBg="1"/>
      <p:bldP spid="179225" grpId="0" build="p"/>
      <p:bldP spid="179238" grpId="0"/>
      <p:bldP spid="17926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4953000" cy="762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2.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二叉树的性质   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(3+2)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80232" name="AutoShape 8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80233" name="Rectangle 9"/>
          <p:cNvSpPr/>
          <p:nvPr/>
        </p:nvSpPr>
        <p:spPr>
          <a:xfrm>
            <a:off x="304800" y="838200"/>
            <a:ext cx="8534400" cy="88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讨论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：第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i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层的结点数至多是多少？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                                 </a:t>
            </a:r>
            <a:r>
              <a:rPr lang="zh-CN" altLang="en-US" sz="2000" b="1" dirty="0">
                <a:latin typeface="楷体_GB2312"/>
                <a:ea typeface="楷体_GB2312"/>
              </a:rPr>
              <a:t>（利用二进制性质可轻松求出）</a:t>
            </a:r>
            <a:r>
              <a:rPr lang="zh-CN" altLang="en-US" sz="2800" b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b="1" dirty="0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0234" name="Rectangle 10"/>
          <p:cNvSpPr>
            <a:spLocks noChangeArrowheads="1"/>
          </p:cNvSpPr>
          <p:nvPr/>
        </p:nvSpPr>
        <p:spPr bwMode="auto">
          <a:xfrm>
            <a:off x="152400" y="2062163"/>
            <a:ext cx="8686800" cy="528638"/>
          </a:xfrm>
          <a:prstGeom prst="rect">
            <a:avLst/>
          </a:prstGeom>
          <a:noFill/>
          <a:ln w="9525">
            <a:solidFill>
              <a:srgbClr val="CC99FF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性质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1: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在二叉树的第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层上至多有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i-1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个结点（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&gt;0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80235" name="Rectangle 11"/>
          <p:cNvSpPr>
            <a:spLocks noChangeArrowheads="1"/>
          </p:cNvSpPr>
          <p:nvPr/>
        </p:nvSpPr>
        <p:spPr bwMode="auto">
          <a:xfrm>
            <a:off x="228600" y="4724400"/>
            <a:ext cx="8458200" cy="528638"/>
          </a:xfrm>
          <a:prstGeom prst="rect">
            <a:avLst/>
          </a:prstGeom>
          <a:noFill/>
          <a:ln w="9525">
            <a:solidFill>
              <a:srgbClr val="CC99FF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性质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2: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深度为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k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的二叉树至多有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-1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个结点（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k&gt;0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）。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80239" name="Rectangle 15"/>
          <p:cNvSpPr/>
          <p:nvPr/>
        </p:nvSpPr>
        <p:spPr>
          <a:xfrm>
            <a:off x="5257800" y="838200"/>
            <a:ext cx="955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 baseline="30000" dirty="0">
                <a:solidFill>
                  <a:srgbClr val="FF0000"/>
                </a:solidFill>
                <a:latin typeface="楷体_GB2312"/>
                <a:ea typeface="楷体_GB2312"/>
              </a:rPr>
              <a:t>i-1</a:t>
            </a:r>
            <a:r>
              <a:rPr lang="zh-CN" altLang="en-US" sz="2400" b="1" dirty="0">
                <a:latin typeface="楷体_GB2312"/>
                <a:ea typeface="楷体_GB2312"/>
              </a:rPr>
              <a:t>个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180240" name="Rectangle 16"/>
          <p:cNvSpPr/>
          <p:nvPr/>
        </p:nvSpPr>
        <p:spPr>
          <a:xfrm>
            <a:off x="1066800" y="2819400"/>
            <a:ext cx="5334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提问：第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i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层上至少有</a:t>
            </a:r>
            <a:r>
              <a:rPr lang="zh-CN" altLang="en-US" sz="2000" b="1" u="sng" dirty="0">
                <a:solidFill>
                  <a:schemeClr val="accent2"/>
                </a:solidFill>
                <a:latin typeface="楷体_GB2312"/>
                <a:ea typeface="楷体_GB2312"/>
              </a:rPr>
              <a:t>     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个结点？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180241" name="Rectangle 17"/>
          <p:cNvSpPr/>
          <p:nvPr/>
        </p:nvSpPr>
        <p:spPr>
          <a:xfrm>
            <a:off x="3492500" y="2803525"/>
            <a:ext cx="3127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</a:rPr>
              <a:t>1</a:t>
            </a:r>
            <a:endParaRPr lang="en-US" altLang="zh-CN" sz="2000" b="1" dirty="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180242" name="Rectangle 18"/>
          <p:cNvSpPr/>
          <p:nvPr/>
        </p:nvSpPr>
        <p:spPr>
          <a:xfrm>
            <a:off x="228600" y="3505200"/>
            <a:ext cx="80010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讨论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：深度为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k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的二叉树，至多有多少个结点？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                                </a:t>
            </a:r>
            <a:r>
              <a:rPr lang="zh-CN" altLang="en-US" sz="2000" b="1" dirty="0">
                <a:latin typeface="楷体_GB2312"/>
                <a:ea typeface="楷体_GB2312"/>
              </a:rPr>
              <a:t>（利用二进制性质可轻松求出）</a:t>
            </a:r>
            <a:endParaRPr lang="zh-CN" altLang="en-US" sz="2000" b="1" dirty="0">
              <a:latin typeface="楷体_GB2312"/>
              <a:ea typeface="楷体_GB2312"/>
            </a:endParaRPr>
          </a:p>
        </p:txBody>
      </p:sp>
      <p:sp>
        <p:nvSpPr>
          <p:cNvPr id="180243" name="Rectangle 19"/>
          <p:cNvSpPr/>
          <p:nvPr/>
        </p:nvSpPr>
        <p:spPr>
          <a:xfrm>
            <a:off x="6781800" y="35052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2</a:t>
            </a:r>
            <a:r>
              <a:rPr lang="en-US" altLang="zh-CN" sz="2400" b="1" baseline="30000" dirty="0">
                <a:solidFill>
                  <a:srgbClr val="FF0000"/>
                </a:solidFill>
                <a:latin typeface="楷体_GB2312"/>
                <a:ea typeface="楷体_GB2312"/>
              </a:rPr>
              <a:t>k</a:t>
            </a:r>
            <a:r>
              <a:rPr lang="en-US" altLang="zh-CN" sz="2400" b="1" dirty="0">
                <a:solidFill>
                  <a:srgbClr val="FF0000"/>
                </a:solidFill>
                <a:latin typeface="楷体_GB2312"/>
                <a:ea typeface="楷体_GB2312"/>
              </a:rPr>
              <a:t>-1</a:t>
            </a:r>
            <a:endParaRPr lang="en-US" altLang="zh-CN" sz="24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  <p:sp>
        <p:nvSpPr>
          <p:cNvPr id="180245" name="AutoShape 21"/>
          <p:cNvSpPr/>
          <p:nvPr/>
        </p:nvSpPr>
        <p:spPr>
          <a:xfrm>
            <a:off x="3152775" y="1524000"/>
            <a:ext cx="914400" cy="609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80246" name="AutoShape 22"/>
          <p:cNvSpPr/>
          <p:nvPr/>
        </p:nvSpPr>
        <p:spPr>
          <a:xfrm>
            <a:off x="3729038" y="4114800"/>
            <a:ext cx="914400" cy="609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80247" name="Rectangle 23"/>
          <p:cNvSpPr/>
          <p:nvPr/>
        </p:nvSpPr>
        <p:spPr>
          <a:xfrm>
            <a:off x="1295400" y="5486400"/>
            <a:ext cx="5334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提问：深度为</a:t>
            </a:r>
            <a:r>
              <a:rPr lang="en-US" altLang="zh-CN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k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时至少有</a:t>
            </a:r>
            <a:r>
              <a:rPr lang="zh-CN" altLang="en-US" sz="2000" b="1" u="sng" dirty="0">
                <a:solidFill>
                  <a:schemeClr val="accent2"/>
                </a:solidFill>
                <a:latin typeface="楷体_GB2312"/>
                <a:ea typeface="楷体_GB2312"/>
              </a:rPr>
              <a:t>     </a:t>
            </a:r>
            <a:r>
              <a:rPr lang="zh-CN" altLang="en-US" sz="2000" b="1" dirty="0">
                <a:solidFill>
                  <a:schemeClr val="accent2"/>
                </a:solidFill>
                <a:latin typeface="楷体_GB2312"/>
                <a:ea typeface="楷体_GB2312"/>
              </a:rPr>
              <a:t>个结点？</a:t>
            </a:r>
            <a:endParaRPr lang="zh-CN" altLang="en-US" sz="20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180248" name="Rectangle 24"/>
          <p:cNvSpPr/>
          <p:nvPr/>
        </p:nvSpPr>
        <p:spPr>
          <a:xfrm>
            <a:off x="4183063" y="5486400"/>
            <a:ext cx="3127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楷体_GB2312"/>
                <a:ea typeface="楷体_GB2312"/>
              </a:rPr>
              <a:t>k</a:t>
            </a:r>
            <a:endParaRPr lang="en-US" altLang="zh-CN" sz="2000" b="1" dirty="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0233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>
                                            <p:txEl>
                                              <p:charRg st="18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80233">
                                            <p:txEl>
                                              <p:charRg st="18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0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0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0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0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0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2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180242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2">
                                            <p:txEl>
                                              <p:charRg st="23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180242">
                                            <p:txEl>
                                              <p:charRg st="23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8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2" grpId="0" animBg="1"/>
      <p:bldP spid="180233" grpId="0" build="p"/>
      <p:bldP spid="180234" grpId="0" animBg="1"/>
      <p:bldP spid="180235" grpId="0" animBg="1"/>
      <p:bldP spid="180239" grpId="0"/>
      <p:bldP spid="180240" grpId="0"/>
      <p:bldP spid="180241" grpId="0"/>
      <p:bldP spid="180242" grpId="0" build="p"/>
      <p:bldP spid="180243" grpId="0"/>
      <p:bldP spid="180245" grpId="0" animBg="1"/>
      <p:bldP spid="180246" grpId="0" animBg="1"/>
      <p:bldP spid="180247" grpId="0"/>
      <p:bldP spid="1802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34498" name="Rectangle 2"/>
          <p:cNvSpPr>
            <a:spLocks noGrp="1"/>
          </p:cNvSpPr>
          <p:nvPr>
            <p:ph type="title"/>
          </p:nvPr>
        </p:nvSpPr>
        <p:spPr>
          <a:xfrm>
            <a:off x="228600" y="76200"/>
            <a:ext cx="8304213" cy="6858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讨论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3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：二叉树的叶子数和度为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的结点数之间有关系吗？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234501" name="Rectangle 5"/>
          <p:cNvSpPr/>
          <p:nvPr/>
        </p:nvSpPr>
        <p:spPr>
          <a:xfrm>
            <a:off x="152400" y="1295400"/>
            <a:ext cx="8686800" cy="955675"/>
          </a:xfrm>
          <a:prstGeom prst="rect">
            <a:avLst/>
          </a:prstGeom>
          <a:noFill/>
          <a:ln w="952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sz="2800" b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3: </a:t>
            </a:r>
            <a:r>
              <a:rPr lang="zh-CN" altLang="en-US" sz="2800" b="1" dirty="0">
                <a:latin typeface="楷体_GB2312"/>
                <a:ea typeface="楷体_GB2312"/>
              </a:rPr>
              <a:t>对于任何一棵二叉树，若</a:t>
            </a:r>
            <a:r>
              <a:rPr lang="en-US" altLang="zh-CN" sz="2800" b="1" dirty="0">
                <a:latin typeface="楷体_GB2312"/>
                <a:ea typeface="楷体_GB2312"/>
              </a:rPr>
              <a:t>2</a:t>
            </a:r>
            <a:r>
              <a:rPr lang="zh-CN" altLang="en-US" sz="2800" b="1" dirty="0">
                <a:latin typeface="楷体_GB2312"/>
                <a:ea typeface="楷体_GB2312"/>
              </a:rPr>
              <a:t>度的结点数有</a:t>
            </a:r>
            <a:r>
              <a:rPr lang="en-US" altLang="zh-CN" sz="2800" b="1" dirty="0">
                <a:latin typeface="楷体_GB2312"/>
                <a:ea typeface="楷体_GB2312"/>
              </a:rPr>
              <a:t>n</a:t>
            </a:r>
            <a:r>
              <a:rPr lang="en-US" altLang="zh-CN" sz="2800" b="1" baseline="-25000" dirty="0">
                <a:latin typeface="楷体_GB2312"/>
                <a:ea typeface="楷体_GB2312"/>
              </a:rPr>
              <a:t>2</a:t>
            </a:r>
            <a:r>
              <a:rPr lang="zh-CN" altLang="en-US" sz="2800" b="1" dirty="0">
                <a:latin typeface="楷体_GB2312"/>
                <a:ea typeface="楷体_GB2312"/>
              </a:rPr>
              <a:t>个，则叶子数（</a:t>
            </a:r>
            <a:r>
              <a:rPr lang="en-US" altLang="zh-CN" sz="2800" b="1" dirty="0">
                <a:latin typeface="楷体_GB2312"/>
                <a:ea typeface="楷体_GB2312"/>
              </a:rPr>
              <a:t>n</a:t>
            </a:r>
            <a:r>
              <a:rPr lang="en-US" altLang="zh-CN" sz="2400" b="1" baseline="-25000" dirty="0">
                <a:latin typeface="楷体_GB2312"/>
                <a:ea typeface="楷体_GB2312"/>
              </a:rPr>
              <a:t>0</a:t>
            </a:r>
            <a:r>
              <a:rPr lang="zh-CN" altLang="en-US" sz="2400" b="1" dirty="0">
                <a:latin typeface="楷体_GB2312"/>
                <a:ea typeface="楷体_GB2312"/>
              </a:rPr>
              <a:t>）</a:t>
            </a:r>
            <a:r>
              <a:rPr lang="zh-CN" altLang="en-US" sz="2800" b="1" dirty="0">
                <a:latin typeface="楷体_GB2312"/>
                <a:ea typeface="楷体_GB2312"/>
              </a:rPr>
              <a:t>必定为</a:t>
            </a:r>
            <a:r>
              <a:rPr lang="en-US" altLang="zh-CN" sz="2800" b="1" dirty="0">
                <a:latin typeface="楷体_GB2312"/>
                <a:ea typeface="楷体_GB2312"/>
              </a:rPr>
              <a:t>n</a:t>
            </a:r>
            <a:r>
              <a:rPr lang="en-US" altLang="zh-CN" sz="2800" b="1" baseline="-25000" dirty="0">
                <a:latin typeface="楷体_GB2312"/>
                <a:ea typeface="楷体_GB2312"/>
              </a:rPr>
              <a:t>2</a:t>
            </a:r>
            <a:r>
              <a:rPr lang="zh-CN" altLang="en-US" sz="2800" b="1" dirty="0">
                <a:latin typeface="楷体_GB2312"/>
                <a:ea typeface="楷体_GB2312"/>
              </a:rPr>
              <a:t>＋</a:t>
            </a:r>
            <a:r>
              <a:rPr lang="en-US" altLang="zh-CN" sz="2800" b="1" dirty="0">
                <a:latin typeface="楷体_GB2312"/>
                <a:ea typeface="楷体_GB2312"/>
              </a:rPr>
              <a:t>1 </a:t>
            </a:r>
            <a:r>
              <a:rPr lang="zh-CN" altLang="en-US" sz="2800" b="1" dirty="0">
                <a:latin typeface="楷体_GB2312"/>
                <a:ea typeface="楷体_GB2312"/>
              </a:rPr>
              <a:t>（即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0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=n</a:t>
            </a:r>
            <a:r>
              <a:rPr lang="en-US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</a:rPr>
              <a:t>+1</a:t>
            </a:r>
            <a:r>
              <a:rPr lang="zh-CN" altLang="en-US" sz="2800" b="1" dirty="0">
                <a:latin typeface="楷体_GB2312"/>
                <a:ea typeface="楷体_GB2312"/>
              </a:rPr>
              <a:t>）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sp>
        <p:nvSpPr>
          <p:cNvPr id="234502" name="AutoShape 6"/>
          <p:cNvSpPr/>
          <p:nvPr/>
        </p:nvSpPr>
        <p:spPr>
          <a:xfrm>
            <a:off x="3124200" y="609600"/>
            <a:ext cx="914400" cy="685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4503" name="AutoShape 7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4504" name="Text Box 8"/>
          <p:cNvSpPr txBox="1">
            <a:spLocks noChangeArrowheads="1"/>
          </p:cNvSpPr>
          <p:nvPr/>
        </p:nvSpPr>
        <p:spPr bwMode="auto">
          <a:xfrm>
            <a:off x="228600" y="2362200"/>
            <a:ext cx="8763000" cy="330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证明：</a:t>
            </a:r>
            <a:endParaRPr kumimoji="1" lang="zh-CN" altLang="en-US" sz="2400" b="1" kern="1200" cap="none" spc="0" normalizeH="0" baseline="0" noProof="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algn="just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∵ </a:t>
            </a:r>
            <a:r>
              <a:rPr kumimoji="1" lang="zh-CN" altLang="en-US" sz="22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二叉树中全部结点数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zh-CN" altLang="en-US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＝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叶子数＋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度结点数＋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度结点数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endParaRPr kumimoji="1" lang="en-US" altLang="zh-CN" sz="2000" b="1" kern="1200" cap="none" spc="0" normalizeH="0" baseline="0" noProof="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algn="just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又∵</a:t>
            </a:r>
            <a:r>
              <a:rPr kumimoji="1" lang="zh-CN" altLang="en-US" sz="22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二叉树中全部结点数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zh-CN" altLang="en-US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＝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B+1</a:t>
            </a:r>
            <a:r>
              <a:rPr kumimoji="1" lang="en-US" altLang="zh-CN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( </a:t>
            </a:r>
            <a:r>
              <a:rPr kumimoji="1" lang="zh-CN" altLang="en-US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总分支数＋根结点 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endParaRPr kumimoji="1" lang="en-US" altLang="zh-CN" sz="2000" b="1" kern="1200" cap="none" spc="0" normalizeH="0" baseline="0" noProof="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algn="just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       </a:t>
            </a:r>
            <a:r>
              <a:rPr kumimoji="1" lang="zh-CN" altLang="en-US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（除根结点外，每个结点必有一个直接前趋，即一个分支）</a:t>
            </a:r>
            <a:endParaRPr kumimoji="1" lang="zh-CN" altLang="en-US" b="1" kern="1200" cap="none" spc="0" normalizeH="0" baseline="0" noProof="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algn="just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而 </a:t>
            </a:r>
            <a:r>
              <a:rPr kumimoji="1" lang="zh-CN" altLang="en-US" sz="24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总分支数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B= 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+2n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  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(1</a:t>
            </a:r>
            <a:r>
              <a:rPr kumimoji="1" lang="zh-CN" altLang="en-US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度结点必有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个直接后继，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度结点必有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个</a:t>
            </a:r>
            <a:r>
              <a:rPr kumimoji="1" lang="en-US" altLang="zh-CN" sz="2000" b="1" kern="1200" cap="none" spc="0" normalizeH="0" baseline="0" noProof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endParaRPr kumimoji="1" lang="en-US" altLang="zh-CN" sz="2000" b="1" i="1" kern="1200" cap="none" spc="0" normalizeH="0" baseline="-25000" noProof="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algn="just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三式联立可得： 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+2n</a:t>
            </a:r>
            <a:r>
              <a:rPr kumimoji="1" lang="en-US" altLang="zh-CN" sz="24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 </a:t>
            </a:r>
            <a:r>
              <a:rPr kumimoji="1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+1,   </a:t>
            </a:r>
            <a:r>
              <a:rPr kumimoji="1" lang="zh-CN" altLang="en-US" sz="28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即</a:t>
            </a:r>
            <a:r>
              <a:rPr kumimoji="1" lang="en-US" altLang="zh-CN" sz="28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en-US" altLang="zh-CN" sz="28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r>
              <a:rPr kumimoji="1" lang="en-US" altLang="zh-CN" sz="28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=n</a:t>
            </a:r>
            <a:r>
              <a:rPr kumimoji="1" lang="en-US" altLang="zh-CN" sz="2800" b="1" i="1" kern="1200" cap="none" spc="0" normalizeH="0" baseline="-2500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8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+1</a:t>
            </a:r>
            <a:endParaRPr kumimoji="1" lang="en-US" altLang="zh-CN" sz="2400" b="1" i="1" kern="1200" cap="none" spc="0" normalizeH="0" baseline="0" noProof="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R="0" algn="just" defTabSz="914400"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kern="1200" cap="none" spc="0" normalizeH="0" baseline="0" noProof="0" dirty="0">
                <a:solidFill>
                  <a:schemeClr val="accent1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实际意义：</a:t>
            </a:r>
            <a:r>
              <a:rPr kumimoji="1" lang="zh-CN" altLang="en-US" sz="24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叶子数＝</a:t>
            </a:r>
            <a:r>
              <a:rPr kumimoji="1" lang="en-US" altLang="zh-CN" sz="24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度结点数＋</a:t>
            </a:r>
            <a:r>
              <a:rPr kumimoji="1" lang="en-US" altLang="zh-CN" sz="24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endParaRPr kumimoji="1" lang="en-US" altLang="zh-CN" sz="2400" b="1" kern="1200" cap="none" spc="0" normalizeH="0" baseline="0" noProof="0" dirty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grpSp>
        <p:nvGrpSpPr>
          <p:cNvPr id="2" name="Group 41"/>
          <p:cNvGrpSpPr/>
          <p:nvPr/>
        </p:nvGrpSpPr>
        <p:grpSpPr>
          <a:xfrm>
            <a:off x="5222875" y="5181600"/>
            <a:ext cx="2016125" cy="1544638"/>
            <a:chOff x="4140" y="2016"/>
            <a:chExt cx="1499" cy="1256"/>
          </a:xfrm>
        </p:grpSpPr>
        <p:sp>
          <p:nvSpPr>
            <p:cNvPr id="23561" name="Oval 42"/>
            <p:cNvSpPr/>
            <p:nvPr/>
          </p:nvSpPr>
          <p:spPr>
            <a:xfrm>
              <a:off x="4926" y="2045"/>
              <a:ext cx="190" cy="154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62" name="Rectangle 43"/>
            <p:cNvSpPr/>
            <p:nvPr/>
          </p:nvSpPr>
          <p:spPr>
            <a:xfrm>
              <a:off x="4935" y="2016"/>
              <a:ext cx="232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A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63" name="Oval 44"/>
            <p:cNvSpPr/>
            <p:nvPr/>
          </p:nvSpPr>
          <p:spPr>
            <a:xfrm>
              <a:off x="4592" y="2379"/>
              <a:ext cx="190" cy="15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64" name="Rectangle 45"/>
            <p:cNvSpPr/>
            <p:nvPr/>
          </p:nvSpPr>
          <p:spPr>
            <a:xfrm>
              <a:off x="4602" y="2358"/>
              <a:ext cx="225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B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65" name="Line 46"/>
            <p:cNvSpPr/>
            <p:nvPr/>
          </p:nvSpPr>
          <p:spPr>
            <a:xfrm flipH="1">
              <a:off x="4691" y="2198"/>
              <a:ext cx="257" cy="17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66" name="Oval 47"/>
            <p:cNvSpPr/>
            <p:nvPr/>
          </p:nvSpPr>
          <p:spPr>
            <a:xfrm>
              <a:off x="5227" y="2388"/>
              <a:ext cx="189" cy="15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67" name="Rectangle 48"/>
            <p:cNvSpPr/>
            <p:nvPr/>
          </p:nvSpPr>
          <p:spPr>
            <a:xfrm>
              <a:off x="5227" y="2376"/>
              <a:ext cx="233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C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68" name="Oval 49"/>
            <p:cNvSpPr/>
            <p:nvPr/>
          </p:nvSpPr>
          <p:spPr>
            <a:xfrm>
              <a:off x="5398" y="2683"/>
              <a:ext cx="189" cy="154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69" name="Rectangle 50"/>
            <p:cNvSpPr/>
            <p:nvPr/>
          </p:nvSpPr>
          <p:spPr>
            <a:xfrm>
              <a:off x="5400" y="2672"/>
              <a:ext cx="239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G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70" name="Line 51"/>
            <p:cNvSpPr/>
            <p:nvPr/>
          </p:nvSpPr>
          <p:spPr>
            <a:xfrm>
              <a:off x="5377" y="2540"/>
              <a:ext cx="97" cy="13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71" name="Oval 52"/>
            <p:cNvSpPr/>
            <p:nvPr/>
          </p:nvSpPr>
          <p:spPr>
            <a:xfrm>
              <a:off x="4770" y="2697"/>
              <a:ext cx="189" cy="154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72" name="Rectangle 53"/>
            <p:cNvSpPr/>
            <p:nvPr/>
          </p:nvSpPr>
          <p:spPr>
            <a:xfrm>
              <a:off x="4763" y="2678"/>
              <a:ext cx="226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E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73" name="Oval 54"/>
            <p:cNvSpPr/>
            <p:nvPr/>
          </p:nvSpPr>
          <p:spPr>
            <a:xfrm>
              <a:off x="4512" y="3037"/>
              <a:ext cx="190" cy="15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74" name="Rectangle 55"/>
            <p:cNvSpPr/>
            <p:nvPr/>
          </p:nvSpPr>
          <p:spPr>
            <a:xfrm>
              <a:off x="4512" y="3019"/>
              <a:ext cx="189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I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75" name="Line 56"/>
            <p:cNvSpPr/>
            <p:nvPr/>
          </p:nvSpPr>
          <p:spPr>
            <a:xfrm>
              <a:off x="4512" y="2832"/>
              <a:ext cx="123" cy="20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76" name="Oval 57"/>
            <p:cNvSpPr/>
            <p:nvPr/>
          </p:nvSpPr>
          <p:spPr>
            <a:xfrm>
              <a:off x="4437" y="2691"/>
              <a:ext cx="190" cy="154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77" name="Rectangle 58"/>
            <p:cNvSpPr/>
            <p:nvPr/>
          </p:nvSpPr>
          <p:spPr>
            <a:xfrm>
              <a:off x="4447" y="2672"/>
              <a:ext cx="232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D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78" name="Oval 59"/>
            <p:cNvSpPr/>
            <p:nvPr/>
          </p:nvSpPr>
          <p:spPr>
            <a:xfrm>
              <a:off x="4176" y="3027"/>
              <a:ext cx="190" cy="154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79" name="Rectangle 60"/>
            <p:cNvSpPr/>
            <p:nvPr/>
          </p:nvSpPr>
          <p:spPr>
            <a:xfrm>
              <a:off x="4140" y="2985"/>
              <a:ext cx="240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H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80" name="Oval 61"/>
            <p:cNvSpPr/>
            <p:nvPr/>
          </p:nvSpPr>
          <p:spPr>
            <a:xfrm>
              <a:off x="5072" y="2682"/>
              <a:ext cx="189" cy="155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81" name="Rectangle 62"/>
            <p:cNvSpPr/>
            <p:nvPr/>
          </p:nvSpPr>
          <p:spPr>
            <a:xfrm>
              <a:off x="5080" y="2672"/>
              <a:ext cx="217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F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23582" name="Line 63"/>
            <p:cNvSpPr/>
            <p:nvPr/>
          </p:nvSpPr>
          <p:spPr>
            <a:xfrm flipH="1">
              <a:off x="5160" y="2539"/>
              <a:ext cx="108" cy="1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83" name="Line 64"/>
            <p:cNvSpPr/>
            <p:nvPr/>
          </p:nvSpPr>
          <p:spPr>
            <a:xfrm>
              <a:off x="4720" y="2526"/>
              <a:ext cx="125" cy="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84" name="Line 65"/>
            <p:cNvSpPr/>
            <p:nvPr/>
          </p:nvSpPr>
          <p:spPr>
            <a:xfrm flipH="1">
              <a:off x="4525" y="2521"/>
              <a:ext cx="109" cy="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85" name="Line 66"/>
            <p:cNvSpPr/>
            <p:nvPr/>
          </p:nvSpPr>
          <p:spPr>
            <a:xfrm flipH="1">
              <a:off x="4270" y="2832"/>
              <a:ext cx="194" cy="1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86" name="Line 67"/>
            <p:cNvSpPr/>
            <p:nvPr/>
          </p:nvSpPr>
          <p:spPr>
            <a:xfrm>
              <a:off x="5074" y="2203"/>
              <a:ext cx="239" cy="18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87" name="Oval 68"/>
            <p:cNvSpPr/>
            <p:nvPr/>
          </p:nvSpPr>
          <p:spPr>
            <a:xfrm>
              <a:off x="4754" y="3047"/>
              <a:ext cx="190" cy="154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3588" name="Line 69"/>
            <p:cNvSpPr/>
            <p:nvPr/>
          </p:nvSpPr>
          <p:spPr>
            <a:xfrm flipH="1">
              <a:off x="4800" y="2880"/>
              <a:ext cx="96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589" name="Rectangle 70"/>
            <p:cNvSpPr/>
            <p:nvPr/>
          </p:nvSpPr>
          <p:spPr>
            <a:xfrm>
              <a:off x="4771" y="3024"/>
              <a:ext cx="203" cy="2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1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J</a:t>
              </a:r>
              <a:endParaRPr lang="en-US" altLang="zh-TW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3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450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4504">
                                            <p:txEl>
                                              <p:charRg st="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4504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4504">
                                            <p:txEl>
                                              <p:charRg st="73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4504">
                                            <p:txEl>
                                              <p:charRg st="107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4504">
                                            <p:txEl>
                                              <p:charRg st="148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4504">
                                            <p:txEl>
                                              <p:charRg st="188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8" grpId="0"/>
      <p:bldP spid="234501" grpId="0" animBg="1"/>
      <p:bldP spid="234502" grpId="0" animBg="1"/>
      <p:bldP spid="234503" grpId="0" animBg="1"/>
      <p:bldP spid="23450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1250" name="Rectangle 2"/>
          <p:cNvSpPr>
            <a:spLocks noGrp="1"/>
          </p:cNvSpPr>
          <p:nvPr>
            <p:ph type="title"/>
          </p:nvPr>
        </p:nvSpPr>
        <p:spPr>
          <a:xfrm>
            <a:off x="152400" y="152400"/>
            <a:ext cx="7391400" cy="762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满二叉树：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</a:rPr>
              <a:t>一棵深度为</a:t>
            </a:r>
            <a:r>
              <a:rPr lang="en-US" altLang="zh-TW" sz="2400" b="1" i="1" dirty="0">
                <a:solidFill>
                  <a:schemeClr val="tx1"/>
                </a:solidFill>
                <a:ea typeface="楷体_GB2312"/>
              </a:rPr>
              <a:t>k 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</a:rPr>
              <a:t>且有</a:t>
            </a:r>
            <a:r>
              <a:rPr lang="zh-TW" altLang="en-US" sz="2400" b="1" dirty="0">
                <a:solidFill>
                  <a:schemeClr val="tx1"/>
                </a:solidFill>
                <a:ea typeface="楷体_GB2312"/>
              </a:rPr>
              <a:t>2</a:t>
            </a:r>
            <a:r>
              <a:rPr lang="en-US" altLang="zh-CN" sz="2400" b="1" i="1" baseline="30000" dirty="0">
                <a:solidFill>
                  <a:schemeClr val="tx1"/>
                </a:solidFill>
                <a:ea typeface="楷体_GB2312"/>
              </a:rPr>
              <a:t>k</a:t>
            </a:r>
            <a:r>
              <a:rPr lang="en-US" altLang="zh-TW" sz="2400" b="1" dirty="0">
                <a:solidFill>
                  <a:schemeClr val="tx1"/>
                </a:solidFill>
                <a:ea typeface="楷体_GB2312"/>
              </a:rPr>
              <a:t> -1</a:t>
            </a:r>
            <a:r>
              <a:rPr lang="zh-CN" altLang="en-US" sz="2400" b="1" dirty="0">
                <a:solidFill>
                  <a:schemeClr val="tx1"/>
                </a:solidFill>
                <a:ea typeface="楷体_GB2312"/>
              </a:rPr>
              <a:t>个结点的二叉树。</a:t>
            </a:r>
            <a:br>
              <a:rPr lang="zh-CN" altLang="en-US" sz="2400" b="1" dirty="0">
                <a:solidFill>
                  <a:schemeClr val="tx1"/>
                </a:solidFill>
                <a:ea typeface="楷体_GB2312"/>
              </a:rPr>
            </a:br>
            <a:r>
              <a:rPr lang="zh-CN" altLang="en-US" sz="2400" b="1" dirty="0">
                <a:solidFill>
                  <a:schemeClr val="tx1"/>
                </a:solidFill>
                <a:ea typeface="楷体_GB2312"/>
              </a:rPr>
              <a:t>                  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（特点：每层都“充满”了结点）</a:t>
            </a:r>
            <a:endParaRPr lang="zh-CN" altLang="en-US" sz="24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181253" name="Rectangle 5"/>
          <p:cNvSpPr/>
          <p:nvPr/>
        </p:nvSpPr>
        <p:spPr>
          <a:xfrm>
            <a:off x="228600" y="1143000"/>
            <a:ext cx="5410200" cy="1524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完全二叉树：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深度为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k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的</a:t>
            </a:r>
            <a:r>
              <a:rPr lang="zh-CN" altLang="en-US" sz="2400" b="1" i="1" dirty="0">
                <a:latin typeface="Times New Roman" panose="02020603050405020304" pitchFamily="18" charset="0"/>
                <a:ea typeface="楷体_GB2312"/>
              </a:rPr>
              <a:t>，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有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个结点的二叉树，当且仅当其每一个结点都与深度为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k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的满二叉树中编号从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至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的结点一一对应。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6096000" y="76200"/>
            <a:ext cx="3048000" cy="2466975"/>
            <a:chOff x="1056" y="2371"/>
            <a:chExt cx="2342" cy="1829"/>
          </a:xfrm>
        </p:grpSpPr>
        <p:grpSp>
          <p:nvGrpSpPr>
            <p:cNvPr id="24617" name="Group 7"/>
            <p:cNvGrpSpPr/>
            <p:nvPr/>
          </p:nvGrpSpPr>
          <p:grpSpPr>
            <a:xfrm>
              <a:off x="1056" y="2371"/>
              <a:ext cx="2342" cy="1463"/>
              <a:chOff x="3102" y="2624"/>
              <a:chExt cx="2342" cy="1463"/>
            </a:xfrm>
          </p:grpSpPr>
          <p:sp>
            <p:nvSpPr>
              <p:cNvPr id="24619" name="Oval 8"/>
              <p:cNvSpPr/>
              <p:nvPr/>
            </p:nvSpPr>
            <p:spPr>
              <a:xfrm>
                <a:off x="4106" y="2671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20" name="Rectangle 9"/>
              <p:cNvSpPr/>
              <p:nvPr/>
            </p:nvSpPr>
            <p:spPr>
              <a:xfrm>
                <a:off x="4068" y="2624"/>
                <a:ext cx="26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21" name="Oval 10"/>
              <p:cNvSpPr/>
              <p:nvPr/>
            </p:nvSpPr>
            <p:spPr>
              <a:xfrm>
                <a:off x="5165" y="3806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22" name="Rectangle 11"/>
              <p:cNvSpPr/>
              <p:nvPr/>
            </p:nvSpPr>
            <p:spPr>
              <a:xfrm>
                <a:off x="5166" y="3780"/>
                <a:ext cx="27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O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23" name="Oval 12"/>
              <p:cNvSpPr/>
              <p:nvPr/>
            </p:nvSpPr>
            <p:spPr>
              <a:xfrm>
                <a:off x="3493" y="3048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24" name="Rectangle 13"/>
              <p:cNvSpPr/>
              <p:nvPr/>
            </p:nvSpPr>
            <p:spPr>
              <a:xfrm>
                <a:off x="3516" y="3052"/>
                <a:ext cx="25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25" name="Line 14"/>
              <p:cNvSpPr/>
              <p:nvPr/>
            </p:nvSpPr>
            <p:spPr>
              <a:xfrm flipH="1">
                <a:off x="3607" y="2841"/>
                <a:ext cx="515" cy="21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26" name="Oval 15"/>
              <p:cNvSpPr/>
              <p:nvPr/>
            </p:nvSpPr>
            <p:spPr>
              <a:xfrm>
                <a:off x="4739" y="3059"/>
                <a:ext cx="22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27" name="Rectangle 16"/>
              <p:cNvSpPr/>
              <p:nvPr/>
            </p:nvSpPr>
            <p:spPr>
              <a:xfrm>
                <a:off x="4751" y="3034"/>
                <a:ext cx="269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28" name="Oval 17"/>
              <p:cNvSpPr/>
              <p:nvPr/>
            </p:nvSpPr>
            <p:spPr>
              <a:xfrm>
                <a:off x="4983" y="3443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29" name="Rectangle 18"/>
              <p:cNvSpPr/>
              <p:nvPr/>
            </p:nvSpPr>
            <p:spPr>
              <a:xfrm>
                <a:off x="4986" y="3428"/>
                <a:ext cx="27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G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30" name="Line 19"/>
              <p:cNvSpPr/>
              <p:nvPr/>
            </p:nvSpPr>
            <p:spPr>
              <a:xfrm>
                <a:off x="4937" y="3225"/>
                <a:ext cx="171" cy="21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31" name="Oval 20"/>
              <p:cNvSpPr/>
              <p:nvPr/>
            </p:nvSpPr>
            <p:spPr>
              <a:xfrm>
                <a:off x="3790" y="3438"/>
                <a:ext cx="22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32" name="Rectangle 21"/>
              <p:cNvSpPr/>
              <p:nvPr/>
            </p:nvSpPr>
            <p:spPr>
              <a:xfrm>
                <a:off x="3802" y="3414"/>
                <a:ext cx="259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33" name="Oval 22"/>
              <p:cNvSpPr/>
              <p:nvPr/>
            </p:nvSpPr>
            <p:spPr>
              <a:xfrm>
                <a:off x="3937" y="3822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34" name="Rectangle 23"/>
              <p:cNvSpPr/>
              <p:nvPr/>
            </p:nvSpPr>
            <p:spPr>
              <a:xfrm>
                <a:off x="3951" y="3799"/>
                <a:ext cx="27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K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35" name="Line 24"/>
              <p:cNvSpPr/>
              <p:nvPr/>
            </p:nvSpPr>
            <p:spPr>
              <a:xfrm>
                <a:off x="3954" y="3623"/>
                <a:ext cx="103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36" name="Oval 25"/>
              <p:cNvSpPr/>
              <p:nvPr/>
            </p:nvSpPr>
            <p:spPr>
              <a:xfrm>
                <a:off x="3214" y="3453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37" name="Rectangle 26"/>
              <p:cNvSpPr/>
              <p:nvPr/>
            </p:nvSpPr>
            <p:spPr>
              <a:xfrm>
                <a:off x="3235" y="3438"/>
                <a:ext cx="26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38" name="Oval 27"/>
              <p:cNvSpPr/>
              <p:nvPr/>
            </p:nvSpPr>
            <p:spPr>
              <a:xfrm>
                <a:off x="3665" y="3821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39" name="Rectangle 28"/>
              <p:cNvSpPr/>
              <p:nvPr/>
            </p:nvSpPr>
            <p:spPr>
              <a:xfrm>
                <a:off x="3678" y="3815"/>
                <a:ext cx="229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J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40" name="Oval 29"/>
              <p:cNvSpPr/>
              <p:nvPr/>
            </p:nvSpPr>
            <p:spPr>
              <a:xfrm>
                <a:off x="4427" y="3431"/>
                <a:ext cx="224" cy="18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41" name="Rectangle 30"/>
              <p:cNvSpPr/>
              <p:nvPr/>
            </p:nvSpPr>
            <p:spPr>
              <a:xfrm>
                <a:off x="4437" y="3407"/>
                <a:ext cx="249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F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42" name="Line 31"/>
              <p:cNvSpPr/>
              <p:nvPr/>
            </p:nvSpPr>
            <p:spPr>
              <a:xfrm flipH="1">
                <a:off x="4518" y="3224"/>
                <a:ext cx="247" cy="21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43" name="Line 32"/>
              <p:cNvSpPr/>
              <p:nvPr/>
            </p:nvSpPr>
            <p:spPr>
              <a:xfrm>
                <a:off x="3656" y="3228"/>
                <a:ext cx="230" cy="19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44" name="Line 33"/>
              <p:cNvSpPr/>
              <p:nvPr/>
            </p:nvSpPr>
            <p:spPr>
              <a:xfrm flipH="1">
                <a:off x="3307" y="3233"/>
                <a:ext cx="236" cy="21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45" name="Line 34"/>
              <p:cNvSpPr/>
              <p:nvPr/>
            </p:nvSpPr>
            <p:spPr>
              <a:xfrm flipH="1">
                <a:off x="3756" y="3617"/>
                <a:ext cx="103" cy="20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46" name="Line 35"/>
              <p:cNvSpPr/>
              <p:nvPr/>
            </p:nvSpPr>
            <p:spPr>
              <a:xfrm>
                <a:off x="4317" y="2851"/>
                <a:ext cx="504" cy="20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47" name="Oval 36"/>
              <p:cNvSpPr/>
              <p:nvPr/>
            </p:nvSpPr>
            <p:spPr>
              <a:xfrm>
                <a:off x="3390" y="3822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48" name="Rectangle 37"/>
              <p:cNvSpPr/>
              <p:nvPr/>
            </p:nvSpPr>
            <p:spPr>
              <a:xfrm>
                <a:off x="3422" y="3807"/>
                <a:ext cx="209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I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49" name="Oval 38"/>
              <p:cNvSpPr/>
              <p:nvPr/>
            </p:nvSpPr>
            <p:spPr>
              <a:xfrm>
                <a:off x="3102" y="3831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50" name="Rectangle 39"/>
              <p:cNvSpPr/>
              <p:nvPr/>
            </p:nvSpPr>
            <p:spPr>
              <a:xfrm>
                <a:off x="3123" y="3806"/>
                <a:ext cx="27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H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51" name="Line 40"/>
              <p:cNvSpPr/>
              <p:nvPr/>
            </p:nvSpPr>
            <p:spPr>
              <a:xfrm flipH="1">
                <a:off x="3200" y="3644"/>
                <a:ext cx="107" cy="18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52" name="Line 41"/>
              <p:cNvSpPr/>
              <p:nvPr/>
            </p:nvSpPr>
            <p:spPr>
              <a:xfrm>
                <a:off x="3372" y="3644"/>
                <a:ext cx="107" cy="16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53" name="Oval 42"/>
              <p:cNvSpPr/>
              <p:nvPr/>
            </p:nvSpPr>
            <p:spPr>
              <a:xfrm>
                <a:off x="4864" y="3810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54" name="Rectangle 43"/>
              <p:cNvSpPr/>
              <p:nvPr/>
            </p:nvSpPr>
            <p:spPr>
              <a:xfrm>
                <a:off x="4875" y="3802"/>
                <a:ext cx="268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N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55" name="Oval 44"/>
              <p:cNvSpPr/>
              <p:nvPr/>
            </p:nvSpPr>
            <p:spPr>
              <a:xfrm>
                <a:off x="4589" y="3811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56" name="Rectangle 45"/>
              <p:cNvSpPr/>
              <p:nvPr/>
            </p:nvSpPr>
            <p:spPr>
              <a:xfrm>
                <a:off x="4598" y="3803"/>
                <a:ext cx="307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M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57" name="Oval 46"/>
              <p:cNvSpPr/>
              <p:nvPr/>
            </p:nvSpPr>
            <p:spPr>
              <a:xfrm>
                <a:off x="4301" y="3820"/>
                <a:ext cx="22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58" name="Rectangle 47"/>
              <p:cNvSpPr/>
              <p:nvPr/>
            </p:nvSpPr>
            <p:spPr>
              <a:xfrm>
                <a:off x="4334" y="3813"/>
                <a:ext cx="259" cy="2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L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59" name="Line 48"/>
              <p:cNvSpPr/>
              <p:nvPr/>
            </p:nvSpPr>
            <p:spPr>
              <a:xfrm>
                <a:off x="5164" y="3612"/>
                <a:ext cx="103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60" name="Line 49"/>
              <p:cNvSpPr/>
              <p:nvPr/>
            </p:nvSpPr>
            <p:spPr>
              <a:xfrm flipH="1">
                <a:off x="4966" y="3606"/>
                <a:ext cx="103" cy="20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61" name="Line 50"/>
              <p:cNvSpPr/>
              <p:nvPr/>
            </p:nvSpPr>
            <p:spPr>
              <a:xfrm flipH="1">
                <a:off x="4410" y="3633"/>
                <a:ext cx="107" cy="18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62" name="Line 51"/>
              <p:cNvSpPr/>
              <p:nvPr/>
            </p:nvSpPr>
            <p:spPr>
              <a:xfrm>
                <a:off x="4582" y="3633"/>
                <a:ext cx="107" cy="16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24618" name="Text Box 52"/>
            <p:cNvSpPr txBox="1"/>
            <p:nvPr/>
          </p:nvSpPr>
          <p:spPr>
            <a:xfrm>
              <a:off x="1352" y="3906"/>
              <a:ext cx="1811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solidFill>
                    <a:schemeClr val="accent1"/>
                  </a:solidFill>
                  <a:latin typeface="楷体_GB2312"/>
                  <a:ea typeface="楷体_GB2312"/>
                </a:rPr>
                <a:t>深度为</a:t>
              </a:r>
              <a:r>
                <a:rPr lang="en-US" altLang="zh-CN" sz="2000" b="1" dirty="0">
                  <a:solidFill>
                    <a:schemeClr val="accent1"/>
                  </a:solidFill>
                  <a:latin typeface="楷体_GB2312"/>
                  <a:ea typeface="楷体_GB2312"/>
                </a:rPr>
                <a:t>4</a:t>
              </a:r>
              <a:r>
                <a:rPr lang="zh-CN" altLang="en-US" sz="2000" b="1" dirty="0">
                  <a:solidFill>
                    <a:schemeClr val="accent1"/>
                  </a:solidFill>
                  <a:latin typeface="楷体_GB2312"/>
                  <a:ea typeface="楷体_GB2312"/>
                </a:rPr>
                <a:t>的满二叉树</a:t>
              </a:r>
              <a:endParaRPr lang="zh-TW" altLang="en-US" sz="2000" b="1" dirty="0">
                <a:solidFill>
                  <a:schemeClr val="accent1"/>
                </a:solidFill>
                <a:latin typeface="楷体_GB2312"/>
                <a:ea typeface="楷体_GB2312"/>
              </a:endParaRPr>
            </a:p>
          </p:txBody>
        </p:sp>
      </p:grpSp>
      <p:grpSp>
        <p:nvGrpSpPr>
          <p:cNvPr id="4" name="Group 92"/>
          <p:cNvGrpSpPr/>
          <p:nvPr/>
        </p:nvGrpSpPr>
        <p:grpSpPr>
          <a:xfrm>
            <a:off x="6324600" y="2743200"/>
            <a:ext cx="2611438" cy="2378075"/>
            <a:chOff x="3984" y="2016"/>
            <a:chExt cx="1645" cy="1498"/>
          </a:xfrm>
        </p:grpSpPr>
        <p:sp>
          <p:nvSpPr>
            <p:cNvPr id="24586" name="Text Box 81"/>
            <p:cNvSpPr txBox="1"/>
            <p:nvPr/>
          </p:nvSpPr>
          <p:spPr>
            <a:xfrm>
              <a:off x="3984" y="3264"/>
              <a:ext cx="164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solidFill>
                    <a:schemeClr val="accent1"/>
                  </a:solidFill>
                  <a:latin typeface="楷体_GB2312"/>
                  <a:ea typeface="楷体_GB2312"/>
                </a:rPr>
                <a:t>深度为</a:t>
              </a:r>
              <a:r>
                <a:rPr lang="en-US" altLang="zh-CN" sz="2000" b="1" dirty="0">
                  <a:solidFill>
                    <a:schemeClr val="accent1"/>
                  </a:solidFill>
                  <a:latin typeface="楷体_GB2312"/>
                  <a:ea typeface="楷体_GB2312"/>
                </a:rPr>
                <a:t>4</a:t>
              </a:r>
              <a:r>
                <a:rPr lang="zh-CN" altLang="en-US" sz="2000" b="1" dirty="0">
                  <a:solidFill>
                    <a:schemeClr val="accent1"/>
                  </a:solidFill>
                  <a:latin typeface="楷体_GB2312"/>
                  <a:ea typeface="楷体_GB2312"/>
                </a:rPr>
                <a:t>的</a:t>
              </a:r>
              <a:r>
                <a:rPr lang="zh-CN" altLang="en-US" sz="20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楷体_GB2312"/>
                </a:rPr>
                <a:t>完全二叉树</a:t>
              </a:r>
              <a:endParaRPr lang="zh-TW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grpSp>
          <p:nvGrpSpPr>
            <p:cNvPr id="24587" name="Group 87"/>
            <p:cNvGrpSpPr/>
            <p:nvPr/>
          </p:nvGrpSpPr>
          <p:grpSpPr>
            <a:xfrm>
              <a:off x="4140" y="2016"/>
              <a:ext cx="1488" cy="1239"/>
              <a:chOff x="4140" y="2016"/>
              <a:chExt cx="1488" cy="1239"/>
            </a:xfrm>
          </p:grpSpPr>
          <p:sp>
            <p:nvSpPr>
              <p:cNvPr id="24588" name="Oval 55"/>
              <p:cNvSpPr/>
              <p:nvPr/>
            </p:nvSpPr>
            <p:spPr>
              <a:xfrm>
                <a:off x="4926" y="2045"/>
                <a:ext cx="190" cy="15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589" name="Rectangle 56"/>
              <p:cNvSpPr/>
              <p:nvPr/>
            </p:nvSpPr>
            <p:spPr>
              <a:xfrm>
                <a:off x="4935" y="2016"/>
                <a:ext cx="22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590" name="Oval 57"/>
              <p:cNvSpPr/>
              <p:nvPr/>
            </p:nvSpPr>
            <p:spPr>
              <a:xfrm>
                <a:off x="4592" y="2379"/>
                <a:ext cx="190" cy="15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591" name="Rectangle 58"/>
              <p:cNvSpPr/>
              <p:nvPr/>
            </p:nvSpPr>
            <p:spPr>
              <a:xfrm>
                <a:off x="4602" y="2358"/>
                <a:ext cx="212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592" name="Line 59"/>
              <p:cNvSpPr/>
              <p:nvPr/>
            </p:nvSpPr>
            <p:spPr>
              <a:xfrm flipH="1">
                <a:off x="4691" y="2198"/>
                <a:ext cx="257" cy="1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593" name="Oval 60"/>
              <p:cNvSpPr/>
              <p:nvPr/>
            </p:nvSpPr>
            <p:spPr>
              <a:xfrm>
                <a:off x="5227" y="2388"/>
                <a:ext cx="189" cy="15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594" name="Rectangle 61"/>
              <p:cNvSpPr/>
              <p:nvPr/>
            </p:nvSpPr>
            <p:spPr>
              <a:xfrm>
                <a:off x="5228" y="2376"/>
                <a:ext cx="220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595" name="Oval 62"/>
              <p:cNvSpPr/>
              <p:nvPr/>
            </p:nvSpPr>
            <p:spPr>
              <a:xfrm>
                <a:off x="5398" y="2683"/>
                <a:ext cx="189" cy="15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596" name="Rectangle 63"/>
              <p:cNvSpPr/>
              <p:nvPr/>
            </p:nvSpPr>
            <p:spPr>
              <a:xfrm>
                <a:off x="5400" y="2671"/>
                <a:ext cx="22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G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597" name="Line 64"/>
              <p:cNvSpPr/>
              <p:nvPr/>
            </p:nvSpPr>
            <p:spPr>
              <a:xfrm>
                <a:off x="5377" y="2540"/>
                <a:ext cx="97" cy="13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598" name="Oval 65"/>
              <p:cNvSpPr/>
              <p:nvPr/>
            </p:nvSpPr>
            <p:spPr>
              <a:xfrm>
                <a:off x="4770" y="2697"/>
                <a:ext cx="189" cy="15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599" name="Rectangle 66"/>
              <p:cNvSpPr/>
              <p:nvPr/>
            </p:nvSpPr>
            <p:spPr>
              <a:xfrm>
                <a:off x="4763" y="2678"/>
                <a:ext cx="21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00" name="Oval 67"/>
              <p:cNvSpPr/>
              <p:nvPr/>
            </p:nvSpPr>
            <p:spPr>
              <a:xfrm>
                <a:off x="4512" y="3037"/>
                <a:ext cx="190" cy="15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01" name="Rectangle 68"/>
              <p:cNvSpPr/>
              <p:nvPr/>
            </p:nvSpPr>
            <p:spPr>
              <a:xfrm>
                <a:off x="4512" y="3019"/>
                <a:ext cx="17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I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02" name="Line 69"/>
              <p:cNvSpPr/>
              <p:nvPr/>
            </p:nvSpPr>
            <p:spPr>
              <a:xfrm>
                <a:off x="4512" y="2832"/>
                <a:ext cx="123" cy="20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03" name="Oval 70"/>
              <p:cNvSpPr/>
              <p:nvPr/>
            </p:nvSpPr>
            <p:spPr>
              <a:xfrm>
                <a:off x="4437" y="2691"/>
                <a:ext cx="190" cy="15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04" name="Rectangle 71"/>
              <p:cNvSpPr/>
              <p:nvPr/>
            </p:nvSpPr>
            <p:spPr>
              <a:xfrm>
                <a:off x="4447" y="2671"/>
                <a:ext cx="22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05" name="Oval 72"/>
              <p:cNvSpPr/>
              <p:nvPr/>
            </p:nvSpPr>
            <p:spPr>
              <a:xfrm>
                <a:off x="4176" y="3027"/>
                <a:ext cx="190" cy="15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06" name="Rectangle 73"/>
              <p:cNvSpPr/>
              <p:nvPr/>
            </p:nvSpPr>
            <p:spPr>
              <a:xfrm>
                <a:off x="4140" y="2985"/>
                <a:ext cx="22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H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07" name="Oval 74"/>
              <p:cNvSpPr/>
              <p:nvPr/>
            </p:nvSpPr>
            <p:spPr>
              <a:xfrm>
                <a:off x="5072" y="2682"/>
                <a:ext cx="189" cy="155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08" name="Rectangle 75"/>
              <p:cNvSpPr/>
              <p:nvPr/>
            </p:nvSpPr>
            <p:spPr>
              <a:xfrm>
                <a:off x="5080" y="2671"/>
                <a:ext cx="205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F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24609" name="Line 76"/>
              <p:cNvSpPr/>
              <p:nvPr/>
            </p:nvSpPr>
            <p:spPr>
              <a:xfrm flipH="1">
                <a:off x="5160" y="2539"/>
                <a:ext cx="108" cy="13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10" name="Line 77"/>
              <p:cNvSpPr/>
              <p:nvPr/>
            </p:nvSpPr>
            <p:spPr>
              <a:xfrm>
                <a:off x="4720" y="2526"/>
                <a:ext cx="125" cy="16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11" name="Line 78"/>
              <p:cNvSpPr/>
              <p:nvPr/>
            </p:nvSpPr>
            <p:spPr>
              <a:xfrm flipH="1">
                <a:off x="4525" y="2521"/>
                <a:ext cx="109" cy="16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12" name="Line 79"/>
              <p:cNvSpPr/>
              <p:nvPr/>
            </p:nvSpPr>
            <p:spPr>
              <a:xfrm flipH="1">
                <a:off x="4270" y="2832"/>
                <a:ext cx="194" cy="18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13" name="Line 80"/>
              <p:cNvSpPr/>
              <p:nvPr/>
            </p:nvSpPr>
            <p:spPr>
              <a:xfrm>
                <a:off x="5074" y="2203"/>
                <a:ext cx="239" cy="18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14" name="Oval 84"/>
              <p:cNvSpPr/>
              <p:nvPr/>
            </p:nvSpPr>
            <p:spPr>
              <a:xfrm>
                <a:off x="4754" y="3047"/>
                <a:ext cx="190" cy="15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24615" name="Line 85"/>
              <p:cNvSpPr/>
              <p:nvPr/>
            </p:nvSpPr>
            <p:spPr>
              <a:xfrm flipH="1">
                <a:off x="4800" y="2880"/>
                <a:ext cx="96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4616" name="Rectangle 86"/>
              <p:cNvSpPr/>
              <p:nvPr/>
            </p:nvSpPr>
            <p:spPr>
              <a:xfrm>
                <a:off x="4772" y="3024"/>
                <a:ext cx="188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J</a:t>
                </a:r>
                <a:endParaRPr lang="en-US" altLang="zh-TW" sz="1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</p:grpSp>
      <p:sp>
        <p:nvSpPr>
          <p:cNvPr id="181337" name="Rectangle 89"/>
          <p:cNvSpPr/>
          <p:nvPr/>
        </p:nvSpPr>
        <p:spPr>
          <a:xfrm>
            <a:off x="228600" y="4572000"/>
            <a:ext cx="6040438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为何要研究这两种特殊形式？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因为它们在顺序存储方式下可以复原！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81338" name="Rectangle 90"/>
          <p:cNvSpPr>
            <a:spLocks noChangeArrowheads="1"/>
          </p:cNvSpPr>
          <p:nvPr/>
        </p:nvSpPr>
        <p:spPr bwMode="auto">
          <a:xfrm>
            <a:off x="228600" y="2819400"/>
            <a:ext cx="5943600" cy="1570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完全二叉树的特点就是，只有最后一层叶子不满，且叶子全部集中在左边。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FF33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这其实是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顺序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二叉树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的含义。在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图论概念中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的“完全二叉树”是指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的情况。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1339" name="AutoShape 91">
            <a:hlinkClick r:id="" action="ppaction://hlinkshowjump?jump=previousslide"/>
          </p:cNvPr>
          <p:cNvSpPr/>
          <p:nvPr/>
        </p:nvSpPr>
        <p:spPr>
          <a:xfrm flipH="1"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8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1338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8">
                                            <p:txEl>
                                              <p:charRg st="39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1338">
                                            <p:txEl>
                                              <p:charRg st="39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133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133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37">
                                            <p:txEl>
                                              <p:charRg st="1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1337">
                                            <p:txEl>
                                              <p:charRg st="1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1337">
                                            <p:txEl>
                                              <p:charRg st="1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 advAuto="1000" build="p"/>
      <p:bldP spid="181253" grpId="0"/>
      <p:bldP spid="181337" grpId="0" build="p"/>
      <p:bldP spid="181338" grpId="0" build="p"/>
      <p:bldP spid="1813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8418" name="Rectang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8915400" cy="8382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latin typeface="楷体_GB2312"/>
                <a:ea typeface="楷体_GB2312"/>
              </a:rPr>
              <a:t>对于两种特殊形式的二叉树（</a:t>
            </a:r>
            <a:r>
              <a:rPr lang="zh-CN" altLang="en-US" sz="2800" b="1" dirty="0">
                <a:latin typeface="楷体_GB2312"/>
                <a:ea typeface="楷体_GB2312"/>
                <a:hlinkClick r:id="" action="ppaction://hlinkshowjump?jump=nextslide"/>
              </a:rPr>
              <a:t>满二叉树和完全二叉树</a:t>
            </a:r>
            <a:r>
              <a:rPr lang="zh-CN" altLang="en-US" sz="2800" b="1" dirty="0">
                <a:latin typeface="楷体_GB2312"/>
                <a:ea typeface="楷体_GB2312"/>
              </a:rPr>
              <a:t>），还特别具备以下</a:t>
            </a:r>
            <a:r>
              <a:rPr lang="en-US" altLang="zh-CN" sz="2800" b="1" dirty="0">
                <a:latin typeface="楷体_GB2312"/>
                <a:ea typeface="楷体_GB2312"/>
              </a:rPr>
              <a:t>2</a:t>
            </a:r>
            <a:r>
              <a:rPr lang="zh-CN" altLang="en-US" sz="2800" b="1" dirty="0">
                <a:latin typeface="楷体_GB2312"/>
                <a:ea typeface="楷体_GB2312"/>
              </a:rPr>
              <a:t>个性质：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sp>
        <p:nvSpPr>
          <p:cNvPr id="188420" name="Rectangle 4"/>
          <p:cNvSpPr/>
          <p:nvPr/>
        </p:nvSpPr>
        <p:spPr>
          <a:xfrm>
            <a:off x="228600" y="1143000"/>
            <a:ext cx="8701088" cy="528638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i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sz="2800" b="1" i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4: </a:t>
            </a:r>
            <a:r>
              <a:rPr lang="zh-CN" altLang="en-US" sz="2600" b="1" dirty="0">
                <a:latin typeface="楷体_GB2312"/>
                <a:ea typeface="楷体_GB2312"/>
              </a:rPr>
              <a:t>具有</a:t>
            </a:r>
            <a:r>
              <a:rPr lang="en-US" altLang="zh-CN" sz="2600" b="1" dirty="0">
                <a:latin typeface="楷体_GB2312"/>
                <a:ea typeface="楷体_GB2312"/>
              </a:rPr>
              <a:t>n</a:t>
            </a:r>
            <a:r>
              <a:rPr lang="zh-CN" altLang="en-US" sz="2600" b="1" dirty="0">
                <a:latin typeface="楷体_GB2312"/>
                <a:ea typeface="楷体_GB2312"/>
              </a:rPr>
              <a:t>个结点的完全二叉树的深度必为 </a:t>
            </a:r>
            <a:r>
              <a:rPr lang="en-US" altLang="zh-CN" sz="1800" b="1" dirty="0">
                <a:solidFill>
                  <a:schemeClr val="tx2"/>
                </a:solidFill>
                <a:sym typeface="Symbol" panose="05050102010706020507" pitchFamily="18" charset="2"/>
              </a:rPr>
              <a:t>log</a:t>
            </a:r>
            <a:r>
              <a:rPr lang="en-US" altLang="zh-CN" sz="18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en-US" altLang="zh-CN" sz="1800" b="1" dirty="0">
                <a:solidFill>
                  <a:schemeClr val="tx2"/>
                </a:solidFill>
                <a:sym typeface="Symbol" panose="05050102010706020507" pitchFamily="18" charset="2"/>
              </a:rPr>
              <a:t>n</a:t>
            </a:r>
            <a:r>
              <a:rPr lang="zh-CN" altLang="en-US" sz="1800" dirty="0"/>
              <a:t> </a:t>
            </a:r>
            <a:r>
              <a:rPr lang="zh-CN" altLang="en-US" sz="2600" b="1" dirty="0">
                <a:latin typeface="楷体_GB2312"/>
                <a:ea typeface="楷体_GB2312"/>
                <a:sym typeface="Symbol" panose="05050102010706020507" pitchFamily="18" charset="2"/>
              </a:rPr>
              <a:t>＋</a:t>
            </a:r>
            <a:r>
              <a:rPr lang="en-US" altLang="zh-CN" sz="2600" b="1" dirty="0">
                <a:latin typeface="楷体_GB2312"/>
                <a:ea typeface="楷体_GB2312"/>
                <a:sym typeface="Symbol" panose="05050102010706020507" pitchFamily="18" charset="2"/>
              </a:rPr>
              <a:t>1</a:t>
            </a:r>
            <a:endParaRPr lang="en-US" altLang="zh-CN" sz="2600" b="1" dirty="0">
              <a:latin typeface="楷体_GB2312"/>
              <a:ea typeface="楷体_GB2312"/>
              <a:sym typeface="Symbol" panose="05050102010706020507" pitchFamily="18" charset="2"/>
            </a:endParaRPr>
          </a:p>
        </p:txBody>
      </p:sp>
      <p:sp>
        <p:nvSpPr>
          <p:cNvPr id="188423" name="Rectangle 7"/>
          <p:cNvSpPr/>
          <p:nvPr/>
        </p:nvSpPr>
        <p:spPr>
          <a:xfrm>
            <a:off x="304800" y="3581400"/>
            <a:ext cx="8382000" cy="1371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i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lang="en-US" altLang="zh-CN" sz="2800" b="1" i="1" dirty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5: </a:t>
            </a:r>
            <a:r>
              <a:rPr lang="zh-CN" altLang="en-US" sz="2600" b="1" dirty="0">
                <a:highlight>
                  <a:srgbClr val="FFFF00"/>
                </a:highlight>
                <a:latin typeface="楷体_GB2312"/>
                <a:ea typeface="楷体_GB2312"/>
              </a:rPr>
              <a:t>对完全二叉树，若从上至下、从左至右编号，则编号为</a:t>
            </a:r>
            <a:r>
              <a:rPr lang="en-US" altLang="zh-CN" sz="2600" b="1" i="1" dirty="0">
                <a:solidFill>
                  <a:schemeClr val="accent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i</a:t>
            </a:r>
            <a:r>
              <a:rPr lang="en-US" altLang="zh-CN" sz="2600" b="1" i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600" b="1" dirty="0">
                <a:highlight>
                  <a:srgbClr val="FFFF00"/>
                </a:highlight>
                <a:latin typeface="楷体_GB2312"/>
                <a:ea typeface="楷体_GB2312"/>
              </a:rPr>
              <a:t>的结点，其左孩子编号必为</a:t>
            </a:r>
            <a:r>
              <a:rPr lang="en-US" altLang="zh-CN" sz="2600" b="1" i="1" dirty="0">
                <a:solidFill>
                  <a:schemeClr val="accent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2i</a:t>
            </a:r>
            <a:r>
              <a:rPr lang="zh-CN" altLang="en-US" sz="2600" b="1" dirty="0">
                <a:highlight>
                  <a:srgbClr val="FFFF00"/>
                </a:highlight>
                <a:latin typeface="楷体_GB2312"/>
                <a:ea typeface="楷体_GB2312"/>
              </a:rPr>
              <a:t>，其右孩子编号必为</a:t>
            </a:r>
            <a:r>
              <a:rPr lang="en-US" altLang="zh-CN" sz="2600" b="1" i="1" dirty="0">
                <a:solidFill>
                  <a:schemeClr val="accent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2i</a:t>
            </a:r>
            <a:r>
              <a:rPr lang="zh-CN" altLang="en-US" sz="2600" b="1" i="1" dirty="0">
                <a:solidFill>
                  <a:schemeClr val="accent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＋</a:t>
            </a:r>
            <a:r>
              <a:rPr lang="en-US" altLang="zh-CN" sz="2600" b="1" i="1" dirty="0">
                <a:solidFill>
                  <a:schemeClr val="accent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1</a:t>
            </a:r>
            <a:r>
              <a:rPr lang="zh-CN" altLang="en-US" sz="2600" b="1" dirty="0">
                <a:highlight>
                  <a:srgbClr val="FFFF00"/>
                </a:highlight>
                <a:latin typeface="楷体_GB2312"/>
                <a:ea typeface="楷体_GB2312"/>
              </a:rPr>
              <a:t>；其双亲的编号必为</a:t>
            </a:r>
            <a:r>
              <a:rPr lang="en-US" altLang="zh-CN" sz="2800" b="1" dirty="0">
                <a:solidFill>
                  <a:schemeClr val="tx2"/>
                </a:solidFill>
                <a:highlight>
                  <a:srgbClr val="FFFF00"/>
                </a:highlight>
                <a:sym typeface="Symbol" panose="05050102010706020507" pitchFamily="18" charset="2"/>
              </a:rPr>
              <a:t></a:t>
            </a:r>
            <a:r>
              <a:rPr lang="en-US" altLang="zh-CN" sz="2600" b="1" i="1" dirty="0">
                <a:solidFill>
                  <a:schemeClr val="accent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i/2</a:t>
            </a:r>
            <a:r>
              <a:rPr lang="en-US" altLang="zh-CN" sz="2800" b="1" dirty="0">
                <a:solidFill>
                  <a:schemeClr val="tx2"/>
                </a:solidFill>
                <a:highlight>
                  <a:srgbClr val="FFFF00"/>
                </a:highlight>
                <a:sym typeface="Symbol" panose="05050102010706020507" pitchFamily="18" charset="2"/>
              </a:rPr>
              <a:t></a:t>
            </a:r>
            <a:r>
              <a:rPr lang="zh-CN" altLang="en-US" sz="2800" dirty="0">
                <a:highlight>
                  <a:srgbClr val="FFFF00"/>
                </a:highlight>
              </a:rPr>
              <a:t> </a:t>
            </a:r>
            <a:r>
              <a:rPr lang="zh-CN" altLang="en-US" sz="2600" b="1" dirty="0">
                <a:highlight>
                  <a:srgbClr val="FFFF00"/>
                </a:highlight>
                <a:latin typeface="楷体_GB2312"/>
                <a:ea typeface="楷体_GB2312"/>
              </a:rPr>
              <a:t>（</a:t>
            </a:r>
            <a:r>
              <a:rPr lang="en-US" altLang="zh-CN" sz="2600" b="1" i="1" dirty="0">
                <a:solidFill>
                  <a:schemeClr val="accent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i</a:t>
            </a:r>
            <a:r>
              <a:rPr lang="zh-CN" altLang="en-US" sz="2600" b="1" i="1" dirty="0">
                <a:solidFill>
                  <a:schemeClr val="accent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＝</a:t>
            </a:r>
            <a:r>
              <a:rPr lang="en-US" altLang="zh-CN" sz="2600" b="1" i="1" dirty="0">
                <a:solidFill>
                  <a:schemeClr val="accent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1 </a:t>
            </a:r>
            <a:r>
              <a:rPr lang="zh-CN" altLang="en-US" sz="2600" b="1" dirty="0">
                <a:solidFill>
                  <a:schemeClr val="accent2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时为根</a:t>
            </a:r>
            <a:r>
              <a:rPr lang="en-US" altLang="zh-CN" sz="2600" b="1" dirty="0">
                <a:solidFill>
                  <a:schemeClr val="accent2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,</a:t>
            </a:r>
            <a:r>
              <a:rPr lang="zh-CN" altLang="en-US" sz="2600" b="1" dirty="0">
                <a:solidFill>
                  <a:schemeClr val="accent2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除外</a:t>
            </a:r>
            <a:r>
              <a:rPr lang="zh-CN" altLang="en-US" sz="2600" b="1" dirty="0">
                <a:highlight>
                  <a:srgbClr val="FFFF00"/>
                </a:highlight>
                <a:latin typeface="楷体_GB2312"/>
                <a:ea typeface="楷体_GB2312"/>
              </a:rPr>
              <a:t>）。 </a:t>
            </a:r>
            <a:endParaRPr lang="zh-CN" altLang="en-US" sz="2600" b="1" dirty="0">
              <a:highlight>
                <a:srgbClr val="FFFF00"/>
              </a:highlight>
              <a:latin typeface="楷体_GB2312"/>
              <a:ea typeface="楷体_GB2312"/>
            </a:endParaRPr>
          </a:p>
        </p:txBody>
      </p:sp>
      <p:sp>
        <p:nvSpPr>
          <p:cNvPr id="188424" name="AutoShape 8">
            <a:hlinkClick r:id="rId1" action="ppaction://hlinksldjump"/>
          </p:cNvPr>
          <p:cNvSpPr/>
          <p:nvPr/>
        </p:nvSpPr>
        <p:spPr>
          <a:xfrm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88425" name="Text Box 9"/>
          <p:cNvSpPr txBox="1"/>
          <p:nvPr/>
        </p:nvSpPr>
        <p:spPr>
          <a:xfrm>
            <a:off x="228600" y="1828800"/>
            <a:ext cx="8458200" cy="1631950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证明：根据性质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2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，深度为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k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的二叉树最多只有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2</a:t>
            </a:r>
            <a:r>
              <a:rPr lang="en-US" altLang="zh-CN" sz="2000" b="1" baseline="30000" dirty="0">
                <a:solidFill>
                  <a:schemeClr val="accent1"/>
                </a:solidFill>
                <a:latin typeface="仿宋_GB2312"/>
                <a:ea typeface="仿宋_GB2312"/>
              </a:rPr>
              <a:t>k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-1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个结点，且完全二叉树的定义是与同深度的满二叉树前面编号相同，即它的总结点数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n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位于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k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层和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k-1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层满二叉树容量之间，即  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2</a:t>
            </a:r>
            <a:r>
              <a:rPr lang="en-US" altLang="zh-CN" sz="2000" b="1" baseline="30000" dirty="0">
                <a:solidFill>
                  <a:schemeClr val="accent1"/>
                </a:solidFill>
                <a:latin typeface="仿宋_GB2312"/>
                <a:ea typeface="仿宋_GB2312"/>
              </a:rPr>
              <a:t>k-1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-1&lt;n≤2</a:t>
            </a:r>
            <a:r>
              <a:rPr lang="en-US" altLang="zh-CN" sz="2000" b="1" baseline="30000" dirty="0">
                <a:solidFill>
                  <a:schemeClr val="accent1"/>
                </a:solidFill>
                <a:latin typeface="仿宋_GB2312"/>
                <a:ea typeface="仿宋_GB2312"/>
              </a:rPr>
              <a:t>k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-1  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或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2</a:t>
            </a:r>
            <a:r>
              <a:rPr lang="en-US" altLang="zh-CN" sz="2000" b="1" baseline="30000" dirty="0">
                <a:solidFill>
                  <a:schemeClr val="accent1"/>
                </a:solidFill>
                <a:latin typeface="仿宋_GB2312"/>
                <a:ea typeface="仿宋_GB2312"/>
              </a:rPr>
              <a:t>k-1</a:t>
            </a:r>
            <a:r>
              <a:rPr lang="en-US" altLang="zh-CN" sz="2000" b="1" dirty="0">
                <a:solidFill>
                  <a:srgbClr val="FF0000"/>
                </a:solidFill>
                <a:latin typeface="仿宋_GB2312"/>
                <a:ea typeface="仿宋_GB2312"/>
              </a:rPr>
              <a:t>≤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仿宋_GB2312"/>
                <a:ea typeface="仿宋_GB2312"/>
              </a:rPr>
              <a:t>&lt;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2</a:t>
            </a:r>
            <a:r>
              <a:rPr lang="en-US" altLang="zh-CN" sz="2000" b="1" baseline="30000" dirty="0">
                <a:solidFill>
                  <a:schemeClr val="accent1"/>
                </a:solidFill>
                <a:latin typeface="仿宋_GB2312"/>
                <a:ea typeface="仿宋_GB2312"/>
              </a:rPr>
              <a:t>k</a:t>
            </a:r>
            <a:endParaRPr lang="en-US" altLang="zh-CN" sz="2000" b="1" dirty="0">
              <a:solidFill>
                <a:schemeClr val="accent1"/>
              </a:solidFill>
              <a:latin typeface="仿宋_GB2312"/>
              <a:ea typeface="仿宋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三边同时取对数，于是有：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k-1≤log</a:t>
            </a:r>
            <a:r>
              <a:rPr lang="en-US" altLang="zh-CN" sz="2000" b="1" baseline="-30000" dirty="0">
                <a:solidFill>
                  <a:schemeClr val="accent1"/>
                </a:solidFill>
                <a:latin typeface="仿宋_GB2312"/>
                <a:ea typeface="仿宋_GB2312"/>
              </a:rPr>
              <a:t>2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n&lt;k 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因为</a:t>
            </a:r>
            <a:r>
              <a:rPr lang="en-US" altLang="zh-CN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k</a:t>
            </a: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是整数，所以</a:t>
            </a:r>
            <a:endParaRPr lang="en-US" altLang="zh-CN" sz="2000" b="1" dirty="0">
              <a:solidFill>
                <a:schemeClr val="accent1"/>
              </a:solidFill>
              <a:latin typeface="仿宋_GB2312"/>
              <a:ea typeface="仿宋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仿宋_GB2312"/>
                <a:ea typeface="仿宋_GB2312"/>
              </a:rPr>
              <a:t>k=</a:t>
            </a:r>
            <a:r>
              <a:rPr lang="en-US" altLang="zh-CN" sz="2000" b="1" dirty="0">
                <a:solidFill>
                  <a:schemeClr val="tx2"/>
                </a:solidFill>
                <a:sym typeface="Symbol" panose="05050102010706020507" pitchFamily="18" charset="2"/>
              </a:rPr>
              <a:t> </a:t>
            </a:r>
            <a:r>
              <a:rPr lang="en-US" altLang="zh-CN" sz="2000" b="1" dirty="0">
                <a:latin typeface="仿宋_GB2312"/>
                <a:ea typeface="仿宋_GB2312"/>
              </a:rPr>
              <a:t>log</a:t>
            </a:r>
            <a:r>
              <a:rPr lang="en-US" altLang="zh-CN" sz="2000" b="1" baseline="-30000" dirty="0">
                <a:latin typeface="仿宋_GB2312"/>
                <a:ea typeface="仿宋_GB2312"/>
              </a:rPr>
              <a:t>2</a:t>
            </a:r>
            <a:r>
              <a:rPr lang="en-US" altLang="zh-CN" sz="2000" b="1" dirty="0">
                <a:latin typeface="仿宋_GB2312"/>
                <a:ea typeface="仿宋_GB2312"/>
              </a:rPr>
              <a:t>n</a:t>
            </a:r>
            <a:r>
              <a:rPr lang="en-US" altLang="zh-CN" sz="2000" b="1" dirty="0">
                <a:solidFill>
                  <a:schemeClr val="tx2"/>
                </a:solidFill>
                <a:sym typeface="Symbol" panose="05050102010706020507" pitchFamily="18" charset="2"/>
              </a:rPr>
              <a:t></a:t>
            </a:r>
            <a:r>
              <a:rPr lang="zh-CN" altLang="en-US" sz="2000" dirty="0"/>
              <a:t> </a:t>
            </a:r>
            <a:r>
              <a:rPr lang="en-US" altLang="zh-CN" sz="2000" b="1" dirty="0">
                <a:latin typeface="仿宋_GB2312"/>
                <a:ea typeface="仿宋_GB2312"/>
              </a:rPr>
              <a:t>+1</a:t>
            </a:r>
            <a:endParaRPr lang="en-US" altLang="zh-CN" sz="2000" b="1" dirty="0">
              <a:latin typeface="仿宋_GB2312"/>
              <a:ea typeface="仿宋_GB2312"/>
            </a:endParaRPr>
          </a:p>
        </p:txBody>
      </p:sp>
      <p:sp>
        <p:nvSpPr>
          <p:cNvPr id="188426" name="Rectangle 10"/>
          <p:cNvSpPr/>
          <p:nvPr/>
        </p:nvSpPr>
        <p:spPr>
          <a:xfrm>
            <a:off x="304800" y="5105400"/>
            <a:ext cx="2484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accent1"/>
                </a:solidFill>
                <a:latin typeface="仿宋_GB2312"/>
                <a:ea typeface="仿宋_GB2312"/>
              </a:rPr>
              <a:t>可根据归纳法证明。</a:t>
            </a:r>
            <a:endParaRPr lang="zh-CN" altLang="en-US" sz="2000" b="1" dirty="0">
              <a:solidFill>
                <a:schemeClr val="accent1"/>
              </a:solidFill>
              <a:latin typeface="仿宋_GB2312"/>
              <a:ea typeface="仿宋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/>
      <p:bldP spid="188420" grpId="0" animBg="1"/>
      <p:bldP spid="188423" grpId="0" animBg="1"/>
      <p:bldP spid="188424" grpId="0" animBg="1"/>
      <p:bldP spid="188425" grpId="0"/>
      <p:bldP spid="1884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36554" name="Rectangle 10"/>
          <p:cNvSpPr/>
          <p:nvPr/>
        </p:nvSpPr>
        <p:spPr>
          <a:xfrm>
            <a:off x="250825" y="3429000"/>
            <a:ext cx="7239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3. </a:t>
            </a:r>
            <a:r>
              <a:rPr lang="zh-CN" altLang="en-US" sz="2400" b="1" dirty="0">
                <a:latin typeface="楷体_GB2312"/>
                <a:ea typeface="楷体_GB2312"/>
              </a:rPr>
              <a:t>深度为</a:t>
            </a:r>
            <a:r>
              <a:rPr lang="en-US" altLang="zh-CN" sz="2400" b="1" dirty="0">
                <a:latin typeface="楷体_GB2312"/>
                <a:ea typeface="楷体_GB2312"/>
              </a:rPr>
              <a:t>9</a:t>
            </a:r>
            <a:r>
              <a:rPr lang="zh-CN" altLang="en-US" sz="2400" b="1" dirty="0">
                <a:latin typeface="楷体_GB2312"/>
                <a:ea typeface="楷体_GB2312"/>
              </a:rPr>
              <a:t>的二叉树中至少有     个结点。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      </a:t>
            </a:r>
            <a:r>
              <a:rPr lang="zh-CN" altLang="en-US" sz="2000" b="1" dirty="0">
                <a:latin typeface="楷体_GB2312"/>
                <a:ea typeface="楷体_GB2312"/>
              </a:rPr>
              <a:t>Ａ</a:t>
            </a:r>
            <a:r>
              <a:rPr lang="en-US" altLang="zh-CN" sz="2000" b="1" dirty="0">
                <a:latin typeface="楷体_GB2312"/>
                <a:ea typeface="楷体_GB2312"/>
              </a:rPr>
              <a:t>)</a:t>
            </a:r>
            <a:r>
              <a:rPr lang="zh-CN" altLang="en-US" sz="2000" b="1" dirty="0">
                <a:latin typeface="楷体_GB2312"/>
                <a:ea typeface="楷体_GB2312"/>
              </a:rPr>
              <a:t>２</a:t>
            </a:r>
            <a:r>
              <a:rPr lang="en-US" altLang="zh-CN" sz="2000" b="1" baseline="30000" dirty="0">
                <a:latin typeface="楷体_GB2312"/>
                <a:ea typeface="楷体_GB2312"/>
              </a:rPr>
              <a:t>9</a:t>
            </a:r>
            <a:r>
              <a:rPr lang="en-US" altLang="zh-CN" sz="2000" b="1" dirty="0">
                <a:latin typeface="楷体_GB2312"/>
                <a:ea typeface="楷体_GB2312"/>
              </a:rPr>
              <a:t>     </a:t>
            </a:r>
            <a:r>
              <a:rPr lang="zh-CN" altLang="en-US" sz="2000" b="1" dirty="0">
                <a:latin typeface="楷体_GB2312"/>
                <a:ea typeface="楷体_GB2312"/>
              </a:rPr>
              <a:t>Ｂ</a:t>
            </a:r>
            <a:r>
              <a:rPr lang="en-US" altLang="zh-CN" sz="2000" b="1" dirty="0">
                <a:latin typeface="楷体_GB2312"/>
                <a:ea typeface="楷体_GB2312"/>
              </a:rPr>
              <a:t>)</a:t>
            </a:r>
            <a:r>
              <a:rPr lang="zh-CN" altLang="en-US" sz="2000" b="1" dirty="0">
                <a:latin typeface="楷体_GB2312"/>
                <a:ea typeface="楷体_GB2312"/>
              </a:rPr>
              <a:t>２</a:t>
            </a:r>
            <a:r>
              <a:rPr lang="en-US" altLang="zh-CN" sz="2000" b="1" baseline="30000" dirty="0">
                <a:latin typeface="楷体_GB2312"/>
                <a:ea typeface="楷体_GB2312"/>
              </a:rPr>
              <a:t>8</a:t>
            </a:r>
            <a:r>
              <a:rPr lang="en-US" altLang="zh-CN" sz="2000" b="1" dirty="0">
                <a:latin typeface="楷体_GB2312"/>
                <a:ea typeface="楷体_GB2312"/>
              </a:rPr>
              <a:t>         </a:t>
            </a:r>
            <a:r>
              <a:rPr lang="zh-CN" altLang="en-US" sz="2000" b="1" dirty="0">
                <a:latin typeface="楷体_GB2312"/>
                <a:ea typeface="楷体_GB2312"/>
              </a:rPr>
              <a:t>Ｃ</a:t>
            </a:r>
            <a:r>
              <a:rPr lang="en-US" altLang="zh-CN" sz="2000" b="1" dirty="0">
                <a:latin typeface="楷体_GB2312"/>
                <a:ea typeface="楷体_GB2312"/>
              </a:rPr>
              <a:t>)</a:t>
            </a:r>
            <a:r>
              <a:rPr lang="zh-CN" altLang="en-US" sz="2000" b="1" dirty="0">
                <a:latin typeface="楷体_GB2312"/>
                <a:ea typeface="楷体_GB2312"/>
              </a:rPr>
              <a:t>９       Ｄ</a:t>
            </a:r>
            <a:r>
              <a:rPr lang="en-US" altLang="zh-CN" sz="2000" b="1" dirty="0">
                <a:latin typeface="楷体_GB2312"/>
                <a:ea typeface="楷体_GB2312"/>
              </a:rPr>
              <a:t>)</a:t>
            </a:r>
            <a:r>
              <a:rPr lang="zh-CN" altLang="en-US" sz="2000" b="1" dirty="0">
                <a:latin typeface="楷体_GB2312"/>
                <a:ea typeface="楷体_GB2312"/>
              </a:rPr>
              <a:t>２</a:t>
            </a:r>
            <a:r>
              <a:rPr lang="en-US" altLang="zh-CN" sz="2000" b="1" baseline="30000" dirty="0">
                <a:latin typeface="楷体_GB2312"/>
                <a:ea typeface="楷体_GB2312"/>
              </a:rPr>
              <a:t>9</a:t>
            </a:r>
            <a:r>
              <a:rPr lang="zh-CN" altLang="en-US" sz="2000" b="1" dirty="0">
                <a:latin typeface="楷体_GB2312"/>
                <a:ea typeface="楷体_GB2312"/>
              </a:rPr>
              <a:t>－</a:t>
            </a:r>
            <a:r>
              <a:rPr lang="en-US" altLang="zh-CN" sz="2000" b="1" dirty="0">
                <a:latin typeface="楷体_GB2312"/>
                <a:ea typeface="楷体_GB2312"/>
              </a:rPr>
              <a:t>1</a:t>
            </a:r>
            <a:endParaRPr lang="en-US" altLang="zh-CN" sz="2000" b="1" dirty="0">
              <a:latin typeface="楷体_GB2312"/>
              <a:ea typeface="楷体_GB2312"/>
            </a:endParaRPr>
          </a:p>
        </p:txBody>
      </p:sp>
      <p:sp>
        <p:nvSpPr>
          <p:cNvPr id="236553" name="Rectangle 9"/>
          <p:cNvSpPr/>
          <p:nvPr/>
        </p:nvSpPr>
        <p:spPr>
          <a:xfrm>
            <a:off x="250825" y="1916113"/>
            <a:ext cx="7315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>
              <a:solidFill>
                <a:srgbClr val="99FF33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2.</a:t>
            </a:r>
            <a:r>
              <a:rPr lang="zh-CN" altLang="en-US" sz="2400" b="1" dirty="0">
                <a:latin typeface="楷体_GB2312"/>
                <a:ea typeface="楷体_GB2312"/>
              </a:rPr>
              <a:t>深度为</a:t>
            </a:r>
            <a:r>
              <a:rPr lang="en-US" altLang="zh-CN" sz="2400" b="1" dirty="0">
                <a:latin typeface="楷体_GB2312"/>
                <a:ea typeface="楷体_GB2312"/>
              </a:rPr>
              <a:t>k </a:t>
            </a:r>
            <a:r>
              <a:rPr lang="zh-CN" altLang="en-US" sz="2400" b="1" dirty="0">
                <a:latin typeface="楷体_GB2312"/>
                <a:ea typeface="楷体_GB2312"/>
              </a:rPr>
              <a:t>的二叉树的结点总数，最多为   个。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      </a:t>
            </a:r>
            <a:r>
              <a:rPr lang="zh-CN" altLang="en-US" sz="2000" b="1" dirty="0">
                <a:latin typeface="楷体_GB2312"/>
                <a:ea typeface="楷体_GB2312"/>
              </a:rPr>
              <a:t>Ａ</a:t>
            </a:r>
            <a:r>
              <a:rPr lang="en-US" altLang="zh-CN" sz="2000" b="1" dirty="0">
                <a:latin typeface="楷体_GB2312"/>
                <a:ea typeface="楷体_GB2312"/>
              </a:rPr>
              <a:t>)</a:t>
            </a:r>
            <a:r>
              <a:rPr lang="zh-CN" altLang="en-US" sz="2000" b="1" dirty="0">
                <a:latin typeface="楷体_GB2312"/>
                <a:ea typeface="楷体_GB2312"/>
              </a:rPr>
              <a:t>２</a:t>
            </a:r>
            <a:r>
              <a:rPr lang="en-US" altLang="zh-CN" sz="2000" b="1" baseline="30000" dirty="0">
                <a:latin typeface="楷体_GB2312"/>
                <a:ea typeface="楷体_GB2312"/>
              </a:rPr>
              <a:t>k-1</a:t>
            </a:r>
            <a:r>
              <a:rPr lang="en-US" altLang="zh-CN" sz="2000" b="1" dirty="0">
                <a:latin typeface="楷体_GB2312"/>
                <a:ea typeface="楷体_GB2312"/>
              </a:rPr>
              <a:t>    </a:t>
            </a:r>
            <a:r>
              <a:rPr lang="zh-CN" altLang="en-US" sz="2000" b="1" dirty="0">
                <a:latin typeface="楷体_GB2312"/>
                <a:ea typeface="楷体_GB2312"/>
              </a:rPr>
              <a:t>Ｂ</a:t>
            </a:r>
            <a:r>
              <a:rPr lang="en-US" altLang="zh-CN" sz="2000" b="1" dirty="0">
                <a:latin typeface="楷体_GB2312"/>
                <a:ea typeface="楷体_GB2312"/>
              </a:rPr>
              <a:t>) log</a:t>
            </a:r>
            <a:r>
              <a:rPr lang="en-US" altLang="zh-CN" sz="2000" b="1" baseline="-30000" dirty="0">
                <a:latin typeface="楷体_GB2312"/>
                <a:ea typeface="楷体_GB2312"/>
              </a:rPr>
              <a:t>2</a:t>
            </a:r>
            <a:r>
              <a:rPr lang="en-US" altLang="zh-CN" sz="2000" b="1" dirty="0">
                <a:latin typeface="楷体_GB2312"/>
                <a:ea typeface="楷体_GB2312"/>
              </a:rPr>
              <a:t>k      </a:t>
            </a:r>
            <a:r>
              <a:rPr lang="zh-CN" altLang="en-US" sz="2000" b="1" dirty="0">
                <a:latin typeface="楷体_GB2312"/>
                <a:ea typeface="楷体_GB2312"/>
              </a:rPr>
              <a:t>Ｃ</a:t>
            </a:r>
            <a:r>
              <a:rPr lang="en-US" altLang="zh-CN" sz="2000" b="1" dirty="0">
                <a:latin typeface="楷体_GB2312"/>
                <a:ea typeface="楷体_GB2312"/>
              </a:rPr>
              <a:t>) </a:t>
            </a:r>
            <a:r>
              <a:rPr lang="zh-CN" altLang="en-US" sz="2000" b="1" dirty="0">
                <a:latin typeface="楷体_GB2312"/>
                <a:ea typeface="楷体_GB2312"/>
              </a:rPr>
              <a:t>２</a:t>
            </a:r>
            <a:r>
              <a:rPr lang="en-US" altLang="zh-CN" sz="2000" b="1" baseline="30000" dirty="0">
                <a:latin typeface="楷体_GB2312"/>
                <a:ea typeface="楷体_GB2312"/>
              </a:rPr>
              <a:t>k</a:t>
            </a:r>
            <a:r>
              <a:rPr lang="zh-CN" altLang="en-US" sz="2000" b="1" dirty="0">
                <a:latin typeface="楷体_GB2312"/>
                <a:ea typeface="楷体_GB2312"/>
              </a:rPr>
              <a:t>－１     Ｄ</a:t>
            </a:r>
            <a:r>
              <a:rPr lang="en-US" altLang="zh-CN" sz="2000" b="1" dirty="0">
                <a:latin typeface="楷体_GB2312"/>
                <a:ea typeface="楷体_GB2312"/>
              </a:rPr>
              <a:t>)</a:t>
            </a:r>
            <a:r>
              <a:rPr lang="zh-CN" altLang="en-US" sz="2000" b="1" dirty="0">
                <a:latin typeface="楷体_GB2312"/>
                <a:ea typeface="楷体_GB2312"/>
              </a:rPr>
              <a:t>２</a:t>
            </a:r>
            <a:r>
              <a:rPr lang="en-US" altLang="zh-CN" sz="2000" b="1" baseline="30000" dirty="0">
                <a:latin typeface="楷体_GB2312"/>
                <a:ea typeface="楷体_GB2312"/>
              </a:rPr>
              <a:t>k</a:t>
            </a:r>
            <a:endParaRPr lang="en-US" altLang="zh-CN" sz="2000" b="1" baseline="30000" dirty="0">
              <a:latin typeface="楷体_GB2312"/>
              <a:ea typeface="楷体_GB2312"/>
            </a:endParaRPr>
          </a:p>
        </p:txBody>
      </p:sp>
      <p:sp>
        <p:nvSpPr>
          <p:cNvPr id="236555" name="Rectangle 11"/>
          <p:cNvSpPr/>
          <p:nvPr/>
        </p:nvSpPr>
        <p:spPr>
          <a:xfrm>
            <a:off x="228600" y="333375"/>
            <a:ext cx="89154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课堂练习：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hlink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1. </a:t>
            </a:r>
            <a:r>
              <a:rPr lang="zh-CN" altLang="en-US" sz="2400" b="1" dirty="0">
                <a:latin typeface="楷体_GB2312"/>
                <a:ea typeface="楷体_GB2312"/>
              </a:rPr>
              <a:t>树Ｔ中各结点的度的最大值称为树Ｔ的</a:t>
            </a:r>
            <a:r>
              <a:rPr lang="zh-CN" altLang="en-US" sz="2400" b="1" u="sng" dirty="0">
                <a:latin typeface="楷体_GB2312"/>
                <a:ea typeface="楷体_GB2312"/>
              </a:rPr>
              <a:t>     </a:t>
            </a:r>
            <a:r>
              <a:rPr lang="zh-CN" altLang="en-US" sz="2400" b="1" dirty="0">
                <a:latin typeface="楷体_GB2312"/>
                <a:ea typeface="楷体_GB2312"/>
              </a:rPr>
              <a:t>。</a:t>
            </a:r>
            <a:endParaRPr lang="zh-CN" altLang="en-US" sz="2400" b="1" u="sng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      </a:t>
            </a:r>
            <a:r>
              <a:rPr lang="zh-CN" altLang="en-US" sz="2000" b="1" dirty="0">
                <a:latin typeface="楷体_GB2312"/>
                <a:ea typeface="楷体_GB2312"/>
              </a:rPr>
              <a:t>Ａ</a:t>
            </a:r>
            <a:r>
              <a:rPr lang="en-US" altLang="zh-CN" sz="2000" b="1" dirty="0">
                <a:latin typeface="楷体_GB2312"/>
                <a:ea typeface="楷体_GB2312"/>
              </a:rPr>
              <a:t>) </a:t>
            </a:r>
            <a:r>
              <a:rPr lang="zh-CN" altLang="en-US" sz="2000" b="1" dirty="0">
                <a:latin typeface="楷体_GB2312"/>
                <a:ea typeface="楷体_GB2312"/>
              </a:rPr>
              <a:t>高度    Ｂ</a:t>
            </a:r>
            <a:r>
              <a:rPr lang="en-US" altLang="zh-CN" sz="2000" b="1" dirty="0">
                <a:latin typeface="楷体_GB2312"/>
                <a:ea typeface="楷体_GB2312"/>
              </a:rPr>
              <a:t>) </a:t>
            </a:r>
            <a:r>
              <a:rPr lang="zh-CN" altLang="en-US" sz="2000" b="1" dirty="0">
                <a:latin typeface="楷体_GB2312"/>
                <a:ea typeface="楷体_GB2312"/>
              </a:rPr>
              <a:t>层次      Ｃ</a:t>
            </a:r>
            <a:r>
              <a:rPr lang="en-US" altLang="zh-CN" sz="2000" b="1" dirty="0">
                <a:latin typeface="楷体_GB2312"/>
                <a:ea typeface="楷体_GB2312"/>
              </a:rPr>
              <a:t>) </a:t>
            </a:r>
            <a:r>
              <a:rPr lang="zh-CN" altLang="en-US" sz="2000" b="1" dirty="0">
                <a:latin typeface="楷体_GB2312"/>
                <a:ea typeface="楷体_GB2312"/>
              </a:rPr>
              <a:t>深度       Ｄ</a:t>
            </a:r>
            <a:r>
              <a:rPr lang="en-US" altLang="zh-CN" sz="2000" b="1" dirty="0">
                <a:latin typeface="楷体_GB2312"/>
                <a:ea typeface="楷体_GB2312"/>
              </a:rPr>
              <a:t>) </a:t>
            </a:r>
            <a:r>
              <a:rPr lang="zh-CN" altLang="en-US" sz="2000" b="1" dirty="0">
                <a:latin typeface="楷体_GB2312"/>
                <a:ea typeface="楷体_GB2312"/>
              </a:rPr>
              <a:t>度</a:t>
            </a:r>
            <a:endParaRPr lang="zh-CN" altLang="en-US" sz="2000" b="1" dirty="0">
              <a:latin typeface="楷体_GB2312"/>
              <a:ea typeface="楷体_GB2312"/>
            </a:endParaRPr>
          </a:p>
        </p:txBody>
      </p:sp>
      <p:sp>
        <p:nvSpPr>
          <p:cNvPr id="236549" name="AutoShape 5">
            <a:hlinkClick r:id="rId1" action="ppaction://hlinksldjump"/>
          </p:cNvPr>
          <p:cNvSpPr/>
          <p:nvPr/>
        </p:nvSpPr>
        <p:spPr>
          <a:xfrm flipH="1">
            <a:off x="79248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6550" name="Rectangle 6"/>
          <p:cNvSpPr/>
          <p:nvPr/>
        </p:nvSpPr>
        <p:spPr>
          <a:xfrm>
            <a:off x="3276600" y="3860800"/>
            <a:ext cx="415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√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36551" name="Rectangle 7"/>
          <p:cNvSpPr/>
          <p:nvPr/>
        </p:nvSpPr>
        <p:spPr>
          <a:xfrm>
            <a:off x="3563938" y="2708275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√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36552" name="Rectangle 8"/>
          <p:cNvSpPr/>
          <p:nvPr/>
        </p:nvSpPr>
        <p:spPr>
          <a:xfrm>
            <a:off x="4859338" y="1484313"/>
            <a:ext cx="504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√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4" grpId="0"/>
      <p:bldP spid="236553" grpId="0"/>
      <p:bldP spid="236555" grpId="0"/>
      <p:bldP spid="236549" grpId="0" animBg="1"/>
      <p:bldP spid="236550" grpId="0"/>
      <p:bldP spid="236551" grpId="0"/>
      <p:bldP spid="2365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矩形 2"/>
          <p:cNvSpPr/>
          <p:nvPr/>
        </p:nvSpPr>
        <p:spPr>
          <a:xfrm>
            <a:off x="3419872" y="188639"/>
            <a:ext cx="2242922" cy="707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1" u="none" strike="noStrike" kern="1200" cap="none" spc="0" normalizeH="0" baseline="0" noProof="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课堂练习</a:t>
            </a:r>
            <a:endParaRPr kumimoji="0" lang="zh-CN" altLang="en-US" sz="4000" b="1" i="1" u="none" strike="noStrike" kern="1200" cap="none" spc="0" normalizeH="0" baseline="0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0825" y="965200"/>
            <a:ext cx="8713788" cy="52625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1.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已知一算术表达式的中缀形式为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A+B*C-D/E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，后缀形式为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ABC*+DE/-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，其前缀形式为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   )</a:t>
            </a:r>
            <a:endParaRPr kumimoji="1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A</a:t>
            </a:r>
            <a:r>
              <a:rPr kumimoji="1" lang="zh-CN" alt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-A+B*C/DE           B. -A+B*CD/E      </a:t>
            </a:r>
            <a:b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</a:b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</a:t>
            </a:r>
            <a:r>
              <a:rPr kumimoji="1" lang="zh-CN" alt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-+*ABC/DE           D. -+A*BC/DE </a:t>
            </a:r>
            <a:endParaRPr kumimoji="1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endParaRPr kumimoji="1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2.</a:t>
            </a:r>
            <a:r>
              <a:rPr kumimoji="1" lang="zh-CN" alt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设树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，其中度为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的结点个数分别为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中的叶子数为（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          B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6         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7           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8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3.</a:t>
            </a:r>
            <a:r>
              <a:rPr kumimoji="1" lang="zh-CN" alt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若一棵二叉树具有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的结点，则度为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的结点个数是（ ）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         B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11         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15       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．不确定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一棵完全二叉树上有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1001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个结点，其中叶子结点的个数是（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250   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500    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254     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505      E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．以上答案都不对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内容占位符 2"/>
          <p:cNvSpPr txBox="1"/>
          <p:nvPr/>
        </p:nvSpPr>
        <p:spPr>
          <a:xfrm>
            <a:off x="142875" y="285750"/>
            <a:ext cx="8786813" cy="3214688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5.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对于有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个结点的二叉树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,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其高度为（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）</a:t>
            </a:r>
            <a:endParaRPr kumimoji="0" lang="zh-CN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 A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nlog</a:t>
            </a:r>
            <a:r>
              <a:rPr kumimoji="0" lang="en-US" altLang="zh-CN" sz="2800" kern="0" cap="none" spc="0" normalizeH="0" baseline="-25000" noProof="0" dirty="0"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    B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log</a:t>
            </a:r>
            <a:r>
              <a:rPr kumimoji="0" lang="en-US" altLang="zh-CN" sz="2800" kern="0" cap="none" spc="0" normalizeH="0" baseline="-25000" noProof="0" dirty="0"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     C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  <a:sym typeface="Symbol" panose="05050102010706020507" pitchFamily="18" charset="2"/>
              </a:rPr>
              <a:t>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log</a:t>
            </a:r>
            <a:r>
              <a:rPr kumimoji="0" lang="en-US" altLang="zh-CN" sz="2800" kern="0" cap="none" spc="0" normalizeH="0" baseline="-25000" noProof="0" dirty="0"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  <a:sym typeface="Symbol" panose="05050102010706020507" pitchFamily="18" charset="2"/>
              </a:rPr>
              <a:t>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|+1   D.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不确定</a:t>
            </a:r>
            <a:endParaRPr kumimoji="0" lang="en-US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6.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已知一棵二叉树的前序遍历结果为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ABCDEF,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中序遍历结果为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CBAEDF,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则后序遍历的结果为（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）。</a:t>
            </a:r>
            <a:endParaRPr kumimoji="0" lang="zh-CN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A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CBEFDA        B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FEDCBA      </a:t>
            </a:r>
            <a:endParaRPr kumimoji="0" lang="en-US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C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CBEDFA       D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．不定</a:t>
            </a:r>
            <a:endParaRPr kumimoji="0" lang="zh-CN" altLang="en-US" sz="28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38100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/>
              <a:t>课堂讨论：</a:t>
            </a:r>
            <a:endParaRPr lang="zh-CN" altLang="en-US" sz="2800" b="1" dirty="0"/>
          </a:p>
        </p:txBody>
      </p:sp>
      <p:sp>
        <p:nvSpPr>
          <p:cNvPr id="239619" name="Text Box 3"/>
          <p:cNvSpPr txBox="1"/>
          <p:nvPr/>
        </p:nvSpPr>
        <p:spPr>
          <a:xfrm>
            <a:off x="228600" y="609600"/>
            <a:ext cx="85344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Q1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：满二叉树和完全二叉树有什么区别？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A1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：</a:t>
            </a:r>
            <a:r>
              <a:rPr lang="zh-CN" altLang="en-US" sz="2400" b="1" dirty="0">
                <a:latin typeface="楷体_GB2312"/>
                <a:ea typeface="楷体_GB2312"/>
              </a:rPr>
              <a:t>满二叉树是叶子一个也不少的树，而完全二叉树虽然前</a:t>
            </a:r>
            <a:r>
              <a:rPr lang="en-US" altLang="zh-CN" sz="2400" b="1" dirty="0">
                <a:latin typeface="楷体_GB2312"/>
                <a:ea typeface="楷体_GB2312"/>
              </a:rPr>
              <a:t>n-1</a:t>
            </a:r>
            <a:r>
              <a:rPr lang="zh-CN" altLang="en-US" sz="2400" b="1" dirty="0">
                <a:latin typeface="楷体_GB2312"/>
                <a:ea typeface="楷体_GB2312"/>
              </a:rPr>
              <a:t>层是满的，但最底层却允许在右边缺少连续若干个结点。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    </a:t>
            </a:r>
            <a:r>
              <a:rPr lang="zh-CN" altLang="en-US" sz="2400" b="1" dirty="0">
                <a:solidFill>
                  <a:schemeClr val="accent1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满二叉树是完全二叉树的一个特例。</a:t>
            </a:r>
            <a:endParaRPr lang="zh-CN" altLang="en-US" sz="2400" b="1" dirty="0">
              <a:solidFill>
                <a:schemeClr val="accent1"/>
              </a:solidFill>
              <a:highlight>
                <a:srgbClr val="FFFF00"/>
              </a:highlight>
              <a:latin typeface="楷体_GB2312"/>
              <a:ea typeface="楷体_GB2312"/>
            </a:endParaRPr>
          </a:p>
        </p:txBody>
      </p:sp>
      <p:sp>
        <p:nvSpPr>
          <p:cNvPr id="239620" name="Text Box 4"/>
          <p:cNvSpPr txBox="1"/>
          <p:nvPr/>
        </p:nvSpPr>
        <p:spPr>
          <a:xfrm>
            <a:off x="228600" y="3124200"/>
            <a:ext cx="85344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Q3:  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设一棵完全二叉树具有</a:t>
            </a: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1000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个结点，则它有</a:t>
            </a:r>
            <a:r>
              <a:rPr lang="zh-CN" altLang="en-US" sz="2400" b="1" u="sng" dirty="0">
                <a:solidFill>
                  <a:schemeClr val="tx2"/>
                </a:solidFill>
                <a:latin typeface="楷体_GB2312"/>
                <a:ea typeface="楷体_GB2312"/>
              </a:rPr>
              <a:t>       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个叶子结点，有</a:t>
            </a:r>
            <a:r>
              <a:rPr lang="zh-CN" altLang="en-US" sz="2400" b="1" u="sng" dirty="0">
                <a:solidFill>
                  <a:schemeClr val="tx2"/>
                </a:solidFill>
                <a:latin typeface="楷体_GB2312"/>
                <a:ea typeface="楷体_GB2312"/>
              </a:rPr>
              <a:t>     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个度为</a:t>
            </a: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的结点，有</a:t>
            </a:r>
            <a:r>
              <a:rPr lang="zh-CN" altLang="en-US" sz="2400" b="1" u="sng" dirty="0">
                <a:solidFill>
                  <a:schemeClr val="tx2"/>
                </a:solidFill>
                <a:latin typeface="楷体_GB2312"/>
                <a:ea typeface="楷体_GB2312"/>
              </a:rPr>
              <a:t>   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个结点只有非空左子树，有</a:t>
            </a:r>
            <a:r>
              <a:rPr lang="zh-CN" altLang="en-US" sz="2400" b="1" u="sng" dirty="0">
                <a:solidFill>
                  <a:schemeClr val="tx2"/>
                </a:solidFill>
                <a:latin typeface="楷体_GB2312"/>
                <a:ea typeface="楷体_GB2312"/>
              </a:rPr>
              <a:t>         </a:t>
            </a:r>
            <a:br>
              <a:rPr lang="en-US" altLang="zh-CN" sz="2400" b="1" u="sng" dirty="0">
                <a:solidFill>
                  <a:schemeClr val="tx2"/>
                </a:solidFill>
                <a:latin typeface="楷体_GB2312"/>
                <a:ea typeface="楷体_GB2312"/>
              </a:rPr>
            </a:br>
            <a:r>
              <a:rPr lang="en-US" altLang="zh-CN" sz="2400" b="1" u="sng" dirty="0">
                <a:solidFill>
                  <a:schemeClr val="tx2"/>
                </a:solidFill>
                <a:latin typeface="楷体_GB2312"/>
                <a:ea typeface="楷体_GB2312"/>
              </a:rPr>
              <a:t>      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个结点只有非空右子树。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39621" name="Rectangle 5"/>
          <p:cNvSpPr/>
          <p:nvPr/>
        </p:nvSpPr>
        <p:spPr>
          <a:xfrm>
            <a:off x="7086600" y="31242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489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39622" name="Rectangle 6"/>
          <p:cNvSpPr/>
          <p:nvPr/>
        </p:nvSpPr>
        <p:spPr>
          <a:xfrm>
            <a:off x="1476375" y="35052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488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39623" name="Rectangle 7"/>
          <p:cNvSpPr/>
          <p:nvPr/>
        </p:nvSpPr>
        <p:spPr>
          <a:xfrm>
            <a:off x="4572000" y="350043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1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39624" name="Rectangle 8"/>
          <p:cNvSpPr/>
          <p:nvPr/>
        </p:nvSpPr>
        <p:spPr>
          <a:xfrm>
            <a:off x="395288" y="3860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0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39625" name="AutoShape 9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9626" name="Rectangle 10"/>
          <p:cNvSpPr/>
          <p:nvPr/>
        </p:nvSpPr>
        <p:spPr>
          <a:xfrm>
            <a:off x="228600" y="2209800"/>
            <a:ext cx="8229600" cy="858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Q2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：为什么要研究满二叉树和完全二叉树这两种特殊形式？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A1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：</a:t>
            </a:r>
            <a:r>
              <a:rPr lang="zh-CN" altLang="en-US" sz="2400" b="1" dirty="0">
                <a:latin typeface="楷体_GB2312"/>
                <a:ea typeface="楷体_GB2312"/>
              </a:rPr>
              <a:t>因为只有这两种形式可以实现顺序存储！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39627" name="Rectangle 11"/>
          <p:cNvSpPr/>
          <p:nvPr/>
        </p:nvSpPr>
        <p:spPr>
          <a:xfrm>
            <a:off x="304800" y="5638800"/>
            <a:ext cx="74676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latin typeface="仿宋_GB2312"/>
                <a:ea typeface="仿宋_GB2312"/>
              </a:rPr>
              <a:t>由于最后一层叶子数为</a:t>
            </a:r>
            <a:r>
              <a:rPr lang="en-US" altLang="zh-CN" sz="2000" b="1" dirty="0">
                <a:latin typeface="仿宋_GB2312"/>
                <a:ea typeface="仿宋_GB2312"/>
              </a:rPr>
              <a:t>489</a:t>
            </a:r>
            <a:r>
              <a:rPr lang="zh-CN" altLang="en-US" sz="2000" b="1" dirty="0">
                <a:latin typeface="仿宋_GB2312"/>
                <a:ea typeface="仿宋_GB2312"/>
              </a:rPr>
              <a:t>个，是</a:t>
            </a:r>
            <a:r>
              <a:rPr lang="zh-CN" altLang="en-US" sz="2000" b="1" dirty="0">
                <a:solidFill>
                  <a:schemeClr val="hlink"/>
                </a:solidFill>
                <a:latin typeface="仿宋_GB2312"/>
                <a:ea typeface="仿宋_GB2312"/>
              </a:rPr>
              <a:t>奇数</a:t>
            </a:r>
            <a:r>
              <a:rPr lang="zh-CN" altLang="en-US" sz="2000" b="1" dirty="0">
                <a:latin typeface="仿宋_GB2312"/>
                <a:ea typeface="仿宋_GB2312"/>
              </a:rPr>
              <a:t>，说明有</a:t>
            </a:r>
            <a:r>
              <a:rPr lang="en-US" altLang="zh-CN" sz="2000" b="1" dirty="0">
                <a:latin typeface="仿宋_GB2312"/>
                <a:ea typeface="仿宋_GB2312"/>
              </a:rPr>
              <a:t>1</a:t>
            </a:r>
            <a:r>
              <a:rPr lang="zh-CN" altLang="en-US" sz="2000" b="1" dirty="0">
                <a:latin typeface="仿宋_GB2312"/>
                <a:ea typeface="仿宋_GB2312"/>
              </a:rPr>
              <a:t>个结点只有非空左子树；而完全二叉树中不可能出现非空右子树</a:t>
            </a:r>
            <a:r>
              <a:rPr lang="en-US" altLang="zh-CN" sz="2000" b="1" dirty="0">
                <a:latin typeface="仿宋_GB2312"/>
                <a:ea typeface="仿宋_GB2312"/>
              </a:rPr>
              <a:t>(0</a:t>
            </a:r>
            <a:r>
              <a:rPr lang="zh-CN" altLang="en-US" sz="2000" b="1" dirty="0">
                <a:latin typeface="仿宋_GB2312"/>
                <a:ea typeface="仿宋_GB2312"/>
              </a:rPr>
              <a:t>个</a:t>
            </a:r>
            <a:r>
              <a:rPr lang="en-US" altLang="zh-CN" sz="2000" b="1" dirty="0">
                <a:latin typeface="仿宋_GB2312"/>
                <a:ea typeface="仿宋_GB2312"/>
              </a:rPr>
              <a:t>)</a:t>
            </a:r>
            <a:r>
              <a:rPr lang="zh-CN" altLang="en-US" sz="2000" b="1" dirty="0">
                <a:latin typeface="仿宋_GB2312"/>
                <a:ea typeface="仿宋_GB2312"/>
              </a:rPr>
              <a:t>。</a:t>
            </a:r>
            <a:endParaRPr lang="zh-CN" altLang="en-US" sz="2000" b="1" dirty="0">
              <a:latin typeface="仿宋_GB2312"/>
              <a:ea typeface="仿宋_GB2312"/>
            </a:endParaRPr>
          </a:p>
        </p:txBody>
      </p:sp>
      <p:sp>
        <p:nvSpPr>
          <p:cNvPr id="239628" name="Rectangle 12"/>
          <p:cNvSpPr/>
          <p:nvPr/>
        </p:nvSpPr>
        <p:spPr>
          <a:xfrm>
            <a:off x="228600" y="4419600"/>
            <a:ext cx="8382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A3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：</a:t>
            </a:r>
            <a:r>
              <a:rPr lang="zh-CN" altLang="en-US" sz="2400" b="1" dirty="0">
                <a:latin typeface="仿宋_GB2312"/>
                <a:ea typeface="仿宋_GB2312"/>
              </a:rPr>
              <a:t>易求出总层数和末层叶子数。总层数</a:t>
            </a:r>
            <a:r>
              <a:rPr lang="en-US" altLang="zh-CN" sz="2400" b="1" dirty="0">
                <a:latin typeface="仿宋_GB2312"/>
                <a:ea typeface="仿宋_GB2312"/>
              </a:rPr>
              <a:t>k=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log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n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＋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仿宋_GB2312"/>
                <a:ea typeface="仿宋_GB2312"/>
              </a:rPr>
              <a:t> =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10</a:t>
            </a:r>
            <a:r>
              <a:rPr lang="en-US" altLang="zh-CN" sz="2400" b="1" dirty="0">
                <a:latin typeface="仿宋_GB2312"/>
                <a:ea typeface="仿宋_GB2312"/>
              </a:rPr>
              <a:t>;</a:t>
            </a:r>
            <a:endParaRPr lang="en-US" altLang="zh-CN" sz="2400" b="1" dirty="0"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且前</a:t>
            </a:r>
            <a:r>
              <a:rPr lang="en-US" altLang="zh-CN" sz="2400" b="1" dirty="0">
                <a:latin typeface="仿宋_GB2312"/>
                <a:ea typeface="仿宋_GB2312"/>
              </a:rPr>
              <a:t>9</a:t>
            </a:r>
            <a:r>
              <a:rPr lang="zh-CN" altLang="en-US" sz="2400" b="1" dirty="0">
                <a:latin typeface="仿宋_GB2312"/>
                <a:ea typeface="仿宋_GB2312"/>
              </a:rPr>
              <a:t>层总结点数为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en-US" altLang="zh-CN" sz="2400" b="1" baseline="30000" dirty="0">
                <a:latin typeface="仿宋_GB2312"/>
                <a:ea typeface="仿宋_GB2312"/>
              </a:rPr>
              <a:t>9</a:t>
            </a:r>
            <a:r>
              <a:rPr lang="en-US" altLang="zh-CN" sz="2400" b="1" dirty="0">
                <a:latin typeface="仿宋_GB2312"/>
                <a:ea typeface="仿宋_GB2312"/>
              </a:rPr>
              <a:t>-1=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511</a:t>
            </a:r>
            <a:r>
              <a:rPr lang="en-US" altLang="zh-CN" sz="2400" b="1" dirty="0">
                <a:latin typeface="仿宋_GB2312"/>
                <a:ea typeface="仿宋_GB231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(</a:t>
            </a:r>
            <a:r>
              <a:rPr lang="zh-CN" altLang="en-US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完全二叉树的前</a:t>
            </a:r>
            <a:r>
              <a:rPr lang="en-US" altLang="zh-CN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k-1</a:t>
            </a:r>
            <a:r>
              <a:rPr lang="zh-CN" altLang="en-US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层肯定是满的</a:t>
            </a:r>
            <a:r>
              <a:rPr lang="en-US" altLang="zh-CN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所以末层叶子数为</a:t>
            </a:r>
            <a:r>
              <a:rPr lang="en-US" altLang="zh-CN" sz="2400" b="1" dirty="0">
                <a:latin typeface="仿宋_GB2312"/>
                <a:ea typeface="仿宋_GB2312"/>
              </a:rPr>
              <a:t>1000-511=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489</a:t>
            </a:r>
            <a:r>
              <a:rPr lang="zh-CN" altLang="en-US" sz="2400" b="1" dirty="0">
                <a:latin typeface="仿宋_GB2312"/>
                <a:ea typeface="仿宋_GB2312"/>
              </a:rPr>
              <a:t>个。</a:t>
            </a:r>
            <a:endParaRPr lang="zh-CN" altLang="en-US" sz="2400" b="1" dirty="0">
              <a:latin typeface="仿宋_GB2312"/>
              <a:ea typeface="仿宋_GB2312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1619250" y="3500438"/>
            <a:ext cx="381000" cy="457200"/>
            <a:chOff x="4704" y="336"/>
            <a:chExt cx="240" cy="288"/>
          </a:xfrm>
        </p:grpSpPr>
        <p:sp>
          <p:nvSpPr>
            <p:cNvPr id="29714" name="Line 14"/>
            <p:cNvSpPr/>
            <p:nvPr/>
          </p:nvSpPr>
          <p:spPr>
            <a:xfrm>
              <a:off x="4704" y="336"/>
              <a:ext cx="240" cy="288"/>
            </a:xfrm>
            <a:prstGeom prst="line">
              <a:avLst/>
            </a:prstGeom>
            <a:ln w="349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5" name="Line 15"/>
            <p:cNvSpPr/>
            <p:nvPr/>
          </p:nvSpPr>
          <p:spPr>
            <a:xfrm flipH="1">
              <a:off x="4704" y="336"/>
              <a:ext cx="240" cy="288"/>
            </a:xfrm>
            <a:prstGeom prst="line">
              <a:avLst/>
            </a:prstGeom>
            <a:ln w="349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6"/>
          <p:cNvGrpSpPr/>
          <p:nvPr/>
        </p:nvGrpSpPr>
        <p:grpSpPr>
          <a:xfrm>
            <a:off x="7092950" y="3141663"/>
            <a:ext cx="381000" cy="457200"/>
            <a:chOff x="4704" y="336"/>
            <a:chExt cx="240" cy="288"/>
          </a:xfrm>
        </p:grpSpPr>
        <p:sp>
          <p:nvSpPr>
            <p:cNvPr id="29712" name="Line 17"/>
            <p:cNvSpPr/>
            <p:nvPr/>
          </p:nvSpPr>
          <p:spPr>
            <a:xfrm>
              <a:off x="4704" y="336"/>
              <a:ext cx="240" cy="288"/>
            </a:xfrm>
            <a:prstGeom prst="line">
              <a:avLst/>
            </a:prstGeom>
            <a:ln w="349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13" name="Line 18"/>
            <p:cNvSpPr/>
            <p:nvPr/>
          </p:nvSpPr>
          <p:spPr>
            <a:xfrm flipH="1">
              <a:off x="4704" y="336"/>
              <a:ext cx="240" cy="288"/>
            </a:xfrm>
            <a:prstGeom prst="line">
              <a:avLst/>
            </a:prstGeom>
            <a:ln w="349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3961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20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39619">
                                            <p:txEl>
                                              <p:charRg st="20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76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39619">
                                            <p:txEl>
                                              <p:charRg st="76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3962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>
                                            <p:txEl>
                                              <p:charRg st="28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39626">
                                            <p:txEl>
                                              <p:charRg st="28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9628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9628">
                                            <p:txEl>
                                              <p:charRg st="3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9628">
                                            <p:txEl>
                                              <p:charRg st="73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/>
      <p:bldP spid="239620" grpId="0"/>
      <p:bldP spid="239621" grpId="0"/>
      <p:bldP spid="239622" grpId="0"/>
      <p:bldP spid="239623" grpId="0"/>
      <p:bldP spid="239624" grpId="0"/>
      <p:bldP spid="239625" grpId="0" animBg="1"/>
      <p:bldP spid="239626" grpId="0" build="p"/>
      <p:bldP spid="239627" grpId="0"/>
      <p:bldP spid="23962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0642" name="Text Box 2"/>
          <p:cNvSpPr txBox="1"/>
          <p:nvPr/>
        </p:nvSpPr>
        <p:spPr>
          <a:xfrm>
            <a:off x="304800" y="228600"/>
            <a:ext cx="8534400" cy="187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10000"/>
              </a:spcBef>
              <a:buNone/>
            </a:pPr>
            <a:r>
              <a:rPr lang="zh-CN" altLang="en-US" sz="2800" b="1" dirty="0">
                <a:highlight>
                  <a:srgbClr val="FFFF00"/>
                </a:highlight>
                <a:latin typeface="楷体_GB2312"/>
                <a:ea typeface="楷体_GB2312"/>
              </a:rPr>
              <a:t>请注意叶子结点总数</a:t>
            </a:r>
            <a:r>
              <a:rPr lang="zh-CN" altLang="en-US" sz="2800" b="1" dirty="0">
                <a:solidFill>
                  <a:schemeClr val="hlink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≠</a:t>
            </a:r>
            <a:r>
              <a:rPr lang="zh-CN" altLang="en-US" sz="2800" b="1" dirty="0">
                <a:highlight>
                  <a:srgbClr val="FFFF00"/>
                </a:highlight>
                <a:latin typeface="楷体_GB2312"/>
                <a:ea typeface="楷体_GB2312"/>
              </a:rPr>
              <a:t>末层叶子数</a:t>
            </a:r>
            <a:r>
              <a:rPr lang="zh-CN" altLang="en-US" sz="2800" b="1" dirty="0">
                <a:solidFill>
                  <a:schemeClr val="hlink"/>
                </a:solidFill>
                <a:highlight>
                  <a:srgbClr val="FFFF00"/>
                </a:highlight>
                <a:latin typeface="楷体_GB2312"/>
                <a:ea typeface="楷体_GB2312"/>
              </a:rPr>
              <a:t>！</a:t>
            </a:r>
            <a:endParaRPr lang="zh-CN" altLang="en-US" sz="2800" b="1" dirty="0">
              <a:solidFill>
                <a:schemeClr val="hlink"/>
              </a:solidFill>
              <a:latin typeface="楷体_GB2312"/>
              <a:ea typeface="楷体_GB2312"/>
            </a:endParaRPr>
          </a:p>
          <a:p>
            <a:pPr marL="0" lvl="0" indent="0" algn="just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还应当加上第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k-1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层（靠右边）的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0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度结点个数。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仿宋_GB2312"/>
                <a:ea typeface="仿宋_GB2312"/>
              </a:rPr>
              <a:t>分析：</a:t>
            </a:r>
            <a:r>
              <a:rPr lang="zh-CN" altLang="en-US" sz="2400" b="1" dirty="0">
                <a:latin typeface="仿宋_GB2312"/>
                <a:ea typeface="仿宋_GB2312"/>
              </a:rPr>
              <a:t>末层的</a:t>
            </a:r>
            <a:r>
              <a:rPr lang="en-US" altLang="zh-CN" sz="2400" b="1" dirty="0">
                <a:latin typeface="仿宋_GB2312"/>
                <a:ea typeface="仿宋_GB2312"/>
              </a:rPr>
              <a:t>489</a:t>
            </a:r>
            <a:r>
              <a:rPr lang="zh-CN" altLang="en-US" sz="2400" b="1" dirty="0">
                <a:latin typeface="仿宋_GB2312"/>
                <a:ea typeface="仿宋_GB2312"/>
              </a:rPr>
              <a:t>个叶子只占据了上层的</a:t>
            </a:r>
            <a:r>
              <a:rPr lang="en-US" altLang="zh-CN" sz="2400" b="1" dirty="0">
                <a:latin typeface="仿宋_GB2312"/>
                <a:ea typeface="仿宋_GB2312"/>
              </a:rPr>
              <a:t>245</a:t>
            </a:r>
            <a:r>
              <a:rPr lang="zh-CN" altLang="en-US" sz="2400" b="1" dirty="0">
                <a:latin typeface="仿宋_GB2312"/>
                <a:ea typeface="仿宋_GB2312"/>
              </a:rPr>
              <a:t>个结点（</a:t>
            </a:r>
            <a:r>
              <a:rPr lang="zh-CN" altLang="en-US" sz="2400" b="1" dirty="0">
                <a:solidFill>
                  <a:schemeClr val="accent2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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489/2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 </a:t>
            </a:r>
            <a:r>
              <a:rPr lang="en-US" altLang="zh-CN" sz="2400" b="1" dirty="0">
                <a:latin typeface="仿宋_GB2312"/>
                <a:ea typeface="仿宋_GB2312"/>
                <a:sym typeface="Symbol" panose="05050102010706020507" pitchFamily="18" charset="2"/>
              </a:rPr>
              <a:t>)</a:t>
            </a:r>
            <a:endParaRPr lang="en-US" altLang="zh-CN" sz="2400" b="1" dirty="0"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上层（</a:t>
            </a:r>
            <a:r>
              <a:rPr lang="en-US" altLang="zh-CN" sz="2400" b="1" dirty="0">
                <a:latin typeface="仿宋_GB2312"/>
                <a:ea typeface="仿宋_GB2312"/>
              </a:rPr>
              <a:t>k=9)</a:t>
            </a:r>
            <a:r>
              <a:rPr lang="zh-CN" altLang="en-US" sz="2400" b="1" dirty="0">
                <a:latin typeface="仿宋_GB2312"/>
                <a:ea typeface="仿宋_GB2312"/>
              </a:rPr>
              <a:t>右边的</a:t>
            </a:r>
            <a:r>
              <a:rPr lang="en-US" altLang="zh-CN" sz="2400" b="1" dirty="0">
                <a:latin typeface="仿宋_GB2312"/>
                <a:ea typeface="仿宋_GB2312"/>
              </a:rPr>
              <a:t>0</a:t>
            </a:r>
            <a:r>
              <a:rPr lang="zh-CN" altLang="en-US" sz="2400" b="1" dirty="0">
                <a:latin typeface="仿宋_GB2312"/>
                <a:ea typeface="仿宋_GB2312"/>
              </a:rPr>
              <a:t>度结点数还有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en-US" altLang="zh-CN" sz="2400" b="1" baseline="30000" dirty="0">
                <a:latin typeface="仿宋_GB2312"/>
                <a:ea typeface="仿宋_GB2312"/>
              </a:rPr>
              <a:t>9-1</a:t>
            </a:r>
            <a:r>
              <a:rPr lang="en-US" altLang="zh-CN" sz="2400" b="1" dirty="0">
                <a:latin typeface="仿宋_GB2312"/>
                <a:ea typeface="仿宋_GB2312"/>
              </a:rPr>
              <a:t>-245=</a:t>
            </a:r>
            <a:r>
              <a:rPr lang="en-US" altLang="zh-CN" sz="2400" b="1" dirty="0">
                <a:solidFill>
                  <a:schemeClr val="hlink"/>
                </a:solidFill>
                <a:latin typeface="仿宋_GB2312"/>
                <a:ea typeface="仿宋_GB2312"/>
              </a:rPr>
              <a:t>11</a:t>
            </a:r>
            <a:r>
              <a:rPr lang="zh-CN" altLang="en-US" sz="2400" b="1" dirty="0">
                <a:latin typeface="仿宋_GB2312"/>
                <a:ea typeface="仿宋_GB2312"/>
              </a:rPr>
              <a:t>个！ </a:t>
            </a:r>
            <a:endParaRPr lang="zh-CN" altLang="en-US" sz="2400" b="1" dirty="0">
              <a:latin typeface="仿宋_GB2312"/>
              <a:ea typeface="仿宋_GB2312"/>
            </a:endParaRPr>
          </a:p>
        </p:txBody>
      </p:sp>
      <p:sp>
        <p:nvSpPr>
          <p:cNvPr id="240643" name="AutoShape 3">
            <a:hlinkClick r:id="rId1" action="ppaction://hlinksldjump"/>
          </p:cNvPr>
          <p:cNvSpPr/>
          <p:nvPr/>
        </p:nvSpPr>
        <p:spPr>
          <a:xfrm flipH="1"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40644" name="Rectangle 4"/>
          <p:cNvSpPr/>
          <p:nvPr/>
        </p:nvSpPr>
        <p:spPr>
          <a:xfrm>
            <a:off x="304800" y="3505200"/>
            <a:ext cx="853440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仿宋_GB2312"/>
                <a:ea typeface="仿宋_GB2312"/>
              </a:rPr>
              <a:t>另一法：</a:t>
            </a:r>
            <a:r>
              <a:rPr lang="zh-CN" altLang="en-US" sz="2400" b="1" dirty="0">
                <a:latin typeface="仿宋_GB2312"/>
                <a:ea typeface="仿宋_GB2312"/>
              </a:rPr>
              <a:t>可先求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zh-CN" altLang="en-US" sz="2400" b="1" dirty="0">
                <a:latin typeface="仿宋_GB2312"/>
                <a:ea typeface="仿宋_GB2312"/>
              </a:rPr>
              <a:t>度结点数</a:t>
            </a:r>
            <a:r>
              <a:rPr lang="en-US" altLang="zh-CN" sz="2400" b="1" dirty="0">
                <a:latin typeface="仿宋_GB2312"/>
                <a:ea typeface="仿宋_GB2312"/>
              </a:rPr>
              <a:t>,</a:t>
            </a:r>
            <a:r>
              <a:rPr lang="zh-CN" altLang="en-US" sz="2400" b="1" dirty="0">
                <a:latin typeface="仿宋_GB2312"/>
                <a:ea typeface="仿宋_GB2312"/>
              </a:rPr>
              <a:t>再由此得到叶子总数。</a:t>
            </a:r>
            <a:endParaRPr lang="zh-CN" altLang="en-US" sz="2400" b="1" dirty="0"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首先，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仿宋_GB2312"/>
              </a:rPr>
              <a:t>k-2</a:t>
            </a:r>
            <a:r>
              <a:rPr lang="zh-CN" altLang="en-US" sz="2400" b="1" dirty="0">
                <a:latin typeface="仿宋_GB2312"/>
                <a:ea typeface="仿宋_GB2312"/>
              </a:rPr>
              <a:t>层的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en-US" altLang="zh-CN" sz="2400" b="1" baseline="30000" dirty="0">
                <a:latin typeface="仿宋_GB2312"/>
                <a:ea typeface="仿宋_GB2312"/>
              </a:rPr>
              <a:t>8</a:t>
            </a:r>
            <a:r>
              <a:rPr lang="en-US" altLang="zh-CN" sz="2400" b="1" dirty="0">
                <a:latin typeface="仿宋_GB2312"/>
                <a:ea typeface="仿宋_GB2312"/>
              </a:rPr>
              <a:t>-1</a:t>
            </a:r>
            <a:r>
              <a:rPr lang="zh-CN" altLang="en-US" sz="2400" b="1" dirty="0">
                <a:latin typeface="仿宋_GB2312"/>
                <a:ea typeface="仿宋_GB2312"/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255</a:t>
            </a:r>
            <a:r>
              <a:rPr lang="zh-CN" altLang="en-US" sz="2400" b="1" dirty="0">
                <a:latin typeface="仿宋_GB2312"/>
                <a:ea typeface="仿宋_GB2312"/>
              </a:rPr>
              <a:t>）个结点肯定都是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zh-CN" altLang="en-US" sz="2400" b="1" dirty="0">
                <a:latin typeface="仿宋_GB2312"/>
                <a:ea typeface="仿宋_GB2312"/>
              </a:rPr>
              <a:t>度的</a:t>
            </a:r>
            <a:r>
              <a:rPr lang="zh-CN" altLang="en-US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（完全二叉）</a:t>
            </a:r>
            <a:endParaRPr lang="zh-CN" altLang="en-US" sz="2000" b="1" dirty="0">
              <a:solidFill>
                <a:schemeClr val="accent2"/>
              </a:solidFill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另外，末层叶子（刚才已求出为</a:t>
            </a:r>
            <a:r>
              <a:rPr lang="en-US" altLang="zh-CN" sz="2400" b="1" dirty="0">
                <a:latin typeface="仿宋_GB2312"/>
                <a:ea typeface="仿宋_GB2312"/>
              </a:rPr>
              <a:t>489</a:t>
            </a:r>
            <a:r>
              <a:rPr lang="zh-CN" altLang="en-US" sz="2400" b="1" dirty="0">
                <a:latin typeface="仿宋_GB2312"/>
                <a:ea typeface="仿宋_GB2312"/>
              </a:rPr>
              <a:t>）所对应的双亲也是度＝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zh-CN" altLang="en-US" sz="2400" b="1" dirty="0">
                <a:latin typeface="仿宋_GB2312"/>
                <a:ea typeface="仿宋_GB2312"/>
              </a:rPr>
              <a:t>， </a:t>
            </a:r>
            <a:r>
              <a:rPr lang="zh-CN" altLang="en-US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（共有</a:t>
            </a:r>
            <a:r>
              <a:rPr lang="zh-CN" altLang="en-US" sz="2400" b="1" dirty="0">
                <a:solidFill>
                  <a:schemeClr val="accent2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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489/2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</a:t>
            </a:r>
            <a:r>
              <a:rPr lang="zh-CN" altLang="en-US" sz="2400" b="1" dirty="0">
                <a:solidFill>
                  <a:schemeClr val="accent2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＝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244</a:t>
            </a:r>
            <a:r>
              <a:rPr lang="zh-CN" altLang="en-US" sz="2400" b="1" dirty="0">
                <a:solidFill>
                  <a:schemeClr val="accent2"/>
                </a:solidFill>
                <a:latin typeface="仿宋_GB2312"/>
                <a:ea typeface="仿宋_GB2312"/>
                <a:sym typeface="Symbol" panose="05050102010706020507" pitchFamily="18" charset="2"/>
              </a:rPr>
              <a:t>个）。</a:t>
            </a:r>
            <a:endParaRPr lang="zh-CN" altLang="en-US" sz="2400" b="1" dirty="0">
              <a:solidFill>
                <a:schemeClr val="accent2"/>
              </a:solidFill>
              <a:latin typeface="仿宋_GB2312"/>
              <a:ea typeface="仿宋_GB2312"/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所以，全部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zh-CN" altLang="en-US" sz="2400" b="1" dirty="0">
                <a:latin typeface="仿宋_GB2312"/>
                <a:ea typeface="仿宋_GB2312"/>
              </a:rPr>
              <a:t>度结点数为</a:t>
            </a:r>
            <a:r>
              <a:rPr lang="en-US" altLang="zh-CN" sz="2400" b="1" dirty="0">
                <a:latin typeface="仿宋_GB2312"/>
                <a:ea typeface="仿宋_GB2312"/>
              </a:rPr>
              <a:t>255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(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/>
              </a:rPr>
              <a:t>k-2</a:t>
            </a:r>
            <a:r>
              <a:rPr lang="zh-CN" altLang="en-US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层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)</a:t>
            </a:r>
            <a:r>
              <a:rPr lang="zh-CN" altLang="en-US" sz="2400" b="1" dirty="0">
                <a:latin typeface="仿宋_GB2312"/>
                <a:ea typeface="仿宋_GB2312"/>
              </a:rPr>
              <a:t>＋</a:t>
            </a:r>
            <a:r>
              <a:rPr lang="en-US" altLang="zh-CN" sz="2400" b="1" dirty="0">
                <a:latin typeface="仿宋_GB2312"/>
                <a:ea typeface="仿宋_GB2312"/>
              </a:rPr>
              <a:t>244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(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/>
              </a:rPr>
              <a:t>k-1</a:t>
            </a:r>
            <a:r>
              <a:rPr lang="zh-CN" altLang="en-US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层</a:t>
            </a:r>
            <a:r>
              <a:rPr lang="en-US" altLang="zh-CN" sz="2400" b="1" dirty="0">
                <a:solidFill>
                  <a:schemeClr val="accent2"/>
                </a:solidFill>
                <a:latin typeface="仿宋_GB2312"/>
                <a:ea typeface="仿宋_GB2312"/>
              </a:rPr>
              <a:t>)</a:t>
            </a:r>
            <a:r>
              <a:rPr lang="en-US" altLang="zh-CN" sz="2400" b="1" dirty="0">
                <a:latin typeface="仿宋_GB2312"/>
                <a:ea typeface="仿宋_GB2312"/>
              </a:rPr>
              <a:t>=</a:t>
            </a:r>
            <a:r>
              <a:rPr lang="en-US" altLang="zh-CN" sz="2400" b="1" dirty="0">
                <a:solidFill>
                  <a:schemeClr val="hlink"/>
                </a:solidFill>
                <a:latin typeface="仿宋_GB2312"/>
                <a:ea typeface="仿宋_GB2312"/>
              </a:rPr>
              <a:t>499</a:t>
            </a:r>
            <a:r>
              <a:rPr lang="zh-CN" altLang="en-US" sz="2400" b="1" dirty="0">
                <a:latin typeface="仿宋_GB2312"/>
                <a:ea typeface="仿宋_GB2312"/>
              </a:rPr>
              <a:t>个；</a:t>
            </a:r>
            <a:endParaRPr lang="zh-CN" altLang="en-US" sz="2400" b="1" dirty="0"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总叶子数＝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zh-CN" altLang="en-US" sz="2400" b="1" dirty="0">
                <a:latin typeface="仿宋_GB2312"/>
                <a:ea typeface="仿宋_GB2312"/>
              </a:rPr>
              <a:t>度结点数＋</a:t>
            </a:r>
            <a:r>
              <a:rPr lang="en-US" altLang="zh-CN" sz="2400" b="1" dirty="0">
                <a:latin typeface="仿宋_GB2312"/>
                <a:ea typeface="仿宋_GB2312"/>
              </a:rPr>
              <a:t>1=</a:t>
            </a:r>
            <a:r>
              <a:rPr lang="en-US" altLang="zh-CN" sz="2400" b="1" dirty="0">
                <a:solidFill>
                  <a:schemeClr val="hlink"/>
                </a:solidFill>
                <a:latin typeface="仿宋_GB2312"/>
                <a:ea typeface="仿宋_GB2312"/>
              </a:rPr>
              <a:t>500</a:t>
            </a:r>
            <a:r>
              <a:rPr lang="zh-CN" altLang="en-US" sz="2400" b="1" dirty="0">
                <a:latin typeface="仿宋_GB2312"/>
                <a:ea typeface="仿宋_GB2312"/>
              </a:rPr>
              <a:t>个。</a:t>
            </a:r>
            <a:endParaRPr lang="zh-CN" altLang="en-US" sz="2400" b="1" dirty="0">
              <a:latin typeface="仿宋_GB2312"/>
              <a:ea typeface="仿宋_GB2312"/>
            </a:endParaRPr>
          </a:p>
        </p:txBody>
      </p:sp>
      <p:sp>
        <p:nvSpPr>
          <p:cNvPr id="240645" name="AutoShape 5"/>
          <p:cNvSpPr/>
          <p:nvPr/>
        </p:nvSpPr>
        <p:spPr>
          <a:xfrm>
            <a:off x="6804025" y="2349500"/>
            <a:ext cx="1828800" cy="685800"/>
          </a:xfrm>
          <a:prstGeom prst="wedgeRoundRectCallout">
            <a:avLst>
              <a:gd name="adj1" fmla="val -126565"/>
              <a:gd name="adj2" fmla="val -9490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仿宋_GB2312"/>
                <a:ea typeface="仿宋_GB2312"/>
              </a:rPr>
              <a:t>第</a:t>
            </a:r>
            <a:r>
              <a:rPr lang="en-US" altLang="zh-CN" sz="2000" b="1" dirty="0">
                <a:solidFill>
                  <a:schemeClr val="bg1"/>
                </a:solidFill>
                <a:latin typeface="仿宋_GB2312"/>
                <a:ea typeface="仿宋_GB2312"/>
              </a:rPr>
              <a:t>i</a:t>
            </a:r>
            <a:r>
              <a:rPr lang="zh-CN" altLang="en-US" sz="2000" b="1" dirty="0">
                <a:solidFill>
                  <a:schemeClr val="bg1"/>
                </a:solidFill>
                <a:latin typeface="仿宋_GB2312"/>
                <a:ea typeface="仿宋_GB2312"/>
              </a:rPr>
              <a:t>层上的满结点数为</a:t>
            </a:r>
            <a:r>
              <a:rPr lang="en-US" altLang="zh-CN" sz="2000" b="1" dirty="0">
                <a:solidFill>
                  <a:schemeClr val="bg1"/>
                </a:solidFill>
                <a:latin typeface="仿宋_GB2312"/>
                <a:ea typeface="仿宋_GB2312"/>
              </a:rPr>
              <a:t>2</a:t>
            </a:r>
            <a:r>
              <a:rPr lang="en-US" altLang="zh-CN" sz="2000" b="1" baseline="30000" dirty="0">
                <a:solidFill>
                  <a:schemeClr val="bg1"/>
                </a:solidFill>
                <a:latin typeface="仿宋_GB2312"/>
                <a:ea typeface="仿宋_GB2312"/>
              </a:rPr>
              <a:t>i-1</a:t>
            </a:r>
            <a:endParaRPr lang="en-US" altLang="zh-CN" sz="2000" b="1" baseline="30000" dirty="0">
              <a:solidFill>
                <a:schemeClr val="bg1"/>
              </a:solidFill>
              <a:latin typeface="仿宋_GB2312"/>
              <a:ea typeface="仿宋_GB2312"/>
            </a:endParaRPr>
          </a:p>
        </p:txBody>
      </p:sp>
      <p:sp>
        <p:nvSpPr>
          <p:cNvPr id="240646" name="Rectangle 6"/>
          <p:cNvSpPr/>
          <p:nvPr/>
        </p:nvSpPr>
        <p:spPr>
          <a:xfrm>
            <a:off x="381000" y="2489200"/>
            <a:ext cx="7315200" cy="977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1000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所以，全部叶子数＝</a:t>
            </a:r>
            <a:r>
              <a:rPr lang="en-US" altLang="zh-CN" sz="2400" b="1" dirty="0">
                <a:solidFill>
                  <a:schemeClr val="hlink"/>
                </a:solidFill>
                <a:latin typeface="仿宋_GB2312"/>
                <a:ea typeface="仿宋_GB2312"/>
              </a:rPr>
              <a:t>489</a:t>
            </a:r>
            <a:r>
              <a:rPr lang="en-US" altLang="zh-CN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(</a:t>
            </a:r>
            <a:r>
              <a:rPr lang="zh-CN" altLang="en-US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末层</a:t>
            </a:r>
            <a:r>
              <a:rPr lang="en-US" altLang="zh-CN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)</a:t>
            </a:r>
            <a:r>
              <a:rPr lang="zh-CN" altLang="en-US" sz="2400" b="1" dirty="0">
                <a:latin typeface="仿宋_GB2312"/>
                <a:ea typeface="仿宋_GB2312"/>
              </a:rPr>
              <a:t>＋</a:t>
            </a:r>
            <a:r>
              <a:rPr lang="en-US" altLang="zh-CN" sz="2400" b="1" dirty="0">
                <a:solidFill>
                  <a:schemeClr val="hlink"/>
                </a:solidFill>
                <a:latin typeface="仿宋_GB2312"/>
                <a:ea typeface="仿宋_GB2312"/>
              </a:rPr>
              <a:t>11</a:t>
            </a:r>
            <a:r>
              <a:rPr lang="en-US" altLang="zh-CN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(k-1</a:t>
            </a:r>
            <a:r>
              <a:rPr lang="zh-CN" altLang="en-US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层</a:t>
            </a:r>
            <a:r>
              <a:rPr lang="en-US" altLang="zh-CN" sz="2000" b="1" dirty="0">
                <a:solidFill>
                  <a:schemeClr val="accent2"/>
                </a:solidFill>
                <a:latin typeface="仿宋_GB2312"/>
                <a:ea typeface="仿宋_GB2312"/>
              </a:rPr>
              <a:t>)</a:t>
            </a:r>
            <a:r>
              <a:rPr lang="en-US" altLang="zh-CN" sz="2400" b="1" dirty="0">
                <a:latin typeface="仿宋_GB2312"/>
                <a:ea typeface="仿宋_GB2312"/>
              </a:rPr>
              <a:t>=</a:t>
            </a:r>
            <a:r>
              <a:rPr lang="en-US" altLang="zh-CN" sz="2400" b="1" dirty="0">
                <a:solidFill>
                  <a:schemeClr val="hlink"/>
                </a:solidFill>
                <a:latin typeface="仿宋_GB2312"/>
                <a:ea typeface="仿宋_GB2312"/>
              </a:rPr>
              <a:t>500</a:t>
            </a:r>
            <a:r>
              <a:rPr lang="zh-CN" altLang="en-US" sz="2400" b="1" dirty="0">
                <a:latin typeface="仿宋_GB2312"/>
                <a:ea typeface="仿宋_GB2312"/>
              </a:rPr>
              <a:t>个。   </a:t>
            </a:r>
            <a:endParaRPr lang="zh-CN" altLang="en-US" sz="2400" b="1" dirty="0">
              <a:latin typeface="仿宋_GB2312"/>
              <a:ea typeface="仿宋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10000"/>
              </a:spcBef>
              <a:buNone/>
            </a:pPr>
            <a:r>
              <a:rPr lang="zh-CN" altLang="en-US" sz="2400" b="1" dirty="0">
                <a:latin typeface="仿宋_GB2312"/>
                <a:ea typeface="仿宋_GB2312"/>
              </a:rPr>
              <a:t>度为</a:t>
            </a:r>
            <a:r>
              <a:rPr lang="en-US" altLang="zh-CN" sz="2400" b="1" dirty="0">
                <a:latin typeface="仿宋_GB2312"/>
                <a:ea typeface="仿宋_GB2312"/>
              </a:rPr>
              <a:t>2</a:t>
            </a:r>
            <a:r>
              <a:rPr lang="zh-CN" altLang="en-US" sz="2400" b="1" dirty="0">
                <a:latin typeface="仿宋_GB2312"/>
                <a:ea typeface="仿宋_GB2312"/>
              </a:rPr>
              <a:t>的结点＝</a:t>
            </a:r>
            <a:r>
              <a:rPr lang="zh-CN" altLang="en-US" sz="2400" b="1" dirty="0">
                <a:solidFill>
                  <a:schemeClr val="hlink"/>
                </a:solidFill>
                <a:latin typeface="仿宋_GB2312"/>
                <a:ea typeface="仿宋_GB2312"/>
              </a:rPr>
              <a:t>叶子总数－</a:t>
            </a:r>
            <a:r>
              <a:rPr lang="en-US" altLang="zh-CN" sz="2400" b="1" dirty="0">
                <a:solidFill>
                  <a:schemeClr val="hlink"/>
                </a:solidFill>
                <a:latin typeface="仿宋_GB2312"/>
                <a:ea typeface="仿宋_GB2312"/>
              </a:rPr>
              <a:t>1</a:t>
            </a:r>
            <a:r>
              <a:rPr lang="en-US" altLang="zh-CN" sz="2400" b="1" dirty="0">
                <a:latin typeface="仿宋_GB2312"/>
                <a:ea typeface="仿宋_GB2312"/>
              </a:rPr>
              <a:t>=</a:t>
            </a:r>
            <a:r>
              <a:rPr lang="en-US" altLang="zh-CN" sz="2400" b="1" dirty="0">
                <a:solidFill>
                  <a:schemeClr val="hlink"/>
                </a:solidFill>
                <a:latin typeface="仿宋_GB2312"/>
                <a:ea typeface="仿宋_GB2312"/>
              </a:rPr>
              <a:t>499</a:t>
            </a:r>
            <a:r>
              <a:rPr lang="zh-CN" altLang="en-US" sz="2400" b="1" dirty="0">
                <a:latin typeface="仿宋_GB2312"/>
                <a:ea typeface="仿宋_GB2312"/>
              </a:rPr>
              <a:t>个。</a:t>
            </a:r>
            <a:endParaRPr lang="zh-CN" altLang="en-US" sz="2400" b="1" dirty="0">
              <a:latin typeface="仿宋_GB2312"/>
              <a:ea typeface="仿宋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064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>
                                            <p:txEl>
                                              <p:charRg st="17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40642">
                                            <p:txEl>
                                              <p:charRg st="17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>
                                            <p:txEl>
                                              <p:charRg st="41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40642">
                                            <p:txEl>
                                              <p:charRg st="41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>
                                            <p:txEl>
                                              <p:charRg st="77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40642">
                                            <p:txEl>
                                              <p:charRg st="77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0646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0646">
                                            <p:txEl>
                                              <p:charRg st="3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4064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>
                                            <p:txEl>
                                              <p:charRg st="24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40644">
                                            <p:txEl>
                                              <p:charRg st="24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>
                                            <p:txEl>
                                              <p:charRg st="58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240644">
                                            <p:txEl>
                                              <p:charRg st="58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>
                                            <p:txEl>
                                              <p:charRg st="107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40644">
                                            <p:txEl>
                                              <p:charRg st="107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>
                                            <p:txEl>
                                              <p:charRg st="144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40644">
                                            <p:txEl>
                                              <p:charRg st="144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2" grpId="0" build="p"/>
      <p:bldP spid="240643" grpId="0" animBg="1"/>
      <p:bldP spid="240644" grpId="0" build="p"/>
      <p:bldP spid="240645" grpId="0" animBg="1"/>
      <p:bldP spid="24064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76200" y="76200"/>
            <a:ext cx="38100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二叉树的存储结构</a:t>
            </a:r>
            <a:endParaRPr lang="zh-CN" altLang="en-US" sz="28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2358" name="Rectangle 86"/>
          <p:cNvSpPr/>
          <p:nvPr/>
        </p:nvSpPr>
        <p:spPr>
          <a:xfrm>
            <a:off x="228600" y="838200"/>
            <a:ext cx="3657600" cy="1828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一、顺序存储结构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按二叉树的结点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“</a:t>
            </a:r>
            <a:r>
              <a:rPr lang="zh-CN" altLang="en-US" sz="2400" b="1" dirty="0">
                <a:latin typeface="楷体_GB2312"/>
                <a:ea typeface="楷体_GB2312"/>
              </a:rPr>
              <a:t>自上而下、从左至右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”</a:t>
            </a:r>
            <a:r>
              <a:rPr lang="zh-CN" altLang="en-US" sz="2400" b="1" dirty="0">
                <a:latin typeface="楷体_GB2312"/>
                <a:ea typeface="楷体_GB2312"/>
              </a:rPr>
              <a:t>编号，用一组连续的存储单元存储。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182363" name="Rectangle 91"/>
          <p:cNvSpPr>
            <a:spLocks noChangeArrowheads="1"/>
          </p:cNvSpPr>
          <p:nvPr/>
        </p:nvSpPr>
        <p:spPr bwMode="auto">
          <a:xfrm>
            <a:off x="8391525" y="381000"/>
            <a:ext cx="404813" cy="3706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A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B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C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D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E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F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G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H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I</a:t>
            </a:r>
            <a:endParaRPr kumimoji="1" lang="en-US" altLang="zh-TW" sz="2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</p:txBody>
      </p:sp>
      <p:grpSp>
        <p:nvGrpSpPr>
          <p:cNvPr id="2" name="Group 173"/>
          <p:cNvGrpSpPr/>
          <p:nvPr/>
        </p:nvGrpSpPr>
        <p:grpSpPr>
          <a:xfrm>
            <a:off x="7546975" y="381000"/>
            <a:ext cx="1520825" cy="3706813"/>
            <a:chOff x="3596" y="1793"/>
            <a:chExt cx="958" cy="2335"/>
          </a:xfrm>
        </p:grpSpPr>
        <p:sp>
          <p:nvSpPr>
            <p:cNvPr id="31791" name="Rectangle 89"/>
            <p:cNvSpPr/>
            <p:nvPr/>
          </p:nvSpPr>
          <p:spPr>
            <a:xfrm>
              <a:off x="3992" y="1861"/>
              <a:ext cx="539" cy="2220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792" name="Rectangle 90"/>
            <p:cNvSpPr/>
            <p:nvPr/>
          </p:nvSpPr>
          <p:spPr>
            <a:xfrm>
              <a:off x="3596" y="1793"/>
              <a:ext cx="340" cy="23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[1]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[2]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[3]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[4]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[5]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[6]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[7]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[8]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PMingLiU" pitchFamily="18" charset="-120"/>
                </a:rPr>
                <a:t>[9]</a:t>
              </a:r>
              <a:endParaRPr lang="zh-TW" altLang="en-US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1793" name="Line 92"/>
            <p:cNvSpPr/>
            <p:nvPr/>
          </p:nvSpPr>
          <p:spPr>
            <a:xfrm>
              <a:off x="4008" y="2072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94" name="Line 93"/>
            <p:cNvSpPr/>
            <p:nvPr/>
          </p:nvSpPr>
          <p:spPr>
            <a:xfrm>
              <a:off x="4008" y="2329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95" name="Line 94"/>
            <p:cNvSpPr/>
            <p:nvPr/>
          </p:nvSpPr>
          <p:spPr>
            <a:xfrm>
              <a:off x="3979" y="2565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96" name="Line 95"/>
            <p:cNvSpPr/>
            <p:nvPr/>
          </p:nvSpPr>
          <p:spPr>
            <a:xfrm>
              <a:off x="3998" y="2832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97" name="Line 96"/>
            <p:cNvSpPr/>
            <p:nvPr/>
          </p:nvSpPr>
          <p:spPr>
            <a:xfrm>
              <a:off x="4008" y="3080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98" name="Line 97"/>
            <p:cNvSpPr/>
            <p:nvPr/>
          </p:nvSpPr>
          <p:spPr>
            <a:xfrm>
              <a:off x="3999" y="3335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99" name="Line 98"/>
            <p:cNvSpPr/>
            <p:nvPr/>
          </p:nvSpPr>
          <p:spPr>
            <a:xfrm>
              <a:off x="3998" y="3571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800" name="Line 99"/>
            <p:cNvSpPr/>
            <p:nvPr/>
          </p:nvSpPr>
          <p:spPr>
            <a:xfrm>
              <a:off x="3988" y="3826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801" name="Line 100"/>
            <p:cNvSpPr/>
            <p:nvPr/>
          </p:nvSpPr>
          <p:spPr>
            <a:xfrm>
              <a:off x="3998" y="4072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" name="Group 137"/>
          <p:cNvGrpSpPr/>
          <p:nvPr/>
        </p:nvGrpSpPr>
        <p:grpSpPr>
          <a:xfrm>
            <a:off x="3794125" y="706438"/>
            <a:ext cx="3063875" cy="2798762"/>
            <a:chOff x="2645" y="1753"/>
            <a:chExt cx="2537" cy="2634"/>
          </a:xfrm>
        </p:grpSpPr>
        <p:grpSp>
          <p:nvGrpSpPr>
            <p:cNvPr id="31756" name="Group 138"/>
            <p:cNvGrpSpPr/>
            <p:nvPr/>
          </p:nvGrpSpPr>
          <p:grpSpPr>
            <a:xfrm>
              <a:off x="3899" y="1753"/>
              <a:ext cx="374" cy="427"/>
              <a:chOff x="4229" y="1348"/>
              <a:chExt cx="374" cy="427"/>
            </a:xfrm>
          </p:grpSpPr>
          <p:sp>
            <p:nvSpPr>
              <p:cNvPr id="31789" name="Oval 139"/>
              <p:cNvSpPr/>
              <p:nvPr/>
            </p:nvSpPr>
            <p:spPr>
              <a:xfrm>
                <a:off x="4229" y="134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12" name="Rectangle 140"/>
              <p:cNvSpPr>
                <a:spLocks noChangeArrowheads="1"/>
              </p:cNvSpPr>
              <p:nvPr/>
            </p:nvSpPr>
            <p:spPr bwMode="auto">
              <a:xfrm>
                <a:off x="4297" y="1402"/>
                <a:ext cx="291" cy="3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A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31757" name="Group 141"/>
            <p:cNvGrpSpPr/>
            <p:nvPr/>
          </p:nvGrpSpPr>
          <p:grpSpPr>
            <a:xfrm>
              <a:off x="3288" y="2472"/>
              <a:ext cx="362" cy="426"/>
              <a:chOff x="3618" y="2067"/>
              <a:chExt cx="362" cy="426"/>
            </a:xfrm>
          </p:grpSpPr>
          <p:sp>
            <p:nvSpPr>
              <p:cNvPr id="31787" name="Oval 142"/>
              <p:cNvSpPr/>
              <p:nvPr/>
            </p:nvSpPr>
            <p:spPr>
              <a:xfrm>
                <a:off x="3618" y="2067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15" name="Rectangle 143"/>
              <p:cNvSpPr>
                <a:spLocks noChangeArrowheads="1"/>
              </p:cNvSpPr>
              <p:nvPr/>
            </p:nvSpPr>
            <p:spPr bwMode="auto">
              <a:xfrm>
                <a:off x="3687" y="2119"/>
                <a:ext cx="293" cy="37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B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sp>
          <p:nvSpPr>
            <p:cNvPr id="31758" name="Line 144"/>
            <p:cNvSpPr/>
            <p:nvPr/>
          </p:nvSpPr>
          <p:spPr>
            <a:xfrm flipH="1">
              <a:off x="3476" y="2062"/>
              <a:ext cx="482" cy="40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1759" name="Group 145"/>
            <p:cNvGrpSpPr/>
            <p:nvPr/>
          </p:nvGrpSpPr>
          <p:grpSpPr>
            <a:xfrm>
              <a:off x="4479" y="2493"/>
              <a:ext cx="374" cy="425"/>
              <a:chOff x="4809" y="2088"/>
              <a:chExt cx="374" cy="425"/>
            </a:xfrm>
          </p:grpSpPr>
          <p:sp>
            <p:nvSpPr>
              <p:cNvPr id="31785" name="Oval 146"/>
              <p:cNvSpPr/>
              <p:nvPr/>
            </p:nvSpPr>
            <p:spPr>
              <a:xfrm>
                <a:off x="4809" y="208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19" name="Rectangle 147"/>
              <p:cNvSpPr>
                <a:spLocks noChangeArrowheads="1"/>
              </p:cNvSpPr>
              <p:nvPr/>
            </p:nvSpPr>
            <p:spPr bwMode="auto">
              <a:xfrm>
                <a:off x="4878" y="2140"/>
                <a:ext cx="305" cy="3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C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31760" name="Group 148"/>
            <p:cNvGrpSpPr/>
            <p:nvPr/>
          </p:nvGrpSpPr>
          <p:grpSpPr>
            <a:xfrm>
              <a:off x="4800" y="3169"/>
              <a:ext cx="382" cy="425"/>
              <a:chOff x="5130" y="2764"/>
              <a:chExt cx="382" cy="425"/>
            </a:xfrm>
          </p:grpSpPr>
          <p:sp>
            <p:nvSpPr>
              <p:cNvPr id="31783" name="Oval 149"/>
              <p:cNvSpPr/>
              <p:nvPr/>
            </p:nvSpPr>
            <p:spPr>
              <a:xfrm>
                <a:off x="5130" y="276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22" name="Rectangle 150"/>
              <p:cNvSpPr>
                <a:spLocks noChangeArrowheads="1"/>
              </p:cNvSpPr>
              <p:nvPr/>
            </p:nvSpPr>
            <p:spPr bwMode="auto">
              <a:xfrm>
                <a:off x="5195" y="2815"/>
                <a:ext cx="317" cy="37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G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sp>
          <p:nvSpPr>
            <p:cNvPr id="31761" name="Line 151"/>
            <p:cNvSpPr/>
            <p:nvPr/>
          </p:nvSpPr>
          <p:spPr>
            <a:xfrm>
              <a:off x="4763" y="2845"/>
              <a:ext cx="181" cy="31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1762" name="Group 152"/>
            <p:cNvGrpSpPr/>
            <p:nvPr/>
          </p:nvGrpSpPr>
          <p:grpSpPr>
            <a:xfrm>
              <a:off x="3621" y="3200"/>
              <a:ext cx="361" cy="424"/>
              <a:chOff x="3951" y="2795"/>
              <a:chExt cx="361" cy="424"/>
            </a:xfrm>
          </p:grpSpPr>
          <p:sp>
            <p:nvSpPr>
              <p:cNvPr id="31781" name="Oval 153"/>
              <p:cNvSpPr/>
              <p:nvPr/>
            </p:nvSpPr>
            <p:spPr>
              <a:xfrm>
                <a:off x="3951" y="2795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26" name="Rectangle 154"/>
              <p:cNvSpPr>
                <a:spLocks noChangeArrowheads="1"/>
              </p:cNvSpPr>
              <p:nvPr/>
            </p:nvSpPr>
            <p:spPr bwMode="auto">
              <a:xfrm>
                <a:off x="4019" y="2845"/>
                <a:ext cx="293" cy="37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E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31763" name="Group 155"/>
            <p:cNvGrpSpPr/>
            <p:nvPr/>
          </p:nvGrpSpPr>
          <p:grpSpPr>
            <a:xfrm>
              <a:off x="3332" y="3961"/>
              <a:ext cx="360" cy="426"/>
              <a:chOff x="3662" y="3556"/>
              <a:chExt cx="360" cy="426"/>
            </a:xfrm>
          </p:grpSpPr>
          <p:sp>
            <p:nvSpPr>
              <p:cNvPr id="31779" name="Oval 156"/>
              <p:cNvSpPr/>
              <p:nvPr/>
            </p:nvSpPr>
            <p:spPr>
              <a:xfrm>
                <a:off x="3662" y="355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29" name="Rectangle 157"/>
              <p:cNvSpPr>
                <a:spLocks noChangeArrowheads="1"/>
              </p:cNvSpPr>
              <p:nvPr/>
            </p:nvSpPr>
            <p:spPr bwMode="auto">
              <a:xfrm>
                <a:off x="3731" y="3608"/>
                <a:ext cx="233" cy="37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I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sp>
          <p:nvSpPr>
            <p:cNvPr id="31764" name="Line 158"/>
            <p:cNvSpPr/>
            <p:nvPr/>
          </p:nvSpPr>
          <p:spPr>
            <a:xfrm>
              <a:off x="3241" y="3572"/>
              <a:ext cx="267" cy="3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1765" name="Group 159"/>
            <p:cNvGrpSpPr/>
            <p:nvPr/>
          </p:nvGrpSpPr>
          <p:grpSpPr>
            <a:xfrm>
              <a:off x="2998" y="3189"/>
              <a:ext cx="371" cy="425"/>
              <a:chOff x="3328" y="2784"/>
              <a:chExt cx="371" cy="425"/>
            </a:xfrm>
          </p:grpSpPr>
          <p:sp>
            <p:nvSpPr>
              <p:cNvPr id="31777" name="Oval 160"/>
              <p:cNvSpPr/>
              <p:nvPr/>
            </p:nvSpPr>
            <p:spPr>
              <a:xfrm>
                <a:off x="3328" y="278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33" name="Rectangle 161"/>
              <p:cNvSpPr>
                <a:spLocks noChangeArrowheads="1"/>
              </p:cNvSpPr>
              <p:nvPr/>
            </p:nvSpPr>
            <p:spPr bwMode="auto">
              <a:xfrm>
                <a:off x="3394" y="2836"/>
                <a:ext cx="305" cy="3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D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31766" name="Group 162"/>
            <p:cNvGrpSpPr/>
            <p:nvPr/>
          </p:nvGrpSpPr>
          <p:grpSpPr>
            <a:xfrm>
              <a:off x="2645" y="3938"/>
              <a:ext cx="384" cy="427"/>
              <a:chOff x="2975" y="3533"/>
              <a:chExt cx="384" cy="427"/>
            </a:xfrm>
          </p:grpSpPr>
          <p:sp>
            <p:nvSpPr>
              <p:cNvPr id="31775" name="Oval 163"/>
              <p:cNvSpPr/>
              <p:nvPr/>
            </p:nvSpPr>
            <p:spPr>
              <a:xfrm>
                <a:off x="2975" y="353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36" name="Rectangle 164"/>
              <p:cNvSpPr>
                <a:spLocks noChangeArrowheads="1"/>
              </p:cNvSpPr>
              <p:nvPr/>
            </p:nvSpPr>
            <p:spPr bwMode="auto">
              <a:xfrm>
                <a:off x="3043" y="3585"/>
                <a:ext cx="313" cy="3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H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grpSp>
          <p:nvGrpSpPr>
            <p:cNvPr id="31767" name="Group 165"/>
            <p:cNvGrpSpPr/>
            <p:nvPr/>
          </p:nvGrpSpPr>
          <p:grpSpPr>
            <a:xfrm>
              <a:off x="4188" y="3168"/>
              <a:ext cx="360" cy="423"/>
              <a:chOff x="4518" y="2763"/>
              <a:chExt cx="360" cy="423"/>
            </a:xfrm>
          </p:grpSpPr>
          <p:sp>
            <p:nvSpPr>
              <p:cNvPr id="31773" name="Oval 166"/>
              <p:cNvSpPr/>
              <p:nvPr/>
            </p:nvSpPr>
            <p:spPr>
              <a:xfrm>
                <a:off x="4518" y="276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2439" name="Rectangle 167"/>
              <p:cNvSpPr>
                <a:spLocks noChangeArrowheads="1"/>
              </p:cNvSpPr>
              <p:nvPr/>
            </p:nvSpPr>
            <p:spPr bwMode="auto">
              <a:xfrm>
                <a:off x="4585" y="2812"/>
                <a:ext cx="283" cy="37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TW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PMingLiU" pitchFamily="18" charset="-120"/>
                    <a:cs typeface="+mn-cs"/>
                  </a:rPr>
                  <a:t>F</a:t>
                </a:r>
                <a:endPara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endParaRPr>
              </a:p>
            </p:txBody>
          </p:sp>
        </p:grpSp>
        <p:sp>
          <p:nvSpPr>
            <p:cNvPr id="31768" name="Line 168"/>
            <p:cNvSpPr/>
            <p:nvPr/>
          </p:nvSpPr>
          <p:spPr>
            <a:xfrm flipH="1">
              <a:off x="4355" y="2844"/>
              <a:ext cx="203" cy="31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69" name="Line 169"/>
            <p:cNvSpPr/>
            <p:nvPr/>
          </p:nvSpPr>
          <p:spPr>
            <a:xfrm>
              <a:off x="3530" y="2812"/>
              <a:ext cx="235" cy="3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70" name="Line 170"/>
            <p:cNvSpPr/>
            <p:nvPr/>
          </p:nvSpPr>
          <p:spPr>
            <a:xfrm flipH="1">
              <a:off x="3165" y="2801"/>
              <a:ext cx="204" cy="3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71" name="Line 171"/>
            <p:cNvSpPr/>
            <p:nvPr/>
          </p:nvSpPr>
          <p:spPr>
            <a:xfrm flipH="1">
              <a:off x="2822" y="3561"/>
              <a:ext cx="268" cy="36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772" name="Line 172"/>
            <p:cNvSpPr/>
            <p:nvPr/>
          </p:nvSpPr>
          <p:spPr>
            <a:xfrm>
              <a:off x="4194" y="2073"/>
              <a:ext cx="450" cy="41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82446" name="AutoShape 174">
            <a:hlinkClick r:id="rId1" action="ppaction://hlinksldjump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82447" name="AutoShape 175"/>
          <p:cNvSpPr/>
          <p:nvPr/>
        </p:nvSpPr>
        <p:spPr>
          <a:xfrm>
            <a:off x="6629400" y="1649413"/>
            <a:ext cx="914400" cy="533400"/>
          </a:xfrm>
          <a:prstGeom prst="rightArrow">
            <a:avLst>
              <a:gd name="adj1" fmla="val 50000"/>
              <a:gd name="adj2" fmla="val 4285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82448" name="Rectangle 176"/>
          <p:cNvSpPr/>
          <p:nvPr/>
        </p:nvSpPr>
        <p:spPr>
          <a:xfrm>
            <a:off x="228600" y="3810000"/>
            <a:ext cx="822960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问：顺序存储后能否复原成唯一对应的二叉树形状？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答：</a:t>
            </a:r>
            <a:r>
              <a:rPr lang="zh-CN" altLang="en-US" sz="2400" b="1" dirty="0">
                <a:latin typeface="楷体_GB2312"/>
                <a:ea typeface="楷体_GB2312"/>
              </a:rPr>
              <a:t>若是完全</a:t>
            </a:r>
            <a:r>
              <a:rPr lang="en-US" altLang="zh-CN" sz="2400" b="1" dirty="0">
                <a:latin typeface="楷体_GB2312"/>
                <a:ea typeface="楷体_GB2312"/>
              </a:rPr>
              <a:t>/</a:t>
            </a:r>
            <a:r>
              <a:rPr lang="zh-CN" altLang="en-US" sz="2400" b="1" dirty="0">
                <a:latin typeface="楷体_GB2312"/>
                <a:ea typeface="楷体_GB2312"/>
              </a:rPr>
              <a:t>满二叉树则可以做到唯一复原。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  而且有规律：下标值为</a:t>
            </a:r>
            <a:r>
              <a:rPr lang="en-US" altLang="zh-CN" sz="2400" b="1" dirty="0">
                <a:latin typeface="楷体_GB2312"/>
                <a:ea typeface="楷体_GB2312"/>
              </a:rPr>
              <a:t>i</a:t>
            </a:r>
            <a:r>
              <a:rPr lang="zh-CN" altLang="en-US" sz="2400" b="1" dirty="0">
                <a:latin typeface="楷体_GB2312"/>
                <a:ea typeface="楷体_GB2312"/>
              </a:rPr>
              <a:t>的双亲，其左孩子的下标值必为</a:t>
            </a:r>
            <a:r>
              <a:rPr lang="en-US" altLang="zh-CN" sz="2400" b="1" dirty="0">
                <a:latin typeface="楷体_GB2312"/>
                <a:ea typeface="楷体_GB2312"/>
              </a:rPr>
              <a:t>2i</a:t>
            </a:r>
            <a:r>
              <a:rPr lang="zh-CN" altLang="en-US" sz="2400" b="1" dirty="0">
                <a:latin typeface="楷体_GB2312"/>
                <a:ea typeface="楷体_GB2312"/>
              </a:rPr>
              <a:t>，其右孩子的下标值必为</a:t>
            </a:r>
            <a:r>
              <a:rPr lang="en-US" altLang="zh-CN" sz="2400" b="1" dirty="0">
                <a:latin typeface="楷体_GB2312"/>
                <a:ea typeface="楷体_GB2312"/>
              </a:rPr>
              <a:t>2i</a:t>
            </a:r>
            <a:r>
              <a:rPr lang="zh-CN" altLang="en-US" sz="2400" b="1" dirty="0">
                <a:latin typeface="楷体_GB2312"/>
                <a:ea typeface="楷体_GB2312"/>
              </a:rPr>
              <a:t>＋</a:t>
            </a:r>
            <a:r>
              <a:rPr lang="en-US" altLang="zh-CN" sz="2400" b="1" dirty="0">
                <a:latin typeface="楷体_GB2312"/>
                <a:ea typeface="楷体_GB2312"/>
              </a:rPr>
              <a:t>1</a:t>
            </a:r>
            <a:r>
              <a:rPr lang="zh-CN" altLang="en-US" sz="2400" b="1" dirty="0">
                <a:latin typeface="楷体_GB2312"/>
                <a:ea typeface="楷体_GB2312"/>
              </a:rPr>
              <a:t>（即性质</a:t>
            </a:r>
            <a:r>
              <a:rPr lang="en-US" altLang="zh-CN" sz="2400" b="1" dirty="0">
                <a:latin typeface="楷体_GB2312"/>
                <a:ea typeface="楷体_GB2312"/>
              </a:rPr>
              <a:t>5</a:t>
            </a:r>
            <a:r>
              <a:rPr lang="zh-CN" altLang="en-US" sz="2400" b="1" dirty="0">
                <a:latin typeface="楷体_GB2312"/>
                <a:ea typeface="楷体_GB2312"/>
              </a:rPr>
              <a:t>）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  例如，对应</a:t>
            </a:r>
            <a:r>
              <a:rPr lang="en-US" altLang="zh-CN" sz="2400" b="1" dirty="0">
                <a:latin typeface="楷体_GB2312"/>
                <a:ea typeface="楷体_GB2312"/>
              </a:rPr>
              <a:t>[2]</a:t>
            </a:r>
            <a:r>
              <a:rPr lang="zh-CN" altLang="en-US" sz="2400" b="1" dirty="0">
                <a:latin typeface="楷体_GB2312"/>
                <a:ea typeface="楷体_GB2312"/>
              </a:rPr>
              <a:t>的两个孩子必为</a:t>
            </a:r>
            <a:r>
              <a:rPr lang="en-US" altLang="zh-CN" sz="2400" b="1" dirty="0">
                <a:latin typeface="楷体_GB2312"/>
                <a:ea typeface="楷体_GB2312"/>
              </a:rPr>
              <a:t>[4]</a:t>
            </a:r>
            <a:r>
              <a:rPr lang="zh-CN" altLang="en-US" sz="2400" b="1" dirty="0">
                <a:latin typeface="楷体_GB2312"/>
                <a:ea typeface="楷体_GB2312"/>
              </a:rPr>
              <a:t>和</a:t>
            </a:r>
            <a:r>
              <a:rPr lang="en-US" altLang="zh-CN" sz="2400" b="1" dirty="0">
                <a:latin typeface="楷体_GB2312"/>
                <a:ea typeface="楷体_GB2312"/>
              </a:rPr>
              <a:t>[5],</a:t>
            </a:r>
            <a:r>
              <a:rPr lang="zh-CN" altLang="en-US" sz="2400" b="1" dirty="0">
                <a:latin typeface="楷体_GB2312"/>
                <a:ea typeface="楷体_GB2312"/>
              </a:rPr>
              <a:t>即</a:t>
            </a:r>
            <a:r>
              <a:rPr lang="en-US" altLang="zh-CN" sz="2400" b="1" dirty="0">
                <a:latin typeface="楷体_GB2312"/>
                <a:ea typeface="楷体_GB2312"/>
              </a:rPr>
              <a:t>B</a:t>
            </a:r>
            <a:r>
              <a:rPr lang="zh-CN" altLang="en-US" sz="2400" b="1" dirty="0">
                <a:latin typeface="楷体_GB2312"/>
                <a:ea typeface="楷体_GB2312"/>
              </a:rPr>
              <a:t>的左孩子必是</a:t>
            </a:r>
            <a:r>
              <a:rPr lang="en-US" altLang="zh-CN" sz="2400" b="1" dirty="0">
                <a:latin typeface="楷体_GB2312"/>
                <a:ea typeface="楷体_GB2312"/>
              </a:rPr>
              <a:t>D,</a:t>
            </a:r>
            <a:r>
              <a:rPr lang="zh-CN" altLang="en-US" sz="2400" b="1" dirty="0">
                <a:latin typeface="楷体_GB2312"/>
                <a:ea typeface="楷体_GB2312"/>
              </a:rPr>
              <a:t>右孩子必为</a:t>
            </a:r>
            <a:r>
              <a:rPr lang="en-US" altLang="zh-CN" sz="2400" b="1" dirty="0">
                <a:latin typeface="楷体_GB2312"/>
                <a:ea typeface="楷体_GB2312"/>
              </a:rPr>
              <a:t>E</a:t>
            </a:r>
            <a:r>
              <a:rPr lang="zh-CN" altLang="en-US" sz="2400" b="1" dirty="0">
                <a:latin typeface="楷体_GB2312"/>
                <a:ea typeface="楷体_GB2312"/>
              </a:rPr>
              <a:t>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182449" name="AutoShape 177"/>
          <p:cNvSpPr/>
          <p:nvPr/>
        </p:nvSpPr>
        <p:spPr>
          <a:xfrm>
            <a:off x="6172200" y="152400"/>
            <a:ext cx="990600" cy="685800"/>
          </a:xfrm>
          <a:prstGeom prst="wedgeRoundRectCallout">
            <a:avLst>
              <a:gd name="adj1" fmla="val 146315"/>
              <a:gd name="adj2" fmla="val -14120"/>
              <a:gd name="adj3" fmla="val 16667"/>
            </a:avLst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T[0]</a:t>
            </a: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一般不用</a:t>
            </a:r>
            <a:endParaRPr lang="zh-CN" altLang="en-US" sz="18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235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2358">
                                            <p:txEl>
                                              <p:charRg st="9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2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2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48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82448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48">
                                            <p:txEl>
                                              <p:charRg st="2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82448">
                                            <p:txEl>
                                              <p:charRg st="24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48">
                                            <p:txEl>
                                              <p:charRg st="46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82448">
                                            <p:txEl>
                                              <p:charRg st="46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48">
                                            <p:txEl>
                                              <p:charRg st="97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82448">
                                            <p:txEl>
                                              <p:charRg st="97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358" grpId="0" build="p"/>
      <p:bldP spid="182363" grpId="0"/>
      <p:bldP spid="182446" grpId="0" animBg="1"/>
      <p:bldP spid="182447" grpId="0" animBg="1"/>
      <p:bldP spid="182448" grpId="0" build="p"/>
      <p:bldP spid="1824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37570" name="Rectangle 2"/>
          <p:cNvSpPr>
            <a:spLocks noGrp="1"/>
          </p:cNvSpPr>
          <p:nvPr>
            <p:ph type="title"/>
          </p:nvPr>
        </p:nvSpPr>
        <p:spPr>
          <a:xfrm>
            <a:off x="304800" y="381000"/>
            <a:ext cx="66294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/>
              <a:t>讨论：</a:t>
            </a:r>
            <a:r>
              <a:rPr lang="zh-CN" altLang="en-US" sz="2800" b="1" dirty="0">
                <a:latin typeface="楷体_GB2312"/>
                <a:ea typeface="楷体_GB2312"/>
              </a:rPr>
              <a:t>不是完全二叉树怎么办？</a:t>
            </a:r>
            <a:endParaRPr lang="zh-CN" altLang="en-US" dirty="0"/>
          </a:p>
        </p:txBody>
      </p:sp>
      <p:sp>
        <p:nvSpPr>
          <p:cNvPr id="237572" name="Rectangle 4"/>
          <p:cNvSpPr/>
          <p:nvPr/>
        </p:nvSpPr>
        <p:spPr>
          <a:xfrm>
            <a:off x="304800" y="1066800"/>
            <a:ext cx="8610600" cy="88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宋体" panose="02010600030101010101" pitchFamily="2" charset="-122"/>
              </a:rPr>
              <a:t>答：</a:t>
            </a:r>
            <a:r>
              <a:rPr lang="zh-CN" altLang="en-US" sz="2400" b="1" dirty="0">
                <a:latin typeface="楷体_GB2312"/>
                <a:ea typeface="楷体_GB2312"/>
              </a:rPr>
              <a:t>一律转为完全二叉树！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方法很简单，将各层空缺处统统补上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“</a:t>
            </a:r>
            <a:r>
              <a:rPr lang="zh-CN" altLang="en-US" sz="2400" b="1" dirty="0">
                <a:latin typeface="楷体_GB2312"/>
                <a:ea typeface="楷体_GB2312"/>
              </a:rPr>
              <a:t>虚结点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”</a:t>
            </a:r>
            <a:r>
              <a:rPr lang="zh-CN" altLang="en-US" sz="2400" b="1" dirty="0">
                <a:latin typeface="楷体_GB2312"/>
                <a:ea typeface="楷体_GB2312"/>
              </a:rPr>
              <a:t>，其内容为空。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37584" name="Rectangle 16"/>
          <p:cNvSpPr>
            <a:spLocks noChangeArrowheads="1"/>
          </p:cNvSpPr>
          <p:nvPr/>
        </p:nvSpPr>
        <p:spPr bwMode="auto">
          <a:xfrm>
            <a:off x="6781800" y="1828800"/>
            <a:ext cx="488950" cy="45100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A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B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^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C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^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^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^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D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^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…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rPr>
              <a:t>E</a:t>
            </a:r>
            <a:endParaRPr kumimoji="1" lang="en-US" altLang="zh-TW" sz="24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PMingLiU" pitchFamily="18" charset="-120"/>
              <a:cs typeface="+mn-cs"/>
            </a:endParaRPr>
          </a:p>
        </p:txBody>
      </p:sp>
      <p:grpSp>
        <p:nvGrpSpPr>
          <p:cNvPr id="2" name="Group 43"/>
          <p:cNvGrpSpPr/>
          <p:nvPr/>
        </p:nvGrpSpPr>
        <p:grpSpPr>
          <a:xfrm>
            <a:off x="5943600" y="1828800"/>
            <a:ext cx="1489075" cy="4535488"/>
            <a:chOff x="4128" y="960"/>
            <a:chExt cx="938" cy="2857"/>
          </a:xfrm>
        </p:grpSpPr>
        <p:sp>
          <p:nvSpPr>
            <p:cNvPr id="32817" name="Rectangle 7"/>
            <p:cNvSpPr/>
            <p:nvPr/>
          </p:nvSpPr>
          <p:spPr>
            <a:xfrm>
              <a:off x="4524" y="1008"/>
              <a:ext cx="538" cy="2809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818" name="Line 8"/>
            <p:cNvSpPr/>
            <p:nvPr/>
          </p:nvSpPr>
          <p:spPr>
            <a:xfrm>
              <a:off x="4520" y="1261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19" name="Line 9"/>
            <p:cNvSpPr/>
            <p:nvPr/>
          </p:nvSpPr>
          <p:spPr>
            <a:xfrm>
              <a:off x="4520" y="1508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0" name="Line 10"/>
            <p:cNvSpPr/>
            <p:nvPr/>
          </p:nvSpPr>
          <p:spPr>
            <a:xfrm>
              <a:off x="4520" y="1754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1" name="Line 11"/>
            <p:cNvSpPr/>
            <p:nvPr/>
          </p:nvSpPr>
          <p:spPr>
            <a:xfrm>
              <a:off x="4520" y="2011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2" name="Line 12"/>
            <p:cNvSpPr/>
            <p:nvPr/>
          </p:nvSpPr>
          <p:spPr>
            <a:xfrm>
              <a:off x="4520" y="2259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3" name="Line 13"/>
            <p:cNvSpPr/>
            <p:nvPr/>
          </p:nvSpPr>
          <p:spPr>
            <a:xfrm>
              <a:off x="4520" y="2504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4" name="Line 14"/>
            <p:cNvSpPr/>
            <p:nvPr/>
          </p:nvSpPr>
          <p:spPr>
            <a:xfrm>
              <a:off x="4520" y="2750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5" name="Line 15"/>
            <p:cNvSpPr/>
            <p:nvPr/>
          </p:nvSpPr>
          <p:spPr>
            <a:xfrm>
              <a:off x="4530" y="3585"/>
              <a:ext cx="53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6" name="Line 17"/>
            <p:cNvSpPr/>
            <p:nvPr/>
          </p:nvSpPr>
          <p:spPr>
            <a:xfrm>
              <a:off x="4520" y="2996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7" name="Line 18"/>
            <p:cNvSpPr/>
            <p:nvPr/>
          </p:nvSpPr>
          <p:spPr>
            <a:xfrm>
              <a:off x="4520" y="3242"/>
              <a:ext cx="54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28" name="Rectangle 19"/>
            <p:cNvSpPr/>
            <p:nvPr/>
          </p:nvSpPr>
          <p:spPr>
            <a:xfrm>
              <a:off x="4128" y="960"/>
              <a:ext cx="436" cy="28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[1]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[2]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[3]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[4]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[5]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[6]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[7]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[8]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[9]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.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  <a:p>
              <a:pPr marL="0" lvl="0" indent="0">
                <a:lnSpc>
                  <a:spcPct val="110000"/>
                </a:lnSpc>
                <a:spcBef>
                  <a:spcPct val="0"/>
                </a:spcBef>
                <a:buNone/>
              </a:pPr>
              <a:r>
                <a:rPr lang="zh-TW" altLang="en-US" sz="2400" b="1" dirty="0">
                  <a:latin typeface="Times New Roman" panose="02020603050405020304" pitchFamily="18" charset="0"/>
                  <a:ea typeface="PMingLiU" pitchFamily="18" charset="-120"/>
                </a:rPr>
                <a:t>[16]</a:t>
              </a:r>
              <a:endParaRPr lang="zh-TW" altLang="en-US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</p:grpSp>
      <p:grpSp>
        <p:nvGrpSpPr>
          <p:cNvPr id="3" name="Group 65"/>
          <p:cNvGrpSpPr/>
          <p:nvPr/>
        </p:nvGrpSpPr>
        <p:grpSpPr>
          <a:xfrm>
            <a:off x="381000" y="2057400"/>
            <a:ext cx="2384425" cy="2895600"/>
            <a:chOff x="336" y="2016"/>
            <a:chExt cx="1502" cy="1824"/>
          </a:xfrm>
        </p:grpSpPr>
        <p:grpSp>
          <p:nvGrpSpPr>
            <p:cNvPr id="32802" name="Group 64"/>
            <p:cNvGrpSpPr/>
            <p:nvPr/>
          </p:nvGrpSpPr>
          <p:grpSpPr>
            <a:xfrm>
              <a:off x="336" y="2016"/>
              <a:ext cx="1502" cy="1824"/>
              <a:chOff x="336" y="2016"/>
              <a:chExt cx="1502" cy="1824"/>
            </a:xfrm>
          </p:grpSpPr>
          <p:sp>
            <p:nvSpPr>
              <p:cNvPr id="32805" name="Rectangle 23"/>
              <p:cNvSpPr/>
              <p:nvPr/>
            </p:nvSpPr>
            <p:spPr>
              <a:xfrm>
                <a:off x="1582" y="2016"/>
                <a:ext cx="2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2806" name="Rectangle 26"/>
              <p:cNvSpPr/>
              <p:nvPr/>
            </p:nvSpPr>
            <p:spPr>
              <a:xfrm>
                <a:off x="1196" y="2400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2807" name="Oval 29"/>
              <p:cNvSpPr/>
              <p:nvPr/>
            </p:nvSpPr>
            <p:spPr>
              <a:xfrm>
                <a:off x="336" y="3552"/>
                <a:ext cx="240" cy="24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32808" name="Rectangle 30"/>
              <p:cNvSpPr/>
              <p:nvPr/>
            </p:nvSpPr>
            <p:spPr>
              <a:xfrm>
                <a:off x="336" y="3552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2809" name="Line 31"/>
              <p:cNvSpPr/>
              <p:nvPr/>
            </p:nvSpPr>
            <p:spPr>
              <a:xfrm flipH="1">
                <a:off x="533" y="3408"/>
                <a:ext cx="187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2810" name="Oval 33"/>
              <p:cNvSpPr/>
              <p:nvPr/>
            </p:nvSpPr>
            <p:spPr>
              <a:xfrm>
                <a:off x="902" y="2799"/>
                <a:ext cx="298" cy="24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32811" name="Rectangle 34"/>
              <p:cNvSpPr/>
              <p:nvPr/>
            </p:nvSpPr>
            <p:spPr>
              <a:xfrm>
                <a:off x="912" y="2784"/>
                <a:ext cx="25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2812" name="Oval 36"/>
              <p:cNvSpPr/>
              <p:nvPr/>
            </p:nvSpPr>
            <p:spPr>
              <a:xfrm>
                <a:off x="641" y="3168"/>
                <a:ext cx="271" cy="24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32813" name="Rectangle 37"/>
              <p:cNvSpPr/>
              <p:nvPr/>
            </p:nvSpPr>
            <p:spPr>
              <a:xfrm>
                <a:off x="658" y="3168"/>
                <a:ext cx="25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2814" name="Line 38"/>
              <p:cNvSpPr/>
              <p:nvPr/>
            </p:nvSpPr>
            <p:spPr>
              <a:xfrm flipH="1">
                <a:off x="1096" y="2653"/>
                <a:ext cx="101" cy="14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2815" name="Line 39"/>
              <p:cNvSpPr/>
              <p:nvPr/>
            </p:nvSpPr>
            <p:spPr>
              <a:xfrm flipH="1">
                <a:off x="816" y="3051"/>
                <a:ext cx="123" cy="12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2816" name="Line 44"/>
              <p:cNvSpPr/>
              <p:nvPr/>
            </p:nvSpPr>
            <p:spPr>
              <a:xfrm flipH="1">
                <a:off x="1392" y="2256"/>
                <a:ext cx="192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32803" name="Oval 22"/>
            <p:cNvSpPr/>
            <p:nvPr/>
          </p:nvSpPr>
          <p:spPr>
            <a:xfrm>
              <a:off x="1502" y="2028"/>
              <a:ext cx="322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804" name="Oval 25"/>
            <p:cNvSpPr/>
            <p:nvPr/>
          </p:nvSpPr>
          <p:spPr>
            <a:xfrm>
              <a:off x="1152" y="2401"/>
              <a:ext cx="321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237608" name="Text Box 40"/>
          <p:cNvSpPr txBox="1"/>
          <p:nvPr/>
        </p:nvSpPr>
        <p:spPr>
          <a:xfrm>
            <a:off x="228600" y="5638800"/>
            <a:ext cx="556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缺点：</a:t>
            </a:r>
            <a:r>
              <a:rPr lang="zh-TW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①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浪费空间；②插入、删除不便</a:t>
            </a:r>
            <a:r>
              <a:rPr lang="zh-TW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PMingLiU" pitchFamily="18" charset="-120"/>
              </a:rPr>
              <a:t>     </a:t>
            </a:r>
            <a:endParaRPr lang="zh-TW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37609" name="AutoShape 41">
            <a:hlinkClick r:id="rId1" action="ppaction://hlinksldjump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37610" name="AutoShape 42"/>
          <p:cNvSpPr/>
          <p:nvPr/>
        </p:nvSpPr>
        <p:spPr>
          <a:xfrm>
            <a:off x="4953000" y="3276600"/>
            <a:ext cx="914400" cy="533400"/>
          </a:xfrm>
          <a:prstGeom prst="rightArrow">
            <a:avLst>
              <a:gd name="adj1" fmla="val 50000"/>
              <a:gd name="adj2" fmla="val 4285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5" name="Group 69"/>
          <p:cNvGrpSpPr/>
          <p:nvPr/>
        </p:nvGrpSpPr>
        <p:grpSpPr>
          <a:xfrm>
            <a:off x="1393825" y="2362200"/>
            <a:ext cx="3124200" cy="1905000"/>
            <a:chOff x="960" y="2208"/>
            <a:chExt cx="1968" cy="1200"/>
          </a:xfrm>
        </p:grpSpPr>
        <p:sp>
          <p:nvSpPr>
            <p:cNvPr id="32780" name="Line 27"/>
            <p:cNvSpPr/>
            <p:nvPr/>
          </p:nvSpPr>
          <p:spPr>
            <a:xfrm>
              <a:off x="1824" y="2208"/>
              <a:ext cx="19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781" name="Line 45"/>
            <p:cNvSpPr/>
            <p:nvPr/>
          </p:nvSpPr>
          <p:spPr>
            <a:xfrm>
              <a:off x="2160" y="2544"/>
              <a:ext cx="24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782" name="Line 46"/>
            <p:cNvSpPr/>
            <p:nvPr/>
          </p:nvSpPr>
          <p:spPr>
            <a:xfrm>
              <a:off x="1392" y="2640"/>
              <a:ext cx="96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783" name="Line 47"/>
            <p:cNvSpPr/>
            <p:nvPr/>
          </p:nvSpPr>
          <p:spPr>
            <a:xfrm>
              <a:off x="1056" y="3024"/>
              <a:ext cx="48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784" name="Line 48"/>
            <p:cNvSpPr/>
            <p:nvPr/>
          </p:nvSpPr>
          <p:spPr>
            <a:xfrm>
              <a:off x="2544" y="3024"/>
              <a:ext cx="192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785" name="Line 49"/>
            <p:cNvSpPr/>
            <p:nvPr/>
          </p:nvSpPr>
          <p:spPr>
            <a:xfrm>
              <a:off x="1584" y="3024"/>
              <a:ext cx="48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786" name="Line 50"/>
            <p:cNvSpPr/>
            <p:nvPr/>
          </p:nvSpPr>
          <p:spPr>
            <a:xfrm flipH="1">
              <a:off x="1968" y="2592"/>
              <a:ext cx="48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787" name="Line 51"/>
            <p:cNvSpPr/>
            <p:nvPr/>
          </p:nvSpPr>
          <p:spPr>
            <a:xfrm>
              <a:off x="1968" y="2976"/>
              <a:ext cx="24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788" name="Oval 52"/>
            <p:cNvSpPr/>
            <p:nvPr/>
          </p:nvSpPr>
          <p:spPr>
            <a:xfrm>
              <a:off x="960" y="3216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89" name="Oval 53"/>
            <p:cNvSpPr/>
            <p:nvPr/>
          </p:nvSpPr>
          <p:spPr>
            <a:xfrm>
              <a:off x="1392" y="2832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0" name="Oval 54"/>
            <p:cNvSpPr/>
            <p:nvPr/>
          </p:nvSpPr>
          <p:spPr>
            <a:xfrm>
              <a:off x="2352" y="2784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1" name="Oval 55"/>
            <p:cNvSpPr/>
            <p:nvPr/>
          </p:nvSpPr>
          <p:spPr>
            <a:xfrm>
              <a:off x="1824" y="2784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2" name="Oval 56"/>
            <p:cNvSpPr/>
            <p:nvPr/>
          </p:nvSpPr>
          <p:spPr>
            <a:xfrm>
              <a:off x="1200" y="3216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3" name="Oval 57"/>
            <p:cNvSpPr/>
            <p:nvPr/>
          </p:nvSpPr>
          <p:spPr>
            <a:xfrm>
              <a:off x="1488" y="3216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4" name="Oval 58"/>
            <p:cNvSpPr/>
            <p:nvPr/>
          </p:nvSpPr>
          <p:spPr>
            <a:xfrm>
              <a:off x="2688" y="3216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5" name="Oval 59"/>
            <p:cNvSpPr/>
            <p:nvPr/>
          </p:nvSpPr>
          <p:spPr>
            <a:xfrm>
              <a:off x="2016" y="3216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6" name="Oval 60"/>
            <p:cNvSpPr/>
            <p:nvPr/>
          </p:nvSpPr>
          <p:spPr>
            <a:xfrm>
              <a:off x="2256" y="3216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7" name="Oval 61"/>
            <p:cNvSpPr/>
            <p:nvPr/>
          </p:nvSpPr>
          <p:spPr>
            <a:xfrm>
              <a:off x="1776" y="3216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8" name="Oval 63"/>
            <p:cNvSpPr/>
            <p:nvPr/>
          </p:nvSpPr>
          <p:spPr>
            <a:xfrm>
              <a:off x="1968" y="2400"/>
              <a:ext cx="240" cy="192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9" name="Line 66"/>
            <p:cNvSpPr/>
            <p:nvPr/>
          </p:nvSpPr>
          <p:spPr>
            <a:xfrm flipH="1">
              <a:off x="1296" y="3024"/>
              <a:ext cx="144" cy="1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00" name="Line 67"/>
            <p:cNvSpPr/>
            <p:nvPr/>
          </p:nvSpPr>
          <p:spPr>
            <a:xfrm flipH="1">
              <a:off x="1824" y="2976"/>
              <a:ext cx="144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801" name="Line 68"/>
            <p:cNvSpPr/>
            <p:nvPr/>
          </p:nvSpPr>
          <p:spPr>
            <a:xfrm flipH="1">
              <a:off x="2352" y="2976"/>
              <a:ext cx="96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2">
                                            <p:txEl>
                                              <p:charRg st="1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7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7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/>
      <p:bldP spid="237572" grpId="0" build="p"/>
      <p:bldP spid="237584" grpId="0"/>
      <p:bldP spid="237608" grpId="0"/>
      <p:bldP spid="237609" grpId="0" animBg="1"/>
      <p:bldP spid="2376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1490" name="Rectang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4800600" cy="6858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400" b="1" dirty="0">
                <a:solidFill>
                  <a:schemeClr val="accent1"/>
                </a:solidFill>
              </a:rPr>
              <a:t>二、链式存储结构</a:t>
            </a:r>
            <a:br>
              <a:rPr lang="zh-CN" altLang="en-US" sz="2400" b="1" dirty="0">
                <a:solidFill>
                  <a:schemeClr val="accent1"/>
                </a:solidFill>
              </a:rPr>
            </a:b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用二叉链表即可方便表示。</a:t>
            </a:r>
            <a:endParaRPr lang="zh-CN" altLang="en-US" sz="2400" b="1" dirty="0">
              <a:solidFill>
                <a:schemeClr val="tx1"/>
              </a:solidFill>
              <a:latin typeface="楷体_GB2312"/>
              <a:ea typeface="楷体_GB231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4646613" y="381000"/>
            <a:ext cx="4116387" cy="701675"/>
            <a:chOff x="513" y="1039"/>
            <a:chExt cx="2641" cy="521"/>
          </a:xfrm>
        </p:grpSpPr>
        <p:sp>
          <p:nvSpPr>
            <p:cNvPr id="33808" name="Rectangle 6"/>
            <p:cNvSpPr/>
            <p:nvPr/>
          </p:nvSpPr>
          <p:spPr>
            <a:xfrm>
              <a:off x="513" y="1039"/>
              <a:ext cx="2586" cy="51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3809" name="Line 7"/>
            <p:cNvSpPr/>
            <p:nvPr/>
          </p:nvSpPr>
          <p:spPr>
            <a:xfrm>
              <a:off x="1442" y="1046"/>
              <a:ext cx="0" cy="51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810" name="Line 8"/>
            <p:cNvSpPr/>
            <p:nvPr/>
          </p:nvSpPr>
          <p:spPr>
            <a:xfrm>
              <a:off x="2052" y="1046"/>
              <a:ext cx="0" cy="5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91497" name="Rectangle 9"/>
            <p:cNvSpPr>
              <a:spLocks noChangeArrowheads="1"/>
            </p:cNvSpPr>
            <p:nvPr/>
          </p:nvSpPr>
          <p:spPr bwMode="auto">
            <a:xfrm>
              <a:off x="1523" y="1209"/>
              <a:ext cx="488" cy="33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data</a:t>
              </a:r>
              <a:endPara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191498" name="Rectangle 10"/>
            <p:cNvSpPr>
              <a:spLocks noChangeArrowheads="1"/>
            </p:cNvSpPr>
            <p:nvPr/>
          </p:nvSpPr>
          <p:spPr bwMode="auto">
            <a:xfrm>
              <a:off x="537" y="1209"/>
              <a:ext cx="883" cy="33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left_child</a:t>
              </a:r>
              <a:endPara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191499" name="Rectangle 11"/>
            <p:cNvSpPr>
              <a:spLocks noChangeArrowheads="1"/>
            </p:cNvSpPr>
            <p:nvPr/>
          </p:nvSpPr>
          <p:spPr bwMode="auto">
            <a:xfrm>
              <a:off x="2113" y="1199"/>
              <a:ext cx="1041" cy="3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right_child</a:t>
              </a:r>
              <a:endPara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5105400" y="1676400"/>
            <a:ext cx="3406775" cy="1695450"/>
            <a:chOff x="3307" y="738"/>
            <a:chExt cx="2477" cy="1244"/>
          </a:xfrm>
        </p:grpSpPr>
        <p:sp>
          <p:nvSpPr>
            <p:cNvPr id="33802" name="Oval 13"/>
            <p:cNvSpPr/>
            <p:nvPr/>
          </p:nvSpPr>
          <p:spPr>
            <a:xfrm>
              <a:off x="4120" y="738"/>
              <a:ext cx="592" cy="549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91502" name="Rectangle 14"/>
            <p:cNvSpPr>
              <a:spLocks noChangeArrowheads="1"/>
            </p:cNvSpPr>
            <p:nvPr/>
          </p:nvSpPr>
          <p:spPr bwMode="auto">
            <a:xfrm>
              <a:off x="4177" y="858"/>
              <a:ext cx="553" cy="3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data</a:t>
              </a:r>
              <a:endPara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33804" name="Line 15"/>
            <p:cNvSpPr/>
            <p:nvPr/>
          </p:nvSpPr>
          <p:spPr>
            <a:xfrm flipH="1">
              <a:off x="3731" y="1163"/>
              <a:ext cx="428" cy="42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33805" name="Line 16"/>
            <p:cNvSpPr/>
            <p:nvPr/>
          </p:nvSpPr>
          <p:spPr>
            <a:xfrm>
              <a:off x="4692" y="1155"/>
              <a:ext cx="417" cy="41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191505" name="Rectangle 17"/>
            <p:cNvSpPr>
              <a:spLocks noChangeArrowheads="1"/>
            </p:cNvSpPr>
            <p:nvPr/>
          </p:nvSpPr>
          <p:spPr bwMode="auto">
            <a:xfrm>
              <a:off x="3307" y="1647"/>
              <a:ext cx="1019" cy="3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left_child</a:t>
              </a:r>
              <a:endPara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191506" name="Rectangle 18"/>
            <p:cNvSpPr>
              <a:spLocks noChangeArrowheads="1"/>
            </p:cNvSpPr>
            <p:nvPr/>
          </p:nvSpPr>
          <p:spPr bwMode="auto">
            <a:xfrm>
              <a:off x="4604" y="1634"/>
              <a:ext cx="1180" cy="3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right_child</a:t>
              </a:r>
              <a:endParaRPr kumimoji="1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</p:grpSp>
      <p:sp>
        <p:nvSpPr>
          <p:cNvPr id="191509" name="Rectangle 21"/>
          <p:cNvSpPr/>
          <p:nvPr/>
        </p:nvSpPr>
        <p:spPr>
          <a:xfrm>
            <a:off x="228600" y="990600"/>
            <a:ext cx="4114800" cy="2830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一般从根结点开始存储。</a:t>
            </a:r>
            <a:br>
              <a:rPr lang="zh-CN" altLang="en-US" sz="2400" b="1" dirty="0">
                <a:latin typeface="楷体_GB2312"/>
                <a:ea typeface="楷体_GB2312"/>
              </a:rPr>
            </a:br>
            <a:r>
              <a:rPr lang="zh-CN" altLang="en-US" sz="2400" b="1" dirty="0">
                <a:latin typeface="楷体_GB2312"/>
                <a:ea typeface="楷体_GB2312"/>
              </a:rPr>
              <a:t>（相应地，访问树中结点时也只能从根开始）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注：</a:t>
            </a:r>
            <a:r>
              <a:rPr lang="zh-CN" altLang="en-US" sz="2400" b="1" dirty="0">
                <a:latin typeface="楷体_GB2312"/>
                <a:ea typeface="楷体_GB2312"/>
              </a:rPr>
              <a:t>如果需要倒查某结点的双亲，可以再增加一个双亲域（直接前趋）指针，将二叉链表变成三叉链表。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191510" name="AutoShape 22"/>
          <p:cNvSpPr/>
          <p:nvPr/>
        </p:nvSpPr>
        <p:spPr>
          <a:xfrm>
            <a:off x="6477000" y="11430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91511" name="AutoShape 23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729" name="Text Box 24"/>
          <p:cNvSpPr txBox="1"/>
          <p:nvPr/>
        </p:nvSpPr>
        <p:spPr>
          <a:xfrm>
            <a:off x="323850" y="4005263"/>
            <a:ext cx="6481763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typedef char TreeData;	</a:t>
            </a:r>
            <a:r>
              <a:rPr lang="en-US" altLang="zh-CN" sz="28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8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结点数据类型</a:t>
            </a:r>
            <a:endParaRPr lang="zh-CN" altLang="en-US" sz="28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typedef struct node {	</a:t>
            </a:r>
            <a:r>
              <a:rPr lang="en-US" altLang="zh-CN" sz="28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8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结点定义</a:t>
            </a:r>
            <a:endParaRPr lang="zh-CN" altLang="en-US" sz="28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en-US" altLang="zh-CN" sz="28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TreeData data; </a:t>
            </a:r>
            <a:endParaRPr lang="en-US" altLang="zh-CN" sz="28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    struct node * leftChild, * rightchild;</a:t>
            </a:r>
            <a:endParaRPr lang="en-US" altLang="zh-CN" sz="28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} BinTreeNode;</a:t>
            </a:r>
            <a:endParaRPr lang="en-US" altLang="zh-CN" sz="28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typedef BinTreeNode * BinTree;</a:t>
            </a:r>
            <a:r>
              <a:rPr lang="en-US" altLang="zh-CN" sz="28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8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根指针</a:t>
            </a:r>
            <a:r>
              <a:rPr lang="zh-CN" altLang="en-US" sz="28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                      </a:t>
            </a:r>
            <a:endParaRPr lang="zh-CN" altLang="en-US" sz="28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150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9">
                                            <p:txEl>
                                              <p:charRg st="3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1509">
                                            <p:txEl>
                                              <p:charRg st="33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0" grpId="0" advAuto="1000" build="p"/>
      <p:bldP spid="191509" grpId="0" build="p"/>
      <p:bldP spid="191510" grpId="0" animBg="1"/>
      <p:bldP spid="191511" grpId="0" animBg="1"/>
      <p:bldP spid="307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9524" name="AutoShape 84">
            <a:hlinkClick r:id="rId1" action="ppaction://hlinksldjump"/>
          </p:cNvPr>
          <p:cNvSpPr/>
          <p:nvPr/>
        </p:nvSpPr>
        <p:spPr>
          <a:xfrm flipH="1">
            <a:off x="80010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4820" name="Rectangle 85"/>
          <p:cNvSpPr>
            <a:spLocks noGrp="1"/>
          </p:cNvSpPr>
          <p:nvPr>
            <p:ph type="title"/>
          </p:nvPr>
        </p:nvSpPr>
        <p:spPr>
          <a:xfrm>
            <a:off x="838200" y="381000"/>
            <a:ext cx="838200" cy="6858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 </a:t>
            </a:r>
            <a:endParaRPr lang="zh-CN" altLang="en-US" sz="2400" b="1" dirty="0">
              <a:solidFill>
                <a:schemeClr val="tx1"/>
              </a:solidFill>
              <a:latin typeface="楷体_GB2312"/>
              <a:ea typeface="楷体_GB2312"/>
            </a:endParaRPr>
          </a:p>
        </p:txBody>
      </p:sp>
      <p:grpSp>
        <p:nvGrpSpPr>
          <p:cNvPr id="2" name="Group 86"/>
          <p:cNvGrpSpPr/>
          <p:nvPr/>
        </p:nvGrpSpPr>
        <p:grpSpPr>
          <a:xfrm>
            <a:off x="381000" y="1243013"/>
            <a:ext cx="2792413" cy="3024187"/>
            <a:chOff x="336" y="2016"/>
            <a:chExt cx="1488" cy="1810"/>
          </a:xfrm>
        </p:grpSpPr>
        <p:grpSp>
          <p:nvGrpSpPr>
            <p:cNvPr id="34873" name="Group 87"/>
            <p:cNvGrpSpPr/>
            <p:nvPr/>
          </p:nvGrpSpPr>
          <p:grpSpPr>
            <a:xfrm>
              <a:off x="336" y="2016"/>
              <a:ext cx="1461" cy="1810"/>
              <a:chOff x="336" y="2016"/>
              <a:chExt cx="1461" cy="1810"/>
            </a:xfrm>
          </p:grpSpPr>
          <p:sp>
            <p:nvSpPr>
              <p:cNvPr id="34876" name="Rectangle 88"/>
              <p:cNvSpPr/>
              <p:nvPr/>
            </p:nvSpPr>
            <p:spPr>
              <a:xfrm>
                <a:off x="1582" y="2016"/>
                <a:ext cx="215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4877" name="Rectangle 89"/>
              <p:cNvSpPr/>
              <p:nvPr/>
            </p:nvSpPr>
            <p:spPr>
              <a:xfrm>
                <a:off x="1196" y="2400"/>
                <a:ext cx="206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4878" name="Oval 90"/>
              <p:cNvSpPr/>
              <p:nvPr/>
            </p:nvSpPr>
            <p:spPr>
              <a:xfrm>
                <a:off x="336" y="3552"/>
                <a:ext cx="240" cy="24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34879" name="Rectangle 91"/>
              <p:cNvSpPr/>
              <p:nvPr/>
            </p:nvSpPr>
            <p:spPr>
              <a:xfrm>
                <a:off x="336" y="3552"/>
                <a:ext cx="206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4880" name="Line 92"/>
              <p:cNvSpPr/>
              <p:nvPr/>
            </p:nvSpPr>
            <p:spPr>
              <a:xfrm flipH="1">
                <a:off x="533" y="3408"/>
                <a:ext cx="187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4881" name="Oval 93"/>
              <p:cNvSpPr/>
              <p:nvPr/>
            </p:nvSpPr>
            <p:spPr>
              <a:xfrm>
                <a:off x="902" y="2799"/>
                <a:ext cx="298" cy="24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34882" name="Rectangle 94"/>
              <p:cNvSpPr/>
              <p:nvPr/>
            </p:nvSpPr>
            <p:spPr>
              <a:xfrm>
                <a:off x="912" y="2784"/>
                <a:ext cx="216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4883" name="Oval 95"/>
              <p:cNvSpPr/>
              <p:nvPr/>
            </p:nvSpPr>
            <p:spPr>
              <a:xfrm>
                <a:off x="641" y="3168"/>
                <a:ext cx="271" cy="24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34884" name="Rectangle 96"/>
              <p:cNvSpPr/>
              <p:nvPr/>
            </p:nvSpPr>
            <p:spPr>
              <a:xfrm>
                <a:off x="658" y="3168"/>
                <a:ext cx="216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24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34885" name="Line 97"/>
              <p:cNvSpPr/>
              <p:nvPr/>
            </p:nvSpPr>
            <p:spPr>
              <a:xfrm flipH="1">
                <a:off x="1096" y="2653"/>
                <a:ext cx="101" cy="14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4886" name="Line 98"/>
              <p:cNvSpPr/>
              <p:nvPr/>
            </p:nvSpPr>
            <p:spPr>
              <a:xfrm flipH="1">
                <a:off x="816" y="3051"/>
                <a:ext cx="123" cy="12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34887" name="Line 99"/>
              <p:cNvSpPr/>
              <p:nvPr/>
            </p:nvSpPr>
            <p:spPr>
              <a:xfrm flipH="1">
                <a:off x="1392" y="2256"/>
                <a:ext cx="192" cy="1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34874" name="Oval 100"/>
            <p:cNvSpPr/>
            <p:nvPr/>
          </p:nvSpPr>
          <p:spPr>
            <a:xfrm>
              <a:off x="1502" y="2028"/>
              <a:ext cx="322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4875" name="Oval 101"/>
            <p:cNvSpPr/>
            <p:nvPr/>
          </p:nvSpPr>
          <p:spPr>
            <a:xfrm>
              <a:off x="1152" y="2401"/>
              <a:ext cx="321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189542" name="AutoShape 102"/>
          <p:cNvSpPr/>
          <p:nvPr/>
        </p:nvSpPr>
        <p:spPr>
          <a:xfrm>
            <a:off x="3048000" y="2286000"/>
            <a:ext cx="990600" cy="1066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4" name="Group 105"/>
          <p:cNvGrpSpPr/>
          <p:nvPr/>
        </p:nvGrpSpPr>
        <p:grpSpPr>
          <a:xfrm>
            <a:off x="3911600" y="914400"/>
            <a:ext cx="4165600" cy="3489325"/>
            <a:chOff x="1392" y="480"/>
            <a:chExt cx="3248" cy="2582"/>
          </a:xfrm>
        </p:grpSpPr>
        <p:sp>
          <p:nvSpPr>
            <p:cNvPr id="189445" name="Rectangle 5"/>
            <p:cNvSpPr>
              <a:spLocks noChangeArrowheads="1"/>
            </p:cNvSpPr>
            <p:nvPr/>
          </p:nvSpPr>
          <p:spPr bwMode="auto">
            <a:xfrm>
              <a:off x="4319" y="528"/>
              <a:ext cx="321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46" name="Rectangle 6"/>
            <p:cNvSpPr>
              <a:spLocks noChangeArrowheads="1"/>
            </p:cNvSpPr>
            <p:nvPr/>
          </p:nvSpPr>
          <p:spPr bwMode="auto">
            <a:xfrm>
              <a:off x="3968" y="480"/>
              <a:ext cx="321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47" name="Rectangle 7"/>
            <p:cNvSpPr>
              <a:spLocks noChangeArrowheads="1"/>
            </p:cNvSpPr>
            <p:nvPr/>
          </p:nvSpPr>
          <p:spPr bwMode="auto">
            <a:xfrm>
              <a:off x="3649" y="480"/>
              <a:ext cx="319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7" name="Line 8"/>
            <p:cNvSpPr/>
            <p:nvPr/>
          </p:nvSpPr>
          <p:spPr>
            <a:xfrm>
              <a:off x="3648" y="480"/>
              <a:ext cx="9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8" name="Line 9"/>
            <p:cNvSpPr/>
            <p:nvPr/>
          </p:nvSpPr>
          <p:spPr>
            <a:xfrm>
              <a:off x="3648" y="816"/>
              <a:ext cx="9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9" name="Line 10"/>
            <p:cNvSpPr/>
            <p:nvPr/>
          </p:nvSpPr>
          <p:spPr>
            <a:xfrm>
              <a:off x="3648" y="480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0" name="Line 11"/>
            <p:cNvSpPr/>
            <p:nvPr/>
          </p:nvSpPr>
          <p:spPr>
            <a:xfrm>
              <a:off x="3968" y="480"/>
              <a:ext cx="0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1" name="Line 12"/>
            <p:cNvSpPr/>
            <p:nvPr/>
          </p:nvSpPr>
          <p:spPr>
            <a:xfrm>
              <a:off x="4288" y="480"/>
              <a:ext cx="0" cy="3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2" name="Line 13"/>
            <p:cNvSpPr/>
            <p:nvPr/>
          </p:nvSpPr>
          <p:spPr>
            <a:xfrm>
              <a:off x="4608" y="480"/>
              <a:ext cx="0" cy="3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9454" name="Rectangle 14"/>
            <p:cNvSpPr>
              <a:spLocks noChangeArrowheads="1"/>
            </p:cNvSpPr>
            <p:nvPr/>
          </p:nvSpPr>
          <p:spPr bwMode="auto">
            <a:xfrm>
              <a:off x="3649" y="1056"/>
              <a:ext cx="239" cy="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5" name="Rectangle 15"/>
            <p:cNvSpPr>
              <a:spLocks noChangeArrowheads="1"/>
            </p:cNvSpPr>
            <p:nvPr/>
          </p:nvSpPr>
          <p:spPr bwMode="auto">
            <a:xfrm>
              <a:off x="3360" y="1056"/>
              <a:ext cx="288" cy="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56" name="Rectangle 16"/>
            <p:cNvSpPr>
              <a:spLocks noChangeArrowheads="1"/>
            </p:cNvSpPr>
            <p:nvPr/>
          </p:nvSpPr>
          <p:spPr bwMode="auto">
            <a:xfrm>
              <a:off x="3649" y="1056"/>
              <a:ext cx="287" cy="32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6" name="Line 17"/>
            <p:cNvSpPr/>
            <p:nvPr/>
          </p:nvSpPr>
          <p:spPr>
            <a:xfrm>
              <a:off x="3072" y="1056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7" name="Line 18"/>
            <p:cNvSpPr/>
            <p:nvPr/>
          </p:nvSpPr>
          <p:spPr>
            <a:xfrm>
              <a:off x="3072" y="1382"/>
              <a:ext cx="8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8" name="Line 19"/>
            <p:cNvSpPr/>
            <p:nvPr/>
          </p:nvSpPr>
          <p:spPr>
            <a:xfrm>
              <a:off x="3072" y="105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39" name="Line 20"/>
            <p:cNvSpPr/>
            <p:nvPr/>
          </p:nvSpPr>
          <p:spPr>
            <a:xfrm>
              <a:off x="3360" y="105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0" name="Line 21"/>
            <p:cNvSpPr/>
            <p:nvPr/>
          </p:nvSpPr>
          <p:spPr>
            <a:xfrm>
              <a:off x="3648" y="105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1" name="Line 22"/>
            <p:cNvSpPr/>
            <p:nvPr/>
          </p:nvSpPr>
          <p:spPr>
            <a:xfrm>
              <a:off x="3888" y="105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9472" name="Rectangle 32"/>
            <p:cNvSpPr>
              <a:spLocks noChangeArrowheads="1"/>
            </p:cNvSpPr>
            <p:nvPr/>
          </p:nvSpPr>
          <p:spPr bwMode="auto">
            <a:xfrm>
              <a:off x="2608" y="2160"/>
              <a:ext cx="307" cy="3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3" name="Rectangle 33"/>
            <p:cNvSpPr>
              <a:spLocks noChangeArrowheads="1"/>
            </p:cNvSpPr>
            <p:nvPr/>
          </p:nvSpPr>
          <p:spPr bwMode="auto">
            <a:xfrm>
              <a:off x="2304" y="2160"/>
              <a:ext cx="303" cy="3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D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74" name="Rectangle 34"/>
            <p:cNvSpPr>
              <a:spLocks noChangeArrowheads="1"/>
            </p:cNvSpPr>
            <p:nvPr/>
          </p:nvSpPr>
          <p:spPr bwMode="auto">
            <a:xfrm>
              <a:off x="2000" y="2160"/>
              <a:ext cx="306" cy="3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5" name="Line 35"/>
            <p:cNvSpPr/>
            <p:nvPr/>
          </p:nvSpPr>
          <p:spPr>
            <a:xfrm>
              <a:off x="2000" y="2160"/>
              <a:ext cx="91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6" name="Line 36"/>
            <p:cNvSpPr/>
            <p:nvPr/>
          </p:nvSpPr>
          <p:spPr>
            <a:xfrm>
              <a:off x="2000" y="2486"/>
              <a:ext cx="91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7" name="Line 37"/>
            <p:cNvSpPr/>
            <p:nvPr/>
          </p:nvSpPr>
          <p:spPr>
            <a:xfrm>
              <a:off x="2000" y="2160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8" name="Line 38"/>
            <p:cNvSpPr/>
            <p:nvPr/>
          </p:nvSpPr>
          <p:spPr>
            <a:xfrm>
              <a:off x="2304" y="2160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49" name="Line 39"/>
            <p:cNvSpPr/>
            <p:nvPr/>
          </p:nvSpPr>
          <p:spPr>
            <a:xfrm>
              <a:off x="2608" y="2160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0" name="Line 40"/>
            <p:cNvSpPr/>
            <p:nvPr/>
          </p:nvSpPr>
          <p:spPr>
            <a:xfrm>
              <a:off x="2912" y="2160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9490" name="Rectangle 50"/>
            <p:cNvSpPr>
              <a:spLocks noChangeArrowheads="1"/>
            </p:cNvSpPr>
            <p:nvPr/>
          </p:nvSpPr>
          <p:spPr bwMode="auto">
            <a:xfrm>
              <a:off x="3088" y="1584"/>
              <a:ext cx="256" cy="3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91" name="Rectangle 51"/>
            <p:cNvSpPr>
              <a:spLocks noChangeArrowheads="1"/>
            </p:cNvSpPr>
            <p:nvPr/>
          </p:nvSpPr>
          <p:spPr bwMode="auto">
            <a:xfrm>
              <a:off x="2832" y="1584"/>
              <a:ext cx="256" cy="3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492" name="Rectangle 52"/>
            <p:cNvSpPr>
              <a:spLocks noChangeArrowheads="1"/>
            </p:cNvSpPr>
            <p:nvPr/>
          </p:nvSpPr>
          <p:spPr bwMode="auto">
            <a:xfrm>
              <a:off x="2640" y="2160"/>
              <a:ext cx="256" cy="38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4" name="Line 53"/>
            <p:cNvSpPr/>
            <p:nvPr/>
          </p:nvSpPr>
          <p:spPr>
            <a:xfrm>
              <a:off x="2576" y="1584"/>
              <a:ext cx="76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5" name="Line 54"/>
            <p:cNvSpPr/>
            <p:nvPr/>
          </p:nvSpPr>
          <p:spPr>
            <a:xfrm>
              <a:off x="2576" y="1968"/>
              <a:ext cx="76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6" name="Line 55"/>
            <p:cNvSpPr/>
            <p:nvPr/>
          </p:nvSpPr>
          <p:spPr>
            <a:xfrm>
              <a:off x="2576" y="1584"/>
              <a:ext cx="0" cy="384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7" name="Line 56"/>
            <p:cNvSpPr/>
            <p:nvPr/>
          </p:nvSpPr>
          <p:spPr>
            <a:xfrm>
              <a:off x="2832" y="1584"/>
              <a:ext cx="0" cy="3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8" name="Line 57"/>
            <p:cNvSpPr/>
            <p:nvPr/>
          </p:nvSpPr>
          <p:spPr>
            <a:xfrm>
              <a:off x="3088" y="1584"/>
              <a:ext cx="0" cy="38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59" name="Line 58"/>
            <p:cNvSpPr/>
            <p:nvPr/>
          </p:nvSpPr>
          <p:spPr>
            <a:xfrm>
              <a:off x="3344" y="1584"/>
              <a:ext cx="0" cy="384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9499" name="Rectangle 59"/>
            <p:cNvSpPr>
              <a:spLocks noChangeArrowheads="1"/>
            </p:cNvSpPr>
            <p:nvPr/>
          </p:nvSpPr>
          <p:spPr bwMode="auto">
            <a:xfrm>
              <a:off x="2256" y="2735"/>
              <a:ext cx="43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500" name="Rectangle 60"/>
            <p:cNvSpPr>
              <a:spLocks noChangeArrowheads="1"/>
            </p:cNvSpPr>
            <p:nvPr/>
          </p:nvSpPr>
          <p:spPr bwMode="auto">
            <a:xfrm>
              <a:off x="1824" y="2735"/>
              <a:ext cx="43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E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9501" name="Rectangle 61"/>
            <p:cNvSpPr>
              <a:spLocks noChangeArrowheads="1"/>
            </p:cNvSpPr>
            <p:nvPr/>
          </p:nvSpPr>
          <p:spPr bwMode="auto">
            <a:xfrm>
              <a:off x="1392" y="2735"/>
              <a:ext cx="432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3" name="Line 62"/>
            <p:cNvSpPr/>
            <p:nvPr/>
          </p:nvSpPr>
          <p:spPr>
            <a:xfrm>
              <a:off x="1392" y="2736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4" name="Line 63"/>
            <p:cNvSpPr/>
            <p:nvPr/>
          </p:nvSpPr>
          <p:spPr>
            <a:xfrm>
              <a:off x="1392" y="3062"/>
              <a:ext cx="129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5" name="Line 64"/>
            <p:cNvSpPr/>
            <p:nvPr/>
          </p:nvSpPr>
          <p:spPr>
            <a:xfrm>
              <a:off x="1392" y="273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6" name="Line 65"/>
            <p:cNvSpPr/>
            <p:nvPr/>
          </p:nvSpPr>
          <p:spPr>
            <a:xfrm>
              <a:off x="1824" y="273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7" name="Line 66"/>
            <p:cNvSpPr/>
            <p:nvPr/>
          </p:nvSpPr>
          <p:spPr>
            <a:xfrm>
              <a:off x="2256" y="2736"/>
              <a:ext cx="0" cy="32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8" name="Line 67"/>
            <p:cNvSpPr/>
            <p:nvPr/>
          </p:nvSpPr>
          <p:spPr>
            <a:xfrm>
              <a:off x="2688" y="2736"/>
              <a:ext cx="0" cy="32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69" name="Line 77"/>
            <p:cNvSpPr/>
            <p:nvPr/>
          </p:nvSpPr>
          <p:spPr>
            <a:xfrm flipH="1">
              <a:off x="3504" y="672"/>
              <a:ext cx="288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70" name="Line 82"/>
            <p:cNvSpPr/>
            <p:nvPr/>
          </p:nvSpPr>
          <p:spPr>
            <a:xfrm flipH="1">
              <a:off x="2928" y="1200"/>
              <a:ext cx="304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71" name="Line 103"/>
            <p:cNvSpPr/>
            <p:nvPr/>
          </p:nvSpPr>
          <p:spPr>
            <a:xfrm flipH="1">
              <a:off x="2448" y="1776"/>
              <a:ext cx="304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72" name="Line 104"/>
            <p:cNvSpPr/>
            <p:nvPr/>
          </p:nvSpPr>
          <p:spPr>
            <a:xfrm flipH="1">
              <a:off x="1920" y="2352"/>
              <a:ext cx="304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524" grpId="0" animBg="1"/>
      <p:bldP spid="18954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5843" name="Text Box 4"/>
          <p:cNvSpPr txBox="1"/>
          <p:nvPr/>
        </p:nvSpPr>
        <p:spPr>
          <a:xfrm>
            <a:off x="457200" y="381000"/>
            <a:ext cx="4876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二叉树链表表示的示例</a:t>
            </a:r>
            <a:endParaRPr lang="zh-CN" altLang="en-US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5844" name="Line 5"/>
          <p:cNvSpPr/>
          <p:nvPr/>
        </p:nvSpPr>
        <p:spPr>
          <a:xfrm flipH="1">
            <a:off x="1295400" y="4084638"/>
            <a:ext cx="304800" cy="7620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5" name="Line 6"/>
          <p:cNvSpPr/>
          <p:nvPr/>
        </p:nvSpPr>
        <p:spPr>
          <a:xfrm>
            <a:off x="1371600" y="3322638"/>
            <a:ext cx="609600" cy="1371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6" name="Line 7"/>
          <p:cNvSpPr/>
          <p:nvPr/>
        </p:nvSpPr>
        <p:spPr>
          <a:xfrm flipH="1">
            <a:off x="990600" y="2560638"/>
            <a:ext cx="533400" cy="12954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7" name="Oval 8" descr="羊皮纸"/>
          <p:cNvSpPr/>
          <p:nvPr/>
        </p:nvSpPr>
        <p:spPr>
          <a:xfrm>
            <a:off x="1371600" y="2179638"/>
            <a:ext cx="457200" cy="457200"/>
          </a:xfrm>
          <a:prstGeom prst="ellipse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48" name="Oval 9" descr="羊皮纸"/>
          <p:cNvSpPr/>
          <p:nvPr/>
        </p:nvSpPr>
        <p:spPr>
          <a:xfrm>
            <a:off x="1066800" y="2941638"/>
            <a:ext cx="457200" cy="457200"/>
          </a:xfrm>
          <a:prstGeom prst="ellipse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49" name="Oval 10" descr="羊皮纸"/>
          <p:cNvSpPr/>
          <p:nvPr/>
        </p:nvSpPr>
        <p:spPr>
          <a:xfrm>
            <a:off x="685800" y="3779838"/>
            <a:ext cx="457200" cy="457200"/>
          </a:xfrm>
          <a:prstGeom prst="ellipse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50" name="Oval 11" descr="羊皮纸"/>
          <p:cNvSpPr/>
          <p:nvPr/>
        </p:nvSpPr>
        <p:spPr>
          <a:xfrm>
            <a:off x="1447800" y="3779838"/>
            <a:ext cx="457200" cy="457200"/>
          </a:xfrm>
          <a:prstGeom prst="ellipse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51" name="Oval 12" descr="羊皮纸"/>
          <p:cNvSpPr/>
          <p:nvPr/>
        </p:nvSpPr>
        <p:spPr>
          <a:xfrm>
            <a:off x="1828800" y="4618038"/>
            <a:ext cx="457200" cy="457200"/>
          </a:xfrm>
          <a:prstGeom prst="ellipse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52" name="Oval 13" descr="羊皮纸"/>
          <p:cNvSpPr/>
          <p:nvPr/>
        </p:nvSpPr>
        <p:spPr>
          <a:xfrm>
            <a:off x="1066800" y="4618038"/>
            <a:ext cx="457200" cy="457200"/>
          </a:xfrm>
          <a:prstGeom prst="ellipse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53" name="Rectangle 14" descr="羊皮纸"/>
          <p:cNvSpPr/>
          <p:nvPr/>
        </p:nvSpPr>
        <p:spPr>
          <a:xfrm>
            <a:off x="3581400" y="2103438"/>
            <a:ext cx="9906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54" name="Line 15"/>
          <p:cNvSpPr/>
          <p:nvPr/>
        </p:nvSpPr>
        <p:spPr>
          <a:xfrm>
            <a:off x="3886200" y="21034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5" name="Line 16"/>
          <p:cNvSpPr/>
          <p:nvPr/>
        </p:nvSpPr>
        <p:spPr>
          <a:xfrm>
            <a:off x="4267200" y="21034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6" name="Rectangle 17" descr="羊皮纸"/>
          <p:cNvSpPr/>
          <p:nvPr/>
        </p:nvSpPr>
        <p:spPr>
          <a:xfrm>
            <a:off x="3048000" y="2941638"/>
            <a:ext cx="9906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57" name="Line 18"/>
          <p:cNvSpPr/>
          <p:nvPr/>
        </p:nvSpPr>
        <p:spPr>
          <a:xfrm>
            <a:off x="3352800" y="29416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8" name="Line 19"/>
          <p:cNvSpPr/>
          <p:nvPr/>
        </p:nvSpPr>
        <p:spPr>
          <a:xfrm>
            <a:off x="3733800" y="29416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59" name="Rectangle 20" descr="羊皮纸"/>
          <p:cNvSpPr/>
          <p:nvPr/>
        </p:nvSpPr>
        <p:spPr>
          <a:xfrm>
            <a:off x="2971800" y="4618038"/>
            <a:ext cx="9906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60" name="Line 21"/>
          <p:cNvSpPr/>
          <p:nvPr/>
        </p:nvSpPr>
        <p:spPr>
          <a:xfrm>
            <a:off x="3276600" y="46180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1" name="Line 22"/>
          <p:cNvSpPr/>
          <p:nvPr/>
        </p:nvSpPr>
        <p:spPr>
          <a:xfrm>
            <a:off x="3657600" y="46180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2" name="Rectangle 23" descr="羊皮纸"/>
          <p:cNvSpPr/>
          <p:nvPr/>
        </p:nvSpPr>
        <p:spPr>
          <a:xfrm>
            <a:off x="4114800" y="4618038"/>
            <a:ext cx="9906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63" name="Line 24"/>
          <p:cNvSpPr/>
          <p:nvPr/>
        </p:nvSpPr>
        <p:spPr>
          <a:xfrm>
            <a:off x="4419600" y="46180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4" name="Line 25"/>
          <p:cNvSpPr/>
          <p:nvPr/>
        </p:nvSpPr>
        <p:spPr>
          <a:xfrm>
            <a:off x="4800600" y="46180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5" name="Rectangle 26" descr="羊皮纸"/>
          <p:cNvSpPr/>
          <p:nvPr/>
        </p:nvSpPr>
        <p:spPr>
          <a:xfrm>
            <a:off x="3581400" y="3779838"/>
            <a:ext cx="9906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66" name="Line 27"/>
          <p:cNvSpPr/>
          <p:nvPr/>
        </p:nvSpPr>
        <p:spPr>
          <a:xfrm>
            <a:off x="3886200" y="37798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7" name="Line 28"/>
          <p:cNvSpPr/>
          <p:nvPr/>
        </p:nvSpPr>
        <p:spPr>
          <a:xfrm>
            <a:off x="4267200" y="37798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68" name="Rectangle 29" descr="羊皮纸"/>
          <p:cNvSpPr/>
          <p:nvPr/>
        </p:nvSpPr>
        <p:spPr>
          <a:xfrm>
            <a:off x="2438400" y="3779838"/>
            <a:ext cx="9906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69" name="Line 30"/>
          <p:cNvSpPr/>
          <p:nvPr/>
        </p:nvSpPr>
        <p:spPr>
          <a:xfrm flipH="1">
            <a:off x="2743200" y="37798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0" name="Line 31"/>
          <p:cNvSpPr/>
          <p:nvPr/>
        </p:nvSpPr>
        <p:spPr>
          <a:xfrm>
            <a:off x="3124200" y="3779838"/>
            <a:ext cx="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1" name="Rectangle 32" descr="羊皮纸"/>
          <p:cNvSpPr/>
          <p:nvPr/>
        </p:nvSpPr>
        <p:spPr>
          <a:xfrm>
            <a:off x="7010400" y="4618038"/>
            <a:ext cx="12954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72" name="Line 33"/>
          <p:cNvSpPr/>
          <p:nvPr/>
        </p:nvSpPr>
        <p:spPr>
          <a:xfrm>
            <a:off x="7694613" y="46180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3" name="Line 34"/>
          <p:cNvSpPr/>
          <p:nvPr/>
        </p:nvSpPr>
        <p:spPr>
          <a:xfrm>
            <a:off x="8001000" y="4618038"/>
            <a:ext cx="1588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4" name="Line 35"/>
          <p:cNvSpPr/>
          <p:nvPr/>
        </p:nvSpPr>
        <p:spPr>
          <a:xfrm>
            <a:off x="7315200" y="4618038"/>
            <a:ext cx="1588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5" name="Rectangle 36" descr="羊皮纸"/>
          <p:cNvSpPr/>
          <p:nvPr/>
        </p:nvSpPr>
        <p:spPr>
          <a:xfrm>
            <a:off x="5562600" y="4618038"/>
            <a:ext cx="12954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76" name="Line 37"/>
          <p:cNvSpPr/>
          <p:nvPr/>
        </p:nvSpPr>
        <p:spPr>
          <a:xfrm>
            <a:off x="6246813" y="46180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7" name="Line 38"/>
          <p:cNvSpPr/>
          <p:nvPr/>
        </p:nvSpPr>
        <p:spPr>
          <a:xfrm>
            <a:off x="6551613" y="46180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8" name="Line 39"/>
          <p:cNvSpPr/>
          <p:nvPr/>
        </p:nvSpPr>
        <p:spPr>
          <a:xfrm>
            <a:off x="5867400" y="4618038"/>
            <a:ext cx="1588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79" name="Rectangle 40" descr="羊皮纸"/>
          <p:cNvSpPr/>
          <p:nvPr/>
        </p:nvSpPr>
        <p:spPr>
          <a:xfrm>
            <a:off x="6477000" y="3779838"/>
            <a:ext cx="12954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80" name="Line 41"/>
          <p:cNvSpPr/>
          <p:nvPr/>
        </p:nvSpPr>
        <p:spPr>
          <a:xfrm>
            <a:off x="7161213" y="37798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1" name="Line 42"/>
          <p:cNvSpPr/>
          <p:nvPr/>
        </p:nvSpPr>
        <p:spPr>
          <a:xfrm>
            <a:off x="7467600" y="3779838"/>
            <a:ext cx="1588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2" name="Line 43"/>
          <p:cNvSpPr/>
          <p:nvPr/>
        </p:nvSpPr>
        <p:spPr>
          <a:xfrm>
            <a:off x="6780213" y="37798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3" name="Rectangle 44" descr="羊皮纸"/>
          <p:cNvSpPr/>
          <p:nvPr/>
        </p:nvSpPr>
        <p:spPr>
          <a:xfrm>
            <a:off x="5029200" y="3779838"/>
            <a:ext cx="12954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84" name="Line 45"/>
          <p:cNvSpPr/>
          <p:nvPr/>
        </p:nvSpPr>
        <p:spPr>
          <a:xfrm>
            <a:off x="5713413" y="37798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5" name="Line 46"/>
          <p:cNvSpPr/>
          <p:nvPr/>
        </p:nvSpPr>
        <p:spPr>
          <a:xfrm>
            <a:off x="6018213" y="37798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6" name="Line 47"/>
          <p:cNvSpPr/>
          <p:nvPr/>
        </p:nvSpPr>
        <p:spPr>
          <a:xfrm>
            <a:off x="5334000" y="3779838"/>
            <a:ext cx="1588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7" name="Rectangle 48" descr="羊皮纸"/>
          <p:cNvSpPr/>
          <p:nvPr/>
        </p:nvSpPr>
        <p:spPr>
          <a:xfrm>
            <a:off x="5715000" y="2941638"/>
            <a:ext cx="12954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88" name="Line 49"/>
          <p:cNvSpPr/>
          <p:nvPr/>
        </p:nvSpPr>
        <p:spPr>
          <a:xfrm>
            <a:off x="6399213" y="29416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89" name="Line 50"/>
          <p:cNvSpPr/>
          <p:nvPr/>
        </p:nvSpPr>
        <p:spPr>
          <a:xfrm>
            <a:off x="6705600" y="2941638"/>
            <a:ext cx="1588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90" name="Line 51"/>
          <p:cNvSpPr/>
          <p:nvPr/>
        </p:nvSpPr>
        <p:spPr>
          <a:xfrm>
            <a:off x="6018213" y="29416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91" name="Rectangle 52" descr="羊皮纸"/>
          <p:cNvSpPr/>
          <p:nvPr/>
        </p:nvSpPr>
        <p:spPr>
          <a:xfrm>
            <a:off x="6172200" y="2103438"/>
            <a:ext cx="1295400" cy="457200"/>
          </a:xfrm>
          <a:prstGeom prst="rect">
            <a:avLst/>
          </a:prstGeom>
          <a:blipFill rotWithShape="0">
            <a:blip r:embed="rId1"/>
          </a:blip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5892" name="Line 53"/>
          <p:cNvSpPr/>
          <p:nvPr/>
        </p:nvSpPr>
        <p:spPr>
          <a:xfrm>
            <a:off x="6856413" y="21034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93" name="Line 54"/>
          <p:cNvSpPr/>
          <p:nvPr/>
        </p:nvSpPr>
        <p:spPr>
          <a:xfrm>
            <a:off x="7162800" y="2103438"/>
            <a:ext cx="1588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94" name="Line 55"/>
          <p:cNvSpPr/>
          <p:nvPr/>
        </p:nvSpPr>
        <p:spPr>
          <a:xfrm>
            <a:off x="6475413" y="2103438"/>
            <a:ext cx="1587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95" name="Line 56"/>
          <p:cNvSpPr/>
          <p:nvPr/>
        </p:nvSpPr>
        <p:spPr>
          <a:xfrm flipH="1">
            <a:off x="3429000" y="2332038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896" name="Line 57"/>
          <p:cNvSpPr/>
          <p:nvPr/>
        </p:nvSpPr>
        <p:spPr>
          <a:xfrm flipH="1">
            <a:off x="2895600" y="3170238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897" name="Line 58"/>
          <p:cNvSpPr/>
          <p:nvPr/>
        </p:nvSpPr>
        <p:spPr>
          <a:xfrm flipH="1">
            <a:off x="3429000" y="4008438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898" name="Line 59"/>
          <p:cNvSpPr/>
          <p:nvPr/>
        </p:nvSpPr>
        <p:spPr>
          <a:xfrm flipH="1">
            <a:off x="6019800" y="2332038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899" name="Line 60"/>
          <p:cNvSpPr/>
          <p:nvPr/>
        </p:nvSpPr>
        <p:spPr>
          <a:xfrm flipH="1">
            <a:off x="5562600" y="3170238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900" name="Line 61"/>
          <p:cNvSpPr/>
          <p:nvPr/>
        </p:nvSpPr>
        <p:spPr>
          <a:xfrm flipH="1">
            <a:off x="6324600" y="4008438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901" name="Line 62"/>
          <p:cNvSpPr/>
          <p:nvPr/>
        </p:nvSpPr>
        <p:spPr>
          <a:xfrm>
            <a:off x="6858000" y="3170238"/>
            <a:ext cx="6096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902" name="Line 63"/>
          <p:cNvSpPr/>
          <p:nvPr/>
        </p:nvSpPr>
        <p:spPr>
          <a:xfrm>
            <a:off x="7620000" y="4008438"/>
            <a:ext cx="4572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903" name="Line 64"/>
          <p:cNvSpPr/>
          <p:nvPr/>
        </p:nvSpPr>
        <p:spPr>
          <a:xfrm>
            <a:off x="3886200" y="3170238"/>
            <a:ext cx="2286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904" name="Line 65"/>
          <p:cNvSpPr/>
          <p:nvPr/>
        </p:nvSpPr>
        <p:spPr>
          <a:xfrm>
            <a:off x="4419600" y="4008438"/>
            <a:ext cx="2286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35905" name="Line 66"/>
          <p:cNvSpPr/>
          <p:nvPr/>
        </p:nvSpPr>
        <p:spPr>
          <a:xfrm>
            <a:off x="6705600" y="3398838"/>
            <a:ext cx="6096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triangle" w="sm" len="lg"/>
            <a:tailEnd type="none" w="sm" len="lg"/>
          </a:ln>
        </p:spPr>
      </p:sp>
      <p:sp>
        <p:nvSpPr>
          <p:cNvPr id="35906" name="Line 67"/>
          <p:cNvSpPr/>
          <p:nvPr/>
        </p:nvSpPr>
        <p:spPr>
          <a:xfrm>
            <a:off x="7315200" y="4237038"/>
            <a:ext cx="5334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triangle" w="sm" len="lg"/>
            <a:tailEnd type="none" w="sm" len="lg"/>
          </a:ln>
        </p:spPr>
      </p:sp>
      <p:sp>
        <p:nvSpPr>
          <p:cNvPr id="35907" name="Line 68"/>
          <p:cNvSpPr/>
          <p:nvPr/>
        </p:nvSpPr>
        <p:spPr>
          <a:xfrm flipH="1">
            <a:off x="6553200" y="2560638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triangle" w="sm" len="lg"/>
            <a:tailEnd type="none" w="sm" len="lg"/>
          </a:ln>
        </p:spPr>
      </p:sp>
      <p:sp>
        <p:nvSpPr>
          <p:cNvPr id="35908" name="Line 69"/>
          <p:cNvSpPr/>
          <p:nvPr/>
        </p:nvSpPr>
        <p:spPr>
          <a:xfrm flipH="1">
            <a:off x="6400800" y="4237038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triangle" w="sm" len="lg"/>
            <a:tailEnd type="none" w="sm" len="lg"/>
          </a:ln>
        </p:spPr>
      </p:sp>
      <p:sp>
        <p:nvSpPr>
          <p:cNvPr id="35909" name="Line 70"/>
          <p:cNvSpPr/>
          <p:nvPr/>
        </p:nvSpPr>
        <p:spPr>
          <a:xfrm flipH="1">
            <a:off x="5867400" y="3398838"/>
            <a:ext cx="3810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triangle" w="sm" len="lg"/>
            <a:tailEnd type="none" w="sm" len="lg"/>
          </a:ln>
        </p:spPr>
      </p:sp>
      <p:sp>
        <p:nvSpPr>
          <p:cNvPr id="35910" name="Text Box 71"/>
          <p:cNvSpPr txBox="1"/>
          <p:nvPr/>
        </p:nvSpPr>
        <p:spPr>
          <a:xfrm>
            <a:off x="4191000" y="2027238"/>
            <a:ext cx="39846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1" name="Text Box 72"/>
          <p:cNvSpPr txBox="1"/>
          <p:nvPr/>
        </p:nvSpPr>
        <p:spPr>
          <a:xfrm>
            <a:off x="2362200" y="37179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2" name="Text Box 73"/>
          <p:cNvSpPr txBox="1"/>
          <p:nvPr/>
        </p:nvSpPr>
        <p:spPr>
          <a:xfrm>
            <a:off x="3048000" y="3703638"/>
            <a:ext cx="39846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3" name="Text Box 74"/>
          <p:cNvSpPr txBox="1"/>
          <p:nvPr/>
        </p:nvSpPr>
        <p:spPr>
          <a:xfrm>
            <a:off x="2895600" y="45561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4" name="Text Box 75"/>
          <p:cNvSpPr txBox="1"/>
          <p:nvPr/>
        </p:nvSpPr>
        <p:spPr>
          <a:xfrm>
            <a:off x="3581400" y="45561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5" name="Text Box 76"/>
          <p:cNvSpPr txBox="1"/>
          <p:nvPr/>
        </p:nvSpPr>
        <p:spPr>
          <a:xfrm>
            <a:off x="4038600" y="45561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6" name="Text Box 77"/>
          <p:cNvSpPr txBox="1"/>
          <p:nvPr/>
        </p:nvSpPr>
        <p:spPr>
          <a:xfrm>
            <a:off x="4724400" y="45561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7" name="Text Box 78"/>
          <p:cNvSpPr txBox="1"/>
          <p:nvPr/>
        </p:nvSpPr>
        <p:spPr>
          <a:xfrm>
            <a:off x="5486400" y="45561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8" name="Text Box 79"/>
          <p:cNvSpPr txBox="1"/>
          <p:nvPr/>
        </p:nvSpPr>
        <p:spPr>
          <a:xfrm>
            <a:off x="6477000" y="45561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19" name="Text Box 80"/>
          <p:cNvSpPr txBox="1"/>
          <p:nvPr/>
        </p:nvSpPr>
        <p:spPr>
          <a:xfrm>
            <a:off x="6934200" y="45561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20" name="Text Box 81"/>
          <p:cNvSpPr txBox="1"/>
          <p:nvPr/>
        </p:nvSpPr>
        <p:spPr>
          <a:xfrm>
            <a:off x="7924800" y="4556125"/>
            <a:ext cx="398463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21" name="Text Box 82"/>
          <p:cNvSpPr txBox="1"/>
          <p:nvPr/>
        </p:nvSpPr>
        <p:spPr>
          <a:xfrm>
            <a:off x="5943600" y="3703638"/>
            <a:ext cx="39846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22" name="Text Box 83"/>
          <p:cNvSpPr txBox="1"/>
          <p:nvPr/>
        </p:nvSpPr>
        <p:spPr>
          <a:xfrm>
            <a:off x="4953000" y="3703638"/>
            <a:ext cx="39846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23" name="Text Box 84"/>
          <p:cNvSpPr txBox="1"/>
          <p:nvPr/>
        </p:nvSpPr>
        <p:spPr>
          <a:xfrm>
            <a:off x="6781800" y="2027238"/>
            <a:ext cx="39846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24" name="Text Box 85"/>
          <p:cNvSpPr txBox="1"/>
          <p:nvPr/>
        </p:nvSpPr>
        <p:spPr>
          <a:xfrm>
            <a:off x="7086600" y="2027238"/>
            <a:ext cx="39846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925" name="Text Box 86"/>
          <p:cNvSpPr txBox="1"/>
          <p:nvPr/>
        </p:nvSpPr>
        <p:spPr>
          <a:xfrm>
            <a:off x="1370013" y="2087563"/>
            <a:ext cx="477837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26" name="Text Box 87"/>
          <p:cNvSpPr txBox="1"/>
          <p:nvPr/>
        </p:nvSpPr>
        <p:spPr>
          <a:xfrm>
            <a:off x="3810000" y="2011363"/>
            <a:ext cx="477838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27" name="Text Box 88"/>
          <p:cNvSpPr txBox="1"/>
          <p:nvPr/>
        </p:nvSpPr>
        <p:spPr>
          <a:xfrm>
            <a:off x="6400800" y="2027238"/>
            <a:ext cx="477838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28" name="Text Box 89"/>
          <p:cNvSpPr txBox="1"/>
          <p:nvPr/>
        </p:nvSpPr>
        <p:spPr>
          <a:xfrm>
            <a:off x="1057275" y="2865438"/>
            <a:ext cx="455613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29" name="Text Box 90"/>
          <p:cNvSpPr txBox="1"/>
          <p:nvPr/>
        </p:nvSpPr>
        <p:spPr>
          <a:xfrm>
            <a:off x="3278188" y="2865438"/>
            <a:ext cx="455612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0" name="Text Box 91"/>
          <p:cNvSpPr txBox="1"/>
          <p:nvPr/>
        </p:nvSpPr>
        <p:spPr>
          <a:xfrm>
            <a:off x="5943600" y="2865438"/>
            <a:ext cx="455613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1" name="Text Box 92"/>
          <p:cNvSpPr txBox="1"/>
          <p:nvPr/>
        </p:nvSpPr>
        <p:spPr>
          <a:xfrm>
            <a:off x="5246688" y="3733800"/>
            <a:ext cx="477837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2" name="Text Box 93"/>
          <p:cNvSpPr txBox="1"/>
          <p:nvPr/>
        </p:nvSpPr>
        <p:spPr>
          <a:xfrm>
            <a:off x="2667000" y="3733800"/>
            <a:ext cx="477838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3" name="Text Box 94"/>
          <p:cNvSpPr txBox="1"/>
          <p:nvPr/>
        </p:nvSpPr>
        <p:spPr>
          <a:xfrm>
            <a:off x="685800" y="3733800"/>
            <a:ext cx="477838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4" name="Text Box 95"/>
          <p:cNvSpPr txBox="1"/>
          <p:nvPr/>
        </p:nvSpPr>
        <p:spPr>
          <a:xfrm>
            <a:off x="1427163" y="3733800"/>
            <a:ext cx="477837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5" name="Text Box 96"/>
          <p:cNvSpPr txBox="1"/>
          <p:nvPr/>
        </p:nvSpPr>
        <p:spPr>
          <a:xfrm>
            <a:off x="3810000" y="3703638"/>
            <a:ext cx="477838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6" name="Text Box 97"/>
          <p:cNvSpPr txBox="1"/>
          <p:nvPr/>
        </p:nvSpPr>
        <p:spPr>
          <a:xfrm>
            <a:off x="6705600" y="3703638"/>
            <a:ext cx="477838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7" name="Text Box 98"/>
          <p:cNvSpPr txBox="1"/>
          <p:nvPr/>
        </p:nvSpPr>
        <p:spPr>
          <a:xfrm>
            <a:off x="7261225" y="4572000"/>
            <a:ext cx="431800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8" name="Text Box 99"/>
          <p:cNvSpPr txBox="1"/>
          <p:nvPr/>
        </p:nvSpPr>
        <p:spPr>
          <a:xfrm>
            <a:off x="4368800" y="4572000"/>
            <a:ext cx="431800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39" name="Text Box 100"/>
          <p:cNvSpPr txBox="1"/>
          <p:nvPr/>
        </p:nvSpPr>
        <p:spPr>
          <a:xfrm>
            <a:off x="1854200" y="4572000"/>
            <a:ext cx="431800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40" name="Text Box 101"/>
          <p:cNvSpPr txBox="1"/>
          <p:nvPr/>
        </p:nvSpPr>
        <p:spPr>
          <a:xfrm>
            <a:off x="1081088" y="4572000"/>
            <a:ext cx="455612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41" name="Text Box 102"/>
          <p:cNvSpPr txBox="1"/>
          <p:nvPr/>
        </p:nvSpPr>
        <p:spPr>
          <a:xfrm>
            <a:off x="3200400" y="4572000"/>
            <a:ext cx="455613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42" name="Text Box 103"/>
          <p:cNvSpPr txBox="1"/>
          <p:nvPr/>
        </p:nvSpPr>
        <p:spPr>
          <a:xfrm>
            <a:off x="5791200" y="4572000"/>
            <a:ext cx="455613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43" name="Line 104"/>
          <p:cNvSpPr/>
          <p:nvPr/>
        </p:nvSpPr>
        <p:spPr>
          <a:xfrm flipH="1">
            <a:off x="1676400" y="1874838"/>
            <a:ext cx="228600" cy="3048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944" name="Text Box 105"/>
          <p:cNvSpPr txBox="1"/>
          <p:nvPr/>
        </p:nvSpPr>
        <p:spPr>
          <a:xfrm>
            <a:off x="1600200" y="1341438"/>
            <a:ext cx="906463" cy="5794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root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45" name="Line 106"/>
          <p:cNvSpPr/>
          <p:nvPr/>
        </p:nvSpPr>
        <p:spPr>
          <a:xfrm flipH="1">
            <a:off x="4014788" y="1798638"/>
            <a:ext cx="228600" cy="3048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946" name="Text Box 107"/>
          <p:cNvSpPr txBox="1"/>
          <p:nvPr/>
        </p:nvSpPr>
        <p:spPr>
          <a:xfrm>
            <a:off x="3970338" y="1295400"/>
            <a:ext cx="906462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root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47" name="Line 108"/>
          <p:cNvSpPr/>
          <p:nvPr/>
        </p:nvSpPr>
        <p:spPr>
          <a:xfrm flipH="1">
            <a:off x="6605588" y="1798638"/>
            <a:ext cx="228600" cy="3048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948" name="Text Box 109"/>
          <p:cNvSpPr txBox="1"/>
          <p:nvPr/>
        </p:nvSpPr>
        <p:spPr>
          <a:xfrm>
            <a:off x="6561138" y="1295400"/>
            <a:ext cx="906462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root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5949" name="Text Box 110"/>
          <p:cNvSpPr txBox="1"/>
          <p:nvPr/>
        </p:nvSpPr>
        <p:spPr>
          <a:xfrm>
            <a:off x="838200" y="5486400"/>
            <a:ext cx="7620000" cy="519113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2C84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二叉树       二叉链表          三叉链表</a:t>
            </a:r>
            <a:endParaRPr lang="zh-CN" altLang="en-US" sz="2800" dirty="0">
              <a:solidFill>
                <a:srgbClr val="002C84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2258" name="Text Box 2"/>
          <p:cNvSpPr txBox="1"/>
          <p:nvPr/>
        </p:nvSpPr>
        <p:spPr>
          <a:xfrm>
            <a:off x="250825" y="765175"/>
            <a:ext cx="8893175" cy="57404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A50021"/>
                </a:solidFill>
                <a:latin typeface="楷体_GB2312"/>
                <a:ea typeface="楷体_GB2312"/>
              </a:rPr>
              <a:t>含有</a:t>
            </a:r>
            <a:r>
              <a:rPr lang="en-US" altLang="zh-CN" sz="4000" b="1" dirty="0">
                <a:solidFill>
                  <a:srgbClr val="A50021"/>
                </a:solidFill>
                <a:latin typeface="楷体_GB2312"/>
                <a:ea typeface="楷体_GB2312"/>
              </a:rPr>
              <a:t>n</a:t>
            </a:r>
            <a:r>
              <a:rPr lang="zh-CN" altLang="en-US" sz="4000" b="1" dirty="0">
                <a:solidFill>
                  <a:srgbClr val="A50021"/>
                </a:solidFill>
                <a:latin typeface="楷体_GB2312"/>
                <a:ea typeface="楷体_GB2312"/>
              </a:rPr>
              <a:t>个结点的二叉链表中，有</a:t>
            </a:r>
            <a:r>
              <a:rPr lang="en-US" altLang="zh-CN" sz="4000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n</a:t>
            </a:r>
            <a:r>
              <a:rPr lang="zh-CN" altLang="en-US" sz="4000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＋</a:t>
            </a:r>
            <a:r>
              <a:rPr lang="en-US" altLang="zh-CN" sz="4000" b="1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zh-CN" altLang="en-US" sz="4000" b="1" dirty="0">
                <a:solidFill>
                  <a:srgbClr val="A50021"/>
                </a:solidFill>
                <a:latin typeface="楷体_GB2312"/>
                <a:ea typeface="楷体_GB2312"/>
              </a:rPr>
              <a:t>个空链域。</a:t>
            </a:r>
            <a:endParaRPr lang="zh-CN" altLang="en-US" sz="4000" b="1" dirty="0">
              <a:solidFill>
                <a:srgbClr val="A5002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zh-CN" altLang="en-US" sz="3600" b="1" dirty="0">
                <a:latin typeface="Times New Roman" panose="02020603050405020304" pitchFamily="18" charset="0"/>
              </a:rPr>
              <a:t>证明：空链域数</a:t>
            </a:r>
            <a:r>
              <a:rPr lang="en-US" altLang="zh-CN" sz="3600" b="1" dirty="0">
                <a:latin typeface="Times New Roman" panose="02020603050405020304" pitchFamily="18" charset="0"/>
              </a:rPr>
              <a:t>=2n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3600" b="1" dirty="0">
                <a:latin typeface="Times New Roman" panose="02020603050405020304" pitchFamily="18" charset="0"/>
              </a:rPr>
              <a:t>＋</a:t>
            </a:r>
            <a:r>
              <a:rPr lang="en-US" altLang="zh-CN" sz="3600" b="1" dirty="0">
                <a:latin typeface="Times New Roman" panose="02020603050405020304" pitchFamily="18" charset="0"/>
              </a:rPr>
              <a:t>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3600" b="1" baseline="-25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3600" b="1" dirty="0">
                <a:latin typeface="Times New Roman" panose="02020603050405020304" pitchFamily="18" charset="0"/>
              </a:rPr>
              <a:t>因为   </a:t>
            </a:r>
            <a:r>
              <a:rPr lang="en-US" altLang="zh-CN" sz="3600" b="1" dirty="0">
                <a:latin typeface="Times New Roman" panose="02020603050405020304" pitchFamily="18" charset="0"/>
              </a:rPr>
              <a:t>n=n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3600" b="1" dirty="0">
                <a:latin typeface="Times New Roman" panose="02020603050405020304" pitchFamily="18" charset="0"/>
              </a:rPr>
              <a:t>＋</a:t>
            </a:r>
            <a:r>
              <a:rPr lang="en-US" altLang="zh-CN" sz="3600" b="1" dirty="0">
                <a:latin typeface="Times New Roman" panose="02020603050405020304" pitchFamily="18" charset="0"/>
              </a:rPr>
              <a:t>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latin typeface="Times New Roman" panose="02020603050405020304" pitchFamily="18" charset="0"/>
              </a:rPr>
              <a:t>＋</a:t>
            </a:r>
            <a:r>
              <a:rPr lang="en-US" altLang="zh-CN" sz="3600" b="1" dirty="0">
                <a:latin typeface="Times New Roman" panose="02020603050405020304" pitchFamily="18" charset="0"/>
              </a:rPr>
              <a:t>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3600" b="1" dirty="0">
                <a:latin typeface="Times New Roman" panose="02020603050405020304" pitchFamily="18" charset="0"/>
              </a:rPr>
              <a:t>                 </a:t>
            </a:r>
            <a:r>
              <a:rPr lang="zh-CN" altLang="en-US" sz="3600" b="1" dirty="0">
                <a:latin typeface="Times New Roman" panose="02020603050405020304" pitchFamily="18" charset="0"/>
              </a:rPr>
              <a:t>（</a:t>
            </a:r>
            <a:r>
              <a:rPr lang="en-US" altLang="zh-CN" sz="3600" b="1" dirty="0">
                <a:latin typeface="Times New Roman" panose="02020603050405020304" pitchFamily="18" charset="0"/>
              </a:rPr>
              <a:t>1</a:t>
            </a:r>
            <a:r>
              <a:rPr lang="zh-CN" altLang="en-US" sz="3600" b="1" dirty="0">
                <a:latin typeface="Times New Roman" panose="02020603050405020304" pitchFamily="18" charset="0"/>
              </a:rPr>
              <a:t>）</a:t>
            </a:r>
            <a:endParaRPr lang="zh-CN" altLang="en-US" sz="36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latin typeface="Times New Roman" panose="02020603050405020304" pitchFamily="18" charset="0"/>
              </a:rPr>
              <a:t>        又有  </a:t>
            </a:r>
            <a:r>
              <a:rPr lang="en-US" altLang="zh-CN" sz="3600" b="1" dirty="0">
                <a:latin typeface="Times New Roman" panose="02020603050405020304" pitchFamily="18" charset="0"/>
              </a:rPr>
              <a:t>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3600" b="1" dirty="0">
                <a:latin typeface="Times New Roman" panose="02020603050405020304" pitchFamily="18" charset="0"/>
              </a:rPr>
              <a:t>=n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</a:rPr>
              <a:t>＋</a:t>
            </a:r>
            <a:r>
              <a:rPr lang="en-US" altLang="zh-CN" sz="3600" b="1" dirty="0">
                <a:latin typeface="Times New Roman" panose="02020603050405020304" pitchFamily="18" charset="0"/>
              </a:rPr>
              <a:t>1    </a:t>
            </a:r>
            <a:r>
              <a:rPr lang="zh-CN" altLang="en-US" sz="3600" b="1" dirty="0">
                <a:latin typeface="Times New Roman" panose="02020603050405020304" pitchFamily="18" charset="0"/>
              </a:rPr>
              <a:t>即</a:t>
            </a:r>
            <a:r>
              <a:rPr lang="en-US" altLang="zh-CN" sz="3600" b="1" dirty="0">
                <a:latin typeface="Times New Roman" panose="02020603050405020304" pitchFamily="18" charset="0"/>
              </a:rPr>
              <a:t>-1=n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3600" b="1" dirty="0">
                <a:latin typeface="Times New Roman" panose="02020603050405020304" pitchFamily="18" charset="0"/>
              </a:rPr>
              <a:t>-n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0  </a:t>
            </a:r>
            <a:r>
              <a:rPr lang="zh-CN" altLang="en-US" sz="3600" b="1" dirty="0">
                <a:latin typeface="Times New Roman" panose="02020603050405020304" pitchFamily="18" charset="0"/>
              </a:rPr>
              <a:t>（</a:t>
            </a:r>
            <a:r>
              <a:rPr lang="en-US" altLang="zh-CN" sz="3600" b="1" dirty="0">
                <a:latin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</a:rPr>
              <a:t>）</a:t>
            </a:r>
            <a:endParaRPr lang="zh-CN" altLang="en-US" sz="36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3600" b="1" dirty="0">
                <a:latin typeface="Times New Roman" panose="02020603050405020304" pitchFamily="18" charset="0"/>
              </a:rPr>
              <a:t>(1)-(2)</a:t>
            </a:r>
            <a:r>
              <a:rPr lang="zh-CN" altLang="en-US" sz="3600" b="1" dirty="0">
                <a:latin typeface="Times New Roman" panose="02020603050405020304" pitchFamily="18" charset="0"/>
              </a:rPr>
              <a:t>得 </a:t>
            </a:r>
            <a:r>
              <a:rPr lang="en-US" altLang="zh-CN" sz="3600" b="1" dirty="0">
                <a:latin typeface="Times New Roman" panose="02020603050405020304" pitchFamily="18" charset="0"/>
              </a:rPr>
              <a:t>:       n</a:t>
            </a:r>
            <a:r>
              <a:rPr lang="zh-CN" altLang="en-US" sz="3600" b="1" dirty="0">
                <a:latin typeface="Times New Roman" panose="02020603050405020304" pitchFamily="18" charset="0"/>
              </a:rPr>
              <a:t>＋</a:t>
            </a:r>
            <a:r>
              <a:rPr lang="en-US" altLang="zh-CN" sz="3600" b="1" dirty="0">
                <a:latin typeface="Times New Roman" panose="02020603050405020304" pitchFamily="18" charset="0"/>
              </a:rPr>
              <a:t>1=2n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3600" b="1" dirty="0">
                <a:latin typeface="Times New Roman" panose="02020603050405020304" pitchFamily="18" charset="0"/>
              </a:rPr>
              <a:t>+n</a:t>
            </a:r>
            <a:r>
              <a:rPr lang="en-US" altLang="zh-CN" sz="36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3600" b="1" baseline="-25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3600" b="1" dirty="0">
                <a:latin typeface="Times New Roman" panose="02020603050405020304" pitchFamily="18" charset="0"/>
              </a:rPr>
              <a:t>故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空链域数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=n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zh-CN" sz="36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endParaRPr lang="en-US" altLang="zh-CN" sz="36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629" name="Rectangle 5"/>
          <p:cNvSpPr/>
          <p:nvPr/>
        </p:nvSpPr>
        <p:spPr>
          <a:xfrm>
            <a:off x="2268538" y="5876925"/>
            <a:ext cx="5183187" cy="5238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空指针数目＝</a:t>
            </a:r>
            <a:r>
              <a:rPr lang="en-US" altLang="zh-CN" sz="2800" b="1" dirty="0">
                <a:latin typeface="楷体_GB2312"/>
                <a:ea typeface="楷体_GB2312"/>
              </a:rPr>
              <a:t>2n</a:t>
            </a:r>
            <a:r>
              <a:rPr lang="zh-CN" altLang="en-US" sz="2800" b="1" dirty="0">
                <a:latin typeface="楷体_GB2312"/>
                <a:ea typeface="楷体_GB2312"/>
              </a:rPr>
              <a:t>－</a:t>
            </a:r>
            <a:r>
              <a:rPr lang="en-US" altLang="zh-CN" sz="2800" b="1" dirty="0">
                <a:latin typeface="楷体_GB2312"/>
                <a:ea typeface="楷体_GB2312"/>
              </a:rPr>
              <a:t>(n-1)=n+1</a:t>
            </a:r>
            <a:endParaRPr lang="en-US" altLang="zh-CN" sz="28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>
                                            <p:txEl>
                                              <p:charRg st="23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258">
                                            <p:txEl>
                                              <p:charRg st="23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>
                                            <p:txEl>
                                              <p:charRg st="41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2258">
                                            <p:txEl>
                                              <p:charRg st="41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>
                                            <p:txEl>
                                              <p:charRg st="86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2258">
                                            <p:txEl>
                                              <p:charRg st="86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>
                                            <p:txEl>
                                              <p:charRg st="124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2258">
                                            <p:txEl>
                                              <p:charRg st="124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>
                                            <p:txEl>
                                              <p:charRg st="160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2258">
                                            <p:txEl>
                                              <p:charRg st="160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533400" y="76200"/>
            <a:ext cx="7772400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6.3 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遍历二叉树和线索二叉树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2" name="Rectangle 3"/>
          <p:cNvSpPr/>
          <p:nvPr/>
        </p:nvSpPr>
        <p:spPr>
          <a:xfrm>
            <a:off x="457200" y="990600"/>
            <a:ext cx="67437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accent1"/>
                </a:solidFill>
                <a:ea typeface="黑体" panose="02010609060101010101" pitchFamily="49" charset="-122"/>
              </a:rPr>
              <a:t>一、</a:t>
            </a:r>
            <a:r>
              <a:rPr lang="zh-CN" altLang="en-US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遍历二叉树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Traversing Binary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 Tree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1668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41669" name="Text Box 5"/>
          <p:cNvSpPr txBox="1"/>
          <p:nvPr/>
        </p:nvSpPr>
        <p:spPr>
          <a:xfrm>
            <a:off x="609600" y="1905000"/>
            <a:ext cx="7924800" cy="3509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190750" lvl="0" indent="-219075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遍历定义</a:t>
            </a:r>
            <a:r>
              <a:rPr lang="en-US" altLang="zh-CN" sz="2800" dirty="0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指按某条搜索路线遍访每个结点且不重复（又称周游）。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2190750" lvl="0" indent="-219075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遍历用途</a:t>
            </a:r>
            <a:r>
              <a:rPr lang="en-US" altLang="zh-CN" sz="2800" b="1" dirty="0"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它是树结构插入、删除、修改、查找和排序运算的前提，是二叉树一切运算的基础和核心。</a:t>
            </a: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2190750" lvl="0" indent="-219075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遍历方法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b="1" dirty="0">
                <a:latin typeface="Times New Roman" panose="02020603050405020304" pitchFamily="18" charset="0"/>
              </a:rPr>
              <a:t>牢记一种约定，对每个结点的查看都是“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先左后右</a:t>
            </a:r>
            <a:r>
              <a:rPr lang="zh-CN" altLang="en-US" sz="2800" b="1" dirty="0">
                <a:latin typeface="Times New Roman" panose="02020603050405020304" pitchFamily="18" charset="0"/>
              </a:rPr>
              <a:t>” 。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1669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charRg st="3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41669">
                                            <p:txEl>
                                              <p:charRg st="32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charRg st="81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41669">
                                            <p:txEl>
                                              <p:charRg st="81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8" grpId="0" animBg="1"/>
      <p:bldP spid="24166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8915" name="Rectangle 2"/>
          <p:cNvSpPr/>
          <p:nvPr/>
        </p:nvSpPr>
        <p:spPr>
          <a:xfrm>
            <a:off x="609600" y="304800"/>
            <a:ext cx="3200400" cy="609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</a:rPr>
              <a:t>遍历规则</a:t>
            </a:r>
            <a:r>
              <a:rPr lang="en-US" altLang="zh-CN" sz="2800" b="1" dirty="0">
                <a:solidFill>
                  <a:schemeClr val="accent1"/>
                </a:solidFill>
              </a:rPr>
              <a:t>———</a:t>
            </a:r>
            <a:endParaRPr lang="zh-TW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42691" name="Rectangle 3"/>
          <p:cNvSpPr/>
          <p:nvPr/>
        </p:nvSpPr>
        <p:spPr>
          <a:xfrm>
            <a:off x="304800" y="1219200"/>
            <a:ext cx="8382000" cy="426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600" b="1" dirty="0">
                <a:ea typeface="楷体_GB2312"/>
              </a:rPr>
              <a:t>二叉树由根、左子树、右子树构成，定义为</a:t>
            </a:r>
            <a:r>
              <a:rPr lang="en-US" altLang="zh-CN" sz="2600" b="1" dirty="0">
                <a:solidFill>
                  <a:schemeClr val="accent1"/>
                </a:solidFill>
                <a:ea typeface="楷体_GB2312"/>
              </a:rPr>
              <a:t>D</a:t>
            </a:r>
            <a:r>
              <a:rPr lang="zh-CN" altLang="en-US" sz="2600" b="1" dirty="0">
                <a:solidFill>
                  <a:schemeClr val="accent1"/>
                </a:solidFill>
                <a:ea typeface="楷体_GB2312"/>
              </a:rPr>
              <a:t>、</a:t>
            </a:r>
            <a:r>
              <a:rPr lang="zh-CN" altLang="en-US" sz="2600" b="1" dirty="0">
                <a:ea typeface="楷体_GB2312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ea typeface="楷体_GB2312"/>
              </a:rPr>
              <a:t>L</a:t>
            </a:r>
            <a:r>
              <a:rPr lang="zh-CN" altLang="en-US" sz="2600" b="1" dirty="0">
                <a:solidFill>
                  <a:schemeClr val="accent1"/>
                </a:solidFill>
                <a:ea typeface="楷体_GB2312"/>
              </a:rPr>
              <a:t>、</a:t>
            </a:r>
            <a:r>
              <a:rPr lang="en-US" altLang="zh-CN" sz="2600" b="1" dirty="0">
                <a:solidFill>
                  <a:schemeClr val="accent1"/>
                </a:solidFill>
                <a:ea typeface="楷体_GB2312"/>
              </a:rPr>
              <a:t>R</a:t>
            </a:r>
            <a:endParaRPr lang="en-US" altLang="zh-TW" sz="2600" b="1" dirty="0">
              <a:solidFill>
                <a:schemeClr val="accent1"/>
              </a:solidFill>
              <a:ea typeface="楷体_GB2312"/>
            </a:endParaRPr>
          </a:p>
          <a:p>
            <a:pPr marL="342900" lvl="0" indent="-342900" eaLnBrk="1" hangingPunct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altLang="zh-CN" sz="2600" b="1" dirty="0">
                <a:ea typeface="楷体_GB2312"/>
              </a:rPr>
              <a:t>D</a:t>
            </a:r>
            <a:r>
              <a:rPr lang="zh-CN" altLang="en-US" sz="2600" b="1" dirty="0">
                <a:ea typeface="楷体_GB2312"/>
              </a:rPr>
              <a:t>、 </a:t>
            </a:r>
            <a:r>
              <a:rPr lang="en-US" altLang="zh-CN" sz="2600" b="1" dirty="0">
                <a:ea typeface="楷体_GB2312"/>
              </a:rPr>
              <a:t>L</a:t>
            </a:r>
            <a:r>
              <a:rPr lang="zh-CN" altLang="en-US" sz="2600" b="1" dirty="0">
                <a:ea typeface="楷体_GB2312"/>
              </a:rPr>
              <a:t>、</a:t>
            </a:r>
            <a:r>
              <a:rPr lang="en-US" altLang="zh-CN" sz="2600" b="1" dirty="0">
                <a:ea typeface="楷体_GB2312"/>
              </a:rPr>
              <a:t>R</a:t>
            </a:r>
            <a:r>
              <a:rPr lang="zh-CN" altLang="en-US" sz="2600" b="1" dirty="0">
                <a:ea typeface="楷体_GB2312"/>
              </a:rPr>
              <a:t>的组合定义了六种可能的遍历方案：</a:t>
            </a:r>
            <a:endParaRPr lang="en-US" altLang="zh-TW" sz="2600" b="1" dirty="0">
              <a:ea typeface="楷体_GB2312"/>
            </a:endParaRPr>
          </a:p>
          <a:p>
            <a:pPr marL="742950" lvl="1" indent="-285750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TW" sz="2600" b="1" dirty="0">
                <a:ea typeface="楷体_GB2312"/>
              </a:rPr>
              <a:t> L</a:t>
            </a:r>
            <a:r>
              <a:rPr lang="en-US" altLang="zh-CN" sz="2600" b="1" dirty="0">
                <a:ea typeface="楷体_GB2312"/>
              </a:rPr>
              <a:t>D</a:t>
            </a:r>
            <a:r>
              <a:rPr lang="en-US" altLang="zh-TW" sz="2600" b="1" dirty="0">
                <a:ea typeface="楷体_GB2312"/>
              </a:rPr>
              <a:t>R,   LR</a:t>
            </a:r>
            <a:r>
              <a:rPr lang="en-US" altLang="zh-CN" sz="2600" b="1" dirty="0">
                <a:ea typeface="楷体_GB2312"/>
              </a:rPr>
              <a:t>D</a:t>
            </a:r>
            <a:r>
              <a:rPr lang="en-US" altLang="zh-TW" sz="2600" b="1" dirty="0">
                <a:ea typeface="楷体_GB2312"/>
              </a:rPr>
              <a:t>,   </a:t>
            </a:r>
            <a:r>
              <a:rPr lang="en-US" altLang="zh-CN" sz="2600" b="1" dirty="0">
                <a:ea typeface="楷体_GB2312"/>
              </a:rPr>
              <a:t>D</a:t>
            </a:r>
            <a:r>
              <a:rPr lang="en-US" altLang="zh-TW" sz="2600" b="1" dirty="0">
                <a:ea typeface="楷体_GB2312"/>
              </a:rPr>
              <a:t>LR,   </a:t>
            </a:r>
            <a:r>
              <a:rPr lang="en-US" altLang="zh-CN" sz="2600" b="1" dirty="0">
                <a:ea typeface="楷体_GB2312"/>
              </a:rPr>
              <a:t>D</a:t>
            </a:r>
            <a:r>
              <a:rPr lang="en-US" altLang="zh-TW" sz="2600" b="1" dirty="0">
                <a:ea typeface="楷体_GB2312"/>
              </a:rPr>
              <a:t>RL,   R</a:t>
            </a:r>
            <a:r>
              <a:rPr lang="en-US" altLang="zh-CN" sz="2600" b="1" dirty="0">
                <a:ea typeface="楷体_GB2312"/>
              </a:rPr>
              <a:t>D</a:t>
            </a:r>
            <a:r>
              <a:rPr lang="en-US" altLang="zh-TW" sz="2600" b="1" dirty="0">
                <a:ea typeface="楷体_GB2312"/>
              </a:rPr>
              <a:t>L,   RL</a:t>
            </a:r>
            <a:r>
              <a:rPr lang="en-US" altLang="zh-CN" sz="2600" b="1" dirty="0">
                <a:ea typeface="楷体_GB2312"/>
              </a:rPr>
              <a:t>D</a:t>
            </a:r>
            <a:endParaRPr lang="en-US" altLang="zh-TW" sz="2600" b="1" dirty="0">
              <a:ea typeface="楷体_GB2312"/>
            </a:endParaRPr>
          </a:p>
          <a:p>
            <a:pPr marL="342900" lvl="0" indent="-342900" eaLnBrk="1" hangingPunct="1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zh-CN" altLang="en-US" sz="2600" b="1" dirty="0">
                <a:solidFill>
                  <a:schemeClr val="accent1"/>
                </a:solidFill>
                <a:ea typeface="楷体_GB2312"/>
              </a:rPr>
              <a:t>若限定先左后右</a:t>
            </a:r>
            <a:r>
              <a:rPr lang="zh-CN" altLang="en-US" sz="2600" b="1" dirty="0">
                <a:ea typeface="楷体_GB2312"/>
              </a:rPr>
              <a:t>，则有三种实现方案：</a:t>
            </a:r>
            <a:endParaRPr lang="zh-TW" altLang="en-US" sz="2600" b="1" dirty="0">
              <a:ea typeface="楷体_GB2312"/>
            </a:endParaRPr>
          </a:p>
          <a:p>
            <a:pPr marL="742950" lvl="1" indent="-285750" eaLnBrk="1" hangingPunct="1">
              <a:buNone/>
            </a:pPr>
            <a:r>
              <a:rPr lang="zh-CN" altLang="en-US" sz="2600" b="1" dirty="0">
                <a:solidFill>
                  <a:srgbClr val="FF33CC"/>
                </a:solidFill>
                <a:ea typeface="楷体_GB2312"/>
              </a:rPr>
              <a:t>         </a:t>
            </a:r>
            <a:r>
              <a:rPr lang="en-US" altLang="zh-CN" sz="2600" b="1" dirty="0">
                <a:solidFill>
                  <a:srgbClr val="FF33CC"/>
                </a:solidFill>
                <a:ea typeface="楷体_GB2312"/>
              </a:rPr>
              <a:t>D</a:t>
            </a:r>
            <a:r>
              <a:rPr lang="en-US" altLang="zh-TW" sz="2600" b="1" dirty="0">
                <a:ea typeface="楷体_GB2312"/>
              </a:rPr>
              <a:t>LR                    L</a:t>
            </a:r>
            <a:r>
              <a:rPr lang="en-US" altLang="zh-CN" sz="2600" b="1" dirty="0">
                <a:solidFill>
                  <a:srgbClr val="FF33CC"/>
                </a:solidFill>
                <a:ea typeface="楷体_GB2312"/>
              </a:rPr>
              <a:t>D</a:t>
            </a:r>
            <a:r>
              <a:rPr lang="en-US" altLang="zh-TW" sz="2600" b="1" dirty="0">
                <a:ea typeface="楷体_GB2312"/>
              </a:rPr>
              <a:t>R                     LR</a:t>
            </a:r>
            <a:r>
              <a:rPr lang="en-US" altLang="zh-CN" sz="2600" b="1" dirty="0">
                <a:solidFill>
                  <a:srgbClr val="FF33CC"/>
                </a:solidFill>
                <a:ea typeface="楷体_GB2312"/>
              </a:rPr>
              <a:t>D</a:t>
            </a:r>
            <a:endParaRPr lang="en-US" altLang="zh-TW" sz="2600" b="1" dirty="0">
              <a:ea typeface="楷体_GB2312"/>
            </a:endParaRPr>
          </a:p>
          <a:p>
            <a:pPr marL="742950" lvl="1" indent="-285750" eaLnBrk="1" hangingPunct="1">
              <a:buNone/>
            </a:pPr>
            <a:r>
              <a:rPr lang="zh-CN" altLang="en-US" sz="2600" b="1" dirty="0">
                <a:solidFill>
                  <a:srgbClr val="FF33CC"/>
                </a:solidFill>
                <a:ea typeface="楷体_GB2312"/>
              </a:rPr>
              <a:t>先 </a:t>
            </a:r>
            <a:r>
              <a:rPr lang="en-US" altLang="zh-CN" sz="2600" b="1" dirty="0">
                <a:ea typeface="楷体_GB2312"/>
              </a:rPr>
              <a:t>(</a:t>
            </a:r>
            <a:r>
              <a:rPr lang="zh-CN" altLang="en-US" sz="2600" b="1" dirty="0">
                <a:ea typeface="楷体_GB2312"/>
              </a:rPr>
              <a:t>根</a:t>
            </a:r>
            <a:r>
              <a:rPr lang="en-US" altLang="zh-CN" sz="2600" b="1" dirty="0">
                <a:ea typeface="楷体_GB2312"/>
              </a:rPr>
              <a:t>)</a:t>
            </a:r>
            <a:r>
              <a:rPr lang="zh-CN" altLang="en-US" sz="2600" b="1" dirty="0">
                <a:ea typeface="楷体_GB2312"/>
              </a:rPr>
              <a:t>序遍历       </a:t>
            </a:r>
            <a:r>
              <a:rPr lang="zh-CN" altLang="en-US" sz="2600" b="1" dirty="0">
                <a:solidFill>
                  <a:srgbClr val="FF33CC"/>
                </a:solidFill>
                <a:ea typeface="楷体_GB2312"/>
              </a:rPr>
              <a:t>中 </a:t>
            </a:r>
            <a:r>
              <a:rPr lang="en-US" altLang="zh-CN" sz="2600" b="1" dirty="0">
                <a:ea typeface="楷体_GB2312"/>
              </a:rPr>
              <a:t>(</a:t>
            </a:r>
            <a:r>
              <a:rPr lang="zh-CN" altLang="en-US" sz="2600" b="1" dirty="0">
                <a:ea typeface="楷体_GB2312"/>
              </a:rPr>
              <a:t>根</a:t>
            </a:r>
            <a:r>
              <a:rPr lang="en-US" altLang="zh-CN" sz="2600" b="1" dirty="0">
                <a:ea typeface="楷体_GB2312"/>
              </a:rPr>
              <a:t>)</a:t>
            </a:r>
            <a:r>
              <a:rPr lang="zh-CN" altLang="en-US" sz="2600" b="1" dirty="0">
                <a:ea typeface="楷体_GB2312"/>
              </a:rPr>
              <a:t>序遍历        </a:t>
            </a:r>
            <a:r>
              <a:rPr lang="zh-CN" altLang="en-US" sz="2600" b="1" dirty="0">
                <a:solidFill>
                  <a:srgbClr val="FF33CC"/>
                </a:solidFill>
                <a:ea typeface="楷体_GB2312"/>
              </a:rPr>
              <a:t>后</a:t>
            </a:r>
            <a:r>
              <a:rPr lang="en-US" altLang="zh-CN" sz="2600" b="1" dirty="0">
                <a:ea typeface="楷体_GB2312"/>
              </a:rPr>
              <a:t>(</a:t>
            </a:r>
            <a:r>
              <a:rPr lang="zh-CN" altLang="en-US" sz="2600" b="1" dirty="0">
                <a:ea typeface="楷体_GB2312"/>
              </a:rPr>
              <a:t>根</a:t>
            </a:r>
            <a:r>
              <a:rPr lang="en-US" altLang="zh-CN" sz="2600" b="1" dirty="0">
                <a:ea typeface="楷体_GB2312"/>
              </a:rPr>
              <a:t>)</a:t>
            </a:r>
            <a:r>
              <a:rPr lang="zh-CN" altLang="en-US" sz="2600" b="1" dirty="0">
                <a:ea typeface="楷体_GB2312"/>
              </a:rPr>
              <a:t>序遍历</a:t>
            </a:r>
            <a:r>
              <a:rPr lang="zh-TW" altLang="en-US" sz="2600" b="1" dirty="0">
                <a:ea typeface="楷体_GB2312"/>
              </a:rPr>
              <a:t> </a:t>
            </a:r>
            <a:endParaRPr lang="zh-TW" altLang="en-US" sz="2600" b="1" dirty="0">
              <a:ea typeface="楷体_GB2312"/>
            </a:endParaRPr>
          </a:p>
          <a:p>
            <a:pPr marL="742950" lvl="1" indent="-285750" eaLnBrk="1" hangingPunct="1">
              <a:buNone/>
            </a:pPr>
            <a:endParaRPr lang="zh-CN" altLang="en-US" sz="2600" b="1" dirty="0">
              <a:solidFill>
                <a:schemeClr val="accent1"/>
              </a:solidFill>
            </a:endParaRPr>
          </a:p>
          <a:p>
            <a:pPr marL="742950" lvl="1" indent="-285750" eaLnBrk="1" hangingPunct="1"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注：“先、中、后”的意思是指访问的结点</a:t>
            </a:r>
            <a:r>
              <a:rPr lang="en-US" altLang="zh-CN" sz="2400" b="1" dirty="0">
                <a:solidFill>
                  <a:schemeClr val="accent2"/>
                </a:solidFill>
              </a:rPr>
              <a:t>D</a:t>
            </a:r>
            <a:r>
              <a:rPr lang="zh-CN" altLang="en-US" sz="2400" b="1" dirty="0">
                <a:solidFill>
                  <a:schemeClr val="accent2"/>
                </a:solidFill>
              </a:rPr>
              <a:t>是先于子树出现还是后于子树出现。</a:t>
            </a:r>
            <a:endParaRPr lang="zh-TW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242692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269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2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42691">
                                            <p:txEl>
                                              <p:charRg st="2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4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42691">
                                            <p:txEl>
                                              <p:charRg st="49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89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242691">
                                            <p:txEl>
                                              <p:charRg st="89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107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42691">
                                            <p:txEl>
                                              <p:charRg st="107" end="1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167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42691">
                                            <p:txEl>
                                              <p:charRg st="167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208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242691">
                                            <p:txEl>
                                              <p:charRg st="208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/>
      <p:bldP spid="24269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381000" y="381000"/>
            <a:ext cx="12954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</a:rPr>
              <a:t>例</a:t>
            </a:r>
            <a:r>
              <a:rPr lang="en-US" altLang="zh-CN" sz="3200" b="1" dirty="0">
                <a:solidFill>
                  <a:schemeClr val="accent1"/>
                </a:solidFill>
              </a:rPr>
              <a:t>1</a:t>
            </a:r>
            <a:r>
              <a:rPr lang="zh-CN" altLang="en-US" sz="3200" b="1" dirty="0">
                <a:solidFill>
                  <a:schemeClr val="accent1"/>
                </a:solidFill>
              </a:rPr>
              <a:t>：</a:t>
            </a:r>
            <a:endParaRPr lang="zh-CN" altLang="en-US" sz="3200" b="1" dirty="0">
              <a:solidFill>
                <a:schemeClr val="accent1"/>
              </a:solidFill>
            </a:endParaRPr>
          </a:p>
        </p:txBody>
      </p:sp>
      <p:sp>
        <p:nvSpPr>
          <p:cNvPr id="244739" name="Text Box 3"/>
          <p:cNvSpPr txBox="1"/>
          <p:nvPr/>
        </p:nvSpPr>
        <p:spPr>
          <a:xfrm>
            <a:off x="2895600" y="1066800"/>
            <a:ext cx="3276600" cy="180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先序遍历的结果是：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中序遍历的结果是：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后序遍历的结果是：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28600" y="1125538"/>
            <a:ext cx="2514600" cy="1801812"/>
            <a:chOff x="144" y="624"/>
            <a:chExt cx="1584" cy="1135"/>
          </a:xfrm>
        </p:grpSpPr>
        <p:sp>
          <p:nvSpPr>
            <p:cNvPr id="40969" name="Rectangle 5"/>
            <p:cNvSpPr/>
            <p:nvPr/>
          </p:nvSpPr>
          <p:spPr>
            <a:xfrm>
              <a:off x="144" y="624"/>
              <a:ext cx="1584" cy="11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          A 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    B          C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      E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40970" name="Line 6"/>
            <p:cNvSpPr/>
            <p:nvPr/>
          </p:nvSpPr>
          <p:spPr>
            <a:xfrm flipH="1">
              <a:off x="576" y="912"/>
              <a:ext cx="192" cy="24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1" name="Line 7"/>
            <p:cNvSpPr/>
            <p:nvPr/>
          </p:nvSpPr>
          <p:spPr>
            <a:xfrm>
              <a:off x="912" y="864"/>
              <a:ext cx="240" cy="24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2" name="Line 8"/>
            <p:cNvSpPr/>
            <p:nvPr/>
          </p:nvSpPr>
          <p:spPr>
            <a:xfrm>
              <a:off x="576" y="1296"/>
              <a:ext cx="144" cy="24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3" name="Line 9"/>
            <p:cNvSpPr/>
            <p:nvPr/>
          </p:nvSpPr>
          <p:spPr>
            <a:xfrm flipH="1">
              <a:off x="240" y="1296"/>
              <a:ext cx="192" cy="24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44746" name="Rectangle 10"/>
          <p:cNvSpPr>
            <a:spLocks noChangeArrowheads="1"/>
          </p:cNvSpPr>
          <p:nvPr/>
        </p:nvSpPr>
        <p:spPr bwMode="auto">
          <a:xfrm>
            <a:off x="6443663" y="981075"/>
            <a:ext cx="2160588" cy="1801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B D E C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 B E A C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 E B C A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4747" name="Rectangle 11"/>
          <p:cNvSpPr/>
          <p:nvPr/>
        </p:nvSpPr>
        <p:spPr>
          <a:xfrm>
            <a:off x="381000" y="3429000"/>
            <a:ext cx="48768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口诀：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LR—</a:t>
            </a:r>
            <a:r>
              <a:rPr lang="zh-CN" altLang="en-US" sz="2400" b="1" dirty="0">
                <a:latin typeface="Times New Roman" panose="02020603050405020304" pitchFamily="18" charset="0"/>
              </a:rPr>
              <a:t>先序遍历，即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先根再左再右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R—</a:t>
            </a:r>
            <a:r>
              <a:rPr lang="zh-CN" altLang="en-US" sz="2400" b="1" dirty="0">
                <a:latin typeface="Times New Roman" panose="02020603050405020304" pitchFamily="18" charset="0"/>
              </a:rPr>
              <a:t>中序遍历，即先左再根再右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LR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—</a:t>
            </a:r>
            <a:r>
              <a:rPr lang="zh-CN" altLang="en-US" sz="2400" b="1" dirty="0">
                <a:latin typeface="Times New Roman" panose="02020603050405020304" pitchFamily="18" charset="0"/>
              </a:rPr>
              <a:t>后序遍历，即先左再右再根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44748" name="AutoShape 12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74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746">
                                            <p:txEl>
                                              <p:charRg st="1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4746">
                                            <p:txEl>
                                              <p:charRg st="2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4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4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/>
      <p:bldP spid="244746" grpId="0" build="p"/>
      <p:bldP spid="244747" grpId="0"/>
      <p:bldP spid="24474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392113" y="1027113"/>
            <a:ext cx="3854450" cy="4175125"/>
            <a:chOff x="247" y="647"/>
            <a:chExt cx="2428" cy="2630"/>
          </a:xfrm>
        </p:grpSpPr>
        <p:grpSp>
          <p:nvGrpSpPr>
            <p:cNvPr id="41996" name="Group 3"/>
            <p:cNvGrpSpPr/>
            <p:nvPr/>
          </p:nvGrpSpPr>
          <p:grpSpPr>
            <a:xfrm>
              <a:off x="1897" y="647"/>
              <a:ext cx="360" cy="359"/>
              <a:chOff x="2664" y="1090"/>
              <a:chExt cx="360" cy="359"/>
            </a:xfrm>
          </p:grpSpPr>
          <p:sp>
            <p:nvSpPr>
              <p:cNvPr id="42029" name="Oval 4"/>
              <p:cNvSpPr/>
              <p:nvPr/>
            </p:nvSpPr>
            <p:spPr>
              <a:xfrm>
                <a:off x="2664" y="1090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30" name="Rectangle 5"/>
              <p:cNvSpPr/>
              <p:nvPr/>
            </p:nvSpPr>
            <p:spPr>
              <a:xfrm>
                <a:off x="2733" y="1143"/>
                <a:ext cx="22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ea typeface="PMingLiU" pitchFamily="18" charset="-120"/>
                  </a:rPr>
                  <a:t>+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41997" name="Group 6"/>
            <p:cNvGrpSpPr/>
            <p:nvPr/>
          </p:nvGrpSpPr>
          <p:grpSpPr>
            <a:xfrm>
              <a:off x="1512" y="1216"/>
              <a:ext cx="360" cy="359"/>
              <a:chOff x="2279" y="1659"/>
              <a:chExt cx="360" cy="359"/>
            </a:xfrm>
          </p:grpSpPr>
          <p:sp>
            <p:nvSpPr>
              <p:cNvPr id="42027" name="Oval 7"/>
              <p:cNvSpPr/>
              <p:nvPr/>
            </p:nvSpPr>
            <p:spPr>
              <a:xfrm>
                <a:off x="2279" y="1659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28" name="Rectangle 8"/>
              <p:cNvSpPr/>
              <p:nvPr/>
            </p:nvSpPr>
            <p:spPr>
              <a:xfrm>
                <a:off x="2348" y="1712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ea typeface="PMingLiU" pitchFamily="18" charset="-120"/>
                  </a:rPr>
                  <a:t>*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41998" name="Line 9"/>
            <p:cNvSpPr/>
            <p:nvPr/>
          </p:nvSpPr>
          <p:spPr>
            <a:xfrm flipH="1">
              <a:off x="1753" y="999"/>
              <a:ext cx="215" cy="22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1999" name="Group 10"/>
            <p:cNvGrpSpPr/>
            <p:nvPr/>
          </p:nvGrpSpPr>
          <p:grpSpPr>
            <a:xfrm>
              <a:off x="247" y="2918"/>
              <a:ext cx="360" cy="359"/>
              <a:chOff x="1014" y="3361"/>
              <a:chExt cx="360" cy="359"/>
            </a:xfrm>
          </p:grpSpPr>
          <p:sp>
            <p:nvSpPr>
              <p:cNvPr id="42025" name="Oval 11"/>
              <p:cNvSpPr/>
              <p:nvPr/>
            </p:nvSpPr>
            <p:spPr>
              <a:xfrm>
                <a:off x="1014" y="3361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26" name="Rectangle 12"/>
              <p:cNvSpPr/>
              <p:nvPr/>
            </p:nvSpPr>
            <p:spPr>
              <a:xfrm>
                <a:off x="1083" y="3414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42000" name="Line 13"/>
            <p:cNvSpPr/>
            <p:nvPr/>
          </p:nvSpPr>
          <p:spPr>
            <a:xfrm flipH="1">
              <a:off x="446" y="2700"/>
              <a:ext cx="277" cy="21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2001" name="Group 14"/>
            <p:cNvGrpSpPr/>
            <p:nvPr/>
          </p:nvGrpSpPr>
          <p:grpSpPr>
            <a:xfrm>
              <a:off x="1081" y="1792"/>
              <a:ext cx="360" cy="359"/>
              <a:chOff x="1848" y="2235"/>
              <a:chExt cx="360" cy="359"/>
            </a:xfrm>
          </p:grpSpPr>
          <p:sp>
            <p:nvSpPr>
              <p:cNvPr id="42023" name="Oval 15"/>
              <p:cNvSpPr/>
              <p:nvPr/>
            </p:nvSpPr>
            <p:spPr>
              <a:xfrm>
                <a:off x="1848" y="2235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24" name="Rectangle 16"/>
              <p:cNvSpPr/>
              <p:nvPr/>
            </p:nvSpPr>
            <p:spPr>
              <a:xfrm>
                <a:off x="1917" y="228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ea typeface="PMingLiU" pitchFamily="18" charset="-120"/>
                  </a:rPr>
                  <a:t>*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42002" name="Group 17"/>
            <p:cNvGrpSpPr/>
            <p:nvPr/>
          </p:nvGrpSpPr>
          <p:grpSpPr>
            <a:xfrm>
              <a:off x="653" y="2369"/>
              <a:ext cx="360" cy="359"/>
              <a:chOff x="1420" y="2812"/>
              <a:chExt cx="360" cy="359"/>
            </a:xfrm>
          </p:grpSpPr>
          <p:sp>
            <p:nvSpPr>
              <p:cNvPr id="42021" name="Oval 18"/>
              <p:cNvSpPr/>
              <p:nvPr/>
            </p:nvSpPr>
            <p:spPr>
              <a:xfrm>
                <a:off x="1420" y="2812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22" name="Rectangle 19"/>
              <p:cNvSpPr/>
              <p:nvPr/>
            </p:nvSpPr>
            <p:spPr>
              <a:xfrm>
                <a:off x="1489" y="2865"/>
                <a:ext cx="16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ea typeface="PMingLiU" pitchFamily="18" charset="-120"/>
                  </a:rPr>
                  <a:t>/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42003" name="Line 20"/>
            <p:cNvSpPr/>
            <p:nvPr/>
          </p:nvSpPr>
          <p:spPr>
            <a:xfrm flipH="1">
              <a:off x="1260" y="1556"/>
              <a:ext cx="310" cy="22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004" name="Line 21"/>
            <p:cNvSpPr/>
            <p:nvPr/>
          </p:nvSpPr>
          <p:spPr>
            <a:xfrm flipH="1">
              <a:off x="832" y="2132"/>
              <a:ext cx="309" cy="23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2005" name="Group 22"/>
            <p:cNvGrpSpPr/>
            <p:nvPr/>
          </p:nvGrpSpPr>
          <p:grpSpPr>
            <a:xfrm>
              <a:off x="2315" y="1225"/>
              <a:ext cx="360" cy="359"/>
              <a:chOff x="3082" y="1668"/>
              <a:chExt cx="360" cy="359"/>
            </a:xfrm>
          </p:grpSpPr>
          <p:sp>
            <p:nvSpPr>
              <p:cNvPr id="42019" name="Oval 23"/>
              <p:cNvSpPr/>
              <p:nvPr/>
            </p:nvSpPr>
            <p:spPr>
              <a:xfrm>
                <a:off x="3082" y="1668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20" name="Rectangle 24"/>
              <p:cNvSpPr/>
              <p:nvPr/>
            </p:nvSpPr>
            <p:spPr>
              <a:xfrm>
                <a:off x="3151" y="1721"/>
                <a:ext cx="23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42006" name="Group 25"/>
            <p:cNvGrpSpPr/>
            <p:nvPr/>
          </p:nvGrpSpPr>
          <p:grpSpPr>
            <a:xfrm>
              <a:off x="1897" y="1793"/>
              <a:ext cx="360" cy="359"/>
              <a:chOff x="2664" y="2236"/>
              <a:chExt cx="360" cy="359"/>
            </a:xfrm>
          </p:grpSpPr>
          <p:sp>
            <p:nvSpPr>
              <p:cNvPr id="42017" name="Oval 26"/>
              <p:cNvSpPr/>
              <p:nvPr/>
            </p:nvSpPr>
            <p:spPr>
              <a:xfrm>
                <a:off x="2664" y="223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18" name="Rectangle 27"/>
              <p:cNvSpPr/>
              <p:nvPr/>
            </p:nvSpPr>
            <p:spPr>
              <a:xfrm>
                <a:off x="2733" y="2289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42007" name="Group 28"/>
            <p:cNvGrpSpPr/>
            <p:nvPr/>
          </p:nvGrpSpPr>
          <p:grpSpPr>
            <a:xfrm>
              <a:off x="1501" y="2350"/>
              <a:ext cx="360" cy="359"/>
              <a:chOff x="2268" y="2793"/>
              <a:chExt cx="360" cy="359"/>
            </a:xfrm>
          </p:grpSpPr>
          <p:sp>
            <p:nvSpPr>
              <p:cNvPr id="42015" name="Oval 29"/>
              <p:cNvSpPr/>
              <p:nvPr/>
            </p:nvSpPr>
            <p:spPr>
              <a:xfrm>
                <a:off x="2268" y="279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16" name="Rectangle 30"/>
              <p:cNvSpPr/>
              <p:nvPr/>
            </p:nvSpPr>
            <p:spPr>
              <a:xfrm>
                <a:off x="2337" y="2846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42008" name="Line 31"/>
            <p:cNvSpPr/>
            <p:nvPr/>
          </p:nvSpPr>
          <p:spPr>
            <a:xfrm>
              <a:off x="2193" y="988"/>
              <a:ext cx="278" cy="22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009" name="Line 32"/>
            <p:cNvSpPr/>
            <p:nvPr/>
          </p:nvSpPr>
          <p:spPr>
            <a:xfrm>
              <a:off x="1775" y="1567"/>
              <a:ext cx="289" cy="22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010" name="Line 33"/>
            <p:cNvSpPr/>
            <p:nvPr/>
          </p:nvSpPr>
          <p:spPr>
            <a:xfrm>
              <a:off x="1400" y="2102"/>
              <a:ext cx="246" cy="23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2011" name="Group 34"/>
            <p:cNvGrpSpPr/>
            <p:nvPr/>
          </p:nvGrpSpPr>
          <p:grpSpPr>
            <a:xfrm>
              <a:off x="1051" y="2917"/>
              <a:ext cx="360" cy="359"/>
              <a:chOff x="1818" y="3360"/>
              <a:chExt cx="360" cy="359"/>
            </a:xfrm>
          </p:grpSpPr>
          <p:sp>
            <p:nvSpPr>
              <p:cNvPr id="42013" name="Oval 35"/>
              <p:cNvSpPr/>
              <p:nvPr/>
            </p:nvSpPr>
            <p:spPr>
              <a:xfrm>
                <a:off x="1818" y="3360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2014" name="Rectangle 36"/>
              <p:cNvSpPr/>
              <p:nvPr/>
            </p:nvSpPr>
            <p:spPr>
              <a:xfrm>
                <a:off x="1887" y="3413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42012" name="Line 37"/>
            <p:cNvSpPr/>
            <p:nvPr/>
          </p:nvSpPr>
          <p:spPr>
            <a:xfrm>
              <a:off x="928" y="2702"/>
              <a:ext cx="268" cy="20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45798" name="Rectangle 38"/>
          <p:cNvSpPr/>
          <p:nvPr/>
        </p:nvSpPr>
        <p:spPr>
          <a:xfrm>
            <a:off x="5424488" y="685800"/>
            <a:ext cx="3251200" cy="52038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先序遍历</a:t>
            </a:r>
            <a:endParaRPr lang="zh-TW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TW" altLang="en-US" sz="2400" b="1" dirty="0">
                <a:latin typeface="Times New Roman" panose="02020603050405020304" pitchFamily="18" charset="0"/>
                <a:ea typeface="楷体_GB2312"/>
              </a:rPr>
              <a:t>+ * * / </a:t>
            </a:r>
            <a:r>
              <a:rPr lang="en-US" altLang="zh-TW" sz="2400" b="1" dirty="0">
                <a:latin typeface="Times New Roman" panose="02020603050405020304" pitchFamily="18" charset="0"/>
                <a:ea typeface="楷体_GB2312"/>
              </a:rPr>
              <a:t>A B C D E</a:t>
            </a:r>
            <a:endParaRPr lang="en-US" altLang="zh-TW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前缀表示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波兰式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endParaRPr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中序遍历</a:t>
            </a:r>
            <a:endParaRPr lang="zh-TW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楷体_GB2312"/>
              </a:rPr>
              <a:t>A / B * C * D + E</a:t>
            </a:r>
            <a:endParaRPr lang="en-US" altLang="zh-TW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中缀表示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TW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后序遍历</a:t>
            </a:r>
            <a:endParaRPr lang="zh-TW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A B / C * D * E +</a:t>
            </a:r>
            <a:endParaRPr lang="en-US" altLang="zh-TW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后缀表示（逆</a:t>
            </a:r>
            <a:r>
              <a:rPr lang="zh-CN" altLang="en-US" sz="2400" b="1" dirty="0">
                <a:solidFill>
                  <a:schemeClr val="accent2"/>
                </a:solidFill>
              </a:rPr>
              <a:t>波兰式</a:t>
            </a:r>
            <a:r>
              <a:rPr lang="zh-CN" altLang="en-US" sz="1800" b="1" dirty="0">
                <a:solidFill>
                  <a:schemeClr val="accent2"/>
                </a:solidFill>
              </a:rPr>
              <a:t>）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33CC"/>
                </a:solidFill>
                <a:latin typeface="Times New Roman" panose="02020603050405020304" pitchFamily="18" charset="0"/>
                <a:ea typeface="楷体_GB2312"/>
              </a:rPr>
              <a:t>层序遍历</a:t>
            </a:r>
            <a:endParaRPr lang="zh-TW" altLang="en-US" sz="2400" b="1" dirty="0">
              <a:solidFill>
                <a:srgbClr val="FF33CC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TW" altLang="en-US" sz="2400" b="1" dirty="0">
                <a:latin typeface="Times New Roman" panose="02020603050405020304" pitchFamily="18" charset="0"/>
                <a:ea typeface="楷体_GB2312"/>
              </a:rPr>
              <a:t>+ * </a:t>
            </a:r>
            <a:r>
              <a:rPr lang="en-US" altLang="zh-TW" sz="2400" b="1" dirty="0">
                <a:latin typeface="Times New Roman" panose="02020603050405020304" pitchFamily="18" charset="0"/>
                <a:ea typeface="楷体_GB2312"/>
              </a:rPr>
              <a:t>E * D / C A B</a:t>
            </a:r>
            <a:endParaRPr lang="en-US" altLang="zh-TW" sz="2400" b="1" dirty="0">
              <a:latin typeface="Times New Roman" panose="02020603050405020304" pitchFamily="18" charset="0"/>
              <a:ea typeface="楷体_GB2312"/>
            </a:endParaRPr>
          </a:p>
        </p:txBody>
      </p:sp>
      <p:grpSp>
        <p:nvGrpSpPr>
          <p:cNvPr id="12" name="Group 39"/>
          <p:cNvGrpSpPr/>
          <p:nvPr/>
        </p:nvGrpSpPr>
        <p:grpSpPr>
          <a:xfrm>
            <a:off x="5334000" y="814388"/>
            <a:ext cx="125413" cy="4983162"/>
            <a:chOff x="3360" y="513"/>
            <a:chExt cx="79" cy="3139"/>
          </a:xfrm>
        </p:grpSpPr>
        <p:sp>
          <p:nvSpPr>
            <p:cNvPr id="41992" name="AutoShape 40"/>
            <p:cNvSpPr/>
            <p:nvPr/>
          </p:nvSpPr>
          <p:spPr>
            <a:xfrm>
              <a:off x="3360" y="513"/>
              <a:ext cx="37" cy="633"/>
            </a:xfrm>
            <a:prstGeom prst="leftBrace">
              <a:avLst>
                <a:gd name="adj1" fmla="val 142567"/>
                <a:gd name="adj2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993" name="AutoShape 41"/>
            <p:cNvSpPr/>
            <p:nvPr/>
          </p:nvSpPr>
          <p:spPr>
            <a:xfrm>
              <a:off x="3370" y="1454"/>
              <a:ext cx="58" cy="624"/>
            </a:xfrm>
            <a:prstGeom prst="leftBrace">
              <a:avLst>
                <a:gd name="adj1" fmla="val 89655"/>
                <a:gd name="adj2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994" name="AutoShape 42"/>
            <p:cNvSpPr/>
            <p:nvPr/>
          </p:nvSpPr>
          <p:spPr>
            <a:xfrm>
              <a:off x="3381" y="2366"/>
              <a:ext cx="58" cy="624"/>
            </a:xfrm>
            <a:prstGeom prst="leftBrace">
              <a:avLst>
                <a:gd name="adj1" fmla="val 89655"/>
                <a:gd name="adj2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995" name="AutoShape 43"/>
            <p:cNvSpPr/>
            <p:nvPr/>
          </p:nvSpPr>
          <p:spPr>
            <a:xfrm>
              <a:off x="3399" y="3249"/>
              <a:ext cx="39" cy="403"/>
            </a:xfrm>
            <a:prstGeom prst="leftBrace">
              <a:avLst>
                <a:gd name="adj1" fmla="val 86111"/>
                <a:gd name="adj2" fmla="val 50000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41990" name="Rectangle 44"/>
          <p:cNvSpPr>
            <a:spLocks noGrp="1"/>
          </p:cNvSpPr>
          <p:nvPr>
            <p:ph type="title"/>
          </p:nvPr>
        </p:nvSpPr>
        <p:spPr>
          <a:xfrm>
            <a:off x="228600" y="304800"/>
            <a:ext cx="5486400" cy="6858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</a:rPr>
              <a:t>例</a:t>
            </a:r>
            <a:r>
              <a:rPr lang="en-US" altLang="zh-CN" sz="2800" b="1" dirty="0">
                <a:solidFill>
                  <a:schemeClr val="accent1"/>
                </a:solidFill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</a:rPr>
              <a:t>：</a:t>
            </a:r>
            <a:r>
              <a:rPr lang="zh-CN" altLang="en-US" sz="2800" b="1" dirty="0"/>
              <a:t>用二叉树表示算术表达式</a:t>
            </a:r>
            <a:endParaRPr lang="zh-CN" altLang="en-US" sz="2800" b="1" dirty="0"/>
          </a:p>
        </p:txBody>
      </p:sp>
      <p:sp>
        <p:nvSpPr>
          <p:cNvPr id="245805" name="AutoShape 4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5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2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3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39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57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63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68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86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9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5798">
                                            <p:txEl>
                                              <p:charRg st="103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8" grpId="0" build="p"/>
      <p:bldP spid="24580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228600" y="76200"/>
            <a:ext cx="7467600" cy="6858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</a:rPr>
              <a:t>遍历的算法实现：</a:t>
            </a:r>
            <a:r>
              <a:rPr lang="zh-CN" altLang="en-US" sz="2800" b="1" dirty="0">
                <a:solidFill>
                  <a:schemeClr val="tx1"/>
                </a:solidFill>
              </a:rPr>
              <a:t>用递归形式格外简单！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47811" name="Rectangle 3"/>
          <p:cNvSpPr/>
          <p:nvPr/>
        </p:nvSpPr>
        <p:spPr>
          <a:xfrm>
            <a:off x="228600" y="685800"/>
            <a:ext cx="5410200" cy="2590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TW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回忆1：</a:t>
            </a:r>
            <a:r>
              <a:rPr lang="zh-TW" altLang="en-US" sz="2400" b="1" dirty="0">
                <a:latin typeface="宋体" panose="02010600030101010101" pitchFamily="2" charset="-122"/>
              </a:rPr>
              <a:t>二叉树结点的数据类型定义：</a:t>
            </a:r>
            <a:endParaRPr lang="zh-TW" altLang="en-US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endParaRPr lang="en-US" altLang="zh-TW" sz="2400" b="1" dirty="0">
              <a:latin typeface="Times New Roman" panose="02020603050405020304" pitchFamily="18" charset="0"/>
            </a:endParaRPr>
          </a:p>
        </p:txBody>
      </p:sp>
      <p:sp>
        <p:nvSpPr>
          <p:cNvPr id="247812" name="Rectangle 4"/>
          <p:cNvSpPr/>
          <p:nvPr/>
        </p:nvSpPr>
        <p:spPr>
          <a:xfrm>
            <a:off x="381000" y="4419600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TW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则三种遍历算法可写出:</a:t>
            </a:r>
            <a:endParaRPr lang="en-US" altLang="zh-CN" sz="2400" b="1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247813" name="Rectangle 5"/>
          <p:cNvSpPr/>
          <p:nvPr/>
        </p:nvSpPr>
        <p:spPr>
          <a:xfrm>
            <a:off x="250825" y="3716338"/>
            <a:ext cx="1250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回忆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47814" name="Rectangle 6"/>
          <p:cNvSpPr/>
          <p:nvPr/>
        </p:nvSpPr>
        <p:spPr>
          <a:xfrm>
            <a:off x="4572000" y="3789363"/>
            <a:ext cx="327660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long int 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fact(n)</a:t>
            </a:r>
            <a:r>
              <a:rPr lang="en-US" altLang="zh-CN" sz="24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求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n!</a:t>
            </a:r>
            <a:endParaRPr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int n;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{ long f;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if(n&gt;1)f=n*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fact(n-1);</a:t>
            </a:r>
            <a:endParaRPr lang="en-US" altLang="zh-CN" sz="24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else 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f=1</a:t>
            </a:r>
            <a:r>
              <a:rPr lang="en-US" altLang="zh-CN" sz="2400" b="1" dirty="0">
                <a:latin typeface="Times New Roman" panose="02020603050405020304" pitchFamily="18" charset="0"/>
              </a:rPr>
              <a:t>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return(f);   }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7815" name="AutoShape 7">
            <a:hlinkClick r:id="" action="ppaction://hlinkshowjump?jump=nextslide"/>
          </p:cNvPr>
          <p:cNvSpPr/>
          <p:nvPr/>
        </p:nvSpPr>
        <p:spPr>
          <a:xfrm>
            <a:off x="1600200" y="5181600"/>
            <a:ext cx="914400" cy="914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47816" name="AutoShape 8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4042" name="Text Box 9"/>
          <p:cNvSpPr txBox="1"/>
          <p:nvPr/>
        </p:nvSpPr>
        <p:spPr>
          <a:xfrm>
            <a:off x="323850" y="1196975"/>
            <a:ext cx="6481763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typedef char TreeData;	</a:t>
            </a:r>
            <a:r>
              <a:rPr lang="en-US" altLang="zh-CN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结点数据类型</a:t>
            </a:r>
            <a:endParaRPr lang="zh-CN" altLang="en-US" sz="24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typedef struct node {	</a:t>
            </a:r>
            <a:r>
              <a:rPr lang="en-US" altLang="zh-CN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结点定义</a:t>
            </a:r>
            <a:endParaRPr lang="zh-CN" altLang="en-US" sz="24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en-US" altLang="zh-CN" sz="24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TreeData data; </a:t>
            </a:r>
            <a:endParaRPr lang="en-US" altLang="zh-CN" sz="24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    struct node * leftChild, * rightchild;</a:t>
            </a:r>
            <a:endParaRPr lang="en-US" altLang="zh-CN" sz="24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} BinTreeNode;</a:t>
            </a:r>
            <a:endParaRPr lang="en-US" altLang="zh-CN" sz="24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typedef BinTreeNode * BinTree;</a:t>
            </a:r>
            <a:r>
              <a:rPr lang="en-US" altLang="zh-CN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根指针</a:t>
            </a:r>
            <a:r>
              <a:rPr lang="zh-CN" altLang="en-US" sz="2400" b="1" dirty="0">
                <a:solidFill>
                  <a:srgbClr val="003C78"/>
                </a:solidFill>
                <a:latin typeface="Times New Roman" panose="02020603050405020304" pitchFamily="18" charset="0"/>
                <a:ea typeface="楷体_GB2312"/>
              </a:rPr>
              <a:t>                      </a:t>
            </a:r>
            <a:endParaRPr lang="zh-CN" altLang="en-US" sz="2400" b="1" dirty="0">
              <a:solidFill>
                <a:srgbClr val="003C78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4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7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/>
      <p:bldP spid="247812" grpId="0"/>
      <p:bldP spid="247813" grpId="0"/>
      <p:bldP spid="247814" grpId="0"/>
      <p:bldP spid="247815" grpId="0" animBg="1"/>
      <p:bldP spid="2478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48834" name="Rectangle 2"/>
          <p:cNvSpPr>
            <a:spLocks noGrp="1"/>
          </p:cNvSpPr>
          <p:nvPr>
            <p:ph idx="1"/>
          </p:nvPr>
        </p:nvSpPr>
        <p:spPr>
          <a:xfrm>
            <a:off x="4191000" y="152400"/>
            <a:ext cx="4648200" cy="29718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先序遍历算法</a:t>
            </a:r>
            <a:endParaRPr lang="zh-CN" altLang="en-US" sz="2400" b="1" dirty="0">
              <a:solidFill>
                <a:schemeClr val="accent1"/>
              </a:solidFill>
            </a:endParaRPr>
          </a:p>
          <a:p>
            <a:pPr algn="just" eaLnBrk="1" hangingPunct="1"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DLR</a:t>
            </a:r>
            <a:r>
              <a:rPr lang="en-US" altLang="zh-CN" sz="2400" b="1" dirty="0"/>
              <a:t>( liuyu *root )</a:t>
            </a:r>
            <a:endParaRPr lang="en-US" altLang="zh-CN" sz="2400" b="1" dirty="0"/>
          </a:p>
          <a:p>
            <a:pPr algn="just" eaLnBrk="1" hangingPunct="1">
              <a:buNone/>
            </a:pPr>
            <a:r>
              <a:rPr lang="en-US" altLang="zh-CN" sz="2400" b="1" dirty="0"/>
              <a:t>{if (root !=NULL) </a:t>
            </a:r>
            <a:r>
              <a:rPr lang="en-US" altLang="zh-CN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非空二叉树</a:t>
            </a:r>
            <a:endParaRPr lang="zh-CN" altLang="en-US" sz="2400" b="1" dirty="0"/>
          </a:p>
          <a:p>
            <a:pPr algn="just" eaLnBrk="1" hangingPunct="1">
              <a:spcBef>
                <a:spcPct val="10000"/>
              </a:spcBef>
              <a:buNone/>
            </a:pPr>
            <a:r>
              <a:rPr lang="zh-CN" altLang="en-US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{</a:t>
            </a:r>
            <a:r>
              <a:rPr lang="en-US" altLang="zh-CN" sz="2400" b="1" dirty="0"/>
              <a:t>printf(“%d”,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root-&gt;data</a:t>
            </a:r>
            <a:r>
              <a:rPr lang="en-US" altLang="zh-CN" sz="2400" b="1" dirty="0"/>
              <a:t>); </a:t>
            </a:r>
            <a:r>
              <a:rPr lang="en-US" altLang="zh-CN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访问</a:t>
            </a:r>
            <a:r>
              <a:rPr lang="en-US" altLang="zh-CN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D</a:t>
            </a:r>
            <a:endParaRPr lang="en-US" altLang="zh-CN" sz="1800" b="1" dirty="0">
              <a:solidFill>
                <a:schemeClr val="accent2"/>
              </a:solidFill>
              <a:latin typeface="楷体_GB2312"/>
              <a:ea typeface="楷体_GB2312"/>
            </a:endParaRPr>
          </a:p>
          <a:p>
            <a:pPr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DLR(root-&gt;lchild);</a:t>
            </a:r>
            <a:r>
              <a:rPr lang="en-US" altLang="zh-CN" sz="2400" b="1" dirty="0"/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递归遍历左子树</a:t>
            </a:r>
            <a:endParaRPr lang="zh-CN" altLang="en-US" sz="1800" b="1" dirty="0"/>
          </a:p>
          <a:p>
            <a:pPr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DLR(root-&gt;rchild);</a:t>
            </a:r>
            <a:r>
              <a:rPr lang="en-US" altLang="zh-CN" sz="2400" b="1" dirty="0"/>
              <a:t> </a:t>
            </a:r>
            <a:r>
              <a:rPr lang="en-US" altLang="zh-CN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  <a:latin typeface="楷体_GB2312"/>
                <a:ea typeface="楷体_GB2312"/>
              </a:rPr>
              <a:t>递归遍历右子树</a:t>
            </a:r>
            <a:endParaRPr lang="zh-CN" altLang="en-US" sz="2400" b="1" dirty="0"/>
          </a:p>
          <a:p>
            <a:pPr algn="just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</a:rPr>
              <a:t>}</a:t>
            </a:r>
            <a:r>
              <a:rPr lang="en-US" altLang="zh-CN" sz="2400" b="1" dirty="0"/>
              <a:t> return(0); }</a:t>
            </a:r>
            <a:endParaRPr lang="en-US" altLang="zh-CN" sz="2400" b="1" dirty="0"/>
          </a:p>
        </p:txBody>
      </p:sp>
      <p:sp>
        <p:nvSpPr>
          <p:cNvPr id="248835" name="Rectangle 3"/>
          <p:cNvSpPr/>
          <p:nvPr/>
        </p:nvSpPr>
        <p:spPr>
          <a:xfrm>
            <a:off x="228600" y="3352800"/>
            <a:ext cx="3657600" cy="32004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中序遍历算法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LDR</a:t>
            </a:r>
            <a:r>
              <a:rPr lang="en-US" altLang="zh-CN" sz="2400" b="1" dirty="0">
                <a:latin typeface="Times New Roman" panose="02020603050405020304" pitchFamily="18" charset="0"/>
              </a:rPr>
              <a:t>(x*root)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{if(root !=NULL)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{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LDR</a:t>
            </a:r>
            <a:r>
              <a:rPr lang="en-US" altLang="zh-CN" sz="2400" b="1" dirty="0">
                <a:latin typeface="Times New Roman" panose="02020603050405020304" pitchFamily="18" charset="0"/>
              </a:rPr>
              <a:t>(root-&gt;lchild);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printf(“%d”,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root-&gt;data</a:t>
            </a:r>
            <a:r>
              <a:rPr lang="en-US" altLang="zh-CN" sz="2400" b="1" dirty="0">
                <a:latin typeface="Times New Roman" panose="02020603050405020304" pitchFamily="18" charset="0"/>
              </a:rPr>
              <a:t>);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LDR</a:t>
            </a:r>
            <a:r>
              <a:rPr lang="en-US" altLang="zh-CN" sz="2400" b="1" dirty="0">
                <a:latin typeface="Times New Roman" panose="02020603050405020304" pitchFamily="18" charset="0"/>
              </a:rPr>
              <a:t>(root-&gt;rchild);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} return(0);}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48836" name="Rectangle 4"/>
          <p:cNvSpPr/>
          <p:nvPr/>
        </p:nvSpPr>
        <p:spPr>
          <a:xfrm>
            <a:off x="4572000" y="3352800"/>
            <a:ext cx="4038600" cy="29718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后序遍历算法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LRD</a:t>
            </a:r>
            <a:r>
              <a:rPr lang="en-US" altLang="zh-CN" sz="2400" b="1" dirty="0">
                <a:latin typeface="Times New Roman" panose="02020603050405020304" pitchFamily="18" charset="0"/>
              </a:rPr>
              <a:t> (x*root)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{if(root !=NULL)</a:t>
            </a:r>
            <a:r>
              <a:rPr lang="en-US" altLang="zh-CN" sz="24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66FF33"/>
              </a:solidFill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LRD</a:t>
            </a:r>
            <a:r>
              <a:rPr lang="en-US" altLang="zh-CN" sz="2400" b="1" dirty="0">
                <a:latin typeface="Times New Roman" panose="02020603050405020304" pitchFamily="18" charset="0"/>
              </a:rPr>
              <a:t>(root-&gt;lchild);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LRD</a:t>
            </a:r>
            <a:r>
              <a:rPr lang="en-US" altLang="zh-CN" sz="2400" b="1" dirty="0">
                <a:latin typeface="Times New Roman" panose="02020603050405020304" pitchFamily="18" charset="0"/>
              </a:rPr>
              <a:t>(root-&gt;rchild);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printf(“%d”,root-&gt;data);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spcBef>
                <a:spcPct val="1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} return(0);}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342900" lvl="0" indent="-342900" algn="just" eaLnBrk="1" hangingPunct="1">
              <a:spcBef>
                <a:spcPct val="10000"/>
              </a:spcBef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marL="342900" lvl="0" indent="-342900" eaLnBrk="1" hangingPunct="1"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48837" name="Text Box 5"/>
          <p:cNvSpPr txBox="1"/>
          <p:nvPr/>
        </p:nvSpPr>
        <p:spPr>
          <a:xfrm>
            <a:off x="250825" y="0"/>
            <a:ext cx="3733800" cy="301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结点数据类型自定义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Gothic" panose="020B0609070205080204" pitchFamily="49" charset="-128"/>
              </a:rPr>
              <a:t>typedef struct liuyu{</a:t>
            </a:r>
            <a:endParaRPr lang="en-US" altLang="zh-CN" sz="2400" b="1" dirty="0">
              <a:latin typeface="Times New Roman" panose="02020603050405020304" pitchFamily="18" charset="0"/>
              <a:ea typeface="MS Gothic" panose="020B0609070205080204" pitchFamily="49" charset="-128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Gothic" panose="020B0609070205080204" pitchFamily="49" charset="-128"/>
              </a:rPr>
              <a:t>int data; </a:t>
            </a:r>
            <a:endParaRPr lang="en-US" altLang="zh-CN" sz="2400" b="1" dirty="0">
              <a:latin typeface="Times New Roman" panose="02020603050405020304" pitchFamily="18" charset="0"/>
              <a:ea typeface="MS Gothic" panose="020B0609070205080204" pitchFamily="49" charset="-128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Gothic" panose="020B0609070205080204" pitchFamily="49" charset="-128"/>
              </a:rPr>
              <a:t>struct liuyu *lchild,*rchild</a:t>
            </a:r>
            <a:r>
              <a:rPr lang="zh-CN" altLang="en-US" sz="2400" b="1" dirty="0">
                <a:latin typeface="Times New Roman" panose="02020603050405020304" pitchFamily="18" charset="0"/>
                <a:ea typeface="MS Gothic" panose="020B0609070205080204" pitchFamily="49" charset="-128"/>
              </a:rPr>
              <a:t>；</a:t>
            </a:r>
            <a:endParaRPr lang="zh-CN" altLang="en-US" sz="2400" b="1" dirty="0">
              <a:latin typeface="Times New Roman" panose="02020603050405020304" pitchFamily="18" charset="0"/>
              <a:ea typeface="MS Gothic" panose="020B0609070205080204" pitchFamily="49" charset="-128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Gothic" panose="020B0609070205080204" pitchFamily="49" charset="-128"/>
              </a:rPr>
              <a:t>} liuyu;</a:t>
            </a:r>
            <a:endParaRPr lang="en-US" altLang="zh-CN" sz="2400" b="1" dirty="0">
              <a:latin typeface="Times New Roman" panose="02020603050405020304" pitchFamily="18" charset="0"/>
              <a:ea typeface="MS Gothic" panose="020B0609070205080204" pitchFamily="49" charset="-128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Gothic" panose="020B0609070205080204" pitchFamily="49" charset="-128"/>
              </a:rPr>
              <a:t>liuyu *root;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MS Gothic" panose="020B0609070205080204" pitchFamily="49" charset="-128"/>
              </a:rPr>
              <a:t> </a:t>
            </a:r>
            <a:endParaRPr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MS Gothic" panose="020B0609070205080204" pitchFamily="4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883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>
                                            <p:txEl>
                                              <p:charRg st="1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8837">
                                            <p:txEl>
                                              <p:charRg st="1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>
                                            <p:txEl>
                                              <p:charRg st="32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8837">
                                            <p:txEl>
                                              <p:charRg st="32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8837">
                                            <p:txEl>
                                              <p:charRg st="4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>
                                            <p:txEl>
                                              <p:charRg st="7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8837">
                                            <p:txEl>
                                              <p:charRg st="73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>
                                            <p:txEl>
                                              <p:charRg st="82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8837">
                                            <p:txEl>
                                              <p:charRg st="82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4" grpId="0"/>
      <p:bldP spid="248835" grpId="0" animBg="1"/>
      <p:bldP spid="248836" grpId="0" animBg="1"/>
      <p:bldP spid="248837" grpId="0" advAuto="100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  <a:ea typeface="仿宋_GB2312"/>
              </a:rPr>
              <a:t>                    </a:t>
            </a:r>
            <a:fld id="{BB962C8B-B14F-4D97-AF65-F5344CB8AC3E}" type="datetime2">
              <a:rPr lang="zh-CN" altLang="en-US" sz="1400" dirty="0">
                <a:latin typeface="Times New Roman" panose="02020603050405020304" pitchFamily="18" charset="0"/>
                <a:ea typeface="仿宋_GB2312"/>
              </a:rPr>
            </a:fld>
            <a:r>
              <a:rPr lang="en-US" altLang="zh-CN" sz="1400" dirty="0">
                <a:latin typeface="Times New Roman" panose="02020603050405020304" pitchFamily="18" charset="0"/>
                <a:ea typeface="仿宋_GB2312"/>
              </a:rPr>
              <a:t>        </a:t>
            </a:r>
            <a:endParaRPr lang="en-US" altLang="zh-CN" sz="1400" dirty="0">
              <a:latin typeface="Times New Roman" panose="02020603050405020304" pitchFamily="18" charset="0"/>
              <a:ea typeface="仿宋_GB2312"/>
            </a:endParaRPr>
          </a:p>
        </p:txBody>
      </p:sp>
      <p:sp>
        <p:nvSpPr>
          <p:cNvPr id="4608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p>
            <a:pPr marL="0" indent="0" algn="ctr" eaLnBrk="1" hangingPunct="1">
              <a:spcBef>
                <a:spcPct val="50000"/>
              </a:spcBef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北京林业大学信息学院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6084" name="Text Box 158"/>
          <p:cNvSpPr txBox="1"/>
          <p:nvPr/>
        </p:nvSpPr>
        <p:spPr>
          <a:xfrm>
            <a:off x="0" y="0"/>
            <a:ext cx="9144000" cy="6932613"/>
          </a:xfrm>
          <a:prstGeom prst="rect">
            <a:avLst/>
          </a:prstGeom>
          <a:solidFill>
            <a:srgbClr val="FFFFE7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  <a:p>
            <a:pPr marL="342900" lvl="0" indent="-342900">
              <a:spcBef>
                <a:spcPct val="50000"/>
              </a:spcBef>
              <a:buNone/>
            </a:pPr>
            <a:endParaRPr lang="en-US" altLang="zh-CN" sz="2800" dirty="0">
              <a:latin typeface="Times New Roman" panose="02020603050405020304" pitchFamily="18" charset="0"/>
              <a:ea typeface="仿宋_GB2312"/>
            </a:endParaRPr>
          </a:p>
        </p:txBody>
      </p:sp>
      <p:sp>
        <p:nvSpPr>
          <p:cNvPr id="46085" name="Text Box 159"/>
          <p:cNvSpPr txBox="1"/>
          <p:nvPr/>
        </p:nvSpPr>
        <p:spPr>
          <a:xfrm>
            <a:off x="157163" y="92075"/>
            <a:ext cx="4191000" cy="2986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仿宋_GB2312"/>
              </a:rPr>
              <a:t>Status PreOrderTraverse(BiTree T){</a:t>
            </a:r>
            <a:endParaRPr lang="en-US" altLang="zh-CN" sz="2000" b="1" dirty="0">
              <a:latin typeface="Times New Roman" panose="02020603050405020304" pitchFamily="18" charset="0"/>
              <a:ea typeface="仿宋_GB2312"/>
            </a:endParaRPr>
          </a:p>
          <a:p>
            <a:pPr marL="0" lv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仿宋_GB2312"/>
              </a:rPr>
              <a:t>  if(T==NULL) return OK;</a:t>
            </a:r>
            <a:endParaRPr lang="en-US" altLang="zh-CN" sz="2000" b="1" dirty="0">
              <a:latin typeface="Times New Roman" panose="02020603050405020304" pitchFamily="18" charset="0"/>
              <a:ea typeface="仿宋_GB2312"/>
            </a:endParaRPr>
          </a:p>
          <a:p>
            <a:pPr marL="0" lv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仿宋_GB2312"/>
              </a:rPr>
              <a:t> else{    </a:t>
            </a:r>
            <a:endParaRPr lang="en-US" altLang="zh-CN" sz="2000" b="1" dirty="0">
              <a:latin typeface="Times New Roman" panose="02020603050405020304" pitchFamily="18" charset="0"/>
              <a:ea typeface="仿宋_GB2312"/>
            </a:endParaRPr>
          </a:p>
          <a:p>
            <a:pPr marL="0" lv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仿宋_GB2312"/>
              </a:rPr>
              <a:t>     cout&lt;&lt;T-&gt;data; </a:t>
            </a:r>
            <a:endParaRPr lang="en-US" altLang="zh-CN" sz="2000" b="1" dirty="0">
              <a:latin typeface="Times New Roman" panose="02020603050405020304" pitchFamily="18" charset="0"/>
              <a:ea typeface="仿宋_GB2312"/>
            </a:endParaRPr>
          </a:p>
          <a:p>
            <a:pPr marL="0" lv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仿宋_GB2312"/>
              </a:rPr>
              <a:t>     PreOrderTraverse(T-&gt;lchild); </a:t>
            </a:r>
            <a:endParaRPr lang="en-US" altLang="zh-CN" sz="2000" b="1" dirty="0">
              <a:latin typeface="Times New Roman" panose="02020603050405020304" pitchFamily="18" charset="0"/>
              <a:ea typeface="仿宋_GB2312"/>
            </a:endParaRPr>
          </a:p>
          <a:p>
            <a:pPr marL="0" lv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仿宋_GB2312"/>
              </a:rPr>
              <a:t>     PreOrderTraverse(T-&gt;rchild); </a:t>
            </a:r>
            <a:endParaRPr lang="en-US" altLang="zh-CN" sz="2000" b="1" dirty="0">
              <a:latin typeface="Times New Roman" panose="02020603050405020304" pitchFamily="18" charset="0"/>
              <a:ea typeface="仿宋_GB2312"/>
            </a:endParaRPr>
          </a:p>
          <a:p>
            <a:pPr marL="0" lv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仿宋_GB2312"/>
              </a:rPr>
              <a:t>     }</a:t>
            </a:r>
            <a:endParaRPr lang="en-US" altLang="zh-CN" sz="2000" b="1" dirty="0">
              <a:latin typeface="Times New Roman" panose="02020603050405020304" pitchFamily="18" charset="0"/>
              <a:ea typeface="仿宋_GB2312"/>
            </a:endParaRPr>
          </a:p>
          <a:p>
            <a:pPr marL="0" lv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ea typeface="仿宋_GB2312"/>
              </a:rPr>
              <a:t>}</a:t>
            </a:r>
            <a:endParaRPr lang="en-US" altLang="zh-CN" sz="2000" b="1" dirty="0">
              <a:latin typeface="Times New Roman" panose="02020603050405020304" pitchFamily="18" charset="0"/>
              <a:ea typeface="仿宋_GB2312"/>
            </a:endParaRPr>
          </a:p>
        </p:txBody>
      </p:sp>
      <p:grpSp>
        <p:nvGrpSpPr>
          <p:cNvPr id="2" name="Group 160"/>
          <p:cNvGrpSpPr/>
          <p:nvPr/>
        </p:nvGrpSpPr>
        <p:grpSpPr>
          <a:xfrm>
            <a:off x="233363" y="3381375"/>
            <a:ext cx="1143000" cy="1235075"/>
            <a:chOff x="192" y="2160"/>
            <a:chExt cx="720" cy="778"/>
          </a:xfrm>
        </p:grpSpPr>
        <p:sp>
          <p:nvSpPr>
            <p:cNvPr id="46234" name="Line 161"/>
            <p:cNvSpPr/>
            <p:nvPr/>
          </p:nvSpPr>
          <p:spPr>
            <a:xfrm>
              <a:off x="480" y="2400"/>
              <a:ext cx="0" cy="336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235" name="Text Box 162"/>
            <p:cNvSpPr txBox="1"/>
            <p:nvPr/>
          </p:nvSpPr>
          <p:spPr>
            <a:xfrm>
              <a:off x="192" y="2160"/>
              <a:ext cx="62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000" dirty="0">
                  <a:latin typeface="Times New Roman" panose="02020603050405020304" pitchFamily="18" charset="0"/>
                </a:rPr>
                <a:t>主程序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6236" name="Text Box 163"/>
            <p:cNvSpPr txBox="1"/>
            <p:nvPr/>
          </p:nvSpPr>
          <p:spPr>
            <a:xfrm>
              <a:off x="240" y="2688"/>
              <a:ext cx="6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Pre( T )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12548" name="Line 164"/>
          <p:cNvSpPr/>
          <p:nvPr/>
        </p:nvSpPr>
        <p:spPr>
          <a:xfrm>
            <a:off x="690563" y="4676775"/>
            <a:ext cx="1587" cy="609600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12549" name="Text Box 165"/>
          <p:cNvSpPr txBox="1"/>
          <p:nvPr/>
        </p:nvSpPr>
        <p:spPr>
          <a:xfrm>
            <a:off x="7777163" y="3686175"/>
            <a:ext cx="762000" cy="3968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返回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66"/>
          <p:cNvGrpSpPr/>
          <p:nvPr/>
        </p:nvGrpSpPr>
        <p:grpSpPr>
          <a:xfrm>
            <a:off x="7167563" y="3228975"/>
            <a:ext cx="533400" cy="838200"/>
            <a:chOff x="4560" y="1968"/>
            <a:chExt cx="336" cy="528"/>
          </a:xfrm>
        </p:grpSpPr>
        <p:sp>
          <p:nvSpPr>
            <p:cNvPr id="46230" name="Line 167"/>
            <p:cNvSpPr/>
            <p:nvPr/>
          </p:nvSpPr>
          <p:spPr>
            <a:xfrm>
              <a:off x="4560" y="2448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31" name="Line 168"/>
            <p:cNvSpPr/>
            <p:nvPr/>
          </p:nvSpPr>
          <p:spPr>
            <a:xfrm>
              <a:off x="4752" y="1968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32" name="Line 169"/>
            <p:cNvSpPr/>
            <p:nvPr/>
          </p:nvSpPr>
          <p:spPr>
            <a:xfrm>
              <a:off x="4752" y="2496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33" name="Line 170"/>
            <p:cNvSpPr/>
            <p:nvPr/>
          </p:nvSpPr>
          <p:spPr>
            <a:xfrm flipV="1">
              <a:off x="4752" y="1968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12555" name="Text Box 171"/>
          <p:cNvSpPr txBox="1"/>
          <p:nvPr/>
        </p:nvSpPr>
        <p:spPr>
          <a:xfrm>
            <a:off x="7777163" y="4600575"/>
            <a:ext cx="762000" cy="3968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返回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72"/>
          <p:cNvGrpSpPr/>
          <p:nvPr/>
        </p:nvGrpSpPr>
        <p:grpSpPr>
          <a:xfrm>
            <a:off x="7167563" y="4143375"/>
            <a:ext cx="533400" cy="838200"/>
            <a:chOff x="4560" y="2544"/>
            <a:chExt cx="336" cy="528"/>
          </a:xfrm>
        </p:grpSpPr>
        <p:sp>
          <p:nvSpPr>
            <p:cNvPr id="46226" name="Line 173"/>
            <p:cNvSpPr/>
            <p:nvPr/>
          </p:nvSpPr>
          <p:spPr>
            <a:xfrm>
              <a:off x="4560" y="2688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27" name="Line 174"/>
            <p:cNvSpPr/>
            <p:nvPr/>
          </p:nvSpPr>
          <p:spPr>
            <a:xfrm>
              <a:off x="4752" y="2544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28" name="Line 175"/>
            <p:cNvSpPr/>
            <p:nvPr/>
          </p:nvSpPr>
          <p:spPr>
            <a:xfrm>
              <a:off x="4752" y="3072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29" name="Line 176"/>
            <p:cNvSpPr/>
            <p:nvPr/>
          </p:nvSpPr>
          <p:spPr>
            <a:xfrm flipV="1">
              <a:off x="4752" y="2544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177"/>
          <p:cNvGrpSpPr/>
          <p:nvPr/>
        </p:nvGrpSpPr>
        <p:grpSpPr>
          <a:xfrm>
            <a:off x="3128963" y="4448175"/>
            <a:ext cx="609600" cy="1752600"/>
            <a:chOff x="2016" y="2736"/>
            <a:chExt cx="384" cy="1104"/>
          </a:xfrm>
        </p:grpSpPr>
        <p:sp>
          <p:nvSpPr>
            <p:cNvPr id="46222" name="Line 178"/>
            <p:cNvSpPr/>
            <p:nvPr/>
          </p:nvSpPr>
          <p:spPr>
            <a:xfrm>
              <a:off x="2016" y="2832"/>
              <a:ext cx="240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23" name="Line 179"/>
            <p:cNvSpPr/>
            <p:nvPr/>
          </p:nvSpPr>
          <p:spPr>
            <a:xfrm>
              <a:off x="2256" y="2736"/>
              <a:ext cx="0" cy="1104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24" name="Line 180"/>
            <p:cNvSpPr/>
            <p:nvPr/>
          </p:nvSpPr>
          <p:spPr>
            <a:xfrm>
              <a:off x="2256" y="2736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25" name="Line 181"/>
            <p:cNvSpPr/>
            <p:nvPr/>
          </p:nvSpPr>
          <p:spPr>
            <a:xfrm>
              <a:off x="2256" y="384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182"/>
          <p:cNvGrpSpPr/>
          <p:nvPr/>
        </p:nvGrpSpPr>
        <p:grpSpPr>
          <a:xfrm>
            <a:off x="3814763" y="5743575"/>
            <a:ext cx="1371600" cy="396875"/>
            <a:chOff x="2448" y="3552"/>
            <a:chExt cx="864" cy="250"/>
          </a:xfrm>
        </p:grpSpPr>
        <p:sp>
          <p:nvSpPr>
            <p:cNvPr id="46220" name="Text Box 183"/>
            <p:cNvSpPr txBox="1"/>
            <p:nvPr/>
          </p:nvSpPr>
          <p:spPr>
            <a:xfrm>
              <a:off x="2448" y="3552"/>
              <a:ext cx="864" cy="250"/>
            </a:xfrm>
            <a:prstGeom prst="rect">
              <a:avLst/>
            </a:prstGeom>
            <a:solidFill>
              <a:srgbClr val="99FFCC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pre(T    R);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6221" name="Line 184"/>
            <p:cNvSpPr/>
            <p:nvPr/>
          </p:nvSpPr>
          <p:spPr>
            <a:xfrm>
              <a:off x="2880" y="3696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12569" name="Text Box 185"/>
          <p:cNvSpPr txBox="1"/>
          <p:nvPr/>
        </p:nvSpPr>
        <p:spPr>
          <a:xfrm>
            <a:off x="5719763" y="5286375"/>
            <a:ext cx="762000" cy="3968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返回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7" name="Group 186"/>
          <p:cNvGrpSpPr/>
          <p:nvPr/>
        </p:nvGrpSpPr>
        <p:grpSpPr>
          <a:xfrm>
            <a:off x="5110163" y="4829175"/>
            <a:ext cx="533400" cy="838200"/>
            <a:chOff x="3264" y="2976"/>
            <a:chExt cx="336" cy="528"/>
          </a:xfrm>
        </p:grpSpPr>
        <p:sp>
          <p:nvSpPr>
            <p:cNvPr id="46216" name="Line 187"/>
            <p:cNvSpPr/>
            <p:nvPr/>
          </p:nvSpPr>
          <p:spPr>
            <a:xfrm>
              <a:off x="3264" y="3456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7" name="Line 188"/>
            <p:cNvSpPr/>
            <p:nvPr/>
          </p:nvSpPr>
          <p:spPr>
            <a:xfrm>
              <a:off x="3456" y="2976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8" name="Line 189"/>
            <p:cNvSpPr/>
            <p:nvPr/>
          </p:nvSpPr>
          <p:spPr>
            <a:xfrm>
              <a:off x="3456" y="3504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9" name="Line 190"/>
            <p:cNvSpPr/>
            <p:nvPr/>
          </p:nvSpPr>
          <p:spPr>
            <a:xfrm flipV="1">
              <a:off x="3456" y="2976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12575" name="Text Box 191"/>
          <p:cNvSpPr txBox="1"/>
          <p:nvPr/>
        </p:nvSpPr>
        <p:spPr>
          <a:xfrm>
            <a:off x="5719763" y="6200775"/>
            <a:ext cx="762000" cy="3968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返回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8" name="Group 192"/>
          <p:cNvGrpSpPr/>
          <p:nvPr/>
        </p:nvGrpSpPr>
        <p:grpSpPr>
          <a:xfrm>
            <a:off x="5110163" y="5743575"/>
            <a:ext cx="533400" cy="838200"/>
            <a:chOff x="3264" y="3552"/>
            <a:chExt cx="336" cy="528"/>
          </a:xfrm>
        </p:grpSpPr>
        <p:sp>
          <p:nvSpPr>
            <p:cNvPr id="46212" name="Line 193"/>
            <p:cNvSpPr/>
            <p:nvPr/>
          </p:nvSpPr>
          <p:spPr>
            <a:xfrm>
              <a:off x="3264" y="3696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3" name="Line 194"/>
            <p:cNvSpPr/>
            <p:nvPr/>
          </p:nvSpPr>
          <p:spPr>
            <a:xfrm>
              <a:off x="3456" y="3552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4" name="Line 195"/>
            <p:cNvSpPr/>
            <p:nvPr/>
          </p:nvSpPr>
          <p:spPr>
            <a:xfrm>
              <a:off x="3456" y="408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5" name="Line 196"/>
            <p:cNvSpPr/>
            <p:nvPr/>
          </p:nvSpPr>
          <p:spPr>
            <a:xfrm flipV="1">
              <a:off x="3456" y="3552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197"/>
          <p:cNvGrpSpPr/>
          <p:nvPr/>
        </p:nvGrpSpPr>
        <p:grpSpPr>
          <a:xfrm>
            <a:off x="1223963" y="3076575"/>
            <a:ext cx="609600" cy="1752600"/>
            <a:chOff x="816" y="1872"/>
            <a:chExt cx="384" cy="1104"/>
          </a:xfrm>
        </p:grpSpPr>
        <p:sp>
          <p:nvSpPr>
            <p:cNvPr id="46208" name="Line 198"/>
            <p:cNvSpPr/>
            <p:nvPr/>
          </p:nvSpPr>
          <p:spPr>
            <a:xfrm>
              <a:off x="816" y="2736"/>
              <a:ext cx="240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9" name="Line 199"/>
            <p:cNvSpPr/>
            <p:nvPr/>
          </p:nvSpPr>
          <p:spPr>
            <a:xfrm>
              <a:off x="1056" y="1872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0" name="Line 200"/>
            <p:cNvSpPr/>
            <p:nvPr/>
          </p:nvSpPr>
          <p:spPr>
            <a:xfrm>
              <a:off x="1056" y="2976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1" name="Line 201"/>
            <p:cNvSpPr/>
            <p:nvPr/>
          </p:nvSpPr>
          <p:spPr>
            <a:xfrm flipV="1">
              <a:off x="1056" y="1872"/>
              <a:ext cx="0" cy="1104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202"/>
          <p:cNvGrpSpPr/>
          <p:nvPr/>
        </p:nvGrpSpPr>
        <p:grpSpPr>
          <a:xfrm>
            <a:off x="5033963" y="2847975"/>
            <a:ext cx="762000" cy="1752600"/>
            <a:chOff x="3216" y="1728"/>
            <a:chExt cx="480" cy="1104"/>
          </a:xfrm>
        </p:grpSpPr>
        <p:sp>
          <p:nvSpPr>
            <p:cNvPr id="46204" name="Line 203"/>
            <p:cNvSpPr/>
            <p:nvPr/>
          </p:nvSpPr>
          <p:spPr>
            <a:xfrm>
              <a:off x="3552" y="1728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5" name="Line 204"/>
            <p:cNvSpPr/>
            <p:nvPr/>
          </p:nvSpPr>
          <p:spPr>
            <a:xfrm>
              <a:off x="3552" y="2832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6" name="Line 205"/>
            <p:cNvSpPr/>
            <p:nvPr/>
          </p:nvSpPr>
          <p:spPr>
            <a:xfrm>
              <a:off x="3216" y="2544"/>
              <a:ext cx="336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7" name="Line 206"/>
            <p:cNvSpPr/>
            <p:nvPr/>
          </p:nvSpPr>
          <p:spPr>
            <a:xfrm flipV="1">
              <a:off x="3552" y="1728"/>
              <a:ext cx="0" cy="1104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207"/>
          <p:cNvGrpSpPr/>
          <p:nvPr/>
        </p:nvGrpSpPr>
        <p:grpSpPr>
          <a:xfrm>
            <a:off x="5033963" y="1933575"/>
            <a:ext cx="762000" cy="1828800"/>
            <a:chOff x="3216" y="1152"/>
            <a:chExt cx="480" cy="1152"/>
          </a:xfrm>
        </p:grpSpPr>
        <p:sp>
          <p:nvSpPr>
            <p:cNvPr id="46198" name="Line 208"/>
            <p:cNvSpPr/>
            <p:nvPr/>
          </p:nvSpPr>
          <p:spPr>
            <a:xfrm>
              <a:off x="3408" y="1488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99" name="Line 209"/>
            <p:cNvSpPr/>
            <p:nvPr/>
          </p:nvSpPr>
          <p:spPr>
            <a:xfrm>
              <a:off x="3552" y="1152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0" name="Line 210"/>
            <p:cNvSpPr/>
            <p:nvPr/>
          </p:nvSpPr>
          <p:spPr>
            <a:xfrm>
              <a:off x="3552" y="1680"/>
              <a:ext cx="144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1" name="Line 211"/>
            <p:cNvSpPr/>
            <p:nvPr/>
          </p:nvSpPr>
          <p:spPr>
            <a:xfrm flipV="1">
              <a:off x="3552" y="1152"/>
              <a:ext cx="0" cy="528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2" name="Line 212"/>
            <p:cNvSpPr/>
            <p:nvPr/>
          </p:nvSpPr>
          <p:spPr>
            <a:xfrm>
              <a:off x="3216" y="2304"/>
              <a:ext cx="192" cy="0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3" name="Line 213"/>
            <p:cNvSpPr/>
            <p:nvPr/>
          </p:nvSpPr>
          <p:spPr>
            <a:xfrm flipV="1">
              <a:off x="3408" y="1488"/>
              <a:ext cx="0" cy="816"/>
            </a:xfrm>
            <a:prstGeom prst="line">
              <a:avLst/>
            </a:prstGeom>
            <a:ln w="1905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214"/>
          <p:cNvGrpSpPr/>
          <p:nvPr/>
        </p:nvGrpSpPr>
        <p:grpSpPr>
          <a:xfrm>
            <a:off x="5872163" y="4143375"/>
            <a:ext cx="1371600" cy="396875"/>
            <a:chOff x="3744" y="2544"/>
            <a:chExt cx="864" cy="250"/>
          </a:xfrm>
        </p:grpSpPr>
        <p:sp>
          <p:nvSpPr>
            <p:cNvPr id="46196" name="Text Box 215"/>
            <p:cNvSpPr txBox="1"/>
            <p:nvPr/>
          </p:nvSpPr>
          <p:spPr>
            <a:xfrm>
              <a:off x="3744" y="2544"/>
              <a:ext cx="864" cy="250"/>
            </a:xfrm>
            <a:prstGeom prst="rect">
              <a:avLst/>
            </a:prstGeom>
            <a:solidFill>
              <a:srgbClr val="CCFF99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pre(T    R);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6197" name="Line 216"/>
            <p:cNvSpPr/>
            <p:nvPr/>
          </p:nvSpPr>
          <p:spPr>
            <a:xfrm>
              <a:off x="4104" y="2688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6102" name="Oval 217"/>
          <p:cNvSpPr/>
          <p:nvPr/>
        </p:nvSpPr>
        <p:spPr>
          <a:xfrm>
            <a:off x="7396163" y="180975"/>
            <a:ext cx="533400" cy="457200"/>
          </a:xfrm>
          <a:prstGeom prst="ellipse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6103" name="Oval 218"/>
          <p:cNvSpPr/>
          <p:nvPr/>
        </p:nvSpPr>
        <p:spPr>
          <a:xfrm>
            <a:off x="8234363" y="1019175"/>
            <a:ext cx="533400" cy="457200"/>
          </a:xfrm>
          <a:prstGeom prst="ellipse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C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6104" name="Oval 219"/>
          <p:cNvSpPr/>
          <p:nvPr/>
        </p:nvSpPr>
        <p:spPr>
          <a:xfrm>
            <a:off x="6557963" y="1019175"/>
            <a:ext cx="533400" cy="457200"/>
          </a:xfrm>
          <a:prstGeom prst="ellipse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B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6105" name="Oval 220"/>
          <p:cNvSpPr/>
          <p:nvPr/>
        </p:nvSpPr>
        <p:spPr>
          <a:xfrm>
            <a:off x="7472363" y="2085975"/>
            <a:ext cx="533400" cy="457200"/>
          </a:xfrm>
          <a:prstGeom prst="ellipse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cxnSp>
        <p:nvCxnSpPr>
          <p:cNvPr id="46106" name="AutoShape 221"/>
          <p:cNvCxnSpPr>
            <a:stCxn id="46102" idx="3"/>
            <a:endCxn id="46104" idx="7"/>
          </p:cNvCxnSpPr>
          <p:nvPr/>
        </p:nvCxnSpPr>
        <p:spPr>
          <a:xfrm flipH="1">
            <a:off x="7013575" y="571500"/>
            <a:ext cx="460375" cy="5143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07" name="AutoShape 222"/>
          <p:cNvCxnSpPr>
            <a:stCxn id="46102" idx="5"/>
            <a:endCxn id="46103" idx="1"/>
          </p:cNvCxnSpPr>
          <p:nvPr/>
        </p:nvCxnSpPr>
        <p:spPr>
          <a:xfrm>
            <a:off x="7851775" y="571500"/>
            <a:ext cx="460375" cy="5143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108" name="AutoShape 223"/>
          <p:cNvCxnSpPr>
            <a:stCxn id="46104" idx="5"/>
            <a:endCxn id="46105" idx="1"/>
          </p:cNvCxnSpPr>
          <p:nvPr/>
        </p:nvCxnSpPr>
        <p:spPr>
          <a:xfrm>
            <a:off x="7013575" y="1409700"/>
            <a:ext cx="536575" cy="7429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3" name="Group 224"/>
          <p:cNvGrpSpPr/>
          <p:nvPr/>
        </p:nvGrpSpPr>
        <p:grpSpPr>
          <a:xfrm>
            <a:off x="3738563" y="1019175"/>
            <a:ext cx="3352800" cy="2911475"/>
            <a:chOff x="2400" y="672"/>
            <a:chExt cx="2112" cy="1834"/>
          </a:xfrm>
        </p:grpSpPr>
        <p:grpSp>
          <p:nvGrpSpPr>
            <p:cNvPr id="46188" name="Group 225"/>
            <p:cNvGrpSpPr/>
            <p:nvPr/>
          </p:nvGrpSpPr>
          <p:grpSpPr>
            <a:xfrm>
              <a:off x="2400" y="1728"/>
              <a:ext cx="864" cy="778"/>
              <a:chOff x="2400" y="1632"/>
              <a:chExt cx="864" cy="778"/>
            </a:xfrm>
          </p:grpSpPr>
          <p:sp>
            <p:nvSpPr>
              <p:cNvPr id="46190" name="Text Box 226"/>
              <p:cNvSpPr txBox="1"/>
              <p:nvPr/>
            </p:nvSpPr>
            <p:spPr>
              <a:xfrm>
                <a:off x="2400" y="1632"/>
                <a:ext cx="240" cy="25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91" name="Line 227"/>
              <p:cNvSpPr/>
              <p:nvPr/>
            </p:nvSpPr>
            <p:spPr>
              <a:xfrm>
                <a:off x="2592" y="1776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92" name="Oval 228"/>
              <p:cNvSpPr/>
              <p:nvPr/>
            </p:nvSpPr>
            <p:spPr>
              <a:xfrm>
                <a:off x="2784" y="1680"/>
                <a:ext cx="192" cy="192"/>
              </a:xfrm>
              <a:prstGeom prst="ellipse">
                <a:avLst/>
              </a:prstGeom>
              <a:solidFill>
                <a:srgbClr val="CCFFCC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B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93" name="Text Box 229"/>
              <p:cNvSpPr txBox="1"/>
              <p:nvPr/>
            </p:nvSpPr>
            <p:spPr>
              <a:xfrm>
                <a:off x="2400" y="1920"/>
                <a:ext cx="864" cy="25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printf(B);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94" name="Text Box 230"/>
              <p:cNvSpPr txBox="1"/>
              <p:nvPr/>
            </p:nvSpPr>
            <p:spPr>
              <a:xfrm>
                <a:off x="2400" y="2160"/>
                <a:ext cx="864" cy="25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pre(T    L);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95" name="Line 231"/>
              <p:cNvSpPr/>
              <p:nvPr/>
            </p:nvSpPr>
            <p:spPr>
              <a:xfrm>
                <a:off x="2832" y="2304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89" name="Oval 232"/>
            <p:cNvSpPr/>
            <p:nvPr/>
          </p:nvSpPr>
          <p:spPr>
            <a:xfrm>
              <a:off x="4176" y="672"/>
              <a:ext cx="336" cy="288"/>
            </a:xfrm>
            <a:prstGeom prst="ellipse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233"/>
          <p:cNvGrpSpPr/>
          <p:nvPr/>
        </p:nvGrpSpPr>
        <p:grpSpPr>
          <a:xfrm>
            <a:off x="1833563" y="180975"/>
            <a:ext cx="6096000" cy="4206875"/>
            <a:chOff x="1200" y="144"/>
            <a:chExt cx="3840" cy="2650"/>
          </a:xfrm>
        </p:grpSpPr>
        <p:grpSp>
          <p:nvGrpSpPr>
            <p:cNvPr id="46180" name="Group 234"/>
            <p:cNvGrpSpPr/>
            <p:nvPr/>
          </p:nvGrpSpPr>
          <p:grpSpPr>
            <a:xfrm>
              <a:off x="1200" y="2016"/>
              <a:ext cx="864" cy="778"/>
              <a:chOff x="1200" y="1920"/>
              <a:chExt cx="864" cy="778"/>
            </a:xfrm>
          </p:grpSpPr>
          <p:sp>
            <p:nvSpPr>
              <p:cNvPr id="46182" name="Text Box 235"/>
              <p:cNvSpPr txBox="1"/>
              <p:nvPr/>
            </p:nvSpPr>
            <p:spPr>
              <a:xfrm>
                <a:off x="1200" y="1920"/>
                <a:ext cx="240" cy="25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83" name="Line 236"/>
              <p:cNvSpPr/>
              <p:nvPr/>
            </p:nvSpPr>
            <p:spPr>
              <a:xfrm>
                <a:off x="1392" y="20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84" name="Oval 237"/>
              <p:cNvSpPr/>
              <p:nvPr/>
            </p:nvSpPr>
            <p:spPr>
              <a:xfrm>
                <a:off x="1584" y="1968"/>
                <a:ext cx="192" cy="192"/>
              </a:xfrm>
              <a:prstGeom prst="ellipse">
                <a:avLst/>
              </a:prstGeom>
              <a:solidFill>
                <a:srgbClr val="CCFFCC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A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85" name="Text Box 238"/>
              <p:cNvSpPr txBox="1"/>
              <p:nvPr/>
            </p:nvSpPr>
            <p:spPr>
              <a:xfrm>
                <a:off x="1200" y="2208"/>
                <a:ext cx="864" cy="25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printf(A);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86" name="Text Box 239"/>
              <p:cNvSpPr txBox="1"/>
              <p:nvPr/>
            </p:nvSpPr>
            <p:spPr>
              <a:xfrm>
                <a:off x="1200" y="2448"/>
                <a:ext cx="864" cy="25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pre(T    L);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87" name="Line 240"/>
              <p:cNvSpPr/>
              <p:nvPr/>
            </p:nvSpPr>
            <p:spPr>
              <a:xfrm>
                <a:off x="1632" y="2592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81" name="Oval 241"/>
            <p:cNvSpPr/>
            <p:nvPr/>
          </p:nvSpPr>
          <p:spPr>
            <a:xfrm>
              <a:off x="4704" y="144"/>
              <a:ext cx="336" cy="288"/>
            </a:xfrm>
            <a:prstGeom prst="ellipse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242"/>
          <p:cNvGrpSpPr/>
          <p:nvPr/>
        </p:nvGrpSpPr>
        <p:grpSpPr>
          <a:xfrm>
            <a:off x="5872163" y="2085975"/>
            <a:ext cx="2133600" cy="2073275"/>
            <a:chOff x="3744" y="1344"/>
            <a:chExt cx="1344" cy="1306"/>
          </a:xfrm>
        </p:grpSpPr>
        <p:grpSp>
          <p:nvGrpSpPr>
            <p:cNvPr id="46172" name="Group 243"/>
            <p:cNvGrpSpPr/>
            <p:nvPr/>
          </p:nvGrpSpPr>
          <p:grpSpPr>
            <a:xfrm>
              <a:off x="3744" y="1872"/>
              <a:ext cx="864" cy="778"/>
              <a:chOff x="3744" y="1776"/>
              <a:chExt cx="864" cy="778"/>
            </a:xfrm>
          </p:grpSpPr>
          <p:sp>
            <p:nvSpPr>
              <p:cNvPr id="46174" name="Text Box 244"/>
              <p:cNvSpPr txBox="1"/>
              <p:nvPr/>
            </p:nvSpPr>
            <p:spPr>
              <a:xfrm>
                <a:off x="3744" y="1776"/>
                <a:ext cx="240" cy="25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75" name="Line 245"/>
              <p:cNvSpPr/>
              <p:nvPr/>
            </p:nvSpPr>
            <p:spPr>
              <a:xfrm>
                <a:off x="3936" y="192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76" name="Oval 246"/>
              <p:cNvSpPr/>
              <p:nvPr/>
            </p:nvSpPr>
            <p:spPr>
              <a:xfrm>
                <a:off x="4176" y="1824"/>
                <a:ext cx="192" cy="192"/>
              </a:xfrm>
              <a:prstGeom prst="ellipse">
                <a:avLst/>
              </a:prstGeom>
              <a:solidFill>
                <a:srgbClr val="99CC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D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77" name="Text Box 247"/>
              <p:cNvSpPr txBox="1"/>
              <p:nvPr/>
            </p:nvSpPr>
            <p:spPr>
              <a:xfrm>
                <a:off x="3744" y="2064"/>
                <a:ext cx="864" cy="25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printf(D);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78" name="Text Box 248"/>
              <p:cNvSpPr txBox="1"/>
              <p:nvPr/>
            </p:nvSpPr>
            <p:spPr>
              <a:xfrm>
                <a:off x="3744" y="2304"/>
                <a:ext cx="864" cy="25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pre(T    L);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79" name="Line 249"/>
              <p:cNvSpPr/>
              <p:nvPr/>
            </p:nvSpPr>
            <p:spPr>
              <a:xfrm>
                <a:off x="4176" y="2448"/>
                <a:ext cx="144" cy="1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73" name="Oval 250"/>
            <p:cNvSpPr/>
            <p:nvPr/>
          </p:nvSpPr>
          <p:spPr>
            <a:xfrm>
              <a:off x="4752" y="1344"/>
              <a:ext cx="336" cy="288"/>
            </a:xfrm>
            <a:prstGeom prst="ellipse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251"/>
          <p:cNvGrpSpPr/>
          <p:nvPr/>
        </p:nvGrpSpPr>
        <p:grpSpPr>
          <a:xfrm>
            <a:off x="3814763" y="1019175"/>
            <a:ext cx="4953000" cy="4740275"/>
            <a:chOff x="2448" y="672"/>
            <a:chExt cx="3120" cy="2986"/>
          </a:xfrm>
        </p:grpSpPr>
        <p:grpSp>
          <p:nvGrpSpPr>
            <p:cNvPr id="46164" name="Group 252"/>
            <p:cNvGrpSpPr/>
            <p:nvPr/>
          </p:nvGrpSpPr>
          <p:grpSpPr>
            <a:xfrm>
              <a:off x="2448" y="2880"/>
              <a:ext cx="864" cy="778"/>
              <a:chOff x="2448" y="2784"/>
              <a:chExt cx="864" cy="778"/>
            </a:xfrm>
          </p:grpSpPr>
          <p:sp>
            <p:nvSpPr>
              <p:cNvPr id="46166" name="Text Box 253"/>
              <p:cNvSpPr txBox="1"/>
              <p:nvPr/>
            </p:nvSpPr>
            <p:spPr>
              <a:xfrm>
                <a:off x="2448" y="2784"/>
                <a:ext cx="240" cy="250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67" name="Line 254"/>
              <p:cNvSpPr/>
              <p:nvPr/>
            </p:nvSpPr>
            <p:spPr>
              <a:xfrm>
                <a:off x="2640" y="2928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6168" name="Oval 255"/>
              <p:cNvSpPr/>
              <p:nvPr/>
            </p:nvSpPr>
            <p:spPr>
              <a:xfrm>
                <a:off x="2880" y="2832"/>
                <a:ext cx="192" cy="192"/>
              </a:xfrm>
              <a:prstGeom prst="ellipse">
                <a:avLst/>
              </a:prstGeom>
              <a:solidFill>
                <a:srgbClr val="FFFFCC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C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69" name="Text Box 256"/>
              <p:cNvSpPr txBox="1"/>
              <p:nvPr/>
            </p:nvSpPr>
            <p:spPr>
              <a:xfrm>
                <a:off x="2448" y="3072"/>
                <a:ext cx="864" cy="250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printf(C);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70" name="Text Box 257"/>
              <p:cNvSpPr txBox="1"/>
              <p:nvPr/>
            </p:nvSpPr>
            <p:spPr>
              <a:xfrm>
                <a:off x="2448" y="3312"/>
                <a:ext cx="864" cy="250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pre(T    L);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71" name="Line 258"/>
              <p:cNvSpPr/>
              <p:nvPr/>
            </p:nvSpPr>
            <p:spPr>
              <a:xfrm>
                <a:off x="2880" y="3456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65" name="Oval 259"/>
            <p:cNvSpPr/>
            <p:nvPr/>
          </p:nvSpPr>
          <p:spPr>
            <a:xfrm>
              <a:off x="5232" y="672"/>
              <a:ext cx="336" cy="288"/>
            </a:xfrm>
            <a:prstGeom prst="ellipse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260"/>
          <p:cNvGrpSpPr/>
          <p:nvPr/>
        </p:nvGrpSpPr>
        <p:grpSpPr>
          <a:xfrm>
            <a:off x="3128963" y="485775"/>
            <a:ext cx="4038600" cy="3886200"/>
            <a:chOff x="2016" y="336"/>
            <a:chExt cx="2544" cy="2448"/>
          </a:xfrm>
        </p:grpSpPr>
        <p:grpSp>
          <p:nvGrpSpPr>
            <p:cNvPr id="46158" name="Group 261"/>
            <p:cNvGrpSpPr/>
            <p:nvPr/>
          </p:nvGrpSpPr>
          <p:grpSpPr>
            <a:xfrm>
              <a:off x="2016" y="1680"/>
              <a:ext cx="384" cy="1104"/>
              <a:chOff x="2016" y="1584"/>
              <a:chExt cx="384" cy="1104"/>
            </a:xfrm>
          </p:grpSpPr>
          <p:sp>
            <p:nvSpPr>
              <p:cNvPr id="46160" name="Line 262"/>
              <p:cNvSpPr/>
              <p:nvPr/>
            </p:nvSpPr>
            <p:spPr>
              <a:xfrm>
                <a:off x="2256" y="1584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6161" name="Line 263"/>
              <p:cNvSpPr/>
              <p:nvPr/>
            </p:nvSpPr>
            <p:spPr>
              <a:xfrm>
                <a:off x="2256" y="2688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6162" name="Line 264"/>
              <p:cNvSpPr/>
              <p:nvPr/>
            </p:nvSpPr>
            <p:spPr>
              <a:xfrm>
                <a:off x="2016" y="2592"/>
                <a:ext cx="240" cy="0"/>
              </a:xfrm>
              <a:prstGeom prst="line">
                <a:avLst/>
              </a:prstGeom>
              <a:ln w="190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6163" name="Line 265"/>
              <p:cNvSpPr/>
              <p:nvPr/>
            </p:nvSpPr>
            <p:spPr>
              <a:xfrm flipV="1">
                <a:off x="2256" y="1584"/>
                <a:ext cx="0" cy="1104"/>
              </a:xfrm>
              <a:prstGeom prst="line">
                <a:avLst/>
              </a:prstGeom>
              <a:ln w="1905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159" name="AutoShape 266"/>
            <p:cNvSpPr/>
            <p:nvPr/>
          </p:nvSpPr>
          <p:spPr>
            <a:xfrm rot="-3001265">
              <a:off x="4392" y="456"/>
              <a:ext cx="288" cy="48"/>
            </a:xfrm>
            <a:prstGeom prst="leftArrow">
              <a:avLst>
                <a:gd name="adj1" fmla="val 50000"/>
                <a:gd name="adj2" fmla="val 150000"/>
              </a:avLst>
            </a:prstGeom>
            <a:solidFill>
              <a:srgbClr val="FF3300"/>
            </a:solidFill>
            <a:ln w="1905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en-US" sz="2800" dirty="0">
                <a:latin typeface="Times New Roman" panose="02020603050405020304" pitchFamily="18" charset="0"/>
                <a:ea typeface="仿宋_GB2312"/>
              </a:endParaRPr>
            </a:p>
          </p:txBody>
        </p:sp>
      </p:grpSp>
      <p:sp>
        <p:nvSpPr>
          <p:cNvPr id="912651" name="Text Box 267"/>
          <p:cNvSpPr txBox="1"/>
          <p:nvPr/>
        </p:nvSpPr>
        <p:spPr>
          <a:xfrm>
            <a:off x="5872163" y="2390775"/>
            <a:ext cx="762000" cy="396875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返回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23" name="Group 268"/>
          <p:cNvGrpSpPr/>
          <p:nvPr/>
        </p:nvGrpSpPr>
        <p:grpSpPr>
          <a:xfrm>
            <a:off x="4957763" y="1095375"/>
            <a:ext cx="1981200" cy="1236663"/>
            <a:chOff x="3168" y="720"/>
            <a:chExt cx="1248" cy="779"/>
          </a:xfrm>
        </p:grpSpPr>
        <p:grpSp>
          <p:nvGrpSpPr>
            <p:cNvPr id="46153" name="Group 269"/>
            <p:cNvGrpSpPr/>
            <p:nvPr/>
          </p:nvGrpSpPr>
          <p:grpSpPr>
            <a:xfrm>
              <a:off x="3747" y="1248"/>
              <a:ext cx="669" cy="251"/>
              <a:chOff x="3747" y="1152"/>
              <a:chExt cx="669" cy="251"/>
            </a:xfrm>
          </p:grpSpPr>
          <p:sp>
            <p:nvSpPr>
              <p:cNvPr id="46155" name="Text Box 270"/>
              <p:cNvSpPr txBox="1"/>
              <p:nvPr/>
            </p:nvSpPr>
            <p:spPr>
              <a:xfrm>
                <a:off x="3747" y="1153"/>
                <a:ext cx="240" cy="25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56" name="Text Box 271"/>
              <p:cNvSpPr txBox="1"/>
              <p:nvPr/>
            </p:nvSpPr>
            <p:spPr>
              <a:xfrm rot="-5308317">
                <a:off x="4152" y="1128"/>
                <a:ext cx="240" cy="288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&gt;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57" name="Line 272"/>
              <p:cNvSpPr/>
              <p:nvPr/>
            </p:nvSpPr>
            <p:spPr>
              <a:xfrm>
                <a:off x="3939" y="1297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54" name="Text Box 273"/>
            <p:cNvSpPr txBox="1"/>
            <p:nvPr/>
          </p:nvSpPr>
          <p:spPr>
            <a:xfrm>
              <a:off x="3168" y="720"/>
              <a:ext cx="9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左是空返回</a:t>
              </a:r>
              <a:endPara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274"/>
          <p:cNvGrpSpPr/>
          <p:nvPr/>
        </p:nvGrpSpPr>
        <p:grpSpPr>
          <a:xfrm>
            <a:off x="3738563" y="1476375"/>
            <a:ext cx="3657600" cy="2835275"/>
            <a:chOff x="2400" y="960"/>
            <a:chExt cx="2304" cy="1786"/>
          </a:xfrm>
        </p:grpSpPr>
        <p:grpSp>
          <p:nvGrpSpPr>
            <p:cNvPr id="46149" name="Group 275"/>
            <p:cNvGrpSpPr/>
            <p:nvPr/>
          </p:nvGrpSpPr>
          <p:grpSpPr>
            <a:xfrm>
              <a:off x="2400" y="2496"/>
              <a:ext cx="864" cy="250"/>
              <a:chOff x="2400" y="2400"/>
              <a:chExt cx="864" cy="250"/>
            </a:xfrm>
          </p:grpSpPr>
          <p:sp>
            <p:nvSpPr>
              <p:cNvPr id="46151" name="Text Box 276"/>
              <p:cNvSpPr txBox="1"/>
              <p:nvPr/>
            </p:nvSpPr>
            <p:spPr>
              <a:xfrm>
                <a:off x="2400" y="2400"/>
                <a:ext cx="864" cy="25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pre(T    R);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52" name="Line 277"/>
              <p:cNvSpPr/>
              <p:nvPr/>
            </p:nvSpPr>
            <p:spPr>
              <a:xfrm>
                <a:off x="2832" y="2544"/>
                <a:ext cx="14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50" name="AutoShape 278"/>
            <p:cNvSpPr/>
            <p:nvPr/>
          </p:nvSpPr>
          <p:spPr>
            <a:xfrm rot="3494401">
              <a:off x="4512" y="1104"/>
              <a:ext cx="336" cy="48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buNone/>
              </a:pPr>
              <a:endParaRPr lang="zh-CN" altLang="en-US" sz="2800" dirty="0">
                <a:latin typeface="Times New Roman" panose="02020603050405020304" pitchFamily="18" charset="0"/>
                <a:ea typeface="仿宋_GB2312"/>
              </a:endParaRPr>
            </a:p>
          </p:txBody>
        </p:sp>
      </p:grpSp>
      <p:grpSp>
        <p:nvGrpSpPr>
          <p:cNvPr id="27" name="Group 279"/>
          <p:cNvGrpSpPr/>
          <p:nvPr/>
        </p:nvGrpSpPr>
        <p:grpSpPr>
          <a:xfrm>
            <a:off x="6938963" y="2543175"/>
            <a:ext cx="1828800" cy="1082675"/>
            <a:chOff x="4416" y="1632"/>
            <a:chExt cx="1152" cy="682"/>
          </a:xfrm>
        </p:grpSpPr>
        <p:grpSp>
          <p:nvGrpSpPr>
            <p:cNvPr id="46144" name="Group 280"/>
            <p:cNvGrpSpPr/>
            <p:nvPr/>
          </p:nvGrpSpPr>
          <p:grpSpPr>
            <a:xfrm>
              <a:off x="4944" y="2064"/>
              <a:ext cx="624" cy="250"/>
              <a:chOff x="4944" y="1968"/>
              <a:chExt cx="624" cy="250"/>
            </a:xfrm>
          </p:grpSpPr>
          <p:sp>
            <p:nvSpPr>
              <p:cNvPr id="46146" name="Text Box 281"/>
              <p:cNvSpPr txBox="1"/>
              <p:nvPr/>
            </p:nvSpPr>
            <p:spPr>
              <a:xfrm>
                <a:off x="4944" y="1968"/>
                <a:ext cx="240" cy="250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47" name="Text Box 282"/>
              <p:cNvSpPr txBox="1"/>
              <p:nvPr/>
            </p:nvSpPr>
            <p:spPr>
              <a:xfrm rot="-5308317">
                <a:off x="5304" y="1944"/>
                <a:ext cx="240" cy="288"/>
              </a:xfrm>
              <a:prstGeom prst="rect">
                <a:avLst/>
              </a:prstGeom>
              <a:solidFill>
                <a:srgbClr val="99CCFF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&gt;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48" name="Line 283"/>
              <p:cNvSpPr/>
              <p:nvPr/>
            </p:nvSpPr>
            <p:spPr>
              <a:xfrm>
                <a:off x="5136" y="20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45" name="Text Box 284"/>
            <p:cNvSpPr txBox="1"/>
            <p:nvPr/>
          </p:nvSpPr>
          <p:spPr>
            <a:xfrm>
              <a:off x="4416" y="1632"/>
              <a:ext cx="10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左是空返回</a:t>
              </a:r>
              <a:endPara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" name="Group 285"/>
          <p:cNvGrpSpPr/>
          <p:nvPr/>
        </p:nvGrpSpPr>
        <p:grpSpPr>
          <a:xfrm>
            <a:off x="6938963" y="2847975"/>
            <a:ext cx="1828800" cy="1692275"/>
            <a:chOff x="4416" y="1824"/>
            <a:chExt cx="1152" cy="1066"/>
          </a:xfrm>
        </p:grpSpPr>
        <p:grpSp>
          <p:nvGrpSpPr>
            <p:cNvPr id="46139" name="Group 286"/>
            <p:cNvGrpSpPr/>
            <p:nvPr/>
          </p:nvGrpSpPr>
          <p:grpSpPr>
            <a:xfrm>
              <a:off x="4944" y="2640"/>
              <a:ext cx="624" cy="250"/>
              <a:chOff x="4944" y="2544"/>
              <a:chExt cx="624" cy="250"/>
            </a:xfrm>
          </p:grpSpPr>
          <p:sp>
            <p:nvSpPr>
              <p:cNvPr id="46141" name="Text Box 287"/>
              <p:cNvSpPr txBox="1"/>
              <p:nvPr/>
            </p:nvSpPr>
            <p:spPr>
              <a:xfrm>
                <a:off x="4944" y="2544"/>
                <a:ext cx="240" cy="250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42" name="Text Box 288"/>
              <p:cNvSpPr txBox="1"/>
              <p:nvPr/>
            </p:nvSpPr>
            <p:spPr>
              <a:xfrm rot="-5308317">
                <a:off x="5304" y="2520"/>
                <a:ext cx="240" cy="288"/>
              </a:xfrm>
              <a:prstGeom prst="rect">
                <a:avLst/>
              </a:prstGeom>
              <a:solidFill>
                <a:srgbClr val="CCFF99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&gt;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43" name="Line 289"/>
              <p:cNvSpPr/>
              <p:nvPr/>
            </p:nvSpPr>
            <p:spPr>
              <a:xfrm>
                <a:off x="5136" y="264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40" name="Text Box 290"/>
            <p:cNvSpPr txBox="1"/>
            <p:nvPr/>
          </p:nvSpPr>
          <p:spPr>
            <a:xfrm>
              <a:off x="4416" y="1824"/>
              <a:ext cx="10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右是空返回</a:t>
              </a:r>
              <a:endPara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" name="Group 291"/>
          <p:cNvGrpSpPr/>
          <p:nvPr/>
        </p:nvGrpSpPr>
        <p:grpSpPr>
          <a:xfrm>
            <a:off x="5719763" y="1476375"/>
            <a:ext cx="3352800" cy="3749675"/>
            <a:chOff x="3648" y="960"/>
            <a:chExt cx="2112" cy="2362"/>
          </a:xfrm>
        </p:grpSpPr>
        <p:grpSp>
          <p:nvGrpSpPr>
            <p:cNvPr id="46134" name="Group 292"/>
            <p:cNvGrpSpPr/>
            <p:nvPr/>
          </p:nvGrpSpPr>
          <p:grpSpPr>
            <a:xfrm>
              <a:off x="3648" y="3072"/>
              <a:ext cx="624" cy="250"/>
              <a:chOff x="3648" y="2976"/>
              <a:chExt cx="624" cy="250"/>
            </a:xfrm>
          </p:grpSpPr>
          <p:sp>
            <p:nvSpPr>
              <p:cNvPr id="46136" name="Text Box 293"/>
              <p:cNvSpPr txBox="1"/>
              <p:nvPr/>
            </p:nvSpPr>
            <p:spPr>
              <a:xfrm>
                <a:off x="3648" y="2976"/>
                <a:ext cx="240" cy="250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37" name="Text Box 294"/>
              <p:cNvSpPr txBox="1"/>
              <p:nvPr/>
            </p:nvSpPr>
            <p:spPr>
              <a:xfrm rot="-5308317">
                <a:off x="4008" y="2952"/>
                <a:ext cx="240" cy="288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&gt;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38" name="Line 295"/>
              <p:cNvSpPr/>
              <p:nvPr/>
            </p:nvSpPr>
            <p:spPr>
              <a:xfrm>
                <a:off x="3840" y="3120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35" name="Text Box 296"/>
            <p:cNvSpPr txBox="1"/>
            <p:nvPr/>
          </p:nvSpPr>
          <p:spPr>
            <a:xfrm>
              <a:off x="4800" y="960"/>
              <a:ext cx="9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左是空返回</a:t>
              </a:r>
              <a:endPara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12581" name="Group 297"/>
          <p:cNvGrpSpPr/>
          <p:nvPr/>
        </p:nvGrpSpPr>
        <p:grpSpPr>
          <a:xfrm>
            <a:off x="5719763" y="1781175"/>
            <a:ext cx="3352800" cy="4359275"/>
            <a:chOff x="3648" y="1152"/>
            <a:chExt cx="2112" cy="2746"/>
          </a:xfrm>
        </p:grpSpPr>
        <p:grpSp>
          <p:nvGrpSpPr>
            <p:cNvPr id="46129" name="Group 298"/>
            <p:cNvGrpSpPr/>
            <p:nvPr/>
          </p:nvGrpSpPr>
          <p:grpSpPr>
            <a:xfrm>
              <a:off x="3648" y="3648"/>
              <a:ext cx="624" cy="250"/>
              <a:chOff x="3648" y="3552"/>
              <a:chExt cx="624" cy="250"/>
            </a:xfrm>
          </p:grpSpPr>
          <p:sp>
            <p:nvSpPr>
              <p:cNvPr id="46131" name="Text Box 299"/>
              <p:cNvSpPr txBox="1"/>
              <p:nvPr/>
            </p:nvSpPr>
            <p:spPr>
              <a:xfrm>
                <a:off x="3648" y="3552"/>
                <a:ext cx="240" cy="250"/>
              </a:xfrm>
              <a:prstGeom prst="rect">
                <a:avLst/>
              </a:prstGeom>
              <a:solidFill>
                <a:srgbClr val="99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T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32" name="Text Box 300"/>
              <p:cNvSpPr txBox="1"/>
              <p:nvPr/>
            </p:nvSpPr>
            <p:spPr>
              <a:xfrm rot="-5308317">
                <a:off x="4008" y="3528"/>
                <a:ext cx="240" cy="288"/>
              </a:xfrm>
              <a:prstGeom prst="rect">
                <a:avLst/>
              </a:prstGeom>
              <a:solidFill>
                <a:srgbClr val="99FFCC"/>
              </a:solidFill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&gt;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33" name="Line 301"/>
              <p:cNvSpPr/>
              <p:nvPr/>
            </p:nvSpPr>
            <p:spPr>
              <a:xfrm>
                <a:off x="3840" y="3696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6130" name="Text Box 302"/>
            <p:cNvSpPr txBox="1"/>
            <p:nvPr/>
          </p:nvSpPr>
          <p:spPr>
            <a:xfrm>
              <a:off x="4800" y="1152"/>
              <a:ext cx="9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000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右是空返回</a:t>
              </a:r>
              <a:endPara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12591" name="Group 303"/>
          <p:cNvGrpSpPr/>
          <p:nvPr/>
        </p:nvGrpSpPr>
        <p:grpSpPr>
          <a:xfrm>
            <a:off x="1833563" y="485775"/>
            <a:ext cx="6400800" cy="4283075"/>
            <a:chOff x="1200" y="336"/>
            <a:chExt cx="4032" cy="2698"/>
          </a:xfrm>
        </p:grpSpPr>
        <p:grpSp>
          <p:nvGrpSpPr>
            <p:cNvPr id="46123" name="Group 304"/>
            <p:cNvGrpSpPr/>
            <p:nvPr/>
          </p:nvGrpSpPr>
          <p:grpSpPr>
            <a:xfrm>
              <a:off x="1200" y="336"/>
              <a:ext cx="4032" cy="2698"/>
              <a:chOff x="1200" y="336"/>
              <a:chExt cx="4032" cy="2698"/>
            </a:xfrm>
          </p:grpSpPr>
          <p:grpSp>
            <p:nvGrpSpPr>
              <p:cNvPr id="46125" name="Group 305"/>
              <p:cNvGrpSpPr/>
              <p:nvPr/>
            </p:nvGrpSpPr>
            <p:grpSpPr>
              <a:xfrm>
                <a:off x="1200" y="2784"/>
                <a:ext cx="864" cy="250"/>
                <a:chOff x="1200" y="2688"/>
                <a:chExt cx="864" cy="250"/>
              </a:xfrm>
            </p:grpSpPr>
            <p:sp>
              <p:nvSpPr>
                <p:cNvPr id="46127" name="Text Box 306"/>
                <p:cNvSpPr txBox="1"/>
                <p:nvPr/>
              </p:nvSpPr>
              <p:spPr>
                <a:xfrm>
                  <a:off x="1200" y="2688"/>
                  <a:ext cx="864" cy="250"/>
                </a:xfrm>
                <a:prstGeom prst="rect">
                  <a:avLst/>
                </a:prstGeom>
                <a:solidFill>
                  <a:srgbClr val="FFFFCC"/>
                </a:solidFill>
                <a:ln w="19050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5000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pre(T    R);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28" name="Line 307"/>
                <p:cNvSpPr/>
                <p:nvPr/>
              </p:nvSpPr>
              <p:spPr>
                <a:xfrm>
                  <a:off x="1632" y="2832"/>
                  <a:ext cx="144" cy="0"/>
                </a:xfrm>
                <a:prstGeom prst="line">
                  <a:avLst/>
                </a:prstGeom>
                <a:ln w="19050">
                  <a:noFill/>
                </a:ln>
              </p:spPr>
            </p:sp>
          </p:grpSp>
          <p:sp>
            <p:nvSpPr>
              <p:cNvPr id="46126" name="AutoShape 308"/>
              <p:cNvSpPr/>
              <p:nvPr/>
            </p:nvSpPr>
            <p:spPr>
              <a:xfrm rot="2761019">
                <a:off x="5040" y="480"/>
                <a:ext cx="336" cy="48"/>
              </a:xfrm>
              <a:prstGeom prst="rightArrow">
                <a:avLst>
                  <a:gd name="adj1" fmla="val 50000"/>
                  <a:gd name="adj2" fmla="val 175000"/>
                </a:avLst>
              </a:prstGeom>
              <a:solidFill>
                <a:srgbClr val="FF3300"/>
              </a:solidFill>
              <a:ln w="1905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buNone/>
                </a:pPr>
                <a:endParaRPr lang="zh-CN" altLang="en-US" sz="2800" dirty="0">
                  <a:latin typeface="Times New Roman" panose="02020603050405020304" pitchFamily="18" charset="0"/>
                  <a:ea typeface="仿宋_GB2312"/>
                </a:endParaRPr>
              </a:p>
            </p:txBody>
          </p:sp>
        </p:grpSp>
        <p:sp>
          <p:nvSpPr>
            <p:cNvPr id="46124" name="Line 309"/>
            <p:cNvSpPr/>
            <p:nvPr/>
          </p:nvSpPr>
          <p:spPr>
            <a:xfrm>
              <a:off x="1632" y="292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12695" name="Text Box 311"/>
          <p:cNvSpPr txBox="1"/>
          <p:nvPr/>
        </p:nvSpPr>
        <p:spPr>
          <a:xfrm>
            <a:off x="4424363" y="73025"/>
            <a:ext cx="2498725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000" dirty="0">
                <a:solidFill>
                  <a:srgbClr val="FF3300"/>
                </a:solidFill>
                <a:latin typeface="Times New Roman" panose="02020603050405020304" pitchFamily="18" charset="0"/>
              </a:rPr>
              <a:t>先序序列：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ABDC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91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91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12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12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912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912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91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912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912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912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912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91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"/>
                            </p:stCondLst>
                            <p:childTnLst>
                              <p:par>
                                <p:cTn id="17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912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912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912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912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3000" fill="hold"/>
                                        <p:tgtEl>
                                          <p:spTgt spid="912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3000" fill="hold"/>
                                        <p:tgtEl>
                                          <p:spTgt spid="912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549" grpId="0" animBg="1"/>
      <p:bldP spid="912555" grpId="0" animBg="1"/>
      <p:bldP spid="912569" grpId="0" animBg="1"/>
      <p:bldP spid="912575" grpId="0" animBg="1"/>
      <p:bldP spid="912651" grpId="0" animBg="1"/>
      <p:bldP spid="91269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xfrm>
            <a:off x="228600" y="152400"/>
            <a:ext cx="77724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/>
              <a:t>对遍历的分析：</a:t>
            </a:r>
            <a:endParaRPr lang="zh-CN" altLang="en-US" sz="2800" b="1" dirty="0"/>
          </a:p>
        </p:txBody>
      </p:sp>
      <p:sp>
        <p:nvSpPr>
          <p:cNvPr id="249859" name="Rectangle 3"/>
          <p:cNvSpPr/>
          <p:nvPr/>
        </p:nvSpPr>
        <p:spPr>
          <a:xfrm>
            <a:off x="228600" y="762000"/>
            <a:ext cx="8382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1.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从前面的三种遍历算法可以知道：如果将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print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语句抹去，从递归的角度看，这三种算法是完全相同的，或者说这三种遍历算法的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访问路径是相同的，只是访问结点的时机不同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49860" name="Rectangle 4"/>
          <p:cNvSpPr/>
          <p:nvPr/>
        </p:nvSpPr>
        <p:spPr>
          <a:xfrm>
            <a:off x="3886200" y="1981200"/>
            <a:ext cx="414655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从虚线的出发点到终点的路径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上，每个结点经过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次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6200" y="2057400"/>
            <a:ext cx="3581400" cy="3810000"/>
            <a:chOff x="96" y="1488"/>
            <a:chExt cx="2256" cy="2400"/>
          </a:xfrm>
        </p:grpSpPr>
        <p:sp>
          <p:nvSpPr>
            <p:cNvPr id="47114" name="Oval 6"/>
            <p:cNvSpPr/>
            <p:nvPr/>
          </p:nvSpPr>
          <p:spPr>
            <a:xfrm>
              <a:off x="1207" y="1510"/>
              <a:ext cx="231" cy="23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0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99FF33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15" name="Oval 7"/>
            <p:cNvSpPr/>
            <p:nvPr/>
          </p:nvSpPr>
          <p:spPr>
            <a:xfrm>
              <a:off x="836" y="3155"/>
              <a:ext cx="232" cy="233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0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99FF33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16" name="Oval 8"/>
            <p:cNvSpPr/>
            <p:nvPr/>
          </p:nvSpPr>
          <p:spPr>
            <a:xfrm>
              <a:off x="1207" y="2599"/>
              <a:ext cx="231" cy="233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0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99FF33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17" name="Oval 9"/>
            <p:cNvSpPr/>
            <p:nvPr/>
          </p:nvSpPr>
          <p:spPr>
            <a:xfrm>
              <a:off x="489" y="2621"/>
              <a:ext cx="232" cy="23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0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99FF33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18" name="Oval 10"/>
            <p:cNvSpPr/>
            <p:nvPr/>
          </p:nvSpPr>
          <p:spPr>
            <a:xfrm>
              <a:off x="1727" y="2010"/>
              <a:ext cx="232" cy="234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0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99FF33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19" name="Oval 11"/>
            <p:cNvSpPr/>
            <p:nvPr/>
          </p:nvSpPr>
          <p:spPr>
            <a:xfrm>
              <a:off x="825" y="2044"/>
              <a:ext cx="231" cy="233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0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99FF33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0" name="Oval 12"/>
            <p:cNvSpPr/>
            <p:nvPr/>
          </p:nvSpPr>
          <p:spPr>
            <a:xfrm>
              <a:off x="1542" y="3177"/>
              <a:ext cx="232" cy="233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rgbClr val="00008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99FF33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1" name="Line 13"/>
            <p:cNvSpPr/>
            <p:nvPr/>
          </p:nvSpPr>
          <p:spPr>
            <a:xfrm flipH="1">
              <a:off x="1022" y="1732"/>
              <a:ext cx="242" cy="33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2" name="Line 14"/>
            <p:cNvSpPr/>
            <p:nvPr/>
          </p:nvSpPr>
          <p:spPr>
            <a:xfrm flipH="1">
              <a:off x="640" y="2288"/>
              <a:ext cx="243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3" name="Line 15"/>
            <p:cNvSpPr/>
            <p:nvPr/>
          </p:nvSpPr>
          <p:spPr>
            <a:xfrm flipH="1">
              <a:off x="1010" y="2832"/>
              <a:ext cx="243" cy="33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4" name="Line 16"/>
            <p:cNvSpPr/>
            <p:nvPr/>
          </p:nvSpPr>
          <p:spPr>
            <a:xfrm flipH="1">
              <a:off x="1646" y="2221"/>
              <a:ext cx="104" cy="16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5" name="Line 17"/>
            <p:cNvSpPr/>
            <p:nvPr/>
          </p:nvSpPr>
          <p:spPr>
            <a:xfrm>
              <a:off x="1403" y="1710"/>
              <a:ext cx="347" cy="33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6" name="Line 18"/>
            <p:cNvSpPr/>
            <p:nvPr/>
          </p:nvSpPr>
          <p:spPr>
            <a:xfrm>
              <a:off x="1010" y="2232"/>
              <a:ext cx="231" cy="3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7" name="Line 19"/>
            <p:cNvSpPr/>
            <p:nvPr/>
          </p:nvSpPr>
          <p:spPr>
            <a:xfrm>
              <a:off x="1392" y="2799"/>
              <a:ext cx="231" cy="3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8" name="Oval 20"/>
            <p:cNvSpPr/>
            <p:nvPr/>
          </p:nvSpPr>
          <p:spPr>
            <a:xfrm>
              <a:off x="316" y="2999"/>
              <a:ext cx="92" cy="1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9" name="Oval 21"/>
            <p:cNvSpPr/>
            <p:nvPr/>
          </p:nvSpPr>
          <p:spPr>
            <a:xfrm>
              <a:off x="709" y="3021"/>
              <a:ext cx="93" cy="1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0" name="Oval 22"/>
            <p:cNvSpPr/>
            <p:nvPr/>
          </p:nvSpPr>
          <p:spPr>
            <a:xfrm>
              <a:off x="674" y="3521"/>
              <a:ext cx="93" cy="1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1" name="Oval 23"/>
            <p:cNvSpPr/>
            <p:nvPr/>
          </p:nvSpPr>
          <p:spPr>
            <a:xfrm>
              <a:off x="1033" y="3532"/>
              <a:ext cx="93" cy="1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2" name="Oval 24"/>
            <p:cNvSpPr/>
            <p:nvPr/>
          </p:nvSpPr>
          <p:spPr>
            <a:xfrm>
              <a:off x="1450" y="3599"/>
              <a:ext cx="92" cy="1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3" name="Oval 25"/>
            <p:cNvSpPr/>
            <p:nvPr/>
          </p:nvSpPr>
          <p:spPr>
            <a:xfrm>
              <a:off x="1820" y="3555"/>
              <a:ext cx="92" cy="1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4" name="Oval 26"/>
            <p:cNvSpPr/>
            <p:nvPr/>
          </p:nvSpPr>
          <p:spPr>
            <a:xfrm>
              <a:off x="2040" y="2366"/>
              <a:ext cx="92" cy="1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35" name="Line 27"/>
            <p:cNvSpPr/>
            <p:nvPr/>
          </p:nvSpPr>
          <p:spPr>
            <a:xfrm flipH="1">
              <a:off x="385" y="2844"/>
              <a:ext cx="127" cy="16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6" name="Line 28"/>
            <p:cNvSpPr/>
            <p:nvPr/>
          </p:nvSpPr>
          <p:spPr>
            <a:xfrm>
              <a:off x="651" y="2855"/>
              <a:ext cx="81" cy="1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7" name="Line 29"/>
            <p:cNvSpPr/>
            <p:nvPr/>
          </p:nvSpPr>
          <p:spPr>
            <a:xfrm flipV="1">
              <a:off x="721" y="3744"/>
              <a:ext cx="58" cy="33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8" name="Line 30"/>
            <p:cNvSpPr/>
            <p:nvPr/>
          </p:nvSpPr>
          <p:spPr>
            <a:xfrm>
              <a:off x="1022" y="3766"/>
              <a:ext cx="104" cy="22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9" name="Line 31"/>
            <p:cNvSpPr/>
            <p:nvPr/>
          </p:nvSpPr>
          <p:spPr>
            <a:xfrm flipV="1">
              <a:off x="1531" y="3844"/>
              <a:ext cx="57" cy="33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40" name="Line 32"/>
            <p:cNvSpPr/>
            <p:nvPr/>
          </p:nvSpPr>
          <p:spPr>
            <a:xfrm>
              <a:off x="96" y="3099"/>
              <a:ext cx="35" cy="10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41" name="Line 33"/>
            <p:cNvSpPr/>
            <p:nvPr/>
          </p:nvSpPr>
          <p:spPr>
            <a:xfrm>
              <a:off x="212" y="3288"/>
              <a:ext cx="104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42" name="Line 34"/>
            <p:cNvSpPr/>
            <p:nvPr/>
          </p:nvSpPr>
          <p:spPr>
            <a:xfrm flipV="1">
              <a:off x="2329" y="2444"/>
              <a:ext cx="11" cy="10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43" name="Line 35"/>
            <p:cNvSpPr/>
            <p:nvPr/>
          </p:nvSpPr>
          <p:spPr>
            <a:xfrm flipH="1">
              <a:off x="779" y="1555"/>
              <a:ext cx="381" cy="489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44" name="Line 36"/>
            <p:cNvSpPr/>
            <p:nvPr/>
          </p:nvSpPr>
          <p:spPr>
            <a:xfrm flipH="1">
              <a:off x="131" y="2044"/>
              <a:ext cx="671" cy="922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45" name="Line 37"/>
            <p:cNvSpPr/>
            <p:nvPr/>
          </p:nvSpPr>
          <p:spPr>
            <a:xfrm flipH="1">
              <a:off x="108" y="2955"/>
              <a:ext cx="23" cy="122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46" name="Line 38"/>
            <p:cNvSpPr/>
            <p:nvPr/>
          </p:nvSpPr>
          <p:spPr>
            <a:xfrm>
              <a:off x="131" y="3210"/>
              <a:ext cx="81" cy="6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47" name="Line 39"/>
            <p:cNvSpPr/>
            <p:nvPr/>
          </p:nvSpPr>
          <p:spPr>
            <a:xfrm flipV="1">
              <a:off x="339" y="3232"/>
              <a:ext cx="93" cy="56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48" name="Line 40"/>
            <p:cNvSpPr/>
            <p:nvPr/>
          </p:nvSpPr>
          <p:spPr>
            <a:xfrm flipV="1">
              <a:off x="432" y="3044"/>
              <a:ext cx="115" cy="20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49" name="Line 41"/>
            <p:cNvSpPr/>
            <p:nvPr/>
          </p:nvSpPr>
          <p:spPr>
            <a:xfrm>
              <a:off x="536" y="3055"/>
              <a:ext cx="115" cy="189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50" name="Line 42"/>
            <p:cNvSpPr/>
            <p:nvPr/>
          </p:nvSpPr>
          <p:spPr>
            <a:xfrm flipV="1">
              <a:off x="663" y="3210"/>
              <a:ext cx="92" cy="34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1" name="Line 43"/>
            <p:cNvSpPr/>
            <p:nvPr/>
          </p:nvSpPr>
          <p:spPr>
            <a:xfrm flipV="1">
              <a:off x="779" y="3088"/>
              <a:ext cx="81" cy="111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2" name="Line 44"/>
            <p:cNvSpPr/>
            <p:nvPr/>
          </p:nvSpPr>
          <p:spPr>
            <a:xfrm>
              <a:off x="790" y="2721"/>
              <a:ext cx="81" cy="356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53" name="Line 45"/>
            <p:cNvSpPr/>
            <p:nvPr/>
          </p:nvSpPr>
          <p:spPr>
            <a:xfrm flipV="1">
              <a:off x="790" y="2444"/>
              <a:ext cx="174" cy="27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54" name="Line 46"/>
            <p:cNvSpPr/>
            <p:nvPr/>
          </p:nvSpPr>
          <p:spPr>
            <a:xfrm>
              <a:off x="975" y="2432"/>
              <a:ext cx="162" cy="26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55" name="Line 47"/>
            <p:cNvSpPr/>
            <p:nvPr/>
          </p:nvSpPr>
          <p:spPr>
            <a:xfrm flipH="1">
              <a:off x="570" y="2710"/>
              <a:ext cx="567" cy="86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56" name="Line 48"/>
            <p:cNvSpPr/>
            <p:nvPr/>
          </p:nvSpPr>
          <p:spPr>
            <a:xfrm>
              <a:off x="559" y="3599"/>
              <a:ext cx="23" cy="111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57" name="Line 49"/>
            <p:cNvSpPr/>
            <p:nvPr/>
          </p:nvSpPr>
          <p:spPr>
            <a:xfrm>
              <a:off x="582" y="3732"/>
              <a:ext cx="127" cy="45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58" name="Line 50"/>
            <p:cNvSpPr/>
            <p:nvPr/>
          </p:nvSpPr>
          <p:spPr>
            <a:xfrm flipV="1">
              <a:off x="779" y="3488"/>
              <a:ext cx="150" cy="244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59" name="Line 51"/>
            <p:cNvSpPr/>
            <p:nvPr/>
          </p:nvSpPr>
          <p:spPr>
            <a:xfrm>
              <a:off x="929" y="3510"/>
              <a:ext cx="104" cy="26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60" name="Line 52"/>
            <p:cNvSpPr/>
            <p:nvPr/>
          </p:nvSpPr>
          <p:spPr>
            <a:xfrm flipV="1">
              <a:off x="1126" y="3744"/>
              <a:ext cx="104" cy="55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61" name="Line 53"/>
            <p:cNvSpPr/>
            <p:nvPr/>
          </p:nvSpPr>
          <p:spPr>
            <a:xfrm flipV="1">
              <a:off x="1241" y="3610"/>
              <a:ext cx="47" cy="145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62" name="Line 54"/>
            <p:cNvSpPr/>
            <p:nvPr/>
          </p:nvSpPr>
          <p:spPr>
            <a:xfrm flipH="1" flipV="1">
              <a:off x="1137" y="3232"/>
              <a:ext cx="151" cy="40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63" name="Line 55"/>
            <p:cNvSpPr/>
            <p:nvPr/>
          </p:nvSpPr>
          <p:spPr>
            <a:xfrm flipV="1">
              <a:off x="1137" y="2944"/>
              <a:ext cx="208" cy="311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64" name="Line 56"/>
            <p:cNvSpPr/>
            <p:nvPr/>
          </p:nvSpPr>
          <p:spPr>
            <a:xfrm>
              <a:off x="1334" y="2966"/>
              <a:ext cx="150" cy="311"/>
            </a:xfrm>
            <a:prstGeom prst="line">
              <a:avLst/>
            </a:prstGeom>
            <a:ln w="38100" cap="rnd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65" name="Line 57"/>
            <p:cNvSpPr/>
            <p:nvPr/>
          </p:nvSpPr>
          <p:spPr>
            <a:xfrm flipH="1">
              <a:off x="1345" y="3244"/>
              <a:ext cx="139" cy="50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66" name="Line 58"/>
            <p:cNvSpPr/>
            <p:nvPr/>
          </p:nvSpPr>
          <p:spPr>
            <a:xfrm>
              <a:off x="1345" y="3766"/>
              <a:ext cx="81" cy="89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67" name="Line 59"/>
            <p:cNvSpPr/>
            <p:nvPr/>
          </p:nvSpPr>
          <p:spPr>
            <a:xfrm>
              <a:off x="1426" y="3866"/>
              <a:ext cx="105" cy="22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68" name="Line 60"/>
            <p:cNvSpPr/>
            <p:nvPr/>
          </p:nvSpPr>
          <p:spPr>
            <a:xfrm flipV="1">
              <a:off x="1577" y="3466"/>
              <a:ext cx="104" cy="378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69" name="Line 61"/>
            <p:cNvSpPr/>
            <p:nvPr/>
          </p:nvSpPr>
          <p:spPr>
            <a:xfrm>
              <a:off x="1693" y="3477"/>
              <a:ext cx="185" cy="389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70" name="Line 62"/>
            <p:cNvSpPr/>
            <p:nvPr/>
          </p:nvSpPr>
          <p:spPr>
            <a:xfrm flipV="1">
              <a:off x="1866" y="3799"/>
              <a:ext cx="174" cy="56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71" name="Line 63"/>
            <p:cNvSpPr/>
            <p:nvPr/>
          </p:nvSpPr>
          <p:spPr>
            <a:xfrm flipV="1">
              <a:off x="2040" y="3677"/>
              <a:ext cx="69" cy="111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72" name="Line 64"/>
            <p:cNvSpPr/>
            <p:nvPr/>
          </p:nvSpPr>
          <p:spPr>
            <a:xfrm flipH="1" flipV="1">
              <a:off x="1149" y="2099"/>
              <a:ext cx="960" cy="156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73" name="Line 65"/>
            <p:cNvSpPr/>
            <p:nvPr/>
          </p:nvSpPr>
          <p:spPr>
            <a:xfrm flipV="1">
              <a:off x="1669" y="2332"/>
              <a:ext cx="174" cy="278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74" name="Line 66"/>
            <p:cNvSpPr/>
            <p:nvPr/>
          </p:nvSpPr>
          <p:spPr>
            <a:xfrm>
              <a:off x="1866" y="2399"/>
              <a:ext cx="139" cy="20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75" name="Line 67"/>
            <p:cNvSpPr/>
            <p:nvPr/>
          </p:nvSpPr>
          <p:spPr>
            <a:xfrm>
              <a:off x="1970" y="2577"/>
              <a:ext cx="162" cy="78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76" name="Line 68"/>
            <p:cNvSpPr/>
            <p:nvPr/>
          </p:nvSpPr>
          <p:spPr>
            <a:xfrm flipV="1">
              <a:off x="2190" y="2577"/>
              <a:ext cx="81" cy="6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77" name="Line 69"/>
            <p:cNvSpPr/>
            <p:nvPr/>
          </p:nvSpPr>
          <p:spPr>
            <a:xfrm flipH="1" flipV="1">
              <a:off x="1519" y="1488"/>
              <a:ext cx="833" cy="933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47178" name="Line 70"/>
            <p:cNvSpPr/>
            <p:nvPr/>
          </p:nvSpPr>
          <p:spPr>
            <a:xfrm flipH="1">
              <a:off x="755" y="3366"/>
              <a:ext cx="128" cy="16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79" name="Line 71"/>
            <p:cNvSpPr/>
            <p:nvPr/>
          </p:nvSpPr>
          <p:spPr>
            <a:xfrm flipH="1">
              <a:off x="1531" y="3399"/>
              <a:ext cx="104" cy="1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80" name="Line 72"/>
            <p:cNvSpPr/>
            <p:nvPr/>
          </p:nvSpPr>
          <p:spPr>
            <a:xfrm>
              <a:off x="998" y="3366"/>
              <a:ext cx="81" cy="1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81" name="Line 73"/>
            <p:cNvSpPr/>
            <p:nvPr/>
          </p:nvSpPr>
          <p:spPr>
            <a:xfrm>
              <a:off x="1762" y="3377"/>
              <a:ext cx="81" cy="1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82" name="Line 74"/>
            <p:cNvSpPr/>
            <p:nvPr/>
          </p:nvSpPr>
          <p:spPr>
            <a:xfrm>
              <a:off x="1912" y="2210"/>
              <a:ext cx="139" cy="16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83" name="Oval 75"/>
            <p:cNvSpPr/>
            <p:nvPr/>
          </p:nvSpPr>
          <p:spPr>
            <a:xfrm>
              <a:off x="1577" y="2388"/>
              <a:ext cx="92" cy="10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84" name="Line 76"/>
            <p:cNvSpPr/>
            <p:nvPr/>
          </p:nvSpPr>
          <p:spPr>
            <a:xfrm flipV="1">
              <a:off x="1160" y="1855"/>
              <a:ext cx="174" cy="277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85" name="Line 77"/>
            <p:cNvSpPr/>
            <p:nvPr/>
          </p:nvSpPr>
          <p:spPr>
            <a:xfrm>
              <a:off x="1369" y="1910"/>
              <a:ext cx="243" cy="256"/>
            </a:xfrm>
            <a:prstGeom prst="line">
              <a:avLst/>
            </a:prstGeom>
            <a:ln w="38100" cap="rnd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86" name="Line 78"/>
            <p:cNvSpPr/>
            <p:nvPr/>
          </p:nvSpPr>
          <p:spPr>
            <a:xfrm flipV="1">
              <a:off x="1473" y="2110"/>
              <a:ext cx="173" cy="278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87" name="Line 79"/>
            <p:cNvSpPr/>
            <p:nvPr/>
          </p:nvSpPr>
          <p:spPr>
            <a:xfrm>
              <a:off x="1496" y="2432"/>
              <a:ext cx="23" cy="112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47188" name="Line 80"/>
            <p:cNvSpPr/>
            <p:nvPr/>
          </p:nvSpPr>
          <p:spPr>
            <a:xfrm>
              <a:off x="1519" y="2566"/>
              <a:ext cx="127" cy="44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249937" name="Rectangle 81"/>
          <p:cNvSpPr/>
          <p:nvPr/>
        </p:nvSpPr>
        <p:spPr>
          <a:xfrm>
            <a:off x="3962400" y="2743200"/>
            <a:ext cx="4267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第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1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次经过时访问＝先序遍历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第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次经过时访问＝中序遍历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第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3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次经过时访问＝后序遍历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49938" name="AutoShape 82">
            <a:hlinkClick r:id="" action="ppaction://hlinkshowjump?jump=nextslide"/>
          </p:cNvPr>
          <p:cNvSpPr/>
          <p:nvPr/>
        </p:nvSpPr>
        <p:spPr>
          <a:xfrm>
            <a:off x="8001000" y="5715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49939" name="Rectangle 83"/>
          <p:cNvSpPr>
            <a:spLocks noChangeArrowheads="1"/>
          </p:cNvSpPr>
          <p:nvPr/>
        </p:nvSpPr>
        <p:spPr bwMode="auto">
          <a:xfrm>
            <a:off x="3429000" y="4038600"/>
            <a:ext cx="5410200" cy="191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2.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二叉树遍历的时间效率和空间效率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时间效率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O(n)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//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每个结点只访问一次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空间效率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O(n)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//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栈占用的最大辅助空间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（精确值：树深为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k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的递归遍历需要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k+1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个辅助单元！）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993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7">
                                            <p:txEl>
                                              <p:charRg st="14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9937">
                                            <p:txEl>
                                              <p:charRg st="14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7">
                                            <p:txEl>
                                              <p:charRg st="2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9937">
                                            <p:txEl>
                                              <p:charRg st="28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9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939">
                                            <p:txEl>
                                              <p:charRg st="1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939">
                                            <p:txEl>
                                              <p:charRg st="41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939">
                                            <p:txEl>
                                              <p:charRg st="64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9" grpId="0"/>
      <p:bldP spid="249860" grpId="0"/>
      <p:bldP spid="249937" grpId="0" advAuto="1000" build="p"/>
      <p:bldP spid="249938" grpId="0" animBg="1"/>
      <p:bldP spid="24993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001000" cy="9144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ea typeface="PMingLiU" pitchFamily="18" charset="-120"/>
              </a:rPr>
              <a:t>例：</a:t>
            </a:r>
            <a:r>
              <a:rPr lang="en-US" altLang="zh-CN" sz="2800" b="1" dirty="0">
                <a:solidFill>
                  <a:srgbClr val="FF0000"/>
                </a:solidFill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</a:rPr>
              <a:t>严题集</a:t>
            </a:r>
            <a:r>
              <a:rPr lang="en-US" altLang="zh-CN" sz="2800" b="1" dirty="0">
                <a:solidFill>
                  <a:srgbClr val="FF0000"/>
                </a:solidFill>
              </a:rPr>
              <a:t>6.42③】</a:t>
            </a:r>
            <a:r>
              <a:rPr lang="zh-CN" altLang="en-US" sz="2800" b="1" dirty="0">
                <a:solidFill>
                  <a:schemeClr val="accent1"/>
                </a:solidFill>
              </a:rPr>
              <a:t>编写递归算法，计算二叉树中叶子结点的数目。</a:t>
            </a:r>
            <a:r>
              <a:rPr lang="zh-CN" altLang="en-US" sz="2800" b="1" dirty="0">
                <a:solidFill>
                  <a:schemeClr val="accent1"/>
                </a:solidFill>
                <a:ea typeface="PMingLiU" pitchFamily="18" charset="-120"/>
              </a:rPr>
              <a:t> </a:t>
            </a:r>
            <a:endParaRPr lang="zh-CN" altLang="en-US" sz="2800" b="1" dirty="0">
              <a:solidFill>
                <a:schemeClr val="accent1"/>
              </a:solidFill>
              <a:ea typeface="PMingLiU" pitchFamily="18" charset="-120"/>
            </a:endParaRPr>
          </a:p>
        </p:txBody>
      </p:sp>
      <p:sp>
        <p:nvSpPr>
          <p:cNvPr id="250883" name="Rectangle 3"/>
          <p:cNvSpPr/>
          <p:nvPr/>
        </p:nvSpPr>
        <p:spPr>
          <a:xfrm>
            <a:off x="228600" y="1219200"/>
            <a:ext cx="8096250" cy="838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思路：</a:t>
            </a:r>
            <a:r>
              <a:rPr lang="zh-CN" altLang="en-US" sz="2400" b="1" dirty="0">
                <a:latin typeface="楷体_GB2312"/>
                <a:ea typeface="楷体_GB2312"/>
              </a:rPr>
              <a:t>输出叶子结点比较简单，用任何一种遍历算法，凡是左右指针均空者，则为叶子，将其统计并打印出来。 </a:t>
            </a:r>
            <a:endParaRPr lang="en-US" altLang="zh-TW" sz="2400" b="1" dirty="0">
              <a:latin typeface="楷体_GB2312"/>
              <a:ea typeface="楷体_GB2312"/>
            </a:endParaRPr>
          </a:p>
        </p:txBody>
      </p:sp>
      <p:sp>
        <p:nvSpPr>
          <p:cNvPr id="250884" name="Text Box 4"/>
          <p:cNvSpPr txBox="1"/>
          <p:nvPr/>
        </p:nvSpPr>
        <p:spPr>
          <a:xfrm>
            <a:off x="152400" y="2209800"/>
            <a:ext cx="8610600" cy="4081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defTabSz="914400" eaLnBrk="1" hangingPunct="1">
              <a:spcBef>
                <a:spcPct val="40000"/>
              </a:spcBef>
              <a:buNone/>
              <a:tabLst>
                <a:tab pos="190500" algn="l"/>
              </a:tabLst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DLR</a:t>
            </a:r>
            <a:r>
              <a:rPr lang="en-US" altLang="zh-CN" sz="2400" b="1" dirty="0">
                <a:latin typeface="Times New Roman" panose="02020603050405020304" pitchFamily="18" charset="0"/>
              </a:rPr>
              <a:t>(liuyu *root)     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采用先序遍历的递归算法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  <a:p>
            <a:pPr marL="0" lvl="0" indent="0" algn="just" defTabSz="914400" eaLnBrk="1" hangingPunct="1">
              <a:spcBef>
                <a:spcPct val="40000"/>
              </a:spcBef>
              <a:buNone/>
              <a:tabLst>
                <a:tab pos="1905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</a:rPr>
              <a:t>{ if (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root!=NULL</a:t>
            </a:r>
            <a:r>
              <a:rPr lang="en-US" altLang="zh-CN" sz="2400" b="1" dirty="0">
                <a:latin typeface="Times New Roman" panose="02020603050405020304" pitchFamily="18" charset="0"/>
              </a:rPr>
              <a:t> )  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非空二叉树条件，还可写成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if(root)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  <a:p>
            <a:pPr marL="0" lvl="0" indent="0" algn="just" defTabSz="914400" eaLnBrk="1" hangingPunct="1">
              <a:spcBef>
                <a:spcPct val="40000"/>
              </a:spcBef>
              <a:buNone/>
              <a:tabLst>
                <a:tab pos="1905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</a:rPr>
              <a:t> {if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(!root-&gt;lchild&amp;&amp;!root-&gt;rchild</a:t>
            </a:r>
            <a:r>
              <a:rPr lang="en-US" altLang="zh-CN" sz="2400" b="1" dirty="0">
                <a:latin typeface="Times New Roman" panose="02020603050405020304" pitchFamily="18" charset="0"/>
              </a:rPr>
              <a:t>)  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是叶子结点则统计并打印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  <a:p>
            <a:pPr marL="0" lvl="0" indent="0" algn="just" defTabSz="914400" eaLnBrk="1" hangingPunct="1">
              <a:spcBef>
                <a:spcPct val="40000"/>
              </a:spcBef>
              <a:buNone/>
              <a:tabLst>
                <a:tab pos="1905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{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sum++;</a:t>
            </a:r>
            <a:r>
              <a:rPr lang="en-US" altLang="zh-CN" sz="2400" b="1" dirty="0">
                <a:latin typeface="Times New Roman" panose="02020603050405020304" pitchFamily="18" charset="0"/>
              </a:rPr>
              <a:t> printf("%d\n",root-&gt;data);}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algn="just" defTabSz="914400" eaLnBrk="1" hangingPunct="1">
              <a:spcBef>
                <a:spcPct val="40000"/>
              </a:spcBef>
              <a:buNone/>
              <a:tabLst>
                <a:tab pos="1905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DLR</a:t>
            </a:r>
            <a:r>
              <a:rPr lang="en-US" altLang="zh-CN" sz="2400" b="1" dirty="0">
                <a:latin typeface="Times New Roman" panose="02020603050405020304" pitchFamily="18" charset="0"/>
              </a:rPr>
              <a:t>(root-&gt;lchild);      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递归遍历左子树，直到叶子处；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  <a:p>
            <a:pPr marL="0" lvl="0" indent="0" algn="just" defTabSz="914400" eaLnBrk="1" hangingPunct="1">
              <a:spcBef>
                <a:spcPct val="40000"/>
              </a:spcBef>
              <a:buNone/>
              <a:tabLst>
                <a:tab pos="190500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DLR</a:t>
            </a:r>
            <a:r>
              <a:rPr lang="en-US" altLang="zh-CN" sz="2400" b="1" dirty="0">
                <a:latin typeface="Times New Roman" panose="02020603050405020304" pitchFamily="18" charset="0"/>
              </a:rPr>
              <a:t>(root-&gt;rchild);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algn="just" defTabSz="914400" eaLnBrk="1" hangingPunct="1">
              <a:spcBef>
                <a:spcPct val="40000"/>
              </a:spcBef>
              <a:buNone/>
              <a:tabLst>
                <a:tab pos="1905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</a:rPr>
              <a:t> } 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递归遍历右子树，直到叶子处；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just" defTabSz="914400" eaLnBrk="1" hangingPunct="1">
              <a:spcBef>
                <a:spcPct val="40000"/>
              </a:spcBef>
              <a:buNone/>
              <a:tabLst>
                <a:tab pos="190500" algn="l"/>
              </a:tabLst>
            </a:pPr>
            <a:r>
              <a:rPr lang="en-US" altLang="zh-CN" sz="2400" b="1" dirty="0">
                <a:latin typeface="Times New Roman" panose="02020603050405020304" pitchFamily="18" charset="0"/>
              </a:rPr>
              <a:t>} return(0);  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50885" name="AutoShape 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/>
      <p:bldP spid="250884" grpId="0"/>
      <p:bldP spid="25088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6" name="Text Box 2"/>
          <p:cNvSpPr txBox="1"/>
          <p:nvPr/>
        </p:nvSpPr>
        <p:spPr>
          <a:xfrm>
            <a:off x="611188" y="404813"/>
            <a:ext cx="8305800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8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4000" b="1" dirty="0">
                <a:solidFill>
                  <a:srgbClr val="800000"/>
                </a:solidFill>
                <a:latin typeface="宋体" panose="02010600030101010101" pitchFamily="2" charset="-122"/>
              </a:rPr>
              <a:t>、统计二叉树中结点的个数</a:t>
            </a:r>
            <a:endParaRPr lang="zh-CN" altLang="en-US" sz="4000" b="1" dirty="0">
              <a:solidFill>
                <a:srgbClr val="800000"/>
              </a:solidFill>
              <a:latin typeface="宋体" panose="02010600030101010101" pitchFamily="2" charset="-122"/>
            </a:endParaRPr>
          </a:p>
        </p:txBody>
      </p:sp>
      <p:sp>
        <p:nvSpPr>
          <p:cNvPr id="257027" name="Text Box 3"/>
          <p:cNvSpPr txBox="1"/>
          <p:nvPr/>
        </p:nvSpPr>
        <p:spPr>
          <a:xfrm>
            <a:off x="323850" y="1341438"/>
            <a:ext cx="8569325" cy="10668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993366"/>
                </a:solidFill>
                <a:latin typeface="宋体" panose="02010600030101010101" pitchFamily="2" charset="-122"/>
              </a:rPr>
              <a:t>算法基本思想</a:t>
            </a:r>
            <a:r>
              <a:rPr lang="en-US" altLang="zh-CN" b="1" dirty="0">
                <a:solidFill>
                  <a:srgbClr val="993366"/>
                </a:solidFill>
                <a:latin typeface="宋体" panose="02010600030101010101" pitchFamily="2" charset="-122"/>
              </a:rPr>
              <a:t>:</a:t>
            </a:r>
            <a:r>
              <a:rPr lang="zh-CN" altLang="en-US" b="1" dirty="0">
                <a:latin typeface="宋体" panose="02010600030101010101" pitchFamily="2" charset="-122"/>
              </a:rPr>
              <a:t>借鉴遍历算法，将访问结点的语句改为加法运算。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57028" name="Text Box 4"/>
          <p:cNvSpPr txBox="1"/>
          <p:nvPr/>
        </p:nvSpPr>
        <p:spPr>
          <a:xfrm>
            <a:off x="179388" y="2636838"/>
            <a:ext cx="8964612" cy="38687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统计二叉树结点个数算法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int </a:t>
            </a:r>
            <a:r>
              <a:rPr lang="en-US" altLang="zh-CN" b="1" dirty="0">
                <a:solidFill>
                  <a:srgbClr val="CC0066"/>
                </a:solidFill>
                <a:latin typeface="Times New Roman" panose="02020603050405020304" pitchFamily="18" charset="0"/>
              </a:rPr>
              <a:t>BiT_Count</a:t>
            </a:r>
            <a:r>
              <a:rPr lang="en-US" altLang="zh-CN" b="1" dirty="0">
                <a:latin typeface="Times New Roman" panose="02020603050405020304" pitchFamily="18" charset="0"/>
              </a:rPr>
              <a:t>(BiTNode *root)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{ int left,right;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if(root==NULL)   return(0);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left= </a:t>
            </a:r>
            <a:r>
              <a:rPr lang="en-US" altLang="zh-CN" b="1" dirty="0">
                <a:solidFill>
                  <a:srgbClr val="CC0066"/>
                </a:solidFill>
                <a:latin typeface="Times New Roman" panose="02020603050405020304" pitchFamily="18" charset="0"/>
              </a:rPr>
              <a:t>BiT_Count</a:t>
            </a:r>
            <a:r>
              <a:rPr lang="en-US" altLang="zh-CN" b="1" dirty="0">
                <a:latin typeface="Times New Roman" panose="02020603050405020304" pitchFamily="18" charset="0"/>
              </a:rPr>
              <a:t>(root-&gt;lchild); </a:t>
            </a:r>
            <a:r>
              <a:rPr lang="en-US" altLang="zh-CN" sz="1800" dirty="0">
                <a:latin typeface="Times New Roman" panose="02020603050405020304" pitchFamily="18" charset="0"/>
              </a:rPr>
              <a:t>/* </a:t>
            </a:r>
            <a:r>
              <a:rPr lang="zh-CN" altLang="en-US" sz="1800" dirty="0">
                <a:latin typeface="Times New Roman" panose="02020603050405020304" pitchFamily="18" charset="0"/>
              </a:rPr>
              <a:t>计算左子树的结点数 *</a:t>
            </a:r>
            <a:r>
              <a:rPr lang="en-US" altLang="zh-CN" sz="1800" dirty="0">
                <a:latin typeface="Times New Roman" panose="02020603050405020304" pitchFamily="18" charset="0"/>
              </a:rPr>
              <a:t>/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right=</a:t>
            </a:r>
            <a:r>
              <a:rPr lang="en-US" altLang="zh-CN" b="1" dirty="0">
                <a:solidFill>
                  <a:srgbClr val="CC0066"/>
                </a:solidFill>
                <a:latin typeface="Times New Roman" panose="02020603050405020304" pitchFamily="18" charset="0"/>
              </a:rPr>
              <a:t>BiT_Count</a:t>
            </a:r>
            <a:r>
              <a:rPr lang="en-US" altLang="zh-CN" b="1" dirty="0">
                <a:latin typeface="Times New Roman" panose="02020603050405020304" pitchFamily="18" charset="0"/>
              </a:rPr>
              <a:t>(root-&gt;rchild); </a:t>
            </a:r>
            <a:r>
              <a:rPr lang="en-US" altLang="zh-CN" sz="1800" dirty="0">
                <a:latin typeface="Times New Roman" panose="02020603050405020304" pitchFamily="18" charset="0"/>
              </a:rPr>
              <a:t>/* </a:t>
            </a:r>
            <a:r>
              <a:rPr lang="zh-CN" altLang="en-US" sz="1800" dirty="0">
                <a:latin typeface="Times New Roman" panose="02020603050405020304" pitchFamily="18" charset="0"/>
              </a:rPr>
              <a:t>计算右子树的结点数 *</a:t>
            </a:r>
            <a:r>
              <a:rPr lang="en-US" altLang="zh-CN" sz="1800" dirty="0">
                <a:latin typeface="Times New Roman" panose="02020603050405020304" pitchFamily="18" charset="0"/>
              </a:rPr>
              <a:t>/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return(left+right+1);           </a:t>
            </a:r>
            <a:r>
              <a:rPr lang="en-US" altLang="zh-CN" sz="1800" dirty="0">
                <a:latin typeface="Times New Roman" panose="02020603050405020304" pitchFamily="18" charset="0"/>
              </a:rPr>
              <a:t>/* </a:t>
            </a:r>
            <a:r>
              <a:rPr lang="zh-CN" altLang="en-US" sz="1800" dirty="0">
                <a:latin typeface="Times New Roman" panose="02020603050405020304" pitchFamily="18" charset="0"/>
              </a:rPr>
              <a:t>计算结点总数 *</a:t>
            </a:r>
            <a:r>
              <a:rPr lang="en-US" altLang="zh-CN" sz="1800" dirty="0">
                <a:latin typeface="Times New Roman" panose="02020603050405020304" pitchFamily="18" charset="0"/>
              </a:rPr>
              <a:t>/</a:t>
            </a: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/>
      <p:bldP spid="25702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0" name="Text Box 2"/>
          <p:cNvSpPr txBox="1"/>
          <p:nvPr/>
        </p:nvSpPr>
        <p:spPr>
          <a:xfrm>
            <a:off x="609600" y="350838"/>
            <a:ext cx="8305800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8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4000" b="1" dirty="0">
                <a:solidFill>
                  <a:srgbClr val="800000"/>
                </a:solidFill>
                <a:latin typeface="宋体" panose="02010600030101010101" pitchFamily="2" charset="-122"/>
              </a:rPr>
              <a:t>、统计二叉树中叶子结点的个数</a:t>
            </a:r>
            <a:endParaRPr lang="zh-CN" altLang="en-US" sz="4000" b="1" dirty="0">
              <a:solidFill>
                <a:srgbClr val="800000"/>
              </a:solidFill>
              <a:latin typeface="宋体" panose="02010600030101010101" pitchFamily="2" charset="-122"/>
            </a:endParaRPr>
          </a:p>
        </p:txBody>
      </p:sp>
      <p:sp>
        <p:nvSpPr>
          <p:cNvPr id="258051" name="Text Box 3"/>
          <p:cNvSpPr txBox="1"/>
          <p:nvPr/>
        </p:nvSpPr>
        <p:spPr>
          <a:xfrm>
            <a:off x="468313" y="1268413"/>
            <a:ext cx="8351837" cy="10668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993366"/>
                </a:solidFill>
                <a:latin typeface="宋体" panose="02010600030101010101" pitchFamily="2" charset="-122"/>
              </a:rPr>
              <a:t>算法基本思想</a:t>
            </a:r>
            <a:r>
              <a:rPr lang="en-US" altLang="zh-CN" b="1" dirty="0">
                <a:solidFill>
                  <a:srgbClr val="993366"/>
                </a:solidFill>
                <a:latin typeface="宋体" panose="02010600030101010101" pitchFamily="2" charset="-122"/>
              </a:rPr>
              <a:t>:</a:t>
            </a:r>
            <a:endParaRPr lang="en-US" altLang="zh-CN" b="1" dirty="0">
              <a:solidFill>
                <a:srgbClr val="993366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做加法运算前，先判断结点的度是否为</a:t>
            </a:r>
            <a:r>
              <a:rPr lang="en-US" altLang="zh-CN" b="1" dirty="0">
                <a:latin typeface="宋体" panose="02010600030101010101" pitchFamily="2" charset="-122"/>
              </a:rPr>
              <a:t>0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50182" name="Text Box 4"/>
          <p:cNvSpPr txBox="1"/>
          <p:nvPr/>
        </p:nvSpPr>
        <p:spPr>
          <a:xfrm>
            <a:off x="457200" y="2362200"/>
            <a:ext cx="8305800" cy="11652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b="1" dirty="0">
              <a:latin typeface="楷体_GB2312"/>
              <a:ea typeface="楷体_GB231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endParaRPr lang="en-US" altLang="zh-CN" dirty="0">
              <a:solidFill>
                <a:srgbClr val="CC6600"/>
              </a:solidFill>
              <a:latin typeface="楷体_GB2312"/>
              <a:ea typeface="楷体_GB2312"/>
            </a:endParaRPr>
          </a:p>
        </p:txBody>
      </p:sp>
      <p:sp>
        <p:nvSpPr>
          <p:cNvPr id="258053" name="Text Box 5"/>
          <p:cNvSpPr txBox="1"/>
          <p:nvPr/>
        </p:nvSpPr>
        <p:spPr>
          <a:xfrm>
            <a:off x="468313" y="2420938"/>
            <a:ext cx="8131175" cy="4278312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int 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BiT_LeafCount</a:t>
            </a:r>
            <a:r>
              <a:rPr lang="en-US" altLang="zh-CN" sz="2800" b="1" dirty="0">
                <a:latin typeface="Times New Roman" panose="02020603050405020304" pitchFamily="18" charset="0"/>
              </a:rPr>
              <a:t>(BiTNode *root)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{ int left,right;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if(root==NULL)   return(0);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rgbClr val="CC0066"/>
                </a:solidFill>
                <a:latin typeface="Times New Roman" panose="02020603050405020304" pitchFamily="18" charset="0"/>
              </a:rPr>
              <a:t>if(root-&gt;lchild==NULL &amp;&amp; root-&gt;rchild==NULL) </a:t>
            </a:r>
            <a:endParaRPr lang="en-US" altLang="zh-CN" sz="2800" b="1" dirty="0">
              <a:solidFill>
                <a:srgbClr val="CC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0066"/>
                </a:solidFill>
                <a:latin typeface="Times New Roman" panose="02020603050405020304" pitchFamily="18" charset="0"/>
              </a:rPr>
              <a:t>                                return(1);</a:t>
            </a:r>
            <a:endParaRPr lang="en-US" altLang="zh-CN" sz="2800" b="1" dirty="0">
              <a:solidFill>
                <a:srgbClr val="CC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left = 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BiT_LeafCount</a:t>
            </a:r>
            <a:r>
              <a:rPr lang="en-US" altLang="zh-CN" sz="2800" b="1" dirty="0">
                <a:latin typeface="Times New Roman" panose="02020603050405020304" pitchFamily="18" charset="0"/>
              </a:rPr>
              <a:t>(root-&gt;lchild);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right= 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BiT_LeafCount</a:t>
            </a:r>
            <a:r>
              <a:rPr lang="en-US" altLang="zh-CN" sz="2800" b="1" dirty="0">
                <a:latin typeface="Times New Roman" panose="02020603050405020304" pitchFamily="18" charset="0"/>
              </a:rPr>
              <a:t>(root-&gt;rchild);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return(left+right);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/>
      <p:bldP spid="25805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9074" name="Text Box 2"/>
          <p:cNvSpPr txBox="1"/>
          <p:nvPr/>
        </p:nvSpPr>
        <p:spPr>
          <a:xfrm>
            <a:off x="684213" y="1431925"/>
            <a:ext cx="3167062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993366"/>
                </a:solidFill>
                <a:latin typeface="楷体_GB2312"/>
                <a:ea typeface="楷体_GB2312"/>
              </a:rPr>
              <a:t>算法基本思想</a:t>
            </a:r>
            <a:r>
              <a:rPr lang="en-US" altLang="zh-CN" sz="3600" b="1" dirty="0">
                <a:solidFill>
                  <a:srgbClr val="993366"/>
                </a:solidFill>
                <a:latin typeface="楷体_GB2312"/>
                <a:ea typeface="楷体_GB2312"/>
              </a:rPr>
              <a:t>: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259075" name="Text Box 3"/>
          <p:cNvSpPr txBox="1"/>
          <p:nvPr/>
        </p:nvSpPr>
        <p:spPr>
          <a:xfrm>
            <a:off x="323850" y="2276475"/>
            <a:ext cx="8305800" cy="3749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CC66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rgbClr val="CC6600"/>
                </a:solidFill>
                <a:latin typeface="宋体" panose="02010600030101010101" pitchFamily="2" charset="-122"/>
              </a:rPr>
              <a:t>从二叉树深度的定义可知，二叉树的深度应为其左、右子树深度的最大值加</a:t>
            </a:r>
            <a:r>
              <a:rPr lang="en-US" altLang="zh-CN" b="1" dirty="0">
                <a:solidFill>
                  <a:srgbClr val="CC66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CC6600"/>
                </a:solidFill>
                <a:latin typeface="宋体" panose="02010600030101010101" pitchFamily="2" charset="-122"/>
              </a:rPr>
              <a:t>。由此，需先分别求得左、右子树的深度，算法中</a:t>
            </a:r>
            <a:r>
              <a:rPr lang="zh-CN" altLang="en-US" b="1" dirty="0">
                <a:solidFill>
                  <a:srgbClr val="993366"/>
                </a:solidFill>
                <a:latin typeface="宋体" panose="02010600030101010101" pitchFamily="2" charset="-122"/>
              </a:rPr>
              <a:t>“访问结点”的操作为：求得左、右子树深度的最大值，然后加 </a:t>
            </a:r>
            <a:r>
              <a:rPr lang="en-US" altLang="zh-CN" b="1" dirty="0">
                <a:solidFill>
                  <a:srgbClr val="993366"/>
                </a:solidFill>
                <a:latin typeface="宋体" panose="02010600030101010101" pitchFamily="2" charset="-122"/>
              </a:rPr>
              <a:t>1 </a:t>
            </a:r>
            <a:r>
              <a:rPr lang="zh-CN" altLang="en-US" b="1" dirty="0">
                <a:solidFill>
                  <a:srgbClr val="993366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b="1" dirty="0">
                <a:solidFill>
                  <a:srgbClr val="CC6600"/>
                </a:solidFill>
                <a:latin typeface="宋体" panose="02010600030101010101" pitchFamily="2" charset="-122"/>
              </a:rPr>
              <a:t>这是在后序遍历二叉树的基础上进行的运算。</a:t>
            </a:r>
            <a:endParaRPr lang="zh-CN" altLang="en-US" b="1" dirty="0">
              <a:solidFill>
                <a:srgbClr val="CC6600"/>
              </a:solidFill>
              <a:latin typeface="宋体" panose="02010600030101010101" pitchFamily="2" charset="-122"/>
            </a:endParaRPr>
          </a:p>
        </p:txBody>
      </p:sp>
      <p:sp>
        <p:nvSpPr>
          <p:cNvPr id="51206" name="Text Box 5">
            <a:hlinkClick r:id="" action="ppaction://noaction"/>
          </p:cNvPr>
          <p:cNvSpPr txBox="1"/>
          <p:nvPr/>
        </p:nvSpPr>
        <p:spPr>
          <a:xfrm>
            <a:off x="468313" y="260350"/>
            <a:ext cx="7416800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8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4000" b="1" dirty="0">
                <a:solidFill>
                  <a:srgbClr val="800000"/>
                </a:solidFill>
                <a:latin typeface="宋体" panose="02010600030101010101" pitchFamily="2" charset="-122"/>
              </a:rPr>
              <a:t>、求二叉树的深度</a:t>
            </a:r>
            <a:endParaRPr lang="zh-CN" altLang="en-US" sz="4000" b="1" dirty="0">
              <a:solidFill>
                <a:srgbClr val="8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4" grpId="0"/>
      <p:bldP spid="25907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8" name="Text Box 2"/>
          <p:cNvSpPr txBox="1"/>
          <p:nvPr/>
        </p:nvSpPr>
        <p:spPr>
          <a:xfrm>
            <a:off x="180975" y="836613"/>
            <a:ext cx="9144000" cy="4968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楷体_GB2312"/>
                <a:ea typeface="楷体_GB2312"/>
              </a:rPr>
              <a:t>//</a:t>
            </a:r>
            <a:r>
              <a:rPr lang="zh-CN" altLang="en-US" b="1" dirty="0">
                <a:latin typeface="楷体_GB2312"/>
                <a:ea typeface="楷体_GB2312"/>
              </a:rPr>
              <a:t>计算二叉树的深度</a:t>
            </a:r>
            <a:endParaRPr lang="zh-CN" altLang="en-US" b="1" dirty="0">
              <a:latin typeface="楷体_GB2312"/>
              <a:ea typeface="楷体_GB2312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int </a:t>
            </a:r>
            <a:r>
              <a:rPr lang="en-US" altLang="zh-CN" b="1" dirty="0">
                <a:solidFill>
                  <a:srgbClr val="CC0066"/>
                </a:solidFill>
                <a:latin typeface="Times New Roman" panose="02020603050405020304" pitchFamily="18" charset="0"/>
              </a:rPr>
              <a:t>BiT_Depth</a:t>
            </a:r>
            <a:r>
              <a:rPr lang="en-US" altLang="zh-CN" b="1" dirty="0">
                <a:latin typeface="Times New Roman" panose="02020603050405020304" pitchFamily="18" charset="0"/>
              </a:rPr>
              <a:t>(BiTNode *root)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{ int left,right;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if(root==NULL) return(0);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left =</a:t>
            </a:r>
            <a:r>
              <a:rPr lang="en-US" altLang="zh-CN" b="1" dirty="0">
                <a:solidFill>
                  <a:srgbClr val="CC0066"/>
                </a:solidFill>
                <a:latin typeface="Times New Roman" panose="02020603050405020304" pitchFamily="18" charset="0"/>
              </a:rPr>
              <a:t> BiT_Depth</a:t>
            </a:r>
            <a:r>
              <a:rPr lang="en-US" altLang="zh-CN" b="1" dirty="0">
                <a:latin typeface="Times New Roman" panose="02020603050405020304" pitchFamily="18" charset="0"/>
              </a:rPr>
              <a:t>(root-&gt;lchild); </a:t>
            </a:r>
            <a:r>
              <a:rPr lang="en-US" altLang="zh-CN" sz="2400" b="1" dirty="0">
                <a:latin typeface="Times New Roman" panose="02020603050405020304" pitchFamily="18" charset="0"/>
              </a:rPr>
              <a:t>/* </a:t>
            </a:r>
            <a:r>
              <a:rPr lang="zh-CN" altLang="en-US" sz="2400" b="1" dirty="0">
                <a:latin typeface="Times New Roman" panose="02020603050405020304" pitchFamily="18" charset="0"/>
              </a:rPr>
              <a:t>计算左子树深度 *</a:t>
            </a:r>
            <a:r>
              <a:rPr lang="en-US" altLang="zh-CN" sz="2400" b="1" dirty="0">
                <a:latin typeface="Times New Roman" panose="02020603050405020304" pitchFamily="18" charset="0"/>
              </a:rPr>
              <a:t>/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right= </a:t>
            </a:r>
            <a:r>
              <a:rPr lang="en-US" altLang="zh-CN" b="1" dirty="0">
                <a:solidFill>
                  <a:srgbClr val="CC0066"/>
                </a:solidFill>
                <a:latin typeface="Times New Roman" panose="02020603050405020304" pitchFamily="18" charset="0"/>
              </a:rPr>
              <a:t>BiT_Depth</a:t>
            </a:r>
            <a:r>
              <a:rPr lang="en-US" altLang="zh-CN" b="1" dirty="0">
                <a:latin typeface="Times New Roman" panose="02020603050405020304" pitchFamily="18" charset="0"/>
              </a:rPr>
              <a:t>(root-&gt;rchild); </a:t>
            </a:r>
            <a:r>
              <a:rPr lang="en-US" altLang="zh-CN" sz="2400" b="1" dirty="0">
                <a:latin typeface="Times New Roman" panose="02020603050405020304" pitchFamily="18" charset="0"/>
              </a:rPr>
              <a:t>/* </a:t>
            </a:r>
            <a:r>
              <a:rPr lang="zh-CN" altLang="en-US" sz="2400" b="1" dirty="0">
                <a:latin typeface="Times New Roman" panose="02020603050405020304" pitchFamily="18" charset="0"/>
              </a:rPr>
              <a:t>计算右子树深度 *</a:t>
            </a:r>
            <a:r>
              <a:rPr lang="en-US" altLang="zh-CN" sz="2400" b="1" dirty="0">
                <a:latin typeface="Times New Roman" panose="02020603050405020304" pitchFamily="18" charset="0"/>
              </a:rPr>
              <a:t>/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(left&gt;right?left:right)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</a:rPr>
              <a:t>1;</a:t>
            </a:r>
            <a:endParaRPr lang="en-US" altLang="zh-CN" b="1" dirty="0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60099" name="AutoShape 3">
            <a:hlinkClick r:id="rId1" action="ppaction://hlinksldjump"/>
          </p:cNvPr>
          <p:cNvSpPr/>
          <p:nvPr/>
        </p:nvSpPr>
        <p:spPr>
          <a:xfrm>
            <a:off x="85344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9619" name="Rectangle 3"/>
          <p:cNvSpPr/>
          <p:nvPr/>
        </p:nvSpPr>
        <p:spPr>
          <a:xfrm>
            <a:off x="250825" y="1341438"/>
            <a:ext cx="8569325" cy="4765675"/>
          </a:xfrm>
          <a:prstGeom prst="rect">
            <a:avLst/>
          </a:prstGeom>
          <a:noFill/>
          <a:ln w="635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hangingPunct="1">
              <a:lnSpc>
                <a:spcPct val="12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(1) </a:t>
            </a:r>
            <a:r>
              <a:rPr lang="zh-CN" altLang="en-US" b="1" dirty="0">
                <a:latin typeface="宋体" panose="02010600030101010101" pitchFamily="2" charset="-122"/>
              </a:rPr>
              <a:t>当前指针指向根结点。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(2) </a:t>
            </a:r>
            <a:r>
              <a:rPr lang="zh-CN" altLang="en-US" b="1" dirty="0">
                <a:latin typeface="宋体" panose="02010600030101010101" pitchFamily="2" charset="-122"/>
              </a:rPr>
              <a:t>当前结点进栈，当前指针指向其左孩子， 重复</a:t>
            </a:r>
            <a:r>
              <a:rPr lang="en-US" altLang="zh-CN" b="1" dirty="0">
                <a:latin typeface="宋体" panose="02010600030101010101" pitchFamily="2" charset="-122"/>
              </a:rPr>
              <a:t>(2)</a:t>
            </a:r>
            <a:r>
              <a:rPr lang="zh-CN" altLang="en-US" b="1" dirty="0">
                <a:latin typeface="宋体" panose="02010600030101010101" pitchFamily="2" charset="-122"/>
              </a:rPr>
              <a:t>，直至左孩子为</a:t>
            </a:r>
            <a:r>
              <a:rPr lang="en-US" altLang="zh-CN" b="1" dirty="0">
                <a:latin typeface="宋体" panose="02010600030101010101" pitchFamily="2" charset="-122"/>
              </a:rPr>
              <a:t>NULL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(3) </a:t>
            </a:r>
            <a:r>
              <a:rPr lang="zh-CN" altLang="en-US" b="1" dirty="0">
                <a:latin typeface="宋体" panose="02010600030101010101" pitchFamily="2" charset="-122"/>
              </a:rPr>
              <a:t>依次退栈，退栈指针成为当前指针，打印当前结点。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(4) </a:t>
            </a:r>
            <a:r>
              <a:rPr lang="zh-CN" altLang="en-US" b="1" dirty="0">
                <a:latin typeface="宋体" panose="02010600030101010101" pitchFamily="2" charset="-122"/>
              </a:rPr>
              <a:t>将当前指针指向右孩子。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(5) </a:t>
            </a:r>
            <a:r>
              <a:rPr lang="zh-CN" altLang="en-US" b="1" dirty="0">
                <a:latin typeface="宋体" panose="02010600030101010101" pitchFamily="2" charset="-122"/>
              </a:rPr>
              <a:t>若栈非空或当前指针非</a:t>
            </a:r>
            <a:r>
              <a:rPr lang="en-US" altLang="zh-CN" b="1" dirty="0">
                <a:latin typeface="宋体" panose="02010600030101010101" pitchFamily="2" charset="-122"/>
              </a:rPr>
              <a:t>NULL</a:t>
            </a:r>
            <a:r>
              <a:rPr lang="zh-CN" altLang="en-US" b="1" dirty="0">
                <a:latin typeface="宋体" panose="02010600030101010101" pitchFamily="2" charset="-122"/>
              </a:rPr>
              <a:t>，执行（</a:t>
            </a:r>
            <a:r>
              <a:rPr lang="en-US" altLang="zh-CN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）；否则结束。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09600" y="382588"/>
            <a:ext cx="7829550" cy="885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中序遍历二叉树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非递归算法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用栈实现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BE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1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5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84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charRg st="100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09600" y="228600"/>
            <a:ext cx="7829550" cy="885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中序遍历二叉树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非递归算法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用栈实现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BE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4276" name="Rectangle 18"/>
          <p:cNvSpPr/>
          <p:nvPr/>
        </p:nvSpPr>
        <p:spPr>
          <a:xfrm>
            <a:off x="3352800" y="1401763"/>
            <a:ext cx="609600" cy="1493837"/>
          </a:xfrm>
          <a:prstGeom prst="rect">
            <a:avLst/>
          </a:prstGeom>
          <a:solidFill>
            <a:srgbClr val="FFFFCC"/>
          </a:solidFill>
          <a:ln w="381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54277" name="Line 19"/>
          <p:cNvSpPr/>
          <p:nvPr/>
        </p:nvSpPr>
        <p:spPr>
          <a:xfrm>
            <a:off x="3352800" y="2438400"/>
            <a:ext cx="609600" cy="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78" name="Text Box 21"/>
          <p:cNvSpPr txBox="1"/>
          <p:nvPr/>
        </p:nvSpPr>
        <p:spPr>
          <a:xfrm>
            <a:off x="3482975" y="1949450"/>
            <a:ext cx="361950" cy="9461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chemeClr val="accent2"/>
                </a:solidFill>
              </a:rPr>
              <a:t>b</a:t>
            </a:r>
            <a:endParaRPr lang="en-US" altLang="zh-CN" sz="2800" b="1" i="1" dirty="0">
              <a:solidFill>
                <a:schemeClr val="accent2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endParaRPr lang="en-US" altLang="zh-CN" sz="1800" dirty="0"/>
          </a:p>
        </p:txBody>
      </p:sp>
      <p:grpSp>
        <p:nvGrpSpPr>
          <p:cNvPr id="54279" name="Group 107"/>
          <p:cNvGrpSpPr/>
          <p:nvPr/>
        </p:nvGrpSpPr>
        <p:grpSpPr>
          <a:xfrm>
            <a:off x="742950" y="1279525"/>
            <a:ext cx="1981200" cy="2378075"/>
            <a:chOff x="468" y="806"/>
            <a:chExt cx="1248" cy="1498"/>
          </a:xfrm>
        </p:grpSpPr>
        <p:sp>
          <p:nvSpPr>
            <p:cNvPr id="54348" name="Line 4"/>
            <p:cNvSpPr/>
            <p:nvPr/>
          </p:nvSpPr>
          <p:spPr>
            <a:xfrm flipH="1">
              <a:off x="1332" y="1555"/>
              <a:ext cx="192" cy="528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9" name="Line 5"/>
            <p:cNvSpPr/>
            <p:nvPr/>
          </p:nvSpPr>
          <p:spPr>
            <a:xfrm>
              <a:off x="660" y="1603"/>
              <a:ext cx="192" cy="432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0" name="Line 6"/>
            <p:cNvSpPr/>
            <p:nvPr/>
          </p:nvSpPr>
          <p:spPr>
            <a:xfrm>
              <a:off x="1140" y="1123"/>
              <a:ext cx="384" cy="336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51" name="Line 7"/>
            <p:cNvSpPr/>
            <p:nvPr/>
          </p:nvSpPr>
          <p:spPr>
            <a:xfrm flipH="1">
              <a:off x="660" y="1123"/>
              <a:ext cx="336" cy="336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" name="Oval 8"/>
            <p:cNvSpPr>
              <a:spLocks noChangeArrowheads="1"/>
            </p:cNvSpPr>
            <p:nvPr/>
          </p:nvSpPr>
          <p:spPr bwMode="auto">
            <a:xfrm>
              <a:off x="948" y="883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Oval 9"/>
            <p:cNvSpPr>
              <a:spLocks noChangeArrowheads="1"/>
            </p:cNvSpPr>
            <p:nvPr/>
          </p:nvSpPr>
          <p:spPr bwMode="auto">
            <a:xfrm>
              <a:off x="468" y="1363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1140" y="1987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Oval 11"/>
            <p:cNvSpPr>
              <a:spLocks noChangeArrowheads="1"/>
            </p:cNvSpPr>
            <p:nvPr/>
          </p:nvSpPr>
          <p:spPr bwMode="auto">
            <a:xfrm>
              <a:off x="1428" y="1363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Oval 12"/>
            <p:cNvSpPr>
              <a:spLocks noChangeArrowheads="1"/>
            </p:cNvSpPr>
            <p:nvPr/>
          </p:nvSpPr>
          <p:spPr bwMode="auto">
            <a:xfrm>
              <a:off x="756" y="1987"/>
              <a:ext cx="288" cy="288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357" name="Text Box 13"/>
            <p:cNvSpPr txBox="1"/>
            <p:nvPr/>
          </p:nvSpPr>
          <p:spPr>
            <a:xfrm>
              <a:off x="948" y="806"/>
              <a:ext cx="24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rgbClr val="FFFFCC"/>
                  </a:solidFill>
                </a:rPr>
                <a:t>a</a:t>
              </a:r>
              <a:endParaRPr lang="en-US" altLang="zh-CN" sz="1800" dirty="0"/>
            </a:p>
          </p:txBody>
        </p:sp>
        <p:sp>
          <p:nvSpPr>
            <p:cNvPr id="54358" name="Text Box 14"/>
            <p:cNvSpPr txBox="1"/>
            <p:nvPr/>
          </p:nvSpPr>
          <p:spPr>
            <a:xfrm>
              <a:off x="468" y="1315"/>
              <a:ext cx="24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rgbClr val="FFFFCC"/>
                  </a:solidFill>
                </a:rPr>
                <a:t>b</a:t>
              </a:r>
              <a:endParaRPr lang="en-US" altLang="zh-CN" sz="1800" dirty="0"/>
            </a:p>
          </p:txBody>
        </p:sp>
        <p:sp>
          <p:nvSpPr>
            <p:cNvPr id="54359" name="Text Box 15"/>
            <p:cNvSpPr txBox="1"/>
            <p:nvPr/>
          </p:nvSpPr>
          <p:spPr>
            <a:xfrm>
              <a:off x="1438" y="1286"/>
              <a:ext cx="23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rgbClr val="FFFFCC"/>
                  </a:solidFill>
                </a:rPr>
                <a:t>c</a:t>
              </a:r>
              <a:endParaRPr lang="en-US" altLang="zh-CN" sz="1800" dirty="0"/>
            </a:p>
          </p:txBody>
        </p:sp>
        <p:sp>
          <p:nvSpPr>
            <p:cNvPr id="54360" name="Text Box 16"/>
            <p:cNvSpPr txBox="1"/>
            <p:nvPr/>
          </p:nvSpPr>
          <p:spPr>
            <a:xfrm>
              <a:off x="756" y="1939"/>
              <a:ext cx="24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rgbClr val="FFFFCC"/>
                  </a:solidFill>
                </a:rPr>
                <a:t>d</a:t>
              </a:r>
              <a:endParaRPr lang="en-US" altLang="zh-CN" sz="1800" dirty="0"/>
            </a:p>
          </p:txBody>
        </p:sp>
        <p:sp>
          <p:nvSpPr>
            <p:cNvPr id="54361" name="Text Box 17"/>
            <p:cNvSpPr txBox="1"/>
            <p:nvPr/>
          </p:nvSpPr>
          <p:spPr>
            <a:xfrm>
              <a:off x="1188" y="1910"/>
              <a:ext cx="14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rgbClr val="FFFFCC"/>
                  </a:solidFill>
                </a:rPr>
                <a:t>e</a:t>
              </a:r>
              <a:endParaRPr lang="en-US" altLang="zh-CN" sz="1800" dirty="0"/>
            </a:p>
          </p:txBody>
        </p:sp>
        <p:sp>
          <p:nvSpPr>
            <p:cNvPr id="54362" name="Line 20"/>
            <p:cNvSpPr/>
            <p:nvPr/>
          </p:nvSpPr>
          <p:spPr>
            <a:xfrm flipH="1">
              <a:off x="660" y="1075"/>
              <a:ext cx="240" cy="24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63" name="Line 22"/>
            <p:cNvSpPr/>
            <p:nvPr/>
          </p:nvSpPr>
          <p:spPr>
            <a:xfrm>
              <a:off x="612" y="1747"/>
              <a:ext cx="144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64" name="Line 23"/>
            <p:cNvSpPr/>
            <p:nvPr/>
          </p:nvSpPr>
          <p:spPr>
            <a:xfrm>
              <a:off x="804" y="1651"/>
              <a:ext cx="144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54365" name="Line 24"/>
            <p:cNvSpPr/>
            <p:nvPr/>
          </p:nvSpPr>
          <p:spPr>
            <a:xfrm flipH="1">
              <a:off x="804" y="1219"/>
              <a:ext cx="240" cy="24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54366" name="Line 25"/>
            <p:cNvSpPr/>
            <p:nvPr/>
          </p:nvSpPr>
          <p:spPr>
            <a:xfrm>
              <a:off x="1140" y="1219"/>
              <a:ext cx="240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67" name="Line 26"/>
            <p:cNvSpPr/>
            <p:nvPr/>
          </p:nvSpPr>
          <p:spPr>
            <a:xfrm flipH="1">
              <a:off x="1284" y="1651"/>
              <a:ext cx="96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54368" name="Line 27"/>
            <p:cNvSpPr/>
            <p:nvPr/>
          </p:nvSpPr>
          <p:spPr>
            <a:xfrm flipH="1">
              <a:off x="1476" y="1747"/>
              <a:ext cx="96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triangle" w="sm" len="med"/>
              <a:tailEnd type="none" w="sm" len="med"/>
            </a:ln>
          </p:spPr>
        </p:sp>
        <p:sp>
          <p:nvSpPr>
            <p:cNvPr id="54369" name="Line 28"/>
            <p:cNvSpPr/>
            <p:nvPr/>
          </p:nvSpPr>
          <p:spPr>
            <a:xfrm>
              <a:off x="1284" y="1075"/>
              <a:ext cx="240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triangle" w="sm" len="med"/>
              <a:tailEnd type="none" w="sm" len="med"/>
            </a:ln>
          </p:spPr>
        </p:sp>
      </p:grpSp>
      <p:sp>
        <p:nvSpPr>
          <p:cNvPr id="54280" name="Line 29"/>
          <p:cNvSpPr/>
          <p:nvPr/>
        </p:nvSpPr>
        <p:spPr>
          <a:xfrm>
            <a:off x="3352800" y="1371600"/>
            <a:ext cx="0" cy="152400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1" name="Line 30"/>
          <p:cNvSpPr/>
          <p:nvPr/>
        </p:nvSpPr>
        <p:spPr>
          <a:xfrm>
            <a:off x="3962400" y="1371600"/>
            <a:ext cx="0" cy="152400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2" name="Line 31"/>
          <p:cNvSpPr/>
          <p:nvPr/>
        </p:nvSpPr>
        <p:spPr>
          <a:xfrm>
            <a:off x="3352800" y="2895600"/>
            <a:ext cx="609600" cy="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4283" name="Group 98"/>
          <p:cNvGrpSpPr/>
          <p:nvPr/>
        </p:nvGrpSpPr>
        <p:grpSpPr>
          <a:xfrm>
            <a:off x="4800600" y="1371600"/>
            <a:ext cx="609600" cy="1570038"/>
            <a:chOff x="2736" y="864"/>
            <a:chExt cx="384" cy="989"/>
          </a:xfrm>
        </p:grpSpPr>
        <p:sp>
          <p:nvSpPr>
            <p:cNvPr id="54341" name="Rectangle 2"/>
            <p:cNvSpPr/>
            <p:nvPr/>
          </p:nvSpPr>
          <p:spPr>
            <a:xfrm>
              <a:off x="2736" y="883"/>
              <a:ext cx="384" cy="941"/>
            </a:xfrm>
            <a:prstGeom prst="rect">
              <a:avLst/>
            </a:prstGeom>
            <a:solidFill>
              <a:srgbClr val="FFFFCC"/>
            </a:solidFill>
            <a:ln w="38100">
              <a:noFill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54342" name="Line 32"/>
            <p:cNvSpPr/>
            <p:nvPr/>
          </p:nvSpPr>
          <p:spPr>
            <a:xfrm>
              <a:off x="2736" y="1536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3" name="Text Box 33"/>
            <p:cNvSpPr txBox="1"/>
            <p:nvPr/>
          </p:nvSpPr>
          <p:spPr>
            <a:xfrm>
              <a:off x="2810" y="1488"/>
              <a:ext cx="24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accent2"/>
                  </a:solidFill>
                </a:rPr>
                <a:t>a</a:t>
              </a:r>
              <a:endParaRPr lang="en-US" altLang="zh-CN" sz="1800" dirty="0"/>
            </a:p>
          </p:txBody>
        </p:sp>
        <p:sp>
          <p:nvSpPr>
            <p:cNvPr id="54344" name="Line 34"/>
            <p:cNvSpPr/>
            <p:nvPr/>
          </p:nvSpPr>
          <p:spPr>
            <a:xfrm>
              <a:off x="2736" y="864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5" name="Line 35"/>
            <p:cNvSpPr/>
            <p:nvPr/>
          </p:nvSpPr>
          <p:spPr>
            <a:xfrm>
              <a:off x="3120" y="864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6" name="Line 36"/>
            <p:cNvSpPr/>
            <p:nvPr/>
          </p:nvSpPr>
          <p:spPr>
            <a:xfrm>
              <a:off x="2736" y="1824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7" name="Line 37"/>
            <p:cNvSpPr/>
            <p:nvPr/>
          </p:nvSpPr>
          <p:spPr>
            <a:xfrm>
              <a:off x="2736" y="1248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4284" name="Line 54"/>
          <p:cNvSpPr/>
          <p:nvPr/>
        </p:nvSpPr>
        <p:spPr>
          <a:xfrm>
            <a:off x="3352800" y="1981200"/>
            <a:ext cx="609600" cy="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4285" name="Group 97"/>
          <p:cNvGrpSpPr/>
          <p:nvPr/>
        </p:nvGrpSpPr>
        <p:grpSpPr>
          <a:xfrm>
            <a:off x="6019800" y="1371600"/>
            <a:ext cx="609600" cy="1600200"/>
            <a:chOff x="3360" y="864"/>
            <a:chExt cx="384" cy="1008"/>
          </a:xfrm>
        </p:grpSpPr>
        <p:sp>
          <p:nvSpPr>
            <p:cNvPr id="54334" name="Rectangle 38"/>
            <p:cNvSpPr/>
            <p:nvPr/>
          </p:nvSpPr>
          <p:spPr>
            <a:xfrm>
              <a:off x="3360" y="883"/>
              <a:ext cx="384" cy="941"/>
            </a:xfrm>
            <a:prstGeom prst="rect">
              <a:avLst/>
            </a:prstGeom>
            <a:solidFill>
              <a:srgbClr val="FFFFCC"/>
            </a:solidFill>
            <a:ln w="38100">
              <a:noFill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54335" name="Line 39"/>
            <p:cNvSpPr/>
            <p:nvPr/>
          </p:nvSpPr>
          <p:spPr>
            <a:xfrm>
              <a:off x="3360" y="1536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6" name="Text Box 40"/>
            <p:cNvSpPr txBox="1"/>
            <p:nvPr/>
          </p:nvSpPr>
          <p:spPr>
            <a:xfrm>
              <a:off x="3434" y="1200"/>
              <a:ext cx="244" cy="67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accent2"/>
                  </a:solidFill>
                </a:rPr>
                <a:t>d</a:t>
              </a:r>
              <a:endParaRPr lang="en-US" altLang="zh-CN" b="1" i="1" dirty="0">
                <a:solidFill>
                  <a:schemeClr val="accent2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accent2"/>
                  </a:solidFill>
                </a:rPr>
                <a:t>a</a:t>
              </a:r>
              <a:endParaRPr lang="en-US" altLang="zh-CN" sz="1800" dirty="0"/>
            </a:p>
          </p:txBody>
        </p:sp>
        <p:sp>
          <p:nvSpPr>
            <p:cNvPr id="54337" name="Line 41"/>
            <p:cNvSpPr/>
            <p:nvPr/>
          </p:nvSpPr>
          <p:spPr>
            <a:xfrm>
              <a:off x="3360" y="864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8" name="Line 42"/>
            <p:cNvSpPr/>
            <p:nvPr/>
          </p:nvSpPr>
          <p:spPr>
            <a:xfrm>
              <a:off x="3744" y="864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9" name="Line 43"/>
            <p:cNvSpPr/>
            <p:nvPr/>
          </p:nvSpPr>
          <p:spPr>
            <a:xfrm>
              <a:off x="3360" y="1824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40" name="Line 55"/>
            <p:cNvSpPr/>
            <p:nvPr/>
          </p:nvSpPr>
          <p:spPr>
            <a:xfrm>
              <a:off x="3360" y="1248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4286" name="Group 96"/>
          <p:cNvGrpSpPr/>
          <p:nvPr/>
        </p:nvGrpSpPr>
        <p:grpSpPr>
          <a:xfrm>
            <a:off x="7315200" y="1371600"/>
            <a:ext cx="609600" cy="1570038"/>
            <a:chOff x="3984" y="864"/>
            <a:chExt cx="384" cy="989"/>
          </a:xfrm>
        </p:grpSpPr>
        <p:sp>
          <p:nvSpPr>
            <p:cNvPr id="54328" name="Rectangle 44"/>
            <p:cNvSpPr/>
            <p:nvPr/>
          </p:nvSpPr>
          <p:spPr>
            <a:xfrm>
              <a:off x="3984" y="883"/>
              <a:ext cx="384" cy="941"/>
            </a:xfrm>
            <a:prstGeom prst="rect">
              <a:avLst/>
            </a:prstGeom>
            <a:solidFill>
              <a:srgbClr val="FFFFCC"/>
            </a:solidFill>
            <a:ln w="38100">
              <a:noFill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54329" name="Line 45"/>
            <p:cNvSpPr/>
            <p:nvPr/>
          </p:nvSpPr>
          <p:spPr>
            <a:xfrm>
              <a:off x="3984" y="1536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0" name="Line 46"/>
            <p:cNvSpPr/>
            <p:nvPr/>
          </p:nvSpPr>
          <p:spPr>
            <a:xfrm>
              <a:off x="3984" y="864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1" name="Line 47"/>
            <p:cNvSpPr/>
            <p:nvPr/>
          </p:nvSpPr>
          <p:spPr>
            <a:xfrm>
              <a:off x="4368" y="864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2" name="Line 48"/>
            <p:cNvSpPr/>
            <p:nvPr/>
          </p:nvSpPr>
          <p:spPr>
            <a:xfrm>
              <a:off x="3984" y="1824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33" name="Text Box 56"/>
            <p:cNvSpPr txBox="1"/>
            <p:nvPr/>
          </p:nvSpPr>
          <p:spPr>
            <a:xfrm>
              <a:off x="4076" y="1488"/>
              <a:ext cx="244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accent2"/>
                  </a:solidFill>
                </a:rPr>
                <a:t>a</a:t>
              </a:r>
              <a:endParaRPr lang="en-US" altLang="zh-CN" sz="1800" dirty="0"/>
            </a:p>
          </p:txBody>
        </p:sp>
      </p:grpSp>
      <p:sp>
        <p:nvSpPr>
          <p:cNvPr id="54287" name="Text Box 57"/>
          <p:cNvSpPr txBox="1"/>
          <p:nvPr/>
        </p:nvSpPr>
        <p:spPr>
          <a:xfrm>
            <a:off x="3124200" y="3246438"/>
            <a:ext cx="12192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accent2"/>
                </a:solidFill>
                <a:ea typeface="楷体_GB2312"/>
              </a:rPr>
              <a:t>a b</a:t>
            </a:r>
            <a:r>
              <a:rPr lang="zh-CN" altLang="en-US" sz="1800" b="1" dirty="0">
                <a:solidFill>
                  <a:schemeClr val="accent2"/>
                </a:solidFill>
                <a:ea typeface="楷体_GB2312"/>
              </a:rPr>
              <a:t>入栈</a:t>
            </a:r>
            <a:endParaRPr lang="zh-CN" altLang="en-US" sz="18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54288" name="Text Box 58"/>
          <p:cNvSpPr txBox="1"/>
          <p:nvPr/>
        </p:nvSpPr>
        <p:spPr>
          <a:xfrm>
            <a:off x="4724400" y="3124200"/>
            <a:ext cx="963613" cy="8223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2C84"/>
                </a:solidFill>
                <a:ea typeface="楷体_GB2312"/>
              </a:rPr>
              <a:t>b</a:t>
            </a:r>
            <a:r>
              <a:rPr lang="zh-CN" altLang="en-US" sz="1800" b="1" dirty="0">
                <a:solidFill>
                  <a:srgbClr val="002C84"/>
                </a:solidFill>
                <a:ea typeface="楷体_GB2312"/>
              </a:rPr>
              <a:t>退栈</a:t>
            </a:r>
            <a:endParaRPr lang="zh-CN" altLang="en-US" sz="1800" b="1" dirty="0">
              <a:solidFill>
                <a:srgbClr val="002C84"/>
              </a:solidFill>
              <a:ea typeface="楷体_GB231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002C84"/>
                </a:solidFill>
                <a:ea typeface="楷体_GB2312"/>
              </a:rPr>
              <a:t>访问</a:t>
            </a:r>
            <a:endParaRPr lang="zh-CN" altLang="en-US" sz="1800" b="1" dirty="0">
              <a:solidFill>
                <a:srgbClr val="002C84"/>
              </a:solidFill>
              <a:ea typeface="楷体_GB2312"/>
            </a:endParaRPr>
          </a:p>
        </p:txBody>
      </p:sp>
      <p:sp>
        <p:nvSpPr>
          <p:cNvPr id="54289" name="Text Box 60"/>
          <p:cNvSpPr txBox="1"/>
          <p:nvPr/>
        </p:nvSpPr>
        <p:spPr>
          <a:xfrm>
            <a:off x="5943600" y="3200400"/>
            <a:ext cx="1000125" cy="57943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accent2"/>
                </a:solidFill>
              </a:rPr>
              <a:t>d</a:t>
            </a:r>
            <a:r>
              <a:rPr lang="zh-CN" altLang="en-US" sz="1800" b="1" dirty="0">
                <a:solidFill>
                  <a:schemeClr val="accent2"/>
                </a:solidFill>
                <a:ea typeface="楷体_GB2312"/>
              </a:rPr>
              <a:t>入栈</a:t>
            </a:r>
            <a:endParaRPr lang="zh-CN" altLang="en-US" sz="2800" b="1" dirty="0">
              <a:solidFill>
                <a:schemeClr val="tx2"/>
              </a:solidFill>
              <a:ea typeface="仿宋_GB2312"/>
            </a:endParaRPr>
          </a:p>
        </p:txBody>
      </p:sp>
      <p:sp>
        <p:nvSpPr>
          <p:cNvPr id="54290" name="Text Box 61"/>
          <p:cNvSpPr txBox="1"/>
          <p:nvPr/>
        </p:nvSpPr>
        <p:spPr>
          <a:xfrm>
            <a:off x="7239000" y="3124200"/>
            <a:ext cx="949325" cy="8223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solidFill>
                  <a:srgbClr val="003C78"/>
                </a:solidFill>
                <a:ea typeface="楷体_GB2312"/>
              </a:rPr>
              <a:t>d</a:t>
            </a:r>
            <a:r>
              <a:rPr lang="zh-CN" altLang="en-US" sz="1800" b="1" dirty="0">
                <a:solidFill>
                  <a:srgbClr val="003C78"/>
                </a:solidFill>
                <a:ea typeface="楷体_GB2312"/>
              </a:rPr>
              <a:t>退栈</a:t>
            </a:r>
            <a:endParaRPr lang="zh-CN" altLang="en-US" sz="1800" b="1" dirty="0">
              <a:solidFill>
                <a:srgbClr val="003C78"/>
              </a:solidFill>
              <a:ea typeface="楷体_GB231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003C78"/>
                </a:solidFill>
                <a:ea typeface="楷体_GB2312"/>
              </a:rPr>
              <a:t>访问</a:t>
            </a:r>
            <a:endParaRPr lang="zh-CN" altLang="en-US" sz="1800" b="1" dirty="0">
              <a:solidFill>
                <a:srgbClr val="003C78"/>
              </a:solidFill>
              <a:ea typeface="楷体_GB2312"/>
            </a:endParaRPr>
          </a:p>
        </p:txBody>
      </p:sp>
      <p:grpSp>
        <p:nvGrpSpPr>
          <p:cNvPr id="54291" name="Group 102"/>
          <p:cNvGrpSpPr/>
          <p:nvPr/>
        </p:nvGrpSpPr>
        <p:grpSpPr>
          <a:xfrm>
            <a:off x="5562600" y="4191000"/>
            <a:ext cx="609600" cy="1524000"/>
            <a:chOff x="3800" y="2592"/>
            <a:chExt cx="384" cy="960"/>
          </a:xfrm>
        </p:grpSpPr>
        <p:sp>
          <p:nvSpPr>
            <p:cNvPr id="54323" name="Rectangle 80"/>
            <p:cNvSpPr/>
            <p:nvPr/>
          </p:nvSpPr>
          <p:spPr>
            <a:xfrm>
              <a:off x="3800" y="2611"/>
              <a:ext cx="384" cy="941"/>
            </a:xfrm>
            <a:prstGeom prst="rect">
              <a:avLst/>
            </a:prstGeom>
            <a:solidFill>
              <a:srgbClr val="FFFFCC"/>
            </a:solidFill>
            <a:ln w="38100">
              <a:noFill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54324" name="Line 81"/>
            <p:cNvSpPr/>
            <p:nvPr/>
          </p:nvSpPr>
          <p:spPr>
            <a:xfrm>
              <a:off x="3800" y="3264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5" name="Line 82"/>
            <p:cNvSpPr/>
            <p:nvPr/>
          </p:nvSpPr>
          <p:spPr>
            <a:xfrm>
              <a:off x="3800" y="2592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6" name="Line 83"/>
            <p:cNvSpPr/>
            <p:nvPr/>
          </p:nvSpPr>
          <p:spPr>
            <a:xfrm>
              <a:off x="4184" y="2592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27" name="Line 84"/>
            <p:cNvSpPr/>
            <p:nvPr/>
          </p:nvSpPr>
          <p:spPr>
            <a:xfrm>
              <a:off x="3800" y="3552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4292" name="Text Box 85"/>
          <p:cNvSpPr txBox="1"/>
          <p:nvPr/>
        </p:nvSpPr>
        <p:spPr>
          <a:xfrm>
            <a:off x="3810000" y="5791200"/>
            <a:ext cx="1066800" cy="8223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solidFill>
                  <a:schemeClr val="accent2"/>
                </a:solidFill>
              </a:rPr>
              <a:t>e </a:t>
            </a:r>
            <a:r>
              <a:rPr lang="zh-CN" altLang="en-US" sz="1800" b="1" dirty="0">
                <a:solidFill>
                  <a:schemeClr val="tx2"/>
                </a:solidFill>
                <a:ea typeface="仿宋_GB2312"/>
              </a:rPr>
              <a:t>退栈</a:t>
            </a:r>
            <a:endParaRPr lang="zh-CN" altLang="en-US" sz="1800" b="1" dirty="0">
              <a:solidFill>
                <a:schemeClr val="tx2"/>
              </a:solidFill>
              <a:ea typeface="仿宋_GB231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ea typeface="仿宋_GB2312"/>
              </a:rPr>
              <a:t> 访问</a:t>
            </a:r>
            <a:endParaRPr lang="zh-CN" altLang="en-US" sz="1800" b="1" dirty="0">
              <a:solidFill>
                <a:schemeClr val="tx2"/>
              </a:solidFill>
              <a:ea typeface="仿宋_GB2312"/>
            </a:endParaRPr>
          </a:p>
        </p:txBody>
      </p:sp>
      <p:grpSp>
        <p:nvGrpSpPr>
          <p:cNvPr id="54293" name="Group 99"/>
          <p:cNvGrpSpPr/>
          <p:nvPr/>
        </p:nvGrpSpPr>
        <p:grpSpPr>
          <a:xfrm>
            <a:off x="1219200" y="4191000"/>
            <a:ext cx="609600" cy="1524000"/>
            <a:chOff x="624" y="2736"/>
            <a:chExt cx="384" cy="960"/>
          </a:xfrm>
        </p:grpSpPr>
        <p:sp>
          <p:nvSpPr>
            <p:cNvPr id="54317" name="Line 51"/>
            <p:cNvSpPr/>
            <p:nvPr/>
          </p:nvSpPr>
          <p:spPr>
            <a:xfrm>
              <a:off x="624" y="2736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8" name="Line 52"/>
            <p:cNvSpPr/>
            <p:nvPr/>
          </p:nvSpPr>
          <p:spPr>
            <a:xfrm>
              <a:off x="1008" y="2736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4319" name="Group 95"/>
            <p:cNvGrpSpPr/>
            <p:nvPr/>
          </p:nvGrpSpPr>
          <p:grpSpPr>
            <a:xfrm>
              <a:off x="624" y="2736"/>
              <a:ext cx="384" cy="941"/>
              <a:chOff x="4608" y="883"/>
              <a:chExt cx="384" cy="941"/>
            </a:xfrm>
          </p:grpSpPr>
          <p:sp>
            <p:nvSpPr>
              <p:cNvPr id="54320" name="Rectangle 49"/>
              <p:cNvSpPr/>
              <p:nvPr/>
            </p:nvSpPr>
            <p:spPr>
              <a:xfrm>
                <a:off x="4608" y="883"/>
                <a:ext cx="384" cy="941"/>
              </a:xfrm>
              <a:prstGeom prst="rect">
                <a:avLst/>
              </a:prstGeom>
              <a:solidFill>
                <a:srgbClr val="FFFFCC"/>
              </a:solidFill>
              <a:ln w="38100">
                <a:noFill/>
              </a:ln>
              <a:effectLst>
                <a:outerShdw dist="107763" dir="2699999" algn="ctr" rotWithShape="0">
                  <a:schemeClr val="bg2"/>
                </a:outerShdw>
              </a:effectLst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321" name="Line 50"/>
              <p:cNvSpPr/>
              <p:nvPr/>
            </p:nvSpPr>
            <p:spPr>
              <a:xfrm>
                <a:off x="4608" y="1536"/>
                <a:ext cx="384" cy="0"/>
              </a:xfrm>
              <a:prstGeom prst="line">
                <a:avLst/>
              </a:prstGeom>
              <a:ln w="1905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22" name="Line 53"/>
              <p:cNvSpPr/>
              <p:nvPr/>
            </p:nvSpPr>
            <p:spPr>
              <a:xfrm>
                <a:off x="4608" y="1824"/>
                <a:ext cx="384" cy="0"/>
              </a:xfrm>
              <a:prstGeom prst="line">
                <a:avLst/>
              </a:prstGeom>
              <a:ln w="1905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54294" name="Rectangle 62"/>
          <p:cNvSpPr/>
          <p:nvPr/>
        </p:nvSpPr>
        <p:spPr>
          <a:xfrm>
            <a:off x="2451100" y="4221163"/>
            <a:ext cx="609600" cy="1493837"/>
          </a:xfrm>
          <a:prstGeom prst="rect">
            <a:avLst/>
          </a:prstGeom>
          <a:solidFill>
            <a:srgbClr val="FFFFCC"/>
          </a:solidFill>
          <a:ln w="381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54295" name="Line 63"/>
          <p:cNvSpPr/>
          <p:nvPr/>
        </p:nvSpPr>
        <p:spPr>
          <a:xfrm>
            <a:off x="2451100" y="5257800"/>
            <a:ext cx="609600" cy="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6" name="Line 64"/>
          <p:cNvSpPr/>
          <p:nvPr/>
        </p:nvSpPr>
        <p:spPr>
          <a:xfrm>
            <a:off x="2451100" y="4191000"/>
            <a:ext cx="0" cy="152400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7" name="Line 65"/>
          <p:cNvSpPr/>
          <p:nvPr/>
        </p:nvSpPr>
        <p:spPr>
          <a:xfrm>
            <a:off x="3060700" y="4191000"/>
            <a:ext cx="0" cy="152400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8" name="Line 66"/>
          <p:cNvSpPr/>
          <p:nvPr/>
        </p:nvSpPr>
        <p:spPr>
          <a:xfrm>
            <a:off x="2451100" y="5715000"/>
            <a:ext cx="609600" cy="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9" name="Text Box 68"/>
          <p:cNvSpPr txBox="1"/>
          <p:nvPr/>
        </p:nvSpPr>
        <p:spPr>
          <a:xfrm>
            <a:off x="2603500" y="4724400"/>
            <a:ext cx="365125" cy="10668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accent2"/>
                </a:solidFill>
              </a:rPr>
              <a:t>e</a:t>
            </a:r>
            <a:endParaRPr lang="en-US" altLang="zh-CN" b="1" i="1" dirty="0">
              <a:solidFill>
                <a:schemeClr val="accent2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accent2"/>
                </a:solidFill>
              </a:rPr>
              <a:t>c</a:t>
            </a:r>
            <a:endParaRPr lang="en-US" altLang="zh-CN" sz="1800" dirty="0"/>
          </a:p>
        </p:txBody>
      </p:sp>
      <p:sp>
        <p:nvSpPr>
          <p:cNvPr id="54300" name="Line 69"/>
          <p:cNvSpPr/>
          <p:nvPr/>
        </p:nvSpPr>
        <p:spPr>
          <a:xfrm>
            <a:off x="2451100" y="4800600"/>
            <a:ext cx="609600" cy="0"/>
          </a:xfrm>
          <a:prstGeom prst="line">
            <a:avLst/>
          </a:prstGeom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4301" name="Group 106"/>
          <p:cNvGrpSpPr/>
          <p:nvPr/>
        </p:nvGrpSpPr>
        <p:grpSpPr>
          <a:xfrm>
            <a:off x="4038600" y="4191000"/>
            <a:ext cx="609600" cy="1570038"/>
            <a:chOff x="2360" y="2640"/>
            <a:chExt cx="384" cy="989"/>
          </a:xfrm>
        </p:grpSpPr>
        <p:sp>
          <p:nvSpPr>
            <p:cNvPr id="54311" name="Rectangle 70"/>
            <p:cNvSpPr/>
            <p:nvPr/>
          </p:nvSpPr>
          <p:spPr>
            <a:xfrm>
              <a:off x="2360" y="2659"/>
              <a:ext cx="384" cy="941"/>
            </a:xfrm>
            <a:prstGeom prst="rect">
              <a:avLst/>
            </a:prstGeom>
            <a:solidFill>
              <a:srgbClr val="FFFFCC"/>
            </a:solidFill>
            <a:ln w="38100">
              <a:noFill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54312" name="Line 71"/>
            <p:cNvSpPr/>
            <p:nvPr/>
          </p:nvSpPr>
          <p:spPr>
            <a:xfrm>
              <a:off x="2360" y="3312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3" name="Line 72"/>
            <p:cNvSpPr/>
            <p:nvPr/>
          </p:nvSpPr>
          <p:spPr>
            <a:xfrm>
              <a:off x="2360" y="2640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4" name="Line 73"/>
            <p:cNvSpPr/>
            <p:nvPr/>
          </p:nvSpPr>
          <p:spPr>
            <a:xfrm>
              <a:off x="2744" y="2640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5" name="Line 74"/>
            <p:cNvSpPr/>
            <p:nvPr/>
          </p:nvSpPr>
          <p:spPr>
            <a:xfrm>
              <a:off x="2360" y="3600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6" name="Text Box 86"/>
            <p:cNvSpPr txBox="1"/>
            <p:nvPr/>
          </p:nvSpPr>
          <p:spPr>
            <a:xfrm>
              <a:off x="2456" y="3264"/>
              <a:ext cx="230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i="1" dirty="0">
                  <a:solidFill>
                    <a:schemeClr val="accent2"/>
                  </a:solidFill>
                </a:rPr>
                <a:t>c</a:t>
              </a:r>
              <a:endParaRPr lang="en-US" altLang="zh-CN" sz="1800" dirty="0"/>
            </a:p>
          </p:txBody>
        </p:sp>
      </p:grpSp>
      <p:sp>
        <p:nvSpPr>
          <p:cNvPr id="54302" name="Text Box 89"/>
          <p:cNvSpPr txBox="1"/>
          <p:nvPr/>
        </p:nvSpPr>
        <p:spPr>
          <a:xfrm>
            <a:off x="7086600" y="5791200"/>
            <a:ext cx="914400" cy="89217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002C84"/>
                </a:solidFill>
                <a:ea typeface="仿宋_GB2312"/>
              </a:rPr>
              <a:t>栈空</a:t>
            </a:r>
            <a:endParaRPr lang="zh-CN" altLang="en-US" sz="1800" b="1" dirty="0">
              <a:solidFill>
                <a:srgbClr val="002C84"/>
              </a:solidFill>
              <a:ea typeface="仿宋_GB231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仿宋_GB2312"/>
              </a:rPr>
              <a:t>    </a:t>
            </a:r>
            <a:endParaRPr lang="zh-CN" altLang="en-US" sz="1800" dirty="0"/>
          </a:p>
        </p:txBody>
      </p:sp>
      <p:grpSp>
        <p:nvGrpSpPr>
          <p:cNvPr id="54303" name="Group 104"/>
          <p:cNvGrpSpPr/>
          <p:nvPr/>
        </p:nvGrpSpPr>
        <p:grpSpPr>
          <a:xfrm>
            <a:off x="7162800" y="4267200"/>
            <a:ext cx="622300" cy="1524000"/>
            <a:chOff x="4896" y="2592"/>
            <a:chExt cx="392" cy="960"/>
          </a:xfrm>
        </p:grpSpPr>
        <p:sp>
          <p:nvSpPr>
            <p:cNvPr id="54307" name="Rectangle 90"/>
            <p:cNvSpPr/>
            <p:nvPr/>
          </p:nvSpPr>
          <p:spPr>
            <a:xfrm>
              <a:off x="4896" y="2592"/>
              <a:ext cx="384" cy="941"/>
            </a:xfrm>
            <a:prstGeom prst="rect">
              <a:avLst/>
            </a:prstGeom>
            <a:solidFill>
              <a:srgbClr val="FFFFCC"/>
            </a:solidFill>
            <a:ln w="38100">
              <a:noFill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54308" name="Line 91"/>
            <p:cNvSpPr/>
            <p:nvPr/>
          </p:nvSpPr>
          <p:spPr>
            <a:xfrm>
              <a:off x="4904" y="3264"/>
              <a:ext cx="384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9" name="Line 92"/>
            <p:cNvSpPr/>
            <p:nvPr/>
          </p:nvSpPr>
          <p:spPr>
            <a:xfrm>
              <a:off x="4904" y="2592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10" name="Line 93"/>
            <p:cNvSpPr/>
            <p:nvPr/>
          </p:nvSpPr>
          <p:spPr>
            <a:xfrm>
              <a:off x="5288" y="2592"/>
              <a:ext cx="0" cy="96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4304" name="Text Box 100"/>
          <p:cNvSpPr txBox="1"/>
          <p:nvPr/>
        </p:nvSpPr>
        <p:spPr>
          <a:xfrm>
            <a:off x="673100" y="5684838"/>
            <a:ext cx="974725" cy="88423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r>
              <a:rPr lang="zh-CN" altLang="en-US" sz="1800" b="1" dirty="0">
                <a:solidFill>
                  <a:srgbClr val="003C78"/>
                </a:solidFill>
                <a:ea typeface="楷体_GB2312"/>
              </a:rPr>
              <a:t>退栈</a:t>
            </a:r>
            <a:endParaRPr lang="zh-CN" altLang="en-US" sz="1800" b="1" dirty="0">
              <a:solidFill>
                <a:srgbClr val="003C78"/>
              </a:solidFill>
              <a:ea typeface="楷体_GB231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003C78"/>
                </a:solidFill>
                <a:ea typeface="楷体_GB2312"/>
              </a:rPr>
              <a:t>访问</a:t>
            </a:r>
            <a:endParaRPr lang="zh-CN" altLang="en-US" sz="1800" b="1" dirty="0">
              <a:solidFill>
                <a:srgbClr val="003C78"/>
              </a:solidFill>
              <a:ea typeface="楷体_GB2312"/>
            </a:endParaRPr>
          </a:p>
        </p:txBody>
      </p:sp>
      <p:sp>
        <p:nvSpPr>
          <p:cNvPr id="54305" name="Text Box 101"/>
          <p:cNvSpPr txBox="1"/>
          <p:nvPr/>
        </p:nvSpPr>
        <p:spPr>
          <a:xfrm>
            <a:off x="2362200" y="5867400"/>
            <a:ext cx="121920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solidFill>
                  <a:schemeClr val="accent2"/>
                </a:solidFill>
              </a:rPr>
              <a:t>c e</a:t>
            </a:r>
            <a:r>
              <a:rPr lang="en-US" altLang="zh-CN" sz="1800" b="1" dirty="0">
                <a:solidFill>
                  <a:schemeClr val="accent2"/>
                </a:solidFill>
                <a:ea typeface="楷体_GB2312"/>
              </a:rPr>
              <a:t> </a:t>
            </a:r>
            <a:r>
              <a:rPr lang="zh-CN" altLang="en-US" sz="1800" b="1" dirty="0">
                <a:solidFill>
                  <a:schemeClr val="accent2"/>
                </a:solidFill>
                <a:ea typeface="楷体_GB2312"/>
              </a:rPr>
              <a:t>入栈</a:t>
            </a:r>
            <a:endParaRPr lang="zh-CN" altLang="en-US" sz="18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54306" name="Text Box 105"/>
          <p:cNvSpPr txBox="1"/>
          <p:nvPr/>
        </p:nvSpPr>
        <p:spPr>
          <a:xfrm>
            <a:off x="5410200" y="5654675"/>
            <a:ext cx="1066800" cy="944563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i="1" dirty="0">
                <a:solidFill>
                  <a:schemeClr val="accent2"/>
                </a:solidFill>
              </a:rPr>
              <a:t>c</a:t>
            </a:r>
            <a:r>
              <a:rPr lang="en-US" altLang="zh-CN" sz="1800" b="1" i="1" dirty="0">
                <a:solidFill>
                  <a:schemeClr val="accent2"/>
                </a:solidFill>
              </a:rPr>
              <a:t> </a:t>
            </a:r>
            <a:r>
              <a:rPr lang="zh-CN" altLang="en-US" sz="1800" b="1" dirty="0">
                <a:solidFill>
                  <a:schemeClr val="tx2"/>
                </a:solidFill>
                <a:ea typeface="仿宋_GB2312"/>
              </a:rPr>
              <a:t>退栈</a:t>
            </a:r>
            <a:endParaRPr lang="zh-CN" altLang="en-US" sz="1800" b="1" dirty="0">
              <a:solidFill>
                <a:schemeClr val="tx2"/>
              </a:solidFill>
              <a:ea typeface="仿宋_GB231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tx2"/>
                </a:solidFill>
                <a:ea typeface="仿宋_GB2312"/>
              </a:rPr>
              <a:t> 访问</a:t>
            </a:r>
            <a:endParaRPr lang="zh-CN" altLang="en-US" sz="1800" b="1" dirty="0">
              <a:solidFill>
                <a:schemeClr val="tx2"/>
              </a:solidFill>
              <a:ea typeface="仿宋_GB231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" name="Text Box 4"/>
          <p:cNvSpPr txBox="1"/>
          <p:nvPr/>
        </p:nvSpPr>
        <p:spPr>
          <a:xfrm>
            <a:off x="111125" y="373063"/>
            <a:ext cx="9039225" cy="58102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InOrderTraverse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(BiTree T, Status(*visit)(TelemType e))</a:t>
            </a:r>
            <a:endParaRPr lang="en-US" altLang="zh-CN" sz="24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 InitStack(S);Push(S,T); 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根指针退入栈</a:t>
            </a:r>
            <a:b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en-US" altLang="zh-CN" sz="24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(!StackEmpty(S))</a:t>
            </a:r>
            <a:endParaRPr lang="en-US" altLang="zh-CN" sz="24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  <a:b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</a:t>
            </a:r>
            <a:r>
              <a:rPr lang="en-US" altLang="zh-CN" sz="24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((GetTop(S,p)&amp;&amp;p) Push(S,p→ lchild); </a:t>
            </a:r>
            <a:endParaRPr lang="en-US" altLang="zh-CN" sz="24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pop(S,p);                   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空指针退栈</a:t>
            </a:r>
            <a:b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 </a:t>
            </a:r>
            <a:r>
              <a:rPr lang="en-US" altLang="zh-CN" sz="24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(!StackEmpty(S))</a:t>
            </a:r>
            <a:endParaRPr lang="en-US" altLang="zh-CN" sz="24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{        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访问结点，向右一步</a:t>
            </a:r>
            <a:b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   Pop(S,p);if(!Visit(p-&gt;data))return Error;</a:t>
            </a:r>
            <a:b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   Push(S,p-&gt;rchild);</a:t>
            </a:r>
            <a:b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       }//if</a:t>
            </a:r>
            <a:endParaRPr lang="en-US" altLang="zh-CN" sz="24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 }//while</a:t>
            </a:r>
            <a:endParaRPr lang="en-US" altLang="zh-CN" sz="24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     return OK;</a:t>
            </a:r>
            <a:endParaRPr lang="en-US" altLang="zh-CN" sz="2400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InOrderTraverse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幼圆" panose="02010509060101010101" pitchFamily="49" charset="-122"/>
              </a:rPr>
              <a:t> 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55300" name="Rectangle 5"/>
          <p:cNvSpPr/>
          <p:nvPr/>
        </p:nvSpPr>
        <p:spPr>
          <a:xfrm>
            <a:off x="5435600" y="4437063"/>
            <a:ext cx="2514600" cy="180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A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B          C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D      E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5301" name="Line 7"/>
          <p:cNvSpPr/>
          <p:nvPr/>
        </p:nvSpPr>
        <p:spPr>
          <a:xfrm>
            <a:off x="6011863" y="5445125"/>
            <a:ext cx="309562" cy="381000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2" name="Line 7"/>
          <p:cNvSpPr/>
          <p:nvPr/>
        </p:nvSpPr>
        <p:spPr>
          <a:xfrm>
            <a:off x="6659563" y="4868863"/>
            <a:ext cx="381000" cy="381000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3" name="Line 7"/>
          <p:cNvSpPr/>
          <p:nvPr/>
        </p:nvSpPr>
        <p:spPr>
          <a:xfrm flipH="1">
            <a:off x="6084888" y="4868863"/>
            <a:ext cx="287337" cy="360362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4" name="Line 7"/>
          <p:cNvSpPr/>
          <p:nvPr/>
        </p:nvSpPr>
        <p:spPr>
          <a:xfrm flipH="1">
            <a:off x="5651500" y="5373688"/>
            <a:ext cx="260350" cy="503237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324" name="Group 2"/>
          <p:cNvGrpSpPr/>
          <p:nvPr/>
        </p:nvGrpSpPr>
        <p:grpSpPr>
          <a:xfrm>
            <a:off x="250825" y="2060575"/>
            <a:ext cx="2879725" cy="2520950"/>
            <a:chOff x="521" y="935"/>
            <a:chExt cx="1240" cy="1120"/>
          </a:xfrm>
        </p:grpSpPr>
        <p:sp>
          <p:nvSpPr>
            <p:cNvPr id="56327" name="AutoShape 3"/>
            <p:cNvSpPr/>
            <p:nvPr/>
          </p:nvSpPr>
          <p:spPr>
            <a:xfrm>
              <a:off x="1110" y="935"/>
              <a:ext cx="288" cy="288"/>
            </a:xfrm>
            <a:prstGeom prst="flowChartConnector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28" name="AutoShape 4"/>
            <p:cNvSpPr/>
            <p:nvPr/>
          </p:nvSpPr>
          <p:spPr>
            <a:xfrm>
              <a:off x="521" y="1767"/>
              <a:ext cx="288" cy="288"/>
            </a:xfrm>
            <a:prstGeom prst="flowChartConnector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29" name="AutoShape 5"/>
            <p:cNvSpPr/>
            <p:nvPr/>
          </p:nvSpPr>
          <p:spPr>
            <a:xfrm>
              <a:off x="1473" y="1359"/>
              <a:ext cx="288" cy="288"/>
            </a:xfrm>
            <a:prstGeom prst="flowChartConnector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30" name="AutoShape 6"/>
            <p:cNvSpPr/>
            <p:nvPr/>
          </p:nvSpPr>
          <p:spPr>
            <a:xfrm>
              <a:off x="929" y="1767"/>
              <a:ext cx="288" cy="288"/>
            </a:xfrm>
            <a:prstGeom prst="flowChartConnector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31" name="AutoShape 7"/>
            <p:cNvSpPr/>
            <p:nvPr/>
          </p:nvSpPr>
          <p:spPr>
            <a:xfrm>
              <a:off x="748" y="1359"/>
              <a:ext cx="288" cy="288"/>
            </a:xfrm>
            <a:prstGeom prst="flowChartConnector">
              <a:avLst/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32" name="Line 8"/>
            <p:cNvSpPr/>
            <p:nvPr/>
          </p:nvSpPr>
          <p:spPr>
            <a:xfrm flipH="1">
              <a:off x="974" y="1178"/>
              <a:ext cx="182" cy="181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333" name="Line 9"/>
            <p:cNvSpPr/>
            <p:nvPr/>
          </p:nvSpPr>
          <p:spPr>
            <a:xfrm flipH="1">
              <a:off x="702" y="1631"/>
              <a:ext cx="91" cy="136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334" name="Line 10"/>
            <p:cNvSpPr/>
            <p:nvPr/>
          </p:nvSpPr>
          <p:spPr>
            <a:xfrm>
              <a:off x="974" y="1631"/>
              <a:ext cx="46" cy="136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335" name="Line 11"/>
            <p:cNvSpPr/>
            <p:nvPr/>
          </p:nvSpPr>
          <p:spPr>
            <a:xfrm>
              <a:off x="1383" y="1178"/>
              <a:ext cx="181" cy="181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56325" name="Text Box 12"/>
          <p:cNvSpPr txBox="1"/>
          <p:nvPr/>
        </p:nvSpPr>
        <p:spPr>
          <a:xfrm>
            <a:off x="1087438" y="207963"/>
            <a:ext cx="6148387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latin typeface="Times New Roman" panose="02020603050405020304" pitchFamily="18" charset="0"/>
                <a:ea typeface="楷体_GB2312"/>
              </a:rPr>
              <a:t>中序遍历二叉树的非递归算法</a:t>
            </a:r>
            <a:endParaRPr lang="zh-CN" altLang="en-US" sz="36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41677" name="Text Box 13"/>
          <p:cNvSpPr txBox="1"/>
          <p:nvPr/>
        </p:nvSpPr>
        <p:spPr>
          <a:xfrm>
            <a:off x="3492500" y="1050925"/>
            <a:ext cx="5327650" cy="5092700"/>
          </a:xfrm>
          <a:prstGeom prst="rect">
            <a:avLst/>
          </a:prstGeom>
          <a:solidFill>
            <a:srgbClr val="CCFFFF">
              <a:alpha val="72156"/>
            </a:srgbClr>
          </a:solidFill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>
                <a:srgbClr val="006600"/>
              </a:buClr>
              <a:buFont typeface="Wingdings" panose="05000000000000000000" pitchFamily="2" charset="2"/>
              <a:buChar char="ü"/>
            </a:pPr>
            <a:r>
              <a:rPr lang="zh-CN" altLang="en-US" sz="3600" b="1" dirty="0">
                <a:solidFill>
                  <a:srgbClr val="993300"/>
                </a:solidFill>
                <a:latin typeface="宋体" panose="02010600030101010101" pitchFamily="2" charset="-122"/>
              </a:rPr>
              <a:t>根结点先进栈，左结点紧跟根后面进栈，右结点在根出栈后入栈；</a:t>
            </a:r>
            <a:endParaRPr lang="zh-CN" altLang="en-US" sz="3600" b="1" dirty="0">
              <a:solidFill>
                <a:srgbClr val="993300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>
                <a:srgbClr val="006600"/>
              </a:buClr>
              <a:buFont typeface="Wingdings" panose="05000000000000000000" pitchFamily="2" charset="2"/>
              <a:buChar char="ü"/>
            </a:pPr>
            <a:r>
              <a:rPr lang="zh-CN" altLang="en-US" sz="3600" b="1" dirty="0">
                <a:solidFill>
                  <a:srgbClr val="993300"/>
                </a:solidFill>
                <a:latin typeface="宋体" panose="02010600030101010101" pitchFamily="2" charset="-122"/>
              </a:rPr>
              <a:t>每个结点都要进一次和出一次栈，并且总是访问栈顶元素，因此，算法正确，时间复杂度</a:t>
            </a:r>
            <a:r>
              <a:rPr lang="en-US" altLang="zh-CN" sz="3600" b="1" dirty="0">
                <a:solidFill>
                  <a:srgbClr val="993300"/>
                </a:solidFill>
                <a:latin typeface="Times New Roman" panose="02020603050405020304" pitchFamily="18" charset="0"/>
              </a:rPr>
              <a:t>O(n)</a:t>
            </a:r>
            <a:r>
              <a:rPr lang="zh-CN" altLang="en-US" sz="3600" b="1" dirty="0">
                <a:solidFill>
                  <a:srgbClr val="993300"/>
                </a:solidFill>
                <a:latin typeface="Times New Roman" panose="02020603050405020304" pitchFamily="18" charset="0"/>
              </a:rPr>
              <a:t>。</a:t>
            </a:r>
            <a:endParaRPr lang="zh-CN" altLang="en-US" sz="3600" b="1" dirty="0">
              <a:solidFill>
                <a:srgbClr val="99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7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8" name="Text Box 2"/>
          <p:cNvSpPr txBox="1"/>
          <p:nvPr/>
        </p:nvSpPr>
        <p:spPr>
          <a:xfrm>
            <a:off x="692150" y="733425"/>
            <a:ext cx="7842250" cy="11906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     </a:t>
            </a:r>
            <a:r>
              <a:rPr lang="zh-CN" altLang="en-US" sz="3600" b="1" dirty="0">
                <a:solidFill>
                  <a:srgbClr val="0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以字符串的形式  </a:t>
            </a:r>
            <a:r>
              <a:rPr lang="zh-CN" altLang="en-US" sz="3600" b="1" dirty="0">
                <a:solidFill>
                  <a:srgbClr val="8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根 左子树 右子树</a:t>
            </a:r>
            <a:endParaRPr lang="zh-CN" altLang="en-US" sz="3600" b="1" dirty="0">
              <a:solidFill>
                <a:srgbClr val="00808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0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定义一棵二叉树</a:t>
            </a:r>
            <a:endParaRPr lang="zh-CN" altLang="en-US" sz="3600" b="1" dirty="0">
              <a:solidFill>
                <a:srgbClr val="00808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62147" name="Text Box 3"/>
          <p:cNvSpPr txBox="1"/>
          <p:nvPr/>
        </p:nvSpPr>
        <p:spPr>
          <a:xfrm>
            <a:off x="-15875" y="1939925"/>
            <a:ext cx="990600" cy="523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CC6600"/>
                </a:solidFill>
                <a:latin typeface="楷体_GB2312"/>
                <a:ea typeface="楷体_GB2312"/>
              </a:rPr>
              <a:t>例如</a:t>
            </a:r>
            <a:r>
              <a:rPr lang="en-US" altLang="zh-CN" sz="2800" dirty="0">
                <a:solidFill>
                  <a:srgbClr val="CC6600"/>
                </a:solidFill>
                <a:latin typeface="楷体_GB2312"/>
                <a:ea typeface="楷体_GB2312"/>
              </a:rPr>
              <a:t>: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 useBgFill="1">
        <p:nvSpPr>
          <p:cNvPr id="262148" name="Oval 4"/>
          <p:cNvSpPr/>
          <p:nvPr/>
        </p:nvSpPr>
        <p:spPr>
          <a:xfrm>
            <a:off x="1447800" y="4495800"/>
            <a:ext cx="485775" cy="461963"/>
          </a:xfrm>
          <a:prstGeom prst="ellipse">
            <a:avLst/>
          </a:prstGeom>
          <a:ln w="38100" cap="sq" cmpd="sng">
            <a:solidFill>
              <a:srgbClr val="008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 useBgFill="1">
        <p:nvSpPr>
          <p:cNvPr id="262149" name="Oval 5"/>
          <p:cNvSpPr/>
          <p:nvPr/>
        </p:nvSpPr>
        <p:spPr>
          <a:xfrm>
            <a:off x="381000" y="5289550"/>
            <a:ext cx="533400" cy="506413"/>
          </a:xfrm>
          <a:prstGeom prst="ellipse">
            <a:avLst/>
          </a:prstGeom>
          <a:ln w="38100" cap="sq" cmpd="sng">
            <a:solidFill>
              <a:srgbClr val="008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 useBgFill="1">
        <p:nvSpPr>
          <p:cNvPr id="262150" name="Oval 6"/>
          <p:cNvSpPr/>
          <p:nvPr/>
        </p:nvSpPr>
        <p:spPr>
          <a:xfrm>
            <a:off x="1219200" y="6019800"/>
            <a:ext cx="485775" cy="461963"/>
          </a:xfrm>
          <a:prstGeom prst="ellipse">
            <a:avLst/>
          </a:prstGeom>
          <a:ln w="38100" cap="sq" cmpd="sng">
            <a:solidFill>
              <a:srgbClr val="008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 useBgFill="1">
        <p:nvSpPr>
          <p:cNvPr id="262151" name="Oval 7"/>
          <p:cNvSpPr/>
          <p:nvPr/>
        </p:nvSpPr>
        <p:spPr>
          <a:xfrm>
            <a:off x="2514600" y="5289550"/>
            <a:ext cx="533400" cy="506413"/>
          </a:xfrm>
          <a:prstGeom prst="ellipse">
            <a:avLst/>
          </a:prstGeom>
          <a:ln w="38100" cap="sq" cmpd="sng">
            <a:solidFill>
              <a:srgbClr val="008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2152" name="Text Box 8"/>
          <p:cNvSpPr txBox="1"/>
          <p:nvPr/>
        </p:nvSpPr>
        <p:spPr>
          <a:xfrm>
            <a:off x="3394075" y="2052638"/>
            <a:ext cx="5029200" cy="5397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以空白字符“  ”表示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2153" name="Line 9"/>
          <p:cNvSpPr/>
          <p:nvPr/>
        </p:nvSpPr>
        <p:spPr>
          <a:xfrm flipH="1">
            <a:off x="609600" y="4729163"/>
            <a:ext cx="838200" cy="5334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54" name="Line 10"/>
          <p:cNvSpPr/>
          <p:nvPr/>
        </p:nvSpPr>
        <p:spPr>
          <a:xfrm>
            <a:off x="1905000" y="4729163"/>
            <a:ext cx="838200" cy="528637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55" name="Line 11"/>
          <p:cNvSpPr/>
          <p:nvPr/>
        </p:nvSpPr>
        <p:spPr>
          <a:xfrm>
            <a:off x="914400" y="5567363"/>
            <a:ext cx="533400" cy="452437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56" name="Text Box 12"/>
          <p:cNvSpPr txBox="1"/>
          <p:nvPr/>
        </p:nvSpPr>
        <p:spPr>
          <a:xfrm>
            <a:off x="3429000" y="5043488"/>
            <a:ext cx="6096000" cy="8239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A</a:t>
            </a:r>
            <a:r>
              <a:rPr lang="en-US" altLang="zh-CN" sz="4000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en-US" altLang="zh-CN" sz="40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B</a:t>
            </a:r>
            <a:r>
              <a:rPr lang="en-US" altLang="zh-CN" sz="4000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(   ,</a:t>
            </a:r>
            <a:r>
              <a:rPr lang="en-US" altLang="zh-CN" sz="40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4000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(   ,   )),</a:t>
            </a:r>
            <a:r>
              <a:rPr lang="en-US" altLang="zh-CN" sz="40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D</a:t>
            </a:r>
            <a:r>
              <a:rPr lang="en-US" altLang="zh-CN" sz="4000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(   ,   ))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2157" name="Rectangle 13"/>
          <p:cNvSpPr/>
          <p:nvPr/>
        </p:nvSpPr>
        <p:spPr>
          <a:xfrm>
            <a:off x="4572000" y="5334000"/>
            <a:ext cx="304800" cy="381000"/>
          </a:xfrm>
          <a:prstGeom prst="rect">
            <a:avLst/>
          </a:prstGeom>
          <a:solidFill>
            <a:srgbClr val="800000"/>
          </a:solidFill>
          <a:ln w="12700" cap="sq" cmpd="sng">
            <a:solidFill>
              <a:srgbClr val="80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2158" name="Rectangle 14"/>
          <p:cNvSpPr/>
          <p:nvPr/>
        </p:nvSpPr>
        <p:spPr>
          <a:xfrm>
            <a:off x="5638800" y="5334000"/>
            <a:ext cx="304800" cy="381000"/>
          </a:xfrm>
          <a:prstGeom prst="rect">
            <a:avLst/>
          </a:prstGeom>
          <a:solidFill>
            <a:srgbClr val="800000"/>
          </a:solidFill>
          <a:ln w="12700" cap="sq" cmpd="sng">
            <a:solidFill>
              <a:srgbClr val="80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2159" name="Rectangle 15"/>
          <p:cNvSpPr/>
          <p:nvPr/>
        </p:nvSpPr>
        <p:spPr>
          <a:xfrm>
            <a:off x="6172200" y="5334000"/>
            <a:ext cx="304800" cy="381000"/>
          </a:xfrm>
          <a:prstGeom prst="rect">
            <a:avLst/>
          </a:prstGeom>
          <a:solidFill>
            <a:srgbClr val="800000"/>
          </a:solidFill>
          <a:ln w="12700" cap="sq" cmpd="sng">
            <a:solidFill>
              <a:srgbClr val="80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2160" name="Rectangle 16"/>
          <p:cNvSpPr/>
          <p:nvPr/>
        </p:nvSpPr>
        <p:spPr>
          <a:xfrm>
            <a:off x="7543800" y="5334000"/>
            <a:ext cx="304800" cy="381000"/>
          </a:xfrm>
          <a:prstGeom prst="rect">
            <a:avLst/>
          </a:prstGeom>
          <a:solidFill>
            <a:srgbClr val="800000"/>
          </a:solidFill>
          <a:ln w="12700" cap="sq" cmpd="sng">
            <a:solidFill>
              <a:srgbClr val="80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2161" name="Rectangle 17"/>
          <p:cNvSpPr/>
          <p:nvPr/>
        </p:nvSpPr>
        <p:spPr>
          <a:xfrm>
            <a:off x="8077200" y="5334000"/>
            <a:ext cx="304800" cy="381000"/>
          </a:xfrm>
          <a:prstGeom prst="rect">
            <a:avLst/>
          </a:prstGeom>
          <a:solidFill>
            <a:srgbClr val="800000"/>
          </a:solidFill>
          <a:ln w="12700" cap="sq" cmpd="sng">
            <a:solidFill>
              <a:srgbClr val="80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2162" name="Rectangle 18"/>
          <p:cNvSpPr/>
          <p:nvPr/>
        </p:nvSpPr>
        <p:spPr>
          <a:xfrm>
            <a:off x="6019800" y="3006725"/>
            <a:ext cx="304800" cy="381000"/>
          </a:xfrm>
          <a:prstGeom prst="rect">
            <a:avLst/>
          </a:prstGeom>
          <a:solidFill>
            <a:srgbClr val="800000"/>
          </a:solidFill>
          <a:ln w="12700" cap="sq" cmpd="sng">
            <a:solidFill>
              <a:srgbClr val="80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2163" name="Rectangle 19"/>
          <p:cNvSpPr/>
          <p:nvPr/>
        </p:nvSpPr>
        <p:spPr>
          <a:xfrm>
            <a:off x="6396038" y="3001963"/>
            <a:ext cx="304800" cy="381000"/>
          </a:xfrm>
          <a:prstGeom prst="rect">
            <a:avLst/>
          </a:prstGeom>
          <a:solidFill>
            <a:srgbClr val="800000"/>
          </a:solidFill>
          <a:ln w="12700" cap="sq" cmpd="sng">
            <a:solidFill>
              <a:srgbClr val="80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2164" name="Rectangle 20"/>
          <p:cNvSpPr/>
          <p:nvPr/>
        </p:nvSpPr>
        <p:spPr>
          <a:xfrm>
            <a:off x="5638800" y="2201863"/>
            <a:ext cx="304800" cy="381000"/>
          </a:xfrm>
          <a:prstGeom prst="rect">
            <a:avLst/>
          </a:prstGeom>
          <a:solidFill>
            <a:srgbClr val="800000"/>
          </a:solidFill>
          <a:ln w="12700" cap="sq" cmpd="sng">
            <a:solidFill>
              <a:srgbClr val="80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2165" name="Line 21"/>
          <p:cNvSpPr/>
          <p:nvPr/>
        </p:nvSpPr>
        <p:spPr>
          <a:xfrm>
            <a:off x="4114800" y="5257800"/>
            <a:ext cx="2438400" cy="0"/>
          </a:xfrm>
          <a:prstGeom prst="line">
            <a:avLst/>
          </a:prstGeom>
          <a:ln w="38100" cap="sq" cmpd="sng">
            <a:solidFill>
              <a:srgbClr val="8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66" name="Line 22"/>
          <p:cNvSpPr/>
          <p:nvPr/>
        </p:nvSpPr>
        <p:spPr>
          <a:xfrm>
            <a:off x="6934200" y="5257800"/>
            <a:ext cx="1447800" cy="0"/>
          </a:xfrm>
          <a:prstGeom prst="line">
            <a:avLst/>
          </a:prstGeom>
          <a:ln w="38100" cap="sq" cmpd="sng">
            <a:solidFill>
              <a:srgbClr val="8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67" name="Text Box 23"/>
          <p:cNvSpPr txBox="1"/>
          <p:nvPr/>
        </p:nvSpPr>
        <p:spPr>
          <a:xfrm>
            <a:off x="1241425" y="1981200"/>
            <a:ext cx="1349375" cy="523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空树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62168" name="Text Box 24"/>
          <p:cNvSpPr txBox="1"/>
          <p:nvPr/>
        </p:nvSpPr>
        <p:spPr>
          <a:xfrm>
            <a:off x="228600" y="2863850"/>
            <a:ext cx="3635375" cy="95408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只含一个根结点的二叉树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 useBgFill="1">
        <p:nvSpPr>
          <p:cNvPr id="262169" name="Oval 25"/>
          <p:cNvSpPr/>
          <p:nvPr/>
        </p:nvSpPr>
        <p:spPr>
          <a:xfrm>
            <a:off x="2590800" y="3938588"/>
            <a:ext cx="485775" cy="461962"/>
          </a:xfrm>
          <a:prstGeom prst="ellipse">
            <a:avLst/>
          </a:prstGeom>
          <a:ln w="38100" cap="sq" cmpd="sng">
            <a:solidFill>
              <a:srgbClr val="00808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33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2170" name="Text Box 26"/>
          <p:cNvSpPr txBox="1"/>
          <p:nvPr/>
        </p:nvSpPr>
        <p:spPr>
          <a:xfrm>
            <a:off x="3883025" y="2922588"/>
            <a:ext cx="5562600" cy="5397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以字符串“</a:t>
            </a:r>
            <a:r>
              <a:rPr lang="en-US" altLang="zh-CN" sz="2800" b="1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    </a:t>
            </a:r>
            <a:r>
              <a:rPr lang="en-US" altLang="zh-CN" sz="2800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800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endParaRPr lang="zh-CN" altLang="en-US" sz="2800" dirty="0">
              <a:solidFill>
                <a:srgbClr val="CC66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2171" name="Text Box 27"/>
          <p:cNvSpPr txBox="1"/>
          <p:nvPr/>
        </p:nvSpPr>
        <p:spPr>
          <a:xfrm>
            <a:off x="3508375" y="4410075"/>
            <a:ext cx="5562600" cy="5397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CC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以下列字符串表示</a:t>
            </a:r>
            <a:endParaRPr lang="zh-CN" altLang="en-US" sz="2800" dirty="0">
              <a:solidFill>
                <a:srgbClr val="CC66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2172" name="Line 28"/>
          <p:cNvSpPr/>
          <p:nvPr/>
        </p:nvSpPr>
        <p:spPr>
          <a:xfrm>
            <a:off x="4572000" y="5791200"/>
            <a:ext cx="304800" cy="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73" name="Line 29"/>
          <p:cNvSpPr/>
          <p:nvPr/>
        </p:nvSpPr>
        <p:spPr>
          <a:xfrm>
            <a:off x="5181600" y="5791200"/>
            <a:ext cx="1295400" cy="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74" name="Line 30"/>
          <p:cNvSpPr/>
          <p:nvPr/>
        </p:nvSpPr>
        <p:spPr>
          <a:xfrm>
            <a:off x="7543800" y="5791200"/>
            <a:ext cx="304800" cy="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75" name="Line 31"/>
          <p:cNvSpPr/>
          <p:nvPr/>
        </p:nvSpPr>
        <p:spPr>
          <a:xfrm>
            <a:off x="8077200" y="5791200"/>
            <a:ext cx="304800" cy="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76" name="Line 32"/>
          <p:cNvSpPr/>
          <p:nvPr/>
        </p:nvSpPr>
        <p:spPr>
          <a:xfrm>
            <a:off x="5638800" y="5943600"/>
            <a:ext cx="304800" cy="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177" name="Line 33"/>
          <p:cNvSpPr/>
          <p:nvPr/>
        </p:nvSpPr>
        <p:spPr>
          <a:xfrm>
            <a:off x="6172200" y="5943600"/>
            <a:ext cx="304800" cy="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7380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" y="979488"/>
            <a:ext cx="304800" cy="304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81" name="文本框 37"/>
          <p:cNvSpPr txBox="1"/>
          <p:nvPr/>
        </p:nvSpPr>
        <p:spPr>
          <a:xfrm>
            <a:off x="173038" y="65088"/>
            <a:ext cx="483552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accent1"/>
                </a:solidFill>
                <a:latin typeface="楷体_GB2312"/>
                <a:ea typeface="楷体_GB2312"/>
              </a:rPr>
              <a:t>建立二叉树</a:t>
            </a:r>
            <a:endParaRPr lang="zh-CN" altLang="en-US" sz="36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2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2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2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2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2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2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2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2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2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2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26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"/>
                            </p:stCondLst>
                            <p:childTnLst>
                              <p:par>
                                <p:cTn id="4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"/>
                            </p:stCondLst>
                            <p:childTnLst>
                              <p:par>
                                <p:cTn id="4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2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62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62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62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500"/>
                            </p:stCondLst>
                            <p:childTnLst>
                              <p:par>
                                <p:cTn id="14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000"/>
                            </p:stCondLst>
                            <p:childTnLst>
                              <p:par>
                                <p:cTn id="14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62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62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62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62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62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62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62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62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62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62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62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62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62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62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62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62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62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62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62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62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62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62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262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62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6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6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62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62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6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6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62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62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/>
      <p:bldP spid="262148" grpId="0" animBg="1"/>
      <p:bldP spid="262149" grpId="0" animBg="1"/>
      <p:bldP spid="262150" grpId="0" animBg="1"/>
      <p:bldP spid="262151" grpId="0" animBg="1"/>
      <p:bldP spid="262152" grpId="0"/>
      <p:bldP spid="262156" grpId="0"/>
      <p:bldP spid="262167" grpId="0"/>
      <p:bldP spid="262168" grpId="0"/>
      <p:bldP spid="262169" grpId="0" animBg="1"/>
      <p:bldP spid="262170" grpId="0"/>
      <p:bldP spid="26217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Text Box 2"/>
          <p:cNvSpPr txBox="1"/>
          <p:nvPr/>
        </p:nvSpPr>
        <p:spPr>
          <a:xfrm>
            <a:off x="155575" y="152400"/>
            <a:ext cx="8759825" cy="65182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Status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CreateBiTree</a:t>
            </a:r>
            <a:r>
              <a:rPr lang="en-US" altLang="zh-CN" b="1" dirty="0">
                <a:solidFill>
                  <a:srgbClr val="008080"/>
                </a:solidFill>
                <a:latin typeface="Times New Roman" panose="02020603050405020304" pitchFamily="18" charset="0"/>
                <a:ea typeface="楷体_GB2312"/>
              </a:rPr>
              <a:t>(BiTree &amp;T)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{</a:t>
            </a:r>
            <a:endParaRPr lang="en-US" altLang="zh-CN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   scanf(&amp;ch);</a:t>
            </a:r>
            <a:endParaRPr lang="en-US" altLang="zh-CN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   if (ch==' ') T = NULL;</a:t>
            </a:r>
            <a:endParaRPr lang="en-US" altLang="zh-CN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   else {</a:t>
            </a:r>
            <a:endParaRPr lang="en-US" altLang="zh-CN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     if (!(T = (BiTNode *)malloc(sizeof(BiTNode))))</a:t>
            </a:r>
            <a:endParaRPr lang="en-US" altLang="zh-CN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       exit(OVERFLOW);</a:t>
            </a:r>
            <a:endParaRPr lang="en-US" altLang="zh-CN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     T-&gt;data = ch;              // </a:t>
            </a: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生成根结点</a:t>
            </a:r>
            <a:endParaRPr lang="zh-CN" altLang="en-US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CreateBiTree</a:t>
            </a:r>
            <a:r>
              <a:rPr lang="en-US" altLang="zh-CN" b="1" dirty="0">
                <a:solidFill>
                  <a:srgbClr val="008080"/>
                </a:solidFill>
                <a:latin typeface="Times New Roman" panose="02020603050405020304" pitchFamily="18" charset="0"/>
                <a:ea typeface="楷体_GB2312"/>
              </a:rPr>
              <a:t>(T-&gt;lchild)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;   // </a:t>
            </a: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构造左子树</a:t>
            </a:r>
            <a:endParaRPr lang="zh-CN" altLang="en-US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</a:rPr>
              <a:t>CreateBiTree</a:t>
            </a:r>
            <a:r>
              <a:rPr lang="en-US" altLang="zh-CN" b="1" dirty="0">
                <a:solidFill>
                  <a:srgbClr val="008080"/>
                </a:solidFill>
                <a:latin typeface="Times New Roman" panose="02020603050405020304" pitchFamily="18" charset="0"/>
                <a:ea typeface="楷体_GB2312"/>
              </a:rPr>
              <a:t>(T-&gt;rchild)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;   // </a:t>
            </a: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构造右子树</a:t>
            </a:r>
            <a:endParaRPr lang="zh-CN" altLang="en-US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}</a:t>
            </a:r>
            <a:endParaRPr lang="en-US" altLang="zh-CN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_GB2312"/>
              </a:rPr>
              <a:t>    return OK;  } // CreateBiTree</a:t>
            </a:r>
            <a:endParaRPr lang="en-US" altLang="zh-CN" b="1" dirty="0"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6" name="Text Box 2"/>
          <p:cNvSpPr txBox="1"/>
          <p:nvPr/>
        </p:nvSpPr>
        <p:spPr>
          <a:xfrm>
            <a:off x="1066800" y="914400"/>
            <a:ext cx="6096000" cy="8239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A  B </a:t>
            </a:r>
            <a:r>
              <a:rPr lang="en-US" altLang="zh-CN" sz="4000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en-US" altLang="zh-CN" sz="4000" b="1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4000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          </a:t>
            </a:r>
            <a:r>
              <a:rPr lang="en-US" altLang="zh-CN" sz="4000" b="1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D</a:t>
            </a:r>
            <a:r>
              <a:rPr lang="en-US" altLang="zh-CN" sz="4000" dirty="0">
                <a:solidFill>
                  <a:srgbClr val="FF9933"/>
                </a:solidFill>
                <a:latin typeface="Times New Roman" panose="02020603050405020304" pitchFamily="18" charset="0"/>
                <a:ea typeface="楷体_GB2312"/>
              </a:rPr>
              <a:t>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397" name="Rectangle 3"/>
          <p:cNvSpPr/>
          <p:nvPr/>
        </p:nvSpPr>
        <p:spPr>
          <a:xfrm>
            <a:off x="2286000" y="1143000"/>
            <a:ext cx="304800" cy="381000"/>
          </a:xfrm>
          <a:prstGeom prst="rect">
            <a:avLst/>
          </a:prstGeom>
          <a:solidFill>
            <a:srgbClr val="FF9933"/>
          </a:solidFill>
          <a:ln w="12700" cap="sq" cmpd="sng">
            <a:solidFill>
              <a:srgbClr val="FF99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398" name="Rectangle 4"/>
          <p:cNvSpPr/>
          <p:nvPr/>
        </p:nvSpPr>
        <p:spPr>
          <a:xfrm>
            <a:off x="3352800" y="1143000"/>
            <a:ext cx="304800" cy="381000"/>
          </a:xfrm>
          <a:prstGeom prst="rect">
            <a:avLst/>
          </a:prstGeom>
          <a:solidFill>
            <a:srgbClr val="FF9933"/>
          </a:solidFill>
          <a:ln w="12700" cap="sq" cmpd="sng">
            <a:solidFill>
              <a:srgbClr val="FF99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399" name="Rectangle 5"/>
          <p:cNvSpPr/>
          <p:nvPr/>
        </p:nvSpPr>
        <p:spPr>
          <a:xfrm>
            <a:off x="3886200" y="1143000"/>
            <a:ext cx="304800" cy="381000"/>
          </a:xfrm>
          <a:prstGeom prst="rect">
            <a:avLst/>
          </a:prstGeom>
          <a:solidFill>
            <a:srgbClr val="FF9933"/>
          </a:solidFill>
          <a:ln w="12700" cap="sq" cmpd="sng">
            <a:solidFill>
              <a:srgbClr val="FF99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400" name="Rectangle 6"/>
          <p:cNvSpPr/>
          <p:nvPr/>
        </p:nvSpPr>
        <p:spPr>
          <a:xfrm>
            <a:off x="4876800" y="1143000"/>
            <a:ext cx="304800" cy="381000"/>
          </a:xfrm>
          <a:prstGeom prst="rect">
            <a:avLst/>
          </a:prstGeom>
          <a:solidFill>
            <a:srgbClr val="FF9933"/>
          </a:solidFill>
          <a:ln w="12700" cap="sq" cmpd="sng">
            <a:solidFill>
              <a:srgbClr val="FF99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401" name="Rectangle 7"/>
          <p:cNvSpPr/>
          <p:nvPr/>
        </p:nvSpPr>
        <p:spPr>
          <a:xfrm>
            <a:off x="5410200" y="1143000"/>
            <a:ext cx="304800" cy="381000"/>
          </a:xfrm>
          <a:prstGeom prst="rect">
            <a:avLst/>
          </a:prstGeom>
          <a:solidFill>
            <a:srgbClr val="FF9933"/>
          </a:solidFill>
          <a:ln w="12700" cap="sq" cmpd="sng">
            <a:solidFill>
              <a:srgbClr val="FF9933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4200" name="Rectangle 8"/>
          <p:cNvSpPr/>
          <p:nvPr/>
        </p:nvSpPr>
        <p:spPr>
          <a:xfrm>
            <a:off x="2286000" y="1143000"/>
            <a:ext cx="304800" cy="381000"/>
          </a:xfrm>
          <a:prstGeom prst="rect">
            <a:avLst/>
          </a:prstGeom>
          <a:solidFill>
            <a:srgbClr val="FF3300"/>
          </a:solidFill>
          <a:ln w="12700" cap="sq" cmpd="sng">
            <a:solidFill>
              <a:srgbClr val="FF33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4201" name="Rectangle 9"/>
          <p:cNvSpPr/>
          <p:nvPr/>
        </p:nvSpPr>
        <p:spPr>
          <a:xfrm>
            <a:off x="3352800" y="1143000"/>
            <a:ext cx="304800" cy="381000"/>
          </a:xfrm>
          <a:prstGeom prst="rect">
            <a:avLst/>
          </a:prstGeom>
          <a:solidFill>
            <a:srgbClr val="FF3300"/>
          </a:solidFill>
          <a:ln w="12700" cap="sq" cmpd="sng">
            <a:solidFill>
              <a:srgbClr val="FF33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4202" name="Rectangle 10"/>
          <p:cNvSpPr/>
          <p:nvPr/>
        </p:nvSpPr>
        <p:spPr>
          <a:xfrm>
            <a:off x="3886200" y="1143000"/>
            <a:ext cx="304800" cy="381000"/>
          </a:xfrm>
          <a:prstGeom prst="rect">
            <a:avLst/>
          </a:prstGeom>
          <a:solidFill>
            <a:srgbClr val="FF3300"/>
          </a:solidFill>
          <a:ln w="12700" cap="sq" cmpd="sng">
            <a:solidFill>
              <a:srgbClr val="FF33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4204" name="Rectangle 12"/>
          <p:cNvSpPr/>
          <p:nvPr/>
        </p:nvSpPr>
        <p:spPr>
          <a:xfrm>
            <a:off x="5410200" y="1143000"/>
            <a:ext cx="304800" cy="381000"/>
          </a:xfrm>
          <a:prstGeom prst="rect">
            <a:avLst/>
          </a:prstGeom>
          <a:solidFill>
            <a:srgbClr val="FF3300"/>
          </a:solidFill>
          <a:ln w="12700" cap="sq" cmpd="sng">
            <a:solidFill>
              <a:srgbClr val="FF33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4205" name="Text Box 13"/>
          <p:cNvSpPr txBox="1"/>
          <p:nvPr/>
        </p:nvSpPr>
        <p:spPr>
          <a:xfrm>
            <a:off x="1066800" y="990600"/>
            <a:ext cx="550863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06" name="Text Box 14"/>
          <p:cNvSpPr txBox="1"/>
          <p:nvPr/>
        </p:nvSpPr>
        <p:spPr>
          <a:xfrm>
            <a:off x="1687513" y="990600"/>
            <a:ext cx="522287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07" name="Text Box 15"/>
          <p:cNvSpPr txBox="1"/>
          <p:nvPr/>
        </p:nvSpPr>
        <p:spPr>
          <a:xfrm>
            <a:off x="2667000" y="990600"/>
            <a:ext cx="550863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08" name="Text Box 16"/>
          <p:cNvSpPr txBox="1"/>
          <p:nvPr/>
        </p:nvSpPr>
        <p:spPr>
          <a:xfrm>
            <a:off x="4267200" y="990600"/>
            <a:ext cx="550863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59411" name="Text Box 17"/>
          <p:cNvSpPr txBox="1"/>
          <p:nvPr/>
        </p:nvSpPr>
        <p:spPr>
          <a:xfrm>
            <a:off x="365125" y="196850"/>
            <a:ext cx="6127750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dirty="0">
                <a:solidFill>
                  <a:srgbClr val="993366"/>
                </a:solidFill>
                <a:latin typeface="楷体_GB2312"/>
                <a:ea typeface="楷体_GB2312"/>
              </a:rPr>
              <a:t>上页算法执行过程举例如下：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64210" name="Text Box 18"/>
          <p:cNvSpPr txBox="1"/>
          <p:nvPr/>
        </p:nvSpPr>
        <p:spPr>
          <a:xfrm>
            <a:off x="3733800" y="2741613"/>
            <a:ext cx="1082675" cy="611187"/>
          </a:xfrm>
          <a:prstGeom prst="rect">
            <a:avLst/>
          </a:prstGeom>
          <a:solidFill>
            <a:srgbClr val="CAF2CE">
              <a:alpha val="50195"/>
            </a:srgbClr>
          </a:solidFill>
          <a:ln w="31750" cap="sq" cmpd="sng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11" name="Line 19"/>
          <p:cNvSpPr/>
          <p:nvPr/>
        </p:nvSpPr>
        <p:spPr>
          <a:xfrm flipH="1">
            <a:off x="4038600" y="2741613"/>
            <a:ext cx="0" cy="609600"/>
          </a:xfrm>
          <a:prstGeom prst="line">
            <a:avLst/>
          </a:prstGeom>
          <a:ln w="28575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12" name="Line 20"/>
          <p:cNvSpPr/>
          <p:nvPr/>
        </p:nvSpPr>
        <p:spPr>
          <a:xfrm>
            <a:off x="4495800" y="2741613"/>
            <a:ext cx="0" cy="609600"/>
          </a:xfrm>
          <a:prstGeom prst="line">
            <a:avLst/>
          </a:prstGeom>
          <a:ln w="28575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13" name="Line 21"/>
          <p:cNvSpPr/>
          <p:nvPr/>
        </p:nvSpPr>
        <p:spPr>
          <a:xfrm>
            <a:off x="3657600" y="2208213"/>
            <a:ext cx="609600" cy="5334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triangle" w="med" len="lg"/>
          </a:ln>
        </p:spPr>
      </p:sp>
      <p:sp>
        <p:nvSpPr>
          <p:cNvPr id="264214" name="Text Box 22"/>
          <p:cNvSpPr txBox="1"/>
          <p:nvPr/>
        </p:nvSpPr>
        <p:spPr>
          <a:xfrm>
            <a:off x="3244850" y="1828800"/>
            <a:ext cx="488950" cy="6413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15" name="Text Box 23"/>
          <p:cNvSpPr txBox="1"/>
          <p:nvPr/>
        </p:nvSpPr>
        <p:spPr>
          <a:xfrm>
            <a:off x="2209800" y="3886200"/>
            <a:ext cx="1082675" cy="611188"/>
          </a:xfrm>
          <a:prstGeom prst="rect">
            <a:avLst/>
          </a:prstGeom>
          <a:solidFill>
            <a:srgbClr val="CAF2CE">
              <a:alpha val="50195"/>
            </a:srgbClr>
          </a:solidFill>
          <a:ln w="31750" cap="sq" cmpd="sng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16" name="Line 24"/>
          <p:cNvSpPr/>
          <p:nvPr/>
        </p:nvSpPr>
        <p:spPr>
          <a:xfrm flipH="1">
            <a:off x="2514600" y="3886200"/>
            <a:ext cx="0" cy="609600"/>
          </a:xfrm>
          <a:prstGeom prst="line">
            <a:avLst/>
          </a:prstGeom>
          <a:ln w="28575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17" name="Line 25"/>
          <p:cNvSpPr/>
          <p:nvPr/>
        </p:nvSpPr>
        <p:spPr>
          <a:xfrm>
            <a:off x="2971800" y="3886200"/>
            <a:ext cx="0" cy="609600"/>
          </a:xfrm>
          <a:prstGeom prst="line">
            <a:avLst/>
          </a:prstGeom>
          <a:ln w="28575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18" name="Text Box 26"/>
          <p:cNvSpPr txBox="1"/>
          <p:nvPr/>
        </p:nvSpPr>
        <p:spPr>
          <a:xfrm>
            <a:off x="3505200" y="5029200"/>
            <a:ext cx="1082675" cy="611188"/>
          </a:xfrm>
          <a:prstGeom prst="rect">
            <a:avLst/>
          </a:prstGeom>
          <a:solidFill>
            <a:srgbClr val="CAF2CE">
              <a:alpha val="50195"/>
            </a:srgbClr>
          </a:solidFill>
          <a:ln w="31750" cap="sq" cmpd="sng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19" name="Line 27"/>
          <p:cNvSpPr/>
          <p:nvPr/>
        </p:nvSpPr>
        <p:spPr>
          <a:xfrm flipH="1">
            <a:off x="3810000" y="5029200"/>
            <a:ext cx="0" cy="609600"/>
          </a:xfrm>
          <a:prstGeom prst="line">
            <a:avLst/>
          </a:prstGeom>
          <a:ln w="28575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20" name="Line 28"/>
          <p:cNvSpPr/>
          <p:nvPr/>
        </p:nvSpPr>
        <p:spPr>
          <a:xfrm>
            <a:off x="4267200" y="5029200"/>
            <a:ext cx="0" cy="609600"/>
          </a:xfrm>
          <a:prstGeom prst="line">
            <a:avLst/>
          </a:prstGeom>
          <a:ln w="28575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21" name="Text Box 29"/>
          <p:cNvSpPr txBox="1"/>
          <p:nvPr/>
        </p:nvSpPr>
        <p:spPr>
          <a:xfrm>
            <a:off x="5257800" y="3886200"/>
            <a:ext cx="1082675" cy="611188"/>
          </a:xfrm>
          <a:prstGeom prst="rect">
            <a:avLst/>
          </a:prstGeom>
          <a:solidFill>
            <a:srgbClr val="CAF2CE">
              <a:alpha val="50195"/>
            </a:srgbClr>
          </a:solidFill>
          <a:ln w="31750" cap="sq" cmpd="sng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22" name="Line 30"/>
          <p:cNvSpPr/>
          <p:nvPr/>
        </p:nvSpPr>
        <p:spPr>
          <a:xfrm flipH="1">
            <a:off x="5562600" y="3886200"/>
            <a:ext cx="0" cy="609600"/>
          </a:xfrm>
          <a:prstGeom prst="line">
            <a:avLst/>
          </a:prstGeom>
          <a:ln w="28575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23" name="Line 31"/>
          <p:cNvSpPr/>
          <p:nvPr/>
        </p:nvSpPr>
        <p:spPr>
          <a:xfrm>
            <a:off x="6019800" y="3886200"/>
            <a:ext cx="0" cy="609600"/>
          </a:xfrm>
          <a:prstGeom prst="line">
            <a:avLst/>
          </a:prstGeom>
          <a:ln w="28575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24" name="Line 32"/>
          <p:cNvSpPr/>
          <p:nvPr/>
        </p:nvSpPr>
        <p:spPr>
          <a:xfrm flipH="1">
            <a:off x="2743200" y="3048000"/>
            <a:ext cx="1143000" cy="8382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med" len="lg"/>
          </a:ln>
        </p:spPr>
      </p:sp>
      <p:sp>
        <p:nvSpPr>
          <p:cNvPr id="264225" name="Text Box 33"/>
          <p:cNvSpPr txBox="1"/>
          <p:nvPr/>
        </p:nvSpPr>
        <p:spPr>
          <a:xfrm>
            <a:off x="2141538" y="3946525"/>
            <a:ext cx="479425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26" name="Line 34"/>
          <p:cNvSpPr/>
          <p:nvPr/>
        </p:nvSpPr>
        <p:spPr>
          <a:xfrm>
            <a:off x="3124200" y="4191000"/>
            <a:ext cx="914400" cy="8382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27" name="Text Box 35"/>
          <p:cNvSpPr txBox="1"/>
          <p:nvPr/>
        </p:nvSpPr>
        <p:spPr>
          <a:xfrm>
            <a:off x="3429000" y="5089525"/>
            <a:ext cx="479425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28" name="Text Box 36"/>
          <p:cNvSpPr txBox="1"/>
          <p:nvPr/>
        </p:nvSpPr>
        <p:spPr>
          <a:xfrm>
            <a:off x="4191000" y="5089525"/>
            <a:ext cx="479425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29" name="Line 37"/>
          <p:cNvSpPr/>
          <p:nvPr/>
        </p:nvSpPr>
        <p:spPr>
          <a:xfrm>
            <a:off x="4648200" y="3048000"/>
            <a:ext cx="1143000" cy="838200"/>
          </a:xfrm>
          <a:prstGeom prst="line">
            <a:avLst/>
          </a:prstGeom>
          <a:ln w="38100" cap="sq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4230" name="Text Box 38"/>
          <p:cNvSpPr txBox="1"/>
          <p:nvPr/>
        </p:nvSpPr>
        <p:spPr>
          <a:xfrm>
            <a:off x="5181600" y="3946525"/>
            <a:ext cx="479425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31" name="Text Box 39"/>
          <p:cNvSpPr txBox="1"/>
          <p:nvPr/>
        </p:nvSpPr>
        <p:spPr>
          <a:xfrm>
            <a:off x="5921375" y="3946525"/>
            <a:ext cx="479425" cy="7016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^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64203" name="Rectangle 11"/>
          <p:cNvSpPr/>
          <p:nvPr/>
        </p:nvSpPr>
        <p:spPr>
          <a:xfrm>
            <a:off x="4876800" y="1143000"/>
            <a:ext cx="304800" cy="381000"/>
          </a:xfrm>
          <a:prstGeom prst="rect">
            <a:avLst/>
          </a:prstGeom>
          <a:solidFill>
            <a:srgbClr val="FF3300"/>
          </a:solidFill>
          <a:ln w="12700" cap="sq" cmpd="sng">
            <a:solidFill>
              <a:srgbClr val="FF33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4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4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4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4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64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64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64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64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64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64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64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64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64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64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64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64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64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64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64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64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64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264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64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64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4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4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64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264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05" grpId="0"/>
      <p:bldP spid="264206" grpId="0"/>
      <p:bldP spid="264207" grpId="0"/>
      <p:bldP spid="264208" grpId="0"/>
      <p:bldP spid="264210" grpId="0" animBg="1"/>
      <p:bldP spid="264214" grpId="0"/>
      <p:bldP spid="264215" grpId="0" animBg="1"/>
      <p:bldP spid="264218" grpId="0" animBg="1"/>
      <p:bldP spid="264221" grpId="0" animBg="1"/>
      <p:bldP spid="264225" grpId="0"/>
      <p:bldP spid="264227" grpId="0"/>
      <p:bldP spid="264228" grpId="0"/>
      <p:bldP spid="264230" grpId="0"/>
      <p:bldP spid="26423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9248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特别讨论：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若已知先序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后序遍历结果和中序遍历结果，能否“恢复”出二叉树？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4979" name="Rectangle 3"/>
          <p:cNvSpPr>
            <a:spLocks noGrp="1"/>
          </p:cNvSpPr>
          <p:nvPr>
            <p:ph idx="1"/>
          </p:nvPr>
        </p:nvSpPr>
        <p:spPr>
          <a:xfrm>
            <a:off x="304800" y="1371600"/>
            <a:ext cx="8077200" cy="8382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【</a:t>
            </a:r>
            <a:r>
              <a:rPr lang="zh-CN" altLang="en-US" sz="2400" b="1" dirty="0">
                <a:solidFill>
                  <a:schemeClr val="accent2"/>
                </a:solidFill>
              </a:rPr>
              <a:t>严题集</a:t>
            </a:r>
            <a:r>
              <a:rPr lang="en-US" altLang="zh-CN" sz="2400" b="1" dirty="0">
                <a:solidFill>
                  <a:schemeClr val="accent2"/>
                </a:solidFill>
              </a:rPr>
              <a:t>6.31④】</a:t>
            </a:r>
            <a:r>
              <a:rPr lang="en-US" altLang="zh-CN" sz="2400" b="1" dirty="0"/>
              <a:t> </a:t>
            </a:r>
            <a:r>
              <a:rPr lang="zh-CN" altLang="en-US" sz="2400" b="1" dirty="0">
                <a:solidFill>
                  <a:schemeClr val="accent2"/>
                </a:solidFill>
              </a:rPr>
              <a:t>证明：由一棵二叉树的先序序列和中序序列可唯一确定这棵二叉树。</a:t>
            </a:r>
            <a:r>
              <a:rPr lang="zh-CN" altLang="en-US" sz="2400" dirty="0">
                <a:solidFill>
                  <a:schemeClr val="accent2"/>
                </a:solidFill>
              </a:rPr>
              <a:t> 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254980" name="Rectangle 4"/>
          <p:cNvSpPr/>
          <p:nvPr/>
        </p:nvSpPr>
        <p:spPr>
          <a:xfrm>
            <a:off x="228600" y="2286000"/>
            <a:ext cx="8686800" cy="3706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例：</a:t>
            </a:r>
            <a:r>
              <a:rPr lang="zh-CN" altLang="en-US" sz="2400" b="1" dirty="0">
                <a:latin typeface="Times New Roman" panose="02020603050405020304" pitchFamily="18" charset="0"/>
              </a:rPr>
              <a:t>已知一棵二叉树的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中序序列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后序序列</a:t>
            </a:r>
            <a:r>
              <a:rPr lang="zh-CN" altLang="en-US" sz="2400" b="1" dirty="0">
                <a:latin typeface="Times New Roman" panose="02020603050405020304" pitchFamily="18" charset="0"/>
              </a:rPr>
              <a:t>分别是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BDCEAFHG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DECBHGFA</a:t>
            </a:r>
            <a:r>
              <a:rPr lang="zh-CN" altLang="en-US" sz="2400" b="1" dirty="0">
                <a:latin typeface="Times New Roman" panose="02020603050405020304" pitchFamily="18" charset="0"/>
              </a:rPr>
              <a:t>，请画出这棵二叉树。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分析：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①由后序遍历特征，根结点必在后序序列尾部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（即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A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）</a:t>
            </a:r>
            <a:r>
              <a:rPr lang="zh-CN" altLang="en-US" sz="2400" b="1" dirty="0">
                <a:latin typeface="楷体_GB2312"/>
                <a:ea typeface="楷体_GB2312"/>
              </a:rPr>
              <a:t>；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②由中序遍历特征，根结点必在其中间，而且其左部必全部是左子树子孙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（即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BDCE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）</a:t>
            </a:r>
            <a:r>
              <a:rPr lang="zh-CN" altLang="en-US" sz="2400" b="1" dirty="0">
                <a:latin typeface="楷体_GB2312"/>
                <a:ea typeface="楷体_GB2312"/>
              </a:rPr>
              <a:t>，其右部必全部是右子树子孙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（即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FHG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）</a:t>
            </a:r>
            <a:r>
              <a:rPr lang="zh-CN" altLang="en-US" sz="2400" b="1" dirty="0">
                <a:latin typeface="楷体_GB2312"/>
                <a:ea typeface="楷体_GB2312"/>
              </a:rPr>
              <a:t>；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algn="just" eaLnBrk="1" hangingPunct="1">
              <a:spcBef>
                <a:spcPct val="3000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③继而，根据后序中的</a:t>
            </a:r>
            <a:r>
              <a:rPr lang="en-US" altLang="zh-CN" sz="2400" b="1" u="sng" dirty="0">
                <a:latin typeface="楷体_GB2312"/>
                <a:ea typeface="楷体_GB2312"/>
              </a:rPr>
              <a:t>DECB</a:t>
            </a:r>
            <a:r>
              <a:rPr lang="zh-CN" altLang="en-US" sz="2400" b="1" dirty="0">
                <a:latin typeface="楷体_GB2312"/>
                <a:ea typeface="楷体_GB2312"/>
              </a:rPr>
              <a:t>子树可确定</a:t>
            </a:r>
            <a:r>
              <a:rPr lang="en-US" altLang="zh-CN" sz="2400" b="1" dirty="0">
                <a:latin typeface="楷体_GB2312"/>
                <a:ea typeface="楷体_GB2312"/>
              </a:rPr>
              <a:t>B</a:t>
            </a:r>
            <a:r>
              <a:rPr lang="zh-CN" altLang="en-US" sz="2400" b="1" dirty="0">
                <a:latin typeface="楷体_GB2312"/>
                <a:ea typeface="楷体_GB2312"/>
              </a:rPr>
              <a:t>为</a:t>
            </a:r>
            <a:r>
              <a:rPr lang="en-US" altLang="zh-CN" sz="2400" b="1" dirty="0">
                <a:latin typeface="楷体_GB2312"/>
                <a:ea typeface="楷体_GB2312"/>
              </a:rPr>
              <a:t>A</a:t>
            </a:r>
            <a:r>
              <a:rPr lang="zh-CN" altLang="en-US" sz="2400" b="1" dirty="0">
                <a:latin typeface="楷体_GB2312"/>
                <a:ea typeface="楷体_GB2312"/>
              </a:rPr>
              <a:t>的左孩子，根据</a:t>
            </a:r>
            <a:r>
              <a:rPr lang="en-US" altLang="zh-CN" sz="2400" b="1" u="sng" dirty="0">
                <a:latin typeface="楷体_GB2312"/>
                <a:ea typeface="楷体_GB2312"/>
              </a:rPr>
              <a:t>HGF</a:t>
            </a:r>
            <a:r>
              <a:rPr lang="zh-CN" altLang="en-US" sz="2400" b="1" dirty="0">
                <a:latin typeface="楷体_GB2312"/>
                <a:ea typeface="楷体_GB2312"/>
              </a:rPr>
              <a:t>子串可确定</a:t>
            </a:r>
            <a:r>
              <a:rPr lang="en-US" altLang="zh-CN" sz="2400" b="1" dirty="0">
                <a:latin typeface="楷体_GB2312"/>
                <a:ea typeface="楷体_GB2312"/>
              </a:rPr>
              <a:t>F</a:t>
            </a:r>
            <a:r>
              <a:rPr lang="zh-CN" altLang="en-US" sz="2400" b="1" dirty="0">
                <a:latin typeface="楷体_GB2312"/>
                <a:ea typeface="楷体_GB2312"/>
              </a:rPr>
              <a:t>为</a:t>
            </a:r>
            <a:r>
              <a:rPr lang="en-US" altLang="zh-CN" sz="2400" b="1" dirty="0">
                <a:latin typeface="楷体_GB2312"/>
                <a:ea typeface="楷体_GB2312"/>
              </a:rPr>
              <a:t>A</a:t>
            </a:r>
            <a:r>
              <a:rPr lang="zh-CN" altLang="en-US" sz="2400" b="1" dirty="0">
                <a:latin typeface="楷体_GB2312"/>
                <a:ea typeface="楷体_GB2312"/>
              </a:rPr>
              <a:t>的右孩子；以此类推。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54981" name="AutoShape 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54980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charRg st="52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54980">
                                            <p:txEl>
                                              <p:charRg st="52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54980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charRg st="82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54980">
                                            <p:txEl>
                                              <p:charRg st="82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>
                                            <p:txEl>
                                              <p:charRg st="142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254980">
                                            <p:txEl>
                                              <p:charRg st="142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/>
      <p:bldP spid="254979" grpId="0" build="p"/>
      <p:bldP spid="254980" grpId="0" build="p"/>
      <p:bldP spid="25498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533400" y="304800"/>
            <a:ext cx="6096000" cy="1524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中序遍历：</a:t>
            </a:r>
            <a:r>
              <a:rPr lang="en-US" altLang="zh-CN" sz="2800" b="1" dirty="0">
                <a:solidFill>
                  <a:schemeClr val="tx1"/>
                </a:solidFill>
              </a:rPr>
              <a:t>B D C E A F H G</a:t>
            </a:r>
            <a:br>
              <a:rPr lang="en-US" altLang="zh-CN" sz="2800" b="1" dirty="0">
                <a:solidFill>
                  <a:schemeClr val="tx1"/>
                </a:solidFill>
              </a:rPr>
            </a:br>
            <a:br>
              <a:rPr lang="en-US" altLang="zh-CN" sz="2800" b="1" dirty="0">
                <a:solidFill>
                  <a:schemeClr val="tx1"/>
                </a:solidFill>
              </a:rPr>
            </a:br>
            <a:r>
              <a:rPr lang="zh-CN" altLang="en-US" sz="2800" b="1" dirty="0">
                <a:solidFill>
                  <a:schemeClr val="tx1"/>
                </a:solidFill>
              </a:rPr>
              <a:t>后序遍历：</a:t>
            </a:r>
            <a:r>
              <a:rPr lang="en-US" altLang="zh-CN" sz="2800" b="1" dirty="0">
                <a:solidFill>
                  <a:schemeClr val="tx1"/>
                </a:solidFill>
              </a:rPr>
              <a:t>D E C B H G F </a:t>
            </a:r>
            <a:r>
              <a:rPr lang="en-US" altLang="zh-CN" sz="2800" b="1" dirty="0">
                <a:solidFill>
                  <a:schemeClr val="accent1"/>
                </a:solidFill>
              </a:rPr>
              <a:t>A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256003" name="AutoShape 3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56004" name="Line 4"/>
          <p:cNvSpPr/>
          <p:nvPr/>
        </p:nvSpPr>
        <p:spPr>
          <a:xfrm>
            <a:off x="2438400" y="914400"/>
            <a:ext cx="1219200" cy="0"/>
          </a:xfrm>
          <a:prstGeom prst="line">
            <a:avLst/>
          </a:prstGeom>
          <a:ln w="222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05" name="Line 5"/>
          <p:cNvSpPr/>
          <p:nvPr/>
        </p:nvSpPr>
        <p:spPr>
          <a:xfrm>
            <a:off x="2438400" y="1752600"/>
            <a:ext cx="1219200" cy="0"/>
          </a:xfrm>
          <a:prstGeom prst="line">
            <a:avLst/>
          </a:prstGeom>
          <a:ln w="22225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06" name="Line 6"/>
          <p:cNvSpPr/>
          <p:nvPr/>
        </p:nvSpPr>
        <p:spPr>
          <a:xfrm>
            <a:off x="4114800" y="914400"/>
            <a:ext cx="914400" cy="0"/>
          </a:xfrm>
          <a:prstGeom prst="line">
            <a:avLst/>
          </a:prstGeom>
          <a:ln w="22225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07" name="Line 7"/>
          <p:cNvSpPr/>
          <p:nvPr/>
        </p:nvSpPr>
        <p:spPr>
          <a:xfrm>
            <a:off x="3810000" y="1752600"/>
            <a:ext cx="914400" cy="0"/>
          </a:xfrm>
          <a:prstGeom prst="line">
            <a:avLst/>
          </a:prstGeom>
          <a:ln w="22225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08" name="Rectangle 8"/>
          <p:cNvSpPr/>
          <p:nvPr/>
        </p:nvSpPr>
        <p:spPr>
          <a:xfrm>
            <a:off x="990600" y="4724400"/>
            <a:ext cx="21494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B D C E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09" name="Rectangle 9"/>
          <p:cNvSpPr/>
          <p:nvPr/>
        </p:nvSpPr>
        <p:spPr>
          <a:xfrm>
            <a:off x="4648200" y="4738688"/>
            <a:ext cx="19319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F H G</a:t>
            </a:r>
            <a:r>
              <a:rPr lang="zh-CN" altLang="en-US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0" name="Rectangle 10"/>
          <p:cNvSpPr/>
          <p:nvPr/>
        </p:nvSpPr>
        <p:spPr>
          <a:xfrm>
            <a:off x="3581400" y="1981200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A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1" name="Rectangle 11"/>
          <p:cNvSpPr/>
          <p:nvPr/>
        </p:nvSpPr>
        <p:spPr>
          <a:xfrm>
            <a:off x="2819400" y="2667000"/>
            <a:ext cx="4556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B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2" name="Rectangle 12"/>
          <p:cNvSpPr/>
          <p:nvPr/>
        </p:nvSpPr>
        <p:spPr>
          <a:xfrm>
            <a:off x="4343400" y="2667000"/>
            <a:ext cx="4318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F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3" name="Rectangle 13"/>
          <p:cNvSpPr/>
          <p:nvPr/>
        </p:nvSpPr>
        <p:spPr>
          <a:xfrm>
            <a:off x="1143000" y="4800600"/>
            <a:ext cx="29718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D C E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4" name="Rectangle 14"/>
          <p:cNvSpPr/>
          <p:nvPr/>
        </p:nvSpPr>
        <p:spPr>
          <a:xfrm>
            <a:off x="4419600" y="4800600"/>
            <a:ext cx="19812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H G</a:t>
            </a:r>
            <a:r>
              <a:rPr lang="zh-CN" altLang="en-US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5" name="Rectangle 15"/>
          <p:cNvSpPr/>
          <p:nvPr/>
        </p:nvSpPr>
        <p:spPr>
          <a:xfrm>
            <a:off x="3124200" y="3352800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C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6" name="Rectangle 16"/>
          <p:cNvSpPr/>
          <p:nvPr/>
        </p:nvSpPr>
        <p:spPr>
          <a:xfrm>
            <a:off x="2743200" y="3962400"/>
            <a:ext cx="12573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D     E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7" name="Rectangle 17"/>
          <p:cNvSpPr/>
          <p:nvPr/>
        </p:nvSpPr>
        <p:spPr>
          <a:xfrm>
            <a:off x="4910138" y="3352800"/>
            <a:ext cx="500062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G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8" name="Rectangle 18"/>
          <p:cNvSpPr/>
          <p:nvPr/>
        </p:nvSpPr>
        <p:spPr>
          <a:xfrm>
            <a:off x="4267200" y="3962400"/>
            <a:ext cx="5000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H</a:t>
            </a:r>
            <a:endParaRPr lang="en-US" altLang="zh-CN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9" name="Line 19"/>
          <p:cNvSpPr/>
          <p:nvPr/>
        </p:nvSpPr>
        <p:spPr>
          <a:xfrm flipH="1">
            <a:off x="3200400" y="2438400"/>
            <a:ext cx="457200" cy="3810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20" name="Line 20"/>
          <p:cNvSpPr/>
          <p:nvPr/>
        </p:nvSpPr>
        <p:spPr>
          <a:xfrm flipH="1">
            <a:off x="2895600" y="3810000"/>
            <a:ext cx="381000" cy="3048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21" name="Line 21"/>
          <p:cNvSpPr/>
          <p:nvPr/>
        </p:nvSpPr>
        <p:spPr>
          <a:xfrm flipH="1">
            <a:off x="4724400" y="3810000"/>
            <a:ext cx="304800" cy="3810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22" name="Line 22"/>
          <p:cNvSpPr/>
          <p:nvPr/>
        </p:nvSpPr>
        <p:spPr>
          <a:xfrm>
            <a:off x="3962400" y="2438400"/>
            <a:ext cx="457200" cy="3810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23" name="Line 23"/>
          <p:cNvSpPr/>
          <p:nvPr/>
        </p:nvSpPr>
        <p:spPr>
          <a:xfrm>
            <a:off x="4648200" y="3048000"/>
            <a:ext cx="457200" cy="3810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24" name="Line 24"/>
          <p:cNvSpPr/>
          <p:nvPr/>
        </p:nvSpPr>
        <p:spPr>
          <a:xfrm>
            <a:off x="3124200" y="3124200"/>
            <a:ext cx="152400" cy="3810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25" name="Line 25"/>
          <p:cNvSpPr/>
          <p:nvPr/>
        </p:nvSpPr>
        <p:spPr>
          <a:xfrm>
            <a:off x="3505200" y="3810000"/>
            <a:ext cx="228600" cy="3048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26" name="Rectangle 26"/>
          <p:cNvSpPr/>
          <p:nvPr/>
        </p:nvSpPr>
        <p:spPr>
          <a:xfrm>
            <a:off x="3673475" y="3810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A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27" name="Rectangle 27"/>
          <p:cNvSpPr/>
          <p:nvPr/>
        </p:nvSpPr>
        <p:spPr>
          <a:xfrm>
            <a:off x="3352800" y="12334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28" name="Rectangle 28"/>
          <p:cNvSpPr/>
          <p:nvPr/>
        </p:nvSpPr>
        <p:spPr>
          <a:xfrm>
            <a:off x="2362200" y="38100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endParaRPr lang="en-US" altLang="zh-CN" sz="28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29" name="Rectangle 29"/>
          <p:cNvSpPr/>
          <p:nvPr/>
        </p:nvSpPr>
        <p:spPr>
          <a:xfrm>
            <a:off x="4398963" y="1233488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F</a:t>
            </a:r>
            <a:endParaRPr lang="en-US" altLang="zh-CN" sz="2800" b="1" dirty="0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0" name="Rectangle 30"/>
          <p:cNvSpPr/>
          <p:nvPr/>
        </p:nvSpPr>
        <p:spPr>
          <a:xfrm>
            <a:off x="4017963" y="381000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F</a:t>
            </a:r>
            <a:endParaRPr lang="en-US" altLang="zh-CN" sz="2800" b="1" dirty="0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3" grpId="0" animBg="1"/>
      <p:bldP spid="256008" grpId="0"/>
      <p:bldP spid="256009" grpId="0"/>
      <p:bldP spid="256010" grpId="0"/>
      <p:bldP spid="256011" grpId="0"/>
      <p:bldP spid="256012" grpId="0"/>
      <p:bldP spid="256013" grpId="0" animBg="1"/>
      <p:bldP spid="256014" grpId="0" animBg="1"/>
      <p:bldP spid="256015" grpId="0"/>
      <p:bldP spid="256016" grpId="0"/>
      <p:bldP spid="256017" grpId="0"/>
      <p:bldP spid="256018" grpId="0"/>
      <p:bldP spid="256026" grpId="0"/>
      <p:bldP spid="256027" grpId="0"/>
      <p:bldP spid="256028" grpId="0"/>
      <p:bldP spid="256029" grpId="0"/>
      <p:bldP spid="2560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矩形 2"/>
          <p:cNvSpPr/>
          <p:nvPr/>
        </p:nvSpPr>
        <p:spPr>
          <a:xfrm>
            <a:off x="3419872" y="188639"/>
            <a:ext cx="2242922" cy="707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1" u="none" strike="noStrike" kern="1200" cap="none" spc="0" normalizeH="0" baseline="0" noProof="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课堂练习</a:t>
            </a:r>
            <a:endParaRPr kumimoji="0" lang="zh-CN" altLang="en-US" sz="4000" b="1" i="1" u="none" strike="noStrike" kern="1200" cap="none" spc="0" normalizeH="0" baseline="0" noProof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0825" y="965200"/>
            <a:ext cx="8713788" cy="52625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1.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已知一算术表达式的中缀形式为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A+B*C-D/E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，后缀形式为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ABC*+DE/-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，其前缀形式为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   )</a:t>
            </a:r>
            <a:endParaRPr kumimoji="1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A</a:t>
            </a:r>
            <a:r>
              <a:rPr kumimoji="1" lang="zh-CN" alt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-A+B*C/DE           B. -A+B*CD/E      </a:t>
            </a:r>
            <a:b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</a:b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</a:t>
            </a:r>
            <a:r>
              <a:rPr kumimoji="1" lang="zh-CN" alt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-+*ABC/DE           D. -+A*BC/DE </a:t>
            </a:r>
            <a:endParaRPr kumimoji="1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endParaRPr kumimoji="1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2.</a:t>
            </a:r>
            <a:r>
              <a:rPr kumimoji="1" lang="zh-CN" alt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设树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，其中度为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的结点个数分别为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中的叶子数为（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          B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6         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7           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8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fr-FR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3.</a:t>
            </a:r>
            <a:r>
              <a:rPr kumimoji="1" lang="zh-CN" alt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若一棵二叉树具有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10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的结点，则度为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的结点个数是（ ）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9         B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11         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15       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．不确定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一棵完全二叉树上有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1001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个结点，其中叶子结点的个数是（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250   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500    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254     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505      E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．以上答案都不对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内容占位符 2"/>
          <p:cNvSpPr txBox="1"/>
          <p:nvPr/>
        </p:nvSpPr>
        <p:spPr>
          <a:xfrm>
            <a:off x="142875" y="285750"/>
            <a:ext cx="8786813" cy="3214688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5.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对于有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个结点的二叉树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,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其高度为（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）</a:t>
            </a:r>
            <a:endParaRPr kumimoji="0" lang="zh-CN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 A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nlog</a:t>
            </a:r>
            <a:r>
              <a:rPr kumimoji="0" lang="en-US" altLang="zh-CN" sz="2800" kern="0" cap="none" spc="0" normalizeH="0" baseline="-25000" noProof="0" dirty="0"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    B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log</a:t>
            </a:r>
            <a:r>
              <a:rPr kumimoji="0" lang="en-US" altLang="zh-CN" sz="2800" kern="0" cap="none" spc="0" normalizeH="0" baseline="-25000" noProof="0" dirty="0"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     C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  <a:sym typeface="Symbol" panose="05050102010706020507" pitchFamily="18" charset="2"/>
              </a:rPr>
              <a:t>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log</a:t>
            </a:r>
            <a:r>
              <a:rPr kumimoji="0" lang="en-US" altLang="zh-CN" sz="2800" kern="0" cap="none" spc="0" normalizeH="0" baseline="-25000" noProof="0" dirty="0"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  <a:sym typeface="Symbol" panose="05050102010706020507" pitchFamily="18" charset="2"/>
              </a:rPr>
              <a:t>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|+1   D.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不确定</a:t>
            </a:r>
            <a:endParaRPr kumimoji="0" lang="en-US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6.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已知一棵二叉树的前序遍历结果为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ABCDEF,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中序遍历结果为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CBAEDF,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则后序遍历的结果为（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）。</a:t>
            </a:r>
            <a:endParaRPr kumimoji="0" lang="zh-CN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A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CBEFDA        B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FEDCBA      </a:t>
            </a:r>
            <a:endParaRPr kumimoji="0" lang="en-US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C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CBEDFA       D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．不定</a:t>
            </a:r>
            <a:endParaRPr kumimoji="0" lang="zh-CN" altLang="en-US" sz="28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7026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10668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/>
              <a:t>问：</a:t>
            </a:r>
            <a:r>
              <a:rPr lang="zh-CN" altLang="en-US" sz="2400" b="1" dirty="0">
                <a:solidFill>
                  <a:schemeClr val="accent1"/>
                </a:solidFill>
              </a:rPr>
              <a:t>用二叉链表法（</a:t>
            </a:r>
            <a:r>
              <a:rPr lang="en-US" altLang="zh-CN" sz="2400" b="1" dirty="0">
                <a:solidFill>
                  <a:schemeClr val="accent1"/>
                </a:solidFill>
              </a:rPr>
              <a:t>l_child, r_child</a:t>
            </a:r>
            <a:r>
              <a:rPr lang="zh-CN" altLang="en-US" sz="2400" b="1" dirty="0">
                <a:solidFill>
                  <a:schemeClr val="accent1"/>
                </a:solidFill>
              </a:rPr>
              <a:t>）存储包含</a:t>
            </a:r>
            <a:r>
              <a:rPr lang="en-US" altLang="zh-CN" sz="2400" b="1" dirty="0">
                <a:solidFill>
                  <a:schemeClr val="accent1"/>
                </a:solidFill>
              </a:rPr>
              <a:t>n</a:t>
            </a:r>
            <a:r>
              <a:rPr lang="zh-CN" altLang="en-US" sz="2400" b="1" dirty="0">
                <a:solidFill>
                  <a:schemeClr val="accent1"/>
                </a:solidFill>
              </a:rPr>
              <a:t>个结点的二叉树，结点的指针区域中会有多少个空指针？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257027" name="Rectangle 3"/>
          <p:cNvSpPr>
            <a:spLocks noGrp="1"/>
          </p:cNvSpPr>
          <p:nvPr>
            <p:ph idx="1"/>
          </p:nvPr>
        </p:nvSpPr>
        <p:spPr>
          <a:xfrm>
            <a:off x="228600" y="1295400"/>
            <a:ext cx="8305800" cy="2057400"/>
          </a:xfrm>
        </p:spPr>
        <p:txBody>
          <a:bodyPr vert="horz" wrap="square" lIns="91440" tIns="45720" rIns="91440" bIns="45720" anchor="t" anchorCtr="0"/>
          <a:p>
            <a:pPr marL="0" indent="0" algn="just" defTabSz="914400" eaLnBrk="1" hangingPunct="1">
              <a:buNone/>
              <a:tabLst>
                <a:tab pos="666750" algn="l"/>
              </a:tabLst>
            </a:pPr>
            <a:r>
              <a:rPr lang="zh-CN" altLang="en-US" sz="2800" b="1" dirty="0">
                <a:solidFill>
                  <a:schemeClr val="tx2"/>
                </a:solidFill>
              </a:rPr>
              <a:t>分析：</a:t>
            </a:r>
            <a:r>
              <a:rPr lang="zh-CN" altLang="en-US" sz="2400" b="1" dirty="0">
                <a:latin typeface="楷体_GB2312"/>
                <a:ea typeface="楷体_GB2312"/>
              </a:rPr>
              <a:t>用二叉链表存储包含</a:t>
            </a:r>
            <a:r>
              <a:rPr lang="en-US" altLang="zh-CN" sz="2400" b="1" dirty="0">
                <a:latin typeface="楷体_GB2312"/>
                <a:ea typeface="楷体_GB2312"/>
              </a:rPr>
              <a:t>n</a:t>
            </a:r>
            <a:r>
              <a:rPr lang="zh-CN" altLang="en-US" sz="2400" b="1" dirty="0">
                <a:latin typeface="楷体_GB2312"/>
                <a:ea typeface="楷体_GB2312"/>
              </a:rPr>
              <a:t>个结点的二叉树，结点必有</a:t>
            </a:r>
            <a:r>
              <a:rPr lang="en-US" altLang="zh-CN" sz="2800" b="1" dirty="0">
                <a:solidFill>
                  <a:srgbClr val="66FF33"/>
                </a:solidFill>
                <a:ea typeface="楷体_GB2312"/>
              </a:rPr>
              <a:t>2n</a:t>
            </a:r>
            <a:r>
              <a:rPr lang="zh-CN" altLang="en-US" sz="2400" b="1" dirty="0">
                <a:latin typeface="楷体_GB2312"/>
                <a:ea typeface="楷体_GB2312"/>
              </a:rPr>
              <a:t>个链域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（见二叉链表数据类型说明）</a:t>
            </a:r>
            <a:r>
              <a:rPr lang="zh-CN" altLang="en-US" sz="2400" b="1" dirty="0">
                <a:latin typeface="楷体_GB2312"/>
                <a:ea typeface="楷体_GB2312"/>
              </a:rPr>
              <a:t>。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indent="0" algn="just" defTabSz="914400" eaLnBrk="1" hangingPunct="1">
              <a:buNone/>
              <a:tabLst>
                <a:tab pos="666750" algn="l"/>
              </a:tabLst>
            </a:pPr>
            <a:r>
              <a:rPr lang="zh-CN" altLang="en-US" sz="2400" b="1" dirty="0">
                <a:latin typeface="楷体_GB2312"/>
                <a:ea typeface="楷体_GB2312"/>
              </a:rPr>
              <a:t>	除根结点外，二叉树中每一个结点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有且仅有一个双亲</a:t>
            </a:r>
            <a:r>
              <a:rPr lang="zh-CN" altLang="en-US" sz="2400" b="1" dirty="0">
                <a:latin typeface="楷体_GB2312"/>
                <a:ea typeface="楷体_GB2312"/>
              </a:rPr>
              <a:t>（直接前驱），所以只会有</a:t>
            </a:r>
            <a:r>
              <a: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rPr>
              <a:t>n</a:t>
            </a:r>
            <a:r>
              <a:rPr lang="zh-CN" altLang="en-US" sz="2400" b="1" dirty="0">
                <a:solidFill>
                  <a:srgbClr val="66FF33"/>
                </a:solidFill>
                <a:latin typeface="楷体_GB2312"/>
                <a:ea typeface="楷体_GB2312"/>
              </a:rPr>
              <a:t>－</a:t>
            </a:r>
            <a:r>
              <a: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rPr>
              <a:t>1</a:t>
            </a:r>
            <a:r>
              <a:rPr lang="zh-CN" altLang="en-US" sz="2400" b="1" dirty="0">
                <a:latin typeface="楷体_GB2312"/>
                <a:ea typeface="楷体_GB2312"/>
              </a:rPr>
              <a:t>个结点的链域存放指针，指向非空子女结点（即直接后继）。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57028" name="Rectangle 4"/>
          <p:cNvSpPr/>
          <p:nvPr/>
        </p:nvSpPr>
        <p:spPr>
          <a:xfrm>
            <a:off x="304800" y="3962400"/>
            <a:ext cx="8305800" cy="1625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思考：</a:t>
            </a:r>
            <a:r>
              <a:rPr lang="zh-CN" altLang="en-US" sz="2400" b="1" dirty="0"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</a:rPr>
              <a:t>二叉链表空间效率这么低，能否利用这些空闲区存放有用的信息或线索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？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我们可以用它来存放当前结点的直接前驱和后继等线索，以加快查找速度。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57029" name="AutoShape 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57030" name="Rectangle 6"/>
          <p:cNvSpPr/>
          <p:nvPr/>
        </p:nvSpPr>
        <p:spPr>
          <a:xfrm>
            <a:off x="914400" y="3429000"/>
            <a:ext cx="5899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所以， 空指针数目＝</a:t>
            </a: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2n</a:t>
            </a:r>
            <a:r>
              <a:rPr lang="zh-CN" altLang="en-US" sz="2800" b="1" dirty="0">
                <a:latin typeface="Times New Roman" panose="02020603050405020304" pitchFamily="18" charset="0"/>
              </a:rPr>
              <a:t>－</a:t>
            </a: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(n-1)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n+1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个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57031" name="AutoShape 7"/>
          <p:cNvSpPr/>
          <p:nvPr/>
        </p:nvSpPr>
        <p:spPr>
          <a:xfrm>
            <a:off x="7620000" y="838200"/>
            <a:ext cx="1066800" cy="381000"/>
          </a:xfrm>
          <a:prstGeom prst="wedgeRoundRectCallout">
            <a:avLst>
              <a:gd name="adj1" fmla="val -101486"/>
              <a:gd name="adj2" fmla="val -1541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n+1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7026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7027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charRg st="4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7027">
                                            <p:txEl>
                                              <p:charRg st="45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7028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>
                                            <p:txEl>
                                              <p:charRg st="36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7028">
                                            <p:txEl>
                                              <p:charRg st="36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6" grpId="0" advAuto="1000" build="p"/>
      <p:bldP spid="257027" grpId="0" build="p"/>
      <p:bldP spid="257028" grpId="0" build="p"/>
      <p:bldP spid="257029" grpId="0" animBg="1"/>
      <p:bldP spid="257030" grpId="0"/>
      <p:bldP spid="25703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724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>
                <a:solidFill>
                  <a:schemeClr val="accent1"/>
                </a:solidFill>
                <a:ea typeface="黑体" panose="02010609060101010101" pitchFamily="49" charset="-122"/>
              </a:rPr>
              <a:t>二、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线索二叉树</a:t>
            </a:r>
            <a:r>
              <a:rPr lang="zh-CN" altLang="en-US" sz="2400" b="1" dirty="0">
                <a:solidFill>
                  <a:schemeClr val="accent1"/>
                </a:solidFill>
              </a:rPr>
              <a:t>（</a:t>
            </a:r>
            <a:r>
              <a:rPr lang="en-US" altLang="zh-CN" sz="2400" b="1" dirty="0">
                <a:solidFill>
                  <a:schemeClr val="accent1"/>
                </a:solidFill>
              </a:rPr>
              <a:t>Threaded Binary Tree</a:t>
            </a:r>
            <a:r>
              <a:rPr lang="zh-CN" altLang="en-US" sz="2400" b="1" dirty="0">
                <a:solidFill>
                  <a:schemeClr val="accent1"/>
                </a:solidFill>
              </a:rPr>
              <a:t>）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275459" name="Rectangle 3"/>
          <p:cNvSpPr/>
          <p:nvPr/>
        </p:nvSpPr>
        <p:spPr>
          <a:xfrm>
            <a:off x="228600" y="1295400"/>
            <a:ext cx="8507413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66675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普通二叉树只能找到结点的左右孩子信息，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而该结点的直接前驱和直接后继只能在遍历过程中获得。</a:t>
            </a:r>
            <a:endParaRPr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66675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若将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遍历后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对应的有关前驱和后继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预存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起来，则从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第一个结点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开始就能很快“顺藤摸瓜”而遍历整个树了。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81000" y="4287838"/>
            <a:ext cx="6138863" cy="1579562"/>
            <a:chOff x="240" y="2768"/>
            <a:chExt cx="3867" cy="995"/>
          </a:xfrm>
        </p:grpSpPr>
        <p:sp>
          <p:nvSpPr>
            <p:cNvPr id="65549" name="Rectangle 5"/>
            <p:cNvSpPr/>
            <p:nvPr/>
          </p:nvSpPr>
          <p:spPr>
            <a:xfrm>
              <a:off x="240" y="3105"/>
              <a:ext cx="14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楷体_GB2312"/>
                </a:rPr>
                <a:t>两种解决方法：</a:t>
              </a:r>
              <a:endParaRPr lang="zh-CN" altLang="en-US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65550" name="Rectangle 6"/>
            <p:cNvSpPr/>
            <p:nvPr/>
          </p:nvSpPr>
          <p:spPr>
            <a:xfrm>
              <a:off x="1776" y="2768"/>
              <a:ext cx="23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楷体_GB2312"/>
                </a:rPr>
                <a:t>增加两个域：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_GB2312"/>
                </a:rPr>
                <a:t>fwd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_GB2312"/>
                </a:rPr>
                <a:t>和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_GB2312"/>
                </a:rPr>
                <a:t>bwd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_GB2312"/>
                </a:rPr>
                <a:t>；</a:t>
              </a:r>
              <a:endParaRPr lang="zh-CN" altLang="en-US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65551" name="Rectangle 7"/>
            <p:cNvSpPr/>
            <p:nvPr/>
          </p:nvSpPr>
          <p:spPr>
            <a:xfrm>
              <a:off x="1824" y="3475"/>
              <a:ext cx="1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rgbClr val="66FF33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65552" name="AutoShape 8"/>
            <p:cNvSpPr/>
            <p:nvPr/>
          </p:nvSpPr>
          <p:spPr>
            <a:xfrm>
              <a:off x="1728" y="2880"/>
              <a:ext cx="48" cy="672"/>
            </a:xfrm>
            <a:prstGeom prst="leftBrace">
              <a:avLst>
                <a:gd name="adj1" fmla="val 116666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275465" name="AutoShape 9">
            <a:hlinkClick r:id="" action="ppaction://hlinkshowjump?jump=nextslide"/>
          </p:cNvPr>
          <p:cNvSpPr/>
          <p:nvPr/>
        </p:nvSpPr>
        <p:spPr>
          <a:xfrm>
            <a:off x="80010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5466" name="AutoShape 10"/>
          <p:cNvSpPr/>
          <p:nvPr/>
        </p:nvSpPr>
        <p:spPr>
          <a:xfrm flipH="1">
            <a:off x="6248400" y="3962400"/>
            <a:ext cx="1752600" cy="381000"/>
          </a:xfrm>
          <a:prstGeom prst="wedgeRoundRectCallout">
            <a:avLst>
              <a:gd name="adj1" fmla="val 117569"/>
              <a:gd name="adj2" fmla="val 7707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存放前驱指针</a:t>
            </a:r>
            <a:endParaRPr lang="zh-CN" altLang="en-US" sz="18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5467" name="AutoShape 11"/>
          <p:cNvSpPr/>
          <p:nvPr/>
        </p:nvSpPr>
        <p:spPr>
          <a:xfrm>
            <a:off x="6858000" y="4648200"/>
            <a:ext cx="1828800" cy="381000"/>
          </a:xfrm>
          <a:prstGeom prst="wedgeRoundRectCallout">
            <a:avLst>
              <a:gd name="adj1" fmla="val -96963"/>
              <a:gd name="adj2" fmla="val -4541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存放后继指针</a:t>
            </a:r>
            <a:endParaRPr lang="zh-CN" altLang="en-US" sz="18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5468" name="Rectangle 12"/>
          <p:cNvSpPr/>
          <p:nvPr/>
        </p:nvSpPr>
        <p:spPr>
          <a:xfrm>
            <a:off x="323850" y="3789363"/>
            <a:ext cx="29416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如何预存这类信息？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75469" name="Rectangle 13"/>
          <p:cNvSpPr/>
          <p:nvPr/>
        </p:nvSpPr>
        <p:spPr>
          <a:xfrm>
            <a:off x="533400" y="2971800"/>
            <a:ext cx="7848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例如中序遍历结果：</a:t>
            </a:r>
            <a:r>
              <a:rPr lang="en-US" altLang="zh-CN" sz="2400" b="1" dirty="0">
                <a:latin typeface="楷体_GB2312"/>
                <a:ea typeface="楷体_GB2312"/>
              </a:rPr>
              <a:t>B D C E A F H G</a:t>
            </a:r>
            <a:r>
              <a:rPr lang="zh-CN" altLang="en-US" sz="2400" b="1" dirty="0">
                <a:latin typeface="楷体_GB2312"/>
                <a:ea typeface="楷体_GB2312"/>
              </a:rPr>
              <a:t>，实际上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已将二叉树转为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线性排列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，显然具有唯一前驱和唯一后继。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65547" name="Rectangle 14"/>
          <p:cNvSpPr/>
          <p:nvPr/>
        </p:nvSpPr>
        <p:spPr>
          <a:xfrm>
            <a:off x="304800" y="838200"/>
            <a:ext cx="693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定义       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生成      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遍历</a:t>
            </a:r>
            <a:endParaRPr lang="zh-CN" altLang="en-US" sz="2400" b="1" dirty="0">
              <a:solidFill>
                <a:schemeClr val="accent1"/>
              </a:solidFill>
              <a:latin typeface="宋体" panose="02010600030101010101" pitchFamily="2" charset="-122"/>
            </a:endParaRPr>
          </a:p>
        </p:txBody>
      </p:sp>
      <p:sp>
        <p:nvSpPr>
          <p:cNvPr id="275471" name="Rectangle 15"/>
          <p:cNvSpPr/>
          <p:nvPr/>
        </p:nvSpPr>
        <p:spPr>
          <a:xfrm>
            <a:off x="2895600" y="5105400"/>
            <a:ext cx="40497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/>
              </a:rPr>
              <a:t>利用空链域（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/>
              </a:rPr>
              <a:t>n+1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/>
              </a:rPr>
              <a:t>个空链域）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5459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charRg st="45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75459">
                                            <p:txEl>
                                              <p:charRg st="45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/>
      <p:bldP spid="275465" grpId="0" animBg="1"/>
      <p:bldP spid="275466" grpId="0" animBg="1"/>
      <p:bldP spid="275467" grpId="0" animBg="1"/>
      <p:bldP spid="275468" grpId="0"/>
      <p:bldP spid="275469" grpId="0"/>
      <p:bldP spid="27547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1752600" cy="4572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folHlink"/>
                </a:solidFill>
              </a:rPr>
              <a:t>规定：</a:t>
            </a:r>
            <a:endParaRPr lang="zh-CN" altLang="en-US" sz="2800" b="1" dirty="0">
              <a:solidFill>
                <a:schemeClr val="folHlink"/>
              </a:solidFill>
            </a:endParaRPr>
          </a:p>
        </p:txBody>
      </p:sp>
      <p:sp>
        <p:nvSpPr>
          <p:cNvPr id="276483" name="Rectangle 3"/>
          <p:cNvSpPr/>
          <p:nvPr/>
        </p:nvSpPr>
        <p:spPr>
          <a:xfrm>
            <a:off x="785813" y="685800"/>
            <a:ext cx="7256462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）若结点有左子树，则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lchild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指向其左孩子；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       否则，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lchild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指向其直接前驱</a:t>
            </a:r>
            <a:r>
              <a:rPr lang="en-US" altLang="zh-CN" sz="2800" b="1" dirty="0">
                <a:solidFill>
                  <a:srgbClr val="FF33CC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</a:rPr>
              <a:t>即线索</a:t>
            </a:r>
            <a:r>
              <a:rPr lang="en-US" altLang="zh-CN" sz="2800" b="1" dirty="0">
                <a:solidFill>
                  <a:srgbClr val="FF33CC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；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76484" name="Rectangle 4"/>
          <p:cNvSpPr/>
          <p:nvPr/>
        </p:nvSpPr>
        <p:spPr>
          <a:xfrm>
            <a:off x="785813" y="1714500"/>
            <a:ext cx="7315200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）若结点有右子树，则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rchild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指向其右孩子；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       否则，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rchild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指向其直接后继</a:t>
            </a:r>
            <a:r>
              <a:rPr lang="en-US" altLang="zh-CN" sz="2800" b="1" dirty="0">
                <a:solidFill>
                  <a:srgbClr val="FF33CC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</a:rPr>
              <a:t>即线索</a:t>
            </a:r>
            <a:r>
              <a:rPr lang="en-US" altLang="zh-CN" sz="2800" b="1" dirty="0">
                <a:solidFill>
                  <a:srgbClr val="FF33CC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76485" name="Rectangle 5"/>
          <p:cNvSpPr/>
          <p:nvPr/>
        </p:nvSpPr>
        <p:spPr>
          <a:xfrm>
            <a:off x="228600" y="4114800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为区别两种不同情况，特增加两个标志域（各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1bit)</a:t>
            </a:r>
            <a:endParaRPr lang="en-US" altLang="zh-CN" sz="2800" b="1" dirty="0">
              <a:latin typeface="Times New Roman" panose="02020603050405020304" pitchFamily="18" charset="0"/>
              <a:ea typeface="楷体_GB2312"/>
            </a:endParaRPr>
          </a:p>
        </p:txBody>
      </p:sp>
      <p:graphicFrame>
        <p:nvGraphicFramePr>
          <p:cNvPr id="276510" name="Group 30"/>
          <p:cNvGraphicFramePr>
            <a:graphicFrameLocks noGrp="1"/>
          </p:cNvGraphicFramePr>
          <p:nvPr/>
        </p:nvGraphicFramePr>
        <p:xfrm>
          <a:off x="1447800" y="2743200"/>
          <a:ext cx="5321300" cy="541338"/>
        </p:xfrm>
        <a:graphic>
          <a:graphicData uri="http://schemas.openxmlformats.org/drawingml/2006/table">
            <a:tbl>
              <a:tblPr/>
              <a:tblGrid>
                <a:gridCol w="1036638"/>
                <a:gridCol w="1079500"/>
                <a:gridCol w="1076325"/>
                <a:gridCol w="1065212"/>
                <a:gridCol w="1063625"/>
              </a:tblGrid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lchild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rchild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6500" name="Rectangle 20"/>
          <p:cNvSpPr/>
          <p:nvPr/>
        </p:nvSpPr>
        <p:spPr>
          <a:xfrm>
            <a:off x="427038" y="4646613"/>
            <a:ext cx="10175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folHlink"/>
                </a:solidFill>
              </a:rPr>
              <a:t>约定</a:t>
            </a:r>
            <a:r>
              <a:rPr lang="en-US" altLang="zh-CN" sz="2800" b="1" dirty="0">
                <a:solidFill>
                  <a:schemeClr val="folHlink"/>
                </a:solidFill>
              </a:rPr>
              <a:t>:</a:t>
            </a:r>
            <a:endParaRPr lang="en-US" altLang="zh-CN" sz="2800" b="1" dirty="0">
              <a:solidFill>
                <a:schemeClr val="folHlink"/>
              </a:solidFill>
            </a:endParaRPr>
          </a:p>
        </p:txBody>
      </p:sp>
      <p:sp>
        <p:nvSpPr>
          <p:cNvPr id="276501" name="Rectangle 21"/>
          <p:cNvSpPr/>
          <p:nvPr/>
        </p:nvSpPr>
        <p:spPr>
          <a:xfrm>
            <a:off x="1363663" y="4967288"/>
            <a:ext cx="48053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当</a:t>
            </a:r>
            <a:r>
              <a:rPr lang="en-US" altLang="zh-CN" sz="2800" b="1" dirty="0">
                <a:solidFill>
                  <a:schemeClr val="folHlink"/>
                </a:solidFill>
              </a:rPr>
              <a:t>Tag</a:t>
            </a:r>
            <a:r>
              <a:rPr lang="zh-CN" altLang="en-US" sz="2800" b="1" dirty="0">
                <a:ea typeface="楷体_GB2312"/>
              </a:rPr>
              <a:t>域为</a:t>
            </a:r>
            <a:r>
              <a:rPr lang="en-US" altLang="zh-CN" sz="2800" b="1" dirty="0">
                <a:solidFill>
                  <a:schemeClr val="folHlink"/>
                </a:solidFill>
              </a:rPr>
              <a:t>0</a:t>
            </a:r>
            <a:r>
              <a:rPr lang="zh-CN" altLang="en-US" sz="2800" b="1" dirty="0">
                <a:ea typeface="楷体_GB2312"/>
              </a:rPr>
              <a:t>时</a:t>
            </a:r>
            <a:r>
              <a:rPr lang="en-US" altLang="zh-CN" sz="2800" b="1" dirty="0">
                <a:ea typeface="楷体_GB2312"/>
              </a:rPr>
              <a:t>,</a:t>
            </a:r>
            <a:r>
              <a:rPr lang="zh-CN" altLang="en-US" sz="2800" b="1" dirty="0">
                <a:ea typeface="楷体_GB2312"/>
              </a:rPr>
              <a:t>表示</a:t>
            </a:r>
            <a:r>
              <a:rPr lang="zh-CN" altLang="en-US" sz="2800" b="1" dirty="0">
                <a:solidFill>
                  <a:schemeClr val="folHlink"/>
                </a:solidFill>
              </a:rPr>
              <a:t>正常</a:t>
            </a:r>
            <a:r>
              <a:rPr lang="zh-CN" altLang="en-US" sz="2800" b="1" dirty="0">
                <a:ea typeface="楷体_GB2312"/>
              </a:rPr>
              <a:t>情况</a:t>
            </a:r>
            <a:r>
              <a:rPr lang="en-US" altLang="zh-CN" sz="2800" b="1" dirty="0">
                <a:ea typeface="楷体_GB2312"/>
              </a:rPr>
              <a:t>;</a:t>
            </a:r>
            <a:endParaRPr lang="en-US" altLang="zh-CN" sz="2800" b="1" dirty="0">
              <a:ea typeface="楷体_GB2312"/>
            </a:endParaRPr>
          </a:p>
        </p:txBody>
      </p:sp>
      <p:sp>
        <p:nvSpPr>
          <p:cNvPr id="276502" name="Rectangle 22"/>
          <p:cNvSpPr/>
          <p:nvPr/>
        </p:nvSpPr>
        <p:spPr>
          <a:xfrm>
            <a:off x="1376363" y="5410200"/>
            <a:ext cx="47847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当</a:t>
            </a:r>
            <a:r>
              <a:rPr lang="en-US" altLang="zh-CN" sz="2800" b="1" dirty="0">
                <a:solidFill>
                  <a:schemeClr val="folHlink"/>
                </a:solidFill>
              </a:rPr>
              <a:t>Tag</a:t>
            </a:r>
            <a:r>
              <a:rPr lang="zh-CN" altLang="en-US" sz="2800" b="1" dirty="0">
                <a:ea typeface="楷体_GB2312"/>
              </a:rPr>
              <a:t>域为</a:t>
            </a:r>
            <a:r>
              <a:rPr lang="en-US" altLang="zh-CN" sz="2800" b="1" dirty="0">
                <a:solidFill>
                  <a:schemeClr val="folHlink"/>
                </a:solidFill>
              </a:rPr>
              <a:t>1</a:t>
            </a:r>
            <a:r>
              <a:rPr lang="zh-CN" altLang="en-US" sz="2800" b="1" dirty="0">
                <a:ea typeface="楷体_GB2312"/>
              </a:rPr>
              <a:t>时</a:t>
            </a:r>
            <a:r>
              <a:rPr lang="en-US" altLang="zh-CN" sz="2800" b="1" dirty="0">
                <a:ea typeface="楷体_GB2312"/>
              </a:rPr>
              <a:t>,</a:t>
            </a:r>
            <a:r>
              <a:rPr lang="zh-CN" altLang="en-US" sz="2800" b="1" dirty="0">
                <a:ea typeface="楷体_GB2312"/>
              </a:rPr>
              <a:t>表示</a:t>
            </a:r>
            <a:r>
              <a:rPr lang="zh-CN" altLang="en-US" sz="2800" b="1" dirty="0">
                <a:solidFill>
                  <a:schemeClr val="folHlink"/>
                </a:solidFill>
              </a:rPr>
              <a:t>线索</a:t>
            </a:r>
            <a:r>
              <a:rPr lang="zh-CN" altLang="en-US" sz="2800" b="1" dirty="0">
                <a:ea typeface="楷体_GB2312"/>
              </a:rPr>
              <a:t>情况</a:t>
            </a:r>
            <a:r>
              <a:rPr lang="en-US" altLang="zh-CN" sz="2800" b="1" dirty="0">
                <a:ea typeface="楷体_GB2312"/>
              </a:rPr>
              <a:t>.</a:t>
            </a:r>
            <a:endParaRPr lang="en-US" altLang="zh-CN" sz="2800" b="1" dirty="0">
              <a:ea typeface="楷体_GB2312"/>
            </a:endParaRPr>
          </a:p>
        </p:txBody>
      </p:sp>
      <p:sp>
        <p:nvSpPr>
          <p:cNvPr id="276503" name="AutoShape 23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6504" name="AutoShape 24"/>
          <p:cNvSpPr/>
          <p:nvPr/>
        </p:nvSpPr>
        <p:spPr>
          <a:xfrm>
            <a:off x="6637338" y="3573463"/>
            <a:ext cx="1752600" cy="381000"/>
          </a:xfrm>
          <a:prstGeom prst="wedgeRoundRectCallout">
            <a:avLst>
              <a:gd name="adj1" fmla="val -74273"/>
              <a:gd name="adj2" fmla="val -107500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右孩子或后继</a:t>
            </a:r>
            <a:endParaRPr lang="zh-CN" altLang="en-US" sz="1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05" name="AutoShape 25"/>
          <p:cNvSpPr/>
          <p:nvPr/>
        </p:nvSpPr>
        <p:spPr>
          <a:xfrm>
            <a:off x="2446338" y="3573463"/>
            <a:ext cx="1752600" cy="381000"/>
          </a:xfrm>
          <a:prstGeom prst="wedgeRoundRectCallout">
            <a:avLst>
              <a:gd name="adj1" fmla="val -82157"/>
              <a:gd name="adj2" fmla="val -116667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左孩子或前驱</a:t>
            </a:r>
            <a:endParaRPr lang="zh-CN" altLang="en-US" sz="1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06" name="Rectangle 26"/>
          <p:cNvSpPr/>
          <p:nvPr/>
        </p:nvSpPr>
        <p:spPr>
          <a:xfrm>
            <a:off x="2590800" y="2743200"/>
            <a:ext cx="9540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LTag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07" name="Rectangle 27"/>
          <p:cNvSpPr/>
          <p:nvPr/>
        </p:nvSpPr>
        <p:spPr>
          <a:xfrm>
            <a:off x="4648200" y="2743200"/>
            <a:ext cx="9731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RTag</a:t>
            </a:r>
            <a:endParaRPr lang="en-US" altLang="zh-CN" sz="28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6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6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6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/>
      <p:bldP spid="276484" grpId="0"/>
      <p:bldP spid="276485" grpId="0"/>
      <p:bldP spid="276500" grpId="0"/>
      <p:bldP spid="276501" grpId="0"/>
      <p:bldP spid="276502" grpId="0"/>
      <p:bldP spid="276503" grpId="0" animBg="1"/>
      <p:bldP spid="276504" grpId="0" animBg="1"/>
      <p:bldP spid="276505" grpId="0" animBg="1"/>
      <p:bldP spid="276506" grpId="0"/>
      <p:bldP spid="27650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xfrm>
            <a:off x="533400" y="273050"/>
            <a:ext cx="7467600" cy="533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</a:rPr>
              <a:t>附：有关线索二叉树的几个术语：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77507" name="Text Box 3"/>
          <p:cNvSpPr txBox="1"/>
          <p:nvPr/>
        </p:nvSpPr>
        <p:spPr>
          <a:xfrm>
            <a:off x="0" y="982663"/>
            <a:ext cx="8915400" cy="2613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095500" lvl="0" indent="-2095500" eaLnBrk="1" hangingPunct="1">
              <a:spcBef>
                <a:spcPct val="3000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线索链表：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用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含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Tag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的结点样式所构成的二叉链表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  <a:p>
            <a:pPr marL="2095500" lvl="0" indent="-2095500" eaLnBrk="1" hangingPunct="1">
              <a:spcBef>
                <a:spcPct val="3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        线   索：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指向结点前驱和后继的指针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  <a:p>
            <a:pPr marL="2095500" lvl="0" indent="-2095500" eaLnBrk="1" hangingPunct="1">
              <a:spcBef>
                <a:spcPct val="3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线索二叉树：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加上线索的二叉树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2095500" lvl="0" indent="-2095500" eaLnBrk="1" hangingPunct="1">
              <a:spcBef>
                <a:spcPct val="3000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 线    索   化：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对二叉树以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某种次序遍历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使其变为线索二叉树的过程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77508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7509" name="Rectangle 5"/>
          <p:cNvSpPr/>
          <p:nvPr/>
        </p:nvSpPr>
        <p:spPr>
          <a:xfrm>
            <a:off x="685800" y="4006850"/>
            <a:ext cx="73914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讨论：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增加了前驱和后继等线索有什么好处？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——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能方便找出当前结点的前驱和后继，不用堆栈也能遍历整个树。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charRg st="27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charRg st="5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charRg st="69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7750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>
                                            <p:txEl>
                                              <p:charRg st="2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77509">
                                            <p:txEl>
                                              <p:charRg st="21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/>
      <p:bldP spid="277508" grpId="0" animBg="1"/>
      <p:bldP spid="277509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278682" name="Group 154"/>
          <p:cNvGraphicFramePr>
            <a:graphicFrameLocks noGrp="1"/>
          </p:cNvGraphicFramePr>
          <p:nvPr/>
        </p:nvGraphicFramePr>
        <p:xfrm>
          <a:off x="539750" y="1371600"/>
          <a:ext cx="7613650" cy="1554163"/>
        </p:xfrm>
        <a:graphic>
          <a:graphicData uri="http://schemas.openxmlformats.org/drawingml/2006/table">
            <a:tbl>
              <a:tblPr/>
              <a:tblGrid>
                <a:gridCol w="969963"/>
                <a:gridCol w="604837"/>
                <a:gridCol w="546100"/>
                <a:gridCol w="687388"/>
                <a:gridCol w="685800"/>
                <a:gridCol w="688975"/>
                <a:gridCol w="685800"/>
                <a:gridCol w="687387"/>
                <a:gridCol w="685800"/>
                <a:gridCol w="685800"/>
                <a:gridCol w="685800"/>
              </a:tblGrid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66FF33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1" marB="4567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8604" name="Group 76"/>
          <p:cNvGraphicFramePr>
            <a:graphicFrameLocks noGrp="1"/>
          </p:cNvGraphicFramePr>
          <p:nvPr/>
        </p:nvGraphicFramePr>
        <p:xfrm>
          <a:off x="533400" y="1371600"/>
          <a:ext cx="7620000" cy="517525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52450"/>
                <a:gridCol w="693738"/>
                <a:gridCol w="692150"/>
                <a:gridCol w="695325"/>
                <a:gridCol w="692150"/>
                <a:gridCol w="693737"/>
                <a:gridCol w="692150"/>
                <a:gridCol w="692150"/>
                <a:gridCol w="692150"/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ltag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8630" name="Group 102"/>
          <p:cNvGraphicFramePr>
            <a:graphicFrameLocks noGrp="1"/>
          </p:cNvGraphicFramePr>
          <p:nvPr/>
        </p:nvGraphicFramePr>
        <p:xfrm>
          <a:off x="533400" y="2438400"/>
          <a:ext cx="7620000" cy="517525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52450"/>
                <a:gridCol w="693738"/>
                <a:gridCol w="692150"/>
                <a:gridCol w="695325"/>
                <a:gridCol w="692150"/>
                <a:gridCol w="693737"/>
                <a:gridCol w="692150"/>
                <a:gridCol w="692150"/>
                <a:gridCol w="692150"/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rtag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424" marB="454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8656" name="Rectangle 128"/>
          <p:cNvSpPr/>
          <p:nvPr/>
        </p:nvSpPr>
        <p:spPr>
          <a:xfrm>
            <a:off x="3597275" y="31242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657" name="Rectangle 129"/>
          <p:cNvSpPr/>
          <p:nvPr/>
        </p:nvSpPr>
        <p:spPr>
          <a:xfrm>
            <a:off x="2971800" y="3962400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G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30"/>
          <p:cNvGrpSpPr/>
          <p:nvPr/>
        </p:nvGrpSpPr>
        <p:grpSpPr>
          <a:xfrm>
            <a:off x="2743200" y="4419600"/>
            <a:ext cx="762000" cy="381000"/>
            <a:chOff x="2304" y="2352"/>
            <a:chExt cx="480" cy="240"/>
          </a:xfrm>
        </p:grpSpPr>
        <p:sp>
          <p:nvSpPr>
            <p:cNvPr id="68734" name="Line 131"/>
            <p:cNvSpPr/>
            <p:nvPr/>
          </p:nvSpPr>
          <p:spPr>
            <a:xfrm flipH="1">
              <a:off x="2304" y="2352"/>
              <a:ext cx="192" cy="24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735" name="Line 132"/>
            <p:cNvSpPr/>
            <p:nvPr/>
          </p:nvSpPr>
          <p:spPr>
            <a:xfrm>
              <a:off x="2640" y="2352"/>
              <a:ext cx="144" cy="24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33"/>
          <p:cNvGrpSpPr/>
          <p:nvPr/>
        </p:nvGrpSpPr>
        <p:grpSpPr>
          <a:xfrm>
            <a:off x="3429000" y="3733800"/>
            <a:ext cx="762000" cy="381000"/>
            <a:chOff x="2304" y="2352"/>
            <a:chExt cx="480" cy="240"/>
          </a:xfrm>
        </p:grpSpPr>
        <p:sp>
          <p:nvSpPr>
            <p:cNvPr id="68732" name="Line 134"/>
            <p:cNvSpPr/>
            <p:nvPr/>
          </p:nvSpPr>
          <p:spPr>
            <a:xfrm flipH="1">
              <a:off x="2304" y="2352"/>
              <a:ext cx="192" cy="24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733" name="Line 135"/>
            <p:cNvSpPr/>
            <p:nvPr/>
          </p:nvSpPr>
          <p:spPr>
            <a:xfrm>
              <a:off x="2640" y="2352"/>
              <a:ext cx="144" cy="24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8664" name="Rectangle 136"/>
          <p:cNvSpPr/>
          <p:nvPr/>
        </p:nvSpPr>
        <p:spPr>
          <a:xfrm>
            <a:off x="2514600" y="480060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E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665" name="Line 137"/>
          <p:cNvSpPr/>
          <p:nvPr/>
        </p:nvSpPr>
        <p:spPr>
          <a:xfrm>
            <a:off x="2743200" y="5334000"/>
            <a:ext cx="228600" cy="381000"/>
          </a:xfrm>
          <a:prstGeom prst="line">
            <a:avLst/>
          </a:prstGeom>
          <a:ln w="222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666" name="Rectangle 138"/>
          <p:cNvSpPr/>
          <p:nvPr/>
        </p:nvSpPr>
        <p:spPr>
          <a:xfrm>
            <a:off x="2895600" y="5715000"/>
            <a:ext cx="3222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I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667" name="Rectangle 139"/>
          <p:cNvSpPr/>
          <p:nvPr/>
        </p:nvSpPr>
        <p:spPr>
          <a:xfrm>
            <a:off x="3368675" y="48006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668" name="Line 140"/>
          <p:cNvSpPr/>
          <p:nvPr/>
        </p:nvSpPr>
        <p:spPr>
          <a:xfrm>
            <a:off x="3657600" y="5257800"/>
            <a:ext cx="228600" cy="381000"/>
          </a:xfrm>
          <a:prstGeom prst="line">
            <a:avLst/>
          </a:prstGeom>
          <a:ln w="222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669" name="Rectangle 141"/>
          <p:cNvSpPr/>
          <p:nvPr/>
        </p:nvSpPr>
        <p:spPr>
          <a:xfrm>
            <a:off x="3733800" y="5638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J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670" name="Rectangle 142"/>
          <p:cNvSpPr/>
          <p:nvPr/>
        </p:nvSpPr>
        <p:spPr>
          <a:xfrm>
            <a:off x="4187825" y="4114800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H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43"/>
          <p:cNvGrpSpPr/>
          <p:nvPr/>
        </p:nvGrpSpPr>
        <p:grpSpPr>
          <a:xfrm>
            <a:off x="4038600" y="4572000"/>
            <a:ext cx="762000" cy="381000"/>
            <a:chOff x="2304" y="2352"/>
            <a:chExt cx="480" cy="240"/>
          </a:xfrm>
        </p:grpSpPr>
        <p:sp>
          <p:nvSpPr>
            <p:cNvPr id="68730" name="Line 144"/>
            <p:cNvSpPr/>
            <p:nvPr/>
          </p:nvSpPr>
          <p:spPr>
            <a:xfrm flipH="1">
              <a:off x="2304" y="2352"/>
              <a:ext cx="192" cy="24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731" name="Line 145"/>
            <p:cNvSpPr/>
            <p:nvPr/>
          </p:nvSpPr>
          <p:spPr>
            <a:xfrm>
              <a:off x="2640" y="2352"/>
              <a:ext cx="144" cy="24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8674" name="Rectangle 146"/>
          <p:cNvSpPr/>
          <p:nvPr/>
        </p:nvSpPr>
        <p:spPr>
          <a:xfrm>
            <a:off x="3886200" y="48768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C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675" name="Rectangle 147"/>
          <p:cNvSpPr/>
          <p:nvPr/>
        </p:nvSpPr>
        <p:spPr>
          <a:xfrm>
            <a:off x="4648200" y="4876800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F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676" name="Line 148"/>
          <p:cNvSpPr/>
          <p:nvPr/>
        </p:nvSpPr>
        <p:spPr>
          <a:xfrm flipH="1">
            <a:off x="4648200" y="5334000"/>
            <a:ext cx="152400" cy="381000"/>
          </a:xfrm>
          <a:prstGeom prst="line">
            <a:avLst/>
          </a:prstGeom>
          <a:ln w="222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677" name="Rectangle 149"/>
          <p:cNvSpPr/>
          <p:nvPr/>
        </p:nvSpPr>
        <p:spPr>
          <a:xfrm>
            <a:off x="4419600" y="571500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B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678" name="AutoShape 150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8728" name="Rectangle 151"/>
          <p:cNvSpPr>
            <a:spLocks noGrp="1"/>
          </p:cNvSpPr>
          <p:nvPr>
            <p:ph type="title"/>
          </p:nvPr>
        </p:nvSpPr>
        <p:spPr>
          <a:xfrm>
            <a:off x="304800" y="228600"/>
            <a:ext cx="7772400" cy="1143000"/>
          </a:xfrm>
        </p:spPr>
        <p:txBody>
          <a:bodyPr vert="horz" wrap="square" lIns="91440" tIns="45720" rIns="91440" bIns="45720" anchor="ctr" anchorCtr="0"/>
          <a:p>
            <a:pPr marL="952500" indent="-952500" algn="l" eaLnBrk="1" hangingPunct="1"/>
            <a:r>
              <a:rPr lang="zh-CN" altLang="en-US" sz="2800" b="1" dirty="0">
                <a:solidFill>
                  <a:schemeClr val="accent1"/>
                </a:solidFill>
              </a:rPr>
              <a:t>例：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</a:rPr>
              <a:t>某</a:t>
            </a:r>
            <a:r>
              <a:rPr lang="zh-CN" altLang="en-US" sz="2800" b="1" dirty="0">
                <a:solidFill>
                  <a:srgbClr val="FF00FF"/>
                </a:solidFill>
                <a:ea typeface="楷体_GB2312"/>
              </a:rPr>
              <a:t>先序遍历</a:t>
            </a:r>
            <a:r>
              <a:rPr lang="zh-CN" altLang="en-US" sz="2800" b="1" dirty="0">
                <a:solidFill>
                  <a:schemeClr val="tx1"/>
                </a:solidFill>
                <a:ea typeface="楷体_GB2312"/>
              </a:rPr>
              <a:t>结果如下表所示，请画出对应的二叉树。</a:t>
            </a:r>
            <a:endParaRPr lang="zh-CN" altLang="en-US" sz="2800" b="1" dirty="0">
              <a:solidFill>
                <a:schemeClr val="tx1"/>
              </a:solidFill>
              <a:ea typeface="楷体_GB2312"/>
            </a:endParaRPr>
          </a:p>
        </p:txBody>
      </p:sp>
      <p:sp>
        <p:nvSpPr>
          <p:cNvPr id="68729" name="Rectangle 152"/>
          <p:cNvSpPr/>
          <p:nvPr/>
        </p:nvSpPr>
        <p:spPr>
          <a:xfrm>
            <a:off x="2311400" y="762000"/>
            <a:ext cx="3740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（多带了两个标志！）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656" grpId="0"/>
      <p:bldP spid="278657" grpId="0"/>
      <p:bldP spid="278664" grpId="0"/>
      <p:bldP spid="278666" grpId="0"/>
      <p:bldP spid="278667" grpId="0"/>
      <p:bldP spid="278669" grpId="0"/>
      <p:bldP spid="278670" grpId="0"/>
      <p:bldP spid="278674" grpId="0"/>
      <p:bldP spid="278675" grpId="0"/>
      <p:bldP spid="278677" grpId="0"/>
      <p:bldP spid="27867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xfrm>
            <a:off x="457200" y="401638"/>
            <a:ext cx="4724400" cy="4445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线索二叉树的生成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9555" name="Rectangle 3"/>
          <p:cNvSpPr/>
          <p:nvPr/>
        </p:nvSpPr>
        <p:spPr>
          <a:xfrm>
            <a:off x="228600" y="1524000"/>
            <a:ext cx="8229600" cy="1801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线索化过程就是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/>
              </a:rPr>
              <a:t>在遍历过程中修改空指针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的过程：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仿宋_GB2312"/>
                <a:ea typeface="仿宋_GB2312"/>
              </a:rPr>
              <a:t>将空的</a:t>
            </a:r>
            <a:r>
              <a:rPr lang="en-US" altLang="zh-CN" sz="2800" b="1" dirty="0">
                <a:solidFill>
                  <a:schemeClr val="accent1"/>
                </a:solidFill>
                <a:latin typeface="仿宋_GB2312"/>
                <a:ea typeface="仿宋_GB2312"/>
              </a:rPr>
              <a:t>l</a:t>
            </a:r>
            <a:r>
              <a:rPr lang="en-US" altLang="zh-CN" sz="2800" b="1" dirty="0">
                <a:latin typeface="仿宋_GB2312"/>
                <a:ea typeface="仿宋_GB2312"/>
              </a:rPr>
              <a:t>child</a:t>
            </a:r>
            <a:r>
              <a:rPr lang="zh-CN" altLang="en-US" sz="2800" b="1" dirty="0">
                <a:latin typeface="仿宋_GB2312"/>
                <a:ea typeface="仿宋_GB2312"/>
              </a:rPr>
              <a:t>改为结点的直接前驱；</a:t>
            </a:r>
            <a:endParaRPr lang="zh-CN" altLang="en-US" sz="2800" b="1" dirty="0">
              <a:latin typeface="仿宋_GB2312"/>
              <a:ea typeface="仿宋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仿宋_GB2312"/>
                <a:ea typeface="仿宋_GB2312"/>
              </a:rPr>
              <a:t>将空的</a:t>
            </a:r>
            <a:r>
              <a:rPr lang="en-US" altLang="zh-CN" sz="2800" b="1" dirty="0">
                <a:solidFill>
                  <a:schemeClr val="accent1"/>
                </a:solidFill>
                <a:latin typeface="仿宋_GB2312"/>
                <a:ea typeface="仿宋_GB2312"/>
              </a:rPr>
              <a:t>r</a:t>
            </a:r>
            <a:r>
              <a:rPr lang="en-US" altLang="zh-CN" sz="2800" b="1" dirty="0">
                <a:latin typeface="仿宋_GB2312"/>
                <a:ea typeface="仿宋_GB2312"/>
              </a:rPr>
              <a:t>child</a:t>
            </a:r>
            <a:r>
              <a:rPr lang="zh-CN" altLang="en-US" sz="2800" b="1" dirty="0">
                <a:latin typeface="仿宋_GB2312"/>
                <a:ea typeface="仿宋_GB2312"/>
              </a:rPr>
              <a:t>改为结点的直接后继。</a:t>
            </a:r>
            <a:endParaRPr lang="zh-CN" altLang="en-US" sz="2800" b="1" dirty="0">
              <a:latin typeface="仿宋_GB2312"/>
              <a:ea typeface="仿宋_GB2312"/>
            </a:endParaRPr>
          </a:p>
        </p:txBody>
      </p:sp>
      <p:sp>
        <p:nvSpPr>
          <p:cNvPr id="279556" name="Rectangle 4"/>
          <p:cNvSpPr/>
          <p:nvPr/>
        </p:nvSpPr>
        <p:spPr>
          <a:xfrm>
            <a:off x="304800" y="3733800"/>
            <a:ext cx="845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仿宋_GB2312"/>
                <a:ea typeface="仿宋_GB2312"/>
              </a:rPr>
              <a:t>非空指针呢？仍然指向孩子结点（称为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仿宋_GB2312"/>
              </a:rPr>
              <a:t>“</a:t>
            </a:r>
            <a:r>
              <a:rPr lang="zh-CN" altLang="en-US" sz="2800" b="1" dirty="0">
                <a:solidFill>
                  <a:schemeClr val="accent1"/>
                </a:solidFill>
                <a:latin typeface="仿宋_GB2312"/>
                <a:ea typeface="仿宋_GB2312"/>
              </a:rPr>
              <a:t>正常情况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仿宋_GB2312"/>
              </a:rPr>
              <a:t>”</a:t>
            </a:r>
            <a:r>
              <a:rPr lang="zh-CN" altLang="en-US" sz="2800" b="1" dirty="0">
                <a:solidFill>
                  <a:schemeClr val="accent1"/>
                </a:solidFill>
                <a:latin typeface="仿宋_GB2312"/>
                <a:ea typeface="仿宋_GB2312"/>
              </a:rPr>
              <a:t>）</a:t>
            </a:r>
            <a:endParaRPr lang="zh-CN" altLang="en-US" sz="2800" b="1" dirty="0">
              <a:solidFill>
                <a:schemeClr val="accent1"/>
              </a:solidFill>
              <a:latin typeface="仿宋_GB2312"/>
              <a:ea typeface="仿宋_GB2312"/>
            </a:endParaRPr>
          </a:p>
        </p:txBody>
      </p:sp>
      <p:sp>
        <p:nvSpPr>
          <p:cNvPr id="279557" name="AutoShape 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955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charRg st="2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79555">
                                            <p:txEl>
                                              <p:charRg st="2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charRg st="4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79555">
                                            <p:txEl>
                                              <p:charRg st="43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7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uild="p"/>
      <p:bldP spid="279556" grpId="0"/>
      <p:bldP spid="27955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2932113" y="3622675"/>
            <a:ext cx="485775" cy="2058988"/>
            <a:chOff x="1895" y="2426"/>
            <a:chExt cx="306" cy="1297"/>
          </a:xfrm>
        </p:grpSpPr>
        <p:sp>
          <p:nvSpPr>
            <p:cNvPr id="71755" name="Line 3"/>
            <p:cNvSpPr/>
            <p:nvPr/>
          </p:nvSpPr>
          <p:spPr>
            <a:xfrm>
              <a:off x="2078" y="3715"/>
              <a:ext cx="123" cy="1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56" name="Line 4"/>
            <p:cNvSpPr/>
            <p:nvPr/>
          </p:nvSpPr>
          <p:spPr>
            <a:xfrm>
              <a:off x="1895" y="2426"/>
              <a:ext cx="305" cy="1297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stealth" w="med" len="lg"/>
              <a:tailEnd type="none" w="sm" len="sm"/>
            </a:ln>
          </p:spPr>
        </p:sp>
      </p:grpSp>
      <p:grpSp>
        <p:nvGrpSpPr>
          <p:cNvPr id="3" name="Group 5"/>
          <p:cNvGrpSpPr/>
          <p:nvPr/>
        </p:nvGrpSpPr>
        <p:grpSpPr>
          <a:xfrm>
            <a:off x="3105150" y="3598863"/>
            <a:ext cx="762000" cy="904875"/>
            <a:chOff x="2004" y="2411"/>
            <a:chExt cx="480" cy="570"/>
          </a:xfrm>
        </p:grpSpPr>
        <p:sp>
          <p:nvSpPr>
            <p:cNvPr id="71753" name="Line 6"/>
            <p:cNvSpPr/>
            <p:nvPr/>
          </p:nvSpPr>
          <p:spPr>
            <a:xfrm flipH="1">
              <a:off x="2237" y="2973"/>
              <a:ext cx="247" cy="1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54" name="Line 7"/>
            <p:cNvSpPr/>
            <p:nvPr/>
          </p:nvSpPr>
          <p:spPr>
            <a:xfrm>
              <a:off x="2004" y="2411"/>
              <a:ext cx="233" cy="570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stealth" w="med" len="lg"/>
              <a:tailEnd type="none" w="sm" len="sm"/>
            </a:ln>
          </p:spPr>
        </p:sp>
      </p:grpSp>
      <p:grpSp>
        <p:nvGrpSpPr>
          <p:cNvPr id="4" name="Group 8"/>
          <p:cNvGrpSpPr/>
          <p:nvPr/>
        </p:nvGrpSpPr>
        <p:grpSpPr>
          <a:xfrm>
            <a:off x="2152650" y="4800600"/>
            <a:ext cx="438150" cy="811213"/>
            <a:chOff x="1404" y="3168"/>
            <a:chExt cx="276" cy="511"/>
          </a:xfrm>
        </p:grpSpPr>
        <p:sp>
          <p:nvSpPr>
            <p:cNvPr id="71751" name="Line 9"/>
            <p:cNvSpPr/>
            <p:nvPr/>
          </p:nvSpPr>
          <p:spPr>
            <a:xfrm flipH="1">
              <a:off x="1410" y="3678"/>
              <a:ext cx="270" cy="1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52" name="Line 10"/>
            <p:cNvSpPr/>
            <p:nvPr/>
          </p:nvSpPr>
          <p:spPr>
            <a:xfrm flipV="1">
              <a:off x="1404" y="3168"/>
              <a:ext cx="1" cy="510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5" name="Group 11"/>
          <p:cNvGrpSpPr/>
          <p:nvPr/>
        </p:nvGrpSpPr>
        <p:grpSpPr>
          <a:xfrm>
            <a:off x="1512888" y="4824413"/>
            <a:ext cx="392112" cy="835025"/>
            <a:chOff x="1001" y="3183"/>
            <a:chExt cx="247" cy="526"/>
          </a:xfrm>
        </p:grpSpPr>
        <p:sp>
          <p:nvSpPr>
            <p:cNvPr id="71749" name="Line 12"/>
            <p:cNvSpPr/>
            <p:nvPr/>
          </p:nvSpPr>
          <p:spPr>
            <a:xfrm>
              <a:off x="1001" y="3708"/>
              <a:ext cx="239" cy="1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50" name="Line 13"/>
            <p:cNvSpPr/>
            <p:nvPr/>
          </p:nvSpPr>
          <p:spPr>
            <a:xfrm flipV="1">
              <a:off x="1247" y="3183"/>
              <a:ext cx="1" cy="525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6" name="Group 14"/>
          <p:cNvGrpSpPr/>
          <p:nvPr/>
        </p:nvGrpSpPr>
        <p:grpSpPr>
          <a:xfrm>
            <a:off x="5192713" y="2562225"/>
            <a:ext cx="679450" cy="1893888"/>
            <a:chOff x="3319" y="1758"/>
            <a:chExt cx="428" cy="1193"/>
          </a:xfrm>
        </p:grpSpPr>
        <p:sp>
          <p:nvSpPr>
            <p:cNvPr id="71747" name="Line 15"/>
            <p:cNvSpPr/>
            <p:nvPr/>
          </p:nvSpPr>
          <p:spPr>
            <a:xfrm flipH="1" flipV="1">
              <a:off x="3332" y="2950"/>
              <a:ext cx="415" cy="1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48" name="Line 16"/>
            <p:cNvSpPr/>
            <p:nvPr/>
          </p:nvSpPr>
          <p:spPr>
            <a:xfrm flipH="1" flipV="1">
              <a:off x="3319" y="1758"/>
              <a:ext cx="6" cy="1192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7" name="Group 17"/>
          <p:cNvGrpSpPr/>
          <p:nvPr/>
        </p:nvGrpSpPr>
        <p:grpSpPr>
          <a:xfrm>
            <a:off x="7265988" y="3575050"/>
            <a:ext cx="557212" cy="892175"/>
            <a:chOff x="4625" y="2396"/>
            <a:chExt cx="351" cy="562"/>
          </a:xfrm>
        </p:grpSpPr>
        <p:sp>
          <p:nvSpPr>
            <p:cNvPr id="71745" name="Line 18"/>
            <p:cNvSpPr/>
            <p:nvPr/>
          </p:nvSpPr>
          <p:spPr>
            <a:xfrm flipH="1" flipV="1">
              <a:off x="4632" y="2957"/>
              <a:ext cx="344" cy="1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46" name="Line 19"/>
            <p:cNvSpPr/>
            <p:nvPr/>
          </p:nvSpPr>
          <p:spPr>
            <a:xfrm flipV="1">
              <a:off x="4625" y="2396"/>
              <a:ext cx="2" cy="561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8" name="Group 20"/>
          <p:cNvGrpSpPr/>
          <p:nvPr/>
        </p:nvGrpSpPr>
        <p:grpSpPr>
          <a:xfrm>
            <a:off x="644525" y="4870450"/>
            <a:ext cx="292100" cy="811213"/>
            <a:chOff x="454" y="3212"/>
            <a:chExt cx="184" cy="511"/>
          </a:xfrm>
        </p:grpSpPr>
        <p:sp>
          <p:nvSpPr>
            <p:cNvPr id="71743" name="Line 21"/>
            <p:cNvSpPr/>
            <p:nvPr/>
          </p:nvSpPr>
          <p:spPr>
            <a:xfrm flipH="1" flipV="1">
              <a:off x="461" y="3722"/>
              <a:ext cx="177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44" name="Line 22"/>
            <p:cNvSpPr/>
            <p:nvPr/>
          </p:nvSpPr>
          <p:spPr>
            <a:xfrm flipV="1">
              <a:off x="454" y="3212"/>
              <a:ext cx="1" cy="51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9" name="Group 23"/>
          <p:cNvGrpSpPr/>
          <p:nvPr/>
        </p:nvGrpSpPr>
        <p:grpSpPr>
          <a:xfrm>
            <a:off x="4443413" y="2586038"/>
            <a:ext cx="495300" cy="1881187"/>
            <a:chOff x="2847" y="1773"/>
            <a:chExt cx="312" cy="1185"/>
          </a:xfrm>
        </p:grpSpPr>
        <p:sp>
          <p:nvSpPr>
            <p:cNvPr id="71741" name="Line 24"/>
            <p:cNvSpPr/>
            <p:nvPr/>
          </p:nvSpPr>
          <p:spPr>
            <a:xfrm flipV="1">
              <a:off x="2847" y="2949"/>
              <a:ext cx="303" cy="9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42" name="Line 25"/>
            <p:cNvSpPr/>
            <p:nvPr/>
          </p:nvSpPr>
          <p:spPr>
            <a:xfrm flipV="1">
              <a:off x="3157" y="1773"/>
              <a:ext cx="2" cy="1176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10" name="Group 26"/>
          <p:cNvGrpSpPr/>
          <p:nvPr/>
        </p:nvGrpSpPr>
        <p:grpSpPr>
          <a:xfrm>
            <a:off x="6438900" y="3586163"/>
            <a:ext cx="587375" cy="866775"/>
            <a:chOff x="4104" y="2403"/>
            <a:chExt cx="370" cy="546"/>
          </a:xfrm>
        </p:grpSpPr>
        <p:sp>
          <p:nvSpPr>
            <p:cNvPr id="71739" name="Line 27"/>
            <p:cNvSpPr/>
            <p:nvPr/>
          </p:nvSpPr>
          <p:spPr>
            <a:xfrm>
              <a:off x="4104" y="2943"/>
              <a:ext cx="362" cy="6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40" name="Line 28"/>
            <p:cNvSpPr/>
            <p:nvPr/>
          </p:nvSpPr>
          <p:spPr>
            <a:xfrm flipV="1">
              <a:off x="4472" y="2403"/>
              <a:ext cx="2" cy="546"/>
            </a:xfrm>
            <a:prstGeom prst="line">
              <a:avLst/>
            </a:prstGeom>
            <a:ln w="12700" cap="flat" cmpd="sng">
              <a:solidFill>
                <a:schemeClr val="hlink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11" name="Group 29"/>
          <p:cNvGrpSpPr/>
          <p:nvPr/>
        </p:nvGrpSpPr>
        <p:grpSpPr>
          <a:xfrm>
            <a:off x="8399463" y="3133725"/>
            <a:ext cx="393700" cy="1320800"/>
            <a:chOff x="5339" y="2118"/>
            <a:chExt cx="248" cy="832"/>
          </a:xfrm>
        </p:grpSpPr>
        <p:sp>
          <p:nvSpPr>
            <p:cNvPr id="71737" name="Line 30"/>
            <p:cNvSpPr/>
            <p:nvPr/>
          </p:nvSpPr>
          <p:spPr>
            <a:xfrm>
              <a:off x="5339" y="2949"/>
              <a:ext cx="23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1738" name="Line 31"/>
            <p:cNvSpPr/>
            <p:nvPr/>
          </p:nvSpPr>
          <p:spPr>
            <a:xfrm flipV="1">
              <a:off x="5585" y="2118"/>
              <a:ext cx="2" cy="83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12" name="Group 32"/>
          <p:cNvGrpSpPr/>
          <p:nvPr/>
        </p:nvGrpSpPr>
        <p:grpSpPr>
          <a:xfrm>
            <a:off x="942975" y="1831975"/>
            <a:ext cx="7434263" cy="4111625"/>
            <a:chOff x="642" y="1298"/>
            <a:chExt cx="4683" cy="2590"/>
          </a:xfrm>
        </p:grpSpPr>
        <p:grpSp>
          <p:nvGrpSpPr>
            <p:cNvPr id="71700" name="Group 33"/>
            <p:cNvGrpSpPr/>
            <p:nvPr/>
          </p:nvGrpSpPr>
          <p:grpSpPr>
            <a:xfrm>
              <a:off x="3056" y="1321"/>
              <a:ext cx="349" cy="359"/>
              <a:chOff x="3089" y="1206"/>
              <a:chExt cx="360" cy="359"/>
            </a:xfrm>
          </p:grpSpPr>
          <p:sp>
            <p:nvSpPr>
              <p:cNvPr id="71735" name="Oval 34"/>
              <p:cNvSpPr/>
              <p:nvPr/>
            </p:nvSpPr>
            <p:spPr>
              <a:xfrm>
                <a:off x="3089" y="120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36" name="Rectangle 35"/>
              <p:cNvSpPr/>
              <p:nvPr/>
            </p:nvSpPr>
            <p:spPr>
              <a:xfrm>
                <a:off x="3158" y="1259"/>
                <a:ext cx="2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701" name="Group 36"/>
            <p:cNvGrpSpPr/>
            <p:nvPr/>
          </p:nvGrpSpPr>
          <p:grpSpPr>
            <a:xfrm>
              <a:off x="1774" y="2055"/>
              <a:ext cx="349" cy="359"/>
              <a:chOff x="1766" y="1940"/>
              <a:chExt cx="360" cy="359"/>
            </a:xfrm>
          </p:grpSpPr>
          <p:sp>
            <p:nvSpPr>
              <p:cNvPr id="71733" name="Oval 37"/>
              <p:cNvSpPr/>
              <p:nvPr/>
            </p:nvSpPr>
            <p:spPr>
              <a:xfrm>
                <a:off x="1766" y="1940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34" name="Rectangle 38"/>
              <p:cNvSpPr/>
              <p:nvPr/>
            </p:nvSpPr>
            <p:spPr>
              <a:xfrm>
                <a:off x="1835" y="1993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702" name="Line 39"/>
            <p:cNvSpPr/>
            <p:nvPr/>
          </p:nvSpPr>
          <p:spPr>
            <a:xfrm flipH="1">
              <a:off x="1931" y="1630"/>
              <a:ext cx="1183" cy="41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1703" name="Group 40"/>
            <p:cNvGrpSpPr/>
            <p:nvPr/>
          </p:nvGrpSpPr>
          <p:grpSpPr>
            <a:xfrm>
              <a:off x="4374" y="2031"/>
              <a:ext cx="349" cy="359"/>
              <a:chOff x="4449" y="1916"/>
              <a:chExt cx="360" cy="359"/>
            </a:xfrm>
          </p:grpSpPr>
          <p:sp>
            <p:nvSpPr>
              <p:cNvPr id="71731" name="Oval 41"/>
              <p:cNvSpPr/>
              <p:nvPr/>
            </p:nvSpPr>
            <p:spPr>
              <a:xfrm>
                <a:off x="4449" y="1916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32" name="Rectangle 42"/>
              <p:cNvSpPr/>
              <p:nvPr/>
            </p:nvSpPr>
            <p:spPr>
              <a:xfrm>
                <a:off x="4518" y="1969"/>
                <a:ext cx="2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704" name="Group 43"/>
            <p:cNvGrpSpPr/>
            <p:nvPr/>
          </p:nvGrpSpPr>
          <p:grpSpPr>
            <a:xfrm>
              <a:off x="4976" y="2729"/>
              <a:ext cx="349" cy="359"/>
              <a:chOff x="5070" y="2614"/>
              <a:chExt cx="360" cy="359"/>
            </a:xfrm>
          </p:grpSpPr>
          <p:sp>
            <p:nvSpPr>
              <p:cNvPr id="71729" name="Oval 44"/>
              <p:cNvSpPr/>
              <p:nvPr/>
            </p:nvSpPr>
            <p:spPr>
              <a:xfrm>
                <a:off x="5070" y="261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30" name="Rectangle 45"/>
              <p:cNvSpPr/>
              <p:nvPr/>
            </p:nvSpPr>
            <p:spPr>
              <a:xfrm>
                <a:off x="5110" y="2643"/>
                <a:ext cx="27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rgbClr val="FF33CC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G</a:t>
                </a:r>
                <a:endParaRPr lang="en-US" altLang="zh-TW" sz="2400" b="1" dirty="0">
                  <a:solidFill>
                    <a:srgbClr val="FF33CC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705" name="Line 46"/>
            <p:cNvSpPr/>
            <p:nvPr/>
          </p:nvSpPr>
          <p:spPr>
            <a:xfrm>
              <a:off x="4693" y="2353"/>
              <a:ext cx="436" cy="3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1706" name="Group 47"/>
            <p:cNvGrpSpPr/>
            <p:nvPr/>
          </p:nvGrpSpPr>
          <p:grpSpPr>
            <a:xfrm>
              <a:off x="2496" y="2768"/>
              <a:ext cx="349" cy="359"/>
              <a:chOff x="2511" y="2653"/>
              <a:chExt cx="360" cy="359"/>
            </a:xfrm>
          </p:grpSpPr>
          <p:sp>
            <p:nvSpPr>
              <p:cNvPr id="71727" name="Oval 48"/>
              <p:cNvSpPr/>
              <p:nvPr/>
            </p:nvSpPr>
            <p:spPr>
              <a:xfrm>
                <a:off x="2511" y="2653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28" name="Rectangle 49"/>
              <p:cNvSpPr/>
              <p:nvPr/>
            </p:nvSpPr>
            <p:spPr>
              <a:xfrm>
                <a:off x="2580" y="2706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707" name="Group 50"/>
            <p:cNvGrpSpPr/>
            <p:nvPr/>
          </p:nvGrpSpPr>
          <p:grpSpPr>
            <a:xfrm>
              <a:off x="1708" y="3514"/>
              <a:ext cx="348" cy="359"/>
              <a:chOff x="1697" y="3399"/>
              <a:chExt cx="360" cy="359"/>
            </a:xfrm>
          </p:grpSpPr>
          <p:sp>
            <p:nvSpPr>
              <p:cNvPr id="71725" name="Oval 51"/>
              <p:cNvSpPr/>
              <p:nvPr/>
            </p:nvSpPr>
            <p:spPr>
              <a:xfrm>
                <a:off x="1697" y="3399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26" name="Rectangle 52"/>
              <p:cNvSpPr/>
              <p:nvPr/>
            </p:nvSpPr>
            <p:spPr>
              <a:xfrm>
                <a:off x="1766" y="3452"/>
                <a:ext cx="18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I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708" name="Line 53"/>
            <p:cNvSpPr/>
            <p:nvPr/>
          </p:nvSpPr>
          <p:spPr>
            <a:xfrm>
              <a:off x="1474" y="3103"/>
              <a:ext cx="422" cy="40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71709" name="Group 54"/>
            <p:cNvGrpSpPr/>
            <p:nvPr/>
          </p:nvGrpSpPr>
          <p:grpSpPr>
            <a:xfrm>
              <a:off x="1180" y="2772"/>
              <a:ext cx="349" cy="359"/>
              <a:chOff x="1153" y="2657"/>
              <a:chExt cx="360" cy="359"/>
            </a:xfrm>
          </p:grpSpPr>
          <p:sp>
            <p:nvSpPr>
              <p:cNvPr id="71723" name="Oval 55"/>
              <p:cNvSpPr/>
              <p:nvPr/>
            </p:nvSpPr>
            <p:spPr>
              <a:xfrm>
                <a:off x="1153" y="2657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24" name="Rectangle 56"/>
              <p:cNvSpPr/>
              <p:nvPr/>
            </p:nvSpPr>
            <p:spPr>
              <a:xfrm>
                <a:off x="1222" y="2710"/>
                <a:ext cx="26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710" name="Group 57"/>
            <p:cNvGrpSpPr/>
            <p:nvPr/>
          </p:nvGrpSpPr>
          <p:grpSpPr>
            <a:xfrm>
              <a:off x="642" y="3529"/>
              <a:ext cx="349" cy="359"/>
              <a:chOff x="598" y="3414"/>
              <a:chExt cx="360" cy="359"/>
            </a:xfrm>
          </p:grpSpPr>
          <p:sp>
            <p:nvSpPr>
              <p:cNvPr id="71721" name="Oval 58"/>
              <p:cNvSpPr/>
              <p:nvPr/>
            </p:nvSpPr>
            <p:spPr>
              <a:xfrm>
                <a:off x="598" y="3414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22" name="Rectangle 59"/>
              <p:cNvSpPr/>
              <p:nvPr/>
            </p:nvSpPr>
            <p:spPr>
              <a:xfrm>
                <a:off x="617" y="3467"/>
                <a:ext cx="27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b="1" dirty="0">
                    <a:solidFill>
                      <a:srgbClr val="FF33CC"/>
                    </a:solidFill>
                    <a:latin typeface="Times New Roman" panose="02020603050405020304" pitchFamily="18" charset="0"/>
                    <a:ea typeface="PMingLiU" pitchFamily="18" charset="-120"/>
                  </a:rPr>
                  <a:t>H</a:t>
                </a:r>
                <a:endParaRPr lang="en-US" altLang="zh-TW" sz="2400" b="1" dirty="0">
                  <a:solidFill>
                    <a:srgbClr val="FF33CC"/>
                  </a:solidFill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grpSp>
          <p:nvGrpSpPr>
            <p:cNvPr id="71711" name="Group 60"/>
            <p:cNvGrpSpPr/>
            <p:nvPr/>
          </p:nvGrpSpPr>
          <p:grpSpPr>
            <a:xfrm>
              <a:off x="3750" y="2736"/>
              <a:ext cx="349" cy="359"/>
              <a:chOff x="3805" y="2621"/>
              <a:chExt cx="360" cy="359"/>
            </a:xfrm>
          </p:grpSpPr>
          <p:sp>
            <p:nvSpPr>
              <p:cNvPr id="71719" name="Oval 61"/>
              <p:cNvSpPr/>
              <p:nvPr/>
            </p:nvSpPr>
            <p:spPr>
              <a:xfrm>
                <a:off x="3805" y="2621"/>
                <a:ext cx="360" cy="35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1720" name="Rectangle 62"/>
              <p:cNvSpPr/>
              <p:nvPr/>
            </p:nvSpPr>
            <p:spPr>
              <a:xfrm>
                <a:off x="3874" y="2674"/>
                <a:ext cx="23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ea typeface="PMingLiU" pitchFamily="18" charset="-120"/>
                  </a:rPr>
                  <a:t>F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71712" name="Line 63"/>
            <p:cNvSpPr/>
            <p:nvPr/>
          </p:nvSpPr>
          <p:spPr>
            <a:xfrm flipH="1">
              <a:off x="3908" y="2344"/>
              <a:ext cx="506" cy="38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713" name="Line 64"/>
            <p:cNvSpPr/>
            <p:nvPr/>
          </p:nvSpPr>
          <p:spPr>
            <a:xfrm>
              <a:off x="2088" y="2373"/>
              <a:ext cx="578" cy="39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714" name="Line 65"/>
            <p:cNvSpPr/>
            <p:nvPr/>
          </p:nvSpPr>
          <p:spPr>
            <a:xfrm flipH="1">
              <a:off x="1343" y="2369"/>
              <a:ext cx="466" cy="40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715" name="Line 66"/>
            <p:cNvSpPr/>
            <p:nvPr/>
          </p:nvSpPr>
          <p:spPr>
            <a:xfrm flipH="1">
              <a:off x="827" y="3106"/>
              <a:ext cx="392" cy="42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716" name="Line 67"/>
            <p:cNvSpPr/>
            <p:nvPr/>
          </p:nvSpPr>
          <p:spPr>
            <a:xfrm>
              <a:off x="3342" y="1641"/>
              <a:ext cx="1191" cy="37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1717" name="Line 68"/>
            <p:cNvSpPr/>
            <p:nvPr/>
          </p:nvSpPr>
          <p:spPr>
            <a:xfrm>
              <a:off x="2019" y="1465"/>
              <a:ext cx="1024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1718" name="Rectangle 69"/>
            <p:cNvSpPr/>
            <p:nvPr/>
          </p:nvSpPr>
          <p:spPr>
            <a:xfrm>
              <a:off x="1570" y="1298"/>
              <a:ext cx="4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root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</p:grpSp>
      <p:sp>
        <p:nvSpPr>
          <p:cNvPr id="281670" name="Text Box 70"/>
          <p:cNvSpPr txBox="1"/>
          <p:nvPr/>
        </p:nvSpPr>
        <p:spPr>
          <a:xfrm>
            <a:off x="171450" y="4129088"/>
            <a:ext cx="104775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TW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PMingLiU" pitchFamily="18" charset="-120"/>
              </a:rPr>
              <a:t>悬空？</a:t>
            </a:r>
            <a:endParaRPr lang="zh-TW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81671" name="Rectangle 71"/>
          <p:cNvSpPr/>
          <p:nvPr/>
        </p:nvSpPr>
        <p:spPr>
          <a:xfrm>
            <a:off x="7969250" y="2209800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TW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PMingLiU" pitchFamily="18" charset="-120"/>
              </a:rPr>
              <a:t>悬空？</a:t>
            </a:r>
            <a:endParaRPr lang="zh-TW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81672" name="Text Box 72"/>
          <p:cNvSpPr txBox="1"/>
          <p:nvPr/>
        </p:nvSpPr>
        <p:spPr>
          <a:xfrm>
            <a:off x="381000" y="914400"/>
            <a:ext cx="8077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解：</a:t>
            </a:r>
            <a:r>
              <a:rPr lang="zh-CN" altLang="en-US" sz="2400" b="1" dirty="0">
                <a:latin typeface="楷体_GB2312"/>
                <a:ea typeface="楷体_GB2312"/>
              </a:rPr>
              <a:t>该二叉树中序遍历结果为</a:t>
            </a:r>
            <a:r>
              <a:rPr lang="zh-TW" altLang="en-US" sz="2400" b="1" dirty="0">
                <a:latin typeface="楷体_GB2312"/>
                <a:ea typeface="楷体_GB2312"/>
              </a:rPr>
              <a:t>:</a:t>
            </a:r>
            <a:r>
              <a:rPr lang="zh-TW" altLang="en-US" sz="2400" b="1" dirty="0">
                <a:solidFill>
                  <a:srgbClr val="66FF33"/>
                </a:solidFill>
                <a:latin typeface="楷体_GB2312"/>
                <a:ea typeface="楷体_GB2312"/>
              </a:rPr>
              <a:t>  </a:t>
            </a:r>
            <a:r>
              <a:rPr lang="en-US" altLang="zh-TW" sz="2400" b="1" dirty="0">
                <a:solidFill>
                  <a:srgbClr val="FF33CC"/>
                </a:solidFill>
                <a:latin typeface="Times New Roman" panose="02020603050405020304" pitchFamily="18" charset="0"/>
                <a:ea typeface="PMingLiU" pitchFamily="18" charset="-120"/>
              </a:rPr>
              <a:t>H</a:t>
            </a:r>
            <a:r>
              <a:rPr lang="en-US" altLang="zh-TW" sz="2400" b="1" dirty="0">
                <a:latin typeface="Times New Roman" panose="02020603050405020304" pitchFamily="18" charset="0"/>
                <a:ea typeface="PMingLiU" pitchFamily="18" charset="-120"/>
              </a:rPr>
              <a:t>, D, I, B, E, A, F, C,</a:t>
            </a:r>
            <a:r>
              <a:rPr lang="en-US" altLang="zh-TW" sz="2400" b="1" dirty="0">
                <a:solidFill>
                  <a:srgbClr val="FF33CC"/>
                </a:solidFill>
                <a:latin typeface="Times New Roman" panose="02020603050405020304" pitchFamily="18" charset="0"/>
                <a:ea typeface="PMingLiU" pitchFamily="18" charset="-120"/>
              </a:rPr>
              <a:t> G</a:t>
            </a:r>
            <a:endParaRPr lang="en-US" altLang="zh-TW" sz="2400" b="1" dirty="0">
              <a:solidFill>
                <a:srgbClr val="FF33CC"/>
              </a:solidFill>
              <a:latin typeface="Times New Roman" panose="02020603050405020304" pitchFamily="18" charset="0"/>
              <a:ea typeface="PMingLiU" pitchFamily="18" charset="-12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TW" altLang="en-US" sz="2400" b="1" dirty="0">
                <a:latin typeface="楷体_GB2312"/>
                <a:ea typeface="楷体_GB2312"/>
              </a:rPr>
              <a:t>所以添加线索应当按如下路径进行：</a:t>
            </a:r>
            <a:endParaRPr lang="zh-TW" altLang="en-US" sz="2400" b="1" dirty="0">
              <a:latin typeface="楷体_GB2312"/>
              <a:ea typeface="楷体_GB2312"/>
            </a:endParaRPr>
          </a:p>
        </p:txBody>
      </p:sp>
      <p:sp>
        <p:nvSpPr>
          <p:cNvPr id="281673" name="AutoShape 73"/>
          <p:cNvSpPr/>
          <p:nvPr/>
        </p:nvSpPr>
        <p:spPr>
          <a:xfrm>
            <a:off x="152400" y="2819400"/>
            <a:ext cx="1600200" cy="990600"/>
          </a:xfrm>
          <a:prstGeom prst="wedgeRoundRectCallout">
            <a:avLst>
              <a:gd name="adj1" fmla="val -16069"/>
              <a:gd name="adj2" fmla="val 87981"/>
              <a:gd name="adj3" fmla="val 1666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楷体_GB2312"/>
              </a:rPr>
              <a:t>为避免悬空态，应增设一个头结点</a:t>
            </a:r>
            <a:endParaRPr lang="zh-CN" altLang="en-US" sz="20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81674" name="AutoShape 7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1699" name="Rectangle 75"/>
          <p:cNvSpPr>
            <a:spLocks noGrp="1"/>
          </p:cNvSpPr>
          <p:nvPr>
            <p:ph type="title"/>
          </p:nvPr>
        </p:nvSpPr>
        <p:spPr>
          <a:xfrm>
            <a:off x="381000" y="304800"/>
            <a:ext cx="7772400" cy="4572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画出以下二叉树对应的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中序</a:t>
            </a:r>
            <a:r>
              <a:rPr lang="zh-CN" altLang="en-US" sz="2400" b="1" dirty="0">
                <a:solidFill>
                  <a:schemeClr val="tx1"/>
                </a:solidFill>
                <a:latin typeface="楷体_GB2312"/>
                <a:ea typeface="楷体_GB2312"/>
              </a:rPr>
              <a:t>线索二叉树。</a:t>
            </a:r>
            <a:endParaRPr lang="zh-CN" altLang="en-US" sz="2400" b="1" dirty="0">
              <a:solidFill>
                <a:schemeClr val="tx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72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81672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72">
                                            <p:txEl>
                                              <p:charRg st="42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81672">
                                            <p:txEl>
                                              <p:charRg st="42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8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70" grpId="0"/>
      <p:bldP spid="281671" grpId="0"/>
      <p:bldP spid="281672" grpId="0" build="p"/>
      <p:bldP spid="281673" grpId="0" animBg="1"/>
      <p:bldP spid="28167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182563" y="2124075"/>
            <a:ext cx="3700462" cy="3667125"/>
            <a:chOff x="115" y="1134"/>
            <a:chExt cx="2331" cy="2310"/>
          </a:xfrm>
        </p:grpSpPr>
        <p:sp>
          <p:nvSpPr>
            <p:cNvPr id="72849" name="Line 3"/>
            <p:cNvSpPr/>
            <p:nvPr/>
          </p:nvSpPr>
          <p:spPr>
            <a:xfrm>
              <a:off x="551" y="3200"/>
              <a:ext cx="8" cy="218"/>
            </a:xfrm>
            <a:prstGeom prst="line">
              <a:avLst/>
            </a:prstGeom>
            <a:ln w="25400" cap="flat" cmpd="sng">
              <a:solidFill>
                <a:srgbClr val="CC3300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850" name="Line 4"/>
            <p:cNvSpPr/>
            <p:nvPr/>
          </p:nvSpPr>
          <p:spPr>
            <a:xfrm>
              <a:off x="115" y="3435"/>
              <a:ext cx="447" cy="0"/>
            </a:xfrm>
            <a:prstGeom prst="line">
              <a:avLst/>
            </a:prstGeom>
            <a:ln w="25400" cap="flat" cmpd="sng">
              <a:solidFill>
                <a:srgbClr val="CC3300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851" name="Line 5"/>
            <p:cNvSpPr/>
            <p:nvPr/>
          </p:nvSpPr>
          <p:spPr>
            <a:xfrm flipH="1">
              <a:off x="115" y="1788"/>
              <a:ext cx="16" cy="1656"/>
            </a:xfrm>
            <a:prstGeom prst="line">
              <a:avLst/>
            </a:prstGeom>
            <a:ln w="25400" cap="flat" cmpd="sng">
              <a:solidFill>
                <a:srgbClr val="CC3300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852" name="Line 6"/>
            <p:cNvSpPr/>
            <p:nvPr/>
          </p:nvSpPr>
          <p:spPr>
            <a:xfrm flipV="1">
              <a:off x="133" y="1134"/>
              <a:ext cx="2313" cy="646"/>
            </a:xfrm>
            <a:prstGeom prst="line">
              <a:avLst/>
            </a:prstGeom>
            <a:ln w="25400" cap="flat" cmpd="sng">
              <a:solidFill>
                <a:srgbClr val="CC3300"/>
              </a:solidFill>
              <a:prstDash val="sysDot"/>
              <a:headEnd type="none" w="sm" len="sm"/>
              <a:tailEnd type="stealth" w="med" len="lg"/>
            </a:ln>
          </p:spPr>
        </p:sp>
      </p:grpSp>
      <p:grpSp>
        <p:nvGrpSpPr>
          <p:cNvPr id="3" name="Group 7"/>
          <p:cNvGrpSpPr/>
          <p:nvPr/>
        </p:nvGrpSpPr>
        <p:grpSpPr>
          <a:xfrm>
            <a:off x="5943600" y="1828800"/>
            <a:ext cx="2630488" cy="2384425"/>
            <a:chOff x="3744" y="1152"/>
            <a:chExt cx="1657" cy="1502"/>
          </a:xfrm>
        </p:grpSpPr>
        <p:sp>
          <p:nvSpPr>
            <p:cNvPr id="72847" name="Line 8"/>
            <p:cNvSpPr/>
            <p:nvPr/>
          </p:nvSpPr>
          <p:spPr>
            <a:xfrm flipV="1">
              <a:off x="3744" y="1152"/>
              <a:ext cx="1632" cy="0"/>
            </a:xfrm>
            <a:prstGeom prst="line">
              <a:avLst/>
            </a:prstGeom>
            <a:ln w="25400" cap="flat" cmpd="sng">
              <a:solidFill>
                <a:srgbClr val="CC3300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848" name="Line 9"/>
            <p:cNvSpPr/>
            <p:nvPr/>
          </p:nvSpPr>
          <p:spPr>
            <a:xfrm flipV="1">
              <a:off x="5401" y="1164"/>
              <a:ext cx="0" cy="1490"/>
            </a:xfrm>
            <a:prstGeom prst="line">
              <a:avLst/>
            </a:prstGeom>
            <a:ln w="25400" cap="flat" cmpd="sng">
              <a:solidFill>
                <a:srgbClr val="CC3300"/>
              </a:solidFill>
              <a:prstDash val="sysDot"/>
              <a:headEnd type="none" w="sm" len="sm"/>
              <a:tailEnd type="none" w="sm" len="sm"/>
            </a:ln>
          </p:spPr>
        </p:sp>
      </p:grpSp>
      <p:grpSp>
        <p:nvGrpSpPr>
          <p:cNvPr id="4" name="Group 10"/>
          <p:cNvGrpSpPr/>
          <p:nvPr/>
        </p:nvGrpSpPr>
        <p:grpSpPr>
          <a:xfrm>
            <a:off x="395288" y="2540000"/>
            <a:ext cx="8566150" cy="3049588"/>
            <a:chOff x="249" y="1600"/>
            <a:chExt cx="5396" cy="1921"/>
          </a:xfrm>
        </p:grpSpPr>
        <p:grpSp>
          <p:nvGrpSpPr>
            <p:cNvPr id="72758" name="Group 11"/>
            <p:cNvGrpSpPr/>
            <p:nvPr/>
          </p:nvGrpSpPr>
          <p:grpSpPr>
            <a:xfrm>
              <a:off x="2493" y="1602"/>
              <a:ext cx="1274" cy="274"/>
              <a:chOff x="2530" y="1805"/>
              <a:chExt cx="1274" cy="274"/>
            </a:xfrm>
          </p:grpSpPr>
          <p:sp>
            <p:nvSpPr>
              <p:cNvPr id="72842" name="Rectangle 12"/>
              <p:cNvSpPr/>
              <p:nvPr/>
            </p:nvSpPr>
            <p:spPr>
              <a:xfrm>
                <a:off x="2530" y="1809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43" name="Line 13"/>
              <p:cNvSpPr/>
              <p:nvPr/>
            </p:nvSpPr>
            <p:spPr>
              <a:xfrm>
                <a:off x="2766" y="1813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44" name="Line 14"/>
              <p:cNvSpPr/>
              <p:nvPr/>
            </p:nvSpPr>
            <p:spPr>
              <a:xfrm>
                <a:off x="3576" y="1813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45" name="Line 15"/>
              <p:cNvSpPr/>
              <p:nvPr/>
            </p:nvSpPr>
            <p:spPr>
              <a:xfrm>
                <a:off x="2991" y="1805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46" name="Line 16"/>
              <p:cNvSpPr/>
              <p:nvPr/>
            </p:nvSpPr>
            <p:spPr>
              <a:xfrm>
                <a:off x="3358" y="1805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59" name="Rectangle 17"/>
            <p:cNvSpPr/>
            <p:nvPr/>
          </p:nvSpPr>
          <p:spPr>
            <a:xfrm>
              <a:off x="2514" y="162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60" name="Rectangle 18"/>
            <p:cNvSpPr/>
            <p:nvPr/>
          </p:nvSpPr>
          <p:spPr>
            <a:xfrm>
              <a:off x="3562" y="16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61" name="Rectangle 19"/>
            <p:cNvSpPr/>
            <p:nvPr/>
          </p:nvSpPr>
          <p:spPr>
            <a:xfrm>
              <a:off x="3009" y="160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A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grpSp>
          <p:nvGrpSpPr>
            <p:cNvPr id="72762" name="Group 20"/>
            <p:cNvGrpSpPr/>
            <p:nvPr/>
          </p:nvGrpSpPr>
          <p:grpSpPr>
            <a:xfrm>
              <a:off x="3917" y="2098"/>
              <a:ext cx="1274" cy="274"/>
              <a:chOff x="3954" y="2301"/>
              <a:chExt cx="1274" cy="274"/>
            </a:xfrm>
          </p:grpSpPr>
          <p:sp>
            <p:nvSpPr>
              <p:cNvPr id="72837" name="Rectangle 21"/>
              <p:cNvSpPr/>
              <p:nvPr/>
            </p:nvSpPr>
            <p:spPr>
              <a:xfrm>
                <a:off x="3954" y="2305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38" name="Line 22"/>
              <p:cNvSpPr/>
              <p:nvPr/>
            </p:nvSpPr>
            <p:spPr>
              <a:xfrm>
                <a:off x="4190" y="2309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39" name="Line 23"/>
              <p:cNvSpPr/>
              <p:nvPr/>
            </p:nvSpPr>
            <p:spPr>
              <a:xfrm>
                <a:off x="5000" y="2309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40" name="Line 24"/>
              <p:cNvSpPr/>
              <p:nvPr/>
            </p:nvSpPr>
            <p:spPr>
              <a:xfrm>
                <a:off x="4415" y="2301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41" name="Line 25"/>
              <p:cNvSpPr/>
              <p:nvPr/>
            </p:nvSpPr>
            <p:spPr>
              <a:xfrm>
                <a:off x="4782" y="2301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63" name="Rectangle 26"/>
            <p:cNvSpPr/>
            <p:nvPr/>
          </p:nvSpPr>
          <p:spPr>
            <a:xfrm>
              <a:off x="3938" y="211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64" name="Rectangle 27"/>
            <p:cNvSpPr/>
            <p:nvPr/>
          </p:nvSpPr>
          <p:spPr>
            <a:xfrm>
              <a:off x="4986" y="21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65" name="Rectangle 28"/>
            <p:cNvSpPr/>
            <p:nvPr/>
          </p:nvSpPr>
          <p:spPr>
            <a:xfrm>
              <a:off x="4433" y="209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C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grpSp>
          <p:nvGrpSpPr>
            <p:cNvPr id="72766" name="Group 29"/>
            <p:cNvGrpSpPr/>
            <p:nvPr/>
          </p:nvGrpSpPr>
          <p:grpSpPr>
            <a:xfrm>
              <a:off x="1015" y="2105"/>
              <a:ext cx="1274" cy="274"/>
              <a:chOff x="1052" y="2308"/>
              <a:chExt cx="1274" cy="274"/>
            </a:xfrm>
          </p:grpSpPr>
          <p:sp>
            <p:nvSpPr>
              <p:cNvPr id="72832" name="Rectangle 30"/>
              <p:cNvSpPr/>
              <p:nvPr/>
            </p:nvSpPr>
            <p:spPr>
              <a:xfrm>
                <a:off x="1052" y="2312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33" name="Line 31"/>
              <p:cNvSpPr/>
              <p:nvPr/>
            </p:nvSpPr>
            <p:spPr>
              <a:xfrm>
                <a:off x="1288" y="2316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34" name="Line 32"/>
              <p:cNvSpPr/>
              <p:nvPr/>
            </p:nvSpPr>
            <p:spPr>
              <a:xfrm>
                <a:off x="2098" y="2316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35" name="Line 33"/>
              <p:cNvSpPr/>
              <p:nvPr/>
            </p:nvSpPr>
            <p:spPr>
              <a:xfrm>
                <a:off x="1513" y="2308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36" name="Line 34"/>
              <p:cNvSpPr/>
              <p:nvPr/>
            </p:nvSpPr>
            <p:spPr>
              <a:xfrm>
                <a:off x="1880" y="2308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67" name="Rectangle 35"/>
            <p:cNvSpPr/>
            <p:nvPr/>
          </p:nvSpPr>
          <p:spPr>
            <a:xfrm>
              <a:off x="1036" y="212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68" name="Rectangle 36"/>
            <p:cNvSpPr/>
            <p:nvPr/>
          </p:nvSpPr>
          <p:spPr>
            <a:xfrm>
              <a:off x="2084" y="213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69" name="Rectangle 37"/>
            <p:cNvSpPr/>
            <p:nvPr/>
          </p:nvSpPr>
          <p:spPr>
            <a:xfrm>
              <a:off x="1531" y="2103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B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grpSp>
          <p:nvGrpSpPr>
            <p:cNvPr id="72770" name="Group 38"/>
            <p:cNvGrpSpPr/>
            <p:nvPr/>
          </p:nvGrpSpPr>
          <p:grpSpPr>
            <a:xfrm>
              <a:off x="1721" y="2630"/>
              <a:ext cx="1274" cy="274"/>
              <a:chOff x="1758" y="2833"/>
              <a:chExt cx="1274" cy="274"/>
            </a:xfrm>
          </p:grpSpPr>
          <p:sp>
            <p:nvSpPr>
              <p:cNvPr id="72827" name="Rectangle 39"/>
              <p:cNvSpPr/>
              <p:nvPr/>
            </p:nvSpPr>
            <p:spPr>
              <a:xfrm>
                <a:off x="1758" y="2837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28" name="Line 40"/>
              <p:cNvSpPr/>
              <p:nvPr/>
            </p:nvSpPr>
            <p:spPr>
              <a:xfrm>
                <a:off x="1994" y="2841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29" name="Line 41"/>
              <p:cNvSpPr/>
              <p:nvPr/>
            </p:nvSpPr>
            <p:spPr>
              <a:xfrm>
                <a:off x="2804" y="2841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30" name="Line 42"/>
              <p:cNvSpPr/>
              <p:nvPr/>
            </p:nvSpPr>
            <p:spPr>
              <a:xfrm>
                <a:off x="2219" y="2833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31" name="Line 43"/>
              <p:cNvSpPr/>
              <p:nvPr/>
            </p:nvSpPr>
            <p:spPr>
              <a:xfrm>
                <a:off x="2586" y="2833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71" name="Rectangle 44"/>
            <p:cNvSpPr/>
            <p:nvPr/>
          </p:nvSpPr>
          <p:spPr>
            <a:xfrm>
              <a:off x="1742" y="265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72" name="Rectangle 45"/>
            <p:cNvSpPr/>
            <p:nvPr/>
          </p:nvSpPr>
          <p:spPr>
            <a:xfrm>
              <a:off x="2790" y="265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73" name="Rectangle 46"/>
            <p:cNvSpPr/>
            <p:nvPr/>
          </p:nvSpPr>
          <p:spPr>
            <a:xfrm>
              <a:off x="2237" y="2628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E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grpSp>
          <p:nvGrpSpPr>
            <p:cNvPr id="72774" name="Group 47"/>
            <p:cNvGrpSpPr/>
            <p:nvPr/>
          </p:nvGrpSpPr>
          <p:grpSpPr>
            <a:xfrm>
              <a:off x="3198" y="2623"/>
              <a:ext cx="1274" cy="274"/>
              <a:chOff x="3235" y="2826"/>
              <a:chExt cx="1274" cy="274"/>
            </a:xfrm>
          </p:grpSpPr>
          <p:sp>
            <p:nvSpPr>
              <p:cNvPr id="72822" name="Rectangle 48"/>
              <p:cNvSpPr/>
              <p:nvPr/>
            </p:nvSpPr>
            <p:spPr>
              <a:xfrm>
                <a:off x="3235" y="2830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23" name="Line 49"/>
              <p:cNvSpPr/>
              <p:nvPr/>
            </p:nvSpPr>
            <p:spPr>
              <a:xfrm>
                <a:off x="3471" y="2834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24" name="Line 50"/>
              <p:cNvSpPr/>
              <p:nvPr/>
            </p:nvSpPr>
            <p:spPr>
              <a:xfrm>
                <a:off x="4281" y="2834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25" name="Line 51"/>
              <p:cNvSpPr/>
              <p:nvPr/>
            </p:nvSpPr>
            <p:spPr>
              <a:xfrm>
                <a:off x="3696" y="2826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26" name="Line 52"/>
              <p:cNvSpPr/>
              <p:nvPr/>
            </p:nvSpPr>
            <p:spPr>
              <a:xfrm>
                <a:off x="4063" y="2826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75" name="Rectangle 53"/>
            <p:cNvSpPr/>
            <p:nvPr/>
          </p:nvSpPr>
          <p:spPr>
            <a:xfrm>
              <a:off x="3219" y="264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76" name="Rectangle 54"/>
            <p:cNvSpPr/>
            <p:nvPr/>
          </p:nvSpPr>
          <p:spPr>
            <a:xfrm>
              <a:off x="4267" y="264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77" name="Rectangle 55"/>
            <p:cNvSpPr/>
            <p:nvPr/>
          </p:nvSpPr>
          <p:spPr>
            <a:xfrm>
              <a:off x="3714" y="2621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F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grpSp>
          <p:nvGrpSpPr>
            <p:cNvPr id="72778" name="Group 56"/>
            <p:cNvGrpSpPr/>
            <p:nvPr/>
          </p:nvGrpSpPr>
          <p:grpSpPr>
            <a:xfrm>
              <a:off x="4653" y="2608"/>
              <a:ext cx="992" cy="274"/>
              <a:chOff x="4690" y="2811"/>
              <a:chExt cx="1274" cy="274"/>
            </a:xfrm>
          </p:grpSpPr>
          <p:sp>
            <p:nvSpPr>
              <p:cNvPr id="72817" name="Rectangle 57"/>
              <p:cNvSpPr/>
              <p:nvPr/>
            </p:nvSpPr>
            <p:spPr>
              <a:xfrm>
                <a:off x="4690" y="2815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18" name="Line 58"/>
              <p:cNvSpPr/>
              <p:nvPr/>
            </p:nvSpPr>
            <p:spPr>
              <a:xfrm>
                <a:off x="4926" y="2819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19" name="Line 59"/>
              <p:cNvSpPr/>
              <p:nvPr/>
            </p:nvSpPr>
            <p:spPr>
              <a:xfrm>
                <a:off x="5736" y="2819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20" name="Line 60"/>
              <p:cNvSpPr/>
              <p:nvPr/>
            </p:nvSpPr>
            <p:spPr>
              <a:xfrm>
                <a:off x="5151" y="2811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21" name="Line 61"/>
              <p:cNvSpPr/>
              <p:nvPr/>
            </p:nvSpPr>
            <p:spPr>
              <a:xfrm>
                <a:off x="5518" y="2811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79" name="Rectangle 62"/>
            <p:cNvSpPr/>
            <p:nvPr/>
          </p:nvSpPr>
          <p:spPr>
            <a:xfrm>
              <a:off x="4674" y="26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80" name="Rectangle 63"/>
            <p:cNvSpPr/>
            <p:nvPr/>
          </p:nvSpPr>
          <p:spPr>
            <a:xfrm>
              <a:off x="5472" y="2605"/>
              <a:ext cx="15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81" name="Rectangle 64"/>
            <p:cNvSpPr/>
            <p:nvPr/>
          </p:nvSpPr>
          <p:spPr>
            <a:xfrm>
              <a:off x="5034" y="260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G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grpSp>
          <p:nvGrpSpPr>
            <p:cNvPr id="72782" name="Group 65"/>
            <p:cNvGrpSpPr/>
            <p:nvPr/>
          </p:nvGrpSpPr>
          <p:grpSpPr>
            <a:xfrm>
              <a:off x="281" y="2631"/>
              <a:ext cx="1274" cy="274"/>
              <a:chOff x="318" y="2834"/>
              <a:chExt cx="1274" cy="274"/>
            </a:xfrm>
          </p:grpSpPr>
          <p:sp>
            <p:nvSpPr>
              <p:cNvPr id="72812" name="Rectangle 66"/>
              <p:cNvSpPr/>
              <p:nvPr/>
            </p:nvSpPr>
            <p:spPr>
              <a:xfrm>
                <a:off x="318" y="2838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13" name="Line 67"/>
              <p:cNvSpPr/>
              <p:nvPr/>
            </p:nvSpPr>
            <p:spPr>
              <a:xfrm>
                <a:off x="554" y="2842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14" name="Line 68"/>
              <p:cNvSpPr/>
              <p:nvPr/>
            </p:nvSpPr>
            <p:spPr>
              <a:xfrm>
                <a:off x="1364" y="2842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15" name="Line 69"/>
              <p:cNvSpPr/>
              <p:nvPr/>
            </p:nvSpPr>
            <p:spPr>
              <a:xfrm>
                <a:off x="779" y="2834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16" name="Line 70"/>
              <p:cNvSpPr/>
              <p:nvPr/>
            </p:nvSpPr>
            <p:spPr>
              <a:xfrm>
                <a:off x="1146" y="2834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83" name="Rectangle 71"/>
            <p:cNvSpPr/>
            <p:nvPr/>
          </p:nvSpPr>
          <p:spPr>
            <a:xfrm>
              <a:off x="302" y="265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84" name="Rectangle 72"/>
            <p:cNvSpPr/>
            <p:nvPr/>
          </p:nvSpPr>
          <p:spPr>
            <a:xfrm>
              <a:off x="1350" y="265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85" name="Rectangle 73"/>
            <p:cNvSpPr/>
            <p:nvPr/>
          </p:nvSpPr>
          <p:spPr>
            <a:xfrm>
              <a:off x="797" y="2629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D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grpSp>
          <p:nvGrpSpPr>
            <p:cNvPr id="72786" name="Group 74"/>
            <p:cNvGrpSpPr/>
            <p:nvPr/>
          </p:nvGrpSpPr>
          <p:grpSpPr>
            <a:xfrm>
              <a:off x="1579" y="3207"/>
              <a:ext cx="1274" cy="274"/>
              <a:chOff x="1616" y="3410"/>
              <a:chExt cx="1274" cy="274"/>
            </a:xfrm>
          </p:grpSpPr>
          <p:sp>
            <p:nvSpPr>
              <p:cNvPr id="72807" name="Rectangle 75"/>
              <p:cNvSpPr/>
              <p:nvPr/>
            </p:nvSpPr>
            <p:spPr>
              <a:xfrm>
                <a:off x="1616" y="3414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08" name="Line 76"/>
              <p:cNvSpPr/>
              <p:nvPr/>
            </p:nvSpPr>
            <p:spPr>
              <a:xfrm>
                <a:off x="1852" y="3418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09" name="Line 77"/>
              <p:cNvSpPr/>
              <p:nvPr/>
            </p:nvSpPr>
            <p:spPr>
              <a:xfrm>
                <a:off x="2662" y="3418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10" name="Line 78"/>
              <p:cNvSpPr/>
              <p:nvPr/>
            </p:nvSpPr>
            <p:spPr>
              <a:xfrm>
                <a:off x="2077" y="3410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11" name="Line 79"/>
              <p:cNvSpPr/>
              <p:nvPr/>
            </p:nvSpPr>
            <p:spPr>
              <a:xfrm>
                <a:off x="2444" y="3410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87" name="Rectangle 80"/>
            <p:cNvSpPr/>
            <p:nvPr/>
          </p:nvSpPr>
          <p:spPr>
            <a:xfrm>
              <a:off x="1600" y="322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88" name="Rectangle 81"/>
            <p:cNvSpPr/>
            <p:nvPr/>
          </p:nvSpPr>
          <p:spPr>
            <a:xfrm>
              <a:off x="2648" y="323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89" name="Rectangle 82"/>
            <p:cNvSpPr/>
            <p:nvPr/>
          </p:nvSpPr>
          <p:spPr>
            <a:xfrm>
              <a:off x="2148" y="3205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I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grpSp>
          <p:nvGrpSpPr>
            <p:cNvPr id="72790" name="Group 83"/>
            <p:cNvGrpSpPr/>
            <p:nvPr/>
          </p:nvGrpSpPr>
          <p:grpSpPr>
            <a:xfrm>
              <a:off x="249" y="3208"/>
              <a:ext cx="1111" cy="274"/>
              <a:chOff x="78" y="3411"/>
              <a:chExt cx="1274" cy="274"/>
            </a:xfrm>
          </p:grpSpPr>
          <p:sp>
            <p:nvSpPr>
              <p:cNvPr id="72802" name="Rectangle 84"/>
              <p:cNvSpPr/>
              <p:nvPr/>
            </p:nvSpPr>
            <p:spPr>
              <a:xfrm>
                <a:off x="78" y="3415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803" name="Line 85"/>
              <p:cNvSpPr/>
              <p:nvPr/>
            </p:nvSpPr>
            <p:spPr>
              <a:xfrm>
                <a:off x="314" y="3419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04" name="Line 86"/>
              <p:cNvSpPr/>
              <p:nvPr/>
            </p:nvSpPr>
            <p:spPr>
              <a:xfrm>
                <a:off x="1124" y="3419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05" name="Line 87"/>
              <p:cNvSpPr/>
              <p:nvPr/>
            </p:nvSpPr>
            <p:spPr>
              <a:xfrm>
                <a:off x="539" y="3411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806" name="Line 88"/>
              <p:cNvSpPr/>
              <p:nvPr/>
            </p:nvSpPr>
            <p:spPr>
              <a:xfrm>
                <a:off x="906" y="3411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91" name="Rectangle 89"/>
            <p:cNvSpPr/>
            <p:nvPr/>
          </p:nvSpPr>
          <p:spPr>
            <a:xfrm>
              <a:off x="263" y="3199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92" name="Rectangle 90"/>
            <p:cNvSpPr/>
            <p:nvPr/>
          </p:nvSpPr>
          <p:spPr>
            <a:xfrm>
              <a:off x="1176" y="319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93" name="Rectangle 91"/>
            <p:cNvSpPr/>
            <p:nvPr/>
          </p:nvSpPr>
          <p:spPr>
            <a:xfrm>
              <a:off x="672" y="3187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PMingLiU" pitchFamily="18" charset="-120"/>
                </a:rPr>
                <a:t>H</a:t>
              </a:r>
              <a:endPara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94" name="Line 92"/>
            <p:cNvSpPr/>
            <p:nvPr/>
          </p:nvSpPr>
          <p:spPr>
            <a:xfrm flipH="1">
              <a:off x="2041" y="1747"/>
              <a:ext cx="787" cy="33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795" name="Line 93"/>
            <p:cNvSpPr/>
            <p:nvPr/>
          </p:nvSpPr>
          <p:spPr>
            <a:xfrm>
              <a:off x="3435" y="1754"/>
              <a:ext cx="833" cy="32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796" name="Line 94"/>
            <p:cNvSpPr/>
            <p:nvPr/>
          </p:nvSpPr>
          <p:spPr>
            <a:xfrm flipH="1">
              <a:off x="953" y="2272"/>
              <a:ext cx="405" cy="33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797" name="Line 95"/>
            <p:cNvSpPr/>
            <p:nvPr/>
          </p:nvSpPr>
          <p:spPr>
            <a:xfrm>
              <a:off x="1951" y="2272"/>
              <a:ext cx="390" cy="3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798" name="Line 96"/>
            <p:cNvSpPr/>
            <p:nvPr/>
          </p:nvSpPr>
          <p:spPr>
            <a:xfrm flipH="1">
              <a:off x="3870" y="2265"/>
              <a:ext cx="398" cy="33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799" name="Line 97"/>
            <p:cNvSpPr/>
            <p:nvPr/>
          </p:nvSpPr>
          <p:spPr>
            <a:xfrm>
              <a:off x="4860" y="2280"/>
              <a:ext cx="413" cy="31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800" name="Line 98"/>
            <p:cNvSpPr/>
            <p:nvPr/>
          </p:nvSpPr>
          <p:spPr>
            <a:xfrm flipH="1">
              <a:off x="524" y="2820"/>
              <a:ext cx="114" cy="40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801" name="Line 99"/>
            <p:cNvSpPr/>
            <p:nvPr/>
          </p:nvSpPr>
          <p:spPr>
            <a:xfrm>
              <a:off x="1231" y="2812"/>
              <a:ext cx="652" cy="37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stealth" w="med" len="lg"/>
            </a:ln>
          </p:spPr>
        </p:sp>
      </p:grpSp>
      <p:grpSp>
        <p:nvGrpSpPr>
          <p:cNvPr id="14" name="Group 100"/>
          <p:cNvGrpSpPr/>
          <p:nvPr/>
        </p:nvGrpSpPr>
        <p:grpSpPr>
          <a:xfrm>
            <a:off x="1597025" y="3046413"/>
            <a:ext cx="6242050" cy="2668587"/>
            <a:chOff x="1006" y="1919"/>
            <a:chExt cx="3932" cy="1681"/>
          </a:xfrm>
        </p:grpSpPr>
        <p:sp>
          <p:nvSpPr>
            <p:cNvPr id="72731" name="Line 101"/>
            <p:cNvSpPr/>
            <p:nvPr/>
          </p:nvSpPr>
          <p:spPr>
            <a:xfrm>
              <a:off x="1079" y="3356"/>
              <a:ext cx="0" cy="24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32" name="Line 102"/>
            <p:cNvSpPr/>
            <p:nvPr/>
          </p:nvSpPr>
          <p:spPr>
            <a:xfrm>
              <a:off x="1089" y="3599"/>
              <a:ext cx="303" cy="1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33" name="Line 103"/>
            <p:cNvSpPr/>
            <p:nvPr/>
          </p:nvSpPr>
          <p:spPr>
            <a:xfrm flipH="1" flipV="1">
              <a:off x="1388" y="3157"/>
              <a:ext cx="1" cy="42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34" name="Line 104"/>
            <p:cNvSpPr/>
            <p:nvPr/>
          </p:nvSpPr>
          <p:spPr>
            <a:xfrm>
              <a:off x="1006" y="2940"/>
              <a:ext cx="382" cy="217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735" name="Line 105"/>
            <p:cNvSpPr/>
            <p:nvPr/>
          </p:nvSpPr>
          <p:spPr>
            <a:xfrm>
              <a:off x="1936" y="3375"/>
              <a:ext cx="0" cy="2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36" name="Line 106"/>
            <p:cNvSpPr/>
            <p:nvPr/>
          </p:nvSpPr>
          <p:spPr>
            <a:xfrm>
              <a:off x="1463" y="3592"/>
              <a:ext cx="466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37" name="Line 107"/>
            <p:cNvSpPr/>
            <p:nvPr/>
          </p:nvSpPr>
          <p:spPr>
            <a:xfrm>
              <a:off x="1463" y="2977"/>
              <a:ext cx="0" cy="615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738" name="Line 108"/>
            <p:cNvSpPr/>
            <p:nvPr/>
          </p:nvSpPr>
          <p:spPr>
            <a:xfrm>
              <a:off x="1590" y="2430"/>
              <a:ext cx="1" cy="675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739" name="Line 109"/>
            <p:cNvSpPr/>
            <p:nvPr/>
          </p:nvSpPr>
          <p:spPr>
            <a:xfrm>
              <a:off x="1591" y="3097"/>
              <a:ext cx="137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40" name="Line 110"/>
            <p:cNvSpPr/>
            <p:nvPr/>
          </p:nvSpPr>
          <p:spPr>
            <a:xfrm>
              <a:off x="2963" y="3105"/>
              <a:ext cx="0" cy="495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41" name="Line 111"/>
            <p:cNvSpPr/>
            <p:nvPr/>
          </p:nvSpPr>
          <p:spPr>
            <a:xfrm>
              <a:off x="2513" y="3600"/>
              <a:ext cx="443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42" name="Line 112"/>
            <p:cNvSpPr/>
            <p:nvPr/>
          </p:nvSpPr>
          <p:spPr>
            <a:xfrm>
              <a:off x="2513" y="3375"/>
              <a:ext cx="0" cy="2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43" name="Line 113"/>
            <p:cNvSpPr/>
            <p:nvPr/>
          </p:nvSpPr>
          <p:spPr>
            <a:xfrm>
              <a:off x="2063" y="2797"/>
              <a:ext cx="8" cy="218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44" name="Line 114"/>
            <p:cNvSpPr/>
            <p:nvPr/>
          </p:nvSpPr>
          <p:spPr>
            <a:xfrm>
              <a:off x="1666" y="3022"/>
              <a:ext cx="390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45" name="Line 115"/>
            <p:cNvSpPr/>
            <p:nvPr/>
          </p:nvSpPr>
          <p:spPr>
            <a:xfrm>
              <a:off x="1666" y="2430"/>
              <a:ext cx="0" cy="59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746" name="Line 116"/>
            <p:cNvSpPr/>
            <p:nvPr/>
          </p:nvSpPr>
          <p:spPr>
            <a:xfrm>
              <a:off x="3523" y="2765"/>
              <a:ext cx="8" cy="218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47" name="Line 117"/>
            <p:cNvSpPr/>
            <p:nvPr/>
          </p:nvSpPr>
          <p:spPr>
            <a:xfrm>
              <a:off x="3126" y="2990"/>
              <a:ext cx="390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48" name="Line 118"/>
            <p:cNvSpPr/>
            <p:nvPr/>
          </p:nvSpPr>
          <p:spPr>
            <a:xfrm flipH="1">
              <a:off x="3126" y="1919"/>
              <a:ext cx="3" cy="1071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749" name="Line 119"/>
            <p:cNvSpPr/>
            <p:nvPr/>
          </p:nvSpPr>
          <p:spPr>
            <a:xfrm>
              <a:off x="4929" y="2752"/>
              <a:ext cx="8" cy="218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50" name="Line 120"/>
            <p:cNvSpPr/>
            <p:nvPr/>
          </p:nvSpPr>
          <p:spPr>
            <a:xfrm>
              <a:off x="4596" y="2968"/>
              <a:ext cx="342" cy="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51" name="Line 121"/>
            <p:cNvSpPr/>
            <p:nvPr/>
          </p:nvSpPr>
          <p:spPr>
            <a:xfrm flipH="1">
              <a:off x="4589" y="2407"/>
              <a:ext cx="1" cy="561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752" name="Line 122"/>
            <p:cNvSpPr/>
            <p:nvPr/>
          </p:nvSpPr>
          <p:spPr>
            <a:xfrm>
              <a:off x="3054" y="1927"/>
              <a:ext cx="5" cy="1056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753" name="Line 123"/>
            <p:cNvSpPr/>
            <p:nvPr/>
          </p:nvSpPr>
          <p:spPr>
            <a:xfrm>
              <a:off x="2661" y="2983"/>
              <a:ext cx="385" cy="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54" name="Line 124"/>
            <p:cNvSpPr/>
            <p:nvPr/>
          </p:nvSpPr>
          <p:spPr>
            <a:xfrm>
              <a:off x="2661" y="2758"/>
              <a:ext cx="0" cy="2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55" name="Line 125"/>
            <p:cNvSpPr/>
            <p:nvPr/>
          </p:nvSpPr>
          <p:spPr>
            <a:xfrm flipH="1">
              <a:off x="4529" y="2407"/>
              <a:ext cx="1" cy="568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stealth" w="med" len="lg"/>
              <a:tailEnd type="none" w="sm" len="sm"/>
            </a:ln>
          </p:spPr>
        </p:sp>
        <p:sp>
          <p:nvSpPr>
            <p:cNvPr id="72756" name="Line 126"/>
            <p:cNvSpPr/>
            <p:nvPr/>
          </p:nvSpPr>
          <p:spPr>
            <a:xfrm>
              <a:off x="4139" y="2975"/>
              <a:ext cx="391" cy="2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72757" name="Line 127"/>
            <p:cNvSpPr/>
            <p:nvPr/>
          </p:nvSpPr>
          <p:spPr>
            <a:xfrm>
              <a:off x="4139" y="2750"/>
              <a:ext cx="0" cy="210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ysDot"/>
              <a:headEnd type="none" w="sm" len="sm"/>
              <a:tailEnd type="none" w="sm" len="sm"/>
            </a:ln>
          </p:spPr>
        </p:sp>
      </p:grpSp>
      <p:sp>
        <p:nvSpPr>
          <p:cNvPr id="282752" name="Text Box 128"/>
          <p:cNvSpPr txBox="1"/>
          <p:nvPr/>
        </p:nvSpPr>
        <p:spPr>
          <a:xfrm>
            <a:off x="304800" y="838200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注：此图中序遍历结果为</a:t>
            </a:r>
            <a:r>
              <a:rPr lang="zh-TW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:  </a:t>
            </a:r>
            <a:r>
              <a: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rPr>
              <a:t>H</a:t>
            </a:r>
            <a:r>
              <a:rPr lang="en-US" altLang="zh-TW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PMingLiU" pitchFamily="18" charset="-120"/>
              </a:rPr>
              <a:t>, D, I, B, E, A, F, C, </a:t>
            </a:r>
            <a:r>
              <a:rPr lang="en-US" altLang="zh-TW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PMingLiU" pitchFamily="18" charset="-120"/>
              </a:rPr>
              <a:t>G</a:t>
            </a:r>
            <a:endParaRPr lang="en-US" altLang="zh-TW" sz="2400" b="1" dirty="0">
              <a:solidFill>
                <a:schemeClr val="accent2"/>
              </a:solidFill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282753" name="AutoShape 129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15" name="Group 130"/>
          <p:cNvGrpSpPr/>
          <p:nvPr/>
        </p:nvGrpSpPr>
        <p:grpSpPr>
          <a:xfrm>
            <a:off x="2397125" y="1530350"/>
            <a:ext cx="4003675" cy="981075"/>
            <a:chOff x="1510" y="964"/>
            <a:chExt cx="2522" cy="618"/>
          </a:xfrm>
        </p:grpSpPr>
        <p:grpSp>
          <p:nvGrpSpPr>
            <p:cNvPr id="72715" name="Group 131"/>
            <p:cNvGrpSpPr/>
            <p:nvPr/>
          </p:nvGrpSpPr>
          <p:grpSpPr>
            <a:xfrm>
              <a:off x="2487" y="1042"/>
              <a:ext cx="1274" cy="274"/>
              <a:chOff x="2524" y="1245"/>
              <a:chExt cx="1274" cy="274"/>
            </a:xfrm>
          </p:grpSpPr>
          <p:sp>
            <p:nvSpPr>
              <p:cNvPr id="72726" name="Rectangle 132"/>
              <p:cNvSpPr/>
              <p:nvPr/>
            </p:nvSpPr>
            <p:spPr>
              <a:xfrm>
                <a:off x="2524" y="1249"/>
                <a:ext cx="1274" cy="27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72727" name="Line 133"/>
              <p:cNvSpPr/>
              <p:nvPr/>
            </p:nvSpPr>
            <p:spPr>
              <a:xfrm>
                <a:off x="2760" y="1253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accent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728" name="Line 134"/>
              <p:cNvSpPr/>
              <p:nvPr/>
            </p:nvSpPr>
            <p:spPr>
              <a:xfrm>
                <a:off x="3570" y="1253"/>
                <a:ext cx="0" cy="262"/>
              </a:xfrm>
              <a:prstGeom prst="line">
                <a:avLst/>
              </a:prstGeom>
              <a:ln w="12700" cap="flat" cmpd="sng">
                <a:solidFill>
                  <a:schemeClr val="accent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729" name="Line 135"/>
              <p:cNvSpPr/>
              <p:nvPr/>
            </p:nvSpPr>
            <p:spPr>
              <a:xfrm>
                <a:off x="2985" y="1245"/>
                <a:ext cx="0" cy="270"/>
              </a:xfrm>
              <a:prstGeom prst="line">
                <a:avLst/>
              </a:prstGeom>
              <a:ln w="12700" cap="flat" cmpd="sng">
                <a:solidFill>
                  <a:schemeClr val="accent2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72730" name="Line 136"/>
              <p:cNvSpPr/>
              <p:nvPr/>
            </p:nvSpPr>
            <p:spPr>
              <a:xfrm>
                <a:off x="3352" y="1245"/>
                <a:ext cx="0" cy="263"/>
              </a:xfrm>
              <a:prstGeom prst="line">
                <a:avLst/>
              </a:prstGeom>
              <a:ln w="12700" cap="flat" cmpd="sng">
                <a:solidFill>
                  <a:schemeClr val="accent2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72716" name="Rectangle 137"/>
            <p:cNvSpPr/>
            <p:nvPr/>
          </p:nvSpPr>
          <p:spPr>
            <a:xfrm>
              <a:off x="2518" y="1050"/>
              <a:ext cx="1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17" name="Rectangle 138"/>
            <p:cNvSpPr/>
            <p:nvPr/>
          </p:nvSpPr>
          <p:spPr>
            <a:xfrm>
              <a:off x="2928" y="1040"/>
              <a:ext cx="384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TW" altLang="en-US" sz="2400" dirty="0">
                  <a:solidFill>
                    <a:srgbClr val="66FF33"/>
                  </a:solidFill>
                  <a:latin typeface="Times New Roman" panose="02020603050405020304" pitchFamily="18" charset="0"/>
                  <a:ea typeface="PMingLiU" pitchFamily="18" charset="-120"/>
                </a:rPr>
                <a:t>--</a:t>
              </a:r>
              <a:endParaRPr lang="zh-TW" altLang="en-US" sz="2400" dirty="0">
                <a:solidFill>
                  <a:srgbClr val="66FF33"/>
                </a:solidFill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18" name="Line 139"/>
            <p:cNvSpPr/>
            <p:nvPr/>
          </p:nvSpPr>
          <p:spPr>
            <a:xfrm flipH="1">
              <a:off x="2626" y="1237"/>
              <a:ext cx="240" cy="345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719" name="Line 140"/>
            <p:cNvSpPr/>
            <p:nvPr/>
          </p:nvSpPr>
          <p:spPr>
            <a:xfrm>
              <a:off x="3456" y="1215"/>
              <a:ext cx="0" cy="225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2720" name="Line 141"/>
            <p:cNvSpPr/>
            <p:nvPr/>
          </p:nvSpPr>
          <p:spPr>
            <a:xfrm>
              <a:off x="3469" y="1440"/>
              <a:ext cx="563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2721" name="Line 142"/>
            <p:cNvSpPr/>
            <p:nvPr/>
          </p:nvSpPr>
          <p:spPr>
            <a:xfrm>
              <a:off x="4032" y="1248"/>
              <a:ext cx="0" cy="192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2722" name="Line 143"/>
            <p:cNvSpPr/>
            <p:nvPr/>
          </p:nvSpPr>
          <p:spPr>
            <a:xfrm>
              <a:off x="3744" y="1248"/>
              <a:ext cx="288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stealth" w="med" len="lg"/>
              <a:tailEnd type="none" w="sm" len="sm"/>
            </a:ln>
          </p:spPr>
        </p:sp>
        <p:sp>
          <p:nvSpPr>
            <p:cNvPr id="72723" name="Line 144"/>
            <p:cNvSpPr/>
            <p:nvPr/>
          </p:nvSpPr>
          <p:spPr>
            <a:xfrm>
              <a:off x="1906" y="1169"/>
              <a:ext cx="570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sm" len="sm"/>
              <a:tailEnd type="stealth" w="med" len="lg"/>
            </a:ln>
          </p:spPr>
        </p:sp>
        <p:sp>
          <p:nvSpPr>
            <p:cNvPr id="72724" name="Rectangle 145"/>
            <p:cNvSpPr/>
            <p:nvPr/>
          </p:nvSpPr>
          <p:spPr>
            <a:xfrm>
              <a:off x="1510" y="964"/>
              <a:ext cx="4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root</a:t>
              </a:r>
              <a:endParaRPr lang="en-US" altLang="zh-TW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72725" name="Rectangle 146"/>
            <p:cNvSpPr/>
            <p:nvPr/>
          </p:nvSpPr>
          <p:spPr>
            <a:xfrm>
              <a:off x="3552" y="105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</p:grpSp>
      <p:sp>
        <p:nvSpPr>
          <p:cNvPr id="72714" name="Rectangle 147"/>
          <p:cNvSpPr>
            <a:spLocks noGrp="1"/>
          </p:cNvSpPr>
          <p:nvPr>
            <p:ph type="title" idx="4294967295"/>
          </p:nvPr>
        </p:nvSpPr>
        <p:spPr>
          <a:xfrm>
            <a:off x="228600" y="228600"/>
            <a:ext cx="7772400" cy="533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ea typeface="楷体_GB2312"/>
              </a:rPr>
              <a:t>对应的中序线索二叉树存储结构如图所示：</a:t>
            </a:r>
            <a:endParaRPr lang="zh-CN" altLang="en-US" sz="2800" b="1" dirty="0">
              <a:solidFill>
                <a:schemeClr val="tx1"/>
              </a:solidFill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282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2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2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752" grpId="0"/>
      <p:bldP spid="28275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4755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chemeClr val="accent2"/>
                </a:solidFill>
              </a:rPr>
              <a:t>【 </a:t>
            </a:r>
            <a:r>
              <a:rPr lang="zh-CN" altLang="en-US" sz="2800" b="1" dirty="0">
                <a:solidFill>
                  <a:schemeClr val="accent2"/>
                </a:solidFill>
              </a:rPr>
              <a:t>计算机系考研题</a:t>
            </a:r>
            <a:r>
              <a:rPr lang="en-US" altLang="zh-CN" sz="2800" b="1" dirty="0">
                <a:solidFill>
                  <a:schemeClr val="accent2"/>
                </a:solidFill>
              </a:rPr>
              <a:t>】</a:t>
            </a:r>
            <a:r>
              <a:rPr lang="zh-CN" altLang="en-US" sz="2800" b="1" dirty="0">
                <a:latin typeface="楷体_GB2312"/>
                <a:ea typeface="楷体_GB2312"/>
              </a:rPr>
              <a:t>给定如图所示二叉树</a:t>
            </a:r>
            <a:r>
              <a:rPr lang="en-US" altLang="zh-CN" sz="2800" b="1" dirty="0">
                <a:latin typeface="楷体_GB2312"/>
                <a:ea typeface="楷体_GB2312"/>
              </a:rPr>
              <a:t>T</a:t>
            </a:r>
            <a:r>
              <a:rPr lang="zh-CN" altLang="en-US" sz="2800" b="1" dirty="0">
                <a:latin typeface="楷体_GB2312"/>
                <a:ea typeface="楷体_GB2312"/>
              </a:rPr>
              <a:t>，请画出与其对应的中序线索二叉树。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grpSp>
        <p:nvGrpSpPr>
          <p:cNvPr id="2" name="Group 3"/>
          <p:cNvGrpSpPr/>
          <p:nvPr/>
        </p:nvGrpSpPr>
        <p:grpSpPr>
          <a:xfrm>
            <a:off x="1863725" y="1371600"/>
            <a:ext cx="3429000" cy="2881313"/>
            <a:chOff x="1174" y="864"/>
            <a:chExt cx="2160" cy="1815"/>
          </a:xfrm>
        </p:grpSpPr>
        <p:sp>
          <p:nvSpPr>
            <p:cNvPr id="74789" name="Rectangle 4"/>
            <p:cNvSpPr/>
            <p:nvPr/>
          </p:nvSpPr>
          <p:spPr>
            <a:xfrm>
              <a:off x="2192" y="864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28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4790" name="Rectangle 5"/>
            <p:cNvSpPr/>
            <p:nvPr/>
          </p:nvSpPr>
          <p:spPr>
            <a:xfrm>
              <a:off x="1798" y="1392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25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4791" name="Group 6"/>
            <p:cNvGrpSpPr/>
            <p:nvPr/>
          </p:nvGrpSpPr>
          <p:grpSpPr>
            <a:xfrm>
              <a:off x="1680" y="1680"/>
              <a:ext cx="480" cy="240"/>
              <a:chOff x="2304" y="2352"/>
              <a:chExt cx="480" cy="240"/>
            </a:xfrm>
          </p:grpSpPr>
          <p:sp>
            <p:nvSpPr>
              <p:cNvPr id="74805" name="Line 7"/>
              <p:cNvSpPr/>
              <p:nvPr/>
            </p:nvSpPr>
            <p:spPr>
              <a:xfrm flipH="1">
                <a:off x="2304" y="2352"/>
                <a:ext cx="192" cy="240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806" name="Line 8"/>
              <p:cNvSpPr/>
              <p:nvPr/>
            </p:nvSpPr>
            <p:spPr>
              <a:xfrm>
                <a:off x="2640" y="2352"/>
                <a:ext cx="144" cy="240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4792" name="Group 9"/>
            <p:cNvGrpSpPr/>
            <p:nvPr/>
          </p:nvGrpSpPr>
          <p:grpSpPr>
            <a:xfrm>
              <a:off x="2112" y="1200"/>
              <a:ext cx="480" cy="240"/>
              <a:chOff x="2304" y="2352"/>
              <a:chExt cx="480" cy="240"/>
            </a:xfrm>
          </p:grpSpPr>
          <p:sp>
            <p:nvSpPr>
              <p:cNvPr id="74803" name="Line 10"/>
              <p:cNvSpPr/>
              <p:nvPr/>
            </p:nvSpPr>
            <p:spPr>
              <a:xfrm flipH="1">
                <a:off x="2304" y="2352"/>
                <a:ext cx="192" cy="240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804" name="Line 11"/>
              <p:cNvSpPr/>
              <p:nvPr/>
            </p:nvSpPr>
            <p:spPr>
              <a:xfrm>
                <a:off x="2640" y="2352"/>
                <a:ext cx="144" cy="240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4793" name="Rectangle 12"/>
            <p:cNvSpPr/>
            <p:nvPr/>
          </p:nvSpPr>
          <p:spPr>
            <a:xfrm>
              <a:off x="1462" y="1872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40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4794" name="Line 13"/>
            <p:cNvSpPr/>
            <p:nvPr/>
          </p:nvSpPr>
          <p:spPr>
            <a:xfrm flipH="1">
              <a:off x="1366" y="2160"/>
              <a:ext cx="192" cy="24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95" name="Rectangle 14"/>
            <p:cNvSpPr/>
            <p:nvPr/>
          </p:nvSpPr>
          <p:spPr>
            <a:xfrm>
              <a:off x="1174" y="2352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55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4796" name="Rectangle 15"/>
            <p:cNvSpPr/>
            <p:nvPr/>
          </p:nvSpPr>
          <p:spPr>
            <a:xfrm>
              <a:off x="1990" y="1872"/>
              <a:ext cx="37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60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4797" name="Rectangle 16"/>
            <p:cNvSpPr/>
            <p:nvPr/>
          </p:nvSpPr>
          <p:spPr>
            <a:xfrm>
              <a:off x="2564" y="1392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33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4798" name="Group 17"/>
            <p:cNvGrpSpPr/>
            <p:nvPr/>
          </p:nvGrpSpPr>
          <p:grpSpPr>
            <a:xfrm>
              <a:off x="2470" y="1680"/>
              <a:ext cx="480" cy="240"/>
              <a:chOff x="2304" y="2352"/>
              <a:chExt cx="480" cy="240"/>
            </a:xfrm>
          </p:grpSpPr>
          <p:sp>
            <p:nvSpPr>
              <p:cNvPr id="74801" name="Line 18"/>
              <p:cNvSpPr/>
              <p:nvPr/>
            </p:nvSpPr>
            <p:spPr>
              <a:xfrm flipH="1">
                <a:off x="2304" y="2352"/>
                <a:ext cx="192" cy="240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802" name="Line 19"/>
              <p:cNvSpPr/>
              <p:nvPr/>
            </p:nvSpPr>
            <p:spPr>
              <a:xfrm>
                <a:off x="2640" y="2352"/>
                <a:ext cx="144" cy="240"/>
              </a:xfrm>
              <a:prstGeom prst="line">
                <a:avLst/>
              </a:prstGeom>
              <a:ln w="22225" cap="flat" cmpd="sng">
                <a:solidFill>
                  <a:schemeClr val="tx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4799" name="Rectangle 20"/>
            <p:cNvSpPr/>
            <p:nvPr/>
          </p:nvSpPr>
          <p:spPr>
            <a:xfrm>
              <a:off x="2304" y="1872"/>
              <a:ext cx="3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08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4800" name="Rectangle 21"/>
            <p:cNvSpPr/>
            <p:nvPr/>
          </p:nvSpPr>
          <p:spPr>
            <a:xfrm>
              <a:off x="2854" y="1872"/>
              <a:ext cx="4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54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4694" name="Rectangle 22"/>
          <p:cNvSpPr/>
          <p:nvPr/>
        </p:nvSpPr>
        <p:spPr>
          <a:xfrm>
            <a:off x="381000" y="4495800"/>
            <a:ext cx="8153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:</a:t>
            </a:r>
            <a:r>
              <a:rPr lang="zh-CN" altLang="en-US" sz="2400" b="1" dirty="0">
                <a:latin typeface="楷体_GB2312"/>
                <a:ea typeface="楷体_GB2312"/>
              </a:rPr>
              <a:t>因为中序遍历序列是：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55</a:t>
            </a:r>
            <a:r>
              <a:rPr lang="en-US" altLang="zh-CN" sz="2400" b="1" dirty="0">
                <a:latin typeface="楷体_GB2312"/>
                <a:ea typeface="楷体_GB2312"/>
              </a:rPr>
              <a:t> 40 25 60 </a:t>
            </a: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28</a:t>
            </a:r>
            <a:r>
              <a:rPr lang="en-US" altLang="zh-CN" sz="2400" b="1" dirty="0">
                <a:latin typeface="楷体_GB2312"/>
                <a:ea typeface="楷体_GB2312"/>
              </a:rPr>
              <a:t>  08 33 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54</a:t>
            </a:r>
            <a:endParaRPr lang="en-US" altLang="zh-CN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对应线索树应当按此规律连线，即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在原二叉树中添加虚线。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grpSp>
        <p:nvGrpSpPr>
          <p:cNvPr id="6" name="Group 23"/>
          <p:cNvGrpSpPr/>
          <p:nvPr/>
        </p:nvGrpSpPr>
        <p:grpSpPr>
          <a:xfrm>
            <a:off x="1143000" y="1828800"/>
            <a:ext cx="4491038" cy="2133600"/>
            <a:chOff x="720" y="1200"/>
            <a:chExt cx="2829" cy="1344"/>
          </a:xfrm>
        </p:grpSpPr>
        <p:grpSp>
          <p:nvGrpSpPr>
            <p:cNvPr id="74760" name="Group 24"/>
            <p:cNvGrpSpPr/>
            <p:nvPr/>
          </p:nvGrpSpPr>
          <p:grpSpPr>
            <a:xfrm>
              <a:off x="912" y="1922"/>
              <a:ext cx="247" cy="622"/>
              <a:chOff x="192" y="2208"/>
              <a:chExt cx="247" cy="622"/>
            </a:xfrm>
          </p:grpSpPr>
          <p:sp>
            <p:nvSpPr>
              <p:cNvPr id="74787" name="Line 25"/>
              <p:cNvSpPr/>
              <p:nvPr/>
            </p:nvSpPr>
            <p:spPr>
              <a:xfrm flipH="1">
                <a:off x="200" y="2829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88" name="Line 26"/>
              <p:cNvSpPr/>
              <p:nvPr/>
            </p:nvSpPr>
            <p:spPr>
              <a:xfrm flipH="1" flipV="1">
                <a:off x="192" y="2208"/>
                <a:ext cx="1" cy="62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sp>
          <p:nvSpPr>
            <p:cNvPr id="74761" name="Rectangle 27"/>
            <p:cNvSpPr/>
            <p:nvPr/>
          </p:nvSpPr>
          <p:spPr>
            <a:xfrm>
              <a:off x="720" y="1536"/>
              <a:ext cx="4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  <a:latin typeface="楷体_GB2312"/>
                  <a:ea typeface="楷体_GB2312"/>
                </a:rPr>
                <a:t>NIL</a:t>
              </a:r>
              <a:endPara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74762" name="Group 28"/>
            <p:cNvGrpSpPr/>
            <p:nvPr/>
          </p:nvGrpSpPr>
          <p:grpSpPr>
            <a:xfrm>
              <a:off x="1462" y="2160"/>
              <a:ext cx="199" cy="384"/>
              <a:chOff x="1001" y="3183"/>
              <a:chExt cx="247" cy="526"/>
            </a:xfrm>
          </p:grpSpPr>
          <p:sp>
            <p:nvSpPr>
              <p:cNvPr id="74785" name="Line 29"/>
              <p:cNvSpPr/>
              <p:nvPr/>
            </p:nvSpPr>
            <p:spPr>
              <a:xfrm>
                <a:off x="1001" y="3708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86" name="Line 30"/>
              <p:cNvSpPr/>
              <p:nvPr/>
            </p:nvSpPr>
            <p:spPr>
              <a:xfrm flipV="1">
                <a:off x="1247" y="3183"/>
                <a:ext cx="1" cy="525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grpSp>
          <p:nvGrpSpPr>
            <p:cNvPr id="74763" name="Group 31"/>
            <p:cNvGrpSpPr/>
            <p:nvPr/>
          </p:nvGrpSpPr>
          <p:grpSpPr>
            <a:xfrm>
              <a:off x="1750" y="1680"/>
              <a:ext cx="96" cy="382"/>
              <a:chOff x="1001" y="3183"/>
              <a:chExt cx="247" cy="526"/>
            </a:xfrm>
          </p:grpSpPr>
          <p:sp>
            <p:nvSpPr>
              <p:cNvPr id="74783" name="Line 32"/>
              <p:cNvSpPr/>
              <p:nvPr/>
            </p:nvSpPr>
            <p:spPr>
              <a:xfrm>
                <a:off x="1001" y="3708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84" name="Line 33"/>
              <p:cNvSpPr/>
              <p:nvPr/>
            </p:nvSpPr>
            <p:spPr>
              <a:xfrm flipV="1">
                <a:off x="1247" y="3183"/>
                <a:ext cx="1" cy="525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grpSp>
          <p:nvGrpSpPr>
            <p:cNvPr id="74764" name="Group 34"/>
            <p:cNvGrpSpPr/>
            <p:nvPr/>
          </p:nvGrpSpPr>
          <p:grpSpPr>
            <a:xfrm>
              <a:off x="2230" y="1200"/>
              <a:ext cx="96" cy="864"/>
              <a:chOff x="1001" y="3183"/>
              <a:chExt cx="247" cy="526"/>
            </a:xfrm>
          </p:grpSpPr>
          <p:sp>
            <p:nvSpPr>
              <p:cNvPr id="74781" name="Line 35"/>
              <p:cNvSpPr/>
              <p:nvPr/>
            </p:nvSpPr>
            <p:spPr>
              <a:xfrm>
                <a:off x="1001" y="3708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82" name="Line 36"/>
              <p:cNvSpPr/>
              <p:nvPr/>
            </p:nvSpPr>
            <p:spPr>
              <a:xfrm flipV="1">
                <a:off x="1247" y="3183"/>
                <a:ext cx="1" cy="525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grpSp>
          <p:nvGrpSpPr>
            <p:cNvPr id="74765" name="Group 37"/>
            <p:cNvGrpSpPr/>
            <p:nvPr/>
          </p:nvGrpSpPr>
          <p:grpSpPr>
            <a:xfrm flipH="1">
              <a:off x="1990" y="1680"/>
              <a:ext cx="48" cy="384"/>
              <a:chOff x="1001" y="3183"/>
              <a:chExt cx="247" cy="526"/>
            </a:xfrm>
          </p:grpSpPr>
          <p:sp>
            <p:nvSpPr>
              <p:cNvPr id="74779" name="Line 38"/>
              <p:cNvSpPr/>
              <p:nvPr/>
            </p:nvSpPr>
            <p:spPr>
              <a:xfrm>
                <a:off x="1001" y="3708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80" name="Line 39"/>
              <p:cNvSpPr/>
              <p:nvPr/>
            </p:nvSpPr>
            <p:spPr>
              <a:xfrm flipV="1">
                <a:off x="1247" y="3183"/>
                <a:ext cx="1" cy="525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grpSp>
          <p:nvGrpSpPr>
            <p:cNvPr id="74766" name="Group 40"/>
            <p:cNvGrpSpPr/>
            <p:nvPr/>
          </p:nvGrpSpPr>
          <p:grpSpPr>
            <a:xfrm flipH="1">
              <a:off x="2806" y="1776"/>
              <a:ext cx="48" cy="384"/>
              <a:chOff x="1001" y="3183"/>
              <a:chExt cx="247" cy="526"/>
            </a:xfrm>
          </p:grpSpPr>
          <p:sp>
            <p:nvSpPr>
              <p:cNvPr id="74777" name="Line 41"/>
              <p:cNvSpPr/>
              <p:nvPr/>
            </p:nvSpPr>
            <p:spPr>
              <a:xfrm>
                <a:off x="1001" y="3708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78" name="Line 42"/>
              <p:cNvSpPr/>
              <p:nvPr/>
            </p:nvSpPr>
            <p:spPr>
              <a:xfrm flipV="1">
                <a:off x="1247" y="3183"/>
                <a:ext cx="1" cy="525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grpSp>
          <p:nvGrpSpPr>
            <p:cNvPr id="74767" name="Group 43"/>
            <p:cNvGrpSpPr/>
            <p:nvPr/>
          </p:nvGrpSpPr>
          <p:grpSpPr>
            <a:xfrm flipH="1">
              <a:off x="2374" y="1200"/>
              <a:ext cx="96" cy="960"/>
              <a:chOff x="1001" y="3183"/>
              <a:chExt cx="247" cy="526"/>
            </a:xfrm>
          </p:grpSpPr>
          <p:sp>
            <p:nvSpPr>
              <p:cNvPr id="74775" name="Line 44"/>
              <p:cNvSpPr/>
              <p:nvPr/>
            </p:nvSpPr>
            <p:spPr>
              <a:xfrm>
                <a:off x="1001" y="3708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76" name="Line 45"/>
              <p:cNvSpPr/>
              <p:nvPr/>
            </p:nvSpPr>
            <p:spPr>
              <a:xfrm flipV="1">
                <a:off x="1247" y="3183"/>
                <a:ext cx="1" cy="525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grpSp>
          <p:nvGrpSpPr>
            <p:cNvPr id="74768" name="Group 46"/>
            <p:cNvGrpSpPr/>
            <p:nvPr/>
          </p:nvGrpSpPr>
          <p:grpSpPr>
            <a:xfrm>
              <a:off x="2614" y="1776"/>
              <a:ext cx="96" cy="382"/>
              <a:chOff x="1001" y="3183"/>
              <a:chExt cx="247" cy="526"/>
            </a:xfrm>
          </p:grpSpPr>
          <p:sp>
            <p:nvSpPr>
              <p:cNvPr id="74773" name="Line 47"/>
              <p:cNvSpPr/>
              <p:nvPr/>
            </p:nvSpPr>
            <p:spPr>
              <a:xfrm>
                <a:off x="1001" y="3708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74" name="Line 48"/>
              <p:cNvSpPr/>
              <p:nvPr/>
            </p:nvSpPr>
            <p:spPr>
              <a:xfrm flipV="1">
                <a:off x="1247" y="3183"/>
                <a:ext cx="1" cy="525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grpSp>
          <p:nvGrpSpPr>
            <p:cNvPr id="74769" name="Group 49"/>
            <p:cNvGrpSpPr/>
            <p:nvPr/>
          </p:nvGrpSpPr>
          <p:grpSpPr>
            <a:xfrm>
              <a:off x="3161" y="1728"/>
              <a:ext cx="199" cy="432"/>
              <a:chOff x="1001" y="3183"/>
              <a:chExt cx="247" cy="526"/>
            </a:xfrm>
          </p:grpSpPr>
          <p:sp>
            <p:nvSpPr>
              <p:cNvPr id="74771" name="Line 50"/>
              <p:cNvSpPr/>
              <p:nvPr/>
            </p:nvSpPr>
            <p:spPr>
              <a:xfrm>
                <a:off x="1001" y="3708"/>
                <a:ext cx="239" cy="1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74772" name="Line 51"/>
              <p:cNvSpPr/>
              <p:nvPr/>
            </p:nvSpPr>
            <p:spPr>
              <a:xfrm flipV="1">
                <a:off x="1247" y="3183"/>
                <a:ext cx="1" cy="525"/>
              </a:xfrm>
              <a:prstGeom prst="line">
                <a:avLst/>
              </a:prstGeom>
              <a:ln w="12700" cap="flat" cmpd="sng">
                <a:solidFill>
                  <a:schemeClr val="hlink"/>
                </a:solidFill>
                <a:prstDash val="sysDot"/>
                <a:headEnd type="none" w="sm" len="sm"/>
                <a:tailEnd type="stealth" w="med" len="lg"/>
              </a:ln>
            </p:spPr>
          </p:sp>
        </p:grpSp>
        <p:sp>
          <p:nvSpPr>
            <p:cNvPr id="74770" name="Rectangle 52"/>
            <p:cNvSpPr/>
            <p:nvPr/>
          </p:nvSpPr>
          <p:spPr>
            <a:xfrm>
              <a:off x="3142" y="1440"/>
              <a:ext cx="40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1"/>
                  </a:solidFill>
                  <a:latin typeface="楷体_GB2312"/>
                  <a:ea typeface="楷体_GB2312"/>
                </a:rPr>
                <a:t>NIL</a:t>
              </a:r>
              <a:endPara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endParaRPr>
            </a:p>
          </p:txBody>
        </p:sp>
      </p:grpSp>
      <p:sp>
        <p:nvSpPr>
          <p:cNvPr id="284725" name="AutoShape 53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4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284694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4">
                                            <p:txEl>
                                              <p:charRg st="37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84694">
                                            <p:txEl>
                                              <p:charRg st="37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94" grpId="0" build="p"/>
      <p:bldP spid="2847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779" name="Rectangle 2"/>
          <p:cNvSpPr>
            <a:spLocks noGrp="1"/>
          </p:cNvSpPr>
          <p:nvPr>
            <p:ph type="title"/>
          </p:nvPr>
        </p:nvSpPr>
        <p:spPr>
          <a:xfrm>
            <a:off x="304800" y="304800"/>
            <a:ext cx="7772400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线索二叉树的生成算法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算法</a:t>
            </a:r>
            <a:r>
              <a:rPr lang="en-US" altLang="zh-CN" sz="2400" b="1" dirty="0">
                <a:solidFill>
                  <a:schemeClr val="accent2"/>
                </a:solidFill>
                <a:ea typeface="楷体_GB2312"/>
              </a:rPr>
              <a:t>6.6, 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见教材</a:t>
            </a:r>
            <a:r>
              <a:rPr lang="en-US" altLang="zh-CN" sz="2400" b="1" dirty="0">
                <a:solidFill>
                  <a:schemeClr val="accent2"/>
                </a:solidFill>
                <a:ea typeface="楷体_GB2312"/>
              </a:rPr>
              <a:t>P134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）</a:t>
            </a:r>
            <a:endParaRPr lang="zh-CN" altLang="en-US" sz="24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285699" name="Rectangle 3"/>
          <p:cNvSpPr/>
          <p:nvPr/>
        </p:nvSpPr>
        <p:spPr>
          <a:xfrm>
            <a:off x="52388" y="908050"/>
            <a:ext cx="90916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目的：在依某种顺序遍历二叉树时修改空指针，添加前驱或后继。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85700" name="Rectangle 4"/>
          <p:cNvSpPr/>
          <p:nvPr/>
        </p:nvSpPr>
        <p:spPr>
          <a:xfrm>
            <a:off x="250825" y="1412875"/>
            <a:ext cx="8686800" cy="858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注解：为方便添加结点的前驱或后继，需要设置两个指针：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1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            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指针→当前结点之指针； 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pre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指针→前驱结点之指针。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85701" name="Rectangle 5"/>
          <p:cNvSpPr/>
          <p:nvPr/>
        </p:nvSpPr>
        <p:spPr>
          <a:xfrm>
            <a:off x="228600" y="2286000"/>
            <a:ext cx="86868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55980" lvl="0" indent="-85598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技巧：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当结点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的左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/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右域为空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时，只改写它的左域（装入前驱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pre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）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，而其右域（后继）留给下一结点来填写。</a:t>
            </a:r>
            <a:endParaRPr lang="zh-CN" altLang="en-US" sz="2400" b="1" dirty="0">
              <a:latin typeface="Times New Roman" panose="02020603050405020304" pitchFamily="18" charset="0"/>
              <a:ea typeface="楷体_GB2312"/>
            </a:endParaRPr>
          </a:p>
          <a:p>
            <a:pPr marL="855980" lvl="0" indent="-85598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     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或者说，当前结点的指针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p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应当送到前驱结点的空右域中。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85702" name="AutoShape 6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85703" name="Rectangle 7"/>
          <p:cNvSpPr/>
          <p:nvPr/>
        </p:nvSpPr>
        <p:spPr>
          <a:xfrm>
            <a:off x="457200" y="3810000"/>
            <a:ext cx="8153400" cy="173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若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p-&gt;l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child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＝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NULL</a:t>
            </a:r>
            <a:r>
              <a:rPr lang="en-US" altLang="zh-CN" sz="2400" b="1" dirty="0">
                <a:latin typeface="楷体_GB2312"/>
                <a:ea typeface="楷体_GB2312"/>
              </a:rPr>
              <a:t>,</a:t>
            </a:r>
            <a:r>
              <a:rPr lang="zh-CN" altLang="en-US" sz="2400" b="1" dirty="0">
                <a:latin typeface="楷体_GB2312"/>
                <a:ea typeface="楷体_GB2312"/>
              </a:rPr>
              <a:t>则</a:t>
            </a:r>
            <a:r>
              <a:rPr lang="en-US" altLang="zh-CN" sz="2400" b="1" dirty="0">
                <a:latin typeface="楷体_GB2312"/>
                <a:ea typeface="楷体_GB2312"/>
              </a:rPr>
              <a:t>{p-&gt;Ltag=1;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p-&gt;l</a:t>
            </a:r>
            <a:r>
              <a:rPr lang="en-US" altLang="zh-CN" sz="2400" b="1" dirty="0">
                <a:latin typeface="楷体_GB2312"/>
                <a:ea typeface="楷体_GB2312"/>
              </a:rPr>
              <a:t>child</a:t>
            </a:r>
            <a:r>
              <a:rPr lang="zh-CN" altLang="en-US" sz="2400" b="1" dirty="0">
                <a:latin typeface="楷体_GB2312"/>
                <a:ea typeface="楷体_GB2312"/>
              </a:rPr>
              <a:t>＝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pre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;</a:t>
            </a:r>
            <a:r>
              <a:rPr lang="en-US" altLang="zh-CN" sz="2400" b="1" dirty="0">
                <a:latin typeface="楷体_GB2312"/>
                <a:ea typeface="楷体_GB2312"/>
              </a:rPr>
              <a:t>}</a:t>
            </a:r>
            <a:endParaRPr lang="en-US" altLang="zh-CN" sz="24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                   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//p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的前驱结点指针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pre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存入左空域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若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pre-&gt;rchild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/>
              </a:rPr>
              <a:t>＝</a:t>
            </a:r>
            <a:r>
              <a:rPr lang="en-US" altLang="zh-CN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NULL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, </a:t>
            </a:r>
            <a:r>
              <a:rPr lang="zh-CN" altLang="en-US" sz="2400" b="1" dirty="0">
                <a:latin typeface="楷体_GB2312"/>
                <a:ea typeface="楷体_GB2312"/>
              </a:rPr>
              <a:t>则</a:t>
            </a:r>
            <a:r>
              <a:rPr lang="en-US" altLang="zh-CN" sz="2400" b="1" dirty="0">
                <a:latin typeface="楷体_GB2312"/>
                <a:ea typeface="楷体_GB2312"/>
              </a:rPr>
              <a:t>{pre-&gt;Rtag</a:t>
            </a:r>
            <a:r>
              <a:rPr lang="zh-CN" altLang="en-US" sz="2400" b="1" dirty="0">
                <a:latin typeface="楷体_GB2312"/>
                <a:ea typeface="楷体_GB2312"/>
              </a:rPr>
              <a:t>＝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1;pre-&gt;rchild=p;}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                  //p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存入其前驱结点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pre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的右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空域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85700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charRg st="27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85700">
                                            <p:txEl>
                                              <p:charRg st="27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85701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>
                                            <p:txEl>
                                              <p:charRg st="52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85701">
                                            <p:txEl>
                                              <p:charRg st="52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03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03">
                                            <p:txEl>
                                              <p:charRg st="44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03">
                                            <p:txEl>
                                              <p:charRg st="82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03">
                                            <p:txEl>
                                              <p:charRg st="131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/>
      <p:bldP spid="285700" grpId="0" build="p"/>
      <p:bldP spid="285701" grpId="0" build="p"/>
      <p:bldP spid="285702" grpId="0" animBg="1"/>
      <p:bldP spid="28570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6803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50292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线索二叉树的遍历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23" name="Rectangle 3"/>
          <p:cNvSpPr/>
          <p:nvPr/>
        </p:nvSpPr>
        <p:spPr>
          <a:xfrm>
            <a:off x="304800" y="990600"/>
            <a:ext cx="84582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理论上，只要找到序列中的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第一个结点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，然后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依次访问结点的后继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直到后继为空时结束。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286724" name="Rectangle 4"/>
          <p:cNvSpPr>
            <a:spLocks noChangeArrowheads="1"/>
          </p:cNvSpPr>
          <p:nvPr/>
        </p:nvSpPr>
        <p:spPr bwMode="auto">
          <a:xfrm>
            <a:off x="323850" y="1989138"/>
            <a:ext cx="8382000" cy="1187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但是，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在线索化二叉树中，并不是每个结点都能直接找到其后继的，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当标志为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0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时，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R_child=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右孩子地址指针，并非后继！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需要通过一定运算才能找到它的后继。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86725" name="Rectangle 5"/>
          <p:cNvSpPr>
            <a:spLocks noChangeArrowheads="1"/>
          </p:cNvSpPr>
          <p:nvPr/>
        </p:nvSpPr>
        <p:spPr bwMode="auto">
          <a:xfrm>
            <a:off x="323850" y="3284538"/>
            <a:ext cx="8820150" cy="1552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以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中序线索二叉树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为例：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对叶子结点（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RTag=1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），直接后继指针就在其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rchild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域内；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对其他结点（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RTag=0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），直接后继是其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右子树最左下的结点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；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（因为中序遍历规则是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LDR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先左再根再右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86726" name="AutoShape 6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" name="Group 7"/>
          <p:cNvGrpSpPr/>
          <p:nvPr/>
        </p:nvGrpSpPr>
        <p:grpSpPr>
          <a:xfrm>
            <a:off x="6011863" y="4508500"/>
            <a:ext cx="2012950" cy="1752600"/>
            <a:chOff x="3600" y="3072"/>
            <a:chExt cx="1268" cy="1104"/>
          </a:xfrm>
        </p:grpSpPr>
        <p:sp>
          <p:nvSpPr>
            <p:cNvPr id="76809" name="Rectangle 8"/>
            <p:cNvSpPr/>
            <p:nvPr/>
          </p:nvSpPr>
          <p:spPr>
            <a:xfrm>
              <a:off x="4205" y="3072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①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6810" name="Rectangle 9"/>
            <p:cNvSpPr/>
            <p:nvPr/>
          </p:nvSpPr>
          <p:spPr>
            <a:xfrm>
              <a:off x="3936" y="3216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②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6811" name="Line 10"/>
            <p:cNvSpPr/>
            <p:nvPr/>
          </p:nvSpPr>
          <p:spPr>
            <a:xfrm flipH="1">
              <a:off x="3858" y="3407"/>
              <a:ext cx="161" cy="149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12" name="Line 11"/>
            <p:cNvSpPr/>
            <p:nvPr/>
          </p:nvSpPr>
          <p:spPr>
            <a:xfrm>
              <a:off x="4083" y="3416"/>
              <a:ext cx="97" cy="14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13" name="Line 12"/>
            <p:cNvSpPr/>
            <p:nvPr/>
          </p:nvSpPr>
          <p:spPr>
            <a:xfrm flipH="1">
              <a:off x="4115" y="3223"/>
              <a:ext cx="133" cy="11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14" name="Line 13"/>
            <p:cNvSpPr/>
            <p:nvPr/>
          </p:nvSpPr>
          <p:spPr>
            <a:xfrm>
              <a:off x="4348" y="3223"/>
              <a:ext cx="154" cy="110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15" name="Rectangle 14"/>
            <p:cNvSpPr/>
            <p:nvPr/>
          </p:nvSpPr>
          <p:spPr>
            <a:xfrm>
              <a:off x="3761" y="3482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④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6816" name="Line 15"/>
            <p:cNvSpPr/>
            <p:nvPr/>
          </p:nvSpPr>
          <p:spPr>
            <a:xfrm flipH="1">
              <a:off x="3697" y="3631"/>
              <a:ext cx="128" cy="144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17" name="Rectangle 16"/>
            <p:cNvSpPr/>
            <p:nvPr/>
          </p:nvSpPr>
          <p:spPr>
            <a:xfrm>
              <a:off x="3600" y="3696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⑧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6818" name="Rectangle 17"/>
            <p:cNvSpPr/>
            <p:nvPr/>
          </p:nvSpPr>
          <p:spPr>
            <a:xfrm>
              <a:off x="4043" y="3494"/>
              <a:ext cx="1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⑤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6819" name="Line 18"/>
            <p:cNvSpPr/>
            <p:nvPr/>
          </p:nvSpPr>
          <p:spPr>
            <a:xfrm>
              <a:off x="3890" y="3631"/>
              <a:ext cx="129" cy="148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0" name="Rectangle 19"/>
            <p:cNvSpPr/>
            <p:nvPr/>
          </p:nvSpPr>
          <p:spPr>
            <a:xfrm>
              <a:off x="3840" y="3696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⑨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6821" name="Rectangle 20"/>
            <p:cNvSpPr/>
            <p:nvPr/>
          </p:nvSpPr>
          <p:spPr>
            <a:xfrm>
              <a:off x="4416" y="3264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③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6822" name="Line 21"/>
            <p:cNvSpPr/>
            <p:nvPr/>
          </p:nvSpPr>
          <p:spPr>
            <a:xfrm flipH="1">
              <a:off x="4469" y="3444"/>
              <a:ext cx="33" cy="112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3" name="Line 22"/>
            <p:cNvSpPr/>
            <p:nvPr/>
          </p:nvSpPr>
          <p:spPr>
            <a:xfrm>
              <a:off x="4601" y="3458"/>
              <a:ext cx="94" cy="107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6743" name="Rectangle 23"/>
            <p:cNvSpPr>
              <a:spLocks noChangeArrowheads="1"/>
            </p:cNvSpPr>
            <p:nvPr/>
          </p:nvSpPr>
          <p:spPr bwMode="auto">
            <a:xfrm>
              <a:off x="4368" y="3508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⑥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825" name="Rectangle 24"/>
            <p:cNvSpPr/>
            <p:nvPr/>
          </p:nvSpPr>
          <p:spPr>
            <a:xfrm>
              <a:off x="4608" y="3494"/>
              <a:ext cx="2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6826" name="Line 25"/>
            <p:cNvSpPr/>
            <p:nvPr/>
          </p:nvSpPr>
          <p:spPr>
            <a:xfrm flipH="1">
              <a:off x="4115" y="3668"/>
              <a:ext cx="65" cy="149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7" name="Rectangle 26"/>
            <p:cNvSpPr/>
            <p:nvPr/>
          </p:nvSpPr>
          <p:spPr>
            <a:xfrm>
              <a:off x="4020" y="3734"/>
              <a:ext cx="49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⑩……</a:t>
              </a:r>
              <a:endPara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28" name="Line 27"/>
            <p:cNvSpPr/>
            <p:nvPr/>
          </p:nvSpPr>
          <p:spPr>
            <a:xfrm flipH="1">
              <a:off x="4373" y="3668"/>
              <a:ext cx="64" cy="149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6829" name="Line 28"/>
            <p:cNvSpPr/>
            <p:nvPr/>
          </p:nvSpPr>
          <p:spPr>
            <a:xfrm>
              <a:off x="4212" y="3668"/>
              <a:ext cx="64" cy="149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86723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8672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>
                                            <p:txEl>
                                              <p:charRg st="12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86725">
                                            <p:txEl>
                                              <p:charRg st="12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>
                                            <p:txEl>
                                              <p:charRg st="45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86725">
                                            <p:txEl>
                                              <p:charRg st="45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>
                                            <p:txEl>
                                              <p:charRg st="76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86725">
                                            <p:txEl>
                                              <p:charRg st="76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build="p"/>
      <p:bldP spid="286724" grpId="0"/>
      <p:bldP spid="286725" grpId="0" build="p"/>
      <p:bldP spid="28672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7746" name="Rectangle 2"/>
          <p:cNvSpPr/>
          <p:nvPr/>
        </p:nvSpPr>
        <p:spPr>
          <a:xfrm>
            <a:off x="152400" y="685800"/>
            <a:ext cx="8763000" cy="51866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379980" lvl="0" indent="-2379980" eaLnBrk="1" hangingPunct="1">
              <a:buNone/>
            </a:pP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程序注解 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楷体_GB2312"/>
              </a:rPr>
              <a:t>非递归，且不用栈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）：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marL="2379980" lvl="0" indent="-237998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p=T-&gt;lchild; 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从头结点进入到根结点；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2379980" lvl="0" indent="-237998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while( p!=T)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2379980" lvl="0" indent="-237998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</a:rPr>
              <a:t>while(p-&gt;LTag==link)  p=p-&gt;lchild;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先找到中序遍历起点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2379980" lvl="0" indent="-2379980" eaLnBrk="1" hangingPunct="1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if(!visit(p-&gt;data)) return ERROR; 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若起点值为空则出错告警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2379980" lvl="0" indent="-2379980" eaLnBrk="1" hangingPunct="1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while(p-&gt;RTag==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Thread</a:t>
            </a:r>
            <a:r>
              <a:rPr lang="en-US" altLang="zh-CN" sz="24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……){ p=p-&gt;rchild; Visit(p-&gt;data);}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2379980" lvl="0" indent="-2379980" eaLnBrk="1" hangingPunct="1"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                            //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若有后继标志，则直接提取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p-&gt;rchild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中线索并访问后继结点；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2379980" lvl="0" indent="-237998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楷体_GB2312"/>
              </a:rPr>
              <a:t>p=p-&gt;rchild;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  //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当前结点右域不空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或</a:t>
            </a:r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已经找好了后继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，则一律从结点的右子树开始重复</a:t>
            </a: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  <a:ea typeface="楷体_GB2312"/>
              </a:rPr>
              <a:t>{  }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的全部过程。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2379980" lvl="0" indent="-2379980" eaLnBrk="1" hangingPunct="1">
              <a:buNone/>
            </a:pP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}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 marL="2379980" lvl="0" indent="-237998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Return OK;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77828" name="Rectangle 3"/>
          <p:cNvSpPr>
            <a:spLocks noGrp="1"/>
          </p:cNvSpPr>
          <p:nvPr>
            <p:ph type="title"/>
          </p:nvPr>
        </p:nvSpPr>
        <p:spPr>
          <a:xfrm>
            <a:off x="0" y="0"/>
            <a:ext cx="8153400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线索二叉树的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中序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遍历算法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算法</a:t>
            </a:r>
            <a:r>
              <a:rPr lang="en-US" altLang="zh-CN" sz="2400" b="1" dirty="0">
                <a:solidFill>
                  <a:schemeClr val="accent2"/>
                </a:solidFill>
                <a:ea typeface="楷体_GB2312"/>
              </a:rPr>
              <a:t>6.5, </a:t>
            </a:r>
            <a:r>
              <a:rPr lang="zh-CN" altLang="en-US" sz="2400" b="1" dirty="0">
                <a:solidFill>
                  <a:schemeClr val="accent1"/>
                </a:solidFill>
                <a:ea typeface="楷体_GB2312"/>
              </a:rPr>
              <a:t>参见教材</a:t>
            </a:r>
            <a:r>
              <a:rPr lang="en-US" altLang="zh-CN" sz="2400" b="1" dirty="0">
                <a:solidFill>
                  <a:schemeClr val="accent1"/>
                </a:solidFill>
                <a:ea typeface="楷体_GB2312"/>
              </a:rPr>
              <a:t>P134</a:t>
            </a:r>
            <a:r>
              <a:rPr lang="zh-CN" altLang="en-US" sz="2400" b="1" dirty="0">
                <a:solidFill>
                  <a:schemeClr val="accent2"/>
                </a:solidFill>
                <a:ea typeface="楷体_GB2312"/>
              </a:rPr>
              <a:t>）</a:t>
            </a:r>
            <a:endParaRPr lang="zh-CN" altLang="en-US" sz="24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287748" name="AutoShape 4"/>
          <p:cNvSpPr/>
          <p:nvPr/>
        </p:nvSpPr>
        <p:spPr>
          <a:xfrm>
            <a:off x="3581400" y="1600200"/>
            <a:ext cx="1600200" cy="304800"/>
          </a:xfrm>
          <a:prstGeom prst="wedgeEllipseCallout">
            <a:avLst>
              <a:gd name="adj1" fmla="val -90181"/>
              <a:gd name="adj2" fmla="val 105731"/>
            </a:avLst>
          </a:prstGeom>
          <a:solidFill>
            <a:srgbClr val="FFFF99"/>
          </a:solidFill>
          <a:ln w="9525" cap="flat" cmpd="sng">
            <a:solidFill>
              <a:srgbClr val="FFFF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LTag=0</a:t>
            </a:r>
            <a:endParaRPr lang="en-US" altLang="zh-CN" sz="20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749" name="AutoShape 5"/>
          <p:cNvSpPr/>
          <p:nvPr/>
        </p:nvSpPr>
        <p:spPr>
          <a:xfrm>
            <a:off x="228600" y="3581400"/>
            <a:ext cx="1600200" cy="228600"/>
          </a:xfrm>
          <a:prstGeom prst="wedgeEllipseCallout">
            <a:avLst>
              <a:gd name="adj1" fmla="val 115181"/>
              <a:gd name="adj2" fmla="val -196528"/>
            </a:avLst>
          </a:prstGeom>
          <a:solidFill>
            <a:srgbClr val="FFFF99"/>
          </a:solidFill>
          <a:ln w="9525" cap="flat" cmpd="sng">
            <a:solidFill>
              <a:srgbClr val="FFFF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RTag=1</a:t>
            </a:r>
            <a:endParaRPr lang="en-US" altLang="zh-CN" sz="20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750" name="AutoShape 6">
            <a:hlinkClick r:id="" action="ppaction://hlinkshowjump?jump=nextslide"/>
          </p:cNvPr>
          <p:cNvSpPr/>
          <p:nvPr/>
        </p:nvSpPr>
        <p:spPr>
          <a:xfrm>
            <a:off x="82296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87751" name="AutoShape 7">
            <a:hlinkClick r:id="rId1" action="ppaction://hlinksldjump"/>
          </p:cNvPr>
          <p:cNvSpPr/>
          <p:nvPr/>
        </p:nvSpPr>
        <p:spPr>
          <a:xfrm flipH="1">
            <a:off x="7620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47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60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111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163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222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285" end="3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343" end="3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charRg st="34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6" grpId="0" build="p"/>
      <p:bldP spid="287748" grpId="0" animBg="1"/>
      <p:bldP spid="287749" grpId="0" animBg="1"/>
      <p:bldP spid="287750" grpId="0" animBg="1"/>
      <p:bldP spid="28775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8851" name="Rectang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19812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算法流程：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838200" y="381000"/>
            <a:ext cx="6781800" cy="5549900"/>
            <a:chOff x="528" y="240"/>
            <a:chExt cx="4272" cy="3496"/>
          </a:xfrm>
        </p:grpSpPr>
        <p:sp>
          <p:nvSpPr>
            <p:cNvPr id="78855" name="AutoShape 4"/>
            <p:cNvSpPr/>
            <p:nvPr/>
          </p:nvSpPr>
          <p:spPr>
            <a:xfrm>
              <a:off x="3776" y="1296"/>
              <a:ext cx="1024" cy="272"/>
            </a:xfrm>
            <a:prstGeom prst="flowChartProcess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return OK;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56" name="AutoShape 5"/>
            <p:cNvSpPr/>
            <p:nvPr/>
          </p:nvSpPr>
          <p:spPr>
            <a:xfrm>
              <a:off x="1944" y="240"/>
              <a:ext cx="1136" cy="272"/>
            </a:xfrm>
            <a:prstGeom prst="flowChartProcess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p=T-&gt;lchild;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57" name="AutoShape 6"/>
            <p:cNvSpPr/>
            <p:nvPr/>
          </p:nvSpPr>
          <p:spPr>
            <a:xfrm>
              <a:off x="2040" y="696"/>
              <a:ext cx="928" cy="272"/>
            </a:xfrm>
            <a:prstGeom prst="flowChartPreparation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p!=T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58" name="AutoShape 7"/>
            <p:cNvSpPr/>
            <p:nvPr/>
          </p:nvSpPr>
          <p:spPr>
            <a:xfrm>
              <a:off x="1840" y="1168"/>
              <a:ext cx="1280" cy="272"/>
            </a:xfrm>
            <a:prstGeom prst="flowChartPreparation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p-&gt;LTag==0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59" name="AutoShape 8"/>
            <p:cNvSpPr/>
            <p:nvPr/>
          </p:nvSpPr>
          <p:spPr>
            <a:xfrm>
              <a:off x="2008" y="1640"/>
              <a:ext cx="1136" cy="272"/>
            </a:xfrm>
            <a:prstGeom prst="flowChartProcess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p=p-&gt;lchild;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60" name="AutoShape 9"/>
            <p:cNvSpPr/>
            <p:nvPr/>
          </p:nvSpPr>
          <p:spPr>
            <a:xfrm>
              <a:off x="2024" y="2088"/>
              <a:ext cx="1136" cy="272"/>
            </a:xfrm>
            <a:prstGeom prst="flowChartProcess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vist(p-&gt;data);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61" name="Line 10"/>
            <p:cNvSpPr/>
            <p:nvPr/>
          </p:nvSpPr>
          <p:spPr>
            <a:xfrm flipH="1">
              <a:off x="1472" y="1792"/>
              <a:ext cx="528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2" name="Line 11"/>
            <p:cNvSpPr/>
            <p:nvPr/>
          </p:nvSpPr>
          <p:spPr>
            <a:xfrm>
              <a:off x="1464" y="1296"/>
              <a:ext cx="0" cy="504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3" name="Line 12"/>
            <p:cNvSpPr/>
            <p:nvPr/>
          </p:nvSpPr>
          <p:spPr>
            <a:xfrm>
              <a:off x="1464" y="1304"/>
              <a:ext cx="384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64" name="Line 13"/>
            <p:cNvSpPr/>
            <p:nvPr/>
          </p:nvSpPr>
          <p:spPr>
            <a:xfrm flipH="1">
              <a:off x="2472" y="1448"/>
              <a:ext cx="0" cy="184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65" name="Line 14"/>
            <p:cNvSpPr/>
            <p:nvPr/>
          </p:nvSpPr>
          <p:spPr>
            <a:xfrm>
              <a:off x="3112" y="1312"/>
              <a:ext cx="448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6" name="Line 15"/>
            <p:cNvSpPr/>
            <p:nvPr/>
          </p:nvSpPr>
          <p:spPr>
            <a:xfrm flipH="1">
              <a:off x="3568" y="1320"/>
              <a:ext cx="0" cy="656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7" name="Line 16"/>
            <p:cNvSpPr/>
            <p:nvPr/>
          </p:nvSpPr>
          <p:spPr>
            <a:xfrm>
              <a:off x="2520" y="1984"/>
              <a:ext cx="1048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68" name="Line 17"/>
            <p:cNvSpPr/>
            <p:nvPr/>
          </p:nvSpPr>
          <p:spPr>
            <a:xfrm flipH="1">
              <a:off x="2504" y="1976"/>
              <a:ext cx="0" cy="136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69" name="AutoShape 18"/>
            <p:cNvSpPr/>
            <p:nvPr/>
          </p:nvSpPr>
          <p:spPr>
            <a:xfrm>
              <a:off x="944" y="2552"/>
              <a:ext cx="3184" cy="312"/>
            </a:xfrm>
            <a:prstGeom prst="flowChartPreparation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p-&gt;RTag==1&amp;&amp;p-&gt;rchild!=T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70" name="AutoShape 19"/>
            <p:cNvSpPr/>
            <p:nvPr/>
          </p:nvSpPr>
          <p:spPr>
            <a:xfrm>
              <a:off x="1408" y="3008"/>
              <a:ext cx="2208" cy="256"/>
            </a:xfrm>
            <a:prstGeom prst="flowChartProcess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p=p-&gt;rchild;visit(p-&gt;data);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71" name="Line 20"/>
            <p:cNvSpPr/>
            <p:nvPr/>
          </p:nvSpPr>
          <p:spPr>
            <a:xfrm>
              <a:off x="2504" y="2368"/>
              <a:ext cx="0" cy="192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72" name="Line 21"/>
            <p:cNvSpPr/>
            <p:nvPr/>
          </p:nvSpPr>
          <p:spPr>
            <a:xfrm flipH="1">
              <a:off x="2504" y="2872"/>
              <a:ext cx="0" cy="16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73" name="Line 22"/>
            <p:cNvSpPr/>
            <p:nvPr/>
          </p:nvSpPr>
          <p:spPr>
            <a:xfrm flipH="1">
              <a:off x="528" y="840"/>
              <a:ext cx="0" cy="2792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74" name="Line 23"/>
            <p:cNvSpPr/>
            <p:nvPr/>
          </p:nvSpPr>
          <p:spPr>
            <a:xfrm>
              <a:off x="712" y="2712"/>
              <a:ext cx="264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75" name="Line 24"/>
            <p:cNvSpPr/>
            <p:nvPr/>
          </p:nvSpPr>
          <p:spPr>
            <a:xfrm flipV="1">
              <a:off x="4104" y="2704"/>
              <a:ext cx="240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76" name="Line 25"/>
            <p:cNvSpPr/>
            <p:nvPr/>
          </p:nvSpPr>
          <p:spPr>
            <a:xfrm>
              <a:off x="4352" y="2712"/>
              <a:ext cx="0" cy="648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77" name="Line 26"/>
            <p:cNvSpPr/>
            <p:nvPr/>
          </p:nvSpPr>
          <p:spPr>
            <a:xfrm>
              <a:off x="2496" y="3376"/>
              <a:ext cx="1856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78" name="Line 27"/>
            <p:cNvSpPr/>
            <p:nvPr/>
          </p:nvSpPr>
          <p:spPr>
            <a:xfrm>
              <a:off x="2496" y="3376"/>
              <a:ext cx="0" cy="104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79" name="AutoShape 28"/>
            <p:cNvSpPr/>
            <p:nvPr/>
          </p:nvSpPr>
          <p:spPr>
            <a:xfrm>
              <a:off x="1832" y="3480"/>
              <a:ext cx="1328" cy="256"/>
            </a:xfrm>
            <a:prstGeom prst="flowChartProcess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p=p-&gt;rchild;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80" name="Line 29"/>
            <p:cNvSpPr/>
            <p:nvPr/>
          </p:nvSpPr>
          <p:spPr>
            <a:xfrm flipH="1">
              <a:off x="552" y="3616"/>
              <a:ext cx="1272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1" name="Line 30"/>
            <p:cNvSpPr/>
            <p:nvPr/>
          </p:nvSpPr>
          <p:spPr>
            <a:xfrm flipV="1">
              <a:off x="720" y="3160"/>
              <a:ext cx="688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2" name="Line 31"/>
            <p:cNvSpPr/>
            <p:nvPr/>
          </p:nvSpPr>
          <p:spPr>
            <a:xfrm>
              <a:off x="712" y="2720"/>
              <a:ext cx="0" cy="448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3" name="Line 32"/>
            <p:cNvSpPr/>
            <p:nvPr/>
          </p:nvSpPr>
          <p:spPr>
            <a:xfrm>
              <a:off x="544" y="832"/>
              <a:ext cx="1496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4" name="Line 33"/>
            <p:cNvSpPr/>
            <p:nvPr/>
          </p:nvSpPr>
          <p:spPr>
            <a:xfrm flipH="1">
              <a:off x="2472" y="976"/>
              <a:ext cx="0" cy="184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5" name="Line 34"/>
            <p:cNvSpPr/>
            <p:nvPr/>
          </p:nvSpPr>
          <p:spPr>
            <a:xfrm flipV="1">
              <a:off x="2968" y="824"/>
              <a:ext cx="1320" cy="0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6" name="Line 35"/>
            <p:cNvSpPr/>
            <p:nvPr/>
          </p:nvSpPr>
          <p:spPr>
            <a:xfrm>
              <a:off x="4296" y="824"/>
              <a:ext cx="0" cy="456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7" name="Line 36"/>
            <p:cNvSpPr/>
            <p:nvPr/>
          </p:nvSpPr>
          <p:spPr>
            <a:xfrm flipH="1">
              <a:off x="2472" y="520"/>
              <a:ext cx="0" cy="184"/>
            </a:xfrm>
            <a:prstGeom prst="line">
              <a:avLst/>
            </a:prstGeom>
            <a:ln w="28575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88" name="Rectangle 37"/>
            <p:cNvSpPr/>
            <p:nvPr/>
          </p:nvSpPr>
          <p:spPr>
            <a:xfrm>
              <a:off x="2484" y="935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889" name="Rectangle 38"/>
            <p:cNvSpPr/>
            <p:nvPr/>
          </p:nvSpPr>
          <p:spPr>
            <a:xfrm>
              <a:off x="3116" y="623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N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90" name="Rectangle 39"/>
            <p:cNvSpPr/>
            <p:nvPr/>
          </p:nvSpPr>
          <p:spPr>
            <a:xfrm>
              <a:off x="2484" y="1399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891" name="Rectangle 40"/>
            <p:cNvSpPr/>
            <p:nvPr/>
          </p:nvSpPr>
          <p:spPr>
            <a:xfrm>
              <a:off x="3172" y="1087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N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8892" name="Rectangle 41"/>
            <p:cNvSpPr/>
            <p:nvPr/>
          </p:nvSpPr>
          <p:spPr>
            <a:xfrm>
              <a:off x="2500" y="2807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893" name="Rectangle 42"/>
            <p:cNvSpPr/>
            <p:nvPr/>
          </p:nvSpPr>
          <p:spPr>
            <a:xfrm>
              <a:off x="4124" y="2479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N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88811" name="Rectangle 43"/>
          <p:cNvSpPr/>
          <p:nvPr/>
        </p:nvSpPr>
        <p:spPr>
          <a:xfrm>
            <a:off x="8001000" y="3352800"/>
            <a:ext cx="552450" cy="18097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演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示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程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序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sp>
        <p:nvSpPr>
          <p:cNvPr id="288812" name="AutoShape 44">
            <a:hlinkClick r:id="rId1" action="ppaction://hlinksldjump"/>
          </p:cNvPr>
          <p:cNvSpPr/>
          <p:nvPr/>
        </p:nvSpPr>
        <p:spPr>
          <a:xfrm flipH="1"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11" grpId="0" animBg="1"/>
      <p:bldP spid="28881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9875" name="Rectangle 2"/>
          <p:cNvSpPr>
            <a:spLocks noGrp="1"/>
          </p:cNvSpPr>
          <p:nvPr>
            <p:ph type="title"/>
          </p:nvPr>
        </p:nvSpPr>
        <p:spPr>
          <a:xfrm>
            <a:off x="990600" y="228600"/>
            <a:ext cx="6324600" cy="8382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6.4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树和森林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876" name="Rectangle 3"/>
          <p:cNvSpPr/>
          <p:nvPr/>
        </p:nvSpPr>
        <p:spPr>
          <a:xfrm>
            <a:off x="1828800" y="1447800"/>
            <a:ext cx="5791200" cy="2528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hlinkClick r:id="rId1" action="ppaction://hlinksldjump"/>
              </a:rPr>
              <a:t>树和森林与二叉树的转换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10000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hlinkClick r:id="rId2" action="ppaction://hlinksldjump"/>
              </a:rPr>
              <a:t>树和森林的存储方式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10000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hlinkClick r:id="rId3" action="ppaction://hlinksldjump"/>
              </a:rPr>
              <a:t>树和森林的遍历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4132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0899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7620000" cy="6858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200" b="1" dirty="0"/>
              <a:t>1.   </a:t>
            </a:r>
            <a:r>
              <a:rPr lang="zh-CN" altLang="en-US" sz="3200" b="1" dirty="0"/>
              <a:t>树和森林与二叉树的转换</a:t>
            </a:r>
            <a:endParaRPr lang="zh-CN" altLang="en-US" sz="3200" b="1" dirty="0">
              <a:latin typeface="楷体_GB2312"/>
              <a:ea typeface="楷体_GB2312"/>
            </a:endParaRPr>
          </a:p>
        </p:txBody>
      </p:sp>
      <p:sp>
        <p:nvSpPr>
          <p:cNvPr id="305155" name="Rectangle 3"/>
          <p:cNvSpPr/>
          <p:nvPr/>
        </p:nvSpPr>
        <p:spPr>
          <a:xfrm>
            <a:off x="152400" y="1905000"/>
            <a:ext cx="7620000" cy="2743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143000" lvl="0" indent="-1143000" eaLnBrk="1" hangingPunct="1">
              <a:buNone/>
            </a:pPr>
            <a:r>
              <a:rPr lang="zh-CN" altLang="en-US" b="1" dirty="0">
                <a:solidFill>
                  <a:schemeClr val="hlink"/>
                </a:solidFill>
                <a:latin typeface="楷体_GB2312"/>
                <a:ea typeface="楷体_GB2312"/>
              </a:rPr>
              <a:t>转换步骤：</a:t>
            </a:r>
            <a:endParaRPr lang="zh-CN" altLang="en-US" b="1" dirty="0">
              <a:solidFill>
                <a:schemeClr val="hlink"/>
              </a:solidFill>
              <a:latin typeface="楷体_GB2312"/>
              <a:ea typeface="楷体_GB2312"/>
            </a:endParaRPr>
          </a:p>
          <a:p>
            <a:pPr marL="1143000" lvl="0" indent="-1143000" eaLnBrk="1" hangingPunct="1">
              <a:buNone/>
            </a:pPr>
            <a:r>
              <a:rPr lang="en-US" altLang="zh-CN" sz="2800" b="1" dirty="0">
                <a:latin typeface="楷体_GB2312"/>
                <a:ea typeface="楷体_GB2312"/>
              </a:rPr>
              <a:t>step1: </a:t>
            </a:r>
            <a:r>
              <a:rPr lang="zh-CN" altLang="en-US" sz="2800" b="1" dirty="0">
                <a:latin typeface="楷体_GB2312"/>
                <a:ea typeface="楷体_GB2312"/>
              </a:rPr>
              <a:t>将树中同一结点的兄弟相连</a:t>
            </a:r>
            <a:r>
              <a:rPr lang="en-US" altLang="zh-CN" sz="2800" b="1" dirty="0">
                <a:latin typeface="楷体_GB2312"/>
                <a:ea typeface="楷体_GB2312"/>
              </a:rPr>
              <a:t>;</a:t>
            </a:r>
            <a:endParaRPr lang="en-US" altLang="zh-CN" sz="2800" b="1" dirty="0">
              <a:latin typeface="楷体_GB2312"/>
              <a:ea typeface="楷体_GB2312"/>
            </a:endParaRPr>
          </a:p>
          <a:p>
            <a:pPr marL="1143000" lvl="0" indent="-1143000" eaLnBrk="1" hangingPunct="1">
              <a:buNone/>
            </a:pPr>
            <a:r>
              <a:rPr lang="en-US" altLang="zh-CN" sz="2800" b="1" dirty="0">
                <a:latin typeface="楷体_GB2312"/>
                <a:ea typeface="楷体_GB2312"/>
              </a:rPr>
              <a:t>step2: </a:t>
            </a:r>
            <a:r>
              <a:rPr lang="zh-CN" altLang="en-US" sz="2800" b="1" dirty="0">
                <a:latin typeface="楷体_GB2312"/>
                <a:ea typeface="楷体_GB2312"/>
              </a:rPr>
              <a:t>保留结点的最左孩子连线，删除其它孩子连线；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1143000" lvl="0" indent="-1143000" eaLnBrk="1" hangingPunct="1">
              <a:buNone/>
            </a:pPr>
            <a:r>
              <a:rPr lang="en-US" altLang="zh-CN" sz="2800" b="1" dirty="0">
                <a:latin typeface="楷体_GB2312"/>
                <a:ea typeface="楷体_GB2312"/>
              </a:rPr>
              <a:t>step3: </a:t>
            </a:r>
            <a:r>
              <a:rPr lang="zh-CN" altLang="en-US" sz="2800" b="1" dirty="0">
                <a:latin typeface="楷体_GB2312"/>
                <a:ea typeface="楷体_GB2312"/>
              </a:rPr>
              <a:t>将同一孩子的连线绕左孩子旋转</a:t>
            </a:r>
            <a:r>
              <a:rPr lang="en-US" altLang="zh-CN" sz="2800" b="1" dirty="0">
                <a:latin typeface="楷体_GB2312"/>
                <a:ea typeface="楷体_GB2312"/>
              </a:rPr>
              <a:t>45</a:t>
            </a:r>
            <a:r>
              <a:rPr lang="zh-CN" altLang="en-US" sz="2800" b="1" dirty="0">
                <a:latin typeface="楷体_GB2312"/>
                <a:ea typeface="楷体_GB2312"/>
              </a:rPr>
              <a:t>度角。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sp>
        <p:nvSpPr>
          <p:cNvPr id="305156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5157" name="AutoShape 5"/>
          <p:cNvSpPr/>
          <p:nvPr/>
        </p:nvSpPr>
        <p:spPr>
          <a:xfrm>
            <a:off x="7620000" y="2286000"/>
            <a:ext cx="1143000" cy="533400"/>
          </a:xfrm>
          <a:prstGeom prst="wedgeRectCallout">
            <a:avLst>
              <a:gd name="adj1" fmla="val -188472"/>
              <a:gd name="adj2" fmla="val 3244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楷体_GB2312"/>
                <a:ea typeface="楷体_GB2312"/>
              </a:rPr>
              <a:t>加线</a:t>
            </a:r>
            <a:endParaRPr lang="zh-CN" altLang="en-US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sp>
        <p:nvSpPr>
          <p:cNvPr id="305158" name="AutoShape 6"/>
          <p:cNvSpPr/>
          <p:nvPr/>
        </p:nvSpPr>
        <p:spPr>
          <a:xfrm>
            <a:off x="7696200" y="3505200"/>
            <a:ext cx="1219200" cy="533400"/>
          </a:xfrm>
          <a:prstGeom prst="wedgeRectCallout">
            <a:avLst>
              <a:gd name="adj1" fmla="val -187759"/>
              <a:gd name="adj2" fmla="val -4404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楷体_GB2312"/>
                <a:ea typeface="楷体_GB2312"/>
              </a:rPr>
              <a:t>抹线</a:t>
            </a:r>
            <a:endParaRPr lang="zh-CN" altLang="en-US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sp>
        <p:nvSpPr>
          <p:cNvPr id="305159" name="AutoShape 7"/>
          <p:cNvSpPr/>
          <p:nvPr/>
        </p:nvSpPr>
        <p:spPr>
          <a:xfrm>
            <a:off x="7772400" y="4572000"/>
            <a:ext cx="1143000" cy="533400"/>
          </a:xfrm>
          <a:prstGeom prst="wedgeRectCallout">
            <a:avLst>
              <a:gd name="adj1" fmla="val -202917"/>
              <a:gd name="adj2" fmla="val -7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楷体_GB2312"/>
                <a:ea typeface="楷体_GB2312"/>
              </a:rPr>
              <a:t>旋转</a:t>
            </a:r>
            <a:endParaRPr lang="zh-CN" altLang="en-US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sp>
        <p:nvSpPr>
          <p:cNvPr id="305160" name="Rectangle 8"/>
          <p:cNvSpPr/>
          <p:nvPr/>
        </p:nvSpPr>
        <p:spPr>
          <a:xfrm>
            <a:off x="228600" y="1143000"/>
            <a:ext cx="53054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accent1"/>
                </a:solidFill>
                <a:latin typeface="楷体_GB2312"/>
                <a:ea typeface="楷体_GB2312"/>
              </a:rPr>
              <a:t>讨论</a:t>
            </a:r>
            <a:r>
              <a:rPr lang="en-US" altLang="zh-CN" b="1" dirty="0">
                <a:solidFill>
                  <a:schemeClr val="accent1"/>
                </a:solidFill>
                <a:latin typeface="楷体_GB2312"/>
                <a:ea typeface="楷体_GB2312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latin typeface="楷体_GB2312"/>
                <a:ea typeface="楷体_GB2312"/>
              </a:rPr>
              <a:t>：树如何转为二叉树？</a:t>
            </a:r>
            <a:endParaRPr lang="zh-CN" altLang="en-US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0515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charRg st="6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305155">
                                            <p:txEl>
                                              <p:charRg st="6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charRg st="27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05155">
                                            <p:txEl>
                                              <p:charRg st="27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charRg st="56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305155">
                                            <p:txEl>
                                              <p:charRg st="56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0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0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5" grpId="0" build="p"/>
      <p:bldP spid="305156" grpId="0" animBg="1"/>
      <p:bldP spid="305157" grpId="0" animBg="1"/>
      <p:bldP spid="305158" grpId="0" animBg="1"/>
      <p:bldP spid="305159" grpId="0" animBg="1"/>
      <p:bldP spid="30516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6178" name="Rectangle 2"/>
          <p:cNvSpPr/>
          <p:nvPr/>
        </p:nvSpPr>
        <p:spPr>
          <a:xfrm>
            <a:off x="0" y="533400"/>
            <a:ext cx="43656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方法：</a:t>
            </a:r>
            <a:r>
              <a:rPr lang="zh-CN" altLang="en-US" b="1" dirty="0">
                <a:latin typeface="楷体_GB2312"/>
                <a:ea typeface="楷体_GB2312"/>
              </a:rPr>
              <a:t>加</a:t>
            </a:r>
            <a:r>
              <a:rPr lang="zh-CN" altLang="en-US" sz="2800" b="1" dirty="0">
                <a:latin typeface="楷体_GB2312"/>
                <a:ea typeface="楷体_GB2312"/>
              </a:rPr>
              <a:t>线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—</a:t>
            </a:r>
            <a:r>
              <a:rPr lang="zh-CN" altLang="en-US" sz="2800" b="1" dirty="0">
                <a:latin typeface="楷体_GB2312"/>
                <a:ea typeface="楷体_GB2312"/>
              </a:rPr>
              <a:t>抹线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/>
              </a:rPr>
              <a:t>—</a:t>
            </a:r>
            <a:r>
              <a:rPr lang="zh-CN" altLang="en-US" sz="2800" b="1" dirty="0">
                <a:latin typeface="楷体_GB2312"/>
                <a:ea typeface="楷体_GB2312"/>
              </a:rPr>
              <a:t>旋转</a:t>
            </a:r>
            <a:r>
              <a:rPr lang="zh-CN" altLang="en-US" b="1" dirty="0">
                <a:latin typeface="楷体_GB2312"/>
                <a:ea typeface="楷体_GB2312"/>
              </a:rPr>
              <a:t> </a:t>
            </a:r>
            <a:endParaRPr lang="zh-CN" altLang="en-US" b="1" dirty="0">
              <a:latin typeface="楷体_GB2312"/>
              <a:ea typeface="楷体_GB231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28600" y="1905000"/>
            <a:ext cx="3619500" cy="4038600"/>
            <a:chOff x="3024" y="1056"/>
            <a:chExt cx="2280" cy="2544"/>
          </a:xfrm>
        </p:grpSpPr>
        <p:sp>
          <p:nvSpPr>
            <p:cNvPr id="81972" name="Oval 4"/>
            <p:cNvSpPr/>
            <p:nvPr/>
          </p:nvSpPr>
          <p:spPr>
            <a:xfrm>
              <a:off x="4247" y="1056"/>
              <a:ext cx="371" cy="3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73" name="Oval 5"/>
            <p:cNvSpPr/>
            <p:nvPr/>
          </p:nvSpPr>
          <p:spPr>
            <a:xfrm>
              <a:off x="3562" y="1747"/>
              <a:ext cx="370" cy="3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74" name="Oval 6"/>
            <p:cNvSpPr/>
            <p:nvPr/>
          </p:nvSpPr>
          <p:spPr>
            <a:xfrm>
              <a:off x="4118" y="2501"/>
              <a:ext cx="370" cy="3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75" name="Oval 7"/>
            <p:cNvSpPr/>
            <p:nvPr/>
          </p:nvSpPr>
          <p:spPr>
            <a:xfrm>
              <a:off x="4933" y="1763"/>
              <a:ext cx="371" cy="3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76" name="Oval 8"/>
            <p:cNvSpPr/>
            <p:nvPr/>
          </p:nvSpPr>
          <p:spPr>
            <a:xfrm>
              <a:off x="3024" y="2454"/>
              <a:ext cx="371" cy="3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77" name="Oval 9"/>
            <p:cNvSpPr/>
            <p:nvPr/>
          </p:nvSpPr>
          <p:spPr>
            <a:xfrm>
              <a:off x="3599" y="3255"/>
              <a:ext cx="370" cy="3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78" name="Line 10"/>
            <p:cNvSpPr/>
            <p:nvPr/>
          </p:nvSpPr>
          <p:spPr>
            <a:xfrm flipH="1">
              <a:off x="3858" y="1386"/>
              <a:ext cx="464" cy="3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79" name="Line 11"/>
            <p:cNvSpPr/>
            <p:nvPr/>
          </p:nvSpPr>
          <p:spPr>
            <a:xfrm flipH="1">
              <a:off x="3302" y="2061"/>
              <a:ext cx="278" cy="4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80" name="Line 12"/>
            <p:cNvSpPr/>
            <p:nvPr/>
          </p:nvSpPr>
          <p:spPr>
            <a:xfrm>
              <a:off x="4581" y="1354"/>
              <a:ext cx="445" cy="45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81" name="Line 13"/>
            <p:cNvSpPr/>
            <p:nvPr/>
          </p:nvSpPr>
          <p:spPr>
            <a:xfrm>
              <a:off x="3784" y="2045"/>
              <a:ext cx="408" cy="53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82" name="Line 14"/>
            <p:cNvSpPr/>
            <p:nvPr/>
          </p:nvSpPr>
          <p:spPr>
            <a:xfrm flipH="1">
              <a:off x="3840" y="2815"/>
              <a:ext cx="370" cy="4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83" name="Oval 15"/>
            <p:cNvSpPr/>
            <p:nvPr/>
          </p:nvSpPr>
          <p:spPr>
            <a:xfrm>
              <a:off x="4692" y="3207"/>
              <a:ext cx="371" cy="34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84" name="Line 16"/>
            <p:cNvSpPr/>
            <p:nvPr/>
          </p:nvSpPr>
          <p:spPr>
            <a:xfrm>
              <a:off x="4414" y="2799"/>
              <a:ext cx="427" cy="4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85" name="Oval 17"/>
            <p:cNvSpPr/>
            <p:nvPr/>
          </p:nvSpPr>
          <p:spPr>
            <a:xfrm>
              <a:off x="4155" y="3239"/>
              <a:ext cx="370" cy="34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86" name="Line 18"/>
            <p:cNvSpPr/>
            <p:nvPr/>
          </p:nvSpPr>
          <p:spPr>
            <a:xfrm>
              <a:off x="4322" y="2831"/>
              <a:ext cx="0" cy="4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87" name="Oval 19"/>
            <p:cNvSpPr/>
            <p:nvPr/>
          </p:nvSpPr>
          <p:spPr>
            <a:xfrm>
              <a:off x="4247" y="1778"/>
              <a:ext cx="371" cy="34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88" name="Line 20"/>
            <p:cNvSpPr/>
            <p:nvPr/>
          </p:nvSpPr>
          <p:spPr>
            <a:xfrm flipH="1">
              <a:off x="4433" y="1370"/>
              <a:ext cx="0" cy="4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21"/>
          <p:cNvGrpSpPr/>
          <p:nvPr/>
        </p:nvGrpSpPr>
        <p:grpSpPr>
          <a:xfrm>
            <a:off x="876300" y="3352800"/>
            <a:ext cx="2438400" cy="2292350"/>
            <a:chOff x="3408" y="1968"/>
            <a:chExt cx="1536" cy="1444"/>
          </a:xfrm>
        </p:grpSpPr>
        <p:sp>
          <p:nvSpPr>
            <p:cNvPr id="81967" name="Line 22"/>
            <p:cNvSpPr/>
            <p:nvPr/>
          </p:nvSpPr>
          <p:spPr>
            <a:xfrm>
              <a:off x="3936" y="1968"/>
              <a:ext cx="33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68" name="Line 23"/>
            <p:cNvSpPr/>
            <p:nvPr/>
          </p:nvSpPr>
          <p:spPr>
            <a:xfrm flipV="1">
              <a:off x="4608" y="1968"/>
              <a:ext cx="336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69" name="Line 24"/>
            <p:cNvSpPr/>
            <p:nvPr/>
          </p:nvSpPr>
          <p:spPr>
            <a:xfrm>
              <a:off x="3408" y="2688"/>
              <a:ext cx="704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70" name="Line 25"/>
            <p:cNvSpPr/>
            <p:nvPr/>
          </p:nvSpPr>
          <p:spPr>
            <a:xfrm flipV="1">
              <a:off x="3953" y="3408"/>
              <a:ext cx="223" cy="4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71" name="Line 26"/>
            <p:cNvSpPr/>
            <p:nvPr/>
          </p:nvSpPr>
          <p:spPr>
            <a:xfrm>
              <a:off x="4512" y="3408"/>
              <a:ext cx="164" cy="4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6203" name="AutoShape 27"/>
          <p:cNvSpPr/>
          <p:nvPr/>
        </p:nvSpPr>
        <p:spPr>
          <a:xfrm>
            <a:off x="4191000" y="3352800"/>
            <a:ext cx="838200" cy="990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6204" name="AutoShape 28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1928" name="Rectangle 29"/>
          <p:cNvSpPr>
            <a:spLocks noGrp="1"/>
          </p:cNvSpPr>
          <p:nvPr>
            <p:ph type="title"/>
          </p:nvPr>
        </p:nvSpPr>
        <p:spPr>
          <a:xfrm>
            <a:off x="0" y="0"/>
            <a:ext cx="35052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树转二叉树举例：</a:t>
            </a:r>
            <a:endParaRPr lang="zh-CN" altLang="en-US" sz="32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Group 30"/>
          <p:cNvGrpSpPr/>
          <p:nvPr/>
        </p:nvGrpSpPr>
        <p:grpSpPr>
          <a:xfrm>
            <a:off x="1638300" y="2667000"/>
            <a:ext cx="1676400" cy="2667000"/>
            <a:chOff x="3888" y="1536"/>
            <a:chExt cx="1056" cy="1680"/>
          </a:xfrm>
        </p:grpSpPr>
        <p:grpSp>
          <p:nvGrpSpPr>
            <p:cNvPr id="81952" name="Group 31"/>
            <p:cNvGrpSpPr/>
            <p:nvPr/>
          </p:nvGrpSpPr>
          <p:grpSpPr>
            <a:xfrm>
              <a:off x="4224" y="3024"/>
              <a:ext cx="192" cy="192"/>
              <a:chOff x="2592" y="3552"/>
              <a:chExt cx="192" cy="192"/>
            </a:xfrm>
          </p:grpSpPr>
          <p:sp>
            <p:nvSpPr>
              <p:cNvPr id="81965" name="Line 32"/>
              <p:cNvSpPr/>
              <p:nvPr/>
            </p:nvSpPr>
            <p:spPr>
              <a:xfrm flipH="1"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66" name="Line 33"/>
              <p:cNvSpPr/>
              <p:nvPr/>
            </p:nvSpPr>
            <p:spPr>
              <a:xfrm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1953" name="Group 34"/>
            <p:cNvGrpSpPr/>
            <p:nvPr/>
          </p:nvGrpSpPr>
          <p:grpSpPr>
            <a:xfrm>
              <a:off x="4512" y="2928"/>
              <a:ext cx="192" cy="192"/>
              <a:chOff x="2592" y="3552"/>
              <a:chExt cx="192" cy="192"/>
            </a:xfrm>
          </p:grpSpPr>
          <p:sp>
            <p:nvSpPr>
              <p:cNvPr id="81963" name="Line 35"/>
              <p:cNvSpPr/>
              <p:nvPr/>
            </p:nvSpPr>
            <p:spPr>
              <a:xfrm flipH="1"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64" name="Line 36"/>
              <p:cNvSpPr/>
              <p:nvPr/>
            </p:nvSpPr>
            <p:spPr>
              <a:xfrm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1954" name="Group 37"/>
            <p:cNvGrpSpPr/>
            <p:nvPr/>
          </p:nvGrpSpPr>
          <p:grpSpPr>
            <a:xfrm>
              <a:off x="3888" y="2256"/>
              <a:ext cx="192" cy="192"/>
              <a:chOff x="2592" y="3552"/>
              <a:chExt cx="192" cy="192"/>
            </a:xfrm>
          </p:grpSpPr>
          <p:sp>
            <p:nvSpPr>
              <p:cNvPr id="81961" name="Line 38"/>
              <p:cNvSpPr/>
              <p:nvPr/>
            </p:nvSpPr>
            <p:spPr>
              <a:xfrm flipH="1"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62" name="Line 39"/>
              <p:cNvSpPr/>
              <p:nvPr/>
            </p:nvSpPr>
            <p:spPr>
              <a:xfrm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1955" name="Group 40"/>
            <p:cNvGrpSpPr/>
            <p:nvPr/>
          </p:nvGrpSpPr>
          <p:grpSpPr>
            <a:xfrm>
              <a:off x="4320" y="1536"/>
              <a:ext cx="192" cy="192"/>
              <a:chOff x="2592" y="3552"/>
              <a:chExt cx="192" cy="192"/>
            </a:xfrm>
          </p:grpSpPr>
          <p:sp>
            <p:nvSpPr>
              <p:cNvPr id="81959" name="Line 41"/>
              <p:cNvSpPr/>
              <p:nvPr/>
            </p:nvSpPr>
            <p:spPr>
              <a:xfrm flipH="1"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60" name="Line 42"/>
              <p:cNvSpPr/>
              <p:nvPr/>
            </p:nvSpPr>
            <p:spPr>
              <a:xfrm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1956" name="Group 43"/>
            <p:cNvGrpSpPr/>
            <p:nvPr/>
          </p:nvGrpSpPr>
          <p:grpSpPr>
            <a:xfrm>
              <a:off x="4752" y="1536"/>
              <a:ext cx="192" cy="192"/>
              <a:chOff x="2592" y="3552"/>
              <a:chExt cx="192" cy="192"/>
            </a:xfrm>
          </p:grpSpPr>
          <p:sp>
            <p:nvSpPr>
              <p:cNvPr id="81957" name="Line 44"/>
              <p:cNvSpPr/>
              <p:nvPr/>
            </p:nvSpPr>
            <p:spPr>
              <a:xfrm flipH="1"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58" name="Line 45"/>
              <p:cNvSpPr/>
              <p:nvPr/>
            </p:nvSpPr>
            <p:spPr>
              <a:xfrm>
                <a:off x="2592" y="3552"/>
                <a:ext cx="192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" name="Group 46"/>
          <p:cNvGrpSpPr/>
          <p:nvPr/>
        </p:nvGrpSpPr>
        <p:grpSpPr>
          <a:xfrm>
            <a:off x="5410200" y="1600200"/>
            <a:ext cx="3429000" cy="4343400"/>
            <a:chOff x="1392" y="1008"/>
            <a:chExt cx="2208" cy="2736"/>
          </a:xfrm>
        </p:grpSpPr>
        <p:sp>
          <p:nvSpPr>
            <p:cNvPr id="81935" name="Oval 47"/>
            <p:cNvSpPr/>
            <p:nvPr/>
          </p:nvSpPr>
          <p:spPr>
            <a:xfrm>
              <a:off x="2596" y="1008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36" name="Oval 48"/>
            <p:cNvSpPr/>
            <p:nvPr/>
          </p:nvSpPr>
          <p:spPr>
            <a:xfrm>
              <a:off x="1921" y="1548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37" name="Oval 49"/>
            <p:cNvSpPr/>
            <p:nvPr/>
          </p:nvSpPr>
          <p:spPr>
            <a:xfrm>
              <a:off x="2104" y="2468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38" name="Oval 50"/>
            <p:cNvSpPr/>
            <p:nvPr/>
          </p:nvSpPr>
          <p:spPr>
            <a:xfrm>
              <a:off x="3235" y="2407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39" name="Oval 51"/>
            <p:cNvSpPr/>
            <p:nvPr/>
          </p:nvSpPr>
          <p:spPr>
            <a:xfrm>
              <a:off x="1392" y="2100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40" name="Oval 52"/>
            <p:cNvSpPr/>
            <p:nvPr/>
          </p:nvSpPr>
          <p:spPr>
            <a:xfrm>
              <a:off x="1593" y="2971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41" name="Line 53"/>
            <p:cNvSpPr/>
            <p:nvPr/>
          </p:nvSpPr>
          <p:spPr>
            <a:xfrm flipH="1">
              <a:off x="2213" y="1266"/>
              <a:ext cx="456" cy="2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42" name="Line 54"/>
            <p:cNvSpPr/>
            <p:nvPr/>
          </p:nvSpPr>
          <p:spPr>
            <a:xfrm flipH="1">
              <a:off x="1666" y="1793"/>
              <a:ext cx="273" cy="3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43" name="Line 55"/>
            <p:cNvSpPr/>
            <p:nvPr/>
          </p:nvSpPr>
          <p:spPr>
            <a:xfrm flipH="1">
              <a:off x="1866" y="2701"/>
              <a:ext cx="311" cy="28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44" name="Oval 56"/>
            <p:cNvSpPr/>
            <p:nvPr/>
          </p:nvSpPr>
          <p:spPr>
            <a:xfrm>
              <a:off x="2669" y="3474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45" name="Oval 57"/>
            <p:cNvSpPr/>
            <p:nvPr/>
          </p:nvSpPr>
          <p:spPr>
            <a:xfrm>
              <a:off x="2122" y="3216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46" name="Oval 58"/>
            <p:cNvSpPr/>
            <p:nvPr/>
          </p:nvSpPr>
          <p:spPr>
            <a:xfrm>
              <a:off x="2615" y="2002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1947" name="Line 59"/>
            <p:cNvSpPr/>
            <p:nvPr/>
          </p:nvSpPr>
          <p:spPr>
            <a:xfrm>
              <a:off x="2268" y="1793"/>
              <a:ext cx="420" cy="246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48" name="Line 60"/>
            <p:cNvSpPr/>
            <p:nvPr/>
          </p:nvSpPr>
          <p:spPr>
            <a:xfrm>
              <a:off x="2943" y="2235"/>
              <a:ext cx="365" cy="221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49" name="Line 61"/>
            <p:cNvSpPr/>
            <p:nvPr/>
          </p:nvSpPr>
          <p:spPr>
            <a:xfrm>
              <a:off x="1775" y="2296"/>
              <a:ext cx="347" cy="233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50" name="Line 62"/>
            <p:cNvSpPr/>
            <p:nvPr/>
          </p:nvSpPr>
          <p:spPr>
            <a:xfrm>
              <a:off x="1976" y="3155"/>
              <a:ext cx="164" cy="111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51" name="Line 63"/>
            <p:cNvSpPr/>
            <p:nvPr/>
          </p:nvSpPr>
          <p:spPr>
            <a:xfrm>
              <a:off x="2487" y="3425"/>
              <a:ext cx="182" cy="110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6240" name="AutoShape 64"/>
          <p:cNvSpPr/>
          <p:nvPr/>
        </p:nvSpPr>
        <p:spPr>
          <a:xfrm>
            <a:off x="228600" y="1295400"/>
            <a:ext cx="1447800" cy="457200"/>
          </a:xfrm>
          <a:prstGeom prst="wedgeRectCallout">
            <a:avLst>
              <a:gd name="adj1" fmla="val 51972"/>
              <a:gd name="adj2" fmla="val -12395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楷体_GB2312"/>
                <a:ea typeface="楷体_GB2312"/>
              </a:rPr>
              <a:t>兄弟相连</a:t>
            </a:r>
            <a:endParaRPr lang="zh-CN" altLang="en-US" sz="2400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sp>
        <p:nvSpPr>
          <p:cNvPr id="306241" name="AutoShape 65"/>
          <p:cNvSpPr/>
          <p:nvPr/>
        </p:nvSpPr>
        <p:spPr>
          <a:xfrm>
            <a:off x="2667000" y="1295400"/>
            <a:ext cx="1447800" cy="457200"/>
          </a:xfrm>
          <a:prstGeom prst="wedgeRectCallout">
            <a:avLst>
              <a:gd name="adj1" fmla="val -55810"/>
              <a:gd name="adj2" fmla="val -11111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楷体_GB2312"/>
                <a:ea typeface="楷体_GB2312"/>
              </a:rPr>
              <a:t>长兄为父</a:t>
            </a:r>
            <a:endParaRPr lang="zh-CN" altLang="en-US" sz="2400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sp>
        <p:nvSpPr>
          <p:cNvPr id="306242" name="AutoShape 66"/>
          <p:cNvSpPr/>
          <p:nvPr/>
        </p:nvSpPr>
        <p:spPr>
          <a:xfrm>
            <a:off x="4648200" y="1295400"/>
            <a:ext cx="1447800" cy="457200"/>
          </a:xfrm>
          <a:prstGeom prst="wedgeRectCallout">
            <a:avLst>
              <a:gd name="adj1" fmla="val -96708"/>
              <a:gd name="adj2" fmla="val -11875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楷体_GB2312"/>
                <a:ea typeface="楷体_GB2312"/>
              </a:rPr>
              <a:t>孩子靠左</a:t>
            </a:r>
            <a:endParaRPr lang="zh-CN" altLang="en-US" sz="2400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sp>
        <p:nvSpPr>
          <p:cNvPr id="306243" name="AutoShape 67"/>
          <p:cNvSpPr>
            <a:spLocks noChangeArrowheads="1"/>
          </p:cNvSpPr>
          <p:nvPr/>
        </p:nvSpPr>
        <p:spPr bwMode="auto">
          <a:xfrm>
            <a:off x="6477000" y="0"/>
            <a:ext cx="2667000" cy="1143000"/>
          </a:xfrm>
          <a:prstGeom prst="cloudCallout">
            <a:avLst>
              <a:gd name="adj1" fmla="val -954"/>
              <a:gd name="adj2" fmla="val 83611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根结点肯定没有右孩子！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0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0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6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6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 build="p"/>
      <p:bldP spid="306203" grpId="0" animBg="1"/>
      <p:bldP spid="306204" grpId="0" animBg="1"/>
      <p:bldP spid="306240" grpId="0" animBg="1"/>
      <p:bldP spid="306241" grpId="0" animBg="1"/>
      <p:bldP spid="306242" grpId="0" animBg="1"/>
      <p:bldP spid="30624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2947" name="Rectangle 2"/>
          <p:cNvSpPr>
            <a:spLocks noGrp="1"/>
          </p:cNvSpPr>
          <p:nvPr>
            <p:ph type="title"/>
          </p:nvPr>
        </p:nvSpPr>
        <p:spPr>
          <a:xfrm>
            <a:off x="304800" y="304800"/>
            <a:ext cx="6324600" cy="762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：二叉树怎样还原为树？</a:t>
            </a:r>
            <a:endParaRPr lang="zh-CN" altLang="en-US" sz="32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33400" y="1676400"/>
            <a:ext cx="3505200" cy="4343400"/>
            <a:chOff x="1392" y="1008"/>
            <a:chExt cx="2208" cy="2736"/>
          </a:xfrm>
        </p:grpSpPr>
        <p:sp>
          <p:nvSpPr>
            <p:cNvPr id="82970" name="Oval 4"/>
            <p:cNvSpPr/>
            <p:nvPr/>
          </p:nvSpPr>
          <p:spPr>
            <a:xfrm>
              <a:off x="2596" y="1008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71" name="Oval 5"/>
            <p:cNvSpPr/>
            <p:nvPr/>
          </p:nvSpPr>
          <p:spPr>
            <a:xfrm>
              <a:off x="1921" y="1548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72" name="Oval 6"/>
            <p:cNvSpPr/>
            <p:nvPr/>
          </p:nvSpPr>
          <p:spPr>
            <a:xfrm>
              <a:off x="2104" y="2468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73" name="Oval 7"/>
            <p:cNvSpPr/>
            <p:nvPr/>
          </p:nvSpPr>
          <p:spPr>
            <a:xfrm>
              <a:off x="3235" y="2407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74" name="Oval 8"/>
            <p:cNvSpPr/>
            <p:nvPr/>
          </p:nvSpPr>
          <p:spPr>
            <a:xfrm>
              <a:off x="1392" y="2100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75" name="Oval 9"/>
            <p:cNvSpPr/>
            <p:nvPr/>
          </p:nvSpPr>
          <p:spPr>
            <a:xfrm>
              <a:off x="1593" y="2971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76" name="Line 10"/>
            <p:cNvSpPr/>
            <p:nvPr/>
          </p:nvSpPr>
          <p:spPr>
            <a:xfrm flipH="1">
              <a:off x="2213" y="1266"/>
              <a:ext cx="456" cy="2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77" name="Line 11"/>
            <p:cNvSpPr/>
            <p:nvPr/>
          </p:nvSpPr>
          <p:spPr>
            <a:xfrm flipH="1">
              <a:off x="1666" y="1793"/>
              <a:ext cx="273" cy="3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78" name="Line 12"/>
            <p:cNvSpPr/>
            <p:nvPr/>
          </p:nvSpPr>
          <p:spPr>
            <a:xfrm flipH="1">
              <a:off x="1866" y="2701"/>
              <a:ext cx="311" cy="28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79" name="Oval 13"/>
            <p:cNvSpPr/>
            <p:nvPr/>
          </p:nvSpPr>
          <p:spPr>
            <a:xfrm>
              <a:off x="2669" y="3474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80" name="Oval 14"/>
            <p:cNvSpPr/>
            <p:nvPr/>
          </p:nvSpPr>
          <p:spPr>
            <a:xfrm>
              <a:off x="2122" y="3216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81" name="Oval 15"/>
            <p:cNvSpPr/>
            <p:nvPr/>
          </p:nvSpPr>
          <p:spPr>
            <a:xfrm>
              <a:off x="2615" y="2002"/>
              <a:ext cx="365" cy="27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82" name="Line 16"/>
            <p:cNvSpPr/>
            <p:nvPr/>
          </p:nvSpPr>
          <p:spPr>
            <a:xfrm>
              <a:off x="2268" y="1793"/>
              <a:ext cx="420" cy="246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83" name="Line 17"/>
            <p:cNvSpPr/>
            <p:nvPr/>
          </p:nvSpPr>
          <p:spPr>
            <a:xfrm>
              <a:off x="2943" y="2235"/>
              <a:ext cx="365" cy="221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84" name="Line 18"/>
            <p:cNvSpPr/>
            <p:nvPr/>
          </p:nvSpPr>
          <p:spPr>
            <a:xfrm>
              <a:off x="1775" y="2296"/>
              <a:ext cx="347" cy="233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85" name="Line 19"/>
            <p:cNvSpPr/>
            <p:nvPr/>
          </p:nvSpPr>
          <p:spPr>
            <a:xfrm>
              <a:off x="1976" y="3155"/>
              <a:ext cx="164" cy="111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86" name="Line 20"/>
            <p:cNvSpPr/>
            <p:nvPr/>
          </p:nvSpPr>
          <p:spPr>
            <a:xfrm>
              <a:off x="2487" y="3425"/>
              <a:ext cx="182" cy="110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7221" name="Rectangle 21"/>
          <p:cNvSpPr/>
          <p:nvPr/>
        </p:nvSpPr>
        <p:spPr>
          <a:xfrm>
            <a:off x="304800" y="990600"/>
            <a:ext cx="5257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要点：把所有右孩子变为兄弟！</a:t>
            </a:r>
            <a:r>
              <a:rPr lang="zh-CN" altLang="en-US" b="1" dirty="0">
                <a:latin typeface="楷体_GB2312"/>
                <a:ea typeface="楷体_GB2312"/>
              </a:rPr>
              <a:t> </a:t>
            </a:r>
            <a:endParaRPr lang="zh-CN" altLang="en-US" b="1" dirty="0">
              <a:latin typeface="楷体_GB2312"/>
              <a:ea typeface="楷体_GB2312"/>
            </a:endParaRPr>
          </a:p>
        </p:txBody>
      </p:sp>
      <p:grpSp>
        <p:nvGrpSpPr>
          <p:cNvPr id="3" name="Group 22"/>
          <p:cNvGrpSpPr/>
          <p:nvPr/>
        </p:nvGrpSpPr>
        <p:grpSpPr>
          <a:xfrm>
            <a:off x="5181600" y="1676400"/>
            <a:ext cx="3429000" cy="4114800"/>
            <a:chOff x="1472" y="2464"/>
            <a:chExt cx="984" cy="1296"/>
          </a:xfrm>
        </p:grpSpPr>
        <p:sp>
          <p:nvSpPr>
            <p:cNvPr id="82953" name="Oval 23"/>
            <p:cNvSpPr/>
            <p:nvPr/>
          </p:nvSpPr>
          <p:spPr>
            <a:xfrm>
              <a:off x="2000" y="2464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54" name="Oval 24"/>
            <p:cNvSpPr/>
            <p:nvPr/>
          </p:nvSpPr>
          <p:spPr>
            <a:xfrm>
              <a:off x="1704" y="2816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55" name="Oval 25"/>
            <p:cNvSpPr/>
            <p:nvPr/>
          </p:nvSpPr>
          <p:spPr>
            <a:xfrm>
              <a:off x="1944" y="3200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56" name="Oval 26"/>
            <p:cNvSpPr/>
            <p:nvPr/>
          </p:nvSpPr>
          <p:spPr>
            <a:xfrm>
              <a:off x="2296" y="2824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57" name="Oval 27"/>
            <p:cNvSpPr/>
            <p:nvPr/>
          </p:nvSpPr>
          <p:spPr>
            <a:xfrm>
              <a:off x="1472" y="3176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58" name="Oval 28"/>
            <p:cNvSpPr/>
            <p:nvPr/>
          </p:nvSpPr>
          <p:spPr>
            <a:xfrm>
              <a:off x="1720" y="3584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59" name="Line 29"/>
            <p:cNvSpPr/>
            <p:nvPr/>
          </p:nvSpPr>
          <p:spPr>
            <a:xfrm flipH="1">
              <a:off x="1832" y="2632"/>
              <a:ext cx="20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0" name="Line 30"/>
            <p:cNvSpPr/>
            <p:nvPr/>
          </p:nvSpPr>
          <p:spPr>
            <a:xfrm flipH="1">
              <a:off x="1592" y="2976"/>
              <a:ext cx="120" cy="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1" name="Line 31"/>
            <p:cNvSpPr/>
            <p:nvPr/>
          </p:nvSpPr>
          <p:spPr>
            <a:xfrm>
              <a:off x="2144" y="2616"/>
              <a:ext cx="192" cy="2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2" name="Line 32"/>
            <p:cNvSpPr/>
            <p:nvPr/>
          </p:nvSpPr>
          <p:spPr>
            <a:xfrm>
              <a:off x="1800" y="2968"/>
              <a:ext cx="176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3" name="Line 33"/>
            <p:cNvSpPr/>
            <p:nvPr/>
          </p:nvSpPr>
          <p:spPr>
            <a:xfrm flipH="1">
              <a:off x="1824" y="3360"/>
              <a:ext cx="160" cy="2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4" name="Oval 34"/>
            <p:cNvSpPr/>
            <p:nvPr/>
          </p:nvSpPr>
          <p:spPr>
            <a:xfrm>
              <a:off x="2192" y="3560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65" name="Line 35"/>
            <p:cNvSpPr/>
            <p:nvPr/>
          </p:nvSpPr>
          <p:spPr>
            <a:xfrm>
              <a:off x="2072" y="3352"/>
              <a:ext cx="184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6" name="Oval 36"/>
            <p:cNvSpPr/>
            <p:nvPr/>
          </p:nvSpPr>
          <p:spPr>
            <a:xfrm>
              <a:off x="1960" y="3576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67" name="Line 37"/>
            <p:cNvSpPr/>
            <p:nvPr/>
          </p:nvSpPr>
          <p:spPr>
            <a:xfrm>
              <a:off x="2032" y="3368"/>
              <a:ext cx="0" cy="2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8" name="Oval 38"/>
            <p:cNvSpPr/>
            <p:nvPr/>
          </p:nvSpPr>
          <p:spPr>
            <a:xfrm>
              <a:off x="2000" y="2832"/>
              <a:ext cx="160" cy="176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969" name="Line 39"/>
            <p:cNvSpPr/>
            <p:nvPr/>
          </p:nvSpPr>
          <p:spPr>
            <a:xfrm flipH="1">
              <a:off x="2080" y="2624"/>
              <a:ext cx="0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07240" name="AutoShape 40"/>
          <p:cNvSpPr/>
          <p:nvPr/>
        </p:nvSpPr>
        <p:spPr>
          <a:xfrm>
            <a:off x="4191000" y="2895600"/>
            <a:ext cx="838200" cy="990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7241" name="AutoShape 41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7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1" grpId="0"/>
      <p:bldP spid="307240" grpId="0" animBg="1"/>
      <p:bldP spid="30724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8226" name="Rectangle 2"/>
          <p:cNvSpPr/>
          <p:nvPr/>
        </p:nvSpPr>
        <p:spPr>
          <a:xfrm>
            <a:off x="304800" y="1828800"/>
            <a:ext cx="8610600" cy="1828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b="1" dirty="0">
                <a:latin typeface="楷体_GB2312"/>
                <a:ea typeface="楷体_GB2312"/>
              </a:rPr>
              <a:t>法一：</a:t>
            </a:r>
            <a:endParaRPr lang="zh-CN" altLang="en-US" b="1" dirty="0">
              <a:latin typeface="楷体_GB2312"/>
              <a:ea typeface="楷体_GB2312"/>
            </a:endParaRPr>
          </a:p>
          <a:p>
            <a:pPr marL="342900" lvl="0" indent="-342900" eaLnBrk="1" hangingPunct="1">
              <a:buNone/>
            </a:pPr>
            <a:r>
              <a:rPr lang="zh-CN" altLang="en-US" b="1" dirty="0">
                <a:latin typeface="楷体_GB2312"/>
                <a:ea typeface="楷体_GB2312"/>
              </a:rPr>
              <a:t>    ① 各森林先各自转为二叉树；</a:t>
            </a:r>
            <a:endParaRPr lang="zh-CN" altLang="en-US" b="1" dirty="0">
              <a:latin typeface="楷体_GB2312"/>
              <a:ea typeface="楷体_GB2312"/>
            </a:endParaRPr>
          </a:p>
          <a:p>
            <a:pPr marL="342900" lvl="0" indent="-342900" eaLnBrk="1" hangingPunct="1">
              <a:buNone/>
            </a:pPr>
            <a:r>
              <a:rPr lang="zh-CN" altLang="en-US" b="1" dirty="0">
                <a:latin typeface="楷体_GB2312"/>
                <a:ea typeface="楷体_GB2312"/>
              </a:rPr>
              <a:t>    ② 依次连到前一个二叉树的右子树上。</a:t>
            </a:r>
            <a:endParaRPr lang="zh-CN" altLang="en-US" b="1" dirty="0">
              <a:latin typeface="楷体_GB2312"/>
              <a:ea typeface="楷体_GB2312"/>
            </a:endParaRPr>
          </a:p>
        </p:txBody>
      </p:sp>
      <p:sp>
        <p:nvSpPr>
          <p:cNvPr id="83972" name="Rectangle 3"/>
          <p:cNvSpPr/>
          <p:nvPr/>
        </p:nvSpPr>
        <p:spPr>
          <a:xfrm>
            <a:off x="228600" y="304800"/>
            <a:ext cx="57150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accent1"/>
                </a:solidFill>
                <a:latin typeface="楷体_GB2312"/>
                <a:ea typeface="楷体_GB2312"/>
              </a:rPr>
              <a:t>讨论</a:t>
            </a:r>
            <a:r>
              <a:rPr lang="en-US" altLang="zh-CN" b="1" dirty="0">
                <a:solidFill>
                  <a:schemeClr val="accent1"/>
                </a:solidFill>
                <a:latin typeface="楷体_GB2312"/>
                <a:ea typeface="楷体_GB2312"/>
              </a:rPr>
              <a:t>3</a:t>
            </a:r>
            <a:r>
              <a:rPr lang="zh-CN" altLang="en-US" b="1" dirty="0">
                <a:solidFill>
                  <a:schemeClr val="accent1"/>
                </a:solidFill>
                <a:latin typeface="楷体_GB2312"/>
                <a:ea typeface="楷体_GB2312"/>
              </a:rPr>
              <a:t>：森林如何转为二叉树？</a:t>
            </a:r>
            <a:endParaRPr lang="zh-CN" altLang="en-US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308228" name="AutoShape 4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8229" name="Rectangle 5"/>
          <p:cNvSpPr/>
          <p:nvPr/>
        </p:nvSpPr>
        <p:spPr>
          <a:xfrm>
            <a:off x="228600" y="3657600"/>
            <a:ext cx="838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楷体_GB2312"/>
                <a:ea typeface="楷体_GB2312"/>
              </a:rPr>
              <a:t>法二：</a:t>
            </a:r>
            <a:r>
              <a:rPr lang="zh-CN" altLang="en-US" b="1" dirty="0">
                <a:solidFill>
                  <a:schemeClr val="accent1"/>
                </a:solidFill>
                <a:latin typeface="楷体_GB2312"/>
                <a:ea typeface="楷体_GB2312"/>
              </a:rPr>
              <a:t>森林直接变兄弟，再转为二叉树</a:t>
            </a:r>
            <a:endParaRPr lang="zh-CN" altLang="en-US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308230" name="Rectangle 6"/>
          <p:cNvSpPr/>
          <p:nvPr/>
        </p:nvSpPr>
        <p:spPr>
          <a:xfrm>
            <a:off x="228600" y="4572000"/>
            <a:ext cx="853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（参见教材</a:t>
            </a:r>
            <a:r>
              <a:rPr lang="en-US" altLang="zh-CN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P138</a:t>
            </a:r>
            <a:r>
              <a:rPr lang="zh-CN" altLang="en-US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图</a:t>
            </a:r>
            <a:r>
              <a:rPr lang="en-US" altLang="zh-CN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6.17</a:t>
            </a:r>
            <a:r>
              <a:rPr lang="zh-CN" altLang="en-US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，两种方法都有转换示意图）</a:t>
            </a:r>
            <a:endParaRPr lang="zh-CN" altLang="en-US" sz="28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381000" y="1066800"/>
            <a:ext cx="8305800" cy="609600"/>
            <a:chOff x="240" y="672"/>
            <a:chExt cx="5232" cy="384"/>
          </a:xfrm>
        </p:grpSpPr>
        <p:sp>
          <p:nvSpPr>
            <p:cNvPr id="83977" name="Rectangle 8"/>
            <p:cNvSpPr/>
            <p:nvPr/>
          </p:nvSpPr>
          <p:spPr>
            <a:xfrm>
              <a:off x="240" y="672"/>
              <a:ext cx="52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b="1" dirty="0">
                  <a:latin typeface="楷体_GB2312"/>
                  <a:ea typeface="楷体_GB2312"/>
                </a:rPr>
                <a:t>即</a:t>
              </a:r>
              <a:r>
                <a:rPr lang="en-US" altLang="zh-CN" b="1" dirty="0">
                  <a:latin typeface="楷体_GB2312"/>
                  <a:ea typeface="楷体_GB2312"/>
                </a:rPr>
                <a:t>F={T</a:t>
              </a:r>
              <a:r>
                <a:rPr lang="en-US" altLang="zh-CN" b="1" baseline="-25000" dirty="0">
                  <a:latin typeface="楷体_GB2312"/>
                  <a:ea typeface="楷体_GB2312"/>
                </a:rPr>
                <a:t>1</a:t>
              </a:r>
              <a:r>
                <a:rPr lang="en-US" altLang="zh-CN" b="1" dirty="0">
                  <a:latin typeface="楷体_GB2312"/>
                  <a:ea typeface="楷体_GB2312"/>
                </a:rPr>
                <a:t>, T</a:t>
              </a:r>
              <a:r>
                <a:rPr lang="en-US" altLang="zh-CN" b="1" baseline="-25000" dirty="0">
                  <a:latin typeface="楷体_GB2312"/>
                  <a:ea typeface="楷体_GB2312"/>
                </a:rPr>
                <a:t>2</a:t>
              </a:r>
              <a:r>
                <a:rPr lang="en-US" altLang="zh-CN" b="1" dirty="0">
                  <a:latin typeface="楷体_GB2312"/>
                  <a:ea typeface="楷体_GB2312"/>
                </a:rPr>
                <a:t>,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/>
                </a:rPr>
                <a:t>…</a:t>
              </a:r>
              <a:r>
                <a:rPr lang="en-US" altLang="zh-CN" b="1" dirty="0">
                  <a:latin typeface="楷体_GB2312"/>
                  <a:ea typeface="楷体_GB2312"/>
                </a:rPr>
                <a:t>,T</a:t>
              </a:r>
              <a:r>
                <a:rPr lang="en-US" altLang="zh-CN" b="1" baseline="-25000" dirty="0">
                  <a:latin typeface="楷体_GB2312"/>
                  <a:ea typeface="楷体_GB2312"/>
                </a:rPr>
                <a:t>m</a:t>
              </a:r>
              <a:r>
                <a:rPr lang="en-US" altLang="zh-CN" b="1" dirty="0">
                  <a:latin typeface="楷体_GB2312"/>
                  <a:ea typeface="楷体_GB2312"/>
                </a:rPr>
                <a:t>}     B={root, LB, RB}</a:t>
              </a:r>
              <a:endParaRPr lang="en-US" altLang="zh-CN" b="1" dirty="0">
                <a:latin typeface="楷体_GB2312"/>
                <a:ea typeface="楷体_GB2312"/>
              </a:endParaRPr>
            </a:p>
          </p:txBody>
        </p:sp>
        <p:sp>
          <p:nvSpPr>
            <p:cNvPr id="83978" name="AutoShape 9"/>
            <p:cNvSpPr/>
            <p:nvPr/>
          </p:nvSpPr>
          <p:spPr>
            <a:xfrm>
              <a:off x="2592" y="720"/>
              <a:ext cx="528" cy="336"/>
            </a:xfrm>
            <a:prstGeom prst="rightArrow">
              <a:avLst>
                <a:gd name="adj1" fmla="val 50000"/>
                <a:gd name="adj2" fmla="val 3928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0822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6">
                                            <p:txEl>
                                              <p:charRg st="4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08226">
                                            <p:txEl>
                                              <p:charRg st="4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6">
                                            <p:txEl>
                                              <p:charRg st="23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08226">
                                            <p:txEl>
                                              <p:charRg st="23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6" grpId="0" build="p"/>
      <p:bldP spid="308228" grpId="0" animBg="1"/>
      <p:bldP spid="308229" grpId="0"/>
      <p:bldP spid="30823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152400" y="685800"/>
            <a:ext cx="1676400" cy="1290638"/>
            <a:chOff x="536" y="2184"/>
            <a:chExt cx="880" cy="624"/>
          </a:xfrm>
        </p:grpSpPr>
        <p:sp>
          <p:nvSpPr>
            <p:cNvPr id="85071" name="Oval 3"/>
            <p:cNvSpPr/>
            <p:nvPr/>
          </p:nvSpPr>
          <p:spPr>
            <a:xfrm>
              <a:off x="880" y="2184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72" name="Oval 4"/>
            <p:cNvSpPr/>
            <p:nvPr/>
          </p:nvSpPr>
          <p:spPr>
            <a:xfrm>
              <a:off x="536" y="2584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73" name="Oval 5"/>
            <p:cNvSpPr/>
            <p:nvPr/>
          </p:nvSpPr>
          <p:spPr>
            <a:xfrm>
              <a:off x="880" y="2592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74" name="Oval 6"/>
            <p:cNvSpPr/>
            <p:nvPr/>
          </p:nvSpPr>
          <p:spPr>
            <a:xfrm>
              <a:off x="1208" y="2600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75" name="Line 7"/>
            <p:cNvSpPr/>
            <p:nvPr/>
          </p:nvSpPr>
          <p:spPr>
            <a:xfrm>
              <a:off x="984" y="2392"/>
              <a:ext cx="0" cy="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76" name="Line 8"/>
            <p:cNvSpPr/>
            <p:nvPr/>
          </p:nvSpPr>
          <p:spPr>
            <a:xfrm flipH="1">
              <a:off x="712" y="2360"/>
              <a:ext cx="20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77" name="Line 9"/>
            <p:cNvSpPr/>
            <p:nvPr/>
          </p:nvSpPr>
          <p:spPr>
            <a:xfrm>
              <a:off x="1064" y="2352"/>
              <a:ext cx="200" cy="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0"/>
          <p:cNvGrpSpPr/>
          <p:nvPr/>
        </p:nvGrpSpPr>
        <p:grpSpPr>
          <a:xfrm>
            <a:off x="2193925" y="719138"/>
            <a:ext cx="396875" cy="1273175"/>
            <a:chOff x="1528" y="2200"/>
            <a:chExt cx="208" cy="616"/>
          </a:xfrm>
        </p:grpSpPr>
        <p:sp>
          <p:nvSpPr>
            <p:cNvPr id="85068" name="Oval 11"/>
            <p:cNvSpPr/>
            <p:nvPr/>
          </p:nvSpPr>
          <p:spPr>
            <a:xfrm>
              <a:off x="1528" y="2200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69" name="Oval 12"/>
            <p:cNvSpPr/>
            <p:nvPr/>
          </p:nvSpPr>
          <p:spPr>
            <a:xfrm>
              <a:off x="1528" y="2608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70" name="Line 13"/>
            <p:cNvSpPr/>
            <p:nvPr/>
          </p:nvSpPr>
          <p:spPr>
            <a:xfrm>
              <a:off x="1632" y="2408"/>
              <a:ext cx="0" cy="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14"/>
          <p:cNvGrpSpPr/>
          <p:nvPr/>
        </p:nvGrpSpPr>
        <p:grpSpPr>
          <a:xfrm>
            <a:off x="2955925" y="685800"/>
            <a:ext cx="1311275" cy="2133600"/>
            <a:chOff x="1848" y="2184"/>
            <a:chExt cx="688" cy="1032"/>
          </a:xfrm>
        </p:grpSpPr>
        <p:sp>
          <p:nvSpPr>
            <p:cNvPr id="85061" name="Oval 15"/>
            <p:cNvSpPr/>
            <p:nvPr/>
          </p:nvSpPr>
          <p:spPr>
            <a:xfrm>
              <a:off x="2088" y="2184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G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62" name="Oval 16"/>
            <p:cNvSpPr/>
            <p:nvPr/>
          </p:nvSpPr>
          <p:spPr>
            <a:xfrm>
              <a:off x="1848" y="2584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H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63" name="Oval 17"/>
            <p:cNvSpPr/>
            <p:nvPr/>
          </p:nvSpPr>
          <p:spPr>
            <a:xfrm>
              <a:off x="2328" y="3008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J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64" name="Oval 18"/>
            <p:cNvSpPr/>
            <p:nvPr/>
          </p:nvSpPr>
          <p:spPr>
            <a:xfrm>
              <a:off x="2320" y="2600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65" name="Line 19"/>
            <p:cNvSpPr/>
            <p:nvPr/>
          </p:nvSpPr>
          <p:spPr>
            <a:xfrm>
              <a:off x="2432" y="2808"/>
              <a:ext cx="0" cy="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66" name="Line 20"/>
            <p:cNvSpPr/>
            <p:nvPr/>
          </p:nvSpPr>
          <p:spPr>
            <a:xfrm flipH="1">
              <a:off x="1992" y="2360"/>
              <a:ext cx="128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67" name="Line 21"/>
            <p:cNvSpPr/>
            <p:nvPr/>
          </p:nvSpPr>
          <p:spPr>
            <a:xfrm>
              <a:off x="2272" y="2352"/>
              <a:ext cx="128" cy="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22"/>
          <p:cNvGrpSpPr/>
          <p:nvPr/>
        </p:nvGrpSpPr>
        <p:grpSpPr>
          <a:xfrm>
            <a:off x="228600" y="3124200"/>
            <a:ext cx="4419600" cy="2362200"/>
            <a:chOff x="144" y="1968"/>
            <a:chExt cx="2784" cy="1488"/>
          </a:xfrm>
        </p:grpSpPr>
        <p:grpSp>
          <p:nvGrpSpPr>
            <p:cNvPr id="85041" name="Group 23"/>
            <p:cNvGrpSpPr/>
            <p:nvPr/>
          </p:nvGrpSpPr>
          <p:grpSpPr>
            <a:xfrm>
              <a:off x="144" y="1968"/>
              <a:ext cx="1225" cy="900"/>
              <a:chOff x="536" y="2184"/>
              <a:chExt cx="880" cy="624"/>
            </a:xfrm>
          </p:grpSpPr>
          <p:sp>
            <p:nvSpPr>
              <p:cNvPr id="85054" name="Oval 24"/>
              <p:cNvSpPr/>
              <p:nvPr/>
            </p:nvSpPr>
            <p:spPr>
              <a:xfrm>
                <a:off x="880" y="2184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A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55" name="Oval 25"/>
              <p:cNvSpPr/>
              <p:nvPr/>
            </p:nvSpPr>
            <p:spPr>
              <a:xfrm>
                <a:off x="536" y="2584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B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56" name="Oval 26"/>
              <p:cNvSpPr/>
              <p:nvPr/>
            </p:nvSpPr>
            <p:spPr>
              <a:xfrm>
                <a:off x="880" y="2592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C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57" name="Oval 27"/>
              <p:cNvSpPr/>
              <p:nvPr/>
            </p:nvSpPr>
            <p:spPr>
              <a:xfrm>
                <a:off x="1208" y="2600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D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58" name="Line 28"/>
              <p:cNvSpPr/>
              <p:nvPr/>
            </p:nvSpPr>
            <p:spPr>
              <a:xfrm>
                <a:off x="984" y="2392"/>
                <a:ext cx="0" cy="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59" name="Line 29"/>
              <p:cNvSpPr/>
              <p:nvPr/>
            </p:nvSpPr>
            <p:spPr>
              <a:xfrm flipH="1">
                <a:off x="712" y="2360"/>
                <a:ext cx="20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60" name="Line 30"/>
              <p:cNvSpPr/>
              <p:nvPr/>
            </p:nvSpPr>
            <p:spPr>
              <a:xfrm>
                <a:off x="1064" y="2352"/>
                <a:ext cx="200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5042" name="Group 31"/>
            <p:cNvGrpSpPr/>
            <p:nvPr/>
          </p:nvGrpSpPr>
          <p:grpSpPr>
            <a:xfrm>
              <a:off x="1525" y="1991"/>
              <a:ext cx="289" cy="888"/>
              <a:chOff x="1528" y="2200"/>
              <a:chExt cx="208" cy="616"/>
            </a:xfrm>
          </p:grpSpPr>
          <p:sp>
            <p:nvSpPr>
              <p:cNvPr id="85051" name="Oval 32"/>
              <p:cNvSpPr/>
              <p:nvPr/>
            </p:nvSpPr>
            <p:spPr>
              <a:xfrm>
                <a:off x="1528" y="2200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E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52" name="Oval 33"/>
              <p:cNvSpPr/>
              <p:nvPr/>
            </p:nvSpPr>
            <p:spPr>
              <a:xfrm>
                <a:off x="1528" y="2608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F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53" name="Line 34"/>
              <p:cNvSpPr/>
              <p:nvPr/>
            </p:nvSpPr>
            <p:spPr>
              <a:xfrm>
                <a:off x="1632" y="2408"/>
                <a:ext cx="0" cy="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5043" name="Group 35"/>
            <p:cNvGrpSpPr/>
            <p:nvPr/>
          </p:nvGrpSpPr>
          <p:grpSpPr>
            <a:xfrm>
              <a:off x="1970" y="1968"/>
              <a:ext cx="958" cy="1488"/>
              <a:chOff x="1848" y="2184"/>
              <a:chExt cx="688" cy="1032"/>
            </a:xfrm>
          </p:grpSpPr>
          <p:sp>
            <p:nvSpPr>
              <p:cNvPr id="85044" name="Oval 36"/>
              <p:cNvSpPr/>
              <p:nvPr/>
            </p:nvSpPr>
            <p:spPr>
              <a:xfrm>
                <a:off x="2088" y="2184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G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45" name="Oval 37"/>
              <p:cNvSpPr/>
              <p:nvPr/>
            </p:nvSpPr>
            <p:spPr>
              <a:xfrm>
                <a:off x="1848" y="2584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H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46" name="Oval 38"/>
              <p:cNvSpPr/>
              <p:nvPr/>
            </p:nvSpPr>
            <p:spPr>
              <a:xfrm>
                <a:off x="2328" y="3008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47" name="Oval 39"/>
              <p:cNvSpPr/>
              <p:nvPr/>
            </p:nvSpPr>
            <p:spPr>
              <a:xfrm>
                <a:off x="2320" y="2600"/>
                <a:ext cx="208" cy="20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I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048" name="Line 40"/>
              <p:cNvSpPr/>
              <p:nvPr/>
            </p:nvSpPr>
            <p:spPr>
              <a:xfrm>
                <a:off x="2432" y="2808"/>
                <a:ext cx="0" cy="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49" name="Line 41"/>
              <p:cNvSpPr/>
              <p:nvPr/>
            </p:nvSpPr>
            <p:spPr>
              <a:xfrm flipH="1">
                <a:off x="1992" y="2360"/>
                <a:ext cx="128" cy="2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50" name="Line 42"/>
              <p:cNvSpPr/>
              <p:nvPr/>
            </p:nvSpPr>
            <p:spPr>
              <a:xfrm>
                <a:off x="2272" y="2352"/>
                <a:ext cx="128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" name="Group 43"/>
          <p:cNvGrpSpPr/>
          <p:nvPr/>
        </p:nvGrpSpPr>
        <p:grpSpPr>
          <a:xfrm>
            <a:off x="685800" y="3343275"/>
            <a:ext cx="3481388" cy="952500"/>
            <a:chOff x="434" y="2106"/>
            <a:chExt cx="2193" cy="600"/>
          </a:xfrm>
        </p:grpSpPr>
        <p:sp>
          <p:nvSpPr>
            <p:cNvPr id="85036" name="Line 44"/>
            <p:cNvSpPr/>
            <p:nvPr/>
          </p:nvSpPr>
          <p:spPr>
            <a:xfrm>
              <a:off x="912" y="2106"/>
              <a:ext cx="624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7" name="Line 45"/>
            <p:cNvSpPr/>
            <p:nvPr/>
          </p:nvSpPr>
          <p:spPr>
            <a:xfrm>
              <a:off x="1814" y="2118"/>
              <a:ext cx="502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8" name="Line 46"/>
            <p:cNvSpPr/>
            <p:nvPr/>
          </p:nvSpPr>
          <p:spPr>
            <a:xfrm>
              <a:off x="434" y="2706"/>
              <a:ext cx="178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9" name="Line 47"/>
            <p:cNvSpPr/>
            <p:nvPr/>
          </p:nvSpPr>
          <p:spPr>
            <a:xfrm>
              <a:off x="912" y="2706"/>
              <a:ext cx="156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40" name="Line 48"/>
            <p:cNvSpPr/>
            <p:nvPr/>
          </p:nvSpPr>
          <p:spPr>
            <a:xfrm>
              <a:off x="2271" y="2706"/>
              <a:ext cx="356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49"/>
          <p:cNvGrpSpPr/>
          <p:nvPr/>
        </p:nvGrpSpPr>
        <p:grpSpPr>
          <a:xfrm>
            <a:off x="5410200" y="1066800"/>
            <a:ext cx="3124200" cy="4114800"/>
            <a:chOff x="2936" y="1064"/>
            <a:chExt cx="1288" cy="1896"/>
          </a:xfrm>
        </p:grpSpPr>
        <p:sp>
          <p:nvSpPr>
            <p:cNvPr id="309298" name="Oval 50"/>
            <p:cNvSpPr>
              <a:spLocks noChangeArrowheads="1"/>
            </p:cNvSpPr>
            <p:nvPr/>
          </p:nvSpPr>
          <p:spPr bwMode="auto">
            <a:xfrm>
              <a:off x="3280" y="1064"/>
              <a:ext cx="207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66FF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8" name="Oval 51"/>
            <p:cNvSpPr/>
            <p:nvPr/>
          </p:nvSpPr>
          <p:spPr>
            <a:xfrm>
              <a:off x="2936" y="146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19" name="Oval 52"/>
            <p:cNvSpPr/>
            <p:nvPr/>
          </p:nvSpPr>
          <p:spPr>
            <a:xfrm>
              <a:off x="3208" y="180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20" name="Oval 53"/>
            <p:cNvSpPr/>
            <p:nvPr/>
          </p:nvSpPr>
          <p:spPr>
            <a:xfrm>
              <a:off x="3512" y="214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21" name="Line 54"/>
            <p:cNvSpPr/>
            <p:nvPr/>
          </p:nvSpPr>
          <p:spPr>
            <a:xfrm flipH="1">
              <a:off x="3112" y="1240"/>
              <a:ext cx="20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22" name="Oval 55"/>
            <p:cNvSpPr/>
            <p:nvPr/>
          </p:nvSpPr>
          <p:spPr>
            <a:xfrm>
              <a:off x="3696" y="1488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23" name="Oval 56"/>
            <p:cNvSpPr/>
            <p:nvPr/>
          </p:nvSpPr>
          <p:spPr>
            <a:xfrm>
              <a:off x="3544" y="1816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24" name="Line 57"/>
            <p:cNvSpPr/>
            <p:nvPr/>
          </p:nvSpPr>
          <p:spPr>
            <a:xfrm flipH="1">
              <a:off x="3720" y="1704"/>
              <a:ext cx="5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25" name="Oval 58"/>
            <p:cNvSpPr/>
            <p:nvPr/>
          </p:nvSpPr>
          <p:spPr>
            <a:xfrm>
              <a:off x="3976" y="184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G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26" name="Oval 59"/>
            <p:cNvSpPr/>
            <p:nvPr/>
          </p:nvSpPr>
          <p:spPr>
            <a:xfrm>
              <a:off x="3792" y="216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H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27" name="Oval 60"/>
            <p:cNvSpPr/>
            <p:nvPr/>
          </p:nvSpPr>
          <p:spPr>
            <a:xfrm>
              <a:off x="3888" y="2752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J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28" name="Oval 61"/>
            <p:cNvSpPr/>
            <p:nvPr/>
          </p:nvSpPr>
          <p:spPr>
            <a:xfrm>
              <a:off x="4016" y="242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29" name="Line 62"/>
            <p:cNvSpPr/>
            <p:nvPr/>
          </p:nvSpPr>
          <p:spPr>
            <a:xfrm flipH="1">
              <a:off x="4040" y="2632"/>
              <a:ext cx="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0" name="Line 63"/>
            <p:cNvSpPr/>
            <p:nvPr/>
          </p:nvSpPr>
          <p:spPr>
            <a:xfrm flipH="1">
              <a:off x="3928" y="2016"/>
              <a:ext cx="80" cy="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1" name="Line 64"/>
            <p:cNvSpPr/>
            <p:nvPr/>
          </p:nvSpPr>
          <p:spPr>
            <a:xfrm>
              <a:off x="3480" y="1232"/>
              <a:ext cx="240" cy="28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2" name="Line 65"/>
            <p:cNvSpPr/>
            <p:nvPr/>
          </p:nvSpPr>
          <p:spPr>
            <a:xfrm>
              <a:off x="3840" y="1680"/>
              <a:ext cx="152" cy="19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3" name="Line 66"/>
            <p:cNvSpPr/>
            <p:nvPr/>
          </p:nvSpPr>
          <p:spPr>
            <a:xfrm>
              <a:off x="3120" y="1656"/>
              <a:ext cx="136" cy="16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4" name="Line 67"/>
            <p:cNvSpPr/>
            <p:nvPr/>
          </p:nvSpPr>
          <p:spPr>
            <a:xfrm>
              <a:off x="3392" y="1976"/>
              <a:ext cx="152" cy="18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35" name="Line 68"/>
            <p:cNvSpPr/>
            <p:nvPr/>
          </p:nvSpPr>
          <p:spPr>
            <a:xfrm>
              <a:off x="3976" y="2344"/>
              <a:ext cx="72" cy="10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5001" name="Rectangle 69"/>
          <p:cNvSpPr>
            <a:spLocks noGrp="1"/>
          </p:cNvSpPr>
          <p:nvPr>
            <p:ph type="title"/>
          </p:nvPr>
        </p:nvSpPr>
        <p:spPr>
          <a:xfrm>
            <a:off x="76200" y="152400"/>
            <a:ext cx="7391400" cy="4572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森林转二叉树举例：</a:t>
            </a:r>
            <a:r>
              <a:rPr lang="zh-CN" altLang="en-US" sz="3200" b="1" dirty="0">
                <a:solidFill>
                  <a:schemeClr val="tx1"/>
                </a:solidFill>
                <a:latin typeface="楷体_GB2312"/>
                <a:ea typeface="楷体_GB2312"/>
              </a:rPr>
              <a:t>（法二）</a:t>
            </a:r>
            <a:endParaRPr lang="zh-CN" altLang="en-US" sz="3200" b="1" dirty="0">
              <a:solidFill>
                <a:schemeClr val="tx1"/>
              </a:solidFill>
              <a:latin typeface="楷体_GB2312"/>
              <a:ea typeface="楷体_GB2312"/>
            </a:endParaRPr>
          </a:p>
        </p:txBody>
      </p:sp>
      <p:sp>
        <p:nvSpPr>
          <p:cNvPr id="309318" name="AutoShape 70"/>
          <p:cNvSpPr/>
          <p:nvPr/>
        </p:nvSpPr>
        <p:spPr>
          <a:xfrm>
            <a:off x="1981200" y="2438400"/>
            <a:ext cx="533400" cy="609600"/>
          </a:xfrm>
          <a:prstGeom prst="downArrow">
            <a:avLst>
              <a:gd name="adj1" fmla="val 50000"/>
              <a:gd name="adj2" fmla="val 2857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9319" name="AutoShape 71"/>
          <p:cNvSpPr/>
          <p:nvPr/>
        </p:nvSpPr>
        <p:spPr>
          <a:xfrm>
            <a:off x="4876800" y="4343400"/>
            <a:ext cx="2057400" cy="533400"/>
          </a:xfrm>
          <a:prstGeom prst="curvedUpArrow">
            <a:avLst>
              <a:gd name="adj1" fmla="val 77142"/>
              <a:gd name="adj2" fmla="val 154285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11" name="Group 72"/>
          <p:cNvGrpSpPr/>
          <p:nvPr/>
        </p:nvGrpSpPr>
        <p:grpSpPr>
          <a:xfrm>
            <a:off x="990600" y="3733800"/>
            <a:ext cx="3429000" cy="304800"/>
            <a:chOff x="624" y="2832"/>
            <a:chExt cx="2160" cy="192"/>
          </a:xfrm>
        </p:grpSpPr>
        <p:grpSp>
          <p:nvGrpSpPr>
            <p:cNvPr id="85008" name="Group 73"/>
            <p:cNvGrpSpPr/>
            <p:nvPr/>
          </p:nvGrpSpPr>
          <p:grpSpPr>
            <a:xfrm>
              <a:off x="912" y="2832"/>
              <a:ext cx="240" cy="192"/>
              <a:chOff x="528" y="3744"/>
              <a:chExt cx="240" cy="192"/>
            </a:xfrm>
          </p:grpSpPr>
          <p:sp>
            <p:nvSpPr>
              <p:cNvPr id="85015" name="Line 74"/>
              <p:cNvSpPr/>
              <p:nvPr/>
            </p:nvSpPr>
            <p:spPr>
              <a:xfrm>
                <a:off x="528" y="3744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6" name="Line 75"/>
              <p:cNvSpPr/>
              <p:nvPr/>
            </p:nvSpPr>
            <p:spPr>
              <a:xfrm flipH="1">
                <a:off x="528" y="3744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5009" name="Group 76"/>
            <p:cNvGrpSpPr/>
            <p:nvPr/>
          </p:nvGrpSpPr>
          <p:grpSpPr>
            <a:xfrm>
              <a:off x="624" y="2832"/>
              <a:ext cx="240" cy="192"/>
              <a:chOff x="528" y="3744"/>
              <a:chExt cx="240" cy="192"/>
            </a:xfrm>
          </p:grpSpPr>
          <p:sp>
            <p:nvSpPr>
              <p:cNvPr id="85013" name="Line 77"/>
              <p:cNvSpPr/>
              <p:nvPr/>
            </p:nvSpPr>
            <p:spPr>
              <a:xfrm>
                <a:off x="528" y="3744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4" name="Line 78"/>
              <p:cNvSpPr/>
              <p:nvPr/>
            </p:nvSpPr>
            <p:spPr>
              <a:xfrm flipH="1">
                <a:off x="528" y="3744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5010" name="Group 79"/>
            <p:cNvGrpSpPr/>
            <p:nvPr/>
          </p:nvGrpSpPr>
          <p:grpSpPr>
            <a:xfrm>
              <a:off x="2544" y="2832"/>
              <a:ext cx="240" cy="192"/>
              <a:chOff x="528" y="3744"/>
              <a:chExt cx="240" cy="192"/>
            </a:xfrm>
          </p:grpSpPr>
          <p:sp>
            <p:nvSpPr>
              <p:cNvPr id="85011" name="Line 80"/>
              <p:cNvSpPr/>
              <p:nvPr/>
            </p:nvSpPr>
            <p:spPr>
              <a:xfrm>
                <a:off x="528" y="3744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5012" name="Line 81"/>
              <p:cNvSpPr/>
              <p:nvPr/>
            </p:nvSpPr>
            <p:spPr>
              <a:xfrm flipH="1">
                <a:off x="528" y="3744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09330" name="Rectangle 82"/>
          <p:cNvSpPr/>
          <p:nvPr/>
        </p:nvSpPr>
        <p:spPr>
          <a:xfrm>
            <a:off x="304800" y="5562600"/>
            <a:ext cx="3429000" cy="95567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兄弟相连 长兄为父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孩子靠左 </a:t>
            </a:r>
            <a:r>
              <a:rPr lang="zh-CN" altLang="en-US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头根为根</a:t>
            </a:r>
            <a:r>
              <a:rPr lang="zh-CN" altLang="en-US" sz="2800" b="1" dirty="0">
                <a:solidFill>
                  <a:srgbClr val="66FF33"/>
                </a:solidFill>
                <a:latin typeface="楷体_GB2312"/>
                <a:ea typeface="楷体_GB2312"/>
              </a:rPr>
              <a:t> </a:t>
            </a:r>
            <a:endParaRPr lang="zh-CN" altLang="en-US" sz="2800" b="1" dirty="0">
              <a:solidFill>
                <a:srgbClr val="66FF33"/>
              </a:solidFill>
              <a:latin typeface="楷体_GB2312"/>
              <a:ea typeface="楷体_GB2312"/>
            </a:endParaRPr>
          </a:p>
        </p:txBody>
      </p:sp>
      <p:sp>
        <p:nvSpPr>
          <p:cNvPr id="309331" name="AutoShape 83">
            <a:hlinkClick r:id="" action="ppaction://hlinkshowjump?jump=nextslide"/>
          </p:cNvPr>
          <p:cNvSpPr/>
          <p:nvPr/>
        </p:nvSpPr>
        <p:spPr>
          <a:xfrm>
            <a:off x="80772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9332" name="Rectangle 84"/>
          <p:cNvSpPr>
            <a:spLocks noChangeArrowheads="1"/>
          </p:cNvSpPr>
          <p:nvPr/>
        </p:nvSpPr>
        <p:spPr bwMode="auto">
          <a:xfrm>
            <a:off x="990600" y="3084513"/>
            <a:ext cx="4413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66FF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30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9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9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0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318" grpId="0" animBg="1"/>
      <p:bldP spid="309319" grpId="0" animBg="1"/>
      <p:bldP spid="309330" grpId="0" animBg="1"/>
      <p:bldP spid="309331" grpId="0" animBg="1"/>
      <p:bldP spid="30933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6019" name="Rectang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6705600" cy="5334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：二叉树如何还原为森林？</a:t>
            </a:r>
            <a:endParaRPr lang="zh-CN" altLang="en-US" sz="32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0275" name="Rectangle 3"/>
          <p:cNvSpPr/>
          <p:nvPr/>
        </p:nvSpPr>
        <p:spPr>
          <a:xfrm>
            <a:off x="0" y="1066800"/>
            <a:ext cx="9144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楷体_GB2312"/>
                <a:ea typeface="楷体_GB2312"/>
              </a:rPr>
              <a:t>要点：</a:t>
            </a:r>
            <a:r>
              <a:rPr lang="zh-CN" altLang="en-US" sz="2800" b="1" dirty="0">
                <a:latin typeface="楷体_GB2312"/>
                <a:ea typeface="楷体_GB2312"/>
              </a:rPr>
              <a:t>把最右边的子树变为森林，其余右子树变为兄弟</a:t>
            </a:r>
            <a:r>
              <a:rPr lang="zh-CN" altLang="en-US" b="1" dirty="0">
                <a:latin typeface="楷体_GB2312"/>
                <a:ea typeface="楷体_GB2312"/>
              </a:rPr>
              <a:t> </a:t>
            </a:r>
            <a:endParaRPr lang="zh-CN" altLang="en-US" b="1" dirty="0">
              <a:latin typeface="楷体_GB2312"/>
              <a:ea typeface="楷体_GB231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52400" y="1752600"/>
            <a:ext cx="2743200" cy="3581400"/>
            <a:chOff x="2936" y="1064"/>
            <a:chExt cx="1288" cy="1896"/>
          </a:xfrm>
        </p:grpSpPr>
        <p:sp>
          <p:nvSpPr>
            <p:cNvPr id="86076" name="Oval 5"/>
            <p:cNvSpPr/>
            <p:nvPr/>
          </p:nvSpPr>
          <p:spPr>
            <a:xfrm>
              <a:off x="3280" y="1064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77" name="Oval 6"/>
            <p:cNvSpPr/>
            <p:nvPr/>
          </p:nvSpPr>
          <p:spPr>
            <a:xfrm>
              <a:off x="2936" y="1464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78" name="Oval 7"/>
            <p:cNvSpPr/>
            <p:nvPr/>
          </p:nvSpPr>
          <p:spPr>
            <a:xfrm>
              <a:off x="3208" y="1800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79" name="Oval 8"/>
            <p:cNvSpPr/>
            <p:nvPr/>
          </p:nvSpPr>
          <p:spPr>
            <a:xfrm>
              <a:off x="3512" y="2144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80" name="Line 9"/>
            <p:cNvSpPr/>
            <p:nvPr/>
          </p:nvSpPr>
          <p:spPr>
            <a:xfrm flipH="1">
              <a:off x="3112" y="1240"/>
              <a:ext cx="20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81" name="Oval 10"/>
            <p:cNvSpPr/>
            <p:nvPr/>
          </p:nvSpPr>
          <p:spPr>
            <a:xfrm>
              <a:off x="3696" y="1488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82" name="Oval 11"/>
            <p:cNvSpPr/>
            <p:nvPr/>
          </p:nvSpPr>
          <p:spPr>
            <a:xfrm>
              <a:off x="3544" y="1816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83" name="Line 12"/>
            <p:cNvSpPr/>
            <p:nvPr/>
          </p:nvSpPr>
          <p:spPr>
            <a:xfrm flipH="1">
              <a:off x="3720" y="1704"/>
              <a:ext cx="5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84" name="Oval 13"/>
            <p:cNvSpPr/>
            <p:nvPr/>
          </p:nvSpPr>
          <p:spPr>
            <a:xfrm>
              <a:off x="3976" y="1840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G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85" name="Oval 14"/>
            <p:cNvSpPr/>
            <p:nvPr/>
          </p:nvSpPr>
          <p:spPr>
            <a:xfrm>
              <a:off x="3792" y="2160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H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86" name="Oval 15"/>
            <p:cNvSpPr/>
            <p:nvPr/>
          </p:nvSpPr>
          <p:spPr>
            <a:xfrm>
              <a:off x="3888" y="2752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J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87" name="Oval 16"/>
            <p:cNvSpPr/>
            <p:nvPr/>
          </p:nvSpPr>
          <p:spPr>
            <a:xfrm>
              <a:off x="4016" y="2424"/>
              <a:ext cx="208" cy="20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88" name="Line 17"/>
            <p:cNvSpPr/>
            <p:nvPr/>
          </p:nvSpPr>
          <p:spPr>
            <a:xfrm flipH="1">
              <a:off x="4040" y="2632"/>
              <a:ext cx="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89" name="Line 18"/>
            <p:cNvSpPr/>
            <p:nvPr/>
          </p:nvSpPr>
          <p:spPr>
            <a:xfrm flipH="1">
              <a:off x="3928" y="2016"/>
              <a:ext cx="80" cy="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90" name="Line 19"/>
            <p:cNvSpPr/>
            <p:nvPr/>
          </p:nvSpPr>
          <p:spPr>
            <a:xfrm>
              <a:off x="3480" y="1232"/>
              <a:ext cx="240" cy="28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91" name="Line 20"/>
            <p:cNvSpPr/>
            <p:nvPr/>
          </p:nvSpPr>
          <p:spPr>
            <a:xfrm>
              <a:off x="3840" y="1680"/>
              <a:ext cx="152" cy="19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92" name="Line 21"/>
            <p:cNvSpPr/>
            <p:nvPr/>
          </p:nvSpPr>
          <p:spPr>
            <a:xfrm>
              <a:off x="3120" y="1656"/>
              <a:ext cx="136" cy="16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93" name="Line 22"/>
            <p:cNvSpPr/>
            <p:nvPr/>
          </p:nvSpPr>
          <p:spPr>
            <a:xfrm>
              <a:off x="3392" y="1976"/>
              <a:ext cx="152" cy="18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94" name="Line 23"/>
            <p:cNvSpPr/>
            <p:nvPr/>
          </p:nvSpPr>
          <p:spPr>
            <a:xfrm>
              <a:off x="3976" y="2344"/>
              <a:ext cx="72" cy="10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0296" name="AutoShape 24"/>
          <p:cNvSpPr/>
          <p:nvPr/>
        </p:nvSpPr>
        <p:spPr>
          <a:xfrm>
            <a:off x="3276600" y="2743200"/>
            <a:ext cx="838200" cy="609600"/>
          </a:xfrm>
          <a:prstGeom prst="rightArrow">
            <a:avLst>
              <a:gd name="adj1" fmla="val 50000"/>
              <a:gd name="adj2" fmla="val 3437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3" name="Group 25"/>
          <p:cNvGrpSpPr/>
          <p:nvPr/>
        </p:nvGrpSpPr>
        <p:grpSpPr>
          <a:xfrm>
            <a:off x="4191000" y="4114800"/>
            <a:ext cx="1676400" cy="1290638"/>
            <a:chOff x="536" y="2184"/>
            <a:chExt cx="880" cy="624"/>
          </a:xfrm>
        </p:grpSpPr>
        <p:sp>
          <p:nvSpPr>
            <p:cNvPr id="86069" name="Oval 26"/>
            <p:cNvSpPr/>
            <p:nvPr/>
          </p:nvSpPr>
          <p:spPr>
            <a:xfrm>
              <a:off x="880" y="218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70" name="Oval 27"/>
            <p:cNvSpPr/>
            <p:nvPr/>
          </p:nvSpPr>
          <p:spPr>
            <a:xfrm>
              <a:off x="536" y="258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71" name="Oval 28"/>
            <p:cNvSpPr/>
            <p:nvPr/>
          </p:nvSpPr>
          <p:spPr>
            <a:xfrm>
              <a:off x="880" y="2592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72" name="Oval 29"/>
            <p:cNvSpPr/>
            <p:nvPr/>
          </p:nvSpPr>
          <p:spPr>
            <a:xfrm>
              <a:off x="1208" y="260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73" name="Line 30"/>
            <p:cNvSpPr/>
            <p:nvPr/>
          </p:nvSpPr>
          <p:spPr>
            <a:xfrm>
              <a:off x="984" y="2392"/>
              <a:ext cx="0" cy="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74" name="Line 31"/>
            <p:cNvSpPr/>
            <p:nvPr/>
          </p:nvSpPr>
          <p:spPr>
            <a:xfrm flipH="1">
              <a:off x="712" y="2360"/>
              <a:ext cx="20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75" name="Line 32"/>
            <p:cNvSpPr/>
            <p:nvPr/>
          </p:nvSpPr>
          <p:spPr>
            <a:xfrm>
              <a:off x="1064" y="2352"/>
              <a:ext cx="200" cy="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33"/>
          <p:cNvGrpSpPr/>
          <p:nvPr/>
        </p:nvGrpSpPr>
        <p:grpSpPr>
          <a:xfrm>
            <a:off x="6232525" y="4148138"/>
            <a:ext cx="396875" cy="1273175"/>
            <a:chOff x="1528" y="2200"/>
            <a:chExt cx="208" cy="616"/>
          </a:xfrm>
        </p:grpSpPr>
        <p:sp>
          <p:nvSpPr>
            <p:cNvPr id="86066" name="Oval 34"/>
            <p:cNvSpPr/>
            <p:nvPr/>
          </p:nvSpPr>
          <p:spPr>
            <a:xfrm>
              <a:off x="1528" y="220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67" name="Oval 35"/>
            <p:cNvSpPr/>
            <p:nvPr/>
          </p:nvSpPr>
          <p:spPr>
            <a:xfrm>
              <a:off x="1528" y="2608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68" name="Line 36"/>
            <p:cNvSpPr/>
            <p:nvPr/>
          </p:nvSpPr>
          <p:spPr>
            <a:xfrm>
              <a:off x="1632" y="2408"/>
              <a:ext cx="0" cy="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37"/>
          <p:cNvGrpSpPr/>
          <p:nvPr/>
        </p:nvGrpSpPr>
        <p:grpSpPr>
          <a:xfrm>
            <a:off x="6994525" y="4114800"/>
            <a:ext cx="1311275" cy="2133600"/>
            <a:chOff x="1848" y="2184"/>
            <a:chExt cx="688" cy="1032"/>
          </a:xfrm>
        </p:grpSpPr>
        <p:sp>
          <p:nvSpPr>
            <p:cNvPr id="86059" name="Oval 38"/>
            <p:cNvSpPr/>
            <p:nvPr/>
          </p:nvSpPr>
          <p:spPr>
            <a:xfrm>
              <a:off x="2088" y="218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G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60" name="Oval 39"/>
            <p:cNvSpPr/>
            <p:nvPr/>
          </p:nvSpPr>
          <p:spPr>
            <a:xfrm>
              <a:off x="1848" y="258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H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61" name="Oval 40"/>
            <p:cNvSpPr/>
            <p:nvPr/>
          </p:nvSpPr>
          <p:spPr>
            <a:xfrm>
              <a:off x="2328" y="3008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J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62" name="Oval 41"/>
            <p:cNvSpPr/>
            <p:nvPr/>
          </p:nvSpPr>
          <p:spPr>
            <a:xfrm>
              <a:off x="2320" y="260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63" name="Line 42"/>
            <p:cNvSpPr/>
            <p:nvPr/>
          </p:nvSpPr>
          <p:spPr>
            <a:xfrm>
              <a:off x="2432" y="2808"/>
              <a:ext cx="0" cy="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64" name="Line 43"/>
            <p:cNvSpPr/>
            <p:nvPr/>
          </p:nvSpPr>
          <p:spPr>
            <a:xfrm flipH="1">
              <a:off x="1992" y="2360"/>
              <a:ext cx="128" cy="2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65" name="Line 44"/>
            <p:cNvSpPr/>
            <p:nvPr/>
          </p:nvSpPr>
          <p:spPr>
            <a:xfrm>
              <a:off x="2272" y="2352"/>
              <a:ext cx="128" cy="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45"/>
          <p:cNvGrpSpPr/>
          <p:nvPr/>
        </p:nvGrpSpPr>
        <p:grpSpPr>
          <a:xfrm>
            <a:off x="5938838" y="1752600"/>
            <a:ext cx="766762" cy="1011238"/>
            <a:chOff x="4032" y="1465"/>
            <a:chExt cx="483" cy="637"/>
          </a:xfrm>
        </p:grpSpPr>
        <p:sp>
          <p:nvSpPr>
            <p:cNvPr id="86056" name="Oval 46"/>
            <p:cNvSpPr/>
            <p:nvPr/>
          </p:nvSpPr>
          <p:spPr>
            <a:xfrm>
              <a:off x="4236" y="1465"/>
              <a:ext cx="279" cy="24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57" name="Oval 47"/>
            <p:cNvSpPr/>
            <p:nvPr/>
          </p:nvSpPr>
          <p:spPr>
            <a:xfrm>
              <a:off x="4032" y="1855"/>
              <a:ext cx="279" cy="24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58" name="Line 48"/>
            <p:cNvSpPr/>
            <p:nvPr/>
          </p:nvSpPr>
          <p:spPr>
            <a:xfrm flipH="1">
              <a:off x="4268" y="1722"/>
              <a:ext cx="75" cy="1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49"/>
          <p:cNvGrpSpPr/>
          <p:nvPr/>
        </p:nvGrpSpPr>
        <p:grpSpPr>
          <a:xfrm>
            <a:off x="4495800" y="1752600"/>
            <a:ext cx="1143000" cy="1905000"/>
            <a:chOff x="3216" y="960"/>
            <a:chExt cx="1052" cy="1533"/>
          </a:xfrm>
        </p:grpSpPr>
        <p:sp>
          <p:nvSpPr>
            <p:cNvPr id="86049" name="Oval 50"/>
            <p:cNvSpPr/>
            <p:nvPr/>
          </p:nvSpPr>
          <p:spPr>
            <a:xfrm>
              <a:off x="3678" y="960"/>
              <a:ext cx="279" cy="24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50" name="Oval 51"/>
            <p:cNvSpPr/>
            <p:nvPr/>
          </p:nvSpPr>
          <p:spPr>
            <a:xfrm>
              <a:off x="3216" y="1436"/>
              <a:ext cx="279" cy="24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51" name="Oval 52"/>
            <p:cNvSpPr/>
            <p:nvPr/>
          </p:nvSpPr>
          <p:spPr>
            <a:xfrm>
              <a:off x="3581" y="1836"/>
              <a:ext cx="279" cy="24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52" name="Oval 53"/>
            <p:cNvSpPr/>
            <p:nvPr/>
          </p:nvSpPr>
          <p:spPr>
            <a:xfrm>
              <a:off x="3989" y="2245"/>
              <a:ext cx="279" cy="24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53" name="Line 54"/>
            <p:cNvSpPr/>
            <p:nvPr/>
          </p:nvSpPr>
          <p:spPr>
            <a:xfrm flipH="1">
              <a:off x="3452" y="1169"/>
              <a:ext cx="268" cy="2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54" name="Line 55"/>
            <p:cNvSpPr/>
            <p:nvPr/>
          </p:nvSpPr>
          <p:spPr>
            <a:xfrm>
              <a:off x="3463" y="1664"/>
              <a:ext cx="182" cy="191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55" name="Line 56"/>
            <p:cNvSpPr/>
            <p:nvPr/>
          </p:nvSpPr>
          <p:spPr>
            <a:xfrm>
              <a:off x="3828" y="2045"/>
              <a:ext cx="204" cy="219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57"/>
          <p:cNvGrpSpPr/>
          <p:nvPr/>
        </p:nvGrpSpPr>
        <p:grpSpPr>
          <a:xfrm>
            <a:off x="7156450" y="1693863"/>
            <a:ext cx="920750" cy="2116137"/>
            <a:chOff x="4364" y="1883"/>
            <a:chExt cx="580" cy="1333"/>
          </a:xfrm>
        </p:grpSpPr>
        <p:sp>
          <p:nvSpPr>
            <p:cNvPr id="86042" name="Oval 58"/>
            <p:cNvSpPr/>
            <p:nvPr/>
          </p:nvSpPr>
          <p:spPr>
            <a:xfrm>
              <a:off x="4611" y="1883"/>
              <a:ext cx="279" cy="24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G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43" name="Oval 59"/>
            <p:cNvSpPr/>
            <p:nvPr/>
          </p:nvSpPr>
          <p:spPr>
            <a:xfrm>
              <a:off x="4364" y="2264"/>
              <a:ext cx="279" cy="24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H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44" name="Oval 60"/>
            <p:cNvSpPr/>
            <p:nvPr/>
          </p:nvSpPr>
          <p:spPr>
            <a:xfrm>
              <a:off x="4493" y="2969"/>
              <a:ext cx="279" cy="24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J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45" name="Oval 61"/>
            <p:cNvSpPr/>
            <p:nvPr/>
          </p:nvSpPr>
          <p:spPr>
            <a:xfrm>
              <a:off x="4665" y="2578"/>
              <a:ext cx="279" cy="24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6046" name="Line 62"/>
            <p:cNvSpPr/>
            <p:nvPr/>
          </p:nvSpPr>
          <p:spPr>
            <a:xfrm flipH="1">
              <a:off x="4697" y="2826"/>
              <a:ext cx="54" cy="1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47" name="Line 63"/>
            <p:cNvSpPr/>
            <p:nvPr/>
          </p:nvSpPr>
          <p:spPr>
            <a:xfrm flipH="1">
              <a:off x="4547" y="2093"/>
              <a:ext cx="107" cy="1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48" name="Line 64"/>
            <p:cNvSpPr/>
            <p:nvPr/>
          </p:nvSpPr>
          <p:spPr>
            <a:xfrm>
              <a:off x="4611" y="2483"/>
              <a:ext cx="97" cy="12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0337" name="AutoShape 65">
            <a:hlinkClick r:id="rId1" action="ppaction://hlinksldjump"/>
          </p:cNvPr>
          <p:cNvSpPr/>
          <p:nvPr/>
        </p:nvSpPr>
        <p:spPr>
          <a:xfrm flipH="1">
            <a:off x="8382000" y="60960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9" name="Group 66"/>
          <p:cNvGrpSpPr/>
          <p:nvPr/>
        </p:nvGrpSpPr>
        <p:grpSpPr>
          <a:xfrm>
            <a:off x="2133600" y="2971800"/>
            <a:ext cx="381000" cy="304800"/>
            <a:chOff x="528" y="3744"/>
            <a:chExt cx="240" cy="192"/>
          </a:xfrm>
        </p:grpSpPr>
        <p:sp>
          <p:nvSpPr>
            <p:cNvPr id="86040" name="Line 67"/>
            <p:cNvSpPr/>
            <p:nvPr/>
          </p:nvSpPr>
          <p:spPr>
            <a:xfrm>
              <a:off x="528" y="3744"/>
              <a:ext cx="24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41" name="Line 68"/>
            <p:cNvSpPr/>
            <p:nvPr/>
          </p:nvSpPr>
          <p:spPr>
            <a:xfrm flipH="1">
              <a:off x="528" y="3744"/>
              <a:ext cx="24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69"/>
          <p:cNvGrpSpPr/>
          <p:nvPr/>
        </p:nvGrpSpPr>
        <p:grpSpPr>
          <a:xfrm>
            <a:off x="1371600" y="2209800"/>
            <a:ext cx="381000" cy="304800"/>
            <a:chOff x="528" y="3744"/>
            <a:chExt cx="240" cy="192"/>
          </a:xfrm>
        </p:grpSpPr>
        <p:sp>
          <p:nvSpPr>
            <p:cNvPr id="86038" name="Line 70"/>
            <p:cNvSpPr/>
            <p:nvPr/>
          </p:nvSpPr>
          <p:spPr>
            <a:xfrm>
              <a:off x="528" y="3744"/>
              <a:ext cx="24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39" name="Line 71"/>
            <p:cNvSpPr/>
            <p:nvPr/>
          </p:nvSpPr>
          <p:spPr>
            <a:xfrm flipH="1">
              <a:off x="528" y="3744"/>
              <a:ext cx="24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0344" name="AutoShape 72"/>
          <p:cNvSpPr/>
          <p:nvPr/>
        </p:nvSpPr>
        <p:spPr>
          <a:xfrm>
            <a:off x="4953000" y="3657600"/>
            <a:ext cx="228600" cy="381000"/>
          </a:xfrm>
          <a:prstGeom prst="downArrow">
            <a:avLst>
              <a:gd name="adj1" fmla="val 50000"/>
              <a:gd name="adj2" fmla="val 41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10345" name="AutoShape 73"/>
          <p:cNvSpPr/>
          <p:nvPr/>
        </p:nvSpPr>
        <p:spPr>
          <a:xfrm>
            <a:off x="6324600" y="3657600"/>
            <a:ext cx="228600" cy="381000"/>
          </a:xfrm>
          <a:prstGeom prst="downArrow">
            <a:avLst>
              <a:gd name="adj1" fmla="val 50000"/>
              <a:gd name="adj2" fmla="val 41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10346" name="AutoShape 74"/>
          <p:cNvSpPr/>
          <p:nvPr/>
        </p:nvSpPr>
        <p:spPr>
          <a:xfrm>
            <a:off x="7848600" y="3657600"/>
            <a:ext cx="228600" cy="381000"/>
          </a:xfrm>
          <a:prstGeom prst="downArrow">
            <a:avLst>
              <a:gd name="adj1" fmla="val 50000"/>
              <a:gd name="adj2" fmla="val 41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11" name="Group 75"/>
          <p:cNvGrpSpPr/>
          <p:nvPr/>
        </p:nvGrpSpPr>
        <p:grpSpPr>
          <a:xfrm>
            <a:off x="0" y="620713"/>
            <a:ext cx="8748713" cy="519112"/>
            <a:chOff x="48" y="403"/>
            <a:chExt cx="5184" cy="327"/>
          </a:xfrm>
        </p:grpSpPr>
        <p:sp>
          <p:nvSpPr>
            <p:cNvPr id="86036" name="Rectangle 76"/>
            <p:cNvSpPr/>
            <p:nvPr/>
          </p:nvSpPr>
          <p:spPr>
            <a:xfrm>
              <a:off x="48" y="403"/>
              <a:ext cx="51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楷体_GB2312"/>
                  <a:ea typeface="楷体_GB2312"/>
                </a:rPr>
                <a:t>即</a:t>
              </a:r>
              <a:r>
                <a:rPr lang="en-US" altLang="zh-CN" sz="2800" b="1" dirty="0">
                  <a:latin typeface="楷体_GB2312"/>
                  <a:ea typeface="楷体_GB2312"/>
                </a:rPr>
                <a:t>B={root, LB, RB}        F={T</a:t>
              </a:r>
              <a:r>
                <a:rPr lang="en-US" altLang="zh-CN" sz="2800" b="1" baseline="-25000" dirty="0">
                  <a:latin typeface="楷体_GB2312"/>
                  <a:ea typeface="楷体_GB2312"/>
                </a:rPr>
                <a:t>1</a:t>
              </a:r>
              <a:r>
                <a:rPr lang="en-US" altLang="zh-CN" sz="2800" b="1" dirty="0">
                  <a:latin typeface="楷体_GB2312"/>
                  <a:ea typeface="楷体_GB2312"/>
                </a:rPr>
                <a:t>, T</a:t>
              </a:r>
              <a:r>
                <a:rPr lang="en-US" altLang="zh-CN" sz="2800" b="1" baseline="-25000" dirty="0">
                  <a:latin typeface="楷体_GB2312"/>
                  <a:ea typeface="楷体_GB2312"/>
                </a:rPr>
                <a:t>2</a:t>
              </a:r>
              <a:r>
                <a:rPr lang="en-US" altLang="zh-CN" sz="2800" b="1" dirty="0">
                  <a:latin typeface="楷体_GB2312"/>
                  <a:ea typeface="楷体_GB2312"/>
                </a:rPr>
                <a:t>, 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/>
                </a:rPr>
                <a:t>…</a:t>
              </a:r>
              <a:r>
                <a:rPr lang="en-US" altLang="zh-CN" sz="2800" b="1" dirty="0">
                  <a:latin typeface="楷体_GB2312"/>
                  <a:ea typeface="楷体_GB2312"/>
                </a:rPr>
                <a:t>,T</a:t>
              </a:r>
              <a:r>
                <a:rPr lang="en-US" altLang="zh-CN" sz="2800" b="1" baseline="-25000" dirty="0">
                  <a:latin typeface="楷体_GB2312"/>
                  <a:ea typeface="楷体_GB2312"/>
                </a:rPr>
                <a:t>m</a:t>
              </a:r>
              <a:r>
                <a:rPr lang="en-US" altLang="zh-CN" sz="2800" b="1" dirty="0">
                  <a:latin typeface="楷体_GB2312"/>
                  <a:ea typeface="楷体_GB2312"/>
                </a:rPr>
                <a:t>}</a:t>
              </a:r>
              <a:endParaRPr lang="en-US" altLang="zh-CN" sz="2800" b="1" dirty="0">
                <a:latin typeface="楷体_GB2312"/>
                <a:ea typeface="楷体_GB2312"/>
              </a:endParaRPr>
            </a:p>
          </p:txBody>
        </p:sp>
        <p:sp>
          <p:nvSpPr>
            <p:cNvPr id="86037" name="AutoShape 77"/>
            <p:cNvSpPr/>
            <p:nvPr/>
          </p:nvSpPr>
          <p:spPr>
            <a:xfrm>
              <a:off x="2069" y="432"/>
              <a:ext cx="432" cy="288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1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1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1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10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/>
      <p:bldP spid="310296" grpId="0" animBg="1"/>
      <p:bldP spid="310337" grpId="0" animBg="1"/>
      <p:bldP spid="310344" grpId="0" animBg="1"/>
      <p:bldP spid="310345" grpId="0" animBg="1"/>
      <p:bldP spid="31034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7043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6324600" cy="762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树和森林的存储方式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1299" name="Rectangle 3"/>
          <p:cNvSpPr/>
          <p:nvPr/>
        </p:nvSpPr>
        <p:spPr>
          <a:xfrm>
            <a:off x="228600" y="838200"/>
            <a:ext cx="8534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树有三种常用存储方式：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①双亲表示法     ②孩子表示法    ③孩子兄弟表示法    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11300" name="Rectangle 4"/>
          <p:cNvSpPr/>
          <p:nvPr/>
        </p:nvSpPr>
        <p:spPr>
          <a:xfrm>
            <a:off x="304800" y="1905000"/>
            <a:ext cx="3914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、用双亲表示法来存储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1301" name="Rectangle 5"/>
          <p:cNvSpPr/>
          <p:nvPr/>
        </p:nvSpPr>
        <p:spPr>
          <a:xfrm>
            <a:off x="228600" y="2514600"/>
            <a:ext cx="86868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/>
              </a:rPr>
              <a:t>思路：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用一组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连续空间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来存储树的结点，同时在每个结点中</a:t>
            </a: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rPr>
              <a:t>附设一个指示器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/>
              </a:rPr>
              <a:t>，指示其双亲结点在链表中的位置。</a:t>
            </a:r>
            <a:endParaRPr lang="zh-CN" altLang="en-US" sz="2800" b="1" dirty="0"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11302" name="AutoShape 6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" name="Group 7"/>
          <p:cNvGrpSpPr/>
          <p:nvPr/>
        </p:nvGrpSpPr>
        <p:grpSpPr>
          <a:xfrm>
            <a:off x="250825" y="4365625"/>
            <a:ext cx="2814638" cy="1127125"/>
            <a:chOff x="904" y="512"/>
            <a:chExt cx="1384" cy="710"/>
          </a:xfrm>
        </p:grpSpPr>
        <p:sp>
          <p:nvSpPr>
            <p:cNvPr id="87077" name="Rectangle 8"/>
            <p:cNvSpPr/>
            <p:nvPr/>
          </p:nvSpPr>
          <p:spPr>
            <a:xfrm>
              <a:off x="1538" y="512"/>
              <a:ext cx="75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8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楷体_GB2312"/>
                </a:rPr>
                <a:t>parents</a:t>
              </a:r>
              <a:endPara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7078" name="Rectangle 9"/>
            <p:cNvSpPr/>
            <p:nvPr/>
          </p:nvSpPr>
          <p:spPr>
            <a:xfrm>
              <a:off x="904" y="512"/>
              <a:ext cx="634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400" dirty="0"/>
                <a:t>data</a:t>
              </a:r>
              <a:endParaRPr lang="en-US" altLang="zh-CN" sz="2400" dirty="0"/>
            </a:p>
          </p:txBody>
        </p:sp>
        <p:sp>
          <p:nvSpPr>
            <p:cNvPr id="87079" name="Line 10"/>
            <p:cNvSpPr/>
            <p:nvPr/>
          </p:nvSpPr>
          <p:spPr>
            <a:xfrm>
              <a:off x="904" y="512"/>
              <a:ext cx="138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0" name="Line 11"/>
            <p:cNvSpPr/>
            <p:nvPr/>
          </p:nvSpPr>
          <p:spPr>
            <a:xfrm>
              <a:off x="904" y="799"/>
              <a:ext cx="138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1" name="Line 12"/>
            <p:cNvSpPr/>
            <p:nvPr/>
          </p:nvSpPr>
          <p:spPr>
            <a:xfrm>
              <a:off x="904" y="512"/>
              <a:ext cx="0" cy="28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2" name="Line 13"/>
            <p:cNvSpPr/>
            <p:nvPr/>
          </p:nvSpPr>
          <p:spPr>
            <a:xfrm>
              <a:off x="1538" y="512"/>
              <a:ext cx="0" cy="28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3" name="Line 14"/>
            <p:cNvSpPr/>
            <p:nvPr/>
          </p:nvSpPr>
          <p:spPr>
            <a:xfrm>
              <a:off x="2288" y="512"/>
              <a:ext cx="0" cy="28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84" name="Rectangle 15"/>
            <p:cNvSpPr/>
            <p:nvPr/>
          </p:nvSpPr>
          <p:spPr>
            <a:xfrm>
              <a:off x="1149" y="934"/>
              <a:ext cx="6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楷体_GB2312"/>
                </a:rPr>
                <a:t>结点结构</a:t>
              </a:r>
              <a:endPara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/>
              </a:endParaRPr>
            </a:p>
          </p:txBody>
        </p:sp>
      </p:grpSp>
      <p:sp>
        <p:nvSpPr>
          <p:cNvPr id="311312" name="AutoShape 16"/>
          <p:cNvSpPr/>
          <p:nvPr/>
        </p:nvSpPr>
        <p:spPr>
          <a:xfrm>
            <a:off x="3035300" y="4435475"/>
            <a:ext cx="1155700" cy="368300"/>
          </a:xfrm>
          <a:prstGeom prst="leftRightArrow">
            <a:avLst>
              <a:gd name="adj1" fmla="val 50000"/>
              <a:gd name="adj2" fmla="val 6275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3" name="Group 17"/>
          <p:cNvGrpSpPr/>
          <p:nvPr/>
        </p:nvGrpSpPr>
        <p:grpSpPr>
          <a:xfrm>
            <a:off x="4532313" y="3429000"/>
            <a:ext cx="2219325" cy="2916238"/>
            <a:chOff x="3747" y="422"/>
            <a:chExt cx="1398" cy="1837"/>
          </a:xfrm>
        </p:grpSpPr>
        <p:sp>
          <p:nvSpPr>
            <p:cNvPr id="87051" name="Rectangle 18"/>
            <p:cNvSpPr/>
            <p:nvPr/>
          </p:nvSpPr>
          <p:spPr>
            <a:xfrm>
              <a:off x="4488" y="1668"/>
              <a:ext cx="52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52" name="Rectangle 19"/>
            <p:cNvSpPr/>
            <p:nvPr/>
          </p:nvSpPr>
          <p:spPr>
            <a:xfrm>
              <a:off x="3976" y="166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53" name="Rectangle 20"/>
            <p:cNvSpPr/>
            <p:nvPr/>
          </p:nvSpPr>
          <p:spPr>
            <a:xfrm>
              <a:off x="4488" y="1419"/>
              <a:ext cx="52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54" name="Rectangle 21"/>
            <p:cNvSpPr/>
            <p:nvPr/>
          </p:nvSpPr>
          <p:spPr>
            <a:xfrm>
              <a:off x="3976" y="1419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55" name="Rectangle 22"/>
            <p:cNvSpPr/>
            <p:nvPr/>
          </p:nvSpPr>
          <p:spPr>
            <a:xfrm>
              <a:off x="4488" y="1170"/>
              <a:ext cx="52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56" name="Rectangle 23"/>
            <p:cNvSpPr/>
            <p:nvPr/>
          </p:nvSpPr>
          <p:spPr>
            <a:xfrm>
              <a:off x="3976" y="1170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57" name="Rectangle 24"/>
            <p:cNvSpPr/>
            <p:nvPr/>
          </p:nvSpPr>
          <p:spPr>
            <a:xfrm>
              <a:off x="4488" y="921"/>
              <a:ext cx="52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58" name="Rectangle 25"/>
            <p:cNvSpPr/>
            <p:nvPr/>
          </p:nvSpPr>
          <p:spPr>
            <a:xfrm>
              <a:off x="3976" y="921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59" name="Rectangle 26"/>
            <p:cNvSpPr/>
            <p:nvPr/>
          </p:nvSpPr>
          <p:spPr>
            <a:xfrm>
              <a:off x="4488" y="672"/>
              <a:ext cx="52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60" name="Rectangle 27"/>
            <p:cNvSpPr/>
            <p:nvPr/>
          </p:nvSpPr>
          <p:spPr>
            <a:xfrm>
              <a:off x="3976" y="672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87061" name="Line 28"/>
            <p:cNvSpPr/>
            <p:nvPr/>
          </p:nvSpPr>
          <p:spPr>
            <a:xfrm>
              <a:off x="3976" y="672"/>
              <a:ext cx="10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2" name="Line 29"/>
            <p:cNvSpPr/>
            <p:nvPr/>
          </p:nvSpPr>
          <p:spPr>
            <a:xfrm>
              <a:off x="3976" y="921"/>
              <a:ext cx="10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3" name="Line 30"/>
            <p:cNvSpPr/>
            <p:nvPr/>
          </p:nvSpPr>
          <p:spPr>
            <a:xfrm>
              <a:off x="3976" y="1170"/>
              <a:ext cx="10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4" name="Line 31"/>
            <p:cNvSpPr/>
            <p:nvPr/>
          </p:nvSpPr>
          <p:spPr>
            <a:xfrm>
              <a:off x="3976" y="1419"/>
              <a:ext cx="10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5" name="Line 32"/>
            <p:cNvSpPr/>
            <p:nvPr/>
          </p:nvSpPr>
          <p:spPr>
            <a:xfrm>
              <a:off x="3976" y="1668"/>
              <a:ext cx="10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6" name="Line 33"/>
            <p:cNvSpPr/>
            <p:nvPr/>
          </p:nvSpPr>
          <p:spPr>
            <a:xfrm>
              <a:off x="3976" y="1917"/>
              <a:ext cx="104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7" name="Line 34"/>
            <p:cNvSpPr/>
            <p:nvPr/>
          </p:nvSpPr>
          <p:spPr>
            <a:xfrm>
              <a:off x="3976" y="672"/>
              <a:ext cx="0" cy="124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8" name="Line 35"/>
            <p:cNvSpPr/>
            <p:nvPr/>
          </p:nvSpPr>
          <p:spPr>
            <a:xfrm>
              <a:off x="4488" y="672"/>
              <a:ext cx="0" cy="12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69" name="Line 36"/>
            <p:cNvSpPr/>
            <p:nvPr/>
          </p:nvSpPr>
          <p:spPr>
            <a:xfrm>
              <a:off x="5016" y="672"/>
              <a:ext cx="0" cy="124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7070" name="Rectangle 37"/>
            <p:cNvSpPr/>
            <p:nvPr/>
          </p:nvSpPr>
          <p:spPr>
            <a:xfrm>
              <a:off x="3955" y="430"/>
              <a:ext cx="44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data</a:t>
              </a:r>
              <a:endParaRPr lang="en-US" altLang="zh-CN" sz="2000" b="1" dirty="0"/>
            </a:p>
          </p:txBody>
        </p:sp>
        <p:sp>
          <p:nvSpPr>
            <p:cNvPr id="87071" name="Rectangle 38"/>
            <p:cNvSpPr/>
            <p:nvPr/>
          </p:nvSpPr>
          <p:spPr>
            <a:xfrm>
              <a:off x="4451" y="422"/>
              <a:ext cx="69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rgbClr val="66FF33"/>
                  </a:solidFill>
                </a:rPr>
                <a:t>parents</a:t>
              </a:r>
              <a:endParaRPr lang="en-US" altLang="zh-CN" sz="2000" b="1" dirty="0">
                <a:solidFill>
                  <a:srgbClr val="66FF33"/>
                </a:solidFill>
              </a:endParaRPr>
            </a:p>
          </p:txBody>
        </p:sp>
        <p:sp>
          <p:nvSpPr>
            <p:cNvPr id="87072" name="Rectangle 39"/>
            <p:cNvSpPr/>
            <p:nvPr/>
          </p:nvSpPr>
          <p:spPr>
            <a:xfrm>
              <a:off x="3747" y="686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1</a:t>
              </a:r>
              <a:endParaRPr lang="en-US" altLang="zh-CN" sz="2000" dirty="0"/>
            </a:p>
          </p:txBody>
        </p:sp>
        <p:sp>
          <p:nvSpPr>
            <p:cNvPr id="87073" name="Rectangle 40"/>
            <p:cNvSpPr/>
            <p:nvPr/>
          </p:nvSpPr>
          <p:spPr>
            <a:xfrm>
              <a:off x="4165" y="1971"/>
              <a:ext cx="7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  <a:ea typeface="楷体_GB2312"/>
                </a:rPr>
                <a:t>树结构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_GB2312"/>
                </a:rPr>
                <a:t> </a:t>
              </a:r>
              <a:endParaRPr lang="zh-CN" altLang="en-US" sz="2400" b="1" dirty="0">
                <a:latin typeface="Times New Roman" panose="02020603050405020304" pitchFamily="18" charset="0"/>
                <a:ea typeface="楷体_GB2312"/>
              </a:endParaRPr>
            </a:p>
          </p:txBody>
        </p:sp>
        <p:sp>
          <p:nvSpPr>
            <p:cNvPr id="87074" name="Rectangle 41"/>
            <p:cNvSpPr/>
            <p:nvPr/>
          </p:nvSpPr>
          <p:spPr>
            <a:xfrm>
              <a:off x="3747" y="942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2</a:t>
              </a:r>
              <a:endParaRPr lang="en-US" altLang="zh-CN" sz="2000" dirty="0"/>
            </a:p>
          </p:txBody>
        </p:sp>
        <p:sp>
          <p:nvSpPr>
            <p:cNvPr id="87075" name="Rectangle 42"/>
            <p:cNvSpPr/>
            <p:nvPr/>
          </p:nvSpPr>
          <p:spPr>
            <a:xfrm>
              <a:off x="3747" y="1190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3</a:t>
              </a:r>
              <a:endParaRPr lang="en-US" altLang="zh-CN" sz="2000" dirty="0"/>
            </a:p>
          </p:txBody>
        </p:sp>
        <p:sp>
          <p:nvSpPr>
            <p:cNvPr id="87076" name="Rectangle 43"/>
            <p:cNvSpPr/>
            <p:nvPr/>
          </p:nvSpPr>
          <p:spPr>
            <a:xfrm>
              <a:off x="3747" y="1694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dirty="0"/>
                <a:t>n</a:t>
              </a:r>
              <a:endParaRPr lang="en-US" altLang="zh-CN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/>
      <p:bldP spid="311300" grpId="0"/>
      <p:bldP spid="311301" grpId="0"/>
      <p:bldP spid="311302" grpId="0" animBg="1"/>
      <p:bldP spid="31131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304800" y="762000"/>
            <a:ext cx="3770313" cy="3733800"/>
            <a:chOff x="513" y="2220"/>
            <a:chExt cx="1746" cy="1765"/>
          </a:xfrm>
        </p:grpSpPr>
        <p:sp>
          <p:nvSpPr>
            <p:cNvPr id="88161" name="Oval 3"/>
            <p:cNvSpPr/>
            <p:nvPr/>
          </p:nvSpPr>
          <p:spPr>
            <a:xfrm>
              <a:off x="1393" y="2252"/>
              <a:ext cx="247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24" name="Rectangle 4"/>
            <p:cNvSpPr>
              <a:spLocks noChangeArrowheads="1"/>
            </p:cNvSpPr>
            <p:nvPr/>
          </p:nvSpPr>
          <p:spPr bwMode="auto">
            <a:xfrm>
              <a:off x="1385" y="2220"/>
              <a:ext cx="204" cy="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A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63" name="Oval 5"/>
            <p:cNvSpPr/>
            <p:nvPr/>
          </p:nvSpPr>
          <p:spPr>
            <a:xfrm>
              <a:off x="973" y="2737"/>
              <a:ext cx="247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26" name="Rectangle 6"/>
            <p:cNvSpPr>
              <a:spLocks noChangeArrowheads="1"/>
            </p:cNvSpPr>
            <p:nvPr/>
          </p:nvSpPr>
          <p:spPr bwMode="auto">
            <a:xfrm>
              <a:off x="974" y="2725"/>
              <a:ext cx="195" cy="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B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65" name="Line 7"/>
            <p:cNvSpPr/>
            <p:nvPr/>
          </p:nvSpPr>
          <p:spPr>
            <a:xfrm flipH="1">
              <a:off x="1102" y="2461"/>
              <a:ext cx="331" cy="27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166" name="Oval 8"/>
            <p:cNvSpPr/>
            <p:nvPr/>
          </p:nvSpPr>
          <p:spPr>
            <a:xfrm>
              <a:off x="1791" y="2751"/>
              <a:ext cx="247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29" name="Rectangle 9"/>
            <p:cNvSpPr>
              <a:spLocks noChangeArrowheads="1"/>
            </p:cNvSpPr>
            <p:nvPr/>
          </p:nvSpPr>
          <p:spPr bwMode="auto">
            <a:xfrm>
              <a:off x="1782" y="2730"/>
              <a:ext cx="204" cy="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C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68" name="Oval 10"/>
            <p:cNvSpPr/>
            <p:nvPr/>
          </p:nvSpPr>
          <p:spPr>
            <a:xfrm>
              <a:off x="2012" y="3208"/>
              <a:ext cx="247" cy="242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31" name="Rectangle 11"/>
            <p:cNvSpPr>
              <a:spLocks noChangeArrowheads="1"/>
            </p:cNvSpPr>
            <p:nvPr/>
          </p:nvSpPr>
          <p:spPr bwMode="auto">
            <a:xfrm>
              <a:off x="1974" y="3187"/>
              <a:ext cx="213" cy="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G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70" name="Line 12"/>
            <p:cNvSpPr/>
            <p:nvPr/>
          </p:nvSpPr>
          <p:spPr>
            <a:xfrm>
              <a:off x="1986" y="2989"/>
              <a:ext cx="125" cy="20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171" name="Oval 13"/>
            <p:cNvSpPr/>
            <p:nvPr/>
          </p:nvSpPr>
          <p:spPr>
            <a:xfrm>
              <a:off x="1202" y="3229"/>
              <a:ext cx="247" cy="242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34" name="Rectangle 14"/>
            <p:cNvSpPr>
              <a:spLocks noChangeArrowheads="1"/>
            </p:cNvSpPr>
            <p:nvPr/>
          </p:nvSpPr>
          <p:spPr bwMode="auto">
            <a:xfrm>
              <a:off x="1194" y="3217"/>
              <a:ext cx="196" cy="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E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73" name="Oval 15"/>
            <p:cNvSpPr/>
            <p:nvPr/>
          </p:nvSpPr>
          <p:spPr>
            <a:xfrm>
              <a:off x="1003" y="3742"/>
              <a:ext cx="247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36" name="Rectangle 16"/>
            <p:cNvSpPr>
              <a:spLocks noChangeArrowheads="1"/>
            </p:cNvSpPr>
            <p:nvPr/>
          </p:nvSpPr>
          <p:spPr bwMode="auto">
            <a:xfrm>
              <a:off x="1036" y="3730"/>
              <a:ext cx="150" cy="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I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75" name="Line 17"/>
            <p:cNvSpPr/>
            <p:nvPr/>
          </p:nvSpPr>
          <p:spPr>
            <a:xfrm>
              <a:off x="941" y="3480"/>
              <a:ext cx="183" cy="2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176" name="Oval 18"/>
            <p:cNvSpPr/>
            <p:nvPr/>
          </p:nvSpPr>
          <p:spPr>
            <a:xfrm>
              <a:off x="774" y="3221"/>
              <a:ext cx="247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39" name="Rectangle 19"/>
            <p:cNvSpPr>
              <a:spLocks noChangeArrowheads="1"/>
            </p:cNvSpPr>
            <p:nvPr/>
          </p:nvSpPr>
          <p:spPr bwMode="auto">
            <a:xfrm>
              <a:off x="756" y="3209"/>
              <a:ext cx="204" cy="24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D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78" name="Oval 20"/>
            <p:cNvSpPr/>
            <p:nvPr/>
          </p:nvSpPr>
          <p:spPr>
            <a:xfrm>
              <a:off x="531" y="3727"/>
              <a:ext cx="247" cy="242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41" name="Rectangle 21"/>
            <p:cNvSpPr>
              <a:spLocks noChangeArrowheads="1"/>
            </p:cNvSpPr>
            <p:nvPr/>
          </p:nvSpPr>
          <p:spPr bwMode="auto">
            <a:xfrm>
              <a:off x="513" y="3716"/>
              <a:ext cx="213" cy="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H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80" name="Oval 22"/>
            <p:cNvSpPr/>
            <p:nvPr/>
          </p:nvSpPr>
          <p:spPr>
            <a:xfrm>
              <a:off x="1591" y="3207"/>
              <a:ext cx="247" cy="24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2343" name="Rectangle 23"/>
            <p:cNvSpPr>
              <a:spLocks noChangeArrowheads="1"/>
            </p:cNvSpPr>
            <p:nvPr/>
          </p:nvSpPr>
          <p:spPr bwMode="auto">
            <a:xfrm>
              <a:off x="1586" y="3195"/>
              <a:ext cx="186" cy="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TW" sz="28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PMingLiU" pitchFamily="18" charset="-120"/>
                  <a:cs typeface="+mn-cs"/>
                </a:rPr>
                <a:t>F</a:t>
              </a:r>
              <a:endParaRPr kumimoji="1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PMingLiU" pitchFamily="18" charset="-120"/>
                <a:cs typeface="+mn-cs"/>
              </a:endParaRPr>
            </a:p>
          </p:txBody>
        </p:sp>
        <p:sp>
          <p:nvSpPr>
            <p:cNvPr id="88182" name="Line 24"/>
            <p:cNvSpPr/>
            <p:nvPr/>
          </p:nvSpPr>
          <p:spPr>
            <a:xfrm flipH="1">
              <a:off x="1706" y="2988"/>
              <a:ext cx="139" cy="21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183" name="Line 25"/>
            <p:cNvSpPr/>
            <p:nvPr/>
          </p:nvSpPr>
          <p:spPr>
            <a:xfrm>
              <a:off x="1139" y="2967"/>
              <a:ext cx="162" cy="2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184" name="Line 26"/>
            <p:cNvSpPr/>
            <p:nvPr/>
          </p:nvSpPr>
          <p:spPr>
            <a:xfrm flipH="1">
              <a:off x="888" y="2959"/>
              <a:ext cx="140" cy="2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185" name="Line 27"/>
            <p:cNvSpPr/>
            <p:nvPr/>
          </p:nvSpPr>
          <p:spPr>
            <a:xfrm flipH="1">
              <a:off x="653" y="3472"/>
              <a:ext cx="184" cy="24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8186" name="Line 28"/>
            <p:cNvSpPr/>
            <p:nvPr/>
          </p:nvSpPr>
          <p:spPr>
            <a:xfrm>
              <a:off x="1595" y="2468"/>
              <a:ext cx="309" cy="28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12349" name="Text Box 29"/>
          <p:cNvSpPr txBox="1"/>
          <p:nvPr/>
        </p:nvSpPr>
        <p:spPr>
          <a:xfrm>
            <a:off x="457200" y="5486400"/>
            <a:ext cx="701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ea typeface="楷体_GB2312"/>
              </a:rPr>
              <a:t>缺点：求结点的孩子时需要遍历整个结构。</a:t>
            </a:r>
            <a:endParaRPr lang="zh-CN" altLang="en-US" sz="28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312350" name="AutoShape 30"/>
          <p:cNvSpPr/>
          <p:nvPr/>
        </p:nvSpPr>
        <p:spPr>
          <a:xfrm>
            <a:off x="4343400" y="2438400"/>
            <a:ext cx="1155700" cy="533400"/>
          </a:xfrm>
          <a:prstGeom prst="leftRightArrow">
            <a:avLst>
              <a:gd name="adj1" fmla="val 50000"/>
              <a:gd name="adj2" fmla="val 4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12351" name="AutoShape 31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312352" name="Group 32"/>
          <p:cNvGraphicFramePr>
            <a:graphicFrameLocks noGrp="1"/>
          </p:cNvGraphicFramePr>
          <p:nvPr/>
        </p:nvGraphicFramePr>
        <p:xfrm>
          <a:off x="5334000" y="533400"/>
          <a:ext cx="2209800" cy="4664079"/>
        </p:xfrm>
        <a:graphic>
          <a:graphicData uri="http://schemas.openxmlformats.org/drawingml/2006/table">
            <a:tbl>
              <a:tblPr/>
              <a:tblGrid>
                <a:gridCol w="854075"/>
                <a:gridCol w="854075"/>
                <a:gridCol w="501650"/>
              </a:tblGrid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2404" name="Group 84"/>
          <p:cNvGraphicFramePr>
            <a:graphicFrameLocks noGrp="1"/>
          </p:cNvGraphicFramePr>
          <p:nvPr/>
        </p:nvGraphicFramePr>
        <p:xfrm>
          <a:off x="7042150" y="533400"/>
          <a:ext cx="501650" cy="4664079"/>
        </p:xfrm>
        <a:graphic>
          <a:graphicData uri="http://schemas.openxmlformats.org/drawingml/2006/table">
            <a:tbl>
              <a:tblPr/>
              <a:tblGrid>
                <a:gridCol w="501650"/>
              </a:tblGrid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FF33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2426" name="Group 106"/>
          <p:cNvGraphicFramePr>
            <a:graphicFrameLocks noGrp="1"/>
          </p:cNvGraphicFramePr>
          <p:nvPr/>
        </p:nvGraphicFramePr>
        <p:xfrm>
          <a:off x="6172200" y="533400"/>
          <a:ext cx="854075" cy="4664079"/>
        </p:xfrm>
        <a:graphic>
          <a:graphicData uri="http://schemas.openxmlformats.org/drawingml/2006/table">
            <a:tbl>
              <a:tblPr/>
              <a:tblGrid>
                <a:gridCol w="854075"/>
              </a:tblGrid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3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2448" name="Rectangle 128"/>
          <p:cNvSpPr/>
          <p:nvPr/>
        </p:nvSpPr>
        <p:spPr>
          <a:xfrm>
            <a:off x="7086600" y="533400"/>
            <a:ext cx="4810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-1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2449" name="Rectangle 129"/>
          <p:cNvSpPr/>
          <p:nvPr/>
        </p:nvSpPr>
        <p:spPr>
          <a:xfrm>
            <a:off x="7086600" y="1066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2450" name="Rectangle 130"/>
          <p:cNvSpPr/>
          <p:nvPr/>
        </p:nvSpPr>
        <p:spPr>
          <a:xfrm>
            <a:off x="7086600" y="1524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2451" name="Rectangle 131"/>
          <p:cNvSpPr/>
          <p:nvPr/>
        </p:nvSpPr>
        <p:spPr>
          <a:xfrm>
            <a:off x="7086600" y="20574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66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60" name="Rectangle 132"/>
          <p:cNvSpPr>
            <a:spLocks noGrp="1"/>
          </p:cNvSpPr>
          <p:nvPr>
            <p:ph type="title"/>
          </p:nvPr>
        </p:nvSpPr>
        <p:spPr>
          <a:xfrm>
            <a:off x="0" y="0"/>
            <a:ext cx="36576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ea typeface="楷体_GB2312"/>
              </a:rPr>
              <a:t>例</a:t>
            </a:r>
            <a:r>
              <a:rPr lang="en-US" altLang="zh-CN" sz="3200" b="1" dirty="0">
                <a:solidFill>
                  <a:schemeClr val="accent1"/>
                </a:solidFill>
                <a:ea typeface="楷体_GB2312"/>
              </a:rPr>
              <a:t>1:   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双亲表示法</a:t>
            </a:r>
            <a:endParaRPr lang="zh-CN" altLang="en-US" sz="32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1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2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2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2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2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49" grpId="0"/>
      <p:bldP spid="312350" grpId="0" animBg="1"/>
      <p:bldP spid="312351" grpId="0" animBg="1"/>
      <p:bldP spid="312448" grpId="0"/>
      <p:bldP spid="312449" grpId="0"/>
      <p:bldP spid="312450" grpId="0"/>
      <p:bldP spid="31245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9091" name="Rectangle 4"/>
          <p:cNvSpPr>
            <a:spLocks noGrp="1"/>
          </p:cNvSpPr>
          <p:nvPr>
            <p:ph type="title"/>
          </p:nvPr>
        </p:nvSpPr>
        <p:spPr>
          <a:xfrm>
            <a:off x="611188" y="260350"/>
            <a:ext cx="7772400" cy="762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rgbClr val="800000"/>
                </a:solidFill>
                <a:ea typeface="隶书" panose="02010509060101010101" pitchFamily="49" charset="-122"/>
              </a:rPr>
              <a:t>用双亲表示实现的树定义</a:t>
            </a:r>
            <a:endParaRPr lang="zh-CN" altLang="en-US" sz="3200" b="1" dirty="0">
              <a:solidFill>
                <a:srgbClr val="800000"/>
              </a:solidFill>
              <a:ea typeface="隶书" panose="02010509060101010101" pitchFamily="49" charset="-122"/>
            </a:endParaRPr>
          </a:p>
        </p:txBody>
      </p:sp>
      <p:sp>
        <p:nvSpPr>
          <p:cNvPr id="89092" name="Text Box 5"/>
          <p:cNvSpPr txBox="1"/>
          <p:nvPr/>
        </p:nvSpPr>
        <p:spPr>
          <a:xfrm>
            <a:off x="900113" y="981075"/>
            <a:ext cx="7277100" cy="5330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#define MaxSize  100     </a:t>
            </a:r>
            <a:r>
              <a:rPr lang="en-US" altLang="zh-CN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最大结点个数</a:t>
            </a:r>
            <a:endParaRPr lang="zh-CN" altLang="en-US" sz="24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typedef struct PTNode{        </a:t>
            </a:r>
            <a:r>
              <a:rPr lang="en-US" altLang="zh-CN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树结点定义</a:t>
            </a:r>
            <a:endParaRPr lang="zh-CN" altLang="en-US" sz="24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    </a:t>
            </a: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TreeData data;                 </a:t>
            </a:r>
            <a:endParaRPr lang="en-US" altLang="zh-CN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    int parent;                        </a:t>
            </a:r>
            <a:endParaRPr lang="en-US" altLang="zh-CN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} </a:t>
            </a:r>
            <a:r>
              <a:rPr lang="en-US" altLang="zh-CN" sz="2400" b="1" dirty="0">
                <a:solidFill>
                  <a:srgbClr val="002C84"/>
                </a:solidFill>
              </a:rPr>
              <a:t>PTNode</a:t>
            </a: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;</a:t>
            </a:r>
            <a:endParaRPr lang="en-US" altLang="zh-CN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typedef </a:t>
            </a:r>
            <a:r>
              <a:rPr lang="en-US" altLang="zh-CN" b="1" dirty="0">
                <a:solidFill>
                  <a:srgbClr val="002C84"/>
                </a:solidFill>
              </a:rPr>
              <a:t>struct</a:t>
            </a: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 {</a:t>
            </a:r>
            <a:endParaRPr lang="en-US" altLang="zh-CN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en-US" altLang="zh-CN" b="1" dirty="0">
                <a:solidFill>
                  <a:srgbClr val="002C84"/>
                </a:solidFill>
              </a:rPr>
              <a:t>PTNode  nodes[</a:t>
            </a:r>
            <a:r>
              <a:rPr lang="en-US" altLang="zh-CN" sz="1800" b="1" dirty="0">
                <a:solidFill>
                  <a:srgbClr val="002C84"/>
                </a:solidFill>
              </a:rPr>
              <a:t>MaxSize</a:t>
            </a:r>
            <a:r>
              <a:rPr lang="en-US" altLang="zh-CN" b="1" dirty="0">
                <a:solidFill>
                  <a:srgbClr val="002C84"/>
                </a:solidFill>
              </a:rPr>
              <a:t>];</a:t>
            </a:r>
            <a:endParaRPr lang="en-US" altLang="zh-CN" b="1" dirty="0">
              <a:solidFill>
                <a:srgbClr val="002C84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2C84"/>
                </a:solidFill>
              </a:rPr>
              <a:t>     int r,n;    </a:t>
            </a:r>
            <a:r>
              <a:rPr lang="en-US" altLang="zh-CN" b="1" dirty="0">
                <a:solidFill>
                  <a:srgbClr val="800000"/>
                </a:solidFill>
              </a:rPr>
              <a:t>//</a:t>
            </a:r>
            <a:r>
              <a:rPr lang="zh-CN" altLang="en-US" sz="2800" b="1" dirty="0">
                <a:solidFill>
                  <a:srgbClr val="800000"/>
                </a:solidFill>
                <a:ea typeface="隶书" panose="02010509060101010101" pitchFamily="49" charset="-122"/>
              </a:rPr>
              <a:t>根的位置和结点数</a:t>
            </a:r>
            <a:endParaRPr lang="zh-CN" altLang="en-US" sz="2800" b="1" dirty="0">
              <a:solidFill>
                <a:srgbClr val="80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}PTree;   </a:t>
            </a:r>
            <a:r>
              <a:rPr lang="en-US" altLang="zh-CN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树</a:t>
            </a:r>
            <a:endParaRPr lang="zh-CN" altLang="en-US" sz="24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3346" name="Rectangle 2"/>
          <p:cNvSpPr/>
          <p:nvPr/>
        </p:nvSpPr>
        <p:spPr>
          <a:xfrm>
            <a:off x="152400" y="914400"/>
            <a:ext cx="85344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思路：将每个结点的孩子排列起来，形成一个带表头（装父结点）的线性表（</a:t>
            </a:r>
            <a:r>
              <a:rPr lang="en-US" altLang="zh-CN" sz="2800" b="1" dirty="0">
                <a:latin typeface="楷体_GB2312"/>
                <a:ea typeface="楷体_GB2312"/>
              </a:rPr>
              <a:t>n</a:t>
            </a:r>
            <a:r>
              <a:rPr lang="zh-CN" altLang="en-US" sz="2800" b="1" dirty="0">
                <a:latin typeface="楷体_GB2312"/>
                <a:ea typeface="楷体_GB2312"/>
              </a:rPr>
              <a:t>个结点要设立</a:t>
            </a:r>
            <a:r>
              <a:rPr lang="en-US" altLang="zh-CN" sz="2800" b="1" dirty="0">
                <a:latin typeface="楷体_GB2312"/>
                <a:ea typeface="楷体_GB2312"/>
              </a:rPr>
              <a:t>n</a:t>
            </a:r>
            <a:r>
              <a:rPr lang="zh-CN" altLang="en-US" sz="2800" b="1" dirty="0">
                <a:latin typeface="楷体_GB2312"/>
                <a:ea typeface="楷体_GB2312"/>
              </a:rPr>
              <a:t>个链表）；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再将</a:t>
            </a:r>
            <a:r>
              <a:rPr lang="en-US" altLang="zh-CN" sz="2800" b="1" dirty="0">
                <a:latin typeface="楷体_GB2312"/>
                <a:ea typeface="楷体_GB2312"/>
              </a:rPr>
              <a:t>n</a:t>
            </a:r>
            <a:r>
              <a:rPr lang="zh-CN" altLang="en-US" sz="2800" b="1" dirty="0">
                <a:latin typeface="楷体_GB2312"/>
                <a:ea typeface="楷体_GB2312"/>
              </a:rPr>
              <a:t>个表头用数组存放起来，这样就形成一个</a:t>
            </a:r>
            <a:r>
              <a:rPr lang="zh-CN" altLang="en-US" sz="2800" b="1" dirty="0">
                <a:solidFill>
                  <a:srgbClr val="FF0000"/>
                </a:solidFill>
                <a:latin typeface="楷体_GB2312"/>
                <a:ea typeface="楷体_GB2312"/>
              </a:rPr>
              <a:t>混合</a:t>
            </a:r>
            <a:r>
              <a:rPr lang="zh-CN" altLang="en-US" sz="2800" b="1" dirty="0">
                <a:latin typeface="楷体_GB2312"/>
                <a:ea typeface="楷体_GB2312"/>
              </a:rPr>
              <a:t>结构。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sp>
        <p:nvSpPr>
          <p:cNvPr id="313347" name="Rectangle 3"/>
          <p:cNvSpPr/>
          <p:nvPr/>
        </p:nvSpPr>
        <p:spPr>
          <a:xfrm>
            <a:off x="187325" y="2681288"/>
            <a:ext cx="12604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楷体_GB2312"/>
              </a:rPr>
              <a:t>例如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313348" name="AutoShape 4"/>
          <p:cNvSpPr/>
          <p:nvPr/>
        </p:nvSpPr>
        <p:spPr>
          <a:xfrm>
            <a:off x="3048000" y="4343400"/>
            <a:ext cx="990600" cy="482600"/>
          </a:xfrm>
          <a:prstGeom prst="leftRightArrow">
            <a:avLst>
              <a:gd name="adj1" fmla="val 50000"/>
              <a:gd name="adj2" fmla="val 4105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" name="Group 5"/>
          <p:cNvGrpSpPr/>
          <p:nvPr/>
        </p:nvGrpSpPr>
        <p:grpSpPr>
          <a:xfrm>
            <a:off x="228600" y="3124200"/>
            <a:ext cx="2590800" cy="3048000"/>
            <a:chOff x="1088" y="2328"/>
            <a:chExt cx="880" cy="1296"/>
          </a:xfrm>
        </p:grpSpPr>
        <p:sp>
          <p:nvSpPr>
            <p:cNvPr id="90208" name="Oval 6"/>
            <p:cNvSpPr/>
            <p:nvPr/>
          </p:nvSpPr>
          <p:spPr>
            <a:xfrm>
              <a:off x="1544" y="2328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209" name="Oval 7"/>
            <p:cNvSpPr/>
            <p:nvPr/>
          </p:nvSpPr>
          <p:spPr>
            <a:xfrm>
              <a:off x="1288" y="2680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210" name="Oval 8"/>
            <p:cNvSpPr/>
            <p:nvPr/>
          </p:nvSpPr>
          <p:spPr>
            <a:xfrm>
              <a:off x="1560" y="3064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211" name="Oval 9"/>
            <p:cNvSpPr/>
            <p:nvPr/>
          </p:nvSpPr>
          <p:spPr>
            <a:xfrm>
              <a:off x="1776" y="2696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212" name="Oval 10"/>
            <p:cNvSpPr/>
            <p:nvPr/>
          </p:nvSpPr>
          <p:spPr>
            <a:xfrm>
              <a:off x="1088" y="3056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213" name="Oval 11"/>
            <p:cNvSpPr/>
            <p:nvPr/>
          </p:nvSpPr>
          <p:spPr>
            <a:xfrm>
              <a:off x="1336" y="3448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214" name="Line 12"/>
            <p:cNvSpPr/>
            <p:nvPr/>
          </p:nvSpPr>
          <p:spPr>
            <a:xfrm flipH="1">
              <a:off x="1424" y="2496"/>
              <a:ext cx="152" cy="2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215" name="Line 13"/>
            <p:cNvSpPr/>
            <p:nvPr/>
          </p:nvSpPr>
          <p:spPr>
            <a:xfrm flipH="1">
              <a:off x="1208" y="2856"/>
              <a:ext cx="120" cy="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216" name="Line 14"/>
            <p:cNvSpPr/>
            <p:nvPr/>
          </p:nvSpPr>
          <p:spPr>
            <a:xfrm>
              <a:off x="1688" y="2480"/>
              <a:ext cx="136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217" name="Line 15"/>
            <p:cNvSpPr/>
            <p:nvPr/>
          </p:nvSpPr>
          <p:spPr>
            <a:xfrm>
              <a:off x="1416" y="2832"/>
              <a:ext cx="176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218" name="Line 16"/>
            <p:cNvSpPr/>
            <p:nvPr/>
          </p:nvSpPr>
          <p:spPr>
            <a:xfrm flipH="1">
              <a:off x="1440" y="3224"/>
              <a:ext cx="160" cy="2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219" name="Oval 17"/>
            <p:cNvSpPr/>
            <p:nvPr/>
          </p:nvSpPr>
          <p:spPr>
            <a:xfrm>
              <a:off x="1808" y="3424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220" name="Line 18"/>
            <p:cNvSpPr/>
            <p:nvPr/>
          </p:nvSpPr>
          <p:spPr>
            <a:xfrm>
              <a:off x="1688" y="3216"/>
              <a:ext cx="184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221" name="Oval 19"/>
            <p:cNvSpPr/>
            <p:nvPr/>
          </p:nvSpPr>
          <p:spPr>
            <a:xfrm>
              <a:off x="1576" y="3440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222" name="Line 20"/>
            <p:cNvSpPr/>
            <p:nvPr/>
          </p:nvSpPr>
          <p:spPr>
            <a:xfrm>
              <a:off x="1648" y="3232"/>
              <a:ext cx="0" cy="2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3365" name="Line 21"/>
          <p:cNvSpPr/>
          <p:nvPr/>
        </p:nvSpPr>
        <p:spPr>
          <a:xfrm>
            <a:off x="5338763" y="3327400"/>
            <a:ext cx="4254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" name="Group 22"/>
          <p:cNvGrpSpPr/>
          <p:nvPr/>
        </p:nvGrpSpPr>
        <p:grpSpPr>
          <a:xfrm>
            <a:off x="5776913" y="3106738"/>
            <a:ext cx="1646237" cy="439737"/>
            <a:chOff x="3639" y="1957"/>
            <a:chExt cx="1037" cy="277"/>
          </a:xfrm>
        </p:grpSpPr>
        <p:grpSp>
          <p:nvGrpSpPr>
            <p:cNvPr id="90197" name="Group 23"/>
            <p:cNvGrpSpPr/>
            <p:nvPr/>
          </p:nvGrpSpPr>
          <p:grpSpPr>
            <a:xfrm>
              <a:off x="3639" y="1988"/>
              <a:ext cx="432" cy="218"/>
              <a:chOff x="4376" y="2144"/>
              <a:chExt cx="400" cy="224"/>
            </a:xfrm>
          </p:grpSpPr>
          <p:sp>
            <p:nvSpPr>
              <p:cNvPr id="90206" name="Rectangle 24"/>
              <p:cNvSpPr/>
              <p:nvPr/>
            </p:nvSpPr>
            <p:spPr>
              <a:xfrm>
                <a:off x="4376" y="2144"/>
                <a:ext cx="400" cy="22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0207" name="Line 25"/>
              <p:cNvSpPr/>
              <p:nvPr/>
            </p:nvSpPr>
            <p:spPr>
              <a:xfrm>
                <a:off x="4624" y="2152"/>
                <a:ext cx="0" cy="2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0198" name="Rectangle 26"/>
            <p:cNvSpPr/>
            <p:nvPr/>
          </p:nvSpPr>
          <p:spPr>
            <a:xfrm>
              <a:off x="3668" y="1984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4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grpSp>
          <p:nvGrpSpPr>
            <p:cNvPr id="90199" name="Group 27"/>
            <p:cNvGrpSpPr/>
            <p:nvPr/>
          </p:nvGrpSpPr>
          <p:grpSpPr>
            <a:xfrm>
              <a:off x="4244" y="1989"/>
              <a:ext cx="432" cy="215"/>
              <a:chOff x="4376" y="2144"/>
              <a:chExt cx="400" cy="224"/>
            </a:xfrm>
          </p:grpSpPr>
          <p:sp>
            <p:nvSpPr>
              <p:cNvPr id="90204" name="Rectangle 28"/>
              <p:cNvSpPr/>
              <p:nvPr/>
            </p:nvSpPr>
            <p:spPr>
              <a:xfrm>
                <a:off x="4376" y="2144"/>
                <a:ext cx="400" cy="22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0205" name="Line 29"/>
              <p:cNvSpPr/>
              <p:nvPr/>
            </p:nvSpPr>
            <p:spPr>
              <a:xfrm>
                <a:off x="4624" y="2152"/>
                <a:ext cx="0" cy="2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0200" name="Rectangle 30"/>
            <p:cNvSpPr/>
            <p:nvPr/>
          </p:nvSpPr>
          <p:spPr>
            <a:xfrm>
              <a:off x="4263" y="1957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5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201" name="Line 31"/>
            <p:cNvSpPr/>
            <p:nvPr/>
          </p:nvSpPr>
          <p:spPr>
            <a:xfrm flipH="1">
              <a:off x="4546" y="2061"/>
              <a:ext cx="43" cy="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202" name="Line 32"/>
            <p:cNvSpPr/>
            <p:nvPr/>
          </p:nvSpPr>
          <p:spPr>
            <a:xfrm>
              <a:off x="4589" y="2070"/>
              <a:ext cx="35" cy="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203" name="Line 33"/>
            <p:cNvSpPr/>
            <p:nvPr/>
          </p:nvSpPr>
          <p:spPr>
            <a:xfrm>
              <a:off x="3985" y="2096"/>
              <a:ext cx="2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13378" name="Line 34"/>
          <p:cNvSpPr/>
          <p:nvPr/>
        </p:nvSpPr>
        <p:spPr>
          <a:xfrm>
            <a:off x="5353050" y="4660900"/>
            <a:ext cx="423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" name="Group 35"/>
          <p:cNvGrpSpPr/>
          <p:nvPr/>
        </p:nvGrpSpPr>
        <p:grpSpPr>
          <a:xfrm>
            <a:off x="5791200" y="4438650"/>
            <a:ext cx="2590800" cy="442913"/>
            <a:chOff x="3648" y="2796"/>
            <a:chExt cx="1632" cy="279"/>
          </a:xfrm>
        </p:grpSpPr>
        <p:grpSp>
          <p:nvGrpSpPr>
            <p:cNvPr id="90181" name="Group 36"/>
            <p:cNvGrpSpPr/>
            <p:nvPr/>
          </p:nvGrpSpPr>
          <p:grpSpPr>
            <a:xfrm>
              <a:off x="3648" y="2828"/>
              <a:ext cx="432" cy="217"/>
              <a:chOff x="4376" y="2144"/>
              <a:chExt cx="400" cy="224"/>
            </a:xfrm>
          </p:grpSpPr>
          <p:sp>
            <p:nvSpPr>
              <p:cNvPr id="90195" name="Rectangle 37"/>
              <p:cNvSpPr/>
              <p:nvPr/>
            </p:nvSpPr>
            <p:spPr>
              <a:xfrm>
                <a:off x="4376" y="2144"/>
                <a:ext cx="400" cy="22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0196" name="Line 38"/>
              <p:cNvSpPr/>
              <p:nvPr/>
            </p:nvSpPr>
            <p:spPr>
              <a:xfrm>
                <a:off x="4624" y="2152"/>
                <a:ext cx="0" cy="2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0182" name="Rectangle 39"/>
            <p:cNvSpPr/>
            <p:nvPr/>
          </p:nvSpPr>
          <p:spPr>
            <a:xfrm>
              <a:off x="3676" y="2823"/>
              <a:ext cx="206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6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grpSp>
          <p:nvGrpSpPr>
            <p:cNvPr id="90183" name="Group 40"/>
            <p:cNvGrpSpPr/>
            <p:nvPr/>
          </p:nvGrpSpPr>
          <p:grpSpPr>
            <a:xfrm>
              <a:off x="4261" y="2829"/>
              <a:ext cx="432" cy="214"/>
              <a:chOff x="4376" y="2144"/>
              <a:chExt cx="400" cy="224"/>
            </a:xfrm>
          </p:grpSpPr>
          <p:sp>
            <p:nvSpPr>
              <p:cNvPr id="90193" name="Rectangle 41"/>
              <p:cNvSpPr/>
              <p:nvPr/>
            </p:nvSpPr>
            <p:spPr>
              <a:xfrm>
                <a:off x="4376" y="2144"/>
                <a:ext cx="400" cy="22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0194" name="Line 42"/>
              <p:cNvSpPr/>
              <p:nvPr/>
            </p:nvSpPr>
            <p:spPr>
              <a:xfrm>
                <a:off x="4624" y="2152"/>
                <a:ext cx="0" cy="2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0184" name="Rectangle 43"/>
            <p:cNvSpPr/>
            <p:nvPr/>
          </p:nvSpPr>
          <p:spPr>
            <a:xfrm>
              <a:off x="4272" y="2796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7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85" name="Line 44"/>
            <p:cNvSpPr/>
            <p:nvPr/>
          </p:nvSpPr>
          <p:spPr>
            <a:xfrm>
              <a:off x="3993" y="2936"/>
              <a:ext cx="2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0186" name="Group 45"/>
            <p:cNvGrpSpPr/>
            <p:nvPr/>
          </p:nvGrpSpPr>
          <p:grpSpPr>
            <a:xfrm>
              <a:off x="4848" y="2819"/>
              <a:ext cx="432" cy="217"/>
              <a:chOff x="4376" y="2144"/>
              <a:chExt cx="400" cy="224"/>
            </a:xfrm>
          </p:grpSpPr>
          <p:sp>
            <p:nvSpPr>
              <p:cNvPr id="90191" name="Rectangle 46"/>
              <p:cNvSpPr/>
              <p:nvPr/>
            </p:nvSpPr>
            <p:spPr>
              <a:xfrm>
                <a:off x="4376" y="2144"/>
                <a:ext cx="400" cy="22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0192" name="Line 47"/>
              <p:cNvSpPr/>
              <p:nvPr/>
            </p:nvSpPr>
            <p:spPr>
              <a:xfrm>
                <a:off x="4624" y="2152"/>
                <a:ext cx="0" cy="2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0187" name="Rectangle 48"/>
            <p:cNvSpPr/>
            <p:nvPr/>
          </p:nvSpPr>
          <p:spPr>
            <a:xfrm>
              <a:off x="4876" y="2814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8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88" name="Line 49"/>
            <p:cNvSpPr/>
            <p:nvPr/>
          </p:nvSpPr>
          <p:spPr>
            <a:xfrm>
              <a:off x="4581" y="2936"/>
              <a:ext cx="2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0189" name="Line 50"/>
            <p:cNvSpPr/>
            <p:nvPr/>
          </p:nvSpPr>
          <p:spPr>
            <a:xfrm flipH="1">
              <a:off x="5168" y="2873"/>
              <a:ext cx="52" cy="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90" name="Line 51"/>
            <p:cNvSpPr/>
            <p:nvPr/>
          </p:nvSpPr>
          <p:spPr>
            <a:xfrm>
              <a:off x="5220" y="2891"/>
              <a:ext cx="25" cy="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52"/>
          <p:cNvGrpSpPr/>
          <p:nvPr/>
        </p:nvGrpSpPr>
        <p:grpSpPr>
          <a:xfrm>
            <a:off x="4629150" y="2673350"/>
            <a:ext cx="476250" cy="3498850"/>
            <a:chOff x="2923" y="1686"/>
            <a:chExt cx="300" cy="2204"/>
          </a:xfrm>
        </p:grpSpPr>
        <p:sp>
          <p:nvSpPr>
            <p:cNvPr id="90173" name="Rectangle 53"/>
            <p:cNvSpPr/>
            <p:nvPr/>
          </p:nvSpPr>
          <p:spPr>
            <a:xfrm>
              <a:off x="2923" y="3353"/>
              <a:ext cx="291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g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74" name="Rectangle 54"/>
            <p:cNvSpPr/>
            <p:nvPr/>
          </p:nvSpPr>
          <p:spPr>
            <a:xfrm>
              <a:off x="2923" y="3075"/>
              <a:ext cx="291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f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75" name="Rectangle 55"/>
            <p:cNvSpPr/>
            <p:nvPr/>
          </p:nvSpPr>
          <p:spPr>
            <a:xfrm>
              <a:off x="2923" y="2797"/>
              <a:ext cx="291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e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76" name="Rectangle 56"/>
            <p:cNvSpPr/>
            <p:nvPr/>
          </p:nvSpPr>
          <p:spPr>
            <a:xfrm>
              <a:off x="2923" y="2519"/>
              <a:ext cx="291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d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77" name="Rectangle 57"/>
            <p:cNvSpPr/>
            <p:nvPr/>
          </p:nvSpPr>
          <p:spPr>
            <a:xfrm>
              <a:off x="2923" y="2241"/>
              <a:ext cx="291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c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78" name="Rectangle 58"/>
            <p:cNvSpPr/>
            <p:nvPr/>
          </p:nvSpPr>
          <p:spPr>
            <a:xfrm>
              <a:off x="2923" y="1964"/>
              <a:ext cx="291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b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79" name="Rectangle 59"/>
            <p:cNvSpPr/>
            <p:nvPr/>
          </p:nvSpPr>
          <p:spPr>
            <a:xfrm>
              <a:off x="2923" y="1686"/>
              <a:ext cx="291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a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80" name="Rectangle 60"/>
            <p:cNvSpPr/>
            <p:nvPr/>
          </p:nvSpPr>
          <p:spPr>
            <a:xfrm>
              <a:off x="2931" y="3612"/>
              <a:ext cx="292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h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61"/>
          <p:cNvGrpSpPr/>
          <p:nvPr/>
        </p:nvGrpSpPr>
        <p:grpSpPr>
          <a:xfrm>
            <a:off x="4640263" y="2676525"/>
            <a:ext cx="922337" cy="3571875"/>
            <a:chOff x="2923" y="1686"/>
            <a:chExt cx="581" cy="2250"/>
          </a:xfrm>
        </p:grpSpPr>
        <p:sp>
          <p:nvSpPr>
            <p:cNvPr id="90160" name="Line 62"/>
            <p:cNvSpPr/>
            <p:nvPr/>
          </p:nvSpPr>
          <p:spPr>
            <a:xfrm>
              <a:off x="2926" y="1686"/>
              <a:ext cx="57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1" name="Line 63"/>
            <p:cNvSpPr/>
            <p:nvPr/>
          </p:nvSpPr>
          <p:spPr>
            <a:xfrm>
              <a:off x="2923" y="1964"/>
              <a:ext cx="5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2" name="Line 64"/>
            <p:cNvSpPr/>
            <p:nvPr/>
          </p:nvSpPr>
          <p:spPr>
            <a:xfrm>
              <a:off x="2923" y="2241"/>
              <a:ext cx="5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3" name="Line 65"/>
            <p:cNvSpPr/>
            <p:nvPr/>
          </p:nvSpPr>
          <p:spPr>
            <a:xfrm>
              <a:off x="2923" y="2519"/>
              <a:ext cx="5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4" name="Line 66"/>
            <p:cNvSpPr/>
            <p:nvPr/>
          </p:nvSpPr>
          <p:spPr>
            <a:xfrm>
              <a:off x="2923" y="2797"/>
              <a:ext cx="5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5" name="Line 67"/>
            <p:cNvSpPr/>
            <p:nvPr/>
          </p:nvSpPr>
          <p:spPr>
            <a:xfrm>
              <a:off x="2923" y="3075"/>
              <a:ext cx="5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6" name="Line 68"/>
            <p:cNvSpPr/>
            <p:nvPr/>
          </p:nvSpPr>
          <p:spPr>
            <a:xfrm>
              <a:off x="2923" y="3353"/>
              <a:ext cx="5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7" name="Line 69"/>
            <p:cNvSpPr/>
            <p:nvPr/>
          </p:nvSpPr>
          <p:spPr>
            <a:xfrm>
              <a:off x="2923" y="3926"/>
              <a:ext cx="57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8" name="Line 70"/>
            <p:cNvSpPr/>
            <p:nvPr/>
          </p:nvSpPr>
          <p:spPr>
            <a:xfrm>
              <a:off x="2923" y="1686"/>
              <a:ext cx="0" cy="194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69" name="Line 71"/>
            <p:cNvSpPr/>
            <p:nvPr/>
          </p:nvSpPr>
          <p:spPr>
            <a:xfrm>
              <a:off x="3214" y="1686"/>
              <a:ext cx="2" cy="22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70" name="Line 72"/>
            <p:cNvSpPr/>
            <p:nvPr/>
          </p:nvSpPr>
          <p:spPr>
            <a:xfrm>
              <a:off x="3501" y="1686"/>
              <a:ext cx="3" cy="225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71" name="Line 73"/>
            <p:cNvSpPr/>
            <p:nvPr/>
          </p:nvSpPr>
          <p:spPr>
            <a:xfrm>
              <a:off x="2923" y="3630"/>
              <a:ext cx="57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72" name="Line 74"/>
            <p:cNvSpPr/>
            <p:nvPr/>
          </p:nvSpPr>
          <p:spPr>
            <a:xfrm>
              <a:off x="2923" y="3606"/>
              <a:ext cx="0" cy="32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75"/>
          <p:cNvGrpSpPr/>
          <p:nvPr/>
        </p:nvGrpSpPr>
        <p:grpSpPr>
          <a:xfrm>
            <a:off x="5257800" y="3733800"/>
            <a:ext cx="177800" cy="2311400"/>
            <a:chOff x="3297" y="2346"/>
            <a:chExt cx="112" cy="1456"/>
          </a:xfrm>
        </p:grpSpPr>
        <p:sp>
          <p:nvSpPr>
            <p:cNvPr id="90150" name="Line 76"/>
            <p:cNvSpPr/>
            <p:nvPr/>
          </p:nvSpPr>
          <p:spPr>
            <a:xfrm flipH="1">
              <a:off x="3297" y="2346"/>
              <a:ext cx="52" cy="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1" name="Line 77"/>
            <p:cNvSpPr/>
            <p:nvPr/>
          </p:nvSpPr>
          <p:spPr>
            <a:xfrm>
              <a:off x="3349" y="2364"/>
              <a:ext cx="26" cy="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2" name="Line 78"/>
            <p:cNvSpPr/>
            <p:nvPr/>
          </p:nvSpPr>
          <p:spPr>
            <a:xfrm flipH="1">
              <a:off x="3306" y="2605"/>
              <a:ext cx="52" cy="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3" name="Line 79"/>
            <p:cNvSpPr/>
            <p:nvPr/>
          </p:nvSpPr>
          <p:spPr>
            <a:xfrm>
              <a:off x="3358" y="2623"/>
              <a:ext cx="25" cy="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4" name="Line 80"/>
            <p:cNvSpPr/>
            <p:nvPr/>
          </p:nvSpPr>
          <p:spPr>
            <a:xfrm flipH="1">
              <a:off x="3323" y="3159"/>
              <a:ext cx="52" cy="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5" name="Line 81"/>
            <p:cNvSpPr/>
            <p:nvPr/>
          </p:nvSpPr>
          <p:spPr>
            <a:xfrm>
              <a:off x="3375" y="3177"/>
              <a:ext cx="26" cy="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6" name="Line 82"/>
            <p:cNvSpPr/>
            <p:nvPr/>
          </p:nvSpPr>
          <p:spPr>
            <a:xfrm flipH="1">
              <a:off x="3332" y="3427"/>
              <a:ext cx="51" cy="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7" name="Line 83"/>
            <p:cNvSpPr/>
            <p:nvPr/>
          </p:nvSpPr>
          <p:spPr>
            <a:xfrm>
              <a:off x="3383" y="3445"/>
              <a:ext cx="26" cy="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8" name="Line 84"/>
            <p:cNvSpPr/>
            <p:nvPr/>
          </p:nvSpPr>
          <p:spPr>
            <a:xfrm flipH="1">
              <a:off x="3323" y="3704"/>
              <a:ext cx="52" cy="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59" name="Line 85"/>
            <p:cNvSpPr/>
            <p:nvPr/>
          </p:nvSpPr>
          <p:spPr>
            <a:xfrm>
              <a:off x="3375" y="3722"/>
              <a:ext cx="26" cy="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" name="Group 86"/>
          <p:cNvGrpSpPr/>
          <p:nvPr/>
        </p:nvGrpSpPr>
        <p:grpSpPr>
          <a:xfrm>
            <a:off x="4191000" y="2667000"/>
            <a:ext cx="325438" cy="3502025"/>
            <a:chOff x="2640" y="1680"/>
            <a:chExt cx="205" cy="2206"/>
          </a:xfrm>
        </p:grpSpPr>
        <p:sp>
          <p:nvSpPr>
            <p:cNvPr id="90142" name="Rectangle 87"/>
            <p:cNvSpPr/>
            <p:nvPr/>
          </p:nvSpPr>
          <p:spPr>
            <a:xfrm>
              <a:off x="2640" y="1680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1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43" name="Rectangle 88"/>
            <p:cNvSpPr/>
            <p:nvPr/>
          </p:nvSpPr>
          <p:spPr>
            <a:xfrm>
              <a:off x="2640" y="1984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2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44" name="Rectangle 89"/>
            <p:cNvSpPr/>
            <p:nvPr/>
          </p:nvSpPr>
          <p:spPr>
            <a:xfrm>
              <a:off x="2640" y="2252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3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45" name="Rectangle 90"/>
            <p:cNvSpPr/>
            <p:nvPr/>
          </p:nvSpPr>
          <p:spPr>
            <a:xfrm>
              <a:off x="2640" y="2537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4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46" name="Rectangle 91"/>
            <p:cNvSpPr/>
            <p:nvPr/>
          </p:nvSpPr>
          <p:spPr>
            <a:xfrm>
              <a:off x="2640" y="2814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5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47" name="Rectangle 92"/>
            <p:cNvSpPr/>
            <p:nvPr/>
          </p:nvSpPr>
          <p:spPr>
            <a:xfrm>
              <a:off x="2640" y="3100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6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48" name="Rectangle 93"/>
            <p:cNvSpPr/>
            <p:nvPr/>
          </p:nvSpPr>
          <p:spPr>
            <a:xfrm>
              <a:off x="2640" y="3377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7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49" name="Rectangle 94"/>
            <p:cNvSpPr/>
            <p:nvPr/>
          </p:nvSpPr>
          <p:spPr>
            <a:xfrm>
              <a:off x="2640" y="3636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8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13439" name="AutoShape 9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0128" name="Rectangle 96"/>
          <p:cNvSpPr>
            <a:spLocks noGrp="1"/>
          </p:cNvSpPr>
          <p:nvPr>
            <p:ph type="title"/>
          </p:nvPr>
        </p:nvSpPr>
        <p:spPr>
          <a:xfrm>
            <a:off x="228600" y="228600"/>
            <a:ext cx="40386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、用孩子表示法来存储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" name="Group 97"/>
          <p:cNvGrpSpPr/>
          <p:nvPr/>
        </p:nvGrpSpPr>
        <p:grpSpPr>
          <a:xfrm>
            <a:off x="5776913" y="2667000"/>
            <a:ext cx="1646237" cy="439738"/>
            <a:chOff x="3639" y="1680"/>
            <a:chExt cx="1037" cy="277"/>
          </a:xfrm>
        </p:grpSpPr>
        <p:sp>
          <p:nvSpPr>
            <p:cNvPr id="90131" name="Rectangle 98"/>
            <p:cNvSpPr/>
            <p:nvPr/>
          </p:nvSpPr>
          <p:spPr>
            <a:xfrm>
              <a:off x="3668" y="1707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2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32" name="Line 99"/>
            <p:cNvSpPr/>
            <p:nvPr/>
          </p:nvSpPr>
          <p:spPr>
            <a:xfrm>
              <a:off x="3976" y="1828"/>
              <a:ext cx="2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0133" name="Group 100"/>
            <p:cNvGrpSpPr/>
            <p:nvPr/>
          </p:nvGrpSpPr>
          <p:grpSpPr>
            <a:xfrm>
              <a:off x="3639" y="1711"/>
              <a:ext cx="432" cy="218"/>
              <a:chOff x="4376" y="2144"/>
              <a:chExt cx="400" cy="224"/>
            </a:xfrm>
          </p:grpSpPr>
          <p:sp>
            <p:nvSpPr>
              <p:cNvPr id="90140" name="Rectangle 101"/>
              <p:cNvSpPr/>
              <p:nvPr/>
            </p:nvSpPr>
            <p:spPr>
              <a:xfrm>
                <a:off x="4376" y="2144"/>
                <a:ext cx="400" cy="22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0141" name="Line 102"/>
              <p:cNvSpPr/>
              <p:nvPr/>
            </p:nvSpPr>
            <p:spPr>
              <a:xfrm>
                <a:off x="4624" y="2152"/>
                <a:ext cx="0" cy="2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90134" name="Group 103"/>
            <p:cNvGrpSpPr/>
            <p:nvPr/>
          </p:nvGrpSpPr>
          <p:grpSpPr>
            <a:xfrm>
              <a:off x="4244" y="1712"/>
              <a:ext cx="432" cy="215"/>
              <a:chOff x="4376" y="2144"/>
              <a:chExt cx="400" cy="224"/>
            </a:xfrm>
          </p:grpSpPr>
          <p:sp>
            <p:nvSpPr>
              <p:cNvPr id="90138" name="Rectangle 104"/>
              <p:cNvSpPr/>
              <p:nvPr/>
            </p:nvSpPr>
            <p:spPr>
              <a:xfrm>
                <a:off x="4376" y="2144"/>
                <a:ext cx="400" cy="224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0139" name="Line 105"/>
              <p:cNvSpPr/>
              <p:nvPr/>
            </p:nvSpPr>
            <p:spPr>
              <a:xfrm>
                <a:off x="4624" y="2152"/>
                <a:ext cx="0" cy="21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0135" name="Rectangle 106"/>
            <p:cNvSpPr/>
            <p:nvPr/>
          </p:nvSpPr>
          <p:spPr>
            <a:xfrm>
              <a:off x="4263" y="1680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3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90136" name="Line 107"/>
            <p:cNvSpPr/>
            <p:nvPr/>
          </p:nvSpPr>
          <p:spPr>
            <a:xfrm flipH="1">
              <a:off x="4546" y="1784"/>
              <a:ext cx="43" cy="9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0137" name="Line 108"/>
            <p:cNvSpPr/>
            <p:nvPr/>
          </p:nvSpPr>
          <p:spPr>
            <a:xfrm>
              <a:off x="4589" y="1793"/>
              <a:ext cx="35" cy="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3453" name="Line 109"/>
          <p:cNvSpPr/>
          <p:nvPr/>
        </p:nvSpPr>
        <p:spPr>
          <a:xfrm>
            <a:off x="5334000" y="2895600"/>
            <a:ext cx="4254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346">
                                            <p:txEl>
                                              <p:charRg st="4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31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31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3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 build="p"/>
      <p:bldP spid="313347" grpId="0"/>
      <p:bldP spid="313348" grpId="0" animBg="1"/>
      <p:bldP spid="31343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49188" name="Text Box 4"/>
          <p:cNvSpPr txBox="1"/>
          <p:nvPr/>
        </p:nvSpPr>
        <p:spPr>
          <a:xfrm>
            <a:off x="323850" y="0"/>
            <a:ext cx="5111750" cy="20542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typedef struct </a:t>
            </a:r>
            <a:r>
              <a:rPr lang="en-US" altLang="zh-CN" sz="2800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CTNode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{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int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child;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struct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CTNode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*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next;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} *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ChildPtr;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49189" name="Text Box 5"/>
          <p:cNvSpPr txBox="1"/>
          <p:nvPr/>
        </p:nvSpPr>
        <p:spPr>
          <a:xfrm>
            <a:off x="323850" y="2276475"/>
            <a:ext cx="7416800" cy="18002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en-US" altLang="zh-CN" sz="28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typedef struct {</a:t>
            </a:r>
            <a:endParaRPr lang="en-US" altLang="zh-CN" sz="2800" dirty="0">
              <a:solidFill>
                <a:srgbClr val="80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Elem    data;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ChildPtr  firstchild;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//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孩子链的头指针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}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CTBox;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49190" name="Text Box 6"/>
          <p:cNvSpPr txBox="1"/>
          <p:nvPr/>
        </p:nvSpPr>
        <p:spPr>
          <a:xfrm>
            <a:off x="395288" y="4275138"/>
            <a:ext cx="6259512" cy="20542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typedef struct {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CTBox  nodes[MAX_TREE_SIZE];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int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n, r;    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// 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/>
              </a:rPr>
              <a:t>结点数和根结点的位置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}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CTree;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/>
      <p:bldP spid="349189" grpId="0"/>
      <p:bldP spid="34919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4370" name="Rectangle 2"/>
          <p:cNvSpPr/>
          <p:nvPr/>
        </p:nvSpPr>
        <p:spPr>
          <a:xfrm>
            <a:off x="304800" y="1066800"/>
            <a:ext cx="8382000" cy="2136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b="1" dirty="0">
                <a:solidFill>
                  <a:schemeClr val="hlink"/>
                </a:solidFill>
                <a:latin typeface="楷体_GB2312"/>
                <a:ea typeface="楷体_GB2312"/>
              </a:rPr>
              <a:t>思路：</a:t>
            </a:r>
            <a:r>
              <a:rPr lang="zh-CN" altLang="en-US" b="1" dirty="0">
                <a:latin typeface="楷体_GB2312"/>
                <a:ea typeface="楷体_GB2312"/>
              </a:rPr>
              <a:t>用二叉链表来表示树，但链表中的两个指针域含义不同。</a:t>
            </a:r>
            <a:endParaRPr lang="zh-CN" altLang="en-US" b="1" dirty="0">
              <a:latin typeface="楷体_GB2312"/>
              <a:ea typeface="楷体_GB2312"/>
            </a:endParaRPr>
          </a:p>
          <a:p>
            <a:pPr marL="0" lvl="0" indent="0" eaLnBrk="1" hangingPunct="1"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b="1" dirty="0">
                <a:latin typeface="楷体_GB2312"/>
                <a:ea typeface="楷体_GB2312"/>
              </a:rPr>
              <a:t>左指针指向该结点的第一个孩子；</a:t>
            </a:r>
            <a:endParaRPr lang="zh-CN" altLang="en-US" b="1" dirty="0">
              <a:latin typeface="楷体_GB2312"/>
              <a:ea typeface="楷体_GB2312"/>
            </a:endParaRPr>
          </a:p>
          <a:p>
            <a:pPr marL="0" lvl="0" indent="0" eaLnBrk="1" hangingPunct="1"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b="1" dirty="0">
                <a:latin typeface="楷体_GB2312"/>
                <a:ea typeface="楷体_GB2312"/>
              </a:rPr>
              <a:t>右指针指向该结点的下一个兄弟结点。</a:t>
            </a:r>
            <a:endParaRPr lang="zh-CN" altLang="en-US" b="1" dirty="0">
              <a:latin typeface="楷体_GB2312"/>
              <a:ea typeface="楷体_GB231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476375" y="3573463"/>
            <a:ext cx="5105400" cy="762000"/>
            <a:chOff x="1104" y="2160"/>
            <a:chExt cx="3216" cy="480"/>
          </a:xfrm>
        </p:grpSpPr>
        <p:sp>
          <p:nvSpPr>
            <p:cNvPr id="92169" name="Rectangle 4"/>
            <p:cNvSpPr/>
            <p:nvPr/>
          </p:nvSpPr>
          <p:spPr>
            <a:xfrm>
              <a:off x="3072" y="2256"/>
              <a:ext cx="124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800" dirty="0">
                  <a:solidFill>
                    <a:schemeClr val="accent2"/>
                  </a:solidFill>
                </a:rPr>
                <a:t>nextsibling</a:t>
              </a:r>
              <a:endParaRPr lang="en-US" altLang="zh-CN" sz="2800" dirty="0">
                <a:solidFill>
                  <a:schemeClr val="accent2"/>
                </a:solidFill>
              </a:endParaRPr>
            </a:p>
          </p:txBody>
        </p:sp>
        <p:sp>
          <p:nvSpPr>
            <p:cNvPr id="92170" name="Rectangle 5"/>
            <p:cNvSpPr/>
            <p:nvPr/>
          </p:nvSpPr>
          <p:spPr>
            <a:xfrm>
              <a:off x="2208" y="2256"/>
              <a:ext cx="768" cy="31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800" dirty="0"/>
                <a:t>data</a:t>
              </a:r>
              <a:endParaRPr lang="en-US" altLang="zh-CN" sz="2800" dirty="0"/>
            </a:p>
          </p:txBody>
        </p:sp>
        <p:sp>
          <p:nvSpPr>
            <p:cNvPr id="92171" name="Rectangle 6"/>
            <p:cNvSpPr/>
            <p:nvPr/>
          </p:nvSpPr>
          <p:spPr>
            <a:xfrm>
              <a:off x="1152" y="2256"/>
              <a:ext cx="96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800" dirty="0">
                  <a:solidFill>
                    <a:schemeClr val="accent2"/>
                  </a:solidFill>
                </a:rPr>
                <a:t>firstchild</a:t>
              </a:r>
              <a:endParaRPr lang="en-US" altLang="zh-CN" sz="2800" dirty="0">
                <a:solidFill>
                  <a:schemeClr val="accent2"/>
                </a:solidFill>
              </a:endParaRPr>
            </a:p>
          </p:txBody>
        </p:sp>
        <p:sp>
          <p:nvSpPr>
            <p:cNvPr id="92172" name="Line 7"/>
            <p:cNvSpPr/>
            <p:nvPr/>
          </p:nvSpPr>
          <p:spPr>
            <a:xfrm>
              <a:off x="1104" y="2160"/>
              <a:ext cx="32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173" name="Line 8"/>
            <p:cNvSpPr/>
            <p:nvPr/>
          </p:nvSpPr>
          <p:spPr>
            <a:xfrm>
              <a:off x="1104" y="2640"/>
              <a:ext cx="32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174" name="Line 9"/>
            <p:cNvSpPr/>
            <p:nvPr/>
          </p:nvSpPr>
          <p:spPr>
            <a:xfrm>
              <a:off x="1104" y="2160"/>
              <a:ext cx="0" cy="48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175" name="Line 10"/>
            <p:cNvSpPr/>
            <p:nvPr/>
          </p:nvSpPr>
          <p:spPr>
            <a:xfrm>
              <a:off x="2112" y="2160"/>
              <a:ext cx="0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176" name="Line 11"/>
            <p:cNvSpPr/>
            <p:nvPr/>
          </p:nvSpPr>
          <p:spPr>
            <a:xfrm>
              <a:off x="2976" y="2160"/>
              <a:ext cx="0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177" name="Line 12"/>
            <p:cNvSpPr/>
            <p:nvPr/>
          </p:nvSpPr>
          <p:spPr>
            <a:xfrm>
              <a:off x="4320" y="2160"/>
              <a:ext cx="0" cy="48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4381" name="AutoShape 13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2166" name="Rectangle 14"/>
          <p:cNvSpPr>
            <a:spLocks noGrp="1"/>
          </p:cNvSpPr>
          <p:nvPr>
            <p:ph type="title"/>
          </p:nvPr>
        </p:nvSpPr>
        <p:spPr>
          <a:xfrm>
            <a:off x="304800" y="304800"/>
            <a:ext cx="48768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、用孩子兄弟表示法来存储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4383" name="AutoShape 15"/>
          <p:cNvSpPr/>
          <p:nvPr/>
        </p:nvSpPr>
        <p:spPr>
          <a:xfrm>
            <a:off x="457200" y="4953000"/>
            <a:ext cx="2362200" cy="609600"/>
          </a:xfrm>
          <a:prstGeom prst="wedgeRectCallout">
            <a:avLst>
              <a:gd name="adj1" fmla="val 38037"/>
              <a:gd name="adj2" fmla="val -1700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楷体_GB2312"/>
                <a:ea typeface="楷体_GB2312"/>
              </a:rPr>
              <a:t>指向左孩子</a:t>
            </a:r>
            <a:endParaRPr lang="zh-CN" altLang="en-US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  <p:sp>
        <p:nvSpPr>
          <p:cNvPr id="314384" name="AutoShape 16"/>
          <p:cNvSpPr/>
          <p:nvPr/>
        </p:nvSpPr>
        <p:spPr>
          <a:xfrm>
            <a:off x="5334000" y="4876800"/>
            <a:ext cx="2362200" cy="609600"/>
          </a:xfrm>
          <a:prstGeom prst="wedgeRectCallout">
            <a:avLst>
              <a:gd name="adj1" fmla="val -41801"/>
              <a:gd name="adj2" fmla="val -1541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bg1"/>
                </a:solidFill>
                <a:latin typeface="楷体_GB2312"/>
                <a:ea typeface="楷体_GB2312"/>
              </a:rPr>
              <a:t>指向右兄弟</a:t>
            </a:r>
            <a:endParaRPr lang="zh-CN" altLang="en-US" b="1" dirty="0">
              <a:solidFill>
                <a:schemeClr val="bg1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14370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>
                                            <p:txEl>
                                              <p:charRg st="29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14370">
                                            <p:txEl>
                                              <p:charRg st="29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14370">
                                            <p:txEl>
                                              <p:charRg st="45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0" grpId="0" build="p"/>
      <p:bldP spid="314381" grpId="0" animBg="1"/>
      <p:bldP spid="314383" grpId="0" animBg="1"/>
      <p:bldP spid="31438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3187" name="Rectangle 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486650" cy="762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600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用左孩子</a:t>
            </a:r>
            <a:r>
              <a:rPr lang="en-US" altLang="zh-CN" sz="3600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-</a:t>
            </a:r>
            <a:r>
              <a:rPr lang="zh-CN" altLang="en-US" sz="3600" dirty="0">
                <a:solidFill>
                  <a:srgbClr val="8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右兄弟表示实现的树定义</a:t>
            </a:r>
            <a:endParaRPr lang="zh-CN" altLang="en-US" sz="3600" dirty="0">
              <a:solidFill>
                <a:srgbClr val="8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50215" name="Text Box 7"/>
          <p:cNvSpPr txBox="1"/>
          <p:nvPr/>
        </p:nvSpPr>
        <p:spPr>
          <a:xfrm>
            <a:off x="827088" y="1725613"/>
            <a:ext cx="5937250" cy="3251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typedef struct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CSNode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{</a:t>
            </a:r>
            <a:endParaRPr lang="en-US" altLang="zh-CN" sz="36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Elem          data;</a:t>
            </a:r>
            <a:endParaRPr lang="en-US" altLang="zh-CN" sz="36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struct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CSNode  </a:t>
            </a:r>
            <a:endParaRPr lang="en-US" altLang="zh-CN" sz="36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          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*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firstchild, 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*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nextsibling;</a:t>
            </a:r>
            <a:endParaRPr lang="en-US" altLang="zh-CN" sz="360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}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 CSNode, 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*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</a:rPr>
              <a:t>CSTree;</a:t>
            </a:r>
            <a:endParaRPr lang="en-US" altLang="zh-CN" sz="36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" name="Group 2"/>
          <p:cNvGrpSpPr/>
          <p:nvPr/>
        </p:nvGrpSpPr>
        <p:grpSpPr>
          <a:xfrm>
            <a:off x="76200" y="457200"/>
            <a:ext cx="2895600" cy="3124200"/>
            <a:chOff x="1088" y="2328"/>
            <a:chExt cx="880" cy="1296"/>
          </a:xfrm>
        </p:grpSpPr>
        <p:sp>
          <p:nvSpPr>
            <p:cNvPr id="94326" name="Oval 3"/>
            <p:cNvSpPr/>
            <p:nvPr/>
          </p:nvSpPr>
          <p:spPr>
            <a:xfrm>
              <a:off x="1544" y="2328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327" name="Oval 4"/>
            <p:cNvSpPr/>
            <p:nvPr/>
          </p:nvSpPr>
          <p:spPr>
            <a:xfrm>
              <a:off x="1288" y="2680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328" name="Oval 5"/>
            <p:cNvSpPr/>
            <p:nvPr/>
          </p:nvSpPr>
          <p:spPr>
            <a:xfrm>
              <a:off x="1560" y="3064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329" name="Oval 6"/>
            <p:cNvSpPr/>
            <p:nvPr/>
          </p:nvSpPr>
          <p:spPr>
            <a:xfrm>
              <a:off x="1776" y="2696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330" name="Oval 7"/>
            <p:cNvSpPr/>
            <p:nvPr/>
          </p:nvSpPr>
          <p:spPr>
            <a:xfrm>
              <a:off x="1088" y="3056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331" name="Oval 8"/>
            <p:cNvSpPr/>
            <p:nvPr/>
          </p:nvSpPr>
          <p:spPr>
            <a:xfrm>
              <a:off x="1336" y="3448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332" name="Line 9"/>
            <p:cNvSpPr/>
            <p:nvPr/>
          </p:nvSpPr>
          <p:spPr>
            <a:xfrm flipH="1">
              <a:off x="1424" y="2496"/>
              <a:ext cx="152" cy="2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3" name="Line 10"/>
            <p:cNvSpPr/>
            <p:nvPr/>
          </p:nvSpPr>
          <p:spPr>
            <a:xfrm flipH="1">
              <a:off x="1208" y="2856"/>
              <a:ext cx="120" cy="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4" name="Line 11"/>
            <p:cNvSpPr/>
            <p:nvPr/>
          </p:nvSpPr>
          <p:spPr>
            <a:xfrm>
              <a:off x="1688" y="2480"/>
              <a:ext cx="136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5" name="Line 12"/>
            <p:cNvSpPr/>
            <p:nvPr/>
          </p:nvSpPr>
          <p:spPr>
            <a:xfrm>
              <a:off x="1416" y="2832"/>
              <a:ext cx="176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6" name="Line 13"/>
            <p:cNvSpPr/>
            <p:nvPr/>
          </p:nvSpPr>
          <p:spPr>
            <a:xfrm flipH="1">
              <a:off x="1440" y="3224"/>
              <a:ext cx="160" cy="2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7" name="Oval 14"/>
            <p:cNvSpPr/>
            <p:nvPr/>
          </p:nvSpPr>
          <p:spPr>
            <a:xfrm>
              <a:off x="1808" y="3424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338" name="Line 15"/>
            <p:cNvSpPr/>
            <p:nvPr/>
          </p:nvSpPr>
          <p:spPr>
            <a:xfrm>
              <a:off x="1688" y="3216"/>
              <a:ext cx="184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39" name="Oval 16"/>
            <p:cNvSpPr/>
            <p:nvPr/>
          </p:nvSpPr>
          <p:spPr>
            <a:xfrm>
              <a:off x="1576" y="3440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4340" name="Line 17"/>
            <p:cNvSpPr/>
            <p:nvPr/>
          </p:nvSpPr>
          <p:spPr>
            <a:xfrm>
              <a:off x="1648" y="3232"/>
              <a:ext cx="0" cy="2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8"/>
          <p:cNvGrpSpPr/>
          <p:nvPr/>
        </p:nvGrpSpPr>
        <p:grpSpPr>
          <a:xfrm>
            <a:off x="4610100" y="723900"/>
            <a:ext cx="1460500" cy="928688"/>
            <a:chOff x="1936" y="2208"/>
            <a:chExt cx="920" cy="585"/>
          </a:xfrm>
        </p:grpSpPr>
        <p:sp>
          <p:nvSpPr>
            <p:cNvPr id="94316" name="Rectangle 19"/>
            <p:cNvSpPr/>
            <p:nvPr/>
          </p:nvSpPr>
          <p:spPr>
            <a:xfrm>
              <a:off x="2550" y="2544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317" name="Rectangle 20"/>
            <p:cNvSpPr/>
            <p:nvPr/>
          </p:nvSpPr>
          <p:spPr>
            <a:xfrm>
              <a:off x="2242" y="2544"/>
              <a:ext cx="3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dirty="0"/>
                <a:t>b</a:t>
              </a:r>
              <a:endParaRPr lang="en-US" altLang="zh-CN" sz="2000" dirty="0"/>
            </a:p>
          </p:txBody>
        </p:sp>
        <p:sp>
          <p:nvSpPr>
            <p:cNvPr id="94318" name="Rectangle 21"/>
            <p:cNvSpPr/>
            <p:nvPr/>
          </p:nvSpPr>
          <p:spPr>
            <a:xfrm>
              <a:off x="1936" y="2544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319" name="Line 22"/>
            <p:cNvSpPr/>
            <p:nvPr/>
          </p:nvSpPr>
          <p:spPr>
            <a:xfrm>
              <a:off x="1936" y="2544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0" name="Line 23"/>
            <p:cNvSpPr/>
            <p:nvPr/>
          </p:nvSpPr>
          <p:spPr>
            <a:xfrm>
              <a:off x="1936" y="2793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1" name="Line 24"/>
            <p:cNvSpPr/>
            <p:nvPr/>
          </p:nvSpPr>
          <p:spPr>
            <a:xfrm>
              <a:off x="1936" y="2544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2" name="Line 25"/>
            <p:cNvSpPr/>
            <p:nvPr/>
          </p:nvSpPr>
          <p:spPr>
            <a:xfrm>
              <a:off x="2242" y="2544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3" name="Line 26"/>
            <p:cNvSpPr/>
            <p:nvPr/>
          </p:nvSpPr>
          <p:spPr>
            <a:xfrm>
              <a:off x="2550" y="2544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4" name="Line 27"/>
            <p:cNvSpPr/>
            <p:nvPr/>
          </p:nvSpPr>
          <p:spPr>
            <a:xfrm>
              <a:off x="2856" y="2544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25" name="Line 28"/>
            <p:cNvSpPr/>
            <p:nvPr/>
          </p:nvSpPr>
          <p:spPr>
            <a:xfrm flipH="1">
              <a:off x="2400" y="2208"/>
              <a:ext cx="232" cy="344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29"/>
          <p:cNvGrpSpPr/>
          <p:nvPr/>
        </p:nvGrpSpPr>
        <p:grpSpPr>
          <a:xfrm>
            <a:off x="5499100" y="533400"/>
            <a:ext cx="1460500" cy="395288"/>
            <a:chOff x="3464" y="336"/>
            <a:chExt cx="920" cy="249"/>
          </a:xfrm>
        </p:grpSpPr>
        <p:sp>
          <p:nvSpPr>
            <p:cNvPr id="94307" name="Rectangle 30"/>
            <p:cNvSpPr/>
            <p:nvPr/>
          </p:nvSpPr>
          <p:spPr>
            <a:xfrm>
              <a:off x="4078" y="336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308" name="Rectangle 31"/>
            <p:cNvSpPr/>
            <p:nvPr/>
          </p:nvSpPr>
          <p:spPr>
            <a:xfrm>
              <a:off x="3770" y="336"/>
              <a:ext cx="3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dirty="0"/>
                <a:t>a</a:t>
              </a:r>
              <a:endParaRPr lang="en-US" altLang="zh-CN" sz="2000" dirty="0"/>
            </a:p>
          </p:txBody>
        </p:sp>
        <p:sp>
          <p:nvSpPr>
            <p:cNvPr id="94309" name="Rectangle 32"/>
            <p:cNvSpPr/>
            <p:nvPr/>
          </p:nvSpPr>
          <p:spPr>
            <a:xfrm>
              <a:off x="3464" y="336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310" name="Line 33"/>
            <p:cNvSpPr/>
            <p:nvPr/>
          </p:nvSpPr>
          <p:spPr>
            <a:xfrm>
              <a:off x="3464" y="336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11" name="Line 34"/>
            <p:cNvSpPr/>
            <p:nvPr/>
          </p:nvSpPr>
          <p:spPr>
            <a:xfrm>
              <a:off x="3464" y="585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12" name="Line 35"/>
            <p:cNvSpPr/>
            <p:nvPr/>
          </p:nvSpPr>
          <p:spPr>
            <a:xfrm>
              <a:off x="3464" y="33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13" name="Line 36"/>
            <p:cNvSpPr/>
            <p:nvPr/>
          </p:nvSpPr>
          <p:spPr>
            <a:xfrm>
              <a:off x="3770" y="336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14" name="Line 37"/>
            <p:cNvSpPr/>
            <p:nvPr/>
          </p:nvSpPr>
          <p:spPr>
            <a:xfrm>
              <a:off x="4078" y="336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15" name="Line 38"/>
            <p:cNvSpPr/>
            <p:nvPr/>
          </p:nvSpPr>
          <p:spPr>
            <a:xfrm>
              <a:off x="4384" y="336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39"/>
          <p:cNvGrpSpPr/>
          <p:nvPr/>
        </p:nvGrpSpPr>
        <p:grpSpPr>
          <a:xfrm>
            <a:off x="6629400" y="673100"/>
            <a:ext cx="165100" cy="139700"/>
            <a:chOff x="4152" y="424"/>
            <a:chExt cx="104" cy="88"/>
          </a:xfrm>
        </p:grpSpPr>
        <p:sp>
          <p:nvSpPr>
            <p:cNvPr id="94305" name="Line 40"/>
            <p:cNvSpPr/>
            <p:nvPr/>
          </p:nvSpPr>
          <p:spPr>
            <a:xfrm flipH="1">
              <a:off x="4152" y="424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06" name="Line 41"/>
            <p:cNvSpPr/>
            <p:nvPr/>
          </p:nvSpPr>
          <p:spPr>
            <a:xfrm>
              <a:off x="4208" y="432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42"/>
          <p:cNvGrpSpPr/>
          <p:nvPr/>
        </p:nvGrpSpPr>
        <p:grpSpPr>
          <a:xfrm>
            <a:off x="5803900" y="1257300"/>
            <a:ext cx="2184400" cy="406400"/>
            <a:chOff x="2688" y="2544"/>
            <a:chExt cx="1376" cy="256"/>
          </a:xfrm>
        </p:grpSpPr>
        <p:sp>
          <p:nvSpPr>
            <p:cNvPr id="94295" name="Rectangle 43"/>
            <p:cNvSpPr/>
            <p:nvPr/>
          </p:nvSpPr>
          <p:spPr>
            <a:xfrm>
              <a:off x="3758" y="2544"/>
              <a:ext cx="306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96" name="Rectangle 44"/>
            <p:cNvSpPr/>
            <p:nvPr/>
          </p:nvSpPr>
          <p:spPr>
            <a:xfrm>
              <a:off x="3450" y="2544"/>
              <a:ext cx="30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dirty="0"/>
                <a:t>c</a:t>
              </a:r>
              <a:endParaRPr lang="en-US" altLang="zh-CN" sz="2000" dirty="0"/>
            </a:p>
          </p:txBody>
        </p:sp>
        <p:sp>
          <p:nvSpPr>
            <p:cNvPr id="94297" name="Rectangle 45"/>
            <p:cNvSpPr/>
            <p:nvPr/>
          </p:nvSpPr>
          <p:spPr>
            <a:xfrm>
              <a:off x="3144" y="2544"/>
              <a:ext cx="306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98" name="Line 46"/>
            <p:cNvSpPr/>
            <p:nvPr/>
          </p:nvSpPr>
          <p:spPr>
            <a:xfrm>
              <a:off x="3144" y="2544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99" name="Line 47"/>
            <p:cNvSpPr/>
            <p:nvPr/>
          </p:nvSpPr>
          <p:spPr>
            <a:xfrm>
              <a:off x="3144" y="2800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00" name="Line 48"/>
            <p:cNvSpPr/>
            <p:nvPr/>
          </p:nvSpPr>
          <p:spPr>
            <a:xfrm>
              <a:off x="3144" y="2544"/>
              <a:ext cx="0" cy="25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01" name="Line 49"/>
            <p:cNvSpPr/>
            <p:nvPr/>
          </p:nvSpPr>
          <p:spPr>
            <a:xfrm>
              <a:off x="3450" y="2544"/>
              <a:ext cx="0" cy="2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02" name="Line 50"/>
            <p:cNvSpPr/>
            <p:nvPr/>
          </p:nvSpPr>
          <p:spPr>
            <a:xfrm>
              <a:off x="3758" y="2544"/>
              <a:ext cx="0" cy="2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03" name="Line 51"/>
            <p:cNvSpPr/>
            <p:nvPr/>
          </p:nvSpPr>
          <p:spPr>
            <a:xfrm>
              <a:off x="4064" y="2544"/>
              <a:ext cx="0" cy="25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304" name="Line 52"/>
            <p:cNvSpPr/>
            <p:nvPr/>
          </p:nvSpPr>
          <p:spPr>
            <a:xfrm>
              <a:off x="2688" y="2656"/>
              <a:ext cx="448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Group 53"/>
          <p:cNvGrpSpPr/>
          <p:nvPr/>
        </p:nvGrpSpPr>
        <p:grpSpPr>
          <a:xfrm>
            <a:off x="6718300" y="1358900"/>
            <a:ext cx="1054100" cy="165100"/>
            <a:chOff x="4248" y="856"/>
            <a:chExt cx="664" cy="104"/>
          </a:xfrm>
        </p:grpSpPr>
        <p:sp>
          <p:nvSpPr>
            <p:cNvPr id="94291" name="Line 54"/>
            <p:cNvSpPr/>
            <p:nvPr/>
          </p:nvSpPr>
          <p:spPr>
            <a:xfrm flipH="1">
              <a:off x="4248" y="872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92" name="Line 55"/>
            <p:cNvSpPr/>
            <p:nvPr/>
          </p:nvSpPr>
          <p:spPr>
            <a:xfrm>
              <a:off x="4304" y="880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93" name="Line 56"/>
            <p:cNvSpPr/>
            <p:nvPr/>
          </p:nvSpPr>
          <p:spPr>
            <a:xfrm flipH="1">
              <a:off x="4808" y="856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94" name="Line 57"/>
            <p:cNvSpPr/>
            <p:nvPr/>
          </p:nvSpPr>
          <p:spPr>
            <a:xfrm>
              <a:off x="4864" y="864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58"/>
          <p:cNvGrpSpPr/>
          <p:nvPr/>
        </p:nvGrpSpPr>
        <p:grpSpPr>
          <a:xfrm>
            <a:off x="4965700" y="2082800"/>
            <a:ext cx="1968500" cy="395288"/>
            <a:chOff x="2160" y="3064"/>
            <a:chExt cx="1240" cy="249"/>
          </a:xfrm>
        </p:grpSpPr>
        <p:sp>
          <p:nvSpPr>
            <p:cNvPr id="94279" name="Rectangle 59"/>
            <p:cNvSpPr/>
            <p:nvPr/>
          </p:nvSpPr>
          <p:spPr>
            <a:xfrm>
              <a:off x="3094" y="3064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80" name="Rectangle 60"/>
            <p:cNvSpPr/>
            <p:nvPr/>
          </p:nvSpPr>
          <p:spPr>
            <a:xfrm>
              <a:off x="2776" y="3064"/>
              <a:ext cx="31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dirty="0"/>
                <a:t>e</a:t>
              </a:r>
              <a:endParaRPr lang="en-US" altLang="zh-CN" sz="2000" dirty="0"/>
            </a:p>
          </p:txBody>
        </p:sp>
        <p:sp>
          <p:nvSpPr>
            <p:cNvPr id="94281" name="Rectangle 61"/>
            <p:cNvSpPr/>
            <p:nvPr/>
          </p:nvSpPr>
          <p:spPr>
            <a:xfrm>
              <a:off x="2480" y="3064"/>
              <a:ext cx="29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82" name="Line 62"/>
            <p:cNvSpPr/>
            <p:nvPr/>
          </p:nvSpPr>
          <p:spPr>
            <a:xfrm>
              <a:off x="2480" y="3064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83" name="Line 63"/>
            <p:cNvSpPr/>
            <p:nvPr/>
          </p:nvSpPr>
          <p:spPr>
            <a:xfrm>
              <a:off x="2480" y="3313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84" name="Line 64"/>
            <p:cNvSpPr/>
            <p:nvPr/>
          </p:nvSpPr>
          <p:spPr>
            <a:xfrm>
              <a:off x="2480" y="3064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85" name="Line 65"/>
            <p:cNvSpPr/>
            <p:nvPr/>
          </p:nvSpPr>
          <p:spPr>
            <a:xfrm>
              <a:off x="2776" y="3064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86" name="Line 66"/>
            <p:cNvSpPr/>
            <p:nvPr/>
          </p:nvSpPr>
          <p:spPr>
            <a:xfrm>
              <a:off x="3094" y="3064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87" name="Line 67"/>
            <p:cNvSpPr/>
            <p:nvPr/>
          </p:nvSpPr>
          <p:spPr>
            <a:xfrm>
              <a:off x="3400" y="3064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88" name="Line 68"/>
            <p:cNvSpPr/>
            <p:nvPr/>
          </p:nvSpPr>
          <p:spPr>
            <a:xfrm>
              <a:off x="2160" y="3208"/>
              <a:ext cx="304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4289" name="Line 69"/>
            <p:cNvSpPr/>
            <p:nvPr/>
          </p:nvSpPr>
          <p:spPr>
            <a:xfrm flipH="1">
              <a:off x="3176" y="3136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90" name="Line 70"/>
            <p:cNvSpPr/>
            <p:nvPr/>
          </p:nvSpPr>
          <p:spPr>
            <a:xfrm>
              <a:off x="3232" y="3144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71"/>
          <p:cNvGrpSpPr/>
          <p:nvPr/>
        </p:nvGrpSpPr>
        <p:grpSpPr>
          <a:xfrm>
            <a:off x="3746500" y="1473200"/>
            <a:ext cx="1460500" cy="1004888"/>
            <a:chOff x="2360" y="928"/>
            <a:chExt cx="920" cy="633"/>
          </a:xfrm>
        </p:grpSpPr>
        <p:sp>
          <p:nvSpPr>
            <p:cNvPr id="94269" name="Rectangle 72"/>
            <p:cNvSpPr/>
            <p:nvPr/>
          </p:nvSpPr>
          <p:spPr>
            <a:xfrm>
              <a:off x="2974" y="1312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70" name="Rectangle 73"/>
            <p:cNvSpPr/>
            <p:nvPr/>
          </p:nvSpPr>
          <p:spPr>
            <a:xfrm>
              <a:off x="2666" y="1312"/>
              <a:ext cx="3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dirty="0"/>
                <a:t>d</a:t>
              </a:r>
              <a:endParaRPr lang="en-US" altLang="zh-CN" sz="2000" dirty="0"/>
            </a:p>
          </p:txBody>
        </p:sp>
        <p:sp>
          <p:nvSpPr>
            <p:cNvPr id="94271" name="Rectangle 74"/>
            <p:cNvSpPr/>
            <p:nvPr/>
          </p:nvSpPr>
          <p:spPr>
            <a:xfrm>
              <a:off x="2360" y="1312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72" name="Line 75"/>
            <p:cNvSpPr/>
            <p:nvPr/>
          </p:nvSpPr>
          <p:spPr>
            <a:xfrm>
              <a:off x="2360" y="1312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3" name="Line 76"/>
            <p:cNvSpPr/>
            <p:nvPr/>
          </p:nvSpPr>
          <p:spPr>
            <a:xfrm>
              <a:off x="2360" y="1561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4" name="Line 77"/>
            <p:cNvSpPr/>
            <p:nvPr/>
          </p:nvSpPr>
          <p:spPr>
            <a:xfrm>
              <a:off x="2360" y="1312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5" name="Line 78"/>
            <p:cNvSpPr/>
            <p:nvPr/>
          </p:nvSpPr>
          <p:spPr>
            <a:xfrm>
              <a:off x="2666" y="1312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6" name="Line 79"/>
            <p:cNvSpPr/>
            <p:nvPr/>
          </p:nvSpPr>
          <p:spPr>
            <a:xfrm>
              <a:off x="2974" y="1312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7" name="Line 80"/>
            <p:cNvSpPr/>
            <p:nvPr/>
          </p:nvSpPr>
          <p:spPr>
            <a:xfrm>
              <a:off x="3280" y="1312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8" name="Line 81"/>
            <p:cNvSpPr/>
            <p:nvPr/>
          </p:nvSpPr>
          <p:spPr>
            <a:xfrm flipH="1">
              <a:off x="2816" y="928"/>
              <a:ext cx="256" cy="368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" name="Group 82"/>
          <p:cNvGrpSpPr/>
          <p:nvPr/>
        </p:nvGrpSpPr>
        <p:grpSpPr>
          <a:xfrm>
            <a:off x="3873500" y="2197100"/>
            <a:ext cx="165100" cy="139700"/>
            <a:chOff x="2456" y="1384"/>
            <a:chExt cx="104" cy="88"/>
          </a:xfrm>
        </p:grpSpPr>
        <p:sp>
          <p:nvSpPr>
            <p:cNvPr id="94267" name="Line 83"/>
            <p:cNvSpPr/>
            <p:nvPr/>
          </p:nvSpPr>
          <p:spPr>
            <a:xfrm flipH="1">
              <a:off x="2456" y="1384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8" name="Line 84"/>
            <p:cNvSpPr/>
            <p:nvPr/>
          </p:nvSpPr>
          <p:spPr>
            <a:xfrm>
              <a:off x="2512" y="1392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85"/>
          <p:cNvGrpSpPr/>
          <p:nvPr/>
        </p:nvGrpSpPr>
        <p:grpSpPr>
          <a:xfrm>
            <a:off x="4076700" y="2298700"/>
            <a:ext cx="1701800" cy="1004888"/>
            <a:chOff x="1600" y="3200"/>
            <a:chExt cx="1072" cy="633"/>
          </a:xfrm>
        </p:grpSpPr>
        <p:sp>
          <p:nvSpPr>
            <p:cNvPr id="94255" name="Rectangle 86"/>
            <p:cNvSpPr/>
            <p:nvPr/>
          </p:nvSpPr>
          <p:spPr>
            <a:xfrm>
              <a:off x="2214" y="3584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56" name="Rectangle 87"/>
            <p:cNvSpPr/>
            <p:nvPr/>
          </p:nvSpPr>
          <p:spPr>
            <a:xfrm>
              <a:off x="1906" y="3584"/>
              <a:ext cx="3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dirty="0"/>
                <a:t>f</a:t>
              </a:r>
              <a:endParaRPr lang="en-US" altLang="zh-CN" sz="2000" dirty="0"/>
            </a:p>
          </p:txBody>
        </p:sp>
        <p:sp>
          <p:nvSpPr>
            <p:cNvPr id="94257" name="Rectangle 88"/>
            <p:cNvSpPr/>
            <p:nvPr/>
          </p:nvSpPr>
          <p:spPr>
            <a:xfrm>
              <a:off x="1600" y="3584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58" name="Line 89"/>
            <p:cNvSpPr/>
            <p:nvPr/>
          </p:nvSpPr>
          <p:spPr>
            <a:xfrm>
              <a:off x="1600" y="3584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9" name="Line 90"/>
            <p:cNvSpPr/>
            <p:nvPr/>
          </p:nvSpPr>
          <p:spPr>
            <a:xfrm>
              <a:off x="1600" y="3833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0" name="Line 91"/>
            <p:cNvSpPr/>
            <p:nvPr/>
          </p:nvSpPr>
          <p:spPr>
            <a:xfrm>
              <a:off x="1600" y="3584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1" name="Line 92"/>
            <p:cNvSpPr/>
            <p:nvPr/>
          </p:nvSpPr>
          <p:spPr>
            <a:xfrm>
              <a:off x="1906" y="3584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2" name="Line 93"/>
            <p:cNvSpPr/>
            <p:nvPr/>
          </p:nvSpPr>
          <p:spPr>
            <a:xfrm>
              <a:off x="2214" y="3584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3" name="Line 94"/>
            <p:cNvSpPr/>
            <p:nvPr/>
          </p:nvSpPr>
          <p:spPr>
            <a:xfrm>
              <a:off x="2520" y="3584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4" name="Line 95"/>
            <p:cNvSpPr/>
            <p:nvPr/>
          </p:nvSpPr>
          <p:spPr>
            <a:xfrm flipH="1">
              <a:off x="2088" y="3200"/>
              <a:ext cx="584" cy="36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4265" name="Line 96"/>
            <p:cNvSpPr/>
            <p:nvPr/>
          </p:nvSpPr>
          <p:spPr>
            <a:xfrm flipH="1">
              <a:off x="1672" y="3648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66" name="Line 97"/>
            <p:cNvSpPr/>
            <p:nvPr/>
          </p:nvSpPr>
          <p:spPr>
            <a:xfrm>
              <a:off x="1728" y="3656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2" name="Group 98"/>
          <p:cNvGrpSpPr/>
          <p:nvPr/>
        </p:nvGrpSpPr>
        <p:grpSpPr>
          <a:xfrm>
            <a:off x="5219700" y="2908300"/>
            <a:ext cx="2044700" cy="395288"/>
            <a:chOff x="2320" y="3584"/>
            <a:chExt cx="1288" cy="249"/>
          </a:xfrm>
        </p:grpSpPr>
        <p:sp>
          <p:nvSpPr>
            <p:cNvPr id="94243" name="Rectangle 99"/>
            <p:cNvSpPr/>
            <p:nvPr/>
          </p:nvSpPr>
          <p:spPr>
            <a:xfrm>
              <a:off x="3302" y="3584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44" name="Rectangle 100"/>
            <p:cNvSpPr/>
            <p:nvPr/>
          </p:nvSpPr>
          <p:spPr>
            <a:xfrm>
              <a:off x="2994" y="3584"/>
              <a:ext cx="3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r>
                <a:rPr lang="en-US" altLang="zh-CN" sz="2000" dirty="0"/>
                <a:t>g</a:t>
              </a:r>
              <a:endParaRPr lang="en-US" altLang="zh-CN" sz="2000" dirty="0"/>
            </a:p>
          </p:txBody>
        </p:sp>
        <p:sp>
          <p:nvSpPr>
            <p:cNvPr id="94245" name="Rectangle 101"/>
            <p:cNvSpPr/>
            <p:nvPr/>
          </p:nvSpPr>
          <p:spPr>
            <a:xfrm>
              <a:off x="2688" y="3584"/>
              <a:ext cx="306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None/>
              </a:pPr>
              <a:endParaRPr lang="zh-CN" altLang="zh-CN" sz="2000" dirty="0"/>
            </a:p>
          </p:txBody>
        </p:sp>
        <p:sp>
          <p:nvSpPr>
            <p:cNvPr id="94246" name="Line 102"/>
            <p:cNvSpPr/>
            <p:nvPr/>
          </p:nvSpPr>
          <p:spPr>
            <a:xfrm>
              <a:off x="2688" y="3584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47" name="Line 103"/>
            <p:cNvSpPr/>
            <p:nvPr/>
          </p:nvSpPr>
          <p:spPr>
            <a:xfrm>
              <a:off x="2688" y="3833"/>
              <a:ext cx="92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48" name="Line 104"/>
            <p:cNvSpPr/>
            <p:nvPr/>
          </p:nvSpPr>
          <p:spPr>
            <a:xfrm>
              <a:off x="2688" y="3584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49" name="Line 105"/>
            <p:cNvSpPr/>
            <p:nvPr/>
          </p:nvSpPr>
          <p:spPr>
            <a:xfrm>
              <a:off x="2994" y="3584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0" name="Line 106"/>
            <p:cNvSpPr/>
            <p:nvPr/>
          </p:nvSpPr>
          <p:spPr>
            <a:xfrm>
              <a:off x="3302" y="3584"/>
              <a:ext cx="0" cy="24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1" name="Line 107"/>
            <p:cNvSpPr/>
            <p:nvPr/>
          </p:nvSpPr>
          <p:spPr>
            <a:xfrm>
              <a:off x="3608" y="3584"/>
              <a:ext cx="0" cy="24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2" name="Line 108"/>
            <p:cNvSpPr/>
            <p:nvPr/>
          </p:nvSpPr>
          <p:spPr>
            <a:xfrm>
              <a:off x="2320" y="3704"/>
              <a:ext cx="360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4253" name="Line 109"/>
            <p:cNvSpPr/>
            <p:nvPr/>
          </p:nvSpPr>
          <p:spPr>
            <a:xfrm flipH="1">
              <a:off x="2784" y="3656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54" name="Line 110"/>
            <p:cNvSpPr/>
            <p:nvPr/>
          </p:nvSpPr>
          <p:spPr>
            <a:xfrm>
              <a:off x="2840" y="3664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" name="Group 111"/>
          <p:cNvGrpSpPr/>
          <p:nvPr/>
        </p:nvGrpSpPr>
        <p:grpSpPr>
          <a:xfrm>
            <a:off x="6972300" y="2908300"/>
            <a:ext cx="2019300" cy="395288"/>
            <a:chOff x="3424" y="3584"/>
            <a:chExt cx="1272" cy="249"/>
          </a:xfrm>
        </p:grpSpPr>
        <p:grpSp>
          <p:nvGrpSpPr>
            <p:cNvPr id="94227" name="Group 112"/>
            <p:cNvGrpSpPr/>
            <p:nvPr/>
          </p:nvGrpSpPr>
          <p:grpSpPr>
            <a:xfrm>
              <a:off x="3424" y="3584"/>
              <a:ext cx="1272" cy="249"/>
              <a:chOff x="3424" y="3584"/>
              <a:chExt cx="1272" cy="249"/>
            </a:xfrm>
          </p:grpSpPr>
          <p:grpSp>
            <p:nvGrpSpPr>
              <p:cNvPr id="94232" name="Group 113"/>
              <p:cNvGrpSpPr/>
              <p:nvPr/>
            </p:nvGrpSpPr>
            <p:grpSpPr>
              <a:xfrm>
                <a:off x="3776" y="3584"/>
                <a:ext cx="920" cy="249"/>
                <a:chOff x="3776" y="3584"/>
                <a:chExt cx="920" cy="249"/>
              </a:xfrm>
            </p:grpSpPr>
            <p:sp>
              <p:nvSpPr>
                <p:cNvPr id="94234" name="Rectangle 114"/>
                <p:cNvSpPr/>
                <p:nvPr/>
              </p:nvSpPr>
              <p:spPr>
                <a:xfrm>
                  <a:off x="4390" y="3584"/>
                  <a:ext cx="306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None/>
                  </a:pPr>
                  <a:endParaRPr lang="zh-CN" altLang="zh-CN" sz="2000" dirty="0"/>
                </a:p>
              </p:txBody>
            </p:sp>
            <p:sp>
              <p:nvSpPr>
                <p:cNvPr id="94235" name="Rectangle 115"/>
                <p:cNvSpPr/>
                <p:nvPr/>
              </p:nvSpPr>
              <p:spPr>
                <a:xfrm>
                  <a:off x="4082" y="3584"/>
                  <a:ext cx="308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None/>
                  </a:pPr>
                  <a:r>
                    <a:rPr lang="en-US" altLang="zh-CN" sz="2000" dirty="0"/>
                    <a:t>h</a:t>
                  </a:r>
                  <a:endParaRPr lang="en-US" altLang="zh-CN" sz="2000" dirty="0"/>
                </a:p>
              </p:txBody>
            </p:sp>
            <p:sp>
              <p:nvSpPr>
                <p:cNvPr id="94236" name="Rectangle 116"/>
                <p:cNvSpPr/>
                <p:nvPr/>
              </p:nvSpPr>
              <p:spPr>
                <a:xfrm>
                  <a:off x="3776" y="3584"/>
                  <a:ext cx="306" cy="2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None/>
                  </a:pPr>
                  <a:endParaRPr lang="zh-CN" altLang="zh-CN" sz="2000" dirty="0"/>
                </a:p>
              </p:txBody>
            </p:sp>
            <p:sp>
              <p:nvSpPr>
                <p:cNvPr id="94237" name="Line 117"/>
                <p:cNvSpPr/>
                <p:nvPr/>
              </p:nvSpPr>
              <p:spPr>
                <a:xfrm>
                  <a:off x="3776" y="3584"/>
                  <a:ext cx="920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238" name="Line 118"/>
                <p:cNvSpPr/>
                <p:nvPr/>
              </p:nvSpPr>
              <p:spPr>
                <a:xfrm>
                  <a:off x="3776" y="3833"/>
                  <a:ext cx="920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239" name="Line 119"/>
                <p:cNvSpPr/>
                <p:nvPr/>
              </p:nvSpPr>
              <p:spPr>
                <a:xfrm>
                  <a:off x="3776" y="3584"/>
                  <a:ext cx="0" cy="249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240" name="Line 120"/>
                <p:cNvSpPr/>
                <p:nvPr/>
              </p:nvSpPr>
              <p:spPr>
                <a:xfrm>
                  <a:off x="4082" y="3584"/>
                  <a:ext cx="0" cy="24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241" name="Line 121"/>
                <p:cNvSpPr/>
                <p:nvPr/>
              </p:nvSpPr>
              <p:spPr>
                <a:xfrm>
                  <a:off x="4390" y="3584"/>
                  <a:ext cx="0" cy="24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242" name="Line 122"/>
                <p:cNvSpPr/>
                <p:nvPr/>
              </p:nvSpPr>
              <p:spPr>
                <a:xfrm>
                  <a:off x="4696" y="3584"/>
                  <a:ext cx="0" cy="249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4233" name="Line 123"/>
              <p:cNvSpPr/>
              <p:nvPr/>
            </p:nvSpPr>
            <p:spPr>
              <a:xfrm>
                <a:off x="3424" y="3704"/>
                <a:ext cx="352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4228" name="Line 124"/>
            <p:cNvSpPr/>
            <p:nvPr/>
          </p:nvSpPr>
          <p:spPr>
            <a:xfrm flipH="1">
              <a:off x="3864" y="3648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29" name="Line 125"/>
            <p:cNvSpPr/>
            <p:nvPr/>
          </p:nvSpPr>
          <p:spPr>
            <a:xfrm>
              <a:off x="3920" y="3656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30" name="Line 126"/>
            <p:cNvSpPr/>
            <p:nvPr/>
          </p:nvSpPr>
          <p:spPr>
            <a:xfrm flipH="1">
              <a:off x="4480" y="3640"/>
              <a:ext cx="56" cy="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31" name="Line 127"/>
            <p:cNvSpPr/>
            <p:nvPr/>
          </p:nvSpPr>
          <p:spPr>
            <a:xfrm>
              <a:off x="4536" y="3648"/>
              <a:ext cx="48" cy="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15520" name="Rectangle 128"/>
          <p:cNvSpPr>
            <a:spLocks noChangeArrowheads="1"/>
          </p:cNvSpPr>
          <p:nvPr/>
        </p:nvSpPr>
        <p:spPr bwMode="auto">
          <a:xfrm>
            <a:off x="381000" y="3962400"/>
            <a:ext cx="7772400" cy="1920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857250" marR="0" lvl="0" indent="-8572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问：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树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转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二叉树的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“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连线</a:t>
            </a:r>
            <a:r>
              <a:rPr kumimoji="1" lang="en-US" altLang="zh-CN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—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抹线</a:t>
            </a:r>
            <a:r>
              <a:rPr kumimoji="1" lang="en-US" altLang="zh-CN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—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旋转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”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如何由计算机自动实现？</a:t>
            </a: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57250" marR="0" lvl="0" indent="-8572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答：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用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“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左孩子右兄弟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  <a:cs typeface="+mn-cs"/>
              </a:rPr>
              <a:t>”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表示法来存储即可。</a:t>
            </a: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857250" marR="0" lvl="0" indent="-8572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1" lang="zh-CN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存储的过程就是转换的过程！</a:t>
            </a:r>
            <a:endParaRPr kumimoji="1" lang="zh-CN" altLang="en-US" sz="30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315521" name="AutoShape 129">
            <a:hlinkClick r:id="rId1" action="ppaction://hlinksldjump"/>
          </p:cNvPr>
          <p:cNvSpPr/>
          <p:nvPr/>
        </p:nvSpPr>
        <p:spPr>
          <a:xfrm flipH="1"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4225" name="Rectangle 130"/>
          <p:cNvSpPr>
            <a:spLocks noGrp="1"/>
          </p:cNvSpPr>
          <p:nvPr>
            <p:ph type="title"/>
          </p:nvPr>
        </p:nvSpPr>
        <p:spPr>
          <a:xfrm>
            <a:off x="0" y="0"/>
            <a:ext cx="12954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315523" name="AutoShape 131"/>
          <p:cNvSpPr/>
          <p:nvPr/>
        </p:nvSpPr>
        <p:spPr>
          <a:xfrm>
            <a:off x="3048000" y="914400"/>
            <a:ext cx="990600" cy="482600"/>
          </a:xfrm>
          <a:prstGeom prst="leftRightArrow">
            <a:avLst>
              <a:gd name="adj1" fmla="val 50000"/>
              <a:gd name="adj2" fmla="val 4105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2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31552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20">
                                            <p:txEl>
                                              <p:charRg st="3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315520">
                                            <p:txEl>
                                              <p:charRg st="31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520">
                                            <p:txEl>
                                              <p:charRg st="52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315520">
                                            <p:txEl>
                                              <p:charRg st="52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520" grpId="0" build="p"/>
      <p:bldP spid="315521" grpId="0" animBg="1"/>
      <p:bldP spid="3155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5235" name="Text Box 2"/>
          <p:cNvSpPr txBox="1"/>
          <p:nvPr/>
        </p:nvSpPr>
        <p:spPr>
          <a:xfrm>
            <a:off x="1430338" y="152400"/>
            <a:ext cx="5878512" cy="646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990033"/>
                </a:solidFill>
                <a:latin typeface="Times New Roman" panose="02020603050405020304" pitchFamily="18" charset="0"/>
                <a:ea typeface="楷体_GB2312"/>
              </a:rPr>
              <a:t>树的遍历可有三条搜索路径</a:t>
            </a:r>
            <a:r>
              <a:rPr lang="en-US" altLang="zh-CN" sz="3600" b="1" dirty="0">
                <a:solidFill>
                  <a:srgbClr val="990033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5" name="Text Box 3"/>
          <p:cNvSpPr txBox="1"/>
          <p:nvPr/>
        </p:nvSpPr>
        <p:spPr>
          <a:xfrm>
            <a:off x="457200" y="4784725"/>
            <a:ext cx="3048000" cy="584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按层次遍历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b="1" dirty="0">
              <a:solidFill>
                <a:srgbClr val="CC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 Box 4"/>
          <p:cNvSpPr txBox="1"/>
          <p:nvPr/>
        </p:nvSpPr>
        <p:spPr>
          <a:xfrm>
            <a:off x="457200" y="914400"/>
            <a:ext cx="3886200" cy="584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先根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次序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遍历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dirty="0">
              <a:solidFill>
                <a:schemeClr val="bg2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7" name="Text Box 5"/>
          <p:cNvSpPr txBox="1"/>
          <p:nvPr/>
        </p:nvSpPr>
        <p:spPr>
          <a:xfrm>
            <a:off x="457200" y="2895600"/>
            <a:ext cx="3810000" cy="584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后根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(</a:t>
            </a: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次序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)</a:t>
            </a:r>
            <a:r>
              <a:rPr lang="zh-CN" altLang="en-US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遍历</a:t>
            </a:r>
            <a:r>
              <a:rPr lang="en-US" altLang="zh-CN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</a:rPr>
              <a:t>:</a:t>
            </a:r>
            <a:endParaRPr lang="en-US" altLang="zh-CN" b="1" dirty="0">
              <a:solidFill>
                <a:srgbClr val="CC66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900113" y="1484313"/>
            <a:ext cx="4608512" cy="13795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6600"/>
                </a:solidFill>
                <a:latin typeface="Times New Roman" panose="02020603050405020304" pitchFamily="18" charset="0"/>
                <a:ea typeface="楷体_GB2312"/>
              </a:rPr>
              <a:t>若树不空，则先访问根结点，然后依次先根遍历各棵子树。</a:t>
            </a:r>
            <a:endParaRPr lang="en-US" altLang="zh-CN" sz="2800" b="1" dirty="0">
              <a:solidFill>
                <a:srgbClr val="CC66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030A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先根遍历结果：</a:t>
            </a:r>
            <a:r>
              <a:rPr lang="en-US" altLang="zh-CN" sz="2000" dirty="0">
                <a:solidFill>
                  <a:srgbClr val="7030A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a   b  d  e  f  g   h  c </a:t>
            </a:r>
            <a:endParaRPr lang="zh-CN" altLang="en-US" sz="2000" dirty="0">
              <a:solidFill>
                <a:srgbClr val="7030A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900113" y="3429000"/>
            <a:ext cx="4895850" cy="13795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6600"/>
                </a:solidFill>
                <a:latin typeface="Times New Roman" panose="02020603050405020304" pitchFamily="18" charset="0"/>
                <a:ea typeface="楷体_GB2312"/>
              </a:rPr>
              <a:t>若树不空，则先依次后根遍历各棵子树，然后访问根结点。</a:t>
            </a:r>
            <a:endParaRPr lang="en-US" altLang="zh-CN" sz="2800" b="1" dirty="0">
              <a:solidFill>
                <a:srgbClr val="CC66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7030A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后根遍历结果：</a:t>
            </a:r>
            <a:r>
              <a:rPr lang="en-US" altLang="zh-CN" sz="2000" dirty="0">
                <a:solidFill>
                  <a:srgbClr val="7030A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d  f  g  h  e  b   c  a </a:t>
            </a:r>
            <a:endParaRPr lang="zh-CN" altLang="en-US" sz="2000" dirty="0">
              <a:solidFill>
                <a:srgbClr val="7030A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0" name="Rectangle 8"/>
          <p:cNvSpPr/>
          <p:nvPr/>
        </p:nvSpPr>
        <p:spPr>
          <a:xfrm>
            <a:off x="971550" y="5300663"/>
            <a:ext cx="4537075" cy="10414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CC6600"/>
                </a:solidFill>
                <a:latin typeface="Times New Roman" panose="02020603050405020304" pitchFamily="18" charset="0"/>
                <a:ea typeface="楷体_GB2312"/>
              </a:rPr>
              <a:t>若树不空，则自上而下自左至右访问树中每个结点。</a:t>
            </a:r>
            <a:endParaRPr lang="zh-CN" altLang="en-US" sz="2800" b="1" dirty="0">
              <a:solidFill>
                <a:srgbClr val="CC66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grpSp>
        <p:nvGrpSpPr>
          <p:cNvPr id="95242" name="Group 2"/>
          <p:cNvGrpSpPr/>
          <p:nvPr/>
        </p:nvGrpSpPr>
        <p:grpSpPr>
          <a:xfrm>
            <a:off x="6443663" y="836613"/>
            <a:ext cx="1800225" cy="2087562"/>
            <a:chOff x="1088" y="2328"/>
            <a:chExt cx="880" cy="1296"/>
          </a:xfrm>
        </p:grpSpPr>
        <p:sp>
          <p:nvSpPr>
            <p:cNvPr id="95260" name="Oval 3"/>
            <p:cNvSpPr/>
            <p:nvPr/>
          </p:nvSpPr>
          <p:spPr>
            <a:xfrm>
              <a:off x="1544" y="2328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61" name="Oval 4"/>
            <p:cNvSpPr/>
            <p:nvPr/>
          </p:nvSpPr>
          <p:spPr>
            <a:xfrm>
              <a:off x="1288" y="2680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62" name="Oval 5"/>
            <p:cNvSpPr/>
            <p:nvPr/>
          </p:nvSpPr>
          <p:spPr>
            <a:xfrm>
              <a:off x="1560" y="3064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63" name="Oval 6"/>
            <p:cNvSpPr/>
            <p:nvPr/>
          </p:nvSpPr>
          <p:spPr>
            <a:xfrm>
              <a:off x="1776" y="2696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64" name="Oval 7"/>
            <p:cNvSpPr/>
            <p:nvPr/>
          </p:nvSpPr>
          <p:spPr>
            <a:xfrm>
              <a:off x="1088" y="3056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65" name="Oval 8"/>
            <p:cNvSpPr/>
            <p:nvPr/>
          </p:nvSpPr>
          <p:spPr>
            <a:xfrm>
              <a:off x="1336" y="3448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66" name="Line 9"/>
            <p:cNvSpPr/>
            <p:nvPr/>
          </p:nvSpPr>
          <p:spPr>
            <a:xfrm flipH="1">
              <a:off x="1424" y="2496"/>
              <a:ext cx="152" cy="2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67" name="Line 10"/>
            <p:cNvSpPr/>
            <p:nvPr/>
          </p:nvSpPr>
          <p:spPr>
            <a:xfrm flipH="1">
              <a:off x="1208" y="2856"/>
              <a:ext cx="120" cy="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68" name="Line 11"/>
            <p:cNvSpPr/>
            <p:nvPr/>
          </p:nvSpPr>
          <p:spPr>
            <a:xfrm>
              <a:off x="1688" y="2480"/>
              <a:ext cx="136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69" name="Line 12"/>
            <p:cNvSpPr/>
            <p:nvPr/>
          </p:nvSpPr>
          <p:spPr>
            <a:xfrm>
              <a:off x="1416" y="2832"/>
              <a:ext cx="176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70" name="Line 13"/>
            <p:cNvSpPr/>
            <p:nvPr/>
          </p:nvSpPr>
          <p:spPr>
            <a:xfrm flipH="1">
              <a:off x="1440" y="3224"/>
              <a:ext cx="160" cy="2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71" name="Oval 14"/>
            <p:cNvSpPr/>
            <p:nvPr/>
          </p:nvSpPr>
          <p:spPr>
            <a:xfrm>
              <a:off x="1808" y="3424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72" name="Line 15"/>
            <p:cNvSpPr/>
            <p:nvPr/>
          </p:nvSpPr>
          <p:spPr>
            <a:xfrm>
              <a:off x="1688" y="3216"/>
              <a:ext cx="184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73" name="Oval 16"/>
            <p:cNvSpPr/>
            <p:nvPr/>
          </p:nvSpPr>
          <p:spPr>
            <a:xfrm>
              <a:off x="1576" y="3440"/>
              <a:ext cx="160" cy="17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74" name="Line 17"/>
            <p:cNvSpPr/>
            <p:nvPr/>
          </p:nvSpPr>
          <p:spPr>
            <a:xfrm>
              <a:off x="1648" y="3232"/>
              <a:ext cx="0" cy="2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46"/>
          <p:cNvGrpSpPr/>
          <p:nvPr/>
        </p:nvGrpSpPr>
        <p:grpSpPr>
          <a:xfrm>
            <a:off x="5940425" y="3141663"/>
            <a:ext cx="1439863" cy="2519362"/>
            <a:chOff x="1392" y="1008"/>
            <a:chExt cx="1642" cy="2736"/>
          </a:xfrm>
        </p:grpSpPr>
        <p:sp>
          <p:nvSpPr>
            <p:cNvPr id="95245" name="Oval 47"/>
            <p:cNvSpPr/>
            <p:nvPr/>
          </p:nvSpPr>
          <p:spPr>
            <a:xfrm>
              <a:off x="2596" y="1008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46" name="Oval 48"/>
            <p:cNvSpPr/>
            <p:nvPr/>
          </p:nvSpPr>
          <p:spPr>
            <a:xfrm>
              <a:off x="1921" y="1548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47" name="Oval 49"/>
            <p:cNvSpPr/>
            <p:nvPr/>
          </p:nvSpPr>
          <p:spPr>
            <a:xfrm>
              <a:off x="2104" y="2468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48" name="Oval 51"/>
            <p:cNvSpPr/>
            <p:nvPr/>
          </p:nvSpPr>
          <p:spPr>
            <a:xfrm>
              <a:off x="1392" y="2100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49" name="Oval 52"/>
            <p:cNvSpPr/>
            <p:nvPr/>
          </p:nvSpPr>
          <p:spPr>
            <a:xfrm>
              <a:off x="1593" y="2971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50" name="Line 53"/>
            <p:cNvSpPr/>
            <p:nvPr/>
          </p:nvSpPr>
          <p:spPr>
            <a:xfrm flipH="1">
              <a:off x="2213" y="1266"/>
              <a:ext cx="456" cy="2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51" name="Line 54"/>
            <p:cNvSpPr/>
            <p:nvPr/>
          </p:nvSpPr>
          <p:spPr>
            <a:xfrm flipH="1">
              <a:off x="1666" y="1793"/>
              <a:ext cx="273" cy="3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52" name="Line 55"/>
            <p:cNvSpPr/>
            <p:nvPr/>
          </p:nvSpPr>
          <p:spPr>
            <a:xfrm flipH="1">
              <a:off x="1866" y="2701"/>
              <a:ext cx="311" cy="28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53" name="Oval 56"/>
            <p:cNvSpPr/>
            <p:nvPr/>
          </p:nvSpPr>
          <p:spPr>
            <a:xfrm>
              <a:off x="2669" y="3474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h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54" name="Oval 57"/>
            <p:cNvSpPr/>
            <p:nvPr/>
          </p:nvSpPr>
          <p:spPr>
            <a:xfrm>
              <a:off x="2122" y="3216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55" name="Oval 58"/>
            <p:cNvSpPr/>
            <p:nvPr/>
          </p:nvSpPr>
          <p:spPr>
            <a:xfrm>
              <a:off x="2615" y="2002"/>
              <a:ext cx="365" cy="27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5256" name="Line 59"/>
            <p:cNvSpPr/>
            <p:nvPr/>
          </p:nvSpPr>
          <p:spPr>
            <a:xfrm>
              <a:off x="2268" y="1793"/>
              <a:ext cx="420" cy="246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57" name="Line 61"/>
            <p:cNvSpPr/>
            <p:nvPr/>
          </p:nvSpPr>
          <p:spPr>
            <a:xfrm>
              <a:off x="1775" y="2296"/>
              <a:ext cx="347" cy="233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58" name="Line 62"/>
            <p:cNvSpPr/>
            <p:nvPr/>
          </p:nvSpPr>
          <p:spPr>
            <a:xfrm>
              <a:off x="1976" y="3155"/>
              <a:ext cx="164" cy="111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59" name="Line 63"/>
            <p:cNvSpPr/>
            <p:nvPr/>
          </p:nvSpPr>
          <p:spPr>
            <a:xfrm>
              <a:off x="2487" y="3425"/>
              <a:ext cx="182" cy="110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4" name="TextBox 43"/>
          <p:cNvSpPr txBox="1"/>
          <p:nvPr/>
        </p:nvSpPr>
        <p:spPr>
          <a:xfrm>
            <a:off x="4822825" y="5805488"/>
            <a:ext cx="432117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先序遍历结果：</a:t>
            </a:r>
            <a:r>
              <a:rPr lang="en-US" altLang="zh-CN" sz="20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a   b  d  e  f  g   h  c</a:t>
            </a:r>
            <a:endParaRPr lang="en-US" altLang="zh-CN" sz="2000" dirty="0">
              <a:solidFill>
                <a:srgbClr val="FF000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中序遍历结果：</a:t>
            </a:r>
            <a:r>
              <a:rPr lang="en-US" altLang="zh-CN" sz="20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d  f  g  h  e  b   c  a </a:t>
            </a:r>
            <a:endParaRPr lang="zh-CN" altLang="en-US" sz="2000" dirty="0">
              <a:solidFill>
                <a:srgbClr val="FF000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4">
                                            <p:txEl>
                                              <p:charRg st="0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charRg st="32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4">
                                            <p:txEl>
                                              <p:charRg st="32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44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6418" name="Rectangle 2"/>
          <p:cNvSpPr/>
          <p:nvPr/>
        </p:nvSpPr>
        <p:spPr>
          <a:xfrm>
            <a:off x="395288" y="1196975"/>
            <a:ext cx="7200900" cy="54006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先序遍历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ea typeface="楷体_GB2312"/>
              </a:rPr>
              <a:t>若森林为空，返回；</a:t>
            </a:r>
            <a:endParaRPr lang="zh-CN" altLang="en-US" sz="2400" b="1" dirty="0"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ea typeface="楷体_GB2312"/>
              </a:rPr>
              <a:t>访问森林中第一棵树的根结点；</a:t>
            </a:r>
            <a:endParaRPr lang="zh-CN" altLang="en-US" sz="2400" b="1" dirty="0"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ea typeface="楷体_GB2312"/>
              </a:rPr>
              <a:t>先序遍历第一棵树中根结点的子树森林；</a:t>
            </a:r>
            <a:endParaRPr lang="zh-CN" altLang="en-US" sz="2400" b="1" dirty="0"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ea typeface="楷体_GB2312"/>
              </a:rPr>
              <a:t>先序遍历除去第一棵树之后剩余的树构成的森林。</a:t>
            </a:r>
            <a:endParaRPr lang="en-US" altLang="zh-CN" sz="2400" b="1" dirty="0"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1800" b="1" dirty="0">
                <a:solidFill>
                  <a:srgbClr val="FF0000"/>
                </a:solidFill>
                <a:ea typeface="楷体_GB2312"/>
              </a:rPr>
              <a:t>先序遍历结果：</a:t>
            </a:r>
            <a:r>
              <a:rPr lang="en-US" altLang="zh-CN" sz="1800" b="1" dirty="0">
                <a:solidFill>
                  <a:srgbClr val="FF0000"/>
                </a:solidFill>
                <a:ea typeface="楷体_GB2312"/>
              </a:rPr>
              <a:t>A B C D E F G H I J</a:t>
            </a:r>
            <a:endParaRPr lang="zh-TW" altLang="en-US" sz="1800" b="1" dirty="0">
              <a:solidFill>
                <a:srgbClr val="FF0000"/>
              </a:solidFill>
              <a:ea typeface="楷体_GB2312"/>
            </a:endParaRPr>
          </a:p>
          <a:p>
            <a:pPr marL="342900" lvl="0" indent="-342900" eaLnBrk="1" hangingPunct="1"/>
            <a:r>
              <a:rPr lang="zh-CN" altLang="en-US" sz="2800" b="1" dirty="0">
                <a:solidFill>
                  <a:schemeClr val="accent1"/>
                </a:solidFill>
                <a:ea typeface="楷体_GB2312"/>
              </a:rPr>
              <a:t>中序遍历</a:t>
            </a:r>
            <a:endParaRPr lang="zh-CN" altLang="en-US" sz="2800" b="1" dirty="0">
              <a:solidFill>
                <a:schemeClr val="accent1"/>
              </a:solidFill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ea typeface="楷体_GB2312"/>
              </a:rPr>
              <a:t>若森林为空，返回；</a:t>
            </a:r>
            <a:endParaRPr lang="zh-CN" altLang="en-US" sz="2400" b="1" dirty="0"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ea typeface="楷体_GB2312"/>
              </a:rPr>
              <a:t>中序遍历森林中第一棵树的根结点的子树森林；</a:t>
            </a:r>
            <a:endParaRPr lang="zh-CN" altLang="en-US" sz="2400" b="1" dirty="0"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ea typeface="楷体_GB2312"/>
              </a:rPr>
              <a:t>访问第一棵树的根结点；</a:t>
            </a:r>
            <a:endParaRPr lang="zh-TW" altLang="en-US" sz="2400" b="1" dirty="0"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ea typeface="楷体_GB2312"/>
              </a:rPr>
              <a:t>中序遍历除去第一棵树之后剩余的树构成的森林。</a:t>
            </a:r>
            <a:endParaRPr lang="en-US" altLang="zh-CN" sz="2400" b="1" dirty="0"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r>
              <a:rPr lang="zh-CN" altLang="en-US" sz="1800" b="1" dirty="0">
                <a:solidFill>
                  <a:srgbClr val="FF0000"/>
                </a:solidFill>
                <a:ea typeface="楷体_GB2312"/>
              </a:rPr>
              <a:t>中序遍历结果：</a:t>
            </a:r>
            <a:r>
              <a:rPr lang="en-US" altLang="zh-CN" sz="1800" b="1" dirty="0">
                <a:solidFill>
                  <a:srgbClr val="FF0000"/>
                </a:solidFill>
                <a:ea typeface="楷体_GB2312"/>
              </a:rPr>
              <a:t> B C D A F  E H J I G</a:t>
            </a:r>
            <a:endParaRPr lang="zh-TW" altLang="en-US" sz="1800" b="1" dirty="0">
              <a:solidFill>
                <a:srgbClr val="FF0000"/>
              </a:solidFill>
              <a:ea typeface="楷体_GB2312"/>
            </a:endParaRPr>
          </a:p>
          <a:p>
            <a:pPr marL="342900" lvl="0" indent="-342900" eaLnBrk="1" hangingPunct="1">
              <a:buClr>
                <a:schemeClr val="accent2"/>
              </a:buClr>
              <a:buFont typeface="Wingdings" panose="05000000000000000000" pitchFamily="2" charset="2"/>
              <a:buChar char="F"/>
            </a:pPr>
            <a:endParaRPr lang="zh-CN" altLang="en-US" sz="2400" b="1" dirty="0">
              <a:ea typeface="楷体_GB2312"/>
            </a:endParaRPr>
          </a:p>
        </p:txBody>
      </p:sp>
      <p:sp>
        <p:nvSpPr>
          <p:cNvPr id="316419" name="Rectangle 3"/>
          <p:cNvSpPr>
            <a:spLocks noGrp="1"/>
          </p:cNvSpPr>
          <p:nvPr>
            <p:ph type="title"/>
          </p:nvPr>
        </p:nvSpPr>
        <p:spPr>
          <a:xfrm>
            <a:off x="250825" y="260350"/>
            <a:ext cx="2590800" cy="4572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森林的遍历</a:t>
            </a:r>
            <a:endParaRPr lang="zh-CN" altLang="en-US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484438" y="260350"/>
            <a:ext cx="3175000" cy="1638300"/>
            <a:chOff x="728" y="768"/>
            <a:chExt cx="2000" cy="1032"/>
          </a:xfrm>
        </p:grpSpPr>
        <p:grpSp>
          <p:nvGrpSpPr>
            <p:cNvPr id="97307" name="Group 5"/>
            <p:cNvGrpSpPr/>
            <p:nvPr/>
          </p:nvGrpSpPr>
          <p:grpSpPr>
            <a:xfrm>
              <a:off x="728" y="768"/>
              <a:ext cx="880" cy="624"/>
              <a:chOff x="536" y="2184"/>
              <a:chExt cx="880" cy="624"/>
            </a:xfrm>
          </p:grpSpPr>
          <p:sp>
            <p:nvSpPr>
              <p:cNvPr id="97320" name="Oval 6"/>
              <p:cNvSpPr/>
              <p:nvPr/>
            </p:nvSpPr>
            <p:spPr>
              <a:xfrm>
                <a:off x="880" y="2184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21" name="Oval 7"/>
              <p:cNvSpPr/>
              <p:nvPr/>
            </p:nvSpPr>
            <p:spPr>
              <a:xfrm>
                <a:off x="536" y="2584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22" name="Oval 8"/>
              <p:cNvSpPr/>
              <p:nvPr/>
            </p:nvSpPr>
            <p:spPr>
              <a:xfrm>
                <a:off x="880" y="2592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C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23" name="Oval 9"/>
              <p:cNvSpPr/>
              <p:nvPr/>
            </p:nvSpPr>
            <p:spPr>
              <a:xfrm>
                <a:off x="1208" y="2600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D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24" name="Line 10"/>
              <p:cNvSpPr/>
              <p:nvPr/>
            </p:nvSpPr>
            <p:spPr>
              <a:xfrm>
                <a:off x="984" y="2392"/>
                <a:ext cx="0" cy="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7325" name="Line 11"/>
              <p:cNvSpPr/>
              <p:nvPr/>
            </p:nvSpPr>
            <p:spPr>
              <a:xfrm flipH="1">
                <a:off x="712" y="2360"/>
                <a:ext cx="20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7326" name="Line 12"/>
              <p:cNvSpPr/>
              <p:nvPr/>
            </p:nvSpPr>
            <p:spPr>
              <a:xfrm>
                <a:off x="1064" y="2352"/>
                <a:ext cx="200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97308" name="Group 13"/>
            <p:cNvGrpSpPr/>
            <p:nvPr/>
          </p:nvGrpSpPr>
          <p:grpSpPr>
            <a:xfrm>
              <a:off x="1720" y="784"/>
              <a:ext cx="208" cy="616"/>
              <a:chOff x="1528" y="2200"/>
              <a:chExt cx="208" cy="616"/>
            </a:xfrm>
          </p:grpSpPr>
          <p:sp>
            <p:nvSpPr>
              <p:cNvPr id="97317" name="Oval 14"/>
              <p:cNvSpPr/>
              <p:nvPr/>
            </p:nvSpPr>
            <p:spPr>
              <a:xfrm>
                <a:off x="1528" y="2200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E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18" name="Oval 15"/>
              <p:cNvSpPr/>
              <p:nvPr/>
            </p:nvSpPr>
            <p:spPr>
              <a:xfrm>
                <a:off x="1528" y="2608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F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19" name="Line 16"/>
              <p:cNvSpPr/>
              <p:nvPr/>
            </p:nvSpPr>
            <p:spPr>
              <a:xfrm>
                <a:off x="1632" y="2408"/>
                <a:ext cx="0" cy="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97309" name="Group 17"/>
            <p:cNvGrpSpPr/>
            <p:nvPr/>
          </p:nvGrpSpPr>
          <p:grpSpPr>
            <a:xfrm>
              <a:off x="2040" y="768"/>
              <a:ext cx="688" cy="1032"/>
              <a:chOff x="1848" y="2184"/>
              <a:chExt cx="688" cy="1032"/>
            </a:xfrm>
          </p:grpSpPr>
          <p:sp>
            <p:nvSpPr>
              <p:cNvPr id="97310" name="Oval 18"/>
              <p:cNvSpPr/>
              <p:nvPr/>
            </p:nvSpPr>
            <p:spPr>
              <a:xfrm>
                <a:off x="2088" y="2184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G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11" name="Oval 19"/>
              <p:cNvSpPr/>
              <p:nvPr/>
            </p:nvSpPr>
            <p:spPr>
              <a:xfrm>
                <a:off x="1848" y="2584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H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12" name="Oval 20"/>
              <p:cNvSpPr/>
              <p:nvPr/>
            </p:nvSpPr>
            <p:spPr>
              <a:xfrm>
                <a:off x="2328" y="3008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J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13" name="Oval 21"/>
              <p:cNvSpPr/>
              <p:nvPr/>
            </p:nvSpPr>
            <p:spPr>
              <a:xfrm>
                <a:off x="2320" y="2600"/>
                <a:ext cx="208" cy="20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I</a:t>
                </a:r>
                <a:endParaRPr lang="en-US" altLang="zh-CN" sz="20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14" name="Line 22"/>
              <p:cNvSpPr/>
              <p:nvPr/>
            </p:nvSpPr>
            <p:spPr>
              <a:xfrm>
                <a:off x="2432" y="2808"/>
                <a:ext cx="0" cy="20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7315" name="Line 23"/>
              <p:cNvSpPr/>
              <p:nvPr/>
            </p:nvSpPr>
            <p:spPr>
              <a:xfrm flipH="1">
                <a:off x="1992" y="2360"/>
                <a:ext cx="128" cy="22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7316" name="Line 24"/>
              <p:cNvSpPr/>
              <p:nvPr/>
            </p:nvSpPr>
            <p:spPr>
              <a:xfrm>
                <a:off x="2272" y="2352"/>
                <a:ext cx="128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16441" name="AutoShape 25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6" name="Group 49"/>
          <p:cNvGrpSpPr/>
          <p:nvPr/>
        </p:nvGrpSpPr>
        <p:grpSpPr>
          <a:xfrm>
            <a:off x="6443663" y="404813"/>
            <a:ext cx="2449512" cy="3095625"/>
            <a:chOff x="2936" y="1064"/>
            <a:chExt cx="1288" cy="1896"/>
          </a:xfrm>
        </p:grpSpPr>
        <p:sp>
          <p:nvSpPr>
            <p:cNvPr id="28" name="Oval 50"/>
            <p:cNvSpPr>
              <a:spLocks noChangeArrowheads="1"/>
            </p:cNvSpPr>
            <p:nvPr/>
          </p:nvSpPr>
          <p:spPr bwMode="auto">
            <a:xfrm>
              <a:off x="3280" y="1064"/>
              <a:ext cx="207" cy="20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66FF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289" name="Oval 51"/>
            <p:cNvSpPr/>
            <p:nvPr/>
          </p:nvSpPr>
          <p:spPr>
            <a:xfrm>
              <a:off x="2936" y="146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B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290" name="Oval 52"/>
            <p:cNvSpPr/>
            <p:nvPr/>
          </p:nvSpPr>
          <p:spPr>
            <a:xfrm>
              <a:off x="3208" y="180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291" name="Oval 53"/>
            <p:cNvSpPr/>
            <p:nvPr/>
          </p:nvSpPr>
          <p:spPr>
            <a:xfrm>
              <a:off x="3512" y="214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292" name="Line 54"/>
            <p:cNvSpPr/>
            <p:nvPr/>
          </p:nvSpPr>
          <p:spPr>
            <a:xfrm flipH="1">
              <a:off x="3112" y="1240"/>
              <a:ext cx="20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293" name="Oval 55"/>
            <p:cNvSpPr/>
            <p:nvPr/>
          </p:nvSpPr>
          <p:spPr>
            <a:xfrm>
              <a:off x="3696" y="1488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E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294" name="Oval 56"/>
            <p:cNvSpPr/>
            <p:nvPr/>
          </p:nvSpPr>
          <p:spPr>
            <a:xfrm>
              <a:off x="3544" y="1816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F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295" name="Line 57"/>
            <p:cNvSpPr/>
            <p:nvPr/>
          </p:nvSpPr>
          <p:spPr>
            <a:xfrm flipH="1">
              <a:off x="3720" y="1704"/>
              <a:ext cx="5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296" name="Oval 58"/>
            <p:cNvSpPr/>
            <p:nvPr/>
          </p:nvSpPr>
          <p:spPr>
            <a:xfrm>
              <a:off x="3976" y="184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G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297" name="Oval 59"/>
            <p:cNvSpPr/>
            <p:nvPr/>
          </p:nvSpPr>
          <p:spPr>
            <a:xfrm>
              <a:off x="3792" y="2160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H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298" name="Oval 60"/>
            <p:cNvSpPr/>
            <p:nvPr/>
          </p:nvSpPr>
          <p:spPr>
            <a:xfrm>
              <a:off x="3888" y="2752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J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299" name="Oval 61"/>
            <p:cNvSpPr/>
            <p:nvPr/>
          </p:nvSpPr>
          <p:spPr>
            <a:xfrm>
              <a:off x="4016" y="2424"/>
              <a:ext cx="208" cy="20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7300" name="Line 62"/>
            <p:cNvSpPr/>
            <p:nvPr/>
          </p:nvSpPr>
          <p:spPr>
            <a:xfrm flipH="1">
              <a:off x="4040" y="2632"/>
              <a:ext cx="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01" name="Line 63"/>
            <p:cNvSpPr/>
            <p:nvPr/>
          </p:nvSpPr>
          <p:spPr>
            <a:xfrm flipH="1">
              <a:off x="3928" y="2016"/>
              <a:ext cx="80" cy="1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02" name="Line 64"/>
            <p:cNvSpPr/>
            <p:nvPr/>
          </p:nvSpPr>
          <p:spPr>
            <a:xfrm>
              <a:off x="3480" y="1232"/>
              <a:ext cx="240" cy="28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03" name="Line 65"/>
            <p:cNvSpPr/>
            <p:nvPr/>
          </p:nvSpPr>
          <p:spPr>
            <a:xfrm>
              <a:off x="3840" y="1680"/>
              <a:ext cx="152" cy="192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04" name="Line 66"/>
            <p:cNvSpPr/>
            <p:nvPr/>
          </p:nvSpPr>
          <p:spPr>
            <a:xfrm>
              <a:off x="3120" y="1656"/>
              <a:ext cx="136" cy="16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05" name="Line 67"/>
            <p:cNvSpPr/>
            <p:nvPr/>
          </p:nvSpPr>
          <p:spPr>
            <a:xfrm>
              <a:off x="3392" y="1976"/>
              <a:ext cx="152" cy="18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7306" name="Line 68"/>
            <p:cNvSpPr/>
            <p:nvPr/>
          </p:nvSpPr>
          <p:spPr>
            <a:xfrm>
              <a:off x="3976" y="2344"/>
              <a:ext cx="72" cy="104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1641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16418">
                                            <p:txEl>
                                              <p:charRg st="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316418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3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316418">
                                            <p:txEl>
                                              <p:charRg st="30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49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316418">
                                            <p:txEl>
                                              <p:charRg st="49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72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316418">
                                            <p:txEl>
                                              <p:charRg st="72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99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316418">
                                            <p:txEl>
                                              <p:charRg st="99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10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16418">
                                            <p:txEl>
                                              <p:charRg st="104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114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316418">
                                            <p:txEl>
                                              <p:charRg st="114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136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316418">
                                            <p:txEl>
                                              <p:charRg st="136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148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316418">
                                            <p:txEl>
                                              <p:charRg st="148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>
                                            <p:txEl>
                                              <p:charRg st="171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316418">
                                            <p:txEl>
                                              <p:charRg st="171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8" grpId="0" build="p"/>
      <p:bldP spid="316419" grpId="0"/>
      <p:bldP spid="31644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矩形 2"/>
          <p:cNvSpPr/>
          <p:nvPr/>
        </p:nvSpPr>
        <p:spPr>
          <a:xfrm>
            <a:off x="3247510" y="260648"/>
            <a:ext cx="26019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1" u="none" strike="noStrike" kern="1200" cap="none" spc="300" normalizeH="0" baseline="0" noProof="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课堂练习</a:t>
            </a:r>
            <a:endParaRPr kumimoji="0" lang="zh-CN" altLang="en-US" sz="4400" b="1" i="1" u="none" strike="noStrike" kern="1200" cap="none" spc="300" normalizeH="0" baseline="0" noProof="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179388" y="1196975"/>
            <a:ext cx="8713788" cy="4654550"/>
          </a:xfrm>
          <a:prstGeom prst="rect">
            <a:avLst/>
          </a:prstGeom>
        </p:spPr>
        <p:txBody>
          <a:bodyPr/>
          <a:lstStyle/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1.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设森林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F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对应的二叉树为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B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，它有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个结点，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B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的根为</a:t>
            </a:r>
            <a:r>
              <a:rPr kumimoji="0" lang="en-US" altLang="zh-CN" sz="2800" kern="0" cap="none" spc="0" normalizeH="0" baseline="0" noProof="0" dirty="0" err="1">
                <a:latin typeface="+mn-lt"/>
                <a:ea typeface="+mn-ea"/>
                <a:cs typeface="+mn-cs"/>
              </a:rPr>
              <a:t>p,p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的右子树结点个数为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n,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森林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F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中第一棵树的结点个数是（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）</a:t>
            </a:r>
            <a:endParaRPr kumimoji="0" lang="zh-CN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800" kern="0" cap="none" spc="0" normalizeH="0" baseline="0" noProof="0" dirty="0">
                <a:highlight>
                  <a:srgbClr val="FFFF00"/>
                </a:highlight>
                <a:latin typeface="+mn-lt"/>
                <a:ea typeface="+mn-ea"/>
                <a:cs typeface="+mn-cs"/>
              </a:rPr>
              <a:t>A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m-n          B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m-n-1    </a:t>
            </a:r>
            <a:endParaRPr kumimoji="0" lang="en-US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C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n+1          D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．条件不足，无法确定</a:t>
            </a:r>
            <a:endParaRPr kumimoji="0" lang="en-US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2.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设森林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F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中有三棵树，第一，第二，第三棵树的结点个数分别为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M1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M2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M3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。与森林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F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对应的二叉树根结点的右子树上的结点个数是（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  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）。</a:t>
            </a:r>
            <a:endParaRPr kumimoji="0" lang="zh-CN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A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M1          </a:t>
            </a:r>
            <a:r>
              <a:rPr kumimoji="0" lang="en-US" altLang="zh-CN" sz="2800" kern="0" cap="none" spc="0" normalizeH="0" baseline="0" noProof="0" dirty="0">
                <a:highlight>
                  <a:srgbClr val="FFFF00"/>
                </a:highlight>
                <a:latin typeface="+mn-lt"/>
                <a:ea typeface="+mn-ea"/>
                <a:cs typeface="+mn-cs"/>
              </a:rPr>
              <a:t>B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M1+M2       </a:t>
            </a:r>
            <a:endParaRPr kumimoji="0" lang="en-US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  <a:p>
            <a:pPr marL="342900" marR="0" indent="-342900" defTabSz="914400">
              <a:spcBef>
                <a:spcPct val="20000"/>
              </a:spcBef>
              <a:buClrTx/>
              <a:buSzTx/>
              <a:buFontTx/>
              <a:buChar char="•"/>
              <a:defRPr/>
            </a:pP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C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M3          D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2800" kern="0" cap="none" spc="0" normalizeH="0" baseline="0" noProof="0" dirty="0">
                <a:latin typeface="+mn-lt"/>
                <a:ea typeface="+mn-ea"/>
                <a:cs typeface="+mn-cs"/>
              </a:rPr>
              <a:t>M2+M3</a:t>
            </a:r>
            <a:r>
              <a:rPr kumimoji="0" lang="zh-CN" altLang="zh-CN" sz="2800" kern="0" cap="none" spc="0" normalizeH="0" baseline="0" noProof="0" dirty="0">
                <a:latin typeface="+mn-lt"/>
                <a:ea typeface="+mn-ea"/>
                <a:cs typeface="+mn-cs"/>
              </a:rPr>
              <a:t> </a:t>
            </a:r>
            <a:endParaRPr kumimoji="0" lang="en-US" altLang="zh-CN" sz="2800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9331" name="矩形 2"/>
          <p:cNvSpPr/>
          <p:nvPr/>
        </p:nvSpPr>
        <p:spPr>
          <a:xfrm>
            <a:off x="395288" y="260350"/>
            <a:ext cx="8424862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/>
              <a:t>3.</a:t>
            </a:r>
            <a:r>
              <a:rPr lang="zh-CN" altLang="zh-CN" sz="2800" dirty="0"/>
              <a:t>利用二叉链表存储树，则根结点的右指针是（</a:t>
            </a:r>
            <a:r>
              <a:rPr lang="en-US" altLang="zh-CN" sz="2800" dirty="0"/>
              <a:t>  </a:t>
            </a:r>
            <a:r>
              <a:rPr lang="zh-CN" altLang="zh-CN" sz="2800" dirty="0"/>
              <a:t>）。</a:t>
            </a:r>
            <a:endParaRPr lang="zh-CN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/>
              <a:t> A</a:t>
            </a:r>
            <a:r>
              <a:rPr lang="zh-CN" altLang="zh-CN" sz="2800" dirty="0"/>
              <a:t>．指向最左孩子</a:t>
            </a:r>
            <a:r>
              <a:rPr lang="en-US" altLang="zh-CN" sz="2800" dirty="0"/>
              <a:t>        B</a:t>
            </a:r>
            <a:r>
              <a:rPr lang="zh-CN" altLang="zh-CN" sz="2800" dirty="0"/>
              <a:t>．指向最右孩子</a:t>
            </a:r>
            <a:r>
              <a:rPr lang="en-US" altLang="zh-CN" sz="2800" dirty="0"/>
              <a:t>       </a:t>
            </a:r>
            <a:br>
              <a:rPr lang="en-US" altLang="zh-CN" sz="2800" dirty="0"/>
            </a:br>
            <a:r>
              <a:rPr lang="en-US" altLang="zh-CN" sz="2800" dirty="0"/>
              <a:t> </a:t>
            </a:r>
            <a:r>
              <a:rPr lang="en-US" altLang="zh-CN" sz="2800" dirty="0">
                <a:highlight>
                  <a:srgbClr val="FFFF00"/>
                </a:highlight>
              </a:rPr>
              <a:t>C</a:t>
            </a:r>
            <a:r>
              <a:rPr lang="zh-CN" altLang="zh-CN" sz="2800" dirty="0"/>
              <a:t>．空</a:t>
            </a:r>
            <a:r>
              <a:rPr lang="en-US" altLang="zh-CN" sz="2800" dirty="0"/>
              <a:t>                          D</a:t>
            </a:r>
            <a:r>
              <a:rPr lang="zh-CN" altLang="zh-CN" sz="2800" dirty="0"/>
              <a:t>．非空</a:t>
            </a: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/>
              <a:t>4.</a:t>
            </a:r>
            <a:r>
              <a:rPr lang="zh-CN" altLang="zh-CN" sz="2800" dirty="0"/>
              <a:t>在下列存储形式中，哪一个不是树的存储形式？</a:t>
            </a:r>
            <a:r>
              <a:rPr lang="en-US" altLang="zh-CN" sz="2800" dirty="0"/>
              <a:t> </a:t>
            </a:r>
            <a:endParaRPr lang="zh-CN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/>
              <a:t> A</a:t>
            </a:r>
            <a:r>
              <a:rPr lang="zh-CN" altLang="zh-CN" sz="2800" dirty="0"/>
              <a:t>．双亲表示法</a:t>
            </a:r>
            <a:r>
              <a:rPr lang="en-US" altLang="zh-CN" sz="2800" dirty="0"/>
              <a:t>              B</a:t>
            </a:r>
            <a:r>
              <a:rPr lang="zh-CN" altLang="zh-CN" sz="2800" dirty="0"/>
              <a:t>．孩子链表表示法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/>
              <a:t> C</a:t>
            </a:r>
            <a:r>
              <a:rPr lang="zh-CN" altLang="zh-CN" sz="2800" dirty="0"/>
              <a:t>．孩子兄弟表示法</a:t>
            </a:r>
            <a:r>
              <a:rPr lang="en-US" altLang="zh-CN" sz="2800" dirty="0"/>
              <a:t>      </a:t>
            </a:r>
            <a:r>
              <a:rPr lang="en-US" altLang="zh-CN" sz="2800" dirty="0">
                <a:highlight>
                  <a:srgbClr val="FFFF00"/>
                </a:highlight>
              </a:rPr>
              <a:t>D</a:t>
            </a:r>
            <a:r>
              <a:rPr lang="zh-CN" altLang="zh-CN" sz="2800" dirty="0"/>
              <a:t>．顺序存储表示法</a:t>
            </a:r>
            <a:endParaRPr lang="en-US" altLang="zh-CN" sz="2800" dirty="0"/>
          </a:p>
        </p:txBody>
      </p:sp>
      <p:sp>
        <p:nvSpPr>
          <p:cNvPr id="99332" name="矩形 3"/>
          <p:cNvSpPr/>
          <p:nvPr/>
        </p:nvSpPr>
        <p:spPr>
          <a:xfrm>
            <a:off x="468313" y="2924175"/>
            <a:ext cx="828040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/>
              <a:t>5</a:t>
            </a:r>
            <a:r>
              <a:rPr lang="zh-CN" altLang="zh-CN" sz="2800" dirty="0"/>
              <a:t>．将下列由三棵树组成的森林转换为二叉树。（只要求给出转换结果）</a:t>
            </a:r>
            <a:endParaRPr lang="en-US" altLang="zh-CN" sz="2800" dirty="0"/>
          </a:p>
        </p:txBody>
      </p:sp>
      <p:grpSp>
        <p:nvGrpSpPr>
          <p:cNvPr id="99333" name="Group 2"/>
          <p:cNvGrpSpPr/>
          <p:nvPr/>
        </p:nvGrpSpPr>
        <p:grpSpPr>
          <a:xfrm>
            <a:off x="1730375" y="4502150"/>
            <a:ext cx="1071563" cy="1036638"/>
            <a:chOff x="3654" y="4044"/>
            <a:chExt cx="1095" cy="1076"/>
          </a:xfrm>
        </p:grpSpPr>
        <p:grpSp>
          <p:nvGrpSpPr>
            <p:cNvPr id="99386" name="Group 3"/>
            <p:cNvGrpSpPr/>
            <p:nvPr/>
          </p:nvGrpSpPr>
          <p:grpSpPr>
            <a:xfrm>
              <a:off x="3654" y="4044"/>
              <a:ext cx="900" cy="1060"/>
              <a:chOff x="3864" y="2748"/>
              <a:chExt cx="900" cy="1060"/>
            </a:xfrm>
          </p:grpSpPr>
          <p:grpSp>
            <p:nvGrpSpPr>
              <p:cNvPr id="99390" name="Group 4"/>
              <p:cNvGrpSpPr/>
              <p:nvPr/>
            </p:nvGrpSpPr>
            <p:grpSpPr>
              <a:xfrm>
                <a:off x="3864" y="3181"/>
                <a:ext cx="630" cy="627"/>
                <a:chOff x="3654" y="1973"/>
                <a:chExt cx="630" cy="627"/>
              </a:xfrm>
            </p:grpSpPr>
            <p:sp>
              <p:nvSpPr>
                <p:cNvPr id="99396" name="Oval 5"/>
                <p:cNvSpPr/>
                <p:nvPr/>
              </p:nvSpPr>
              <p:spPr>
                <a:xfrm>
                  <a:off x="3670" y="2019"/>
                  <a:ext cx="314" cy="313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99397" name="Text Box 6"/>
                <p:cNvSpPr txBox="1"/>
                <p:nvPr/>
              </p:nvSpPr>
              <p:spPr>
                <a:xfrm>
                  <a:off x="3654" y="1973"/>
                  <a:ext cx="630" cy="6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latin typeface="Calibri" panose="020F0502020204030204" pitchFamily="34" charset="0"/>
                    </a:rPr>
                    <a:t>B</a:t>
                  </a:r>
                  <a:endParaRPr lang="zh-CN" altLang="zh-CN" sz="1800" dirty="0"/>
                </a:p>
              </p:txBody>
            </p:sp>
          </p:grpSp>
          <p:grpSp>
            <p:nvGrpSpPr>
              <p:cNvPr id="99391" name="Group 7"/>
              <p:cNvGrpSpPr/>
              <p:nvPr/>
            </p:nvGrpSpPr>
            <p:grpSpPr>
              <a:xfrm>
                <a:off x="4134" y="2748"/>
                <a:ext cx="630" cy="627"/>
                <a:chOff x="3654" y="1973"/>
                <a:chExt cx="630" cy="627"/>
              </a:xfrm>
            </p:grpSpPr>
            <p:sp>
              <p:nvSpPr>
                <p:cNvPr id="99394" name="Oval 8"/>
                <p:cNvSpPr/>
                <p:nvPr/>
              </p:nvSpPr>
              <p:spPr>
                <a:xfrm>
                  <a:off x="3670" y="2019"/>
                  <a:ext cx="314" cy="313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99395" name="Text Box 9"/>
                <p:cNvSpPr txBox="1"/>
                <p:nvPr/>
              </p:nvSpPr>
              <p:spPr>
                <a:xfrm>
                  <a:off x="3654" y="1973"/>
                  <a:ext cx="630" cy="6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latin typeface="Calibri" panose="020F0502020204030204" pitchFamily="34" charset="0"/>
                    </a:rPr>
                    <a:t>A</a:t>
                  </a:r>
                  <a:endParaRPr lang="zh-CN" altLang="zh-CN" sz="1800" dirty="0"/>
                </a:p>
              </p:txBody>
            </p:sp>
          </p:grpSp>
          <p:sp>
            <p:nvSpPr>
              <p:cNvPr id="99392" name="Freeform 10"/>
              <p:cNvSpPr/>
              <p:nvPr/>
            </p:nvSpPr>
            <p:spPr>
              <a:xfrm>
                <a:off x="4105" y="3061"/>
                <a:ext cx="95" cy="167"/>
              </a:xfrm>
              <a:custGeom>
                <a:avLst/>
                <a:gdLst>
                  <a:gd name="txL" fmla="*/ 0 w 95"/>
                  <a:gd name="txT" fmla="*/ 0 h 167"/>
                  <a:gd name="txR" fmla="*/ 95 w 95"/>
                  <a:gd name="txB" fmla="*/ 167 h 167"/>
                </a:gdLst>
                <a:ahLst/>
                <a:cxnLst>
                  <a:cxn ang="0">
                    <a:pos x="95" y="0"/>
                  </a:cxn>
                  <a:cxn ang="0">
                    <a:pos x="0" y="167"/>
                  </a:cxn>
                </a:cxnLst>
                <a:rect l="txL" t="txT" r="txR" b="txB"/>
                <a:pathLst>
                  <a:path w="95" h="167">
                    <a:moveTo>
                      <a:pt x="95" y="0"/>
                    </a:moveTo>
                    <a:lnTo>
                      <a:pt x="0" y="167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9393" name="Freeform 11"/>
              <p:cNvSpPr/>
              <p:nvPr/>
            </p:nvSpPr>
            <p:spPr>
              <a:xfrm>
                <a:off x="4410" y="3076"/>
                <a:ext cx="60" cy="150"/>
              </a:xfrm>
              <a:custGeom>
                <a:avLst/>
                <a:gdLst>
                  <a:gd name="txL" fmla="*/ 0 w 60"/>
                  <a:gd name="txT" fmla="*/ 0 h 150"/>
                  <a:gd name="txR" fmla="*/ 60 w 60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60" y="150"/>
                  </a:cxn>
                </a:cxnLst>
                <a:rect l="txL" t="txT" r="txR" b="txB"/>
                <a:pathLst>
                  <a:path w="60" h="150">
                    <a:moveTo>
                      <a:pt x="0" y="0"/>
                    </a:moveTo>
                    <a:lnTo>
                      <a:pt x="60" y="150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99387" name="Group 12"/>
            <p:cNvGrpSpPr/>
            <p:nvPr/>
          </p:nvGrpSpPr>
          <p:grpSpPr>
            <a:xfrm>
              <a:off x="4119" y="4493"/>
              <a:ext cx="630" cy="627"/>
              <a:chOff x="3654" y="1973"/>
              <a:chExt cx="630" cy="627"/>
            </a:xfrm>
          </p:grpSpPr>
          <p:sp>
            <p:nvSpPr>
              <p:cNvPr id="99388" name="Oval 13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89" name="Text Box 14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C</a:t>
                </a:r>
                <a:endParaRPr lang="zh-CN" altLang="zh-CN" sz="1800" dirty="0"/>
              </a:p>
            </p:txBody>
          </p:sp>
        </p:grpSp>
      </p:grpSp>
      <p:grpSp>
        <p:nvGrpSpPr>
          <p:cNvPr id="99334" name="Group 15"/>
          <p:cNvGrpSpPr/>
          <p:nvPr/>
        </p:nvGrpSpPr>
        <p:grpSpPr>
          <a:xfrm>
            <a:off x="2930525" y="4373563"/>
            <a:ext cx="646113" cy="1538287"/>
            <a:chOff x="3894" y="4032"/>
            <a:chExt cx="660" cy="1594"/>
          </a:xfrm>
        </p:grpSpPr>
        <p:grpSp>
          <p:nvGrpSpPr>
            <p:cNvPr id="99375" name="Group 16"/>
            <p:cNvGrpSpPr/>
            <p:nvPr/>
          </p:nvGrpSpPr>
          <p:grpSpPr>
            <a:xfrm>
              <a:off x="3909" y="4507"/>
              <a:ext cx="630" cy="627"/>
              <a:chOff x="3654" y="1973"/>
              <a:chExt cx="630" cy="627"/>
            </a:xfrm>
          </p:grpSpPr>
          <p:sp>
            <p:nvSpPr>
              <p:cNvPr id="99384" name="Oval 17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85" name="Text Box 18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E</a:t>
                </a:r>
                <a:endParaRPr lang="zh-CN" altLang="zh-CN" sz="1800" dirty="0"/>
              </a:p>
            </p:txBody>
          </p:sp>
        </p:grpSp>
        <p:grpSp>
          <p:nvGrpSpPr>
            <p:cNvPr id="99376" name="Group 19"/>
            <p:cNvGrpSpPr/>
            <p:nvPr/>
          </p:nvGrpSpPr>
          <p:grpSpPr>
            <a:xfrm>
              <a:off x="3924" y="4032"/>
              <a:ext cx="630" cy="627"/>
              <a:chOff x="3654" y="1973"/>
              <a:chExt cx="630" cy="627"/>
            </a:xfrm>
          </p:grpSpPr>
          <p:sp>
            <p:nvSpPr>
              <p:cNvPr id="99382" name="Oval 20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83" name="Text Box 21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D</a:t>
                </a:r>
                <a:endParaRPr lang="zh-CN" altLang="zh-CN" sz="1800" dirty="0"/>
              </a:p>
            </p:txBody>
          </p:sp>
        </p:grpSp>
        <p:sp>
          <p:nvSpPr>
            <p:cNvPr id="99377" name="Freeform 22"/>
            <p:cNvSpPr/>
            <p:nvPr/>
          </p:nvSpPr>
          <p:spPr>
            <a:xfrm>
              <a:off x="4095" y="4410"/>
              <a:ext cx="1" cy="135"/>
            </a:xfrm>
            <a:custGeom>
              <a:avLst/>
              <a:gdLst>
                <a:gd name="txL" fmla="*/ 0 w 1"/>
                <a:gd name="txT" fmla="*/ 0 h 135"/>
                <a:gd name="txR" fmla="*/ 1 w 1"/>
                <a:gd name="txB" fmla="*/ 135 h 135"/>
              </a:gdLst>
              <a:ahLst/>
              <a:cxnLst>
                <a:cxn ang="0">
                  <a:pos x="0" y="0"/>
                </a:cxn>
                <a:cxn ang="0">
                  <a:pos x="0" y="135"/>
                </a:cxn>
              </a:cxnLst>
              <a:rect l="txL" t="txT" r="txR" b="txB"/>
              <a:pathLst>
                <a:path w="1" h="135">
                  <a:moveTo>
                    <a:pt x="0" y="0"/>
                  </a:moveTo>
                  <a:lnTo>
                    <a:pt x="0" y="135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78" name="Freeform 23"/>
            <p:cNvSpPr/>
            <p:nvPr/>
          </p:nvSpPr>
          <p:spPr>
            <a:xfrm>
              <a:off x="4074" y="4879"/>
              <a:ext cx="6" cy="161"/>
            </a:xfrm>
            <a:custGeom>
              <a:avLst/>
              <a:gdLst>
                <a:gd name="txL" fmla="*/ 0 w 6"/>
                <a:gd name="txT" fmla="*/ 0 h 161"/>
                <a:gd name="txR" fmla="*/ 6 w 6"/>
                <a:gd name="txB" fmla="*/ 161 h 161"/>
              </a:gdLst>
              <a:ahLst/>
              <a:cxnLst>
                <a:cxn ang="0">
                  <a:pos x="0" y="0"/>
                </a:cxn>
                <a:cxn ang="0">
                  <a:pos x="6" y="161"/>
                </a:cxn>
              </a:cxnLst>
              <a:rect l="txL" t="txT" r="txR" b="txB"/>
              <a:pathLst>
                <a:path w="6" h="161">
                  <a:moveTo>
                    <a:pt x="0" y="0"/>
                  </a:moveTo>
                  <a:lnTo>
                    <a:pt x="6" y="161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9379" name="Group 24"/>
            <p:cNvGrpSpPr/>
            <p:nvPr/>
          </p:nvGrpSpPr>
          <p:grpSpPr>
            <a:xfrm>
              <a:off x="3894" y="4999"/>
              <a:ext cx="630" cy="627"/>
              <a:chOff x="3654" y="1973"/>
              <a:chExt cx="630" cy="627"/>
            </a:xfrm>
          </p:grpSpPr>
          <p:sp>
            <p:nvSpPr>
              <p:cNvPr id="99380" name="Oval 25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81" name="Text Box 26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F</a:t>
                </a:r>
                <a:endParaRPr lang="zh-CN" altLang="zh-CN" sz="1800" dirty="0"/>
              </a:p>
            </p:txBody>
          </p:sp>
        </p:grpSp>
      </p:grpSp>
      <p:grpSp>
        <p:nvGrpSpPr>
          <p:cNvPr id="99335" name="Group 27"/>
          <p:cNvGrpSpPr/>
          <p:nvPr/>
        </p:nvGrpSpPr>
        <p:grpSpPr>
          <a:xfrm>
            <a:off x="4643438" y="3860800"/>
            <a:ext cx="2538412" cy="1857375"/>
            <a:chOff x="4134" y="1974"/>
            <a:chExt cx="2595" cy="1924"/>
          </a:xfrm>
        </p:grpSpPr>
        <p:grpSp>
          <p:nvGrpSpPr>
            <p:cNvPr id="99336" name="Group 28"/>
            <p:cNvGrpSpPr/>
            <p:nvPr/>
          </p:nvGrpSpPr>
          <p:grpSpPr>
            <a:xfrm>
              <a:off x="5709" y="2791"/>
              <a:ext cx="630" cy="627"/>
              <a:chOff x="3654" y="1973"/>
              <a:chExt cx="630" cy="627"/>
            </a:xfrm>
          </p:grpSpPr>
          <p:sp>
            <p:nvSpPr>
              <p:cNvPr id="99373" name="Oval 29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74" name="Text Box 30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N</a:t>
                </a:r>
                <a:endParaRPr lang="zh-CN" altLang="zh-CN" sz="1800" dirty="0"/>
              </a:p>
            </p:txBody>
          </p:sp>
        </p:grpSp>
        <p:grpSp>
          <p:nvGrpSpPr>
            <p:cNvPr id="99337" name="Group 31"/>
            <p:cNvGrpSpPr/>
            <p:nvPr/>
          </p:nvGrpSpPr>
          <p:grpSpPr>
            <a:xfrm>
              <a:off x="5334" y="3271"/>
              <a:ext cx="630" cy="627"/>
              <a:chOff x="3654" y="1973"/>
              <a:chExt cx="630" cy="627"/>
            </a:xfrm>
          </p:grpSpPr>
          <p:sp>
            <p:nvSpPr>
              <p:cNvPr id="99371" name="Oval 32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72" name="Text Box 33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P</a:t>
                </a:r>
                <a:endParaRPr lang="zh-CN" altLang="zh-CN" sz="1800" dirty="0"/>
              </a:p>
            </p:txBody>
          </p:sp>
        </p:grpSp>
        <p:grpSp>
          <p:nvGrpSpPr>
            <p:cNvPr id="99338" name="Group 34"/>
            <p:cNvGrpSpPr/>
            <p:nvPr/>
          </p:nvGrpSpPr>
          <p:grpSpPr>
            <a:xfrm>
              <a:off x="5004" y="1974"/>
              <a:ext cx="630" cy="627"/>
              <a:chOff x="3654" y="1973"/>
              <a:chExt cx="630" cy="627"/>
            </a:xfrm>
          </p:grpSpPr>
          <p:sp>
            <p:nvSpPr>
              <p:cNvPr id="99369" name="Oval 35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70" name="Text Box 36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G</a:t>
                </a:r>
                <a:endParaRPr lang="zh-CN" altLang="zh-CN" sz="1800" dirty="0"/>
              </a:p>
            </p:txBody>
          </p:sp>
        </p:grpSp>
        <p:grpSp>
          <p:nvGrpSpPr>
            <p:cNvPr id="99339" name="Group 37"/>
            <p:cNvGrpSpPr/>
            <p:nvPr/>
          </p:nvGrpSpPr>
          <p:grpSpPr>
            <a:xfrm>
              <a:off x="4419" y="2390"/>
              <a:ext cx="630" cy="627"/>
              <a:chOff x="3654" y="1973"/>
              <a:chExt cx="630" cy="627"/>
            </a:xfrm>
          </p:grpSpPr>
          <p:sp>
            <p:nvSpPr>
              <p:cNvPr id="99367" name="Oval 38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68" name="Text Box 39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H</a:t>
                </a:r>
                <a:endParaRPr lang="zh-CN" altLang="zh-CN" sz="1800" dirty="0"/>
              </a:p>
            </p:txBody>
          </p:sp>
        </p:grpSp>
        <p:grpSp>
          <p:nvGrpSpPr>
            <p:cNvPr id="99340" name="Group 40"/>
            <p:cNvGrpSpPr/>
            <p:nvPr/>
          </p:nvGrpSpPr>
          <p:grpSpPr>
            <a:xfrm>
              <a:off x="5709" y="2303"/>
              <a:ext cx="630" cy="627"/>
              <a:chOff x="3654" y="1973"/>
              <a:chExt cx="630" cy="627"/>
            </a:xfrm>
          </p:grpSpPr>
          <p:sp>
            <p:nvSpPr>
              <p:cNvPr id="99365" name="Oval 41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66" name="Text Box 42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J</a:t>
                </a:r>
                <a:endParaRPr lang="zh-CN" altLang="zh-CN" sz="1800" dirty="0"/>
              </a:p>
            </p:txBody>
          </p:sp>
        </p:grpSp>
        <p:grpSp>
          <p:nvGrpSpPr>
            <p:cNvPr id="99341" name="Group 43"/>
            <p:cNvGrpSpPr/>
            <p:nvPr/>
          </p:nvGrpSpPr>
          <p:grpSpPr>
            <a:xfrm>
              <a:off x="5334" y="2777"/>
              <a:ext cx="630" cy="627"/>
              <a:chOff x="3654" y="1973"/>
              <a:chExt cx="630" cy="627"/>
            </a:xfrm>
          </p:grpSpPr>
          <p:sp>
            <p:nvSpPr>
              <p:cNvPr id="99363" name="Oval 44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64" name="Text Box 45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M</a:t>
                </a:r>
                <a:endParaRPr lang="zh-CN" altLang="zh-CN" sz="1800" dirty="0"/>
              </a:p>
            </p:txBody>
          </p:sp>
        </p:grpSp>
        <p:grpSp>
          <p:nvGrpSpPr>
            <p:cNvPr id="99342" name="Group 46"/>
            <p:cNvGrpSpPr/>
            <p:nvPr/>
          </p:nvGrpSpPr>
          <p:grpSpPr>
            <a:xfrm>
              <a:off x="6099" y="2777"/>
              <a:ext cx="630" cy="627"/>
              <a:chOff x="3654" y="1973"/>
              <a:chExt cx="630" cy="627"/>
            </a:xfrm>
          </p:grpSpPr>
          <p:sp>
            <p:nvSpPr>
              <p:cNvPr id="99361" name="Oval 47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62" name="Text Box 48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O</a:t>
                </a:r>
                <a:endParaRPr lang="zh-CN" altLang="zh-CN" sz="1800" dirty="0"/>
              </a:p>
            </p:txBody>
          </p:sp>
        </p:grpSp>
        <p:grpSp>
          <p:nvGrpSpPr>
            <p:cNvPr id="99343" name="Group 49"/>
            <p:cNvGrpSpPr/>
            <p:nvPr/>
          </p:nvGrpSpPr>
          <p:grpSpPr>
            <a:xfrm>
              <a:off x="4674" y="2778"/>
              <a:ext cx="630" cy="627"/>
              <a:chOff x="3654" y="1973"/>
              <a:chExt cx="630" cy="627"/>
            </a:xfrm>
          </p:grpSpPr>
          <p:sp>
            <p:nvSpPr>
              <p:cNvPr id="99359" name="Oval 50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60" name="Text Box 51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L</a:t>
                </a:r>
                <a:endParaRPr lang="zh-CN" altLang="zh-CN" sz="1800" dirty="0"/>
              </a:p>
            </p:txBody>
          </p:sp>
        </p:grpSp>
        <p:sp>
          <p:nvSpPr>
            <p:cNvPr id="99344" name="Freeform 52"/>
            <p:cNvSpPr/>
            <p:nvPr/>
          </p:nvSpPr>
          <p:spPr>
            <a:xfrm>
              <a:off x="4695" y="2288"/>
              <a:ext cx="355" cy="173"/>
            </a:xfrm>
            <a:custGeom>
              <a:avLst/>
              <a:gdLst>
                <a:gd name="txL" fmla="*/ 0 w 355"/>
                <a:gd name="txT" fmla="*/ 0 h 173"/>
                <a:gd name="txR" fmla="*/ 355 w 355"/>
                <a:gd name="txB" fmla="*/ 173 h 173"/>
              </a:gdLst>
              <a:ahLst/>
              <a:cxnLst>
                <a:cxn ang="0">
                  <a:pos x="355" y="0"/>
                </a:cxn>
                <a:cxn ang="0">
                  <a:pos x="0" y="173"/>
                </a:cxn>
              </a:cxnLst>
              <a:rect l="txL" t="txT" r="txR" b="txB"/>
              <a:pathLst>
                <a:path w="355" h="173">
                  <a:moveTo>
                    <a:pt x="355" y="0"/>
                  </a:moveTo>
                  <a:lnTo>
                    <a:pt x="0" y="173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45" name="Freeform 53"/>
            <p:cNvSpPr/>
            <p:nvPr/>
          </p:nvSpPr>
          <p:spPr>
            <a:xfrm>
              <a:off x="5310" y="2266"/>
              <a:ext cx="450" cy="149"/>
            </a:xfrm>
            <a:custGeom>
              <a:avLst/>
              <a:gdLst>
                <a:gd name="txL" fmla="*/ 0 w 450"/>
                <a:gd name="txT" fmla="*/ 0 h 149"/>
                <a:gd name="txR" fmla="*/ 450 w 450"/>
                <a:gd name="txB" fmla="*/ 149 h 149"/>
              </a:gdLst>
              <a:ahLst/>
              <a:cxnLst>
                <a:cxn ang="0">
                  <a:pos x="0" y="0"/>
                </a:cxn>
                <a:cxn ang="0">
                  <a:pos x="450" y="149"/>
                </a:cxn>
              </a:cxnLst>
              <a:rect l="txL" t="txT" r="txR" b="txB"/>
              <a:pathLst>
                <a:path w="450" h="149">
                  <a:moveTo>
                    <a:pt x="0" y="0"/>
                  </a:moveTo>
                  <a:lnTo>
                    <a:pt x="450" y="149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46" name="Freeform 54"/>
            <p:cNvSpPr/>
            <p:nvPr/>
          </p:nvSpPr>
          <p:spPr>
            <a:xfrm>
              <a:off x="4380" y="2686"/>
              <a:ext cx="105" cy="135"/>
            </a:xfrm>
            <a:custGeom>
              <a:avLst/>
              <a:gdLst>
                <a:gd name="txL" fmla="*/ 0 w 105"/>
                <a:gd name="txT" fmla="*/ 0 h 135"/>
                <a:gd name="txR" fmla="*/ 105 w 105"/>
                <a:gd name="txB" fmla="*/ 135 h 135"/>
              </a:gdLst>
              <a:ahLst/>
              <a:cxnLst>
                <a:cxn ang="0">
                  <a:pos x="105" y="0"/>
                </a:cxn>
                <a:cxn ang="0">
                  <a:pos x="0" y="135"/>
                </a:cxn>
              </a:cxnLst>
              <a:rect l="txL" t="txT" r="txR" b="txB"/>
              <a:pathLst>
                <a:path w="105" h="135">
                  <a:moveTo>
                    <a:pt x="105" y="0"/>
                  </a:moveTo>
                  <a:lnTo>
                    <a:pt x="0" y="135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47" name="Freeform 55"/>
            <p:cNvSpPr/>
            <p:nvPr/>
          </p:nvSpPr>
          <p:spPr>
            <a:xfrm>
              <a:off x="5595" y="2626"/>
              <a:ext cx="180" cy="195"/>
            </a:xfrm>
            <a:custGeom>
              <a:avLst/>
              <a:gdLst>
                <a:gd name="txL" fmla="*/ 0 w 180"/>
                <a:gd name="txT" fmla="*/ 0 h 195"/>
                <a:gd name="txR" fmla="*/ 180 w 180"/>
                <a:gd name="txB" fmla="*/ 195 h 195"/>
              </a:gdLst>
              <a:ahLst/>
              <a:cxnLst>
                <a:cxn ang="0">
                  <a:pos x="180" y="0"/>
                </a:cxn>
                <a:cxn ang="0">
                  <a:pos x="0" y="195"/>
                </a:cxn>
              </a:cxnLst>
              <a:rect l="txL" t="txT" r="txR" b="txB"/>
              <a:pathLst>
                <a:path w="180" h="195">
                  <a:moveTo>
                    <a:pt x="180" y="0"/>
                  </a:moveTo>
                  <a:lnTo>
                    <a:pt x="0" y="195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48" name="Freeform 56"/>
            <p:cNvSpPr/>
            <p:nvPr/>
          </p:nvSpPr>
          <p:spPr>
            <a:xfrm>
              <a:off x="5994" y="2601"/>
              <a:ext cx="186" cy="264"/>
            </a:xfrm>
            <a:custGeom>
              <a:avLst/>
              <a:gdLst>
                <a:gd name="txL" fmla="*/ 0 w 186"/>
                <a:gd name="txT" fmla="*/ 0 h 264"/>
                <a:gd name="txR" fmla="*/ 186 w 186"/>
                <a:gd name="txB" fmla="*/ 264 h 264"/>
              </a:gdLst>
              <a:ahLst/>
              <a:cxnLst>
                <a:cxn ang="0">
                  <a:pos x="0" y="0"/>
                </a:cxn>
                <a:cxn ang="0">
                  <a:pos x="186" y="264"/>
                </a:cxn>
              </a:cxnLst>
              <a:rect l="txL" t="txT" r="txR" b="txB"/>
              <a:pathLst>
                <a:path w="186" h="264">
                  <a:moveTo>
                    <a:pt x="0" y="0"/>
                  </a:moveTo>
                  <a:lnTo>
                    <a:pt x="186" y="264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9349" name="Group 57"/>
            <p:cNvGrpSpPr/>
            <p:nvPr/>
          </p:nvGrpSpPr>
          <p:grpSpPr>
            <a:xfrm>
              <a:off x="5019" y="2404"/>
              <a:ext cx="630" cy="627"/>
              <a:chOff x="3654" y="1973"/>
              <a:chExt cx="630" cy="627"/>
            </a:xfrm>
          </p:grpSpPr>
          <p:sp>
            <p:nvSpPr>
              <p:cNvPr id="99357" name="Oval 58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58" name="Text Box 59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I</a:t>
                </a:r>
                <a:endParaRPr lang="zh-CN" altLang="zh-CN" sz="1800" dirty="0"/>
              </a:p>
            </p:txBody>
          </p:sp>
        </p:grpSp>
        <p:grpSp>
          <p:nvGrpSpPr>
            <p:cNvPr id="99350" name="Group 60"/>
            <p:cNvGrpSpPr/>
            <p:nvPr/>
          </p:nvGrpSpPr>
          <p:grpSpPr>
            <a:xfrm>
              <a:off x="4134" y="2763"/>
              <a:ext cx="630" cy="627"/>
              <a:chOff x="3654" y="1973"/>
              <a:chExt cx="630" cy="627"/>
            </a:xfrm>
          </p:grpSpPr>
          <p:sp>
            <p:nvSpPr>
              <p:cNvPr id="99355" name="Oval 61"/>
              <p:cNvSpPr/>
              <p:nvPr/>
            </p:nvSpPr>
            <p:spPr>
              <a:xfrm>
                <a:off x="3670" y="2019"/>
                <a:ext cx="314" cy="31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99356" name="Text Box 62"/>
              <p:cNvSpPr txBox="1"/>
              <p:nvPr/>
            </p:nvSpPr>
            <p:spPr>
              <a:xfrm>
                <a:off x="3654" y="1973"/>
                <a:ext cx="630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latin typeface="Calibri" panose="020F0502020204030204" pitchFamily="34" charset="0"/>
                  </a:rPr>
                  <a:t>K</a:t>
                </a:r>
                <a:endParaRPr lang="zh-CN" altLang="zh-CN" sz="1800" dirty="0"/>
              </a:p>
            </p:txBody>
          </p:sp>
        </p:grpSp>
        <p:sp>
          <p:nvSpPr>
            <p:cNvPr id="99351" name="Freeform 63"/>
            <p:cNvSpPr/>
            <p:nvPr/>
          </p:nvSpPr>
          <p:spPr>
            <a:xfrm>
              <a:off x="5175" y="2332"/>
              <a:ext cx="9" cy="113"/>
            </a:xfrm>
            <a:custGeom>
              <a:avLst/>
              <a:gdLst>
                <a:gd name="txL" fmla="*/ 0 w 9"/>
                <a:gd name="txT" fmla="*/ 0 h 113"/>
                <a:gd name="txR" fmla="*/ 9 w 9"/>
                <a:gd name="txB" fmla="*/ 113 h 113"/>
              </a:gdLst>
              <a:ahLst/>
              <a:cxnLst>
                <a:cxn ang="0">
                  <a:pos x="9" y="0"/>
                </a:cxn>
                <a:cxn ang="0">
                  <a:pos x="0" y="113"/>
                </a:cxn>
              </a:cxnLst>
              <a:rect l="txL" t="txT" r="txR" b="txB"/>
              <a:pathLst>
                <a:path w="9" h="113">
                  <a:moveTo>
                    <a:pt x="9" y="0"/>
                  </a:moveTo>
                  <a:lnTo>
                    <a:pt x="0" y="113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52" name="Freeform 64"/>
            <p:cNvSpPr/>
            <p:nvPr/>
          </p:nvSpPr>
          <p:spPr>
            <a:xfrm>
              <a:off x="4734" y="2703"/>
              <a:ext cx="60" cy="150"/>
            </a:xfrm>
            <a:custGeom>
              <a:avLst/>
              <a:gdLst>
                <a:gd name="txL" fmla="*/ 0 w 60"/>
                <a:gd name="txT" fmla="*/ 0 h 150"/>
                <a:gd name="txR" fmla="*/ 60 w 60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60" y="150"/>
                </a:cxn>
              </a:cxnLst>
              <a:rect l="txL" t="txT" r="txR" b="txB"/>
              <a:pathLst>
                <a:path w="60" h="150">
                  <a:moveTo>
                    <a:pt x="0" y="0"/>
                  </a:moveTo>
                  <a:lnTo>
                    <a:pt x="60" y="15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53" name="Freeform 65"/>
            <p:cNvSpPr/>
            <p:nvPr/>
          </p:nvSpPr>
          <p:spPr>
            <a:xfrm>
              <a:off x="5490" y="3166"/>
              <a:ext cx="15" cy="149"/>
            </a:xfrm>
            <a:custGeom>
              <a:avLst/>
              <a:gdLst>
                <a:gd name="txL" fmla="*/ 0 w 15"/>
                <a:gd name="txT" fmla="*/ 0 h 149"/>
                <a:gd name="txR" fmla="*/ 15 w 15"/>
                <a:gd name="txB" fmla="*/ 149 h 149"/>
              </a:gdLst>
              <a:ahLst/>
              <a:cxnLst>
                <a:cxn ang="0">
                  <a:pos x="15" y="0"/>
                </a:cxn>
                <a:cxn ang="0">
                  <a:pos x="0" y="149"/>
                </a:cxn>
              </a:cxnLst>
              <a:rect l="txL" t="txT" r="txR" b="txB"/>
              <a:pathLst>
                <a:path w="15" h="149">
                  <a:moveTo>
                    <a:pt x="15" y="0"/>
                  </a:moveTo>
                  <a:lnTo>
                    <a:pt x="0" y="149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54" name="Freeform 66"/>
            <p:cNvSpPr/>
            <p:nvPr/>
          </p:nvSpPr>
          <p:spPr>
            <a:xfrm>
              <a:off x="5874" y="2660"/>
              <a:ext cx="6" cy="175"/>
            </a:xfrm>
            <a:custGeom>
              <a:avLst/>
              <a:gdLst>
                <a:gd name="txL" fmla="*/ 0 w 6"/>
                <a:gd name="txT" fmla="*/ 0 h 175"/>
                <a:gd name="txR" fmla="*/ 6 w 6"/>
                <a:gd name="txB" fmla="*/ 175 h 175"/>
              </a:gdLst>
              <a:ahLst/>
              <a:cxnLst>
                <a:cxn ang="0">
                  <a:pos x="0" y="0"/>
                </a:cxn>
                <a:cxn ang="0">
                  <a:pos x="6" y="175"/>
                </a:cxn>
              </a:cxnLst>
              <a:rect l="txL" t="txT" r="txR" b="txB"/>
              <a:pathLst>
                <a:path w="6" h="175">
                  <a:moveTo>
                    <a:pt x="0" y="0"/>
                  </a:moveTo>
                  <a:lnTo>
                    <a:pt x="6" y="175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0818" name="Rectangle 2"/>
          <p:cNvSpPr/>
          <p:nvPr/>
        </p:nvSpPr>
        <p:spPr>
          <a:xfrm>
            <a:off x="228600" y="2057400"/>
            <a:ext cx="2895600" cy="410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10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    径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10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路径长度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10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树的路径长度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10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带权路径长度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10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树的带权路径长度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10000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霍 夫 曼 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黑体" panose="02010609060101010101" pitchFamily="49" charset="-122"/>
              </a:rPr>
              <a:t>树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：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100356" name="Rectangle 3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72400" cy="533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6.5  Huffman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树及其应用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0820" name="Rectangle 4"/>
          <p:cNvSpPr/>
          <p:nvPr/>
        </p:nvSpPr>
        <p:spPr>
          <a:xfrm>
            <a:off x="228600" y="914400"/>
            <a:ext cx="48164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黑体" panose="02010609060101010101" pitchFamily="49" charset="-122"/>
              </a:rPr>
              <a:t>一、最优二叉树（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霍夫曼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黑体" panose="02010609060101010101" pitchFamily="49" charset="-122"/>
              </a:rPr>
              <a:t>树）</a:t>
            </a:r>
            <a:endParaRPr lang="zh-CN" altLang="en-US" sz="2800" b="1" dirty="0">
              <a:solidFill>
                <a:schemeClr val="accent1"/>
              </a:solidFill>
              <a:latin typeface="楷体_GB2312"/>
              <a:ea typeface="黑体" panose="02010609060101010101" pitchFamily="49" charset="-122"/>
            </a:endParaRPr>
          </a:p>
        </p:txBody>
      </p:sp>
      <p:sp>
        <p:nvSpPr>
          <p:cNvPr id="290821" name="Rectangle 5"/>
          <p:cNvSpPr/>
          <p:nvPr/>
        </p:nvSpPr>
        <p:spPr>
          <a:xfrm>
            <a:off x="1828800" y="2057400"/>
            <a:ext cx="541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由一结点到另一结点间的分支所构成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90822" name="Rectangle 6"/>
          <p:cNvSpPr/>
          <p:nvPr/>
        </p:nvSpPr>
        <p:spPr>
          <a:xfrm>
            <a:off x="1905000" y="281940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路径上的分支数目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90823" name="Rectangle 7"/>
          <p:cNvSpPr/>
          <p:nvPr/>
        </p:nvSpPr>
        <p:spPr>
          <a:xfrm>
            <a:off x="2362200" y="3505200"/>
            <a:ext cx="487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从树根到</a:t>
            </a:r>
            <a:r>
              <a:rPr lang="zh-CN" altLang="en-US" sz="2400" b="1" dirty="0">
                <a:solidFill>
                  <a:schemeClr val="hlink"/>
                </a:solidFill>
                <a:latin typeface="楷体_GB2312"/>
                <a:ea typeface="楷体_GB2312"/>
              </a:rPr>
              <a:t>每一结点</a:t>
            </a:r>
            <a:r>
              <a:rPr lang="zh-CN" altLang="en-US" sz="2400" b="1" dirty="0">
                <a:latin typeface="楷体_GB2312"/>
                <a:ea typeface="楷体_GB2312"/>
              </a:rPr>
              <a:t>的路径长度之和。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90824" name="Rectangle 8"/>
          <p:cNvSpPr/>
          <p:nvPr/>
        </p:nvSpPr>
        <p:spPr>
          <a:xfrm>
            <a:off x="2362200" y="4267200"/>
            <a:ext cx="556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结点到根的路径长度与结点上权的乘积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90825" name="AutoShape 9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0826" name="Rectangle 10"/>
          <p:cNvSpPr/>
          <p:nvPr/>
        </p:nvSpPr>
        <p:spPr>
          <a:xfrm>
            <a:off x="228600" y="1524000"/>
            <a:ext cx="358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预备知识：若干术语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6629400" y="304800"/>
            <a:ext cx="2362200" cy="1755775"/>
            <a:chOff x="4128" y="240"/>
            <a:chExt cx="1488" cy="1106"/>
          </a:xfrm>
        </p:grpSpPr>
        <p:grpSp>
          <p:nvGrpSpPr>
            <p:cNvPr id="100371" name="Group 12"/>
            <p:cNvGrpSpPr/>
            <p:nvPr/>
          </p:nvGrpSpPr>
          <p:grpSpPr>
            <a:xfrm>
              <a:off x="4128" y="288"/>
              <a:ext cx="1477" cy="1058"/>
              <a:chOff x="838" y="1898"/>
              <a:chExt cx="1477" cy="1058"/>
            </a:xfrm>
          </p:grpSpPr>
          <p:sp>
            <p:nvSpPr>
              <p:cNvPr id="100377" name="Oval 13"/>
              <p:cNvSpPr/>
              <p:nvPr/>
            </p:nvSpPr>
            <p:spPr>
              <a:xfrm>
                <a:off x="1450" y="1898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0378" name="Oval 14"/>
              <p:cNvSpPr/>
              <p:nvPr/>
            </p:nvSpPr>
            <p:spPr>
              <a:xfrm>
                <a:off x="1117" y="2290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0379" name="Oval 15"/>
              <p:cNvSpPr/>
              <p:nvPr/>
            </p:nvSpPr>
            <p:spPr>
              <a:xfrm>
                <a:off x="1799" y="2274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0380" name="Oval 16"/>
              <p:cNvSpPr/>
              <p:nvPr/>
            </p:nvSpPr>
            <p:spPr>
              <a:xfrm>
                <a:off x="838" y="2725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0381" name="Line 17"/>
              <p:cNvSpPr/>
              <p:nvPr/>
            </p:nvSpPr>
            <p:spPr>
              <a:xfrm flipH="1">
                <a:off x="1232" y="2084"/>
                <a:ext cx="267" cy="20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0382" name="Line 18"/>
              <p:cNvSpPr/>
              <p:nvPr/>
            </p:nvSpPr>
            <p:spPr>
              <a:xfrm flipH="1">
                <a:off x="951" y="2467"/>
                <a:ext cx="191" cy="25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0383" name="Rectangle 19"/>
              <p:cNvSpPr/>
              <p:nvPr/>
            </p:nvSpPr>
            <p:spPr>
              <a:xfrm>
                <a:off x="847" y="266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0384" name="Line 20"/>
              <p:cNvSpPr/>
              <p:nvPr/>
            </p:nvSpPr>
            <p:spPr>
              <a:xfrm>
                <a:off x="1623" y="2079"/>
                <a:ext cx="293" cy="19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0385" name="Oval 21"/>
              <p:cNvSpPr/>
              <p:nvPr/>
            </p:nvSpPr>
            <p:spPr>
              <a:xfrm>
                <a:off x="1344" y="2718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0386" name="Line 22"/>
              <p:cNvSpPr/>
              <p:nvPr/>
            </p:nvSpPr>
            <p:spPr>
              <a:xfrm>
                <a:off x="1282" y="2476"/>
                <a:ext cx="182" cy="24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0387" name="Rectangle 23"/>
              <p:cNvSpPr/>
              <p:nvPr/>
            </p:nvSpPr>
            <p:spPr>
              <a:xfrm>
                <a:off x="1359" y="2667"/>
                <a:ext cx="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e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0388" name="Oval 24"/>
              <p:cNvSpPr/>
              <p:nvPr/>
            </p:nvSpPr>
            <p:spPr>
              <a:xfrm>
                <a:off x="2101" y="2711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0389" name="Text Box 25"/>
              <p:cNvSpPr txBox="1"/>
              <p:nvPr/>
            </p:nvSpPr>
            <p:spPr>
              <a:xfrm>
                <a:off x="2146" y="2653"/>
                <a:ext cx="1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0390" name="Line 26"/>
              <p:cNvSpPr/>
              <p:nvPr/>
            </p:nvSpPr>
            <p:spPr>
              <a:xfrm>
                <a:off x="1987" y="2450"/>
                <a:ext cx="238" cy="2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0391" name="Line 27"/>
              <p:cNvSpPr/>
              <p:nvPr/>
            </p:nvSpPr>
            <p:spPr>
              <a:xfrm flipH="1">
                <a:off x="1736" y="2450"/>
                <a:ext cx="134" cy="28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0392" name="Oval 28"/>
              <p:cNvSpPr/>
              <p:nvPr/>
            </p:nvSpPr>
            <p:spPr>
              <a:xfrm>
                <a:off x="1669" y="2718"/>
                <a:ext cx="214" cy="18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0393" name="Text Box 29"/>
              <p:cNvSpPr txBox="1"/>
              <p:nvPr/>
            </p:nvSpPr>
            <p:spPr>
              <a:xfrm>
                <a:off x="1719" y="2652"/>
                <a:ext cx="1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0394" name="Rectangle 30"/>
              <p:cNvSpPr/>
              <p:nvPr/>
            </p:nvSpPr>
            <p:spPr>
              <a:xfrm>
                <a:off x="877" y="2427"/>
                <a:ext cx="1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0395" name="Rectangle 31"/>
              <p:cNvSpPr/>
              <p:nvPr/>
            </p:nvSpPr>
            <p:spPr>
              <a:xfrm>
                <a:off x="1206" y="2458"/>
                <a:ext cx="1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0396" name="Rectangle 32"/>
              <p:cNvSpPr/>
              <p:nvPr/>
            </p:nvSpPr>
            <p:spPr>
              <a:xfrm>
                <a:off x="1619" y="2420"/>
                <a:ext cx="1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0397" name="Rectangle 33"/>
              <p:cNvSpPr/>
              <p:nvPr/>
            </p:nvSpPr>
            <p:spPr>
              <a:xfrm>
                <a:off x="2066" y="2420"/>
                <a:ext cx="11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00372" name="Rectangle 34"/>
            <p:cNvSpPr/>
            <p:nvPr/>
          </p:nvSpPr>
          <p:spPr>
            <a:xfrm>
              <a:off x="4416" y="6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PMingLiU" pitchFamily="18" charset="-12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100373" name="Rectangle 35"/>
            <p:cNvSpPr/>
            <p:nvPr/>
          </p:nvSpPr>
          <p:spPr>
            <a:xfrm>
              <a:off x="4752" y="240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PMingLiU" pitchFamily="18" charset="-12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100374" name="Rectangle 36"/>
            <p:cNvSpPr/>
            <p:nvPr/>
          </p:nvSpPr>
          <p:spPr>
            <a:xfrm>
              <a:off x="5088" y="576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PMingLiU" pitchFamily="18" charset="-12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100375" name="Rectangle 37"/>
            <p:cNvSpPr/>
            <p:nvPr/>
          </p:nvSpPr>
          <p:spPr>
            <a:xfrm>
              <a:off x="4992" y="1056"/>
              <a:ext cx="2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PMingLiU" pitchFamily="18" charset="-120"/>
                </a:rPr>
                <a:t>f </a:t>
              </a:r>
              <a:endParaRPr lang="en-US" altLang="zh-CN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100376" name="Rectangle 38"/>
            <p:cNvSpPr/>
            <p:nvPr/>
          </p:nvSpPr>
          <p:spPr>
            <a:xfrm>
              <a:off x="5404" y="100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PMingLiU" pitchFamily="18" charset="-12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</p:grpSp>
      <p:sp>
        <p:nvSpPr>
          <p:cNvPr id="290855" name="Rectangle 39"/>
          <p:cNvSpPr/>
          <p:nvPr/>
        </p:nvSpPr>
        <p:spPr>
          <a:xfrm>
            <a:off x="2895600" y="4953000"/>
            <a:ext cx="563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树中所有</a:t>
            </a:r>
            <a:r>
              <a:rPr lang="zh-CN" altLang="en-US" sz="2400" b="1" dirty="0">
                <a:solidFill>
                  <a:schemeClr val="hlink"/>
                </a:solidFill>
                <a:latin typeface="楷体_GB2312"/>
                <a:ea typeface="楷体_GB2312"/>
              </a:rPr>
              <a:t>叶子结点</a:t>
            </a:r>
            <a:r>
              <a:rPr lang="zh-CN" altLang="en-US" sz="2400" b="1" dirty="0">
                <a:latin typeface="楷体_GB2312"/>
                <a:ea typeface="楷体_GB2312"/>
              </a:rPr>
              <a:t>的带权路径长度之和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90856" name="Rectangle 40"/>
          <p:cNvSpPr/>
          <p:nvPr/>
        </p:nvSpPr>
        <p:spPr>
          <a:xfrm>
            <a:off x="2286000" y="5715000"/>
            <a:ext cx="3571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带权路径长度最小的树。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90857" name="Rectangle 41"/>
          <p:cNvSpPr/>
          <p:nvPr/>
        </p:nvSpPr>
        <p:spPr>
          <a:xfrm>
            <a:off x="4716463" y="2781300"/>
            <a:ext cx="26368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a→e</a:t>
            </a:r>
            <a:r>
              <a:rPr lang="zh-CN" altLang="en-US" sz="2400" b="1" dirty="0">
                <a:latin typeface="楷体_GB2312"/>
                <a:ea typeface="楷体_GB2312"/>
              </a:rPr>
              <a:t>的路径长度＝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90858" name="Rectangle 42"/>
          <p:cNvSpPr/>
          <p:nvPr/>
        </p:nvSpPr>
        <p:spPr>
          <a:xfrm>
            <a:off x="7118350" y="3505200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树长度＝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90859" name="Rectangle 43"/>
          <p:cNvSpPr/>
          <p:nvPr/>
        </p:nvSpPr>
        <p:spPr>
          <a:xfrm>
            <a:off x="7239000" y="2819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2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90860" name="Rectangle 44"/>
          <p:cNvSpPr/>
          <p:nvPr/>
        </p:nvSpPr>
        <p:spPr>
          <a:xfrm>
            <a:off x="8229600" y="35052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10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0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0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0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0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8" grpId="0"/>
      <p:bldP spid="290820" grpId="0"/>
      <p:bldP spid="290821" grpId="0"/>
      <p:bldP spid="290822" grpId="0"/>
      <p:bldP spid="290823" grpId="0"/>
      <p:bldP spid="290824" grpId="0"/>
      <p:bldP spid="290825" grpId="0" animBg="1"/>
      <p:bldP spid="290826" grpId="0"/>
      <p:bldP spid="290855" grpId="0"/>
      <p:bldP spid="290856" grpId="0"/>
      <p:bldP spid="290857" grpId="0"/>
      <p:bldP spid="290858" grpId="0"/>
      <p:bldP spid="290859" grpId="0"/>
      <p:bldP spid="29086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1379" name="Rectang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3124200" cy="4572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Huffman</a:t>
            </a: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树简介：</a:t>
            </a:r>
            <a:endParaRPr lang="zh-CN" altLang="en-US" sz="3200" b="1" dirty="0">
              <a:solidFill>
                <a:schemeClr val="tx1"/>
              </a:solidFill>
              <a:latin typeface="楷体_GB2312"/>
              <a:ea typeface="楷体_GB2312"/>
            </a:endParaRPr>
          </a:p>
        </p:txBody>
      </p:sp>
      <p:sp>
        <p:nvSpPr>
          <p:cNvPr id="291843" name="Rectangle 3"/>
          <p:cNvSpPr/>
          <p:nvPr/>
        </p:nvSpPr>
        <p:spPr>
          <a:xfrm>
            <a:off x="381000" y="762000"/>
            <a:ext cx="487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树的带权路径长度如何计算？</a:t>
            </a:r>
            <a:endParaRPr lang="zh-CN" altLang="en-US" sz="2800" b="1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183188" y="522288"/>
            <a:ext cx="2360612" cy="1001712"/>
            <a:chOff x="2414" y="791"/>
            <a:chExt cx="1487" cy="631"/>
          </a:xfrm>
        </p:grpSpPr>
        <p:sp>
          <p:nvSpPr>
            <p:cNvPr id="101458" name="Rectangle 5"/>
            <p:cNvSpPr/>
            <p:nvPr/>
          </p:nvSpPr>
          <p:spPr>
            <a:xfrm>
              <a:off x="2414" y="898"/>
              <a:ext cx="1487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i="1" dirty="0">
                  <a:latin typeface="楷体_GB2312"/>
                  <a:ea typeface="楷体_GB2312"/>
                </a:rPr>
                <a:t>WPL</a:t>
              </a:r>
              <a:r>
                <a:rPr lang="en-US" altLang="zh-CN" sz="2800" b="1" dirty="0">
                  <a:latin typeface="楷体_GB2312"/>
                  <a:ea typeface="楷体_GB2312"/>
                </a:rPr>
                <a:t> = </a:t>
              </a:r>
              <a:r>
                <a:rPr lang="en-US" altLang="zh-CN" sz="3600" b="1" dirty="0">
                  <a:latin typeface="楷体_GB2312"/>
                  <a:ea typeface="楷体_GB2312"/>
                  <a:sym typeface="Symbol" panose="05050102010706020507" pitchFamily="18" charset="2"/>
                </a:rPr>
                <a:t></a:t>
              </a:r>
              <a:r>
                <a:rPr lang="en-US" altLang="zh-CN" b="1" i="1" dirty="0">
                  <a:latin typeface="楷体_GB2312"/>
                  <a:ea typeface="楷体_GB2312"/>
                  <a:sym typeface="Symbol" panose="05050102010706020507" pitchFamily="18" charset="2"/>
                </a:rPr>
                <a:t>w</a:t>
              </a:r>
              <a:r>
                <a:rPr lang="en-US" altLang="zh-CN" sz="2800" b="1" baseline="-25000" dirty="0">
                  <a:latin typeface="楷体_GB2312"/>
                  <a:ea typeface="楷体_GB2312"/>
                  <a:sym typeface="Symbol" panose="05050102010706020507" pitchFamily="18" charset="2"/>
                </a:rPr>
                <a:t>k</a:t>
              </a:r>
              <a:r>
                <a:rPr lang="en-US" altLang="zh-CN" b="1" i="1" dirty="0">
                  <a:latin typeface="楷体_GB2312"/>
                  <a:ea typeface="楷体_GB2312"/>
                  <a:sym typeface="Symbol" panose="05050102010706020507" pitchFamily="18" charset="2"/>
                </a:rPr>
                <a:t>l</a:t>
              </a:r>
              <a:r>
                <a:rPr lang="en-US" altLang="zh-CN" sz="2800" b="1" baseline="-25000" dirty="0">
                  <a:latin typeface="楷体_GB2312"/>
                  <a:ea typeface="楷体_GB2312"/>
                  <a:sym typeface="Symbol" panose="05050102010706020507" pitchFamily="18" charset="2"/>
                </a:rPr>
                <a:t>k </a:t>
              </a:r>
              <a:endParaRPr lang="en-US" altLang="zh-CN" sz="2800" b="1" baseline="-25000" dirty="0">
                <a:latin typeface="楷体_GB2312"/>
                <a:ea typeface="楷体_GB2312"/>
              </a:endParaRPr>
            </a:p>
          </p:txBody>
        </p:sp>
        <p:sp>
          <p:nvSpPr>
            <p:cNvPr id="101459" name="Rectangle 6"/>
            <p:cNvSpPr/>
            <p:nvPr/>
          </p:nvSpPr>
          <p:spPr>
            <a:xfrm>
              <a:off x="3102" y="1191"/>
              <a:ext cx="46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楷体_GB2312"/>
                  <a:ea typeface="楷体_GB2312"/>
                  <a:sym typeface="Symbol" panose="05050102010706020507" pitchFamily="18" charset="2"/>
                </a:rPr>
                <a:t>k=1</a:t>
              </a:r>
              <a:endParaRPr lang="en-US" altLang="zh-CN" sz="1800" b="1" i="1" dirty="0">
                <a:latin typeface="楷体_GB2312"/>
                <a:ea typeface="楷体_GB2312"/>
                <a:sym typeface="Symbol" panose="05050102010706020507" pitchFamily="18" charset="2"/>
              </a:endParaRPr>
            </a:p>
          </p:txBody>
        </p:sp>
        <p:sp>
          <p:nvSpPr>
            <p:cNvPr id="101460" name="Rectangle 7"/>
            <p:cNvSpPr/>
            <p:nvPr/>
          </p:nvSpPr>
          <p:spPr>
            <a:xfrm>
              <a:off x="3166" y="791"/>
              <a:ext cx="30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楷体_GB2312"/>
                  <a:ea typeface="楷体_GB2312"/>
                  <a:sym typeface="Symbol" panose="05050102010706020507" pitchFamily="18" charset="2"/>
                </a:rPr>
                <a:t>n</a:t>
              </a:r>
              <a:endParaRPr lang="en-US" altLang="zh-CN" sz="1800" b="1" i="1" dirty="0">
                <a:latin typeface="楷体_GB2312"/>
                <a:ea typeface="楷体_GB2312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533400" y="2514600"/>
            <a:ext cx="2497138" cy="2549525"/>
            <a:chOff x="838" y="1898"/>
            <a:chExt cx="1477" cy="1479"/>
          </a:xfrm>
        </p:grpSpPr>
        <p:grpSp>
          <p:nvGrpSpPr>
            <p:cNvPr id="101435" name="Group 9"/>
            <p:cNvGrpSpPr/>
            <p:nvPr/>
          </p:nvGrpSpPr>
          <p:grpSpPr>
            <a:xfrm>
              <a:off x="838" y="1898"/>
              <a:ext cx="1477" cy="1035"/>
              <a:chOff x="838" y="1898"/>
              <a:chExt cx="1477" cy="1035"/>
            </a:xfrm>
          </p:grpSpPr>
          <p:sp>
            <p:nvSpPr>
              <p:cNvPr id="101437" name="Oval 10"/>
              <p:cNvSpPr/>
              <p:nvPr/>
            </p:nvSpPr>
            <p:spPr>
              <a:xfrm>
                <a:off x="1450" y="1898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38" name="Oval 11"/>
              <p:cNvSpPr/>
              <p:nvPr/>
            </p:nvSpPr>
            <p:spPr>
              <a:xfrm>
                <a:off x="1117" y="2290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39" name="Oval 12"/>
              <p:cNvSpPr/>
              <p:nvPr/>
            </p:nvSpPr>
            <p:spPr>
              <a:xfrm>
                <a:off x="1799" y="2274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40" name="Oval 13"/>
              <p:cNvSpPr/>
              <p:nvPr/>
            </p:nvSpPr>
            <p:spPr>
              <a:xfrm>
                <a:off x="838" y="2725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41" name="Line 14"/>
              <p:cNvSpPr/>
              <p:nvPr/>
            </p:nvSpPr>
            <p:spPr>
              <a:xfrm flipH="1">
                <a:off x="1232" y="2084"/>
                <a:ext cx="267" cy="20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42" name="Line 15"/>
              <p:cNvSpPr/>
              <p:nvPr/>
            </p:nvSpPr>
            <p:spPr>
              <a:xfrm flipH="1">
                <a:off x="951" y="2467"/>
                <a:ext cx="191" cy="25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43" name="Rectangle 16"/>
              <p:cNvSpPr/>
              <p:nvPr/>
            </p:nvSpPr>
            <p:spPr>
              <a:xfrm>
                <a:off x="847" y="2668"/>
                <a:ext cx="189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44" name="Line 17"/>
              <p:cNvSpPr/>
              <p:nvPr/>
            </p:nvSpPr>
            <p:spPr>
              <a:xfrm>
                <a:off x="1623" y="2079"/>
                <a:ext cx="293" cy="19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45" name="Oval 18"/>
              <p:cNvSpPr/>
              <p:nvPr/>
            </p:nvSpPr>
            <p:spPr>
              <a:xfrm>
                <a:off x="1344" y="2718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46" name="Line 19"/>
              <p:cNvSpPr/>
              <p:nvPr/>
            </p:nvSpPr>
            <p:spPr>
              <a:xfrm>
                <a:off x="1282" y="2476"/>
                <a:ext cx="182" cy="24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47" name="Rectangle 20"/>
              <p:cNvSpPr/>
              <p:nvPr/>
            </p:nvSpPr>
            <p:spPr>
              <a:xfrm>
                <a:off x="1359" y="2667"/>
                <a:ext cx="199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48" name="Oval 21"/>
              <p:cNvSpPr/>
              <p:nvPr/>
            </p:nvSpPr>
            <p:spPr>
              <a:xfrm>
                <a:off x="2101" y="2711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49" name="Text Box 22"/>
              <p:cNvSpPr txBox="1"/>
              <p:nvPr/>
            </p:nvSpPr>
            <p:spPr>
              <a:xfrm>
                <a:off x="2105" y="2652"/>
                <a:ext cx="199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50" name="Line 23"/>
              <p:cNvSpPr/>
              <p:nvPr/>
            </p:nvSpPr>
            <p:spPr>
              <a:xfrm>
                <a:off x="1987" y="2450"/>
                <a:ext cx="238" cy="2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451" name="Line 24"/>
              <p:cNvSpPr/>
              <p:nvPr/>
            </p:nvSpPr>
            <p:spPr>
              <a:xfrm flipH="1">
                <a:off x="1736" y="2450"/>
                <a:ext cx="134" cy="28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452" name="Oval 25"/>
              <p:cNvSpPr/>
              <p:nvPr/>
            </p:nvSpPr>
            <p:spPr>
              <a:xfrm>
                <a:off x="1669" y="2718"/>
                <a:ext cx="214" cy="18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53" name="Text Box 26"/>
              <p:cNvSpPr txBox="1"/>
              <p:nvPr/>
            </p:nvSpPr>
            <p:spPr>
              <a:xfrm>
                <a:off x="1683" y="2651"/>
                <a:ext cx="189" cy="2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54" name="Rectangle 27"/>
              <p:cNvSpPr/>
              <p:nvPr/>
            </p:nvSpPr>
            <p:spPr>
              <a:xfrm>
                <a:off x="877" y="2428"/>
                <a:ext cx="199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7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55" name="Rectangle 28"/>
              <p:cNvSpPr/>
              <p:nvPr/>
            </p:nvSpPr>
            <p:spPr>
              <a:xfrm>
                <a:off x="1206" y="2458"/>
                <a:ext cx="199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5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56" name="Rectangle 29"/>
              <p:cNvSpPr/>
              <p:nvPr/>
            </p:nvSpPr>
            <p:spPr>
              <a:xfrm>
                <a:off x="1619" y="2420"/>
                <a:ext cx="199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2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57" name="Rectangle 30"/>
              <p:cNvSpPr/>
              <p:nvPr/>
            </p:nvSpPr>
            <p:spPr>
              <a:xfrm>
                <a:off x="2066" y="2420"/>
                <a:ext cx="199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4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01436" name="Rectangle 31"/>
            <p:cNvSpPr/>
            <p:nvPr/>
          </p:nvSpPr>
          <p:spPr>
            <a:xfrm>
              <a:off x="1449" y="3112"/>
              <a:ext cx="330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(a)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5" name="Group 32"/>
          <p:cNvGrpSpPr/>
          <p:nvPr/>
        </p:nvGrpSpPr>
        <p:grpSpPr>
          <a:xfrm>
            <a:off x="3751263" y="2324100"/>
            <a:ext cx="1471612" cy="2805113"/>
            <a:chOff x="2769" y="1857"/>
            <a:chExt cx="927" cy="1767"/>
          </a:xfrm>
        </p:grpSpPr>
        <p:grpSp>
          <p:nvGrpSpPr>
            <p:cNvPr id="101414" name="Group 33"/>
            <p:cNvGrpSpPr/>
            <p:nvPr/>
          </p:nvGrpSpPr>
          <p:grpSpPr>
            <a:xfrm>
              <a:off x="2769" y="1857"/>
              <a:ext cx="927" cy="1453"/>
              <a:chOff x="2769" y="1857"/>
              <a:chExt cx="927" cy="1453"/>
            </a:xfrm>
          </p:grpSpPr>
          <p:sp>
            <p:nvSpPr>
              <p:cNvPr id="101416" name="Oval 34"/>
              <p:cNvSpPr/>
              <p:nvPr/>
            </p:nvSpPr>
            <p:spPr>
              <a:xfrm>
                <a:off x="3172" y="1857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17" name="Oval 35"/>
              <p:cNvSpPr/>
              <p:nvPr/>
            </p:nvSpPr>
            <p:spPr>
              <a:xfrm>
                <a:off x="3004" y="2264"/>
                <a:ext cx="215" cy="189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18" name="Oval 36"/>
              <p:cNvSpPr/>
              <p:nvPr/>
            </p:nvSpPr>
            <p:spPr>
              <a:xfrm>
                <a:off x="3479" y="2255"/>
                <a:ext cx="21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19" name="Oval 37"/>
              <p:cNvSpPr/>
              <p:nvPr/>
            </p:nvSpPr>
            <p:spPr>
              <a:xfrm>
                <a:off x="2792" y="2707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20" name="Line 38"/>
              <p:cNvSpPr/>
              <p:nvPr/>
            </p:nvSpPr>
            <p:spPr>
              <a:xfrm flipH="1">
                <a:off x="3112" y="2043"/>
                <a:ext cx="108" cy="22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21" name="Line 39"/>
              <p:cNvSpPr/>
              <p:nvPr/>
            </p:nvSpPr>
            <p:spPr>
              <a:xfrm flipH="1">
                <a:off x="2881" y="2440"/>
                <a:ext cx="166" cy="2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22" name="Rectangle 40"/>
              <p:cNvSpPr/>
              <p:nvPr/>
            </p:nvSpPr>
            <p:spPr>
              <a:xfrm>
                <a:off x="3495" y="2197"/>
                <a:ext cx="201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23" name="Rectangle 41"/>
              <p:cNvSpPr/>
              <p:nvPr/>
            </p:nvSpPr>
            <p:spPr>
              <a:xfrm>
                <a:off x="2794" y="265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24" name="Line 42"/>
              <p:cNvSpPr/>
              <p:nvPr/>
            </p:nvSpPr>
            <p:spPr>
              <a:xfrm>
                <a:off x="3344" y="2038"/>
                <a:ext cx="201" cy="21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25" name="Line 43"/>
              <p:cNvSpPr/>
              <p:nvPr/>
            </p:nvSpPr>
            <p:spPr>
              <a:xfrm>
                <a:off x="3150" y="2428"/>
                <a:ext cx="150" cy="27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426" name="Oval 44"/>
              <p:cNvSpPr/>
              <p:nvPr/>
            </p:nvSpPr>
            <p:spPr>
              <a:xfrm>
                <a:off x="3188" y="2705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27" name="Oval 45"/>
              <p:cNvSpPr/>
              <p:nvPr/>
            </p:nvSpPr>
            <p:spPr>
              <a:xfrm>
                <a:off x="2939" y="3122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28" name="Oval 46"/>
              <p:cNvSpPr/>
              <p:nvPr/>
            </p:nvSpPr>
            <p:spPr>
              <a:xfrm>
                <a:off x="3421" y="3114"/>
                <a:ext cx="21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29" name="Line 47"/>
              <p:cNvSpPr/>
              <p:nvPr/>
            </p:nvSpPr>
            <p:spPr>
              <a:xfrm flipH="1">
                <a:off x="3108" y="2896"/>
                <a:ext cx="134" cy="23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430" name="Line 48"/>
              <p:cNvSpPr/>
              <p:nvPr/>
            </p:nvSpPr>
            <p:spPr>
              <a:xfrm>
                <a:off x="3367" y="2882"/>
                <a:ext cx="125" cy="2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431" name="Rectangle 49"/>
              <p:cNvSpPr/>
              <p:nvPr/>
            </p:nvSpPr>
            <p:spPr>
              <a:xfrm>
                <a:off x="3410" y="194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2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32" name="Rectangle 50"/>
              <p:cNvSpPr/>
              <p:nvPr/>
            </p:nvSpPr>
            <p:spPr>
              <a:xfrm>
                <a:off x="2769" y="238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4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33" name="Rectangle 51"/>
              <p:cNvSpPr/>
              <p:nvPr/>
            </p:nvSpPr>
            <p:spPr>
              <a:xfrm>
                <a:off x="3418" y="282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5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34" name="Rectangle 52"/>
              <p:cNvSpPr/>
              <p:nvPr/>
            </p:nvSpPr>
            <p:spPr>
              <a:xfrm>
                <a:off x="3018" y="2837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7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01415" name="Rectangle 53"/>
            <p:cNvSpPr/>
            <p:nvPr/>
          </p:nvSpPr>
          <p:spPr>
            <a:xfrm>
              <a:off x="3137" y="3336"/>
              <a:ext cx="36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(b)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7" name="Group 54"/>
          <p:cNvGrpSpPr/>
          <p:nvPr/>
        </p:nvGrpSpPr>
        <p:grpSpPr>
          <a:xfrm>
            <a:off x="5943600" y="2308225"/>
            <a:ext cx="1736725" cy="2873375"/>
            <a:chOff x="4146" y="1830"/>
            <a:chExt cx="1094" cy="1810"/>
          </a:xfrm>
        </p:grpSpPr>
        <p:grpSp>
          <p:nvGrpSpPr>
            <p:cNvPr id="101394" name="Group 55"/>
            <p:cNvGrpSpPr/>
            <p:nvPr/>
          </p:nvGrpSpPr>
          <p:grpSpPr>
            <a:xfrm>
              <a:off x="4146" y="1830"/>
              <a:ext cx="1094" cy="1472"/>
              <a:chOff x="4146" y="1830"/>
              <a:chExt cx="1094" cy="1472"/>
            </a:xfrm>
          </p:grpSpPr>
          <p:sp>
            <p:nvSpPr>
              <p:cNvPr id="101396" name="Oval 56"/>
              <p:cNvSpPr/>
              <p:nvPr/>
            </p:nvSpPr>
            <p:spPr>
              <a:xfrm>
                <a:off x="4354" y="1830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zh-CN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397" name="Oval 57"/>
              <p:cNvSpPr/>
              <p:nvPr/>
            </p:nvSpPr>
            <p:spPr>
              <a:xfrm>
                <a:off x="4553" y="2249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398" name="Oval 58"/>
              <p:cNvSpPr/>
              <p:nvPr/>
            </p:nvSpPr>
            <p:spPr>
              <a:xfrm>
                <a:off x="4300" y="2672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399" name="Line 59"/>
              <p:cNvSpPr/>
              <p:nvPr/>
            </p:nvSpPr>
            <p:spPr>
              <a:xfrm flipH="1">
                <a:off x="4413" y="2414"/>
                <a:ext cx="191" cy="25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00" name="Rectangle 60"/>
              <p:cNvSpPr/>
              <p:nvPr/>
            </p:nvSpPr>
            <p:spPr>
              <a:xfrm>
                <a:off x="4310" y="262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b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01" name="Line 61"/>
              <p:cNvSpPr/>
              <p:nvPr/>
            </p:nvSpPr>
            <p:spPr>
              <a:xfrm>
                <a:off x="4509" y="2018"/>
                <a:ext cx="160" cy="23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02" name="Oval 62"/>
              <p:cNvSpPr/>
              <p:nvPr/>
            </p:nvSpPr>
            <p:spPr>
              <a:xfrm>
                <a:off x="4805" y="2664"/>
                <a:ext cx="21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01403" name="Line 63"/>
              <p:cNvSpPr/>
              <p:nvPr/>
            </p:nvSpPr>
            <p:spPr>
              <a:xfrm>
                <a:off x="4744" y="2423"/>
                <a:ext cx="174" cy="23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01404" name="Oval 64"/>
              <p:cNvSpPr/>
              <p:nvPr/>
            </p:nvSpPr>
            <p:spPr>
              <a:xfrm>
                <a:off x="5010" y="3114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d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05" name="Oval 65"/>
              <p:cNvSpPr/>
              <p:nvPr/>
            </p:nvSpPr>
            <p:spPr>
              <a:xfrm>
                <a:off x="4146" y="2230"/>
                <a:ext cx="214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a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06" name="Oval 66"/>
              <p:cNvSpPr/>
              <p:nvPr/>
            </p:nvSpPr>
            <p:spPr>
              <a:xfrm>
                <a:off x="4545" y="3114"/>
                <a:ext cx="215" cy="188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2075" tIns="46038" rIns="92075" bIns="46038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c</a:t>
                </a:r>
                <a:endParaRPr lang="en-US" altLang="zh-TW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07" name="Line 67"/>
              <p:cNvSpPr/>
              <p:nvPr/>
            </p:nvSpPr>
            <p:spPr>
              <a:xfrm>
                <a:off x="4998" y="2830"/>
                <a:ext cx="133" cy="28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408" name="Line 68"/>
              <p:cNvSpPr/>
              <p:nvPr/>
            </p:nvSpPr>
            <p:spPr>
              <a:xfrm flipH="1">
                <a:off x="4707" y="2838"/>
                <a:ext cx="150" cy="28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409" name="Line 69"/>
              <p:cNvSpPr/>
              <p:nvPr/>
            </p:nvSpPr>
            <p:spPr>
              <a:xfrm flipH="1">
                <a:off x="4266" y="2012"/>
                <a:ext cx="149" cy="23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1410" name="Rectangle 70"/>
              <p:cNvSpPr/>
              <p:nvPr/>
            </p:nvSpPr>
            <p:spPr>
              <a:xfrm>
                <a:off x="4206" y="1938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7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11" name="Rectangle 71"/>
              <p:cNvSpPr/>
              <p:nvPr/>
            </p:nvSpPr>
            <p:spPr>
              <a:xfrm>
                <a:off x="4355" y="2345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5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12" name="Rectangle 72"/>
              <p:cNvSpPr/>
              <p:nvPr/>
            </p:nvSpPr>
            <p:spPr>
              <a:xfrm>
                <a:off x="4604" y="279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2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  <p:sp>
            <p:nvSpPr>
              <p:cNvPr id="101413" name="Rectangle 73"/>
              <p:cNvSpPr/>
              <p:nvPr/>
            </p:nvSpPr>
            <p:spPr>
              <a:xfrm>
                <a:off x="5029" y="2808"/>
                <a:ext cx="21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2075" tIns="46038" rIns="92075" bIns="46038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PMingLiU" pitchFamily="18" charset="-120"/>
                  </a:rPr>
                  <a:t>4</a:t>
                </a:r>
                <a:endParaRPr lang="zh-TW" altLang="en-US" sz="2400" dirty="0">
                  <a:latin typeface="Times New Roman" panose="02020603050405020304" pitchFamily="18" charset="0"/>
                  <a:ea typeface="PMingLiU" pitchFamily="18" charset="-120"/>
                </a:endParaRPr>
              </a:p>
            </p:txBody>
          </p:sp>
        </p:grpSp>
        <p:sp>
          <p:nvSpPr>
            <p:cNvPr id="101395" name="Rectangle 74"/>
            <p:cNvSpPr/>
            <p:nvPr/>
          </p:nvSpPr>
          <p:spPr>
            <a:xfrm>
              <a:off x="4713" y="3352"/>
              <a:ext cx="3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</a:rPr>
                <a:t>(c)</a:t>
              </a:r>
              <a:endParaRPr lang="en-US" altLang="zh-CN" sz="24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91915" name="Rectangle 75"/>
          <p:cNvSpPr>
            <a:spLocks noChangeArrowheads="1"/>
          </p:cNvSpPr>
          <p:nvPr/>
        </p:nvSpPr>
        <p:spPr bwMode="auto">
          <a:xfrm>
            <a:off x="304800" y="1905000"/>
            <a:ext cx="1981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经典之例：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1916" name="Rectangle 76"/>
          <p:cNvSpPr/>
          <p:nvPr/>
        </p:nvSpPr>
        <p:spPr>
          <a:xfrm>
            <a:off x="838200" y="5195888"/>
            <a:ext cx="17891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WPL=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36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1917" name="Rectangle 77"/>
          <p:cNvSpPr/>
          <p:nvPr/>
        </p:nvSpPr>
        <p:spPr>
          <a:xfrm>
            <a:off x="3810000" y="5195888"/>
            <a:ext cx="15525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WPL=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46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1918" name="Rectangle 78"/>
          <p:cNvSpPr/>
          <p:nvPr/>
        </p:nvSpPr>
        <p:spPr>
          <a:xfrm>
            <a:off x="6283325" y="5181600"/>
            <a:ext cx="16414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WPL= 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35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1919" name="Rectangle 79"/>
          <p:cNvSpPr/>
          <p:nvPr/>
        </p:nvSpPr>
        <p:spPr>
          <a:xfrm>
            <a:off x="381000" y="1295400"/>
            <a:ext cx="548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哈夫曼树则是：</a:t>
            </a:r>
            <a:r>
              <a:rPr lang="en-US" altLang="zh-CN" sz="2800" b="1" i="1" dirty="0">
                <a:latin typeface="楷体_GB2312"/>
                <a:ea typeface="楷体_GB2312"/>
              </a:rPr>
              <a:t>WPL </a:t>
            </a:r>
            <a:r>
              <a:rPr lang="zh-CN" altLang="en-US" sz="2800" b="1" dirty="0">
                <a:latin typeface="楷体_GB2312"/>
                <a:ea typeface="楷体_GB2312"/>
              </a:rPr>
              <a:t>最小的树。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sp>
        <p:nvSpPr>
          <p:cNvPr id="291920" name="AutoShape 80"/>
          <p:cNvSpPr/>
          <p:nvPr/>
        </p:nvSpPr>
        <p:spPr>
          <a:xfrm>
            <a:off x="7086600" y="1981200"/>
            <a:ext cx="1828800" cy="381000"/>
          </a:xfrm>
          <a:prstGeom prst="wedgeRoundRectCallout">
            <a:avLst>
              <a:gd name="adj1" fmla="val -52431"/>
              <a:gd name="adj2" fmla="val 198333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Huffman</a:t>
            </a: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树</a:t>
            </a:r>
            <a:endParaRPr lang="zh-CN" altLang="en-US" sz="2400" b="1" dirty="0">
              <a:solidFill>
                <a:srgbClr val="FF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1921" name="AutoShape 81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1922" name="AutoShape 82"/>
          <p:cNvSpPr/>
          <p:nvPr/>
        </p:nvSpPr>
        <p:spPr>
          <a:xfrm>
            <a:off x="5334000" y="0"/>
            <a:ext cx="3810000" cy="457200"/>
          </a:xfrm>
          <a:prstGeom prst="wedgeRectCallout">
            <a:avLst>
              <a:gd name="adj1" fmla="val -42472"/>
              <a:gd name="adj2" fmla="val 126389"/>
            </a:avLst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GB" altLang="zh-CN" sz="2400" b="1" i="1" dirty="0">
                <a:solidFill>
                  <a:schemeClr val="accent1"/>
                </a:solidFill>
                <a:latin typeface="楷体_GB2312"/>
                <a:ea typeface="楷体_GB2312"/>
              </a:rPr>
              <a:t>Weighted Path Length</a:t>
            </a:r>
            <a:endParaRPr lang="en-US" altLang="zh-CN" sz="240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1923" name="AutoShape 83">
            <a:hlinkClick r:id="rId1" action="ppaction://hlinksldjump"/>
          </p:cNvPr>
          <p:cNvSpPr/>
          <p:nvPr/>
        </p:nvSpPr>
        <p:spPr>
          <a:xfrm>
            <a:off x="8229600" y="3581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9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91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3" grpId="0"/>
      <p:bldP spid="291915" grpId="0"/>
      <p:bldP spid="291916" grpId="0"/>
      <p:bldP spid="291917" grpId="0"/>
      <p:bldP spid="291918" grpId="0"/>
      <p:bldP spid="291919" grpId="0"/>
      <p:bldP spid="291920" grpId="0" animBg="1"/>
      <p:bldP spid="291921" grpId="0" animBg="1"/>
      <p:bldP spid="291922" grpId="0" animBg="1"/>
      <p:bldP spid="29192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4" name="Text Box 4"/>
          <p:cNvSpPr txBox="1"/>
          <p:nvPr/>
        </p:nvSpPr>
        <p:spPr>
          <a:xfrm>
            <a:off x="1282700" y="3584575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1800" dirty="0"/>
          </a:p>
        </p:txBody>
      </p:sp>
      <p:sp>
        <p:nvSpPr>
          <p:cNvPr id="313349" name="Text Box 5"/>
          <p:cNvSpPr txBox="1"/>
          <p:nvPr/>
        </p:nvSpPr>
        <p:spPr>
          <a:xfrm>
            <a:off x="1403350" y="4598988"/>
            <a:ext cx="6913563" cy="22145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(a)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</a:rPr>
              <a:t>WPL=7×2+5×2+2×2+4×2=36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(b)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</a:rPr>
              <a:t>WPL=7×3+5×3+2×1+4×2=46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(c)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</a:rPr>
              <a:t>WPL=7×1+5×2+2×3+4×3=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35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(d)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</a:rPr>
              <a:t>WPL=7×1+5×2+2×3+4×3=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35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13354" name="Group 10"/>
          <p:cNvGrpSpPr/>
          <p:nvPr/>
        </p:nvGrpSpPr>
        <p:grpSpPr>
          <a:xfrm>
            <a:off x="468313" y="1909763"/>
            <a:ext cx="7559675" cy="2887662"/>
            <a:chOff x="295" y="164"/>
            <a:chExt cx="4762" cy="1819"/>
          </a:xfrm>
        </p:grpSpPr>
        <p:pic>
          <p:nvPicPr>
            <p:cNvPr id="102408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95" y="164"/>
              <a:ext cx="4762" cy="163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09" name="Text Box 6"/>
            <p:cNvSpPr txBox="1"/>
            <p:nvPr/>
          </p:nvSpPr>
          <p:spPr>
            <a:xfrm>
              <a:off x="778" y="1537"/>
              <a:ext cx="48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8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1800" b="1" dirty="0">
                  <a:solidFill>
                    <a:srgbClr val="FF0000"/>
                  </a:solidFill>
                </a:rPr>
                <a:t>a</a:t>
              </a:r>
              <a:r>
                <a:rPr lang="zh-CN" altLang="en-US" sz="1800" b="1" dirty="0">
                  <a:solidFill>
                    <a:srgbClr val="FF0000"/>
                  </a:solidFill>
                </a:rPr>
                <a:t>）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102410" name="Text Box 7"/>
            <p:cNvSpPr txBox="1"/>
            <p:nvPr/>
          </p:nvSpPr>
          <p:spPr>
            <a:xfrm>
              <a:off x="2059" y="1706"/>
              <a:ext cx="49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8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1800" b="1" dirty="0">
                  <a:solidFill>
                    <a:srgbClr val="FF0000"/>
                  </a:solidFill>
                </a:rPr>
                <a:t>b</a:t>
              </a:r>
              <a:r>
                <a:rPr lang="zh-CN" altLang="en-US" sz="1800" b="1" dirty="0">
                  <a:solidFill>
                    <a:srgbClr val="FF0000"/>
                  </a:solidFill>
                </a:rPr>
                <a:t>）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102411" name="Text Box 8"/>
            <p:cNvSpPr txBox="1"/>
            <p:nvPr/>
          </p:nvSpPr>
          <p:spPr>
            <a:xfrm>
              <a:off x="3267" y="1645"/>
              <a:ext cx="5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c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102412" name="Text Box 9"/>
            <p:cNvSpPr txBox="1"/>
            <p:nvPr/>
          </p:nvSpPr>
          <p:spPr>
            <a:xfrm>
              <a:off x="4463" y="1752"/>
              <a:ext cx="49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8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1800" b="1" dirty="0">
                  <a:solidFill>
                    <a:srgbClr val="FF0000"/>
                  </a:solidFill>
                </a:rPr>
                <a:t>d</a:t>
              </a:r>
              <a:r>
                <a:rPr lang="zh-CN" altLang="en-US" sz="1800" b="1" dirty="0">
                  <a:solidFill>
                    <a:srgbClr val="FF0000"/>
                  </a:solidFill>
                </a:rPr>
                <a:t>）</a:t>
              </a:r>
              <a:endParaRPr lang="zh-CN" altLang="en-US" sz="1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13355" name="Text Box 11"/>
          <p:cNvSpPr txBox="1"/>
          <p:nvPr/>
        </p:nvSpPr>
        <p:spPr>
          <a:xfrm>
            <a:off x="0" y="212725"/>
            <a:ext cx="9251950" cy="1920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/>
              </a:rPr>
              <a:t>     </a:t>
            </a:r>
            <a:r>
              <a:rPr lang="zh-CN" altLang="en-US" b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在所有含 </a:t>
            </a:r>
            <a:r>
              <a:rPr lang="en-US" altLang="zh-CN" b="1" i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n </a:t>
            </a:r>
            <a:r>
              <a:rPr lang="zh-CN" altLang="en-US" b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个叶子结点、并带相同权值的 二叉树中，必存在一棵其</a:t>
            </a:r>
            <a:r>
              <a:rPr lang="zh-CN" altLang="en-US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/>
              </a:rPr>
              <a:t>带权路径长度取最小值</a:t>
            </a:r>
            <a:r>
              <a:rPr lang="zh-CN" altLang="en-US" b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的树，称为“</a:t>
            </a:r>
            <a:r>
              <a:rPr lang="zh-CN" altLang="en-US" b="1" dirty="0">
                <a:solidFill>
                  <a:srgbClr val="800080"/>
                </a:solidFill>
                <a:latin typeface="Times New Roman" panose="02020603050405020304" pitchFamily="18" charset="0"/>
                <a:ea typeface="楷体_GB2312"/>
              </a:rPr>
              <a:t>最优树</a:t>
            </a:r>
            <a:r>
              <a:rPr lang="zh-CN" altLang="en-US" b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”。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3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3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3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3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334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charRg st="28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3349">
                                            <p:txEl>
                                              <p:charRg st="28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charRg st="5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3349">
                                            <p:txEl>
                                              <p:charRg st="57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charRg st="86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3349">
                                            <p:txEl>
                                              <p:charRg st="86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5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2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4370" name="Rectangle 2"/>
          <p:cNvSpPr>
            <a:spLocks noGrp="1"/>
          </p:cNvSpPr>
          <p:nvPr>
            <p:ph type="title"/>
          </p:nvPr>
        </p:nvSpPr>
        <p:spPr>
          <a:xfrm>
            <a:off x="-180975" y="1665288"/>
            <a:ext cx="9144000" cy="1792287"/>
          </a:xfrm>
        </p:spPr>
        <p:txBody>
          <a:bodyPr vert="horz" wrap="square" lIns="91440" tIns="45720" rIns="91440" bIns="45720" anchor="ctr" anchorCtr="0"/>
          <a:p>
            <a:pPr eaLnBrk="1" hangingPunct="1">
              <a:lnSpc>
                <a:spcPct val="140000"/>
              </a:lnSpc>
            </a:pPr>
            <a:r>
              <a:rPr lang="zh-CN" altLang="en-US" sz="4000" b="1" dirty="0">
                <a:solidFill>
                  <a:schemeClr val="tx1"/>
                </a:solidFill>
              </a:rPr>
              <a:t>结论：</a:t>
            </a:r>
            <a:br>
              <a:rPr lang="zh-CN" altLang="en-US" sz="4000" b="1" dirty="0">
                <a:solidFill>
                  <a:schemeClr val="tx1"/>
                </a:solidFill>
              </a:rPr>
            </a:br>
            <a:r>
              <a:rPr lang="zh-CN" altLang="en-US" sz="3600" b="1" dirty="0">
                <a:solidFill>
                  <a:srgbClr val="FF0066"/>
                </a:solidFill>
              </a:rPr>
              <a:t>（</a:t>
            </a:r>
            <a:r>
              <a:rPr lang="en-US" altLang="zh-CN" sz="3600" b="1" dirty="0">
                <a:solidFill>
                  <a:srgbClr val="FF0066"/>
                </a:solidFill>
              </a:rPr>
              <a:t>1</a:t>
            </a:r>
            <a:r>
              <a:rPr lang="zh-CN" altLang="en-US" sz="3600" b="1" dirty="0">
                <a:solidFill>
                  <a:srgbClr val="FF0066"/>
                </a:solidFill>
              </a:rPr>
              <a:t>）完全二叉树并不一定是</a:t>
            </a:r>
            <a:r>
              <a:rPr lang="en-US" altLang="zh-CN" sz="3600" b="1" dirty="0">
                <a:solidFill>
                  <a:srgbClr val="FF0066"/>
                </a:solidFill>
              </a:rPr>
              <a:t>Huffman</a:t>
            </a:r>
            <a:r>
              <a:rPr lang="zh-CN" altLang="en-US" sz="3600" b="1" dirty="0">
                <a:solidFill>
                  <a:srgbClr val="FF0066"/>
                </a:solidFill>
              </a:rPr>
              <a:t>树</a:t>
            </a:r>
            <a:br>
              <a:rPr lang="zh-CN" altLang="en-US" sz="3600" b="1" dirty="0">
                <a:solidFill>
                  <a:srgbClr val="FF0066"/>
                </a:solidFill>
              </a:rPr>
            </a:br>
            <a:r>
              <a:rPr lang="zh-CN" altLang="en-US" sz="3600" b="1" dirty="0">
                <a:solidFill>
                  <a:srgbClr val="000066"/>
                </a:solidFill>
              </a:rPr>
              <a:t>（</a:t>
            </a:r>
            <a:r>
              <a:rPr lang="en-US" altLang="zh-CN" sz="3600" b="1" dirty="0">
                <a:solidFill>
                  <a:srgbClr val="000066"/>
                </a:solidFill>
              </a:rPr>
              <a:t>2</a:t>
            </a:r>
            <a:r>
              <a:rPr lang="zh-CN" altLang="en-US" sz="3600" b="1" dirty="0">
                <a:solidFill>
                  <a:srgbClr val="000066"/>
                </a:solidFill>
              </a:rPr>
              <a:t>）</a:t>
            </a:r>
            <a:r>
              <a:rPr lang="en-US" altLang="zh-CN" sz="3600" b="1" dirty="0">
                <a:solidFill>
                  <a:srgbClr val="000066"/>
                </a:solidFill>
              </a:rPr>
              <a:t>HT</a:t>
            </a:r>
            <a:r>
              <a:rPr lang="zh-CN" altLang="en-US" sz="3600" b="1" dirty="0">
                <a:solidFill>
                  <a:srgbClr val="000066"/>
                </a:solidFill>
              </a:rPr>
              <a:t>是权值越大的越靠近根结点；</a:t>
            </a:r>
            <a:br>
              <a:rPr lang="zh-CN" altLang="en-US" sz="3600" dirty="0"/>
            </a:br>
            <a:r>
              <a:rPr lang="zh-CN" altLang="en-US" sz="3600" b="1" dirty="0">
                <a:solidFill>
                  <a:srgbClr val="006600"/>
                </a:solidFill>
              </a:rPr>
              <a:t>（</a:t>
            </a:r>
            <a:r>
              <a:rPr lang="en-US" altLang="zh-CN" sz="3600" b="1" dirty="0">
                <a:solidFill>
                  <a:srgbClr val="006600"/>
                </a:solidFill>
              </a:rPr>
              <a:t>3</a:t>
            </a:r>
            <a:r>
              <a:rPr lang="zh-CN" altLang="en-US" sz="3600" b="1" dirty="0">
                <a:solidFill>
                  <a:srgbClr val="006600"/>
                </a:solidFill>
              </a:rPr>
              <a:t>）</a:t>
            </a:r>
            <a:r>
              <a:rPr lang="en-US" altLang="zh-CN" sz="3600" b="1" dirty="0">
                <a:solidFill>
                  <a:srgbClr val="006600"/>
                </a:solidFill>
              </a:rPr>
              <a:t>HT</a:t>
            </a:r>
            <a:r>
              <a:rPr lang="zh-CN" altLang="en-US" sz="3600" b="1" dirty="0">
                <a:solidFill>
                  <a:srgbClr val="006600"/>
                </a:solidFill>
              </a:rPr>
              <a:t>不唯一，但</a:t>
            </a:r>
            <a:r>
              <a:rPr lang="en-US" altLang="zh-CN" sz="3600" b="1" dirty="0">
                <a:solidFill>
                  <a:srgbClr val="006600"/>
                </a:solidFill>
              </a:rPr>
              <a:t>WPL</a:t>
            </a:r>
            <a:r>
              <a:rPr lang="zh-CN" altLang="en-US" sz="3600" b="1" dirty="0">
                <a:solidFill>
                  <a:srgbClr val="006600"/>
                </a:solidFill>
              </a:rPr>
              <a:t>一定相等。</a:t>
            </a:r>
            <a:br>
              <a:rPr lang="zh-CN" altLang="en-US" sz="3600" b="1" dirty="0">
                <a:solidFill>
                  <a:srgbClr val="006600"/>
                </a:solidFill>
              </a:rPr>
            </a:br>
            <a:r>
              <a:rPr lang="zh-CN" altLang="en-US" sz="3600" b="1" dirty="0">
                <a:solidFill>
                  <a:srgbClr val="006600"/>
                </a:solidFill>
              </a:rPr>
              <a:t>（</a:t>
            </a:r>
            <a:r>
              <a:rPr lang="en-US" altLang="zh-CN" sz="3600" b="1" dirty="0">
                <a:solidFill>
                  <a:srgbClr val="006600"/>
                </a:solidFill>
              </a:rPr>
              <a:t>4</a:t>
            </a:r>
            <a:r>
              <a:rPr lang="zh-CN" altLang="en-US" sz="3600" b="1" dirty="0">
                <a:solidFill>
                  <a:srgbClr val="006600"/>
                </a:solidFill>
              </a:rPr>
              <a:t>）</a:t>
            </a:r>
            <a:r>
              <a:rPr lang="zh-CN" altLang="en-US" sz="3600" b="1" dirty="0">
                <a:solidFill>
                  <a:srgbClr val="FF0000"/>
                </a:solidFill>
              </a:rPr>
              <a:t>完全二叉树是路径长度最短的二叉树。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5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5394" name="Text Box 2"/>
          <p:cNvSpPr txBox="1"/>
          <p:nvPr/>
        </p:nvSpPr>
        <p:spPr>
          <a:xfrm>
            <a:off x="323850" y="188913"/>
            <a:ext cx="6477000" cy="5453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_GB2312"/>
              </a:rPr>
              <a:t>例如下面的程序：</a:t>
            </a:r>
            <a:endParaRPr lang="zh-CN" altLang="en-US" b="1" dirty="0"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if(a &lt; 60)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p = “bad”;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else if(a &lt; 70)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p = “pass”;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else if(a &lt; 80)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p = “general”;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else if(a &lt;90)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p = “good”;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else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p = “excellent”;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pSp>
        <p:nvGrpSpPr>
          <p:cNvPr id="315426" name="Group 34"/>
          <p:cNvGrpSpPr/>
          <p:nvPr/>
        </p:nvGrpSpPr>
        <p:grpSpPr>
          <a:xfrm>
            <a:off x="4860925" y="333375"/>
            <a:ext cx="3743325" cy="4679950"/>
            <a:chOff x="3062" y="210"/>
            <a:chExt cx="2358" cy="2948"/>
          </a:xfrm>
        </p:grpSpPr>
        <p:grpSp>
          <p:nvGrpSpPr>
            <p:cNvPr id="104456" name="Group 3"/>
            <p:cNvGrpSpPr/>
            <p:nvPr/>
          </p:nvGrpSpPr>
          <p:grpSpPr>
            <a:xfrm>
              <a:off x="3062" y="210"/>
              <a:ext cx="2358" cy="2948"/>
              <a:chOff x="384" y="912"/>
              <a:chExt cx="2496" cy="2112"/>
            </a:xfrm>
          </p:grpSpPr>
          <p:grpSp>
            <p:nvGrpSpPr>
              <p:cNvPr id="104458" name="Group 4"/>
              <p:cNvGrpSpPr/>
              <p:nvPr/>
            </p:nvGrpSpPr>
            <p:grpSpPr>
              <a:xfrm>
                <a:off x="384" y="912"/>
                <a:ext cx="2496" cy="2112"/>
                <a:chOff x="1872" y="1104"/>
                <a:chExt cx="2496" cy="2112"/>
              </a:xfrm>
            </p:grpSpPr>
            <p:sp>
              <p:nvSpPr>
                <p:cNvPr id="104467" name="AutoShape 5"/>
                <p:cNvSpPr/>
                <p:nvPr/>
              </p:nvSpPr>
              <p:spPr>
                <a:xfrm>
                  <a:off x="2256" y="1104"/>
                  <a:ext cx="672" cy="240"/>
                </a:xfrm>
                <a:prstGeom prst="hexagon">
                  <a:avLst>
                    <a:gd name="adj" fmla="val 70000"/>
                    <a:gd name="vf" fmla="val 11547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a&lt;60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468" name="AutoShape 6"/>
                <p:cNvSpPr/>
                <p:nvPr/>
              </p:nvSpPr>
              <p:spPr>
                <a:xfrm>
                  <a:off x="2592" y="1536"/>
                  <a:ext cx="672" cy="240"/>
                </a:xfrm>
                <a:prstGeom prst="hexagon">
                  <a:avLst>
                    <a:gd name="adj" fmla="val 70000"/>
                    <a:gd name="vf" fmla="val 11547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a&lt;70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469" name="AutoShape 7"/>
                <p:cNvSpPr/>
                <p:nvPr/>
              </p:nvSpPr>
              <p:spPr>
                <a:xfrm>
                  <a:off x="2928" y="2016"/>
                  <a:ext cx="672" cy="240"/>
                </a:xfrm>
                <a:prstGeom prst="hexagon">
                  <a:avLst>
                    <a:gd name="adj" fmla="val 70000"/>
                    <a:gd name="vf" fmla="val 11547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a&lt;80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470" name="AutoShape 8"/>
                <p:cNvSpPr/>
                <p:nvPr/>
              </p:nvSpPr>
              <p:spPr>
                <a:xfrm>
                  <a:off x="3360" y="2496"/>
                  <a:ext cx="672" cy="240"/>
                </a:xfrm>
                <a:prstGeom prst="hexagon">
                  <a:avLst>
                    <a:gd name="adj" fmla="val 70000"/>
                    <a:gd name="vf" fmla="val 11547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a&lt;90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471" name="AutoShape 9"/>
                <p:cNvSpPr/>
                <p:nvPr/>
              </p:nvSpPr>
              <p:spPr>
                <a:xfrm>
                  <a:off x="3360" y="2496"/>
                  <a:ext cx="672" cy="240"/>
                </a:xfrm>
                <a:prstGeom prst="hexagon">
                  <a:avLst>
                    <a:gd name="adj" fmla="val 70000"/>
                    <a:gd name="vf" fmla="val 115470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endParaRPr lang="zh-CN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04472" name="AutoShape 10"/>
                <p:cNvCxnSpPr>
                  <a:stCxn id="104468" idx="2"/>
                  <a:endCxn id="104469" idx="2"/>
                </p:cNvCxnSpPr>
                <p:nvPr/>
              </p:nvCxnSpPr>
              <p:spPr>
                <a:xfrm>
                  <a:off x="2928" y="1776"/>
                  <a:ext cx="336" cy="240"/>
                </a:xfrm>
                <a:prstGeom prst="straightConnector1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4473" name="AutoShape 11"/>
                <p:cNvCxnSpPr>
                  <a:stCxn id="104467" idx="2"/>
                  <a:endCxn id="104468" idx="2"/>
                </p:cNvCxnSpPr>
                <p:nvPr/>
              </p:nvCxnSpPr>
              <p:spPr>
                <a:xfrm>
                  <a:off x="2592" y="1344"/>
                  <a:ext cx="336" cy="192"/>
                </a:xfrm>
                <a:prstGeom prst="straightConnector1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4474" name="AutoShape 12"/>
                <p:cNvCxnSpPr>
                  <a:stCxn id="104469" idx="2"/>
                  <a:endCxn id="104471" idx="2"/>
                </p:cNvCxnSpPr>
                <p:nvPr/>
              </p:nvCxnSpPr>
              <p:spPr>
                <a:xfrm>
                  <a:off x="3264" y="2256"/>
                  <a:ext cx="432" cy="240"/>
                </a:xfrm>
                <a:prstGeom prst="straightConnector1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4475" name="Rectangle 13"/>
                <p:cNvSpPr/>
                <p:nvPr/>
              </p:nvSpPr>
              <p:spPr>
                <a:xfrm>
                  <a:off x="1872" y="1488"/>
                  <a:ext cx="528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bad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476" name="Rectangle 14"/>
                <p:cNvSpPr/>
                <p:nvPr/>
              </p:nvSpPr>
              <p:spPr>
                <a:xfrm>
                  <a:off x="2160" y="2016"/>
                  <a:ext cx="528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pass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477" name="Rectangle 15"/>
                <p:cNvSpPr/>
                <p:nvPr/>
              </p:nvSpPr>
              <p:spPr>
                <a:xfrm>
                  <a:off x="2448" y="2496"/>
                  <a:ext cx="528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general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478" name="Rectangle 16"/>
                <p:cNvSpPr/>
                <p:nvPr/>
              </p:nvSpPr>
              <p:spPr>
                <a:xfrm>
                  <a:off x="2928" y="2976"/>
                  <a:ext cx="528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good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4479" name="Rectangle 17"/>
                <p:cNvSpPr/>
                <p:nvPr/>
              </p:nvSpPr>
              <p:spPr>
                <a:xfrm>
                  <a:off x="3840" y="2976"/>
                  <a:ext cx="528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excellent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04480" name="AutoShape 18"/>
                <p:cNvCxnSpPr>
                  <a:stCxn id="104467" idx="2"/>
                  <a:endCxn id="104475" idx="0"/>
                </p:cNvCxnSpPr>
                <p:nvPr/>
              </p:nvCxnSpPr>
              <p:spPr>
                <a:xfrm flipH="1">
                  <a:off x="2136" y="1344"/>
                  <a:ext cx="456" cy="144"/>
                </a:xfrm>
                <a:prstGeom prst="straightConnector1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4481" name="AutoShape 19"/>
                <p:cNvCxnSpPr>
                  <a:stCxn id="104468" idx="2"/>
                  <a:endCxn id="104476" idx="0"/>
                </p:cNvCxnSpPr>
                <p:nvPr/>
              </p:nvCxnSpPr>
              <p:spPr>
                <a:xfrm flipH="1">
                  <a:off x="2424" y="1776"/>
                  <a:ext cx="504" cy="240"/>
                </a:xfrm>
                <a:prstGeom prst="straightConnector1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4482" name="AutoShape 20"/>
                <p:cNvCxnSpPr>
                  <a:stCxn id="104469" idx="2"/>
                  <a:endCxn id="104477" idx="0"/>
                </p:cNvCxnSpPr>
                <p:nvPr/>
              </p:nvCxnSpPr>
              <p:spPr>
                <a:xfrm flipH="1">
                  <a:off x="2712" y="2256"/>
                  <a:ext cx="552" cy="240"/>
                </a:xfrm>
                <a:prstGeom prst="straightConnector1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4483" name="AutoShape 21"/>
                <p:cNvCxnSpPr>
                  <a:stCxn id="104471" idx="2"/>
                  <a:endCxn id="104478" idx="0"/>
                </p:cNvCxnSpPr>
                <p:nvPr/>
              </p:nvCxnSpPr>
              <p:spPr>
                <a:xfrm flipH="1">
                  <a:off x="3192" y="2736"/>
                  <a:ext cx="504" cy="240"/>
                </a:xfrm>
                <a:prstGeom prst="straightConnector1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4484" name="AutoShape 22"/>
                <p:cNvCxnSpPr>
                  <a:stCxn id="104471" idx="2"/>
                  <a:endCxn id="104479" idx="0"/>
                </p:cNvCxnSpPr>
                <p:nvPr/>
              </p:nvCxnSpPr>
              <p:spPr>
                <a:xfrm>
                  <a:off x="3696" y="2736"/>
                  <a:ext cx="408" cy="240"/>
                </a:xfrm>
                <a:prstGeom prst="straightConnector1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459" name="Text Box 23"/>
              <p:cNvSpPr txBox="1"/>
              <p:nvPr/>
            </p:nvSpPr>
            <p:spPr>
              <a:xfrm>
                <a:off x="624" y="1008"/>
                <a:ext cx="192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0" name="Text Box 24"/>
              <p:cNvSpPr txBox="1"/>
              <p:nvPr/>
            </p:nvSpPr>
            <p:spPr>
              <a:xfrm>
                <a:off x="960" y="1440"/>
                <a:ext cx="192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1" name="Text Box 25"/>
              <p:cNvSpPr txBox="1"/>
              <p:nvPr/>
            </p:nvSpPr>
            <p:spPr>
              <a:xfrm>
                <a:off x="1248" y="1920"/>
                <a:ext cx="192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2" name="Text Box 26"/>
              <p:cNvSpPr txBox="1"/>
              <p:nvPr/>
            </p:nvSpPr>
            <p:spPr>
              <a:xfrm>
                <a:off x="1728" y="2400"/>
                <a:ext cx="192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3" name="Text Box 27"/>
              <p:cNvSpPr txBox="1"/>
              <p:nvPr/>
            </p:nvSpPr>
            <p:spPr>
              <a:xfrm>
                <a:off x="1440" y="960"/>
                <a:ext cx="270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4" name="Text Box 28"/>
              <p:cNvSpPr txBox="1"/>
              <p:nvPr/>
            </p:nvSpPr>
            <p:spPr>
              <a:xfrm>
                <a:off x="1728" y="1488"/>
                <a:ext cx="270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5" name="Text Box 29"/>
              <p:cNvSpPr txBox="1"/>
              <p:nvPr/>
            </p:nvSpPr>
            <p:spPr>
              <a:xfrm>
                <a:off x="2160" y="2016"/>
                <a:ext cx="270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6" name="Text Box 30"/>
              <p:cNvSpPr txBox="1"/>
              <p:nvPr/>
            </p:nvSpPr>
            <p:spPr>
              <a:xfrm>
                <a:off x="2496" y="2496"/>
                <a:ext cx="270" cy="2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N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4457" name="Text Box 31"/>
            <p:cNvSpPr txBox="1"/>
            <p:nvPr/>
          </p:nvSpPr>
          <p:spPr>
            <a:xfrm>
              <a:off x="3130" y="2748"/>
              <a:ext cx="6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(a)</a:t>
              </a:r>
              <a:endParaRPr lang="en-US" altLang="zh-CN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15424" name="Text Box 32"/>
          <p:cNvSpPr txBox="1"/>
          <p:nvPr/>
        </p:nvSpPr>
        <p:spPr>
          <a:xfrm>
            <a:off x="4665663" y="5195888"/>
            <a:ext cx="4419600" cy="482600"/>
          </a:xfrm>
          <a:prstGeom prst="rect">
            <a:avLst/>
          </a:prstGeom>
          <a:solidFill>
            <a:srgbClr val="800080"/>
          </a:solidFill>
          <a:ln w="25400" cap="sq" cmpd="sng">
            <a:solidFill>
              <a:srgbClr val="800080"/>
            </a:solidFill>
            <a:prstDash val="solid"/>
            <a:miter/>
            <a:headEnd type="none" w="sm" len="sm"/>
            <a:tailEnd type="none" w="lg" len="lg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FF99"/>
                </a:solidFill>
                <a:latin typeface="Times New Roman" panose="02020603050405020304" pitchFamily="18" charset="0"/>
              </a:rPr>
              <a:t>5*1+15*2+40*3+30*4+10*4=315</a:t>
            </a:r>
            <a:endParaRPr lang="en-US" altLang="zh-CN" sz="2400" dirty="0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15425" name="Object 33"/>
          <p:cNvGraphicFramePr>
            <a:graphicFrameLocks noChangeAspect="1"/>
          </p:cNvGraphicFramePr>
          <p:nvPr/>
        </p:nvGraphicFramePr>
        <p:xfrm>
          <a:off x="142875" y="5703888"/>
          <a:ext cx="88582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631180" imgH="519430" progId="Word.Document.8">
                  <p:embed/>
                </p:oleObj>
              </mc:Choice>
              <mc:Fallback>
                <p:oleObj name="" r:id="rId1" imgW="5631180" imgH="51943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875" y="5703888"/>
                        <a:ext cx="8858250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/>
      <p:bldP spid="3154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7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5476" name="Object 2"/>
          <p:cNvGraphicFramePr>
            <a:graphicFrameLocks noChangeAspect="1"/>
          </p:cNvGraphicFramePr>
          <p:nvPr/>
        </p:nvGraphicFramePr>
        <p:xfrm>
          <a:off x="3419475" y="476250"/>
          <a:ext cx="88582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6682740" imgH="621030" progId="Word.Document.8">
                  <p:embed/>
                </p:oleObj>
              </mc:Choice>
              <mc:Fallback>
                <p:oleObj name="" r:id="rId1" imgW="6682740" imgH="621030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19475" y="476250"/>
                        <a:ext cx="8858250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6419" name="Group 3"/>
          <p:cNvGrpSpPr/>
          <p:nvPr/>
        </p:nvGrpSpPr>
        <p:grpSpPr>
          <a:xfrm>
            <a:off x="36513" y="404813"/>
            <a:ext cx="4030662" cy="4319587"/>
            <a:chOff x="2833" y="960"/>
            <a:chExt cx="2687" cy="2112"/>
          </a:xfrm>
        </p:grpSpPr>
        <p:grpSp>
          <p:nvGrpSpPr>
            <p:cNvPr id="105508" name="Group 4"/>
            <p:cNvGrpSpPr/>
            <p:nvPr/>
          </p:nvGrpSpPr>
          <p:grpSpPr>
            <a:xfrm>
              <a:off x="2833" y="960"/>
              <a:ext cx="2687" cy="2112"/>
              <a:chOff x="2689" y="1056"/>
              <a:chExt cx="2687" cy="2112"/>
            </a:xfrm>
          </p:grpSpPr>
          <p:sp>
            <p:nvSpPr>
              <p:cNvPr id="105517" name="AutoShape 5"/>
              <p:cNvSpPr/>
              <p:nvPr/>
            </p:nvSpPr>
            <p:spPr>
              <a:xfrm>
                <a:off x="3216" y="1056"/>
                <a:ext cx="1344" cy="240"/>
              </a:xfrm>
              <a:prstGeom prst="hexagon">
                <a:avLst>
                  <a:gd name="adj" fmla="val 140000"/>
                  <a:gd name="vf" fmla="val 11547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70&lt;=a&lt;80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518" name="AutoShape 6"/>
              <p:cNvSpPr/>
              <p:nvPr/>
            </p:nvSpPr>
            <p:spPr>
              <a:xfrm>
                <a:off x="3552" y="1488"/>
                <a:ext cx="1296" cy="240"/>
              </a:xfrm>
              <a:prstGeom prst="hexagon">
                <a:avLst>
                  <a:gd name="adj" fmla="val 135000"/>
                  <a:gd name="vf" fmla="val 11547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80&lt;=a&lt;90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519" name="AutoShape 7"/>
              <p:cNvSpPr/>
              <p:nvPr/>
            </p:nvSpPr>
            <p:spPr>
              <a:xfrm>
                <a:off x="3888" y="1968"/>
                <a:ext cx="1152" cy="240"/>
              </a:xfrm>
              <a:prstGeom prst="hexagon">
                <a:avLst>
                  <a:gd name="adj" fmla="val 120000"/>
                  <a:gd name="vf" fmla="val 11547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60&lt;=a&lt;70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520" name="AutoShape 8"/>
              <p:cNvSpPr/>
              <p:nvPr/>
            </p:nvSpPr>
            <p:spPr>
              <a:xfrm>
                <a:off x="3504" y="2448"/>
                <a:ext cx="672" cy="240"/>
              </a:xfrm>
              <a:prstGeom prst="hexagon">
                <a:avLst>
                  <a:gd name="adj" fmla="val 70000"/>
                  <a:gd name="vf" fmla="val 11547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a&lt;60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105521" name="AutoShape 9"/>
              <p:cNvCxnSpPr>
                <a:stCxn id="105518" idx="2"/>
                <a:endCxn id="105519" idx="2"/>
              </p:cNvCxnSpPr>
              <p:nvPr/>
            </p:nvCxnSpPr>
            <p:spPr>
              <a:xfrm>
                <a:off x="4200" y="1728"/>
                <a:ext cx="264" cy="240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05522" name="AutoShape 10"/>
              <p:cNvCxnSpPr>
                <a:stCxn id="105517" idx="2"/>
                <a:endCxn id="105518" idx="2"/>
              </p:cNvCxnSpPr>
              <p:nvPr/>
            </p:nvCxnSpPr>
            <p:spPr>
              <a:xfrm>
                <a:off x="3888" y="1296"/>
                <a:ext cx="312" cy="192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5523" name="Rectangle 11"/>
              <p:cNvSpPr/>
              <p:nvPr/>
            </p:nvSpPr>
            <p:spPr>
              <a:xfrm>
                <a:off x="2689" y="1440"/>
                <a:ext cx="671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general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524" name="Rectangle 12"/>
              <p:cNvSpPr/>
              <p:nvPr/>
            </p:nvSpPr>
            <p:spPr>
              <a:xfrm>
                <a:off x="3120" y="1968"/>
                <a:ext cx="52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good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525" name="Rectangle 13"/>
              <p:cNvSpPr/>
              <p:nvPr/>
            </p:nvSpPr>
            <p:spPr>
              <a:xfrm>
                <a:off x="4848" y="2496"/>
                <a:ext cx="52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pass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526" name="Rectangle 14"/>
              <p:cNvSpPr/>
              <p:nvPr/>
            </p:nvSpPr>
            <p:spPr>
              <a:xfrm>
                <a:off x="3072" y="2928"/>
                <a:ext cx="528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bad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527" name="Rectangle 15"/>
              <p:cNvSpPr/>
              <p:nvPr/>
            </p:nvSpPr>
            <p:spPr>
              <a:xfrm>
                <a:off x="3984" y="2928"/>
                <a:ext cx="837" cy="240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excellent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cxnSp>
            <p:nvCxnSpPr>
              <p:cNvPr id="105528" name="AutoShape 16"/>
              <p:cNvCxnSpPr>
                <a:stCxn id="105517" idx="2"/>
                <a:endCxn id="105523" idx="0"/>
              </p:cNvCxnSpPr>
              <p:nvPr/>
            </p:nvCxnSpPr>
            <p:spPr>
              <a:xfrm flipH="1">
                <a:off x="3024" y="1296"/>
                <a:ext cx="650" cy="144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05529" name="AutoShape 17"/>
              <p:cNvCxnSpPr>
                <a:stCxn id="105518" idx="2"/>
                <a:endCxn id="105524" idx="0"/>
              </p:cNvCxnSpPr>
              <p:nvPr/>
            </p:nvCxnSpPr>
            <p:spPr>
              <a:xfrm flipH="1">
                <a:off x="3384" y="1728"/>
                <a:ext cx="816" cy="240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05530" name="AutoShape 18"/>
              <p:cNvCxnSpPr/>
              <p:nvPr/>
            </p:nvCxnSpPr>
            <p:spPr>
              <a:xfrm flipH="1">
                <a:off x="3360" y="2688"/>
                <a:ext cx="504" cy="240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05531" name="AutoShape 19"/>
              <p:cNvCxnSpPr>
                <a:endCxn id="105527" idx="0"/>
              </p:cNvCxnSpPr>
              <p:nvPr/>
            </p:nvCxnSpPr>
            <p:spPr>
              <a:xfrm>
                <a:off x="3840" y="2688"/>
                <a:ext cx="563" cy="240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05532" name="AutoShape 20"/>
              <p:cNvCxnSpPr>
                <a:stCxn id="105519" idx="2"/>
                <a:endCxn id="105520" idx="2"/>
              </p:cNvCxnSpPr>
              <p:nvPr/>
            </p:nvCxnSpPr>
            <p:spPr>
              <a:xfrm flipH="1">
                <a:off x="3840" y="2208"/>
                <a:ext cx="624" cy="240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105533" name="AutoShape 21"/>
              <p:cNvCxnSpPr>
                <a:stCxn id="105519" idx="2"/>
                <a:endCxn id="105525" idx="0"/>
              </p:cNvCxnSpPr>
              <p:nvPr/>
            </p:nvCxnSpPr>
            <p:spPr>
              <a:xfrm>
                <a:off x="4464" y="2208"/>
                <a:ext cx="648" cy="288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105509" name="Text Box 22"/>
            <p:cNvSpPr txBox="1"/>
            <p:nvPr/>
          </p:nvSpPr>
          <p:spPr>
            <a:xfrm>
              <a:off x="3264" y="1056"/>
              <a:ext cx="270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10" name="Text Box 23"/>
            <p:cNvSpPr txBox="1"/>
            <p:nvPr/>
          </p:nvSpPr>
          <p:spPr>
            <a:xfrm>
              <a:off x="3503" y="1488"/>
              <a:ext cx="27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11" name="Text Box 24"/>
            <p:cNvSpPr txBox="1"/>
            <p:nvPr/>
          </p:nvSpPr>
          <p:spPr>
            <a:xfrm>
              <a:off x="3888" y="2017"/>
              <a:ext cx="270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12" name="Text Box 25"/>
            <p:cNvSpPr txBox="1"/>
            <p:nvPr/>
          </p:nvSpPr>
          <p:spPr>
            <a:xfrm>
              <a:off x="3408" y="2448"/>
              <a:ext cx="27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13" name="Text Box 26"/>
            <p:cNvSpPr txBox="1"/>
            <p:nvPr/>
          </p:nvSpPr>
          <p:spPr>
            <a:xfrm>
              <a:off x="4512" y="1152"/>
              <a:ext cx="269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14" name="Text Box 27"/>
            <p:cNvSpPr txBox="1"/>
            <p:nvPr/>
          </p:nvSpPr>
          <p:spPr>
            <a:xfrm>
              <a:off x="4608" y="1584"/>
              <a:ext cx="305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15" name="Text Box 28"/>
            <p:cNvSpPr txBox="1"/>
            <p:nvPr/>
          </p:nvSpPr>
          <p:spPr>
            <a:xfrm>
              <a:off x="4993" y="2064"/>
              <a:ext cx="270" cy="2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16" name="Text Box 29"/>
            <p:cNvSpPr txBox="1"/>
            <p:nvPr/>
          </p:nvSpPr>
          <p:spPr>
            <a:xfrm>
              <a:off x="4272" y="2495"/>
              <a:ext cx="270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6446" name="Group 30"/>
          <p:cNvGrpSpPr/>
          <p:nvPr/>
        </p:nvGrpSpPr>
        <p:grpSpPr>
          <a:xfrm>
            <a:off x="4140200" y="2636838"/>
            <a:ext cx="5003800" cy="3313112"/>
            <a:chOff x="0" y="672"/>
            <a:chExt cx="4512" cy="1872"/>
          </a:xfrm>
        </p:grpSpPr>
        <p:sp>
          <p:nvSpPr>
            <p:cNvPr id="105484" name="AutoShape 31"/>
            <p:cNvSpPr/>
            <p:nvPr/>
          </p:nvSpPr>
          <p:spPr>
            <a:xfrm>
              <a:off x="2112" y="672"/>
              <a:ext cx="912" cy="288"/>
            </a:xfrm>
            <a:prstGeom prst="hexagon">
              <a:avLst>
                <a:gd name="adj" fmla="val 79166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a&lt;80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85" name="AutoShape 32"/>
            <p:cNvSpPr/>
            <p:nvPr/>
          </p:nvSpPr>
          <p:spPr>
            <a:xfrm>
              <a:off x="1056" y="1152"/>
              <a:ext cx="912" cy="288"/>
            </a:xfrm>
            <a:prstGeom prst="hexagon">
              <a:avLst>
                <a:gd name="adj" fmla="val 79166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a&lt;70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86" name="AutoShape 33"/>
            <p:cNvSpPr/>
            <p:nvPr/>
          </p:nvSpPr>
          <p:spPr>
            <a:xfrm>
              <a:off x="3120" y="1152"/>
              <a:ext cx="912" cy="288"/>
            </a:xfrm>
            <a:prstGeom prst="hexagon">
              <a:avLst>
                <a:gd name="adj" fmla="val 79166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a&lt;90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87" name="AutoShape 34"/>
            <p:cNvSpPr/>
            <p:nvPr/>
          </p:nvSpPr>
          <p:spPr>
            <a:xfrm>
              <a:off x="480" y="1728"/>
              <a:ext cx="912" cy="288"/>
            </a:xfrm>
            <a:prstGeom prst="hexagon">
              <a:avLst>
                <a:gd name="adj" fmla="val 79166"/>
                <a:gd name="vf" fmla="val 11547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a&lt;60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88" name="Rectangle 35"/>
            <p:cNvSpPr/>
            <p:nvPr/>
          </p:nvSpPr>
          <p:spPr>
            <a:xfrm>
              <a:off x="1512" y="1680"/>
              <a:ext cx="984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general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89" name="Rectangle 36"/>
            <p:cNvSpPr/>
            <p:nvPr/>
          </p:nvSpPr>
          <p:spPr>
            <a:xfrm>
              <a:off x="0" y="2208"/>
              <a:ext cx="768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bad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90" name="Rectangle 37"/>
            <p:cNvSpPr/>
            <p:nvPr/>
          </p:nvSpPr>
          <p:spPr>
            <a:xfrm>
              <a:off x="1104" y="2208"/>
              <a:ext cx="768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pass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91" name="Rectangle 38"/>
            <p:cNvSpPr/>
            <p:nvPr/>
          </p:nvSpPr>
          <p:spPr>
            <a:xfrm>
              <a:off x="2597" y="1680"/>
              <a:ext cx="768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good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92" name="Rectangle 39"/>
            <p:cNvSpPr/>
            <p:nvPr/>
          </p:nvSpPr>
          <p:spPr>
            <a:xfrm>
              <a:off x="3456" y="1680"/>
              <a:ext cx="1056" cy="3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excellent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05493" name="AutoShape 40"/>
            <p:cNvCxnSpPr>
              <a:stCxn id="105484" idx="2"/>
              <a:endCxn id="105485" idx="2"/>
            </p:cNvCxnSpPr>
            <p:nvPr/>
          </p:nvCxnSpPr>
          <p:spPr>
            <a:xfrm flipH="1">
              <a:off x="1512" y="960"/>
              <a:ext cx="1056" cy="19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5494" name="AutoShape 41"/>
            <p:cNvCxnSpPr>
              <a:stCxn id="105484" idx="2"/>
              <a:endCxn id="105486" idx="2"/>
            </p:cNvCxnSpPr>
            <p:nvPr/>
          </p:nvCxnSpPr>
          <p:spPr>
            <a:xfrm>
              <a:off x="2568" y="960"/>
              <a:ext cx="1008" cy="19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5495" name="AutoShape 42"/>
            <p:cNvCxnSpPr>
              <a:stCxn id="105485" idx="2"/>
              <a:endCxn id="105487" idx="2"/>
            </p:cNvCxnSpPr>
            <p:nvPr/>
          </p:nvCxnSpPr>
          <p:spPr>
            <a:xfrm flipH="1">
              <a:off x="936" y="1440"/>
              <a:ext cx="576" cy="288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5496" name="AutoShape 43"/>
            <p:cNvCxnSpPr>
              <a:stCxn id="105485" idx="2"/>
              <a:endCxn id="105488" idx="0"/>
            </p:cNvCxnSpPr>
            <p:nvPr/>
          </p:nvCxnSpPr>
          <p:spPr>
            <a:xfrm>
              <a:off x="1420" y="1440"/>
              <a:ext cx="584" cy="24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5497" name="AutoShape 44"/>
            <p:cNvCxnSpPr>
              <a:stCxn id="105486" idx="2"/>
              <a:endCxn id="105491" idx="0"/>
            </p:cNvCxnSpPr>
            <p:nvPr/>
          </p:nvCxnSpPr>
          <p:spPr>
            <a:xfrm flipH="1">
              <a:off x="2981" y="1440"/>
              <a:ext cx="503" cy="24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5498" name="AutoShape 45"/>
            <p:cNvCxnSpPr>
              <a:stCxn id="105486" idx="2"/>
              <a:endCxn id="105492" idx="0"/>
            </p:cNvCxnSpPr>
            <p:nvPr/>
          </p:nvCxnSpPr>
          <p:spPr>
            <a:xfrm>
              <a:off x="3484" y="1440"/>
              <a:ext cx="500" cy="24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5499" name="AutoShape 46"/>
            <p:cNvCxnSpPr>
              <a:stCxn id="105487" idx="2"/>
              <a:endCxn id="105489" idx="0"/>
            </p:cNvCxnSpPr>
            <p:nvPr/>
          </p:nvCxnSpPr>
          <p:spPr>
            <a:xfrm flipH="1">
              <a:off x="384" y="2016"/>
              <a:ext cx="552" cy="19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5500" name="AutoShape 47"/>
            <p:cNvCxnSpPr>
              <a:stCxn id="105487" idx="2"/>
              <a:endCxn id="105490" idx="0"/>
            </p:cNvCxnSpPr>
            <p:nvPr/>
          </p:nvCxnSpPr>
          <p:spPr>
            <a:xfrm>
              <a:off x="936" y="2016"/>
              <a:ext cx="552" cy="19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5501" name="Text Box 48"/>
            <p:cNvSpPr txBox="1"/>
            <p:nvPr/>
          </p:nvSpPr>
          <p:spPr>
            <a:xfrm>
              <a:off x="3025" y="1344"/>
              <a:ext cx="365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02" name="Text Box 49"/>
            <p:cNvSpPr txBox="1"/>
            <p:nvPr/>
          </p:nvSpPr>
          <p:spPr>
            <a:xfrm>
              <a:off x="1728" y="768"/>
              <a:ext cx="365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03" name="Text Box 50"/>
            <p:cNvSpPr txBox="1"/>
            <p:nvPr/>
          </p:nvSpPr>
          <p:spPr>
            <a:xfrm>
              <a:off x="910" y="1344"/>
              <a:ext cx="365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04" name="Text Box 51"/>
            <p:cNvSpPr txBox="1"/>
            <p:nvPr/>
          </p:nvSpPr>
          <p:spPr>
            <a:xfrm>
              <a:off x="289" y="1872"/>
              <a:ext cx="365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05" name="Text Box 52"/>
            <p:cNvSpPr txBox="1"/>
            <p:nvPr/>
          </p:nvSpPr>
          <p:spPr>
            <a:xfrm>
              <a:off x="1921" y="1344"/>
              <a:ext cx="365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06" name="Text Box 53"/>
            <p:cNvSpPr txBox="1"/>
            <p:nvPr/>
          </p:nvSpPr>
          <p:spPr>
            <a:xfrm>
              <a:off x="3166" y="816"/>
              <a:ext cx="365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07" name="Text Box 54"/>
            <p:cNvSpPr txBox="1"/>
            <p:nvPr/>
          </p:nvSpPr>
          <p:spPr>
            <a:xfrm>
              <a:off x="4034" y="1344"/>
              <a:ext cx="365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5479" name="Text Box 55"/>
          <p:cNvSpPr txBox="1"/>
          <p:nvPr/>
        </p:nvSpPr>
        <p:spPr>
          <a:xfrm>
            <a:off x="3635375" y="2852738"/>
            <a:ext cx="55086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endParaRPr lang="zh-CN" altLang="zh-CN" sz="1800" dirty="0"/>
          </a:p>
        </p:txBody>
      </p:sp>
      <p:sp>
        <p:nvSpPr>
          <p:cNvPr id="316472" name="Text Box 56"/>
          <p:cNvSpPr txBox="1"/>
          <p:nvPr/>
        </p:nvSpPr>
        <p:spPr>
          <a:xfrm>
            <a:off x="1116013" y="4868863"/>
            <a:ext cx="10810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(b)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316473" name="Text Box 57"/>
          <p:cNvSpPr txBox="1"/>
          <p:nvPr/>
        </p:nvSpPr>
        <p:spPr>
          <a:xfrm>
            <a:off x="6300788" y="6092825"/>
            <a:ext cx="10810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(c)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316474" name="Text Box 58"/>
          <p:cNvSpPr txBox="1"/>
          <p:nvPr/>
        </p:nvSpPr>
        <p:spPr>
          <a:xfrm>
            <a:off x="36513" y="5380038"/>
            <a:ext cx="4067175" cy="847725"/>
          </a:xfrm>
          <a:prstGeom prst="rect">
            <a:avLst/>
          </a:prstGeom>
          <a:solidFill>
            <a:srgbClr val="800080"/>
          </a:solidFill>
          <a:ln w="25400" cap="sq" cmpd="sng">
            <a:solidFill>
              <a:srgbClr val="800080"/>
            </a:solidFill>
            <a:prstDash val="solid"/>
            <a:miter/>
            <a:headEnd type="none" w="sm" len="sm"/>
            <a:tailEnd type="none" w="lg" len="lg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FF99"/>
                </a:solidFill>
                <a:latin typeface="Times New Roman" panose="02020603050405020304" pitchFamily="18" charset="0"/>
              </a:rPr>
              <a:t>5*4+15*3+40*1+30*2+10*4</a:t>
            </a:r>
            <a:endParaRPr lang="en-US" altLang="zh-CN" sz="2400" dirty="0">
              <a:solidFill>
                <a:srgbClr val="FFFF99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FF99"/>
                </a:solidFill>
                <a:latin typeface="Times New Roman" panose="02020603050405020304" pitchFamily="18" charset="0"/>
              </a:rPr>
              <a:t>=205</a:t>
            </a:r>
            <a:endParaRPr lang="en-US" altLang="zh-CN" sz="2400" dirty="0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6475" name="Text Box 59"/>
          <p:cNvSpPr txBox="1"/>
          <p:nvPr/>
        </p:nvSpPr>
        <p:spPr>
          <a:xfrm>
            <a:off x="4724400" y="2060575"/>
            <a:ext cx="4419600" cy="482600"/>
          </a:xfrm>
          <a:prstGeom prst="rect">
            <a:avLst/>
          </a:prstGeom>
          <a:solidFill>
            <a:srgbClr val="800080"/>
          </a:solidFill>
          <a:ln w="25400" cap="sq" cmpd="sng">
            <a:solidFill>
              <a:srgbClr val="800080"/>
            </a:solidFill>
            <a:prstDash val="solid"/>
            <a:miter/>
            <a:headEnd type="none" w="sm" len="sm"/>
            <a:tailEnd type="none" w="lg" len="lg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FFFF99"/>
                </a:solidFill>
                <a:latin typeface="Times New Roman" panose="02020603050405020304" pitchFamily="18" charset="0"/>
              </a:rPr>
              <a:t>5*3+15*3+40*2+30*2+10*2=220</a:t>
            </a:r>
            <a:endParaRPr lang="en-US" altLang="zh-CN" sz="2400" dirty="0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72" grpId="0"/>
      <p:bldP spid="316473" grpId="0"/>
      <p:bldP spid="316474" grpId="0" animBg="1"/>
      <p:bldP spid="31647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2866" name="Rectangle 2"/>
          <p:cNvSpPr>
            <a:spLocks noChangeArrowheads="1"/>
          </p:cNvSpPr>
          <p:nvPr/>
        </p:nvSpPr>
        <p:spPr bwMode="auto">
          <a:xfrm>
            <a:off x="228600" y="1676400"/>
            <a:ext cx="8686800" cy="4060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(1)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由给定的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个权值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{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w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w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w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…,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w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-1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}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，构造具有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棵扩充二叉树的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森林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F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= {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…,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T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-1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}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，其中每一棵扩充二叉树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T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i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只有一个带有权值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w</a:t>
            </a:r>
            <a:r>
              <a:rPr kumimoji="1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i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的根结点，其左、右子树均为空。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(2)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重复以下步骤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直到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F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中仅剩下一棵树为止：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① 在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F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中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选取两棵根结点的权值最小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的扩充二叉树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做为左、右子树构造一棵新的二叉树。置新的二叉树的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根结点的权值为其左、右子树上根结点的权值之和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   ② 在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F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中删去这两棵二叉树。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   ③ 把新的二叉树加入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F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06500" name="Rectangle 3"/>
          <p:cNvSpPr>
            <a:spLocks noGrp="1"/>
          </p:cNvSpPr>
          <p:nvPr>
            <p:ph type="title"/>
          </p:nvPr>
        </p:nvSpPr>
        <p:spPr>
          <a:xfrm>
            <a:off x="381000" y="152400"/>
            <a:ext cx="4876800" cy="5334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构造霍夫曼树的基本思想：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2868" name="Rectangle 4"/>
          <p:cNvSpPr/>
          <p:nvPr/>
        </p:nvSpPr>
        <p:spPr>
          <a:xfrm>
            <a:off x="457200" y="1143000"/>
            <a:ext cx="74279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构造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Huffman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树的步骤（即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Huffman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算法）：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2869" name="Rectangle 5"/>
          <p:cNvSpPr>
            <a:spLocks noChangeArrowheads="1"/>
          </p:cNvSpPr>
          <p:nvPr/>
        </p:nvSpPr>
        <p:spPr bwMode="auto">
          <a:xfrm>
            <a:off x="457200" y="685800"/>
            <a:ext cx="80422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权值大的结点用短路径，权值小的结点用长路径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66FF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92870" name="AutoShape 6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2871" name="Rectangle 7"/>
          <p:cNvSpPr>
            <a:spLocks noChangeArrowheads="1"/>
          </p:cNvSpPr>
          <p:nvPr/>
        </p:nvSpPr>
        <p:spPr bwMode="auto">
          <a:xfrm>
            <a:off x="5257800" y="4953000"/>
            <a:ext cx="2914650" cy="823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hlinkClick r:id="" action="ppaction://hlinkshowjump?jump=nextslide"/>
              </a:rPr>
              <a:t>先举例！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6" grpId="0"/>
      <p:bldP spid="292868" grpId="0"/>
      <p:bldP spid="292869" grpId="0"/>
      <p:bldP spid="292870" grpId="0" animBg="1"/>
      <p:bldP spid="29287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4914" name="Rectangle 2"/>
          <p:cNvSpPr/>
          <p:nvPr/>
        </p:nvSpPr>
        <p:spPr>
          <a:xfrm>
            <a:off x="228600" y="762000"/>
            <a:ext cx="8534400" cy="944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楷体_GB2312"/>
                <a:ea typeface="楷体_GB2312"/>
              </a:rPr>
              <a:t>操作要点</a:t>
            </a:r>
            <a:r>
              <a:rPr lang="en-US" altLang="zh-CN" b="1" dirty="0">
                <a:latin typeface="楷体_GB2312"/>
                <a:ea typeface="楷体_GB2312"/>
              </a:rPr>
              <a:t>1</a:t>
            </a:r>
            <a:r>
              <a:rPr lang="zh-CN" altLang="en-US" b="1" dirty="0">
                <a:latin typeface="楷体_GB2312"/>
                <a:ea typeface="楷体_GB2312"/>
              </a:rPr>
              <a:t>：</a:t>
            </a:r>
            <a:r>
              <a:rPr lang="zh-CN" altLang="en-US" b="1" dirty="0">
                <a:solidFill>
                  <a:schemeClr val="accent1"/>
                </a:solidFill>
                <a:latin typeface="楷体_GB2312"/>
                <a:ea typeface="楷体_GB2312"/>
              </a:rPr>
              <a:t>对权值的合并、删除与替换</a:t>
            </a:r>
            <a:endParaRPr lang="zh-CN" altLang="en-US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ea typeface="楷体_GB2312"/>
              </a:rPr>
              <a:t>——</a:t>
            </a:r>
            <a:r>
              <a:rPr lang="zh-CN" altLang="en-US" sz="2400" b="1" dirty="0">
                <a:latin typeface="楷体_GB2312"/>
                <a:ea typeface="楷体_GB2312"/>
              </a:rPr>
              <a:t>在权值集合</a:t>
            </a:r>
            <a:r>
              <a:rPr lang="en-US" altLang="zh-CN" sz="2400" b="1" dirty="0">
                <a:latin typeface="楷体_GB2312"/>
                <a:ea typeface="楷体_GB2312"/>
              </a:rPr>
              <a:t>{7,5,2,4}</a:t>
            </a:r>
            <a:r>
              <a:rPr lang="zh-CN" altLang="en-US" sz="2400" b="1" dirty="0">
                <a:latin typeface="楷体_GB2312"/>
                <a:ea typeface="楷体_GB2312"/>
              </a:rPr>
              <a:t>中，总是合并</a:t>
            </a:r>
            <a:r>
              <a:rPr lang="zh-CN" altLang="en-US" sz="2400" b="1" dirty="0">
                <a:solidFill>
                  <a:schemeClr val="hlink"/>
                </a:solidFill>
                <a:latin typeface="楷体_GB2312"/>
                <a:ea typeface="楷体_GB2312"/>
              </a:rPr>
              <a:t>当前值最小</a:t>
            </a:r>
            <a:r>
              <a:rPr lang="zh-CN" altLang="en-US" sz="2400" b="1" dirty="0">
                <a:latin typeface="楷体_GB2312"/>
                <a:ea typeface="楷体_GB2312"/>
              </a:rPr>
              <a:t>的两个权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107524" name="Rectangle 3"/>
          <p:cNvSpPr>
            <a:spLocks noGrp="1"/>
          </p:cNvSpPr>
          <p:nvPr>
            <p:ph type="title"/>
          </p:nvPr>
        </p:nvSpPr>
        <p:spPr>
          <a:xfrm>
            <a:off x="304800" y="228600"/>
            <a:ext cx="4343400" cy="381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>
                <a:latin typeface="楷体_GB2312"/>
                <a:ea typeface="楷体_GB2312"/>
              </a:rPr>
              <a:t>构造</a:t>
            </a:r>
            <a:r>
              <a:rPr lang="en-US" altLang="zh-CN" sz="2800" b="1" dirty="0">
                <a:latin typeface="楷体_GB2312"/>
                <a:ea typeface="楷体_GB2312"/>
              </a:rPr>
              <a:t>Huffman</a:t>
            </a:r>
            <a:r>
              <a:rPr lang="zh-CN" altLang="en-US" sz="2800" b="1" dirty="0">
                <a:latin typeface="楷体_GB2312"/>
                <a:ea typeface="楷体_GB2312"/>
              </a:rPr>
              <a:t>树的步骤：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pic>
        <p:nvPicPr>
          <p:cNvPr id="29491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81200"/>
            <a:ext cx="9144000" cy="2922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4917" name="Rectangle 5"/>
          <p:cNvSpPr/>
          <p:nvPr/>
        </p:nvSpPr>
        <p:spPr>
          <a:xfrm>
            <a:off x="533400" y="5181600"/>
            <a:ext cx="695960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注：方框表示外结点（叶子，字符对应的权值），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    圆框表示内结点（合并后的权值）。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294918" name="AutoShape 6">
            <a:hlinkClick r:id="rId2" action="ppaction://hlinksldjump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9491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>
                                            <p:txEl>
                                              <p:charRg st="19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94914">
                                            <p:txEl>
                                              <p:charRg st="19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7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7">
                                            <p:txEl>
                                              <p:charRg st="2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 build="p"/>
      <p:bldP spid="294917" grpId="0" advAuto="1000" build="p"/>
      <p:bldP spid="29491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4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2562" name="Text Box 2"/>
          <p:cNvSpPr txBox="1"/>
          <p:nvPr/>
        </p:nvSpPr>
        <p:spPr>
          <a:xfrm>
            <a:off x="395288" y="1003300"/>
            <a:ext cx="8337550" cy="21971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Clr>
                <a:srgbClr val="00FF00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4000" dirty="0"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zh-CN" altLang="en-US" sz="4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/>
              </a:rPr>
              <a:t>指的是，</a:t>
            </a:r>
            <a:r>
              <a:rPr lang="zh-CN" altLang="en-US" sz="4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/>
              </a:rPr>
              <a:t>任何一个字符的编码都</a:t>
            </a:r>
            <a:endParaRPr lang="zh-CN" altLang="en-US" sz="4000" b="1" dirty="0">
              <a:solidFill>
                <a:srgbClr val="99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/>
              </a:rPr>
              <a:t>不是同一字符集中另一个字符的编码</a:t>
            </a:r>
            <a:endParaRPr lang="zh-CN" altLang="en-US" sz="4000" b="1" dirty="0">
              <a:solidFill>
                <a:srgbClr val="99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/>
              </a:rPr>
              <a:t>的前缀</a:t>
            </a:r>
            <a:r>
              <a:rPr lang="zh-CN" altLang="en-US" sz="4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/>
              </a:rPr>
              <a:t>。</a:t>
            </a:r>
            <a:endParaRPr lang="zh-CN" altLang="en-US" sz="4000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2563" name="Text Box 3"/>
          <p:cNvSpPr txBox="1"/>
          <p:nvPr/>
        </p:nvSpPr>
        <p:spPr>
          <a:xfrm>
            <a:off x="457200" y="152400"/>
            <a:ext cx="4835525" cy="7620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前缀编码</a:t>
            </a:r>
            <a:endParaRPr lang="zh-CN" altLang="en-US" sz="44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22564" name="Text Box 4"/>
          <p:cNvSpPr txBox="1"/>
          <p:nvPr/>
        </p:nvSpPr>
        <p:spPr>
          <a:xfrm>
            <a:off x="395288" y="3352800"/>
            <a:ext cx="8304212" cy="30194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>
                <a:srgbClr val="00FF00"/>
              </a:buClr>
              <a:buSzPct val="85000"/>
              <a:buFont typeface="Wingdings" panose="05000000000000000000" pitchFamily="2" charset="2"/>
              <a:buChar char="l"/>
            </a:pPr>
            <a:r>
              <a:rPr lang="en-US" altLang="zh-CN" sz="4000" b="1" dirty="0">
                <a:solidFill>
                  <a:srgbClr val="800080"/>
                </a:solidFill>
                <a:latin typeface="Times New Roman" panose="02020603050405020304" pitchFamily="18" charset="0"/>
                <a:ea typeface="楷体_GB2312"/>
              </a:rPr>
              <a:t>   </a:t>
            </a:r>
            <a:r>
              <a:rPr lang="zh-CN" altLang="en-US" sz="4000" b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利用赫夫曼树可以构造一种不等长的二进制编码，并且构造所得的</a:t>
            </a:r>
            <a:r>
              <a:rPr lang="zh-CN" altLang="en-US" sz="4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/>
              </a:rPr>
              <a:t>哈夫曼编码</a:t>
            </a:r>
            <a:r>
              <a:rPr lang="zh-CN" altLang="en-US" sz="4000" b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是一种</a:t>
            </a:r>
            <a:r>
              <a:rPr lang="zh-CN" altLang="en-US" sz="40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最优前缀编码</a:t>
            </a:r>
            <a:r>
              <a:rPr lang="zh-CN" altLang="en-US" sz="4000" b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，即使所传</a:t>
            </a:r>
            <a:r>
              <a:rPr lang="zh-CN" altLang="en-US" sz="40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/>
              </a:rPr>
              <a:t>电文的总长度最短</a:t>
            </a:r>
            <a:r>
              <a:rPr lang="zh-CN" altLang="en-US" sz="4000" b="1" dirty="0">
                <a:solidFill>
                  <a:srgbClr val="006666"/>
                </a:solidFill>
                <a:latin typeface="Times New Roman" panose="02020603050405020304" pitchFamily="18" charset="0"/>
                <a:ea typeface="楷体_GB2312"/>
              </a:rPr>
              <a:t>。</a:t>
            </a:r>
            <a:endParaRPr lang="zh-CN" altLang="en-US" sz="4000" b="1" dirty="0">
              <a:solidFill>
                <a:srgbClr val="006666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322565" name="AutoShape 5">
            <a:hlinkClick r:id="" action="ppaction://noaction"/>
          </p:cNvPr>
          <p:cNvSpPr/>
          <p:nvPr/>
        </p:nvSpPr>
        <p:spPr>
          <a:xfrm>
            <a:off x="8458200" y="6172200"/>
            <a:ext cx="381000" cy="381000"/>
          </a:xfrm>
          <a:prstGeom prst="actionButtonBackPrevious">
            <a:avLst/>
          </a:prstGeom>
          <a:solidFill>
            <a:srgbClr val="FFCC00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/>
      <p:bldP spid="322563" grpId="0"/>
      <p:bldP spid="322564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2" name="Text Box 2"/>
          <p:cNvSpPr txBox="1"/>
          <p:nvPr/>
        </p:nvSpPr>
        <p:spPr>
          <a:xfrm>
            <a:off x="1828800" y="3810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har char=" "/>
            </a:pPr>
            <a:endParaRPr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323587" name="Text Box 3"/>
          <p:cNvSpPr txBox="1"/>
          <p:nvPr/>
        </p:nvSpPr>
        <p:spPr>
          <a:xfrm>
            <a:off x="539750" y="260350"/>
            <a:ext cx="8604250" cy="4514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FF0000"/>
              </a:buClr>
              <a:buSzPct val="85000"/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在远程通讯中，要将待传字符转换成由二进制的字符串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FF000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设要传送的字符为：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ABACCDA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若编码为：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A—00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B—01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	           C—10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D---11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                              </a:t>
            </a:r>
            <a:endParaRPr lang="en-US" altLang="zh-CN" sz="260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4" name="Text Box 4"/>
          <p:cNvSpPr txBox="1"/>
          <p:nvPr/>
        </p:nvSpPr>
        <p:spPr>
          <a:xfrm>
            <a:off x="6324600" y="2209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23589" name="AutoShape 5"/>
          <p:cNvSpPr/>
          <p:nvPr/>
        </p:nvSpPr>
        <p:spPr>
          <a:xfrm>
            <a:off x="5435600" y="2420938"/>
            <a:ext cx="685800" cy="1400175"/>
          </a:xfrm>
          <a:prstGeom prst="downArrow">
            <a:avLst>
              <a:gd name="adj1" fmla="val 50000"/>
              <a:gd name="adj2" fmla="val 51041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263525" y="4573588"/>
            <a:ext cx="8748713" cy="1600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编码目标：</a:t>
            </a:r>
            <a:r>
              <a:rPr kumimoji="0" lang="zh-CN" altLang="en-US" sz="2800" b="1" kern="1200" cap="none" spc="0" normalizeH="0" baseline="0" noProof="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总编码长度最短！</a:t>
            </a:r>
            <a:endParaRPr kumimoji="0" lang="zh-CN" altLang="en-US" sz="2800" b="1" kern="1200" cap="none" spc="0" normalizeH="0" baseline="0" noProof="0" dirty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让待传字符串中</a:t>
            </a:r>
            <a:r>
              <a:rPr kumimoji="0" lang="zh-CN" altLang="en-US" sz="2800" b="1" u="sng" kern="1200" cap="none" spc="0" normalizeH="0" baseline="0" noProof="0" dirty="0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出现次数较多的字符采用尽可能短的编码</a:t>
            </a:r>
            <a:r>
              <a:rPr kumimoji="0" lang="zh-CN" altLang="en-US" sz="2800" b="1" kern="1200" cap="none" spc="0" normalizeH="0" baseline="0" noProof="0" dirty="0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，则转换的二进制字符串便可以减少。</a:t>
            </a:r>
            <a:endParaRPr kumimoji="0" lang="zh-CN" altLang="en-US" sz="2800" b="1" kern="1200" cap="none" spc="0" normalizeH="0" baseline="0" noProof="0" dirty="0">
              <a:solidFill>
                <a:srgbClr val="99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3591" name="Text Box 7"/>
          <p:cNvSpPr txBox="1"/>
          <p:nvPr/>
        </p:nvSpPr>
        <p:spPr>
          <a:xfrm>
            <a:off x="4356100" y="3933825"/>
            <a:ext cx="34766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00010010101100</a:t>
            </a:r>
            <a:endParaRPr lang="en-US" altLang="zh-CN" b="1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3593" name="AutoShape 9"/>
          <p:cNvSpPr/>
          <p:nvPr/>
        </p:nvSpPr>
        <p:spPr>
          <a:xfrm>
            <a:off x="6683375" y="2379663"/>
            <a:ext cx="2736850" cy="863600"/>
          </a:xfrm>
          <a:prstGeom prst="cloudCallout">
            <a:avLst>
              <a:gd name="adj1" fmla="val -30856"/>
              <a:gd name="adj2" fmla="val 142829"/>
            </a:avLst>
          </a:prstGeom>
          <a:solidFill>
            <a:srgbClr val="FFCC99">
              <a:alpha val="34117"/>
            </a:srgbClr>
          </a:solidFill>
          <a:ln w="25400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等长编码</a:t>
            </a:r>
            <a:endParaRPr lang="zh-CN" altLang="en-US" sz="2800" b="1" dirty="0">
              <a:solidFill>
                <a:srgbClr val="9933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43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5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78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charRg st="95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90" grpId="0"/>
      <p:bldP spid="323591" grpId="0"/>
      <p:bldP spid="32359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1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5637" name="Text Box 5"/>
          <p:cNvSpPr txBox="1"/>
          <p:nvPr/>
        </p:nvSpPr>
        <p:spPr>
          <a:xfrm>
            <a:off x="1116013" y="260350"/>
            <a:ext cx="6705600" cy="36845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FF0000"/>
              </a:buClr>
              <a:buSzPct val="85000"/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设要传送的字符为：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ABACCDA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FF0000"/>
              </a:buClr>
              <a:buSzPct val="85000"/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若编码为：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A—0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    B—00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    C—1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    D---01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                              </a:t>
            </a:r>
            <a:endParaRPr lang="en-US" altLang="zh-CN" sz="26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1" name="Text Box 2"/>
          <p:cNvSpPr txBox="1"/>
          <p:nvPr/>
        </p:nvSpPr>
        <p:spPr>
          <a:xfrm>
            <a:off x="1828800" y="3810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har char=" "/>
            </a:pPr>
            <a:endParaRPr lang="zh-CN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325635" name="Text Box 3"/>
          <p:cNvSpPr txBox="1">
            <a:spLocks noChangeArrowheads="1"/>
          </p:cNvSpPr>
          <p:nvPr/>
        </p:nvSpPr>
        <p:spPr bwMode="auto">
          <a:xfrm>
            <a:off x="250825" y="4652963"/>
            <a:ext cx="8569325" cy="18446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3200" b="1" u="sng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关键：</a:t>
            </a:r>
            <a:r>
              <a:rPr kumimoji="0" lang="zh-CN" altLang="en-US" sz="3200" b="1" kern="1200" cap="none" spc="0" normalizeH="0" baseline="0" noProof="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要设计长度不等的编码，则必须使任一字符的编码</a:t>
            </a:r>
            <a:r>
              <a:rPr kumimoji="0" lang="zh-CN" altLang="en-US" sz="3200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都不是</a:t>
            </a:r>
            <a:r>
              <a:rPr kumimoji="0" lang="zh-CN" altLang="en-US" sz="3200" b="1" kern="1200" cap="none" spc="0" normalizeH="0" baseline="0" noProof="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另一个字符的编码的</a:t>
            </a:r>
            <a:r>
              <a:rPr kumimoji="0" lang="zh-CN" altLang="en-US" sz="3200" b="1" kern="120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前缀</a:t>
            </a:r>
            <a:r>
              <a:rPr kumimoji="0" lang="zh-CN" altLang="en-US" sz="3200" b="1" kern="1200" cap="none" spc="0" normalizeH="0" baseline="0" noProof="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3200" b="1" kern="1200" cap="none" spc="0" normalizeH="0" baseline="0" noProof="0" dirty="0">
              <a:solidFill>
                <a:srgbClr val="000066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符合这种编码要求的编码方式称为</a:t>
            </a:r>
            <a:r>
              <a:rPr kumimoji="0" lang="zh-CN" altLang="en-US" sz="3200" b="1" kern="1200" cap="none" spc="0" normalizeH="0" baseline="0" noProof="0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前缀编码</a:t>
            </a:r>
            <a:r>
              <a:rPr kumimoji="0" lang="zh-CN" altLang="en-US" sz="3200" b="1" kern="1200" cap="none" spc="0" normalizeH="0" baseline="0" noProof="0" dirty="0">
                <a:solidFill>
                  <a:srgbClr val="0066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3200" b="1" kern="1200" cap="none" spc="0" normalizeH="0" baseline="0" noProof="0" dirty="0">
              <a:solidFill>
                <a:srgbClr val="0066FF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1623" name="Text Box 6"/>
          <p:cNvSpPr txBox="1"/>
          <p:nvPr/>
        </p:nvSpPr>
        <p:spPr>
          <a:xfrm>
            <a:off x="5535613" y="117475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25639" name="AutoShape 7"/>
          <p:cNvSpPr/>
          <p:nvPr/>
        </p:nvSpPr>
        <p:spPr>
          <a:xfrm>
            <a:off x="6588125" y="1916113"/>
            <a:ext cx="685800" cy="1401762"/>
          </a:xfrm>
          <a:prstGeom prst="downArrow">
            <a:avLst>
              <a:gd name="adj1" fmla="val 50000"/>
              <a:gd name="adj2" fmla="val 51099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25640" name="Text Box 8"/>
          <p:cNvSpPr txBox="1"/>
          <p:nvPr/>
        </p:nvSpPr>
        <p:spPr>
          <a:xfrm>
            <a:off x="5651500" y="1196975"/>
            <a:ext cx="25558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600" dirty="0">
                <a:solidFill>
                  <a:srgbClr val="000066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ABACCDA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5641" name="Text Box 9"/>
          <p:cNvSpPr txBox="1"/>
          <p:nvPr/>
        </p:nvSpPr>
        <p:spPr>
          <a:xfrm>
            <a:off x="5651500" y="3429000"/>
            <a:ext cx="27368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600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600" u="sng" dirty="0">
                <a:solidFill>
                  <a:srgbClr val="F3274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u="sng" dirty="0">
                <a:solidFill>
                  <a:srgbClr val="F32749"/>
                </a:solidFill>
                <a:latin typeface="Times New Roman" panose="02020603050405020304" pitchFamily="18" charset="0"/>
              </a:rPr>
              <a:t>0000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11010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25648" name="Group 16"/>
          <p:cNvGrpSpPr/>
          <p:nvPr/>
        </p:nvGrpSpPr>
        <p:grpSpPr>
          <a:xfrm>
            <a:off x="755650" y="3144838"/>
            <a:ext cx="3636963" cy="1408112"/>
            <a:chOff x="476" y="1981"/>
            <a:chExt cx="2291" cy="887"/>
          </a:xfrm>
        </p:grpSpPr>
        <p:sp>
          <p:nvSpPr>
            <p:cNvPr id="111630" name="Text Box 10"/>
            <p:cNvSpPr txBox="1"/>
            <p:nvPr/>
          </p:nvSpPr>
          <p:spPr>
            <a:xfrm>
              <a:off x="476" y="1981"/>
              <a:ext cx="2291" cy="8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70000"/>
                </a:spcBef>
                <a:buNone/>
              </a:pPr>
              <a:r>
                <a:rPr lang="zh-CN" altLang="en-US" b="1" dirty="0">
                  <a:latin typeface="Times New Roman" panose="02020603050405020304" pitchFamily="18" charset="0"/>
                </a:rPr>
                <a:t>但：     </a:t>
              </a:r>
              <a:r>
                <a:rPr lang="en-US" altLang="zh-CN" b="1" dirty="0">
                  <a:latin typeface="Times New Roman" panose="02020603050405020304" pitchFamily="18" charset="0"/>
                </a:rPr>
                <a:t>0000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marL="0" lvl="0" indent="0" eaLnBrk="1" hangingPunct="1">
                <a:spcBef>
                  <a:spcPct val="70000"/>
                </a:spcBef>
                <a:buNone/>
              </a:pPr>
              <a:r>
                <a:rPr lang="en-US" altLang="zh-CN" b="1" dirty="0">
                  <a:latin typeface="Times New Roman" panose="02020603050405020304" pitchFamily="18" charset="0"/>
                </a:rPr>
                <a:t>AAAA   ABA   BB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1631" name="Line 11"/>
            <p:cNvSpPr/>
            <p:nvPr/>
          </p:nvSpPr>
          <p:spPr>
            <a:xfrm flipH="1">
              <a:off x="1087" y="2228"/>
              <a:ext cx="384" cy="19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1632" name="Line 12"/>
            <p:cNvSpPr/>
            <p:nvPr/>
          </p:nvSpPr>
          <p:spPr>
            <a:xfrm>
              <a:off x="1663" y="2228"/>
              <a:ext cx="0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1633" name="Line 13"/>
            <p:cNvSpPr/>
            <p:nvPr/>
          </p:nvSpPr>
          <p:spPr>
            <a:xfrm>
              <a:off x="1855" y="2228"/>
              <a:ext cx="336" cy="19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25646" name="AutoShape 14"/>
          <p:cNvSpPr/>
          <p:nvPr/>
        </p:nvSpPr>
        <p:spPr>
          <a:xfrm>
            <a:off x="4087813" y="3460750"/>
            <a:ext cx="1447800" cy="685800"/>
          </a:xfrm>
          <a:prstGeom prst="leftArrow">
            <a:avLst>
              <a:gd name="adj1" fmla="val 50000"/>
              <a:gd name="adj2" fmla="val 5277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重码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25649" name="AutoShape 17"/>
          <p:cNvSpPr/>
          <p:nvPr/>
        </p:nvSpPr>
        <p:spPr>
          <a:xfrm>
            <a:off x="-396875" y="1628775"/>
            <a:ext cx="4321175" cy="1439863"/>
          </a:xfrm>
          <a:prstGeom prst="cloudCallout">
            <a:avLst>
              <a:gd name="adj1" fmla="val 54190"/>
              <a:gd name="adj2" fmla="val 47245"/>
            </a:avLst>
          </a:prstGeom>
          <a:solidFill>
            <a:srgbClr val="FFCC99">
              <a:alpha val="27058"/>
            </a:srgbClr>
          </a:solidFill>
          <a:ln w="25400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不等长编码</a:t>
            </a:r>
            <a:endParaRPr lang="zh-CN" altLang="en-US" sz="2800" b="1" dirty="0">
              <a:solidFill>
                <a:srgbClr val="993366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（非前缀编码）</a:t>
            </a:r>
            <a:endParaRPr lang="zh-CN" altLang="en-US" sz="2800" b="1" dirty="0">
              <a:solidFill>
                <a:srgbClr val="9933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7" grpId="0"/>
      <p:bldP spid="325635" grpId="0"/>
      <p:bldP spid="325640" grpId="0"/>
      <p:bldP spid="325641" grpId="0"/>
      <p:bldP spid="325646" grpId="0" animBg="1"/>
      <p:bldP spid="32564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p>
            <a:pPr marL="0" indent="0" eaLnBrk="1" hangingPunct="1">
              <a:spcBef>
                <a:spcPct val="50000"/>
              </a:spcBef>
              <a:buNone/>
            </a:pPr>
            <a:fld id="{BB962C8B-B14F-4D97-AF65-F5344CB8AC3E}" type="datetime1">
              <a: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zh-CN" altLang="en-US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684" name="Text Box 4"/>
          <p:cNvSpPr txBox="1"/>
          <p:nvPr/>
        </p:nvSpPr>
        <p:spPr>
          <a:xfrm>
            <a:off x="611188" y="0"/>
            <a:ext cx="6705600" cy="331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设要传送的字符为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ABACCDA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buClr>
                <a:srgbClr val="FF00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若编码为： 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A—0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 B—110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	            C—10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 D---111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                                           </a:t>
            </a:r>
            <a:endParaRPr lang="en-US" altLang="zh-CN" sz="26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9" name="Text Box 5"/>
          <p:cNvSpPr txBox="1"/>
          <p:nvPr/>
        </p:nvSpPr>
        <p:spPr>
          <a:xfrm>
            <a:off x="5548313" y="1839913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27686" name="AutoShape 6"/>
          <p:cNvSpPr/>
          <p:nvPr/>
        </p:nvSpPr>
        <p:spPr>
          <a:xfrm>
            <a:off x="6462713" y="1611313"/>
            <a:ext cx="685800" cy="1905000"/>
          </a:xfrm>
          <a:prstGeom prst="downArrow">
            <a:avLst>
              <a:gd name="adj1" fmla="val 50000"/>
              <a:gd name="adj2" fmla="val 69444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27687" name="Text Box 7"/>
          <p:cNvSpPr txBox="1"/>
          <p:nvPr/>
        </p:nvSpPr>
        <p:spPr>
          <a:xfrm>
            <a:off x="5472113" y="3592513"/>
            <a:ext cx="29876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0110010101110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27711" name="Group 31"/>
          <p:cNvGrpSpPr/>
          <p:nvPr/>
        </p:nvGrpSpPr>
        <p:grpSpPr>
          <a:xfrm>
            <a:off x="2652713" y="3211513"/>
            <a:ext cx="2667000" cy="2057400"/>
            <a:chOff x="1671" y="2023"/>
            <a:chExt cx="1680" cy="1296"/>
          </a:xfrm>
        </p:grpSpPr>
        <p:sp>
          <p:nvSpPr>
            <p:cNvPr id="113676" name="Oval 8"/>
            <p:cNvSpPr/>
            <p:nvPr/>
          </p:nvSpPr>
          <p:spPr>
            <a:xfrm>
              <a:off x="2007" y="2071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77" name="Oval 9"/>
            <p:cNvSpPr/>
            <p:nvPr/>
          </p:nvSpPr>
          <p:spPr>
            <a:xfrm>
              <a:off x="2343" y="2311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78" name="Oval 10"/>
            <p:cNvSpPr/>
            <p:nvPr/>
          </p:nvSpPr>
          <p:spPr>
            <a:xfrm>
              <a:off x="2679" y="2647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79" name="Oval 11"/>
            <p:cNvSpPr/>
            <p:nvPr/>
          </p:nvSpPr>
          <p:spPr>
            <a:xfrm>
              <a:off x="1671" y="2359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80" name="Oval 12"/>
            <p:cNvSpPr/>
            <p:nvPr/>
          </p:nvSpPr>
          <p:spPr>
            <a:xfrm>
              <a:off x="2055" y="2695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81" name="Oval 13"/>
            <p:cNvSpPr/>
            <p:nvPr/>
          </p:nvSpPr>
          <p:spPr>
            <a:xfrm>
              <a:off x="2391" y="3031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82" name="Oval 14"/>
            <p:cNvSpPr/>
            <p:nvPr/>
          </p:nvSpPr>
          <p:spPr>
            <a:xfrm>
              <a:off x="2967" y="3031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83" name="Line 15"/>
            <p:cNvSpPr/>
            <p:nvPr/>
          </p:nvSpPr>
          <p:spPr>
            <a:xfrm flipH="1">
              <a:off x="1959" y="2311"/>
              <a:ext cx="4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84" name="Line 16"/>
            <p:cNvSpPr/>
            <p:nvPr/>
          </p:nvSpPr>
          <p:spPr>
            <a:xfrm>
              <a:off x="2295" y="2311"/>
              <a:ext cx="14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85" name="Line 17"/>
            <p:cNvSpPr/>
            <p:nvPr/>
          </p:nvSpPr>
          <p:spPr>
            <a:xfrm flipH="1">
              <a:off x="2295" y="2599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86" name="Line 18"/>
            <p:cNvSpPr/>
            <p:nvPr/>
          </p:nvSpPr>
          <p:spPr>
            <a:xfrm flipH="1">
              <a:off x="2583" y="2887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87" name="Line 19"/>
            <p:cNvSpPr/>
            <p:nvPr/>
          </p:nvSpPr>
          <p:spPr>
            <a:xfrm>
              <a:off x="2919" y="2935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88" name="Line 20"/>
            <p:cNvSpPr/>
            <p:nvPr/>
          </p:nvSpPr>
          <p:spPr>
            <a:xfrm>
              <a:off x="2583" y="2551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689" name="Text Box 21"/>
            <p:cNvSpPr txBox="1"/>
            <p:nvPr/>
          </p:nvSpPr>
          <p:spPr>
            <a:xfrm>
              <a:off x="1719" y="2119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90" name="Text Box 22"/>
            <p:cNvSpPr txBox="1"/>
            <p:nvPr/>
          </p:nvSpPr>
          <p:spPr>
            <a:xfrm>
              <a:off x="2055" y="2455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91" name="Text Box 23"/>
            <p:cNvSpPr txBox="1"/>
            <p:nvPr/>
          </p:nvSpPr>
          <p:spPr>
            <a:xfrm>
              <a:off x="2439" y="2791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92" name="Text Box 24"/>
            <p:cNvSpPr txBox="1"/>
            <p:nvPr/>
          </p:nvSpPr>
          <p:spPr>
            <a:xfrm>
              <a:off x="2391" y="2023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93" name="Text Box 25"/>
            <p:cNvSpPr txBox="1"/>
            <p:nvPr/>
          </p:nvSpPr>
          <p:spPr>
            <a:xfrm>
              <a:off x="2727" y="2407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694" name="Text Box 26"/>
            <p:cNvSpPr txBox="1"/>
            <p:nvPr/>
          </p:nvSpPr>
          <p:spPr>
            <a:xfrm>
              <a:off x="3015" y="2791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7707" name="AutoShape 27"/>
          <p:cNvSpPr/>
          <p:nvPr/>
        </p:nvSpPr>
        <p:spPr>
          <a:xfrm>
            <a:off x="0" y="4868863"/>
            <a:ext cx="3262313" cy="1800225"/>
          </a:xfrm>
          <a:prstGeom prst="cloudCallout">
            <a:avLst>
              <a:gd name="adj1" fmla="val 64278"/>
              <a:gd name="adj2" fmla="val -44412"/>
            </a:avLst>
          </a:prstGeom>
          <a:solidFill>
            <a:schemeClr val="hlink">
              <a:alpha val="23921"/>
            </a:scheme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采用哈夫曼树设计二进制前缀编码</a:t>
            </a:r>
            <a:endParaRPr lang="zh-CN" altLang="en-US" sz="2400" b="1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08" name="AutoShape 28"/>
          <p:cNvSpPr/>
          <p:nvPr/>
        </p:nvSpPr>
        <p:spPr>
          <a:xfrm>
            <a:off x="5308600" y="4278313"/>
            <a:ext cx="3835400" cy="1527175"/>
          </a:xfrm>
          <a:prstGeom prst="wedgeRoundRectCallout">
            <a:avLst>
              <a:gd name="adj1" fmla="val -57699"/>
              <a:gd name="adj2" fmla="val -32019"/>
              <a:gd name="adj3" fmla="val 16667"/>
            </a:avLst>
          </a:prstGeom>
          <a:solidFill>
            <a:srgbClr val="0FFFC0">
              <a:alpha val="23137"/>
            </a:srgb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规定：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左分支用“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0”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表示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右分支用“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1”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表示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0" name="AutoShape 30"/>
          <p:cNvSpPr/>
          <p:nvPr/>
        </p:nvSpPr>
        <p:spPr>
          <a:xfrm>
            <a:off x="0" y="1916113"/>
            <a:ext cx="3455988" cy="936625"/>
          </a:xfrm>
          <a:prstGeom prst="cloudCallout">
            <a:avLst>
              <a:gd name="adj1" fmla="val 68787"/>
              <a:gd name="adj2" fmla="val 68815"/>
            </a:avLst>
          </a:prstGeom>
          <a:solidFill>
            <a:srgbClr val="FFCC99">
              <a:alpha val="27058"/>
            </a:srgbClr>
          </a:solidFill>
          <a:ln w="25400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3366"/>
                </a:solidFill>
                <a:latin typeface="Times New Roman" panose="02020603050405020304" pitchFamily="18" charset="0"/>
              </a:rPr>
              <a:t>前缀编码）</a:t>
            </a:r>
            <a:endParaRPr lang="zh-CN" altLang="en-US" sz="2800" b="1" dirty="0">
              <a:solidFill>
                <a:srgbClr val="9933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4" grpId="0"/>
      <p:bldP spid="327687" grpId="0"/>
      <p:bldP spid="327707" grpId="0" animBg="1"/>
      <p:bldP spid="327708" grpId="0" animBg="1"/>
      <p:bldP spid="327710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3890" name="Text Box 2"/>
          <p:cNvSpPr txBox="1">
            <a:spLocks noChangeArrowheads="1"/>
          </p:cNvSpPr>
          <p:nvPr/>
        </p:nvSpPr>
        <p:spPr bwMode="auto">
          <a:xfrm>
            <a:off x="107950" y="260350"/>
            <a:ext cx="903605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例</a:t>
            </a:r>
            <a:r>
              <a:rPr kumimoji="1" lang="en-US" altLang="zh-CN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：</a:t>
            </a:r>
            <a:r>
              <a:rPr kumimoji="0" lang="zh-CN" altLang="en-US" sz="28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设有</a:t>
            </a:r>
            <a:r>
              <a:rPr kumimoji="0" lang="en-US" altLang="zh-CN" sz="28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4</a:t>
            </a:r>
            <a:r>
              <a:rPr kumimoji="0" lang="zh-CN" altLang="en-US" sz="28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个字符</a:t>
            </a:r>
            <a:r>
              <a:rPr kumimoji="0" lang="en-US" altLang="zh-CN" sz="2800" b="1" kern="1200" cap="none" spc="0" normalizeH="0" baseline="0" noProof="0" dirty="0" err="1">
                <a:latin typeface="楷体_GB2312" pitchFamily="49" charset="-122"/>
                <a:ea typeface="楷体_GB2312" pitchFamily="49" charset="-122"/>
                <a:cs typeface="+mn-cs"/>
              </a:rPr>
              <a:t>d,i,a,n</a:t>
            </a:r>
            <a:r>
              <a:rPr kumimoji="0" lang="zh-CN" altLang="en-US" sz="28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，出现的频度分别为</a:t>
            </a:r>
            <a:r>
              <a:rPr kumimoji="0" lang="en-US" altLang="zh-CN" sz="28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7,5,2, 4</a:t>
            </a:r>
            <a:r>
              <a:rPr kumimoji="0" lang="zh-CN" altLang="en-US" sz="2800" b="1" kern="1200" cap="none" spc="0" normalizeH="0" baseline="0" noProof="0" dirty="0">
                <a:latin typeface="楷体_GB2312" pitchFamily="49" charset="-122"/>
                <a:ea typeface="楷体_GB2312" pitchFamily="49" charset="-122"/>
                <a:cs typeface="+mn-cs"/>
              </a:rPr>
              <a:t>，怎样编码才能使它们组成的报文在网络中传得最快？</a:t>
            </a:r>
            <a:endParaRPr kumimoji="0" lang="zh-CN" altLang="en-US" sz="2800" b="1" kern="1200" cap="none" spc="0" normalizeH="0" baseline="0" noProof="0" dirty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93891" name="Rectangle 3"/>
          <p:cNvSpPr/>
          <p:nvPr/>
        </p:nvSpPr>
        <p:spPr>
          <a:xfrm>
            <a:off x="250825" y="1770063"/>
            <a:ext cx="7467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/>
                <a:ea typeface="楷体_GB2312"/>
              </a:rPr>
              <a:t>法</a:t>
            </a:r>
            <a:r>
              <a:rPr lang="en-US" altLang="zh-CN" sz="2800" b="1" dirty="0">
                <a:solidFill>
                  <a:schemeClr val="tx2"/>
                </a:solidFill>
                <a:latin typeface="楷体_GB2312"/>
                <a:ea typeface="楷体_GB231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楷体_GB2312"/>
                <a:ea typeface="楷体_GB2312"/>
              </a:rPr>
              <a:t>：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等长编码</a:t>
            </a:r>
            <a:r>
              <a:rPr lang="zh-CN" altLang="en-US" sz="2800" b="1" dirty="0">
                <a:latin typeface="楷体_GB2312"/>
                <a:ea typeface="楷体_GB2312"/>
              </a:rPr>
              <a:t>。例如用二进制编码来实现。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   取 </a:t>
            </a:r>
            <a:r>
              <a:rPr lang="en-US" altLang="zh-CN" sz="2800" b="1" dirty="0">
                <a:latin typeface="楷体_GB2312"/>
                <a:ea typeface="楷体_GB2312"/>
              </a:rPr>
              <a:t>d=</a:t>
            </a:r>
            <a:r>
              <a:rPr lang="en-US" altLang="zh-CN" sz="2800" b="1" dirty="0">
                <a:solidFill>
                  <a:schemeClr val="hlink"/>
                </a:solidFill>
                <a:latin typeface="楷体_GB2312"/>
                <a:ea typeface="楷体_GB2312"/>
              </a:rPr>
              <a:t>00</a:t>
            </a:r>
            <a:r>
              <a:rPr lang="zh-CN" altLang="en-US" sz="2800" b="1" dirty="0">
                <a:latin typeface="楷体_GB2312"/>
                <a:ea typeface="楷体_GB2312"/>
              </a:rPr>
              <a:t>，</a:t>
            </a:r>
            <a:r>
              <a:rPr lang="en-US" altLang="zh-CN" sz="2800" b="1" dirty="0">
                <a:latin typeface="楷体_GB2312"/>
                <a:ea typeface="楷体_GB2312"/>
              </a:rPr>
              <a:t>i=</a:t>
            </a:r>
            <a:r>
              <a:rPr lang="en-US" altLang="zh-CN" sz="2800" b="1" dirty="0">
                <a:solidFill>
                  <a:schemeClr val="hlink"/>
                </a:solidFill>
                <a:latin typeface="楷体_GB2312"/>
                <a:ea typeface="楷体_GB2312"/>
              </a:rPr>
              <a:t>01</a:t>
            </a:r>
            <a:r>
              <a:rPr lang="zh-CN" altLang="en-US" sz="2800" b="1" dirty="0">
                <a:latin typeface="楷体_GB2312"/>
                <a:ea typeface="楷体_GB2312"/>
              </a:rPr>
              <a:t>，</a:t>
            </a:r>
            <a:r>
              <a:rPr lang="en-US" altLang="zh-CN" sz="2800" b="1" dirty="0">
                <a:latin typeface="楷体_GB2312"/>
                <a:ea typeface="楷体_GB2312"/>
              </a:rPr>
              <a:t>a=</a:t>
            </a:r>
            <a:r>
              <a:rPr lang="en-US" altLang="zh-CN" sz="2800" b="1" dirty="0">
                <a:solidFill>
                  <a:schemeClr val="hlink"/>
                </a:solidFill>
                <a:latin typeface="楷体_GB2312"/>
                <a:ea typeface="楷体_GB2312"/>
              </a:rPr>
              <a:t>10</a:t>
            </a:r>
            <a:r>
              <a:rPr lang="zh-CN" altLang="en-US" sz="2800" b="1" dirty="0">
                <a:latin typeface="楷体_GB2312"/>
                <a:ea typeface="楷体_GB2312"/>
              </a:rPr>
              <a:t>，</a:t>
            </a:r>
            <a:r>
              <a:rPr lang="en-US" altLang="zh-CN" sz="2800" b="1" dirty="0">
                <a:latin typeface="楷体_GB2312"/>
                <a:ea typeface="楷体_GB2312"/>
              </a:rPr>
              <a:t>n=</a:t>
            </a:r>
            <a:r>
              <a:rPr lang="en-US" altLang="zh-CN" sz="2800" b="1" dirty="0">
                <a:solidFill>
                  <a:schemeClr val="hlink"/>
                </a:solidFill>
                <a:latin typeface="楷体_GB2312"/>
                <a:ea typeface="楷体_GB2312"/>
              </a:rPr>
              <a:t>11</a:t>
            </a:r>
            <a:endParaRPr lang="en-US" altLang="zh-CN" sz="28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93892" name="AutoShape 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3893" name="Rectangle 5"/>
          <p:cNvSpPr/>
          <p:nvPr/>
        </p:nvSpPr>
        <p:spPr>
          <a:xfrm>
            <a:off x="304800" y="4848225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怎样实现</a:t>
            </a:r>
            <a:r>
              <a:rPr lang="en-US" altLang="zh-CN" sz="2800" b="1" dirty="0">
                <a:latin typeface="楷体_GB2312"/>
                <a:ea typeface="楷体_GB2312"/>
              </a:rPr>
              <a:t>Huffman</a:t>
            </a:r>
            <a:r>
              <a:rPr lang="zh-CN" altLang="en-US" sz="2800" b="1" dirty="0">
                <a:latin typeface="楷体_GB2312"/>
                <a:ea typeface="楷体_GB2312"/>
              </a:rPr>
              <a:t>编码？</a:t>
            </a:r>
            <a:endParaRPr lang="zh-CN" altLang="en-US" sz="2800" b="1" dirty="0">
              <a:solidFill>
                <a:srgbClr val="66FF33"/>
              </a:solidFill>
              <a:latin typeface="楷体_GB2312"/>
              <a:ea typeface="楷体_GB2312"/>
            </a:endParaRPr>
          </a:p>
        </p:txBody>
      </p:sp>
      <p:sp>
        <p:nvSpPr>
          <p:cNvPr id="293894" name="Rectangle 6"/>
          <p:cNvSpPr/>
          <p:nvPr/>
        </p:nvSpPr>
        <p:spPr>
          <a:xfrm>
            <a:off x="250825" y="2994025"/>
            <a:ext cx="73152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/>
                <a:ea typeface="楷体_GB2312"/>
              </a:rPr>
              <a:t>法</a:t>
            </a:r>
            <a:r>
              <a:rPr lang="en-US" altLang="zh-CN" sz="2800" b="1" dirty="0">
                <a:solidFill>
                  <a:schemeClr val="tx2"/>
                </a:solidFill>
                <a:latin typeface="楷体_GB2312"/>
                <a:ea typeface="楷体_GB231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楷体_GB2312"/>
                <a:ea typeface="楷体_GB2312"/>
              </a:rPr>
              <a:t>：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不等长编码</a:t>
            </a:r>
            <a:r>
              <a:rPr lang="zh-CN" altLang="en-US" sz="2800" b="1" dirty="0">
                <a:latin typeface="楷体_GB2312"/>
                <a:ea typeface="楷体_GB2312"/>
              </a:rPr>
              <a:t>，例如用哈夫曼编码来实现。</a:t>
            </a:r>
            <a:endParaRPr lang="zh-CN" altLang="en-US" sz="28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   取  </a:t>
            </a:r>
            <a:r>
              <a:rPr lang="en-US" altLang="zh-CN" sz="2800" b="1" dirty="0">
                <a:latin typeface="楷体_GB2312"/>
                <a:ea typeface="楷体_GB2312"/>
              </a:rPr>
              <a:t>d=</a:t>
            </a:r>
            <a:r>
              <a:rPr lang="en-US" altLang="zh-CN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0</a:t>
            </a:r>
            <a:r>
              <a:rPr lang="en-US" altLang="zh-CN" sz="2800" b="1" dirty="0">
                <a:latin typeface="楷体_GB2312"/>
                <a:ea typeface="楷体_GB2312"/>
              </a:rPr>
              <a:t>; i=</a:t>
            </a:r>
            <a:r>
              <a:rPr lang="en-US" altLang="zh-CN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10</a:t>
            </a:r>
            <a:r>
              <a:rPr lang="en-US" altLang="zh-CN" sz="2800" b="1" dirty="0">
                <a:latin typeface="楷体_GB2312"/>
                <a:ea typeface="楷体_GB2312"/>
              </a:rPr>
              <a:t>, a=</a:t>
            </a:r>
            <a:r>
              <a:rPr lang="en-US" altLang="zh-CN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110</a:t>
            </a:r>
            <a:r>
              <a:rPr lang="en-US" altLang="zh-CN" sz="2800" b="1" dirty="0">
                <a:latin typeface="楷体_GB2312"/>
                <a:ea typeface="楷体_GB2312"/>
              </a:rPr>
              <a:t>,  n=</a:t>
            </a:r>
            <a:r>
              <a:rPr lang="en-US" altLang="zh-CN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111</a:t>
            </a:r>
            <a:endParaRPr lang="en-US" altLang="zh-CN" sz="28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93895" name="Rectangle 7"/>
          <p:cNvSpPr/>
          <p:nvPr/>
        </p:nvSpPr>
        <p:spPr>
          <a:xfrm>
            <a:off x="468313" y="4217988"/>
            <a:ext cx="33988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/>
                <a:ea typeface="楷体_GB2312"/>
              </a:rPr>
              <a:t>最快的编码是哪个？</a:t>
            </a:r>
            <a:endParaRPr lang="zh-CN" altLang="en-US" sz="2800" b="1" dirty="0">
              <a:latin typeface="楷体_GB2312"/>
              <a:ea typeface="楷体_GB2312"/>
            </a:endParaRPr>
          </a:p>
        </p:txBody>
      </p:sp>
      <p:sp>
        <p:nvSpPr>
          <p:cNvPr id="293896" name="AutoShape 8">
            <a:hlinkClick r:id="rId1" action="ppaction://hlinksldjump"/>
          </p:cNvPr>
          <p:cNvSpPr/>
          <p:nvPr/>
        </p:nvSpPr>
        <p:spPr>
          <a:xfrm flipH="1">
            <a:off x="7620000" y="4086225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3897" name="Rectangle 9"/>
          <p:cNvSpPr/>
          <p:nvPr/>
        </p:nvSpPr>
        <p:spPr>
          <a:xfrm>
            <a:off x="3714750" y="4214813"/>
            <a:ext cx="39401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楷体_GB2312"/>
                <a:ea typeface="楷体_GB2312"/>
              </a:rPr>
              <a:t>是非等长的</a:t>
            </a:r>
            <a:r>
              <a:rPr lang="en-US" altLang="zh-CN" sz="2800" b="1" dirty="0">
                <a:solidFill>
                  <a:schemeClr val="hlink"/>
                </a:solidFill>
                <a:latin typeface="楷体_GB2312"/>
                <a:ea typeface="楷体_GB2312"/>
              </a:rPr>
              <a:t>Huffman</a:t>
            </a:r>
            <a:r>
              <a:rPr lang="zh-CN" altLang="en-US" sz="2800" b="1" dirty="0">
                <a:solidFill>
                  <a:schemeClr val="hlink"/>
                </a:solidFill>
                <a:latin typeface="楷体_GB2312"/>
                <a:ea typeface="楷体_GB2312"/>
              </a:rPr>
              <a:t>码！</a:t>
            </a:r>
            <a:endParaRPr lang="zh-CN" altLang="en-US" sz="2800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293898" name="Rectangle 10"/>
          <p:cNvSpPr/>
          <p:nvPr/>
        </p:nvSpPr>
        <p:spPr>
          <a:xfrm>
            <a:off x="4429125" y="4857750"/>
            <a:ext cx="35829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先要构造</a:t>
            </a:r>
            <a:r>
              <a:rPr lang="en-US" altLang="zh-CN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Huffman</a:t>
            </a:r>
            <a:r>
              <a:rPr lang="zh-CN" altLang="en-US" sz="2800" b="1" dirty="0">
                <a:solidFill>
                  <a:schemeClr val="accent2"/>
                </a:solidFill>
                <a:latin typeface="楷体_GB2312"/>
                <a:ea typeface="楷体_GB2312"/>
              </a:rPr>
              <a:t>树！</a:t>
            </a:r>
            <a:endParaRPr lang="zh-CN" altLang="en-US" sz="28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3891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charRg st="21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3891">
                                            <p:txEl>
                                              <p:charRg st="21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9389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>
                                            <p:txEl>
                                              <p:charRg st="22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93894">
                                            <p:txEl>
                                              <p:charRg st="22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9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/>
      <p:bldP spid="293891" grpId="0" build="p"/>
      <p:bldP spid="293892" grpId="0" animBg="1"/>
      <p:bldP spid="293893" grpId="0"/>
      <p:bldP spid="293894" grpId="0" build="p"/>
      <p:bldP spid="293895" grpId="0"/>
      <p:bldP spid="293896" grpId="0" animBg="1"/>
      <p:bldP spid="293897" grpId="0"/>
      <p:bldP spid="29389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295938" name="Picture 2"/>
          <p:cNvPicPr>
            <a:picLocks noChangeAspect="1"/>
          </p:cNvPicPr>
          <p:nvPr/>
        </p:nvPicPr>
        <p:blipFill>
          <a:blip r:embed="rId1"/>
          <a:srcRect l="75000" t="13037" b="11353"/>
          <a:stretch>
            <a:fillRect/>
          </a:stretch>
        </p:blipFill>
        <p:spPr>
          <a:xfrm>
            <a:off x="5299075" y="1625600"/>
            <a:ext cx="2819400" cy="28194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3"/>
          <p:cNvGrpSpPr/>
          <p:nvPr/>
        </p:nvGrpSpPr>
        <p:grpSpPr>
          <a:xfrm>
            <a:off x="6207125" y="1712913"/>
            <a:ext cx="1146175" cy="1927225"/>
            <a:chOff x="3596" y="1319"/>
            <a:chExt cx="722" cy="1214"/>
          </a:xfrm>
        </p:grpSpPr>
        <p:sp>
          <p:nvSpPr>
            <p:cNvPr id="116761" name="Oval 4"/>
            <p:cNvSpPr/>
            <p:nvPr/>
          </p:nvSpPr>
          <p:spPr>
            <a:xfrm>
              <a:off x="3596" y="1319"/>
              <a:ext cx="301" cy="28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16762" name="Oval 5"/>
            <p:cNvSpPr/>
            <p:nvPr/>
          </p:nvSpPr>
          <p:spPr>
            <a:xfrm>
              <a:off x="3837" y="1817"/>
              <a:ext cx="271" cy="24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16763" name="Oval 6"/>
            <p:cNvSpPr/>
            <p:nvPr/>
          </p:nvSpPr>
          <p:spPr>
            <a:xfrm>
              <a:off x="4047" y="2253"/>
              <a:ext cx="271" cy="28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295943" name="Rectangle 7"/>
          <p:cNvSpPr>
            <a:spLocks noGrp="1"/>
          </p:cNvSpPr>
          <p:nvPr>
            <p:ph type="title"/>
          </p:nvPr>
        </p:nvSpPr>
        <p:spPr>
          <a:xfrm>
            <a:off x="228600" y="76200"/>
            <a:ext cx="8915400" cy="5334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tx1"/>
                </a:solidFill>
                <a:latin typeface="楷体_GB2312"/>
                <a:ea typeface="楷体_GB2312"/>
              </a:rPr>
              <a:t>操作要点</a:t>
            </a:r>
            <a:r>
              <a:rPr lang="en-US" altLang="zh-CN" sz="3200" b="1" dirty="0">
                <a:solidFill>
                  <a:schemeClr val="tx1"/>
                </a:solidFill>
                <a:latin typeface="楷体_GB2312"/>
                <a:ea typeface="楷体_GB2312"/>
              </a:rPr>
              <a:t>2</a:t>
            </a:r>
            <a:r>
              <a:rPr lang="zh-CN" altLang="en-US" sz="3200" b="1" dirty="0">
                <a:solidFill>
                  <a:schemeClr val="tx1"/>
                </a:solidFill>
                <a:latin typeface="楷体_GB2312"/>
                <a:ea typeface="楷体_GB2312"/>
              </a:rPr>
              <a:t>：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按左</a:t>
            </a:r>
            <a:r>
              <a:rPr lang="en-US" altLang="zh-CN" sz="2800" b="1" dirty="0">
                <a:solidFill>
                  <a:schemeClr val="hlink"/>
                </a:solidFill>
                <a:latin typeface="楷体_GB2312"/>
                <a:ea typeface="楷体_GB2312"/>
              </a:rPr>
              <a:t>0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右</a:t>
            </a:r>
            <a:r>
              <a:rPr lang="en-US" altLang="zh-CN" sz="2800" b="1" dirty="0">
                <a:solidFill>
                  <a:schemeClr val="hlink"/>
                </a:solidFill>
                <a:latin typeface="楷体_GB2312"/>
                <a:ea typeface="楷体_GB2312"/>
              </a:rPr>
              <a:t>1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对</a:t>
            </a:r>
            <a:r>
              <a:rPr lang="en-US" altLang="zh-CN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Huffman</a:t>
            </a:r>
            <a:r>
              <a:rPr lang="zh-CN" altLang="en-US" sz="2800" b="1" dirty="0">
                <a:solidFill>
                  <a:schemeClr val="accent1"/>
                </a:solidFill>
                <a:latin typeface="楷体_GB2312"/>
                <a:ea typeface="楷体_GB2312"/>
              </a:rPr>
              <a:t>树的所有分支编号！</a:t>
            </a:r>
            <a:endParaRPr lang="zh-CN" altLang="en-US" sz="2800" b="1" dirty="0">
              <a:solidFill>
                <a:schemeClr val="tx1"/>
              </a:solidFill>
              <a:latin typeface="楷体_GB2312"/>
              <a:ea typeface="楷体_GB2312"/>
            </a:endParaRPr>
          </a:p>
        </p:txBody>
      </p:sp>
      <p:pic>
        <p:nvPicPr>
          <p:cNvPr id="295944" name="Picture 8"/>
          <p:cNvPicPr>
            <a:picLocks noChangeAspect="1"/>
          </p:cNvPicPr>
          <p:nvPr/>
        </p:nvPicPr>
        <p:blipFill>
          <a:blip r:embed="rId1"/>
          <a:srcRect l="75000" t="11081" b="11353"/>
          <a:stretch>
            <a:fillRect/>
          </a:stretch>
        </p:blipFill>
        <p:spPr>
          <a:xfrm>
            <a:off x="971550" y="1628775"/>
            <a:ext cx="2895600" cy="28702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Group 9"/>
          <p:cNvGrpSpPr/>
          <p:nvPr/>
        </p:nvGrpSpPr>
        <p:grpSpPr>
          <a:xfrm>
            <a:off x="5527675" y="2311400"/>
            <a:ext cx="2473325" cy="2057400"/>
            <a:chOff x="3168" y="1696"/>
            <a:chExt cx="1558" cy="1296"/>
          </a:xfrm>
        </p:grpSpPr>
        <p:sp>
          <p:nvSpPr>
            <p:cNvPr id="116757" name="Rectangle 10"/>
            <p:cNvSpPr/>
            <p:nvPr/>
          </p:nvSpPr>
          <p:spPr>
            <a:xfrm>
              <a:off x="3168" y="1696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楷体_GB2312"/>
                  <a:ea typeface="楷体_GB2312"/>
                </a:rPr>
                <a:t>d</a:t>
              </a:r>
              <a:endPara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16758" name="Rectangle 11"/>
            <p:cNvSpPr/>
            <p:nvPr/>
          </p:nvSpPr>
          <p:spPr>
            <a:xfrm>
              <a:off x="3696" y="2704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楷体_GB2312"/>
                  <a:ea typeface="楷体_GB2312"/>
                </a:rPr>
                <a:t>a</a:t>
              </a:r>
              <a:endPara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16759" name="Rectangle 12"/>
            <p:cNvSpPr/>
            <p:nvPr/>
          </p:nvSpPr>
          <p:spPr>
            <a:xfrm>
              <a:off x="3456" y="2224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楷体_GB2312"/>
                  <a:ea typeface="楷体_GB2312"/>
                </a:rPr>
                <a:t>i</a:t>
              </a:r>
              <a:endPara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16760" name="Rectangle 13"/>
            <p:cNvSpPr/>
            <p:nvPr/>
          </p:nvSpPr>
          <p:spPr>
            <a:xfrm>
              <a:off x="4512" y="2704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楷体_GB2312"/>
                  <a:ea typeface="楷体_GB2312"/>
                </a:rPr>
                <a:t>n</a:t>
              </a:r>
              <a:endParaRPr lang="en-US" altLang="zh-CN" sz="2400" b="1" dirty="0">
                <a:solidFill>
                  <a:srgbClr val="0000FF"/>
                </a:solidFill>
                <a:latin typeface="楷体_GB2312"/>
                <a:ea typeface="楷体_GB2312"/>
              </a:endParaRPr>
            </a:p>
          </p:txBody>
        </p:sp>
      </p:grpSp>
      <p:grpSp>
        <p:nvGrpSpPr>
          <p:cNvPr id="4" name="Group 14"/>
          <p:cNvGrpSpPr/>
          <p:nvPr/>
        </p:nvGrpSpPr>
        <p:grpSpPr>
          <a:xfrm>
            <a:off x="5908675" y="1930400"/>
            <a:ext cx="1787525" cy="2057400"/>
            <a:chOff x="3408" y="1456"/>
            <a:chExt cx="1126" cy="1296"/>
          </a:xfrm>
        </p:grpSpPr>
        <p:sp>
          <p:nvSpPr>
            <p:cNvPr id="116751" name="Rectangle 15"/>
            <p:cNvSpPr/>
            <p:nvPr/>
          </p:nvSpPr>
          <p:spPr>
            <a:xfrm>
              <a:off x="4320" y="2416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1</a:t>
              </a:r>
              <a:endPara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16752" name="Rectangle 16"/>
            <p:cNvSpPr/>
            <p:nvPr/>
          </p:nvSpPr>
          <p:spPr>
            <a:xfrm>
              <a:off x="4128" y="1984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1</a:t>
              </a:r>
              <a:endPara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16753" name="Rectangle 17"/>
            <p:cNvSpPr/>
            <p:nvPr/>
          </p:nvSpPr>
          <p:spPr>
            <a:xfrm>
              <a:off x="3840" y="1456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1</a:t>
              </a:r>
              <a:endPara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16754" name="Rectangle 18"/>
            <p:cNvSpPr/>
            <p:nvPr/>
          </p:nvSpPr>
          <p:spPr>
            <a:xfrm>
              <a:off x="3408" y="1456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0</a:t>
              </a:r>
              <a:endPara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16755" name="Rectangle 19"/>
            <p:cNvSpPr/>
            <p:nvPr/>
          </p:nvSpPr>
          <p:spPr>
            <a:xfrm>
              <a:off x="3648" y="1984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0</a:t>
              </a:r>
              <a:endPara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16756" name="Rectangle 20"/>
            <p:cNvSpPr/>
            <p:nvPr/>
          </p:nvSpPr>
          <p:spPr>
            <a:xfrm>
              <a:off x="3888" y="2464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0</a:t>
              </a:r>
              <a:endPara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</p:grpSp>
      <p:sp>
        <p:nvSpPr>
          <p:cNvPr id="295957" name="Rectangle 21"/>
          <p:cNvSpPr/>
          <p:nvPr/>
        </p:nvSpPr>
        <p:spPr>
          <a:xfrm>
            <a:off x="539750" y="4652963"/>
            <a:ext cx="7086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Huffman</a:t>
            </a:r>
            <a:r>
              <a:rPr lang="zh-CN" altLang="en-US" sz="2400" b="1" dirty="0">
                <a:latin typeface="楷体_GB2312"/>
                <a:ea typeface="楷体_GB2312"/>
              </a:rPr>
              <a:t>编码结果：</a:t>
            </a:r>
            <a:r>
              <a:rPr lang="en-US" altLang="zh-CN" sz="2400" b="1" dirty="0">
                <a:latin typeface="楷体_GB2312"/>
                <a:ea typeface="楷体_GB2312"/>
              </a:rPr>
              <a:t>d=</a:t>
            </a: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0</a:t>
            </a:r>
            <a:r>
              <a:rPr lang="en-US" altLang="zh-CN" sz="2400" b="1" dirty="0">
                <a:latin typeface="楷体_GB2312"/>
                <a:ea typeface="楷体_GB2312"/>
              </a:rPr>
              <a:t>,  i=</a:t>
            </a: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10</a:t>
            </a:r>
            <a:r>
              <a:rPr lang="en-US" altLang="zh-CN" sz="2400" b="1" dirty="0">
                <a:latin typeface="楷体_GB2312"/>
                <a:ea typeface="楷体_GB2312"/>
              </a:rPr>
              <a:t>,  a=</a:t>
            </a: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110</a:t>
            </a:r>
            <a:r>
              <a:rPr lang="en-US" altLang="zh-CN" sz="2400" b="1" dirty="0">
                <a:latin typeface="楷体_GB2312"/>
                <a:ea typeface="楷体_GB2312"/>
              </a:rPr>
              <a:t>,  n=</a:t>
            </a: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111</a:t>
            </a:r>
            <a:endParaRPr lang="en-US" altLang="zh-CN" sz="2400" b="1" dirty="0">
              <a:solidFill>
                <a:schemeClr val="hlink"/>
              </a:solidFill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楷体_GB2312"/>
                <a:ea typeface="楷体_GB2312"/>
              </a:rPr>
              <a:t>WPL=1bit×7</a:t>
            </a:r>
            <a:r>
              <a:rPr lang="zh-CN" altLang="en-US" sz="2400" b="1" dirty="0">
                <a:latin typeface="楷体_GB2312"/>
                <a:ea typeface="楷体_GB2312"/>
              </a:rPr>
              <a:t>＋</a:t>
            </a:r>
            <a:r>
              <a:rPr lang="en-US" altLang="zh-CN" sz="2400" b="1" dirty="0">
                <a:latin typeface="楷体_GB2312"/>
                <a:ea typeface="楷体_GB2312"/>
              </a:rPr>
              <a:t>2bit×5+3bit(2+4)=</a:t>
            </a:r>
            <a:r>
              <a: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rPr>
              <a:t>35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95958" name="AutoShape 22"/>
          <p:cNvSpPr/>
          <p:nvPr/>
        </p:nvSpPr>
        <p:spPr>
          <a:xfrm>
            <a:off x="2667000" y="1219200"/>
            <a:ext cx="498475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5959" name="AutoShape 23"/>
          <p:cNvSpPr/>
          <p:nvPr/>
        </p:nvSpPr>
        <p:spPr>
          <a:xfrm>
            <a:off x="5908675" y="1219200"/>
            <a:ext cx="568325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5960" name="AutoShape 24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5961" name="Rectangle 25"/>
          <p:cNvSpPr/>
          <p:nvPr/>
        </p:nvSpPr>
        <p:spPr>
          <a:xfrm>
            <a:off x="285750" y="5857875"/>
            <a:ext cx="841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特点：每一码都不是另一码的前缀，绝不会错译</a:t>
            </a:r>
            <a:r>
              <a:rPr lang="en-US" altLang="zh-CN" sz="2400" b="1" dirty="0">
                <a:solidFill>
                  <a:schemeClr val="tx2"/>
                </a:solidFill>
                <a:latin typeface="楷体_GB2312"/>
                <a:ea typeface="楷体_GB2312"/>
              </a:rPr>
              <a:t>! </a:t>
            </a:r>
            <a:r>
              <a:rPr lang="zh-CN" altLang="en-US" sz="2400" b="1" dirty="0">
                <a:solidFill>
                  <a:schemeClr val="tx2"/>
                </a:solidFill>
                <a:latin typeface="楷体_GB2312"/>
                <a:ea typeface="楷体_GB2312"/>
              </a:rPr>
              <a:t>称为前缀码</a:t>
            </a:r>
            <a:endParaRPr lang="zh-CN" altLang="en-US" sz="2400" b="1" dirty="0">
              <a:solidFill>
                <a:schemeClr val="tx2"/>
              </a:solidFill>
              <a:latin typeface="楷体_GB2312"/>
              <a:ea typeface="楷体_GB2312"/>
            </a:endParaRPr>
          </a:p>
        </p:txBody>
      </p:sp>
      <p:sp>
        <p:nvSpPr>
          <p:cNvPr id="295962" name="Rectangle 26"/>
          <p:cNvSpPr>
            <a:spLocks noChangeArrowheads="1"/>
          </p:cNvSpPr>
          <p:nvPr/>
        </p:nvSpPr>
        <p:spPr bwMode="auto">
          <a:xfrm>
            <a:off x="685800" y="762000"/>
            <a:ext cx="72072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楷体_GB2312" pitchFamily="49" charset="-122"/>
                <a:cs typeface="+mn-cs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将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Huffman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与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Huffman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编码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挂钩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5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5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7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295957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7">
                                            <p:txEl>
                                              <p:charRg st="3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295957">
                                            <p:txEl>
                                              <p:charRg st="39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3" grpId="0"/>
      <p:bldP spid="295957" grpId="0" build="p"/>
      <p:bldP spid="295958" grpId="0" animBg="1"/>
      <p:bldP spid="295959" grpId="0" animBg="1"/>
      <p:bldP spid="295960" grpId="0" animBg="1"/>
      <p:bldP spid="295961" grpId="0"/>
      <p:bldP spid="29596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7763" name="Rectangle 6"/>
          <p:cNvSpPr>
            <a:spLocks noGrp="1"/>
          </p:cNvSpPr>
          <p:nvPr>
            <p:ph type="title"/>
          </p:nvPr>
        </p:nvSpPr>
        <p:spPr>
          <a:xfrm>
            <a:off x="468313" y="404813"/>
            <a:ext cx="7772400" cy="6858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600" b="1" dirty="0"/>
              <a:t>霍夫曼树的定义</a:t>
            </a:r>
            <a:endParaRPr lang="zh-CN" altLang="en-US" sz="3600" b="1" dirty="0"/>
          </a:p>
        </p:txBody>
      </p:sp>
      <p:sp>
        <p:nvSpPr>
          <p:cNvPr id="117764" name="Text Box 2"/>
          <p:cNvSpPr txBox="1"/>
          <p:nvPr/>
        </p:nvSpPr>
        <p:spPr>
          <a:xfrm>
            <a:off x="1009650" y="1428750"/>
            <a:ext cx="7620000" cy="447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const  int n = 20;</a:t>
            </a:r>
            <a:r>
              <a:rPr lang="en-US" altLang="zh-CN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叶结点数</a:t>
            </a:r>
            <a:endParaRPr lang="zh-CN" altLang="en-US" sz="24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const int m = 2*n </a:t>
            </a:r>
            <a:r>
              <a:rPr lang="en-US" altLang="zh-CN" b="1" dirty="0">
                <a:solidFill>
                  <a:srgbClr val="004080"/>
                </a:solidFill>
                <a:latin typeface="仿宋_GB2312"/>
                <a:ea typeface="楷体_GB2312"/>
              </a:rPr>
              <a:t>-</a:t>
            </a: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1;</a:t>
            </a:r>
            <a:r>
              <a:rPr lang="en-US" altLang="zh-CN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//</a:t>
            </a:r>
            <a:r>
              <a:rPr lang="zh-CN" altLang="en-US" sz="24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结点数</a:t>
            </a:r>
            <a:endParaRPr lang="zh-CN" altLang="en-US" sz="24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</a:t>
            </a:r>
            <a:endParaRPr lang="zh-CN" altLang="en-US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typedef struct {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float weight;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int parent, leftChild, rightChild;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} HTNode;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typedef HTNode HuffmanTree[m];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2"/>
          <p:cNvSpPr/>
          <p:nvPr/>
        </p:nvSpPr>
        <p:spPr>
          <a:xfrm>
            <a:off x="542925" y="12954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/>
          <p:nvPr/>
        </p:nvSpPr>
        <p:spPr>
          <a:xfrm>
            <a:off x="1152525" y="12954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8788" name="Text Box 4"/>
          <p:cNvSpPr txBox="1"/>
          <p:nvPr/>
        </p:nvSpPr>
        <p:spPr>
          <a:xfrm>
            <a:off x="1143000" y="12334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8789" name="Rectangle 5"/>
          <p:cNvSpPr/>
          <p:nvPr/>
        </p:nvSpPr>
        <p:spPr>
          <a:xfrm>
            <a:off x="1722438" y="12954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8790" name="Rectangle 6"/>
          <p:cNvSpPr/>
          <p:nvPr/>
        </p:nvSpPr>
        <p:spPr>
          <a:xfrm>
            <a:off x="2286000" y="12954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8791" name="Text Box 7"/>
          <p:cNvSpPr txBox="1"/>
          <p:nvPr/>
        </p:nvSpPr>
        <p:spPr>
          <a:xfrm>
            <a:off x="1712913" y="1233488"/>
            <a:ext cx="382587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8792" name="Text Box 8"/>
          <p:cNvSpPr txBox="1"/>
          <p:nvPr/>
        </p:nvSpPr>
        <p:spPr>
          <a:xfrm>
            <a:off x="533400" y="1219200"/>
            <a:ext cx="382588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7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8793" name="Text Box 9"/>
          <p:cNvSpPr txBox="1"/>
          <p:nvPr/>
        </p:nvSpPr>
        <p:spPr>
          <a:xfrm>
            <a:off x="2295525" y="12334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8794" name="Rectangle 10"/>
          <p:cNvSpPr/>
          <p:nvPr/>
        </p:nvSpPr>
        <p:spPr>
          <a:xfrm>
            <a:off x="3352800" y="1143000"/>
            <a:ext cx="5181600" cy="4267200"/>
          </a:xfrm>
          <a:prstGeom prst="rect">
            <a:avLst/>
          </a:prstGeom>
          <a:noFill/>
          <a:ln w="38100" cap="flat" cmpd="sng">
            <a:solidFill>
              <a:srgbClr val="00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8795" name="Line 11"/>
          <p:cNvSpPr/>
          <p:nvPr/>
        </p:nvSpPr>
        <p:spPr>
          <a:xfrm>
            <a:off x="57150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796" name="Line 12"/>
          <p:cNvSpPr/>
          <p:nvPr/>
        </p:nvSpPr>
        <p:spPr>
          <a:xfrm>
            <a:off x="70866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797" name="Line 13"/>
          <p:cNvSpPr/>
          <p:nvPr/>
        </p:nvSpPr>
        <p:spPr>
          <a:xfrm>
            <a:off x="44958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798" name="Text Box 14"/>
          <p:cNvSpPr txBox="1"/>
          <p:nvPr/>
        </p:nvSpPr>
        <p:spPr>
          <a:xfrm>
            <a:off x="3352800" y="547688"/>
            <a:ext cx="523081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Arial Narrow" panose="020B0606020202030204" pitchFamily="34" charset="0"/>
              </a:rPr>
              <a:t>Weight   parent   leftChild  rightChild</a:t>
            </a:r>
            <a:endParaRPr lang="en-US" altLang="zh-CN" sz="2800" dirty="0">
              <a:latin typeface="Arial Narrow" panose="020B0606020202030204" pitchFamily="34" charset="0"/>
            </a:endParaRPr>
          </a:p>
        </p:txBody>
      </p:sp>
      <p:sp>
        <p:nvSpPr>
          <p:cNvPr id="118799" name="Text Box 15"/>
          <p:cNvSpPr txBox="1"/>
          <p:nvPr/>
        </p:nvSpPr>
        <p:spPr>
          <a:xfrm>
            <a:off x="3686175" y="1138238"/>
            <a:ext cx="4464050" cy="419576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7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5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2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4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9900"/>
                </a:solidFill>
              </a:rPr>
              <a:t> 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9900"/>
                </a:solidFill>
              </a:rPr>
              <a:t> 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9900"/>
                </a:solidFill>
              </a:rPr>
              <a:t> 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</p:txBody>
      </p:sp>
      <p:sp>
        <p:nvSpPr>
          <p:cNvPr id="118800" name="Line 16"/>
          <p:cNvSpPr/>
          <p:nvPr/>
        </p:nvSpPr>
        <p:spPr>
          <a:xfrm>
            <a:off x="3352800" y="17526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1" name="Line 17"/>
          <p:cNvSpPr/>
          <p:nvPr/>
        </p:nvSpPr>
        <p:spPr>
          <a:xfrm>
            <a:off x="3352800" y="23622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2" name="Line 18"/>
          <p:cNvSpPr/>
          <p:nvPr/>
        </p:nvSpPr>
        <p:spPr>
          <a:xfrm>
            <a:off x="3352800" y="29718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3" name="Line 19"/>
          <p:cNvSpPr/>
          <p:nvPr/>
        </p:nvSpPr>
        <p:spPr>
          <a:xfrm>
            <a:off x="3352800" y="35814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4" name="Line 20"/>
          <p:cNvSpPr/>
          <p:nvPr/>
        </p:nvSpPr>
        <p:spPr>
          <a:xfrm>
            <a:off x="3352800" y="41910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5" name="Line 21"/>
          <p:cNvSpPr/>
          <p:nvPr/>
        </p:nvSpPr>
        <p:spPr>
          <a:xfrm>
            <a:off x="3352800" y="48006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8806" name="Text Box 22"/>
          <p:cNvSpPr txBox="1"/>
          <p:nvPr/>
        </p:nvSpPr>
        <p:spPr>
          <a:xfrm>
            <a:off x="2914650" y="1222375"/>
            <a:ext cx="361950" cy="41211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8807" name="Text Box 23"/>
          <p:cNvSpPr txBox="1"/>
          <p:nvPr/>
        </p:nvSpPr>
        <p:spPr>
          <a:xfrm>
            <a:off x="179388" y="123825"/>
            <a:ext cx="293687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上例存储结构</a:t>
            </a:r>
            <a:endParaRPr lang="zh-CN" altLang="en-US" sz="36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</p:txBody>
      </p:sp>
      <p:sp>
        <p:nvSpPr>
          <p:cNvPr id="118808" name="Text Box 24"/>
          <p:cNvSpPr txBox="1"/>
          <p:nvPr/>
        </p:nvSpPr>
        <p:spPr>
          <a:xfrm>
            <a:off x="3870325" y="5756275"/>
            <a:ext cx="873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初 态</a:t>
            </a:r>
            <a:endParaRPr lang="zh-CN" altLang="en-US" sz="2400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Rectangle 2"/>
          <p:cNvSpPr/>
          <p:nvPr/>
        </p:nvSpPr>
        <p:spPr>
          <a:xfrm>
            <a:off x="609600" y="41148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9811" name="Rectangle 3"/>
          <p:cNvSpPr/>
          <p:nvPr/>
        </p:nvSpPr>
        <p:spPr>
          <a:xfrm>
            <a:off x="1228725" y="41148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9812" name="Text Box 4"/>
          <p:cNvSpPr txBox="1"/>
          <p:nvPr/>
        </p:nvSpPr>
        <p:spPr>
          <a:xfrm>
            <a:off x="1219200" y="40528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13" name="Line 5"/>
          <p:cNvSpPr/>
          <p:nvPr/>
        </p:nvSpPr>
        <p:spPr>
          <a:xfrm>
            <a:off x="2143125" y="44958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14" name="Line 6"/>
          <p:cNvSpPr/>
          <p:nvPr/>
        </p:nvSpPr>
        <p:spPr>
          <a:xfrm flipH="1">
            <a:off x="1762125" y="44958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15" name="Rectangle 7"/>
          <p:cNvSpPr/>
          <p:nvPr/>
        </p:nvSpPr>
        <p:spPr>
          <a:xfrm>
            <a:off x="1533525" y="48768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9816" name="Rectangle 8"/>
          <p:cNvSpPr/>
          <p:nvPr/>
        </p:nvSpPr>
        <p:spPr>
          <a:xfrm>
            <a:off x="2238375" y="48768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9817" name="Oval 9"/>
          <p:cNvSpPr/>
          <p:nvPr/>
        </p:nvSpPr>
        <p:spPr>
          <a:xfrm>
            <a:off x="1838325" y="4114800"/>
            <a:ext cx="457200" cy="457200"/>
          </a:xfrm>
          <a:prstGeom prst="ellipse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9818" name="Text Box 10"/>
          <p:cNvSpPr txBox="1"/>
          <p:nvPr/>
        </p:nvSpPr>
        <p:spPr>
          <a:xfrm>
            <a:off x="1524000" y="48148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19" name="Text Box 11"/>
          <p:cNvSpPr txBox="1"/>
          <p:nvPr/>
        </p:nvSpPr>
        <p:spPr>
          <a:xfrm>
            <a:off x="600075" y="4038600"/>
            <a:ext cx="382588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7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20" name="Text Box 12"/>
          <p:cNvSpPr txBox="1"/>
          <p:nvPr/>
        </p:nvSpPr>
        <p:spPr>
          <a:xfrm>
            <a:off x="2247900" y="48148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21" name="Text Box 13"/>
          <p:cNvSpPr txBox="1"/>
          <p:nvPr/>
        </p:nvSpPr>
        <p:spPr>
          <a:xfrm>
            <a:off x="1787525" y="4114800"/>
            <a:ext cx="52705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22" name="Rectangle 14"/>
          <p:cNvSpPr/>
          <p:nvPr/>
        </p:nvSpPr>
        <p:spPr>
          <a:xfrm>
            <a:off x="3352800" y="1143000"/>
            <a:ext cx="5181600" cy="4267200"/>
          </a:xfrm>
          <a:prstGeom prst="rect">
            <a:avLst/>
          </a:prstGeom>
          <a:noFill/>
          <a:ln w="38100" cap="flat" cmpd="sng">
            <a:solidFill>
              <a:srgbClr val="00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9823" name="Line 15"/>
          <p:cNvSpPr/>
          <p:nvPr/>
        </p:nvSpPr>
        <p:spPr>
          <a:xfrm>
            <a:off x="57150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24" name="Line 16"/>
          <p:cNvSpPr/>
          <p:nvPr/>
        </p:nvSpPr>
        <p:spPr>
          <a:xfrm>
            <a:off x="70866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25" name="Line 17"/>
          <p:cNvSpPr/>
          <p:nvPr/>
        </p:nvSpPr>
        <p:spPr>
          <a:xfrm>
            <a:off x="44958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26" name="Text Box 18"/>
          <p:cNvSpPr txBox="1"/>
          <p:nvPr/>
        </p:nvSpPr>
        <p:spPr>
          <a:xfrm>
            <a:off x="3352800" y="547688"/>
            <a:ext cx="523081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Arial Narrow" panose="020B0606020202030204" pitchFamily="34" charset="0"/>
              </a:rPr>
              <a:t>Weight   parent   leftChild  rightChild</a:t>
            </a:r>
            <a:endParaRPr lang="en-US" altLang="zh-CN" sz="2800" dirty="0">
              <a:latin typeface="Arial Narrow" panose="020B0606020202030204" pitchFamily="34" charset="0"/>
            </a:endParaRPr>
          </a:p>
        </p:txBody>
      </p:sp>
      <p:sp>
        <p:nvSpPr>
          <p:cNvPr id="119827" name="Text Box 19"/>
          <p:cNvSpPr txBox="1"/>
          <p:nvPr/>
        </p:nvSpPr>
        <p:spPr>
          <a:xfrm>
            <a:off x="3686175" y="1138238"/>
            <a:ext cx="4464050" cy="419576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7</a:t>
            </a:r>
            <a:r>
              <a:rPr lang="en-US" altLang="zh-CN" sz="2800" dirty="0"/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5</a:t>
            </a:r>
            <a:r>
              <a:rPr lang="en-US" altLang="zh-CN" sz="2800" dirty="0"/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2</a:t>
            </a:r>
            <a:r>
              <a:rPr lang="en-US" altLang="zh-CN" sz="2800" dirty="0"/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4</a:t>
            </a:r>
            <a:r>
              <a:rPr lang="en-US" altLang="zh-CN" sz="2800" dirty="0"/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 6</a:t>
            </a:r>
            <a:r>
              <a:rPr lang="en-US" altLang="zh-CN" sz="2800" dirty="0">
                <a:solidFill>
                  <a:srgbClr val="009900"/>
                </a:solidFill>
              </a:rPr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9900"/>
                </a:solidFill>
              </a:rPr>
              <a:t> 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9900"/>
                </a:solidFill>
              </a:rPr>
              <a:t> 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</p:txBody>
      </p:sp>
      <p:sp>
        <p:nvSpPr>
          <p:cNvPr id="119828" name="Line 20"/>
          <p:cNvSpPr/>
          <p:nvPr/>
        </p:nvSpPr>
        <p:spPr>
          <a:xfrm>
            <a:off x="3352800" y="17526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29" name="Line 21"/>
          <p:cNvSpPr/>
          <p:nvPr/>
        </p:nvSpPr>
        <p:spPr>
          <a:xfrm>
            <a:off x="3352800" y="23622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30" name="Line 22"/>
          <p:cNvSpPr/>
          <p:nvPr/>
        </p:nvSpPr>
        <p:spPr>
          <a:xfrm>
            <a:off x="3352800" y="29718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31" name="Line 23"/>
          <p:cNvSpPr/>
          <p:nvPr/>
        </p:nvSpPr>
        <p:spPr>
          <a:xfrm>
            <a:off x="3352800" y="35814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32" name="Line 24"/>
          <p:cNvSpPr/>
          <p:nvPr/>
        </p:nvSpPr>
        <p:spPr>
          <a:xfrm>
            <a:off x="3352800" y="41910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33" name="Line 25"/>
          <p:cNvSpPr/>
          <p:nvPr/>
        </p:nvSpPr>
        <p:spPr>
          <a:xfrm>
            <a:off x="3352800" y="48006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34" name="Text Box 26"/>
          <p:cNvSpPr txBox="1"/>
          <p:nvPr/>
        </p:nvSpPr>
        <p:spPr>
          <a:xfrm>
            <a:off x="2914650" y="1222375"/>
            <a:ext cx="361950" cy="41211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35" name="Line 27"/>
          <p:cNvSpPr/>
          <p:nvPr/>
        </p:nvSpPr>
        <p:spPr>
          <a:xfrm>
            <a:off x="2590800" y="2667000"/>
            <a:ext cx="381000" cy="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9836" name="Line 28"/>
          <p:cNvSpPr/>
          <p:nvPr/>
        </p:nvSpPr>
        <p:spPr>
          <a:xfrm>
            <a:off x="2590800" y="3276600"/>
            <a:ext cx="381000" cy="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9837" name="Text Box 29"/>
          <p:cNvSpPr txBox="1"/>
          <p:nvPr/>
        </p:nvSpPr>
        <p:spPr>
          <a:xfrm>
            <a:off x="2362200" y="2209800"/>
            <a:ext cx="5064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CC"/>
                </a:solidFill>
                <a:latin typeface="Times New Roman" panose="02020603050405020304" pitchFamily="18" charset="0"/>
              </a:rPr>
              <a:t>p1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38" name="Text Box 30"/>
          <p:cNvSpPr txBox="1"/>
          <p:nvPr/>
        </p:nvSpPr>
        <p:spPr>
          <a:xfrm>
            <a:off x="2362200" y="2819400"/>
            <a:ext cx="5064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CC"/>
                </a:solidFill>
                <a:latin typeface="Times New Roman" panose="02020603050405020304" pitchFamily="18" charset="0"/>
              </a:rPr>
              <a:t>p2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39" name="Line 31"/>
          <p:cNvSpPr/>
          <p:nvPr/>
        </p:nvSpPr>
        <p:spPr>
          <a:xfrm>
            <a:off x="4953000" y="25146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40" name="Line 32"/>
          <p:cNvSpPr/>
          <p:nvPr/>
        </p:nvSpPr>
        <p:spPr>
          <a:xfrm>
            <a:off x="4953000" y="31242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41" name="Line 33"/>
          <p:cNvSpPr/>
          <p:nvPr/>
        </p:nvSpPr>
        <p:spPr>
          <a:xfrm>
            <a:off x="6248400" y="37338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42" name="Line 34"/>
          <p:cNvSpPr/>
          <p:nvPr/>
        </p:nvSpPr>
        <p:spPr>
          <a:xfrm>
            <a:off x="7696200" y="37338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9843" name="Text Box 35"/>
          <p:cNvSpPr txBox="1"/>
          <p:nvPr/>
        </p:nvSpPr>
        <p:spPr>
          <a:xfrm>
            <a:off x="4570413" y="2408238"/>
            <a:ext cx="382587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44" name="Text Box 36"/>
          <p:cNvSpPr txBox="1"/>
          <p:nvPr/>
        </p:nvSpPr>
        <p:spPr>
          <a:xfrm>
            <a:off x="4572000" y="3048000"/>
            <a:ext cx="382588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45" name="Text Box 37"/>
          <p:cNvSpPr txBox="1"/>
          <p:nvPr/>
        </p:nvSpPr>
        <p:spPr>
          <a:xfrm>
            <a:off x="5865813" y="3595688"/>
            <a:ext cx="382587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46" name="Text Box 38"/>
          <p:cNvSpPr txBox="1"/>
          <p:nvPr/>
        </p:nvSpPr>
        <p:spPr>
          <a:xfrm>
            <a:off x="7313613" y="3595688"/>
            <a:ext cx="382587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3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47" name="Line 39"/>
          <p:cNvSpPr/>
          <p:nvPr/>
        </p:nvSpPr>
        <p:spPr>
          <a:xfrm>
            <a:off x="2590800" y="3886200"/>
            <a:ext cx="381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9848" name="Text Box 40"/>
          <p:cNvSpPr txBox="1"/>
          <p:nvPr/>
        </p:nvSpPr>
        <p:spPr>
          <a:xfrm>
            <a:off x="2474913" y="3398838"/>
            <a:ext cx="282575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</a:rPr>
              <a:t>i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49" name="Text Box 41"/>
          <p:cNvSpPr txBox="1"/>
          <p:nvPr/>
        </p:nvSpPr>
        <p:spPr>
          <a:xfrm>
            <a:off x="4648200" y="579120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9850" name="Text Box 42"/>
          <p:cNvSpPr txBox="1"/>
          <p:nvPr/>
        </p:nvSpPr>
        <p:spPr>
          <a:xfrm>
            <a:off x="4632325" y="5832475"/>
            <a:ext cx="873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过 程</a:t>
            </a:r>
            <a:endParaRPr lang="zh-CN" altLang="en-US" sz="2400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Line 2"/>
          <p:cNvSpPr/>
          <p:nvPr/>
        </p:nvSpPr>
        <p:spPr>
          <a:xfrm>
            <a:off x="1676400" y="16764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35" name="Line 3"/>
          <p:cNvSpPr/>
          <p:nvPr/>
        </p:nvSpPr>
        <p:spPr>
          <a:xfrm flipH="1">
            <a:off x="1295400" y="1662113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36" name="Rectangle 4"/>
          <p:cNvSpPr/>
          <p:nvPr/>
        </p:nvSpPr>
        <p:spPr>
          <a:xfrm>
            <a:off x="685800" y="12954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0837" name="Rectangle 5"/>
          <p:cNvSpPr/>
          <p:nvPr/>
        </p:nvSpPr>
        <p:spPr>
          <a:xfrm>
            <a:off x="1066800" y="2043113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0838" name="Oval 6"/>
          <p:cNvSpPr/>
          <p:nvPr/>
        </p:nvSpPr>
        <p:spPr>
          <a:xfrm>
            <a:off x="1371600" y="1281113"/>
            <a:ext cx="457200" cy="457200"/>
          </a:xfrm>
          <a:prstGeom prst="ellipse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0839" name="Text Box 7"/>
          <p:cNvSpPr txBox="1"/>
          <p:nvPr/>
        </p:nvSpPr>
        <p:spPr>
          <a:xfrm>
            <a:off x="1057275" y="1981200"/>
            <a:ext cx="382588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40" name="Line 8"/>
          <p:cNvSpPr/>
          <p:nvPr/>
        </p:nvSpPr>
        <p:spPr>
          <a:xfrm>
            <a:off x="2038350" y="23622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41" name="Line 9"/>
          <p:cNvSpPr/>
          <p:nvPr/>
        </p:nvSpPr>
        <p:spPr>
          <a:xfrm flipH="1">
            <a:off x="1657350" y="23622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42" name="Rectangle 10"/>
          <p:cNvSpPr/>
          <p:nvPr/>
        </p:nvSpPr>
        <p:spPr>
          <a:xfrm>
            <a:off x="1428750" y="27432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0843" name="Rectangle 11"/>
          <p:cNvSpPr/>
          <p:nvPr/>
        </p:nvSpPr>
        <p:spPr>
          <a:xfrm>
            <a:off x="2133600" y="27432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0844" name="Oval 12"/>
          <p:cNvSpPr/>
          <p:nvPr/>
        </p:nvSpPr>
        <p:spPr>
          <a:xfrm>
            <a:off x="1733550" y="1981200"/>
            <a:ext cx="457200" cy="457200"/>
          </a:xfrm>
          <a:prstGeom prst="ellipse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0845" name="Text Box 13"/>
          <p:cNvSpPr txBox="1"/>
          <p:nvPr/>
        </p:nvSpPr>
        <p:spPr>
          <a:xfrm>
            <a:off x="1419225" y="26812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46" name="Text Box 14"/>
          <p:cNvSpPr txBox="1"/>
          <p:nvPr/>
        </p:nvSpPr>
        <p:spPr>
          <a:xfrm>
            <a:off x="676275" y="1219200"/>
            <a:ext cx="382588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7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47" name="Text Box 15"/>
          <p:cNvSpPr txBox="1"/>
          <p:nvPr/>
        </p:nvSpPr>
        <p:spPr>
          <a:xfrm>
            <a:off x="2143125" y="26812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48" name="Text Box 16"/>
          <p:cNvSpPr txBox="1"/>
          <p:nvPr/>
        </p:nvSpPr>
        <p:spPr>
          <a:xfrm>
            <a:off x="1682750" y="1981200"/>
            <a:ext cx="52705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49" name="Text Box 17"/>
          <p:cNvSpPr txBox="1"/>
          <p:nvPr/>
        </p:nvSpPr>
        <p:spPr>
          <a:xfrm>
            <a:off x="1301750" y="1263650"/>
            <a:ext cx="61595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11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50" name="Rectangle 18"/>
          <p:cNvSpPr/>
          <p:nvPr/>
        </p:nvSpPr>
        <p:spPr>
          <a:xfrm>
            <a:off x="3352800" y="1143000"/>
            <a:ext cx="5181600" cy="4267200"/>
          </a:xfrm>
          <a:prstGeom prst="rect">
            <a:avLst/>
          </a:prstGeom>
          <a:noFill/>
          <a:ln w="38100" cap="flat" cmpd="sng">
            <a:solidFill>
              <a:srgbClr val="00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0851" name="Line 19"/>
          <p:cNvSpPr/>
          <p:nvPr/>
        </p:nvSpPr>
        <p:spPr>
          <a:xfrm>
            <a:off x="57150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52" name="Line 20"/>
          <p:cNvSpPr/>
          <p:nvPr/>
        </p:nvSpPr>
        <p:spPr>
          <a:xfrm>
            <a:off x="70866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53" name="Line 21"/>
          <p:cNvSpPr/>
          <p:nvPr/>
        </p:nvSpPr>
        <p:spPr>
          <a:xfrm>
            <a:off x="44958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54" name="Text Box 22"/>
          <p:cNvSpPr txBox="1"/>
          <p:nvPr/>
        </p:nvSpPr>
        <p:spPr>
          <a:xfrm>
            <a:off x="3352800" y="547688"/>
            <a:ext cx="523081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Arial Narrow" panose="020B0606020202030204" pitchFamily="34" charset="0"/>
              </a:rPr>
              <a:t>Weight   parent   leftChild  rightChild</a:t>
            </a:r>
            <a:endParaRPr lang="en-US" altLang="zh-CN" sz="2800" dirty="0">
              <a:latin typeface="Arial Narrow" panose="020B0606020202030204" pitchFamily="34" charset="0"/>
            </a:endParaRPr>
          </a:p>
        </p:txBody>
      </p:sp>
      <p:sp>
        <p:nvSpPr>
          <p:cNvPr id="120855" name="Text Box 23"/>
          <p:cNvSpPr txBox="1"/>
          <p:nvPr/>
        </p:nvSpPr>
        <p:spPr>
          <a:xfrm>
            <a:off x="3598863" y="1138238"/>
            <a:ext cx="4581525" cy="419576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 7</a:t>
            </a:r>
            <a:r>
              <a:rPr lang="en-US" altLang="zh-CN" sz="2800" dirty="0"/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 5</a:t>
            </a:r>
            <a:r>
              <a:rPr lang="en-US" altLang="zh-CN" sz="2800" dirty="0"/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 2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0099"/>
                </a:solidFill>
              </a:rPr>
              <a:t>4</a:t>
            </a:r>
            <a:r>
              <a:rPr lang="en-US" altLang="zh-CN" sz="2800" dirty="0">
                <a:solidFill>
                  <a:srgbClr val="009900"/>
                </a:solidFill>
              </a:rPr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 4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0099"/>
                </a:solidFill>
              </a:rPr>
              <a:t>4</a:t>
            </a:r>
            <a:r>
              <a:rPr lang="en-US" altLang="zh-CN" sz="2800" dirty="0">
                <a:solidFill>
                  <a:srgbClr val="009900"/>
                </a:solidFill>
              </a:rPr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  6</a:t>
            </a:r>
            <a:r>
              <a:rPr lang="en-US" altLang="zh-CN" sz="2800" dirty="0">
                <a:solidFill>
                  <a:srgbClr val="009900"/>
                </a:solidFill>
              </a:rPr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</a:t>
            </a:r>
            <a:r>
              <a:rPr lang="en-US" altLang="zh-CN" sz="2800" dirty="0">
                <a:solidFill>
                  <a:srgbClr val="000099"/>
                </a:solidFill>
              </a:rPr>
              <a:t>2</a:t>
            </a:r>
            <a:r>
              <a:rPr lang="en-US" altLang="zh-CN" sz="2800" dirty="0">
                <a:solidFill>
                  <a:srgbClr val="009900"/>
                </a:solidFill>
              </a:rPr>
              <a:t>             </a:t>
            </a:r>
            <a:r>
              <a:rPr lang="en-US" altLang="zh-CN" sz="2800" dirty="0">
                <a:solidFill>
                  <a:srgbClr val="000099"/>
                </a:solidFill>
              </a:rPr>
              <a:t>3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11</a:t>
            </a:r>
            <a:r>
              <a:rPr lang="en-US" altLang="zh-CN" sz="2800" dirty="0">
                <a:solidFill>
                  <a:srgbClr val="009900"/>
                </a:solidFill>
              </a:rPr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9900"/>
                </a:solidFill>
              </a:rPr>
              <a:t>  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</p:txBody>
      </p:sp>
      <p:sp>
        <p:nvSpPr>
          <p:cNvPr id="120856" name="Line 24"/>
          <p:cNvSpPr/>
          <p:nvPr/>
        </p:nvSpPr>
        <p:spPr>
          <a:xfrm>
            <a:off x="3352800" y="17526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57" name="Line 25"/>
          <p:cNvSpPr/>
          <p:nvPr/>
        </p:nvSpPr>
        <p:spPr>
          <a:xfrm>
            <a:off x="3352800" y="23622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58" name="Line 26"/>
          <p:cNvSpPr/>
          <p:nvPr/>
        </p:nvSpPr>
        <p:spPr>
          <a:xfrm>
            <a:off x="3352800" y="29718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59" name="Line 27"/>
          <p:cNvSpPr/>
          <p:nvPr/>
        </p:nvSpPr>
        <p:spPr>
          <a:xfrm>
            <a:off x="3352800" y="35814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60" name="Line 28"/>
          <p:cNvSpPr/>
          <p:nvPr/>
        </p:nvSpPr>
        <p:spPr>
          <a:xfrm>
            <a:off x="3352800" y="41910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61" name="Line 29"/>
          <p:cNvSpPr/>
          <p:nvPr/>
        </p:nvSpPr>
        <p:spPr>
          <a:xfrm>
            <a:off x="3352800" y="48006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62" name="Text Box 30"/>
          <p:cNvSpPr txBox="1"/>
          <p:nvPr/>
        </p:nvSpPr>
        <p:spPr>
          <a:xfrm>
            <a:off x="2914650" y="1222375"/>
            <a:ext cx="361950" cy="41211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63" name="Line 31"/>
          <p:cNvSpPr/>
          <p:nvPr/>
        </p:nvSpPr>
        <p:spPr>
          <a:xfrm>
            <a:off x="2590800" y="2133600"/>
            <a:ext cx="381000" cy="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0864" name="Line 32"/>
          <p:cNvSpPr/>
          <p:nvPr/>
        </p:nvSpPr>
        <p:spPr>
          <a:xfrm>
            <a:off x="2590800" y="3886200"/>
            <a:ext cx="381000" cy="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0865" name="Text Box 33"/>
          <p:cNvSpPr txBox="1"/>
          <p:nvPr/>
        </p:nvSpPr>
        <p:spPr>
          <a:xfrm>
            <a:off x="2362200" y="1676400"/>
            <a:ext cx="5064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CC"/>
                </a:solidFill>
                <a:latin typeface="Times New Roman" panose="02020603050405020304" pitchFamily="18" charset="0"/>
              </a:rPr>
              <a:t>p1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66" name="Text Box 34"/>
          <p:cNvSpPr txBox="1"/>
          <p:nvPr/>
        </p:nvSpPr>
        <p:spPr>
          <a:xfrm>
            <a:off x="2362200" y="3429000"/>
            <a:ext cx="5064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CC"/>
                </a:solidFill>
                <a:latin typeface="Times New Roman" panose="02020603050405020304" pitchFamily="18" charset="0"/>
              </a:rPr>
              <a:t>p2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67" name="Line 35"/>
          <p:cNvSpPr/>
          <p:nvPr/>
        </p:nvSpPr>
        <p:spPr>
          <a:xfrm>
            <a:off x="4953000" y="19050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68" name="Line 36"/>
          <p:cNvSpPr/>
          <p:nvPr/>
        </p:nvSpPr>
        <p:spPr>
          <a:xfrm>
            <a:off x="4953000" y="37338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69" name="Line 37"/>
          <p:cNvSpPr/>
          <p:nvPr/>
        </p:nvSpPr>
        <p:spPr>
          <a:xfrm>
            <a:off x="6248400" y="43434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70" name="Line 38"/>
          <p:cNvSpPr/>
          <p:nvPr/>
        </p:nvSpPr>
        <p:spPr>
          <a:xfrm>
            <a:off x="7696200" y="43434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0871" name="Text Box 39"/>
          <p:cNvSpPr txBox="1"/>
          <p:nvPr/>
        </p:nvSpPr>
        <p:spPr>
          <a:xfrm>
            <a:off x="4646613" y="1828800"/>
            <a:ext cx="382587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72" name="Text Box 40"/>
          <p:cNvSpPr txBox="1"/>
          <p:nvPr/>
        </p:nvSpPr>
        <p:spPr>
          <a:xfrm>
            <a:off x="4646613" y="3595688"/>
            <a:ext cx="382587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73" name="Text Box 41"/>
          <p:cNvSpPr txBox="1"/>
          <p:nvPr/>
        </p:nvSpPr>
        <p:spPr>
          <a:xfrm>
            <a:off x="5942013" y="4205288"/>
            <a:ext cx="382587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74" name="Text Box 42"/>
          <p:cNvSpPr txBox="1"/>
          <p:nvPr/>
        </p:nvSpPr>
        <p:spPr>
          <a:xfrm>
            <a:off x="7315200" y="42052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0875" name="Line 43"/>
          <p:cNvSpPr/>
          <p:nvPr/>
        </p:nvSpPr>
        <p:spPr>
          <a:xfrm>
            <a:off x="2590800" y="4464050"/>
            <a:ext cx="381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0876" name="Text Box 44"/>
          <p:cNvSpPr txBox="1"/>
          <p:nvPr/>
        </p:nvSpPr>
        <p:spPr>
          <a:xfrm>
            <a:off x="2474913" y="3976688"/>
            <a:ext cx="282575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</a:rPr>
              <a:t>i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Line 2"/>
          <p:cNvSpPr/>
          <p:nvPr/>
        </p:nvSpPr>
        <p:spPr>
          <a:xfrm>
            <a:off x="1304925" y="1690688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59" name="Line 3"/>
          <p:cNvSpPr/>
          <p:nvPr/>
        </p:nvSpPr>
        <p:spPr>
          <a:xfrm flipH="1">
            <a:off x="923925" y="16764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60" name="Oval 4"/>
          <p:cNvSpPr/>
          <p:nvPr/>
        </p:nvSpPr>
        <p:spPr>
          <a:xfrm>
            <a:off x="1000125" y="1295400"/>
            <a:ext cx="457200" cy="457200"/>
          </a:xfrm>
          <a:prstGeom prst="ellipse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1861" name="Line 5"/>
          <p:cNvSpPr/>
          <p:nvPr/>
        </p:nvSpPr>
        <p:spPr>
          <a:xfrm>
            <a:off x="1685925" y="24384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62" name="Line 6"/>
          <p:cNvSpPr/>
          <p:nvPr/>
        </p:nvSpPr>
        <p:spPr>
          <a:xfrm flipH="1">
            <a:off x="1304925" y="2424113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63" name="Rectangle 7"/>
          <p:cNvSpPr/>
          <p:nvPr/>
        </p:nvSpPr>
        <p:spPr>
          <a:xfrm>
            <a:off x="695325" y="20574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1864" name="Rectangle 8"/>
          <p:cNvSpPr/>
          <p:nvPr/>
        </p:nvSpPr>
        <p:spPr>
          <a:xfrm>
            <a:off x="1076325" y="2805113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1865" name="Oval 9"/>
          <p:cNvSpPr/>
          <p:nvPr/>
        </p:nvSpPr>
        <p:spPr>
          <a:xfrm>
            <a:off x="1381125" y="2043113"/>
            <a:ext cx="457200" cy="457200"/>
          </a:xfrm>
          <a:prstGeom prst="ellipse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1866" name="Text Box 10"/>
          <p:cNvSpPr txBox="1"/>
          <p:nvPr/>
        </p:nvSpPr>
        <p:spPr>
          <a:xfrm>
            <a:off x="1066800" y="2743200"/>
            <a:ext cx="382588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67" name="Line 11"/>
          <p:cNvSpPr/>
          <p:nvPr/>
        </p:nvSpPr>
        <p:spPr>
          <a:xfrm>
            <a:off x="2047875" y="31242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68" name="Line 12"/>
          <p:cNvSpPr/>
          <p:nvPr/>
        </p:nvSpPr>
        <p:spPr>
          <a:xfrm flipH="1">
            <a:off x="1666875" y="3124200"/>
            <a:ext cx="228600" cy="457200"/>
          </a:xfrm>
          <a:prstGeom prst="line">
            <a:avLst/>
          </a:prstGeom>
          <a:ln w="28575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69" name="Rectangle 13"/>
          <p:cNvSpPr/>
          <p:nvPr/>
        </p:nvSpPr>
        <p:spPr>
          <a:xfrm>
            <a:off x="1438275" y="35052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1870" name="Rectangle 14"/>
          <p:cNvSpPr/>
          <p:nvPr/>
        </p:nvSpPr>
        <p:spPr>
          <a:xfrm>
            <a:off x="2143125" y="3505200"/>
            <a:ext cx="381000" cy="381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1871" name="Oval 15"/>
          <p:cNvSpPr/>
          <p:nvPr/>
        </p:nvSpPr>
        <p:spPr>
          <a:xfrm>
            <a:off x="1743075" y="2743200"/>
            <a:ext cx="457200" cy="457200"/>
          </a:xfrm>
          <a:prstGeom prst="ellipse">
            <a:avLst/>
          </a:prstGeom>
          <a:solidFill>
            <a:srgbClr val="FFFFCC"/>
          </a:solidFill>
          <a:ln w="19050" cap="flat" cmpd="sng">
            <a:solidFill>
              <a:srgbClr val="0099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1872" name="Text Box 16"/>
          <p:cNvSpPr txBox="1"/>
          <p:nvPr/>
        </p:nvSpPr>
        <p:spPr>
          <a:xfrm>
            <a:off x="1428750" y="34432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73" name="Text Box 17"/>
          <p:cNvSpPr txBox="1"/>
          <p:nvPr/>
        </p:nvSpPr>
        <p:spPr>
          <a:xfrm>
            <a:off x="685800" y="1981200"/>
            <a:ext cx="382588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7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74" name="Text Box 18"/>
          <p:cNvSpPr txBox="1"/>
          <p:nvPr/>
        </p:nvSpPr>
        <p:spPr>
          <a:xfrm>
            <a:off x="2152650" y="34432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75" name="Text Box 19"/>
          <p:cNvSpPr txBox="1"/>
          <p:nvPr/>
        </p:nvSpPr>
        <p:spPr>
          <a:xfrm>
            <a:off x="1692275" y="2743200"/>
            <a:ext cx="52705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76" name="Text Box 20"/>
          <p:cNvSpPr txBox="1"/>
          <p:nvPr/>
        </p:nvSpPr>
        <p:spPr>
          <a:xfrm>
            <a:off x="1311275" y="2025650"/>
            <a:ext cx="61595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11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77" name="Rectangle 21"/>
          <p:cNvSpPr/>
          <p:nvPr/>
        </p:nvSpPr>
        <p:spPr>
          <a:xfrm>
            <a:off x="3352800" y="1143000"/>
            <a:ext cx="5181600" cy="4267200"/>
          </a:xfrm>
          <a:prstGeom prst="rect">
            <a:avLst/>
          </a:prstGeom>
          <a:noFill/>
          <a:ln w="38100" cap="flat" cmpd="sng">
            <a:solidFill>
              <a:srgbClr val="00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1878" name="Line 22"/>
          <p:cNvSpPr/>
          <p:nvPr/>
        </p:nvSpPr>
        <p:spPr>
          <a:xfrm>
            <a:off x="57150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79" name="Line 23"/>
          <p:cNvSpPr/>
          <p:nvPr/>
        </p:nvSpPr>
        <p:spPr>
          <a:xfrm>
            <a:off x="70866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0" name="Line 24"/>
          <p:cNvSpPr/>
          <p:nvPr/>
        </p:nvSpPr>
        <p:spPr>
          <a:xfrm>
            <a:off x="4495800" y="1143000"/>
            <a:ext cx="0" cy="426720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1" name="Text Box 25"/>
          <p:cNvSpPr txBox="1"/>
          <p:nvPr/>
        </p:nvSpPr>
        <p:spPr>
          <a:xfrm>
            <a:off x="3352800" y="547688"/>
            <a:ext cx="5230813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Arial Narrow" panose="020B0606020202030204" pitchFamily="34" charset="0"/>
              </a:rPr>
              <a:t>Weight   parent   leftChild  rightChild</a:t>
            </a:r>
            <a:endParaRPr lang="en-US" altLang="zh-CN" sz="2800" dirty="0">
              <a:latin typeface="Arial Narrow" panose="020B0606020202030204" pitchFamily="34" charset="0"/>
            </a:endParaRPr>
          </a:p>
        </p:txBody>
      </p:sp>
      <p:sp>
        <p:nvSpPr>
          <p:cNvPr id="121882" name="Text Box 26"/>
          <p:cNvSpPr txBox="1"/>
          <p:nvPr/>
        </p:nvSpPr>
        <p:spPr>
          <a:xfrm>
            <a:off x="3686175" y="1138238"/>
            <a:ext cx="4483100" cy="419576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7</a:t>
            </a:r>
            <a:r>
              <a:rPr lang="en-US" altLang="zh-CN" sz="2800" dirty="0"/>
              <a:t>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5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0099"/>
                </a:solidFill>
              </a:rPr>
              <a:t>5</a:t>
            </a:r>
            <a:r>
              <a:rPr lang="en-US" altLang="zh-CN" sz="2800" dirty="0">
                <a:solidFill>
                  <a:srgbClr val="009900"/>
                </a:solidFill>
              </a:rPr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2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0099"/>
                </a:solidFill>
              </a:rPr>
              <a:t>4</a:t>
            </a:r>
            <a:r>
              <a:rPr lang="en-US" altLang="zh-CN" sz="2800" dirty="0">
                <a:solidFill>
                  <a:srgbClr val="009900"/>
                </a:solidFill>
              </a:rPr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/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CC0000"/>
                </a:solidFill>
              </a:rPr>
              <a:t> 4</a:t>
            </a:r>
            <a:r>
              <a:rPr lang="en-US" altLang="zh-CN" sz="2800" dirty="0"/>
              <a:t>          </a:t>
            </a:r>
            <a:r>
              <a:rPr lang="en-US" altLang="zh-CN" sz="2800" dirty="0">
                <a:solidFill>
                  <a:srgbClr val="000099"/>
                </a:solidFill>
              </a:rPr>
              <a:t>4</a:t>
            </a:r>
            <a:r>
              <a:rPr lang="en-US" altLang="zh-CN" sz="2800" dirty="0">
                <a:solidFill>
                  <a:srgbClr val="009900"/>
                </a:solidFill>
              </a:rPr>
              <a:t>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 6</a:t>
            </a:r>
            <a:r>
              <a:rPr lang="en-US" altLang="zh-CN" sz="2800" dirty="0">
                <a:solidFill>
                  <a:srgbClr val="009900"/>
                </a:solidFill>
              </a:rPr>
              <a:t>          </a:t>
            </a:r>
            <a:r>
              <a:rPr lang="en-US" altLang="zh-CN" sz="2800" dirty="0">
                <a:solidFill>
                  <a:srgbClr val="000099"/>
                </a:solidFill>
              </a:rPr>
              <a:t>5</a:t>
            </a:r>
            <a:r>
              <a:rPr lang="en-US" altLang="zh-CN" sz="2800" dirty="0">
                <a:solidFill>
                  <a:srgbClr val="009900"/>
                </a:solidFill>
              </a:rPr>
              <a:t>           </a:t>
            </a:r>
            <a:r>
              <a:rPr lang="en-US" altLang="zh-CN" sz="2800" dirty="0">
                <a:solidFill>
                  <a:srgbClr val="000099"/>
                </a:solidFill>
              </a:rPr>
              <a:t>2</a:t>
            </a:r>
            <a:r>
              <a:rPr lang="en-US" altLang="zh-CN" sz="2800" dirty="0">
                <a:solidFill>
                  <a:srgbClr val="009900"/>
                </a:solidFill>
              </a:rPr>
              <a:t>             </a:t>
            </a:r>
            <a:r>
              <a:rPr lang="en-US" altLang="zh-CN" sz="2800" dirty="0">
                <a:solidFill>
                  <a:srgbClr val="000099"/>
                </a:solidFill>
              </a:rPr>
              <a:t>3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11</a:t>
            </a:r>
            <a:r>
              <a:rPr lang="en-US" altLang="zh-CN" sz="2800" dirty="0">
                <a:solidFill>
                  <a:srgbClr val="009900"/>
                </a:solidFill>
              </a:rPr>
              <a:t>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</a:t>
            </a:r>
            <a:r>
              <a:rPr lang="en-US" altLang="zh-CN" sz="2800" dirty="0">
                <a:solidFill>
                  <a:srgbClr val="000099"/>
                </a:solidFill>
              </a:rPr>
              <a:t>1</a:t>
            </a:r>
            <a:r>
              <a:rPr lang="en-US" altLang="zh-CN" sz="2800" dirty="0">
                <a:solidFill>
                  <a:srgbClr val="009900"/>
                </a:solidFill>
              </a:rPr>
              <a:t>             </a:t>
            </a:r>
            <a:r>
              <a:rPr lang="en-US" altLang="zh-CN" sz="2800" dirty="0">
                <a:solidFill>
                  <a:srgbClr val="000099"/>
                </a:solidFill>
              </a:rPr>
              <a:t>4</a:t>
            </a:r>
            <a:endParaRPr lang="en-US" altLang="zh-CN" sz="2800" dirty="0">
              <a:solidFill>
                <a:srgbClr val="009900"/>
              </a:solidFill>
            </a:endParaRPr>
          </a:p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18</a:t>
            </a:r>
            <a:r>
              <a:rPr lang="en-US" altLang="zh-CN" sz="2800" dirty="0">
                <a:solidFill>
                  <a:srgbClr val="009900"/>
                </a:solidFill>
              </a:rPr>
              <a:t>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           </a:t>
            </a:r>
            <a:r>
              <a:rPr lang="en-US" altLang="zh-CN" sz="2800" dirty="0">
                <a:solidFill>
                  <a:srgbClr val="009900"/>
                </a:solidFill>
                <a:latin typeface="楷体_GB2312"/>
                <a:ea typeface="楷体_GB2312"/>
              </a:rPr>
              <a:t>-</a:t>
            </a:r>
            <a:r>
              <a:rPr lang="en-US" altLang="zh-CN" sz="2800" dirty="0">
                <a:solidFill>
                  <a:srgbClr val="009900"/>
                </a:solidFill>
              </a:rPr>
              <a:t>1</a:t>
            </a:r>
            <a:endParaRPr lang="en-US" altLang="zh-CN" sz="2800" dirty="0">
              <a:solidFill>
                <a:srgbClr val="009900"/>
              </a:solidFill>
            </a:endParaRPr>
          </a:p>
        </p:txBody>
      </p:sp>
      <p:sp>
        <p:nvSpPr>
          <p:cNvPr id="121883" name="Line 27"/>
          <p:cNvSpPr/>
          <p:nvPr/>
        </p:nvSpPr>
        <p:spPr>
          <a:xfrm>
            <a:off x="3352800" y="17526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4" name="Line 28"/>
          <p:cNvSpPr/>
          <p:nvPr/>
        </p:nvSpPr>
        <p:spPr>
          <a:xfrm>
            <a:off x="3352800" y="23622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5" name="Line 29"/>
          <p:cNvSpPr/>
          <p:nvPr/>
        </p:nvSpPr>
        <p:spPr>
          <a:xfrm>
            <a:off x="3352800" y="29718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6" name="Line 30"/>
          <p:cNvSpPr/>
          <p:nvPr/>
        </p:nvSpPr>
        <p:spPr>
          <a:xfrm>
            <a:off x="3352800" y="35814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7" name="Line 31"/>
          <p:cNvSpPr/>
          <p:nvPr/>
        </p:nvSpPr>
        <p:spPr>
          <a:xfrm>
            <a:off x="3352800" y="41910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8" name="Line 32"/>
          <p:cNvSpPr/>
          <p:nvPr/>
        </p:nvSpPr>
        <p:spPr>
          <a:xfrm>
            <a:off x="3352800" y="4800600"/>
            <a:ext cx="5181600" cy="0"/>
          </a:xfrm>
          <a:prstGeom prst="line">
            <a:avLst/>
          </a:prstGeom>
          <a:ln w="38100" cap="flat" cmpd="sng">
            <a:solidFill>
              <a:srgbClr val="0000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89" name="Text Box 33"/>
          <p:cNvSpPr txBox="1"/>
          <p:nvPr/>
        </p:nvSpPr>
        <p:spPr>
          <a:xfrm>
            <a:off x="2914650" y="1222375"/>
            <a:ext cx="361950" cy="41211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05000"/>
              </a:lnSpc>
              <a:spcBef>
                <a:spcPct val="35000"/>
              </a:spcBef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90" name="Line 34"/>
          <p:cNvSpPr/>
          <p:nvPr/>
        </p:nvSpPr>
        <p:spPr>
          <a:xfrm>
            <a:off x="2590800" y="1524000"/>
            <a:ext cx="381000" cy="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1891" name="Line 35"/>
          <p:cNvSpPr/>
          <p:nvPr/>
        </p:nvSpPr>
        <p:spPr>
          <a:xfrm>
            <a:off x="2590800" y="4495800"/>
            <a:ext cx="381000" cy="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1892" name="Text Box 36"/>
          <p:cNvSpPr txBox="1"/>
          <p:nvPr/>
        </p:nvSpPr>
        <p:spPr>
          <a:xfrm>
            <a:off x="2362200" y="1066800"/>
            <a:ext cx="5064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CC"/>
                </a:solidFill>
                <a:latin typeface="Times New Roman" panose="02020603050405020304" pitchFamily="18" charset="0"/>
              </a:rPr>
              <a:t>p1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93" name="Text Box 37"/>
          <p:cNvSpPr txBox="1"/>
          <p:nvPr/>
        </p:nvSpPr>
        <p:spPr>
          <a:xfrm>
            <a:off x="2362200" y="4038600"/>
            <a:ext cx="506413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33CC"/>
                </a:solidFill>
                <a:latin typeface="Times New Roman" panose="02020603050405020304" pitchFamily="18" charset="0"/>
              </a:rPr>
              <a:t>p2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94" name="Line 38"/>
          <p:cNvSpPr/>
          <p:nvPr/>
        </p:nvSpPr>
        <p:spPr>
          <a:xfrm>
            <a:off x="4953000" y="12954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95" name="Line 39"/>
          <p:cNvSpPr/>
          <p:nvPr/>
        </p:nvSpPr>
        <p:spPr>
          <a:xfrm>
            <a:off x="4953000" y="43434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96" name="Line 40"/>
          <p:cNvSpPr/>
          <p:nvPr/>
        </p:nvSpPr>
        <p:spPr>
          <a:xfrm>
            <a:off x="6248400" y="49530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97" name="Line 41"/>
          <p:cNvSpPr/>
          <p:nvPr/>
        </p:nvSpPr>
        <p:spPr>
          <a:xfrm>
            <a:off x="7696200" y="4953000"/>
            <a:ext cx="381000" cy="304800"/>
          </a:xfrm>
          <a:prstGeom prst="line">
            <a:avLst/>
          </a:prstGeom>
          <a:ln w="38100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1898" name="Text Box 42"/>
          <p:cNvSpPr txBox="1"/>
          <p:nvPr/>
        </p:nvSpPr>
        <p:spPr>
          <a:xfrm>
            <a:off x="4570413" y="1219200"/>
            <a:ext cx="382587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899" name="Text Box 43"/>
          <p:cNvSpPr txBox="1"/>
          <p:nvPr/>
        </p:nvSpPr>
        <p:spPr>
          <a:xfrm>
            <a:off x="4572000" y="4205288"/>
            <a:ext cx="382588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6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900" name="Text Box 44"/>
          <p:cNvSpPr txBox="1"/>
          <p:nvPr/>
        </p:nvSpPr>
        <p:spPr>
          <a:xfrm>
            <a:off x="5865813" y="4814888"/>
            <a:ext cx="382587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901" name="Text Box 45"/>
          <p:cNvSpPr txBox="1"/>
          <p:nvPr/>
        </p:nvSpPr>
        <p:spPr>
          <a:xfrm>
            <a:off x="7313613" y="4814888"/>
            <a:ext cx="382587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000099"/>
                </a:solidFill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902" name="Line 46"/>
          <p:cNvSpPr/>
          <p:nvPr/>
        </p:nvSpPr>
        <p:spPr>
          <a:xfrm>
            <a:off x="2590800" y="5073650"/>
            <a:ext cx="381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1903" name="Text Box 47"/>
          <p:cNvSpPr txBox="1"/>
          <p:nvPr/>
        </p:nvSpPr>
        <p:spPr>
          <a:xfrm>
            <a:off x="2474913" y="4586288"/>
            <a:ext cx="282575" cy="5191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</a:rPr>
              <a:t>i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904" name="Text Box 48"/>
          <p:cNvSpPr txBox="1"/>
          <p:nvPr/>
        </p:nvSpPr>
        <p:spPr>
          <a:xfrm>
            <a:off x="923925" y="1295400"/>
            <a:ext cx="61595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18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1905" name="Text Box 50"/>
          <p:cNvSpPr txBox="1"/>
          <p:nvPr/>
        </p:nvSpPr>
        <p:spPr>
          <a:xfrm>
            <a:off x="4784725" y="5680075"/>
            <a:ext cx="873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C84"/>
                </a:solidFill>
                <a:latin typeface="Times New Roman" panose="02020603050405020304" pitchFamily="18" charset="0"/>
                <a:ea typeface="楷体_GB2312"/>
              </a:rPr>
              <a:t>终 态</a:t>
            </a:r>
            <a:endParaRPr lang="zh-CN" altLang="en-US" sz="2400" b="1" dirty="0">
              <a:solidFill>
                <a:srgbClr val="002C84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Text Box 2"/>
          <p:cNvSpPr txBox="1"/>
          <p:nvPr/>
        </p:nvSpPr>
        <p:spPr>
          <a:xfrm>
            <a:off x="611188" y="260350"/>
            <a:ext cx="7924800" cy="584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BE0000"/>
                </a:solidFill>
                <a:latin typeface="Times New Roman" panose="02020603050405020304" pitchFamily="18" charset="0"/>
                <a:ea typeface="楷体_GB2312"/>
              </a:rPr>
              <a:t>建立霍夫曼树的算法</a:t>
            </a:r>
            <a:endParaRPr lang="en-US" altLang="zh-CN" sz="24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b="1" dirty="0">
              <a:solidFill>
                <a:srgbClr val="BE000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void CreateHuffmanTree ( HuffmanTree T,  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float fr[ ] ) {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for ( int i = 0; i &lt; n; i++ )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T[i].weight = fr[i];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for ( i = 0; i &lt; m; i++ ) {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T[i].parent = </a:t>
            </a:r>
            <a:r>
              <a:rPr lang="en-US" altLang="zh-CN" b="1" dirty="0">
                <a:solidFill>
                  <a:srgbClr val="004080"/>
                </a:solidFill>
                <a:latin typeface="仿宋_GB2312"/>
                <a:ea typeface="楷体_GB2312"/>
              </a:rPr>
              <a:t>-</a:t>
            </a: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1;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T[i].leftChild = </a:t>
            </a:r>
            <a:r>
              <a:rPr lang="en-US" altLang="zh-CN" b="1" dirty="0">
                <a:solidFill>
                  <a:srgbClr val="004080"/>
                </a:solidFill>
                <a:latin typeface="仿宋_GB2312"/>
                <a:ea typeface="楷体_GB2312"/>
              </a:rPr>
              <a:t>-</a:t>
            </a: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1;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T[i].rightChild = </a:t>
            </a:r>
            <a:r>
              <a:rPr lang="en-US" altLang="zh-CN" b="1" dirty="0">
                <a:solidFill>
                  <a:srgbClr val="004080"/>
                </a:solidFill>
                <a:latin typeface="仿宋_GB2312"/>
                <a:ea typeface="楷体_GB2312"/>
              </a:rPr>
              <a:t>-</a:t>
            </a: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1;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} 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for ( i = n; i &lt; m; i++ ) {        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Text Box 2"/>
          <p:cNvSpPr txBox="1"/>
          <p:nvPr/>
        </p:nvSpPr>
        <p:spPr>
          <a:xfrm>
            <a:off x="609600" y="490538"/>
            <a:ext cx="7924800" cy="594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CC33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int min1 = min2 = MaxNum;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int pos1, pos2;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for ( int j = 0; j &lt; i; j++ )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   if ( T[j].parent == </a:t>
            </a:r>
            <a:r>
              <a:rPr lang="en-US" altLang="zh-CN" b="1" dirty="0">
                <a:solidFill>
                  <a:srgbClr val="004080"/>
                </a:solidFill>
                <a:latin typeface="楷体_GB2312"/>
                <a:ea typeface="楷体_GB2312"/>
              </a:rPr>
              <a:t>-</a:t>
            </a: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1 )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      if ( T[j].weight &lt; min1 )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         { pos2 = pos1;  min2 = min1;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            pos1 = j;  min1 = T[j].weight;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         }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      else if ( T[j].weight &lt; min2 )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         { pos2 = j;  min2 = T[j].weight; }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T[i].leftChild = pos1;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T[i].rightChild = pos2;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Text Box 2"/>
          <p:cNvSpPr txBox="1"/>
          <p:nvPr/>
        </p:nvSpPr>
        <p:spPr>
          <a:xfrm>
            <a:off x="609600" y="488950"/>
            <a:ext cx="8229600" cy="2528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CC33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T[i].weight = 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       T[pos1].weight + T[pos2].weight;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    T[pos1].parent = T[pos2].parent = i;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    }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4080"/>
                </a:solidFill>
                <a:latin typeface="Times New Roman" panose="02020603050405020304" pitchFamily="18" charset="0"/>
                <a:ea typeface="楷体_GB2312"/>
              </a:rPr>
              <a:t>}</a:t>
            </a:r>
            <a:endParaRPr lang="en-US" altLang="zh-CN" b="1" dirty="0">
              <a:solidFill>
                <a:srgbClr val="004080"/>
              </a:solidFill>
              <a:latin typeface="Times New Roman" panose="02020603050405020304" pitchFamily="18" charset="0"/>
              <a:ea typeface="楷体_GB231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62" name="Rectangle 2"/>
          <p:cNvSpPr>
            <a:spLocks noGrp="1"/>
          </p:cNvSpPr>
          <p:nvPr>
            <p:ph type="title"/>
          </p:nvPr>
        </p:nvSpPr>
        <p:spPr>
          <a:xfrm>
            <a:off x="304800" y="1752600"/>
            <a:ext cx="8610600" cy="1905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（严题集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6.26③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3200" b="1" dirty="0">
                <a:solidFill>
                  <a:schemeClr val="accent1"/>
                </a:solidFill>
                <a:latin typeface="宋体" panose="02010600030101010101" pitchFamily="2" charset="-122"/>
              </a:rPr>
              <a:t>：</a:t>
            </a:r>
            <a:r>
              <a:rPr lang="zh-TW" altLang="en-US" sz="2400" b="1" dirty="0">
                <a:solidFill>
                  <a:schemeClr val="tx1"/>
                </a:solidFill>
                <a:latin typeface="仿宋_GB2312"/>
                <a:ea typeface="仿宋_GB2312"/>
              </a:rPr>
              <a:t>假设用于通信的电文仅由8个字母 {</a:t>
            </a:r>
            <a:r>
              <a:rPr lang="en-US" altLang="zh-TW" sz="2400" b="1" dirty="0">
                <a:solidFill>
                  <a:schemeClr val="tx1"/>
                </a:solidFill>
                <a:latin typeface="仿宋_GB2312"/>
                <a:ea typeface="仿宋_GB2312"/>
              </a:rPr>
              <a:t>a, b, c, d, e, f, g, h}</a:t>
            </a:r>
            <a:r>
              <a:rPr lang="zh-TW" altLang="en-US" sz="2400" b="1" dirty="0">
                <a:solidFill>
                  <a:schemeClr val="tx1"/>
                </a:solidFill>
                <a:latin typeface="仿宋_GB2312"/>
                <a:ea typeface="仿宋_GB2312"/>
              </a:rPr>
              <a:t> 构成，它们在电文中出现的概率分别为{ 0.07, 0.19, 0.02, 0.06, 0.32, 0.03, 0.21, 0.10}，试为这8个字母设计哈夫曼</a:t>
            </a:r>
            <a:r>
              <a:rPr lang="zh-CN" altLang="en-US" sz="2400" b="1" dirty="0">
                <a:solidFill>
                  <a:schemeClr val="tx1"/>
                </a:solidFill>
                <a:latin typeface="仿宋_GB2312"/>
                <a:ea typeface="仿宋_GB2312"/>
              </a:rPr>
              <a:t>编码。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如果用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0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～</a:t>
            </a:r>
            <a:r>
              <a:rPr lang="en-US" altLang="zh-CN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7</a:t>
            </a: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的二进制编码方案又如何？</a:t>
            </a:r>
            <a:endParaRPr lang="zh-CN" altLang="en-US" sz="2400" b="1" dirty="0">
              <a:solidFill>
                <a:schemeClr val="accent1"/>
              </a:solidFill>
              <a:latin typeface="楷体_GB2312"/>
              <a:ea typeface="楷体_GB2312"/>
            </a:endParaRPr>
          </a:p>
        </p:txBody>
      </p:sp>
      <p:sp>
        <p:nvSpPr>
          <p:cNvPr id="296963" name="AutoShape 3">
            <a:hlinkClick r:id="" action="ppaction://hlinkshowjump?jump=nextslide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6964" name="Rectangle 4"/>
          <p:cNvSpPr/>
          <p:nvPr/>
        </p:nvSpPr>
        <p:spPr>
          <a:xfrm>
            <a:off x="228600" y="304800"/>
            <a:ext cx="8534400" cy="1196975"/>
          </a:xfrm>
          <a:prstGeom prst="rect">
            <a:avLst/>
          </a:prstGeom>
          <a:noFill/>
          <a:ln w="9525" cap="flat" cmpd="sng">
            <a:solidFill>
              <a:srgbClr val="0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楷体_GB2312"/>
              </a:rPr>
              <a:t>霍夫曼</a:t>
            </a:r>
            <a:r>
              <a:rPr lang="zh-CN" altLang="en-US" sz="2400" b="1" dirty="0">
                <a:latin typeface="楷体_GB2312"/>
                <a:ea typeface="楷体_GB2312"/>
              </a:rPr>
              <a:t>编码的基本思想是：</a:t>
            </a:r>
            <a:r>
              <a:rPr lang="zh-CN" altLang="en-US" sz="2400" b="1" dirty="0">
                <a:latin typeface="楷体_GB2312"/>
                <a:ea typeface="楷体_GB2312"/>
              </a:rPr>
              <a:t>概率大的字符用短码，概率小的用长码。由于</a:t>
            </a:r>
            <a:r>
              <a:rPr lang="zh-CN" altLang="en-US" sz="2400" b="1" dirty="0">
                <a:latin typeface="黑体" panose="02010609060101010101" pitchFamily="49" charset="-122"/>
                <a:ea typeface="楷体_GB2312"/>
              </a:rPr>
              <a:t>霍夫曼树的</a:t>
            </a:r>
            <a:r>
              <a:rPr lang="en-US" altLang="zh-CN" sz="2400" b="1" i="1" dirty="0">
                <a:latin typeface="楷体_GB2312"/>
                <a:ea typeface="楷体_GB2312"/>
              </a:rPr>
              <a:t>WPL</a:t>
            </a:r>
            <a:r>
              <a:rPr lang="zh-CN" altLang="en-US" sz="2400" b="1" dirty="0">
                <a:latin typeface="楷体_GB2312"/>
                <a:ea typeface="楷体_GB2312"/>
              </a:rPr>
              <a:t>最小，</a:t>
            </a:r>
            <a:r>
              <a:rPr lang="zh-CN" altLang="en-US" sz="2400" b="1" dirty="0">
                <a:latin typeface="楷体_GB2312"/>
                <a:ea typeface="楷体_GB2312"/>
              </a:rPr>
              <a:t>说明编码所需要的比特数最少。这种编码已广泛应用于网络通信中。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96965" name="Rectangle 5"/>
          <p:cNvSpPr/>
          <p:nvPr/>
        </p:nvSpPr>
        <p:spPr>
          <a:xfrm>
            <a:off x="381000" y="3886200"/>
            <a:ext cx="85344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1"/>
                </a:solidFill>
                <a:latin typeface="楷体_GB2312"/>
                <a:ea typeface="楷体_GB2312"/>
              </a:rPr>
              <a:t>解：</a:t>
            </a:r>
            <a:r>
              <a:rPr lang="zh-CN" altLang="en-US" sz="2400" b="1" dirty="0">
                <a:latin typeface="楷体_GB2312"/>
                <a:ea typeface="楷体_GB2312"/>
              </a:rPr>
              <a:t>先将概率放大</a:t>
            </a:r>
            <a:r>
              <a:rPr lang="en-US" altLang="zh-CN" sz="2400" b="1" dirty="0">
                <a:latin typeface="楷体_GB2312"/>
                <a:ea typeface="楷体_GB2312"/>
              </a:rPr>
              <a:t>100</a:t>
            </a:r>
            <a:r>
              <a:rPr lang="zh-CN" altLang="en-US" sz="2400" b="1" dirty="0">
                <a:latin typeface="楷体_GB2312"/>
                <a:ea typeface="楷体_GB2312"/>
              </a:rPr>
              <a:t>倍，以方便构造哈夫曼树。</a:t>
            </a:r>
            <a:br>
              <a:rPr lang="zh-CN" altLang="en-US" sz="2400" dirty="0">
                <a:latin typeface="楷体_GB2312"/>
                <a:ea typeface="楷体_GB2312"/>
              </a:rPr>
            </a:br>
            <a:r>
              <a:rPr lang="zh-CN" altLang="en-US" sz="2400" b="1" dirty="0">
                <a:latin typeface="楷体_GB2312"/>
                <a:ea typeface="楷体_GB2312"/>
              </a:rPr>
              <a:t>权值集合 </a:t>
            </a:r>
            <a:r>
              <a:rPr lang="en-US" altLang="zh-CN" sz="2400" b="1" dirty="0">
                <a:latin typeface="楷体_GB2312"/>
                <a:ea typeface="楷体_GB2312"/>
              </a:rPr>
              <a:t>w={7, 19, 2, 6, 32, 3, 21, 10}</a:t>
            </a:r>
            <a:r>
              <a:rPr lang="zh-CN" altLang="en-US" sz="2400" b="1" dirty="0">
                <a:latin typeface="楷体_GB2312"/>
                <a:ea typeface="楷体_GB2312"/>
              </a:rPr>
              <a:t>，</a:t>
            </a:r>
            <a:endParaRPr lang="zh-CN" altLang="en-US" sz="2400" b="1" dirty="0">
              <a:latin typeface="楷体_GB2312"/>
              <a:ea typeface="楷体_GB231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楷体_GB2312"/>
                <a:ea typeface="楷体_GB2312"/>
              </a:rPr>
              <a:t>按哈夫曼树构造规则（合并、删除、替换），可得到哈夫曼树。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charRg st="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96965">
                                            <p:txEl>
                                              <p:charRg st="0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>
                                            <p:txEl>
                                              <p:charRg st="61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296965">
                                            <p:txEl>
                                              <p:charRg st="61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2" grpId="0"/>
      <p:bldP spid="296963" grpId="0" animBg="1"/>
      <p:bldP spid="296964" grpId="0" animBg="1" advAuto="1000" build="p"/>
      <p:bldP spid="296965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7986" name="Rectangle 2"/>
          <p:cNvSpPr/>
          <p:nvPr/>
        </p:nvSpPr>
        <p:spPr>
          <a:xfrm>
            <a:off x="0" y="2209800"/>
            <a:ext cx="3140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w4={19, 21, </a:t>
            </a: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28,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 32}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858000" y="3505200"/>
            <a:ext cx="1066800" cy="1066800"/>
            <a:chOff x="864" y="2256"/>
            <a:chExt cx="672" cy="672"/>
          </a:xfrm>
        </p:grpSpPr>
        <p:sp>
          <p:nvSpPr>
            <p:cNvPr id="127069" name="Rectangle 4"/>
            <p:cNvSpPr/>
            <p:nvPr/>
          </p:nvSpPr>
          <p:spPr>
            <a:xfrm>
              <a:off x="864" y="2688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70" name="Line 5"/>
            <p:cNvSpPr/>
            <p:nvPr/>
          </p:nvSpPr>
          <p:spPr>
            <a:xfrm flipH="1">
              <a:off x="1056" y="2496"/>
              <a:ext cx="24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71" name="Oval 6"/>
            <p:cNvSpPr/>
            <p:nvPr/>
          </p:nvSpPr>
          <p:spPr>
            <a:xfrm>
              <a:off x="1200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72" name="Line 7"/>
            <p:cNvSpPr/>
            <p:nvPr/>
          </p:nvSpPr>
          <p:spPr>
            <a:xfrm>
              <a:off x="1344" y="2496"/>
              <a:ext cx="19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7992" name="Rectangle 8"/>
          <p:cNvSpPr>
            <a:spLocks noGrp="1"/>
          </p:cNvSpPr>
          <p:nvPr>
            <p:ph type="title"/>
          </p:nvPr>
        </p:nvSpPr>
        <p:spPr>
          <a:xfrm>
            <a:off x="0" y="228600"/>
            <a:ext cx="84582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400" b="1" dirty="0">
                <a:latin typeface="楷体_GB2312"/>
                <a:ea typeface="楷体_GB2312"/>
              </a:rPr>
              <a:t>为清晰起见，重新排序为</a:t>
            </a:r>
            <a:r>
              <a:rPr lang="en-US" altLang="zh-CN" sz="2400" b="1" dirty="0">
                <a:latin typeface="楷体_GB2312"/>
                <a:ea typeface="楷体_GB2312"/>
              </a:rPr>
              <a:t>:</a:t>
            </a:r>
            <a:br>
              <a:rPr lang="en-US" altLang="zh-CN" sz="2400" b="1" dirty="0">
                <a:latin typeface="楷体_GB2312"/>
                <a:ea typeface="楷体_GB2312"/>
              </a:rPr>
            </a:b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w={2, 3, 6, 7, 10, 19, 21, 32}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7239000" y="4191000"/>
            <a:ext cx="1371600" cy="1219200"/>
            <a:chOff x="1104" y="2688"/>
            <a:chExt cx="864" cy="768"/>
          </a:xfrm>
        </p:grpSpPr>
        <p:sp>
          <p:nvSpPr>
            <p:cNvPr id="127062" name="Line 10"/>
            <p:cNvSpPr/>
            <p:nvPr/>
          </p:nvSpPr>
          <p:spPr>
            <a:xfrm flipH="1">
              <a:off x="1296" y="2928"/>
              <a:ext cx="2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63" name="Oval 11"/>
            <p:cNvSpPr/>
            <p:nvPr/>
          </p:nvSpPr>
          <p:spPr>
            <a:xfrm>
              <a:off x="1440" y="268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64" name="Line 12"/>
            <p:cNvSpPr/>
            <p:nvPr/>
          </p:nvSpPr>
          <p:spPr>
            <a:xfrm>
              <a:off x="1584" y="2928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65" name="Rectangle 13"/>
            <p:cNvSpPr/>
            <p:nvPr/>
          </p:nvSpPr>
          <p:spPr>
            <a:xfrm>
              <a:off x="1104" y="3168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66" name="Rectangle 14"/>
            <p:cNvSpPr/>
            <p:nvPr/>
          </p:nvSpPr>
          <p:spPr>
            <a:xfrm>
              <a:off x="1680" y="3168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67" name="Rectangle 15"/>
            <p:cNvSpPr/>
            <p:nvPr/>
          </p:nvSpPr>
          <p:spPr>
            <a:xfrm>
              <a:off x="1152" y="316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99FF33"/>
                  </a:solidFill>
                  <a:latin typeface="楷体_GB2312"/>
                  <a:ea typeface="楷体_GB2312"/>
                </a:rPr>
                <a:t>2</a:t>
              </a:r>
              <a:endParaRPr lang="en-US" altLang="zh-CN" sz="2400" b="1" dirty="0">
                <a:solidFill>
                  <a:srgbClr val="99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68" name="Rectangle 16"/>
            <p:cNvSpPr/>
            <p:nvPr/>
          </p:nvSpPr>
          <p:spPr>
            <a:xfrm>
              <a:off x="1728" y="3168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99FF33"/>
                  </a:solidFill>
                  <a:latin typeface="楷体_GB2312"/>
                  <a:ea typeface="楷体_GB2312"/>
                </a:rPr>
                <a:t>3</a:t>
              </a:r>
              <a:endParaRPr lang="en-US" altLang="zh-CN" sz="2400" b="1" dirty="0">
                <a:solidFill>
                  <a:srgbClr val="99FF33"/>
                </a:solidFill>
                <a:latin typeface="楷体_GB2312"/>
                <a:ea typeface="楷体_GB2312"/>
              </a:endParaRPr>
            </a:p>
          </p:txBody>
        </p:sp>
      </p:grpSp>
      <p:sp>
        <p:nvSpPr>
          <p:cNvPr id="298001" name="Rectangle 17"/>
          <p:cNvSpPr/>
          <p:nvPr/>
        </p:nvSpPr>
        <p:spPr>
          <a:xfrm>
            <a:off x="7772400" y="4191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5</a:t>
            </a:r>
            <a:endParaRPr lang="en-US" altLang="zh-CN" sz="2400" b="1" dirty="0">
              <a:solidFill>
                <a:srgbClr val="FF00FF"/>
              </a:solidFill>
              <a:latin typeface="楷体_GB2312"/>
              <a:ea typeface="楷体_GB2312"/>
            </a:endParaRPr>
          </a:p>
        </p:txBody>
      </p:sp>
      <p:sp>
        <p:nvSpPr>
          <p:cNvPr id="298002" name="Rectangle 18"/>
          <p:cNvSpPr/>
          <p:nvPr/>
        </p:nvSpPr>
        <p:spPr>
          <a:xfrm>
            <a:off x="6934200" y="4191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99FF33"/>
                </a:solidFill>
                <a:latin typeface="楷体_GB2312"/>
                <a:ea typeface="楷体_GB2312"/>
              </a:rPr>
              <a:t>6</a:t>
            </a:r>
            <a:endParaRPr lang="en-US" altLang="zh-CN" sz="2400" b="1" dirty="0">
              <a:solidFill>
                <a:srgbClr val="99FF33"/>
              </a:solidFill>
              <a:latin typeface="楷体_GB2312"/>
              <a:ea typeface="楷体_GB2312"/>
            </a:endParaRPr>
          </a:p>
        </p:txBody>
      </p:sp>
      <p:sp>
        <p:nvSpPr>
          <p:cNvPr id="298003" name="Rectangle 19"/>
          <p:cNvSpPr/>
          <p:nvPr/>
        </p:nvSpPr>
        <p:spPr>
          <a:xfrm>
            <a:off x="0" y="914400"/>
            <a:ext cx="457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w1={</a:t>
            </a: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5,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 6, 7, 10, 19, 21, 32}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98004" name="Rectangle 20"/>
          <p:cNvSpPr/>
          <p:nvPr/>
        </p:nvSpPr>
        <p:spPr>
          <a:xfrm>
            <a:off x="0" y="1295400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w2={7, 10, </a:t>
            </a: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11,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 19, 21, 32}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98005" name="Rectangle 21"/>
          <p:cNvSpPr/>
          <p:nvPr/>
        </p:nvSpPr>
        <p:spPr>
          <a:xfrm>
            <a:off x="0" y="1676400"/>
            <a:ext cx="3810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w3={</a:t>
            </a: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11, 17,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 19, 21, 32}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98006" name="Rectangle 22"/>
          <p:cNvSpPr/>
          <p:nvPr/>
        </p:nvSpPr>
        <p:spPr>
          <a:xfrm>
            <a:off x="7315200" y="3429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11</a:t>
            </a:r>
            <a:endParaRPr lang="en-US" altLang="zh-CN" sz="2400" b="1" dirty="0">
              <a:solidFill>
                <a:srgbClr val="FF00FF"/>
              </a:solidFill>
              <a:latin typeface="楷体_GB2312"/>
              <a:ea typeface="楷体_GB2312"/>
            </a:endParaRPr>
          </a:p>
        </p:txBody>
      </p:sp>
      <p:grpSp>
        <p:nvGrpSpPr>
          <p:cNvPr id="4" name="Group 23"/>
          <p:cNvGrpSpPr/>
          <p:nvPr/>
        </p:nvGrpSpPr>
        <p:grpSpPr>
          <a:xfrm>
            <a:off x="5410200" y="3505200"/>
            <a:ext cx="1371600" cy="1219200"/>
            <a:chOff x="3312" y="2784"/>
            <a:chExt cx="864" cy="768"/>
          </a:xfrm>
        </p:grpSpPr>
        <p:sp>
          <p:nvSpPr>
            <p:cNvPr id="127055" name="Line 24"/>
            <p:cNvSpPr/>
            <p:nvPr/>
          </p:nvSpPr>
          <p:spPr>
            <a:xfrm flipH="1">
              <a:off x="3456" y="3024"/>
              <a:ext cx="2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56" name="Oval 25"/>
            <p:cNvSpPr/>
            <p:nvPr/>
          </p:nvSpPr>
          <p:spPr>
            <a:xfrm>
              <a:off x="3600" y="278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57" name="Line 26"/>
            <p:cNvSpPr/>
            <p:nvPr/>
          </p:nvSpPr>
          <p:spPr>
            <a:xfrm>
              <a:off x="3744" y="3024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58" name="Rectangle 27"/>
            <p:cNvSpPr/>
            <p:nvPr/>
          </p:nvSpPr>
          <p:spPr>
            <a:xfrm>
              <a:off x="3840" y="3264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59" name="Rectangle 28"/>
            <p:cNvSpPr/>
            <p:nvPr/>
          </p:nvSpPr>
          <p:spPr>
            <a:xfrm>
              <a:off x="3792" y="326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99FF33"/>
                  </a:solidFill>
                  <a:latin typeface="楷体_GB2312"/>
                  <a:ea typeface="楷体_GB2312"/>
                </a:rPr>
                <a:t>10</a:t>
              </a:r>
              <a:endParaRPr lang="en-US" altLang="zh-CN" sz="2400" b="1" dirty="0">
                <a:solidFill>
                  <a:srgbClr val="99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60" name="Rectangle 29"/>
            <p:cNvSpPr/>
            <p:nvPr/>
          </p:nvSpPr>
          <p:spPr>
            <a:xfrm>
              <a:off x="3312" y="3264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</a:endParaRPr>
            </a:p>
          </p:txBody>
        </p:sp>
        <p:sp>
          <p:nvSpPr>
            <p:cNvPr id="127061" name="Rectangle 30"/>
            <p:cNvSpPr/>
            <p:nvPr/>
          </p:nvSpPr>
          <p:spPr>
            <a:xfrm>
              <a:off x="3360" y="3264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99FF33"/>
                  </a:solidFill>
                  <a:latin typeface="楷体_GB2312"/>
                  <a:ea typeface="楷体_GB2312"/>
                </a:rPr>
                <a:t>7</a:t>
              </a:r>
              <a:endParaRPr lang="en-US" altLang="zh-CN" sz="2400" b="1" dirty="0">
                <a:solidFill>
                  <a:srgbClr val="99FF33"/>
                </a:solidFill>
                <a:latin typeface="楷体_GB2312"/>
                <a:ea typeface="楷体_GB2312"/>
              </a:endParaRPr>
            </a:p>
          </p:txBody>
        </p:sp>
      </p:grpSp>
      <p:sp>
        <p:nvSpPr>
          <p:cNvPr id="298015" name="Rectangle 31"/>
          <p:cNvSpPr/>
          <p:nvPr/>
        </p:nvSpPr>
        <p:spPr>
          <a:xfrm>
            <a:off x="5791200" y="3429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17</a:t>
            </a:r>
            <a:endParaRPr lang="en-US" altLang="zh-CN" sz="2400" b="1" dirty="0">
              <a:solidFill>
                <a:srgbClr val="FF00FF"/>
              </a:solidFill>
              <a:latin typeface="楷体_GB2312"/>
              <a:ea typeface="楷体_GB2312"/>
            </a:endParaRPr>
          </a:p>
        </p:txBody>
      </p:sp>
      <p:grpSp>
        <p:nvGrpSpPr>
          <p:cNvPr id="5" name="Group 32"/>
          <p:cNvGrpSpPr/>
          <p:nvPr/>
        </p:nvGrpSpPr>
        <p:grpSpPr>
          <a:xfrm>
            <a:off x="6172200" y="2667000"/>
            <a:ext cx="1295400" cy="990600"/>
            <a:chOff x="3888" y="1920"/>
            <a:chExt cx="816" cy="624"/>
          </a:xfrm>
        </p:grpSpPr>
        <p:sp>
          <p:nvSpPr>
            <p:cNvPr id="127052" name="Line 33"/>
            <p:cNvSpPr/>
            <p:nvPr/>
          </p:nvSpPr>
          <p:spPr>
            <a:xfrm flipH="1">
              <a:off x="3888" y="2160"/>
              <a:ext cx="384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53" name="Oval 34"/>
            <p:cNvSpPr/>
            <p:nvPr/>
          </p:nvSpPr>
          <p:spPr>
            <a:xfrm>
              <a:off x="4176" y="192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54" name="Line 35"/>
            <p:cNvSpPr/>
            <p:nvPr/>
          </p:nvSpPr>
          <p:spPr>
            <a:xfrm>
              <a:off x="4320" y="2160"/>
              <a:ext cx="38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8020" name="Rectangle 36"/>
          <p:cNvSpPr/>
          <p:nvPr/>
        </p:nvSpPr>
        <p:spPr>
          <a:xfrm>
            <a:off x="6553200" y="2590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28</a:t>
            </a:r>
            <a:endParaRPr lang="en-US" altLang="zh-CN" sz="2400" b="1" dirty="0">
              <a:solidFill>
                <a:srgbClr val="FF00FF"/>
              </a:solidFill>
              <a:latin typeface="楷体_GB2312"/>
              <a:ea typeface="楷体_GB2312"/>
            </a:endParaRPr>
          </a:p>
        </p:txBody>
      </p:sp>
      <p:grpSp>
        <p:nvGrpSpPr>
          <p:cNvPr id="6" name="Group 37"/>
          <p:cNvGrpSpPr/>
          <p:nvPr/>
        </p:nvGrpSpPr>
        <p:grpSpPr>
          <a:xfrm>
            <a:off x="4343400" y="1828800"/>
            <a:ext cx="1371600" cy="1295400"/>
            <a:chOff x="2688" y="1872"/>
            <a:chExt cx="864" cy="816"/>
          </a:xfrm>
        </p:grpSpPr>
        <p:sp>
          <p:nvSpPr>
            <p:cNvPr id="127044" name="Line 38"/>
            <p:cNvSpPr/>
            <p:nvPr/>
          </p:nvSpPr>
          <p:spPr>
            <a:xfrm flipH="1">
              <a:off x="2832" y="2160"/>
              <a:ext cx="2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45" name="Oval 39"/>
            <p:cNvSpPr/>
            <p:nvPr/>
          </p:nvSpPr>
          <p:spPr>
            <a:xfrm>
              <a:off x="2976" y="192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46" name="Line 40"/>
            <p:cNvSpPr/>
            <p:nvPr/>
          </p:nvSpPr>
          <p:spPr>
            <a:xfrm>
              <a:off x="3120" y="2160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7047" name="Rectangle 41"/>
            <p:cNvSpPr/>
            <p:nvPr/>
          </p:nvSpPr>
          <p:spPr>
            <a:xfrm>
              <a:off x="3216" y="2400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48" name="Rectangle 42"/>
            <p:cNvSpPr/>
            <p:nvPr/>
          </p:nvSpPr>
          <p:spPr>
            <a:xfrm>
              <a:off x="3168" y="240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99FF33"/>
                  </a:solidFill>
                  <a:latin typeface="楷体_GB2312"/>
                  <a:ea typeface="楷体_GB2312"/>
                </a:rPr>
                <a:t>21</a:t>
              </a:r>
              <a:endParaRPr lang="en-US" altLang="zh-CN" sz="2400" b="1" dirty="0">
                <a:solidFill>
                  <a:srgbClr val="99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49" name="Rectangle 43"/>
            <p:cNvSpPr/>
            <p:nvPr/>
          </p:nvSpPr>
          <p:spPr>
            <a:xfrm>
              <a:off x="2688" y="2400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7050" name="Rectangle 44"/>
            <p:cNvSpPr/>
            <p:nvPr/>
          </p:nvSpPr>
          <p:spPr>
            <a:xfrm>
              <a:off x="2688" y="240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99FF33"/>
                  </a:solidFill>
                  <a:latin typeface="楷体_GB2312"/>
                  <a:ea typeface="楷体_GB2312"/>
                </a:rPr>
                <a:t>19</a:t>
              </a:r>
              <a:endParaRPr lang="en-US" altLang="zh-CN" sz="2400" b="1" dirty="0">
                <a:solidFill>
                  <a:srgbClr val="99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51" name="Rectangle 45"/>
            <p:cNvSpPr/>
            <p:nvPr/>
          </p:nvSpPr>
          <p:spPr>
            <a:xfrm>
              <a:off x="2928" y="1872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FF"/>
                  </a:solidFill>
                  <a:latin typeface="楷体_GB2312"/>
                  <a:ea typeface="楷体_GB2312"/>
                </a:rPr>
                <a:t>40</a:t>
              </a:r>
              <a:endPara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endParaRPr>
            </a:p>
          </p:txBody>
        </p:sp>
      </p:grpSp>
      <p:sp>
        <p:nvSpPr>
          <p:cNvPr id="298030" name="Rectangle 46"/>
          <p:cNvSpPr/>
          <p:nvPr/>
        </p:nvSpPr>
        <p:spPr>
          <a:xfrm>
            <a:off x="0" y="2819400"/>
            <a:ext cx="2206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w5={</a:t>
            </a: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28,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32,</a:t>
            </a: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40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grpSp>
        <p:nvGrpSpPr>
          <p:cNvPr id="7" name="Group 47"/>
          <p:cNvGrpSpPr/>
          <p:nvPr/>
        </p:nvGrpSpPr>
        <p:grpSpPr>
          <a:xfrm>
            <a:off x="5715000" y="1828800"/>
            <a:ext cx="1066800" cy="1295400"/>
            <a:chOff x="3600" y="1152"/>
            <a:chExt cx="672" cy="816"/>
          </a:xfrm>
        </p:grpSpPr>
        <p:sp>
          <p:nvSpPr>
            <p:cNvPr id="127036" name="Rectangle 48"/>
            <p:cNvSpPr/>
            <p:nvPr/>
          </p:nvSpPr>
          <p:spPr>
            <a:xfrm>
              <a:off x="3648" y="1680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dirty="0">
                <a:solidFill>
                  <a:srgbClr val="99FF33"/>
                </a:solidFill>
              </a:endParaRPr>
            </a:p>
          </p:txBody>
        </p:sp>
        <p:grpSp>
          <p:nvGrpSpPr>
            <p:cNvPr id="127037" name="Group 49"/>
            <p:cNvGrpSpPr/>
            <p:nvPr/>
          </p:nvGrpSpPr>
          <p:grpSpPr>
            <a:xfrm>
              <a:off x="3600" y="1152"/>
              <a:ext cx="672" cy="816"/>
              <a:chOff x="3600" y="1152"/>
              <a:chExt cx="672" cy="816"/>
            </a:xfrm>
          </p:grpSpPr>
          <p:sp>
            <p:nvSpPr>
              <p:cNvPr id="127038" name="Oval 50"/>
              <p:cNvSpPr/>
              <p:nvPr/>
            </p:nvSpPr>
            <p:spPr>
              <a:xfrm>
                <a:off x="3936" y="120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127039" name="Group 51"/>
              <p:cNvGrpSpPr/>
              <p:nvPr/>
            </p:nvGrpSpPr>
            <p:grpSpPr>
              <a:xfrm>
                <a:off x="3600" y="1152"/>
                <a:ext cx="672" cy="816"/>
                <a:chOff x="3600" y="1152"/>
                <a:chExt cx="672" cy="816"/>
              </a:xfrm>
            </p:grpSpPr>
            <p:sp>
              <p:nvSpPr>
                <p:cNvPr id="127040" name="Line 52"/>
                <p:cNvSpPr/>
                <p:nvPr/>
              </p:nvSpPr>
              <p:spPr>
                <a:xfrm flipH="1">
                  <a:off x="3792" y="1440"/>
                  <a:ext cx="240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7041" name="Line 53"/>
                <p:cNvSpPr/>
                <p:nvPr/>
              </p:nvSpPr>
              <p:spPr>
                <a:xfrm>
                  <a:off x="4080" y="1440"/>
                  <a:ext cx="192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7042" name="Rectangle 54"/>
                <p:cNvSpPr/>
                <p:nvPr/>
              </p:nvSpPr>
              <p:spPr>
                <a:xfrm>
                  <a:off x="3600" y="1680"/>
                  <a:ext cx="38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rgbClr val="99FF33"/>
                      </a:solidFill>
                      <a:latin typeface="楷体_GB2312"/>
                      <a:ea typeface="楷体_GB2312"/>
                    </a:rPr>
                    <a:t>32</a:t>
                  </a:r>
                  <a:endParaRPr lang="en-US" altLang="zh-CN" sz="2400" b="1" dirty="0">
                    <a:solidFill>
                      <a:srgbClr val="99FF33"/>
                    </a:solidFill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127043" name="Rectangle 55"/>
                <p:cNvSpPr/>
                <p:nvPr/>
              </p:nvSpPr>
              <p:spPr>
                <a:xfrm>
                  <a:off x="3888" y="1152"/>
                  <a:ext cx="384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rgbClr val="FF00FF"/>
                      </a:solidFill>
                      <a:latin typeface="楷体_GB2312"/>
                      <a:ea typeface="楷体_GB2312"/>
                    </a:rPr>
                    <a:t>60</a:t>
                  </a:r>
                  <a:endParaRPr lang="en-US" altLang="zh-CN" sz="2400" b="1" dirty="0">
                    <a:solidFill>
                      <a:srgbClr val="FF00FF"/>
                    </a:solidFill>
                    <a:latin typeface="楷体_GB2312"/>
                    <a:ea typeface="楷体_GB2312"/>
                  </a:endParaRPr>
                </a:p>
              </p:txBody>
            </p:sp>
          </p:grpSp>
        </p:grpSp>
      </p:grpSp>
      <p:sp>
        <p:nvSpPr>
          <p:cNvPr id="298040" name="Rectangle 56"/>
          <p:cNvSpPr/>
          <p:nvPr/>
        </p:nvSpPr>
        <p:spPr>
          <a:xfrm>
            <a:off x="0" y="3429000"/>
            <a:ext cx="17399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w6={</a:t>
            </a: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40,60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298041" name="Rectangle 57"/>
          <p:cNvSpPr/>
          <p:nvPr/>
        </p:nvSpPr>
        <p:spPr>
          <a:xfrm>
            <a:off x="0" y="4114800"/>
            <a:ext cx="1428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w7={</a:t>
            </a:r>
            <a:r>
              <a: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rPr>
              <a:t>100</a:t>
            </a: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}</a:t>
            </a:r>
            <a:endParaRPr lang="en-US" altLang="zh-CN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grpSp>
        <p:nvGrpSpPr>
          <p:cNvPr id="10" name="Group 58"/>
          <p:cNvGrpSpPr/>
          <p:nvPr/>
        </p:nvGrpSpPr>
        <p:grpSpPr>
          <a:xfrm>
            <a:off x="5029200" y="990600"/>
            <a:ext cx="1295400" cy="990600"/>
            <a:chOff x="3168" y="624"/>
            <a:chExt cx="816" cy="624"/>
          </a:xfrm>
        </p:grpSpPr>
        <p:sp>
          <p:nvSpPr>
            <p:cNvPr id="127031" name="Oval 59"/>
            <p:cNvSpPr/>
            <p:nvPr/>
          </p:nvSpPr>
          <p:spPr>
            <a:xfrm>
              <a:off x="3408" y="6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127032" name="Group 60"/>
            <p:cNvGrpSpPr/>
            <p:nvPr/>
          </p:nvGrpSpPr>
          <p:grpSpPr>
            <a:xfrm>
              <a:off x="3168" y="624"/>
              <a:ext cx="816" cy="624"/>
              <a:chOff x="3168" y="624"/>
              <a:chExt cx="816" cy="624"/>
            </a:xfrm>
          </p:grpSpPr>
          <p:sp>
            <p:nvSpPr>
              <p:cNvPr id="127033" name="Line 61"/>
              <p:cNvSpPr/>
              <p:nvPr/>
            </p:nvSpPr>
            <p:spPr>
              <a:xfrm flipH="1">
                <a:off x="3168" y="864"/>
                <a:ext cx="288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34" name="Line 62"/>
              <p:cNvSpPr/>
              <p:nvPr/>
            </p:nvSpPr>
            <p:spPr>
              <a:xfrm>
                <a:off x="3600" y="816"/>
                <a:ext cx="384" cy="4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035" name="Rectangle 63"/>
              <p:cNvSpPr/>
              <p:nvPr/>
            </p:nvSpPr>
            <p:spPr>
              <a:xfrm>
                <a:off x="3360" y="624"/>
                <a:ext cx="48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00FF"/>
                    </a:solidFill>
                    <a:latin typeface="楷体_GB2312"/>
                    <a:ea typeface="楷体_GB2312"/>
                  </a:rPr>
                  <a:t>100</a:t>
                </a:r>
                <a:endParaRPr lang="en-US" altLang="zh-CN" sz="1800" b="1" dirty="0">
                  <a:solidFill>
                    <a:srgbClr val="FF00FF"/>
                  </a:solidFill>
                  <a:latin typeface="楷体_GB2312"/>
                  <a:ea typeface="楷体_GB2312"/>
                </a:endParaRPr>
              </a:p>
            </p:txBody>
          </p:sp>
        </p:grpSp>
      </p:grpSp>
      <p:grpSp>
        <p:nvGrpSpPr>
          <p:cNvPr id="12" name="Group 64"/>
          <p:cNvGrpSpPr/>
          <p:nvPr/>
        </p:nvGrpSpPr>
        <p:grpSpPr>
          <a:xfrm>
            <a:off x="4419600" y="2971800"/>
            <a:ext cx="4495800" cy="2743200"/>
            <a:chOff x="2784" y="2400"/>
            <a:chExt cx="2832" cy="1728"/>
          </a:xfrm>
        </p:grpSpPr>
        <p:sp>
          <p:nvSpPr>
            <p:cNvPr id="127023" name="Rectangle 65"/>
            <p:cNvSpPr/>
            <p:nvPr/>
          </p:nvSpPr>
          <p:spPr>
            <a:xfrm>
              <a:off x="2784" y="2448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rPr>
                <a:t>b</a:t>
              </a:r>
              <a:endPara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24" name="Rectangle 66"/>
            <p:cNvSpPr/>
            <p:nvPr/>
          </p:nvSpPr>
          <p:spPr>
            <a:xfrm>
              <a:off x="4608" y="3840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rPr>
                <a:t>c</a:t>
              </a:r>
              <a:endPara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25" name="Rectangle 67"/>
            <p:cNvSpPr/>
            <p:nvPr/>
          </p:nvSpPr>
          <p:spPr>
            <a:xfrm>
              <a:off x="3456" y="3360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rPr>
                <a:t>a</a:t>
              </a:r>
              <a:endPara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26" name="Rectangle 68"/>
            <p:cNvSpPr/>
            <p:nvPr/>
          </p:nvSpPr>
          <p:spPr>
            <a:xfrm>
              <a:off x="4368" y="3360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rPr>
                <a:t>d</a:t>
              </a:r>
              <a:endPara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27" name="Rectangle 69"/>
            <p:cNvSpPr/>
            <p:nvPr/>
          </p:nvSpPr>
          <p:spPr>
            <a:xfrm>
              <a:off x="3696" y="2400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rPr>
                <a:t>e</a:t>
              </a:r>
              <a:endPara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28" name="Rectangle 70"/>
            <p:cNvSpPr/>
            <p:nvPr/>
          </p:nvSpPr>
          <p:spPr>
            <a:xfrm>
              <a:off x="3312" y="2400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rPr>
                <a:t>g</a:t>
              </a:r>
              <a:endPara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29" name="Rectangle 71"/>
            <p:cNvSpPr/>
            <p:nvPr/>
          </p:nvSpPr>
          <p:spPr>
            <a:xfrm>
              <a:off x="5424" y="3648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rPr>
                <a:t>f</a:t>
              </a:r>
              <a:endPara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7030" name="Rectangle 72"/>
            <p:cNvSpPr/>
            <p:nvPr/>
          </p:nvSpPr>
          <p:spPr>
            <a:xfrm>
              <a:off x="3984" y="3408"/>
              <a:ext cx="1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rPr>
                <a:t>h</a:t>
              </a:r>
              <a:endParaRPr lang="en-US" altLang="zh-CN" sz="2400" b="1" dirty="0">
                <a:solidFill>
                  <a:srgbClr val="66FF33"/>
                </a:solidFill>
                <a:latin typeface="楷体_GB2312"/>
                <a:ea typeface="楷体_GB2312"/>
              </a:endParaRPr>
            </a:p>
          </p:txBody>
        </p:sp>
      </p:grpSp>
      <p:sp>
        <p:nvSpPr>
          <p:cNvPr id="298057" name="AutoShape 73"/>
          <p:cNvSpPr/>
          <p:nvPr/>
        </p:nvSpPr>
        <p:spPr>
          <a:xfrm>
            <a:off x="2286000" y="4572000"/>
            <a:ext cx="2209800" cy="838200"/>
          </a:xfrm>
          <a:prstGeom prst="wedgeEllipseCallout">
            <a:avLst>
              <a:gd name="adj1" fmla="val 59699"/>
              <a:gd name="adj2" fmla="val -139014"/>
            </a:avLst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哈夫曼树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8058" name="AutoShape 74">
            <a:hlinkClick r:id="rId1" action="ppaction://hlinksldjump"/>
          </p:cNvPr>
          <p:cNvSpPr/>
          <p:nvPr/>
        </p:nvSpPr>
        <p:spPr>
          <a:xfrm>
            <a:off x="8001000" y="57912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13" name="Group 75"/>
          <p:cNvGrpSpPr/>
          <p:nvPr/>
        </p:nvGrpSpPr>
        <p:grpSpPr>
          <a:xfrm>
            <a:off x="457200" y="533400"/>
            <a:ext cx="838200" cy="457200"/>
            <a:chOff x="288" y="336"/>
            <a:chExt cx="528" cy="288"/>
          </a:xfrm>
        </p:grpSpPr>
        <p:sp>
          <p:nvSpPr>
            <p:cNvPr id="127021" name="Rectangle 76"/>
            <p:cNvSpPr/>
            <p:nvPr/>
          </p:nvSpPr>
          <p:spPr>
            <a:xfrm>
              <a:off x="288" y="336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A50021"/>
                  </a:solidFill>
                  <a:latin typeface="楷体_GB2312"/>
                  <a:ea typeface="楷体_GB2312"/>
                </a:rPr>
                <a:t>×</a:t>
              </a:r>
              <a:endParaRPr lang="en-US" altLang="zh-CN" sz="2400" b="1" dirty="0">
                <a:solidFill>
                  <a:srgbClr val="A50021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298061" name="Rectangle 77"/>
            <p:cNvSpPr>
              <a:spLocks noChangeArrowheads="1"/>
            </p:cNvSpPr>
            <p:nvPr/>
          </p:nvSpPr>
          <p:spPr bwMode="auto">
            <a:xfrm>
              <a:off x="528" y="33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14" name="Group 78"/>
          <p:cNvGrpSpPr/>
          <p:nvPr/>
        </p:nvGrpSpPr>
        <p:grpSpPr>
          <a:xfrm>
            <a:off x="533400" y="914400"/>
            <a:ext cx="838200" cy="457200"/>
            <a:chOff x="336" y="576"/>
            <a:chExt cx="528" cy="288"/>
          </a:xfrm>
        </p:grpSpPr>
        <p:sp>
          <p:nvSpPr>
            <p:cNvPr id="298063" name="Rectangle 79"/>
            <p:cNvSpPr>
              <a:spLocks noChangeArrowheads="1"/>
            </p:cNvSpPr>
            <p:nvPr/>
          </p:nvSpPr>
          <p:spPr bwMode="auto">
            <a:xfrm>
              <a:off x="336" y="5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298064" name="Rectangle 80"/>
            <p:cNvSpPr>
              <a:spLocks noChangeArrowheads="1"/>
            </p:cNvSpPr>
            <p:nvPr/>
          </p:nvSpPr>
          <p:spPr bwMode="auto">
            <a:xfrm>
              <a:off x="624" y="5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15" name="Group 81"/>
          <p:cNvGrpSpPr/>
          <p:nvPr/>
        </p:nvGrpSpPr>
        <p:grpSpPr>
          <a:xfrm>
            <a:off x="609600" y="1295400"/>
            <a:ext cx="914400" cy="457200"/>
            <a:chOff x="384" y="816"/>
            <a:chExt cx="576" cy="288"/>
          </a:xfrm>
        </p:grpSpPr>
        <p:sp>
          <p:nvSpPr>
            <p:cNvPr id="298066" name="Rectangle 82"/>
            <p:cNvSpPr>
              <a:spLocks noChangeArrowheads="1"/>
            </p:cNvSpPr>
            <p:nvPr/>
          </p:nvSpPr>
          <p:spPr bwMode="auto">
            <a:xfrm>
              <a:off x="384" y="81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298067" name="Rectangle 83"/>
            <p:cNvSpPr>
              <a:spLocks noChangeArrowheads="1"/>
            </p:cNvSpPr>
            <p:nvPr/>
          </p:nvSpPr>
          <p:spPr bwMode="auto">
            <a:xfrm>
              <a:off x="720" y="81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16" name="Group 84"/>
          <p:cNvGrpSpPr/>
          <p:nvPr/>
        </p:nvGrpSpPr>
        <p:grpSpPr>
          <a:xfrm>
            <a:off x="685800" y="1676400"/>
            <a:ext cx="990600" cy="457200"/>
            <a:chOff x="432" y="1056"/>
            <a:chExt cx="624" cy="288"/>
          </a:xfrm>
        </p:grpSpPr>
        <p:sp>
          <p:nvSpPr>
            <p:cNvPr id="298069" name="Rectangle 85"/>
            <p:cNvSpPr>
              <a:spLocks noChangeArrowheads="1"/>
            </p:cNvSpPr>
            <p:nvPr/>
          </p:nvSpPr>
          <p:spPr bwMode="auto">
            <a:xfrm>
              <a:off x="432" y="105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298070" name="Rectangle 86"/>
            <p:cNvSpPr>
              <a:spLocks noChangeArrowheads="1"/>
            </p:cNvSpPr>
            <p:nvPr/>
          </p:nvSpPr>
          <p:spPr bwMode="auto">
            <a:xfrm>
              <a:off x="816" y="105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17" name="Group 87"/>
          <p:cNvGrpSpPr/>
          <p:nvPr/>
        </p:nvGrpSpPr>
        <p:grpSpPr>
          <a:xfrm>
            <a:off x="685800" y="2209800"/>
            <a:ext cx="990600" cy="457200"/>
            <a:chOff x="432" y="1392"/>
            <a:chExt cx="624" cy="288"/>
          </a:xfrm>
        </p:grpSpPr>
        <p:sp>
          <p:nvSpPr>
            <p:cNvPr id="298072" name="Rectangle 88"/>
            <p:cNvSpPr>
              <a:spLocks noChangeArrowheads="1"/>
            </p:cNvSpPr>
            <p:nvPr/>
          </p:nvSpPr>
          <p:spPr bwMode="auto">
            <a:xfrm>
              <a:off x="432" y="139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298073" name="Rectangle 89"/>
            <p:cNvSpPr>
              <a:spLocks noChangeArrowheads="1"/>
            </p:cNvSpPr>
            <p:nvPr/>
          </p:nvSpPr>
          <p:spPr bwMode="auto">
            <a:xfrm>
              <a:off x="816" y="1392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18" name="Group 90"/>
          <p:cNvGrpSpPr/>
          <p:nvPr/>
        </p:nvGrpSpPr>
        <p:grpSpPr>
          <a:xfrm>
            <a:off x="685800" y="2819400"/>
            <a:ext cx="762000" cy="457200"/>
            <a:chOff x="432" y="1776"/>
            <a:chExt cx="480" cy="288"/>
          </a:xfrm>
        </p:grpSpPr>
        <p:sp>
          <p:nvSpPr>
            <p:cNvPr id="298075" name="Rectangle 91"/>
            <p:cNvSpPr>
              <a:spLocks noChangeArrowheads="1"/>
            </p:cNvSpPr>
            <p:nvPr/>
          </p:nvSpPr>
          <p:spPr bwMode="auto">
            <a:xfrm>
              <a:off x="432" y="17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298076" name="Rectangle 92"/>
            <p:cNvSpPr>
              <a:spLocks noChangeArrowheads="1"/>
            </p:cNvSpPr>
            <p:nvPr/>
          </p:nvSpPr>
          <p:spPr bwMode="auto">
            <a:xfrm>
              <a:off x="672" y="1776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19" name="Group 93"/>
          <p:cNvGrpSpPr/>
          <p:nvPr/>
        </p:nvGrpSpPr>
        <p:grpSpPr>
          <a:xfrm>
            <a:off x="685800" y="3429000"/>
            <a:ext cx="838200" cy="457200"/>
            <a:chOff x="432" y="2160"/>
            <a:chExt cx="528" cy="288"/>
          </a:xfrm>
        </p:grpSpPr>
        <p:sp>
          <p:nvSpPr>
            <p:cNvPr id="298078" name="Rectangle 94"/>
            <p:cNvSpPr>
              <a:spLocks noChangeArrowheads="1"/>
            </p:cNvSpPr>
            <p:nvPr/>
          </p:nvSpPr>
          <p:spPr bwMode="auto">
            <a:xfrm>
              <a:off x="432" y="216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298079" name="Rectangle 95"/>
            <p:cNvSpPr>
              <a:spLocks noChangeArrowheads="1"/>
            </p:cNvSpPr>
            <p:nvPr/>
          </p:nvSpPr>
          <p:spPr bwMode="auto">
            <a:xfrm>
              <a:off x="720" y="216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9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8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8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9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8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8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29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8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8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29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8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98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298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3" dur="500"/>
                                        <p:tgtEl>
                                          <p:spTgt spid="29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6" dur="500"/>
                                        <p:tgtEl>
                                          <p:spTgt spid="298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8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8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92" grpId="0"/>
      <p:bldP spid="298001" grpId="0"/>
      <p:bldP spid="298002" grpId="0"/>
      <p:bldP spid="298003" grpId="0"/>
      <p:bldP spid="298004" grpId="0"/>
      <p:bldP spid="298005" grpId="0"/>
      <p:bldP spid="298006" grpId="0"/>
      <p:bldP spid="298015" grpId="0"/>
      <p:bldP spid="298020" grpId="0"/>
      <p:bldP spid="298030" grpId="0"/>
      <p:bldP spid="298040" grpId="0"/>
      <p:bldP spid="298041" grpId="0"/>
      <p:bldP spid="298057" grpId="0" animBg="1"/>
      <p:bldP spid="29805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8003" name="Rectangle 2"/>
          <p:cNvSpPr>
            <a:spLocks noGrp="1"/>
          </p:cNvSpPr>
          <p:nvPr>
            <p:ph type="title"/>
          </p:nvPr>
        </p:nvSpPr>
        <p:spPr>
          <a:xfrm>
            <a:off x="76200" y="0"/>
            <a:ext cx="5029200" cy="6096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b="1" dirty="0"/>
              <a:t>对应的哈夫曼编码（左</a:t>
            </a:r>
            <a:r>
              <a:rPr lang="en-US" altLang="zh-CN" sz="2800" b="1" dirty="0">
                <a:solidFill>
                  <a:schemeClr val="hlink"/>
                </a:solidFill>
              </a:rPr>
              <a:t>0</a:t>
            </a:r>
            <a:r>
              <a:rPr lang="zh-CN" altLang="en-US" sz="2800" b="1" dirty="0"/>
              <a:t>右</a:t>
            </a:r>
            <a:r>
              <a:rPr lang="en-US" altLang="zh-CN" sz="2800" b="1" dirty="0">
                <a:solidFill>
                  <a:schemeClr val="hlink"/>
                </a:solidFill>
              </a:rPr>
              <a:t>1</a:t>
            </a:r>
            <a:r>
              <a:rPr lang="zh-CN" altLang="en-US" sz="2800" b="1" dirty="0"/>
              <a:t>）：</a:t>
            </a:r>
            <a:endParaRPr lang="zh-CN" altLang="en-US" sz="2800" b="1" dirty="0"/>
          </a:p>
        </p:txBody>
      </p:sp>
      <p:grpSp>
        <p:nvGrpSpPr>
          <p:cNvPr id="2" name="Group 3"/>
          <p:cNvGrpSpPr/>
          <p:nvPr/>
        </p:nvGrpSpPr>
        <p:grpSpPr>
          <a:xfrm>
            <a:off x="4572000" y="76200"/>
            <a:ext cx="4572000" cy="4724400"/>
            <a:chOff x="2880" y="48"/>
            <a:chExt cx="2880" cy="2976"/>
          </a:xfrm>
        </p:grpSpPr>
        <p:grpSp>
          <p:nvGrpSpPr>
            <p:cNvPr id="128149" name="Group 4"/>
            <p:cNvGrpSpPr/>
            <p:nvPr/>
          </p:nvGrpSpPr>
          <p:grpSpPr>
            <a:xfrm>
              <a:off x="4464" y="1632"/>
              <a:ext cx="672" cy="672"/>
              <a:chOff x="864" y="2256"/>
              <a:chExt cx="672" cy="672"/>
            </a:xfrm>
          </p:grpSpPr>
          <p:sp>
            <p:nvSpPr>
              <p:cNvPr id="128203" name="Rectangle 5"/>
              <p:cNvSpPr/>
              <p:nvPr/>
            </p:nvSpPr>
            <p:spPr>
              <a:xfrm>
                <a:off x="864" y="2688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204" name="Line 6"/>
              <p:cNvSpPr/>
              <p:nvPr/>
            </p:nvSpPr>
            <p:spPr>
              <a:xfrm flipH="1">
                <a:off x="1056" y="2496"/>
                <a:ext cx="240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205" name="Oval 7"/>
              <p:cNvSpPr/>
              <p:nvPr/>
            </p:nvSpPr>
            <p:spPr>
              <a:xfrm>
                <a:off x="1200" y="2256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206" name="Line 8"/>
              <p:cNvSpPr/>
              <p:nvPr/>
            </p:nvSpPr>
            <p:spPr>
              <a:xfrm>
                <a:off x="1344" y="2496"/>
                <a:ext cx="192" cy="1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8150" name="Group 9"/>
            <p:cNvGrpSpPr/>
            <p:nvPr/>
          </p:nvGrpSpPr>
          <p:grpSpPr>
            <a:xfrm>
              <a:off x="4704" y="2064"/>
              <a:ext cx="864" cy="768"/>
              <a:chOff x="1104" y="2688"/>
              <a:chExt cx="864" cy="768"/>
            </a:xfrm>
          </p:grpSpPr>
          <p:sp>
            <p:nvSpPr>
              <p:cNvPr id="128196" name="Line 10"/>
              <p:cNvSpPr/>
              <p:nvPr/>
            </p:nvSpPr>
            <p:spPr>
              <a:xfrm flipH="1">
                <a:off x="1296" y="2928"/>
                <a:ext cx="24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197" name="Oval 11"/>
              <p:cNvSpPr/>
              <p:nvPr/>
            </p:nvSpPr>
            <p:spPr>
              <a:xfrm>
                <a:off x="1440" y="2688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198" name="Line 12"/>
              <p:cNvSpPr/>
              <p:nvPr/>
            </p:nvSpPr>
            <p:spPr>
              <a:xfrm>
                <a:off x="1584" y="2928"/>
                <a:ext cx="192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199" name="Rectangle 13"/>
              <p:cNvSpPr/>
              <p:nvPr/>
            </p:nvSpPr>
            <p:spPr>
              <a:xfrm>
                <a:off x="1104" y="3168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200" name="Rectangle 14"/>
              <p:cNvSpPr/>
              <p:nvPr/>
            </p:nvSpPr>
            <p:spPr>
              <a:xfrm>
                <a:off x="1680" y="3168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201" name="Rectangle 15"/>
              <p:cNvSpPr/>
              <p:nvPr/>
            </p:nvSpPr>
            <p:spPr>
              <a:xfrm>
                <a:off x="1152" y="3168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楷体_GB2312"/>
                    <a:ea typeface="楷体_GB2312"/>
                  </a:rPr>
                  <a:t>2</a:t>
                </a:r>
                <a:endParaRPr lang="en-US" altLang="zh-CN" sz="2400" b="1" dirty="0">
                  <a:solidFill>
                    <a:schemeClr val="accent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202" name="Rectangle 16"/>
              <p:cNvSpPr/>
              <p:nvPr/>
            </p:nvSpPr>
            <p:spPr>
              <a:xfrm>
                <a:off x="1728" y="3168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楷体_GB2312"/>
                    <a:ea typeface="楷体_GB2312"/>
                  </a:rPr>
                  <a:t>3</a:t>
                </a:r>
                <a:endParaRPr lang="en-US" altLang="zh-CN" sz="2400" b="1" dirty="0">
                  <a:solidFill>
                    <a:schemeClr val="accent2"/>
                  </a:solidFill>
                  <a:latin typeface="楷体_GB2312"/>
                  <a:ea typeface="楷体_GB2312"/>
                </a:endParaRPr>
              </a:p>
            </p:txBody>
          </p:sp>
        </p:grpSp>
        <p:sp>
          <p:nvSpPr>
            <p:cNvPr id="128151" name="Rectangle 17"/>
            <p:cNvSpPr/>
            <p:nvPr/>
          </p:nvSpPr>
          <p:spPr>
            <a:xfrm>
              <a:off x="5040" y="2064"/>
              <a:ext cx="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FF"/>
                  </a:solidFill>
                  <a:latin typeface="楷体_GB2312"/>
                  <a:ea typeface="楷体_GB2312"/>
                </a:rPr>
                <a:t>5</a:t>
              </a:r>
              <a:endPara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8152" name="Rectangle 18"/>
            <p:cNvSpPr/>
            <p:nvPr/>
          </p:nvSpPr>
          <p:spPr>
            <a:xfrm>
              <a:off x="4512" y="2064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楷体_GB2312"/>
                  <a:ea typeface="楷体_GB2312"/>
                </a:rPr>
                <a:t>6</a:t>
              </a:r>
              <a:endPara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8153" name="Rectangle 19"/>
            <p:cNvSpPr/>
            <p:nvPr/>
          </p:nvSpPr>
          <p:spPr>
            <a:xfrm>
              <a:off x="4752" y="158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FF"/>
                  </a:solidFill>
                  <a:latin typeface="楷体_GB2312"/>
                  <a:ea typeface="楷体_GB2312"/>
                </a:rPr>
                <a:t>11</a:t>
              </a:r>
              <a:endPara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128154" name="Group 20"/>
            <p:cNvGrpSpPr/>
            <p:nvPr/>
          </p:nvGrpSpPr>
          <p:grpSpPr>
            <a:xfrm>
              <a:off x="3552" y="1632"/>
              <a:ext cx="864" cy="768"/>
              <a:chOff x="3312" y="2784"/>
              <a:chExt cx="864" cy="768"/>
            </a:xfrm>
          </p:grpSpPr>
          <p:sp>
            <p:nvSpPr>
              <p:cNvPr id="128189" name="Line 21"/>
              <p:cNvSpPr/>
              <p:nvPr/>
            </p:nvSpPr>
            <p:spPr>
              <a:xfrm flipH="1">
                <a:off x="3456" y="3024"/>
                <a:ext cx="24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190" name="Oval 22"/>
              <p:cNvSpPr/>
              <p:nvPr/>
            </p:nvSpPr>
            <p:spPr>
              <a:xfrm>
                <a:off x="3600" y="2784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191" name="Line 23"/>
              <p:cNvSpPr/>
              <p:nvPr/>
            </p:nvSpPr>
            <p:spPr>
              <a:xfrm>
                <a:off x="3744" y="3024"/>
                <a:ext cx="192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192" name="Rectangle 24"/>
              <p:cNvSpPr/>
              <p:nvPr/>
            </p:nvSpPr>
            <p:spPr>
              <a:xfrm>
                <a:off x="3840" y="3264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193" name="Rectangle 25"/>
              <p:cNvSpPr/>
              <p:nvPr/>
            </p:nvSpPr>
            <p:spPr>
              <a:xfrm>
                <a:off x="3792" y="3264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楷体_GB2312"/>
                    <a:ea typeface="楷体_GB2312"/>
                  </a:rPr>
                  <a:t>10</a:t>
                </a:r>
                <a:endParaRPr lang="en-US" altLang="zh-CN" sz="2400" b="1" dirty="0">
                  <a:solidFill>
                    <a:schemeClr val="accent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94" name="Rectangle 26"/>
              <p:cNvSpPr/>
              <p:nvPr/>
            </p:nvSpPr>
            <p:spPr>
              <a:xfrm>
                <a:off x="3312" y="3264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195" name="Rectangle 27"/>
              <p:cNvSpPr/>
              <p:nvPr/>
            </p:nvSpPr>
            <p:spPr>
              <a:xfrm>
                <a:off x="3360" y="3264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楷体_GB2312"/>
                    <a:ea typeface="楷体_GB2312"/>
                  </a:rPr>
                  <a:t>7</a:t>
                </a:r>
                <a:endParaRPr lang="en-US" altLang="zh-CN" sz="2400" b="1" dirty="0">
                  <a:solidFill>
                    <a:schemeClr val="accent2"/>
                  </a:solidFill>
                  <a:latin typeface="楷体_GB2312"/>
                  <a:ea typeface="楷体_GB2312"/>
                </a:endParaRPr>
              </a:p>
            </p:txBody>
          </p:sp>
        </p:grpSp>
        <p:sp>
          <p:nvSpPr>
            <p:cNvPr id="128155" name="Line 28"/>
            <p:cNvSpPr/>
            <p:nvPr/>
          </p:nvSpPr>
          <p:spPr>
            <a:xfrm flipH="1">
              <a:off x="3936" y="864"/>
              <a:ext cx="24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156" name="Oval 29"/>
            <p:cNvSpPr/>
            <p:nvPr/>
          </p:nvSpPr>
          <p:spPr>
            <a:xfrm>
              <a:off x="4080" y="62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8157" name="Line 30"/>
            <p:cNvSpPr/>
            <p:nvPr/>
          </p:nvSpPr>
          <p:spPr>
            <a:xfrm>
              <a:off x="4224" y="864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158" name="Rectangle 31"/>
            <p:cNvSpPr/>
            <p:nvPr/>
          </p:nvSpPr>
          <p:spPr>
            <a:xfrm>
              <a:off x="3792" y="1104"/>
              <a:ext cx="288" cy="2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8159" name="Rectangle 32"/>
            <p:cNvSpPr/>
            <p:nvPr/>
          </p:nvSpPr>
          <p:spPr>
            <a:xfrm>
              <a:off x="3744" y="110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楷体_GB2312"/>
                  <a:ea typeface="楷体_GB2312"/>
                </a:rPr>
                <a:t>32</a:t>
              </a:r>
              <a:endPara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8160" name="Rectangle 33"/>
            <p:cNvSpPr/>
            <p:nvPr/>
          </p:nvSpPr>
          <p:spPr>
            <a:xfrm>
              <a:off x="3792" y="1584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FF"/>
                  </a:solidFill>
                  <a:latin typeface="楷体_GB2312"/>
                  <a:ea typeface="楷体_GB2312"/>
                </a:rPr>
                <a:t>17</a:t>
              </a:r>
              <a:endPara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128161" name="Group 34"/>
            <p:cNvGrpSpPr/>
            <p:nvPr/>
          </p:nvGrpSpPr>
          <p:grpSpPr>
            <a:xfrm>
              <a:off x="4032" y="1104"/>
              <a:ext cx="816" cy="624"/>
              <a:chOff x="3888" y="1920"/>
              <a:chExt cx="816" cy="624"/>
            </a:xfrm>
          </p:grpSpPr>
          <p:sp>
            <p:nvSpPr>
              <p:cNvPr id="128186" name="Line 35"/>
              <p:cNvSpPr/>
              <p:nvPr/>
            </p:nvSpPr>
            <p:spPr>
              <a:xfrm flipH="1">
                <a:off x="3888" y="2160"/>
                <a:ext cx="384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187" name="Oval 36"/>
              <p:cNvSpPr/>
              <p:nvPr/>
            </p:nvSpPr>
            <p:spPr>
              <a:xfrm>
                <a:off x="4176" y="192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188" name="Line 37"/>
              <p:cNvSpPr/>
              <p:nvPr/>
            </p:nvSpPr>
            <p:spPr>
              <a:xfrm>
                <a:off x="4320" y="2160"/>
                <a:ext cx="384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28162" name="Rectangle 38"/>
            <p:cNvSpPr/>
            <p:nvPr/>
          </p:nvSpPr>
          <p:spPr>
            <a:xfrm>
              <a:off x="4272" y="105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FF"/>
                  </a:solidFill>
                  <a:latin typeface="楷体_GB2312"/>
                  <a:ea typeface="楷体_GB2312"/>
                </a:rPr>
                <a:t>28</a:t>
              </a:r>
              <a:endPara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128163" name="Group 39"/>
            <p:cNvGrpSpPr/>
            <p:nvPr/>
          </p:nvGrpSpPr>
          <p:grpSpPr>
            <a:xfrm>
              <a:off x="2880" y="576"/>
              <a:ext cx="864" cy="816"/>
              <a:chOff x="2688" y="1872"/>
              <a:chExt cx="864" cy="816"/>
            </a:xfrm>
          </p:grpSpPr>
          <p:sp>
            <p:nvSpPr>
              <p:cNvPr id="128178" name="Line 40"/>
              <p:cNvSpPr/>
              <p:nvPr/>
            </p:nvSpPr>
            <p:spPr>
              <a:xfrm flipH="1">
                <a:off x="2832" y="2160"/>
                <a:ext cx="24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179" name="Oval 41"/>
              <p:cNvSpPr/>
              <p:nvPr/>
            </p:nvSpPr>
            <p:spPr>
              <a:xfrm>
                <a:off x="2976" y="1920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180" name="Line 42"/>
              <p:cNvSpPr/>
              <p:nvPr/>
            </p:nvSpPr>
            <p:spPr>
              <a:xfrm>
                <a:off x="3120" y="2160"/>
                <a:ext cx="192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181" name="Rectangle 43"/>
              <p:cNvSpPr/>
              <p:nvPr/>
            </p:nvSpPr>
            <p:spPr>
              <a:xfrm>
                <a:off x="3216" y="2400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182" name="Rectangle 44"/>
              <p:cNvSpPr/>
              <p:nvPr/>
            </p:nvSpPr>
            <p:spPr>
              <a:xfrm>
                <a:off x="3168" y="2400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楷体_GB2312"/>
                    <a:ea typeface="楷体_GB2312"/>
                  </a:rPr>
                  <a:t>21</a:t>
                </a:r>
                <a:endParaRPr lang="en-US" altLang="zh-CN" sz="2400" b="1" dirty="0">
                  <a:solidFill>
                    <a:schemeClr val="accent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83" name="Rectangle 45"/>
              <p:cNvSpPr/>
              <p:nvPr/>
            </p:nvSpPr>
            <p:spPr>
              <a:xfrm>
                <a:off x="2688" y="2400"/>
                <a:ext cx="288" cy="24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28184" name="Rectangle 46"/>
              <p:cNvSpPr/>
              <p:nvPr/>
            </p:nvSpPr>
            <p:spPr>
              <a:xfrm>
                <a:off x="2688" y="2400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楷体_GB2312"/>
                    <a:ea typeface="楷体_GB2312"/>
                  </a:rPr>
                  <a:t>19</a:t>
                </a:r>
                <a:endParaRPr lang="en-US" altLang="zh-CN" sz="2400" b="1" dirty="0">
                  <a:solidFill>
                    <a:schemeClr val="accent2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85" name="Rectangle 47"/>
              <p:cNvSpPr/>
              <p:nvPr/>
            </p:nvSpPr>
            <p:spPr>
              <a:xfrm>
                <a:off x="2928" y="1872"/>
                <a:ext cx="3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FF00FF"/>
                    </a:solidFill>
                    <a:latin typeface="楷体_GB2312"/>
                    <a:ea typeface="楷体_GB2312"/>
                  </a:rPr>
                  <a:t>40</a:t>
                </a:r>
                <a:endParaRPr lang="en-US" altLang="zh-CN" sz="2400" b="1" dirty="0">
                  <a:solidFill>
                    <a:srgbClr val="FF00FF"/>
                  </a:solidFill>
                  <a:latin typeface="楷体_GB2312"/>
                  <a:ea typeface="楷体_GB2312"/>
                </a:endParaRPr>
              </a:p>
            </p:txBody>
          </p:sp>
        </p:grpSp>
        <p:sp>
          <p:nvSpPr>
            <p:cNvPr id="128164" name="Line 48"/>
            <p:cNvSpPr/>
            <p:nvPr/>
          </p:nvSpPr>
          <p:spPr>
            <a:xfrm flipH="1">
              <a:off x="3312" y="288"/>
              <a:ext cx="288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165" name="Oval 49"/>
            <p:cNvSpPr/>
            <p:nvPr/>
          </p:nvSpPr>
          <p:spPr>
            <a:xfrm>
              <a:off x="3552" y="4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28166" name="Line 50"/>
            <p:cNvSpPr/>
            <p:nvPr/>
          </p:nvSpPr>
          <p:spPr>
            <a:xfrm>
              <a:off x="3744" y="240"/>
              <a:ext cx="384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8167" name="Rectangle 51"/>
            <p:cNvSpPr/>
            <p:nvPr/>
          </p:nvSpPr>
          <p:spPr>
            <a:xfrm>
              <a:off x="4032" y="57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FF00FF"/>
                  </a:solidFill>
                  <a:latin typeface="楷体_GB2312"/>
                  <a:ea typeface="楷体_GB2312"/>
                </a:rPr>
                <a:t>60</a:t>
              </a:r>
              <a:endParaRPr lang="en-US" altLang="zh-CN" sz="2400" b="1" dirty="0">
                <a:solidFill>
                  <a:srgbClr val="FF00FF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28168" name="Rectangle 52"/>
            <p:cNvSpPr/>
            <p:nvPr/>
          </p:nvSpPr>
          <p:spPr>
            <a:xfrm>
              <a:off x="3504" y="48"/>
              <a:ext cx="4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FF"/>
                  </a:solidFill>
                  <a:latin typeface="楷体_GB2312"/>
                  <a:ea typeface="楷体_GB2312"/>
                </a:rPr>
                <a:t>100</a:t>
              </a:r>
              <a:endParaRPr lang="en-US" altLang="zh-CN" sz="1800" b="1" dirty="0">
                <a:solidFill>
                  <a:srgbClr val="FF00FF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128169" name="Group 53"/>
            <p:cNvGrpSpPr/>
            <p:nvPr/>
          </p:nvGrpSpPr>
          <p:grpSpPr>
            <a:xfrm>
              <a:off x="2928" y="1296"/>
              <a:ext cx="2832" cy="1728"/>
              <a:chOff x="2784" y="2400"/>
              <a:chExt cx="2832" cy="1728"/>
            </a:xfrm>
          </p:grpSpPr>
          <p:sp>
            <p:nvSpPr>
              <p:cNvPr id="128170" name="Rectangle 54"/>
              <p:cNvSpPr/>
              <p:nvPr/>
            </p:nvSpPr>
            <p:spPr>
              <a:xfrm>
                <a:off x="2784" y="2448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FF33"/>
                    </a:solidFill>
                    <a:latin typeface="楷体_GB2312"/>
                    <a:ea typeface="楷体_GB2312"/>
                  </a:rPr>
                  <a:t>b</a:t>
                </a:r>
                <a:endPara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71" name="Rectangle 55"/>
              <p:cNvSpPr/>
              <p:nvPr/>
            </p:nvSpPr>
            <p:spPr>
              <a:xfrm>
                <a:off x="4608" y="3840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FF33"/>
                    </a:solidFill>
                    <a:latin typeface="楷体_GB2312"/>
                    <a:ea typeface="楷体_GB2312"/>
                  </a:rPr>
                  <a:t>c</a:t>
                </a:r>
                <a:endPara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72" name="Rectangle 56"/>
              <p:cNvSpPr/>
              <p:nvPr/>
            </p:nvSpPr>
            <p:spPr>
              <a:xfrm>
                <a:off x="3456" y="3360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FF33"/>
                    </a:solidFill>
                    <a:latin typeface="楷体_GB2312"/>
                    <a:ea typeface="楷体_GB2312"/>
                  </a:rPr>
                  <a:t>a</a:t>
                </a:r>
                <a:endPara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73" name="Rectangle 57"/>
              <p:cNvSpPr/>
              <p:nvPr/>
            </p:nvSpPr>
            <p:spPr>
              <a:xfrm>
                <a:off x="4368" y="3360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FF33"/>
                    </a:solidFill>
                    <a:latin typeface="楷体_GB2312"/>
                    <a:ea typeface="楷体_GB2312"/>
                  </a:rPr>
                  <a:t>d</a:t>
                </a:r>
                <a:endPara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74" name="Rectangle 58"/>
              <p:cNvSpPr/>
              <p:nvPr/>
            </p:nvSpPr>
            <p:spPr>
              <a:xfrm>
                <a:off x="3696" y="2400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FF33"/>
                    </a:solidFill>
                    <a:latin typeface="楷体_GB2312"/>
                    <a:ea typeface="楷体_GB2312"/>
                  </a:rPr>
                  <a:t>e</a:t>
                </a:r>
                <a:endPara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75" name="Rectangle 59"/>
              <p:cNvSpPr/>
              <p:nvPr/>
            </p:nvSpPr>
            <p:spPr>
              <a:xfrm>
                <a:off x="3312" y="2400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FF33"/>
                    </a:solidFill>
                    <a:latin typeface="楷体_GB2312"/>
                    <a:ea typeface="楷体_GB2312"/>
                  </a:rPr>
                  <a:t>g</a:t>
                </a:r>
                <a:endPara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76" name="Rectangle 60"/>
              <p:cNvSpPr/>
              <p:nvPr/>
            </p:nvSpPr>
            <p:spPr>
              <a:xfrm>
                <a:off x="5424" y="3648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FF33"/>
                    </a:solidFill>
                    <a:latin typeface="楷体_GB2312"/>
                    <a:ea typeface="楷体_GB2312"/>
                  </a:rPr>
                  <a:t>f</a:t>
                </a:r>
                <a:endPara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77" name="Rectangle 61"/>
              <p:cNvSpPr/>
              <p:nvPr/>
            </p:nvSpPr>
            <p:spPr>
              <a:xfrm>
                <a:off x="3984" y="3408"/>
                <a:ext cx="19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66FF33"/>
                    </a:solidFill>
                    <a:latin typeface="楷体_GB2312"/>
                    <a:ea typeface="楷体_GB2312"/>
                  </a:rPr>
                  <a:t>h</a:t>
                </a:r>
                <a:endParaRPr lang="en-US" altLang="zh-CN" sz="2400" b="1" dirty="0">
                  <a:solidFill>
                    <a:srgbClr val="66FF33"/>
                  </a:solidFill>
                  <a:latin typeface="楷体_GB2312"/>
                  <a:ea typeface="楷体_GB2312"/>
                </a:endParaRPr>
              </a:p>
            </p:txBody>
          </p:sp>
        </p:grpSp>
      </p:grpSp>
      <p:grpSp>
        <p:nvGrpSpPr>
          <p:cNvPr id="9" name="Group 62"/>
          <p:cNvGrpSpPr/>
          <p:nvPr/>
        </p:nvGrpSpPr>
        <p:grpSpPr>
          <a:xfrm>
            <a:off x="4724400" y="381000"/>
            <a:ext cx="3921125" cy="3657600"/>
            <a:chOff x="2832" y="816"/>
            <a:chExt cx="2470" cy="2304"/>
          </a:xfrm>
        </p:grpSpPr>
        <p:sp>
          <p:nvSpPr>
            <p:cNvPr id="128134" name="Rectangle 63"/>
            <p:cNvSpPr/>
            <p:nvPr/>
          </p:nvSpPr>
          <p:spPr>
            <a:xfrm>
              <a:off x="3504" y="2352"/>
              <a:ext cx="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0</a:t>
              </a:r>
              <a:endParaRPr lang="en-US" altLang="zh-CN" sz="24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  <p:grpSp>
          <p:nvGrpSpPr>
            <p:cNvPr id="128135" name="Group 64"/>
            <p:cNvGrpSpPr/>
            <p:nvPr/>
          </p:nvGrpSpPr>
          <p:grpSpPr>
            <a:xfrm>
              <a:off x="2832" y="816"/>
              <a:ext cx="2470" cy="2304"/>
              <a:chOff x="2832" y="816"/>
              <a:chExt cx="2470" cy="2304"/>
            </a:xfrm>
          </p:grpSpPr>
          <p:sp>
            <p:nvSpPr>
              <p:cNvPr id="128136" name="Rectangle 65"/>
              <p:cNvSpPr/>
              <p:nvPr/>
            </p:nvSpPr>
            <p:spPr>
              <a:xfrm>
                <a:off x="2832" y="1344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37" name="Rectangle 66"/>
              <p:cNvSpPr/>
              <p:nvPr/>
            </p:nvSpPr>
            <p:spPr>
              <a:xfrm>
                <a:off x="3072" y="864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38" name="Rectangle 67"/>
              <p:cNvSpPr/>
              <p:nvPr/>
            </p:nvSpPr>
            <p:spPr>
              <a:xfrm>
                <a:off x="3936" y="1872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39" name="Rectangle 68"/>
              <p:cNvSpPr/>
              <p:nvPr/>
            </p:nvSpPr>
            <p:spPr>
              <a:xfrm>
                <a:off x="3744" y="1344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0" name="Rectangle 69"/>
              <p:cNvSpPr/>
              <p:nvPr/>
            </p:nvSpPr>
            <p:spPr>
              <a:xfrm>
                <a:off x="3744" y="816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1" name="Rectangle 70"/>
              <p:cNvSpPr/>
              <p:nvPr/>
            </p:nvSpPr>
            <p:spPr>
              <a:xfrm>
                <a:off x="4154" y="1392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2" name="Rectangle 71"/>
              <p:cNvSpPr/>
              <p:nvPr/>
            </p:nvSpPr>
            <p:spPr>
              <a:xfrm>
                <a:off x="3264" y="1392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3" name="Rectangle 72"/>
              <p:cNvSpPr/>
              <p:nvPr/>
            </p:nvSpPr>
            <p:spPr>
              <a:xfrm>
                <a:off x="4896" y="2352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4" name="Rectangle 73"/>
              <p:cNvSpPr/>
              <p:nvPr/>
            </p:nvSpPr>
            <p:spPr>
              <a:xfrm>
                <a:off x="4512" y="1872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5" name="Rectangle 74"/>
              <p:cNvSpPr/>
              <p:nvPr/>
            </p:nvSpPr>
            <p:spPr>
              <a:xfrm>
                <a:off x="3888" y="2352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6" name="Rectangle 75"/>
              <p:cNvSpPr/>
              <p:nvPr/>
            </p:nvSpPr>
            <p:spPr>
              <a:xfrm>
                <a:off x="5088" y="2784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1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7" name="Rectangle 76"/>
              <p:cNvSpPr/>
              <p:nvPr/>
            </p:nvSpPr>
            <p:spPr>
              <a:xfrm>
                <a:off x="4656" y="2832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  <p:sp>
            <p:nvSpPr>
              <p:cNvPr id="128148" name="Rectangle 77"/>
              <p:cNvSpPr/>
              <p:nvPr/>
            </p:nvSpPr>
            <p:spPr>
              <a:xfrm>
                <a:off x="4464" y="2352"/>
                <a:ext cx="21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hlink"/>
                    </a:solidFill>
                    <a:latin typeface="楷体_GB2312"/>
                    <a:ea typeface="楷体_GB2312"/>
                  </a:rPr>
                  <a:t>0</a:t>
                </a:r>
                <a:endParaRPr lang="en-US" altLang="zh-CN" sz="2400" b="1" dirty="0">
                  <a:solidFill>
                    <a:schemeClr val="hlink"/>
                  </a:solidFill>
                  <a:latin typeface="楷体_GB2312"/>
                  <a:ea typeface="楷体_GB2312"/>
                </a:endParaRPr>
              </a:p>
            </p:txBody>
          </p:sp>
        </p:grpSp>
      </p:grpSp>
      <p:graphicFrame>
        <p:nvGraphicFramePr>
          <p:cNvPr id="299086" name="Group 78"/>
          <p:cNvGraphicFramePr>
            <a:graphicFrameLocks noGrp="1"/>
          </p:cNvGraphicFramePr>
          <p:nvPr/>
        </p:nvGraphicFramePr>
        <p:xfrm>
          <a:off x="152400" y="685800"/>
          <a:ext cx="2133600" cy="3657603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762000"/>
              </a:tblGrid>
              <a:tr h="415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编码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频率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0.07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0.19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0.06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0.32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0.21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9128" name="Group 120"/>
          <p:cNvGraphicFramePr>
            <a:graphicFrameLocks noGrp="1"/>
          </p:cNvGraphicFramePr>
          <p:nvPr/>
        </p:nvGraphicFramePr>
        <p:xfrm>
          <a:off x="2438400" y="685800"/>
          <a:ext cx="2133600" cy="3657603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762000"/>
              </a:tblGrid>
              <a:tr h="415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编码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频率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0.07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0.19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0.02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0.06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0.32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0.03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0.21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9170" name="Rectangle 162"/>
          <p:cNvSpPr/>
          <p:nvPr/>
        </p:nvSpPr>
        <p:spPr>
          <a:xfrm>
            <a:off x="0" y="4724400"/>
            <a:ext cx="8610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Huffman</a:t>
            </a:r>
            <a:r>
              <a:rPr lang="zh-CN" altLang="en-US" sz="2000" b="1" dirty="0">
                <a:latin typeface="Times New Roman" panose="02020603050405020304" pitchFamily="18" charset="0"/>
              </a:rPr>
              <a:t>码的</a:t>
            </a:r>
            <a:r>
              <a:rPr lang="en-US" altLang="zh-CN" sz="2000" b="1" dirty="0">
                <a:latin typeface="Times New Roman" panose="02020603050405020304" pitchFamily="18" charset="0"/>
              </a:rPr>
              <a:t>WPL</a:t>
            </a:r>
            <a:r>
              <a:rPr lang="zh-CN" altLang="en-US" sz="2000" b="1" dirty="0">
                <a:latin typeface="Times New Roman" panose="02020603050405020304" pitchFamily="18" charset="0"/>
              </a:rPr>
              <a:t>＝</a:t>
            </a:r>
            <a:r>
              <a:rPr lang="en-US" altLang="zh-CN" sz="20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(0.19+0.32+0.21) + </a:t>
            </a:r>
            <a:r>
              <a:rPr lang="en-US" altLang="zh-CN" sz="20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</a:rPr>
              <a:t>(0.07+0.06+0.10) +</a:t>
            </a:r>
            <a:r>
              <a:rPr lang="en-US" altLang="zh-CN" sz="20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 b="1" dirty="0">
                <a:latin typeface="Times New Roman" panose="02020603050405020304" pitchFamily="18" charset="0"/>
              </a:rPr>
              <a:t>(0.02+0.03)</a:t>
            </a: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           =1.44+0.92+0.25=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2.61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99171" name="Rectangle 163"/>
          <p:cNvSpPr/>
          <p:nvPr/>
        </p:nvSpPr>
        <p:spPr>
          <a:xfrm>
            <a:off x="1143000" y="5638800"/>
            <a:ext cx="7467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WPL</a:t>
            </a:r>
            <a:r>
              <a:rPr lang="zh-CN" altLang="en-US" sz="20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solidFill>
                  <a:srgbClr val="66FF33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</a:rPr>
              <a:t>(0.19+0.32+0.21+0.07+0.06+0.10+0.02+0.03)=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3 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9172" name="AutoShape 164">
            <a:hlinkClick r:id="" action="ppaction://hlinkshowjump?jump=nextslide"/>
          </p:cNvPr>
          <p:cNvSpPr/>
          <p:nvPr/>
        </p:nvSpPr>
        <p:spPr>
          <a:xfrm>
            <a:off x="8305800" y="58674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299173" name="Group 165"/>
          <p:cNvGraphicFramePr>
            <a:graphicFrameLocks noGrp="1"/>
          </p:cNvGraphicFramePr>
          <p:nvPr/>
        </p:nvGraphicFramePr>
        <p:xfrm>
          <a:off x="609600" y="1101725"/>
          <a:ext cx="914400" cy="3241678"/>
        </p:xfrm>
        <a:graphic>
          <a:graphicData uri="http://schemas.openxmlformats.org/drawingml/2006/table">
            <a:tbl>
              <a:tblPr/>
              <a:tblGrid>
                <a:gridCol w="914400"/>
              </a:tblGrid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9193" name="Group 185"/>
          <p:cNvGraphicFramePr>
            <a:graphicFrameLocks noGrp="1"/>
          </p:cNvGraphicFramePr>
          <p:nvPr/>
        </p:nvGraphicFramePr>
        <p:xfrm>
          <a:off x="2895600" y="1101725"/>
          <a:ext cx="914400" cy="3241678"/>
        </p:xfrm>
        <a:graphic>
          <a:graphicData uri="http://schemas.openxmlformats.org/drawingml/2006/table">
            <a:tbl>
              <a:tblPr/>
              <a:tblGrid>
                <a:gridCol w="914400"/>
              </a:tblGrid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9213" name="Rectangle 205"/>
          <p:cNvSpPr>
            <a:spLocks noChangeArrowheads="1"/>
          </p:cNvSpPr>
          <p:nvPr/>
        </p:nvSpPr>
        <p:spPr bwMode="auto">
          <a:xfrm>
            <a:off x="0" y="5699125"/>
            <a:ext cx="120650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二进制码</a:t>
            </a: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9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9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9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170" grpId="0"/>
      <p:bldP spid="299171" grpId="0"/>
      <p:bldP spid="299172" grpId="0" animBg="1"/>
      <p:bldP spid="299213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300034" name="Picture 2" descr="s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538" y="200025"/>
            <a:ext cx="7026275" cy="6138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035" name="AutoShape 3">
            <a:hlinkClick r:id="" action="ppaction://hlinkshowjump?jump=nextslide"/>
          </p:cNvPr>
          <p:cNvSpPr/>
          <p:nvPr/>
        </p:nvSpPr>
        <p:spPr>
          <a:xfrm>
            <a:off x="8077200" y="6019800"/>
            <a:ext cx="533400" cy="457200"/>
          </a:xfrm>
          <a:prstGeom prst="actionButtonForwardNext">
            <a:avLst/>
          </a:prstGeom>
          <a:noFill/>
          <a:ln w="9525" cap="flat" cmpd="sng">
            <a:solidFill>
              <a:srgbClr val="33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9029" name="Rectangle 4"/>
          <p:cNvSpPr/>
          <p:nvPr/>
        </p:nvSpPr>
        <p:spPr>
          <a:xfrm>
            <a:off x="76200" y="30163"/>
            <a:ext cx="2895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另一种结果表示：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矩形 2"/>
          <p:cNvSpPr/>
          <p:nvPr/>
        </p:nvSpPr>
        <p:spPr>
          <a:xfrm>
            <a:off x="3203848" y="188640"/>
            <a:ext cx="281359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1" u="none" strike="noStrike" kern="1200" cap="none" spc="300" normalizeH="0" baseline="0" noProof="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课堂练习</a:t>
            </a:r>
            <a:endParaRPr kumimoji="0" lang="zh-CN" altLang="en-US" sz="4800" b="1" i="1" u="none" strike="noStrike" kern="1200" cap="none" spc="300" normalizeH="0" baseline="0" noProof="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50825" y="1373188"/>
            <a:ext cx="8631238" cy="3784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设给定权值总数有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个，其哈夫曼树的结点总数为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   )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．不确定       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2n         C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2n+1         D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2n-1 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）设通信中出现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中字符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对应的频率为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0.2,0.1,0.3,0.15,0.25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构造哈夫曼树，并给出对应字符的编码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 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六个字母出现的概率分别为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7,19,2,6,32,3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。试写出为这六个字母设计的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HUFFMAN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编码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并画出对应的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HUFFMAN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  <a:defRPr/>
            </a:pPr>
            <a:endParaRPr kumimoji="1" lang="fr-FR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3048000" cy="457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二叉树小结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03107" name="AutoShape 3"/>
          <p:cNvSpPr/>
          <p:nvPr/>
        </p:nvSpPr>
        <p:spPr>
          <a:xfrm>
            <a:off x="3170238" y="1028700"/>
            <a:ext cx="292100" cy="3517900"/>
          </a:xfrm>
          <a:prstGeom prst="leftBrace">
            <a:avLst>
              <a:gd name="adj1" fmla="val 100362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303108" name="Rectangle 4"/>
          <p:cNvSpPr/>
          <p:nvPr/>
        </p:nvSpPr>
        <p:spPr>
          <a:xfrm>
            <a:off x="3408363" y="914400"/>
            <a:ext cx="23828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1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、定义和性质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303109" name="Rectangle 5"/>
          <p:cNvSpPr/>
          <p:nvPr/>
        </p:nvSpPr>
        <p:spPr>
          <a:xfrm>
            <a:off x="3395663" y="1790700"/>
            <a:ext cx="23193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2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、存储结构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303110" name="Rectangle 6"/>
          <p:cNvSpPr/>
          <p:nvPr/>
        </p:nvSpPr>
        <p:spPr>
          <a:xfrm>
            <a:off x="3386138" y="3098800"/>
            <a:ext cx="15668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3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、遍历</a:t>
            </a:r>
            <a:endParaRPr lang="zh-CN" altLang="en-US" sz="2400" b="1" dirty="0">
              <a:solidFill>
                <a:schemeClr val="accent2"/>
              </a:solidFill>
              <a:latin typeface="楷体_GB2312"/>
              <a:ea typeface="楷体_GB2312"/>
            </a:endParaRPr>
          </a:p>
        </p:txBody>
      </p:sp>
      <p:sp>
        <p:nvSpPr>
          <p:cNvPr id="303111" name="Rectangle 7"/>
          <p:cNvSpPr/>
          <p:nvPr/>
        </p:nvSpPr>
        <p:spPr>
          <a:xfrm>
            <a:off x="3392488" y="4203700"/>
            <a:ext cx="30083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4</a:t>
            </a:r>
            <a:r>
              <a:rPr lang="zh-CN" altLang="en-US" sz="2400" b="1" dirty="0">
                <a:solidFill>
                  <a:schemeClr val="accent2"/>
                </a:solidFill>
                <a:latin typeface="楷体_GB2312"/>
                <a:ea typeface="楷体_GB2312"/>
              </a:rPr>
              <a:t>、线索化</a:t>
            </a:r>
            <a:r>
              <a:rPr lang="zh-CN" altLang="en-US" sz="2400" b="1" dirty="0">
                <a:latin typeface="楷体_GB2312"/>
                <a:ea typeface="楷体_GB2312"/>
              </a:rPr>
              <a:t>：线索树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5387975" y="1538288"/>
            <a:ext cx="1622425" cy="1057275"/>
            <a:chOff x="3896" y="1609"/>
            <a:chExt cx="838" cy="666"/>
          </a:xfrm>
        </p:grpSpPr>
        <p:sp>
          <p:nvSpPr>
            <p:cNvPr id="131109" name="AutoShape 9"/>
            <p:cNvSpPr/>
            <p:nvPr/>
          </p:nvSpPr>
          <p:spPr>
            <a:xfrm>
              <a:off x="3896" y="1696"/>
              <a:ext cx="184" cy="472"/>
            </a:xfrm>
            <a:prstGeom prst="leftBrace">
              <a:avLst>
                <a:gd name="adj1" fmla="val 21376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31110" name="Rectangle 10"/>
            <p:cNvSpPr/>
            <p:nvPr/>
          </p:nvSpPr>
          <p:spPr>
            <a:xfrm>
              <a:off x="4095" y="1609"/>
              <a:ext cx="6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latin typeface="楷体_GB2312"/>
                  <a:ea typeface="楷体_GB2312"/>
                </a:rPr>
                <a:t>顺序结构</a:t>
              </a:r>
              <a:endParaRPr lang="zh-CN" altLang="en-US" sz="2000" b="1" dirty="0">
                <a:latin typeface="楷体_GB2312"/>
                <a:ea typeface="楷体_GB2312"/>
              </a:endParaRPr>
            </a:p>
          </p:txBody>
        </p:sp>
        <p:sp>
          <p:nvSpPr>
            <p:cNvPr id="131111" name="Rectangle 11"/>
            <p:cNvSpPr/>
            <p:nvPr/>
          </p:nvSpPr>
          <p:spPr>
            <a:xfrm>
              <a:off x="4111" y="2025"/>
              <a:ext cx="6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latin typeface="楷体_GB2312"/>
                  <a:ea typeface="楷体_GB2312"/>
                </a:rPr>
                <a:t>链式结构</a:t>
              </a:r>
              <a:endParaRPr lang="zh-CN" altLang="en-US" sz="2000" b="1" dirty="0">
                <a:latin typeface="楷体_GB2312"/>
                <a:ea typeface="楷体_GB2312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6899275" y="1982788"/>
            <a:ext cx="1635125" cy="811212"/>
            <a:chOff x="4768" y="1889"/>
            <a:chExt cx="699" cy="511"/>
          </a:xfrm>
        </p:grpSpPr>
        <p:sp>
          <p:nvSpPr>
            <p:cNvPr id="131106" name="AutoShape 13"/>
            <p:cNvSpPr/>
            <p:nvPr/>
          </p:nvSpPr>
          <p:spPr>
            <a:xfrm>
              <a:off x="4768" y="1984"/>
              <a:ext cx="184" cy="344"/>
            </a:xfrm>
            <a:prstGeom prst="leftBrace">
              <a:avLst>
                <a:gd name="adj1" fmla="val 15579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31107" name="Rectangle 14"/>
            <p:cNvSpPr/>
            <p:nvPr/>
          </p:nvSpPr>
          <p:spPr>
            <a:xfrm>
              <a:off x="4995" y="1889"/>
              <a:ext cx="4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二叉链表</a:t>
              </a:r>
              <a:endParaRPr lang="zh-CN" altLang="en-US" sz="18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31108" name="Rectangle 15"/>
            <p:cNvSpPr/>
            <p:nvPr/>
          </p:nvSpPr>
          <p:spPr>
            <a:xfrm>
              <a:off x="4995" y="2169"/>
              <a:ext cx="47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800" b="1" dirty="0">
                  <a:latin typeface="楷体_GB2312"/>
                  <a:ea typeface="楷体_GB2312"/>
                </a:rPr>
                <a:t>三叉链表</a:t>
              </a:r>
              <a:endParaRPr lang="zh-CN" altLang="en-US" sz="1800" b="1" dirty="0">
                <a:latin typeface="楷体_GB2312"/>
                <a:ea typeface="楷体_GB2312"/>
              </a:endParaRPr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6235700" y="3735388"/>
            <a:ext cx="1917700" cy="1400175"/>
            <a:chOff x="4448" y="2993"/>
            <a:chExt cx="968" cy="882"/>
          </a:xfrm>
        </p:grpSpPr>
        <p:sp>
          <p:nvSpPr>
            <p:cNvPr id="131102" name="AutoShape 17"/>
            <p:cNvSpPr/>
            <p:nvPr/>
          </p:nvSpPr>
          <p:spPr>
            <a:xfrm>
              <a:off x="4448" y="3080"/>
              <a:ext cx="184" cy="744"/>
            </a:xfrm>
            <a:prstGeom prst="leftBrace">
              <a:avLst>
                <a:gd name="adj1" fmla="val 33695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31103" name="Rectangle 18"/>
            <p:cNvSpPr/>
            <p:nvPr/>
          </p:nvSpPr>
          <p:spPr>
            <a:xfrm>
              <a:off x="4678" y="2993"/>
              <a:ext cx="7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latin typeface="楷体_GB2312"/>
                  <a:ea typeface="楷体_GB2312"/>
                </a:rPr>
                <a:t>先序线索树</a:t>
              </a:r>
              <a:endParaRPr lang="zh-CN" altLang="en-US" sz="2000" b="1" dirty="0">
                <a:latin typeface="楷体_GB2312"/>
                <a:ea typeface="楷体_GB2312"/>
              </a:endParaRPr>
            </a:p>
          </p:txBody>
        </p:sp>
        <p:sp>
          <p:nvSpPr>
            <p:cNvPr id="131104" name="Rectangle 19"/>
            <p:cNvSpPr/>
            <p:nvPr/>
          </p:nvSpPr>
          <p:spPr>
            <a:xfrm>
              <a:off x="4702" y="3321"/>
              <a:ext cx="67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800" b="1" dirty="0">
                  <a:solidFill>
                    <a:schemeClr val="hlink"/>
                  </a:solidFill>
                  <a:latin typeface="楷体_GB2312"/>
                  <a:ea typeface="楷体_GB2312"/>
                </a:rPr>
                <a:t>中序线索树</a:t>
              </a:r>
              <a:endParaRPr lang="zh-CN" altLang="en-US" sz="1800" b="1" dirty="0">
                <a:solidFill>
                  <a:schemeClr val="hlink"/>
                </a:solidFill>
                <a:latin typeface="楷体_GB2312"/>
                <a:ea typeface="楷体_GB2312"/>
              </a:endParaRPr>
            </a:p>
          </p:txBody>
        </p:sp>
        <p:sp>
          <p:nvSpPr>
            <p:cNvPr id="131105" name="Rectangle 20"/>
            <p:cNvSpPr/>
            <p:nvPr/>
          </p:nvSpPr>
          <p:spPr>
            <a:xfrm>
              <a:off x="4663" y="3625"/>
              <a:ext cx="7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latin typeface="楷体_GB2312"/>
                  <a:ea typeface="楷体_GB2312"/>
                </a:rPr>
                <a:t>后序线索树</a:t>
              </a:r>
              <a:endParaRPr lang="zh-CN" altLang="en-US" sz="2000" b="1" dirty="0">
                <a:latin typeface="楷体_GB2312"/>
                <a:ea typeface="楷体_GB2312"/>
              </a:endParaRP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304800" y="1231900"/>
            <a:ext cx="2763838" cy="2032000"/>
            <a:chOff x="920" y="1416"/>
            <a:chExt cx="1600" cy="1280"/>
          </a:xfrm>
        </p:grpSpPr>
        <p:sp>
          <p:nvSpPr>
            <p:cNvPr id="131096" name="Oval 22"/>
            <p:cNvSpPr/>
            <p:nvPr/>
          </p:nvSpPr>
          <p:spPr>
            <a:xfrm>
              <a:off x="1400" y="1416"/>
              <a:ext cx="504" cy="50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树</a:t>
              </a:r>
              <a:endPara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31097" name="Oval 23"/>
            <p:cNvSpPr/>
            <p:nvPr/>
          </p:nvSpPr>
          <p:spPr>
            <a:xfrm>
              <a:off x="2016" y="2160"/>
              <a:ext cx="504" cy="4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二叉树</a:t>
              </a:r>
              <a:endParaRPr lang="zh-CN" altLang="en-US" sz="1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31098" name="Oval 24"/>
            <p:cNvSpPr/>
            <p:nvPr/>
          </p:nvSpPr>
          <p:spPr>
            <a:xfrm>
              <a:off x="920" y="2192"/>
              <a:ext cx="512" cy="50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森林</a:t>
              </a:r>
              <a:endPara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31099" name="Line 25"/>
            <p:cNvSpPr/>
            <p:nvPr/>
          </p:nvSpPr>
          <p:spPr>
            <a:xfrm>
              <a:off x="1840" y="1856"/>
              <a:ext cx="256" cy="3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31100" name="Line 26"/>
            <p:cNvSpPr/>
            <p:nvPr/>
          </p:nvSpPr>
          <p:spPr>
            <a:xfrm flipH="1">
              <a:off x="1312" y="1904"/>
              <a:ext cx="232" cy="2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31101" name="Line 27"/>
            <p:cNvSpPr/>
            <p:nvPr/>
          </p:nvSpPr>
          <p:spPr>
            <a:xfrm flipV="1">
              <a:off x="1504" y="2440"/>
              <a:ext cx="44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</p:grpSp>
      <p:grpSp>
        <p:nvGrpSpPr>
          <p:cNvPr id="6" name="Group 28"/>
          <p:cNvGrpSpPr/>
          <p:nvPr/>
        </p:nvGrpSpPr>
        <p:grpSpPr>
          <a:xfrm>
            <a:off x="4733925" y="2630488"/>
            <a:ext cx="1590675" cy="1412875"/>
            <a:chOff x="3488" y="2297"/>
            <a:chExt cx="824" cy="890"/>
          </a:xfrm>
        </p:grpSpPr>
        <p:sp>
          <p:nvSpPr>
            <p:cNvPr id="131092" name="AutoShape 29"/>
            <p:cNvSpPr/>
            <p:nvPr/>
          </p:nvSpPr>
          <p:spPr>
            <a:xfrm>
              <a:off x="3488" y="2384"/>
              <a:ext cx="184" cy="744"/>
            </a:xfrm>
            <a:prstGeom prst="leftBrace">
              <a:avLst>
                <a:gd name="adj1" fmla="val 33695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31093" name="Rectangle 30"/>
            <p:cNvSpPr/>
            <p:nvPr/>
          </p:nvSpPr>
          <p:spPr>
            <a:xfrm>
              <a:off x="3686" y="2609"/>
              <a:ext cx="6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latin typeface="楷体_GB2312"/>
                  <a:ea typeface="楷体_GB2312"/>
                </a:rPr>
                <a:t>中序遍历</a:t>
              </a:r>
              <a:endParaRPr lang="zh-CN" altLang="en-US" sz="2000" b="1" dirty="0">
                <a:latin typeface="楷体_GB2312"/>
                <a:ea typeface="楷体_GB2312"/>
              </a:endParaRPr>
            </a:p>
          </p:txBody>
        </p:sp>
        <p:sp>
          <p:nvSpPr>
            <p:cNvPr id="131094" name="Rectangle 31"/>
            <p:cNvSpPr/>
            <p:nvPr/>
          </p:nvSpPr>
          <p:spPr>
            <a:xfrm>
              <a:off x="3686" y="2937"/>
              <a:ext cx="6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latin typeface="楷体_GB2312"/>
                  <a:ea typeface="楷体_GB2312"/>
                </a:rPr>
                <a:t>后序遍历</a:t>
              </a:r>
              <a:endParaRPr lang="zh-CN" altLang="en-US" sz="2000" b="1" dirty="0">
                <a:latin typeface="楷体_GB2312"/>
                <a:ea typeface="楷体_GB2312"/>
              </a:endParaRPr>
            </a:p>
          </p:txBody>
        </p:sp>
        <p:sp>
          <p:nvSpPr>
            <p:cNvPr id="131095" name="Rectangle 32"/>
            <p:cNvSpPr/>
            <p:nvPr/>
          </p:nvSpPr>
          <p:spPr>
            <a:xfrm>
              <a:off x="3686" y="2297"/>
              <a:ext cx="62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000" b="1" dirty="0">
                  <a:latin typeface="楷体_GB2312"/>
                  <a:ea typeface="楷体_GB2312"/>
                </a:rPr>
                <a:t>先序遍历</a:t>
              </a:r>
              <a:endParaRPr lang="zh-CN" altLang="en-US" sz="2000" b="1" dirty="0">
                <a:latin typeface="楷体_GB2312"/>
                <a:ea typeface="楷体_GB2312"/>
              </a:endParaRPr>
            </a:p>
          </p:txBody>
        </p:sp>
      </p:grpSp>
      <p:grpSp>
        <p:nvGrpSpPr>
          <p:cNvPr id="7" name="Group 33"/>
          <p:cNvGrpSpPr/>
          <p:nvPr/>
        </p:nvGrpSpPr>
        <p:grpSpPr>
          <a:xfrm>
            <a:off x="2084388" y="3263900"/>
            <a:ext cx="1425575" cy="1978025"/>
            <a:chOff x="1884" y="2696"/>
            <a:chExt cx="745" cy="1246"/>
          </a:xfrm>
        </p:grpSpPr>
        <p:sp>
          <p:nvSpPr>
            <p:cNvPr id="131090" name="Line 34"/>
            <p:cNvSpPr/>
            <p:nvPr/>
          </p:nvSpPr>
          <p:spPr>
            <a:xfrm>
              <a:off x="2248" y="2696"/>
              <a:ext cx="0" cy="9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91" name="Rectangle 35"/>
            <p:cNvSpPr/>
            <p:nvPr/>
          </p:nvSpPr>
          <p:spPr>
            <a:xfrm>
              <a:off x="1884" y="3648"/>
              <a:ext cx="745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hlink"/>
                  </a:solidFill>
                  <a:latin typeface="黑体" panose="02010609060101010101" pitchFamily="49" charset="-122"/>
                  <a:ea typeface="楷体_GB2312"/>
                </a:rPr>
                <a:t>霍夫曼树</a:t>
              </a:r>
              <a:endPara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  <a:ea typeface="楷体_GB2312"/>
              </a:endParaRPr>
            </a:p>
          </p:txBody>
        </p:sp>
      </p:grpSp>
      <p:sp>
        <p:nvSpPr>
          <p:cNvPr id="303140" name="Line 36"/>
          <p:cNvSpPr/>
          <p:nvPr/>
        </p:nvSpPr>
        <p:spPr>
          <a:xfrm>
            <a:off x="2743200" y="5257800"/>
            <a:ext cx="0" cy="5334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3141" name="Rectangle 37"/>
          <p:cNvSpPr/>
          <p:nvPr/>
        </p:nvSpPr>
        <p:spPr>
          <a:xfrm>
            <a:off x="1976438" y="5791200"/>
            <a:ext cx="1733550" cy="466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黑体" panose="02010609060101010101" pitchFamily="49" charset="-122"/>
                <a:ea typeface="楷体_GB2312"/>
              </a:rPr>
              <a:t>霍夫曼编码</a:t>
            </a:r>
            <a:endParaRPr lang="zh-CN" altLang="en-US" sz="2400" b="1" dirty="0">
              <a:solidFill>
                <a:schemeClr val="hlink"/>
              </a:solidFill>
              <a:latin typeface="黑体" panose="02010609060101010101" pitchFamily="49" charset="-122"/>
              <a:ea typeface="楷体_GB2312"/>
            </a:endParaRPr>
          </a:p>
        </p:txBody>
      </p:sp>
      <p:sp>
        <p:nvSpPr>
          <p:cNvPr id="303142" name="AutoShape 38"/>
          <p:cNvSpPr/>
          <p:nvPr/>
        </p:nvSpPr>
        <p:spPr>
          <a:xfrm rot="-5382946">
            <a:off x="6729413" y="2543175"/>
            <a:ext cx="760412" cy="1630363"/>
          </a:xfrm>
          <a:custGeom>
            <a:avLst/>
            <a:gdLst>
              <a:gd name="txL" fmla="*/ 3085 w 21600"/>
              <a:gd name="txT" fmla="*/ 12343 h 21600"/>
              <a:gd name="txR" fmla="*/ 18514 w 21600"/>
              <a:gd name="txB" fmla="*/ 18514 h 21600"/>
            </a:gdLst>
            <a:ahLst/>
            <a:cxnLst>
              <a:cxn ang="17694720">
                <a:pos x="2147483646" y="0"/>
              </a:cxn>
              <a:cxn ang="11796480">
                <a:pos x="2147483646" y="2147483646"/>
              </a:cxn>
              <a:cxn ang="17694720">
                <a:pos x="2147483646" y="2147483646"/>
              </a:cxn>
              <a:cxn ang="11796480">
                <a:pos x="0" y="2147483646"/>
              </a:cxn>
              <a:cxn ang="5898240">
                <a:pos x="2147483646" y="2147483646"/>
              </a:cxn>
              <a:cxn ang="589824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5429" y="0"/>
                </a:moveTo>
                <a:lnTo>
                  <a:pt x="9257" y="6171"/>
                </a:lnTo>
                <a:lnTo>
                  <a:pt x="12343" y="6171"/>
                </a:lnTo>
                <a:lnTo>
                  <a:pt x="12343" y="12343"/>
                </a:lnTo>
                <a:lnTo>
                  <a:pt x="6171" y="12343"/>
                </a:lnTo>
                <a:lnTo>
                  <a:pt x="6171" y="9257"/>
                </a:lnTo>
                <a:lnTo>
                  <a:pt x="0" y="15429"/>
                </a:lnTo>
                <a:lnTo>
                  <a:pt x="6171" y="21600"/>
                </a:lnTo>
                <a:lnTo>
                  <a:pt x="6171" y="18514"/>
                </a:lnTo>
                <a:lnTo>
                  <a:pt x="18514" y="18514"/>
                </a:lnTo>
                <a:lnTo>
                  <a:pt x="18514" y="6171"/>
                </a:lnTo>
                <a:lnTo>
                  <a:pt x="21600" y="6171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tx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0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0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 animBg="1"/>
      <p:bldP spid="303108" grpId="0"/>
      <p:bldP spid="303109" grpId="0"/>
      <p:bldP spid="303110" grpId="0"/>
      <p:bldP spid="303111" grpId="0"/>
      <p:bldP spid="303141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" name="矩形 4"/>
          <p:cNvSpPr/>
          <p:nvPr/>
        </p:nvSpPr>
        <p:spPr>
          <a:xfrm>
            <a:off x="2699791" y="332656"/>
            <a:ext cx="4248471" cy="76944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1" u="none" strike="noStrike" kern="1200" cap="all" spc="0" normalizeH="0" baseline="0" noProof="0" dirty="0"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第六章复习</a:t>
            </a:r>
            <a:endParaRPr kumimoji="0" lang="zh-CN" altLang="en-US" sz="4400" b="1" i="1" u="none" strike="noStrike" kern="1200" cap="all" spc="0" normalizeH="0" baseline="0" noProof="0" dirty="0"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100" name="Rectangle 53"/>
          <p:cNvSpPr/>
          <p:nvPr/>
        </p:nvSpPr>
        <p:spPr>
          <a:xfrm>
            <a:off x="323850" y="1131888"/>
            <a:ext cx="8208963" cy="23558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defTabSz="914400">
              <a:lnSpc>
                <a:spcPct val="125000"/>
              </a:lnSpc>
              <a:spcBef>
                <a:spcPct val="0"/>
              </a:spcBef>
              <a:buNone/>
              <a:tabLst>
                <a:tab pos="266700" algn="l"/>
              </a:tabLst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算术表达式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a+b*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c+d/e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）转为后缀表达式后为（ 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  ）</a:t>
            </a:r>
            <a:endParaRPr lang="en-US" altLang="zh-CN" sz="24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 defTabSz="914400">
              <a:lnSpc>
                <a:spcPct val="125000"/>
              </a:lnSpc>
              <a:spcBef>
                <a:spcPct val="0"/>
              </a:spcBef>
              <a:buNone/>
              <a:tabLst>
                <a:tab pos="266700" algn="l"/>
              </a:tabLst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  A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ab+cde/*     B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abcde/+*+      </a:t>
            </a:r>
            <a:endParaRPr lang="en-US" altLang="zh-CN" sz="24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 defTabSz="914400">
              <a:lnSpc>
                <a:spcPct val="125000"/>
              </a:lnSpc>
              <a:spcBef>
                <a:spcPct val="0"/>
              </a:spcBef>
              <a:buNone/>
              <a:tabLst>
                <a:tab pos="266700" algn="l"/>
              </a:tabLst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  C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abcde/*++    D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abcde*/++</a:t>
            </a:r>
            <a:endParaRPr lang="en-US" altLang="zh-CN" sz="4800" dirty="0"/>
          </a:p>
          <a:p>
            <a:pPr marL="0" lvl="0" indent="0" algn="just" defTabSz="914400">
              <a:lnSpc>
                <a:spcPct val="125000"/>
              </a:lnSpc>
              <a:spcBef>
                <a:spcPct val="0"/>
              </a:spcBef>
              <a:tabLst>
                <a:tab pos="266700" algn="l"/>
              </a:tabLst>
            </a:pPr>
            <a:endParaRPr lang="zh-CN" altLang="en-US" sz="2400" dirty="0"/>
          </a:p>
          <a:p>
            <a:pPr marL="0" lvl="0" indent="0" algn="just" defTabSz="914400">
              <a:lnSpc>
                <a:spcPct val="125000"/>
              </a:lnSpc>
              <a:spcBef>
                <a:spcPct val="0"/>
              </a:spcBef>
              <a:buNone/>
              <a:tabLst>
                <a:tab pos="266700" algn="l"/>
              </a:tabLst>
            </a:pPr>
            <a:endParaRPr lang="zh-CN" altLang="en-US" sz="2400" dirty="0"/>
          </a:p>
        </p:txBody>
      </p:sp>
      <p:sp>
        <p:nvSpPr>
          <p:cNvPr id="132101" name="矩形 59"/>
          <p:cNvSpPr/>
          <p:nvPr/>
        </p:nvSpPr>
        <p:spPr>
          <a:xfrm>
            <a:off x="1692275" y="2708275"/>
            <a:ext cx="6119813" cy="109537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800" b="1" dirty="0"/>
              <a:t>后缀表达式，指的是不包含括号，运算符放在两个运算对象的后面，所有的计算按运算符出现的顺序，严格从左向右进行（不再考虑运算符的优先规则）。</a:t>
            </a:r>
            <a:endParaRPr lang="zh-CN" altLang="en-US" sz="1800" b="1" dirty="0"/>
          </a:p>
        </p:txBody>
      </p:sp>
      <p:sp>
        <p:nvSpPr>
          <p:cNvPr id="132102" name="Rectangle 68"/>
          <p:cNvSpPr/>
          <p:nvPr/>
        </p:nvSpPr>
        <p:spPr>
          <a:xfrm>
            <a:off x="250825" y="3919538"/>
            <a:ext cx="8569325" cy="1477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defTabSz="914400">
              <a:lnSpc>
                <a:spcPct val="125000"/>
              </a:lnSpc>
              <a:spcBef>
                <a:spcPct val="0"/>
              </a:spcBef>
              <a:buNone/>
              <a:tabLst>
                <a:tab pos="228600" algn="l"/>
              </a:tabLst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设树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的度为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，其中度为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的结点个数分别为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  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中的叶子数为（   ）</a:t>
            </a:r>
            <a:endParaRPr lang="zh-CN" altLang="en-US" sz="2400" dirty="0"/>
          </a:p>
          <a:p>
            <a:pPr marL="0" lvl="0" indent="0" algn="just" defTabSz="914400">
              <a:lnSpc>
                <a:spcPct val="125000"/>
              </a:lnSpc>
              <a:spcBef>
                <a:spcPct val="0"/>
              </a:spcBef>
              <a:buNone/>
              <a:tabLst>
                <a:tab pos="228600" algn="l"/>
              </a:tabLst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  A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5         B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6         C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7          D</a:t>
            </a:r>
            <a:r>
              <a:rPr lang="zh-CN" altLang="en-US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3123" name="Rectangle 53"/>
          <p:cNvSpPr/>
          <p:nvPr/>
        </p:nvSpPr>
        <p:spPr>
          <a:xfrm>
            <a:off x="250825" y="604838"/>
            <a:ext cx="8424863" cy="53689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2400" dirty="0"/>
              <a:t>在下述结论中，正确的是（</a:t>
            </a:r>
            <a:r>
              <a:rPr lang="en-US" altLang="zh-CN" sz="2400" dirty="0"/>
              <a:t> D  </a:t>
            </a:r>
            <a:r>
              <a:rPr lang="zh-CN" altLang="zh-CN" sz="2400" dirty="0"/>
              <a:t>）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/>
              <a:t> </a:t>
            </a:r>
            <a:r>
              <a:rPr lang="zh-CN" altLang="zh-CN" sz="2400" dirty="0"/>
              <a:t>①只有一个结点的二叉树的度为</a:t>
            </a:r>
            <a:r>
              <a:rPr lang="en-US" altLang="zh-CN" sz="2400" dirty="0"/>
              <a:t>0;  </a:t>
            </a:r>
            <a:r>
              <a:rPr lang="zh-CN" altLang="zh-CN" sz="2400" dirty="0"/>
              <a:t>②二叉树的度为</a:t>
            </a:r>
            <a:r>
              <a:rPr lang="en-US" altLang="zh-CN" sz="2400" dirty="0"/>
              <a:t>2</a:t>
            </a:r>
            <a:r>
              <a:rPr lang="zh-CN" altLang="zh-CN" sz="2400" dirty="0"/>
              <a:t>； 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/>
              <a:t> </a:t>
            </a:r>
            <a:r>
              <a:rPr lang="zh-CN" altLang="zh-CN" sz="2400" dirty="0"/>
              <a:t>③二叉树的左右子树可任意交换</a:t>
            </a:r>
            <a:r>
              <a:rPr lang="en-US" altLang="zh-CN" sz="2400" dirty="0"/>
              <a:t>;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/>
              <a:t> </a:t>
            </a:r>
            <a:r>
              <a:rPr lang="zh-CN" altLang="zh-CN" sz="2400" dirty="0"/>
              <a:t>④深度为</a:t>
            </a:r>
            <a:r>
              <a:rPr lang="en-US" altLang="zh-CN" sz="2400" dirty="0"/>
              <a:t>K</a:t>
            </a:r>
            <a:r>
              <a:rPr lang="zh-CN" altLang="zh-CN" sz="2400" dirty="0"/>
              <a:t>的完全二叉树的结点个数小于或等于深度相同的满二叉树。</a:t>
            </a:r>
            <a:r>
              <a:rPr lang="en-US" altLang="zh-CN" sz="2400" dirty="0"/>
              <a:t> 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/>
              <a:t>   A</a:t>
            </a:r>
            <a:r>
              <a:rPr lang="zh-CN" altLang="zh-CN" sz="2400" dirty="0"/>
              <a:t>．①②③</a:t>
            </a:r>
            <a:r>
              <a:rPr lang="en-US" altLang="zh-CN" sz="2400" dirty="0"/>
              <a:t>        B</a:t>
            </a:r>
            <a:r>
              <a:rPr lang="zh-CN" altLang="zh-CN" sz="2400" dirty="0"/>
              <a:t>．②③④</a:t>
            </a:r>
            <a:r>
              <a:rPr lang="en-US" altLang="zh-CN" sz="2400" dirty="0"/>
              <a:t>      C</a:t>
            </a:r>
            <a:r>
              <a:rPr lang="zh-CN" altLang="zh-CN" sz="2400" dirty="0"/>
              <a:t>．②④</a:t>
            </a:r>
            <a:r>
              <a:rPr lang="en-US" altLang="zh-CN" sz="2400" dirty="0"/>
              <a:t>       D</a:t>
            </a:r>
            <a:r>
              <a:rPr lang="zh-CN" altLang="zh-CN" sz="2400" dirty="0"/>
              <a:t>．①④</a:t>
            </a:r>
            <a:endParaRPr lang="en-US" altLang="zh-CN" sz="2400" dirty="0"/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/>
              <a:t>4.</a:t>
            </a:r>
            <a:r>
              <a:rPr lang="zh-CN" altLang="zh-CN" sz="2400" dirty="0"/>
              <a:t>在一棵三元树中度为</a:t>
            </a:r>
            <a:r>
              <a:rPr lang="en-US" altLang="zh-CN" sz="2400" dirty="0"/>
              <a:t>3</a:t>
            </a:r>
            <a:r>
              <a:rPr lang="zh-CN" altLang="zh-CN" sz="2400" dirty="0"/>
              <a:t>的结点数为</a:t>
            </a:r>
            <a:r>
              <a:rPr lang="en-US" altLang="zh-CN" sz="2400" dirty="0"/>
              <a:t>2</a:t>
            </a:r>
            <a:r>
              <a:rPr lang="zh-CN" altLang="zh-CN" sz="2400" dirty="0"/>
              <a:t>个，度为</a:t>
            </a:r>
            <a:r>
              <a:rPr lang="en-US" altLang="zh-CN" sz="2400" dirty="0"/>
              <a:t>2</a:t>
            </a:r>
            <a:r>
              <a:rPr lang="zh-CN" altLang="zh-CN" sz="2400" dirty="0"/>
              <a:t>的结点数为</a:t>
            </a:r>
            <a:r>
              <a:rPr lang="en-US" altLang="zh-CN" sz="2400" dirty="0"/>
              <a:t>1</a:t>
            </a:r>
            <a:r>
              <a:rPr lang="zh-CN" altLang="zh-CN" sz="2400" dirty="0"/>
              <a:t>个，度为</a:t>
            </a:r>
            <a:r>
              <a:rPr lang="en-US" altLang="zh-CN" sz="2400" dirty="0"/>
              <a:t>1</a:t>
            </a:r>
            <a:r>
              <a:rPr lang="zh-CN" altLang="zh-CN" sz="2400" dirty="0"/>
              <a:t>的结点数为</a:t>
            </a:r>
            <a:r>
              <a:rPr lang="en-US" altLang="zh-CN" sz="2400" dirty="0"/>
              <a:t>2</a:t>
            </a:r>
            <a:r>
              <a:rPr lang="zh-CN" altLang="zh-CN" sz="2400" dirty="0"/>
              <a:t>个，则度为</a:t>
            </a:r>
            <a:r>
              <a:rPr lang="en-US" altLang="zh-CN" sz="2400" dirty="0"/>
              <a:t>0</a:t>
            </a:r>
            <a:r>
              <a:rPr lang="zh-CN" altLang="zh-CN" sz="2400" dirty="0"/>
              <a:t>的结点数为（</a:t>
            </a:r>
            <a:r>
              <a:rPr lang="en-US" altLang="zh-CN" sz="2400" dirty="0"/>
              <a:t>  </a:t>
            </a:r>
            <a:r>
              <a:rPr lang="zh-CN" altLang="zh-CN" sz="2400" dirty="0"/>
              <a:t>）个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/>
              <a:t>     A</a:t>
            </a:r>
            <a:r>
              <a:rPr lang="zh-CN" altLang="zh-CN" sz="2400" dirty="0"/>
              <a:t>．</a:t>
            </a:r>
            <a:r>
              <a:rPr lang="en-US" altLang="zh-CN" sz="2400" dirty="0"/>
              <a:t>4             B</a:t>
            </a:r>
            <a:r>
              <a:rPr lang="zh-CN" altLang="zh-CN" sz="2400" dirty="0"/>
              <a:t>．</a:t>
            </a:r>
            <a:r>
              <a:rPr lang="en-US" altLang="zh-CN" sz="2400" dirty="0"/>
              <a:t>5          C</a:t>
            </a:r>
            <a:r>
              <a:rPr lang="zh-CN" altLang="zh-CN" sz="2400" dirty="0"/>
              <a:t>．</a:t>
            </a:r>
            <a:r>
              <a:rPr lang="en-US" altLang="zh-CN" sz="2400" dirty="0"/>
              <a:t>6      D</a:t>
            </a:r>
            <a:r>
              <a:rPr lang="zh-CN" altLang="zh-CN" sz="2400" dirty="0"/>
              <a:t>．</a:t>
            </a:r>
            <a:r>
              <a:rPr lang="en-US" altLang="zh-CN" sz="2400" dirty="0"/>
              <a:t>7  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/>
              <a:t>5.</a:t>
            </a:r>
            <a:r>
              <a:rPr lang="zh-CN" altLang="zh-CN" sz="2400" dirty="0"/>
              <a:t>具有</a:t>
            </a:r>
            <a:r>
              <a:rPr lang="en-US" altLang="zh-CN" sz="2400" dirty="0"/>
              <a:t>10</a:t>
            </a:r>
            <a:r>
              <a:rPr lang="zh-CN" altLang="zh-CN" sz="2400" dirty="0"/>
              <a:t>个叶结点的二叉树中有（</a:t>
            </a:r>
            <a:r>
              <a:rPr lang="en-US" altLang="zh-CN" sz="2400" dirty="0"/>
              <a:t> B </a:t>
            </a:r>
            <a:r>
              <a:rPr lang="zh-CN" altLang="zh-CN" sz="2400" dirty="0"/>
              <a:t>）个度为</a:t>
            </a:r>
            <a:r>
              <a:rPr lang="en-US" altLang="zh-CN" sz="2400" dirty="0"/>
              <a:t>2</a:t>
            </a:r>
            <a:r>
              <a:rPr lang="zh-CN" altLang="zh-CN" sz="2400" dirty="0"/>
              <a:t>的结点， 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/>
              <a:t>     A</a:t>
            </a:r>
            <a:r>
              <a:rPr lang="zh-CN" altLang="zh-CN" sz="2400" dirty="0"/>
              <a:t>．</a:t>
            </a:r>
            <a:r>
              <a:rPr lang="en-US" altLang="zh-CN" sz="2400" dirty="0"/>
              <a:t>8           B</a:t>
            </a:r>
            <a:r>
              <a:rPr lang="zh-CN" altLang="zh-CN" sz="2400" dirty="0"/>
              <a:t>．</a:t>
            </a:r>
            <a:r>
              <a:rPr lang="en-US" altLang="zh-CN" sz="2400" dirty="0"/>
              <a:t>9             C</a:t>
            </a:r>
            <a:r>
              <a:rPr lang="zh-CN" altLang="zh-CN" sz="2400" dirty="0"/>
              <a:t>．</a:t>
            </a:r>
            <a:r>
              <a:rPr lang="en-US" altLang="zh-CN" sz="2400" dirty="0"/>
              <a:t>10          D</a:t>
            </a:r>
            <a:r>
              <a:rPr lang="zh-CN" altLang="zh-CN" sz="2400" dirty="0"/>
              <a:t>．</a:t>
            </a:r>
            <a:r>
              <a:rPr lang="en-US" altLang="zh-CN" sz="2400" dirty="0"/>
              <a:t>ll</a:t>
            </a:r>
            <a:endParaRPr lang="zh-CN" altLang="en-US" sz="2400" dirty="0"/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4147" name="Rectangle 53"/>
          <p:cNvSpPr/>
          <p:nvPr/>
        </p:nvSpPr>
        <p:spPr>
          <a:xfrm>
            <a:off x="250825" y="473075"/>
            <a:ext cx="8424863" cy="5632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zh-CN" sz="2400" dirty="0"/>
              <a:t>有关二叉树下列说法正确的是（</a:t>
            </a:r>
            <a:r>
              <a:rPr lang="en-US" altLang="zh-CN" sz="2400" dirty="0"/>
              <a:t> B </a:t>
            </a:r>
            <a:r>
              <a:rPr lang="zh-CN" altLang="zh-CN" sz="2400" dirty="0"/>
              <a:t>）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A</a:t>
            </a:r>
            <a:r>
              <a:rPr lang="zh-CN" altLang="zh-CN" sz="2400" dirty="0"/>
              <a:t>．二叉树的度为</a:t>
            </a:r>
            <a:r>
              <a:rPr lang="en-US" altLang="zh-CN" sz="2400" dirty="0"/>
              <a:t>2                   B</a:t>
            </a:r>
            <a:r>
              <a:rPr lang="zh-CN" altLang="zh-CN" sz="2400" dirty="0"/>
              <a:t>．一棵二叉树的度可以小于</a:t>
            </a:r>
            <a:r>
              <a:rPr lang="en-US" altLang="zh-CN" sz="2400" dirty="0"/>
              <a:t>2                                                                                 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C</a:t>
            </a:r>
            <a:r>
              <a:rPr lang="zh-CN" altLang="zh-CN" sz="2400" dirty="0"/>
              <a:t>．二叉树中至少有一个结点的度为</a:t>
            </a:r>
            <a:r>
              <a:rPr lang="en-US" altLang="zh-CN" sz="2400" dirty="0"/>
              <a:t>2 </a:t>
            </a:r>
            <a:endParaRPr lang="en-US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D</a:t>
            </a:r>
            <a:r>
              <a:rPr lang="zh-CN" altLang="zh-CN" sz="2400" dirty="0"/>
              <a:t>．二叉树中任何一个结点的度都为</a:t>
            </a:r>
            <a:r>
              <a:rPr lang="en-US" altLang="zh-CN" sz="2400" dirty="0"/>
              <a:t>2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7.</a:t>
            </a:r>
            <a:r>
              <a:rPr lang="zh-CN" altLang="zh-CN" sz="2400" dirty="0"/>
              <a:t>二叉树的第</a:t>
            </a:r>
            <a:r>
              <a:rPr lang="en-US" altLang="zh-CN" sz="2400" dirty="0"/>
              <a:t>I</a:t>
            </a:r>
            <a:r>
              <a:rPr lang="zh-CN" altLang="zh-CN" sz="2400" dirty="0"/>
              <a:t>层上最多含有结点数为（</a:t>
            </a:r>
            <a:r>
              <a:rPr lang="en-US" altLang="zh-CN" sz="2400" dirty="0"/>
              <a:t>C</a:t>
            </a:r>
            <a:r>
              <a:rPr lang="zh-CN" altLang="zh-CN" sz="2400" dirty="0"/>
              <a:t>）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it-IT" altLang="zh-CN" sz="2400" dirty="0"/>
              <a:t>A</a:t>
            </a:r>
            <a:r>
              <a:rPr lang="zh-CN" altLang="zh-CN" sz="2400" dirty="0"/>
              <a:t>．</a:t>
            </a:r>
            <a:r>
              <a:rPr lang="it-IT" altLang="zh-CN" sz="2400" dirty="0"/>
              <a:t>2</a:t>
            </a:r>
            <a:r>
              <a:rPr lang="it-IT" altLang="zh-CN" sz="2400" baseline="30000" dirty="0"/>
              <a:t>I </a:t>
            </a:r>
            <a:r>
              <a:rPr lang="it-IT" altLang="zh-CN" sz="2400" dirty="0"/>
              <a:t>         B</a:t>
            </a:r>
            <a:r>
              <a:rPr lang="zh-CN" altLang="zh-CN" sz="2400" dirty="0"/>
              <a:t>．</a:t>
            </a:r>
            <a:r>
              <a:rPr lang="it-IT" altLang="zh-CN" sz="2400" dirty="0"/>
              <a:t> 2</a:t>
            </a:r>
            <a:r>
              <a:rPr lang="it-IT" altLang="zh-CN" sz="2400" baseline="30000" dirty="0"/>
              <a:t>I-1</a:t>
            </a:r>
            <a:r>
              <a:rPr lang="it-IT" altLang="zh-CN" sz="2400" dirty="0"/>
              <a:t>-1           C</a:t>
            </a:r>
            <a:r>
              <a:rPr lang="zh-CN" altLang="zh-CN" sz="2400" dirty="0"/>
              <a:t>．</a:t>
            </a:r>
            <a:r>
              <a:rPr lang="it-IT" altLang="zh-CN" sz="2400" dirty="0"/>
              <a:t> 2</a:t>
            </a:r>
            <a:r>
              <a:rPr lang="it-IT" altLang="zh-CN" sz="2400" baseline="30000" dirty="0"/>
              <a:t>I-1</a:t>
            </a:r>
            <a:r>
              <a:rPr lang="it-IT" altLang="zh-CN" sz="2400" dirty="0"/>
              <a:t>            D</a:t>
            </a:r>
            <a:r>
              <a:rPr lang="zh-CN" altLang="zh-CN" sz="2400" dirty="0"/>
              <a:t>．</a:t>
            </a:r>
            <a:r>
              <a:rPr lang="it-IT" altLang="zh-CN" sz="2400" dirty="0"/>
              <a:t>2</a:t>
            </a:r>
            <a:r>
              <a:rPr lang="it-IT" altLang="zh-CN" sz="2400" baseline="30000" dirty="0"/>
              <a:t>I </a:t>
            </a:r>
            <a:r>
              <a:rPr lang="it-IT" altLang="zh-CN" sz="2400" dirty="0"/>
              <a:t> -1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8.</a:t>
            </a:r>
            <a:r>
              <a:rPr lang="zh-CN" altLang="zh-CN" sz="2400" dirty="0"/>
              <a:t>一个具有</a:t>
            </a:r>
            <a:r>
              <a:rPr lang="en-US" altLang="zh-CN" sz="2400" dirty="0"/>
              <a:t>1025</a:t>
            </a:r>
            <a:r>
              <a:rPr lang="zh-CN" altLang="zh-CN" sz="2400" dirty="0"/>
              <a:t>个结点的二叉树的高</a:t>
            </a:r>
            <a:r>
              <a:rPr lang="en-US" altLang="zh-CN" sz="2400" dirty="0"/>
              <a:t>h</a:t>
            </a:r>
            <a:r>
              <a:rPr lang="zh-CN" altLang="zh-CN" sz="2400" dirty="0"/>
              <a:t>为（</a:t>
            </a:r>
            <a:r>
              <a:rPr lang="en-US" altLang="zh-CN" sz="2400" dirty="0"/>
              <a:t> C </a:t>
            </a:r>
            <a:r>
              <a:rPr lang="zh-CN" altLang="zh-CN" sz="2400" dirty="0"/>
              <a:t>）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A</a:t>
            </a:r>
            <a:r>
              <a:rPr lang="zh-CN" altLang="zh-CN" sz="2400" dirty="0"/>
              <a:t>．</a:t>
            </a:r>
            <a:r>
              <a:rPr lang="en-US" altLang="zh-CN" sz="2400" dirty="0"/>
              <a:t>11       B</a:t>
            </a:r>
            <a:r>
              <a:rPr lang="zh-CN" altLang="zh-CN" sz="2400" dirty="0"/>
              <a:t>．</a:t>
            </a:r>
            <a:r>
              <a:rPr lang="en-US" altLang="zh-CN" sz="2400" dirty="0"/>
              <a:t>10      C</a:t>
            </a:r>
            <a:r>
              <a:rPr lang="zh-CN" altLang="zh-CN" sz="2400" dirty="0"/>
              <a:t>．</a:t>
            </a:r>
            <a:r>
              <a:rPr lang="en-US" altLang="zh-CN" sz="2400" dirty="0"/>
              <a:t>11</a:t>
            </a:r>
            <a:r>
              <a:rPr lang="zh-CN" altLang="zh-CN" sz="2400" dirty="0"/>
              <a:t>至</a:t>
            </a:r>
            <a:r>
              <a:rPr lang="en-US" altLang="zh-CN" sz="2400" dirty="0"/>
              <a:t>1025</a:t>
            </a:r>
            <a:r>
              <a:rPr lang="zh-CN" altLang="zh-CN" sz="2400" dirty="0"/>
              <a:t>之间</a:t>
            </a:r>
            <a:r>
              <a:rPr lang="en-US" altLang="zh-CN" sz="2400" dirty="0"/>
              <a:t>      D</a:t>
            </a:r>
            <a:r>
              <a:rPr lang="zh-CN" altLang="zh-CN" sz="2400" dirty="0"/>
              <a:t>．</a:t>
            </a:r>
            <a:r>
              <a:rPr lang="en-US" altLang="zh-CN" sz="2400" dirty="0"/>
              <a:t>10</a:t>
            </a:r>
            <a:r>
              <a:rPr lang="zh-CN" altLang="zh-CN" sz="2400" dirty="0"/>
              <a:t>至</a:t>
            </a:r>
            <a:r>
              <a:rPr lang="en-US" altLang="zh-CN" sz="2400" dirty="0"/>
              <a:t>1024</a:t>
            </a:r>
            <a:r>
              <a:rPr lang="zh-CN" altLang="zh-CN" sz="2400" dirty="0"/>
              <a:t>之间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9.</a:t>
            </a:r>
            <a:r>
              <a:rPr lang="zh-CN" altLang="zh-CN" sz="2400" dirty="0"/>
              <a:t>一棵二叉树高度为</a:t>
            </a:r>
            <a:r>
              <a:rPr lang="en-US" altLang="zh-CN" sz="2400" dirty="0"/>
              <a:t>h,</a:t>
            </a:r>
            <a:r>
              <a:rPr lang="zh-CN" altLang="zh-CN" sz="2400" dirty="0"/>
              <a:t>所有结点的度或为</a:t>
            </a:r>
            <a:r>
              <a:rPr lang="en-US" altLang="zh-CN" sz="2400" dirty="0"/>
              <a:t>0</a:t>
            </a:r>
            <a:r>
              <a:rPr lang="zh-CN" altLang="zh-CN" sz="2400" dirty="0"/>
              <a:t>，或为</a:t>
            </a:r>
            <a:r>
              <a:rPr lang="en-US" altLang="zh-CN" sz="2400" dirty="0"/>
              <a:t>2</a:t>
            </a:r>
            <a:r>
              <a:rPr lang="zh-CN" altLang="zh-CN" sz="2400" dirty="0"/>
              <a:t>，则这棵二叉树最少有</a:t>
            </a:r>
            <a:r>
              <a:rPr lang="en-US" altLang="zh-CN" sz="2400" dirty="0"/>
              <a:t>( B )</a:t>
            </a:r>
            <a:r>
              <a:rPr lang="zh-CN" altLang="zh-CN" sz="2400" dirty="0"/>
              <a:t>结点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A</a:t>
            </a:r>
            <a:r>
              <a:rPr lang="zh-CN" altLang="zh-CN" sz="2400" dirty="0"/>
              <a:t>．</a:t>
            </a:r>
            <a:r>
              <a:rPr lang="en-US" altLang="zh-CN" sz="2400" dirty="0"/>
              <a:t>2h     B</a:t>
            </a:r>
            <a:r>
              <a:rPr lang="zh-CN" altLang="zh-CN" sz="2400" dirty="0"/>
              <a:t>．</a:t>
            </a:r>
            <a:r>
              <a:rPr lang="en-US" altLang="zh-CN" sz="2400" dirty="0"/>
              <a:t>2h-1        C</a:t>
            </a:r>
            <a:r>
              <a:rPr lang="zh-CN" altLang="zh-CN" sz="2400" dirty="0"/>
              <a:t>．</a:t>
            </a:r>
            <a:r>
              <a:rPr lang="en-US" altLang="zh-CN" sz="2400" dirty="0"/>
              <a:t>2h+1         D</a:t>
            </a:r>
            <a:r>
              <a:rPr lang="zh-CN" altLang="zh-CN" sz="2400" dirty="0"/>
              <a:t>．</a:t>
            </a:r>
            <a:r>
              <a:rPr lang="en-US" altLang="zh-CN" sz="2400" dirty="0"/>
              <a:t>h+1    </a:t>
            </a:r>
            <a:endParaRPr lang="zh-CN" altLang="zh-CN" sz="2400" dirty="0"/>
          </a:p>
          <a:p>
            <a:pPr marL="0" lvl="0" indent="0" algn="just">
              <a:lnSpc>
                <a:spcPct val="125000"/>
              </a:lnSpc>
              <a:spcBef>
                <a:spcPct val="0"/>
              </a:spcBef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5171" name="Rectangle 53"/>
          <p:cNvSpPr/>
          <p:nvPr/>
        </p:nvSpPr>
        <p:spPr>
          <a:xfrm>
            <a:off x="250825" y="241300"/>
            <a:ext cx="8424863" cy="60944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10.</a:t>
            </a:r>
            <a:r>
              <a:rPr lang="zh-CN" altLang="zh-CN" sz="2400" dirty="0"/>
              <a:t>一棵具有</a:t>
            </a:r>
            <a:r>
              <a:rPr lang="en-US" altLang="zh-CN" sz="2400" dirty="0"/>
              <a:t> n</a:t>
            </a:r>
            <a:r>
              <a:rPr lang="zh-CN" altLang="zh-CN" sz="2400" dirty="0"/>
              <a:t>个结点的完全二叉树的树高度（深度）是（</a:t>
            </a:r>
            <a:r>
              <a:rPr lang="en-US" altLang="zh-CN" sz="2400" dirty="0"/>
              <a:t>  A </a:t>
            </a:r>
            <a:r>
              <a:rPr lang="zh-CN" altLang="zh-CN" sz="2400" dirty="0"/>
              <a:t>）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 A</a:t>
            </a:r>
            <a:r>
              <a:rPr lang="zh-CN" altLang="zh-CN" sz="2400" dirty="0"/>
              <a:t>．</a:t>
            </a:r>
            <a:r>
              <a:rPr lang="en-US" altLang="zh-CN" sz="2400" dirty="0">
                <a:sym typeface="Symbol" panose="05050102010706020507" pitchFamily="18" charset="2"/>
              </a:rPr>
              <a:t></a:t>
            </a:r>
            <a:r>
              <a:rPr lang="en-US" altLang="zh-CN" sz="2400" dirty="0"/>
              <a:t>logn</a:t>
            </a:r>
            <a:r>
              <a:rPr lang="en-US" altLang="zh-CN" sz="2400" dirty="0">
                <a:sym typeface="Symbol" panose="05050102010706020507" pitchFamily="18" charset="2"/>
              </a:rPr>
              <a:t></a:t>
            </a:r>
            <a:r>
              <a:rPr lang="en-US" altLang="zh-CN" sz="2400" dirty="0"/>
              <a:t>+1       B</a:t>
            </a:r>
            <a:r>
              <a:rPr lang="zh-CN" altLang="zh-CN" sz="2400" dirty="0"/>
              <a:t>．</a:t>
            </a:r>
            <a:r>
              <a:rPr lang="en-US" altLang="zh-CN" sz="2400" dirty="0"/>
              <a:t>logn+1        C</a:t>
            </a:r>
            <a:r>
              <a:rPr lang="zh-CN" altLang="zh-CN" sz="2400" dirty="0"/>
              <a:t>．</a:t>
            </a:r>
            <a:r>
              <a:rPr lang="en-US" altLang="zh-CN" sz="2400" dirty="0">
                <a:sym typeface="Symbol" panose="05050102010706020507" pitchFamily="18" charset="2"/>
              </a:rPr>
              <a:t></a:t>
            </a:r>
            <a:r>
              <a:rPr lang="en-US" altLang="zh-CN" sz="2400" dirty="0"/>
              <a:t>logn</a:t>
            </a:r>
            <a:r>
              <a:rPr lang="en-US" altLang="zh-CN" sz="2400" dirty="0">
                <a:sym typeface="Symbol" panose="05050102010706020507" pitchFamily="18" charset="2"/>
              </a:rPr>
              <a:t></a:t>
            </a:r>
            <a:r>
              <a:rPr lang="en-US" altLang="zh-CN" sz="2400" dirty="0"/>
              <a:t>      D</a:t>
            </a:r>
            <a:r>
              <a:rPr lang="zh-CN" altLang="zh-CN" sz="2400" dirty="0"/>
              <a:t>．</a:t>
            </a:r>
            <a:r>
              <a:rPr lang="en-US" altLang="zh-CN" sz="2400" dirty="0"/>
              <a:t>logn-1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11.</a:t>
            </a:r>
            <a:r>
              <a:rPr lang="zh-CN" altLang="zh-CN" sz="2400" dirty="0"/>
              <a:t>深度为</a:t>
            </a:r>
            <a:r>
              <a:rPr lang="en-US" altLang="zh-CN" sz="2400" dirty="0"/>
              <a:t>h</a:t>
            </a:r>
            <a:r>
              <a:rPr lang="zh-CN" altLang="zh-CN" sz="2400" dirty="0"/>
              <a:t>的满</a:t>
            </a:r>
            <a:r>
              <a:rPr lang="en-US" altLang="zh-CN" sz="2400" dirty="0"/>
              <a:t>m</a:t>
            </a:r>
            <a:r>
              <a:rPr lang="zh-CN" altLang="zh-CN" sz="2400" dirty="0"/>
              <a:t>叉树的第</a:t>
            </a:r>
            <a:r>
              <a:rPr lang="en-US" altLang="zh-CN" sz="2400" dirty="0"/>
              <a:t>k</a:t>
            </a:r>
            <a:r>
              <a:rPr lang="zh-CN" altLang="zh-CN" sz="2400" dirty="0"/>
              <a:t>层有（</a:t>
            </a:r>
            <a:r>
              <a:rPr lang="en-US" altLang="zh-CN" sz="2400" dirty="0"/>
              <a:t>  A </a:t>
            </a:r>
            <a:r>
              <a:rPr lang="zh-CN" altLang="zh-CN" sz="2400" dirty="0"/>
              <a:t>）个结点。</a:t>
            </a:r>
            <a:r>
              <a:rPr lang="en-US" altLang="zh-CN" sz="2400" dirty="0"/>
              <a:t>(1=&lt;k=&lt;h) 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  A</a:t>
            </a:r>
            <a:r>
              <a:rPr lang="zh-CN" altLang="zh-CN" sz="2400" dirty="0"/>
              <a:t>．</a:t>
            </a:r>
            <a:r>
              <a:rPr lang="en-US" altLang="zh-CN" sz="2400" dirty="0"/>
              <a:t>m</a:t>
            </a:r>
            <a:r>
              <a:rPr lang="en-US" altLang="zh-CN" sz="2400" baseline="30000" dirty="0"/>
              <a:t>k-1 </a:t>
            </a:r>
            <a:r>
              <a:rPr lang="en-US" altLang="zh-CN" sz="2400" dirty="0"/>
              <a:t>           B</a:t>
            </a:r>
            <a:r>
              <a:rPr lang="zh-CN" altLang="zh-CN" sz="2400" dirty="0"/>
              <a:t>．</a:t>
            </a:r>
            <a:r>
              <a:rPr lang="en-US" altLang="zh-CN" sz="2400" dirty="0"/>
              <a:t>m</a:t>
            </a:r>
            <a:r>
              <a:rPr lang="en-US" altLang="zh-CN" sz="2400" baseline="30000" dirty="0"/>
              <a:t>k</a:t>
            </a:r>
            <a:r>
              <a:rPr lang="en-US" altLang="zh-CN" sz="2400" dirty="0"/>
              <a:t>-1          C</a:t>
            </a:r>
            <a:r>
              <a:rPr lang="zh-CN" altLang="zh-CN" sz="2400" dirty="0"/>
              <a:t>．</a:t>
            </a:r>
            <a:r>
              <a:rPr lang="en-US" altLang="zh-CN" sz="2400" dirty="0"/>
              <a:t>m</a:t>
            </a:r>
            <a:r>
              <a:rPr lang="en-US" altLang="zh-CN" sz="2400" baseline="30000" dirty="0"/>
              <a:t>h-1</a:t>
            </a:r>
            <a:r>
              <a:rPr lang="en-US" altLang="zh-CN" sz="2400" dirty="0"/>
              <a:t>      D</a:t>
            </a:r>
            <a:r>
              <a:rPr lang="zh-CN" altLang="zh-CN" sz="2400" dirty="0"/>
              <a:t>．</a:t>
            </a:r>
            <a:r>
              <a:rPr lang="en-US" altLang="zh-CN" sz="2400" dirty="0"/>
              <a:t>m</a:t>
            </a:r>
            <a:r>
              <a:rPr lang="en-US" altLang="zh-CN" sz="2400" baseline="30000" dirty="0"/>
              <a:t>h</a:t>
            </a:r>
            <a:r>
              <a:rPr lang="en-US" altLang="zh-CN" sz="2400" dirty="0"/>
              <a:t>-1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12.</a:t>
            </a:r>
            <a:r>
              <a:rPr lang="zh-CN" altLang="zh-CN" sz="2400" dirty="0"/>
              <a:t>在一棵高度为</a:t>
            </a:r>
            <a:r>
              <a:rPr lang="en-US" altLang="zh-CN" sz="2400" dirty="0"/>
              <a:t>k</a:t>
            </a:r>
            <a:r>
              <a:rPr lang="zh-CN" altLang="zh-CN" sz="2400" dirty="0"/>
              <a:t>的满二叉树中，结点总数为（</a:t>
            </a:r>
            <a:r>
              <a:rPr lang="en-US" altLang="zh-CN" sz="2400" dirty="0"/>
              <a:t>C  </a:t>
            </a:r>
            <a:r>
              <a:rPr lang="zh-CN" altLang="zh-CN" sz="2400" dirty="0"/>
              <a:t>）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  A</a:t>
            </a:r>
            <a:r>
              <a:rPr lang="zh-CN" altLang="zh-CN" sz="2400" dirty="0"/>
              <a:t>．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k-1            </a:t>
            </a:r>
            <a:r>
              <a:rPr lang="en-US" altLang="zh-CN" sz="2400" dirty="0"/>
              <a:t>B</a:t>
            </a:r>
            <a:r>
              <a:rPr lang="zh-CN" altLang="zh-CN" sz="2400" dirty="0"/>
              <a:t>．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             </a:t>
            </a:r>
            <a:r>
              <a:rPr lang="en-US" altLang="zh-CN" sz="2400" dirty="0"/>
              <a:t>C</a:t>
            </a:r>
            <a:r>
              <a:rPr lang="zh-CN" altLang="zh-CN" sz="2400" dirty="0"/>
              <a:t>．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</a:t>
            </a:r>
            <a:r>
              <a:rPr lang="en-US" altLang="zh-CN" sz="2400" dirty="0"/>
              <a:t>-1        D</a:t>
            </a:r>
            <a:r>
              <a:rPr lang="zh-CN" altLang="zh-CN" sz="2400" dirty="0"/>
              <a:t>．</a:t>
            </a:r>
            <a:r>
              <a:rPr lang="en-US" altLang="zh-CN" sz="2400" dirty="0">
                <a:sym typeface="Symbol" panose="05050102010706020507" pitchFamily="18" charset="2"/>
              </a:rPr>
              <a:t></a:t>
            </a:r>
            <a:r>
              <a:rPr lang="en-US" altLang="zh-CN" sz="2400" dirty="0"/>
              <a:t>log2</a:t>
            </a:r>
            <a:r>
              <a:rPr lang="en-US" altLang="zh-CN" sz="2400" baseline="30000" dirty="0"/>
              <a:t>k</a:t>
            </a:r>
            <a:r>
              <a:rPr lang="en-US" altLang="zh-CN" sz="2400" dirty="0">
                <a:sym typeface="Symbol" panose="05050102010706020507" pitchFamily="18" charset="2"/>
              </a:rPr>
              <a:t></a:t>
            </a:r>
            <a:r>
              <a:rPr lang="en-US" altLang="zh-CN" sz="2400" dirty="0"/>
              <a:t>+1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13.</a:t>
            </a:r>
            <a:r>
              <a:rPr lang="zh-CN" altLang="zh-CN" sz="2400" dirty="0"/>
              <a:t>高度为</a:t>
            </a:r>
            <a:r>
              <a:rPr lang="en-US" altLang="zh-CN" sz="2400" dirty="0"/>
              <a:t> K</a:t>
            </a:r>
            <a:r>
              <a:rPr lang="zh-CN" altLang="zh-CN" sz="2400" dirty="0"/>
              <a:t>的二叉树最大的结点数为（</a:t>
            </a:r>
            <a:r>
              <a:rPr lang="en-US" altLang="zh-CN" sz="2400" dirty="0"/>
              <a:t> C </a:t>
            </a:r>
            <a:r>
              <a:rPr lang="zh-CN" altLang="zh-CN" sz="2400" dirty="0"/>
              <a:t>）。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   A</a:t>
            </a:r>
            <a:r>
              <a:rPr lang="zh-CN" altLang="zh-CN" sz="2400" dirty="0"/>
              <a:t>．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</a:t>
            </a:r>
            <a:r>
              <a:rPr lang="en-US" altLang="zh-CN" sz="2400" dirty="0"/>
              <a:t>	     B</a:t>
            </a:r>
            <a:r>
              <a:rPr lang="zh-CN" altLang="zh-CN" sz="2400" dirty="0"/>
              <a:t>．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k-1          C</a:t>
            </a:r>
            <a:r>
              <a:rPr lang="zh-CN" altLang="zh-CN" sz="2400" dirty="0"/>
              <a:t>．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</a:t>
            </a:r>
            <a:r>
              <a:rPr lang="en-US" altLang="zh-CN" sz="2400" dirty="0"/>
              <a:t> -1     D</a:t>
            </a:r>
            <a:r>
              <a:rPr lang="zh-CN" altLang="zh-CN" sz="2400" dirty="0"/>
              <a:t>．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k-1</a:t>
            </a:r>
            <a:r>
              <a:rPr lang="en-US" altLang="zh-CN" sz="2400" dirty="0"/>
              <a:t>-1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14.</a:t>
            </a:r>
            <a:r>
              <a:rPr lang="zh-CN" altLang="zh-CN" sz="2400" dirty="0"/>
              <a:t>一棵树高为</a:t>
            </a:r>
            <a:r>
              <a:rPr lang="en-US" altLang="zh-CN" sz="2400" dirty="0"/>
              <a:t>K</a:t>
            </a:r>
            <a:r>
              <a:rPr lang="zh-CN" altLang="zh-CN" sz="2400" dirty="0"/>
              <a:t>的完全二叉树至少有（</a:t>
            </a:r>
            <a:r>
              <a:rPr lang="en-US" altLang="zh-CN" sz="2400" dirty="0"/>
              <a:t> C  </a:t>
            </a:r>
            <a:r>
              <a:rPr lang="zh-CN" altLang="zh-CN" sz="2400" dirty="0"/>
              <a:t>）个结点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    A</a:t>
            </a:r>
            <a:r>
              <a:rPr lang="zh-CN" altLang="zh-CN" sz="2400" dirty="0"/>
              <a:t>．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k</a:t>
            </a:r>
            <a:r>
              <a:rPr lang="en-US" altLang="zh-CN" sz="2400" dirty="0"/>
              <a:t> </a:t>
            </a:r>
            <a:r>
              <a:rPr lang="zh-CN" altLang="zh-CN" sz="2400" dirty="0"/>
              <a:t>–</a:t>
            </a:r>
            <a:r>
              <a:rPr lang="en-US" altLang="zh-CN" sz="2400" dirty="0"/>
              <a:t>1           B. 2</a:t>
            </a:r>
            <a:r>
              <a:rPr lang="en-US" altLang="zh-CN" sz="2400" baseline="30000" dirty="0"/>
              <a:t>k-1</a:t>
            </a:r>
            <a:r>
              <a:rPr lang="en-US" altLang="zh-CN" sz="2400" dirty="0"/>
              <a:t> </a:t>
            </a:r>
            <a:r>
              <a:rPr lang="zh-CN" altLang="zh-CN" sz="2400" dirty="0"/>
              <a:t>–</a:t>
            </a:r>
            <a:r>
              <a:rPr lang="en-US" altLang="zh-CN" sz="2400" dirty="0"/>
              <a:t>1         C. 2</a:t>
            </a:r>
            <a:r>
              <a:rPr lang="en-US" altLang="zh-CN" sz="2400" baseline="30000" dirty="0"/>
              <a:t>k-1</a:t>
            </a:r>
            <a:r>
              <a:rPr lang="en-US" altLang="zh-CN" sz="2400" dirty="0"/>
              <a:t>       D. 2</a:t>
            </a:r>
            <a:r>
              <a:rPr lang="en-US" altLang="zh-CN" sz="2400" baseline="30000" dirty="0"/>
              <a:t>k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15.</a:t>
            </a:r>
            <a:r>
              <a:rPr lang="zh-CN" altLang="zh-CN" sz="2400" dirty="0"/>
              <a:t>将有关二叉树的概念推广到三叉树，则一棵有</a:t>
            </a:r>
            <a:r>
              <a:rPr lang="en-US" altLang="zh-CN" sz="2400" dirty="0"/>
              <a:t>244</a:t>
            </a:r>
            <a:r>
              <a:rPr lang="zh-CN" altLang="zh-CN" sz="2400" dirty="0"/>
              <a:t>个结点的完全三叉树的高度（</a:t>
            </a:r>
            <a:r>
              <a:rPr lang="en-US" altLang="zh-CN" sz="2400" dirty="0"/>
              <a:t>C</a:t>
            </a:r>
            <a:r>
              <a:rPr lang="zh-CN" altLang="zh-CN" sz="2400" dirty="0"/>
              <a:t>）</a:t>
            </a:r>
            <a:endParaRPr lang="zh-CN" altLang="zh-CN" sz="2400" dirty="0"/>
          </a:p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dirty="0"/>
              <a:t>     A</a:t>
            </a:r>
            <a:r>
              <a:rPr lang="zh-CN" altLang="zh-CN" sz="2400" dirty="0"/>
              <a:t>．</a:t>
            </a:r>
            <a:r>
              <a:rPr lang="en-US" altLang="zh-CN" sz="2400" dirty="0"/>
              <a:t>4           B</a:t>
            </a:r>
            <a:r>
              <a:rPr lang="zh-CN" altLang="zh-CN" sz="2400" dirty="0"/>
              <a:t>．</a:t>
            </a:r>
            <a:r>
              <a:rPr lang="en-US" altLang="zh-CN" sz="2400" dirty="0"/>
              <a:t>5           C</a:t>
            </a:r>
            <a:r>
              <a:rPr lang="zh-CN" altLang="zh-CN" sz="2400" dirty="0"/>
              <a:t>．</a:t>
            </a:r>
            <a:r>
              <a:rPr lang="en-US" altLang="zh-CN" sz="2400" dirty="0"/>
              <a:t>6           D</a:t>
            </a:r>
            <a:r>
              <a:rPr lang="zh-CN" altLang="zh-CN" sz="2400" dirty="0"/>
              <a:t>．</a:t>
            </a:r>
            <a:r>
              <a:rPr lang="en-US" altLang="zh-CN" sz="2400" dirty="0"/>
              <a:t>7 </a:t>
            </a:r>
            <a:endParaRPr lang="zh-CN" altLang="zh-CN" sz="2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Rectangle 53"/>
          <p:cNvSpPr>
            <a:spLocks noChangeArrowheads="1"/>
          </p:cNvSpPr>
          <p:nvPr/>
        </p:nvSpPr>
        <p:spPr bwMode="auto">
          <a:xfrm>
            <a:off x="250825" y="285750"/>
            <a:ext cx="8424863" cy="6094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16.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对二叉树的结点从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开始进行连续编号，要求每个结点的编号大于其左、右孩子的编号，同一结点的左右孩子中，其左孩子的编号小于其右孩子的编号，可采用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 C  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次序的遍历实现编号。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．先序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B.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C.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后序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D.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从根开始按层次遍历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17.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树的后根遍历序列等同于该树对应的二叉树的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 B   ).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eriod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先序序列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B.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中序序列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C.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后序序列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18.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二叉树的先序遍历和中序遍历如下： 先序遍历：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EFHIGJK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；中序遍历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HFIEJKG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。该二叉树根的右子树的根是：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E         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F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G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　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H  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将一棵树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转换为孩子—兄弟链表表示的二叉树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的后根序遍历是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．前序遍历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．中序遍历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．后序遍历（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B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" name="矩形 2"/>
          <p:cNvSpPr/>
          <p:nvPr/>
        </p:nvSpPr>
        <p:spPr>
          <a:xfrm>
            <a:off x="179388" y="333375"/>
            <a:ext cx="8713788" cy="6029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20.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下面的说法中正确的是（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B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(1)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任何一棵二叉树的叶子结点在三种遍历中的相对次序不变；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(2)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按二叉树定义，具有三个结点的二叉树共有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6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种。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(1)(2)   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(1)   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(2)    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(1)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(2)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都错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21.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对于前序遍历与中序遍历结果相同的二叉树为（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; 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对于前序遍历和后序遍历结果相同的二叉树为（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．一般二叉树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．只有根结点的二叉树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．根结点无左孩子的二叉树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．根结点无右孩子的二叉树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E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．所有结点只有左子数的二叉树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．所有结点只有右子树的二叉树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22.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一棵非空的二叉树的先序遍历序列与后序遍历序列正好相反，则该二叉树一定满足（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C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A.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所有的结点均无左孩子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B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．所有的结点均无右孩子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C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．只有一个叶子结点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   D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．是任意一棵二叉树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</a:t>
            </a:r>
            <a:endParaRPr kumimoji="0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9267" name="Rectangle 53"/>
          <p:cNvSpPr/>
          <p:nvPr/>
        </p:nvSpPr>
        <p:spPr>
          <a:xfrm>
            <a:off x="250825" y="244475"/>
            <a:ext cx="8424863" cy="5632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23.</a:t>
            </a:r>
            <a:r>
              <a:rPr lang="zh-CN" altLang="zh-CN" sz="2400" dirty="0"/>
              <a:t>在二叉树结点的先序序列，中序序列和后序序列中，所有叶子结点的先后顺序（</a:t>
            </a:r>
            <a:r>
              <a:rPr lang="en-US" altLang="zh-CN" sz="2400" dirty="0"/>
              <a:t>  B  </a:t>
            </a:r>
            <a:r>
              <a:rPr lang="zh-CN" altLang="zh-CN" sz="2400" dirty="0"/>
              <a:t>）</a:t>
            </a:r>
            <a:endParaRPr lang="zh-CN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A</a:t>
            </a:r>
            <a:r>
              <a:rPr lang="zh-CN" altLang="zh-CN" sz="2400" dirty="0"/>
              <a:t>．都不相同　　</a:t>
            </a:r>
            <a:r>
              <a:rPr lang="en-US" altLang="zh-CN" sz="2400" dirty="0"/>
              <a:t>B</a:t>
            </a:r>
            <a:r>
              <a:rPr lang="zh-CN" altLang="zh-CN" sz="2400" dirty="0"/>
              <a:t>．完全相同</a:t>
            </a:r>
            <a:r>
              <a:rPr lang="en-US" altLang="zh-CN" sz="2400" dirty="0"/>
              <a:t>  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C</a:t>
            </a:r>
            <a:r>
              <a:rPr lang="zh-CN" altLang="zh-CN" sz="2400" dirty="0"/>
              <a:t>．先序和中序相同，而与后序不同　</a:t>
            </a:r>
            <a:endParaRPr lang="zh-CN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D</a:t>
            </a:r>
            <a:r>
              <a:rPr lang="zh-CN" altLang="zh-CN" sz="2400" dirty="0"/>
              <a:t>．中序和后序相同，而与先序不同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24.</a:t>
            </a:r>
            <a:r>
              <a:rPr lang="zh-CN" altLang="zh-CN" sz="2400" dirty="0"/>
              <a:t>一棵左子树为空的二叉树在先序线索化后，其中空的链域的个数是</a:t>
            </a:r>
            <a:r>
              <a:rPr lang="zh-CN" altLang="en-US" sz="2400" dirty="0">
                <a:sym typeface="Wingdings" panose="05000000000000000000" pitchFamily="2" charset="2"/>
              </a:rPr>
              <a:t>（</a:t>
            </a:r>
            <a:r>
              <a:rPr lang="en-US" altLang="zh-CN" sz="2400" dirty="0"/>
              <a:t>  D )</a:t>
            </a:r>
            <a:endParaRPr lang="zh-CN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 A</a:t>
            </a:r>
            <a:r>
              <a:rPr lang="zh-CN" altLang="zh-CN" sz="2400" dirty="0"/>
              <a:t>．不确定</a:t>
            </a:r>
            <a:r>
              <a:rPr lang="en-US" altLang="zh-CN" sz="2400" dirty="0"/>
              <a:t>         B. 0        C. 1        D. 2   </a:t>
            </a:r>
            <a:endParaRPr lang="zh-CN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25.</a:t>
            </a:r>
            <a:r>
              <a:rPr lang="zh-CN" altLang="zh-CN" sz="2400" dirty="0"/>
              <a:t>一棵左右子树均不空的二叉树在先序线索化后，其中空的链域的个数是：</a:t>
            </a:r>
            <a:r>
              <a:rPr lang="en-US" altLang="zh-CN" sz="2400" dirty="0"/>
              <a:t>(    B)</a:t>
            </a:r>
            <a:r>
              <a:rPr lang="zh-CN" altLang="zh-CN" sz="2400" dirty="0"/>
              <a:t>。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  A.0            B. 1        C. 2          D. </a:t>
            </a:r>
            <a:r>
              <a:rPr lang="zh-CN" altLang="zh-CN" sz="2400" dirty="0"/>
              <a:t>不确定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26.</a:t>
            </a:r>
            <a:r>
              <a:rPr lang="zh-CN" altLang="zh-CN" sz="2400" dirty="0"/>
              <a:t>若</a:t>
            </a:r>
            <a:r>
              <a:rPr lang="en-US" altLang="zh-CN" sz="2400" dirty="0"/>
              <a:t>X</a:t>
            </a:r>
            <a:r>
              <a:rPr lang="zh-CN" altLang="zh-CN" sz="2400" dirty="0"/>
              <a:t>是二叉中序线索树中一个有左孩子的结点，且</a:t>
            </a:r>
            <a:r>
              <a:rPr lang="en-US" altLang="zh-CN" sz="2400" dirty="0"/>
              <a:t>X</a:t>
            </a:r>
            <a:r>
              <a:rPr lang="zh-CN" altLang="zh-CN" sz="2400" dirty="0"/>
              <a:t>不为根，则</a:t>
            </a:r>
            <a:r>
              <a:rPr lang="en-US" altLang="zh-CN" sz="2400" dirty="0"/>
              <a:t>x</a:t>
            </a:r>
            <a:r>
              <a:rPr lang="zh-CN" altLang="zh-CN" sz="2400" dirty="0"/>
              <a:t>的前驱为</a:t>
            </a:r>
            <a:r>
              <a:rPr lang="en-US" altLang="zh-CN" sz="2400" dirty="0"/>
              <a:t>(  C  ) </a:t>
            </a:r>
            <a:endParaRPr lang="zh-CN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A.X</a:t>
            </a:r>
            <a:r>
              <a:rPr lang="zh-CN" altLang="zh-CN" sz="2400" dirty="0"/>
              <a:t>的双亲</a:t>
            </a:r>
            <a:r>
              <a:rPr lang="en-US" altLang="zh-CN" sz="2400" dirty="0"/>
              <a:t>           B.X</a:t>
            </a:r>
            <a:r>
              <a:rPr lang="zh-CN" altLang="zh-CN" sz="2400" dirty="0"/>
              <a:t>的右子树中最左的结点</a:t>
            </a:r>
            <a:r>
              <a:rPr lang="en-US" altLang="zh-CN" sz="2400" dirty="0"/>
              <a:t>  </a:t>
            </a:r>
            <a:endParaRPr lang="en-US" altLang="zh-CN" sz="2400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C.X</a:t>
            </a:r>
            <a:r>
              <a:rPr lang="zh-CN" altLang="zh-CN" sz="2400" dirty="0"/>
              <a:t>的左子树中最右结点</a:t>
            </a:r>
            <a:r>
              <a:rPr lang="en-US" altLang="zh-CN" sz="2400" dirty="0"/>
              <a:t>          D.X</a:t>
            </a:r>
            <a:r>
              <a:rPr lang="zh-CN" altLang="zh-CN" sz="2400" dirty="0"/>
              <a:t>的左子树中最右叶结点 </a:t>
            </a:r>
            <a:endParaRPr lang="zh-CN" altLang="zh-CN" sz="24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内容占位符 2"/>
          <p:cNvSpPr>
            <a:spLocks noGrp="1"/>
          </p:cNvSpPr>
          <p:nvPr>
            <p:ph idx="1"/>
          </p:nvPr>
        </p:nvSpPr>
        <p:spPr>
          <a:xfrm>
            <a:off x="428625" y="44450"/>
            <a:ext cx="8229600" cy="2022475"/>
          </a:xfrm>
        </p:spPr>
        <p:txBody>
          <a:bodyPr vert="horz" wrap="square" lIns="91440" tIns="45720" rIns="91440" bIns="45720" anchor="t" anchorCtr="0"/>
          <a:p>
            <a:r>
              <a:rPr lang="en-US" altLang="zh-CN" sz="2400" dirty="0"/>
              <a:t>2.</a:t>
            </a:r>
            <a:r>
              <a:rPr lang="zh-CN" altLang="zh-CN" sz="2400" dirty="0"/>
              <a:t>设一棵二叉树的先序、中序遍历序列分别为</a:t>
            </a:r>
            <a:endParaRPr lang="zh-CN" altLang="zh-CN" sz="2400" dirty="0"/>
          </a:p>
          <a:p>
            <a:r>
              <a:rPr lang="zh-CN" altLang="zh-CN" sz="2400" dirty="0"/>
              <a:t>先序遍历序列：</a:t>
            </a:r>
            <a:r>
              <a:rPr lang="en-US" altLang="zh-CN" sz="2400" dirty="0"/>
              <a:t> A B D F C E G H  </a:t>
            </a:r>
            <a:r>
              <a:rPr lang="zh-CN" altLang="zh-CN" sz="2400" dirty="0"/>
              <a:t>中序遍历序列：</a:t>
            </a:r>
            <a:r>
              <a:rPr lang="en-US" altLang="zh-CN" sz="2400" dirty="0"/>
              <a:t> B F D A G E H C</a:t>
            </a:r>
            <a:endParaRPr lang="zh-CN" altLang="zh-CN" sz="2400" dirty="0"/>
          </a:p>
          <a:p>
            <a:r>
              <a:rPr lang="zh-CN" altLang="zh-CN" sz="2400" dirty="0"/>
              <a:t>（</a:t>
            </a:r>
            <a:r>
              <a:rPr lang="en-US" altLang="zh-CN" sz="2400" dirty="0"/>
              <a:t>1</a:t>
            </a:r>
            <a:r>
              <a:rPr lang="zh-CN" altLang="zh-CN" sz="2400" dirty="0"/>
              <a:t>）画出这棵二叉树。</a:t>
            </a:r>
            <a:endParaRPr lang="zh-CN" altLang="zh-CN" sz="2400" dirty="0"/>
          </a:p>
          <a:p>
            <a:r>
              <a:rPr lang="zh-CN" altLang="zh-CN" sz="2400" dirty="0"/>
              <a:t>（</a:t>
            </a:r>
            <a:r>
              <a:rPr lang="en-US" altLang="zh-CN" sz="2400" dirty="0"/>
              <a:t>2</a:t>
            </a:r>
            <a:r>
              <a:rPr lang="zh-CN" altLang="zh-CN" sz="2400" dirty="0"/>
              <a:t>）画出这棵二叉树的后序线索树。</a:t>
            </a:r>
            <a:endParaRPr lang="zh-CN" altLang="en-US" sz="2400" dirty="0"/>
          </a:p>
        </p:txBody>
      </p:sp>
      <p:sp>
        <p:nvSpPr>
          <p:cNvPr id="140291" name="矩形 4"/>
          <p:cNvSpPr/>
          <p:nvPr/>
        </p:nvSpPr>
        <p:spPr>
          <a:xfrm>
            <a:off x="428625" y="3014663"/>
            <a:ext cx="8215313" cy="828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3</a:t>
            </a:r>
            <a:r>
              <a:rPr lang="zh-CN" altLang="zh-CN" sz="2400" dirty="0"/>
              <a:t>．假设一棵二叉树的层次序列为</a:t>
            </a:r>
            <a:r>
              <a:rPr lang="en-US" altLang="zh-CN" sz="2400" dirty="0"/>
              <a:t>ABCDEFGHIJ</a:t>
            </a:r>
            <a:r>
              <a:rPr lang="zh-CN" altLang="zh-CN" sz="2400" dirty="0"/>
              <a:t>，中序序列</a:t>
            </a:r>
            <a:r>
              <a:rPr lang="en-US" altLang="zh-CN" sz="2400" dirty="0"/>
              <a:t>DBGEHJACIF</a:t>
            </a:r>
            <a:r>
              <a:rPr lang="zh-CN" altLang="zh-CN" sz="2400" dirty="0"/>
              <a:t>。请画出这棵二叉树。</a:t>
            </a:r>
            <a:endParaRPr lang="zh-CN" altLang="en-US" sz="2400" dirty="0"/>
          </a:p>
        </p:txBody>
      </p:sp>
      <p:sp>
        <p:nvSpPr>
          <p:cNvPr id="140292" name="矩形 5"/>
          <p:cNvSpPr/>
          <p:nvPr/>
        </p:nvSpPr>
        <p:spPr>
          <a:xfrm>
            <a:off x="463550" y="4508500"/>
            <a:ext cx="7858125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4.</a:t>
            </a:r>
            <a:r>
              <a:rPr lang="zh-CN" altLang="zh-CN" sz="2400" dirty="0"/>
              <a:t>设通信中出现</a:t>
            </a:r>
            <a:r>
              <a:rPr lang="en-US" altLang="zh-CN" sz="2400" dirty="0"/>
              <a:t>5</a:t>
            </a:r>
            <a:r>
              <a:rPr lang="zh-CN" altLang="zh-CN" sz="2400" dirty="0"/>
              <a:t>中字符</a:t>
            </a:r>
            <a:r>
              <a:rPr lang="en-US" altLang="zh-CN" sz="2400" dirty="0"/>
              <a:t>A</a:t>
            </a:r>
            <a:r>
              <a:rPr lang="zh-CN" altLang="zh-CN" sz="2400" dirty="0"/>
              <a:t>、</a:t>
            </a:r>
            <a:r>
              <a:rPr lang="en-US" altLang="zh-CN" sz="2400" dirty="0"/>
              <a:t>B</a:t>
            </a:r>
            <a:r>
              <a:rPr lang="zh-CN" altLang="zh-CN" sz="2400" dirty="0"/>
              <a:t>、</a:t>
            </a:r>
            <a:r>
              <a:rPr lang="en-US" altLang="zh-CN" sz="2400" dirty="0"/>
              <a:t>C</a:t>
            </a:r>
            <a:r>
              <a:rPr lang="zh-CN" altLang="zh-CN" sz="2400" dirty="0"/>
              <a:t>、</a:t>
            </a:r>
            <a:r>
              <a:rPr lang="en-US" altLang="zh-CN" sz="2400" dirty="0"/>
              <a:t>D</a:t>
            </a:r>
            <a:r>
              <a:rPr lang="zh-CN" altLang="zh-CN" sz="2400" dirty="0"/>
              <a:t>、</a:t>
            </a:r>
            <a:r>
              <a:rPr lang="en-US" altLang="zh-CN" sz="2400" dirty="0"/>
              <a:t>E</a:t>
            </a:r>
            <a:r>
              <a:rPr lang="zh-CN" altLang="zh-CN" sz="2400" dirty="0"/>
              <a:t>对应的频率为</a:t>
            </a:r>
            <a:r>
              <a:rPr lang="en-US" altLang="zh-CN" sz="2400" dirty="0"/>
              <a:t>0.2,0.1,0.5,0.15,0.25</a:t>
            </a:r>
            <a:r>
              <a:rPr lang="zh-CN" altLang="zh-CN" sz="2400" dirty="0"/>
              <a:t>构造哈夫曼树，并给出对应字符的编码。</a:t>
            </a:r>
            <a:endParaRPr lang="zh-CN" altLang="en-US" sz="2400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CC"/>
      </a:accent1>
      <a:accent2>
        <a:srgbClr val="0000CC"/>
      </a:accent2>
      <a:accent3>
        <a:srgbClr val="FFFFFF"/>
      </a:accent3>
      <a:accent4>
        <a:srgbClr val="000000"/>
      </a:accent4>
      <a:accent5>
        <a:srgbClr val="AAAAE2"/>
      </a:accent5>
      <a:accent6>
        <a:srgbClr val="0000B9"/>
      </a:accent6>
      <a:hlink>
        <a:srgbClr val="0000CC"/>
      </a:hlink>
      <a:folHlink>
        <a:srgbClr val="0000C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CC"/>
        </a:accent1>
        <a:accent2>
          <a:srgbClr val="0000CC"/>
        </a:accent2>
        <a:accent3>
          <a:srgbClr val="FFFFFF"/>
        </a:accent3>
        <a:accent4>
          <a:srgbClr val="000000"/>
        </a:accent4>
        <a:accent5>
          <a:srgbClr val="AAAAE2"/>
        </a:accent5>
        <a:accent6>
          <a:srgbClr val="0000B9"/>
        </a:accent6>
        <a:hlink>
          <a:srgbClr val="0000CC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00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0000B9"/>
        </a:accent6>
        <a:hlink>
          <a:srgbClr val="0000CC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15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66CC"/>
        </a:accent1>
        <a:accent2>
          <a:srgbClr val="0000CC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0000B9"/>
        </a:accent6>
        <a:hlink>
          <a:srgbClr val="0000CC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25920</Words>
  <Application>WPS 演示</Application>
  <PresentationFormat>全屏显示(4:3)</PresentationFormat>
  <Paragraphs>3776</Paragraphs>
  <Slides>123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123</vt:i4>
      </vt:variant>
    </vt:vector>
  </HeadingPairs>
  <TitlesOfParts>
    <vt:vector size="155" baseType="lpstr">
      <vt:lpstr>Arial</vt:lpstr>
      <vt:lpstr>宋体</vt:lpstr>
      <vt:lpstr>Wingdings</vt:lpstr>
      <vt:lpstr>Times New Roman</vt:lpstr>
      <vt:lpstr>楷体_GB2312</vt:lpstr>
      <vt:lpstr>新宋体</vt:lpstr>
      <vt:lpstr>楷体_GB2312</vt:lpstr>
      <vt:lpstr>黑体</vt:lpstr>
      <vt:lpstr>仿宋_GB2312</vt:lpstr>
      <vt:lpstr>PMingLiU</vt:lpstr>
      <vt:lpstr>仿宋</vt:lpstr>
      <vt:lpstr>华文行楷</vt:lpstr>
      <vt:lpstr>MingLiU-ExtB</vt:lpstr>
      <vt:lpstr>微软雅黑</vt:lpstr>
      <vt:lpstr>Arial Unicode MS</vt:lpstr>
      <vt:lpstr>Symbol</vt:lpstr>
      <vt:lpstr>隶书</vt:lpstr>
      <vt:lpstr>MS Gothic</vt:lpstr>
      <vt:lpstr>Monotype Sorts</vt:lpstr>
      <vt:lpstr>Wingdings</vt:lpstr>
      <vt:lpstr>幼圆</vt:lpstr>
      <vt:lpstr>方正舒体</vt:lpstr>
      <vt:lpstr>Wingdings 2</vt:lpstr>
      <vt:lpstr>Times New Roman</vt:lpstr>
      <vt:lpstr>方正粗黑宋简体</vt:lpstr>
      <vt:lpstr>Calibri</vt:lpstr>
      <vt:lpstr>仿宋_GB2312</vt:lpstr>
      <vt:lpstr>Arial</vt:lpstr>
      <vt:lpstr>Arial Narrow</vt:lpstr>
      <vt:lpstr>默认设计模板</vt:lpstr>
      <vt:lpstr>Word.Document.8</vt:lpstr>
      <vt:lpstr>Word.Document.8</vt:lpstr>
      <vt:lpstr>数据结构课程的内容</vt:lpstr>
      <vt:lpstr>第6章   树和二叉树（ Tree &amp; Binary Tree ）</vt:lpstr>
      <vt:lpstr>6.1     树的基本概念</vt:lpstr>
      <vt:lpstr>1.    树的定义</vt:lpstr>
      <vt:lpstr>PowerPoint 演示文稿</vt:lpstr>
      <vt:lpstr>树的表示法有几种：</vt:lpstr>
      <vt:lpstr>图形表示法：</vt:lpstr>
      <vt:lpstr>广义表表示法</vt:lpstr>
      <vt:lpstr>左孩子－右兄弟表示法</vt:lpstr>
      <vt:lpstr>2.    若干术语</vt:lpstr>
      <vt:lpstr>2.    若干术语（续）</vt:lpstr>
      <vt:lpstr>3. 树的逻辑结构 </vt:lpstr>
      <vt:lpstr>讨论3：树的链式存储方案应该怎样制定？</vt:lpstr>
      <vt:lpstr>5. 树的运算 </vt:lpstr>
      <vt:lpstr>6.2   二叉树</vt:lpstr>
      <vt:lpstr>1. 二叉树的定义</vt:lpstr>
      <vt:lpstr>2. 二叉树的性质    (3+2)</vt:lpstr>
      <vt:lpstr>讨论3：二叉树的叶子数和度为2的结点数之间有关系吗？</vt:lpstr>
      <vt:lpstr>满二叉树：一棵深度为k 且有2k -1个结点的二叉树。                   （特点：每层都“充满”了结点）</vt:lpstr>
      <vt:lpstr>对于两种特殊形式的二叉树（满二叉树和完全二叉树），还特别具备以下2个性质：</vt:lpstr>
      <vt:lpstr>PowerPoint 演示文稿</vt:lpstr>
      <vt:lpstr>PowerPoint 演示文稿</vt:lpstr>
      <vt:lpstr>PowerPoint 演示文稿</vt:lpstr>
      <vt:lpstr>课堂讨论：</vt:lpstr>
      <vt:lpstr>PowerPoint 演示文稿</vt:lpstr>
      <vt:lpstr>3. 二叉树的存储结构</vt:lpstr>
      <vt:lpstr>讨论：不是完全二叉树怎么办？</vt:lpstr>
      <vt:lpstr>二、链式存储结构 用二叉链表即可方便表示。</vt:lpstr>
      <vt:lpstr>例： </vt:lpstr>
      <vt:lpstr>PowerPoint 演示文稿</vt:lpstr>
      <vt:lpstr>PowerPoint 演示文稿</vt:lpstr>
      <vt:lpstr>6.3  遍历二叉树和线索二叉树</vt:lpstr>
      <vt:lpstr>PowerPoint 演示文稿</vt:lpstr>
      <vt:lpstr>例1：</vt:lpstr>
      <vt:lpstr>例2：用二叉树表示算术表达式</vt:lpstr>
      <vt:lpstr>遍历的算法实现：用递归形式格外简单！</vt:lpstr>
      <vt:lpstr>PowerPoint 演示文稿</vt:lpstr>
      <vt:lpstr>PowerPoint 演示文稿</vt:lpstr>
      <vt:lpstr>对遍历的分析：</vt:lpstr>
      <vt:lpstr>例：【严题集6.42③】编写递归算法，计算二叉树中叶子结点的数目。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特别讨论：若已知先序/后序遍历结果和中序遍历结果，能否“恢复”出二叉树？</vt:lpstr>
      <vt:lpstr>中序遍历：B D C E A F H G  后序遍历：D E C B H G F A</vt:lpstr>
      <vt:lpstr>PowerPoint 演示文稿</vt:lpstr>
      <vt:lpstr>PowerPoint 演示文稿</vt:lpstr>
      <vt:lpstr>问：用二叉链表法（l_child, r_child）存储包含n个结点的二叉树，结点的指针区域中会有多少个空指针？</vt:lpstr>
      <vt:lpstr>二、线索二叉树（Threaded Binary Tree）</vt:lpstr>
      <vt:lpstr>规定：</vt:lpstr>
      <vt:lpstr>附：有关线索二叉树的几个术语：</vt:lpstr>
      <vt:lpstr>例：某先序遍历结果如下表所示，请画出对应的二叉树。</vt:lpstr>
      <vt:lpstr>2. 线索二叉树的生成</vt:lpstr>
      <vt:lpstr>例1：画出以下二叉树对应的中序线索二叉树。</vt:lpstr>
      <vt:lpstr>对应的中序线索二叉树存储结构如图所示：</vt:lpstr>
      <vt:lpstr>例2：【 计算机系考研题】给定如图所示二叉树T，请画出与其对应的中序线索二叉树。 </vt:lpstr>
      <vt:lpstr>线索二叉树的生成算法（算法6.6, 见教材P134）</vt:lpstr>
      <vt:lpstr>3. 线索二叉树的遍历</vt:lpstr>
      <vt:lpstr>线索二叉树的中序遍历算法（算法6.5, 参见教材P134）</vt:lpstr>
      <vt:lpstr>算法流程：</vt:lpstr>
      <vt:lpstr>6.4 树和森林</vt:lpstr>
      <vt:lpstr>1.   树和森林与二叉树的转换</vt:lpstr>
      <vt:lpstr>树转二叉树举例：</vt:lpstr>
      <vt:lpstr>讨论2：二叉树怎样还原为树？</vt:lpstr>
      <vt:lpstr>PowerPoint 演示文稿</vt:lpstr>
      <vt:lpstr>森林转二叉树举例：（法二）</vt:lpstr>
      <vt:lpstr>讨论4：二叉树如何还原为森林？</vt:lpstr>
      <vt:lpstr>2. 树和森林的存储方式</vt:lpstr>
      <vt:lpstr>例1:   双亲表示法</vt:lpstr>
      <vt:lpstr>用双亲表示实现的树定义</vt:lpstr>
      <vt:lpstr>2、用孩子表示法来存储</vt:lpstr>
      <vt:lpstr>PowerPoint 演示文稿</vt:lpstr>
      <vt:lpstr>3、用孩子兄弟表示法来存储</vt:lpstr>
      <vt:lpstr>用左孩子-右兄弟表示实现的树定义</vt:lpstr>
      <vt:lpstr>例如：</vt:lpstr>
      <vt:lpstr>PowerPoint 演示文稿</vt:lpstr>
      <vt:lpstr>森林的遍历</vt:lpstr>
      <vt:lpstr>PowerPoint 演示文稿</vt:lpstr>
      <vt:lpstr>PowerPoint 演示文稿</vt:lpstr>
      <vt:lpstr>6.5  Huffman树及其应用</vt:lpstr>
      <vt:lpstr>Huffman树简介：</vt:lpstr>
      <vt:lpstr>PowerPoint 演示文稿</vt:lpstr>
      <vt:lpstr>结论： （1）完全二叉树并不一定是Huffman树 （2）HT是权值越大的越靠近根结点； （3）HT不唯一，但WPL一定相等。 （4）完全二叉树是路径长度最短的二叉树。</vt:lpstr>
      <vt:lpstr>PowerPoint 演示文稿</vt:lpstr>
      <vt:lpstr>PowerPoint 演示文稿</vt:lpstr>
      <vt:lpstr>构造霍夫曼树的基本思想：</vt:lpstr>
      <vt:lpstr>构造Huffman树的步骤：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操作要点2：按左0右1对Huffman树的所有分支编号！</vt:lpstr>
      <vt:lpstr>霍夫曼树的定义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例2（严题集6.26③）：假设用于通信的电文仅由8个字母 {a, b, c, d, e, f, g, h} 构成，它们在电文中出现的概率分别为{ 0.07, 0.19, 0.02, 0.06, 0.32, 0.03, 0.21, 0.10}，试为这8个字母设计哈夫曼编码。如果用0～7的二进制编码方案又如何？</vt:lpstr>
      <vt:lpstr>为清晰起见，重新排序为: w={2, 3, 6, 7, 10, 19, 21, 32}</vt:lpstr>
      <vt:lpstr>对应的哈夫曼编码（左0右1）：</vt:lpstr>
      <vt:lpstr>PowerPoint 演示文稿</vt:lpstr>
      <vt:lpstr>PowerPoint 演示文稿</vt:lpstr>
      <vt:lpstr>二叉树小结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河南大学计算机与信息工程学院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数据结构课件</dc:title>
  <dc:creator>张连堂</dc:creator>
  <cp:lastModifiedBy>裴前.贤hj</cp:lastModifiedBy>
  <cp:revision>245</cp:revision>
  <dcterms:created xsi:type="dcterms:W3CDTF">2002-10-11T06:23:00Z</dcterms:created>
  <dcterms:modified xsi:type="dcterms:W3CDTF">2024-11-27T14:40:32Z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924A9388B684495A925FE1375D3F6F2C_12</vt:lpwstr>
  </property>
  <property fmtid="{D5CDD505-2E9C-101B-9397-08002B2CF9AE}" pid="3" name="KSOProductBuildVer">
    <vt:lpwstr>2052-12.1.0.18912</vt:lpwstr>
  </property>
</Properties>
</file>