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61" r:id="rId3"/>
    <p:sldId id="270" r:id="rId4"/>
    <p:sldId id="325" r:id="rId5"/>
    <p:sldId id="321" r:id="rId6"/>
    <p:sldId id="275" r:id="rId7"/>
    <p:sldId id="380" r:id="rId8"/>
    <p:sldId id="358" r:id="rId9"/>
    <p:sldId id="381" r:id="rId10"/>
    <p:sldId id="382" r:id="rId11"/>
    <p:sldId id="383" r:id="rId12"/>
    <p:sldId id="327" r:id="rId13"/>
    <p:sldId id="331" r:id="rId14"/>
    <p:sldId id="386" r:id="rId15"/>
    <p:sldId id="330" r:id="rId16"/>
    <p:sldId id="387" r:id="rId17"/>
    <p:sldId id="336" r:id="rId18"/>
    <p:sldId id="334" r:id="rId19"/>
    <p:sldId id="350" r:id="rId20"/>
    <p:sldId id="323" r:id="rId21"/>
    <p:sldId id="538" r:id="rId22"/>
    <p:sldId id="539" r:id="rId23"/>
    <p:sldId id="540" r:id="rId24"/>
    <p:sldId id="541" r:id="rId25"/>
    <p:sldId id="490" r:id="rId26"/>
    <p:sldId id="492" r:id="rId27"/>
    <p:sldId id="493" r:id="rId29"/>
    <p:sldId id="328" r:id="rId30"/>
    <p:sldId id="392" r:id="rId31"/>
    <p:sldId id="393" r:id="rId32"/>
    <p:sldId id="394" r:id="rId33"/>
    <p:sldId id="395" r:id="rId34"/>
    <p:sldId id="396" r:id="rId35"/>
    <p:sldId id="337" r:id="rId36"/>
    <p:sldId id="338" r:id="rId37"/>
    <p:sldId id="339" r:id="rId38"/>
    <p:sldId id="340" r:id="rId39"/>
    <p:sldId id="341" r:id="rId40"/>
    <p:sldId id="543" r:id="rId41"/>
    <p:sldId id="285" r:id="rId42"/>
    <p:sldId id="286" r:id="rId43"/>
    <p:sldId id="788" r:id="rId44"/>
    <p:sldId id="357" r:id="rId45"/>
    <p:sldId id="789" r:id="rId46"/>
    <p:sldId id="584" r:id="rId47"/>
    <p:sldId id="446" r:id="rId48"/>
    <p:sldId id="362" r:id="rId49"/>
    <p:sldId id="363" r:id="rId50"/>
    <p:sldId id="364" r:id="rId51"/>
    <p:sldId id="401" r:id="rId52"/>
    <p:sldId id="365" r:id="rId53"/>
    <p:sldId id="366" r:id="rId54"/>
    <p:sldId id="367" r:id="rId55"/>
    <p:sldId id="368" r:id="rId56"/>
    <p:sldId id="369" r:id="rId57"/>
    <p:sldId id="370" r:id="rId58"/>
    <p:sldId id="371" r:id="rId59"/>
    <p:sldId id="372" r:id="rId60"/>
    <p:sldId id="373" r:id="rId61"/>
    <p:sldId id="374" r:id="rId62"/>
    <p:sldId id="375" r:id="rId63"/>
    <p:sldId id="376" r:id="rId64"/>
    <p:sldId id="377" r:id="rId65"/>
    <p:sldId id="436" r:id="rId66"/>
    <p:sldId id="437" r:id="rId67"/>
    <p:sldId id="438" r:id="rId68"/>
    <p:sldId id="439" r:id="rId69"/>
    <p:sldId id="424" r:id="rId70"/>
    <p:sldId id="425" r:id="rId71"/>
    <p:sldId id="378" r:id="rId72"/>
    <p:sldId id="409" r:id="rId73"/>
    <p:sldId id="410" r:id="rId74"/>
    <p:sldId id="411" r:id="rId7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CC"/>
    <a:srgbClr val="FF99FF"/>
    <a:srgbClr val="99CCFF"/>
    <a:srgbClr val="666699"/>
    <a:srgbClr val="FF00FF"/>
    <a:srgbClr val="0000FF"/>
    <a:srgbClr val="9966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43"/>
    <p:restoredTop sz="90929"/>
  </p:normalViewPr>
  <p:slideViewPr>
    <p:cSldViewPr snapToGrid="0" snapToObjects="1" showGuides="1">
      <p:cViewPr varScale="1">
        <p:scale>
          <a:sx n="61" d="100"/>
          <a:sy n="61" d="100"/>
        </p:scale>
        <p:origin x="7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hyperlink" Target="http://zh.wikipedia.org/wiki/%E6%95%B0%E6%8D%AE%E7%BB%93%E6%9E%84" TargetMode="External"/><Relationship Id="rId2" Type="http://schemas.openxmlformats.org/officeDocument/2006/relationships/hyperlink" Target="http://zh.wikipedia.org/wiki/%E6%A0%88" TargetMode="External"/><Relationship Id="rId1" Type="http://schemas.openxmlformats.org/officeDocument/2006/relationships/hyperlink" Target="http://zh.wikipedia.org/wiki/%E9%98%9F%E5%88%97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1905000" y="304800"/>
            <a:ext cx="5867400" cy="914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5050"/>
                </a:solidFill>
              </a:rPr>
              <a:t>数据结构课程的内容</a:t>
            </a:r>
            <a:endParaRPr lang="zh-CN" altLang="en-US" b="1" dirty="0">
              <a:solidFill>
                <a:srgbClr val="FF5050"/>
              </a:solidFill>
            </a:endParaRPr>
          </a:p>
        </p:txBody>
      </p:sp>
      <p:pic>
        <p:nvPicPr>
          <p:cNvPr id="7171" name="Picture 3" descr="数据结构内容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3" y="1219200"/>
            <a:ext cx="8370887" cy="510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AutoShape 5">
            <a:hlinkClick r:id="" action="ppaction://hlinkshowjump?jump=nextslide"/>
          </p:cNvPr>
          <p:cNvSpPr/>
          <p:nvPr/>
        </p:nvSpPr>
        <p:spPr>
          <a:xfrm>
            <a:off x="8001000" y="6096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1431925" y="1568450"/>
            <a:ext cx="3544888" cy="4198938"/>
            <a:chOff x="902" y="988"/>
            <a:chExt cx="2233" cy="2645"/>
          </a:xfrm>
        </p:grpSpPr>
        <p:sp>
          <p:nvSpPr>
            <p:cNvPr id="3091" name="AutoShape 7"/>
            <p:cNvSpPr/>
            <p:nvPr/>
          </p:nvSpPr>
          <p:spPr>
            <a:xfrm>
              <a:off x="902" y="1200"/>
              <a:ext cx="249" cy="2016"/>
            </a:xfrm>
            <a:prstGeom prst="leftBrace">
              <a:avLst>
                <a:gd name="adj1" fmla="val 67469"/>
                <a:gd name="adj2" fmla="val 50000"/>
              </a:avLst>
            </a:prstGeom>
            <a:noFill/>
            <a:ln w="635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3092" name="AutoShape 8"/>
            <p:cNvSpPr/>
            <p:nvPr/>
          </p:nvSpPr>
          <p:spPr>
            <a:xfrm>
              <a:off x="1966" y="988"/>
              <a:ext cx="102" cy="394"/>
            </a:xfrm>
            <a:prstGeom prst="leftBrace">
              <a:avLst>
                <a:gd name="adj1" fmla="val 32189"/>
                <a:gd name="adj2" fmla="val 50000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3093" name="AutoShape 9"/>
            <p:cNvSpPr/>
            <p:nvPr/>
          </p:nvSpPr>
          <p:spPr>
            <a:xfrm>
              <a:off x="2695" y="1679"/>
              <a:ext cx="125" cy="750"/>
            </a:xfrm>
            <a:prstGeom prst="leftBrace">
              <a:avLst>
                <a:gd name="adj1" fmla="val 50000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3094" name="AutoShape 10"/>
            <p:cNvSpPr/>
            <p:nvPr/>
          </p:nvSpPr>
          <p:spPr>
            <a:xfrm>
              <a:off x="3010" y="1180"/>
              <a:ext cx="125" cy="298"/>
            </a:xfrm>
            <a:prstGeom prst="leftBrace">
              <a:avLst>
                <a:gd name="adj1" fmla="val 19866"/>
                <a:gd name="adj2" fmla="val 48667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3095" name="AutoShape 11"/>
            <p:cNvSpPr/>
            <p:nvPr/>
          </p:nvSpPr>
          <p:spPr>
            <a:xfrm>
              <a:off x="1943" y="2693"/>
              <a:ext cx="125" cy="940"/>
            </a:xfrm>
            <a:prstGeom prst="leftBrace">
              <a:avLst>
                <a:gd name="adj1" fmla="val 62666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181" name="Line 13"/>
          <p:cNvSpPr/>
          <p:nvPr/>
        </p:nvSpPr>
        <p:spPr>
          <a:xfrm>
            <a:off x="5845175" y="1676400"/>
            <a:ext cx="1143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26"/>
          <p:cNvGrpSpPr/>
          <p:nvPr/>
        </p:nvGrpSpPr>
        <p:grpSpPr>
          <a:xfrm>
            <a:off x="1905000" y="1676400"/>
            <a:ext cx="3733800" cy="3733800"/>
            <a:chOff x="1200" y="1056"/>
            <a:chExt cx="2352" cy="2352"/>
          </a:xfrm>
        </p:grpSpPr>
        <p:sp>
          <p:nvSpPr>
            <p:cNvPr id="3081" name="Line 14"/>
            <p:cNvSpPr/>
            <p:nvPr/>
          </p:nvSpPr>
          <p:spPr>
            <a:xfrm>
              <a:off x="1200" y="1344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" name="Line 15"/>
            <p:cNvSpPr/>
            <p:nvPr/>
          </p:nvSpPr>
          <p:spPr>
            <a:xfrm>
              <a:off x="2112" y="1056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" name="Line 16"/>
            <p:cNvSpPr/>
            <p:nvPr/>
          </p:nvSpPr>
          <p:spPr>
            <a:xfrm>
              <a:off x="2976" y="1056"/>
              <a:ext cx="48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4" name="Line 17"/>
            <p:cNvSpPr/>
            <p:nvPr/>
          </p:nvSpPr>
          <p:spPr>
            <a:xfrm>
              <a:off x="1248" y="2256"/>
              <a:ext cx="1296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5" name="Line 18"/>
            <p:cNvSpPr/>
            <p:nvPr/>
          </p:nvSpPr>
          <p:spPr>
            <a:xfrm>
              <a:off x="2832" y="187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6" name="Line 19"/>
            <p:cNvSpPr/>
            <p:nvPr/>
          </p:nvSpPr>
          <p:spPr>
            <a:xfrm>
              <a:off x="2832" y="211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7" name="Line 20"/>
            <p:cNvSpPr/>
            <p:nvPr/>
          </p:nvSpPr>
          <p:spPr>
            <a:xfrm>
              <a:off x="2112" y="288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8" name="Line 21"/>
            <p:cNvSpPr/>
            <p:nvPr/>
          </p:nvSpPr>
          <p:spPr>
            <a:xfrm>
              <a:off x="2112" y="312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9" name="Line 22"/>
            <p:cNvSpPr/>
            <p:nvPr/>
          </p:nvSpPr>
          <p:spPr>
            <a:xfrm>
              <a:off x="2064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0" name="Line 23"/>
            <p:cNvSpPr/>
            <p:nvPr/>
          </p:nvSpPr>
          <p:spPr>
            <a:xfrm>
              <a:off x="1200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468313" y="1581150"/>
            <a:ext cx="4391025" cy="762000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0000FF"/>
                </a:solidFill>
              </a:rPr>
              <a:t>3.1    </a:t>
            </a:r>
            <a:r>
              <a:rPr lang="zh-CN" altLang="en-US" sz="4000" b="1" dirty="0">
                <a:solidFill>
                  <a:srgbClr val="0000FF"/>
                </a:solidFill>
              </a:rPr>
              <a:t>栈（</a:t>
            </a:r>
            <a:r>
              <a:rPr lang="en-US" altLang="zh-CN" sz="4000" b="1" dirty="0">
                <a:solidFill>
                  <a:srgbClr val="0000FF"/>
                </a:solidFill>
              </a:rPr>
              <a:t>Stack</a:t>
            </a:r>
            <a:r>
              <a:rPr lang="zh-CN" altLang="en-US" sz="4000" b="1" dirty="0">
                <a:solidFill>
                  <a:srgbClr val="0000FF"/>
                </a:solidFill>
              </a:rPr>
              <a:t>）</a:t>
            </a:r>
            <a:r>
              <a:rPr lang="zh-CN" altLang="en-US" sz="4400" b="1" dirty="0">
                <a:solidFill>
                  <a:schemeClr val="hlink"/>
                </a:solidFill>
              </a:rPr>
              <a:t> </a:t>
            </a:r>
            <a:endParaRPr lang="zh-CN" altLang="en-US" sz="4400" b="1" dirty="0">
              <a:solidFill>
                <a:schemeClr val="hlink"/>
              </a:solidFill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title"/>
          </p:nvPr>
        </p:nvSpPr>
        <p:spPr>
          <a:xfrm>
            <a:off x="381000" y="381000"/>
            <a:ext cx="7772400" cy="10382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第三章  栈和队列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4101" name="Rectangle 5"/>
          <p:cNvSpPr/>
          <p:nvPr/>
        </p:nvSpPr>
        <p:spPr>
          <a:xfrm>
            <a:off x="4397375" y="1581150"/>
            <a:ext cx="42576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0000FF"/>
                </a:solidFill>
              </a:rPr>
              <a:t>3.2    </a:t>
            </a:r>
            <a:r>
              <a:rPr lang="zh-CN" altLang="en-US" sz="4000" b="1" dirty="0">
                <a:solidFill>
                  <a:srgbClr val="0000FF"/>
                </a:solidFill>
              </a:rPr>
              <a:t>队列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Queue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9814" name="Rectangle 6"/>
          <p:cNvSpPr/>
          <p:nvPr/>
        </p:nvSpPr>
        <p:spPr>
          <a:xfrm>
            <a:off x="927100" y="2390775"/>
            <a:ext cx="2514600" cy="2759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3000" b="1" dirty="0"/>
              <a:t>1. </a:t>
            </a:r>
            <a:r>
              <a:rPr lang="zh-CN" altLang="en-US" sz="3000" b="1" dirty="0"/>
              <a:t>定义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2. </a:t>
            </a:r>
            <a:r>
              <a:rPr lang="zh-CN" altLang="en-US" sz="3000" b="1" dirty="0"/>
              <a:t>逻辑结构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3. </a:t>
            </a:r>
            <a:r>
              <a:rPr lang="zh-CN" altLang="en-US" sz="3000" b="1" dirty="0"/>
              <a:t>存储结构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4. </a:t>
            </a:r>
            <a:r>
              <a:rPr lang="zh-CN" altLang="en-US" sz="3000" b="1" dirty="0"/>
              <a:t>运算规则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5.  </a:t>
            </a:r>
            <a:r>
              <a:rPr lang="zh-CN" altLang="en-US" sz="3000" b="1" dirty="0"/>
              <a:t>实现方式</a:t>
            </a:r>
            <a:endParaRPr lang="zh-CN" altLang="en-US" sz="3000" b="1" dirty="0"/>
          </a:p>
        </p:txBody>
      </p:sp>
      <p:sp>
        <p:nvSpPr>
          <p:cNvPr id="119816" name="Rectangle 8"/>
          <p:cNvSpPr/>
          <p:nvPr/>
        </p:nvSpPr>
        <p:spPr>
          <a:xfrm>
            <a:off x="4859338" y="2390775"/>
            <a:ext cx="2514600" cy="27590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3000" b="1" dirty="0"/>
              <a:t>1. </a:t>
            </a:r>
            <a:r>
              <a:rPr lang="zh-CN" altLang="en-US" sz="3000" b="1" dirty="0"/>
              <a:t>定义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2. </a:t>
            </a:r>
            <a:r>
              <a:rPr lang="zh-CN" altLang="en-US" sz="3000" b="1" dirty="0"/>
              <a:t>逻辑结构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3. </a:t>
            </a:r>
            <a:r>
              <a:rPr lang="zh-CN" altLang="en-US" sz="3000" b="1" dirty="0"/>
              <a:t>存储结构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4. </a:t>
            </a:r>
            <a:r>
              <a:rPr lang="zh-CN" altLang="en-US" sz="3000" b="1" dirty="0"/>
              <a:t>运算规则</a:t>
            </a:r>
            <a:endParaRPr lang="zh-CN" altLang="en-US" sz="3000" b="1" dirty="0"/>
          </a:p>
          <a:p>
            <a:pPr marL="342900" lvl="0" indent="-342900" eaLnBrk="1" hangingPunct="1">
              <a:buNone/>
            </a:pPr>
            <a:r>
              <a:rPr lang="en-US" altLang="zh-CN" sz="3000" b="1" dirty="0"/>
              <a:t>5.  </a:t>
            </a:r>
            <a:r>
              <a:rPr lang="zh-CN" altLang="en-US" sz="3000" b="1" dirty="0"/>
              <a:t>实现方式</a:t>
            </a:r>
            <a:endParaRPr lang="zh-CN" altLang="en-US" sz="3000" b="1" dirty="0"/>
          </a:p>
        </p:txBody>
      </p:sp>
      <p:sp>
        <p:nvSpPr>
          <p:cNvPr id="119817" name="AutoShape 9">
            <a:hlinkClick r:id="" action="ppaction://hlinkshowjump?jump=nextslide"/>
          </p:cNvPr>
          <p:cNvSpPr/>
          <p:nvPr/>
        </p:nvSpPr>
        <p:spPr>
          <a:xfrm>
            <a:off x="8074025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/>
      <p:bldP spid="119816" grpId="0"/>
      <p:bldP spid="1198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7154" name="Rectangle 2"/>
          <p:cNvSpPr>
            <a:spLocks noGrp="1"/>
          </p:cNvSpPr>
          <p:nvPr>
            <p:ph type="title"/>
          </p:nvPr>
        </p:nvSpPr>
        <p:spPr>
          <a:xfrm>
            <a:off x="393700" y="560388"/>
            <a:ext cx="1558925" cy="712787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rgbClr val="0000FF"/>
                </a:solidFill>
                <a:ea typeface="楷体_GB2312"/>
              </a:rPr>
              <a:t>1.  </a:t>
            </a:r>
            <a:r>
              <a:rPr lang="zh-CN" altLang="en-US" sz="2800" b="1" dirty="0">
                <a:solidFill>
                  <a:srgbClr val="0000FF"/>
                </a:solidFill>
                <a:ea typeface="楷体_GB2312"/>
              </a:rPr>
              <a:t>定义</a:t>
            </a:r>
            <a:endParaRPr lang="zh-CN" altLang="en-US" sz="2800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5124" name="Rectangle 4"/>
          <p:cNvSpPr/>
          <p:nvPr/>
        </p:nvSpPr>
        <p:spPr>
          <a:xfrm>
            <a:off x="393700" y="66675"/>
            <a:ext cx="14033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/>
              </a:rPr>
              <a:t>3.1  </a:t>
            </a:r>
            <a:r>
              <a:rPr lang="zh-CN" altLang="en-US" b="1" dirty="0">
                <a:solidFill>
                  <a:srgbClr val="0000FF"/>
                </a:solidFill>
                <a:ea typeface="楷体_GB2312"/>
              </a:rPr>
              <a:t>栈</a:t>
            </a:r>
            <a:endParaRPr lang="zh-CN" altLang="en-US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177157" name="Rectangle 5"/>
          <p:cNvSpPr/>
          <p:nvPr/>
        </p:nvSpPr>
        <p:spPr>
          <a:xfrm>
            <a:off x="2505075" y="1554163"/>
            <a:ext cx="4826000" cy="425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与线性表相同，仍为一对一关系。</a:t>
            </a:r>
            <a:endParaRPr lang="zh-CN" altLang="en-US" sz="2400" b="1" dirty="0"/>
          </a:p>
        </p:txBody>
      </p:sp>
      <p:sp>
        <p:nvSpPr>
          <p:cNvPr id="177159" name="Rectangle 7"/>
          <p:cNvSpPr/>
          <p:nvPr/>
        </p:nvSpPr>
        <p:spPr>
          <a:xfrm>
            <a:off x="2520950" y="2266950"/>
            <a:ext cx="6359525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/>
              <a:t>用顺序栈或链栈存储均可，但以顺序栈更常见</a:t>
            </a:r>
            <a:endParaRPr lang="zh-CN" altLang="en-US" sz="2400" b="1" dirty="0"/>
          </a:p>
        </p:txBody>
      </p:sp>
      <p:sp>
        <p:nvSpPr>
          <p:cNvPr id="177160" name="Rectangle 8"/>
          <p:cNvSpPr/>
          <p:nvPr/>
        </p:nvSpPr>
        <p:spPr>
          <a:xfrm>
            <a:off x="2568575" y="3168650"/>
            <a:ext cx="63436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只能在栈顶运算，且访问结点时依照后进先出（</a:t>
            </a:r>
            <a:r>
              <a:rPr lang="en-US" altLang="zh-CN" sz="2400" b="1" dirty="0"/>
              <a:t>LIFO</a:t>
            </a:r>
            <a:r>
              <a:rPr lang="zh-CN" altLang="en-US" sz="2400" b="1" dirty="0"/>
              <a:t>）或先进后出（</a:t>
            </a:r>
            <a:r>
              <a:rPr lang="en-US" altLang="zh-CN" sz="2400" b="1" dirty="0"/>
              <a:t>FILO</a:t>
            </a:r>
            <a:r>
              <a:rPr lang="zh-CN" altLang="en-US" sz="2400" b="1" dirty="0"/>
              <a:t>）的原则。</a:t>
            </a:r>
            <a:endParaRPr lang="zh-CN" altLang="en-US" sz="2400" b="1" dirty="0"/>
          </a:p>
        </p:txBody>
      </p:sp>
      <p:sp>
        <p:nvSpPr>
          <p:cNvPr id="177168" name="Text Box 16"/>
          <p:cNvSpPr txBox="1"/>
          <p:nvPr/>
        </p:nvSpPr>
        <p:spPr>
          <a:xfrm>
            <a:off x="2606675" y="4225925"/>
            <a:ext cx="6005513" cy="173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关键是编写入栈和出栈函数，具体实现依顺序栈或链栈的不同而不同。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基本操作有入栈、出栈、读栈顶元素值、建栈、或判断栈满、栈空等。</a:t>
            </a:r>
            <a:endParaRPr lang="zh-CN" altLang="en-US" sz="2400" b="1" dirty="0"/>
          </a:p>
        </p:txBody>
      </p:sp>
      <p:grpSp>
        <p:nvGrpSpPr>
          <p:cNvPr id="2" name="Group 22"/>
          <p:cNvGrpSpPr/>
          <p:nvPr/>
        </p:nvGrpSpPr>
        <p:grpSpPr>
          <a:xfrm>
            <a:off x="336550" y="1425575"/>
            <a:ext cx="2270125" cy="3346450"/>
            <a:chOff x="198" y="871"/>
            <a:chExt cx="1430" cy="2108"/>
          </a:xfrm>
        </p:grpSpPr>
        <p:sp>
          <p:nvSpPr>
            <p:cNvPr id="5132" name="Rectangle 6"/>
            <p:cNvSpPr/>
            <p:nvPr/>
          </p:nvSpPr>
          <p:spPr>
            <a:xfrm>
              <a:off x="198" y="1320"/>
              <a:ext cx="1265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3. 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存储结构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5133" name="Rectangle 9"/>
            <p:cNvSpPr/>
            <p:nvPr/>
          </p:nvSpPr>
          <p:spPr>
            <a:xfrm>
              <a:off x="207" y="1996"/>
              <a:ext cx="123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4. 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运算规则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5134" name="Text Box 14"/>
            <p:cNvSpPr txBox="1"/>
            <p:nvPr/>
          </p:nvSpPr>
          <p:spPr>
            <a:xfrm>
              <a:off x="198" y="2652"/>
              <a:ext cx="14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5. 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实现方式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5" name="Rectangle 17"/>
            <p:cNvSpPr/>
            <p:nvPr/>
          </p:nvSpPr>
          <p:spPr>
            <a:xfrm>
              <a:off x="198" y="871"/>
              <a:ext cx="1253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2. 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逻辑结构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77170" name="Rectangle 18"/>
          <p:cNvSpPr/>
          <p:nvPr/>
        </p:nvSpPr>
        <p:spPr>
          <a:xfrm>
            <a:off x="2568575" y="560388"/>
            <a:ext cx="604361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限定只能在表的一端进行插入和删除运算的线性表（只能在栈顶操作）</a:t>
            </a:r>
            <a:endParaRPr lang="zh-CN" altLang="en-US" sz="2400" b="1" dirty="0"/>
          </a:p>
        </p:txBody>
      </p:sp>
      <p:sp>
        <p:nvSpPr>
          <p:cNvPr id="177171" name="AutoShape 19">
            <a:hlinkClick r:id="" action="ppaction://hlinkshowjump?jump=nextslide"/>
          </p:cNvPr>
          <p:cNvSpPr/>
          <p:nvPr/>
        </p:nvSpPr>
        <p:spPr>
          <a:xfrm>
            <a:off x="8074025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8">
                                            <p:txEl>
                                              <p:charRg st="3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/>
      <p:bldP spid="177157" grpId="0"/>
      <p:bldP spid="177159" grpId="0"/>
      <p:bldP spid="177160" grpId="0"/>
      <p:bldP spid="177168" grpId="0" build="p"/>
      <p:bldP spid="177170" grpId="0"/>
      <p:bldP spid="1771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3058" name="Rectangle 2"/>
          <p:cNvSpPr>
            <a:spLocks noGrp="1"/>
          </p:cNvSpPr>
          <p:nvPr>
            <p:ph type="title"/>
          </p:nvPr>
        </p:nvSpPr>
        <p:spPr>
          <a:xfrm>
            <a:off x="393700" y="760413"/>
            <a:ext cx="8324850" cy="595312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问：堆栈是什么？它与一般线性表有什么不同？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148" name="Rectangle 5"/>
          <p:cNvSpPr/>
          <p:nvPr/>
        </p:nvSpPr>
        <p:spPr>
          <a:xfrm>
            <a:off x="152400" y="92075"/>
            <a:ext cx="14033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/>
              </a:rPr>
              <a:t>3.1  </a:t>
            </a:r>
            <a:r>
              <a:rPr lang="zh-CN" altLang="en-US" b="1" dirty="0">
                <a:solidFill>
                  <a:srgbClr val="0000FF"/>
                </a:solidFill>
                <a:ea typeface="楷体_GB2312"/>
              </a:rPr>
              <a:t>栈</a:t>
            </a:r>
            <a:endParaRPr lang="zh-CN" altLang="en-US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173075" name="Rectangle 19"/>
          <p:cNvSpPr/>
          <p:nvPr/>
        </p:nvSpPr>
        <p:spPr>
          <a:xfrm>
            <a:off x="442913" y="1419225"/>
            <a:ext cx="827563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答：</a:t>
            </a:r>
            <a:r>
              <a:rPr lang="zh-CN" altLang="en-US" sz="2800" b="1" dirty="0">
                <a:ea typeface="楷体_GB2312"/>
              </a:rPr>
              <a:t>堆栈是一种特殊的线性表，它只能在表的一端（即栈顶）进行插入和删除运算。</a:t>
            </a:r>
            <a:endParaRPr lang="zh-CN" altLang="en-US" sz="28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/>
              </a:rPr>
              <a:t>        与一般线性表的区别：仅在于运算规则不同。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173076" name="Rectangle 20"/>
          <p:cNvSpPr/>
          <p:nvPr/>
        </p:nvSpPr>
        <p:spPr>
          <a:xfrm>
            <a:off x="393700" y="2873375"/>
            <a:ext cx="8561388" cy="1679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一般线性表                                             堆栈</a:t>
            </a:r>
            <a:endParaRPr lang="zh-CN" altLang="en-US" sz="26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chemeClr val="tx2"/>
                </a:solidFill>
              </a:rPr>
              <a:t>逻辑结构：一对一                     逻辑结构：一对一</a:t>
            </a:r>
            <a:endParaRPr lang="zh-CN" altLang="en-US" sz="26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chemeClr val="tx2"/>
                </a:solidFill>
              </a:rPr>
              <a:t>存储结构：顺序表、链表         存储结构：顺序栈、链栈</a:t>
            </a:r>
            <a:endParaRPr lang="zh-CN" altLang="en-US" sz="26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chemeClr val="tx2"/>
                </a:solidFill>
              </a:rPr>
              <a:t>运算规则：随机存取                 运算规则：后进先出</a:t>
            </a:r>
            <a:r>
              <a:rPr lang="en-US" altLang="zh-CN" sz="2600" b="1" dirty="0">
                <a:solidFill>
                  <a:schemeClr val="tx2"/>
                </a:solidFill>
              </a:rPr>
              <a:t>(LIFO)</a:t>
            </a:r>
            <a:endParaRPr lang="en-US" altLang="zh-CN" sz="2600" b="1" dirty="0">
              <a:solidFill>
                <a:schemeClr val="tx2"/>
              </a:solidFill>
            </a:endParaRPr>
          </a:p>
        </p:txBody>
      </p:sp>
      <p:sp>
        <p:nvSpPr>
          <p:cNvPr id="173082" name="AutoShape 26">
            <a:hlinkClick r:id="" action="ppaction://hlinkshowjump?jump=nextslide"/>
          </p:cNvPr>
          <p:cNvSpPr/>
          <p:nvPr/>
        </p:nvSpPr>
        <p:spPr>
          <a:xfrm>
            <a:off x="799465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73083" name="Rectangle 27"/>
          <p:cNvSpPr/>
          <p:nvPr/>
        </p:nvSpPr>
        <p:spPr>
          <a:xfrm>
            <a:off x="3814763" y="4635500"/>
            <a:ext cx="3832225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b="1" dirty="0">
                <a:solidFill>
                  <a:srgbClr val="0000FF"/>
                </a:solidFill>
              </a:rPr>
              <a:t>“</a:t>
            </a:r>
            <a:r>
              <a:rPr lang="zh-CN" altLang="en-US" sz="2600" b="1" dirty="0">
                <a:solidFill>
                  <a:srgbClr val="0000FF"/>
                </a:solidFill>
              </a:rPr>
              <a:t>进” ＝压入</a:t>
            </a:r>
            <a:r>
              <a:rPr lang="en-US" altLang="zh-CN" sz="2600" b="1" dirty="0">
                <a:solidFill>
                  <a:srgbClr val="0000FF"/>
                </a:solidFill>
              </a:rPr>
              <a:t>=PUSH</a:t>
            </a:r>
            <a:r>
              <a:rPr lang="zh-CN" altLang="en-US" sz="2600" b="1" dirty="0">
                <a:solidFill>
                  <a:srgbClr val="0000FF"/>
                </a:solidFill>
              </a:rPr>
              <a:t>（</a:t>
            </a:r>
            <a:r>
              <a:rPr lang="en-US" altLang="zh-CN" sz="2600" b="1" dirty="0">
                <a:solidFill>
                  <a:srgbClr val="0000FF"/>
                </a:solidFill>
              </a:rPr>
              <a:t>x)</a:t>
            </a:r>
            <a:endParaRPr lang="en-US" altLang="zh-CN" sz="26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600" b="1" dirty="0">
                <a:solidFill>
                  <a:srgbClr val="0000FF"/>
                </a:solidFill>
              </a:rPr>
              <a:t>“</a:t>
            </a:r>
            <a:r>
              <a:rPr lang="zh-CN" altLang="en-US" sz="2600" b="1" dirty="0">
                <a:solidFill>
                  <a:srgbClr val="0000FF"/>
                </a:solidFill>
              </a:rPr>
              <a:t>出” ＝弹出</a:t>
            </a:r>
            <a:r>
              <a:rPr lang="en-US" altLang="zh-CN" sz="2600" b="1" dirty="0">
                <a:solidFill>
                  <a:srgbClr val="0000FF"/>
                </a:solidFill>
              </a:rPr>
              <a:t>=POP ( y )</a:t>
            </a:r>
            <a:endParaRPr lang="en-US" altLang="zh-CN" sz="2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5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5">
                                            <p:txEl>
                                              <p:charRg st="3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6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6">
                                            <p:txEl>
                                              <p:charRg st="5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6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6">
                                            <p:txEl>
                                              <p:charRg st="12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/>
      <p:bldP spid="173075" grpId="0" build="p"/>
      <p:bldP spid="173076" grpId="0" build="p"/>
      <p:bldP spid="173082" grpId="0" animBg="1"/>
      <p:bldP spid="1730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4930" name="Text Box 2"/>
          <p:cNvSpPr txBox="1"/>
          <p:nvPr/>
        </p:nvSpPr>
        <p:spPr>
          <a:xfrm>
            <a:off x="481013" y="1346200"/>
            <a:ext cx="7834312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栈 是仅在</a:t>
            </a:r>
            <a:r>
              <a:rPr lang="zh-CN" altLang="en-US" sz="2400" b="1" dirty="0">
                <a:ea typeface="黑体" panose="02010609060101010101" pitchFamily="49" charset="-122"/>
              </a:rPr>
              <a:t>表尾</a:t>
            </a:r>
            <a:r>
              <a:rPr lang="zh-CN" altLang="en-US" sz="2400" b="1" dirty="0"/>
              <a:t>进行插入、删除操作的线性表。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表尾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即 </a:t>
            </a:r>
            <a:r>
              <a:rPr lang="en-US" altLang="zh-CN" sz="2400" b="1" dirty="0"/>
              <a:t>a</a:t>
            </a:r>
            <a:r>
              <a:rPr lang="en-US" altLang="zh-CN" sz="2400" b="1" baseline="-10000" dirty="0"/>
              <a:t>n </a:t>
            </a:r>
            <a:r>
              <a:rPr lang="zh-CN" altLang="en-US" sz="2400" b="1" dirty="0"/>
              <a:t>端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称为</a:t>
            </a:r>
            <a:r>
              <a:rPr lang="zh-CN" altLang="en-US" sz="2400" b="1" dirty="0">
                <a:ea typeface="黑体" panose="02010609060101010101" pitchFamily="49" charset="-122"/>
              </a:rPr>
              <a:t>栈顶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top ;   </a:t>
            </a:r>
            <a:r>
              <a:rPr lang="zh-CN" altLang="en-US" sz="2400" b="1" dirty="0"/>
              <a:t>表头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即 </a:t>
            </a:r>
            <a:r>
              <a:rPr lang="en-US" altLang="zh-CN" sz="2400" b="1" dirty="0"/>
              <a:t>a</a:t>
            </a:r>
            <a:r>
              <a:rPr lang="en-US" altLang="zh-CN" sz="2400" b="1" baseline="-12000" dirty="0"/>
              <a:t>1 </a:t>
            </a:r>
            <a:r>
              <a:rPr lang="zh-CN" altLang="en-US" sz="2400" b="1" dirty="0"/>
              <a:t>端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称为</a:t>
            </a:r>
            <a:r>
              <a:rPr lang="zh-CN" altLang="en-US" sz="2400" b="1" dirty="0">
                <a:ea typeface="黑体" panose="02010609060101010101" pitchFamily="49" charset="-122"/>
              </a:rPr>
              <a:t>栈底</a:t>
            </a:r>
            <a:r>
              <a:rPr lang="en-US" altLang="zh-CN" sz="2400" b="1" dirty="0"/>
              <a:t>base</a:t>
            </a:r>
            <a:endParaRPr lang="en-US" altLang="zh-CN" sz="2400" b="1" dirty="0"/>
          </a:p>
        </p:txBody>
      </p:sp>
      <p:sp>
        <p:nvSpPr>
          <p:cNvPr id="124931" name="Text Box 3"/>
          <p:cNvSpPr txBox="1"/>
          <p:nvPr/>
        </p:nvSpPr>
        <p:spPr>
          <a:xfrm>
            <a:off x="1076325" y="2424113"/>
            <a:ext cx="64770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例如： 栈  </a:t>
            </a:r>
            <a:r>
              <a:rPr lang="en-US" altLang="zh-CN" sz="2400" b="1" dirty="0">
                <a:solidFill>
                  <a:srgbClr val="0000FF"/>
                </a:solidFill>
              </a:rPr>
              <a:t>s= (a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  , 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2  , 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3  , ……….,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n-1   ,  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n </a:t>
            </a:r>
            <a:r>
              <a:rPr lang="en-US" altLang="zh-CN" sz="2400" b="1" dirty="0">
                <a:solidFill>
                  <a:srgbClr val="0000FF"/>
                </a:solidFill>
              </a:rPr>
              <a:t>)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124932" name="Line 4"/>
          <p:cNvSpPr/>
          <p:nvPr/>
        </p:nvSpPr>
        <p:spPr>
          <a:xfrm>
            <a:off x="3209925" y="2916238"/>
            <a:ext cx="0" cy="30480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24933" name="Line 5"/>
          <p:cNvSpPr/>
          <p:nvPr/>
        </p:nvSpPr>
        <p:spPr>
          <a:xfrm>
            <a:off x="6105525" y="2916238"/>
            <a:ext cx="0" cy="38100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24934" name="Text Box 6"/>
          <p:cNvSpPr txBox="1"/>
          <p:nvPr/>
        </p:nvSpPr>
        <p:spPr>
          <a:xfrm>
            <a:off x="1609725" y="3311525"/>
            <a:ext cx="701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    a</a:t>
            </a:r>
            <a:r>
              <a:rPr lang="en-US" altLang="zh-CN" sz="2400" b="1" baseline="-12000" dirty="0">
                <a:solidFill>
                  <a:srgbClr val="0000FF"/>
                </a:solidFill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</a:rPr>
              <a:t>称为 栈底元素</a:t>
            </a:r>
            <a:r>
              <a:rPr lang="zh-CN" altLang="en-US" sz="2400" b="1" baseline="-12000" dirty="0">
                <a:solidFill>
                  <a:srgbClr val="0000FF"/>
                </a:solidFill>
              </a:rPr>
              <a:t>        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baseline="-8000" dirty="0">
                <a:solidFill>
                  <a:srgbClr val="0000FF"/>
                </a:solidFill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</a:rPr>
              <a:t>称为 栈顶元素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24935" name="Text Box 7"/>
          <p:cNvSpPr txBox="1"/>
          <p:nvPr/>
        </p:nvSpPr>
        <p:spPr>
          <a:xfrm>
            <a:off x="481013" y="4081463"/>
            <a:ext cx="7834312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插入元素到</a:t>
            </a:r>
            <a:r>
              <a:rPr lang="zh-CN" altLang="en-US" sz="2400" b="1" dirty="0">
                <a:solidFill>
                  <a:schemeClr val="tx2"/>
                </a:solidFill>
              </a:rPr>
              <a:t>栈顶</a:t>
            </a:r>
            <a:r>
              <a:rPr lang="zh-CN" altLang="en-US" sz="2400" b="1" dirty="0"/>
              <a:t>（即表尾）的操作，称为</a:t>
            </a:r>
            <a:r>
              <a:rPr lang="zh-CN" altLang="en-US" sz="2400" b="1" dirty="0">
                <a:solidFill>
                  <a:schemeClr val="tx2"/>
                </a:solidFill>
              </a:rPr>
              <a:t>入栈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从</a:t>
            </a:r>
            <a:r>
              <a:rPr lang="zh-CN" altLang="en-US" sz="2400" b="1" dirty="0">
                <a:solidFill>
                  <a:schemeClr val="tx2"/>
                </a:solidFill>
              </a:rPr>
              <a:t>栈顶</a:t>
            </a:r>
            <a:r>
              <a:rPr lang="zh-CN" altLang="en-US" sz="2400" b="1" dirty="0"/>
              <a:t>（即表尾）删除最后一个元素的操作，称为</a:t>
            </a:r>
            <a:r>
              <a:rPr lang="zh-CN" altLang="en-US" sz="2400" b="1" dirty="0">
                <a:solidFill>
                  <a:schemeClr val="tx2"/>
                </a:solidFill>
              </a:rPr>
              <a:t>出栈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124938" name="Rectangle 10"/>
          <p:cNvSpPr>
            <a:spLocks noGrp="1"/>
          </p:cNvSpPr>
          <p:nvPr>
            <p:ph type="title"/>
          </p:nvPr>
        </p:nvSpPr>
        <p:spPr>
          <a:xfrm>
            <a:off x="481013" y="457200"/>
            <a:ext cx="6061075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P44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有更详细定义：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9" name="Rectangle 11"/>
          <p:cNvSpPr/>
          <p:nvPr/>
        </p:nvSpPr>
        <p:spPr>
          <a:xfrm>
            <a:off x="754063" y="5359400"/>
            <a:ext cx="7561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强调：</a:t>
            </a:r>
            <a:r>
              <a:rPr lang="zh-CN" altLang="en-US" sz="2400" b="1" i="1" dirty="0">
                <a:solidFill>
                  <a:srgbClr val="FF0000"/>
                </a:solidFill>
              </a:rPr>
              <a:t>插入和删除都只能在表的一端（栈顶）进行！</a:t>
            </a:r>
            <a:endParaRPr lang="zh-CN" alt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24940" name="AutoShape 12">
            <a:hlinkClick r:id="" action="ppaction://hlinkshowjump?jump=nextslide"/>
          </p:cNvPr>
          <p:cNvSpPr/>
          <p:nvPr/>
        </p:nvSpPr>
        <p:spPr>
          <a:xfrm>
            <a:off x="81534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5">
                                            <p:txEl>
                                              <p:charRg st="2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124931" grpId="0"/>
      <p:bldP spid="124934" grpId="0"/>
      <p:bldP spid="124935" grpId="0" build="p"/>
      <p:bldP spid="124938" grpId="0"/>
      <p:bldP spid="124939" grpId="0"/>
      <p:bldP spid="1249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5" name="Rectangle 4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/>
              <a:t>栈的表示和实现</a:t>
            </a:r>
            <a:endParaRPr lang="zh-CN" altLang="en-US" sz="3600" b="1" dirty="0"/>
          </a:p>
        </p:txBody>
      </p:sp>
      <p:sp>
        <p:nvSpPr>
          <p:cNvPr id="8196" name="Rectangle 5"/>
          <p:cNvSpPr>
            <a:spLocks noGrp="1"/>
          </p:cNvSpPr>
          <p:nvPr>
            <p:ph idx="1"/>
          </p:nvPr>
        </p:nvSpPr>
        <p:spPr>
          <a:xfrm>
            <a:off x="609600" y="1066800"/>
            <a:ext cx="80010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顺序栈：栈的顺序存储结构，利用一组地址连续的存储单元依次存放自栈底到栈顶的数据元素，指针</a:t>
            </a:r>
            <a:r>
              <a:rPr lang="en-US" altLang="zh-CN" sz="2800" b="1" dirty="0"/>
              <a:t>top</a:t>
            </a:r>
            <a:r>
              <a:rPr lang="zh-CN" altLang="en-US" sz="2800" b="1" dirty="0"/>
              <a:t>指向栈顶元素在顺序栈中的下一个位置，</a:t>
            </a:r>
            <a:endParaRPr lang="zh-CN" altLang="en-US" sz="2800" b="1" dirty="0"/>
          </a:p>
          <a:p>
            <a:pPr eaLnBrk="1" hangingPunct="1"/>
            <a:r>
              <a:rPr lang="zh-CN" altLang="en-US" b="1" dirty="0"/>
              <a:t>	</a:t>
            </a:r>
            <a:r>
              <a:rPr lang="en-US" altLang="zh-CN" sz="2800" b="1" dirty="0">
                <a:solidFill>
                  <a:srgbClr val="C00000"/>
                </a:solidFill>
              </a:rPr>
              <a:t>base</a:t>
            </a:r>
            <a:r>
              <a:rPr lang="zh-CN" altLang="en-US" sz="2800" b="1" dirty="0">
                <a:solidFill>
                  <a:srgbClr val="C00000"/>
                </a:solidFill>
              </a:rPr>
              <a:t>为栈底指针，指向栈底的位置。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8197" name="Text Box 6"/>
          <p:cNvSpPr txBox="1"/>
          <p:nvPr/>
        </p:nvSpPr>
        <p:spPr>
          <a:xfrm>
            <a:off x="100013" y="4891088"/>
            <a:ext cx="760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base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8198" name="Text Box 8"/>
          <p:cNvSpPr txBox="1"/>
          <p:nvPr/>
        </p:nvSpPr>
        <p:spPr>
          <a:xfrm>
            <a:off x="1317625" y="5410200"/>
            <a:ext cx="9064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隶书" panose="02010509060101010101" pitchFamily="49" charset="-122"/>
              </a:rPr>
              <a:t>空栈</a:t>
            </a:r>
            <a:endParaRPr lang="zh-CN" altLang="en-US" sz="2800" b="1" dirty="0">
              <a:solidFill>
                <a:srgbClr val="003366"/>
              </a:solidFill>
              <a:ea typeface="隶书" panose="02010509060101010101" pitchFamily="49" charset="-122"/>
            </a:endParaRPr>
          </a:p>
        </p:txBody>
      </p:sp>
      <p:sp>
        <p:nvSpPr>
          <p:cNvPr id="8199" name="Text Box 9"/>
          <p:cNvSpPr txBox="1"/>
          <p:nvPr/>
        </p:nvSpPr>
        <p:spPr>
          <a:xfrm>
            <a:off x="3908425" y="5414963"/>
            <a:ext cx="11620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003366"/>
                </a:solidFill>
                <a:ea typeface="隶书" panose="02010509060101010101" pitchFamily="49" charset="-122"/>
              </a:rPr>
              <a:t>a </a:t>
            </a:r>
            <a:r>
              <a:rPr lang="zh-CN" altLang="en-US" sz="2800" dirty="0">
                <a:solidFill>
                  <a:srgbClr val="003366"/>
                </a:solidFill>
                <a:ea typeface="隶书" panose="02010509060101010101" pitchFamily="49" charset="-122"/>
              </a:rPr>
              <a:t>进栈</a:t>
            </a:r>
            <a:endParaRPr lang="zh-CN" altLang="en-US" sz="2400" dirty="0">
              <a:solidFill>
                <a:srgbClr val="003366"/>
              </a:solidFill>
            </a:endParaRPr>
          </a:p>
        </p:txBody>
      </p:sp>
      <p:sp>
        <p:nvSpPr>
          <p:cNvPr id="8200" name="Text Box 10"/>
          <p:cNvSpPr txBox="1"/>
          <p:nvPr/>
        </p:nvSpPr>
        <p:spPr>
          <a:xfrm>
            <a:off x="6357938" y="5414963"/>
            <a:ext cx="11620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003366"/>
                </a:solidFill>
                <a:ea typeface="隶书" panose="02010509060101010101" pitchFamily="49" charset="-122"/>
              </a:rPr>
              <a:t>b </a:t>
            </a:r>
            <a:r>
              <a:rPr lang="zh-CN" altLang="en-US" sz="2800" dirty="0">
                <a:solidFill>
                  <a:srgbClr val="003366"/>
                </a:solidFill>
                <a:ea typeface="隶书" panose="02010509060101010101" pitchFamily="49" charset="-122"/>
              </a:rPr>
              <a:t>进栈</a:t>
            </a:r>
            <a:endParaRPr lang="zh-CN" altLang="en-US" sz="2800" dirty="0">
              <a:solidFill>
                <a:srgbClr val="003366"/>
              </a:solidFill>
              <a:ea typeface="隶书" panose="02010509060101010101" pitchFamily="49" charset="-122"/>
            </a:endParaRPr>
          </a:p>
        </p:txBody>
      </p:sp>
      <p:sp>
        <p:nvSpPr>
          <p:cNvPr id="8201" name="Rectangle 11"/>
          <p:cNvSpPr/>
          <p:nvPr/>
        </p:nvSpPr>
        <p:spPr>
          <a:xfrm>
            <a:off x="1303338" y="3910013"/>
            <a:ext cx="1100137" cy="1363662"/>
          </a:xfrm>
          <a:prstGeom prst="rect">
            <a:avLst/>
          </a:prstGeom>
          <a:solidFill>
            <a:srgbClr val="FF99FF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202" name="Line 12"/>
          <p:cNvSpPr/>
          <p:nvPr/>
        </p:nvSpPr>
        <p:spPr>
          <a:xfrm>
            <a:off x="1328738" y="4943475"/>
            <a:ext cx="10239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3" name="Line 13"/>
          <p:cNvSpPr/>
          <p:nvPr/>
        </p:nvSpPr>
        <p:spPr>
          <a:xfrm flipV="1">
            <a:off x="2352675" y="4833938"/>
            <a:ext cx="158750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4" name="Line 14"/>
          <p:cNvSpPr/>
          <p:nvPr/>
        </p:nvSpPr>
        <p:spPr>
          <a:xfrm flipV="1">
            <a:off x="2352675" y="4000500"/>
            <a:ext cx="184150" cy="123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5" name="Line 15"/>
          <p:cNvSpPr/>
          <p:nvPr/>
        </p:nvSpPr>
        <p:spPr>
          <a:xfrm>
            <a:off x="1328738" y="4397375"/>
            <a:ext cx="10239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6" name="Line 16"/>
          <p:cNvSpPr/>
          <p:nvPr/>
        </p:nvSpPr>
        <p:spPr>
          <a:xfrm flipV="1">
            <a:off x="2352675" y="4297363"/>
            <a:ext cx="184150" cy="1000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7" name="Line 17"/>
          <p:cNvSpPr/>
          <p:nvPr/>
        </p:nvSpPr>
        <p:spPr>
          <a:xfrm>
            <a:off x="1328738" y="4670425"/>
            <a:ext cx="10239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8" name="Line 18"/>
          <p:cNvSpPr/>
          <p:nvPr/>
        </p:nvSpPr>
        <p:spPr>
          <a:xfrm flipV="1">
            <a:off x="2352675" y="4594225"/>
            <a:ext cx="18415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9" name="Line 19"/>
          <p:cNvSpPr/>
          <p:nvPr/>
        </p:nvSpPr>
        <p:spPr>
          <a:xfrm>
            <a:off x="860425" y="5114925"/>
            <a:ext cx="392113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10" name="Line 20"/>
          <p:cNvSpPr/>
          <p:nvPr/>
        </p:nvSpPr>
        <p:spPr>
          <a:xfrm>
            <a:off x="3527425" y="4743450"/>
            <a:ext cx="390525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11" name="Rectangle 21"/>
          <p:cNvSpPr/>
          <p:nvPr/>
        </p:nvSpPr>
        <p:spPr>
          <a:xfrm>
            <a:off x="3851275" y="3851275"/>
            <a:ext cx="1025525" cy="1363663"/>
          </a:xfrm>
          <a:prstGeom prst="rect">
            <a:avLst/>
          </a:prstGeom>
          <a:solidFill>
            <a:srgbClr val="FF99FF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212" name="Line 22"/>
          <p:cNvSpPr/>
          <p:nvPr/>
        </p:nvSpPr>
        <p:spPr>
          <a:xfrm>
            <a:off x="3851275" y="494347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3" name="Line 23"/>
          <p:cNvSpPr/>
          <p:nvPr/>
        </p:nvSpPr>
        <p:spPr>
          <a:xfrm flipV="1">
            <a:off x="4876800" y="483393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4" name="Line 24"/>
          <p:cNvSpPr/>
          <p:nvPr/>
        </p:nvSpPr>
        <p:spPr>
          <a:xfrm>
            <a:off x="3851275" y="412432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5" name="Line 25"/>
          <p:cNvSpPr/>
          <p:nvPr/>
        </p:nvSpPr>
        <p:spPr>
          <a:xfrm flipV="1">
            <a:off x="4876800" y="401478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6" name="Line 26"/>
          <p:cNvSpPr/>
          <p:nvPr/>
        </p:nvSpPr>
        <p:spPr>
          <a:xfrm>
            <a:off x="3851275" y="439737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7" name="Line 27"/>
          <p:cNvSpPr/>
          <p:nvPr/>
        </p:nvSpPr>
        <p:spPr>
          <a:xfrm flipV="1">
            <a:off x="4876800" y="428783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8" name="Line 28"/>
          <p:cNvSpPr/>
          <p:nvPr/>
        </p:nvSpPr>
        <p:spPr>
          <a:xfrm>
            <a:off x="3851275" y="467042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9" name="Line 29"/>
          <p:cNvSpPr/>
          <p:nvPr/>
        </p:nvSpPr>
        <p:spPr>
          <a:xfrm flipV="1">
            <a:off x="4876800" y="456088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0" name="Line 30"/>
          <p:cNvSpPr/>
          <p:nvPr/>
        </p:nvSpPr>
        <p:spPr>
          <a:xfrm>
            <a:off x="5965825" y="4519613"/>
            <a:ext cx="315913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21" name="Rectangle 31"/>
          <p:cNvSpPr/>
          <p:nvPr/>
        </p:nvSpPr>
        <p:spPr>
          <a:xfrm>
            <a:off x="6375400" y="3851275"/>
            <a:ext cx="1025525" cy="1363663"/>
          </a:xfrm>
          <a:prstGeom prst="rect">
            <a:avLst/>
          </a:prstGeom>
          <a:solidFill>
            <a:srgbClr val="FF99FF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222" name="Line 32"/>
          <p:cNvSpPr/>
          <p:nvPr/>
        </p:nvSpPr>
        <p:spPr>
          <a:xfrm>
            <a:off x="6375400" y="494347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3" name="Line 33"/>
          <p:cNvSpPr/>
          <p:nvPr/>
        </p:nvSpPr>
        <p:spPr>
          <a:xfrm flipV="1">
            <a:off x="7400925" y="483393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4" name="Line 34"/>
          <p:cNvSpPr/>
          <p:nvPr/>
        </p:nvSpPr>
        <p:spPr>
          <a:xfrm>
            <a:off x="6375400" y="412432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5" name="Line 35"/>
          <p:cNvSpPr/>
          <p:nvPr/>
        </p:nvSpPr>
        <p:spPr>
          <a:xfrm flipV="1">
            <a:off x="7400925" y="401478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6" name="Line 36"/>
          <p:cNvSpPr/>
          <p:nvPr/>
        </p:nvSpPr>
        <p:spPr>
          <a:xfrm>
            <a:off x="6375400" y="439737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7" name="Line 37"/>
          <p:cNvSpPr/>
          <p:nvPr/>
        </p:nvSpPr>
        <p:spPr>
          <a:xfrm flipV="1">
            <a:off x="7400925" y="428783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8" name="Line 38"/>
          <p:cNvSpPr/>
          <p:nvPr/>
        </p:nvSpPr>
        <p:spPr>
          <a:xfrm>
            <a:off x="6375400" y="4670425"/>
            <a:ext cx="1025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9" name="Line 39"/>
          <p:cNvSpPr/>
          <p:nvPr/>
        </p:nvSpPr>
        <p:spPr>
          <a:xfrm flipV="1">
            <a:off x="7400925" y="4560888"/>
            <a:ext cx="157163" cy="109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0" name="Text Box 40"/>
          <p:cNvSpPr txBox="1"/>
          <p:nvPr/>
        </p:nvSpPr>
        <p:spPr>
          <a:xfrm>
            <a:off x="4187825" y="484346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FFCC"/>
                </a:solidFill>
              </a:rPr>
              <a:t>a</a:t>
            </a:r>
            <a:endParaRPr lang="en-US" altLang="zh-CN" sz="2400" dirty="0"/>
          </a:p>
        </p:txBody>
      </p:sp>
      <p:sp>
        <p:nvSpPr>
          <p:cNvPr id="8231" name="Text Box 41"/>
          <p:cNvSpPr txBox="1"/>
          <p:nvPr/>
        </p:nvSpPr>
        <p:spPr>
          <a:xfrm>
            <a:off x="6710363" y="484346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FFCC"/>
                </a:solidFill>
              </a:rPr>
              <a:t>a</a:t>
            </a:r>
            <a:endParaRPr lang="en-US" altLang="zh-CN" sz="2400" dirty="0"/>
          </a:p>
        </p:txBody>
      </p:sp>
      <p:sp>
        <p:nvSpPr>
          <p:cNvPr id="8232" name="Text Box 42"/>
          <p:cNvSpPr txBox="1"/>
          <p:nvPr/>
        </p:nvSpPr>
        <p:spPr>
          <a:xfrm>
            <a:off x="6727825" y="4519613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FFCC"/>
                </a:solidFill>
              </a:rPr>
              <a:t>b</a:t>
            </a:r>
            <a:endParaRPr lang="en-US" altLang="zh-CN" sz="2400" dirty="0"/>
          </a:p>
        </p:txBody>
      </p:sp>
      <p:sp>
        <p:nvSpPr>
          <p:cNvPr id="8233" name="Text Box 43"/>
          <p:cNvSpPr txBox="1"/>
          <p:nvPr/>
        </p:nvSpPr>
        <p:spPr>
          <a:xfrm>
            <a:off x="228600" y="4519613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top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8234" name="Line 44"/>
          <p:cNvSpPr/>
          <p:nvPr/>
        </p:nvSpPr>
        <p:spPr>
          <a:xfrm>
            <a:off x="860425" y="4965700"/>
            <a:ext cx="392113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35" name="Line 45"/>
          <p:cNvSpPr/>
          <p:nvPr/>
        </p:nvSpPr>
        <p:spPr>
          <a:xfrm>
            <a:off x="1317625" y="4148138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6" name="Text Box 46"/>
          <p:cNvSpPr txBox="1"/>
          <p:nvPr/>
        </p:nvSpPr>
        <p:spPr>
          <a:xfrm>
            <a:off x="2689225" y="4818063"/>
            <a:ext cx="760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base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8237" name="Line 47"/>
          <p:cNvSpPr/>
          <p:nvPr/>
        </p:nvSpPr>
        <p:spPr>
          <a:xfrm>
            <a:off x="3451225" y="5114925"/>
            <a:ext cx="392113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38" name="Text Box 48"/>
          <p:cNvSpPr txBox="1"/>
          <p:nvPr/>
        </p:nvSpPr>
        <p:spPr>
          <a:xfrm>
            <a:off x="2841625" y="4519613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top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8239" name="Text Box 49"/>
          <p:cNvSpPr txBox="1"/>
          <p:nvPr/>
        </p:nvSpPr>
        <p:spPr>
          <a:xfrm>
            <a:off x="5280025" y="4891088"/>
            <a:ext cx="760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base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8240" name="Line 50"/>
          <p:cNvSpPr/>
          <p:nvPr/>
        </p:nvSpPr>
        <p:spPr>
          <a:xfrm>
            <a:off x="6042025" y="5114925"/>
            <a:ext cx="315913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8241" name="Text Box 51"/>
          <p:cNvSpPr txBox="1"/>
          <p:nvPr/>
        </p:nvSpPr>
        <p:spPr>
          <a:xfrm>
            <a:off x="5356225" y="4222750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top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1026"/>
          <p:cNvSpPr>
            <a:spLocks noGrp="1"/>
          </p:cNvSpPr>
          <p:nvPr>
            <p:ph type="title"/>
          </p:nvPr>
        </p:nvSpPr>
        <p:spPr>
          <a:xfrm>
            <a:off x="2719388" y="609600"/>
            <a:ext cx="3989387" cy="6445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顺序栈示意图</a:t>
            </a:r>
            <a:endParaRPr lang="zh-CN" altLang="en-US" sz="3200" b="1" dirty="0"/>
          </a:p>
        </p:txBody>
      </p:sp>
      <p:grpSp>
        <p:nvGrpSpPr>
          <p:cNvPr id="2" name="Group 1067"/>
          <p:cNvGrpSpPr/>
          <p:nvPr/>
        </p:nvGrpSpPr>
        <p:grpSpPr>
          <a:xfrm>
            <a:off x="498475" y="2495550"/>
            <a:ext cx="1946275" cy="611188"/>
            <a:chOff x="184" y="733"/>
            <a:chExt cx="1226" cy="385"/>
          </a:xfrm>
        </p:grpSpPr>
        <p:sp>
          <p:nvSpPr>
            <p:cNvPr id="9252" name="Text Box 1054"/>
            <p:cNvSpPr txBox="1"/>
            <p:nvPr/>
          </p:nvSpPr>
          <p:spPr>
            <a:xfrm>
              <a:off x="184" y="733"/>
              <a:ext cx="22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ea typeface="楷体_GB2312"/>
                </a:rPr>
                <a:t>s</a:t>
              </a:r>
              <a:endParaRPr lang="en-US" altLang="zh-CN" b="1" dirty="0">
                <a:ea typeface="楷体_GB2312"/>
              </a:endParaRPr>
            </a:p>
          </p:txBody>
        </p:sp>
        <p:sp>
          <p:nvSpPr>
            <p:cNvPr id="9253" name="Line 1063"/>
            <p:cNvSpPr/>
            <p:nvPr/>
          </p:nvSpPr>
          <p:spPr>
            <a:xfrm>
              <a:off x="606" y="951"/>
              <a:ext cx="8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9254" name="Group 1065"/>
            <p:cNvGrpSpPr/>
            <p:nvPr/>
          </p:nvGrpSpPr>
          <p:grpSpPr>
            <a:xfrm>
              <a:off x="433" y="831"/>
              <a:ext cx="288" cy="287"/>
              <a:chOff x="269" y="2941"/>
              <a:chExt cx="288" cy="287"/>
            </a:xfrm>
          </p:grpSpPr>
          <p:sp>
            <p:nvSpPr>
              <p:cNvPr id="9255" name="Rectangle 1057"/>
              <p:cNvSpPr/>
              <p:nvPr/>
            </p:nvSpPr>
            <p:spPr>
              <a:xfrm>
                <a:off x="269" y="2941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9256" name="Line 1058"/>
              <p:cNvSpPr/>
              <p:nvPr/>
            </p:nvSpPr>
            <p:spPr>
              <a:xfrm>
                <a:off x="269" y="2941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57" name="Line 1059"/>
              <p:cNvSpPr/>
              <p:nvPr/>
            </p:nvSpPr>
            <p:spPr>
              <a:xfrm>
                <a:off x="269" y="3228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58" name="Line 1060"/>
              <p:cNvSpPr/>
              <p:nvPr/>
            </p:nvSpPr>
            <p:spPr>
              <a:xfrm>
                <a:off x="269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59" name="Line 1061"/>
              <p:cNvSpPr/>
              <p:nvPr/>
            </p:nvSpPr>
            <p:spPr>
              <a:xfrm>
                <a:off x="557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60" name="Oval 1064"/>
              <p:cNvSpPr>
                <a:spLocks noChangeAspect="1"/>
              </p:cNvSpPr>
              <p:nvPr/>
            </p:nvSpPr>
            <p:spPr>
              <a:xfrm>
                <a:off x="365" y="302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Group 1081"/>
          <p:cNvGrpSpPr/>
          <p:nvPr/>
        </p:nvGrpSpPr>
        <p:grpSpPr>
          <a:xfrm>
            <a:off x="2522538" y="1557338"/>
            <a:ext cx="5265737" cy="4638675"/>
            <a:chOff x="1589" y="981"/>
            <a:chExt cx="3317" cy="2922"/>
          </a:xfrm>
        </p:grpSpPr>
        <p:grpSp>
          <p:nvGrpSpPr>
            <p:cNvPr id="9222" name="Group 1068"/>
            <p:cNvGrpSpPr/>
            <p:nvPr/>
          </p:nvGrpSpPr>
          <p:grpSpPr>
            <a:xfrm>
              <a:off x="2299" y="1119"/>
              <a:ext cx="2513" cy="2271"/>
              <a:chOff x="1831" y="1118"/>
              <a:chExt cx="2513" cy="2271"/>
            </a:xfrm>
          </p:grpSpPr>
          <p:sp>
            <p:nvSpPr>
              <p:cNvPr id="9233" name="Rectangle 1029"/>
              <p:cNvSpPr/>
              <p:nvPr/>
            </p:nvSpPr>
            <p:spPr>
              <a:xfrm>
                <a:off x="2456" y="3102"/>
                <a:ext cx="10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dirty="0"/>
                  <a:t> a</a:t>
                </a:r>
                <a:r>
                  <a:rPr lang="en-US" altLang="zh-CN" sz="2400" baseline="-10000" dirty="0"/>
                  <a:t>1</a:t>
                </a:r>
                <a:endParaRPr lang="en-US" altLang="zh-CN" sz="2400" dirty="0"/>
              </a:p>
            </p:txBody>
          </p:sp>
          <p:sp>
            <p:nvSpPr>
              <p:cNvPr id="9234" name="Rectangle 1030"/>
              <p:cNvSpPr/>
              <p:nvPr/>
            </p:nvSpPr>
            <p:spPr>
              <a:xfrm>
                <a:off x="2456" y="2815"/>
                <a:ext cx="10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dirty="0"/>
                  <a:t> a</a:t>
                </a:r>
                <a:r>
                  <a:rPr lang="en-US" altLang="zh-CN" sz="2400" baseline="-10000" dirty="0"/>
                  <a:t>2</a:t>
                </a:r>
                <a:endParaRPr lang="en-US" altLang="zh-CN" sz="2400" dirty="0"/>
              </a:p>
            </p:txBody>
          </p:sp>
          <p:sp>
            <p:nvSpPr>
              <p:cNvPr id="9235" name="Rectangle 1031"/>
              <p:cNvSpPr/>
              <p:nvPr/>
            </p:nvSpPr>
            <p:spPr>
              <a:xfrm>
                <a:off x="2456" y="2528"/>
                <a:ext cx="10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dirty="0"/>
                  <a:t> a</a:t>
                </a:r>
                <a:r>
                  <a:rPr lang="en-US" altLang="zh-CN" sz="2400" baseline="-10000" dirty="0"/>
                  <a:t>3</a:t>
                </a:r>
                <a:endParaRPr lang="en-US" altLang="zh-CN" sz="2400" baseline="-10000" dirty="0"/>
              </a:p>
            </p:txBody>
          </p:sp>
          <p:sp>
            <p:nvSpPr>
              <p:cNvPr id="9236" name="Line 1033"/>
              <p:cNvSpPr/>
              <p:nvPr/>
            </p:nvSpPr>
            <p:spPr>
              <a:xfrm>
                <a:off x="2456" y="1438"/>
                <a:ext cx="105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7" name="Line 1034"/>
              <p:cNvSpPr/>
              <p:nvPr/>
            </p:nvSpPr>
            <p:spPr>
              <a:xfrm>
                <a:off x="2456" y="1978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8" name="Line 1035"/>
              <p:cNvSpPr/>
              <p:nvPr/>
            </p:nvSpPr>
            <p:spPr>
              <a:xfrm>
                <a:off x="2456" y="2528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9" name="Line 1036"/>
              <p:cNvSpPr/>
              <p:nvPr/>
            </p:nvSpPr>
            <p:spPr>
              <a:xfrm>
                <a:off x="2456" y="2815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0" name="Line 1037"/>
              <p:cNvSpPr/>
              <p:nvPr/>
            </p:nvSpPr>
            <p:spPr>
              <a:xfrm>
                <a:off x="2456" y="3102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1" name="Line 1038"/>
              <p:cNvSpPr/>
              <p:nvPr/>
            </p:nvSpPr>
            <p:spPr>
              <a:xfrm>
                <a:off x="2456" y="3389"/>
                <a:ext cx="105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2" name="Line 1039"/>
              <p:cNvSpPr/>
              <p:nvPr/>
            </p:nvSpPr>
            <p:spPr>
              <a:xfrm>
                <a:off x="2456" y="1438"/>
                <a:ext cx="0" cy="195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3" name="Line 1040"/>
              <p:cNvSpPr/>
              <p:nvPr/>
            </p:nvSpPr>
            <p:spPr>
              <a:xfrm>
                <a:off x="3512" y="1428"/>
                <a:ext cx="0" cy="196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4" name="Rectangle 1041"/>
              <p:cNvSpPr/>
              <p:nvPr/>
            </p:nvSpPr>
            <p:spPr>
              <a:xfrm>
                <a:off x="2594" y="1118"/>
                <a:ext cx="47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data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245" name="Rectangle 1042"/>
              <p:cNvSpPr/>
              <p:nvPr/>
            </p:nvSpPr>
            <p:spPr>
              <a:xfrm>
                <a:off x="2456" y="2241"/>
                <a:ext cx="10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endParaRPr lang="en-US" altLang="zh-CN" sz="2400" b="1" dirty="0"/>
              </a:p>
            </p:txBody>
          </p:sp>
          <p:sp>
            <p:nvSpPr>
              <p:cNvPr id="9246" name="Line 1043"/>
              <p:cNvSpPr/>
              <p:nvPr/>
            </p:nvSpPr>
            <p:spPr>
              <a:xfrm>
                <a:off x="2461" y="2255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7" name="Line 1045"/>
              <p:cNvSpPr/>
              <p:nvPr/>
            </p:nvSpPr>
            <p:spPr>
              <a:xfrm>
                <a:off x="2449" y="1678"/>
                <a:ext cx="105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8" name="Rectangle 1046"/>
              <p:cNvSpPr/>
              <p:nvPr/>
            </p:nvSpPr>
            <p:spPr>
              <a:xfrm>
                <a:off x="2477" y="1428"/>
                <a:ext cx="10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endParaRPr lang="zh-CN" altLang="zh-CN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49" name="Text Box 1047"/>
              <p:cNvSpPr txBox="1"/>
              <p:nvPr/>
            </p:nvSpPr>
            <p:spPr>
              <a:xfrm>
                <a:off x="3712" y="3062"/>
                <a:ext cx="6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/>
                  <a:t>(</a:t>
                </a:r>
                <a:r>
                  <a:rPr lang="zh-CN" altLang="en-US" sz="2400" b="1" dirty="0"/>
                  <a:t>栈底</a:t>
                </a:r>
                <a:r>
                  <a:rPr lang="en-US" altLang="zh-CN" sz="2400" b="1" dirty="0"/>
                  <a:t>)</a:t>
                </a:r>
                <a:endParaRPr lang="en-US" altLang="zh-CN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50" name="Text Box 1049"/>
              <p:cNvSpPr txBox="1"/>
              <p:nvPr/>
            </p:nvSpPr>
            <p:spPr>
              <a:xfrm>
                <a:off x="3665" y="2220"/>
                <a:ext cx="6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/>
                  <a:t>(</a:t>
                </a:r>
                <a:r>
                  <a:rPr lang="zh-CN" altLang="en-US" sz="2400" b="1" dirty="0"/>
                  <a:t>栈顶</a:t>
                </a:r>
                <a:r>
                  <a:rPr lang="en-US" altLang="zh-CN" sz="2400" b="1" dirty="0"/>
                  <a:t>)</a:t>
                </a:r>
                <a:endParaRPr lang="en-US" altLang="zh-CN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51" name="Text Box 1051"/>
              <p:cNvSpPr txBox="1"/>
              <p:nvPr/>
            </p:nvSpPr>
            <p:spPr>
              <a:xfrm>
                <a:off x="1831" y="1345"/>
                <a:ext cx="618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1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99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1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.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1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.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1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.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3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2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1</a:t>
                </a:r>
                <a:endParaRPr lang="en-US" altLang="zh-CN" sz="2000" b="1" dirty="0">
                  <a:ea typeface="楷体_GB231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ea typeface="楷体_GB2312"/>
                  </a:rPr>
                  <a:t>0</a:t>
                </a:r>
                <a:endParaRPr lang="en-US" altLang="zh-CN" sz="2000" b="1" dirty="0">
                  <a:ea typeface="楷体_GB2312"/>
                </a:endParaRPr>
              </a:p>
            </p:txBody>
          </p:sp>
        </p:grpSp>
        <p:sp>
          <p:nvSpPr>
            <p:cNvPr id="9223" name="Text Box 1052"/>
            <p:cNvSpPr txBox="1"/>
            <p:nvPr/>
          </p:nvSpPr>
          <p:spPr>
            <a:xfrm>
              <a:off x="1713" y="1606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top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9224" name="Rectangle 1066"/>
            <p:cNvSpPr/>
            <p:nvPr/>
          </p:nvSpPr>
          <p:spPr>
            <a:xfrm>
              <a:off x="1589" y="981"/>
              <a:ext cx="3317" cy="2922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9225" name="Line 1077"/>
            <p:cNvSpPr/>
            <p:nvPr/>
          </p:nvSpPr>
          <p:spPr>
            <a:xfrm>
              <a:off x="1927" y="2129"/>
              <a:ext cx="572" cy="254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9226" name="Group 1079"/>
            <p:cNvGrpSpPr/>
            <p:nvPr/>
          </p:nvGrpSpPr>
          <p:grpSpPr>
            <a:xfrm>
              <a:off x="1783" y="1969"/>
              <a:ext cx="288" cy="287"/>
              <a:chOff x="269" y="2941"/>
              <a:chExt cx="288" cy="287"/>
            </a:xfrm>
          </p:grpSpPr>
          <p:sp>
            <p:nvSpPr>
              <p:cNvPr id="9227" name="Rectangle 1071"/>
              <p:cNvSpPr/>
              <p:nvPr/>
            </p:nvSpPr>
            <p:spPr>
              <a:xfrm>
                <a:off x="269" y="2941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9228" name="Line 1072"/>
              <p:cNvSpPr/>
              <p:nvPr/>
            </p:nvSpPr>
            <p:spPr>
              <a:xfrm>
                <a:off x="269" y="2941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29" name="Line 1073"/>
              <p:cNvSpPr/>
              <p:nvPr/>
            </p:nvSpPr>
            <p:spPr>
              <a:xfrm>
                <a:off x="269" y="3228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30" name="Line 1074"/>
              <p:cNvSpPr/>
              <p:nvPr/>
            </p:nvSpPr>
            <p:spPr>
              <a:xfrm>
                <a:off x="269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31" name="Line 1075"/>
              <p:cNvSpPr/>
              <p:nvPr/>
            </p:nvSpPr>
            <p:spPr>
              <a:xfrm>
                <a:off x="557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32" name="Oval 1078"/>
              <p:cNvSpPr>
                <a:spLocks noChangeAspect="1"/>
              </p:cNvSpPr>
              <p:nvPr/>
            </p:nvSpPr>
            <p:spPr>
              <a:xfrm>
                <a:off x="365" y="302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12024" name="AutoShape 1080">
            <a:hlinkClick r:id="" action="ppaction://hlinkshowjump?jump=nextslide"/>
          </p:cNvPr>
          <p:cNvSpPr/>
          <p:nvPr/>
        </p:nvSpPr>
        <p:spPr>
          <a:xfrm>
            <a:off x="81534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3" name="Rectangle 4"/>
          <p:cNvSpPr>
            <a:spLocks noGrp="1"/>
          </p:cNvSpPr>
          <p:nvPr>
            <p:ph type="title"/>
          </p:nvPr>
        </p:nvSpPr>
        <p:spPr>
          <a:xfrm>
            <a:off x="238125" y="0"/>
            <a:ext cx="5495925" cy="990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>
                <a:solidFill>
                  <a:srgbClr val="0000FF"/>
                </a:solidFill>
                <a:latin typeface="楷体_GB2312"/>
                <a:ea typeface="楷体_GB2312"/>
              </a:rPr>
              <a:t>顺序栈的类型表示</a:t>
            </a:r>
            <a:r>
              <a:rPr lang="en-US" altLang="zh-CN" sz="3600" b="1" dirty="0">
                <a:solidFill>
                  <a:srgbClr val="0000FF"/>
                </a:solidFill>
                <a:latin typeface="楷体_GB2312"/>
                <a:ea typeface="楷体_GB2312"/>
              </a:rPr>
              <a:t>:</a:t>
            </a:r>
            <a:endParaRPr lang="en-US" altLang="zh-CN" sz="36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0244" name="Rectangle 5"/>
          <p:cNvSpPr>
            <a:spLocks noGrp="1"/>
          </p:cNvSpPr>
          <p:nvPr>
            <p:ph idx="1"/>
          </p:nvPr>
        </p:nvSpPr>
        <p:spPr>
          <a:xfrm>
            <a:off x="238125" y="990600"/>
            <a:ext cx="8613775" cy="5384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b="1" dirty="0">
                <a:ea typeface="楷体_GB2312"/>
              </a:rPr>
              <a:t>#define STACK_INIT_SIZE  100</a:t>
            </a:r>
            <a:r>
              <a:rPr lang="zh-CN" altLang="en-US" sz="2800" b="1" dirty="0">
                <a:ea typeface="楷体_GB2312"/>
              </a:rPr>
              <a:t>；</a:t>
            </a:r>
            <a:endParaRPr lang="zh-CN" altLang="en-US" sz="2800" b="1" dirty="0">
              <a:ea typeface="楷体_GB2312"/>
            </a:endParaRPr>
          </a:p>
          <a:p>
            <a:pPr eaLnBrk="1" hangingPunct="1"/>
            <a:r>
              <a:rPr lang="en-US" altLang="zh-CN" sz="2800" b="1" dirty="0">
                <a:ea typeface="楷体_GB2312"/>
              </a:rPr>
              <a:t>#define STACKINCREMENT  10</a:t>
            </a:r>
            <a:r>
              <a:rPr lang="zh-CN" altLang="en-US" sz="2800" b="1" dirty="0">
                <a:ea typeface="楷体_GB2312"/>
              </a:rPr>
              <a:t>；</a:t>
            </a:r>
            <a:endParaRPr lang="zh-CN" altLang="en-US" sz="2800" b="1" dirty="0">
              <a:ea typeface="楷体_GB2312"/>
            </a:endParaRPr>
          </a:p>
          <a:p>
            <a:pPr eaLnBrk="1" hangingPunct="1"/>
            <a:endParaRPr lang="zh-CN" altLang="en-US" sz="2800" b="1" dirty="0">
              <a:latin typeface="楷体_GB2312"/>
              <a:ea typeface="楷体_GB2312"/>
            </a:endParaRPr>
          </a:p>
          <a:p>
            <a:pPr eaLnBrk="1" hangingPunct="1"/>
            <a:r>
              <a:rPr lang="en-US" altLang="zh-CN" sz="2800" b="1" dirty="0">
                <a:ea typeface="楷体_GB2312"/>
              </a:rPr>
              <a:t>typedef char StackData;</a:t>
            </a:r>
            <a:endParaRPr lang="en-US" altLang="zh-CN" sz="2800" b="1" dirty="0">
              <a:ea typeface="楷体_GB2312"/>
            </a:endParaRPr>
          </a:p>
          <a:p>
            <a:pPr eaLnBrk="1" hangingPunct="1">
              <a:buNone/>
            </a:pPr>
            <a:endParaRPr lang="en-US" altLang="zh-CN" sz="2800" b="1" dirty="0">
              <a:ea typeface="楷体_GB2312"/>
            </a:endParaRPr>
          </a:p>
          <a:p>
            <a:pPr eaLnBrk="1" hangingPunct="1"/>
            <a:r>
              <a:rPr lang="en-US" altLang="zh-CN" sz="2800" b="1" dirty="0">
                <a:ea typeface="楷体_GB2312"/>
              </a:rPr>
              <a:t>typedef struct {	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FF00FF"/>
                </a:solidFill>
                <a:ea typeface="楷体_GB2312"/>
              </a:rPr>
              <a:t>顺序栈定义</a:t>
            </a:r>
            <a:endParaRPr lang="zh-CN" altLang="en-US" sz="2800" b="1" dirty="0">
              <a:solidFill>
                <a:srgbClr val="FF00FF"/>
              </a:solidFill>
              <a:ea typeface="楷体_GB2312"/>
            </a:endParaRPr>
          </a:p>
          <a:p>
            <a:pPr eaLnBrk="1" hangingPunct="1"/>
            <a:r>
              <a:rPr lang="zh-CN" altLang="en-US" sz="2800" b="1" dirty="0">
                <a:ea typeface="楷体_GB2312"/>
              </a:rPr>
              <a:t>   </a:t>
            </a:r>
            <a:r>
              <a:rPr lang="en-US" altLang="zh-CN" sz="2800" b="1" dirty="0">
                <a:ea typeface="楷体_GB2312"/>
              </a:rPr>
              <a:t>StackData *base; 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FF00FF"/>
                </a:solidFill>
                <a:ea typeface="楷体_GB2312"/>
              </a:rPr>
              <a:t>栈底指针</a:t>
            </a:r>
            <a:r>
              <a:rPr lang="zh-CN" altLang="en-US" sz="2800" b="1" dirty="0">
                <a:ea typeface="楷体_GB2312"/>
              </a:rPr>
              <a:t>	</a:t>
            </a:r>
            <a:endParaRPr lang="zh-CN" altLang="en-US" sz="2800" b="1" dirty="0">
              <a:ea typeface="楷体_GB2312"/>
            </a:endParaRPr>
          </a:p>
          <a:p>
            <a:pPr eaLnBrk="1" hangingPunct="1"/>
            <a:r>
              <a:rPr lang="zh-CN" altLang="en-US" sz="2800" b="1" dirty="0">
                <a:ea typeface="楷体_GB2312"/>
              </a:rPr>
              <a:t> 	</a:t>
            </a:r>
            <a:r>
              <a:rPr lang="en-US" altLang="zh-CN" sz="2800" b="1" dirty="0">
                <a:ea typeface="楷体_GB2312"/>
              </a:rPr>
              <a:t>StackData *top; 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FF00FF"/>
                </a:solidFill>
                <a:ea typeface="楷体_GB2312"/>
              </a:rPr>
              <a:t>栈顶指针</a:t>
            </a:r>
            <a:r>
              <a:rPr lang="zh-CN" altLang="en-US" sz="2800" b="1" dirty="0">
                <a:ea typeface="楷体_GB2312"/>
              </a:rPr>
              <a:t>	</a:t>
            </a:r>
            <a:endParaRPr lang="zh-CN" altLang="en-US" sz="2800" b="1" dirty="0">
              <a:ea typeface="楷体_GB2312"/>
            </a:endParaRPr>
          </a:p>
          <a:p>
            <a:pPr eaLnBrk="1" hangingPunct="1"/>
            <a:r>
              <a:rPr lang="zh-CN" altLang="en-US" sz="2800" b="1" dirty="0">
                <a:ea typeface="楷体_GB2312"/>
              </a:rPr>
              <a:t>	</a:t>
            </a:r>
            <a:r>
              <a:rPr lang="en-US" altLang="zh-CN" sz="2800" b="1" dirty="0">
                <a:ea typeface="楷体_GB2312"/>
              </a:rPr>
              <a:t>int stacksize</a:t>
            </a:r>
            <a:r>
              <a:rPr lang="zh-CN" altLang="en-US" sz="2800" b="1" dirty="0">
                <a:ea typeface="楷体_GB2312"/>
              </a:rPr>
              <a:t>；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FF00FF"/>
                </a:solidFill>
                <a:ea typeface="楷体_GB2312"/>
              </a:rPr>
              <a:t>当前已分配的存储空间</a:t>
            </a:r>
            <a:endParaRPr lang="zh-CN" altLang="en-US" sz="2800" b="1" dirty="0">
              <a:solidFill>
                <a:srgbClr val="FF00FF"/>
              </a:solidFill>
              <a:ea typeface="楷体_GB2312"/>
            </a:endParaRPr>
          </a:p>
          <a:p>
            <a:pPr eaLnBrk="1" hangingPunct="1"/>
            <a:r>
              <a:rPr lang="en-US" altLang="zh-CN" sz="2800" b="1" dirty="0">
                <a:ea typeface="楷体_GB2312"/>
              </a:rPr>
              <a:t>} SeqStack</a:t>
            </a:r>
            <a:r>
              <a:rPr lang="zh-CN" altLang="en-US" sz="2800" dirty="0">
                <a:ea typeface="楷体_GB2312"/>
              </a:rPr>
              <a:t>；</a:t>
            </a:r>
            <a:endParaRPr lang="zh-CN" altLang="en-US" sz="2800" dirty="0">
              <a:ea typeface="楷体_GB231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5" name="Rectangle 4"/>
          <p:cNvSpPr>
            <a:spLocks noGrp="1"/>
          </p:cNvSpPr>
          <p:nvPr>
            <p:ph idx="1"/>
          </p:nvPr>
        </p:nvSpPr>
        <p:spPr>
          <a:xfrm>
            <a:off x="739775" y="3962400"/>
            <a:ext cx="8080375" cy="2497138"/>
          </a:xfrm>
          <a:solidFill>
            <a:srgbClr val="FFC000">
              <a:alpha val="100000"/>
            </a:srgbClr>
          </a:solidFill>
          <a:ln>
            <a:solidFill>
              <a:srgbClr val="6666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609600" indent="-609600" eaLnBrk="1" hangingPunct="1"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楷体_GB2312"/>
              </a:rPr>
              <a:t>     int StackFull (SeqStack *S) {</a:t>
            </a:r>
            <a:endParaRPr lang="en-US" altLang="zh-CN" sz="2400" b="1" dirty="0">
              <a:solidFill>
                <a:srgbClr val="0000CC"/>
              </a:solidFill>
              <a:ea typeface="楷体_GB2312"/>
            </a:endParaRPr>
          </a:p>
          <a:p>
            <a:pPr marL="609600" indent="-609600" eaLnBrk="1" hangingPunct="1"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楷体_GB2312"/>
              </a:rPr>
              <a:t>     if( S-&gt;top- S-&gt;base &gt;= S-&gt; StackSize )  return 1</a:t>
            </a:r>
            <a:r>
              <a:rPr lang="en-US" altLang="zh-CN" sz="2800" b="1" dirty="0">
                <a:solidFill>
                  <a:srgbClr val="0000CC"/>
                </a:solidFill>
                <a:latin typeface="隶书" panose="02010509060101010101" pitchFamily="49" charset="-122"/>
                <a:ea typeface="楷体_GB2312"/>
              </a:rPr>
              <a:t> </a:t>
            </a:r>
            <a:r>
              <a:rPr lang="en-US" altLang="zh-CN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判栈满</a:t>
            </a:r>
            <a:r>
              <a:rPr lang="en-US" altLang="zh-CN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满则返回</a:t>
            </a:r>
            <a:r>
              <a:rPr lang="en-US" altLang="zh-CN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sz="2800" b="1" dirty="0">
              <a:solidFill>
                <a:srgbClr val="CC33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800" b="1" dirty="0">
                <a:latin typeface="隶书" panose="02010509060101010101" pitchFamily="49" charset="-122"/>
                <a:ea typeface="楷体_GB2312"/>
              </a:rPr>
              <a:t>   </a:t>
            </a:r>
            <a:r>
              <a:rPr lang="en-US" altLang="zh-CN" sz="2400" b="1" dirty="0">
                <a:ea typeface="楷体_GB2312"/>
              </a:rPr>
              <a:t>else return 0</a:t>
            </a:r>
            <a:r>
              <a:rPr lang="en-US" altLang="zh-CN" sz="2800" b="1" dirty="0">
                <a:latin typeface="隶书" panose="02010509060101010101" pitchFamily="49" charset="-122"/>
                <a:ea typeface="楷体_GB2312"/>
              </a:rPr>
              <a:t>; </a:t>
            </a:r>
            <a:r>
              <a:rPr lang="en-US" altLang="zh-CN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否则返回</a:t>
            </a:r>
            <a:r>
              <a:rPr lang="en-US" altLang="zh-CN" sz="28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800" b="1" dirty="0">
              <a:solidFill>
                <a:srgbClr val="CC33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800" b="1" dirty="0">
                <a:latin typeface="隶书" panose="02010509060101010101" pitchFamily="49" charset="-122"/>
                <a:ea typeface="楷体_GB2312"/>
              </a:rPr>
              <a:t>   </a:t>
            </a:r>
            <a:r>
              <a:rPr lang="en-US" altLang="zh-CN" sz="2400" b="1" dirty="0">
                <a:ea typeface="楷体_GB2312"/>
              </a:rPr>
              <a:t>}</a:t>
            </a:r>
            <a:endParaRPr lang="en-US" altLang="zh-CN" sz="2400" b="1" dirty="0">
              <a:ea typeface="楷体_GB2312"/>
            </a:endParaRPr>
          </a:p>
        </p:txBody>
      </p:sp>
      <p:sp>
        <p:nvSpPr>
          <p:cNvPr id="11268" name="Text Box 5"/>
          <p:cNvSpPr txBox="1"/>
          <p:nvPr/>
        </p:nvSpPr>
        <p:spPr>
          <a:xfrm>
            <a:off x="381000" y="233363"/>
            <a:ext cx="54530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00FF"/>
                </a:solidFill>
                <a:latin typeface="楷体_GB2312"/>
                <a:ea typeface="楷体_GB2312"/>
              </a:rPr>
              <a:t>顺序栈的基本运算</a:t>
            </a:r>
            <a:r>
              <a:rPr lang="en-US" altLang="zh-CN" sz="3600" b="1" dirty="0">
                <a:solidFill>
                  <a:srgbClr val="0000FF"/>
                </a:solidFill>
                <a:latin typeface="楷体_GB2312"/>
                <a:ea typeface="楷体_GB2312"/>
              </a:rPr>
              <a:t>:</a:t>
            </a:r>
            <a:endParaRPr lang="en-US" altLang="zh-CN" sz="36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1269" name="矩形 4"/>
          <p:cNvSpPr/>
          <p:nvPr/>
        </p:nvSpPr>
        <p:spPr>
          <a:xfrm>
            <a:off x="742950" y="874713"/>
            <a:ext cx="18827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C3300"/>
                </a:solidFill>
                <a:latin typeface="隶书" panose="02010509060101010101" pitchFamily="49" charset="-122"/>
                <a:ea typeface="仿宋_GB2312"/>
              </a:rPr>
              <a:t>判栈空</a:t>
            </a:r>
            <a:endParaRPr lang="zh-CN" altLang="en-US" sz="2800" b="1" dirty="0">
              <a:solidFill>
                <a:srgbClr val="CC3300"/>
              </a:solidFill>
              <a:latin typeface="隶书" panose="02010509060101010101" pitchFamily="49" charset="-122"/>
              <a:ea typeface="仿宋_GB231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2950" y="1504950"/>
            <a:ext cx="8077200" cy="18065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666699"/>
            </a:solidFill>
          </a:ln>
        </p:spPr>
        <p:txBody>
          <a:bodyPr>
            <a:spAutoFit/>
          </a:bodyPr>
          <a:lstStyle/>
          <a:p>
            <a:pPr marL="609600" marR="0" lvl="0" indent="-6096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StackEmpty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 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SeqStack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 *S) 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anose="02010600030101010101" pitchFamily="2" charset="-122"/>
              <a:ea typeface="楷体_GB2312" pitchFamily="49" charset="-122"/>
              <a:cs typeface="+mn-cs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     if( S-&gt;top == S-&gt;base ) return 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隶书" panose="02010509060101010101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空则返回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楷体_GB2312" pitchFamily="49" charset="-122"/>
                <a:cs typeface="+mn-cs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</a:rPr>
              <a:t>else return 0;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隶书" panose="02010509060101010101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否则返回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0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09600" marR="0" lvl="0" indent="-6096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楷体_GB2312" pitchFamily="49" charset="-122"/>
                <a:cs typeface="+mn-cs"/>
              </a:rPr>
              <a:t> 	}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1" name="矩形 7"/>
          <p:cNvSpPr/>
          <p:nvPr/>
        </p:nvSpPr>
        <p:spPr>
          <a:xfrm>
            <a:off x="742950" y="3425825"/>
            <a:ext cx="18827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C3300"/>
                </a:solidFill>
                <a:latin typeface="隶书" panose="02010509060101010101" pitchFamily="49" charset="-122"/>
                <a:ea typeface="楷体_GB2312"/>
              </a:rPr>
              <a:t>判栈满</a:t>
            </a:r>
            <a:endParaRPr lang="zh-CN" altLang="en-US" sz="2800" b="1" dirty="0">
              <a:solidFill>
                <a:srgbClr val="CC3300"/>
              </a:solidFill>
              <a:latin typeface="隶书" panose="02010509060101010101" pitchFamily="49" charset="-12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charRg st="32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7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charRg st="78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charRg st="103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315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3315">
                                            <p:txEl>
                                              <p:charRg st="35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0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3315">
                                            <p:txEl>
                                              <p:charRg st="101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27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3315">
                                            <p:txEl>
                                              <p:charRg st="127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 build="p"/>
      <p:bldP spid="6" grpId="0" animBg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838200" y="1716088"/>
            <a:ext cx="7620000" cy="38814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void 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InitStack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( 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SeqStack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*S) {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置空栈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&gt;base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StackData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*)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malloc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(STACK_INIT_SIZE * 		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sizeof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StackData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));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b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if (!S-&gt;base) exit(OVERFLOW);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-&gt;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 = 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&gt;base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-&gt;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stacksize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TACK_INIT_SIZE 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Return ok;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}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矩形 3"/>
          <p:cNvSpPr/>
          <p:nvPr/>
        </p:nvSpPr>
        <p:spPr>
          <a:xfrm>
            <a:off x="838200" y="738188"/>
            <a:ext cx="1430338" cy="5445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ea typeface="仿宋_GB2312"/>
              </a:rPr>
              <a:t>初始化</a:t>
            </a:r>
            <a:endParaRPr lang="zh-CN" altLang="en-US" sz="2800" b="1" dirty="0">
              <a:solidFill>
                <a:srgbClr val="CC0000"/>
              </a:solidFill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4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charRg st="40" end="1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41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charRg st="141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6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charRg st="161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93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charRg st="193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204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charRg st="204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1133"/>
          <p:cNvGrpSpPr/>
          <p:nvPr/>
        </p:nvGrpSpPr>
        <p:grpSpPr>
          <a:xfrm>
            <a:off x="5459413" y="965200"/>
            <a:ext cx="1752600" cy="3605213"/>
            <a:chOff x="3439" y="608"/>
            <a:chExt cx="1104" cy="2271"/>
          </a:xfrm>
        </p:grpSpPr>
        <p:sp>
          <p:nvSpPr>
            <p:cNvPr id="13357" name="Rectangle 1079"/>
            <p:cNvSpPr/>
            <p:nvPr/>
          </p:nvSpPr>
          <p:spPr>
            <a:xfrm>
              <a:off x="3466" y="2592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1</a:t>
              </a:r>
              <a:endParaRPr lang="en-US" altLang="zh-CN" sz="2400" dirty="0"/>
            </a:p>
          </p:txBody>
        </p:sp>
        <p:sp>
          <p:nvSpPr>
            <p:cNvPr id="13358" name="Rectangle 1080"/>
            <p:cNvSpPr/>
            <p:nvPr/>
          </p:nvSpPr>
          <p:spPr>
            <a:xfrm>
              <a:off x="3466" y="2305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2</a:t>
              </a:r>
              <a:endParaRPr lang="en-US" altLang="zh-CN" sz="2400" dirty="0"/>
            </a:p>
          </p:txBody>
        </p:sp>
        <p:sp>
          <p:nvSpPr>
            <p:cNvPr id="13359" name="Rectangle 1081"/>
            <p:cNvSpPr/>
            <p:nvPr/>
          </p:nvSpPr>
          <p:spPr>
            <a:xfrm>
              <a:off x="3466" y="2018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……</a:t>
              </a:r>
              <a:endParaRPr lang="en-US" altLang="zh-CN" sz="2400" dirty="0"/>
            </a:p>
          </p:txBody>
        </p:sp>
        <p:sp>
          <p:nvSpPr>
            <p:cNvPr id="13360" name="Rectangle 1083"/>
            <p:cNvSpPr/>
            <p:nvPr/>
          </p:nvSpPr>
          <p:spPr>
            <a:xfrm>
              <a:off x="3466" y="1158"/>
              <a:ext cx="1056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n</a:t>
              </a:r>
              <a:endParaRPr lang="en-US" altLang="zh-CN" sz="2400" dirty="0"/>
            </a:p>
          </p:txBody>
        </p:sp>
        <p:sp>
          <p:nvSpPr>
            <p:cNvPr id="13361" name="Line 1087"/>
            <p:cNvSpPr/>
            <p:nvPr/>
          </p:nvSpPr>
          <p:spPr>
            <a:xfrm>
              <a:off x="3466" y="928"/>
              <a:ext cx="105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2" name="Line 1089"/>
            <p:cNvSpPr/>
            <p:nvPr/>
          </p:nvSpPr>
          <p:spPr>
            <a:xfrm>
              <a:off x="3466" y="146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3" name="Line 1090"/>
            <p:cNvSpPr/>
            <p:nvPr/>
          </p:nvSpPr>
          <p:spPr>
            <a:xfrm>
              <a:off x="3466" y="201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4" name="Line 1091"/>
            <p:cNvSpPr/>
            <p:nvPr/>
          </p:nvSpPr>
          <p:spPr>
            <a:xfrm>
              <a:off x="3466" y="230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5" name="Line 1092"/>
            <p:cNvSpPr/>
            <p:nvPr/>
          </p:nvSpPr>
          <p:spPr>
            <a:xfrm>
              <a:off x="3466" y="259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6" name="Line 1093"/>
            <p:cNvSpPr/>
            <p:nvPr/>
          </p:nvSpPr>
          <p:spPr>
            <a:xfrm>
              <a:off x="3466" y="2879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7" name="Line 1094"/>
            <p:cNvSpPr/>
            <p:nvPr/>
          </p:nvSpPr>
          <p:spPr>
            <a:xfrm>
              <a:off x="3466" y="928"/>
              <a:ext cx="0" cy="195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8" name="Line 1095"/>
            <p:cNvSpPr/>
            <p:nvPr/>
          </p:nvSpPr>
          <p:spPr>
            <a:xfrm>
              <a:off x="4522" y="918"/>
              <a:ext cx="0" cy="196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9" name="Rectangle 1109"/>
            <p:cNvSpPr/>
            <p:nvPr/>
          </p:nvSpPr>
          <p:spPr>
            <a:xfrm>
              <a:off x="3604" y="608"/>
              <a:ext cx="8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顺序栈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S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13370" name="Rectangle 1112"/>
            <p:cNvSpPr/>
            <p:nvPr/>
          </p:nvSpPr>
          <p:spPr>
            <a:xfrm>
              <a:off x="3466" y="1731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 a</a:t>
              </a:r>
              <a:r>
                <a:rPr lang="en-US" altLang="zh-CN" sz="2400" b="1" baseline="-10000" dirty="0"/>
                <a:t>i</a:t>
              </a:r>
              <a:endParaRPr lang="en-US" altLang="zh-CN" sz="2400" b="1" dirty="0"/>
            </a:p>
          </p:txBody>
        </p:sp>
        <p:sp>
          <p:nvSpPr>
            <p:cNvPr id="13371" name="Line 1113"/>
            <p:cNvSpPr/>
            <p:nvPr/>
          </p:nvSpPr>
          <p:spPr>
            <a:xfrm>
              <a:off x="3471" y="174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72" name="Rectangle 1121"/>
            <p:cNvSpPr/>
            <p:nvPr/>
          </p:nvSpPr>
          <p:spPr>
            <a:xfrm>
              <a:off x="3439" y="1421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……</a:t>
              </a:r>
              <a:endParaRPr lang="en-US" altLang="zh-CN" sz="2400" dirty="0"/>
            </a:p>
          </p:txBody>
        </p:sp>
        <p:sp>
          <p:nvSpPr>
            <p:cNvPr id="13373" name="Line 1126"/>
            <p:cNvSpPr/>
            <p:nvPr/>
          </p:nvSpPr>
          <p:spPr>
            <a:xfrm>
              <a:off x="3459" y="116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74" name="Rectangle 1127"/>
            <p:cNvSpPr/>
            <p:nvPr/>
          </p:nvSpPr>
          <p:spPr>
            <a:xfrm>
              <a:off x="3487" y="918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endParaRPr lang="zh-CN" altLang="zh-CN" sz="2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3316" name="Rectangle 1026"/>
          <p:cNvSpPr>
            <a:spLocks noGrp="1"/>
          </p:cNvSpPr>
          <p:nvPr>
            <p:ph type="title"/>
          </p:nvPr>
        </p:nvSpPr>
        <p:spPr>
          <a:xfrm>
            <a:off x="266700" y="204788"/>
            <a:ext cx="8137525" cy="6508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rgbClr val="0000FF"/>
                </a:solidFill>
              </a:rPr>
              <a:t>表和栈的操作区别</a:t>
            </a:r>
            <a:r>
              <a:rPr lang="en-US" altLang="zh-CN" sz="2400" b="1" dirty="0">
                <a:solidFill>
                  <a:srgbClr val="0000FF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</a:rPr>
              <a:t>对线性表</a:t>
            </a:r>
            <a:r>
              <a:rPr lang="zh-CN" altLang="en-US" sz="2800" b="1" dirty="0">
                <a:solidFill>
                  <a:schemeClr val="tx1"/>
                </a:solidFill>
              </a:rPr>
              <a:t>  </a:t>
            </a:r>
            <a:r>
              <a:rPr lang="en-US" altLang="zh-CN" sz="2800" b="1" dirty="0">
                <a:solidFill>
                  <a:schemeClr val="tx1"/>
                </a:solidFill>
              </a:rPr>
              <a:t>s= (a</a:t>
            </a:r>
            <a:r>
              <a:rPr lang="en-US" altLang="zh-CN" sz="2800" b="1" baseline="-12000" dirty="0">
                <a:solidFill>
                  <a:schemeClr val="tx1"/>
                </a:solidFill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</a:rPr>
              <a:t>  , a</a:t>
            </a:r>
            <a:r>
              <a:rPr lang="en-US" altLang="zh-CN" sz="2800" b="1" baseline="-12000" dirty="0">
                <a:solidFill>
                  <a:schemeClr val="tx1"/>
                </a:solidFill>
              </a:rPr>
              <a:t>2  , …. , </a:t>
            </a:r>
            <a:r>
              <a:rPr lang="en-US" altLang="zh-CN" sz="2800" b="1" dirty="0">
                <a:solidFill>
                  <a:schemeClr val="tx1"/>
                </a:solidFill>
              </a:rPr>
              <a:t>a</a:t>
            </a:r>
            <a:r>
              <a:rPr lang="en-US" altLang="zh-CN" sz="2800" b="1" baseline="-12000" dirty="0">
                <a:solidFill>
                  <a:schemeClr val="tx1"/>
                </a:solidFill>
              </a:rPr>
              <a:t>n-1 ,  </a:t>
            </a:r>
            <a:r>
              <a:rPr lang="en-US" altLang="zh-CN" sz="2800" b="1" dirty="0">
                <a:solidFill>
                  <a:schemeClr val="tx1"/>
                </a:solidFill>
              </a:rPr>
              <a:t>a</a:t>
            </a:r>
            <a:r>
              <a:rPr lang="en-US" altLang="zh-CN" sz="2800" b="1" baseline="-12000" dirty="0">
                <a:solidFill>
                  <a:schemeClr val="tx1"/>
                </a:solidFill>
              </a:rPr>
              <a:t>n 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endParaRPr lang="en-US" altLang="zh-CN" sz="2800" b="1" dirty="0"/>
          </a:p>
        </p:txBody>
      </p:sp>
      <p:grpSp>
        <p:nvGrpSpPr>
          <p:cNvPr id="3" name="Group 1136"/>
          <p:cNvGrpSpPr/>
          <p:nvPr/>
        </p:nvGrpSpPr>
        <p:grpSpPr>
          <a:xfrm>
            <a:off x="2625725" y="1346200"/>
            <a:ext cx="869950" cy="3184525"/>
            <a:chOff x="1654" y="848"/>
            <a:chExt cx="548" cy="2006"/>
          </a:xfrm>
        </p:grpSpPr>
        <p:sp>
          <p:nvSpPr>
            <p:cNvPr id="13353" name="Text Box 1033"/>
            <p:cNvSpPr txBox="1"/>
            <p:nvPr/>
          </p:nvSpPr>
          <p:spPr>
            <a:xfrm>
              <a:off x="1654" y="2564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/>
                <a:t>表头</a:t>
              </a:r>
              <a:endParaRPr lang="zh-CN" altLang="en-US" sz="2400" b="1" dirty="0"/>
            </a:p>
          </p:txBody>
        </p:sp>
        <p:sp>
          <p:nvSpPr>
            <p:cNvPr id="13354" name="Text Box 1103"/>
            <p:cNvSpPr txBox="1"/>
            <p:nvPr/>
          </p:nvSpPr>
          <p:spPr>
            <a:xfrm>
              <a:off x="1698" y="848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/>
                <a:t>表尾</a:t>
              </a:r>
              <a:endParaRPr lang="zh-CN" altLang="en-US" sz="2400" b="1" dirty="0"/>
            </a:p>
          </p:txBody>
        </p:sp>
        <p:sp>
          <p:nvSpPr>
            <p:cNvPr id="13355" name="Line 1114"/>
            <p:cNvSpPr/>
            <p:nvPr/>
          </p:nvSpPr>
          <p:spPr>
            <a:xfrm flipH="1">
              <a:off x="1698" y="2854"/>
              <a:ext cx="4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56" name="Line 1115"/>
            <p:cNvSpPr/>
            <p:nvPr/>
          </p:nvSpPr>
          <p:spPr>
            <a:xfrm flipH="1">
              <a:off x="1698" y="1132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" name="Group 1138"/>
          <p:cNvGrpSpPr/>
          <p:nvPr/>
        </p:nvGrpSpPr>
        <p:grpSpPr>
          <a:xfrm>
            <a:off x="7178675" y="1327150"/>
            <a:ext cx="1693863" cy="3127375"/>
            <a:chOff x="4515" y="870"/>
            <a:chExt cx="1067" cy="1970"/>
          </a:xfrm>
        </p:grpSpPr>
        <p:sp>
          <p:nvSpPr>
            <p:cNvPr id="13349" name="Text Box 1068"/>
            <p:cNvSpPr txBox="1"/>
            <p:nvPr/>
          </p:nvSpPr>
          <p:spPr>
            <a:xfrm>
              <a:off x="4608" y="2552"/>
              <a:ext cx="8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/>
                <a:t>栈底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base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13350" name="Line 1116"/>
            <p:cNvSpPr/>
            <p:nvPr/>
          </p:nvSpPr>
          <p:spPr>
            <a:xfrm flipH="1">
              <a:off x="4577" y="2806"/>
              <a:ext cx="100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51" name="Text Box 1117"/>
            <p:cNvSpPr txBox="1"/>
            <p:nvPr/>
          </p:nvSpPr>
          <p:spPr>
            <a:xfrm>
              <a:off x="4515" y="870"/>
              <a:ext cx="7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/>
                <a:t>栈顶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top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13352" name="Line 1118"/>
            <p:cNvSpPr/>
            <p:nvPr/>
          </p:nvSpPr>
          <p:spPr>
            <a:xfrm flipH="1">
              <a:off x="4543" y="1158"/>
              <a:ext cx="8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5" name="Group 1137"/>
          <p:cNvGrpSpPr/>
          <p:nvPr/>
        </p:nvGrpSpPr>
        <p:grpSpPr>
          <a:xfrm>
            <a:off x="4446588" y="1573213"/>
            <a:ext cx="1012825" cy="2978150"/>
            <a:chOff x="2801" y="991"/>
            <a:chExt cx="638" cy="1876"/>
          </a:xfrm>
        </p:grpSpPr>
        <p:sp>
          <p:nvSpPr>
            <p:cNvPr id="13347" name="Text Box 1119"/>
            <p:cNvSpPr txBox="1"/>
            <p:nvPr/>
          </p:nvSpPr>
          <p:spPr>
            <a:xfrm>
              <a:off x="2821" y="2617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ea typeface="楷体_GB2312"/>
                </a:rPr>
                <a:t>低地址</a:t>
              </a:r>
              <a:endParaRPr lang="zh-CN" altLang="en-US" sz="2000" b="1" dirty="0">
                <a:ea typeface="楷体_GB2312"/>
              </a:endParaRPr>
            </a:p>
          </p:txBody>
        </p:sp>
        <p:sp>
          <p:nvSpPr>
            <p:cNvPr id="13348" name="Text Box 1120"/>
            <p:cNvSpPr txBox="1"/>
            <p:nvPr/>
          </p:nvSpPr>
          <p:spPr>
            <a:xfrm>
              <a:off x="2801" y="991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ea typeface="楷体_GB2312"/>
                </a:rPr>
                <a:t>高地址</a:t>
              </a:r>
              <a:endParaRPr lang="zh-CN" altLang="en-US" sz="2000" b="1" dirty="0">
                <a:ea typeface="楷体_GB2312"/>
              </a:endParaRPr>
            </a:p>
          </p:txBody>
        </p:sp>
      </p:grpSp>
      <p:sp>
        <p:nvSpPr>
          <p:cNvPr id="180322" name="Rectangle 1122"/>
          <p:cNvSpPr/>
          <p:nvPr/>
        </p:nvSpPr>
        <p:spPr>
          <a:xfrm>
            <a:off x="576263" y="4879975"/>
            <a:ext cx="2020887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写入：</a:t>
            </a:r>
            <a:r>
              <a:rPr lang="en-US" altLang="zh-CN" sz="2400" b="1" dirty="0"/>
              <a:t>v[i]= 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baseline="-10000" dirty="0">
                <a:solidFill>
                  <a:srgbClr val="0000FF"/>
                </a:solidFill>
              </a:rPr>
              <a:t>i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读出： </a:t>
            </a:r>
            <a:r>
              <a:rPr lang="en-US" altLang="zh-CN" sz="2400" b="1" dirty="0"/>
              <a:t>x= v[i]</a:t>
            </a:r>
            <a:endParaRPr lang="en-US" altLang="zh-CN" sz="2400" b="1" dirty="0"/>
          </a:p>
        </p:txBody>
      </p:sp>
      <p:sp>
        <p:nvSpPr>
          <p:cNvPr id="180323" name="Rectangle 1123"/>
          <p:cNvSpPr/>
          <p:nvPr/>
        </p:nvSpPr>
        <p:spPr>
          <a:xfrm>
            <a:off x="5029200" y="4879975"/>
            <a:ext cx="30099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压入：</a:t>
            </a:r>
            <a:r>
              <a:rPr lang="en-US" altLang="zh-CN" sz="2400" b="1" dirty="0">
                <a:hlinkClick r:id="" action="ppaction://hlinkshowjump?jump=nextslide"/>
              </a:rPr>
              <a:t>PUSH (an+1)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弹出： </a:t>
            </a:r>
            <a:r>
              <a:rPr lang="en-US" altLang="zh-CN" sz="2400" b="1" dirty="0">
                <a:hlinkClick r:id="rId1" action="ppaction://hlinksldjump"/>
              </a:rPr>
              <a:t>POP  (x)</a:t>
            </a:r>
            <a:endParaRPr lang="en-US" altLang="zh-CN" sz="2400" b="1" dirty="0"/>
          </a:p>
        </p:txBody>
      </p:sp>
      <p:sp>
        <p:nvSpPr>
          <p:cNvPr id="180324" name="Rectangle 1124"/>
          <p:cNvSpPr/>
          <p:nvPr/>
        </p:nvSpPr>
        <p:spPr>
          <a:xfrm>
            <a:off x="3227388" y="5930900"/>
            <a:ext cx="4616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前提：一定要预设栈顶指针</a:t>
            </a:r>
            <a:r>
              <a:rPr lang="en-US" altLang="zh-CN" sz="2400" b="1" dirty="0">
                <a:solidFill>
                  <a:srgbClr val="0000FF"/>
                </a:solidFill>
              </a:rPr>
              <a:t>top</a:t>
            </a:r>
            <a:r>
              <a:rPr lang="zh-CN" altLang="en-US" sz="2400" b="1" dirty="0">
                <a:solidFill>
                  <a:srgbClr val="0000FF"/>
                </a:solidFill>
              </a:rPr>
              <a:t>！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pSp>
        <p:nvGrpSpPr>
          <p:cNvPr id="6" name="Group 1135"/>
          <p:cNvGrpSpPr/>
          <p:nvPr/>
        </p:nvGrpSpPr>
        <p:grpSpPr>
          <a:xfrm>
            <a:off x="-34925" y="1457325"/>
            <a:ext cx="1016000" cy="3117850"/>
            <a:chOff x="-22" y="918"/>
            <a:chExt cx="640" cy="1964"/>
          </a:xfrm>
        </p:grpSpPr>
        <p:sp>
          <p:nvSpPr>
            <p:cNvPr id="13344" name="Text Box 1107"/>
            <p:cNvSpPr txBox="1"/>
            <p:nvPr/>
          </p:nvSpPr>
          <p:spPr>
            <a:xfrm>
              <a:off x="-22" y="2632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ea typeface="楷体_GB2312"/>
                </a:rPr>
                <a:t>低地址</a:t>
              </a:r>
              <a:endParaRPr lang="zh-CN" altLang="en-US" sz="2000" b="1" dirty="0">
                <a:ea typeface="楷体_GB2312"/>
              </a:endParaRPr>
            </a:p>
          </p:txBody>
        </p:sp>
        <p:sp>
          <p:nvSpPr>
            <p:cNvPr id="13345" name="Text Box 1108"/>
            <p:cNvSpPr txBox="1"/>
            <p:nvPr/>
          </p:nvSpPr>
          <p:spPr>
            <a:xfrm>
              <a:off x="0" y="918"/>
              <a:ext cx="6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ea typeface="楷体_GB2312"/>
                </a:rPr>
                <a:t>高地址</a:t>
              </a:r>
              <a:endParaRPr lang="zh-CN" altLang="en-US" sz="2000" b="1" dirty="0">
                <a:ea typeface="楷体_GB2312"/>
              </a:endParaRPr>
            </a:p>
          </p:txBody>
        </p:sp>
        <p:sp>
          <p:nvSpPr>
            <p:cNvPr id="13346" name="Rectangle 1125"/>
            <p:cNvSpPr/>
            <p:nvPr/>
          </p:nvSpPr>
          <p:spPr>
            <a:xfrm>
              <a:off x="113" y="1708"/>
              <a:ext cx="3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v[i]</a:t>
              </a:r>
              <a:endParaRPr lang="en-US" altLang="zh-CN" sz="2400" b="1" dirty="0"/>
            </a:p>
          </p:txBody>
        </p:sp>
      </p:grpSp>
      <p:grpSp>
        <p:nvGrpSpPr>
          <p:cNvPr id="7" name="Group 1130"/>
          <p:cNvGrpSpPr/>
          <p:nvPr/>
        </p:nvGrpSpPr>
        <p:grpSpPr>
          <a:xfrm>
            <a:off x="920750" y="955675"/>
            <a:ext cx="1736725" cy="3678238"/>
            <a:chOff x="580" y="602"/>
            <a:chExt cx="1094" cy="2317"/>
          </a:xfrm>
        </p:grpSpPr>
        <p:sp>
          <p:nvSpPr>
            <p:cNvPr id="13327" name="Rectangle 1044"/>
            <p:cNvSpPr/>
            <p:nvPr/>
          </p:nvSpPr>
          <p:spPr>
            <a:xfrm>
              <a:off x="596" y="2632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1</a:t>
              </a:r>
              <a:endParaRPr lang="en-US" altLang="zh-CN" sz="2400" dirty="0"/>
            </a:p>
          </p:txBody>
        </p:sp>
        <p:sp>
          <p:nvSpPr>
            <p:cNvPr id="13328" name="Rectangle 1045"/>
            <p:cNvSpPr/>
            <p:nvPr/>
          </p:nvSpPr>
          <p:spPr>
            <a:xfrm>
              <a:off x="596" y="2345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2</a:t>
              </a:r>
              <a:endParaRPr lang="en-US" altLang="zh-CN" sz="2400" dirty="0"/>
            </a:p>
          </p:txBody>
        </p:sp>
        <p:sp>
          <p:nvSpPr>
            <p:cNvPr id="13329" name="Rectangle 1046"/>
            <p:cNvSpPr/>
            <p:nvPr/>
          </p:nvSpPr>
          <p:spPr>
            <a:xfrm>
              <a:off x="580" y="1730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 a</a:t>
              </a:r>
              <a:r>
                <a:rPr lang="en-US" altLang="zh-CN" sz="2400" b="1" baseline="-10000" dirty="0">
                  <a:solidFill>
                    <a:srgbClr val="0000FF"/>
                  </a:solidFill>
                </a:rPr>
                <a:t>i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13330" name="Rectangle 1048"/>
            <p:cNvSpPr/>
            <p:nvPr/>
          </p:nvSpPr>
          <p:spPr>
            <a:xfrm>
              <a:off x="618" y="1146"/>
              <a:ext cx="1056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n</a:t>
              </a:r>
              <a:endParaRPr lang="en-US" altLang="zh-CN" sz="2400" dirty="0"/>
            </a:p>
          </p:txBody>
        </p:sp>
        <p:sp>
          <p:nvSpPr>
            <p:cNvPr id="13331" name="Line 1051"/>
            <p:cNvSpPr/>
            <p:nvPr/>
          </p:nvSpPr>
          <p:spPr>
            <a:xfrm>
              <a:off x="596" y="928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2" name="Line 1053"/>
            <p:cNvSpPr/>
            <p:nvPr/>
          </p:nvSpPr>
          <p:spPr>
            <a:xfrm>
              <a:off x="596" y="141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3" name="Line 1054"/>
            <p:cNvSpPr/>
            <p:nvPr/>
          </p:nvSpPr>
          <p:spPr>
            <a:xfrm>
              <a:off x="596" y="171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4" name="Line 1055"/>
            <p:cNvSpPr/>
            <p:nvPr/>
          </p:nvSpPr>
          <p:spPr>
            <a:xfrm>
              <a:off x="596" y="202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5" name="Line 1056"/>
            <p:cNvSpPr/>
            <p:nvPr/>
          </p:nvSpPr>
          <p:spPr>
            <a:xfrm>
              <a:off x="596" y="2345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6" name="Line 1057"/>
            <p:cNvSpPr/>
            <p:nvPr/>
          </p:nvSpPr>
          <p:spPr>
            <a:xfrm>
              <a:off x="596" y="2632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7" name="Line 1058"/>
            <p:cNvSpPr/>
            <p:nvPr/>
          </p:nvSpPr>
          <p:spPr>
            <a:xfrm>
              <a:off x="596" y="2919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8" name="Line 1059"/>
            <p:cNvSpPr/>
            <p:nvPr/>
          </p:nvSpPr>
          <p:spPr>
            <a:xfrm>
              <a:off x="596" y="928"/>
              <a:ext cx="0" cy="19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9" name="Line 1060"/>
            <p:cNvSpPr/>
            <p:nvPr/>
          </p:nvSpPr>
          <p:spPr>
            <a:xfrm>
              <a:off x="1652" y="928"/>
              <a:ext cx="0" cy="19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0" name="Rectangle 1104"/>
            <p:cNvSpPr/>
            <p:nvPr/>
          </p:nvSpPr>
          <p:spPr>
            <a:xfrm>
              <a:off x="596" y="2038"/>
              <a:ext cx="105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     ……</a:t>
              </a:r>
              <a:endParaRPr lang="en-US" altLang="zh-CN" sz="2400" dirty="0"/>
            </a:p>
          </p:txBody>
        </p:sp>
        <p:sp>
          <p:nvSpPr>
            <p:cNvPr id="13341" name="Rectangle 1106"/>
            <p:cNvSpPr/>
            <p:nvPr/>
          </p:nvSpPr>
          <p:spPr>
            <a:xfrm>
              <a:off x="580" y="602"/>
              <a:ext cx="10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顺序表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V[n]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13342" name="Rectangle 1128"/>
            <p:cNvSpPr/>
            <p:nvPr/>
          </p:nvSpPr>
          <p:spPr>
            <a:xfrm>
              <a:off x="596" y="1404"/>
              <a:ext cx="105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     ……</a:t>
              </a:r>
              <a:endParaRPr lang="en-US" altLang="zh-CN" sz="2400" dirty="0"/>
            </a:p>
          </p:txBody>
        </p:sp>
        <p:sp>
          <p:nvSpPr>
            <p:cNvPr id="13343" name="Line 1129"/>
            <p:cNvSpPr/>
            <p:nvPr/>
          </p:nvSpPr>
          <p:spPr>
            <a:xfrm>
              <a:off x="596" y="113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80332" name="AutoShape 1132">
            <a:hlinkClick r:id="rId2" action="ppaction://hlinksldjump"/>
          </p:cNvPr>
          <p:cNvSpPr/>
          <p:nvPr/>
        </p:nvSpPr>
        <p:spPr>
          <a:xfrm>
            <a:off x="8137525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80334" name="Rectangle 1134"/>
          <p:cNvSpPr/>
          <p:nvPr/>
        </p:nvSpPr>
        <p:spPr>
          <a:xfrm>
            <a:off x="5965825" y="1416050"/>
            <a:ext cx="742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a</a:t>
            </a:r>
            <a:r>
              <a:rPr lang="en-US" altLang="zh-CN" sz="2400" b="1" baseline="-10000" dirty="0">
                <a:solidFill>
                  <a:srgbClr val="0000FF"/>
                </a:solidFill>
              </a:rPr>
              <a:t>n+1</a:t>
            </a:r>
            <a:endParaRPr lang="en-US" altLang="zh-CN" sz="2400" b="1" baseline="-10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0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0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0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0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0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0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0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22" grpId="0"/>
      <p:bldP spid="180323" grpId="0"/>
      <p:bldP spid="180324" grpId="0"/>
      <p:bldP spid="180332" grpId="0" animBg="1"/>
      <p:bldP spid="1803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22" name="Rectangle 2"/>
          <p:cNvSpPr>
            <a:spLocks noGrp="1"/>
          </p:cNvSpPr>
          <p:nvPr>
            <p:ph type="title"/>
          </p:nvPr>
        </p:nvSpPr>
        <p:spPr>
          <a:xfrm>
            <a:off x="490538" y="315913"/>
            <a:ext cx="7967662" cy="914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入栈操作</a:t>
            </a:r>
            <a:r>
              <a:rPr lang="en-US" altLang="zh-CN" sz="2400" b="1" dirty="0">
                <a:solidFill>
                  <a:srgbClr val="0000FF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例如用堆栈存放（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b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（注意要遵循</a:t>
            </a:r>
            <a:r>
              <a:rPr lang="zh-CN" altLang="en-US" sz="2400" b="1" dirty="0">
                <a:solidFill>
                  <a:srgbClr val="0000FF"/>
                </a:solidFill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后进先出</a:t>
            </a:r>
            <a:r>
              <a:rPr lang="zh-CN" altLang="en-US" sz="2400" b="1" dirty="0">
                <a:solidFill>
                  <a:srgbClr val="0000FF"/>
                </a:solidFill>
              </a:rPr>
              <a:t>”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 原则）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84324" name="Text Box 4"/>
          <p:cNvSpPr txBox="1"/>
          <p:nvPr/>
        </p:nvSpPr>
        <p:spPr>
          <a:xfrm>
            <a:off x="2678113" y="2859088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solidFill>
                  <a:srgbClr val="0000FF"/>
                </a:solidFill>
                <a:ea typeface="PMingLiU" pitchFamily="18" charset="-120"/>
              </a:rPr>
              <a:t>A</a:t>
            </a:r>
            <a:endParaRPr lang="zh-TW" altLang="zh-TW" sz="2400" b="1" dirty="0">
              <a:solidFill>
                <a:srgbClr val="0000FF"/>
              </a:solidFill>
              <a:ea typeface="PMingLiU" pitchFamily="18" charset="-120"/>
            </a:endParaRPr>
          </a:p>
        </p:txBody>
      </p:sp>
      <p:sp>
        <p:nvSpPr>
          <p:cNvPr id="184325" name="Rectangle 5"/>
          <p:cNvSpPr/>
          <p:nvPr/>
        </p:nvSpPr>
        <p:spPr>
          <a:xfrm>
            <a:off x="2678113" y="1419225"/>
            <a:ext cx="4572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84326" name="Rectangle 6"/>
          <p:cNvSpPr/>
          <p:nvPr/>
        </p:nvSpPr>
        <p:spPr>
          <a:xfrm>
            <a:off x="3903663" y="1419225"/>
            <a:ext cx="4572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A</a:t>
            </a:r>
            <a:endParaRPr lang="en-US" altLang="zh-TW" sz="2400" dirty="0">
              <a:ea typeface="PMingLiU" pitchFamily="18" charset="-120"/>
            </a:endParaRPr>
          </a:p>
        </p:txBody>
      </p:sp>
      <p:sp>
        <p:nvSpPr>
          <p:cNvPr id="184327" name="Rectangle 7"/>
          <p:cNvSpPr/>
          <p:nvPr/>
        </p:nvSpPr>
        <p:spPr>
          <a:xfrm>
            <a:off x="6423025" y="1419225"/>
            <a:ext cx="4572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C</a:t>
            </a: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B</a:t>
            </a: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A</a:t>
            </a:r>
            <a:endParaRPr lang="en-US" altLang="zh-TW" sz="2400" dirty="0">
              <a:ea typeface="PMingLiU" pitchFamily="18" charset="-120"/>
            </a:endParaRPr>
          </a:p>
        </p:txBody>
      </p:sp>
      <p:sp>
        <p:nvSpPr>
          <p:cNvPr id="184328" name="Rectangle 8"/>
          <p:cNvSpPr/>
          <p:nvPr/>
        </p:nvSpPr>
        <p:spPr>
          <a:xfrm>
            <a:off x="5127625" y="1419225"/>
            <a:ext cx="5334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zh-TW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B</a:t>
            </a:r>
            <a:endParaRPr lang="en-US" altLang="zh-TW" sz="2400" dirty="0">
              <a:ea typeface="PMingLiU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TW" sz="2400" dirty="0">
                <a:ea typeface="PMingLiU" pitchFamily="18" charset="-120"/>
              </a:rPr>
              <a:t>A</a:t>
            </a:r>
            <a:endParaRPr lang="en-US" altLang="zh-TW" sz="2400" dirty="0">
              <a:ea typeface="PMingLiU" pitchFamily="18" charset="-120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3111500" y="2668588"/>
            <a:ext cx="768350" cy="457200"/>
            <a:chOff x="1520" y="1811"/>
            <a:chExt cx="484" cy="288"/>
          </a:xfrm>
        </p:grpSpPr>
        <p:sp>
          <p:nvSpPr>
            <p:cNvPr id="14375" name="Line 11"/>
            <p:cNvSpPr/>
            <p:nvPr/>
          </p:nvSpPr>
          <p:spPr>
            <a:xfrm flipH="1">
              <a:off x="1520" y="197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6" name="Text Box 12"/>
            <p:cNvSpPr txBox="1"/>
            <p:nvPr/>
          </p:nvSpPr>
          <p:spPr>
            <a:xfrm>
              <a:off x="1621" y="1811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top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</p:txBody>
        </p:sp>
      </p:grpSp>
      <p:sp>
        <p:nvSpPr>
          <p:cNvPr id="184348" name="Rectangle 28"/>
          <p:cNvSpPr/>
          <p:nvPr/>
        </p:nvSpPr>
        <p:spPr>
          <a:xfrm>
            <a:off x="584200" y="3892550"/>
            <a:ext cx="20462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核心语句：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top</a:t>
            </a:r>
            <a:r>
              <a:rPr lang="en-US" altLang="zh-CN" sz="2400" dirty="0"/>
              <a:t>=L;</a:t>
            </a:r>
            <a:endParaRPr lang="en-US" altLang="zh-CN" sz="2400" dirty="0"/>
          </a:p>
        </p:txBody>
      </p:sp>
      <p:sp>
        <p:nvSpPr>
          <p:cNvPr id="184349" name="Text Box 29"/>
          <p:cNvSpPr txBox="1"/>
          <p:nvPr/>
        </p:nvSpPr>
        <p:spPr>
          <a:xfrm>
            <a:off x="3775075" y="4005263"/>
            <a:ext cx="3897313" cy="1989137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顺序栈中的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PUSH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函数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status Push(ElemType x) 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{ if(top&gt;M){</a:t>
            </a:r>
            <a:r>
              <a:rPr lang="zh-CN" altLang="en-US" sz="2400" dirty="0"/>
              <a:t>上溢</a:t>
            </a:r>
            <a:r>
              <a:rPr lang="en-US" altLang="zh-CN" sz="2400" dirty="0">
                <a:latin typeface="黑体" panose="02010609060101010101" pitchFamily="49" charset="-122"/>
              </a:rPr>
              <a:t>}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  else v[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top++</a:t>
            </a:r>
            <a:r>
              <a:rPr lang="en-US" altLang="zh-CN" sz="2400" dirty="0">
                <a:latin typeface="黑体" panose="02010609060101010101" pitchFamily="49" charset="-122"/>
              </a:rPr>
              <a:t>]=x;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}</a:t>
            </a:r>
            <a:endParaRPr lang="en-US" altLang="zh-CN" sz="2400" dirty="0">
              <a:latin typeface="黑体" panose="02010609060101010101" pitchFamily="49" charset="-122"/>
            </a:endParaRPr>
          </a:p>
        </p:txBody>
      </p:sp>
      <p:sp>
        <p:nvSpPr>
          <p:cNvPr id="184350" name="Rectangle 30"/>
          <p:cNvSpPr/>
          <p:nvPr/>
        </p:nvSpPr>
        <p:spPr>
          <a:xfrm>
            <a:off x="568325" y="5080000"/>
            <a:ext cx="1344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Push (B);</a:t>
            </a:r>
            <a:endParaRPr lang="en-US" altLang="zh-CN" sz="2400" dirty="0"/>
          </a:p>
        </p:txBody>
      </p:sp>
      <p:sp>
        <p:nvSpPr>
          <p:cNvPr id="184351" name="Rectangle 31"/>
          <p:cNvSpPr/>
          <p:nvPr/>
        </p:nvSpPr>
        <p:spPr>
          <a:xfrm>
            <a:off x="568325" y="5537200"/>
            <a:ext cx="1344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Push (C);</a:t>
            </a:r>
            <a:endParaRPr lang="en-US" altLang="zh-CN" sz="2400" dirty="0"/>
          </a:p>
        </p:txBody>
      </p:sp>
      <p:sp>
        <p:nvSpPr>
          <p:cNvPr id="184352" name="Rectangle 32"/>
          <p:cNvSpPr/>
          <p:nvPr/>
        </p:nvSpPr>
        <p:spPr>
          <a:xfrm>
            <a:off x="550863" y="5994400"/>
            <a:ext cx="1362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Push (D);</a:t>
            </a:r>
            <a:endParaRPr lang="en-US" altLang="zh-CN" sz="2400" dirty="0"/>
          </a:p>
        </p:txBody>
      </p:sp>
      <p:sp>
        <p:nvSpPr>
          <p:cNvPr id="184353" name="Rectangle 33"/>
          <p:cNvSpPr/>
          <p:nvPr/>
        </p:nvSpPr>
        <p:spPr>
          <a:xfrm>
            <a:off x="1466850" y="1419225"/>
            <a:ext cx="457200" cy="1905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84356" name="AutoShape 36">
            <a:hlinkClick r:id="" action="ppaction://hlinkshowjump?jump=previousslide"/>
          </p:cNvPr>
          <p:cNvSpPr/>
          <p:nvPr/>
        </p:nvSpPr>
        <p:spPr>
          <a:xfrm flipH="1">
            <a:off x="80264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39"/>
          <p:cNvGrpSpPr/>
          <p:nvPr/>
        </p:nvGrpSpPr>
        <p:grpSpPr>
          <a:xfrm>
            <a:off x="1893888" y="3003550"/>
            <a:ext cx="768350" cy="457200"/>
            <a:chOff x="1520" y="1811"/>
            <a:chExt cx="484" cy="288"/>
          </a:xfrm>
        </p:grpSpPr>
        <p:sp>
          <p:nvSpPr>
            <p:cNvPr id="14373" name="Line 40"/>
            <p:cNvSpPr/>
            <p:nvPr/>
          </p:nvSpPr>
          <p:spPr>
            <a:xfrm flipH="1">
              <a:off x="1520" y="197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4" name="Text Box 41"/>
            <p:cNvSpPr txBox="1"/>
            <p:nvPr/>
          </p:nvSpPr>
          <p:spPr>
            <a:xfrm>
              <a:off x="1621" y="1811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top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</p:txBody>
        </p:sp>
      </p:grpSp>
      <p:grpSp>
        <p:nvGrpSpPr>
          <p:cNvPr id="4" name="Group 42"/>
          <p:cNvGrpSpPr/>
          <p:nvPr/>
        </p:nvGrpSpPr>
        <p:grpSpPr>
          <a:xfrm>
            <a:off x="4303713" y="2211388"/>
            <a:ext cx="768350" cy="457200"/>
            <a:chOff x="1520" y="1811"/>
            <a:chExt cx="484" cy="288"/>
          </a:xfrm>
        </p:grpSpPr>
        <p:sp>
          <p:nvSpPr>
            <p:cNvPr id="14371" name="Line 43"/>
            <p:cNvSpPr/>
            <p:nvPr/>
          </p:nvSpPr>
          <p:spPr>
            <a:xfrm flipH="1">
              <a:off x="1520" y="197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2" name="Text Box 44"/>
            <p:cNvSpPr txBox="1"/>
            <p:nvPr/>
          </p:nvSpPr>
          <p:spPr>
            <a:xfrm>
              <a:off x="1621" y="1811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top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5514975" y="1887538"/>
            <a:ext cx="768350" cy="457200"/>
            <a:chOff x="1520" y="1811"/>
            <a:chExt cx="484" cy="288"/>
          </a:xfrm>
        </p:grpSpPr>
        <p:sp>
          <p:nvSpPr>
            <p:cNvPr id="14369" name="Line 46"/>
            <p:cNvSpPr/>
            <p:nvPr/>
          </p:nvSpPr>
          <p:spPr>
            <a:xfrm flipH="1">
              <a:off x="1520" y="197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70" name="Text Box 47"/>
            <p:cNvSpPr txBox="1"/>
            <p:nvPr/>
          </p:nvSpPr>
          <p:spPr>
            <a:xfrm>
              <a:off x="1621" y="1811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top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</p:txBody>
        </p:sp>
      </p:grpSp>
      <p:grpSp>
        <p:nvGrpSpPr>
          <p:cNvPr id="6" name="Group 48"/>
          <p:cNvGrpSpPr/>
          <p:nvPr/>
        </p:nvGrpSpPr>
        <p:grpSpPr>
          <a:xfrm>
            <a:off x="6848475" y="1525588"/>
            <a:ext cx="768350" cy="457200"/>
            <a:chOff x="1520" y="1811"/>
            <a:chExt cx="484" cy="288"/>
          </a:xfrm>
        </p:grpSpPr>
        <p:sp>
          <p:nvSpPr>
            <p:cNvPr id="14367" name="Line 49"/>
            <p:cNvSpPr/>
            <p:nvPr/>
          </p:nvSpPr>
          <p:spPr>
            <a:xfrm flipH="1">
              <a:off x="1520" y="197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68" name="Text Box 50"/>
            <p:cNvSpPr txBox="1"/>
            <p:nvPr/>
          </p:nvSpPr>
          <p:spPr>
            <a:xfrm>
              <a:off x="1621" y="1811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top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</p:txBody>
        </p:sp>
      </p:grpSp>
      <p:sp>
        <p:nvSpPr>
          <p:cNvPr id="184374" name="Rectangle 54"/>
          <p:cNvSpPr/>
          <p:nvPr/>
        </p:nvSpPr>
        <p:spPr>
          <a:xfrm>
            <a:off x="390525" y="2957513"/>
            <a:ext cx="1027113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/>
              <a:t>低地址</a:t>
            </a:r>
            <a:r>
              <a:rPr lang="en-US" altLang="zh-CN" sz="1800" b="1" dirty="0"/>
              <a:t>L</a:t>
            </a:r>
            <a:endParaRPr lang="en-US" altLang="zh-CN" sz="1800" b="1" dirty="0"/>
          </a:p>
        </p:txBody>
      </p:sp>
      <p:sp>
        <p:nvSpPr>
          <p:cNvPr id="184375" name="Rectangle 55"/>
          <p:cNvSpPr/>
          <p:nvPr/>
        </p:nvSpPr>
        <p:spPr>
          <a:xfrm>
            <a:off x="568325" y="4714875"/>
            <a:ext cx="1362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Push (A);</a:t>
            </a:r>
            <a:endParaRPr lang="en-US" altLang="zh-CN" sz="2400" dirty="0"/>
          </a:p>
        </p:txBody>
      </p:sp>
      <p:sp>
        <p:nvSpPr>
          <p:cNvPr id="184376" name="Rectangle 56"/>
          <p:cNvSpPr/>
          <p:nvPr/>
        </p:nvSpPr>
        <p:spPr>
          <a:xfrm>
            <a:off x="390525" y="1287463"/>
            <a:ext cx="1090613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/>
              <a:t>高地址</a:t>
            </a:r>
            <a:r>
              <a:rPr lang="en-US" altLang="zh-CN" sz="1800" b="1" dirty="0"/>
              <a:t>M</a:t>
            </a:r>
            <a:endParaRPr lang="en-US" altLang="zh-CN" sz="1800" b="1" dirty="0"/>
          </a:p>
        </p:txBody>
      </p:sp>
      <p:sp>
        <p:nvSpPr>
          <p:cNvPr id="184377" name="Rectangle 57"/>
          <p:cNvSpPr/>
          <p:nvPr/>
        </p:nvSpPr>
        <p:spPr>
          <a:xfrm>
            <a:off x="3916363" y="2462213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PMingLiU" pitchFamily="18" charset="-120"/>
              </a:rPr>
              <a:t>B</a:t>
            </a:r>
            <a:endParaRPr lang="en-US" altLang="zh-TW" sz="2400" b="1" dirty="0">
              <a:solidFill>
                <a:srgbClr val="0000FF"/>
              </a:solidFill>
              <a:ea typeface="PMingLiU" pitchFamily="18" charset="-120"/>
            </a:endParaRPr>
          </a:p>
        </p:txBody>
      </p:sp>
      <p:sp>
        <p:nvSpPr>
          <p:cNvPr id="184378" name="Rectangle 58"/>
          <p:cNvSpPr/>
          <p:nvPr/>
        </p:nvSpPr>
        <p:spPr>
          <a:xfrm>
            <a:off x="5127625" y="2109788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PMingLiU" pitchFamily="18" charset="-120"/>
              </a:rPr>
              <a:t>C</a:t>
            </a:r>
            <a:endParaRPr lang="en-US" altLang="zh-CN" sz="2400" b="1" dirty="0">
              <a:solidFill>
                <a:srgbClr val="0000FF"/>
              </a:solidFill>
              <a:ea typeface="PMingLiU" pitchFamily="18" charset="-120"/>
            </a:endParaRPr>
          </a:p>
        </p:txBody>
      </p:sp>
      <p:sp>
        <p:nvSpPr>
          <p:cNvPr id="184379" name="Rectangle 59"/>
          <p:cNvSpPr/>
          <p:nvPr/>
        </p:nvSpPr>
        <p:spPr>
          <a:xfrm>
            <a:off x="6423025" y="1779588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PMingLiU" pitchFamily="18" charset="-120"/>
              </a:rPr>
              <a:t>D</a:t>
            </a:r>
            <a:endParaRPr lang="en-US" altLang="zh-CN" sz="2400" b="1" dirty="0">
              <a:solidFill>
                <a:srgbClr val="0000FF"/>
              </a:solidFill>
              <a:ea typeface="PMingLiU" pitchFamily="18" charset="-120"/>
            </a:endParaRPr>
          </a:p>
        </p:txBody>
      </p:sp>
      <p:sp>
        <p:nvSpPr>
          <p:cNvPr id="184381" name="Line 61"/>
          <p:cNvSpPr/>
          <p:nvPr/>
        </p:nvSpPr>
        <p:spPr>
          <a:xfrm flipV="1">
            <a:off x="1930400" y="4198938"/>
            <a:ext cx="1835150" cy="587375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cxnSp>
        <p:nvCxnSpPr>
          <p:cNvPr id="14364" name="直接连接符 42"/>
          <p:cNvCxnSpPr/>
          <p:nvPr/>
        </p:nvCxnSpPr>
        <p:spPr>
          <a:xfrm>
            <a:off x="1481138" y="3125788"/>
            <a:ext cx="914400" cy="914400"/>
          </a:xfrm>
          <a:prstGeom prst="line">
            <a:avLst/>
          </a:prstGeom>
          <a:ln w="9525">
            <a:noFill/>
          </a:ln>
        </p:spPr>
      </p:cxnSp>
      <p:cxnSp>
        <p:nvCxnSpPr>
          <p:cNvPr id="14365" name="直接连接符 43"/>
          <p:cNvCxnSpPr/>
          <p:nvPr/>
        </p:nvCxnSpPr>
        <p:spPr>
          <a:xfrm>
            <a:off x="1633538" y="3278188"/>
            <a:ext cx="914400" cy="914400"/>
          </a:xfrm>
          <a:prstGeom prst="line">
            <a:avLst/>
          </a:prstGeom>
          <a:ln w="9525">
            <a:noFill/>
          </a:ln>
        </p:spPr>
      </p:cxnSp>
      <p:cxnSp>
        <p:nvCxnSpPr>
          <p:cNvPr id="14366" name="直接连接符 44"/>
          <p:cNvCxnSpPr/>
          <p:nvPr/>
        </p:nvCxnSpPr>
        <p:spPr>
          <a:xfrm>
            <a:off x="1785938" y="3430588"/>
            <a:ext cx="914400" cy="914400"/>
          </a:xfrm>
          <a:prstGeom prst="line">
            <a:avLst/>
          </a:prstGeom>
          <a:ln w="9525">
            <a:noFill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>
                                            <p:txEl>
                                              <p:charRg st="1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9">
                                            <p:txEl>
                                              <p:charRg st="74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4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4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84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4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8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4" grpId="0"/>
      <p:bldP spid="184325" grpId="0" animBg="1"/>
      <p:bldP spid="184326" grpId="0" animBg="1"/>
      <p:bldP spid="184327" grpId="0" animBg="1"/>
      <p:bldP spid="184328" grpId="0" animBg="1"/>
      <p:bldP spid="184348" grpId="0"/>
      <p:bldP spid="184349" grpId="0" animBg="1" advAuto="1000" build="p"/>
      <p:bldP spid="184350" grpId="0"/>
      <p:bldP spid="184351" grpId="0"/>
      <p:bldP spid="184352" grpId="0"/>
      <p:bldP spid="184353" grpId="0" animBg="1"/>
      <p:bldP spid="184356" grpId="0" animBg="1"/>
      <p:bldP spid="184374" grpId="0"/>
      <p:bldP spid="184375" grpId="0"/>
      <p:bldP spid="184376" grpId="0"/>
      <p:bldP spid="184377" grpId="0"/>
      <p:bldP spid="184378" grpId="0"/>
      <p:bldP spid="1843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3" name="Rectangle 6"/>
          <p:cNvSpPr>
            <a:spLocks noGrp="1"/>
          </p:cNvSpPr>
          <p:nvPr>
            <p:ph idx="1"/>
          </p:nvPr>
        </p:nvSpPr>
        <p:spPr>
          <a:xfrm>
            <a:off x="265113" y="58738"/>
            <a:ext cx="8586787" cy="647065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sz="2400" b="1" dirty="0">
                <a:solidFill>
                  <a:srgbClr val="800000"/>
                </a:solidFill>
              </a:rPr>
              <a:t>入栈</a:t>
            </a:r>
            <a:endParaRPr lang="zh-CN" altLang="en-US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int Push (SeqStack *S, StackData x) {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插入元素</a:t>
            </a:r>
            <a:r>
              <a:rPr lang="en-US" altLang="zh-CN" sz="2400" b="1" dirty="0">
                <a:solidFill>
                  <a:srgbClr val="0000FF"/>
                </a:solidFill>
              </a:rPr>
              <a:t>x</a:t>
            </a:r>
            <a:r>
              <a:rPr lang="zh-CN" altLang="en-US" sz="2400" b="1" dirty="0">
                <a:solidFill>
                  <a:srgbClr val="0000FF"/>
                </a:solidFill>
              </a:rPr>
              <a:t>为新的栈顶元素</a:t>
            </a:r>
            <a:r>
              <a:rPr lang="zh-CN" altLang="en-US" sz="2400" b="1" dirty="0">
                <a:solidFill>
                  <a:srgbClr val="800000"/>
                </a:solidFill>
              </a:rPr>
              <a:t> </a:t>
            </a:r>
            <a:endParaRPr lang="zh-CN" altLang="en-US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zh-CN" altLang="en-US" sz="2400" b="1" dirty="0">
                <a:solidFill>
                  <a:srgbClr val="800000"/>
                </a:solidFill>
              </a:rPr>
              <a:t>    </a:t>
            </a:r>
            <a:r>
              <a:rPr lang="en-US" altLang="zh-CN" sz="2400" b="1" dirty="0">
                <a:solidFill>
                  <a:srgbClr val="800000"/>
                </a:solidFill>
              </a:rPr>
              <a:t>if ( StackFull (S) ){ 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S-&gt;base =( StackData *)malloc(S-&gt;base ,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		(S-&gt;stacksize+ STACKINCREMENT) * 			sizeof(StackData));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if(! S-&gt;base)exit(overflow);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 	S-&gt;top= S-&gt;base + S-&gt;stacksize;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S-&gt;stacksize+= STACKINCREMENT; </a:t>
            </a:r>
            <a:r>
              <a:rPr lang="en-US" altLang="zh-CN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追加存储空间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}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 *(S-&gt;top)=x;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	 </a:t>
            </a:r>
            <a:r>
              <a:rPr lang="zh-CN" altLang="en-US" sz="2400" b="1" dirty="0">
                <a:solidFill>
                  <a:srgbClr val="800000"/>
                </a:solidFill>
              </a:rPr>
              <a:t>（</a:t>
            </a:r>
            <a:r>
              <a:rPr lang="en-US" altLang="zh-CN" sz="2400" b="1" dirty="0">
                <a:solidFill>
                  <a:srgbClr val="800000"/>
                </a:solidFill>
              </a:rPr>
              <a:t>S-&gt;top</a:t>
            </a:r>
            <a:r>
              <a:rPr lang="zh-CN" altLang="en-US" sz="2400" b="1" dirty="0">
                <a:solidFill>
                  <a:srgbClr val="800000"/>
                </a:solidFill>
              </a:rPr>
              <a:t>）</a:t>
            </a:r>
            <a:r>
              <a:rPr lang="en-US" altLang="zh-CN" sz="2400" b="1" dirty="0">
                <a:solidFill>
                  <a:srgbClr val="800000"/>
                </a:solidFill>
              </a:rPr>
              <a:t>++;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Return ok</a:t>
            </a:r>
            <a:endParaRPr lang="en-US" altLang="zh-CN" sz="2400" b="1" dirty="0">
              <a:solidFill>
                <a:srgbClr val="800000"/>
              </a:solidFill>
            </a:endParaRPr>
          </a:p>
          <a:p>
            <a:pPr algn="just" eaLnBrk="1" hangingPunct="1"/>
            <a:r>
              <a:rPr lang="en-US" altLang="zh-CN" sz="2400" b="1" dirty="0">
                <a:solidFill>
                  <a:srgbClr val="800000"/>
                </a:solidFill>
              </a:rPr>
              <a:t>}</a:t>
            </a:r>
            <a:endParaRPr lang="en-US" altLang="zh-CN" sz="2400" b="1" dirty="0">
              <a:solidFill>
                <a:srgbClr val="800000"/>
              </a:solidFill>
            </a:endParaRPr>
          </a:p>
        </p:txBody>
      </p:sp>
      <p:sp>
        <p:nvSpPr>
          <p:cNvPr id="15364" name="文本框 4"/>
          <p:cNvSpPr txBox="1"/>
          <p:nvPr/>
        </p:nvSpPr>
        <p:spPr>
          <a:xfrm>
            <a:off x="4572000" y="4989513"/>
            <a:ext cx="2501900" cy="573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宋体" panose="02010600030101010101" pitchFamily="2" charset="-122"/>
                <a:ea typeface="仿宋_GB2312"/>
              </a:rPr>
              <a:t>*S.top++=e;</a:t>
            </a:r>
            <a:endParaRPr lang="en-US" altLang="zh-CN" sz="2800" b="1" dirty="0">
              <a:solidFill>
                <a:srgbClr val="0000CC"/>
              </a:solidFill>
              <a:latin typeface="宋体" panose="02010600030101010101" pitchFamily="2" charset="-122"/>
              <a:ea typeface="仿宋_GB231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3298" name="Rectangle 2"/>
          <p:cNvSpPr>
            <a:spLocks noGrp="1"/>
          </p:cNvSpPr>
          <p:nvPr>
            <p:ph type="title"/>
          </p:nvPr>
        </p:nvSpPr>
        <p:spPr>
          <a:xfrm>
            <a:off x="354013" y="263525"/>
            <a:ext cx="7772400" cy="919163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出栈操作</a:t>
            </a:r>
            <a:r>
              <a:rPr lang="en-US" altLang="zh-CN" sz="2400" b="1" dirty="0">
                <a:solidFill>
                  <a:srgbClr val="0000FF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例如从栈中取出</a:t>
            </a:r>
            <a:r>
              <a:rPr lang="zh-CN" altLang="en-US" sz="2400" b="1" dirty="0">
                <a:solidFill>
                  <a:schemeClr val="tx1"/>
                </a:solidFill>
              </a:rPr>
              <a:t>‘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</a:rPr>
              <a:t>’</a:t>
            </a:r>
            <a:b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lang="en-US" altLang="zh-CN" sz="2800" b="1" dirty="0">
                <a:latin typeface="宋体" panose="02010600030101010101" pitchFamily="2" charset="-122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（注意要遵循</a:t>
            </a:r>
            <a:r>
              <a:rPr lang="zh-CN" altLang="en-US" sz="2400" b="1" dirty="0">
                <a:solidFill>
                  <a:srgbClr val="0000FF"/>
                </a:solidFill>
              </a:rPr>
              <a:t>“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后进先出</a:t>
            </a:r>
            <a:r>
              <a:rPr lang="zh-CN" altLang="en-US" sz="2400" b="1" dirty="0">
                <a:solidFill>
                  <a:srgbClr val="0000FF"/>
                </a:solidFill>
              </a:rPr>
              <a:t>”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 原则）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54"/>
          <p:cNvGrpSpPr/>
          <p:nvPr/>
        </p:nvGrpSpPr>
        <p:grpSpPr>
          <a:xfrm>
            <a:off x="5484813" y="1520825"/>
            <a:ext cx="1201737" cy="1922463"/>
            <a:chOff x="3546" y="958"/>
            <a:chExt cx="757" cy="1211"/>
          </a:xfrm>
        </p:grpSpPr>
        <p:sp>
          <p:nvSpPr>
            <p:cNvPr id="16414" name="Text Box 12"/>
            <p:cNvSpPr txBox="1"/>
            <p:nvPr/>
          </p:nvSpPr>
          <p:spPr>
            <a:xfrm>
              <a:off x="3564" y="1180"/>
              <a:ext cx="257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99CCFF"/>
                  </a:solidFill>
                  <a:ea typeface="PMingLiU" pitchFamily="18" charset="-120"/>
                </a:rPr>
                <a:t>D</a:t>
              </a:r>
              <a:endParaRPr lang="en-US" altLang="zh-TW" sz="2400" b="1" dirty="0">
                <a:solidFill>
                  <a:srgbClr val="99CCFF"/>
                </a:solidFill>
                <a:ea typeface="PMingLiU" pitchFamily="18" charset="-120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99CCFF"/>
                  </a:solidFill>
                  <a:ea typeface="PMingLiU" pitchFamily="18" charset="-120"/>
                </a:rPr>
                <a:t>C</a:t>
              </a:r>
              <a:endParaRPr lang="en-US" altLang="zh-TW" sz="2400" b="1" dirty="0">
                <a:solidFill>
                  <a:srgbClr val="99CCFF"/>
                </a:solidFill>
                <a:ea typeface="PMingLiU" pitchFamily="18" charset="-120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99CCFF"/>
                  </a:solidFill>
                  <a:ea typeface="PMingLiU" pitchFamily="18" charset="-120"/>
                </a:rPr>
                <a:t>B</a:t>
              </a:r>
              <a:endParaRPr lang="en-US" altLang="zh-TW" sz="2400" b="1" dirty="0">
                <a:solidFill>
                  <a:srgbClr val="99CCFF"/>
                </a:solidFill>
                <a:ea typeface="PMingLiU" pitchFamily="18" charset="-120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A</a:t>
              </a:r>
              <a:endParaRPr lang="zh-TW" altLang="zh-TW" sz="2400" b="1" dirty="0">
                <a:ea typeface="PMingLiU" pitchFamily="18" charset="-120"/>
              </a:endParaRPr>
            </a:p>
          </p:txBody>
        </p:sp>
        <p:sp>
          <p:nvSpPr>
            <p:cNvPr id="16415" name="Rectangle 13"/>
            <p:cNvSpPr/>
            <p:nvPr/>
          </p:nvSpPr>
          <p:spPr>
            <a:xfrm>
              <a:off x="3546" y="958"/>
              <a:ext cx="288" cy="12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16416" name="Group 17"/>
            <p:cNvGrpSpPr/>
            <p:nvPr/>
          </p:nvGrpSpPr>
          <p:grpSpPr>
            <a:xfrm>
              <a:off x="3819" y="1705"/>
              <a:ext cx="484" cy="288"/>
              <a:chOff x="1520" y="1811"/>
              <a:chExt cx="484" cy="288"/>
            </a:xfrm>
          </p:grpSpPr>
          <p:sp>
            <p:nvSpPr>
              <p:cNvPr id="16417" name="Line 18"/>
              <p:cNvSpPr/>
              <p:nvPr/>
            </p:nvSpPr>
            <p:spPr>
              <a:xfrm flipH="1">
                <a:off x="1520" y="1973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18" name="Text Box 19"/>
              <p:cNvSpPr txBox="1"/>
              <p:nvPr/>
            </p:nvSpPr>
            <p:spPr>
              <a:xfrm>
                <a:off x="1621" y="1811"/>
                <a:ext cx="38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0000FF"/>
                    </a:solidFill>
                    <a:ea typeface="PMingLiU" pitchFamily="18" charset="-120"/>
                  </a:rPr>
                  <a:t>top</a:t>
                </a:r>
                <a:endParaRPr lang="en-US" altLang="zh-TW" sz="2400" b="1" dirty="0">
                  <a:solidFill>
                    <a:srgbClr val="0000FF"/>
                  </a:solidFill>
                  <a:ea typeface="PMingLiU" pitchFamily="18" charset="-120"/>
                </a:endParaRPr>
              </a:p>
            </p:txBody>
          </p:sp>
        </p:grpSp>
      </p:grpSp>
      <p:grpSp>
        <p:nvGrpSpPr>
          <p:cNvPr id="4" name="Group 48"/>
          <p:cNvGrpSpPr/>
          <p:nvPr/>
        </p:nvGrpSpPr>
        <p:grpSpPr>
          <a:xfrm>
            <a:off x="4241800" y="1487488"/>
            <a:ext cx="1168400" cy="1905000"/>
            <a:chOff x="2672" y="937"/>
            <a:chExt cx="736" cy="1200"/>
          </a:xfrm>
        </p:grpSpPr>
        <p:grpSp>
          <p:nvGrpSpPr>
            <p:cNvPr id="16408" name="Group 24"/>
            <p:cNvGrpSpPr/>
            <p:nvPr/>
          </p:nvGrpSpPr>
          <p:grpSpPr>
            <a:xfrm>
              <a:off x="2924" y="1396"/>
              <a:ext cx="484" cy="288"/>
              <a:chOff x="1520" y="1811"/>
              <a:chExt cx="484" cy="288"/>
            </a:xfrm>
          </p:grpSpPr>
          <p:sp>
            <p:nvSpPr>
              <p:cNvPr id="16412" name="Line 25"/>
              <p:cNvSpPr/>
              <p:nvPr/>
            </p:nvSpPr>
            <p:spPr>
              <a:xfrm flipH="1">
                <a:off x="1520" y="1973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13" name="Text Box 26"/>
              <p:cNvSpPr txBox="1"/>
              <p:nvPr/>
            </p:nvSpPr>
            <p:spPr>
              <a:xfrm>
                <a:off x="1621" y="1811"/>
                <a:ext cx="38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0000FF"/>
                    </a:solidFill>
                    <a:ea typeface="PMingLiU" pitchFamily="18" charset="-120"/>
                  </a:rPr>
                  <a:t>top</a:t>
                </a:r>
                <a:endParaRPr lang="en-US" altLang="zh-TW" sz="2400" b="1" dirty="0">
                  <a:solidFill>
                    <a:srgbClr val="0000FF"/>
                  </a:solidFill>
                  <a:ea typeface="PMingLiU" pitchFamily="18" charset="-120"/>
                </a:endParaRPr>
              </a:p>
            </p:txBody>
          </p:sp>
        </p:grpSp>
        <p:grpSp>
          <p:nvGrpSpPr>
            <p:cNvPr id="16409" name="Group 42"/>
            <p:cNvGrpSpPr/>
            <p:nvPr/>
          </p:nvGrpSpPr>
          <p:grpSpPr>
            <a:xfrm>
              <a:off x="2672" y="937"/>
              <a:ext cx="288" cy="1200"/>
              <a:chOff x="2672" y="937"/>
              <a:chExt cx="288" cy="1200"/>
            </a:xfrm>
          </p:grpSpPr>
          <p:sp>
            <p:nvSpPr>
              <p:cNvPr id="16410" name="Rectangle 14"/>
              <p:cNvSpPr/>
              <p:nvPr/>
            </p:nvSpPr>
            <p:spPr>
              <a:xfrm>
                <a:off x="2672" y="937"/>
                <a:ext cx="288" cy="120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TW" altLang="en-US" sz="2400" dirty="0">
                  <a:ea typeface="PMingLiU" pitchFamily="18" charset="-12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TW" altLang="en-US" sz="2400" b="1" dirty="0">
                    <a:solidFill>
                      <a:srgbClr val="99CCFF"/>
                    </a:solidFill>
                    <a:ea typeface="PMingLiU" pitchFamily="18" charset="-120"/>
                  </a:rPr>
                  <a:t>D</a:t>
                </a:r>
                <a:endParaRPr lang="zh-TW" altLang="zh-TW" sz="2400" b="1" dirty="0">
                  <a:solidFill>
                    <a:srgbClr val="99CCFF"/>
                  </a:solidFill>
                  <a:ea typeface="PMingLiU" pitchFamily="18" charset="-12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TW" altLang="en-US" sz="2400" b="1" dirty="0">
                    <a:solidFill>
                      <a:srgbClr val="99CCFF"/>
                    </a:solidFill>
                    <a:ea typeface="PMingLiU" pitchFamily="18" charset="-120"/>
                  </a:rPr>
                  <a:t>C</a:t>
                </a:r>
                <a:endParaRPr lang="zh-TW" altLang="zh-TW" sz="2400" b="1" dirty="0">
                  <a:solidFill>
                    <a:srgbClr val="99CCFF"/>
                  </a:solidFill>
                  <a:ea typeface="PMingLiU" pitchFamily="18" charset="-12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en-US" altLang="zh-TW" sz="2400" dirty="0">
                  <a:ea typeface="PMingLiU" pitchFamily="18" charset="-12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TW" sz="2400" dirty="0">
                    <a:ea typeface="PMingLiU" pitchFamily="18" charset="-120"/>
                  </a:rPr>
                  <a:t>A</a:t>
                </a:r>
                <a:endParaRPr lang="en-US" altLang="zh-TW" sz="2400" dirty="0">
                  <a:ea typeface="PMingLiU" pitchFamily="18" charset="-120"/>
                </a:endParaRPr>
              </a:p>
            </p:txBody>
          </p:sp>
          <p:sp>
            <p:nvSpPr>
              <p:cNvPr id="16411" name="Rectangle 35"/>
              <p:cNvSpPr/>
              <p:nvPr/>
            </p:nvSpPr>
            <p:spPr>
              <a:xfrm>
                <a:off x="2680" y="1594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0000FF"/>
                    </a:solidFill>
                    <a:ea typeface="PMingLiU" pitchFamily="18" charset="-120"/>
                  </a:rPr>
                  <a:t>B</a:t>
                </a:r>
                <a:endParaRPr lang="en-US" altLang="zh-TW" sz="2400" b="1" dirty="0">
                  <a:solidFill>
                    <a:srgbClr val="0000FF"/>
                  </a:solidFill>
                  <a:ea typeface="PMingLiU" pitchFamily="18" charset="-120"/>
                </a:endParaRPr>
              </a:p>
            </p:txBody>
          </p:sp>
        </p:grpSp>
      </p:grpSp>
      <p:grpSp>
        <p:nvGrpSpPr>
          <p:cNvPr id="7" name="Group 49"/>
          <p:cNvGrpSpPr/>
          <p:nvPr/>
        </p:nvGrpSpPr>
        <p:grpSpPr>
          <a:xfrm>
            <a:off x="2938463" y="1487488"/>
            <a:ext cx="1155700" cy="1905000"/>
            <a:chOff x="1870" y="937"/>
            <a:chExt cx="728" cy="1200"/>
          </a:xfrm>
        </p:grpSpPr>
        <p:sp>
          <p:nvSpPr>
            <p:cNvPr id="16403" name="Rectangle 16"/>
            <p:cNvSpPr/>
            <p:nvPr/>
          </p:nvSpPr>
          <p:spPr>
            <a:xfrm>
              <a:off x="1870" y="937"/>
              <a:ext cx="336" cy="12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TW" altLang="zh-TW" sz="2400" dirty="0"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TW" altLang="en-US" sz="2400" b="1" dirty="0">
                  <a:solidFill>
                    <a:srgbClr val="99CCFF"/>
                  </a:solidFill>
                  <a:ea typeface="PMingLiU" pitchFamily="18" charset="-120"/>
                </a:rPr>
                <a:t>D</a:t>
              </a:r>
              <a:endParaRPr lang="zh-TW" altLang="zh-TW" sz="2400" b="1" dirty="0">
                <a:solidFill>
                  <a:srgbClr val="99CCFF"/>
                </a:solidFill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C</a:t>
              </a:r>
              <a:endParaRPr lang="en-US" altLang="zh-TW" sz="2400" b="1" dirty="0"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B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A</a:t>
              </a:r>
              <a:endParaRPr lang="en-US" altLang="zh-TW" sz="2400" b="1" dirty="0">
                <a:ea typeface="PMingLiU" pitchFamily="18" charset="-120"/>
              </a:endParaRPr>
            </a:p>
          </p:txBody>
        </p:sp>
        <p:grpSp>
          <p:nvGrpSpPr>
            <p:cNvPr id="16404" name="Group 27"/>
            <p:cNvGrpSpPr/>
            <p:nvPr/>
          </p:nvGrpSpPr>
          <p:grpSpPr>
            <a:xfrm>
              <a:off x="2114" y="1192"/>
              <a:ext cx="484" cy="288"/>
              <a:chOff x="1520" y="1811"/>
              <a:chExt cx="484" cy="288"/>
            </a:xfrm>
          </p:grpSpPr>
          <p:sp>
            <p:nvSpPr>
              <p:cNvPr id="16406" name="Line 28"/>
              <p:cNvSpPr/>
              <p:nvPr/>
            </p:nvSpPr>
            <p:spPr>
              <a:xfrm flipH="1">
                <a:off x="1520" y="1973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07" name="Text Box 29"/>
              <p:cNvSpPr txBox="1"/>
              <p:nvPr/>
            </p:nvSpPr>
            <p:spPr>
              <a:xfrm>
                <a:off x="1621" y="1811"/>
                <a:ext cx="38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0000FF"/>
                    </a:solidFill>
                    <a:ea typeface="PMingLiU" pitchFamily="18" charset="-120"/>
                  </a:rPr>
                  <a:t>top</a:t>
                </a:r>
                <a:endParaRPr lang="en-US" altLang="zh-TW" sz="2400" b="1" dirty="0">
                  <a:solidFill>
                    <a:srgbClr val="0000FF"/>
                  </a:solidFill>
                  <a:ea typeface="PMingLiU" pitchFamily="18" charset="-120"/>
                </a:endParaRPr>
              </a:p>
            </p:txBody>
          </p:sp>
        </p:grpSp>
        <p:sp>
          <p:nvSpPr>
            <p:cNvPr id="16405" name="Rectangle 36"/>
            <p:cNvSpPr/>
            <p:nvPr/>
          </p:nvSpPr>
          <p:spPr>
            <a:xfrm>
              <a:off x="1870" y="1373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ea typeface="PMingLiU" pitchFamily="18" charset="-120"/>
              </a:endParaRPr>
            </a:p>
          </p:txBody>
        </p:sp>
      </p:grpSp>
      <p:grpSp>
        <p:nvGrpSpPr>
          <p:cNvPr id="9" name="Group 52"/>
          <p:cNvGrpSpPr/>
          <p:nvPr/>
        </p:nvGrpSpPr>
        <p:grpSpPr>
          <a:xfrm>
            <a:off x="582613" y="1266825"/>
            <a:ext cx="2333625" cy="2238375"/>
            <a:chOff x="367" y="798"/>
            <a:chExt cx="1470" cy="1410"/>
          </a:xfrm>
        </p:grpSpPr>
        <p:sp>
          <p:nvSpPr>
            <p:cNvPr id="16396" name="Rectangle 15"/>
            <p:cNvSpPr/>
            <p:nvPr/>
          </p:nvSpPr>
          <p:spPr>
            <a:xfrm>
              <a:off x="1028" y="958"/>
              <a:ext cx="288" cy="12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TW" altLang="zh-TW" sz="2400" dirty="0"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dirty="0">
                  <a:ea typeface="PMingLiU" pitchFamily="18" charset="-120"/>
                </a:rPr>
                <a:t>D</a:t>
              </a:r>
              <a:endParaRPr lang="en-US" altLang="zh-TW" sz="2400" dirty="0"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C</a:t>
              </a:r>
              <a:endParaRPr lang="en-US" altLang="zh-TW" sz="2400" b="1" dirty="0"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rgbClr val="0000FF"/>
                  </a:solidFill>
                  <a:ea typeface="PMingLiU" pitchFamily="18" charset="-120"/>
                </a:rPr>
                <a:t>B</a:t>
              </a:r>
              <a:endParaRPr lang="en-US" altLang="zh-TW" sz="2400" b="1" dirty="0">
                <a:solidFill>
                  <a:srgbClr val="0000FF"/>
                </a:solidFill>
                <a:ea typeface="PMingLiU" pitchFamily="18" charset="-12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A</a:t>
              </a:r>
              <a:endParaRPr lang="en-US" altLang="zh-TW" sz="2400" b="1" dirty="0">
                <a:ea typeface="PMingLiU" pitchFamily="18" charset="-120"/>
              </a:endParaRPr>
            </a:p>
          </p:txBody>
        </p:sp>
        <p:grpSp>
          <p:nvGrpSpPr>
            <p:cNvPr id="16397" name="Group 30"/>
            <p:cNvGrpSpPr/>
            <p:nvPr/>
          </p:nvGrpSpPr>
          <p:grpSpPr>
            <a:xfrm>
              <a:off x="1329" y="972"/>
              <a:ext cx="508" cy="288"/>
              <a:chOff x="1520" y="1798"/>
              <a:chExt cx="508" cy="288"/>
            </a:xfrm>
          </p:grpSpPr>
          <p:sp>
            <p:nvSpPr>
              <p:cNvPr id="16401" name="Line 31"/>
              <p:cNvSpPr/>
              <p:nvPr/>
            </p:nvSpPr>
            <p:spPr>
              <a:xfrm flipH="1">
                <a:off x="1520" y="1973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6402" name="Text Box 32"/>
              <p:cNvSpPr txBox="1"/>
              <p:nvPr/>
            </p:nvSpPr>
            <p:spPr>
              <a:xfrm>
                <a:off x="1621" y="1798"/>
                <a:ext cx="40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top</a:t>
                </a:r>
                <a:endParaRPr lang="en-US" altLang="zh-TW" sz="2400" b="1" dirty="0">
                  <a:solidFill>
                    <a:srgbClr val="0000FF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6398" name="Rectangle 33"/>
            <p:cNvSpPr/>
            <p:nvPr/>
          </p:nvSpPr>
          <p:spPr>
            <a:xfrm>
              <a:off x="367" y="1977"/>
              <a:ext cx="64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b="1" dirty="0"/>
                <a:t>低地址</a:t>
              </a:r>
              <a:r>
                <a:rPr lang="en-US" altLang="zh-CN" sz="1800" b="1" dirty="0"/>
                <a:t>L</a:t>
              </a:r>
              <a:endParaRPr lang="en-US" altLang="zh-CN" sz="1800" b="1" dirty="0"/>
            </a:p>
          </p:txBody>
        </p:sp>
        <p:sp>
          <p:nvSpPr>
            <p:cNvPr id="16399" name="Rectangle 34"/>
            <p:cNvSpPr/>
            <p:nvPr/>
          </p:nvSpPr>
          <p:spPr>
            <a:xfrm>
              <a:off x="367" y="798"/>
              <a:ext cx="68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b="1" dirty="0"/>
                <a:t>高地址</a:t>
              </a:r>
              <a:r>
                <a:rPr lang="en-US" altLang="zh-CN" sz="1800" b="1" dirty="0"/>
                <a:t>M</a:t>
              </a:r>
              <a:endParaRPr lang="en-US" altLang="zh-CN" sz="1800" b="1" dirty="0"/>
            </a:p>
          </p:txBody>
        </p:sp>
        <p:sp>
          <p:nvSpPr>
            <p:cNvPr id="16400" name="Rectangle 37"/>
            <p:cNvSpPr/>
            <p:nvPr/>
          </p:nvSpPr>
          <p:spPr>
            <a:xfrm>
              <a:off x="1061" y="1185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b="1" dirty="0">
                  <a:ea typeface="PMingLiU" pitchFamily="18" charset="-120"/>
                </a:rPr>
                <a:t>D</a:t>
              </a:r>
              <a:endParaRPr lang="en-US" altLang="zh-CN" sz="2400" b="1" dirty="0">
                <a:ea typeface="PMingLiU" pitchFamily="18" charset="-120"/>
              </a:endParaRPr>
            </a:p>
          </p:txBody>
        </p:sp>
      </p:grpSp>
      <p:sp>
        <p:nvSpPr>
          <p:cNvPr id="183334" name="Rectangle 38"/>
          <p:cNvSpPr/>
          <p:nvPr/>
        </p:nvSpPr>
        <p:spPr>
          <a:xfrm>
            <a:off x="354013" y="4089400"/>
            <a:ext cx="2600325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核心语句：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Pop ( 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Pop ( 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Printf( </a:t>
            </a:r>
            <a:r>
              <a:rPr lang="en-US" altLang="zh-CN" sz="2400" b="1" dirty="0">
                <a:solidFill>
                  <a:srgbClr val="0000FF"/>
                </a:solidFill>
              </a:rPr>
              <a:t>Pop ()</a:t>
            </a:r>
            <a:r>
              <a:rPr lang="en-US" altLang="zh-CN" sz="2400" b="1" dirty="0"/>
              <a:t> 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/>
          </a:p>
        </p:txBody>
      </p:sp>
      <p:sp>
        <p:nvSpPr>
          <p:cNvPr id="183335" name="Text Box 39"/>
          <p:cNvSpPr txBox="1"/>
          <p:nvPr/>
        </p:nvSpPr>
        <p:spPr>
          <a:xfrm>
            <a:off x="4027488" y="3965575"/>
            <a:ext cx="3271837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顺序栈中的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POP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函数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status Pop( )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{ if(top==L) { </a:t>
            </a:r>
            <a:r>
              <a:rPr lang="zh-CN" altLang="en-US" sz="2400" b="1" dirty="0"/>
              <a:t>下溢 </a:t>
            </a: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else { y=v[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--top</a:t>
            </a:r>
            <a:r>
              <a:rPr lang="en-US" altLang="zh-CN" sz="2400" b="1" dirty="0">
                <a:latin typeface="宋体" panose="02010600030101010101" pitchFamily="2" charset="-122"/>
              </a:rPr>
              <a:t>];     return(y);}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}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83342" name="Line 46"/>
          <p:cNvSpPr/>
          <p:nvPr/>
        </p:nvSpPr>
        <p:spPr>
          <a:xfrm flipV="1">
            <a:off x="1930400" y="4492625"/>
            <a:ext cx="1835150" cy="220663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3347" name="AutoShape 51">
            <a:hlinkClick r:id="rId1" action="ppaction://hlinksldjump"/>
          </p:cNvPr>
          <p:cNvSpPr/>
          <p:nvPr/>
        </p:nvSpPr>
        <p:spPr>
          <a:xfrm flipH="1">
            <a:off x="8010525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/>
      <p:bldP spid="183334" grpId="0"/>
      <p:bldP spid="183335" grpId="0"/>
      <p:bldP spid="1833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9012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563563"/>
            <a:ext cx="7772400" cy="5892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出栈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pop (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SeqStack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*S,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StackData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&amp;x)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若栈空返回0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否则栈顶元素退出到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并返回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StackEmpty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(S) ) return 0;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 --(S-&gt;top);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x = *(S-&gt;top);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return 1;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1" lang="en-US" altLang="zh-CN" sz="2800" b="1" i="0" u="sng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9442" name="Rectangle 1026"/>
          <p:cNvSpPr>
            <a:spLocks noGrp="1"/>
          </p:cNvSpPr>
          <p:nvPr>
            <p:ph type="title"/>
          </p:nvPr>
        </p:nvSpPr>
        <p:spPr>
          <a:xfrm>
            <a:off x="685800" y="9779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  <a:r>
              <a:rPr lang="zh-CN" altLang="en-US" sz="2800" b="1" dirty="0"/>
              <a:t>一个栈的输入序列是</a:t>
            </a:r>
            <a:r>
              <a:rPr lang="en-US" altLang="zh-CN" sz="2800" b="1" dirty="0"/>
              <a:t>12345</a:t>
            </a:r>
            <a:r>
              <a:rPr lang="zh-CN" altLang="en-US" sz="2800" b="1" dirty="0"/>
              <a:t>，若在入栈的过程中允许出栈</a:t>
            </a:r>
            <a:r>
              <a:rPr lang="zh-CN" altLang="en-US" sz="2800" dirty="0"/>
              <a:t>，</a:t>
            </a:r>
            <a:r>
              <a:rPr lang="zh-CN" altLang="en-US" sz="2800" b="1" dirty="0"/>
              <a:t>则栈的输出序列</a:t>
            </a:r>
            <a:r>
              <a:rPr lang="en-US" altLang="zh-CN" sz="2800" b="1" dirty="0"/>
              <a:t>43512</a:t>
            </a:r>
            <a:r>
              <a:rPr lang="zh-CN" altLang="en-US" sz="2800" b="1" dirty="0"/>
              <a:t>可能实现吗？</a:t>
            </a:r>
            <a:r>
              <a:rPr lang="en-US" altLang="zh-CN" sz="2800" b="1" dirty="0"/>
              <a:t>12345</a:t>
            </a:r>
            <a:r>
              <a:rPr lang="zh-CN" altLang="en-US" sz="2800" b="1" dirty="0"/>
              <a:t>的输出呢？</a:t>
            </a:r>
            <a:endParaRPr lang="zh-CN" altLang="en-US" sz="2800" b="1" dirty="0"/>
          </a:p>
        </p:txBody>
      </p:sp>
      <p:sp>
        <p:nvSpPr>
          <p:cNvPr id="189443" name="Rectangle 1027"/>
          <p:cNvSpPr>
            <a:spLocks noGrp="1"/>
          </p:cNvSpPr>
          <p:nvPr>
            <p:ph idx="1"/>
          </p:nvPr>
        </p:nvSpPr>
        <p:spPr>
          <a:xfrm>
            <a:off x="685800" y="2162175"/>
            <a:ext cx="7772400" cy="2017713"/>
          </a:xfrm>
          <a:ln/>
        </p:spPr>
        <p:txBody>
          <a:bodyPr vert="horz" wrap="square" lIns="91440" tIns="45720" rIns="91440" bIns="45720" anchor="t" anchorCtr="0"/>
          <a:p>
            <a:pPr marL="762000" indent="-762000" algn="just" eaLnBrk="1" hangingPunct="1">
              <a:buNone/>
            </a:pPr>
            <a:r>
              <a:rPr lang="en-US" altLang="zh-CN" sz="2800" b="1" dirty="0"/>
              <a:t>    43512</a:t>
            </a:r>
            <a:r>
              <a:rPr lang="zh-CN" altLang="en-US" sz="2800" b="1" dirty="0"/>
              <a:t>不可能实现，主要是其中的</a:t>
            </a:r>
            <a:r>
              <a:rPr lang="en-US" altLang="zh-CN" sz="2800" b="1" dirty="0"/>
              <a:t>12</a:t>
            </a:r>
            <a:r>
              <a:rPr lang="zh-CN" altLang="en-US" sz="2800" b="1" dirty="0"/>
              <a:t>顺序不能实现；</a:t>
            </a:r>
            <a:endParaRPr lang="zh-CN" altLang="en-US" sz="2800" b="1" dirty="0"/>
          </a:p>
          <a:p>
            <a:pPr marL="762000" indent="-762000" algn="just" eaLnBrk="1" hangingPunct="1"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12345</a:t>
            </a:r>
            <a:r>
              <a:rPr lang="zh-CN" altLang="en-US" sz="2800" b="1" dirty="0"/>
              <a:t>的输出可以实现，只需压入一个立即弹出一个即可。 </a:t>
            </a:r>
            <a:endParaRPr lang="zh-CN" altLang="en-US" sz="2800" b="1" dirty="0"/>
          </a:p>
        </p:txBody>
      </p:sp>
      <p:sp>
        <p:nvSpPr>
          <p:cNvPr id="189444" name="Rectangle 1028"/>
          <p:cNvSpPr/>
          <p:nvPr/>
        </p:nvSpPr>
        <p:spPr>
          <a:xfrm>
            <a:off x="685800" y="5130800"/>
            <a:ext cx="5872163" cy="125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    </a:t>
            </a:r>
            <a:r>
              <a:rPr lang="en-US" altLang="zh-CN" dirty="0"/>
              <a:t> </a:t>
            </a:r>
            <a:r>
              <a:rPr lang="en-US" altLang="zh-CN" sz="2800" b="1" dirty="0"/>
              <a:t>435612</a:t>
            </a:r>
            <a:r>
              <a:rPr lang="zh-CN" altLang="en-US" sz="2800" b="1" dirty="0"/>
              <a:t>中到了</a:t>
            </a:r>
            <a:r>
              <a:rPr lang="en-US" altLang="zh-CN" sz="2800" b="1" dirty="0"/>
              <a:t>12</a:t>
            </a:r>
            <a:r>
              <a:rPr lang="zh-CN" altLang="en-US" sz="2800" b="1" dirty="0"/>
              <a:t>顺序不能实现；</a:t>
            </a:r>
            <a:endParaRPr lang="zh-CN" altLang="en-US" sz="2800" b="1" dirty="0"/>
          </a:p>
          <a:p>
            <a:pPr marL="342900" lvl="0" indent="-342900" eaLnBrk="1" hangingPunct="1">
              <a:buNone/>
            </a:pPr>
            <a:r>
              <a:rPr lang="zh-CN" altLang="en-US" sz="1800" b="1" dirty="0"/>
              <a:t>         </a:t>
            </a:r>
            <a:r>
              <a:rPr lang="en-US" altLang="zh-CN" sz="2800" b="1" dirty="0"/>
              <a:t>135426</a:t>
            </a:r>
            <a:r>
              <a:rPr lang="zh-CN" altLang="en-US" sz="2800" b="1" dirty="0"/>
              <a:t>可以实现。</a:t>
            </a:r>
            <a:endParaRPr lang="zh-CN" altLang="en-US" sz="2800" b="1" dirty="0"/>
          </a:p>
        </p:txBody>
      </p:sp>
      <p:sp>
        <p:nvSpPr>
          <p:cNvPr id="189445" name="Rectangle 1029"/>
          <p:cNvSpPr/>
          <p:nvPr/>
        </p:nvSpPr>
        <p:spPr>
          <a:xfrm>
            <a:off x="685800" y="3987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  <a:r>
              <a:rPr lang="zh-CN" altLang="en-US" sz="2800" b="1" dirty="0">
                <a:solidFill>
                  <a:schemeClr val="tx2"/>
                </a:solidFill>
              </a:rPr>
              <a:t>如果一个栈的输入序列为</a:t>
            </a:r>
            <a:r>
              <a:rPr lang="en-US" altLang="zh-CN" sz="2800" b="1" dirty="0">
                <a:solidFill>
                  <a:schemeClr val="tx2"/>
                </a:solidFill>
              </a:rPr>
              <a:t>123456</a:t>
            </a:r>
            <a:r>
              <a:rPr lang="zh-CN" altLang="en-US" sz="2800" b="1" dirty="0">
                <a:solidFill>
                  <a:schemeClr val="tx2"/>
                </a:solidFill>
              </a:rPr>
              <a:t>，能否得到</a:t>
            </a:r>
            <a:r>
              <a:rPr lang="en-US" altLang="zh-CN" sz="2800" b="1" dirty="0">
                <a:solidFill>
                  <a:schemeClr val="tx2"/>
                </a:solidFill>
              </a:rPr>
              <a:t>435612</a:t>
            </a:r>
            <a:r>
              <a:rPr lang="zh-CN" altLang="en-US" sz="2800" b="1" dirty="0">
                <a:solidFill>
                  <a:schemeClr val="tx2"/>
                </a:solidFill>
              </a:rPr>
              <a:t>和</a:t>
            </a:r>
            <a:r>
              <a:rPr lang="en-US" altLang="zh-CN" sz="2800" b="1" dirty="0">
                <a:solidFill>
                  <a:schemeClr val="tx2"/>
                </a:solidFill>
              </a:rPr>
              <a:t>135426</a:t>
            </a:r>
            <a:r>
              <a:rPr lang="zh-CN" altLang="en-US" sz="2800" b="1" dirty="0">
                <a:solidFill>
                  <a:schemeClr val="tx2"/>
                </a:solidFill>
              </a:rPr>
              <a:t>的出栈序列？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89446" name="AutoShape 1030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89447" name="Line 1031"/>
          <p:cNvSpPr/>
          <p:nvPr/>
        </p:nvSpPr>
        <p:spPr>
          <a:xfrm>
            <a:off x="6211888" y="1371600"/>
            <a:ext cx="22463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9448" name="Line 1032"/>
          <p:cNvSpPr/>
          <p:nvPr/>
        </p:nvSpPr>
        <p:spPr>
          <a:xfrm>
            <a:off x="685800" y="1755775"/>
            <a:ext cx="22463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9449" name="Rectangle 1033"/>
          <p:cNvSpPr/>
          <p:nvPr/>
        </p:nvSpPr>
        <p:spPr>
          <a:xfrm>
            <a:off x="238125" y="2162175"/>
            <a:ext cx="8937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答：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89450" name="Rectangle 1034"/>
          <p:cNvSpPr/>
          <p:nvPr/>
        </p:nvSpPr>
        <p:spPr>
          <a:xfrm>
            <a:off x="371475" y="5130800"/>
            <a:ext cx="8937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答：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086002" y="54970"/>
            <a:ext cx="265970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1" u="none" strike="noStrike" kern="1200" cap="none" spc="0" normalizeH="0" baseline="0" noProof="0" dirty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课堂练习</a:t>
            </a:r>
            <a:endParaRPr kumimoji="1" lang="zh-CN" altLang="en-US" sz="4800" b="1" i="1" u="none" strike="noStrike" kern="1200" cap="none" spc="0" normalizeH="0" baseline="0" noProof="0" dirty="0">
              <a:ln w="1905"/>
              <a:solidFill>
                <a:srgbClr val="C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4">
                                            <p:txEl>
                                              <p:charRg st="2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2" grpId="0"/>
      <p:bldP spid="189443" grpId="0" build="p"/>
      <p:bldP spid="189444" grpId="0" build="p"/>
      <p:bldP spid="189445" grpId="0"/>
      <p:bldP spid="189446" grpId="0" animBg="1"/>
      <p:bldP spid="189449" grpId="0"/>
      <p:bldP spid="1894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7394" name="Rectangle 2"/>
          <p:cNvSpPr>
            <a:spLocks noGrp="1"/>
          </p:cNvSpPr>
          <p:nvPr>
            <p:ph type="title"/>
          </p:nvPr>
        </p:nvSpPr>
        <p:spPr>
          <a:xfrm>
            <a:off x="387350" y="368300"/>
            <a:ext cx="8070850" cy="155575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sym typeface="Wingdings" panose="05000000000000000000" pitchFamily="2" charset="2"/>
              </a:rPr>
              <a:t>（严题集</a:t>
            </a:r>
            <a:r>
              <a:rPr lang="en-US" altLang="zh-CN" sz="2800" b="1" dirty="0">
                <a:solidFill>
                  <a:srgbClr val="0000FF"/>
                </a:solidFill>
                <a:sym typeface="Wingdings" panose="05000000000000000000" pitchFamily="2" charset="2"/>
              </a:rPr>
              <a:t>3.1</a:t>
            </a:r>
            <a:r>
              <a:rPr lang="zh-CN" altLang="en-US" sz="2800" b="1" dirty="0">
                <a:solidFill>
                  <a:srgbClr val="0000FF"/>
                </a:solidFill>
                <a:sym typeface="Wingdings" panose="05000000000000000000" pitchFamily="2" charset="2"/>
              </a:rPr>
              <a:t>）</a:t>
            </a:r>
            <a:r>
              <a:rPr lang="zh-CN" altLang="en-US" sz="2800" b="1" dirty="0"/>
              <a:t>一个栈的输入序列为</a:t>
            </a:r>
            <a:r>
              <a:rPr lang="en-US" altLang="zh-CN" sz="2800" b="1" dirty="0"/>
              <a:t>123</a:t>
            </a:r>
            <a:r>
              <a:rPr lang="zh-CN" altLang="en-US" sz="2800" b="1" dirty="0"/>
              <a:t>，若在入栈的过程中允许出栈，则可能得到的出栈序列是什么？</a:t>
            </a:r>
            <a:endParaRPr lang="zh-CN" altLang="en-US" sz="2800" b="1" dirty="0"/>
          </a:p>
        </p:txBody>
      </p:sp>
      <p:sp>
        <p:nvSpPr>
          <p:cNvPr id="187396" name="Rectangle 4"/>
          <p:cNvSpPr/>
          <p:nvPr/>
        </p:nvSpPr>
        <p:spPr>
          <a:xfrm>
            <a:off x="387350" y="2262188"/>
            <a:ext cx="8937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答：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87397" name="Text Box 5"/>
          <p:cNvSpPr txBox="1"/>
          <p:nvPr/>
        </p:nvSpPr>
        <p:spPr>
          <a:xfrm>
            <a:off x="1281113" y="2262188"/>
            <a:ext cx="6503987" cy="3148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可以通过穷举所有可能性来求解：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①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出， 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出，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出， 即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123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②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出， 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出，   即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132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③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入，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出， 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出，    即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231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④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入，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出，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入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出，  即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213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⑤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入，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出，    即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321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合计有</a:t>
            </a:r>
            <a:r>
              <a:rPr lang="en-US" altLang="zh-CN" sz="2400" b="1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种可能性。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87399" name="AutoShape 7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8739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87397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87397">
                                            <p:txEl>
                                              <p:charRg st="41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67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87397">
                                            <p:txEl>
                                              <p:charRg st="67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9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87397">
                                            <p:txEl>
                                              <p:charRg st="93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118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87397">
                                            <p:txEl>
                                              <p:charRg st="118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charRg st="14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87397">
                                            <p:txEl>
                                              <p:charRg st="144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/>
      <p:bldP spid="187396" grpId="0"/>
      <p:bldP spid="187397" grpId="0" build="p"/>
      <p:bldP spid="18739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3778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</a:rPr>
              <a:t>：</a:t>
            </a:r>
            <a:r>
              <a:rPr lang="zh-CN" altLang="en-US" sz="2800" b="1" dirty="0"/>
              <a:t>计算机系</a:t>
            </a:r>
            <a:r>
              <a:rPr lang="en-US" altLang="zh-CN" sz="2800" b="1" dirty="0"/>
              <a:t>2001</a:t>
            </a:r>
            <a:r>
              <a:rPr lang="zh-CN" altLang="en-US" sz="2800" b="1" dirty="0"/>
              <a:t>年考研题（程序设计基础）</a:t>
            </a:r>
            <a:endParaRPr lang="zh-CN" altLang="en-US" sz="2800" b="1" dirty="0"/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7696200" cy="190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设依次进入一个栈的元素序列为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则可得到出栈的元素序列是：</a:t>
            </a:r>
            <a:r>
              <a:rPr kumimoji="1" lang="zh-CN" altLang="en-US" sz="28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1" lang="zh-CN" altLang="en-US" sz="2800" b="1" i="0" u="sng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Ａ）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            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Ｂ）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      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Ｃ）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           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Ｄ）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1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3781" name="Rectangle 5"/>
          <p:cNvSpPr/>
          <p:nvPr/>
        </p:nvSpPr>
        <p:spPr>
          <a:xfrm>
            <a:off x="1216025" y="3078163"/>
            <a:ext cx="5257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</a:rPr>
              <a:t>、</a:t>
            </a:r>
            <a:r>
              <a:rPr lang="en-US" altLang="zh-CN" sz="2800" b="1" dirty="0">
                <a:solidFill>
                  <a:srgbClr val="0000FF"/>
                </a:solidFill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</a:rPr>
              <a:t>可以</a:t>
            </a:r>
            <a:r>
              <a:rPr lang="zh-CN" altLang="en-US" sz="2800" b="1" dirty="0"/>
              <a:t>（ 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不行）。</a:t>
            </a:r>
            <a:endParaRPr lang="zh-CN" altLang="en-US" sz="2800" b="1" dirty="0"/>
          </a:p>
        </p:txBody>
      </p:sp>
      <p:sp>
        <p:nvSpPr>
          <p:cNvPr id="203782" name="Rectangle 6"/>
          <p:cNvSpPr/>
          <p:nvPr/>
        </p:nvSpPr>
        <p:spPr>
          <a:xfrm>
            <a:off x="246063" y="4676775"/>
            <a:ext cx="821213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讨论：有无通用的判别原则？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楷体_GB2312"/>
                <a:ea typeface="楷体_GB2312"/>
              </a:rPr>
              <a:t>有。在可能的输出序列中，不存在这样的输入序列</a:t>
            </a:r>
            <a:r>
              <a:rPr lang="en-US" altLang="zh-CN" sz="2800" b="1" dirty="0">
                <a:solidFill>
                  <a:schemeClr val="bg1"/>
                </a:solidFill>
                <a:latin typeface="楷体_GB2312"/>
                <a:ea typeface="楷体_GB2312"/>
              </a:rPr>
              <a:t>i</a:t>
            </a:r>
            <a:r>
              <a:rPr lang="zh-CN" altLang="en-US" sz="2800" b="1" dirty="0">
                <a:solidFill>
                  <a:schemeClr val="bg1"/>
                </a:solidFill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楷体_GB2312"/>
                <a:ea typeface="楷体_GB2312"/>
              </a:rPr>
              <a:t>j</a:t>
            </a:r>
            <a:r>
              <a:rPr lang="zh-CN" altLang="en-US" sz="2800" b="1" dirty="0">
                <a:solidFill>
                  <a:schemeClr val="bg1"/>
                </a:solidFill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楷体_GB2312"/>
                <a:ea typeface="楷体_GB2312"/>
              </a:rPr>
              <a:t>k</a:t>
            </a:r>
            <a:r>
              <a:rPr lang="zh-CN" altLang="en-US" sz="2800" b="1" dirty="0">
                <a:solidFill>
                  <a:schemeClr val="bg1"/>
                </a:solidFill>
                <a:latin typeface="楷体_GB2312"/>
                <a:ea typeface="楷体_GB2312"/>
              </a:rPr>
              <a:t>，能同时满足 </a:t>
            </a:r>
            <a:r>
              <a:rPr lang="en-US" altLang="zh-CN" sz="2800" b="1" dirty="0">
                <a:solidFill>
                  <a:schemeClr val="bg1"/>
                </a:solidFill>
                <a:latin typeface="楷体_GB2312"/>
                <a:ea typeface="楷体_GB2312"/>
              </a:rPr>
              <a:t>i&lt;j&lt;k </a:t>
            </a:r>
            <a:r>
              <a:rPr lang="zh-CN" altLang="en-US" sz="2800" b="1" dirty="0">
                <a:solidFill>
                  <a:schemeClr val="bg1"/>
                </a:solidFill>
                <a:latin typeface="楷体_GB2312"/>
                <a:ea typeface="楷体_GB2312"/>
              </a:rPr>
              <a:t>和 </a:t>
            </a:r>
            <a:r>
              <a:rPr lang="en-US" altLang="zh-CN" sz="2800" b="1" dirty="0">
                <a:solidFill>
                  <a:schemeClr val="bg1"/>
                </a:solidFill>
                <a:latin typeface="楷体_GB2312"/>
                <a:ea typeface="楷体_GB2312"/>
              </a:rPr>
              <a:t>Pj&lt;Pk&lt;Pi</a:t>
            </a:r>
            <a:endParaRPr lang="en-US" altLang="zh-CN" sz="2800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203783" name="AutoShape 7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03784" name="Rectangle 8"/>
          <p:cNvSpPr/>
          <p:nvPr/>
        </p:nvSpPr>
        <p:spPr>
          <a:xfrm>
            <a:off x="381000" y="3078163"/>
            <a:ext cx="8937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答：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charRg st="3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/>
      <p:bldP spid="203779" grpId="0" advAuto="1000" build="p"/>
      <p:bldP spid="203781" grpId="0"/>
      <p:bldP spid="203782" grpId="0"/>
      <p:bldP spid="203783" grpId="0" animBg="1"/>
      <p:bldP spid="2037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5108" name="Rectangle 4"/>
          <p:cNvSpPr>
            <a:spLocks noGrp="1"/>
          </p:cNvSpPr>
          <p:nvPr>
            <p:ph idx="1"/>
          </p:nvPr>
        </p:nvSpPr>
        <p:spPr>
          <a:xfrm>
            <a:off x="393700" y="792163"/>
            <a:ext cx="8355013" cy="4999037"/>
          </a:xfrm>
          <a:ln/>
        </p:spPr>
        <p:txBody>
          <a:bodyPr vert="horz" wrap="square" lIns="91440" tIns="45720" rIns="91440" bIns="45720" anchor="t" anchorCtr="0"/>
          <a:p>
            <a:pPr marL="0" indent="0" algn="just"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补充</a:t>
            </a:r>
            <a:r>
              <a:rPr lang="en-US" altLang="zh-CN" b="1" dirty="0">
                <a:solidFill>
                  <a:schemeClr val="tx2"/>
                </a:solidFill>
              </a:rPr>
              <a:t>1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endParaRPr lang="zh-CN" altLang="en-US" b="1" dirty="0">
              <a:solidFill>
                <a:schemeClr val="tx2"/>
              </a:solidFill>
            </a:endParaRPr>
          </a:p>
          <a:p>
            <a:pPr marL="0" indent="0" algn="just" eaLnBrk="1" hangingPunct="1">
              <a:buNone/>
            </a:pPr>
            <a:r>
              <a:rPr lang="zh-CN" altLang="en-US" sz="2400" b="1" dirty="0"/>
              <a:t>若入栈动作使地址向高端增长，称为“向上生成”的栈；</a:t>
            </a:r>
            <a:endParaRPr lang="zh-CN" altLang="en-US" sz="2400" b="1" dirty="0"/>
          </a:p>
          <a:p>
            <a:pPr marL="0" indent="0" algn="just" eaLnBrk="1" hangingPunct="1">
              <a:buNone/>
            </a:pPr>
            <a:r>
              <a:rPr lang="zh-CN" altLang="en-US" sz="2400" b="1" dirty="0"/>
              <a:t>若入栈动作使地址向低端增长，称为“向下生成”的栈；</a:t>
            </a:r>
            <a:endParaRPr lang="zh-CN" altLang="en-US" sz="2400" b="1" dirty="0"/>
          </a:p>
          <a:p>
            <a:pPr marL="0" indent="0" algn="just" eaLnBrk="1" hangingPunct="1"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           </a:t>
            </a:r>
            <a:r>
              <a:rPr lang="zh-CN" altLang="en-US" sz="2400" b="1" dirty="0">
                <a:solidFill>
                  <a:srgbClr val="0000FF"/>
                </a:solidFill>
              </a:rPr>
              <a:t>对于向上生成的栈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indent="0" algn="just"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入栈</a:t>
            </a:r>
            <a:r>
              <a:rPr lang="zh-CN" altLang="en-US" sz="2400" b="1" dirty="0"/>
              <a:t>口诀：堆栈指针</a:t>
            </a:r>
            <a:r>
              <a:rPr lang="en-US" altLang="zh-CN" sz="2400" b="1" dirty="0"/>
              <a:t>top</a:t>
            </a:r>
            <a:r>
              <a:rPr lang="zh-CN" altLang="en-US" sz="2400" b="1" dirty="0"/>
              <a:t>先压后加（</a:t>
            </a:r>
            <a:r>
              <a:rPr lang="en-US" altLang="zh-CN" sz="2400" b="1" dirty="0">
                <a:latin typeface="黑体" panose="02010609060101010101" pitchFamily="49" charset="-122"/>
              </a:rPr>
              <a:t>v[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top++</a:t>
            </a:r>
            <a:r>
              <a:rPr lang="en-US" altLang="zh-CN" sz="2400" b="1" dirty="0">
                <a:latin typeface="黑体" panose="02010609060101010101" pitchFamily="49" charset="-122"/>
              </a:rPr>
              <a:t>]=x</a:t>
            </a:r>
            <a:r>
              <a:rPr lang="zh-CN" altLang="en-US" sz="2400" b="1" dirty="0"/>
              <a:t>）；</a:t>
            </a:r>
            <a:endParaRPr lang="zh-CN" altLang="en-US" sz="2400" b="1" dirty="0"/>
          </a:p>
          <a:p>
            <a:pPr marL="0" indent="0" algn="just"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出栈</a:t>
            </a:r>
            <a:r>
              <a:rPr lang="zh-CN" altLang="en-US" sz="2400" b="1" dirty="0"/>
              <a:t>口诀：堆栈指针</a:t>
            </a:r>
            <a:r>
              <a:rPr lang="en-US" altLang="zh-CN" sz="2400" b="1" dirty="0"/>
              <a:t>top</a:t>
            </a:r>
            <a:r>
              <a:rPr lang="zh-CN" altLang="en-US" sz="2400" b="1" dirty="0"/>
              <a:t>先减后弹（</a:t>
            </a:r>
            <a:r>
              <a:rPr lang="en-US" altLang="zh-CN" sz="2400" b="1" dirty="0">
                <a:latin typeface="宋体" panose="02010600030101010101" pitchFamily="2" charset="-122"/>
              </a:rPr>
              <a:t>y=v[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--top</a:t>
            </a:r>
            <a:r>
              <a:rPr lang="en-US" altLang="zh-CN" sz="2400" b="1" dirty="0">
                <a:latin typeface="宋体" panose="02010600030101010101" pitchFamily="2" charset="-122"/>
              </a:rPr>
              <a:t>])</a:t>
            </a:r>
            <a:r>
              <a:rPr lang="en-US" altLang="zh-CN" sz="2400" b="1" dirty="0">
                <a:solidFill>
                  <a:srgbClr val="00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21508" name="Rectangle 5"/>
          <p:cNvSpPr/>
          <p:nvPr/>
        </p:nvSpPr>
        <p:spPr>
          <a:xfrm>
            <a:off x="393700" y="273050"/>
            <a:ext cx="1403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楷体_GB2312"/>
              </a:rPr>
              <a:t>3.1  </a:t>
            </a:r>
            <a:r>
              <a:rPr lang="zh-CN" altLang="en-US" sz="2800" b="1" dirty="0">
                <a:solidFill>
                  <a:srgbClr val="0000FF"/>
                </a:solidFill>
                <a:ea typeface="楷体_GB2312"/>
              </a:rPr>
              <a:t>栈</a:t>
            </a:r>
            <a:endParaRPr lang="zh-CN" altLang="en-US" sz="2800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175111" name="AutoShape 7">
            <a:hlinkClick r:id="" action="ppaction://hlinkshowjump?jump=nextslide"/>
          </p:cNvPr>
          <p:cNvSpPr/>
          <p:nvPr/>
        </p:nvSpPr>
        <p:spPr>
          <a:xfrm>
            <a:off x="78867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75112" name="Text Box 8"/>
          <p:cNvSpPr txBox="1"/>
          <p:nvPr/>
        </p:nvSpPr>
        <p:spPr>
          <a:xfrm>
            <a:off x="393700" y="4116388"/>
            <a:ext cx="7158038" cy="169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补充</a:t>
            </a:r>
            <a:r>
              <a:rPr lang="en-US" altLang="zh-CN" b="1" dirty="0">
                <a:solidFill>
                  <a:schemeClr val="tx2"/>
                </a:solidFill>
              </a:rPr>
              <a:t>2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栈不存在的条件：    </a:t>
            </a: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base==NULL;</a:t>
            </a:r>
            <a:endParaRPr lang="en-US" altLang="en-US" sz="2400" b="1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                   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栈为空 的条件 ：     </a:t>
            </a: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 base=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top;</a:t>
            </a:r>
            <a:endParaRPr lang="en-US" altLang="en-US" sz="2400" b="1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                    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栈满的条件  ：        </a:t>
            </a: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top-base=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stacksize;</a:t>
            </a:r>
            <a:endParaRPr lang="en-US" altLang="zh-CN" sz="24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510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5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5108">
                                            <p:txEl>
                                              <p:charRg st="5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3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75108">
                                            <p:txEl>
                                              <p:charRg st="31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5108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7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75108">
                                            <p:txEl>
                                              <p:charRg st="77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charRg st="107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75108">
                                            <p:txEl>
                                              <p:charRg st="107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75112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>
                                            <p:txEl>
                                              <p:charRg st="29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75112">
                                            <p:txEl>
                                              <p:charRg st="29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>
                                            <p:txEl>
                                              <p:charRg st="75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75112">
                                            <p:txEl>
                                              <p:charRg st="75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8" grpId="0" build="p"/>
      <p:bldP spid="175111" grpId="0" animBg="1"/>
      <p:bldP spid="17511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2531" name="Rectangle 2"/>
          <p:cNvSpPr/>
          <p:nvPr/>
        </p:nvSpPr>
        <p:spPr>
          <a:xfrm>
            <a:off x="0" y="908050"/>
            <a:ext cx="8964613" cy="38274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ct val="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 </a:t>
            </a:r>
            <a:r>
              <a:rPr lang="zh-CN" altLang="en-US" sz="2400" b="1" dirty="0">
                <a:solidFill>
                  <a:srgbClr val="FF0000"/>
                </a:solidFill>
              </a:rPr>
              <a:t>定义：</a:t>
            </a:r>
            <a:r>
              <a:rPr lang="zh-CN" altLang="en-US" sz="2400" b="1" dirty="0"/>
              <a:t> 栈的使用非常广泛，经常会在一个程序中需要同时使用多个栈。为了不因栈上溢而产生错误中断，必须给每一个栈预分一个较大的空间，但这并不容易做到，因为每个栈实际所使用的空间难以估计。而另一方面，栈的实际容量在使用期间是不断变化的，往往会有这样的情况，即其中一个栈发生上溢，而另一些栈还是空栈。为此，采用</a:t>
            </a:r>
            <a:r>
              <a:rPr lang="zh-CN" altLang="en-US" sz="2400" b="1" dirty="0">
                <a:solidFill>
                  <a:srgbClr val="FF0000"/>
                </a:solidFill>
              </a:rPr>
              <a:t>多个栈共享同一空间</a:t>
            </a:r>
            <a:r>
              <a:rPr lang="zh-CN" altLang="en-US" sz="2400" b="1" dirty="0"/>
              <a:t>，该空间可以用一个大数组表示。</a:t>
            </a:r>
            <a:endParaRPr lang="zh-CN" altLang="en-US" sz="2400" b="1" dirty="0"/>
          </a:p>
        </p:txBody>
      </p:sp>
      <p:pic>
        <p:nvPicPr>
          <p:cNvPr id="2253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4652963"/>
            <a:ext cx="8785225" cy="12811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21892" name="Group 4"/>
          <p:cNvGraphicFramePr>
            <a:graphicFrameLocks noGrp="1"/>
          </p:cNvGraphicFramePr>
          <p:nvPr/>
        </p:nvGraphicFramePr>
        <p:xfrm>
          <a:off x="2411413" y="6080125"/>
          <a:ext cx="4752975" cy="517525"/>
        </p:xfrm>
        <a:graphic>
          <a:graphicData uri="http://schemas.openxmlformats.org/drawingml/2006/table">
            <a:tbl>
              <a:tblPr/>
              <a:tblGrid>
                <a:gridCol w="4752975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   两个栈共享内存空间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35" name="Rectangle 10"/>
          <p:cNvSpPr/>
          <p:nvPr/>
        </p:nvSpPr>
        <p:spPr>
          <a:xfrm>
            <a:off x="533400" y="44450"/>
            <a:ext cx="8229600" cy="66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3333CC"/>
                </a:solidFill>
                <a:ea typeface="仿宋_GB2312"/>
              </a:rPr>
              <a:t>双栈共享一个栈空间</a:t>
            </a:r>
            <a:endParaRPr lang="zh-CN" altLang="en-US" sz="3600" b="1" dirty="0">
              <a:solidFill>
                <a:srgbClr val="3333CC"/>
              </a:solidFill>
              <a:ea typeface="仿宋_GB2312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22914" name="Rectangle 2"/>
          <p:cNvSpPr/>
          <p:nvPr/>
        </p:nvSpPr>
        <p:spPr>
          <a:xfrm>
            <a:off x="250825" y="185738"/>
            <a:ext cx="8424863" cy="6562725"/>
          </a:xfrm>
          <a:prstGeom prst="rect">
            <a:avLst/>
          </a:prstGeom>
          <a:noFill/>
          <a:ln w="63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数据存储结构</a:t>
            </a:r>
            <a:r>
              <a:rPr lang="zh-CN" altLang="en-US" sz="2800" b="1" dirty="0"/>
              <a:t>：两个栈共享一个数组的定义如下：</a:t>
            </a:r>
            <a:br>
              <a:rPr lang="zh-CN" altLang="en-US" sz="2600" b="1" dirty="0"/>
            </a:br>
            <a:r>
              <a:rPr lang="zh-CN" altLang="en-US" sz="2600" b="1" dirty="0"/>
              <a:t>     </a:t>
            </a:r>
            <a:r>
              <a:rPr lang="en-US" altLang="zh-CN" sz="2800" b="1" dirty="0"/>
              <a:t>#define MAX 100</a:t>
            </a:r>
            <a:endParaRPr lang="en-US" altLang="zh-CN" sz="2800" b="1" dirty="0"/>
          </a:p>
          <a:p>
            <a:pPr marL="0" lvl="0" indent="26670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typedef struct </a:t>
            </a:r>
            <a:endParaRPr lang="en-US" altLang="zh-CN" sz="2800" b="1" dirty="0"/>
          </a:p>
          <a:p>
            <a:pPr marL="0" lvl="0" indent="26670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{ int stack[MAX];</a:t>
            </a:r>
            <a:endParaRPr lang="en-US" altLang="zh-CN" sz="2800" b="1" dirty="0"/>
          </a:p>
          <a:p>
            <a:pPr marL="0" lvl="0" indent="26670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  int top1,top2; </a:t>
            </a:r>
            <a:endParaRPr lang="en-US" altLang="zh-CN" sz="2800" b="1" dirty="0"/>
          </a:p>
          <a:p>
            <a:pPr marL="0" lvl="0" indent="26670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}SStack2;</a:t>
            </a:r>
            <a:endParaRPr lang="en-US" altLang="zh-CN" sz="2800" b="1" dirty="0"/>
          </a:p>
          <a:p>
            <a:pPr marL="0" lvl="0" indent="266700" eaLnBrk="1" hangingPunct="1">
              <a:lnSpc>
                <a:spcPct val="110000"/>
              </a:lnSpc>
              <a:spcBef>
                <a:spcPct val="35000"/>
              </a:spcBef>
              <a:buNone/>
            </a:pPr>
            <a:r>
              <a:rPr lang="en-US" altLang="zh-CN" sz="2600" b="1" dirty="0"/>
              <a:t>      </a:t>
            </a:r>
            <a:r>
              <a:rPr lang="en-US" altLang="zh-CN" sz="2600" b="1" dirty="0">
                <a:solidFill>
                  <a:srgbClr val="0000FF"/>
                </a:solidFill>
              </a:rPr>
              <a:t>*</a:t>
            </a:r>
            <a:r>
              <a:rPr lang="en-US" altLang="zh-CN" sz="2800" b="1" dirty="0">
                <a:solidFill>
                  <a:srgbClr val="0000FF"/>
                </a:solidFill>
              </a:rPr>
              <a:t>stack</a:t>
            </a:r>
            <a:r>
              <a:rPr lang="zh-CN" altLang="en-US" sz="2800" b="1" dirty="0">
                <a:solidFill>
                  <a:srgbClr val="0000FF"/>
                </a:solidFill>
              </a:rPr>
              <a:t>数组是两个栈共同使用的空间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      *</a:t>
            </a:r>
            <a:r>
              <a:rPr lang="en-US" altLang="zh-CN" sz="2800" b="1" dirty="0">
                <a:solidFill>
                  <a:srgbClr val="663300"/>
                </a:solidFill>
              </a:rPr>
              <a:t>top1</a:t>
            </a:r>
            <a:r>
              <a:rPr lang="zh-CN" altLang="en-US" sz="2800" b="1" dirty="0">
                <a:solidFill>
                  <a:srgbClr val="663300"/>
                </a:solidFill>
              </a:rPr>
              <a:t>为栈</a:t>
            </a:r>
            <a:r>
              <a:rPr lang="en-US" altLang="zh-CN" sz="2800" b="1" dirty="0">
                <a:solidFill>
                  <a:srgbClr val="663300"/>
                </a:solidFill>
              </a:rPr>
              <a:t>1</a:t>
            </a:r>
            <a:r>
              <a:rPr lang="zh-CN" altLang="en-US" sz="2800" b="1" dirty="0">
                <a:solidFill>
                  <a:srgbClr val="663300"/>
                </a:solidFill>
              </a:rPr>
              <a:t>的栈顶指针</a:t>
            </a:r>
            <a:r>
              <a:rPr lang="en-US" altLang="zh-CN" sz="2800" b="1" dirty="0">
                <a:solidFill>
                  <a:srgbClr val="663300"/>
                </a:solidFill>
              </a:rPr>
              <a:t>;</a:t>
            </a:r>
            <a:r>
              <a:rPr lang="en-US" altLang="zh-CN" sz="2800" b="1" dirty="0">
                <a:solidFill>
                  <a:srgbClr val="FF0000"/>
                </a:solidFill>
              </a:rPr>
              <a:t>top2</a:t>
            </a:r>
            <a:r>
              <a:rPr lang="zh-CN" altLang="en-US" sz="2800" b="1" dirty="0">
                <a:solidFill>
                  <a:srgbClr val="FF0000"/>
                </a:solidFill>
              </a:rPr>
              <a:t>为栈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的栈顶指针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      *</a:t>
            </a:r>
            <a:r>
              <a:rPr lang="zh-CN" altLang="en-US" sz="2800" b="1" dirty="0">
                <a:solidFill>
                  <a:srgbClr val="006600"/>
                </a:solidFill>
              </a:rPr>
              <a:t>初始：两个栈为空栈</a:t>
            </a:r>
            <a:r>
              <a:rPr lang="en-US" altLang="zh-CN" sz="2800" b="1" dirty="0">
                <a:solidFill>
                  <a:srgbClr val="006600"/>
                </a:solidFill>
              </a:rPr>
              <a:t>top1=0</a:t>
            </a:r>
            <a:r>
              <a:rPr lang="zh-CN" altLang="en-US" sz="2800" b="1" dirty="0">
                <a:solidFill>
                  <a:srgbClr val="006600"/>
                </a:solidFill>
              </a:rPr>
              <a:t>和</a:t>
            </a:r>
            <a:r>
              <a:rPr lang="en-US" altLang="zh-CN" sz="2800" b="1" dirty="0">
                <a:solidFill>
                  <a:srgbClr val="006600"/>
                </a:solidFill>
              </a:rPr>
              <a:t>top2=MAX-1</a:t>
            </a:r>
            <a:r>
              <a:rPr lang="zh-CN" altLang="en-US" sz="2800" b="1" dirty="0">
                <a:solidFill>
                  <a:srgbClr val="006600"/>
                </a:solidFill>
              </a:rPr>
              <a:t>。</a:t>
            </a:r>
            <a:endParaRPr lang="zh-CN" altLang="en-US" sz="2800" b="1" dirty="0">
              <a:solidFill>
                <a:srgbClr val="006600"/>
              </a:solidFill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      *栈满条件：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</a:rPr>
              <a:t>top1+1 == top2</a:t>
            </a:r>
            <a:endParaRPr lang="en-US" altLang="zh-CN" sz="2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      *</a:t>
            </a:r>
            <a:r>
              <a:rPr lang="zh-CN" altLang="en-US" sz="2800" b="1" dirty="0">
                <a:solidFill>
                  <a:srgbClr val="FF0066"/>
                </a:solidFill>
              </a:rPr>
              <a:t>栈</a:t>
            </a:r>
            <a:r>
              <a:rPr lang="en-US" altLang="zh-CN" sz="2800" b="1" dirty="0">
                <a:solidFill>
                  <a:srgbClr val="FF0066"/>
                </a:solidFill>
              </a:rPr>
              <a:t>1</a:t>
            </a:r>
            <a:r>
              <a:rPr lang="zh-CN" altLang="en-US" sz="2800" b="1" dirty="0">
                <a:solidFill>
                  <a:srgbClr val="FF0066"/>
                </a:solidFill>
              </a:rPr>
              <a:t>进栈时，将要进栈的数据元素送到</a:t>
            </a:r>
            <a:r>
              <a:rPr lang="en-US" altLang="zh-CN" sz="2800" b="1" dirty="0">
                <a:solidFill>
                  <a:srgbClr val="FF0066"/>
                </a:solidFill>
              </a:rPr>
              <a:t>top1</a:t>
            </a:r>
            <a:r>
              <a:rPr lang="zh-CN" altLang="en-US" sz="2800" b="1" dirty="0">
                <a:solidFill>
                  <a:srgbClr val="FF0066"/>
                </a:solidFill>
              </a:rPr>
              <a:t>所指的数组单元，然后</a:t>
            </a:r>
            <a:r>
              <a:rPr lang="en-US" altLang="zh-CN" sz="2800" b="1" dirty="0">
                <a:solidFill>
                  <a:srgbClr val="FF0066"/>
                </a:solidFill>
              </a:rPr>
              <a:t>top1</a:t>
            </a:r>
            <a:r>
              <a:rPr lang="zh-CN" altLang="en-US" sz="2800" b="1" dirty="0">
                <a:solidFill>
                  <a:srgbClr val="FF0066"/>
                </a:solidFill>
              </a:rPr>
              <a:t>加</a:t>
            </a:r>
            <a:r>
              <a:rPr lang="en-US" altLang="zh-CN" sz="2800" b="1" dirty="0">
                <a:solidFill>
                  <a:srgbClr val="FF0066"/>
                </a:solidFill>
              </a:rPr>
              <a:t>1</a:t>
            </a:r>
            <a:r>
              <a:rPr lang="zh-CN" altLang="en-US" sz="2800" b="1" dirty="0">
                <a:solidFill>
                  <a:srgbClr val="FF0066"/>
                </a:solidFill>
              </a:rPr>
              <a:t>；</a:t>
            </a:r>
            <a:endParaRPr lang="zh-CN" altLang="en-US" sz="2800" b="1" dirty="0">
              <a:solidFill>
                <a:srgbClr val="FF0066"/>
              </a:solidFill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       *</a:t>
            </a:r>
            <a:r>
              <a:rPr lang="zh-CN" altLang="en-US" sz="2800" b="1" dirty="0">
                <a:solidFill>
                  <a:srgbClr val="006666"/>
                </a:solidFill>
              </a:rPr>
              <a:t>栈</a:t>
            </a:r>
            <a:r>
              <a:rPr lang="en-US" altLang="zh-CN" sz="2800" b="1" dirty="0">
                <a:solidFill>
                  <a:srgbClr val="006666"/>
                </a:solidFill>
              </a:rPr>
              <a:t>2</a:t>
            </a:r>
            <a:r>
              <a:rPr lang="zh-CN" altLang="en-US" sz="2800" b="1" dirty="0">
                <a:solidFill>
                  <a:srgbClr val="006666"/>
                </a:solidFill>
              </a:rPr>
              <a:t>进栈时，将要进栈的数据元素送到</a:t>
            </a:r>
            <a:r>
              <a:rPr lang="en-US" altLang="zh-CN" sz="2800" b="1" dirty="0">
                <a:solidFill>
                  <a:srgbClr val="006666"/>
                </a:solidFill>
              </a:rPr>
              <a:t>top2</a:t>
            </a:r>
            <a:r>
              <a:rPr lang="zh-CN" altLang="en-US" sz="2800" b="1" dirty="0">
                <a:solidFill>
                  <a:srgbClr val="006666"/>
                </a:solidFill>
              </a:rPr>
              <a:t>所指的数组单元，然后</a:t>
            </a:r>
            <a:r>
              <a:rPr lang="en-US" altLang="zh-CN" sz="2800" b="1" dirty="0">
                <a:solidFill>
                  <a:srgbClr val="006666"/>
                </a:solidFill>
              </a:rPr>
              <a:t>top2</a:t>
            </a:r>
            <a:r>
              <a:rPr lang="zh-CN" altLang="en-US" sz="2800" b="1" dirty="0">
                <a:solidFill>
                  <a:srgbClr val="006666"/>
                </a:solidFill>
              </a:rPr>
              <a:t>减</a:t>
            </a:r>
            <a:r>
              <a:rPr lang="en-US" altLang="zh-CN" sz="2800" b="1" dirty="0">
                <a:solidFill>
                  <a:srgbClr val="006666"/>
                </a:solidFill>
              </a:rPr>
              <a:t>1</a:t>
            </a:r>
            <a:r>
              <a:rPr lang="zh-CN" altLang="en-US" sz="2800" b="1" dirty="0">
                <a:solidFill>
                  <a:srgbClr val="006666"/>
                </a:solidFill>
              </a:rPr>
              <a:t>。</a:t>
            </a:r>
            <a:endParaRPr lang="zh-CN" altLang="en-US" sz="2800" b="1" dirty="0">
              <a:solidFill>
                <a:srgbClr val="006666"/>
              </a:solidFill>
            </a:endParaRPr>
          </a:p>
        </p:txBody>
      </p:sp>
      <p:sp>
        <p:nvSpPr>
          <p:cNvPr id="23556" name="Rectangle 3"/>
          <p:cNvSpPr/>
          <p:nvPr/>
        </p:nvSpPr>
        <p:spPr>
          <a:xfrm>
            <a:off x="468313" y="620713"/>
            <a:ext cx="3959225" cy="2303462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13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2914">
                                            <p:txEl>
                                              <p:charRg st="135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16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2914">
                                            <p:txEl>
                                              <p:charRg st="161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49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194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2914">
                                            <p:txEl>
                                              <p:charRg st="194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69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229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2914">
                                            <p:txEl>
                                              <p:charRg st="229" end="2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449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25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2914">
                                            <p:txEl>
                                              <p:charRg st="256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49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charRg st="302" end="3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2914">
                                            <p:txEl>
                                              <p:charRg st="302" end="3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579" name="Rectangle 2"/>
          <p:cNvSpPr/>
          <p:nvPr/>
        </p:nvSpPr>
        <p:spPr>
          <a:xfrm>
            <a:off x="107950" y="333375"/>
            <a:ext cx="8893175" cy="5867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进栈和出栈算法如下：</a:t>
            </a:r>
            <a:r>
              <a:rPr lang="zh-CN" altLang="en-US" sz="2800" b="1" dirty="0"/>
              <a:t>    </a:t>
            </a:r>
            <a:endParaRPr lang="zh-CN" altLang="en-US" sz="2800" b="1" dirty="0"/>
          </a:p>
          <a:p>
            <a:pPr marL="342900" lvl="0" indent="-342900"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/>
              <a:t> ①</a:t>
            </a:r>
            <a:r>
              <a:rPr lang="zh-CN" altLang="en-US" sz="2800" b="1" dirty="0">
                <a:ea typeface="隶书" panose="02010509060101010101" pitchFamily="49" charset="-122"/>
              </a:rPr>
              <a:t>共享进栈算法</a:t>
            </a:r>
            <a:endParaRPr lang="zh-CN" altLang="en-US" sz="2800" b="1" dirty="0">
              <a:ea typeface="隶书" panose="02010509060101010101" pitchFamily="49" charset="-122"/>
            </a:endParaRPr>
          </a:p>
          <a:p>
            <a:pPr marL="342900" lvl="0" indent="-342900"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/>
              <a:t>顺序存储结构下，共享进栈算法。</a:t>
            </a:r>
            <a:endParaRPr lang="zh-CN" altLang="en-US" sz="2800" b="1" dirty="0"/>
          </a:p>
          <a:p>
            <a:pPr marL="342900" lvl="0" indent="-342900"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/>
              <a:t>    </a:t>
            </a:r>
            <a:r>
              <a:rPr lang="en-US" altLang="zh-CN" sz="2000" b="1" dirty="0">
                <a:latin typeface="楷体_GB2312"/>
                <a:ea typeface="楷体_GB2312"/>
              </a:rPr>
              <a:t>/* </a:t>
            </a:r>
            <a:r>
              <a:rPr lang="zh-CN" altLang="en-US" sz="2000" b="1" dirty="0">
                <a:latin typeface="楷体_GB2312"/>
                <a:ea typeface="楷体_GB2312"/>
              </a:rPr>
              <a:t>栈</a:t>
            </a:r>
            <a:r>
              <a:rPr lang="en-US" altLang="zh-CN" sz="2000" b="1" dirty="0">
                <a:latin typeface="楷体_GB2312"/>
                <a:ea typeface="楷体_GB2312"/>
              </a:rPr>
              <a:t>1</a:t>
            </a:r>
            <a:r>
              <a:rPr lang="zh-CN" altLang="en-US" sz="2000" b="1" dirty="0">
                <a:latin typeface="楷体_GB2312"/>
                <a:ea typeface="楷体_GB2312"/>
              </a:rPr>
              <a:t>的进栈算法 *</a:t>
            </a:r>
            <a:r>
              <a:rPr lang="en-US" altLang="zh-CN" sz="2000" b="1" dirty="0">
                <a:latin typeface="楷体_GB2312"/>
                <a:ea typeface="楷体_GB2312"/>
              </a:rPr>
              <a:t>/</a:t>
            </a:r>
            <a:endParaRPr lang="en-US" altLang="zh-CN" sz="2800" b="1" dirty="0"/>
          </a:p>
          <a:p>
            <a:pPr marL="342900" lvl="0" indent="-342900" eaLnBrk="1" hangingPunct="1">
              <a:lnSpc>
                <a:spcPct val="11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 int </a:t>
            </a:r>
            <a:r>
              <a:rPr lang="en-US" altLang="zh-CN" sz="2800" b="1" dirty="0">
                <a:solidFill>
                  <a:srgbClr val="006666"/>
                </a:solidFill>
              </a:rPr>
              <a:t>SStack2_Push1</a:t>
            </a:r>
            <a:r>
              <a:rPr lang="en-US" altLang="zh-CN" sz="2800" b="1" dirty="0"/>
              <a:t>(SStack2 *S, int e) </a:t>
            </a:r>
            <a:br>
              <a:rPr lang="en-US" altLang="zh-CN" sz="2800" b="1" dirty="0"/>
            </a:br>
            <a:r>
              <a:rPr lang="en-US" altLang="zh-CN" sz="2800" b="1" dirty="0"/>
              <a:t>     { if(S-&gt;top1&gt;S-&gt;top2) return(0); </a:t>
            </a:r>
            <a:r>
              <a:rPr lang="en-US" altLang="zh-CN" sz="1600" b="1" dirty="0">
                <a:latin typeface="楷体_GB2312"/>
                <a:ea typeface="楷体_GB2312"/>
              </a:rPr>
              <a:t>/* </a:t>
            </a:r>
            <a:r>
              <a:rPr lang="zh-CN" altLang="en-US" sz="1600" b="1" dirty="0">
                <a:latin typeface="楷体_GB2312"/>
                <a:ea typeface="楷体_GB2312"/>
              </a:rPr>
              <a:t>超出了地址范围</a:t>
            </a:r>
            <a:r>
              <a:rPr lang="en-US" altLang="zh-CN" sz="1600" b="1" dirty="0">
                <a:latin typeface="楷体_GB2312"/>
                <a:ea typeface="楷体_GB2312"/>
              </a:rPr>
              <a:t>,</a:t>
            </a:r>
            <a:r>
              <a:rPr lang="zh-CN" altLang="en-US" sz="1600" b="1" dirty="0">
                <a:latin typeface="楷体_GB2312"/>
                <a:ea typeface="楷体_GB2312"/>
              </a:rPr>
              <a:t>失败 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br>
              <a:rPr lang="en-US" altLang="zh-CN" sz="1600" b="1" dirty="0">
                <a:latin typeface="楷体_GB2312"/>
                <a:ea typeface="楷体_GB2312"/>
              </a:rPr>
            </a:br>
            <a:r>
              <a:rPr lang="en-US" altLang="zh-CN" sz="2800" b="1" dirty="0"/>
              <a:t>       </a:t>
            </a:r>
            <a:r>
              <a:rPr lang="en-US" altLang="zh-CN" sz="2800" b="1" dirty="0">
                <a:solidFill>
                  <a:srgbClr val="003366"/>
                </a:solidFill>
              </a:rPr>
              <a:t>S-&gt;stack[S-&gt;top1]=e; S-&gt;top1++;</a:t>
            </a:r>
            <a:r>
              <a:rPr lang="en-US" altLang="zh-CN" sz="2800" b="1" dirty="0"/>
              <a:t>  return(1);     }</a:t>
            </a:r>
            <a:br>
              <a:rPr lang="en-US" altLang="zh-CN" sz="2800" b="1" dirty="0"/>
            </a:br>
            <a:r>
              <a:rPr lang="en-US" altLang="zh-CN" sz="2800" b="1" dirty="0"/>
              <a:t> </a:t>
            </a:r>
            <a:r>
              <a:rPr lang="en-US" altLang="zh-CN" sz="2400" b="1" dirty="0">
                <a:latin typeface="楷体_GB2312"/>
                <a:ea typeface="楷体_GB2312"/>
              </a:rPr>
              <a:t>/* </a:t>
            </a:r>
            <a:r>
              <a:rPr lang="zh-CN" altLang="en-US" sz="2400" b="1" dirty="0">
                <a:latin typeface="楷体_GB2312"/>
                <a:ea typeface="楷体_GB2312"/>
              </a:rPr>
              <a:t>栈</a:t>
            </a:r>
            <a:r>
              <a:rPr lang="en-US" altLang="zh-CN" sz="2400" b="1" dirty="0"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</a:rPr>
              <a:t>的进栈算法 *</a:t>
            </a:r>
            <a:r>
              <a:rPr lang="en-US" altLang="zh-CN" sz="2400" b="1" dirty="0">
                <a:latin typeface="楷体_GB2312"/>
                <a:ea typeface="楷体_GB2312"/>
              </a:rPr>
              <a:t>/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 marL="342900" lvl="0" indent="-342900" eaLnBrk="1" hangingPunct="1">
              <a:lnSpc>
                <a:spcPct val="11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 int </a:t>
            </a:r>
            <a:r>
              <a:rPr lang="en-US" altLang="zh-CN" sz="2800" b="1" dirty="0">
                <a:solidFill>
                  <a:srgbClr val="006666"/>
                </a:solidFill>
              </a:rPr>
              <a:t>SStack2_Push2</a:t>
            </a:r>
            <a:r>
              <a:rPr lang="en-US" altLang="zh-CN" sz="2800" b="1" dirty="0"/>
              <a:t>(SStack2 *S, int e) </a:t>
            </a:r>
            <a:br>
              <a:rPr lang="en-US" altLang="zh-CN" sz="2800" b="1" dirty="0"/>
            </a:br>
            <a:r>
              <a:rPr lang="en-US" altLang="zh-CN" sz="2800" b="1" dirty="0"/>
              <a:t>     { if(S-&gt;top1&gt;S-&gt;top2) return(0); </a:t>
            </a:r>
            <a:r>
              <a:rPr lang="en-US" altLang="zh-CN" sz="1600" b="1" dirty="0">
                <a:latin typeface="楷体_GB2312"/>
                <a:ea typeface="楷体_GB2312"/>
              </a:rPr>
              <a:t>/* </a:t>
            </a:r>
            <a:r>
              <a:rPr lang="zh-CN" altLang="en-US" sz="1600" b="1" dirty="0">
                <a:latin typeface="楷体_GB2312"/>
                <a:ea typeface="楷体_GB2312"/>
              </a:rPr>
              <a:t>超出了地址范围</a:t>
            </a:r>
            <a:r>
              <a:rPr lang="en-US" altLang="zh-CN" sz="1600" b="1" dirty="0">
                <a:latin typeface="楷体_GB2312"/>
                <a:ea typeface="楷体_GB2312"/>
              </a:rPr>
              <a:t>,</a:t>
            </a:r>
            <a:r>
              <a:rPr lang="zh-CN" altLang="en-US" sz="1600" b="1" dirty="0">
                <a:latin typeface="楷体_GB2312"/>
                <a:ea typeface="楷体_GB2312"/>
              </a:rPr>
              <a:t>失败 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br>
              <a:rPr lang="en-US" altLang="zh-CN" sz="1600" b="1" dirty="0">
                <a:latin typeface="楷体_GB2312"/>
                <a:ea typeface="楷体_GB2312"/>
              </a:rPr>
            </a:br>
            <a:r>
              <a:rPr lang="en-US" altLang="zh-CN" sz="2800" b="1" dirty="0"/>
              <a:t>       </a:t>
            </a:r>
            <a:r>
              <a:rPr lang="en-US" altLang="zh-CN" sz="2800" b="1" dirty="0">
                <a:solidFill>
                  <a:srgbClr val="003366"/>
                </a:solidFill>
              </a:rPr>
              <a:t>S-&gt;stack[S-&gt;top2]=e; S-&gt;top2--;</a:t>
            </a:r>
            <a:r>
              <a:rPr lang="en-US" altLang="zh-CN" sz="2800" b="1" dirty="0"/>
              <a:t>  return(1); </a:t>
            </a:r>
            <a:r>
              <a:rPr lang="en-US" altLang="zh-CN" sz="1600" b="1" dirty="0">
                <a:latin typeface="楷体_GB2312"/>
                <a:ea typeface="楷体_GB2312"/>
              </a:rPr>
              <a:t>/* </a:t>
            </a:r>
            <a:r>
              <a:rPr lang="zh-CN" altLang="en-US" sz="1600" b="1" dirty="0">
                <a:latin typeface="楷体_GB2312"/>
                <a:ea typeface="楷体_GB2312"/>
              </a:rPr>
              <a:t>成功 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br>
              <a:rPr lang="en-US" altLang="zh-CN" sz="1600" b="1" dirty="0"/>
            </a:br>
            <a:r>
              <a:rPr lang="en-US" altLang="zh-CN" sz="2800" b="1" dirty="0"/>
              <a:t>     }    </a:t>
            </a:r>
            <a:endParaRPr lang="en-US" altLang="zh-CN" sz="2800" b="1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5603" name="Rectangle 2"/>
          <p:cNvSpPr/>
          <p:nvPr/>
        </p:nvSpPr>
        <p:spPr>
          <a:xfrm>
            <a:off x="34925" y="404813"/>
            <a:ext cx="8964613" cy="49593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spcAft>
                <a:spcPct val="45000"/>
              </a:spcAft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②</a:t>
            </a:r>
            <a:r>
              <a:rPr lang="zh-CN" altLang="en-US" sz="2800" b="1" dirty="0">
                <a:ea typeface="隶书" panose="02010509060101010101" pitchFamily="49" charset="-122"/>
              </a:rPr>
              <a:t>共享出栈算法</a:t>
            </a:r>
            <a:endParaRPr lang="zh-CN" altLang="en-US" sz="2800" b="1" dirty="0">
              <a:ea typeface="隶书" panose="02010509060101010101" pitchFamily="49" charset="-122"/>
            </a:endParaRPr>
          </a:p>
          <a:p>
            <a:pPr marL="342900" lvl="0" indent="-342900" eaLnBrk="1" hangingPunct="1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/>
              <a:t>顺序存储结构下，共享出栈算法。  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800" b="1" dirty="0"/>
              <a:t>   </a:t>
            </a:r>
            <a:r>
              <a:rPr lang="en-US" altLang="zh-CN" sz="2400" b="1" dirty="0">
                <a:latin typeface="楷体_GB2312"/>
                <a:ea typeface="楷体_GB2312"/>
              </a:rPr>
              <a:t>/* </a:t>
            </a:r>
            <a:r>
              <a:rPr lang="zh-CN" altLang="en-US" sz="2400" b="1" dirty="0">
                <a:latin typeface="楷体_GB2312"/>
                <a:ea typeface="楷体_GB2312"/>
              </a:rPr>
              <a:t>栈</a:t>
            </a:r>
            <a:r>
              <a:rPr lang="en-US" altLang="zh-CN" sz="2400" b="1" dirty="0"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</a:rPr>
              <a:t>的出栈算法</a:t>
            </a:r>
            <a:r>
              <a:rPr lang="en-US" altLang="zh-CN" sz="2400" b="1" dirty="0">
                <a:latin typeface="楷体_GB2312"/>
                <a:ea typeface="楷体_GB2312"/>
              </a:rPr>
              <a:t>,</a:t>
            </a:r>
            <a:r>
              <a:rPr lang="zh-CN" altLang="en-US" sz="2400" b="1" dirty="0">
                <a:latin typeface="楷体_GB2312"/>
                <a:ea typeface="楷体_GB2312"/>
              </a:rPr>
              <a:t>出栈元素的值存于*</a:t>
            </a:r>
            <a:r>
              <a:rPr lang="en-US" altLang="zh-CN" sz="2400" b="1" dirty="0">
                <a:latin typeface="楷体_GB2312"/>
                <a:ea typeface="楷体_GB2312"/>
              </a:rPr>
              <a:t>e</a:t>
            </a:r>
            <a:r>
              <a:rPr lang="zh-CN" altLang="en-US" sz="2400" b="1" dirty="0">
                <a:latin typeface="楷体_GB2312"/>
                <a:ea typeface="楷体_GB2312"/>
              </a:rPr>
              <a:t>之中 *</a:t>
            </a:r>
            <a:r>
              <a:rPr lang="en-US" altLang="zh-CN" sz="2400" b="1" dirty="0">
                <a:latin typeface="楷体_GB2312"/>
                <a:ea typeface="楷体_GB2312"/>
              </a:rPr>
              <a:t>/</a:t>
            </a:r>
            <a:endParaRPr lang="en-US" altLang="zh-CN" sz="2400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lnSpc>
                <a:spcPct val="11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int </a:t>
            </a:r>
            <a:r>
              <a:rPr lang="en-US" altLang="zh-CN" sz="2800" b="1" dirty="0">
                <a:solidFill>
                  <a:srgbClr val="006666"/>
                </a:solidFill>
              </a:rPr>
              <a:t>SStack2_Pop1</a:t>
            </a:r>
            <a:r>
              <a:rPr lang="en-US" altLang="zh-CN" sz="2800" b="1" dirty="0"/>
              <a:t>(SStack2 *S, int *e)  </a:t>
            </a:r>
            <a:br>
              <a:rPr lang="en-US" altLang="zh-CN" sz="2800" b="1" dirty="0"/>
            </a:br>
            <a:r>
              <a:rPr lang="en-US" altLang="zh-CN" sz="2800" b="1" dirty="0"/>
              <a:t>    {  if(S-&gt;top1==0)  return(0);   </a:t>
            </a:r>
            <a:r>
              <a:rPr lang="en-US" altLang="zh-CN" sz="1600" b="1" dirty="0">
                <a:latin typeface="楷体_GB2312"/>
                <a:ea typeface="楷体_GB2312"/>
              </a:rPr>
              <a:t>/* </a:t>
            </a:r>
            <a:r>
              <a:rPr lang="zh-CN" altLang="en-US" sz="1600" b="1" dirty="0">
                <a:latin typeface="楷体_GB2312"/>
                <a:ea typeface="楷体_GB2312"/>
              </a:rPr>
              <a:t>超出了地址范围</a:t>
            </a:r>
            <a:r>
              <a:rPr lang="en-US" altLang="zh-CN" sz="1600" b="1" dirty="0">
                <a:latin typeface="楷体_GB2312"/>
                <a:ea typeface="楷体_GB2312"/>
              </a:rPr>
              <a:t>,</a:t>
            </a:r>
            <a:r>
              <a:rPr lang="zh-CN" altLang="en-US" sz="1600" b="1" dirty="0">
                <a:latin typeface="楷体_GB2312"/>
                <a:ea typeface="楷体_GB2312"/>
              </a:rPr>
              <a:t>失败 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br>
              <a:rPr lang="en-US" altLang="zh-CN" sz="1600" b="1" dirty="0"/>
            </a:br>
            <a:r>
              <a:rPr lang="en-US" altLang="zh-CN" sz="2800" b="1" dirty="0"/>
              <a:t>      </a:t>
            </a:r>
            <a:r>
              <a:rPr lang="en-US" altLang="zh-CN" sz="2800" b="1" dirty="0">
                <a:solidFill>
                  <a:srgbClr val="003366"/>
                </a:solidFill>
              </a:rPr>
              <a:t>S-&gt;top1--;   *e=S-&gt;stack[S-&gt;top1];</a:t>
            </a:r>
            <a:r>
              <a:rPr lang="en-US" altLang="zh-CN" sz="2800" b="1" dirty="0"/>
              <a:t>  return(1); </a:t>
            </a:r>
            <a:endParaRPr lang="en-US" altLang="zh-CN" sz="1600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     }</a:t>
            </a:r>
            <a:endParaRPr lang="en-US" altLang="zh-CN" sz="2800" b="1" dirty="0"/>
          </a:p>
          <a:p>
            <a:pPr marL="342900" lvl="0" indent="-342900" eaLnBrk="1" hangingPunct="1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</a:t>
            </a:r>
            <a:r>
              <a:rPr lang="en-US" altLang="zh-CN" sz="2400" b="1" dirty="0">
                <a:latin typeface="楷体_GB2312"/>
                <a:ea typeface="楷体_GB2312"/>
              </a:rPr>
              <a:t>/* </a:t>
            </a:r>
            <a:r>
              <a:rPr lang="zh-CN" altLang="en-US" sz="2400" b="1" dirty="0">
                <a:latin typeface="楷体_GB2312"/>
                <a:ea typeface="楷体_GB2312"/>
              </a:rPr>
              <a:t>共享栈</a:t>
            </a:r>
            <a:r>
              <a:rPr lang="en-US" altLang="zh-CN" sz="2400" b="1" dirty="0"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</a:rPr>
              <a:t>的出栈算法</a:t>
            </a:r>
            <a:r>
              <a:rPr lang="en-US" altLang="zh-CN" sz="2400" b="1" dirty="0">
                <a:latin typeface="楷体_GB2312"/>
                <a:ea typeface="楷体_GB2312"/>
              </a:rPr>
              <a:t>,</a:t>
            </a:r>
            <a:r>
              <a:rPr lang="zh-CN" altLang="en-US" sz="2400" b="1" dirty="0">
                <a:latin typeface="楷体_GB2312"/>
                <a:ea typeface="楷体_GB2312"/>
              </a:rPr>
              <a:t>出栈元素的值存于*</a:t>
            </a:r>
            <a:r>
              <a:rPr lang="en-US" altLang="zh-CN" sz="2400" b="1" dirty="0">
                <a:latin typeface="楷体_GB2312"/>
                <a:ea typeface="楷体_GB2312"/>
              </a:rPr>
              <a:t>e</a:t>
            </a:r>
            <a:r>
              <a:rPr lang="zh-CN" altLang="en-US" sz="2400" b="1" dirty="0">
                <a:latin typeface="楷体_GB2312"/>
                <a:ea typeface="楷体_GB2312"/>
              </a:rPr>
              <a:t>之中 *</a:t>
            </a:r>
            <a:r>
              <a:rPr lang="en-US" altLang="zh-CN" sz="2400" b="1" dirty="0">
                <a:latin typeface="楷体_GB2312"/>
                <a:ea typeface="楷体_GB2312"/>
              </a:rPr>
              <a:t>/</a:t>
            </a:r>
            <a:endParaRPr lang="en-US" altLang="zh-CN" sz="2400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lnSpc>
                <a:spcPct val="11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int </a:t>
            </a:r>
            <a:r>
              <a:rPr lang="en-US" altLang="zh-CN" sz="2800" b="1" dirty="0">
                <a:solidFill>
                  <a:srgbClr val="006666"/>
                </a:solidFill>
              </a:rPr>
              <a:t>SStack2_Pop2</a:t>
            </a:r>
            <a:r>
              <a:rPr lang="en-US" altLang="zh-CN" sz="2800" b="1" dirty="0"/>
              <a:t>(SStack2 *S, int *e)  </a:t>
            </a:r>
            <a:br>
              <a:rPr lang="en-US" altLang="zh-CN" sz="2800" b="1" dirty="0"/>
            </a:br>
            <a:r>
              <a:rPr lang="en-US" altLang="zh-CN" sz="2800" b="1" dirty="0"/>
              <a:t>     { if(S-&gt;top2==MAX-1)  return(0); </a:t>
            </a:r>
            <a:r>
              <a:rPr lang="en-US" altLang="zh-CN" sz="1600" b="1" dirty="0">
                <a:latin typeface="楷体_GB2312"/>
                <a:ea typeface="楷体_GB2312"/>
              </a:rPr>
              <a:t>/*</a:t>
            </a:r>
            <a:r>
              <a:rPr lang="zh-CN" altLang="en-US" sz="1600" b="1" dirty="0">
                <a:latin typeface="楷体_GB2312"/>
                <a:ea typeface="楷体_GB2312"/>
              </a:rPr>
              <a:t>超出了地址范围</a:t>
            </a:r>
            <a:r>
              <a:rPr lang="en-US" altLang="zh-CN" sz="1600" b="1" dirty="0">
                <a:latin typeface="楷体_GB2312"/>
                <a:ea typeface="楷体_GB2312"/>
              </a:rPr>
              <a:t>,</a:t>
            </a:r>
            <a:r>
              <a:rPr lang="zh-CN" altLang="en-US" sz="1600" b="1" dirty="0">
                <a:latin typeface="楷体_GB2312"/>
                <a:ea typeface="楷体_GB2312"/>
              </a:rPr>
              <a:t>失败 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br>
              <a:rPr lang="en-US" altLang="zh-CN" sz="1600" b="1" dirty="0">
                <a:latin typeface="楷体_GB2312"/>
                <a:ea typeface="楷体_GB2312"/>
              </a:rPr>
            </a:br>
            <a:r>
              <a:rPr lang="en-US" altLang="zh-CN" sz="2800" b="1" dirty="0"/>
              <a:t>     </a:t>
            </a:r>
            <a:r>
              <a:rPr lang="en-US" altLang="zh-CN" sz="2800" b="1" dirty="0">
                <a:solidFill>
                  <a:srgbClr val="003366"/>
                </a:solidFill>
              </a:rPr>
              <a:t>S-&gt;top2++;   *e=S-&gt;stack[S-&gt;top2];</a:t>
            </a:r>
            <a:r>
              <a:rPr lang="en-US" altLang="zh-CN" sz="2800" b="1" dirty="0"/>
              <a:t>  return(1); </a:t>
            </a:r>
            <a:r>
              <a:rPr lang="en-US" altLang="zh-CN" sz="1600" b="1" dirty="0">
                <a:latin typeface="楷体_GB2312"/>
                <a:ea typeface="楷体_GB2312"/>
              </a:rPr>
              <a:t>/* </a:t>
            </a:r>
            <a:r>
              <a:rPr lang="zh-CN" altLang="en-US" sz="1600" b="1" dirty="0">
                <a:latin typeface="楷体_GB2312"/>
                <a:ea typeface="楷体_GB2312"/>
              </a:rPr>
              <a:t>成功*</a:t>
            </a:r>
            <a:r>
              <a:rPr lang="en-US" altLang="zh-CN" sz="1600" b="1" dirty="0">
                <a:latin typeface="楷体_GB2312"/>
                <a:ea typeface="楷体_GB2312"/>
              </a:rPr>
              <a:t>/</a:t>
            </a:r>
            <a:endParaRPr lang="en-US" altLang="zh-CN" sz="1600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sz="2800" b="1" dirty="0"/>
              <a:t>        }</a:t>
            </a:r>
            <a:endParaRPr lang="en-US" altLang="zh-CN" sz="2800" b="1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61474" name="Line 2"/>
          <p:cNvSpPr/>
          <p:nvPr/>
        </p:nvSpPr>
        <p:spPr>
          <a:xfrm>
            <a:off x="21558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75" name="Line 3"/>
          <p:cNvSpPr/>
          <p:nvPr/>
        </p:nvSpPr>
        <p:spPr>
          <a:xfrm>
            <a:off x="2155825" y="42195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76" name="Line 4"/>
          <p:cNvSpPr/>
          <p:nvPr/>
        </p:nvSpPr>
        <p:spPr>
          <a:xfrm>
            <a:off x="29940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77" name="Line 5"/>
          <p:cNvSpPr/>
          <p:nvPr/>
        </p:nvSpPr>
        <p:spPr>
          <a:xfrm>
            <a:off x="34512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78" name="Line 6"/>
          <p:cNvSpPr/>
          <p:nvPr/>
        </p:nvSpPr>
        <p:spPr>
          <a:xfrm>
            <a:off x="2155825" y="49053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79" name="Line 7"/>
          <p:cNvSpPr/>
          <p:nvPr/>
        </p:nvSpPr>
        <p:spPr>
          <a:xfrm>
            <a:off x="76422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0" name="Line 8"/>
          <p:cNvSpPr/>
          <p:nvPr/>
        </p:nvSpPr>
        <p:spPr>
          <a:xfrm>
            <a:off x="7642225" y="42195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1" name="Line 9"/>
          <p:cNvSpPr/>
          <p:nvPr/>
        </p:nvSpPr>
        <p:spPr>
          <a:xfrm>
            <a:off x="84804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2" name="Line 10"/>
          <p:cNvSpPr/>
          <p:nvPr/>
        </p:nvSpPr>
        <p:spPr>
          <a:xfrm>
            <a:off x="89376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3" name="Line 11"/>
          <p:cNvSpPr/>
          <p:nvPr/>
        </p:nvSpPr>
        <p:spPr>
          <a:xfrm>
            <a:off x="7642225" y="49053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4" name="Line 12"/>
          <p:cNvSpPr/>
          <p:nvPr/>
        </p:nvSpPr>
        <p:spPr>
          <a:xfrm>
            <a:off x="40608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5" name="Line 13"/>
          <p:cNvSpPr/>
          <p:nvPr/>
        </p:nvSpPr>
        <p:spPr>
          <a:xfrm>
            <a:off x="4060825" y="42195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6" name="Line 14"/>
          <p:cNvSpPr/>
          <p:nvPr/>
        </p:nvSpPr>
        <p:spPr>
          <a:xfrm>
            <a:off x="48990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7" name="Line 15"/>
          <p:cNvSpPr/>
          <p:nvPr/>
        </p:nvSpPr>
        <p:spPr>
          <a:xfrm>
            <a:off x="5356225" y="42195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8" name="Line 16"/>
          <p:cNvSpPr/>
          <p:nvPr/>
        </p:nvSpPr>
        <p:spPr>
          <a:xfrm>
            <a:off x="4060825" y="49053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1489" name="Line 17"/>
          <p:cNvSpPr/>
          <p:nvPr/>
        </p:nvSpPr>
        <p:spPr>
          <a:xfrm>
            <a:off x="1241425" y="4524375"/>
            <a:ext cx="9144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61490" name="Line 18"/>
          <p:cNvSpPr/>
          <p:nvPr/>
        </p:nvSpPr>
        <p:spPr>
          <a:xfrm>
            <a:off x="3451225" y="4524375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61491" name="Line 19"/>
          <p:cNvSpPr/>
          <p:nvPr/>
        </p:nvSpPr>
        <p:spPr>
          <a:xfrm>
            <a:off x="5356225" y="4524375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61492" name="Line 20"/>
          <p:cNvSpPr/>
          <p:nvPr/>
        </p:nvSpPr>
        <p:spPr>
          <a:xfrm>
            <a:off x="7032625" y="4524375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61493" name="Line 21"/>
          <p:cNvSpPr/>
          <p:nvPr/>
        </p:nvSpPr>
        <p:spPr>
          <a:xfrm>
            <a:off x="6118225" y="4524375"/>
            <a:ext cx="7620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1494" name="Text Box 22"/>
          <p:cNvSpPr txBox="1"/>
          <p:nvPr/>
        </p:nvSpPr>
        <p:spPr>
          <a:xfrm>
            <a:off x="250825" y="3883025"/>
            <a:ext cx="20193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ea typeface="楷体_GB2312"/>
              </a:rPr>
              <a:t>栈顶指针</a:t>
            </a:r>
            <a:endParaRPr lang="zh-CN" altLang="en-US" sz="3600" b="1" dirty="0">
              <a:ea typeface="楷体_GB2312"/>
            </a:endParaRPr>
          </a:p>
        </p:txBody>
      </p:sp>
      <p:sp>
        <p:nvSpPr>
          <p:cNvPr id="361495" name="Text Box 23"/>
          <p:cNvSpPr txBox="1"/>
          <p:nvPr/>
        </p:nvSpPr>
        <p:spPr>
          <a:xfrm>
            <a:off x="611188" y="301625"/>
            <a:ext cx="3348037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rgbClr val="0033CC"/>
                </a:solidFill>
                <a:ea typeface="楷体_GB2312"/>
              </a:rPr>
              <a:t>链栈   </a:t>
            </a:r>
            <a:endParaRPr lang="zh-CN" altLang="en-US" sz="2800" b="1" dirty="0">
              <a:solidFill>
                <a:srgbClr val="009900"/>
              </a:solidFill>
            </a:endParaRPr>
          </a:p>
        </p:txBody>
      </p:sp>
      <p:sp>
        <p:nvSpPr>
          <p:cNvPr id="361496" name="Text Box 24"/>
          <p:cNvSpPr txBox="1"/>
          <p:nvPr/>
        </p:nvSpPr>
        <p:spPr>
          <a:xfrm>
            <a:off x="8404225" y="4219575"/>
            <a:ext cx="533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/>
              <a:t>∧</a:t>
            </a:r>
            <a:endParaRPr lang="en-US" altLang="zh-CN" sz="4000" b="1" dirty="0"/>
          </a:p>
        </p:txBody>
      </p:sp>
      <p:sp>
        <p:nvSpPr>
          <p:cNvPr id="361497" name="Text Box 25"/>
          <p:cNvSpPr txBox="1"/>
          <p:nvPr/>
        </p:nvSpPr>
        <p:spPr>
          <a:xfrm>
            <a:off x="7747000" y="4127500"/>
            <a:ext cx="58102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/>
              <a:t>a</a:t>
            </a:r>
            <a:r>
              <a:rPr lang="en-US" altLang="zh-CN" sz="4000" b="1" baseline="-25000" dirty="0"/>
              <a:t>1</a:t>
            </a:r>
            <a:endParaRPr lang="en-US" altLang="zh-CN" sz="4000" b="1" dirty="0"/>
          </a:p>
        </p:txBody>
      </p:sp>
      <p:sp>
        <p:nvSpPr>
          <p:cNvPr id="361498" name="Text Box 26"/>
          <p:cNvSpPr txBox="1"/>
          <p:nvPr/>
        </p:nvSpPr>
        <p:spPr>
          <a:xfrm>
            <a:off x="2260600" y="4127500"/>
            <a:ext cx="58102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/>
              <a:t>a</a:t>
            </a:r>
            <a:r>
              <a:rPr lang="en-US" altLang="zh-CN" sz="4000" b="1" baseline="-25000" dirty="0"/>
              <a:t>n</a:t>
            </a:r>
            <a:endParaRPr lang="en-US" altLang="zh-CN" sz="4000" b="1" dirty="0"/>
          </a:p>
        </p:txBody>
      </p:sp>
      <p:sp>
        <p:nvSpPr>
          <p:cNvPr id="361499" name="Comment 27"/>
          <p:cNvSpPr/>
          <p:nvPr/>
        </p:nvSpPr>
        <p:spPr>
          <a:xfrm>
            <a:off x="566738" y="5376863"/>
            <a:ext cx="3032125" cy="1076325"/>
          </a:xfrm>
          <a:prstGeom prst="rect">
            <a:avLst/>
          </a:prstGeom>
          <a:solidFill>
            <a:srgbClr val="FCFDC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注意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: 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链栈中指针的方向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361500" name="AutoShape 28"/>
          <p:cNvSpPr/>
          <p:nvPr/>
        </p:nvSpPr>
        <p:spPr>
          <a:xfrm>
            <a:off x="3679825" y="5133975"/>
            <a:ext cx="304800" cy="838200"/>
          </a:xfrm>
          <a:prstGeom prst="upArrow">
            <a:avLst>
              <a:gd name="adj1" fmla="val 50000"/>
              <a:gd name="adj2" fmla="val 68750"/>
            </a:avLst>
          </a:prstGeom>
          <a:solidFill>
            <a:schemeClr val="accent2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361501" name="Text Box 29"/>
          <p:cNvSpPr txBox="1"/>
          <p:nvPr/>
        </p:nvSpPr>
        <p:spPr>
          <a:xfrm>
            <a:off x="4121150" y="4140200"/>
            <a:ext cx="86677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/>
              <a:t>a</a:t>
            </a:r>
            <a:r>
              <a:rPr lang="en-US" altLang="zh-CN" sz="4000" b="1" baseline="-25000" dirty="0"/>
              <a:t>n-1</a:t>
            </a:r>
            <a:endParaRPr lang="en-US" altLang="zh-CN" sz="4000" b="1" dirty="0"/>
          </a:p>
        </p:txBody>
      </p:sp>
      <p:sp>
        <p:nvSpPr>
          <p:cNvPr id="361502" name="AutoShape 30"/>
          <p:cNvSpPr/>
          <p:nvPr/>
        </p:nvSpPr>
        <p:spPr>
          <a:xfrm>
            <a:off x="5813425" y="5592763"/>
            <a:ext cx="2286000" cy="685800"/>
          </a:xfrm>
          <a:prstGeom prst="wedgeRoundRectCallout">
            <a:avLst>
              <a:gd name="adj1" fmla="val 38750"/>
              <a:gd name="adj2" fmla="val -156250"/>
              <a:gd name="adj3" fmla="val 16667"/>
            </a:avLst>
          </a:prstGeom>
          <a:solidFill>
            <a:schemeClr val="accent2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栈底元素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61506" name="Text Box 34"/>
          <p:cNvSpPr txBox="1"/>
          <p:nvPr/>
        </p:nvSpPr>
        <p:spPr>
          <a:xfrm>
            <a:off x="179388" y="1052513"/>
            <a:ext cx="8748712" cy="2544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Clr>
                <a:srgbClr val="99FF66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用单链表方式存储，指针的方向是从栈顶向下链接。</a:t>
            </a:r>
            <a:endParaRPr lang="zh-CN" altLang="en-US" sz="2800" b="1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Clr>
                <a:srgbClr val="99FF66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运算是受限的单链表，只能在链表头部进行操作，故没有必要附加头结点。栈顶指针就是链表的头指针。</a:t>
            </a:r>
            <a:endParaRPr lang="zh-CN" altLang="en-US" sz="2800" b="1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Clr>
                <a:srgbClr val="99FF66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不必预先知道栈的最大尺寸，不必担心栈满（除非整个内存空间已满）。</a:t>
            </a:r>
            <a:endParaRPr lang="zh-CN" altLang="en-US" sz="2800" b="1" dirty="0">
              <a:solidFill>
                <a:srgbClr val="006600"/>
              </a:solidFill>
            </a:endParaRPr>
          </a:p>
        </p:txBody>
      </p:sp>
      <p:sp>
        <p:nvSpPr>
          <p:cNvPr id="361505" name="Rectangle 37"/>
          <p:cNvSpPr/>
          <p:nvPr/>
        </p:nvSpPr>
        <p:spPr>
          <a:xfrm>
            <a:off x="3913188" y="0"/>
            <a:ext cx="5230812" cy="2954338"/>
          </a:xfrm>
          <a:prstGeom prst="rect">
            <a:avLst/>
          </a:prstGeom>
          <a:solidFill>
            <a:srgbClr val="FFFFE7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typedef  struct StackNode {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      SElemType  data;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      struct StackNode *next;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 } StackNode,  *LinkStack;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LinkStack S;   </a:t>
            </a:r>
            <a:endParaRPr lang="en-US" altLang="zh-CN" b="1" dirty="0">
              <a:ea typeface="楷体_GB231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6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61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3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3" dur="10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3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" dur="1000"/>
                                        <p:tgtEl>
                                          <p:spTgt spid="36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8" dur="1000"/>
                                        <p:tgtEl>
                                          <p:spTgt spid="3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3" dur="1000"/>
                                        <p:tgtEl>
                                          <p:spTgt spid="36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61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1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8" dur="1000"/>
                                        <p:tgtEl>
                                          <p:spTgt spid="36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3" dur="1000"/>
                                        <p:tgtEl>
                                          <p:spTgt spid="3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8" dur="1000"/>
                                        <p:tgtEl>
                                          <p:spTgt spid="3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61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61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3" dur="1000"/>
                                        <p:tgtEl>
                                          <p:spTgt spid="36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1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61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8" dur="1000"/>
                                        <p:tgtEl>
                                          <p:spTgt spid="36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1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3" dur="1000"/>
                                        <p:tgtEl>
                                          <p:spTgt spid="36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6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6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8" dur="1000"/>
                                        <p:tgtEl>
                                          <p:spTgt spid="36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6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6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3" dur="1000"/>
                                        <p:tgtEl>
                                          <p:spTgt spid="36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8" dur="1000"/>
                                        <p:tgtEl>
                                          <p:spTgt spid="36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6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6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3" dur="1000"/>
                                        <p:tgtEl>
                                          <p:spTgt spid="36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61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61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8" dur="1000"/>
                                        <p:tgtEl>
                                          <p:spTgt spid="36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61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61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3" dur="1000"/>
                                        <p:tgtEl>
                                          <p:spTgt spid="36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61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61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8" dur="1000"/>
                                        <p:tgtEl>
                                          <p:spTgt spid="36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61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61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3" dur="1000"/>
                                        <p:tgtEl>
                                          <p:spTgt spid="36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61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61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0" dur="1000"/>
                                        <p:tgtEl>
                                          <p:spTgt spid="36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61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61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7" dur="1000"/>
                                        <p:tgtEl>
                                          <p:spTgt spid="36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61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61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2" dur="1000"/>
                                        <p:tgtEl>
                                          <p:spTgt spid="36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94" grpId="0"/>
      <p:bldP spid="361495" grpId="0"/>
      <p:bldP spid="361496" grpId="0"/>
      <p:bldP spid="361497" grpId="0"/>
      <p:bldP spid="361498" grpId="0"/>
      <p:bldP spid="361499" grpId="0" animBg="1"/>
      <p:bldP spid="361501" grpId="0"/>
      <p:bldP spid="361502" grpId="0" animBg="1"/>
      <p:bldP spid="361506" grpId="0"/>
      <p:bldP spid="36150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7651" name="Text Box 2"/>
          <p:cNvSpPr txBox="1"/>
          <p:nvPr/>
        </p:nvSpPr>
        <p:spPr>
          <a:xfrm>
            <a:off x="1828800" y="381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har char=" "/>
            </a:pPr>
            <a:endParaRPr lang="zh-CN" altLang="zh-CN" sz="2800" b="1" dirty="0"/>
          </a:p>
        </p:txBody>
      </p:sp>
      <p:sp>
        <p:nvSpPr>
          <p:cNvPr id="27652" name="Text Box 4"/>
          <p:cNvSpPr txBox="1"/>
          <p:nvPr/>
        </p:nvSpPr>
        <p:spPr>
          <a:xfrm>
            <a:off x="6324600" y="2209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b="1" dirty="0"/>
          </a:p>
        </p:txBody>
      </p:sp>
      <p:sp>
        <p:nvSpPr>
          <p:cNvPr id="364549" name="Rectangle 4"/>
          <p:cNvSpPr/>
          <p:nvPr/>
        </p:nvSpPr>
        <p:spPr>
          <a:xfrm>
            <a:off x="0" y="333375"/>
            <a:ext cx="3524250" cy="515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6600FF"/>
                </a:solidFill>
                <a:latin typeface="楷体_GB2312"/>
                <a:ea typeface="楷体_GB2312"/>
              </a:rPr>
              <a:t>链栈的初始化</a:t>
            </a:r>
            <a:endParaRPr lang="zh-CN" altLang="en-US" b="1" dirty="0">
              <a:solidFill>
                <a:srgbClr val="6600FF"/>
              </a:solidFill>
              <a:latin typeface="楷体_GB2312"/>
              <a:ea typeface="楷体_GB2312"/>
            </a:endParaRPr>
          </a:p>
        </p:txBody>
      </p:sp>
      <p:sp>
        <p:nvSpPr>
          <p:cNvPr id="364550" name="Rectangle 37"/>
          <p:cNvSpPr/>
          <p:nvPr/>
        </p:nvSpPr>
        <p:spPr>
          <a:xfrm>
            <a:off x="900113" y="836613"/>
            <a:ext cx="6264275" cy="233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ea typeface="仿宋_GB2312"/>
              </a:rPr>
              <a:t>void InitStack(</a:t>
            </a:r>
            <a:r>
              <a:rPr lang="en-US" altLang="zh-CN" b="1" dirty="0">
                <a:ea typeface="楷体_GB2312"/>
              </a:rPr>
              <a:t>LinkStack</a:t>
            </a:r>
            <a:r>
              <a:rPr lang="en-US" altLang="zh-CN" b="1" dirty="0">
                <a:ea typeface="仿宋_GB2312"/>
              </a:rPr>
              <a:t> &amp;S )</a:t>
            </a:r>
            <a:endParaRPr lang="en-US" altLang="zh-CN" b="1" dirty="0">
              <a:ea typeface="仿宋_GB231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ea typeface="仿宋_GB2312"/>
              </a:rPr>
              <a:t>{</a:t>
            </a:r>
            <a:endParaRPr lang="en-US" altLang="zh-CN" b="1" dirty="0">
              <a:ea typeface="仿宋_GB231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ea typeface="仿宋_GB231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ea typeface="仿宋_GB2312"/>
              </a:rPr>
              <a:t>S=NULL;</a:t>
            </a:r>
            <a:endParaRPr lang="en-US" altLang="zh-CN" b="1" dirty="0">
              <a:solidFill>
                <a:srgbClr val="FF0000"/>
              </a:solidFill>
              <a:ea typeface="仿宋_GB231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ea typeface="仿宋_GB2312"/>
              </a:rPr>
              <a:t>   </a:t>
            </a:r>
            <a:r>
              <a:rPr lang="en-US" altLang="zh-CN" b="1" dirty="0">
                <a:ea typeface="仿宋_GB2312"/>
              </a:rPr>
              <a:t>return OK;</a:t>
            </a:r>
            <a:endParaRPr lang="en-US" altLang="zh-CN" b="1" dirty="0">
              <a:ea typeface="仿宋_GB231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ea typeface="仿宋_GB2312"/>
              </a:rPr>
              <a:t>}</a:t>
            </a:r>
            <a:endParaRPr lang="en-US" altLang="zh-CN" b="1" dirty="0">
              <a:ea typeface="仿宋_GB2312"/>
            </a:endParaRPr>
          </a:p>
        </p:txBody>
      </p:sp>
      <p:sp>
        <p:nvSpPr>
          <p:cNvPr id="364551" name="Rectangle 124"/>
          <p:cNvSpPr/>
          <p:nvPr/>
        </p:nvSpPr>
        <p:spPr>
          <a:xfrm>
            <a:off x="158750" y="3284538"/>
            <a:ext cx="3405188" cy="515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6600FF"/>
                </a:solidFill>
                <a:latin typeface="楷体_GB2312"/>
                <a:ea typeface="楷体_GB2312"/>
              </a:rPr>
              <a:t>链栈进栈</a:t>
            </a:r>
            <a:endParaRPr lang="zh-CN" altLang="en-US" b="1" dirty="0">
              <a:solidFill>
                <a:srgbClr val="6600FF"/>
              </a:solidFill>
              <a:latin typeface="楷体_GB2312"/>
              <a:ea typeface="楷体_GB2312"/>
            </a:endParaRPr>
          </a:p>
        </p:txBody>
      </p:sp>
      <p:sp>
        <p:nvSpPr>
          <p:cNvPr id="364552" name="Rectangle 125"/>
          <p:cNvSpPr/>
          <p:nvPr/>
        </p:nvSpPr>
        <p:spPr>
          <a:xfrm>
            <a:off x="900113" y="3876675"/>
            <a:ext cx="7993062" cy="2720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Status Push(</a:t>
            </a:r>
            <a:r>
              <a:rPr lang="en-US" altLang="zh-CN" b="1" dirty="0">
                <a:ea typeface="楷体_GB2312"/>
              </a:rPr>
              <a:t>LinkStack &amp;S 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, </a:t>
            </a:r>
            <a:r>
              <a:rPr lang="en-US" altLang="zh-CN" b="1" dirty="0">
                <a:ea typeface="楷体_GB2312"/>
              </a:rPr>
              <a:t>SElemType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e)</a:t>
            </a:r>
            <a:br>
              <a:rPr lang="en-US" altLang="zh-CN" b="1" dirty="0">
                <a:solidFill>
                  <a:srgbClr val="000000"/>
                </a:solidFill>
                <a:ea typeface="楷体_GB2312"/>
              </a:rPr>
            </a:b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{</a:t>
            </a:r>
            <a:br>
              <a:rPr lang="en-US" altLang="zh-CN" b="1" dirty="0">
                <a:solidFill>
                  <a:srgbClr val="000000"/>
                </a:solidFill>
                <a:ea typeface="楷体_GB2312"/>
              </a:rPr>
            </a:b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 </a:t>
            </a:r>
            <a:r>
              <a:rPr lang="en-US" altLang="zh-CN" b="1" dirty="0">
                <a:ea typeface="楷体_GB2312"/>
              </a:rPr>
              <a:t>p=new StackNode;      //</a:t>
            </a:r>
            <a:r>
              <a:rPr lang="zh-CN" altLang="en-US" b="1" dirty="0">
                <a:ea typeface="楷体_GB2312"/>
              </a:rPr>
              <a:t>生成新结点</a:t>
            </a:r>
            <a:r>
              <a:rPr lang="en-US" altLang="zh-CN" b="1" dirty="0">
                <a:ea typeface="楷体_GB2312"/>
              </a:rPr>
              <a:t>p </a:t>
            </a:r>
            <a:br>
              <a:rPr lang="en-US" altLang="zh-CN" b="1" dirty="0">
                <a:solidFill>
                  <a:srgbClr val="000000"/>
                </a:solidFill>
                <a:ea typeface="楷体_GB2312"/>
              </a:rPr>
            </a:b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 if (!p) exit(OVERFLOW);</a:t>
            </a:r>
            <a:br>
              <a:rPr lang="en-US" altLang="zh-CN" b="1" dirty="0">
                <a:solidFill>
                  <a:srgbClr val="000000"/>
                </a:solidFill>
                <a:ea typeface="楷体_GB2312"/>
              </a:rPr>
            </a:b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ea typeface="楷体_GB2312"/>
              </a:rPr>
              <a:t>p-&gt;data=e;    p-&gt;next=S;    S=p;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  <a:p>
            <a:pPr marL="342900" lvl="0" indent="-3429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     </a:t>
            </a:r>
            <a:r>
              <a:rPr lang="en-US" altLang="zh-CN" b="1" dirty="0">
                <a:ea typeface="楷体_GB2312"/>
              </a:rPr>
              <a:t>return OK; 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}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</p:txBody>
      </p:sp>
      <p:grpSp>
        <p:nvGrpSpPr>
          <p:cNvPr id="364553" name="Group 142"/>
          <p:cNvGrpSpPr/>
          <p:nvPr/>
        </p:nvGrpSpPr>
        <p:grpSpPr>
          <a:xfrm>
            <a:off x="4716463" y="1700213"/>
            <a:ext cx="3671887" cy="1995487"/>
            <a:chOff x="2688" y="1990"/>
            <a:chExt cx="2544" cy="1438"/>
          </a:xfrm>
        </p:grpSpPr>
        <p:sp>
          <p:nvSpPr>
            <p:cNvPr id="27658" name="Rectangle 126"/>
            <p:cNvSpPr/>
            <p:nvPr/>
          </p:nvSpPr>
          <p:spPr>
            <a:xfrm>
              <a:off x="3120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7659" name="Line 127"/>
            <p:cNvSpPr/>
            <p:nvPr/>
          </p:nvSpPr>
          <p:spPr>
            <a:xfrm>
              <a:off x="3504" y="206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128"/>
            <p:cNvSpPr/>
            <p:nvPr/>
          </p:nvSpPr>
          <p:spPr>
            <a:xfrm>
              <a:off x="2880" y="218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1" name="Text Box 129"/>
            <p:cNvSpPr txBox="1"/>
            <p:nvPr/>
          </p:nvSpPr>
          <p:spPr>
            <a:xfrm>
              <a:off x="2688" y="2065"/>
              <a:ext cx="28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7662" name="Rectangle 130"/>
            <p:cNvSpPr/>
            <p:nvPr/>
          </p:nvSpPr>
          <p:spPr>
            <a:xfrm>
              <a:off x="4464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7663" name="Line 131"/>
            <p:cNvSpPr/>
            <p:nvPr/>
          </p:nvSpPr>
          <p:spPr>
            <a:xfrm>
              <a:off x="4848" y="2066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Rectangle 132"/>
            <p:cNvSpPr/>
            <p:nvPr/>
          </p:nvSpPr>
          <p:spPr>
            <a:xfrm>
              <a:off x="4464" y="2450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7665" name="Line 133"/>
            <p:cNvSpPr/>
            <p:nvPr/>
          </p:nvSpPr>
          <p:spPr>
            <a:xfrm>
              <a:off x="4848" y="245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6" name="Rectangle 134"/>
            <p:cNvSpPr/>
            <p:nvPr/>
          </p:nvSpPr>
          <p:spPr>
            <a:xfrm>
              <a:off x="4464" y="3170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7667" name="Line 135"/>
            <p:cNvSpPr/>
            <p:nvPr/>
          </p:nvSpPr>
          <p:spPr>
            <a:xfrm>
              <a:off x="4848" y="317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136"/>
            <p:cNvSpPr/>
            <p:nvPr/>
          </p:nvSpPr>
          <p:spPr>
            <a:xfrm>
              <a:off x="5040" y="2230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9" name="Line 137"/>
            <p:cNvSpPr/>
            <p:nvPr/>
          </p:nvSpPr>
          <p:spPr>
            <a:xfrm>
              <a:off x="5040" y="2662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70" name="Line 138"/>
            <p:cNvSpPr/>
            <p:nvPr/>
          </p:nvSpPr>
          <p:spPr>
            <a:xfrm>
              <a:off x="5040" y="2950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7671" name="Text Box 139"/>
            <p:cNvSpPr txBox="1"/>
            <p:nvPr/>
          </p:nvSpPr>
          <p:spPr>
            <a:xfrm>
              <a:off x="4897" y="3142"/>
              <a:ext cx="287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∧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27672" name="Line 140"/>
            <p:cNvSpPr/>
            <p:nvPr/>
          </p:nvSpPr>
          <p:spPr>
            <a:xfrm>
              <a:off x="4224" y="2106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73" name="Text Box 141"/>
            <p:cNvSpPr txBox="1"/>
            <p:nvPr/>
          </p:nvSpPr>
          <p:spPr>
            <a:xfrm>
              <a:off x="4032" y="1990"/>
              <a:ext cx="28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9" grpId="0"/>
      <p:bldP spid="364550" grpId="0"/>
      <p:bldP spid="364551" grpId="0"/>
      <p:bldP spid="3645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9699" name="Text Box 2"/>
          <p:cNvSpPr txBox="1"/>
          <p:nvPr/>
        </p:nvSpPr>
        <p:spPr>
          <a:xfrm>
            <a:off x="1828800" y="381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har char=" "/>
            </a:pPr>
            <a:endParaRPr lang="zh-CN" altLang="zh-CN" sz="2800" b="1" dirty="0"/>
          </a:p>
        </p:txBody>
      </p:sp>
      <p:sp>
        <p:nvSpPr>
          <p:cNvPr id="29700" name="Text Box 4"/>
          <p:cNvSpPr txBox="1"/>
          <p:nvPr/>
        </p:nvSpPr>
        <p:spPr>
          <a:xfrm>
            <a:off x="6324600" y="2209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b="1" dirty="0"/>
          </a:p>
        </p:txBody>
      </p:sp>
      <p:sp>
        <p:nvSpPr>
          <p:cNvPr id="366597" name="Rectangle 56"/>
          <p:cNvSpPr/>
          <p:nvPr/>
        </p:nvSpPr>
        <p:spPr>
          <a:xfrm>
            <a:off x="468313" y="836613"/>
            <a:ext cx="3405187" cy="515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6600FF"/>
                </a:solidFill>
                <a:latin typeface="楷体_GB2312"/>
                <a:ea typeface="楷体_GB2312"/>
              </a:rPr>
              <a:t>链栈出栈</a:t>
            </a:r>
            <a:endParaRPr lang="zh-CN" altLang="en-US" sz="3600" b="1" dirty="0">
              <a:solidFill>
                <a:srgbClr val="6600FF"/>
              </a:solidFill>
              <a:latin typeface="楷体_GB2312"/>
              <a:ea typeface="楷体_GB2312"/>
            </a:endParaRPr>
          </a:p>
        </p:txBody>
      </p:sp>
      <p:grpSp>
        <p:nvGrpSpPr>
          <p:cNvPr id="366598" name="Group 59"/>
          <p:cNvGrpSpPr/>
          <p:nvPr/>
        </p:nvGrpSpPr>
        <p:grpSpPr>
          <a:xfrm>
            <a:off x="6227763" y="3573463"/>
            <a:ext cx="1905000" cy="2438400"/>
            <a:chOff x="1680" y="2908"/>
            <a:chExt cx="1200" cy="1325"/>
          </a:xfrm>
        </p:grpSpPr>
        <p:sp>
          <p:nvSpPr>
            <p:cNvPr id="29704" name="Rectangle 60"/>
            <p:cNvSpPr/>
            <p:nvPr/>
          </p:nvSpPr>
          <p:spPr>
            <a:xfrm>
              <a:off x="2112" y="2908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9705" name="Line 61"/>
            <p:cNvSpPr/>
            <p:nvPr/>
          </p:nvSpPr>
          <p:spPr>
            <a:xfrm>
              <a:off x="2496" y="2908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Rectangle 62"/>
            <p:cNvSpPr/>
            <p:nvPr/>
          </p:nvSpPr>
          <p:spPr>
            <a:xfrm>
              <a:off x="2112" y="3292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9707" name="Line 63"/>
            <p:cNvSpPr/>
            <p:nvPr/>
          </p:nvSpPr>
          <p:spPr>
            <a:xfrm>
              <a:off x="2496" y="329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Rectangle 64"/>
            <p:cNvSpPr/>
            <p:nvPr/>
          </p:nvSpPr>
          <p:spPr>
            <a:xfrm>
              <a:off x="2112" y="4012"/>
              <a:ext cx="768" cy="1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zh-CN" sz="2400" b="1" dirty="0">
                <a:ea typeface="楷体_GB2312"/>
              </a:endParaRPr>
            </a:p>
          </p:txBody>
        </p:sp>
        <p:sp>
          <p:nvSpPr>
            <p:cNvPr id="29709" name="Line 65"/>
            <p:cNvSpPr/>
            <p:nvPr/>
          </p:nvSpPr>
          <p:spPr>
            <a:xfrm>
              <a:off x="2496" y="401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0" name="Line 66"/>
            <p:cNvSpPr/>
            <p:nvPr/>
          </p:nvSpPr>
          <p:spPr>
            <a:xfrm>
              <a:off x="2688" y="3072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1" name="Line 67"/>
            <p:cNvSpPr/>
            <p:nvPr/>
          </p:nvSpPr>
          <p:spPr>
            <a:xfrm>
              <a:off x="2688" y="3504"/>
              <a:ext cx="0" cy="2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2" name="Line 68"/>
            <p:cNvSpPr/>
            <p:nvPr/>
          </p:nvSpPr>
          <p:spPr>
            <a:xfrm>
              <a:off x="2688" y="379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9713" name="Text Box 69"/>
            <p:cNvSpPr txBox="1"/>
            <p:nvPr/>
          </p:nvSpPr>
          <p:spPr>
            <a:xfrm>
              <a:off x="2544" y="3984"/>
              <a:ext cx="28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∧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9714" name="Line 70"/>
            <p:cNvSpPr/>
            <p:nvPr/>
          </p:nvSpPr>
          <p:spPr>
            <a:xfrm>
              <a:off x="1872" y="3024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5" name="Text Box 71"/>
            <p:cNvSpPr txBox="1"/>
            <p:nvPr/>
          </p:nvSpPr>
          <p:spPr>
            <a:xfrm>
              <a:off x="1680" y="2908"/>
              <a:ext cx="288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S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9716" name="Text Box 72"/>
            <p:cNvSpPr txBox="1"/>
            <p:nvPr/>
          </p:nvSpPr>
          <p:spPr>
            <a:xfrm>
              <a:off x="2112" y="2908"/>
              <a:ext cx="288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66612" name="Text Box 74"/>
          <p:cNvSpPr txBox="1"/>
          <p:nvPr/>
        </p:nvSpPr>
        <p:spPr>
          <a:xfrm>
            <a:off x="501650" y="1628775"/>
            <a:ext cx="8642350" cy="3646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/>
              <a:t>Status Pop (</a:t>
            </a:r>
            <a:r>
              <a:rPr lang="en-US" altLang="zh-CN" b="1" dirty="0">
                <a:ea typeface="楷体_GB2312"/>
              </a:rPr>
              <a:t>LinkStack</a:t>
            </a:r>
            <a:r>
              <a:rPr lang="en-US" altLang="zh-CN" b="1" dirty="0"/>
              <a:t> &amp;S,SElemType 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&amp;</a:t>
            </a:r>
            <a:r>
              <a:rPr lang="en-US" altLang="zh-CN" b="1" dirty="0"/>
              <a:t>e)</a:t>
            </a:r>
            <a:endParaRPr lang="en-US" altLang="zh-CN" b="1" dirty="0"/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/>
              <a:t>{</a:t>
            </a:r>
            <a:r>
              <a:rPr lang="en-US" altLang="zh-CN" b="1" dirty="0">
                <a:ea typeface="楷体_GB2312"/>
              </a:rPr>
              <a:t>if (S==NULL) return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ERROR;</a:t>
            </a:r>
            <a:endParaRPr lang="en-US" altLang="zh-CN" b="1" dirty="0"/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/>
              </a:rPr>
              <a:t>e = S-&gt; data;</a:t>
            </a: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 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p = S;  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S =  S-&gt; next;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 delete p;  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  <a:p>
            <a:pPr marL="0" lvl="0" indent="0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ea typeface="楷体_GB2312"/>
              </a:rPr>
              <a:t>return OK;  }  </a:t>
            </a:r>
            <a:endParaRPr lang="en-US" altLang="zh-CN" b="1" dirty="0">
              <a:solidFill>
                <a:srgbClr val="000000"/>
              </a:solidFill>
              <a:ea typeface="楷体_GB231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7" grpId="0"/>
      <p:bldP spid="3666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1251" name="Rectangle 3"/>
          <p:cNvSpPr>
            <a:spLocks noGrp="1"/>
          </p:cNvSpPr>
          <p:nvPr>
            <p:ph idx="1"/>
          </p:nvPr>
        </p:nvSpPr>
        <p:spPr>
          <a:xfrm>
            <a:off x="954088" y="1682750"/>
            <a:ext cx="7504112" cy="41576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</a:rPr>
              <a:t>1: 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数制转换（十转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） </a:t>
            </a:r>
            <a:r>
              <a:rPr lang="en-US" altLang="zh-CN" sz="2800" b="1" dirty="0">
                <a:solidFill>
                  <a:srgbClr val="0000FF"/>
                </a:solidFill>
              </a:rPr>
              <a:t>——P48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            </a:t>
            </a:r>
            <a:r>
              <a:rPr lang="zh-CN" altLang="en-US" sz="2000" b="1" dirty="0">
                <a:solidFill>
                  <a:srgbClr val="0000FF"/>
                </a:solidFill>
              </a:rPr>
              <a:t>设计思路：用栈暂存低位值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：</a:t>
            </a:r>
            <a:r>
              <a:rPr lang="zh-CN" altLang="en-US" sz="2800" b="1" dirty="0"/>
              <a:t>括号匹配的检验</a:t>
            </a:r>
            <a:r>
              <a:rPr lang="en-US" altLang="zh-CN" sz="2800" b="1" dirty="0">
                <a:solidFill>
                  <a:srgbClr val="0000FF"/>
                </a:solidFill>
              </a:rPr>
              <a:t>————P49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   </a:t>
            </a:r>
            <a:r>
              <a:rPr lang="zh-CN" altLang="en-US" sz="2000" b="1" dirty="0">
                <a:solidFill>
                  <a:srgbClr val="0000FF"/>
                </a:solidFill>
              </a:rPr>
              <a:t>设计思路：用栈暂存左括号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hlinkClick r:id="rId1" action="ppaction://hlinksldjump"/>
              </a:rPr>
              <a:t>表达式求值  </a:t>
            </a:r>
            <a:r>
              <a:rPr lang="en-US" altLang="zh-CN" sz="2800" b="1" dirty="0">
                <a:solidFill>
                  <a:srgbClr val="0000FF"/>
                </a:solidFill>
              </a:rPr>
              <a:t>—-————P52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           </a:t>
            </a:r>
            <a:r>
              <a:rPr lang="zh-CN" altLang="en-US" sz="2000" b="1" dirty="0">
                <a:solidFill>
                  <a:srgbClr val="0000FF"/>
                </a:solidFill>
              </a:rPr>
              <a:t>设计思路：用栈暂存运算符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应用</a:t>
            </a:r>
            <a:r>
              <a:rPr lang="en-US" altLang="zh-CN" sz="2800" b="1" dirty="0"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</a:rPr>
              <a:t>：递归程序的实现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81252" name="AutoShape 4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1749" name="Text Box 6"/>
          <p:cNvSpPr txBox="1"/>
          <p:nvPr/>
        </p:nvSpPr>
        <p:spPr>
          <a:xfrm>
            <a:off x="954088" y="606425"/>
            <a:ext cx="32083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栈的应用举例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2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81251">
                                            <p:txEl>
                                              <p:charRg st="21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81251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81251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9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1251">
                                            <p:txEl>
                                              <p:charRg st="90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111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81251">
                                            <p:txEl>
                                              <p:charRg st="111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charRg st="136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81251">
                                            <p:txEl>
                                              <p:charRg st="136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  <p:bldP spid="1812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71" name="Rectangle 4"/>
          <p:cNvSpPr/>
          <p:nvPr/>
        </p:nvSpPr>
        <p:spPr>
          <a:xfrm>
            <a:off x="544513" y="533400"/>
            <a:ext cx="8458200" cy="55895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5050"/>
                </a:solidFill>
                <a:ea typeface="楷体_GB2312"/>
              </a:rPr>
              <a:t>1.</a:t>
            </a:r>
            <a:r>
              <a:rPr lang="zh-CN" altLang="en-US" sz="3600" b="1" dirty="0">
                <a:solidFill>
                  <a:srgbClr val="FF5050"/>
                </a:solidFill>
                <a:ea typeface="楷体_GB2312"/>
              </a:rPr>
              <a:t>数制转换</a:t>
            </a:r>
            <a:br>
              <a:rPr lang="zh-CN" altLang="en-US" sz="3600" b="1" dirty="0">
                <a:ea typeface="楷体_GB2312"/>
              </a:rPr>
            </a:br>
            <a:r>
              <a:rPr lang="en-US" altLang="zh-CN" b="1" dirty="0">
                <a:solidFill>
                  <a:srgbClr val="FF0000"/>
                </a:solidFill>
                <a:ea typeface="楷体_GB2312"/>
              </a:rPr>
              <a:t>N = (N div d)×d + N mod d  </a:t>
            </a:r>
            <a:br>
              <a:rPr lang="en-US" altLang="zh-CN" dirty="0">
                <a:ea typeface="楷体_GB2312"/>
              </a:rPr>
            </a:br>
            <a:r>
              <a:rPr lang="zh-CN" altLang="en-US" b="1" dirty="0">
                <a:solidFill>
                  <a:srgbClr val="333399"/>
                </a:solidFill>
                <a:ea typeface="楷体_GB2312"/>
              </a:rPr>
              <a:t>例如：（</a:t>
            </a:r>
            <a:r>
              <a:rPr lang="en-US" altLang="zh-CN" b="1" dirty="0">
                <a:solidFill>
                  <a:srgbClr val="333399"/>
                </a:solidFill>
                <a:ea typeface="楷体_GB2312"/>
              </a:rPr>
              <a:t>1348)</a:t>
            </a:r>
            <a:r>
              <a:rPr lang="en-US" altLang="zh-CN" b="1" baseline="-25000" dirty="0">
                <a:solidFill>
                  <a:srgbClr val="333399"/>
                </a:solidFill>
                <a:ea typeface="楷体_GB2312"/>
              </a:rPr>
              <a:t>10</a:t>
            </a:r>
            <a:r>
              <a:rPr lang="en-US" altLang="zh-CN" b="1" dirty="0">
                <a:solidFill>
                  <a:srgbClr val="333399"/>
                </a:solidFill>
                <a:ea typeface="楷体_GB2312"/>
              </a:rPr>
              <a:t> = (2504)</a:t>
            </a:r>
            <a:r>
              <a:rPr lang="en-US" altLang="zh-CN" b="1" baseline="-25000" dirty="0">
                <a:solidFill>
                  <a:srgbClr val="333399"/>
                </a:solidFill>
                <a:ea typeface="楷体_GB2312"/>
              </a:rPr>
              <a:t>8</a:t>
            </a:r>
            <a:r>
              <a:rPr lang="en-US" altLang="zh-CN" b="1" dirty="0">
                <a:solidFill>
                  <a:srgbClr val="333399"/>
                </a:solidFill>
                <a:ea typeface="楷体_GB2312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ea typeface="楷体_GB2312"/>
              </a:rPr>
              <a:t>，其运算过程如下：</a:t>
            </a:r>
            <a:br>
              <a:rPr lang="zh-CN" altLang="en-US" sz="2800" b="1" dirty="0">
                <a:solidFill>
                  <a:srgbClr val="333399"/>
                </a:solidFill>
                <a:ea typeface="楷体_GB2312"/>
              </a:rPr>
            </a:br>
            <a:br>
              <a:rPr lang="zh-CN" altLang="en-US" dirty="0">
                <a:ea typeface="楷体_GB2312"/>
              </a:rPr>
            </a:br>
            <a:r>
              <a:rPr lang="zh-CN" altLang="en-US" dirty="0">
                <a:ea typeface="楷体_GB2312"/>
              </a:rPr>
              <a:t>	</a:t>
            </a:r>
            <a:r>
              <a:rPr lang="en-US" altLang="zh-CN" b="1" dirty="0">
                <a:solidFill>
                  <a:srgbClr val="996633"/>
                </a:solidFill>
                <a:ea typeface="楷体_GB2312"/>
              </a:rPr>
              <a:t>N     N div 8    N mod 8</a:t>
            </a:r>
            <a:br>
              <a:rPr lang="en-US" altLang="zh-CN" dirty="0">
                <a:solidFill>
                  <a:srgbClr val="0000FF"/>
                </a:solidFill>
                <a:ea typeface="楷体_GB2312"/>
              </a:rPr>
            </a:br>
            <a:r>
              <a:rPr lang="en-US" altLang="zh-CN" dirty="0">
                <a:solidFill>
                  <a:srgbClr val="0000FF"/>
                </a:solidFill>
                <a:ea typeface="楷体_GB2312"/>
              </a:rPr>
              <a:t>	</a:t>
            </a:r>
            <a:r>
              <a:rPr lang="en-US" altLang="zh-CN" dirty="0">
                <a:ea typeface="楷体_GB2312"/>
              </a:rPr>
              <a:t>1348      168         4</a:t>
            </a:r>
            <a:br>
              <a:rPr lang="en-US" altLang="zh-CN" dirty="0">
                <a:ea typeface="楷体_GB2312"/>
              </a:rPr>
            </a:br>
            <a:r>
              <a:rPr lang="en-US" altLang="zh-CN" dirty="0">
                <a:ea typeface="楷体_GB2312"/>
              </a:rPr>
              <a:t>	 168        21    	  0</a:t>
            </a:r>
            <a:br>
              <a:rPr lang="en-US" altLang="zh-CN" dirty="0">
                <a:ea typeface="楷体_GB2312"/>
              </a:rPr>
            </a:br>
            <a:r>
              <a:rPr lang="en-US" altLang="zh-CN" dirty="0">
                <a:ea typeface="楷体_GB2312"/>
              </a:rPr>
              <a:t>	   21         2    	  5</a:t>
            </a:r>
            <a:br>
              <a:rPr lang="en-US" altLang="zh-CN" dirty="0">
                <a:ea typeface="楷体_GB2312"/>
              </a:rPr>
            </a:br>
            <a:r>
              <a:rPr lang="en-US" altLang="zh-CN" dirty="0">
                <a:ea typeface="楷体_GB2312"/>
              </a:rPr>
              <a:t>	    2          0     	  2</a:t>
            </a:r>
            <a:endParaRPr lang="en-US" altLang="zh-CN" dirty="0">
              <a:ea typeface="楷体_GB2312"/>
            </a:endParaRPr>
          </a:p>
        </p:txBody>
      </p:sp>
      <p:sp>
        <p:nvSpPr>
          <p:cNvPr id="32772" name="Line 5"/>
          <p:cNvSpPr/>
          <p:nvPr/>
        </p:nvSpPr>
        <p:spPr>
          <a:xfrm>
            <a:off x="1524000" y="2895600"/>
            <a:ext cx="1588" cy="2698750"/>
          </a:xfrm>
          <a:prstGeom prst="line">
            <a:avLst/>
          </a:prstGeom>
          <a:ln w="28575" cap="flat" cmpd="sng">
            <a:solidFill>
              <a:srgbClr val="A5002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2773" name="Line 6"/>
          <p:cNvSpPr/>
          <p:nvPr/>
        </p:nvSpPr>
        <p:spPr>
          <a:xfrm flipV="1">
            <a:off x="5791200" y="2895600"/>
            <a:ext cx="1588" cy="2698750"/>
          </a:xfrm>
          <a:prstGeom prst="line">
            <a:avLst/>
          </a:prstGeom>
          <a:ln w="28575" cap="flat" cmpd="sng">
            <a:solidFill>
              <a:srgbClr val="A5002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2774" name="Text Box 7"/>
          <p:cNvSpPr txBox="1"/>
          <p:nvPr/>
        </p:nvSpPr>
        <p:spPr>
          <a:xfrm>
            <a:off x="6019800" y="3124200"/>
            <a:ext cx="671513" cy="16922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C0000"/>
                </a:solidFill>
                <a:ea typeface="楷体_GB2312"/>
              </a:rPr>
              <a:t>输出顺序</a:t>
            </a:r>
            <a:endParaRPr lang="zh-CN" altLang="en-US" b="1" dirty="0">
              <a:solidFill>
                <a:srgbClr val="CC0000"/>
              </a:solidFill>
              <a:ea typeface="楷体_GB2312"/>
            </a:endParaRPr>
          </a:p>
        </p:txBody>
      </p:sp>
      <p:sp>
        <p:nvSpPr>
          <p:cNvPr id="32775" name="Text Box 8"/>
          <p:cNvSpPr txBox="1"/>
          <p:nvPr/>
        </p:nvSpPr>
        <p:spPr>
          <a:xfrm>
            <a:off x="668338" y="3048000"/>
            <a:ext cx="671512" cy="16922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C0000"/>
                </a:solidFill>
                <a:ea typeface="楷体_GB2312"/>
              </a:rPr>
              <a:t>计算顺序</a:t>
            </a:r>
            <a:endParaRPr lang="zh-CN" altLang="en-US" b="1" dirty="0">
              <a:solidFill>
                <a:srgbClr val="CC0000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5" name="Text Box 4"/>
          <p:cNvSpPr txBox="1"/>
          <p:nvPr/>
        </p:nvSpPr>
        <p:spPr>
          <a:xfrm>
            <a:off x="1266825" y="377825"/>
            <a:ext cx="6027738" cy="594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void conversion () {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InitStack(S); 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scanf ("%d",N);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while (N) {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  Push(S, N % 8);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  N = N/8;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}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while (!StackEmpty(S)) {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  Pop(S,e);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  printf ( "%d", e );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}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} // conversion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4819" name="Text Box 4"/>
          <p:cNvSpPr txBox="1"/>
          <p:nvPr/>
        </p:nvSpPr>
        <p:spPr>
          <a:xfrm>
            <a:off x="255588" y="0"/>
            <a:ext cx="8540750" cy="6515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  <a:ea typeface="楷体_GB2312"/>
              </a:rPr>
              <a:t>2.</a:t>
            </a:r>
            <a:r>
              <a:rPr lang="zh-CN" altLang="en-US" sz="3600" b="1" dirty="0">
                <a:solidFill>
                  <a:srgbClr val="CC0000"/>
                </a:solidFill>
                <a:ea typeface="楷体_GB2312"/>
              </a:rPr>
              <a:t>行编辑程序</a:t>
            </a:r>
            <a:endParaRPr lang="zh-CN" altLang="en-US" sz="3600" b="1" dirty="0">
              <a:solidFill>
                <a:srgbClr val="CC0000"/>
              </a:solidFill>
              <a:ea typeface="楷体_GB231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	在用户输入一行的过程中，允许用户输入出差错，并在发现有误时可以及时更正。</a:t>
            </a:r>
            <a:endParaRPr lang="zh-CN" altLang="en-US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	设立一个输入缓冲区，用以接受用户输入的一行字符，然后逐行存入用户数据区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; </a:t>
            </a: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并假设“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#”</a:t>
            </a: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为退格符，“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@”</a:t>
            </a: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为退行符。</a:t>
            </a:r>
            <a:endParaRPr lang="zh-CN" altLang="en-US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假设从终端接受两行字符：</a:t>
            </a:r>
            <a:endParaRPr lang="zh-CN" altLang="en-US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 	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whli##ilr#e</a:t>
            </a: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（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s#*s) </a:t>
            </a:r>
            <a:endParaRPr lang="en-US" altLang="zh-CN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          outcha@putchar(*s=#++);</a:t>
            </a:r>
            <a:endParaRPr lang="en-US" altLang="zh-CN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实际有效行为：</a:t>
            </a:r>
            <a:endParaRPr lang="zh-CN" altLang="en-US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ea typeface="楷体_GB2312"/>
              </a:rPr>
              <a:t>        </a:t>
            </a: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while (*s)</a:t>
            </a:r>
            <a:endParaRPr lang="en-US" altLang="zh-CN" sz="2800" b="1" dirty="0">
              <a:solidFill>
                <a:srgbClr val="333399"/>
              </a:solidFill>
              <a:ea typeface="楷体_GB2312"/>
            </a:endParaRPr>
          </a:p>
          <a:p>
            <a:pPr marL="0" lv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  <a:ea typeface="楷体_GB2312"/>
              </a:rPr>
              <a:t>          putchar(*s++);</a:t>
            </a:r>
            <a:endParaRPr lang="en-US" altLang="zh-CN" sz="2800" b="1" dirty="0">
              <a:solidFill>
                <a:srgbClr val="333399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5843" name="Text Box 4"/>
          <p:cNvSpPr txBox="1"/>
          <p:nvPr/>
        </p:nvSpPr>
        <p:spPr>
          <a:xfrm>
            <a:off x="228600" y="685800"/>
            <a:ext cx="8458200" cy="5694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Void LineEdit(){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InitStack(s);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ch=getchar();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while (ch != EOF) {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//EOF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为全文结束符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		</a:t>
            </a: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while (ch != EOF &amp;&amp; ch != '\n') 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                       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{</a:t>
            </a:r>
            <a:endParaRPr lang="en-US" altLang="zh-CN" sz="2800" b="1" dirty="0">
              <a:solidFill>
                <a:srgbClr val="FF00FF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	      switch (ch) </a:t>
            </a:r>
            <a:r>
              <a:rPr lang="en-US" altLang="zh-CN" sz="2800" b="1" dirty="0">
                <a:solidFill>
                  <a:srgbClr val="C00000"/>
                </a:solidFill>
                <a:ea typeface="楷体_GB2312"/>
              </a:rPr>
              <a:t>{</a:t>
            </a:r>
            <a:endParaRPr lang="en-US" altLang="zh-CN" sz="2800" b="1" dirty="0">
              <a:solidFill>
                <a:srgbClr val="C00000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		case '#' : Pop(S, c); break;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       			case '@': ClearStack(S); break;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				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 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重置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S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为空栈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      			 </a:t>
            </a: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default : Push(S, ch);  break;  </a:t>
            </a:r>
            <a:r>
              <a:rPr lang="en-US" altLang="zh-CN" sz="2800" b="1" dirty="0">
                <a:solidFill>
                  <a:srgbClr val="C00000"/>
                </a:solidFill>
                <a:ea typeface="楷体_GB2312"/>
              </a:rPr>
              <a:t>}</a:t>
            </a:r>
            <a:endParaRPr lang="en-US" altLang="zh-CN" sz="2800" b="1" dirty="0">
              <a:solidFill>
                <a:srgbClr val="C00000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     		 ch = getchar(); 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 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从终端接收下一个字符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		    </a:t>
            </a:r>
            <a:r>
              <a:rPr lang="en-US" altLang="zh-CN" sz="2800" b="1" dirty="0">
                <a:solidFill>
                  <a:srgbClr val="FF00FF"/>
                </a:solidFill>
                <a:ea typeface="楷体_GB2312"/>
              </a:rPr>
              <a:t>}</a:t>
            </a:r>
            <a:endParaRPr lang="en-US" altLang="zh-CN" sz="2800" b="1" dirty="0">
              <a:solidFill>
                <a:srgbClr val="FF00FF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6867" name="Rectangle 4"/>
          <p:cNvSpPr/>
          <p:nvPr/>
        </p:nvSpPr>
        <p:spPr>
          <a:xfrm>
            <a:off x="477838" y="990600"/>
            <a:ext cx="7980362" cy="4186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楷体_GB2312"/>
              </a:rPr>
              <a:t>将从栈底到栈顶的字符传送至调用过程的数据区</a:t>
            </a: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；</a:t>
            </a:r>
            <a:endParaRPr lang="zh-CN" altLang="en-US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ClearStack(S);     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 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重置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S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为空栈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if (ch != EOF)  ch = getchar();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 }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DestroyStack(s);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}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0466" name="Text Box 2"/>
          <p:cNvSpPr txBox="1"/>
          <p:nvPr/>
        </p:nvSpPr>
        <p:spPr>
          <a:xfrm>
            <a:off x="174625" y="280988"/>
            <a:ext cx="8602663" cy="1292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楷体_GB2312"/>
                <a:ea typeface="楷体_GB2312"/>
              </a:rPr>
              <a:t>3.</a:t>
            </a:r>
            <a:r>
              <a:rPr lang="zh-CN" altLang="en-US" sz="3600" b="1" dirty="0">
                <a:solidFill>
                  <a:srgbClr val="CC3300"/>
                </a:solidFill>
                <a:latin typeface="楷体_GB2312"/>
                <a:ea typeface="楷体_GB2312"/>
              </a:rPr>
              <a:t> 表达式求值</a:t>
            </a:r>
            <a:r>
              <a:rPr lang="en-US" altLang="zh-CN" sz="3600" b="1" dirty="0">
                <a:solidFill>
                  <a:srgbClr val="CC3300"/>
                </a:solidFill>
                <a:latin typeface="楷体_GB2312"/>
                <a:ea typeface="楷体_GB2312"/>
              </a:rPr>
              <a:t>( </a:t>
            </a:r>
            <a:r>
              <a:rPr lang="zh-CN" altLang="en-US" sz="3600" b="1" dirty="0">
                <a:solidFill>
                  <a:srgbClr val="CC3300"/>
                </a:solidFill>
                <a:latin typeface="楷体_GB2312"/>
                <a:ea typeface="楷体_GB2312"/>
              </a:rPr>
              <a:t>这是栈应用的典型例子 </a:t>
            </a:r>
            <a:r>
              <a:rPr lang="en-US" altLang="zh-CN" sz="3600" b="1" dirty="0">
                <a:solidFill>
                  <a:srgbClr val="CC3300"/>
                </a:solidFill>
                <a:latin typeface="楷体_GB2312"/>
                <a:ea typeface="楷体_GB2312"/>
              </a:rPr>
              <a:t>)</a:t>
            </a:r>
            <a:endParaRPr lang="en-US" altLang="zh-CN" sz="3600" b="1" dirty="0">
              <a:solidFill>
                <a:srgbClr val="CC3300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楷体_GB2312"/>
                <a:ea typeface="楷体_GB2312"/>
              </a:rPr>
              <a:t>       </a:t>
            </a:r>
            <a:r>
              <a:rPr lang="zh-CN" altLang="en-US" sz="2800" b="1" dirty="0">
                <a:latin typeface="楷体_GB2312"/>
                <a:ea typeface="楷体_GB2312"/>
              </a:rPr>
              <a:t>这里，</a:t>
            </a:r>
            <a:r>
              <a:rPr lang="zh-CN" altLang="en-US" sz="2800" b="1" dirty="0">
                <a:solidFill>
                  <a:srgbClr val="0000FF"/>
                </a:solidFill>
                <a:latin typeface="楷体_GB2312"/>
                <a:ea typeface="楷体_GB2312"/>
              </a:rPr>
              <a:t>表达式求值的算法是</a:t>
            </a:r>
            <a:r>
              <a:rPr lang="zh-CN" altLang="en-US" sz="2800" b="1" dirty="0">
                <a:solidFill>
                  <a:srgbClr val="0000FF"/>
                </a:solidFill>
                <a:ea typeface="楷体_GB2312"/>
              </a:rPr>
              <a:t>“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/>
                <a:ea typeface="楷体_GB2312"/>
              </a:rPr>
              <a:t>算符优先法</a:t>
            </a:r>
            <a:r>
              <a:rPr lang="zh-CN" altLang="en-US" sz="2800" b="1" dirty="0">
                <a:solidFill>
                  <a:srgbClr val="0000FF"/>
                </a:solidFill>
                <a:ea typeface="楷体_GB2312"/>
              </a:rPr>
              <a:t>”</a:t>
            </a:r>
            <a:r>
              <a:rPr lang="zh-CN" altLang="en-US" sz="2800" b="1" dirty="0">
                <a:solidFill>
                  <a:srgbClr val="0000FF"/>
                </a:solidFill>
                <a:latin typeface="楷体_GB2312"/>
                <a:ea typeface="楷体_GB2312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90467" name="Text Box 3"/>
          <p:cNvSpPr txBox="1"/>
          <p:nvPr/>
        </p:nvSpPr>
        <p:spPr>
          <a:xfrm>
            <a:off x="1263650" y="1603375"/>
            <a:ext cx="702945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/>
              <a:t>3*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7 – 2 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）要正确求值，首先了解算术四则运算的规则：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    </a:t>
            </a:r>
            <a:r>
              <a:rPr lang="en-US" altLang="zh-CN" sz="2400" b="1" dirty="0">
                <a:solidFill>
                  <a:srgbClr val="0000FF"/>
                </a:solidFill>
              </a:rPr>
              <a:t>a.</a:t>
            </a:r>
            <a:r>
              <a:rPr lang="en-US" altLang="zh-CN" sz="2400" b="1" dirty="0"/>
              <a:t>  </a:t>
            </a:r>
            <a:r>
              <a:rPr lang="zh-CN" altLang="en-US" sz="2400" b="1" dirty="0"/>
              <a:t>从左算到右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>
                <a:solidFill>
                  <a:srgbClr val="0000FF"/>
                </a:solidFill>
              </a:rPr>
              <a:t>b.</a:t>
            </a:r>
            <a:r>
              <a:rPr lang="en-US" altLang="zh-CN" sz="2400" b="1" dirty="0">
                <a:solidFill>
                  <a:schemeClr val="accent1"/>
                </a:solidFill>
              </a:rPr>
              <a:t> </a:t>
            </a:r>
            <a:r>
              <a:rPr lang="zh-CN" altLang="en-US" sz="2400" b="1" dirty="0"/>
              <a:t>先乘除，后加减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>
                <a:solidFill>
                  <a:srgbClr val="0000FF"/>
                </a:solidFill>
              </a:rPr>
              <a:t>c.</a:t>
            </a:r>
            <a:r>
              <a:rPr lang="en-US" altLang="zh-CN" sz="2400" b="1" dirty="0">
                <a:solidFill>
                  <a:schemeClr val="accent1"/>
                </a:solidFill>
              </a:rPr>
              <a:t> </a:t>
            </a:r>
            <a:r>
              <a:rPr lang="zh-CN" altLang="en-US" sz="2400" b="1" dirty="0"/>
              <a:t>先括号内，后括号外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例：</a:t>
            </a:r>
            <a:r>
              <a:rPr lang="en-US" altLang="zh-CN" sz="2400" b="1" dirty="0">
                <a:solidFill>
                  <a:srgbClr val="FF00FF"/>
                </a:solidFill>
              </a:rPr>
              <a:t>4+2*3-10/5=4+6-10/5=10-10/5=10-2=8</a:t>
            </a:r>
            <a:endParaRPr lang="en-US" altLang="zh-CN" sz="2400" b="1" dirty="0">
              <a:solidFill>
                <a:srgbClr val="FF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由此，此表达式的计算顺序为：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              </a:t>
            </a:r>
            <a:r>
              <a:rPr lang="en-US" altLang="zh-CN" sz="2400" b="1" dirty="0"/>
              <a:t>3*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7 – 2 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= 3 * 5 = 15</a:t>
            </a:r>
            <a:endParaRPr lang="en-US" altLang="zh-CN" sz="2400" b="1" dirty="0"/>
          </a:p>
        </p:txBody>
      </p:sp>
      <p:sp>
        <p:nvSpPr>
          <p:cNvPr id="190468" name="AutoShape 4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/>
      <p:bldP spid="190467" grpId="0"/>
      <p:bldP spid="19046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1490" name="Text Box 2"/>
          <p:cNvSpPr txBox="1"/>
          <p:nvPr/>
        </p:nvSpPr>
        <p:spPr>
          <a:xfrm>
            <a:off x="169863" y="796925"/>
            <a:ext cx="8796337" cy="313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）根据上述三条运算规则，在运算的每一步中，对任意相继出现的算符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C1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，都要比较优先权关系。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000" b="1" dirty="0"/>
              <a:t>算符优先法所依据的算符间的优先关系</a:t>
            </a:r>
            <a:r>
              <a:rPr lang="zh-CN" altLang="en-US" sz="2000" b="1" dirty="0">
                <a:solidFill>
                  <a:srgbClr val="0000FF"/>
                </a:solidFill>
              </a:rPr>
              <a:t>见教材</a:t>
            </a:r>
            <a:r>
              <a:rPr lang="en-US" altLang="zh-CN" sz="2000" b="1" dirty="0">
                <a:solidFill>
                  <a:srgbClr val="0000FF"/>
                </a:solidFill>
              </a:rPr>
              <a:t>P53</a:t>
            </a:r>
            <a:r>
              <a:rPr lang="zh-CN" altLang="en-US" sz="2000" b="1" dirty="0">
                <a:solidFill>
                  <a:srgbClr val="0000FF"/>
                </a:solidFill>
              </a:rPr>
              <a:t>表</a:t>
            </a:r>
            <a:r>
              <a:rPr lang="en-US" altLang="zh-CN" sz="2000" b="1" dirty="0">
                <a:solidFill>
                  <a:srgbClr val="0000FF"/>
                </a:solidFill>
              </a:rPr>
              <a:t>3.1</a:t>
            </a:r>
            <a:r>
              <a:rPr lang="zh-CN" altLang="en-US" sz="2000" b="1" dirty="0">
                <a:solidFill>
                  <a:srgbClr val="0000FF"/>
                </a:solidFill>
              </a:rPr>
              <a:t>（给计算机用的表！）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000" b="1" dirty="0"/>
              <a:t>由表可看出，右括号 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  <a:r>
              <a:rPr lang="en-US" altLang="zh-CN" sz="2000" b="1" dirty="0">
                <a:solidFill>
                  <a:schemeClr val="accent1"/>
                </a:solidFill>
              </a:rPr>
              <a:t> </a:t>
            </a:r>
            <a:r>
              <a:rPr lang="zh-CN" altLang="en-US" sz="2000" b="1" dirty="0"/>
              <a:t>和井号</a:t>
            </a:r>
            <a:r>
              <a:rPr lang="zh-CN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#</a:t>
            </a:r>
            <a:r>
              <a:rPr lang="en-US" altLang="zh-CN" sz="2000" b="1" dirty="0">
                <a:solidFill>
                  <a:schemeClr val="accent1"/>
                </a:solidFill>
              </a:rPr>
              <a:t> </a:t>
            </a:r>
            <a:r>
              <a:rPr lang="zh-CN" altLang="en-US" sz="2000" b="1" dirty="0"/>
              <a:t>作为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C2</a:t>
            </a:r>
            <a:r>
              <a:rPr lang="zh-CN" altLang="en-US" sz="2000" b="1" dirty="0">
                <a:sym typeface="Symbol" panose="05050102010706020507" pitchFamily="18" charset="2"/>
              </a:rPr>
              <a:t>时</a:t>
            </a:r>
            <a:r>
              <a:rPr lang="zh-CN" altLang="en-US" sz="2000" b="1" dirty="0"/>
              <a:t>级别最低；</a:t>
            </a:r>
            <a:endParaRPr lang="zh-CN" altLang="en-US" sz="20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000" b="1" dirty="0"/>
              <a:t>由</a:t>
            </a:r>
            <a:r>
              <a:rPr lang="en-US" altLang="zh-CN" sz="2000" b="1" dirty="0">
                <a:solidFill>
                  <a:srgbClr val="0000FF"/>
                </a:solidFill>
              </a:rPr>
              <a:t>c </a:t>
            </a:r>
            <a:r>
              <a:rPr lang="zh-CN" altLang="en-US" sz="2000" b="1" dirty="0">
                <a:solidFill>
                  <a:srgbClr val="0000FF"/>
                </a:solidFill>
              </a:rPr>
              <a:t>规则</a:t>
            </a:r>
            <a:r>
              <a:rPr lang="zh-CN" altLang="en-US" sz="2000" b="1" dirty="0"/>
              <a:t>得出： * ，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为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C1</a:t>
            </a:r>
            <a:r>
              <a:rPr lang="zh-CN" altLang="en-US" sz="2000" b="1" dirty="0"/>
              <a:t>时的优先权低于‘（’，高于‘）’</a:t>
            </a:r>
            <a:endParaRPr lang="zh-CN" altLang="en-US" sz="2000" b="1" dirty="0"/>
          </a:p>
          <a:p>
            <a:pPr marL="0" lvl="0" indent="0" eaLnBrk="1" hangingPunct="1">
              <a:spcBef>
                <a:spcPct val="50000"/>
              </a:spcBef>
            </a:pPr>
            <a:r>
              <a:rPr lang="zh-CN" altLang="en-US" sz="2000" b="1" dirty="0"/>
              <a:t> 由</a:t>
            </a:r>
            <a:r>
              <a:rPr lang="en-US" altLang="zh-CN" sz="2000" b="1" dirty="0">
                <a:solidFill>
                  <a:srgbClr val="0000FF"/>
                </a:solidFill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</a:rPr>
              <a:t>规则</a:t>
            </a:r>
            <a:r>
              <a:rPr lang="zh-CN" altLang="en-US" sz="2000" b="1" dirty="0"/>
              <a:t>得出：‘</a:t>
            </a:r>
            <a:r>
              <a:rPr lang="zh-CN" altLang="en-US" sz="2000" b="1" dirty="0">
                <a:solidFill>
                  <a:srgbClr val="0000FF"/>
                </a:solidFill>
              </a:rPr>
              <a:t>（</a:t>
            </a:r>
            <a:r>
              <a:rPr lang="zh-CN" altLang="en-US" sz="2000" b="1" dirty="0"/>
              <a:t>’</a:t>
            </a:r>
            <a:r>
              <a:rPr lang="en-US" altLang="zh-CN" sz="2000" b="1" dirty="0"/>
              <a:t>=‘</a:t>
            </a:r>
            <a:r>
              <a:rPr lang="zh-CN" altLang="en-US" sz="2000" b="1" dirty="0">
                <a:solidFill>
                  <a:srgbClr val="0000FF"/>
                </a:solidFill>
              </a:rPr>
              <a:t>）</a:t>
            </a:r>
            <a:r>
              <a:rPr lang="zh-CN" altLang="en-US" sz="2000" b="1" dirty="0"/>
              <a:t>’  表明括号内运算，已算完。</a:t>
            </a:r>
            <a:endParaRPr lang="zh-CN" altLang="en-US" sz="20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000" b="1" dirty="0"/>
              <a:t>                          ‘ </a:t>
            </a:r>
            <a:r>
              <a:rPr lang="en-US" altLang="zh-CN" sz="2000" b="1" dirty="0">
                <a:solidFill>
                  <a:srgbClr val="0000FF"/>
                </a:solidFill>
              </a:rPr>
              <a:t>#</a:t>
            </a:r>
            <a:r>
              <a:rPr lang="en-US" altLang="zh-CN" sz="2000" b="1" dirty="0"/>
              <a:t> ’=‘ </a:t>
            </a:r>
            <a:r>
              <a:rPr lang="en-US" altLang="zh-CN" sz="2000" b="1" dirty="0">
                <a:solidFill>
                  <a:srgbClr val="0000FF"/>
                </a:solidFill>
              </a:rPr>
              <a:t>#</a:t>
            </a:r>
            <a:r>
              <a:rPr lang="en-US" altLang="zh-CN" sz="2000" b="1" dirty="0"/>
              <a:t> ’   </a:t>
            </a:r>
            <a:r>
              <a:rPr lang="zh-CN" altLang="en-US" sz="2000" b="1" dirty="0"/>
              <a:t>表明表达式求值完毕。</a:t>
            </a:r>
            <a:endParaRPr lang="zh-CN" altLang="en-US" sz="2000" b="1" dirty="0"/>
          </a:p>
        </p:txBody>
      </p:sp>
      <p:sp>
        <p:nvSpPr>
          <p:cNvPr id="38916" name="Text Box 3"/>
          <p:cNvSpPr txBox="1"/>
          <p:nvPr/>
        </p:nvSpPr>
        <p:spPr>
          <a:xfrm>
            <a:off x="73025" y="228600"/>
            <a:ext cx="3643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栈的应用（表达式求值）</a:t>
            </a:r>
            <a:endParaRPr lang="zh-CN" altLang="en-US" sz="24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91492" name="AutoShape 4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638" y="3914775"/>
            <a:ext cx="4087812" cy="2687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6484938" y="3573463"/>
            <a:ext cx="26590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00FF"/>
                </a:solidFill>
                <a:latin typeface="Arial" panose="020B0604020202020204" pitchFamily="34" charset="0"/>
              </a:rPr>
              <a:t>C1</a:t>
            </a:r>
            <a:r>
              <a:rPr lang="zh-CN" altLang="en-US" sz="2800" b="1" dirty="0">
                <a:solidFill>
                  <a:srgbClr val="6600FF"/>
                </a:solidFill>
                <a:latin typeface="Arial" panose="020B0604020202020204" pitchFamily="34" charset="0"/>
              </a:rPr>
              <a:t>：栈顶元素</a:t>
            </a:r>
            <a:endParaRPr lang="zh-CN" altLang="en-US" sz="2800" b="1" dirty="0">
              <a:solidFill>
                <a:srgbClr val="6600FF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00FF"/>
                </a:solidFill>
                <a:latin typeface="Arial" panose="020B0604020202020204" pitchFamily="34" charset="0"/>
              </a:rPr>
              <a:t>C2</a:t>
            </a:r>
            <a:r>
              <a:rPr lang="zh-CN" altLang="en-US" sz="2800" b="1" dirty="0">
                <a:solidFill>
                  <a:srgbClr val="6600FF"/>
                </a:solidFill>
                <a:latin typeface="Arial" panose="020B0604020202020204" pitchFamily="34" charset="0"/>
              </a:rPr>
              <a:t>：读到算符</a:t>
            </a:r>
            <a:endParaRPr lang="zh-CN" altLang="en-US" sz="2800" b="1" dirty="0">
              <a:solidFill>
                <a:srgbClr val="66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51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8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118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187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 build="p"/>
      <p:bldP spid="191492" grpId="0" animBg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2514" name="Text Box 2"/>
          <p:cNvSpPr txBox="1"/>
          <p:nvPr/>
        </p:nvSpPr>
        <p:spPr>
          <a:xfrm>
            <a:off x="261938" y="958850"/>
            <a:ext cx="8566150" cy="4264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5750" lvl="0" indent="-285750" defTabSz="914400" eaLnBrk="1" hangingPunct="1">
              <a:spcBef>
                <a:spcPct val="50000"/>
              </a:spcBef>
              <a:buNone/>
              <a:tabLst>
                <a:tab pos="381000" algn="l"/>
              </a:tabLst>
            </a:pPr>
            <a:r>
              <a:rPr lang="zh-CN" altLang="en-US" sz="2800" b="1" dirty="0">
                <a:solidFill>
                  <a:srgbClr val="0000FF"/>
                </a:solidFill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</a:rPr>
              <a:t>）算法思想：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285750" lvl="0" indent="-285750" defTabSz="914400" eaLnBrk="1" hangingPunct="1">
              <a:spcBef>
                <a:spcPct val="50000"/>
              </a:spcBef>
              <a:tabLst>
                <a:tab pos="381000" algn="l"/>
              </a:tabLst>
            </a:pPr>
            <a:r>
              <a:rPr lang="zh-CN" altLang="en-US" sz="2400" b="1" dirty="0">
                <a:solidFill>
                  <a:srgbClr val="0000FF"/>
                </a:solidFill>
              </a:rPr>
              <a:t>设定两栈：</a:t>
            </a:r>
            <a:r>
              <a:rPr lang="zh-CN" altLang="en-US" sz="2400" b="1" dirty="0"/>
              <a:t>操作符栈 </a:t>
            </a:r>
            <a:r>
              <a:rPr lang="en-US" altLang="zh-CN" sz="2400" b="1" dirty="0"/>
              <a:t>OPTR </a:t>
            </a:r>
            <a:r>
              <a:rPr lang="zh-CN" altLang="en-US" sz="2400" b="1" dirty="0"/>
              <a:t>，操作数栈 </a:t>
            </a:r>
            <a:r>
              <a:rPr lang="en-US" altLang="zh-CN" sz="2400" b="1" dirty="0"/>
              <a:t>OPND</a:t>
            </a:r>
            <a:endParaRPr lang="en-US" altLang="zh-CN" sz="2400" b="1" dirty="0"/>
          </a:p>
          <a:p>
            <a:pPr marL="285750" lvl="0" indent="-285750" defTabSz="914400" eaLnBrk="1" hangingPunct="1">
              <a:spcBef>
                <a:spcPct val="50000"/>
              </a:spcBef>
              <a:tabLst>
                <a:tab pos="381000" algn="l"/>
              </a:tabLst>
            </a:pPr>
            <a:r>
              <a:rPr lang="zh-CN" altLang="en-US" sz="2400" b="1" dirty="0">
                <a:solidFill>
                  <a:srgbClr val="0000FF"/>
                </a:solidFill>
              </a:rPr>
              <a:t>栈初始化</a:t>
            </a:r>
            <a:r>
              <a:rPr lang="zh-CN" altLang="en-US" sz="2400" b="1" dirty="0"/>
              <a:t>：设操作数栈 </a:t>
            </a:r>
            <a:r>
              <a:rPr lang="en-US" altLang="zh-CN" sz="2400" b="1" dirty="0"/>
              <a:t>OPND </a:t>
            </a:r>
            <a:r>
              <a:rPr lang="zh-CN" altLang="en-US" sz="2400" b="1" dirty="0"/>
              <a:t>为空；操作符栈 </a:t>
            </a:r>
            <a:r>
              <a:rPr lang="en-US" altLang="zh-CN" sz="2400" b="1" dirty="0"/>
              <a:t>OPTR </a:t>
            </a:r>
            <a:r>
              <a:rPr lang="zh-CN" altLang="en-US" sz="2400" b="1" dirty="0"/>
              <a:t>的栈底元素为表达式起始符 ‘</a:t>
            </a:r>
            <a:r>
              <a:rPr lang="en-US" altLang="zh-CN" sz="2400" b="1" dirty="0"/>
              <a:t>#’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marL="285750" lvl="0" indent="-285750" defTabSz="914400" eaLnBrk="1" hangingPunct="1">
              <a:spcBef>
                <a:spcPct val="50000"/>
              </a:spcBef>
              <a:tabLst>
                <a:tab pos="381000" algn="l"/>
              </a:tabLst>
            </a:pPr>
            <a:r>
              <a:rPr lang="zh-CN" altLang="en-US" sz="2400" b="1" dirty="0">
                <a:solidFill>
                  <a:srgbClr val="0000FF"/>
                </a:solidFill>
              </a:rPr>
              <a:t>依次读入字符</a:t>
            </a:r>
            <a:r>
              <a:rPr lang="zh-CN" altLang="en-US" sz="2400" b="1" dirty="0"/>
              <a:t>：是操作数则入</a:t>
            </a:r>
            <a:r>
              <a:rPr lang="en-US" altLang="zh-CN" sz="2400" b="1" dirty="0"/>
              <a:t>OPND</a:t>
            </a:r>
            <a:r>
              <a:rPr lang="zh-CN" altLang="en-US" sz="2400" b="1" dirty="0"/>
              <a:t>栈，是操作符则要判断：</a:t>
            </a:r>
            <a:endParaRPr lang="zh-CN" altLang="en-US" sz="2400" b="1" dirty="0"/>
          </a:p>
          <a:p>
            <a:pPr marL="285750" lvl="0" indent="-285750" defTabSz="914400" eaLnBrk="1" hangingPunct="1">
              <a:spcBef>
                <a:spcPct val="50000"/>
              </a:spcBef>
              <a:buNone/>
              <a:tabLst>
                <a:tab pos="381000" algn="l"/>
              </a:tabLst>
            </a:pPr>
            <a:r>
              <a:rPr lang="zh-CN" altLang="en-US" sz="2800" b="1" dirty="0"/>
              <a:t>   </a:t>
            </a:r>
            <a:r>
              <a:rPr lang="en-US" altLang="zh-CN" sz="2800" b="1" dirty="0"/>
              <a:t>if</a:t>
            </a:r>
            <a:r>
              <a:rPr lang="en-US" altLang="zh-CN" sz="2400" b="1" dirty="0"/>
              <a:t>   </a:t>
            </a:r>
            <a:r>
              <a:rPr lang="zh-CN" altLang="en-US" sz="2400" b="1" dirty="0">
                <a:solidFill>
                  <a:srgbClr val="0000FF"/>
                </a:solidFill>
              </a:rPr>
              <a:t>操作符  </a:t>
            </a:r>
            <a:r>
              <a:rPr lang="en-US" altLang="zh-CN" sz="2400" b="1" dirty="0">
                <a:solidFill>
                  <a:srgbClr val="0000FF"/>
                </a:solidFill>
              </a:rPr>
              <a:t>&lt; </a:t>
            </a:r>
            <a:r>
              <a:rPr lang="zh-CN" altLang="en-US" sz="2400" b="1" dirty="0">
                <a:solidFill>
                  <a:srgbClr val="0000FF"/>
                </a:solidFill>
              </a:rPr>
              <a:t>栈顶元素</a:t>
            </a:r>
            <a:r>
              <a:rPr lang="zh-CN" altLang="en-US" sz="2400" b="1" dirty="0"/>
              <a:t>，则退栈、计算，结果压入</a:t>
            </a:r>
            <a:r>
              <a:rPr lang="en-US" altLang="zh-CN" sz="2400" b="1" dirty="0"/>
              <a:t>OPND</a:t>
            </a:r>
            <a:r>
              <a:rPr lang="zh-CN" altLang="en-US" sz="2400" b="1" dirty="0"/>
              <a:t>栈； </a:t>
            </a:r>
            <a:endParaRPr lang="zh-CN" altLang="en-US" sz="2400" b="1" dirty="0"/>
          </a:p>
          <a:p>
            <a:pPr marL="285750" lvl="0" indent="-285750" defTabSz="914400" eaLnBrk="1" hangingPunct="1">
              <a:spcBef>
                <a:spcPct val="50000"/>
              </a:spcBef>
              <a:buNone/>
              <a:tabLst>
                <a:tab pos="381000" algn="l"/>
              </a:tabLst>
            </a:pPr>
            <a:r>
              <a:rPr lang="zh-CN" altLang="en-US" sz="2400" b="1" dirty="0"/>
              <a:t>          </a:t>
            </a:r>
            <a:r>
              <a:rPr lang="zh-CN" altLang="en-US" sz="2400" b="1" dirty="0">
                <a:solidFill>
                  <a:srgbClr val="0000FF"/>
                </a:solidFill>
              </a:rPr>
              <a:t>操作符 </a:t>
            </a:r>
            <a:r>
              <a:rPr lang="en-US" altLang="zh-CN" sz="2400" b="1" dirty="0">
                <a:solidFill>
                  <a:srgbClr val="0000FF"/>
                </a:solidFill>
              </a:rPr>
              <a:t>= </a:t>
            </a:r>
            <a:r>
              <a:rPr lang="zh-CN" altLang="en-US" sz="2400" b="1" dirty="0">
                <a:solidFill>
                  <a:srgbClr val="0000FF"/>
                </a:solidFill>
              </a:rPr>
              <a:t>栈顶元素且不为‘</a:t>
            </a:r>
            <a:r>
              <a:rPr lang="en-US" altLang="zh-CN" sz="2400" b="1" dirty="0">
                <a:solidFill>
                  <a:srgbClr val="0000FF"/>
                </a:solidFill>
              </a:rPr>
              <a:t>#’</a:t>
            </a:r>
            <a:r>
              <a:rPr lang="zh-CN" altLang="en-US" sz="2400" b="1" dirty="0"/>
              <a:t>，脱括号（弹出左括号）；</a:t>
            </a:r>
            <a:endParaRPr lang="zh-CN" altLang="en-US" sz="2400" b="1" dirty="0"/>
          </a:p>
          <a:p>
            <a:pPr marL="285750" lvl="0" indent="-285750" defTabSz="914400" eaLnBrk="1" hangingPunct="1">
              <a:spcBef>
                <a:spcPct val="50000"/>
              </a:spcBef>
              <a:buNone/>
              <a:tabLst>
                <a:tab pos="381000" algn="l"/>
              </a:tabLst>
            </a:pPr>
            <a:r>
              <a:rPr lang="zh-CN" altLang="en-US" sz="2400" b="1" dirty="0"/>
              <a:t>          </a:t>
            </a:r>
            <a:r>
              <a:rPr lang="zh-CN" altLang="en-US" sz="2400" b="1" dirty="0">
                <a:solidFill>
                  <a:srgbClr val="0000FF"/>
                </a:solidFill>
              </a:rPr>
              <a:t>操作符 </a:t>
            </a:r>
            <a:r>
              <a:rPr lang="en-US" altLang="zh-CN" sz="2400" b="1" dirty="0">
                <a:solidFill>
                  <a:srgbClr val="0000FF"/>
                </a:solidFill>
              </a:rPr>
              <a:t>&gt; </a:t>
            </a:r>
            <a:r>
              <a:rPr lang="zh-CN" altLang="en-US" sz="2400" b="1" dirty="0">
                <a:solidFill>
                  <a:srgbClr val="0000FF"/>
                </a:solidFill>
              </a:rPr>
              <a:t>栈顶元素</a:t>
            </a:r>
            <a:r>
              <a:rPr lang="zh-CN" altLang="en-US" sz="2400" b="1" dirty="0"/>
              <a:t>，压入</a:t>
            </a:r>
            <a:r>
              <a:rPr lang="en-US" altLang="zh-CN" sz="2400" b="1" dirty="0"/>
              <a:t>OPTR</a:t>
            </a:r>
            <a:r>
              <a:rPr lang="zh-CN" altLang="en-US" sz="2400" b="1" dirty="0"/>
              <a:t>栈。</a:t>
            </a:r>
            <a:endParaRPr lang="zh-CN" altLang="en-US" sz="2400" b="1" dirty="0"/>
          </a:p>
        </p:txBody>
      </p:sp>
      <p:sp>
        <p:nvSpPr>
          <p:cNvPr id="39940" name="Text Box 3"/>
          <p:cNvSpPr txBox="1"/>
          <p:nvPr/>
        </p:nvSpPr>
        <p:spPr>
          <a:xfrm>
            <a:off x="58738" y="220663"/>
            <a:ext cx="47402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</a:rPr>
              <a:t>栈的应用（表达式求值）</a:t>
            </a:r>
            <a:endParaRPr lang="zh-CN" altLang="en-US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92516" name="AutoShape 4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9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35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8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111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15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18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 build="p"/>
      <p:bldP spid="1925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63" name="Text Box 1026"/>
          <p:cNvSpPr txBox="1"/>
          <p:nvPr/>
        </p:nvSpPr>
        <p:spPr>
          <a:xfrm>
            <a:off x="0" y="889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栈的应用（表达式求值）</a:t>
            </a:r>
            <a:endParaRPr lang="zh-CN" altLang="en-US" sz="28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1071"/>
          <p:cNvGrpSpPr/>
          <p:nvPr/>
        </p:nvGrpSpPr>
        <p:grpSpPr>
          <a:xfrm>
            <a:off x="539750" y="784225"/>
            <a:ext cx="8153400" cy="466725"/>
            <a:chOff x="340" y="494"/>
            <a:chExt cx="5136" cy="294"/>
          </a:xfrm>
        </p:grpSpPr>
        <p:sp>
          <p:nvSpPr>
            <p:cNvPr id="41016" name="Text Box 1029"/>
            <p:cNvSpPr txBox="1"/>
            <p:nvPr/>
          </p:nvSpPr>
          <p:spPr>
            <a:xfrm>
              <a:off x="340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OPTR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41017" name="Text Box 1030"/>
            <p:cNvSpPr txBox="1"/>
            <p:nvPr/>
          </p:nvSpPr>
          <p:spPr>
            <a:xfrm>
              <a:off x="1588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OPND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41018" name="Text Box 1031"/>
            <p:cNvSpPr txBox="1"/>
            <p:nvPr/>
          </p:nvSpPr>
          <p:spPr>
            <a:xfrm>
              <a:off x="2884" y="49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INPUT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41019" name="Text Box 1032"/>
            <p:cNvSpPr txBox="1"/>
            <p:nvPr/>
          </p:nvSpPr>
          <p:spPr>
            <a:xfrm>
              <a:off x="4180" y="49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OPERATE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" name="Group 1072"/>
          <p:cNvGrpSpPr/>
          <p:nvPr/>
        </p:nvGrpSpPr>
        <p:grpSpPr>
          <a:xfrm>
            <a:off x="539750" y="1352550"/>
            <a:ext cx="8153400" cy="466725"/>
            <a:chOff x="340" y="1022"/>
            <a:chExt cx="5136" cy="294"/>
          </a:xfrm>
        </p:grpSpPr>
        <p:sp>
          <p:nvSpPr>
            <p:cNvPr id="41012" name="Text Box 1027"/>
            <p:cNvSpPr txBox="1"/>
            <p:nvPr/>
          </p:nvSpPr>
          <p:spPr>
            <a:xfrm>
              <a:off x="2884" y="102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3*(7-2)#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41013" name="Text Box 1033"/>
            <p:cNvSpPr txBox="1"/>
            <p:nvPr/>
          </p:nvSpPr>
          <p:spPr>
            <a:xfrm>
              <a:off x="4180" y="1022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Push(opnd,’3’)</a:t>
              </a:r>
              <a:endParaRPr lang="en-US" altLang="zh-CN" sz="2400" b="1" dirty="0"/>
            </a:p>
          </p:txBody>
        </p:sp>
        <p:sp>
          <p:nvSpPr>
            <p:cNvPr id="41014" name="Text Box 1034"/>
            <p:cNvSpPr txBox="1"/>
            <p:nvPr/>
          </p:nvSpPr>
          <p:spPr>
            <a:xfrm>
              <a:off x="1588" y="102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</p:txBody>
        </p:sp>
        <p:sp>
          <p:nvSpPr>
            <p:cNvPr id="41015" name="Text Box 1035"/>
            <p:cNvSpPr txBox="1"/>
            <p:nvPr/>
          </p:nvSpPr>
          <p:spPr>
            <a:xfrm>
              <a:off x="340" y="102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</a:t>
              </a:r>
              <a:endParaRPr lang="en-US" altLang="zh-CN" sz="2400" b="1" dirty="0"/>
            </a:p>
          </p:txBody>
        </p:sp>
      </p:grpSp>
      <p:grpSp>
        <p:nvGrpSpPr>
          <p:cNvPr id="4" name="Group 1073"/>
          <p:cNvGrpSpPr/>
          <p:nvPr/>
        </p:nvGrpSpPr>
        <p:grpSpPr>
          <a:xfrm>
            <a:off x="539750" y="1809750"/>
            <a:ext cx="8153400" cy="466725"/>
            <a:chOff x="340" y="1310"/>
            <a:chExt cx="5136" cy="294"/>
          </a:xfrm>
        </p:grpSpPr>
        <p:sp>
          <p:nvSpPr>
            <p:cNvPr id="41008" name="Text Box 1028"/>
            <p:cNvSpPr txBox="1"/>
            <p:nvPr/>
          </p:nvSpPr>
          <p:spPr>
            <a:xfrm>
              <a:off x="2884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*(7-2)#</a:t>
              </a:r>
              <a:endParaRPr lang="en-US" altLang="zh-CN" sz="2400" b="1" dirty="0"/>
            </a:p>
          </p:txBody>
        </p:sp>
        <p:sp>
          <p:nvSpPr>
            <p:cNvPr id="41009" name="Text Box 1036"/>
            <p:cNvSpPr txBox="1"/>
            <p:nvPr/>
          </p:nvSpPr>
          <p:spPr>
            <a:xfrm>
              <a:off x="1588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</a:t>
              </a:r>
              <a:endParaRPr lang="en-US" altLang="zh-CN" sz="2400" dirty="0"/>
            </a:p>
          </p:txBody>
        </p:sp>
        <p:sp>
          <p:nvSpPr>
            <p:cNvPr id="41010" name="Text Box 1037"/>
            <p:cNvSpPr txBox="1"/>
            <p:nvPr/>
          </p:nvSpPr>
          <p:spPr>
            <a:xfrm>
              <a:off x="340" y="131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</a:t>
              </a:r>
              <a:endParaRPr lang="en-US" altLang="zh-CN" sz="2400" b="1" dirty="0"/>
            </a:p>
          </p:txBody>
        </p:sp>
        <p:sp>
          <p:nvSpPr>
            <p:cNvPr id="41011" name="Text Box 1038"/>
            <p:cNvSpPr txBox="1"/>
            <p:nvPr/>
          </p:nvSpPr>
          <p:spPr>
            <a:xfrm>
              <a:off x="4180" y="1310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Push(optr,’*’)</a:t>
              </a:r>
              <a:endParaRPr lang="en-US" altLang="zh-CN" sz="2400" b="1" dirty="0"/>
            </a:p>
          </p:txBody>
        </p:sp>
      </p:grpSp>
      <p:grpSp>
        <p:nvGrpSpPr>
          <p:cNvPr id="5" name="Group 1074"/>
          <p:cNvGrpSpPr/>
          <p:nvPr/>
        </p:nvGrpSpPr>
        <p:grpSpPr>
          <a:xfrm>
            <a:off x="539750" y="2266950"/>
            <a:ext cx="8153400" cy="466725"/>
            <a:chOff x="340" y="1598"/>
            <a:chExt cx="5136" cy="294"/>
          </a:xfrm>
        </p:grpSpPr>
        <p:sp>
          <p:nvSpPr>
            <p:cNvPr id="41004" name="Text Box 1039"/>
            <p:cNvSpPr txBox="1"/>
            <p:nvPr/>
          </p:nvSpPr>
          <p:spPr>
            <a:xfrm>
              <a:off x="340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</a:t>
              </a:r>
              <a:endParaRPr lang="en-US" altLang="zh-CN" sz="2400" b="1" dirty="0"/>
            </a:p>
          </p:txBody>
        </p:sp>
        <p:sp>
          <p:nvSpPr>
            <p:cNvPr id="41005" name="Text Box 1040"/>
            <p:cNvSpPr txBox="1"/>
            <p:nvPr/>
          </p:nvSpPr>
          <p:spPr>
            <a:xfrm>
              <a:off x="1588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</a:t>
              </a:r>
              <a:endParaRPr lang="en-US" altLang="zh-CN" sz="2400" dirty="0"/>
            </a:p>
          </p:txBody>
        </p:sp>
        <p:sp>
          <p:nvSpPr>
            <p:cNvPr id="41006" name="Text Box 1041"/>
            <p:cNvSpPr txBox="1"/>
            <p:nvPr/>
          </p:nvSpPr>
          <p:spPr>
            <a:xfrm>
              <a:off x="2884" y="159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(7-2)#</a:t>
              </a:r>
              <a:endParaRPr lang="en-US" altLang="zh-CN" sz="2400" b="1" dirty="0"/>
            </a:p>
          </p:txBody>
        </p:sp>
        <p:sp>
          <p:nvSpPr>
            <p:cNvPr id="41007" name="Text Box 1042"/>
            <p:cNvSpPr txBox="1"/>
            <p:nvPr/>
          </p:nvSpPr>
          <p:spPr>
            <a:xfrm>
              <a:off x="4180" y="1598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Push(optr,’(’)</a:t>
              </a:r>
              <a:endParaRPr lang="en-US" altLang="zh-CN" sz="2400" b="1" dirty="0"/>
            </a:p>
          </p:txBody>
        </p:sp>
      </p:grpSp>
      <p:grpSp>
        <p:nvGrpSpPr>
          <p:cNvPr id="6" name="Group 1075"/>
          <p:cNvGrpSpPr/>
          <p:nvPr/>
        </p:nvGrpSpPr>
        <p:grpSpPr>
          <a:xfrm>
            <a:off x="539750" y="2724150"/>
            <a:ext cx="8153400" cy="466725"/>
            <a:chOff x="340" y="1886"/>
            <a:chExt cx="5136" cy="294"/>
          </a:xfrm>
        </p:grpSpPr>
        <p:sp>
          <p:nvSpPr>
            <p:cNvPr id="41000" name="Text Box 1043"/>
            <p:cNvSpPr txBox="1"/>
            <p:nvPr/>
          </p:nvSpPr>
          <p:spPr>
            <a:xfrm>
              <a:off x="340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#,*,(</a:t>
              </a:r>
              <a:endParaRPr lang="en-US" altLang="zh-CN" sz="2400" b="1" dirty="0"/>
            </a:p>
          </p:txBody>
        </p:sp>
        <p:sp>
          <p:nvSpPr>
            <p:cNvPr id="41001" name="Text Box 1044"/>
            <p:cNvSpPr txBox="1"/>
            <p:nvPr/>
          </p:nvSpPr>
          <p:spPr>
            <a:xfrm>
              <a:off x="1588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</a:t>
              </a:r>
              <a:endParaRPr lang="en-US" altLang="zh-CN" sz="2400" dirty="0"/>
            </a:p>
          </p:txBody>
        </p:sp>
        <p:sp>
          <p:nvSpPr>
            <p:cNvPr id="41002" name="Text Box 1045"/>
            <p:cNvSpPr txBox="1"/>
            <p:nvPr/>
          </p:nvSpPr>
          <p:spPr>
            <a:xfrm>
              <a:off x="2884" y="188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7-2)#</a:t>
              </a:r>
              <a:endParaRPr lang="en-US" altLang="zh-CN" sz="2400" b="1" dirty="0"/>
            </a:p>
          </p:txBody>
        </p:sp>
        <p:sp>
          <p:nvSpPr>
            <p:cNvPr id="41003" name="Text Box 1046"/>
            <p:cNvSpPr txBox="1"/>
            <p:nvPr/>
          </p:nvSpPr>
          <p:spPr>
            <a:xfrm>
              <a:off x="4180" y="1886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Push(opnd,’7’)</a:t>
              </a:r>
              <a:endParaRPr lang="en-US" altLang="zh-CN" sz="2400" b="1" dirty="0"/>
            </a:p>
          </p:txBody>
        </p:sp>
      </p:grpSp>
      <p:grpSp>
        <p:nvGrpSpPr>
          <p:cNvPr id="7" name="Group 1076"/>
          <p:cNvGrpSpPr/>
          <p:nvPr/>
        </p:nvGrpSpPr>
        <p:grpSpPr>
          <a:xfrm>
            <a:off x="539750" y="3181350"/>
            <a:ext cx="8153400" cy="466725"/>
            <a:chOff x="340" y="2174"/>
            <a:chExt cx="5136" cy="294"/>
          </a:xfrm>
        </p:grpSpPr>
        <p:sp>
          <p:nvSpPr>
            <p:cNvPr id="40996" name="Text Box 1047"/>
            <p:cNvSpPr txBox="1"/>
            <p:nvPr/>
          </p:nvSpPr>
          <p:spPr>
            <a:xfrm>
              <a:off x="340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#,*,(</a:t>
              </a:r>
              <a:endParaRPr lang="en-US" altLang="zh-CN" sz="2400" b="1" dirty="0"/>
            </a:p>
          </p:txBody>
        </p:sp>
        <p:sp>
          <p:nvSpPr>
            <p:cNvPr id="40997" name="Text Box 1048"/>
            <p:cNvSpPr txBox="1"/>
            <p:nvPr/>
          </p:nvSpPr>
          <p:spPr>
            <a:xfrm>
              <a:off x="1588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3,7</a:t>
              </a:r>
              <a:endParaRPr lang="en-US" altLang="zh-CN" sz="2400" dirty="0"/>
            </a:p>
          </p:txBody>
        </p:sp>
        <p:sp>
          <p:nvSpPr>
            <p:cNvPr id="40998" name="Text Box 1049"/>
            <p:cNvSpPr txBox="1"/>
            <p:nvPr/>
          </p:nvSpPr>
          <p:spPr>
            <a:xfrm>
              <a:off x="2884" y="217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-2)#</a:t>
              </a:r>
              <a:endParaRPr lang="en-US" altLang="zh-CN" sz="2400" b="1" dirty="0"/>
            </a:p>
          </p:txBody>
        </p:sp>
        <p:sp>
          <p:nvSpPr>
            <p:cNvPr id="40999" name="Text Box 1050"/>
            <p:cNvSpPr txBox="1"/>
            <p:nvPr/>
          </p:nvSpPr>
          <p:spPr>
            <a:xfrm>
              <a:off x="4180" y="217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Push(optr,’-’)</a:t>
              </a:r>
              <a:endParaRPr lang="en-US" altLang="zh-CN" sz="2400" b="1" dirty="0"/>
            </a:p>
          </p:txBody>
        </p:sp>
      </p:grpSp>
      <p:grpSp>
        <p:nvGrpSpPr>
          <p:cNvPr id="8" name="Group 1077"/>
          <p:cNvGrpSpPr/>
          <p:nvPr/>
        </p:nvGrpSpPr>
        <p:grpSpPr>
          <a:xfrm>
            <a:off x="539750" y="3638550"/>
            <a:ext cx="8153400" cy="466725"/>
            <a:chOff x="340" y="2462"/>
            <a:chExt cx="5136" cy="294"/>
          </a:xfrm>
        </p:grpSpPr>
        <p:sp>
          <p:nvSpPr>
            <p:cNvPr id="40992" name="Text Box 1051"/>
            <p:cNvSpPr txBox="1"/>
            <p:nvPr/>
          </p:nvSpPr>
          <p:spPr>
            <a:xfrm>
              <a:off x="340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#,*,(,</a:t>
              </a:r>
              <a:r>
                <a:rPr lang="zh-CN" altLang="en-US" sz="2400" dirty="0"/>
                <a:t>－</a:t>
              </a:r>
              <a:endParaRPr lang="zh-CN" altLang="en-US" sz="2400" dirty="0"/>
            </a:p>
          </p:txBody>
        </p:sp>
        <p:sp>
          <p:nvSpPr>
            <p:cNvPr id="40993" name="Text Box 1052"/>
            <p:cNvSpPr txBox="1"/>
            <p:nvPr/>
          </p:nvSpPr>
          <p:spPr>
            <a:xfrm>
              <a:off x="1588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3,7</a:t>
              </a:r>
              <a:endParaRPr lang="en-US" altLang="zh-CN" sz="2400" dirty="0"/>
            </a:p>
          </p:txBody>
        </p:sp>
        <p:sp>
          <p:nvSpPr>
            <p:cNvPr id="40994" name="Text Box 1053"/>
            <p:cNvSpPr txBox="1"/>
            <p:nvPr/>
          </p:nvSpPr>
          <p:spPr>
            <a:xfrm>
              <a:off x="2884" y="2462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2)#</a:t>
              </a:r>
              <a:endParaRPr lang="en-US" altLang="zh-CN" sz="2400" b="1" dirty="0"/>
            </a:p>
          </p:txBody>
        </p:sp>
        <p:sp>
          <p:nvSpPr>
            <p:cNvPr id="40995" name="Text Box 1054"/>
            <p:cNvSpPr txBox="1"/>
            <p:nvPr/>
          </p:nvSpPr>
          <p:spPr>
            <a:xfrm>
              <a:off x="4180" y="2462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Push(opnd,’2’)</a:t>
              </a:r>
              <a:endParaRPr lang="en-US" altLang="zh-CN" sz="2400" b="1" dirty="0"/>
            </a:p>
          </p:txBody>
        </p:sp>
      </p:grpSp>
      <p:grpSp>
        <p:nvGrpSpPr>
          <p:cNvPr id="9" name="Group 1078"/>
          <p:cNvGrpSpPr/>
          <p:nvPr/>
        </p:nvGrpSpPr>
        <p:grpSpPr>
          <a:xfrm>
            <a:off x="539750" y="4086225"/>
            <a:ext cx="8153400" cy="476250"/>
            <a:chOff x="340" y="2744"/>
            <a:chExt cx="5136" cy="300"/>
          </a:xfrm>
        </p:grpSpPr>
        <p:sp>
          <p:nvSpPr>
            <p:cNvPr id="40988" name="Text Box 1055"/>
            <p:cNvSpPr txBox="1"/>
            <p:nvPr/>
          </p:nvSpPr>
          <p:spPr>
            <a:xfrm>
              <a:off x="340" y="275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#,*,(,</a:t>
              </a:r>
              <a:r>
                <a:rPr lang="zh-CN" altLang="en-US" sz="2400" dirty="0"/>
                <a:t>－</a:t>
              </a:r>
              <a:endParaRPr lang="zh-CN" altLang="en-US" sz="2400" dirty="0"/>
            </a:p>
          </p:txBody>
        </p:sp>
        <p:sp>
          <p:nvSpPr>
            <p:cNvPr id="40989" name="Text Box 1056"/>
            <p:cNvSpPr txBox="1"/>
            <p:nvPr/>
          </p:nvSpPr>
          <p:spPr>
            <a:xfrm>
              <a:off x="1588" y="2750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3,7,2</a:t>
              </a:r>
              <a:endParaRPr lang="en-US" altLang="zh-CN" sz="2400" dirty="0"/>
            </a:p>
          </p:txBody>
        </p:sp>
        <p:sp>
          <p:nvSpPr>
            <p:cNvPr id="40990" name="Text Box 1057"/>
            <p:cNvSpPr txBox="1"/>
            <p:nvPr/>
          </p:nvSpPr>
          <p:spPr>
            <a:xfrm>
              <a:off x="2884" y="274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)</a:t>
              </a:r>
              <a:r>
                <a:rPr lang="en-US" altLang="zh-CN" sz="2400" b="1" dirty="0"/>
                <a:t>#</a:t>
              </a:r>
              <a:endParaRPr lang="en-US" altLang="zh-CN" sz="2400" b="1" dirty="0"/>
            </a:p>
          </p:txBody>
        </p:sp>
        <p:sp>
          <p:nvSpPr>
            <p:cNvPr id="40991" name="Text Box 1058"/>
            <p:cNvSpPr txBox="1"/>
            <p:nvPr/>
          </p:nvSpPr>
          <p:spPr>
            <a:xfrm>
              <a:off x="4180" y="2750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Operate(7-2)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0" name="Group 1079"/>
          <p:cNvGrpSpPr/>
          <p:nvPr/>
        </p:nvGrpSpPr>
        <p:grpSpPr>
          <a:xfrm>
            <a:off x="539750" y="4552950"/>
            <a:ext cx="8153400" cy="466725"/>
            <a:chOff x="340" y="3038"/>
            <a:chExt cx="5136" cy="294"/>
          </a:xfrm>
        </p:grpSpPr>
        <p:sp>
          <p:nvSpPr>
            <p:cNvPr id="40984" name="Text Box 1059"/>
            <p:cNvSpPr txBox="1"/>
            <p:nvPr/>
          </p:nvSpPr>
          <p:spPr>
            <a:xfrm>
              <a:off x="340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#,*,(</a:t>
              </a:r>
              <a:endParaRPr lang="en-US" altLang="zh-CN" sz="2400" dirty="0"/>
            </a:p>
          </p:txBody>
        </p:sp>
        <p:sp>
          <p:nvSpPr>
            <p:cNvPr id="40985" name="Text Box 1060"/>
            <p:cNvSpPr txBox="1"/>
            <p:nvPr/>
          </p:nvSpPr>
          <p:spPr>
            <a:xfrm>
              <a:off x="1588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3,5</a:t>
              </a:r>
              <a:endParaRPr lang="en-US" altLang="zh-CN" sz="2400" dirty="0"/>
            </a:p>
          </p:txBody>
        </p:sp>
        <p:sp>
          <p:nvSpPr>
            <p:cNvPr id="40986" name="Text Box 1061"/>
            <p:cNvSpPr txBox="1"/>
            <p:nvPr/>
          </p:nvSpPr>
          <p:spPr>
            <a:xfrm>
              <a:off x="2884" y="3038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)#</a:t>
              </a:r>
              <a:endParaRPr lang="en-US" altLang="zh-CN" sz="2400" b="1" dirty="0"/>
            </a:p>
          </p:txBody>
        </p:sp>
        <p:sp>
          <p:nvSpPr>
            <p:cNvPr id="40987" name="Text Box 1062"/>
            <p:cNvSpPr txBox="1"/>
            <p:nvPr/>
          </p:nvSpPr>
          <p:spPr>
            <a:xfrm>
              <a:off x="4180" y="3038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Pop(optr)</a:t>
              </a:r>
              <a:endParaRPr lang="en-US" altLang="zh-CN" sz="2400" b="1" dirty="0"/>
            </a:p>
          </p:txBody>
        </p:sp>
      </p:grpSp>
      <p:grpSp>
        <p:nvGrpSpPr>
          <p:cNvPr id="11" name="Group 1080"/>
          <p:cNvGrpSpPr/>
          <p:nvPr/>
        </p:nvGrpSpPr>
        <p:grpSpPr>
          <a:xfrm>
            <a:off x="539750" y="5010150"/>
            <a:ext cx="8153400" cy="466725"/>
            <a:chOff x="340" y="3326"/>
            <a:chExt cx="5136" cy="294"/>
          </a:xfrm>
        </p:grpSpPr>
        <p:sp>
          <p:nvSpPr>
            <p:cNvPr id="40980" name="Text Box 1063"/>
            <p:cNvSpPr txBox="1"/>
            <p:nvPr/>
          </p:nvSpPr>
          <p:spPr>
            <a:xfrm>
              <a:off x="340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#,*</a:t>
              </a:r>
              <a:endParaRPr lang="en-US" altLang="zh-CN" sz="2400" b="1" dirty="0"/>
            </a:p>
          </p:txBody>
        </p:sp>
        <p:sp>
          <p:nvSpPr>
            <p:cNvPr id="40981" name="Text Box 1064"/>
            <p:cNvSpPr txBox="1"/>
            <p:nvPr/>
          </p:nvSpPr>
          <p:spPr>
            <a:xfrm>
              <a:off x="1588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3,5</a:t>
              </a:r>
              <a:endParaRPr lang="en-US" altLang="zh-CN" sz="2400" dirty="0"/>
            </a:p>
          </p:txBody>
        </p:sp>
        <p:sp>
          <p:nvSpPr>
            <p:cNvPr id="40982" name="Text Box 1065"/>
            <p:cNvSpPr txBox="1"/>
            <p:nvPr/>
          </p:nvSpPr>
          <p:spPr>
            <a:xfrm>
              <a:off x="2884" y="3326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#</a:t>
              </a:r>
              <a:endParaRPr lang="en-US" altLang="zh-CN" sz="2400" b="1" dirty="0"/>
            </a:p>
          </p:txBody>
        </p:sp>
        <p:sp>
          <p:nvSpPr>
            <p:cNvPr id="40983" name="Text Box 1066"/>
            <p:cNvSpPr txBox="1"/>
            <p:nvPr/>
          </p:nvSpPr>
          <p:spPr>
            <a:xfrm>
              <a:off x="4180" y="3326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Operate(3*5)</a:t>
              </a:r>
              <a:endParaRPr lang="en-US" altLang="zh-CN" sz="2400" b="1" dirty="0"/>
            </a:p>
          </p:txBody>
        </p:sp>
      </p:grpSp>
      <p:grpSp>
        <p:nvGrpSpPr>
          <p:cNvPr id="12" name="Group 1081"/>
          <p:cNvGrpSpPr/>
          <p:nvPr/>
        </p:nvGrpSpPr>
        <p:grpSpPr>
          <a:xfrm>
            <a:off x="539750" y="5467350"/>
            <a:ext cx="8153400" cy="466725"/>
            <a:chOff x="340" y="3614"/>
            <a:chExt cx="5136" cy="294"/>
          </a:xfrm>
        </p:grpSpPr>
        <p:sp>
          <p:nvSpPr>
            <p:cNvPr id="40976" name="Text Box 1067"/>
            <p:cNvSpPr txBox="1"/>
            <p:nvPr/>
          </p:nvSpPr>
          <p:spPr>
            <a:xfrm>
              <a:off x="340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#</a:t>
              </a:r>
              <a:endParaRPr lang="en-US" altLang="zh-CN" sz="2400" b="1" dirty="0"/>
            </a:p>
          </p:txBody>
        </p:sp>
        <p:sp>
          <p:nvSpPr>
            <p:cNvPr id="40977" name="Text Box 1068"/>
            <p:cNvSpPr txBox="1"/>
            <p:nvPr/>
          </p:nvSpPr>
          <p:spPr>
            <a:xfrm>
              <a:off x="1588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15</a:t>
              </a:r>
              <a:endParaRPr lang="en-US" altLang="zh-CN" sz="2400" dirty="0"/>
            </a:p>
          </p:txBody>
        </p:sp>
        <p:sp>
          <p:nvSpPr>
            <p:cNvPr id="40978" name="Text Box 1069"/>
            <p:cNvSpPr txBox="1"/>
            <p:nvPr/>
          </p:nvSpPr>
          <p:spPr>
            <a:xfrm>
              <a:off x="2884" y="3614"/>
              <a:ext cx="912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#</a:t>
              </a:r>
              <a:endParaRPr lang="en-US" altLang="zh-CN" sz="2400" b="1" dirty="0"/>
            </a:p>
          </p:txBody>
        </p:sp>
        <p:sp>
          <p:nvSpPr>
            <p:cNvPr id="40979" name="Text Box 1070"/>
            <p:cNvSpPr txBox="1"/>
            <p:nvPr/>
          </p:nvSpPr>
          <p:spPr>
            <a:xfrm>
              <a:off x="4180" y="3614"/>
              <a:ext cx="129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GetTop(opnd)</a:t>
              </a:r>
              <a:endParaRPr lang="en-US" altLang="zh-CN" sz="2400" b="1" dirty="0"/>
            </a:p>
          </p:txBody>
        </p:sp>
      </p:grpSp>
      <p:sp>
        <p:nvSpPr>
          <p:cNvPr id="193594" name="AutoShape 1082">
            <a:hlinkClick r:id="" action="ppaction://hlinkshowjump?jump=nextslide"/>
          </p:cNvPr>
          <p:cNvSpPr/>
          <p:nvPr/>
        </p:nvSpPr>
        <p:spPr>
          <a:xfrm>
            <a:off x="8458200" y="60198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3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3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9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152400" y="76200"/>
            <a:ext cx="8991600" cy="655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Status    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EvaluateExpression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OperandType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&amp;result)   {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InitStack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(OPND); 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InitStack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(OPTR);Push(OPTR ,’#’);c=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while((c!=‘#’)//(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GetTop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(OPTR)!=‘#’))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{  if (!In(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c,OP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 {    Push(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OPND,c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   c=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();}  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else   switch(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compare(</a:t>
            </a:r>
            <a:r>
              <a:rPr kumimoji="1" lang="en-US" altLang="zh-CN" sz="2400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c,GetTop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(OPTR)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{case ‘&gt;’ :    Push(OPTR , c); c=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();break; 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case ‘=’:   Pop(OPTR);c=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();break;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case ‘&lt;’ : </a:t>
            </a:r>
            <a:r>
              <a:rPr kumimoji="1" lang="en-US" altLang="zh-CN" sz="2400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temat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=Pop(</a:t>
            </a:r>
            <a:r>
              <a:rPr kumimoji="1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OPTR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 b=Pop(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OPND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);a=Pop(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OPND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2400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result= Operate(</a:t>
            </a:r>
            <a:r>
              <a:rPr kumimoji="1" lang="en-US" altLang="zh-CN" sz="2400" kern="1200" cap="none" spc="0" normalizeH="0" baseline="0" noProof="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a,temat,b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);Push(</a:t>
            </a:r>
            <a:r>
              <a:rPr kumimoji="1" lang="en-US" altLang="zh-CN" sz="2400" kern="1200" cap="none" spc="0" normalizeH="0" baseline="0" noProof="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OPND,result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2400" kern="1200" cap="none" spc="0" normalizeH="0" baseline="0" noProof="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c=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();break;  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} //switch  }//while   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result=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GetTop</a:t>
            </a:r>
            <a:r>
              <a:rPr kumimoji="1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(OPND);}//</a:t>
            </a:r>
            <a:r>
              <a:rPr kumimoji="1" lang="en-US" altLang="zh-CN" sz="2400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EvaluateExpression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63" name="AutoShape 3">
            <a:hlinkClick r:id="rId1" action="ppaction://hlinksldjump"/>
          </p:cNvPr>
          <p:cNvSpPr/>
          <p:nvPr/>
        </p:nvSpPr>
        <p:spPr>
          <a:xfrm flipH="1"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94565" name="AutoShape 5"/>
          <p:cNvSpPr/>
          <p:nvPr/>
        </p:nvSpPr>
        <p:spPr>
          <a:xfrm>
            <a:off x="5991225" y="5354638"/>
            <a:ext cx="1544638" cy="873125"/>
          </a:xfrm>
          <a:prstGeom prst="wedgeEllipseCallout">
            <a:avLst>
              <a:gd name="adj1" fmla="val -130472"/>
              <a:gd name="adj2" fmla="val -108181"/>
            </a:avLst>
          </a:prstGeom>
          <a:solidFill>
            <a:schemeClr val="tx2"/>
          </a:solidFill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FF"/>
                </a:solidFill>
                <a:latin typeface="宋体" panose="02010600030101010101" pitchFamily="2" charset="-122"/>
              </a:rPr>
              <a:t>此函数在哪里？</a:t>
            </a:r>
            <a:endParaRPr lang="zh-CN" altLang="en-US" sz="2000" b="1" dirty="0">
              <a:solidFill>
                <a:srgbClr val="FF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nimBg="1"/>
      <p:bldP spid="19456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3011" name="Text Box 2"/>
          <p:cNvSpPr txBox="1"/>
          <p:nvPr/>
        </p:nvSpPr>
        <p:spPr>
          <a:xfrm>
            <a:off x="293688" y="1484313"/>
            <a:ext cx="8850312" cy="2197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914400">
              <a:lnSpc>
                <a:spcPct val="125000"/>
              </a:lnSpc>
              <a:spcBef>
                <a:spcPct val="0"/>
              </a:spcBef>
              <a:buClr>
                <a:srgbClr val="FF6699"/>
              </a:buClr>
              <a:buFont typeface="Wingdings" panose="05000000000000000000" pitchFamily="2" charset="2"/>
              <a:buChar char="l"/>
              <a:tabLst>
                <a:tab pos="3581400" algn="l"/>
              </a:tabLst>
            </a:pPr>
            <a:r>
              <a:rPr lang="zh-CN" altLang="en-US" sz="2800" b="1" dirty="0">
                <a:latin typeface="楷体_GB2312"/>
                <a:ea typeface="楷体_GB2312"/>
              </a:rPr>
              <a:t>用自身的简单情况来定义自己的方式，称为</a:t>
            </a:r>
            <a:r>
              <a:rPr lang="zh-CN" altLang="en-US" sz="2800" b="1" dirty="0">
                <a:ea typeface="楷体_GB2312"/>
              </a:rPr>
              <a:t>“</a:t>
            </a:r>
            <a:r>
              <a:rPr lang="zh-CN" altLang="en-US" sz="2800" b="1" dirty="0">
                <a:solidFill>
                  <a:srgbClr val="006600"/>
                </a:solidFill>
                <a:latin typeface="楷体_GB2312"/>
                <a:ea typeface="楷体_GB2312"/>
              </a:rPr>
              <a:t>递归定义</a:t>
            </a:r>
            <a:r>
              <a:rPr lang="zh-CN" altLang="en-US" sz="2800" b="1" dirty="0">
                <a:ea typeface="楷体_GB2312"/>
              </a:rPr>
              <a:t>”</a:t>
            </a:r>
            <a:r>
              <a:rPr lang="zh-CN" altLang="en-US" sz="2800" b="1" dirty="0">
                <a:latin typeface="楷体_GB2312"/>
                <a:ea typeface="楷体_GB2312"/>
              </a:rPr>
              <a:t>（函数自己调用自己）。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defTabSz="914400">
              <a:lnSpc>
                <a:spcPct val="125000"/>
              </a:lnSpc>
              <a:spcBef>
                <a:spcPct val="0"/>
              </a:spcBef>
              <a:buClr>
                <a:srgbClr val="FF6699"/>
              </a:buClr>
              <a:buFont typeface="Wingdings" panose="05000000000000000000" pitchFamily="2" charset="2"/>
              <a:buChar char="l"/>
              <a:tabLst>
                <a:tab pos="3581400" algn="l"/>
              </a:tabLst>
            </a:pPr>
            <a:r>
              <a:rPr lang="zh-CN" altLang="en-US" sz="2800" b="1" dirty="0">
                <a:latin typeface="楷体_GB2312"/>
                <a:ea typeface="楷体_GB2312"/>
              </a:rPr>
              <a:t>多个函数嵌套调用的规则是</a:t>
            </a:r>
            <a:r>
              <a:rPr lang="zh-CN" altLang="en-US" sz="2800" b="1" dirty="0">
                <a:solidFill>
                  <a:srgbClr val="0000FF"/>
                </a:solidFill>
                <a:latin typeface="楷体_GB2312"/>
                <a:ea typeface="楷体_GB2312"/>
              </a:rPr>
              <a:t>后调用先返回 ！</a:t>
            </a:r>
            <a:r>
              <a:rPr lang="zh-CN" altLang="en-US" sz="2800" b="1" dirty="0">
                <a:latin typeface="楷体_GB2312"/>
                <a:ea typeface="楷体_GB2312"/>
              </a:rPr>
              <a:t>此时的内存管理实行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/>
              </a:rPr>
              <a:t>“</a:t>
            </a:r>
            <a:r>
              <a:rPr lang="zh-CN" altLang="en-US" sz="2800" b="1" dirty="0">
                <a:solidFill>
                  <a:srgbClr val="0000FF"/>
                </a:solidFill>
                <a:latin typeface="楷体_GB2312"/>
                <a:ea typeface="楷体_GB2312"/>
              </a:rPr>
              <a:t>栈式管理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/>
              </a:rPr>
              <a:t>”</a:t>
            </a:r>
            <a:r>
              <a:rPr lang="zh-CN" altLang="en-US" sz="2800" b="1" dirty="0">
                <a:solidFill>
                  <a:srgbClr val="0000FF"/>
                </a:solidFill>
                <a:latin typeface="楷体_GB2312"/>
                <a:ea typeface="楷体_GB2312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425990" name="Text Box 6"/>
          <p:cNvSpPr txBox="1"/>
          <p:nvPr/>
        </p:nvSpPr>
        <p:spPr>
          <a:xfrm>
            <a:off x="6413500" y="5491163"/>
            <a:ext cx="2730500" cy="528637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Main</a:t>
            </a:r>
            <a:r>
              <a:rPr lang="zh-CN" altLang="en-US" sz="2800" b="1" dirty="0">
                <a:ea typeface="楷体_GB2312"/>
              </a:rPr>
              <a:t>的数据区</a:t>
            </a:r>
            <a:endParaRPr lang="zh-CN" altLang="en-US" sz="2800" b="1" dirty="0"/>
          </a:p>
        </p:txBody>
      </p:sp>
      <p:sp>
        <p:nvSpPr>
          <p:cNvPr id="425991" name="Text Box 7"/>
          <p:cNvSpPr txBox="1"/>
          <p:nvPr/>
        </p:nvSpPr>
        <p:spPr>
          <a:xfrm>
            <a:off x="6421438" y="4962525"/>
            <a:ext cx="2722562" cy="528638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/>
              </a:rPr>
              <a:t>函数</a:t>
            </a:r>
            <a:r>
              <a:rPr lang="en-US" altLang="zh-CN" sz="2800" b="1" dirty="0">
                <a:ea typeface="楷体_GB2312"/>
              </a:rPr>
              <a:t>a</a:t>
            </a:r>
            <a:r>
              <a:rPr lang="zh-CN" altLang="en-US" sz="2800" b="1" dirty="0">
                <a:ea typeface="楷体_GB2312"/>
              </a:rPr>
              <a:t>的数据区</a:t>
            </a:r>
            <a:endParaRPr lang="zh-CN" altLang="en-US" sz="4000" b="1" dirty="0"/>
          </a:p>
        </p:txBody>
      </p:sp>
      <p:sp>
        <p:nvSpPr>
          <p:cNvPr id="425992" name="Text Box 8"/>
          <p:cNvSpPr txBox="1"/>
          <p:nvPr/>
        </p:nvSpPr>
        <p:spPr>
          <a:xfrm>
            <a:off x="6400800" y="4429125"/>
            <a:ext cx="2743200" cy="528638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/>
              </a:rPr>
              <a:t>函数</a:t>
            </a:r>
            <a:r>
              <a:rPr lang="en-US" altLang="zh-CN" sz="2800" b="1" dirty="0">
                <a:ea typeface="楷体_GB2312"/>
              </a:rPr>
              <a:t>b</a:t>
            </a:r>
            <a:r>
              <a:rPr lang="zh-CN" altLang="en-US" sz="2800" b="1" dirty="0">
                <a:ea typeface="楷体_GB2312"/>
              </a:rPr>
              <a:t>的数据区</a:t>
            </a:r>
            <a:endParaRPr lang="zh-CN" altLang="en-US" sz="4000" b="1" dirty="0"/>
          </a:p>
        </p:txBody>
      </p:sp>
      <p:sp useBgFill="1">
        <p:nvSpPr>
          <p:cNvPr id="425993" name="Text Box 9"/>
          <p:cNvSpPr txBox="1"/>
          <p:nvPr/>
        </p:nvSpPr>
        <p:spPr>
          <a:xfrm>
            <a:off x="6443663" y="3573463"/>
            <a:ext cx="2362200" cy="519112"/>
          </a:xfrm>
          <a:prstGeom prst="rect">
            <a:avLst/>
          </a:prstGeom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    </a:t>
            </a:r>
            <a:endParaRPr lang="en-US" altLang="zh-CN" sz="4000" b="1" dirty="0"/>
          </a:p>
        </p:txBody>
      </p:sp>
      <p:sp>
        <p:nvSpPr>
          <p:cNvPr id="43016" name="Text Box 10"/>
          <p:cNvSpPr txBox="1"/>
          <p:nvPr/>
        </p:nvSpPr>
        <p:spPr>
          <a:xfrm>
            <a:off x="363538" y="468313"/>
            <a:ext cx="2036762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00FF"/>
                </a:solidFill>
                <a:ea typeface="黑体" panose="02010609060101010101" pitchFamily="49" charset="-122"/>
              </a:rPr>
              <a:t>实现递归</a:t>
            </a:r>
            <a:endParaRPr lang="zh-CN" altLang="en-US" sz="36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426028" name="Group 44"/>
          <p:cNvGrpSpPr/>
          <p:nvPr/>
        </p:nvGrpSpPr>
        <p:grpSpPr>
          <a:xfrm>
            <a:off x="479425" y="4070350"/>
            <a:ext cx="6226175" cy="2238375"/>
            <a:chOff x="302" y="2564"/>
            <a:chExt cx="3922" cy="1410"/>
          </a:xfrm>
        </p:grpSpPr>
        <p:sp>
          <p:nvSpPr>
            <p:cNvPr id="43018" name="Text Box 5"/>
            <p:cNvSpPr txBox="1"/>
            <p:nvPr/>
          </p:nvSpPr>
          <p:spPr>
            <a:xfrm>
              <a:off x="302" y="2564"/>
              <a:ext cx="3922" cy="1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zh-CN" altLang="en-US" b="1" dirty="0"/>
                <a:t>例如：</a:t>
              </a:r>
              <a:endParaRPr lang="zh-CN" altLang="en-US" b="1" dirty="0"/>
            </a:p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en-US" altLang="zh-CN" sz="2800" b="1" dirty="0"/>
                <a:t>void main( ){    void a( ){      void b( ){</a:t>
              </a:r>
              <a:endParaRPr lang="en-US" altLang="zh-CN" sz="2800" b="1" dirty="0"/>
            </a:p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en-US" altLang="zh-CN" sz="2800" b="1" dirty="0"/>
                <a:t>    …                       …                    …</a:t>
              </a:r>
              <a:endParaRPr lang="en-US" altLang="zh-CN" sz="2800" b="1" dirty="0"/>
            </a:p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en-US" altLang="zh-CN" sz="2800" b="1" dirty="0"/>
                <a:t>    a( );                    b( );                  </a:t>
              </a:r>
              <a:endParaRPr lang="en-US" altLang="zh-CN" sz="2800" b="1" dirty="0"/>
            </a:p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en-US" altLang="zh-CN" sz="2800" b="1" dirty="0"/>
                <a:t>    …                       </a:t>
              </a:r>
              <a:r>
                <a:rPr lang="en-US" altLang="zh-CN" b="1" dirty="0"/>
                <a:t>…</a:t>
              </a:r>
              <a:endParaRPr lang="en-US" altLang="zh-CN" b="1" dirty="0"/>
            </a:p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None/>
              </a:pPr>
              <a:r>
                <a:rPr lang="en-US" altLang="zh-CN" sz="2800" b="1" dirty="0"/>
                <a:t>}//main              }// a              }// b</a:t>
              </a:r>
              <a:endParaRPr lang="en-US" altLang="zh-CN" sz="2800" b="1" dirty="0"/>
            </a:p>
          </p:txBody>
        </p:sp>
        <p:sp>
          <p:nvSpPr>
            <p:cNvPr id="43019" name="Line 36"/>
            <p:cNvSpPr/>
            <p:nvPr/>
          </p:nvSpPr>
          <p:spPr>
            <a:xfrm flipV="1">
              <a:off x="884" y="2976"/>
              <a:ext cx="998" cy="36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0" name="Line 37"/>
            <p:cNvSpPr/>
            <p:nvPr/>
          </p:nvSpPr>
          <p:spPr>
            <a:xfrm>
              <a:off x="1972" y="3021"/>
              <a:ext cx="91" cy="27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1" name="Line 38"/>
            <p:cNvSpPr/>
            <p:nvPr/>
          </p:nvSpPr>
          <p:spPr>
            <a:xfrm flipV="1">
              <a:off x="2426" y="2976"/>
              <a:ext cx="726" cy="36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2" name="Line 39"/>
            <p:cNvSpPr/>
            <p:nvPr/>
          </p:nvSpPr>
          <p:spPr>
            <a:xfrm>
              <a:off x="3198" y="3022"/>
              <a:ext cx="0" cy="635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3" name="Line 41"/>
            <p:cNvSpPr/>
            <p:nvPr/>
          </p:nvSpPr>
          <p:spPr>
            <a:xfrm flipH="1" flipV="1">
              <a:off x="2472" y="3475"/>
              <a:ext cx="589" cy="40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4" name="Line 42"/>
            <p:cNvSpPr/>
            <p:nvPr/>
          </p:nvSpPr>
          <p:spPr>
            <a:xfrm flipH="1">
              <a:off x="2109" y="3475"/>
              <a:ext cx="45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5" name="Line 43"/>
            <p:cNvSpPr/>
            <p:nvPr/>
          </p:nvSpPr>
          <p:spPr>
            <a:xfrm flipH="1" flipV="1">
              <a:off x="975" y="3475"/>
              <a:ext cx="907" cy="40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nimBg="1"/>
      <p:bldP spid="425991" grpId="0" animBg="1"/>
      <p:bldP spid="425992" grpId="0" animBg="1"/>
      <p:bldP spid="42599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4276" name="Rectangle 4"/>
          <p:cNvSpPr>
            <a:spLocks noGrp="1"/>
          </p:cNvSpPr>
          <p:nvPr>
            <p:ph type="body" idx="4294967295"/>
          </p:nvPr>
        </p:nvSpPr>
        <p:spPr>
          <a:xfrm>
            <a:off x="755650" y="2205038"/>
            <a:ext cx="7772400" cy="20875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sz="2800" b="1" dirty="0"/>
              <a:t>将所有的实在参数、返回地址等</a:t>
            </a:r>
            <a:r>
              <a:rPr lang="zh-CN" altLang="en-US" sz="2800" b="1" dirty="0">
                <a:solidFill>
                  <a:srgbClr val="FF0000"/>
                </a:solidFill>
              </a:rPr>
              <a:t>信息</a:t>
            </a:r>
            <a:r>
              <a:rPr lang="zh-CN" altLang="en-US" sz="2800" b="1" dirty="0"/>
              <a:t>传递给被调用函数</a:t>
            </a:r>
            <a:r>
              <a:rPr lang="zh-CN" altLang="en-US" sz="2800" b="1" dirty="0">
                <a:solidFill>
                  <a:srgbClr val="FF0000"/>
                </a:solidFill>
              </a:rPr>
              <a:t>保存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eaLnBrk="1" hangingPunct="1">
              <a:spcBef>
                <a:spcPct val="0"/>
              </a:spcBef>
            </a:pPr>
            <a:r>
              <a:rPr lang="zh-CN" altLang="en-US" sz="2800" b="1" dirty="0"/>
              <a:t>为被调用函数的局部变量</a:t>
            </a:r>
            <a:r>
              <a:rPr lang="zh-CN" altLang="en-US" sz="2800" b="1" dirty="0">
                <a:solidFill>
                  <a:srgbClr val="FF0000"/>
                </a:solidFill>
              </a:rPr>
              <a:t>分配存储区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eaLnBrk="1" hangingPunct="1">
              <a:spcBef>
                <a:spcPct val="0"/>
              </a:spcBef>
            </a:pPr>
            <a:r>
              <a:rPr lang="zh-CN" altLang="en-US" sz="2800" b="1" dirty="0"/>
              <a:t>将</a:t>
            </a:r>
            <a:r>
              <a:rPr lang="zh-CN" altLang="en-US" sz="2800" b="1" dirty="0">
                <a:solidFill>
                  <a:srgbClr val="FF0000"/>
                </a:solidFill>
              </a:rPr>
              <a:t>控制转移</a:t>
            </a:r>
            <a:r>
              <a:rPr lang="zh-CN" altLang="en-US" sz="2800" b="1" dirty="0"/>
              <a:t>到被调用函数的入口。</a:t>
            </a:r>
            <a:endParaRPr lang="zh-CN" altLang="en-US" sz="2800" b="1" dirty="0"/>
          </a:p>
        </p:txBody>
      </p:sp>
      <p:sp>
        <p:nvSpPr>
          <p:cNvPr id="54277" name="Text Box 5"/>
          <p:cNvSpPr txBox="1"/>
          <p:nvPr/>
        </p:nvSpPr>
        <p:spPr>
          <a:xfrm>
            <a:off x="457200" y="1006475"/>
            <a:ext cx="86868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99FF66"/>
              </a:buClr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当在一个函数的运行期间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调用另一个函数</a:t>
            </a:r>
            <a:r>
              <a:rPr lang="zh-CN" altLang="en-US" sz="2800" b="1" dirty="0">
                <a:latin typeface="宋体" panose="02010600030101010101" pitchFamily="2" charset="-122"/>
              </a:rPr>
              <a:t>时，在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运行该被调用函数之前</a:t>
            </a:r>
            <a:r>
              <a:rPr lang="zh-CN" altLang="en-US" sz="2800" b="1" dirty="0">
                <a:latin typeface="宋体" panose="02010600030101010101" pitchFamily="2" charset="-122"/>
              </a:rPr>
              <a:t>，需先完成：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4037" name="Text Box 6"/>
          <p:cNvSpPr txBox="1"/>
          <p:nvPr/>
        </p:nvSpPr>
        <p:spPr>
          <a:xfrm>
            <a:off x="2260600" y="404813"/>
            <a:ext cx="3751263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FF5050"/>
                </a:solidFill>
                <a:ea typeface="楷体_GB2312"/>
              </a:rPr>
              <a:t>函数调用的过程</a:t>
            </a:r>
            <a:endParaRPr lang="zh-CN" altLang="en-US" sz="4000" b="1" dirty="0">
              <a:ea typeface="楷体_GB2312"/>
            </a:endParaRPr>
          </a:p>
        </p:txBody>
      </p:sp>
      <p:sp>
        <p:nvSpPr>
          <p:cNvPr id="54279" name="Rectangle 7"/>
          <p:cNvSpPr/>
          <p:nvPr/>
        </p:nvSpPr>
        <p:spPr>
          <a:xfrm>
            <a:off x="685800" y="4724400"/>
            <a:ext cx="7772400" cy="2366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ct val="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lang="zh-CN" altLang="en-US" sz="2800" b="1" dirty="0">
                <a:solidFill>
                  <a:srgbClr val="FF0000"/>
                </a:solidFill>
              </a:rPr>
              <a:t>保存</a:t>
            </a:r>
            <a:r>
              <a:rPr lang="zh-CN" altLang="en-US" sz="2800" b="1" dirty="0"/>
              <a:t>被调函数的</a:t>
            </a:r>
            <a:r>
              <a:rPr lang="zh-CN" altLang="en-US" sz="2800" b="1" dirty="0">
                <a:solidFill>
                  <a:srgbClr val="FF0000"/>
                </a:solidFill>
              </a:rPr>
              <a:t>计算结果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20000"/>
              </a:lnSpc>
              <a:spcBef>
                <a:spcPct val="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lang="zh-CN" altLang="en-US" sz="2800" b="1" dirty="0">
                <a:solidFill>
                  <a:srgbClr val="FF0000"/>
                </a:solidFill>
              </a:rPr>
              <a:t>释放</a:t>
            </a:r>
            <a:r>
              <a:rPr lang="zh-CN" altLang="en-US" sz="2800" b="1" dirty="0"/>
              <a:t>被调函数的</a:t>
            </a:r>
            <a:r>
              <a:rPr lang="zh-CN" altLang="en-US" sz="2800" b="1" dirty="0">
                <a:solidFill>
                  <a:srgbClr val="FF0000"/>
                </a:solidFill>
              </a:rPr>
              <a:t>数据区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20000"/>
              </a:lnSpc>
              <a:spcBef>
                <a:spcPct val="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lang="zh-CN" altLang="en-US" sz="2800" b="1" dirty="0"/>
              <a:t>依照被调函数保存的返回地址将</a:t>
            </a:r>
            <a:r>
              <a:rPr lang="zh-CN" altLang="en-US" sz="2800" b="1" dirty="0">
                <a:solidFill>
                  <a:srgbClr val="FF0000"/>
                </a:solidFill>
              </a:rPr>
              <a:t>控制转移</a:t>
            </a:r>
            <a:r>
              <a:rPr lang="zh-CN" altLang="en-US" sz="2800" b="1" dirty="0"/>
              <a:t>到调用函数。</a:t>
            </a:r>
            <a:endParaRPr lang="zh-CN" altLang="en-US" sz="2800" b="1" dirty="0"/>
          </a:p>
        </p:txBody>
      </p:sp>
      <p:sp>
        <p:nvSpPr>
          <p:cNvPr id="54280" name="Text Box 8"/>
          <p:cNvSpPr txBox="1"/>
          <p:nvPr/>
        </p:nvSpPr>
        <p:spPr>
          <a:xfrm>
            <a:off x="250825" y="4076700"/>
            <a:ext cx="8245475" cy="625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Clr>
                <a:srgbClr val="99FF66"/>
              </a:buClr>
              <a:buFont typeface="Wingdings" panose="05000000000000000000" pitchFamily="2" charset="2"/>
              <a:buChar char="l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从被调用函数</a:t>
            </a:r>
            <a:r>
              <a:rPr lang="zh-CN" altLang="en-US" sz="2800" b="1" dirty="0">
                <a:solidFill>
                  <a:srgbClr val="800000"/>
                </a:solidFill>
              </a:rPr>
              <a:t>返回</a:t>
            </a:r>
            <a:r>
              <a:rPr lang="zh-CN" altLang="en-US" sz="2800" b="1" dirty="0"/>
              <a:t>调用函数</a:t>
            </a:r>
            <a:r>
              <a:rPr lang="zh-CN" altLang="en-US" sz="2800" b="1" dirty="0">
                <a:solidFill>
                  <a:srgbClr val="800000"/>
                </a:solidFill>
              </a:rPr>
              <a:t>之前</a:t>
            </a:r>
            <a:r>
              <a:rPr lang="zh-CN" altLang="en-US" sz="2800" b="1" dirty="0"/>
              <a:t>，应该完成：</a:t>
            </a:r>
            <a:endParaRPr lang="zh-CN" altLang="en-US" sz="2800" b="1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75"/>
                                        <p:tgtEl>
                                          <p:spTgt spid="5427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75"/>
                                        <p:tgtEl>
                                          <p:spTgt spid="54276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75"/>
                                        <p:tgtEl>
                                          <p:spTgt spid="54276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75"/>
                                        <p:tgtEl>
                                          <p:spTgt spid="542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75"/>
                                        <p:tgtEl>
                                          <p:spTgt spid="54279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75"/>
                                        <p:tgtEl>
                                          <p:spTgt spid="54279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/>
      <p:bldP spid="54277" grpId="0"/>
      <p:bldP spid="54279" grpId="0" build="p"/>
      <p:bldP spid="5428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8373" name="Rectangle 8"/>
          <p:cNvSpPr/>
          <p:nvPr/>
        </p:nvSpPr>
        <p:spPr>
          <a:xfrm>
            <a:off x="250825" y="333375"/>
            <a:ext cx="4494213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1. </a:t>
            </a:r>
            <a:r>
              <a:rPr lang="zh-CN" altLang="en-US" b="1" dirty="0">
                <a:ea typeface="楷体_GB2312"/>
              </a:rPr>
              <a:t>递归定义的数学函数</a:t>
            </a:r>
            <a:r>
              <a:rPr lang="en-US" altLang="zh-CN" b="1" dirty="0">
                <a:ea typeface="楷体_GB2312"/>
              </a:rPr>
              <a:t>:</a:t>
            </a:r>
            <a:endParaRPr lang="en-US" altLang="zh-CN" b="1" dirty="0">
              <a:ea typeface="楷体_GB2312"/>
            </a:endParaRPr>
          </a:p>
        </p:txBody>
      </p:sp>
      <p:sp>
        <p:nvSpPr>
          <p:cNvPr id="58374" name="Rectangle 9"/>
          <p:cNvSpPr/>
          <p:nvPr/>
        </p:nvSpPr>
        <p:spPr>
          <a:xfrm>
            <a:off x="1011238" y="1095375"/>
            <a:ext cx="27432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FF66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>
                <a:ea typeface="楷体_GB2312"/>
              </a:rPr>
              <a:t>阶乘函数</a:t>
            </a:r>
            <a:r>
              <a:rPr lang="en-US" altLang="zh-CN" b="1" dirty="0">
                <a:ea typeface="楷体_GB2312"/>
              </a:rPr>
              <a:t>: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           </a:t>
            </a:r>
            <a:endParaRPr lang="en-US" altLang="zh-CN" b="1" dirty="0">
              <a:ea typeface="楷体_GB2312"/>
            </a:endParaRPr>
          </a:p>
        </p:txBody>
      </p:sp>
      <p:graphicFrame>
        <p:nvGraphicFramePr>
          <p:cNvPr id="58375" name="Object 10"/>
          <p:cNvGraphicFramePr>
            <a:graphicFrameLocks noChangeAspect="1"/>
          </p:cNvGraphicFramePr>
          <p:nvPr/>
        </p:nvGraphicFramePr>
        <p:xfrm>
          <a:off x="3349625" y="908050"/>
          <a:ext cx="48117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38400" imgH="482600" progId="Equation.3">
                  <p:embed/>
                </p:oleObj>
              </mc:Choice>
              <mc:Fallback>
                <p:oleObj name="" r:id="rId1" imgW="2438400" imgH="482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9625" y="908050"/>
                        <a:ext cx="4811713" cy="9493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Rectangle 11"/>
          <p:cNvSpPr/>
          <p:nvPr/>
        </p:nvSpPr>
        <p:spPr>
          <a:xfrm>
            <a:off x="1011238" y="1995488"/>
            <a:ext cx="41148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FF6600"/>
              </a:buClr>
              <a:buFont typeface="Wingdings" panose="05000000000000000000" pitchFamily="2" charset="2"/>
              <a:buChar char="ü"/>
            </a:pPr>
            <a:r>
              <a:rPr lang="en-US" altLang="zh-CN" sz="2800" b="1" dirty="0">
                <a:ea typeface="楷体_GB2312"/>
              </a:rPr>
              <a:t>2</a:t>
            </a:r>
            <a:r>
              <a:rPr lang="zh-CN" altLang="en-US" sz="2800" b="1" dirty="0">
                <a:ea typeface="楷体_GB2312"/>
              </a:rPr>
              <a:t>阶</a:t>
            </a:r>
            <a:r>
              <a:rPr lang="en-US" altLang="zh-CN" sz="2800" b="1" dirty="0">
                <a:ea typeface="楷体_GB2312"/>
              </a:rPr>
              <a:t>Fibonaci</a:t>
            </a:r>
            <a:r>
              <a:rPr lang="zh-CN" altLang="zh-CN" sz="2800" b="1" dirty="0">
                <a:ea typeface="楷体_GB2312"/>
              </a:rPr>
              <a:t>数列</a:t>
            </a:r>
            <a:r>
              <a:rPr lang="en-US" altLang="zh-CN" sz="2800" b="1" dirty="0">
                <a:ea typeface="楷体_GB2312"/>
              </a:rPr>
              <a:t>:</a:t>
            </a:r>
            <a:endParaRPr lang="en-US" altLang="zh-CN" b="1" dirty="0">
              <a:ea typeface="楷体_GB2312"/>
            </a:endParaRPr>
          </a:p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           </a:t>
            </a:r>
            <a:endParaRPr lang="en-US" altLang="zh-CN" b="1" dirty="0">
              <a:ea typeface="楷体_GB2312"/>
            </a:endParaRPr>
          </a:p>
        </p:txBody>
      </p:sp>
      <p:graphicFrame>
        <p:nvGraphicFramePr>
          <p:cNvPr id="58377" name="Object 12"/>
          <p:cNvGraphicFramePr>
            <a:graphicFrameLocks noChangeAspect="1"/>
          </p:cNvGraphicFramePr>
          <p:nvPr/>
        </p:nvGraphicFramePr>
        <p:xfrm>
          <a:off x="3363913" y="2595563"/>
          <a:ext cx="528637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679700" imgH="723900" progId="Equation.3">
                  <p:embed/>
                </p:oleObj>
              </mc:Choice>
              <mc:Fallback>
                <p:oleObj name="" r:id="rId3" imgW="2679700" imgH="723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3913" y="2595563"/>
                        <a:ext cx="5286375" cy="143033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Rectangle 1095"/>
          <p:cNvSpPr/>
          <p:nvPr/>
        </p:nvSpPr>
        <p:spPr>
          <a:xfrm>
            <a:off x="107950" y="4905375"/>
            <a:ext cx="27432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FF66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楷体_GB2312"/>
                <a:ea typeface="楷体_GB2312"/>
              </a:rPr>
              <a:t>树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342900" lvl="0" indent="-342900">
              <a:buNone/>
            </a:pPr>
            <a:r>
              <a:rPr lang="zh-CN" altLang="en-US" b="1" dirty="0">
                <a:latin typeface="楷体_GB2312"/>
                <a:ea typeface="楷体_GB2312"/>
              </a:rPr>
              <a:t>           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58379" name="Rectangle 1096"/>
          <p:cNvSpPr/>
          <p:nvPr/>
        </p:nvSpPr>
        <p:spPr>
          <a:xfrm>
            <a:off x="215900" y="4219575"/>
            <a:ext cx="5538788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None/>
            </a:pPr>
            <a:r>
              <a:rPr lang="en-US" altLang="zh-CN" b="1" dirty="0">
                <a:ea typeface="楷体_GB2312"/>
              </a:rPr>
              <a:t>2. </a:t>
            </a:r>
            <a:r>
              <a:rPr lang="zh-CN" altLang="en-US" b="1" dirty="0">
                <a:ea typeface="楷体_GB2312"/>
              </a:rPr>
              <a:t>具有递归特性的数据结构</a:t>
            </a:r>
            <a:r>
              <a:rPr lang="en-US" altLang="zh-CN" b="1" dirty="0">
                <a:ea typeface="楷体_GB2312"/>
              </a:rPr>
              <a:t>:</a:t>
            </a:r>
            <a:endParaRPr lang="en-US" altLang="zh-CN" b="1" dirty="0">
              <a:ea typeface="楷体_GB2312"/>
            </a:endParaRPr>
          </a:p>
        </p:txBody>
      </p:sp>
      <p:sp>
        <p:nvSpPr>
          <p:cNvPr id="395337" name="Oval 1097"/>
          <p:cNvSpPr/>
          <p:nvPr/>
        </p:nvSpPr>
        <p:spPr>
          <a:xfrm>
            <a:off x="2774950" y="4752975"/>
            <a:ext cx="838200" cy="838200"/>
          </a:xfrm>
          <a:prstGeom prst="ellipse">
            <a:avLst/>
          </a:prstGeom>
          <a:solidFill>
            <a:srgbClr val="CC99FF"/>
          </a:solidFill>
          <a:ln w="9525" cap="flat" cmpd="sng">
            <a:solidFill>
              <a:srgbClr val="66FF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Root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395338" name="Oval 1098"/>
          <p:cNvSpPr/>
          <p:nvPr/>
        </p:nvSpPr>
        <p:spPr>
          <a:xfrm>
            <a:off x="1597025" y="6048375"/>
            <a:ext cx="1025525" cy="838200"/>
          </a:xfrm>
          <a:prstGeom prst="ellipse">
            <a:avLst/>
          </a:prstGeom>
          <a:solidFill>
            <a:srgbClr val="CC99FF"/>
          </a:solidFill>
          <a:ln w="9525" cap="flat" cmpd="sng">
            <a:solidFill>
              <a:srgbClr val="66FF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Lchild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395339" name="Oval 1099"/>
          <p:cNvSpPr/>
          <p:nvPr/>
        </p:nvSpPr>
        <p:spPr>
          <a:xfrm>
            <a:off x="3765550" y="5972175"/>
            <a:ext cx="1071563" cy="914400"/>
          </a:xfrm>
          <a:prstGeom prst="ellipse">
            <a:avLst/>
          </a:prstGeom>
          <a:solidFill>
            <a:srgbClr val="CC99FF"/>
          </a:solidFill>
          <a:ln w="9525" cap="flat" cmpd="sng">
            <a:solidFill>
              <a:srgbClr val="66FF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Rchild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395340" name="Rectangle 1100"/>
          <p:cNvSpPr/>
          <p:nvPr/>
        </p:nvSpPr>
        <p:spPr>
          <a:xfrm>
            <a:off x="4765675" y="4972050"/>
            <a:ext cx="27432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FF66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楷体_GB2312"/>
                <a:ea typeface="楷体_GB2312"/>
              </a:rPr>
              <a:t>广义表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342900" lvl="0" indent="-342900">
              <a:buNone/>
            </a:pPr>
            <a:r>
              <a:rPr lang="zh-CN" altLang="en-US" b="1" dirty="0">
                <a:latin typeface="楷体_GB2312"/>
                <a:ea typeface="楷体_GB2312"/>
              </a:rPr>
              <a:t>           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395341" name="Text Box 1101"/>
          <p:cNvSpPr txBox="1"/>
          <p:nvPr/>
        </p:nvSpPr>
        <p:spPr>
          <a:xfrm>
            <a:off x="6899275" y="5048250"/>
            <a:ext cx="1920875" cy="457200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A=(a,A)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  <p:grpSp>
        <p:nvGrpSpPr>
          <p:cNvPr id="2" name="Group 1105"/>
          <p:cNvGrpSpPr/>
          <p:nvPr/>
        </p:nvGrpSpPr>
        <p:grpSpPr>
          <a:xfrm>
            <a:off x="2393950" y="5514975"/>
            <a:ext cx="457200" cy="533400"/>
            <a:chOff x="2112" y="1152"/>
            <a:chExt cx="288" cy="336"/>
          </a:xfrm>
        </p:grpSpPr>
        <p:sp>
          <p:nvSpPr>
            <p:cNvPr id="45076" name="Line 1106"/>
            <p:cNvSpPr/>
            <p:nvPr/>
          </p:nvSpPr>
          <p:spPr>
            <a:xfrm flipH="1">
              <a:off x="2112" y="1152"/>
              <a:ext cx="288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7" name="Line 1107"/>
            <p:cNvSpPr/>
            <p:nvPr/>
          </p:nvSpPr>
          <p:spPr>
            <a:xfrm flipH="1">
              <a:off x="2112" y="1152"/>
              <a:ext cx="288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8" name="Line 1108"/>
            <p:cNvSpPr/>
            <p:nvPr/>
          </p:nvSpPr>
          <p:spPr>
            <a:xfrm flipH="1">
              <a:off x="2112" y="1152"/>
              <a:ext cx="288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109"/>
          <p:cNvGrpSpPr/>
          <p:nvPr/>
        </p:nvGrpSpPr>
        <p:grpSpPr>
          <a:xfrm>
            <a:off x="3460750" y="5514975"/>
            <a:ext cx="457200" cy="533400"/>
            <a:chOff x="2784" y="1152"/>
            <a:chExt cx="288" cy="336"/>
          </a:xfrm>
        </p:grpSpPr>
        <p:sp>
          <p:nvSpPr>
            <p:cNvPr id="45073" name="Line 1110"/>
            <p:cNvSpPr/>
            <p:nvPr/>
          </p:nvSpPr>
          <p:spPr>
            <a:xfrm>
              <a:off x="2784" y="1152"/>
              <a:ext cx="288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Line 1111"/>
            <p:cNvSpPr/>
            <p:nvPr/>
          </p:nvSpPr>
          <p:spPr>
            <a:xfrm>
              <a:off x="2784" y="1152"/>
              <a:ext cx="288" cy="336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5" name="Line 1112"/>
            <p:cNvSpPr/>
            <p:nvPr/>
          </p:nvSpPr>
          <p:spPr>
            <a:xfrm>
              <a:off x="2784" y="1152"/>
              <a:ext cx="288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4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40">
                                            <p:txEl>
                                              <p:charRg st="4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  <p:bldP spid="58374" grpId="0"/>
      <p:bldP spid="58376" grpId="0"/>
      <p:bldP spid="58378" grpId="0"/>
      <p:bldP spid="58379" grpId="0"/>
      <p:bldP spid="395337" grpId="0" animBg="1"/>
      <p:bldP spid="395338" grpId="0" animBg="1"/>
      <p:bldP spid="395339" grpId="0" animBg="1"/>
      <p:bldP spid="395340" grpId="0" build="p"/>
      <p:bldP spid="39534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8229600" y="6501130"/>
            <a:ext cx="650240" cy="76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</a:t>
            </a:r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6083" name="Rectangle 4"/>
          <p:cNvSpPr/>
          <p:nvPr/>
        </p:nvSpPr>
        <p:spPr>
          <a:xfrm>
            <a:off x="438150" y="765175"/>
            <a:ext cx="8196263" cy="94615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分治法：</a:t>
            </a:r>
            <a:r>
              <a:rPr lang="zh-CN" altLang="en-US" sz="2800" b="1" dirty="0">
                <a:ea typeface="楷体_GB2312"/>
              </a:rPr>
              <a:t>对于一个较为复杂的问题，能够分解成几个相对简单的且解法相同或类似的子问题来求解</a:t>
            </a:r>
            <a:endParaRPr lang="zh-CN" altLang="en-US" sz="2800" b="1" dirty="0">
              <a:solidFill>
                <a:schemeClr val="tx2"/>
              </a:solidFill>
              <a:ea typeface="楷体_GB2312"/>
            </a:endParaRPr>
          </a:p>
        </p:txBody>
      </p:sp>
      <p:sp>
        <p:nvSpPr>
          <p:cNvPr id="670725" name="Text Box 5"/>
          <p:cNvSpPr txBox="1"/>
          <p:nvPr/>
        </p:nvSpPr>
        <p:spPr>
          <a:xfrm>
            <a:off x="615950" y="2290763"/>
            <a:ext cx="8077200" cy="3081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FF3399"/>
              </a:buClr>
            </a:pPr>
            <a:r>
              <a:rPr lang="en-US" altLang="zh-CN" sz="2800" b="1" dirty="0">
                <a:latin typeface="楷体_GB2312"/>
                <a:ea typeface="楷体_GB2312"/>
              </a:rPr>
              <a:t>1</a:t>
            </a:r>
            <a:r>
              <a:rPr lang="zh-CN" altLang="en-US" sz="2800" b="1" dirty="0">
                <a:latin typeface="楷体_GB2312"/>
                <a:ea typeface="楷体_GB2312"/>
              </a:rPr>
              <a:t>、能将一个问题转变成一个新问题，而新问题与原问题的解法相同或类同，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  <a:ea typeface="楷体_GB2312"/>
              </a:rPr>
              <a:t>不同的仅是处理的对象</a:t>
            </a:r>
            <a:r>
              <a:rPr lang="zh-CN" altLang="en-US" sz="2800" b="1" dirty="0">
                <a:latin typeface="楷体_GB2312"/>
                <a:ea typeface="楷体_GB2312"/>
              </a:rPr>
              <a:t>，且这些处理对象是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  <a:ea typeface="楷体_GB2312"/>
              </a:rPr>
              <a:t>变化有规律</a:t>
            </a:r>
            <a:r>
              <a:rPr lang="zh-CN" altLang="en-US" sz="2800" b="1" dirty="0">
                <a:latin typeface="楷体_GB2312"/>
                <a:ea typeface="楷体_GB2312"/>
              </a:rPr>
              <a:t>的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3399"/>
              </a:buClr>
            </a:pP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3399"/>
              </a:buClr>
            </a:pPr>
            <a:r>
              <a:rPr lang="en-US" altLang="zh-CN" sz="2800" b="1" dirty="0"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latin typeface="楷体_GB2312"/>
                <a:ea typeface="楷体_GB2312"/>
              </a:rPr>
              <a:t>、可以通过上述转化而使问题简化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3399"/>
              </a:buClr>
            </a:pP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3399"/>
              </a:buClr>
            </a:pPr>
            <a:r>
              <a:rPr lang="en-US" altLang="zh-CN" sz="2800" b="1" dirty="0">
                <a:latin typeface="楷体_GB2312"/>
                <a:ea typeface="楷体_GB2312"/>
              </a:rPr>
              <a:t>3</a:t>
            </a:r>
            <a:r>
              <a:rPr lang="zh-CN" altLang="en-US" sz="2800" b="1" dirty="0">
                <a:latin typeface="楷体_GB2312"/>
                <a:ea typeface="楷体_GB2312"/>
              </a:rPr>
              <a:t>、必须有一个明确的递归出口，或称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  <a:ea typeface="楷体_GB2312"/>
              </a:rPr>
              <a:t>递归的边界</a:t>
            </a:r>
            <a:endParaRPr lang="zh-CN" altLang="en-US" sz="28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  <p:sp>
        <p:nvSpPr>
          <p:cNvPr id="46085" name="Rectangle 6"/>
          <p:cNvSpPr/>
          <p:nvPr/>
        </p:nvSpPr>
        <p:spPr>
          <a:xfrm>
            <a:off x="0" y="0"/>
            <a:ext cx="4264025" cy="5794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r>
              <a:rPr lang="zh-CN" altLang="en-US" b="1" dirty="0">
                <a:latin typeface="楷体_GB2312"/>
                <a:ea typeface="楷体_GB2312"/>
              </a:rPr>
              <a:t>用分治法求解递归问题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670727" name="Rectangle 7"/>
          <p:cNvSpPr/>
          <p:nvPr/>
        </p:nvSpPr>
        <p:spPr>
          <a:xfrm>
            <a:off x="615950" y="1711325"/>
            <a:ext cx="30289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None/>
            </a:pPr>
            <a:r>
              <a:rPr lang="zh-CN" altLang="en-US" b="1" dirty="0">
                <a:solidFill>
                  <a:srgbClr val="FF3300"/>
                </a:solidFill>
                <a:ea typeface="华文行楷" panose="02010800040101010101" pitchFamily="2" charset="-122"/>
              </a:rPr>
              <a:t>必备的三个条件</a:t>
            </a:r>
            <a:endParaRPr lang="zh-CN" altLang="en-US" b="1" dirty="0">
              <a:solidFill>
                <a:srgbClr val="FF3300"/>
              </a:solidFill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0725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0725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>
                                            <p:txEl>
                                              <p:charRg st="6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0725">
                                            <p:txEl>
                                              <p:charRg st="6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0725">
                                            <p:txEl>
                                              <p:charRg st="6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0725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0725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5" grpId="0" build="p"/>
      <p:bldP spid="6707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latin typeface="华文行楷" panose="02010800040101010101" pitchFamily="2" charset="-122"/>
                <a:ea typeface="华文行楷" panose="02010800040101010101" pitchFamily="2" charset="-122"/>
              </a:rPr>
            </a:fld>
            <a:endParaRPr lang="en-US" altLang="zh-CN" sz="1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1404938" y="260350"/>
            <a:ext cx="6480175" cy="8540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计算阶乘</a:t>
            </a:r>
            <a:r>
              <a:rPr lang="en-US" altLang="zh-CN" sz="4000" dirty="0"/>
              <a:t>n</a:t>
            </a:r>
            <a:r>
              <a:rPr lang="zh-CN" altLang="en-US" sz="4000" dirty="0"/>
              <a:t>！的两个程序</a:t>
            </a:r>
            <a:endParaRPr lang="zh-CN" altLang="en-US" sz="4000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719138" y="1700213"/>
            <a:ext cx="7705725" cy="3240087"/>
          </a:xfrm>
          <a:solidFill>
            <a:srgbClr val="99CCFF">
              <a:alpha val="30196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dirty="0"/>
              <a:t>//</a:t>
            </a:r>
            <a:r>
              <a:rPr lang="zh-CN" altLang="en-US" sz="2800" dirty="0"/>
              <a:t>使用循环迭代方法，计算阶乘</a:t>
            </a:r>
            <a:r>
              <a:rPr lang="en-US" altLang="zh-CN" sz="2800" dirty="0"/>
              <a:t>n!</a:t>
            </a:r>
            <a:r>
              <a:rPr lang="zh-CN" altLang="en-US" sz="2800" dirty="0"/>
              <a:t>的程序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long factorial(long n)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{int m = 1,i;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if (n&gt;0)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      for ( i = 1; i &lt;= n; i++ )      m = m * i 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return m 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/>
              <a:t>}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Char char="•"/>
            </a:pPr>
            <a:endParaRPr lang="en-US" altLang="zh-CN" sz="2800" dirty="0"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1748" name="Text Box 4"/>
          <p:cNvSpPr txBox="1"/>
          <p:nvPr/>
        </p:nvSpPr>
        <p:spPr>
          <a:xfrm>
            <a:off x="685800" y="620713"/>
            <a:ext cx="7578725" cy="2800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分治法求解递归问题算法的一般形式：</a:t>
            </a:r>
            <a:endParaRPr lang="en-US" altLang="zh-CN" sz="2800" b="1" dirty="0">
              <a:solidFill>
                <a:srgbClr val="FF33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FF33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void   p (</a:t>
            </a:r>
            <a:r>
              <a:rPr lang="zh-CN" altLang="en-US" sz="2400" b="1" dirty="0"/>
              <a:t>参数表</a:t>
            </a:r>
            <a:r>
              <a:rPr lang="en-US" altLang="zh-CN" sz="2400" b="1" dirty="0"/>
              <a:t>) 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 if   </a:t>
            </a:r>
            <a:r>
              <a:rPr lang="zh-CN" altLang="en-US" sz="2400" b="1" dirty="0"/>
              <a:t>（递归结束条件）可直接求解步骤；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-----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基本项</a:t>
            </a:r>
            <a:endParaRPr lang="zh-CN" altLang="en-US" sz="2400" b="1" dirty="0">
              <a:solidFill>
                <a:srgbClr val="0000FF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else  p</a:t>
            </a:r>
            <a:r>
              <a:rPr lang="zh-CN" altLang="en-US" sz="2400" b="1" dirty="0"/>
              <a:t>（较小的参数）；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------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归纳项</a:t>
            </a:r>
            <a:endParaRPr lang="zh-CN" altLang="en-US" sz="2400" b="1" dirty="0">
              <a:solidFill>
                <a:srgbClr val="0000FF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}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/>
          </a:p>
        </p:txBody>
      </p:sp>
      <p:sp>
        <p:nvSpPr>
          <p:cNvPr id="671749" name="Rectangle 5"/>
          <p:cNvSpPr/>
          <p:nvPr/>
        </p:nvSpPr>
        <p:spPr>
          <a:xfrm>
            <a:off x="884238" y="3436938"/>
            <a:ext cx="7802562" cy="2117725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long Fact ( long n ) {</a:t>
            </a:r>
            <a:endParaRPr lang="en-US" altLang="zh-CN" sz="2800" b="1" dirty="0">
              <a:solidFill>
                <a:srgbClr val="CC3300"/>
              </a:solidFill>
              <a:ea typeface="仿宋_GB231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    if ( n</a:t>
            </a:r>
            <a:r>
              <a:rPr lang="en-US" altLang="zh-CN" sz="2800" b="1" i="1" dirty="0">
                <a:solidFill>
                  <a:srgbClr val="CC3300"/>
                </a:solidFill>
                <a:ea typeface="仿宋_GB2312"/>
              </a:rPr>
              <a:t> ==</a:t>
            </a: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 0) return 1;  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基本项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终止条件</a:t>
            </a:r>
            <a:endParaRPr lang="zh-CN" altLang="en-US" sz="2400" b="1" dirty="0">
              <a:solidFill>
                <a:srgbClr val="0000FF"/>
              </a:solidFill>
              <a:ea typeface="楷体_GB231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  <a:ea typeface="仿宋_GB2312"/>
              </a:rPr>
              <a:t>    </a:t>
            </a: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else return n * Fact (n</a:t>
            </a:r>
            <a:r>
              <a:rPr lang="en-US" altLang="zh-CN" sz="2800" b="1" i="1" dirty="0">
                <a:solidFill>
                  <a:srgbClr val="CC3300"/>
                </a:solidFill>
                <a:latin typeface="仿宋_GB2312"/>
                <a:ea typeface="仿宋_GB2312"/>
              </a:rPr>
              <a:t>-</a:t>
            </a: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1); 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归纳项</a:t>
            </a:r>
            <a:r>
              <a:rPr lang="en-US" altLang="zh-CN" sz="2400" b="1" dirty="0">
                <a:solidFill>
                  <a:srgbClr val="0000FF"/>
                </a:solidFill>
                <a:ea typeface="楷体_GB2312"/>
              </a:rPr>
              <a:t>,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较小参数</a:t>
            </a:r>
            <a:endParaRPr lang="en-US" altLang="zh-CN" sz="2400" b="1" dirty="0">
              <a:solidFill>
                <a:srgbClr val="0000FF"/>
              </a:solidFill>
              <a:ea typeface="楷体_GB231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}</a:t>
            </a:r>
            <a:endParaRPr lang="en-US" altLang="zh-CN" sz="2800" b="1" dirty="0">
              <a:solidFill>
                <a:srgbClr val="CC3300"/>
              </a:solidFill>
              <a:ea typeface="仿宋_GB231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/>
      <p:bldP spid="67174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Rectangle 13"/>
          <p:cNvSpPr/>
          <p:nvPr/>
        </p:nvSpPr>
        <p:spPr>
          <a:xfrm>
            <a:off x="1828800" y="12954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56" name="Rectangle 15"/>
          <p:cNvSpPr/>
          <p:nvPr/>
        </p:nvSpPr>
        <p:spPr>
          <a:xfrm>
            <a:off x="1828800" y="21336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57" name="Line 17"/>
          <p:cNvSpPr/>
          <p:nvPr/>
        </p:nvSpPr>
        <p:spPr>
          <a:xfrm flipH="1">
            <a:off x="1524000" y="17526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8" name="Line 18"/>
          <p:cNvSpPr/>
          <p:nvPr/>
        </p:nvSpPr>
        <p:spPr>
          <a:xfrm>
            <a:off x="1524000" y="22860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49159" name="Line 19"/>
          <p:cNvSpPr/>
          <p:nvPr/>
        </p:nvSpPr>
        <p:spPr>
          <a:xfrm flipV="1">
            <a:off x="1524000" y="17526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0" name="Line 20"/>
          <p:cNvSpPr/>
          <p:nvPr/>
        </p:nvSpPr>
        <p:spPr>
          <a:xfrm flipH="1">
            <a:off x="7239000" y="22860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1" name="Line 21"/>
          <p:cNvSpPr/>
          <p:nvPr/>
        </p:nvSpPr>
        <p:spPr>
          <a:xfrm>
            <a:off x="7239000" y="17526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triangle" w="sm" len="med"/>
            <a:tailEnd type="none" w="sm" len="med"/>
          </a:ln>
        </p:spPr>
      </p:sp>
      <p:sp>
        <p:nvSpPr>
          <p:cNvPr id="49162" name="Line 22"/>
          <p:cNvSpPr/>
          <p:nvPr/>
        </p:nvSpPr>
        <p:spPr>
          <a:xfrm flipV="1">
            <a:off x="7543800" y="17526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3" name="Rectangle 23"/>
          <p:cNvSpPr/>
          <p:nvPr/>
        </p:nvSpPr>
        <p:spPr>
          <a:xfrm>
            <a:off x="1828800" y="29718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64" name="Line 25"/>
          <p:cNvSpPr/>
          <p:nvPr/>
        </p:nvSpPr>
        <p:spPr>
          <a:xfrm flipH="1">
            <a:off x="1524000" y="25908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5" name="Line 26"/>
          <p:cNvSpPr/>
          <p:nvPr/>
        </p:nvSpPr>
        <p:spPr>
          <a:xfrm>
            <a:off x="1524000" y="31242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49166" name="Line 27"/>
          <p:cNvSpPr/>
          <p:nvPr/>
        </p:nvSpPr>
        <p:spPr>
          <a:xfrm flipV="1">
            <a:off x="1524000" y="25908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7" name="Line 28"/>
          <p:cNvSpPr/>
          <p:nvPr/>
        </p:nvSpPr>
        <p:spPr>
          <a:xfrm flipH="1">
            <a:off x="7239000" y="31242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8" name="Line 29"/>
          <p:cNvSpPr/>
          <p:nvPr/>
        </p:nvSpPr>
        <p:spPr>
          <a:xfrm>
            <a:off x="7239000" y="25908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triangle" w="sm" len="med"/>
            <a:tailEnd type="none" w="sm" len="med"/>
          </a:ln>
        </p:spPr>
      </p:sp>
      <p:sp>
        <p:nvSpPr>
          <p:cNvPr id="49169" name="Line 30"/>
          <p:cNvSpPr/>
          <p:nvPr/>
        </p:nvSpPr>
        <p:spPr>
          <a:xfrm flipV="1">
            <a:off x="7543800" y="25908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0" name="Rectangle 31"/>
          <p:cNvSpPr/>
          <p:nvPr/>
        </p:nvSpPr>
        <p:spPr>
          <a:xfrm>
            <a:off x="1828800" y="38100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71" name="Text Box 32"/>
          <p:cNvSpPr txBox="1"/>
          <p:nvPr/>
        </p:nvSpPr>
        <p:spPr>
          <a:xfrm>
            <a:off x="1924050" y="3062288"/>
            <a:ext cx="51054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返回 </a:t>
            </a:r>
            <a:r>
              <a:rPr lang="en-US" altLang="zh-CN" sz="2800" b="1" dirty="0">
                <a:solidFill>
                  <a:srgbClr val="FF33CC"/>
                </a:solidFill>
                <a:ea typeface="仿宋_GB2312"/>
              </a:rPr>
              <a:t>2</a:t>
            </a: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　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参数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2    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计算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2*Fact(1)</a:t>
            </a:r>
            <a:endParaRPr lang="en-US" altLang="zh-CN" sz="2800" b="1" dirty="0">
              <a:solidFill>
                <a:srgbClr val="0000FF"/>
              </a:solidFill>
              <a:ea typeface="仿宋_GB2312"/>
            </a:endParaRPr>
          </a:p>
        </p:txBody>
      </p:sp>
      <p:sp>
        <p:nvSpPr>
          <p:cNvPr id="49172" name="Line 33"/>
          <p:cNvSpPr/>
          <p:nvPr/>
        </p:nvSpPr>
        <p:spPr>
          <a:xfrm flipH="1">
            <a:off x="1524000" y="34290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3" name="Line 34"/>
          <p:cNvSpPr/>
          <p:nvPr/>
        </p:nvSpPr>
        <p:spPr>
          <a:xfrm>
            <a:off x="1524000" y="39624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49174" name="Line 35"/>
          <p:cNvSpPr/>
          <p:nvPr/>
        </p:nvSpPr>
        <p:spPr>
          <a:xfrm flipV="1">
            <a:off x="1524000" y="34290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5" name="Line 36"/>
          <p:cNvSpPr/>
          <p:nvPr/>
        </p:nvSpPr>
        <p:spPr>
          <a:xfrm flipH="1">
            <a:off x="7239000" y="39624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6" name="Line 37"/>
          <p:cNvSpPr/>
          <p:nvPr/>
        </p:nvSpPr>
        <p:spPr>
          <a:xfrm>
            <a:off x="7239000" y="34290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triangle" w="sm" len="med"/>
            <a:tailEnd type="none" w="sm" len="med"/>
          </a:ln>
        </p:spPr>
      </p:sp>
      <p:sp>
        <p:nvSpPr>
          <p:cNvPr id="49177" name="Line 38"/>
          <p:cNvSpPr/>
          <p:nvPr/>
        </p:nvSpPr>
        <p:spPr>
          <a:xfrm flipV="1">
            <a:off x="7543800" y="34290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8" name="Rectangle 39"/>
          <p:cNvSpPr/>
          <p:nvPr/>
        </p:nvSpPr>
        <p:spPr>
          <a:xfrm>
            <a:off x="1828800" y="46482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79" name="Text Box 40"/>
          <p:cNvSpPr txBox="1"/>
          <p:nvPr/>
        </p:nvSpPr>
        <p:spPr>
          <a:xfrm>
            <a:off x="1914525" y="2176463"/>
            <a:ext cx="51054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返回 </a:t>
            </a:r>
            <a:r>
              <a:rPr lang="en-US" altLang="zh-CN" sz="2800" b="1" dirty="0">
                <a:solidFill>
                  <a:srgbClr val="FF33CC"/>
                </a:solidFill>
                <a:ea typeface="仿宋_GB2312"/>
              </a:rPr>
              <a:t>1</a:t>
            </a: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　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参数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1    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计算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1*Fact(0)</a:t>
            </a:r>
            <a:endParaRPr lang="en-US" altLang="zh-CN" sz="2800" b="1" dirty="0">
              <a:solidFill>
                <a:srgbClr val="0000FF"/>
              </a:solidFill>
              <a:ea typeface="仿宋_GB2312"/>
            </a:endParaRPr>
          </a:p>
        </p:txBody>
      </p:sp>
      <p:sp>
        <p:nvSpPr>
          <p:cNvPr id="49180" name="Line 41"/>
          <p:cNvSpPr/>
          <p:nvPr/>
        </p:nvSpPr>
        <p:spPr>
          <a:xfrm flipH="1">
            <a:off x="1524000" y="42672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1" name="Line 42"/>
          <p:cNvSpPr/>
          <p:nvPr/>
        </p:nvSpPr>
        <p:spPr>
          <a:xfrm>
            <a:off x="1524000" y="48006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49182" name="Line 43"/>
          <p:cNvSpPr/>
          <p:nvPr/>
        </p:nvSpPr>
        <p:spPr>
          <a:xfrm flipV="1">
            <a:off x="1524000" y="42672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3" name="Line 44"/>
          <p:cNvSpPr/>
          <p:nvPr/>
        </p:nvSpPr>
        <p:spPr>
          <a:xfrm flipH="1">
            <a:off x="7239000" y="48006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4" name="Line 45"/>
          <p:cNvSpPr/>
          <p:nvPr/>
        </p:nvSpPr>
        <p:spPr>
          <a:xfrm>
            <a:off x="7239000" y="42672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triangle" w="sm" len="med"/>
            <a:tailEnd type="none" w="sm" len="med"/>
          </a:ln>
        </p:spPr>
      </p:sp>
      <p:sp>
        <p:nvSpPr>
          <p:cNvPr id="49185" name="Line 46"/>
          <p:cNvSpPr/>
          <p:nvPr/>
        </p:nvSpPr>
        <p:spPr>
          <a:xfrm flipV="1">
            <a:off x="7543800" y="42672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6" name="Rectangle 47"/>
          <p:cNvSpPr/>
          <p:nvPr/>
        </p:nvSpPr>
        <p:spPr>
          <a:xfrm>
            <a:off x="1828800" y="54864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49187" name="Text Box 48"/>
          <p:cNvSpPr txBox="1"/>
          <p:nvPr/>
        </p:nvSpPr>
        <p:spPr>
          <a:xfrm>
            <a:off x="1862138" y="1354138"/>
            <a:ext cx="48466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返回 </a:t>
            </a:r>
            <a:r>
              <a:rPr lang="en-US" altLang="zh-CN" sz="2800" b="1" dirty="0">
                <a:solidFill>
                  <a:srgbClr val="FF33CC"/>
                </a:solidFill>
                <a:ea typeface="仿宋_GB2312"/>
              </a:rPr>
              <a:t>1</a:t>
            </a: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　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参数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0    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直接定值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= 1</a:t>
            </a:r>
            <a:endParaRPr lang="en-US" altLang="zh-CN" sz="2800" b="1" dirty="0">
              <a:solidFill>
                <a:srgbClr val="0000FF"/>
              </a:solidFill>
              <a:ea typeface="仿宋_GB2312"/>
            </a:endParaRPr>
          </a:p>
        </p:txBody>
      </p:sp>
      <p:sp>
        <p:nvSpPr>
          <p:cNvPr id="49188" name="Line 49"/>
          <p:cNvSpPr/>
          <p:nvPr/>
        </p:nvSpPr>
        <p:spPr>
          <a:xfrm flipH="1">
            <a:off x="1524000" y="51054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9" name="Line 50"/>
          <p:cNvSpPr/>
          <p:nvPr/>
        </p:nvSpPr>
        <p:spPr>
          <a:xfrm>
            <a:off x="1524000" y="5638800"/>
            <a:ext cx="3048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sm" len="med"/>
          </a:ln>
        </p:spPr>
      </p:sp>
      <p:sp>
        <p:nvSpPr>
          <p:cNvPr id="49190" name="Line 51"/>
          <p:cNvSpPr/>
          <p:nvPr/>
        </p:nvSpPr>
        <p:spPr>
          <a:xfrm flipV="1">
            <a:off x="1524000" y="5105400"/>
            <a:ext cx="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9191" name="Group 65"/>
          <p:cNvGrpSpPr/>
          <p:nvPr/>
        </p:nvGrpSpPr>
        <p:grpSpPr>
          <a:xfrm>
            <a:off x="7543800" y="1676400"/>
            <a:ext cx="1158875" cy="3962400"/>
            <a:chOff x="278" y="1152"/>
            <a:chExt cx="730" cy="2496"/>
          </a:xfrm>
        </p:grpSpPr>
        <p:sp>
          <p:nvSpPr>
            <p:cNvPr id="447543" name="Text Box 55"/>
            <p:cNvSpPr txBox="1">
              <a:spLocks noChangeArrowheads="1"/>
            </p:cNvSpPr>
            <p:nvPr/>
          </p:nvSpPr>
          <p:spPr bwMode="auto">
            <a:xfrm>
              <a:off x="614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仿宋_GB2312" pitchFamily="49" charset="-122"/>
                  <a:cs typeface="+mn-cs"/>
                </a:rPr>
                <a:t>参数传递</a:t>
              </a:r>
              <a:endParaRPr kumimoji="1" lang="zh-CN" altLang="en-US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46" name="Text Box 58"/>
            <p:cNvSpPr txBox="1">
              <a:spLocks noChangeArrowheads="1"/>
            </p:cNvSpPr>
            <p:nvPr/>
          </p:nvSpPr>
          <p:spPr bwMode="auto">
            <a:xfrm>
              <a:off x="278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仿宋_GB2312" pitchFamily="49" charset="-122"/>
                  <a:cs typeface="+mn-cs"/>
                </a:rPr>
                <a:t>递归调用</a:t>
              </a:r>
              <a:endParaRPr kumimoji="1" lang="zh-CN" altLang="en-US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207" name="Line 59"/>
            <p:cNvSpPr/>
            <p:nvPr/>
          </p:nvSpPr>
          <p:spPr>
            <a:xfrm>
              <a:off x="612" y="1152"/>
              <a:ext cx="0" cy="249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triangle" w="lg" len="lg"/>
              <a:tailEnd type="none" w="sm" len="lg"/>
            </a:ln>
          </p:spPr>
        </p:sp>
      </p:grpSp>
      <p:grpSp>
        <p:nvGrpSpPr>
          <p:cNvPr id="49192" name="Group 64"/>
          <p:cNvGrpSpPr/>
          <p:nvPr/>
        </p:nvGrpSpPr>
        <p:grpSpPr>
          <a:xfrm>
            <a:off x="365125" y="1771650"/>
            <a:ext cx="1158875" cy="3962400"/>
            <a:chOff x="4752" y="1223"/>
            <a:chExt cx="730" cy="2496"/>
          </a:xfrm>
        </p:grpSpPr>
        <p:sp>
          <p:nvSpPr>
            <p:cNvPr id="447544" name="Text Box 56"/>
            <p:cNvSpPr txBox="1">
              <a:spLocks noChangeArrowheads="1"/>
            </p:cNvSpPr>
            <p:nvPr/>
          </p:nvSpPr>
          <p:spPr bwMode="auto">
            <a:xfrm>
              <a:off x="4752" y="1728"/>
              <a:ext cx="346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仿宋_GB2312" pitchFamily="49" charset="-122"/>
                  <a:cs typeface="+mn-cs"/>
                </a:rPr>
                <a:t>结果返回</a:t>
              </a:r>
              <a:endParaRPr kumimoji="1" lang="zh-CN" altLang="en-US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203" name="Line 57"/>
            <p:cNvSpPr/>
            <p:nvPr/>
          </p:nvSpPr>
          <p:spPr>
            <a:xfrm>
              <a:off x="5088" y="1223"/>
              <a:ext cx="0" cy="249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447548" name="Text Box 60"/>
            <p:cNvSpPr txBox="1">
              <a:spLocks noChangeArrowheads="1"/>
            </p:cNvSpPr>
            <p:nvPr/>
          </p:nvSpPr>
          <p:spPr bwMode="auto">
            <a:xfrm>
              <a:off x="5088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仿宋_GB2312" pitchFamily="49" charset="-122"/>
                  <a:cs typeface="+mn-cs"/>
                </a:rPr>
                <a:t>回归求值</a:t>
              </a:r>
              <a:endParaRPr kumimoji="1" lang="zh-CN" altLang="en-US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9193" name="Rectangle 61"/>
          <p:cNvSpPr/>
          <p:nvPr/>
        </p:nvSpPr>
        <p:spPr>
          <a:xfrm>
            <a:off x="4211638" y="0"/>
            <a:ext cx="4767262" cy="989013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if ( n</a:t>
            </a:r>
            <a:r>
              <a:rPr lang="en-US" altLang="zh-CN" sz="2800" b="1" i="1" dirty="0">
                <a:solidFill>
                  <a:srgbClr val="CC3300"/>
                </a:solidFill>
                <a:ea typeface="仿宋_GB2312"/>
              </a:rPr>
              <a:t> ==</a:t>
            </a: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 0 ) return 1;</a:t>
            </a:r>
            <a:endParaRPr lang="en-US" altLang="zh-CN" sz="2400" b="1" dirty="0">
              <a:solidFill>
                <a:schemeClr val="accent2"/>
              </a:solidFill>
              <a:ea typeface="楷体_GB231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else return n * Fact (n</a:t>
            </a:r>
            <a:r>
              <a:rPr lang="en-US" altLang="zh-CN" sz="2800" b="1" i="1" dirty="0">
                <a:solidFill>
                  <a:srgbClr val="CC3300"/>
                </a:solidFill>
                <a:latin typeface="仿宋_GB2312"/>
                <a:ea typeface="仿宋_GB2312"/>
              </a:rPr>
              <a:t>-</a:t>
            </a:r>
            <a:r>
              <a:rPr lang="en-US" altLang="zh-CN" sz="2800" b="1" dirty="0">
                <a:solidFill>
                  <a:srgbClr val="CC3300"/>
                </a:solidFill>
                <a:ea typeface="仿宋_GB2312"/>
              </a:rPr>
              <a:t>1); </a:t>
            </a:r>
            <a:endParaRPr lang="en-US" altLang="zh-CN" sz="2800" b="1" dirty="0">
              <a:solidFill>
                <a:srgbClr val="CC3300"/>
              </a:solidFill>
              <a:ea typeface="仿宋_GB2312"/>
            </a:endParaRPr>
          </a:p>
        </p:txBody>
      </p:sp>
      <p:sp>
        <p:nvSpPr>
          <p:cNvPr id="49194" name="Rectangle 62"/>
          <p:cNvSpPr/>
          <p:nvPr/>
        </p:nvSpPr>
        <p:spPr>
          <a:xfrm>
            <a:off x="0" y="31750"/>
            <a:ext cx="3683000" cy="5842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_GB2312"/>
                <a:ea typeface="楷体_GB2312"/>
              </a:rPr>
              <a:t>求解阶乘 </a:t>
            </a:r>
            <a:r>
              <a:rPr lang="en-US" altLang="zh-CN" b="1" dirty="0">
                <a:solidFill>
                  <a:srgbClr val="0000FF"/>
                </a:solidFill>
                <a:latin typeface="楷体_GB2312"/>
                <a:ea typeface="楷体_GB2312"/>
              </a:rPr>
              <a:t>n! </a:t>
            </a:r>
            <a:r>
              <a:rPr lang="zh-CN" altLang="en-US" b="1" dirty="0">
                <a:solidFill>
                  <a:srgbClr val="0000FF"/>
                </a:solidFill>
                <a:latin typeface="楷体_GB2312"/>
                <a:ea typeface="楷体_GB2312"/>
              </a:rPr>
              <a:t>的过程</a:t>
            </a:r>
            <a:endParaRPr lang="zh-CN" altLang="en-US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447551" name="Text Box 63"/>
          <p:cNvSpPr txBox="1">
            <a:spLocks noChangeArrowheads="1"/>
          </p:cNvSpPr>
          <p:nvPr/>
        </p:nvSpPr>
        <p:spPr bwMode="auto">
          <a:xfrm>
            <a:off x="2771775" y="5486400"/>
            <a:ext cx="3579813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+mn-cs"/>
              </a:rPr>
              <a:t>主程序</a:t>
            </a:r>
            <a:r>
              <a:rPr kumimoji="1" lang="zh-CN" altLang="en-US" kern="1200" cap="none" spc="0" normalizeH="0" baseline="0" noProof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kern="1200" cap="none" spc="0" normalizeH="0" baseline="0" noProof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main : Fact(4)</a:t>
            </a:r>
            <a:endParaRPr kumimoji="1" lang="en-US" altLang="zh-CN" kern="1200" cap="none" spc="0" normalizeH="0" baseline="0" noProof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9196" name="Group 66"/>
          <p:cNvGrpSpPr/>
          <p:nvPr/>
        </p:nvGrpSpPr>
        <p:grpSpPr>
          <a:xfrm>
            <a:off x="1914525" y="4648200"/>
            <a:ext cx="5629275" cy="990600"/>
            <a:chOff x="1206" y="2928"/>
            <a:chExt cx="3546" cy="624"/>
          </a:xfrm>
        </p:grpSpPr>
        <p:sp>
          <p:nvSpPr>
            <p:cNvPr id="49198" name="Line 52"/>
            <p:cNvSpPr/>
            <p:nvPr/>
          </p:nvSpPr>
          <p:spPr>
            <a:xfrm flipH="1">
              <a:off x="4560" y="3552"/>
              <a:ext cx="192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9" name="Line 53"/>
            <p:cNvSpPr/>
            <p:nvPr/>
          </p:nvSpPr>
          <p:spPr>
            <a:xfrm>
              <a:off x="4560" y="3216"/>
              <a:ext cx="192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49200" name="Line 54"/>
            <p:cNvSpPr/>
            <p:nvPr/>
          </p:nvSpPr>
          <p:spPr>
            <a:xfrm flipV="1">
              <a:off x="4752" y="3216"/>
              <a:ext cx="0" cy="336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1" name="Text Box 16"/>
            <p:cNvSpPr txBox="1"/>
            <p:nvPr/>
          </p:nvSpPr>
          <p:spPr>
            <a:xfrm>
              <a:off x="1206" y="2928"/>
              <a:ext cx="3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33CC"/>
                  </a:solidFill>
                  <a:ea typeface="仿宋_GB2312"/>
                </a:rPr>
                <a:t>返回 </a:t>
              </a:r>
              <a:r>
                <a:rPr lang="en-US" altLang="zh-CN" sz="2800" b="1" dirty="0">
                  <a:solidFill>
                    <a:srgbClr val="0000FF"/>
                  </a:solidFill>
                  <a:ea typeface="仿宋_GB2312"/>
                </a:rPr>
                <a:t>24  </a:t>
              </a:r>
              <a:r>
                <a:rPr lang="zh-CN" altLang="en-US" sz="2800" b="1" dirty="0">
                  <a:solidFill>
                    <a:srgbClr val="0000FF"/>
                  </a:solidFill>
                  <a:ea typeface="仿宋_GB2312"/>
                </a:rPr>
                <a:t>参数 </a:t>
              </a:r>
              <a:r>
                <a:rPr lang="en-US" altLang="zh-CN" sz="2800" b="1" dirty="0">
                  <a:solidFill>
                    <a:srgbClr val="0000FF"/>
                  </a:solidFill>
                  <a:ea typeface="仿宋_GB2312"/>
                </a:rPr>
                <a:t>4    </a:t>
              </a:r>
              <a:r>
                <a:rPr lang="zh-CN" altLang="en-US" sz="2800" b="1" dirty="0">
                  <a:solidFill>
                    <a:srgbClr val="0000FF"/>
                  </a:solidFill>
                  <a:ea typeface="仿宋_GB2312"/>
                </a:rPr>
                <a:t>计算 </a:t>
              </a:r>
              <a:r>
                <a:rPr lang="en-US" altLang="zh-CN" sz="2800" b="1" dirty="0">
                  <a:solidFill>
                    <a:srgbClr val="0000FF"/>
                  </a:solidFill>
                  <a:ea typeface="仿宋_GB2312"/>
                </a:rPr>
                <a:t>4*Fact(3)</a:t>
              </a:r>
              <a:endParaRPr lang="en-US" altLang="zh-CN" sz="2800" b="1" dirty="0">
                <a:solidFill>
                  <a:srgbClr val="0000FF"/>
                </a:solidFill>
                <a:ea typeface="仿宋_GB2312"/>
              </a:endParaRPr>
            </a:p>
          </p:txBody>
        </p:sp>
      </p:grpSp>
      <p:sp>
        <p:nvSpPr>
          <p:cNvPr id="49197" name="Text Box 24"/>
          <p:cNvSpPr txBox="1"/>
          <p:nvPr/>
        </p:nvSpPr>
        <p:spPr>
          <a:xfrm>
            <a:off x="1924050" y="3846513"/>
            <a:ext cx="51054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返回 </a:t>
            </a:r>
            <a:r>
              <a:rPr lang="en-US" altLang="zh-CN" sz="2800" b="1" dirty="0">
                <a:solidFill>
                  <a:srgbClr val="FF33CC"/>
                </a:solidFill>
                <a:ea typeface="仿宋_GB2312"/>
              </a:rPr>
              <a:t>6</a:t>
            </a:r>
            <a:r>
              <a:rPr lang="zh-CN" altLang="en-US" sz="2800" b="1" dirty="0">
                <a:solidFill>
                  <a:srgbClr val="FF33CC"/>
                </a:solidFill>
                <a:ea typeface="仿宋_GB2312"/>
              </a:rPr>
              <a:t>　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参数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3    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</a:rPr>
              <a:t>计算 </a:t>
            </a:r>
            <a:r>
              <a:rPr lang="en-US" altLang="zh-CN" sz="2800" b="1" dirty="0">
                <a:solidFill>
                  <a:srgbClr val="0000FF"/>
                </a:solidFill>
                <a:ea typeface="仿宋_GB2312"/>
              </a:rPr>
              <a:t>3*Fact(2)</a:t>
            </a:r>
            <a:endParaRPr lang="en-US" altLang="zh-CN" sz="2800" b="1" dirty="0">
              <a:solidFill>
                <a:srgbClr val="0000FF"/>
              </a:solidFill>
              <a:ea typeface="仿宋_GB2312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79" name="灯片编号占位符 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80" name="Rectangle 4"/>
          <p:cNvSpPr/>
          <p:nvPr/>
        </p:nvSpPr>
        <p:spPr>
          <a:xfrm>
            <a:off x="323850" y="704850"/>
            <a:ext cx="8435975" cy="60007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一  选择题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</a:rPr>
              <a:t>对于栈操作数据的原则是（   ）。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</a:rPr>
              <a:t>A.</a:t>
            </a:r>
            <a:r>
              <a:rPr lang="zh-CN" altLang="en-US" sz="2400" b="1" dirty="0">
                <a:latin typeface="宋体" panose="02010600030101010101" pitchFamily="2" charset="-122"/>
              </a:rPr>
              <a:t>先进先出  </a:t>
            </a:r>
            <a:r>
              <a:rPr lang="en-US" altLang="zh-CN" sz="2400" b="1" dirty="0">
                <a:latin typeface="宋体" panose="02010600030101010101" pitchFamily="2" charset="-122"/>
              </a:rPr>
              <a:t>B.</a:t>
            </a:r>
            <a:r>
              <a:rPr lang="zh-CN" altLang="en-US" sz="2400" b="1" dirty="0">
                <a:latin typeface="宋体" panose="02010600030101010101" pitchFamily="2" charset="-122"/>
              </a:rPr>
              <a:t>后进先出  </a:t>
            </a:r>
            <a:r>
              <a:rPr lang="en-US" altLang="zh-CN" sz="2400" b="1" dirty="0">
                <a:latin typeface="宋体" panose="02010600030101010101" pitchFamily="2" charset="-122"/>
              </a:rPr>
              <a:t>C.</a:t>
            </a:r>
            <a:r>
              <a:rPr lang="zh-CN" altLang="en-US" sz="2400" b="1" dirty="0">
                <a:latin typeface="宋体" panose="02010600030101010101" pitchFamily="2" charset="-122"/>
              </a:rPr>
              <a:t>后进后出   </a:t>
            </a:r>
            <a:r>
              <a:rPr lang="en-US" altLang="zh-CN" sz="2400" b="1" dirty="0">
                <a:latin typeface="宋体" panose="02010600030101010101" pitchFamily="2" charset="-122"/>
              </a:rPr>
              <a:t>D.</a:t>
            </a:r>
            <a:r>
              <a:rPr lang="zh-CN" altLang="en-US" sz="2400" b="1" dirty="0">
                <a:latin typeface="宋体" panose="02010600030101010101" pitchFamily="2" charset="-122"/>
              </a:rPr>
              <a:t>不分顺序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</a:rPr>
              <a:t>一个栈的输入序列为</a:t>
            </a:r>
            <a:r>
              <a:rPr lang="en-US" altLang="zh-CN" sz="2400" b="1" dirty="0">
                <a:latin typeface="宋体" panose="02010600030101010101" pitchFamily="2" charset="-122"/>
              </a:rPr>
              <a:t>123…n</a:t>
            </a:r>
            <a:r>
              <a:rPr lang="zh-CN" altLang="en-US" sz="2400" b="1" dirty="0">
                <a:latin typeface="宋体" panose="02010600030101010101" pitchFamily="2" charset="-122"/>
              </a:rPr>
              <a:t>，若输出序列的第一个元素是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n</a:t>
            </a:r>
            <a:r>
              <a:rPr lang="zh-CN" altLang="en-US" sz="2400" b="1" dirty="0">
                <a:latin typeface="宋体" panose="02010600030101010101" pitchFamily="2" charset="-122"/>
              </a:rPr>
              <a:t>，输出第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1&lt;=i&lt;=n</a:t>
            </a:r>
            <a:r>
              <a:rPr lang="zh-CN" altLang="en-US" sz="2400" b="1" dirty="0">
                <a:latin typeface="宋体" panose="02010600030101010101" pitchFamily="2" charset="-122"/>
              </a:rPr>
              <a:t>）个元素是（    ）。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A. </a:t>
            </a:r>
            <a:r>
              <a:rPr lang="zh-CN" altLang="en-US" sz="2400" b="1" dirty="0">
                <a:latin typeface="宋体" panose="02010600030101010101" pitchFamily="2" charset="-122"/>
              </a:rPr>
              <a:t>不确定     </a:t>
            </a:r>
            <a:r>
              <a:rPr lang="en-US" altLang="zh-CN" sz="2400" b="1" dirty="0">
                <a:latin typeface="宋体" panose="02010600030101010101" pitchFamily="2" charset="-122"/>
              </a:rPr>
              <a:t>B. n-i+1     C.  i       D. n-i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3. </a:t>
            </a:r>
            <a:r>
              <a:rPr lang="zh-CN" altLang="en-US" sz="2400" b="1" dirty="0">
                <a:latin typeface="宋体" panose="02010600030101010101" pitchFamily="2" charset="-122"/>
              </a:rPr>
              <a:t>若一个栈的输入序列为</a:t>
            </a:r>
            <a:r>
              <a:rPr lang="en-US" altLang="zh-CN" sz="2400" b="1" dirty="0">
                <a:latin typeface="宋体" panose="02010600030101010101" pitchFamily="2" charset="-122"/>
              </a:rPr>
              <a:t>1,2,3,…,n</a:t>
            </a:r>
            <a:r>
              <a:rPr lang="zh-CN" altLang="en-US" sz="2400" b="1" dirty="0">
                <a:latin typeface="宋体" panose="02010600030101010101" pitchFamily="2" charset="-122"/>
              </a:rPr>
              <a:t>，输出序列的第一个</a:t>
            </a:r>
            <a:br>
              <a:rPr lang="zh-CN" altLang="en-US" sz="2400" b="1" dirty="0">
                <a:latin typeface="宋体" panose="02010600030101010101" pitchFamily="2" charset="-122"/>
              </a:rPr>
            </a:br>
            <a:r>
              <a:rPr lang="zh-CN" altLang="en-US" sz="2400" b="1" dirty="0">
                <a:latin typeface="宋体" panose="02010600030101010101" pitchFamily="2" charset="-122"/>
              </a:rPr>
              <a:t>元素是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，则第</a:t>
            </a:r>
            <a:r>
              <a:rPr lang="en-US" altLang="zh-CN" sz="2400" b="1" dirty="0">
                <a:latin typeface="宋体" panose="02010600030101010101" pitchFamily="2" charset="-122"/>
              </a:rPr>
              <a:t>j</a:t>
            </a:r>
            <a:r>
              <a:rPr lang="zh-CN" altLang="en-US" sz="2400" b="1" dirty="0">
                <a:latin typeface="宋体" panose="02010600030101010101" pitchFamily="2" charset="-122"/>
              </a:rPr>
              <a:t>个输出元素是（     ）。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</a:rPr>
              <a:t>A. i-j-1     B. i-j     C. j-i+1      D. </a:t>
            </a:r>
            <a:r>
              <a:rPr lang="zh-CN" altLang="en-US" sz="2400" b="1" dirty="0">
                <a:latin typeface="宋体" panose="02010600030101010101" pitchFamily="2" charset="-122"/>
              </a:rPr>
              <a:t>不确定的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4. </a:t>
            </a:r>
            <a:r>
              <a:rPr lang="zh-CN" altLang="en-US" sz="2400" b="1" dirty="0">
                <a:latin typeface="宋体" panose="02010600030101010101" pitchFamily="2" charset="-122"/>
              </a:rPr>
              <a:t>栈在（    ）中应用。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</a:rPr>
              <a:t>A.</a:t>
            </a:r>
            <a:r>
              <a:rPr lang="zh-CN" altLang="en-US" sz="2400" b="1" dirty="0">
                <a:latin typeface="宋体" panose="02010600030101010101" pitchFamily="2" charset="-122"/>
              </a:rPr>
              <a:t>递归调用            </a:t>
            </a:r>
            <a:r>
              <a:rPr lang="en-US" altLang="zh-CN" sz="2400" b="1" dirty="0">
                <a:latin typeface="宋体" panose="02010600030101010101" pitchFamily="2" charset="-122"/>
              </a:rPr>
              <a:t>B.</a:t>
            </a:r>
            <a:r>
              <a:rPr lang="zh-CN" altLang="en-US" sz="2400" b="1" dirty="0">
                <a:latin typeface="宋体" panose="02010600030101010101" pitchFamily="2" charset="-122"/>
              </a:rPr>
              <a:t>子程序调用     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C.</a:t>
            </a:r>
            <a:r>
              <a:rPr lang="zh-CN" altLang="en-US" sz="2400" b="1" dirty="0">
                <a:latin typeface="宋体" panose="02010600030101010101" pitchFamily="2" charset="-122"/>
              </a:rPr>
              <a:t>表达式求值          </a:t>
            </a:r>
            <a:r>
              <a:rPr lang="en-US" altLang="zh-CN" sz="2400" b="1" dirty="0">
                <a:latin typeface="宋体" panose="02010600030101010101" pitchFamily="2" charset="-122"/>
              </a:rPr>
              <a:t>D. A</a:t>
            </a:r>
            <a:r>
              <a:rPr lang="zh-CN" altLang="en-US" sz="2400" b="1" dirty="0">
                <a:latin typeface="宋体" panose="02010600030101010101" pitchFamily="2" charset="-122"/>
              </a:rPr>
              <a:t>，Ｂ，Ｃ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5. </a:t>
            </a:r>
            <a:r>
              <a:rPr lang="zh-CN" altLang="en-US" sz="2400" b="1" dirty="0">
                <a:latin typeface="宋体" panose="02010600030101010101" pitchFamily="2" charset="-122"/>
              </a:rPr>
              <a:t>有六个元素</a:t>
            </a:r>
            <a:r>
              <a:rPr lang="en-US" altLang="zh-CN" sz="2400" b="1" dirty="0"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1 </a:t>
            </a:r>
            <a:r>
              <a:rPr lang="zh-CN" altLang="en-US" sz="2400" b="1" dirty="0">
                <a:latin typeface="宋体" panose="02010600030101010101" pitchFamily="2" charset="-122"/>
              </a:rPr>
              <a:t>的顺序进栈，问下列哪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一个不是合法的出栈序列？（    ）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A.5 4 3 6 1 2             B. 4 5 3 1 2 6    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342900" lvl="0" indent="-34290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C. 3 4 6 5 2 1            D. 2 3 4 1 5 6  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268413" y="203200"/>
            <a:ext cx="6229350" cy="795338"/>
          </a:xfrm>
          <a:prstGeom prst="rect">
            <a:avLst/>
          </a:prstGeom>
        </p:spPr>
        <p:txBody>
          <a:bodyPr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kern="0" cap="none" spc="0" normalizeH="0" baseline="0" noProof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知识点巩固和练习</a:t>
            </a:r>
            <a:endParaRPr kumimoji="1" lang="zh-CN" altLang="en-US" sz="3600" kern="0" cap="none" spc="0" normalizeH="0" baseline="0" noProof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2386" name="Rectangle 2"/>
          <p:cNvSpPr>
            <a:spLocks noGrp="1"/>
          </p:cNvSpPr>
          <p:nvPr>
            <p:ph type="title"/>
          </p:nvPr>
        </p:nvSpPr>
        <p:spPr>
          <a:xfrm>
            <a:off x="393700" y="560388"/>
            <a:ext cx="1816100" cy="712787"/>
          </a:xfrm>
          <a:ln/>
        </p:spPr>
        <p:txBody>
          <a:bodyPr vert="horz" wrap="square" lIns="91440" tIns="45720" rIns="91440" bIns="45720" anchor="ctr" anchorCtr="0"/>
          <a:p>
            <a:pPr marL="381000" indent="-381000" algn="l" eaLnBrk="1" hangingPunct="1">
              <a:buFontTx/>
              <a:buAutoNum type="arabicPeriod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定    义</a:t>
            </a:r>
            <a:endParaRPr lang="zh-CN" altLang="en-US" sz="2800" b="1" dirty="0"/>
          </a:p>
        </p:txBody>
      </p:sp>
      <p:sp>
        <p:nvSpPr>
          <p:cNvPr id="51204" name="Rectangle 3"/>
          <p:cNvSpPr/>
          <p:nvPr/>
        </p:nvSpPr>
        <p:spPr>
          <a:xfrm>
            <a:off x="393700" y="66675"/>
            <a:ext cx="1892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/>
              </a:rPr>
              <a:t>3.2  </a:t>
            </a:r>
            <a:r>
              <a:rPr lang="zh-CN" altLang="en-US" b="1" dirty="0">
                <a:solidFill>
                  <a:srgbClr val="0000FF"/>
                </a:solidFill>
                <a:ea typeface="楷体_GB2312"/>
              </a:rPr>
              <a:t>队列</a:t>
            </a:r>
            <a:endParaRPr lang="zh-CN" altLang="en-US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272388" name="Rectangle 4"/>
          <p:cNvSpPr/>
          <p:nvPr/>
        </p:nvSpPr>
        <p:spPr>
          <a:xfrm>
            <a:off x="2505075" y="1554163"/>
            <a:ext cx="4756150" cy="4206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与线性表相同，仍为一对一关系。</a:t>
            </a:r>
            <a:endParaRPr lang="zh-CN" altLang="en-US" sz="2400" b="1" dirty="0"/>
          </a:p>
        </p:txBody>
      </p:sp>
      <p:sp>
        <p:nvSpPr>
          <p:cNvPr id="272389" name="Rectangle 5"/>
          <p:cNvSpPr/>
          <p:nvPr/>
        </p:nvSpPr>
        <p:spPr>
          <a:xfrm>
            <a:off x="2590800" y="2286000"/>
            <a:ext cx="5480050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顺序队</a:t>
            </a:r>
            <a:r>
              <a:rPr lang="zh-CN" altLang="en-US" sz="2400" b="1" dirty="0"/>
              <a:t>或</a:t>
            </a:r>
            <a:r>
              <a:rPr lang="zh-CN" altLang="en-US" sz="2400" b="1" dirty="0">
                <a:solidFill>
                  <a:srgbClr val="0000FF"/>
                </a:solidFill>
              </a:rPr>
              <a:t>链队</a:t>
            </a:r>
            <a:r>
              <a:rPr lang="zh-CN" altLang="en-US" sz="2400" b="1" dirty="0"/>
              <a:t>，以循环顺序队更常见。</a:t>
            </a:r>
            <a:endParaRPr lang="zh-CN" altLang="en-US" sz="2400" b="1" dirty="0"/>
          </a:p>
        </p:txBody>
      </p:sp>
      <p:sp>
        <p:nvSpPr>
          <p:cNvPr id="272390" name="Rectangle 6"/>
          <p:cNvSpPr/>
          <p:nvPr/>
        </p:nvSpPr>
        <p:spPr>
          <a:xfrm>
            <a:off x="2568575" y="3168650"/>
            <a:ext cx="60420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只能在队首和队尾运算，且访问结点时依照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先进先出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FIFO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r>
              <a:rPr lang="zh-CN" altLang="en-US" sz="2400" b="1" dirty="0">
                <a:latin typeface="楷体_GB2312"/>
                <a:ea typeface="楷体_GB2312"/>
              </a:rPr>
              <a:t>的原则。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72391" name="Text Box 7"/>
          <p:cNvSpPr txBox="1"/>
          <p:nvPr/>
        </p:nvSpPr>
        <p:spPr>
          <a:xfrm>
            <a:off x="2606675" y="4225925"/>
            <a:ext cx="6005513" cy="173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关键是掌握</a:t>
            </a:r>
            <a:r>
              <a:rPr lang="zh-CN" altLang="en-US" sz="2400" b="1" dirty="0">
                <a:solidFill>
                  <a:srgbClr val="0000FF"/>
                </a:solidFill>
              </a:rPr>
              <a:t>入队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00FF"/>
                </a:solidFill>
              </a:rPr>
              <a:t>出队</a:t>
            </a:r>
            <a:r>
              <a:rPr lang="zh-CN" altLang="en-US" sz="2400" b="1" dirty="0"/>
              <a:t>操作，具体实现依顺序队或链队的不同而不同。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基本操作有入队或出队，建空队列，判队空或队满等操作。</a:t>
            </a:r>
            <a:endParaRPr lang="zh-CN" altLang="en-US" sz="2400" b="1" dirty="0"/>
          </a:p>
        </p:txBody>
      </p:sp>
      <p:grpSp>
        <p:nvGrpSpPr>
          <p:cNvPr id="2" name="Group 8"/>
          <p:cNvGrpSpPr/>
          <p:nvPr/>
        </p:nvGrpSpPr>
        <p:grpSpPr>
          <a:xfrm>
            <a:off x="314325" y="1382713"/>
            <a:ext cx="2270125" cy="3346450"/>
            <a:chOff x="198" y="871"/>
            <a:chExt cx="1430" cy="2108"/>
          </a:xfrm>
        </p:grpSpPr>
        <p:sp>
          <p:nvSpPr>
            <p:cNvPr id="51212" name="Rectangle 9"/>
            <p:cNvSpPr/>
            <p:nvPr/>
          </p:nvSpPr>
          <p:spPr>
            <a:xfrm>
              <a:off x="198" y="1320"/>
              <a:ext cx="1265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3. 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存储结构</a:t>
              </a:r>
              <a:endParaRPr lang="zh-CN" altLang="en-US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51213" name="Rectangle 10"/>
            <p:cNvSpPr/>
            <p:nvPr/>
          </p:nvSpPr>
          <p:spPr>
            <a:xfrm>
              <a:off x="207" y="1996"/>
              <a:ext cx="123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4. 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运算规则</a:t>
              </a:r>
              <a:endParaRPr lang="zh-CN" altLang="en-US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51214" name="Text Box 11"/>
            <p:cNvSpPr txBox="1"/>
            <p:nvPr/>
          </p:nvSpPr>
          <p:spPr>
            <a:xfrm>
              <a:off x="198" y="2652"/>
              <a:ext cx="14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5. 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实现方式</a:t>
              </a:r>
              <a:r>
                <a:rPr lang="zh-CN" altLang="en-US" sz="28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15" name="Rectangle 12"/>
            <p:cNvSpPr/>
            <p:nvPr/>
          </p:nvSpPr>
          <p:spPr>
            <a:xfrm>
              <a:off x="198" y="871"/>
              <a:ext cx="1253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2. 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逻辑结构</a:t>
              </a:r>
              <a:endParaRPr lang="zh-CN" altLang="en-US" sz="28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72397" name="Rectangle 13"/>
          <p:cNvSpPr/>
          <p:nvPr/>
        </p:nvSpPr>
        <p:spPr>
          <a:xfrm>
            <a:off x="2568575" y="560388"/>
            <a:ext cx="604361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只能在表的一端进行插入运算，在表的另一端进行删除运算的线性表 （</a:t>
            </a:r>
            <a:r>
              <a:rPr lang="zh-CN" altLang="en-US" sz="2400" b="1" dirty="0">
                <a:solidFill>
                  <a:srgbClr val="0000FF"/>
                </a:solidFill>
              </a:rPr>
              <a:t>头删尾插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272398" name="AutoShape 14">
            <a:hlinkClick r:id="" action="ppaction://hlinkshowjump?jump=nextslide"/>
          </p:cNvPr>
          <p:cNvSpPr/>
          <p:nvPr/>
        </p:nvSpPr>
        <p:spPr>
          <a:xfrm>
            <a:off x="8153400" y="60198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1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1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8" grpId="0"/>
      <p:bldP spid="272389" grpId="0"/>
      <p:bldP spid="272390" grpId="0"/>
      <p:bldP spid="272391" grpId="0" build="p"/>
      <p:bldP spid="272397" grpId="0"/>
      <p:bldP spid="27239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3410" name="Text Box 2"/>
          <p:cNvSpPr txBox="1"/>
          <p:nvPr/>
        </p:nvSpPr>
        <p:spPr>
          <a:xfrm>
            <a:off x="304800" y="838200"/>
            <a:ext cx="8458200" cy="1676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 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Queue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/>
              <a:t>是仅在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表尾</a:t>
            </a:r>
            <a:r>
              <a:rPr lang="zh-CN" altLang="en-US" sz="2400" b="1" dirty="0"/>
              <a:t>进行插入操作，在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表头</a:t>
            </a:r>
            <a:r>
              <a:rPr lang="zh-CN" altLang="en-US" sz="2400" b="1" dirty="0"/>
              <a:t>进行删除操作的线性表。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表尾即 </a:t>
            </a:r>
            <a:r>
              <a:rPr lang="en-US" altLang="zh-CN" sz="2400" b="1" dirty="0"/>
              <a:t>a</a:t>
            </a:r>
            <a:r>
              <a:rPr lang="en-US" altLang="zh-CN" sz="2400" b="1" baseline="-10000" dirty="0"/>
              <a:t>n </a:t>
            </a:r>
            <a:r>
              <a:rPr lang="zh-CN" altLang="en-US" sz="2400" b="1" dirty="0"/>
              <a:t>端，称为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队尾</a:t>
            </a:r>
            <a:r>
              <a:rPr lang="zh-CN" altLang="en-US" sz="2400" b="1" dirty="0">
                <a:solidFill>
                  <a:schemeClr val="accent1"/>
                </a:solidFill>
              </a:rPr>
              <a:t> </a:t>
            </a:r>
            <a:r>
              <a:rPr lang="zh-CN" altLang="en-US" sz="2400" b="1" dirty="0"/>
              <a:t>； 表头即 </a:t>
            </a:r>
            <a:r>
              <a:rPr lang="en-US" altLang="zh-CN" sz="2400" b="1" dirty="0"/>
              <a:t>a</a:t>
            </a:r>
            <a:r>
              <a:rPr lang="en-US" altLang="zh-CN" sz="2400" b="1" baseline="-12000" dirty="0"/>
              <a:t>1 </a:t>
            </a:r>
            <a:r>
              <a:rPr lang="zh-CN" altLang="en-US" sz="2400" b="1" dirty="0"/>
              <a:t>端，称为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队头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它是一种先进先出（</a:t>
            </a:r>
            <a:r>
              <a:rPr lang="zh-CN" altLang="en-US" sz="2400" b="1" dirty="0">
                <a:solidFill>
                  <a:srgbClr val="0000FF"/>
                </a:solidFill>
              </a:rPr>
              <a:t>ＦＩＦＯ</a:t>
            </a:r>
            <a:r>
              <a:rPr lang="zh-CN" altLang="en-US" sz="2400" b="1" dirty="0"/>
              <a:t>）的线性表。</a:t>
            </a:r>
            <a:endParaRPr lang="zh-CN" altLang="en-US" sz="2400" b="1" dirty="0"/>
          </a:p>
        </p:txBody>
      </p:sp>
      <p:sp>
        <p:nvSpPr>
          <p:cNvPr id="273411" name="Text Box 3"/>
          <p:cNvSpPr txBox="1"/>
          <p:nvPr/>
        </p:nvSpPr>
        <p:spPr>
          <a:xfrm>
            <a:off x="533400" y="2514600"/>
            <a:ext cx="7254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例如：队列  </a:t>
            </a:r>
            <a:r>
              <a:rPr lang="en-US" altLang="zh-CN" sz="2400" b="1" dirty="0"/>
              <a:t>Q= (a</a:t>
            </a:r>
            <a:r>
              <a:rPr lang="en-US" altLang="zh-CN" sz="2400" b="1" baseline="-12000" dirty="0"/>
              <a:t>1</a:t>
            </a:r>
            <a:r>
              <a:rPr lang="en-US" altLang="zh-CN" sz="2400" b="1" dirty="0"/>
              <a:t>  , a</a:t>
            </a:r>
            <a:r>
              <a:rPr lang="en-US" altLang="zh-CN" sz="2400" b="1" baseline="-12000" dirty="0"/>
              <a:t>2  , </a:t>
            </a:r>
            <a:r>
              <a:rPr lang="en-US" altLang="zh-CN" sz="2400" b="1" dirty="0"/>
              <a:t>a</a:t>
            </a:r>
            <a:r>
              <a:rPr lang="en-US" altLang="zh-CN" sz="2400" b="1" baseline="-12000" dirty="0"/>
              <a:t>3  , ……….,</a:t>
            </a:r>
            <a:r>
              <a:rPr lang="en-US" altLang="zh-CN" sz="2400" b="1" dirty="0"/>
              <a:t>a</a:t>
            </a:r>
            <a:r>
              <a:rPr lang="en-US" altLang="zh-CN" sz="2400" b="1" baseline="-12000" dirty="0"/>
              <a:t>n-1   ,  </a:t>
            </a:r>
            <a:r>
              <a:rPr lang="en-US" altLang="zh-CN" sz="2400" b="1" dirty="0"/>
              <a:t>a</a:t>
            </a:r>
            <a:r>
              <a:rPr lang="en-US" altLang="zh-CN" sz="2400" b="1" baseline="-12000" dirty="0"/>
              <a:t>n 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273412" name="Text Box 4"/>
          <p:cNvSpPr txBox="1"/>
          <p:nvPr/>
        </p:nvSpPr>
        <p:spPr>
          <a:xfrm>
            <a:off x="609600" y="373380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插入元素称为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入队</a:t>
            </a:r>
            <a:r>
              <a:rPr lang="zh-CN" altLang="en-US" sz="2400" b="1" dirty="0"/>
              <a:t>；删除元素称为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出队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273413" name="AutoShape 5"/>
          <p:cNvSpPr/>
          <p:nvPr/>
        </p:nvSpPr>
        <p:spPr>
          <a:xfrm>
            <a:off x="1981200" y="3276600"/>
            <a:ext cx="1143000" cy="381000"/>
          </a:xfrm>
          <a:prstGeom prst="wedgeRoundRectCallout">
            <a:avLst>
              <a:gd name="adj1" fmla="val 44028"/>
              <a:gd name="adj2" fmla="val -140000"/>
              <a:gd name="adj3" fmla="val 16667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latin typeface="Arial Narrow" panose="020B0606020202030204" pitchFamily="34" charset="0"/>
                <a:ea typeface="黑体" panose="02010609060101010101" pitchFamily="49" charset="-122"/>
              </a:rPr>
              <a:t>队头</a:t>
            </a:r>
            <a:endParaRPr lang="zh-CN" altLang="en-US" sz="2200" b="1" dirty="0"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273414" name="AutoShape 6"/>
          <p:cNvSpPr/>
          <p:nvPr/>
        </p:nvSpPr>
        <p:spPr>
          <a:xfrm>
            <a:off x="5867400" y="3276600"/>
            <a:ext cx="1066800" cy="381000"/>
          </a:xfrm>
          <a:prstGeom prst="wedgeRoundRectCallout">
            <a:avLst>
              <a:gd name="adj1" fmla="val -36755"/>
              <a:gd name="adj2" fmla="val -140000"/>
              <a:gd name="adj3" fmla="val 16667"/>
            </a:avLst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latin typeface="Arial Narrow" panose="020B0606020202030204" pitchFamily="34" charset="0"/>
                <a:ea typeface="黑体" panose="02010609060101010101" pitchFamily="49" charset="-122"/>
              </a:rPr>
              <a:t>队尾</a:t>
            </a:r>
            <a:endParaRPr lang="zh-CN" altLang="en-US" sz="2200" b="1" dirty="0"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52232" name="Rectangle 7"/>
          <p:cNvSpPr>
            <a:spLocks noGrp="1"/>
          </p:cNvSpPr>
          <p:nvPr>
            <p:ph type="title"/>
          </p:nvPr>
        </p:nvSpPr>
        <p:spPr>
          <a:xfrm>
            <a:off x="1752600" y="228600"/>
            <a:ext cx="50292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P59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对队列有更详细定义：</a:t>
            </a:r>
            <a:endParaRPr lang="zh-CN" altLang="en-US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3416" name="AutoShape 8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3417" name="Rectangle 9"/>
          <p:cNvSpPr/>
          <p:nvPr/>
        </p:nvSpPr>
        <p:spPr>
          <a:xfrm>
            <a:off x="457200" y="4419600"/>
            <a:ext cx="72390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sz="2800" b="1" dirty="0"/>
              <a:t>队列的抽象数据类型定义见教材Ｐ</a:t>
            </a:r>
            <a:r>
              <a:rPr lang="en-US" altLang="zh-CN" sz="2800" b="1" dirty="0"/>
              <a:t>59</a:t>
            </a:r>
            <a:r>
              <a:rPr lang="zh-CN" altLang="en-US" sz="2800" b="1" dirty="0"/>
              <a:t>－</a:t>
            </a:r>
            <a:r>
              <a:rPr lang="en-US" altLang="zh-CN" sz="2800" b="1" dirty="0"/>
              <a:t>60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</a:pPr>
            <a:r>
              <a:rPr lang="zh-CN" altLang="en-US" sz="2800" b="1" dirty="0"/>
              <a:t>队列的存储结构为</a:t>
            </a:r>
            <a:r>
              <a:rPr lang="zh-CN" altLang="en-US" sz="2800" b="1" dirty="0">
                <a:hlinkClick r:id="" action="ppaction://hlinkshowjump?jump=nextslide"/>
              </a:rPr>
              <a:t>链队</a:t>
            </a:r>
            <a:r>
              <a:rPr lang="zh-CN" altLang="en-US" sz="2800" b="1" dirty="0"/>
              <a:t>或</a:t>
            </a:r>
            <a:r>
              <a:rPr lang="zh-CN" altLang="en-US" sz="2800" b="1" dirty="0">
                <a:hlinkClick r:id="" action="ppaction://noaction"/>
              </a:rPr>
              <a:t>顺序队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                          </a:t>
            </a:r>
            <a:r>
              <a:rPr lang="zh-CN" altLang="en-US" sz="2400" b="1" dirty="0"/>
              <a:t>（常用循环顺序队）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73412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7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7">
                                            <p:txEl>
                                              <p:charRg st="21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7">
                                            <p:txEl>
                                              <p:charRg st="3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0" grpId="0"/>
      <p:bldP spid="273411" grpId="0"/>
      <p:bldP spid="273412" grpId="0" build="p"/>
      <p:bldP spid="273413" grpId="0" animBg="1"/>
      <p:bldP spid="273414" grpId="0" animBg="1"/>
      <p:bldP spid="273416" grpId="0" animBg="1"/>
      <p:bldP spid="27341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2667000" y="76200"/>
            <a:ext cx="2895600" cy="587375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/>
              <a:t>链队列示意图</a:t>
            </a:r>
            <a:endParaRPr lang="zh-CN" altLang="en-US" sz="3200" b="1" dirty="0"/>
          </a:p>
        </p:txBody>
      </p:sp>
      <p:sp>
        <p:nvSpPr>
          <p:cNvPr id="274435" name="AutoShape 3">
            <a:hlinkClick r:id="" action="ppaction://hlinkshowjump?jump=nextslide"/>
          </p:cNvPr>
          <p:cNvSpPr/>
          <p:nvPr/>
        </p:nvSpPr>
        <p:spPr>
          <a:xfrm>
            <a:off x="82296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4436" name="Text Box 4"/>
          <p:cNvSpPr txBox="1"/>
          <p:nvPr/>
        </p:nvSpPr>
        <p:spPr>
          <a:xfrm>
            <a:off x="304800" y="3352800"/>
            <a:ext cx="44196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讨论：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457200" lvl="0" indent="-457200" eaLnBrk="1" hangingPunct="1">
              <a:spcBef>
                <a:spcPct val="0"/>
              </a:spcBef>
              <a:buAutoNum type="circleNumDbPlain"/>
            </a:pPr>
            <a:r>
              <a:rPr lang="zh-CN" altLang="en-US" sz="2400" b="1" dirty="0"/>
              <a:t>空队列的特征？</a:t>
            </a:r>
            <a:endParaRPr lang="zh-CN" altLang="en-US" sz="2400" b="1" dirty="0">
              <a:solidFill>
                <a:srgbClr val="00FF00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52400" y="533400"/>
            <a:ext cx="8435975" cy="2616200"/>
            <a:chOff x="96" y="656"/>
            <a:chExt cx="5314" cy="1648"/>
          </a:xfrm>
        </p:grpSpPr>
        <p:sp>
          <p:nvSpPr>
            <p:cNvPr id="53286" name="Text Box 6"/>
            <p:cNvSpPr txBox="1"/>
            <p:nvPr/>
          </p:nvSpPr>
          <p:spPr>
            <a:xfrm>
              <a:off x="96" y="1008"/>
              <a:ext cx="22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Q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3287" name="Line 7"/>
            <p:cNvSpPr/>
            <p:nvPr/>
          </p:nvSpPr>
          <p:spPr>
            <a:xfrm>
              <a:off x="518" y="1207"/>
              <a:ext cx="3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3288" name="Rectangle 8"/>
            <p:cNvSpPr/>
            <p:nvPr/>
          </p:nvSpPr>
          <p:spPr>
            <a:xfrm>
              <a:off x="345" y="1096"/>
              <a:ext cx="288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400" dirty="0"/>
            </a:p>
          </p:txBody>
        </p:sp>
        <p:sp>
          <p:nvSpPr>
            <p:cNvPr id="53289" name="Line 9"/>
            <p:cNvSpPr/>
            <p:nvPr/>
          </p:nvSpPr>
          <p:spPr>
            <a:xfrm>
              <a:off x="345" y="1096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90" name="Line 10"/>
            <p:cNvSpPr/>
            <p:nvPr/>
          </p:nvSpPr>
          <p:spPr>
            <a:xfrm>
              <a:off x="345" y="1388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91" name="Line 11"/>
            <p:cNvSpPr/>
            <p:nvPr/>
          </p:nvSpPr>
          <p:spPr>
            <a:xfrm>
              <a:off x="345" y="1096"/>
              <a:ext cx="0" cy="2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92" name="Line 12"/>
            <p:cNvSpPr/>
            <p:nvPr/>
          </p:nvSpPr>
          <p:spPr>
            <a:xfrm>
              <a:off x="633" y="1096"/>
              <a:ext cx="0" cy="2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93" name="Text Box 13"/>
            <p:cNvSpPr txBox="1"/>
            <p:nvPr/>
          </p:nvSpPr>
          <p:spPr>
            <a:xfrm>
              <a:off x="4228" y="1933"/>
              <a:ext cx="6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(</a:t>
              </a:r>
              <a:r>
                <a:rPr lang="zh-CN" altLang="en-US" sz="2400" b="1" dirty="0"/>
                <a:t>队尾</a:t>
              </a:r>
              <a:r>
                <a:rPr lang="en-US" altLang="zh-CN" sz="2400" b="1" dirty="0"/>
                <a:t>)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53294" name="Text Box 14"/>
            <p:cNvSpPr txBox="1"/>
            <p:nvPr/>
          </p:nvSpPr>
          <p:spPr>
            <a:xfrm>
              <a:off x="2542" y="1920"/>
              <a:ext cx="6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(</a:t>
              </a:r>
              <a:r>
                <a:rPr lang="zh-CN" altLang="en-US" sz="2400" b="1" dirty="0"/>
                <a:t>队首</a:t>
              </a:r>
              <a:r>
                <a:rPr lang="en-US" altLang="zh-CN" sz="2400" b="1" dirty="0"/>
                <a:t>)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53295" name="Text Box 15"/>
            <p:cNvSpPr txBox="1"/>
            <p:nvPr/>
          </p:nvSpPr>
          <p:spPr>
            <a:xfrm>
              <a:off x="912" y="1200"/>
              <a:ext cx="6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front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3296" name="Rectangle 16"/>
            <p:cNvSpPr/>
            <p:nvPr/>
          </p:nvSpPr>
          <p:spPr>
            <a:xfrm>
              <a:off x="864" y="768"/>
              <a:ext cx="4546" cy="1536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3297" name="Line 17"/>
            <p:cNvSpPr/>
            <p:nvPr/>
          </p:nvSpPr>
          <p:spPr>
            <a:xfrm flipV="1">
              <a:off x="1248" y="1680"/>
              <a:ext cx="576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3298" name="Group 18"/>
            <p:cNvGrpSpPr/>
            <p:nvPr/>
          </p:nvGrpSpPr>
          <p:grpSpPr>
            <a:xfrm>
              <a:off x="1053" y="1535"/>
              <a:ext cx="288" cy="287"/>
              <a:chOff x="1783" y="1969"/>
              <a:chExt cx="288" cy="287"/>
            </a:xfrm>
          </p:grpSpPr>
          <p:sp>
            <p:nvSpPr>
              <p:cNvPr id="53340" name="Rectangle 19"/>
              <p:cNvSpPr/>
              <p:nvPr/>
            </p:nvSpPr>
            <p:spPr>
              <a:xfrm>
                <a:off x="1783" y="1969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3341" name="Line 20"/>
              <p:cNvSpPr/>
              <p:nvPr/>
            </p:nvSpPr>
            <p:spPr>
              <a:xfrm>
                <a:off x="1783" y="1969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42" name="Line 21"/>
              <p:cNvSpPr/>
              <p:nvPr/>
            </p:nvSpPr>
            <p:spPr>
              <a:xfrm>
                <a:off x="1783" y="2256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43" name="Line 22"/>
              <p:cNvSpPr/>
              <p:nvPr/>
            </p:nvSpPr>
            <p:spPr>
              <a:xfrm>
                <a:off x="1783" y="1969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44" name="Line 23"/>
              <p:cNvSpPr/>
              <p:nvPr/>
            </p:nvSpPr>
            <p:spPr>
              <a:xfrm>
                <a:off x="2071" y="1969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45" name="Oval 24"/>
              <p:cNvSpPr>
                <a:spLocks noChangeAspect="1"/>
              </p:cNvSpPr>
              <p:nvPr/>
            </p:nvSpPr>
            <p:spPr>
              <a:xfrm>
                <a:off x="1879" y="2051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3299" name="Rectangle 25"/>
            <p:cNvSpPr/>
            <p:nvPr/>
          </p:nvSpPr>
          <p:spPr>
            <a:xfrm>
              <a:off x="2705" y="1511"/>
              <a:ext cx="22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800" dirty="0"/>
            </a:p>
          </p:txBody>
        </p:sp>
        <p:grpSp>
          <p:nvGrpSpPr>
            <p:cNvPr id="53300" name="Group 26"/>
            <p:cNvGrpSpPr/>
            <p:nvPr/>
          </p:nvGrpSpPr>
          <p:grpSpPr>
            <a:xfrm>
              <a:off x="2619" y="1509"/>
              <a:ext cx="815" cy="339"/>
              <a:chOff x="2142" y="1509"/>
              <a:chExt cx="815" cy="339"/>
            </a:xfrm>
          </p:grpSpPr>
          <p:sp>
            <p:nvSpPr>
              <p:cNvPr id="53333" name="Rectangle 27"/>
              <p:cNvSpPr/>
              <p:nvPr/>
            </p:nvSpPr>
            <p:spPr>
              <a:xfrm>
                <a:off x="2142" y="1511"/>
                <a:ext cx="335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r>
                  <a:rPr lang="en-US" altLang="zh-CN" sz="2400" dirty="0"/>
                  <a:t>a1</a:t>
                </a:r>
                <a:endParaRPr lang="en-US" altLang="zh-CN" sz="2400" dirty="0"/>
              </a:p>
            </p:txBody>
          </p:sp>
          <p:sp>
            <p:nvSpPr>
              <p:cNvPr id="53334" name="Line 28"/>
              <p:cNvSpPr/>
              <p:nvPr/>
            </p:nvSpPr>
            <p:spPr>
              <a:xfrm flipV="1">
                <a:off x="2142" y="1509"/>
                <a:ext cx="527" cy="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5" name="Line 29"/>
              <p:cNvSpPr/>
              <p:nvPr/>
            </p:nvSpPr>
            <p:spPr>
              <a:xfrm flipV="1">
                <a:off x="2142" y="1837"/>
                <a:ext cx="527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6" name="Line 30"/>
              <p:cNvSpPr/>
              <p:nvPr/>
            </p:nvSpPr>
            <p:spPr>
              <a:xfrm>
                <a:off x="2142" y="1511"/>
                <a:ext cx="0" cy="32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7" name="Line 31"/>
              <p:cNvSpPr/>
              <p:nvPr/>
            </p:nvSpPr>
            <p:spPr>
              <a:xfrm>
                <a:off x="2477" y="1522"/>
                <a:ext cx="0" cy="32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8" name="Line 32"/>
              <p:cNvSpPr/>
              <p:nvPr/>
            </p:nvSpPr>
            <p:spPr>
              <a:xfrm>
                <a:off x="2669" y="1517"/>
                <a:ext cx="0" cy="30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9" name="Line 33"/>
              <p:cNvSpPr/>
              <p:nvPr/>
            </p:nvSpPr>
            <p:spPr>
              <a:xfrm>
                <a:off x="2540" y="1655"/>
                <a:ext cx="41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grpSp>
          <p:nvGrpSpPr>
            <p:cNvPr id="53301" name="Group 34"/>
            <p:cNvGrpSpPr/>
            <p:nvPr/>
          </p:nvGrpSpPr>
          <p:grpSpPr>
            <a:xfrm>
              <a:off x="3448" y="1515"/>
              <a:ext cx="815" cy="339"/>
              <a:chOff x="2142" y="1509"/>
              <a:chExt cx="815" cy="339"/>
            </a:xfrm>
          </p:grpSpPr>
          <p:sp>
            <p:nvSpPr>
              <p:cNvPr id="53326" name="Rectangle 35"/>
              <p:cNvSpPr/>
              <p:nvPr/>
            </p:nvSpPr>
            <p:spPr>
              <a:xfrm>
                <a:off x="2142" y="1511"/>
                <a:ext cx="335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r>
                  <a:rPr lang="en-US" altLang="zh-CN" sz="2400" dirty="0"/>
                  <a:t>a2</a:t>
                </a:r>
                <a:endParaRPr lang="en-US" altLang="zh-CN" sz="2400" dirty="0"/>
              </a:p>
            </p:txBody>
          </p:sp>
          <p:sp>
            <p:nvSpPr>
              <p:cNvPr id="53327" name="Line 36"/>
              <p:cNvSpPr/>
              <p:nvPr/>
            </p:nvSpPr>
            <p:spPr>
              <a:xfrm flipV="1">
                <a:off x="2142" y="1509"/>
                <a:ext cx="527" cy="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8" name="Line 37"/>
              <p:cNvSpPr/>
              <p:nvPr/>
            </p:nvSpPr>
            <p:spPr>
              <a:xfrm flipV="1">
                <a:off x="2142" y="1837"/>
                <a:ext cx="527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9" name="Line 38"/>
              <p:cNvSpPr/>
              <p:nvPr/>
            </p:nvSpPr>
            <p:spPr>
              <a:xfrm>
                <a:off x="2142" y="1511"/>
                <a:ext cx="0" cy="32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0" name="Line 39"/>
              <p:cNvSpPr/>
              <p:nvPr/>
            </p:nvSpPr>
            <p:spPr>
              <a:xfrm>
                <a:off x="2477" y="1522"/>
                <a:ext cx="0" cy="32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1" name="Line 40"/>
              <p:cNvSpPr/>
              <p:nvPr/>
            </p:nvSpPr>
            <p:spPr>
              <a:xfrm>
                <a:off x="2669" y="1517"/>
                <a:ext cx="0" cy="30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32" name="Line 41"/>
              <p:cNvSpPr/>
              <p:nvPr/>
            </p:nvSpPr>
            <p:spPr>
              <a:xfrm>
                <a:off x="2540" y="1655"/>
                <a:ext cx="41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sp>
          <p:nvSpPr>
            <p:cNvPr id="53302" name="Rectangle 42"/>
            <p:cNvSpPr/>
            <p:nvPr/>
          </p:nvSpPr>
          <p:spPr>
            <a:xfrm>
              <a:off x="1822" y="1511"/>
              <a:ext cx="335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400" dirty="0"/>
            </a:p>
          </p:txBody>
        </p:sp>
        <p:sp>
          <p:nvSpPr>
            <p:cNvPr id="53303" name="Line 43"/>
            <p:cNvSpPr/>
            <p:nvPr/>
          </p:nvSpPr>
          <p:spPr>
            <a:xfrm flipV="1">
              <a:off x="1822" y="1509"/>
              <a:ext cx="527" cy="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04" name="Line 44"/>
            <p:cNvSpPr/>
            <p:nvPr/>
          </p:nvSpPr>
          <p:spPr>
            <a:xfrm flipV="1">
              <a:off x="1822" y="1837"/>
              <a:ext cx="527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05" name="Line 45"/>
            <p:cNvSpPr/>
            <p:nvPr/>
          </p:nvSpPr>
          <p:spPr>
            <a:xfrm>
              <a:off x="1822" y="1511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06" name="Line 46"/>
            <p:cNvSpPr/>
            <p:nvPr/>
          </p:nvSpPr>
          <p:spPr>
            <a:xfrm>
              <a:off x="2157" y="1522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07" name="Line 47"/>
            <p:cNvSpPr/>
            <p:nvPr/>
          </p:nvSpPr>
          <p:spPr>
            <a:xfrm>
              <a:off x="2349" y="1517"/>
              <a:ext cx="0" cy="30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08" name="Line 48"/>
            <p:cNvSpPr/>
            <p:nvPr/>
          </p:nvSpPr>
          <p:spPr>
            <a:xfrm>
              <a:off x="2220" y="1655"/>
              <a:ext cx="4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3309" name="Group 49"/>
            <p:cNvGrpSpPr/>
            <p:nvPr/>
          </p:nvGrpSpPr>
          <p:grpSpPr>
            <a:xfrm>
              <a:off x="4253" y="1513"/>
              <a:ext cx="575" cy="355"/>
              <a:chOff x="4253" y="1523"/>
              <a:chExt cx="575" cy="355"/>
            </a:xfrm>
          </p:grpSpPr>
          <p:sp>
            <p:nvSpPr>
              <p:cNvPr id="53319" name="Rectangle 50"/>
              <p:cNvSpPr/>
              <p:nvPr/>
            </p:nvSpPr>
            <p:spPr>
              <a:xfrm>
                <a:off x="4253" y="1525"/>
                <a:ext cx="335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r>
                  <a:rPr lang="en-US" altLang="zh-CN" sz="2400" dirty="0"/>
                  <a:t>a3</a:t>
                </a:r>
                <a:endParaRPr lang="en-US" altLang="zh-CN" sz="2400" dirty="0"/>
              </a:p>
            </p:txBody>
          </p:sp>
          <p:sp>
            <p:nvSpPr>
              <p:cNvPr id="53320" name="Line 51"/>
              <p:cNvSpPr/>
              <p:nvPr/>
            </p:nvSpPr>
            <p:spPr>
              <a:xfrm flipV="1">
                <a:off x="4253" y="1523"/>
                <a:ext cx="527" cy="2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1" name="Line 52"/>
              <p:cNvSpPr/>
              <p:nvPr/>
            </p:nvSpPr>
            <p:spPr>
              <a:xfrm flipV="1">
                <a:off x="4253" y="1851"/>
                <a:ext cx="527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2" name="Line 53"/>
              <p:cNvSpPr/>
              <p:nvPr/>
            </p:nvSpPr>
            <p:spPr>
              <a:xfrm>
                <a:off x="4253" y="1525"/>
                <a:ext cx="0" cy="32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3" name="Line 54"/>
              <p:cNvSpPr/>
              <p:nvPr/>
            </p:nvSpPr>
            <p:spPr>
              <a:xfrm>
                <a:off x="4588" y="1536"/>
                <a:ext cx="0" cy="32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4" name="Line 55"/>
              <p:cNvSpPr/>
              <p:nvPr/>
            </p:nvSpPr>
            <p:spPr>
              <a:xfrm>
                <a:off x="4780" y="1531"/>
                <a:ext cx="0" cy="30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325" name="Text Box 56"/>
              <p:cNvSpPr txBox="1"/>
              <p:nvPr/>
            </p:nvSpPr>
            <p:spPr>
              <a:xfrm>
                <a:off x="4541" y="1551"/>
                <a:ext cx="28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dirty="0">
                    <a:ea typeface="楷体_GB2312"/>
                  </a:rPr>
                  <a:t>^</a:t>
                </a:r>
                <a:endParaRPr lang="en-US" altLang="zh-CN" sz="2800" b="1" dirty="0">
                  <a:ea typeface="楷体_GB2312"/>
                </a:endParaRPr>
              </a:p>
            </p:txBody>
          </p:sp>
        </p:grpSp>
        <p:sp>
          <p:nvSpPr>
            <p:cNvPr id="53310" name="Text Box 57"/>
            <p:cNvSpPr txBox="1"/>
            <p:nvPr/>
          </p:nvSpPr>
          <p:spPr>
            <a:xfrm>
              <a:off x="4691" y="656"/>
              <a:ext cx="5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rear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3311" name="Line 58"/>
            <p:cNvSpPr/>
            <p:nvPr/>
          </p:nvSpPr>
          <p:spPr>
            <a:xfrm flipH="1">
              <a:off x="4368" y="1104"/>
              <a:ext cx="576" cy="384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3312" name="Rectangle 59"/>
            <p:cNvSpPr/>
            <p:nvPr/>
          </p:nvSpPr>
          <p:spPr>
            <a:xfrm>
              <a:off x="4797" y="1009"/>
              <a:ext cx="28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400" dirty="0"/>
            </a:p>
          </p:txBody>
        </p:sp>
        <p:sp>
          <p:nvSpPr>
            <p:cNvPr id="53313" name="Line 60"/>
            <p:cNvSpPr/>
            <p:nvPr/>
          </p:nvSpPr>
          <p:spPr>
            <a:xfrm>
              <a:off x="4797" y="1009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14" name="Line 61"/>
            <p:cNvSpPr/>
            <p:nvPr/>
          </p:nvSpPr>
          <p:spPr>
            <a:xfrm>
              <a:off x="4797" y="1296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15" name="Line 62"/>
            <p:cNvSpPr/>
            <p:nvPr/>
          </p:nvSpPr>
          <p:spPr>
            <a:xfrm>
              <a:off x="4797" y="1009"/>
              <a:ext cx="0" cy="2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16" name="Line 63"/>
            <p:cNvSpPr/>
            <p:nvPr/>
          </p:nvSpPr>
          <p:spPr>
            <a:xfrm>
              <a:off x="5085" y="1009"/>
              <a:ext cx="0" cy="2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317" name="Oval 64"/>
            <p:cNvSpPr>
              <a:spLocks noChangeAspect="1"/>
            </p:cNvSpPr>
            <p:nvPr/>
          </p:nvSpPr>
          <p:spPr>
            <a:xfrm>
              <a:off x="4893" y="1091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3318" name="Text Box 65"/>
            <p:cNvSpPr txBox="1"/>
            <p:nvPr/>
          </p:nvSpPr>
          <p:spPr>
            <a:xfrm>
              <a:off x="2544" y="1061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p</a:t>
              </a:r>
              <a:endParaRPr lang="en-US" altLang="zh-CN" sz="2800" b="1" dirty="0">
                <a:ea typeface="楷体_GB2312"/>
              </a:endParaRPr>
            </a:p>
          </p:txBody>
        </p:sp>
      </p:grpSp>
      <p:grpSp>
        <p:nvGrpSpPr>
          <p:cNvPr id="7" name="Group 66"/>
          <p:cNvGrpSpPr/>
          <p:nvPr/>
        </p:nvGrpSpPr>
        <p:grpSpPr>
          <a:xfrm>
            <a:off x="6324600" y="3352800"/>
            <a:ext cx="2209800" cy="1012825"/>
            <a:chOff x="3635" y="2534"/>
            <a:chExt cx="1837" cy="638"/>
          </a:xfrm>
        </p:grpSpPr>
        <p:sp>
          <p:nvSpPr>
            <p:cNvPr id="53261" name="Text Box 67"/>
            <p:cNvSpPr txBox="1"/>
            <p:nvPr/>
          </p:nvSpPr>
          <p:spPr>
            <a:xfrm>
              <a:off x="3635" y="2544"/>
              <a:ext cx="6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front</a:t>
              </a:r>
              <a:endParaRPr lang="en-US" altLang="zh-CN" sz="2000" b="1" dirty="0">
                <a:ea typeface="楷体_GB2312"/>
              </a:endParaRPr>
            </a:p>
          </p:txBody>
        </p:sp>
        <p:sp>
          <p:nvSpPr>
            <p:cNvPr id="53262" name="Line 68"/>
            <p:cNvSpPr/>
            <p:nvPr/>
          </p:nvSpPr>
          <p:spPr>
            <a:xfrm>
              <a:off x="4128" y="2943"/>
              <a:ext cx="240" cy="1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3263" name="Group 69"/>
            <p:cNvGrpSpPr/>
            <p:nvPr/>
          </p:nvGrpSpPr>
          <p:grpSpPr>
            <a:xfrm>
              <a:off x="3840" y="2811"/>
              <a:ext cx="288" cy="197"/>
              <a:chOff x="1783" y="1969"/>
              <a:chExt cx="288" cy="287"/>
            </a:xfrm>
          </p:grpSpPr>
          <p:sp>
            <p:nvSpPr>
              <p:cNvPr id="53280" name="Rectangle 70"/>
              <p:cNvSpPr/>
              <p:nvPr/>
            </p:nvSpPr>
            <p:spPr>
              <a:xfrm>
                <a:off x="1783" y="1969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3281" name="Line 71"/>
              <p:cNvSpPr/>
              <p:nvPr/>
            </p:nvSpPr>
            <p:spPr>
              <a:xfrm>
                <a:off x="1783" y="1969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82" name="Line 72"/>
              <p:cNvSpPr/>
              <p:nvPr/>
            </p:nvSpPr>
            <p:spPr>
              <a:xfrm>
                <a:off x="1783" y="2256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83" name="Line 73"/>
              <p:cNvSpPr/>
              <p:nvPr/>
            </p:nvSpPr>
            <p:spPr>
              <a:xfrm>
                <a:off x="1783" y="1969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84" name="Line 74"/>
              <p:cNvSpPr/>
              <p:nvPr/>
            </p:nvSpPr>
            <p:spPr>
              <a:xfrm>
                <a:off x="2071" y="1969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85" name="Oval 75"/>
              <p:cNvSpPr>
                <a:spLocks noChangeAspect="1"/>
              </p:cNvSpPr>
              <p:nvPr/>
            </p:nvSpPr>
            <p:spPr>
              <a:xfrm>
                <a:off x="1879" y="2051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3264" name="Rectangle 76"/>
            <p:cNvSpPr/>
            <p:nvPr/>
          </p:nvSpPr>
          <p:spPr>
            <a:xfrm>
              <a:off x="4368" y="2845"/>
              <a:ext cx="335" cy="22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400" dirty="0"/>
            </a:p>
          </p:txBody>
        </p:sp>
        <p:sp>
          <p:nvSpPr>
            <p:cNvPr id="53265" name="Line 77"/>
            <p:cNvSpPr/>
            <p:nvPr/>
          </p:nvSpPr>
          <p:spPr>
            <a:xfrm flipV="1">
              <a:off x="4368" y="2844"/>
              <a:ext cx="527" cy="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66" name="Line 78"/>
            <p:cNvSpPr/>
            <p:nvPr/>
          </p:nvSpPr>
          <p:spPr>
            <a:xfrm flipV="1">
              <a:off x="4368" y="3069"/>
              <a:ext cx="527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67" name="Line 79"/>
            <p:cNvSpPr/>
            <p:nvPr/>
          </p:nvSpPr>
          <p:spPr>
            <a:xfrm>
              <a:off x="4368" y="2845"/>
              <a:ext cx="0" cy="22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68" name="Line 80"/>
            <p:cNvSpPr/>
            <p:nvPr/>
          </p:nvSpPr>
          <p:spPr>
            <a:xfrm>
              <a:off x="4703" y="2853"/>
              <a:ext cx="0" cy="2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69" name="Line 81"/>
            <p:cNvSpPr/>
            <p:nvPr/>
          </p:nvSpPr>
          <p:spPr>
            <a:xfrm>
              <a:off x="4895" y="2849"/>
              <a:ext cx="0" cy="20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3270" name="Rectangle 82"/>
            <p:cNvSpPr/>
            <p:nvPr/>
          </p:nvSpPr>
          <p:spPr>
            <a:xfrm>
              <a:off x="4656" y="2845"/>
              <a:ext cx="3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^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3271" name="Text Box 83"/>
            <p:cNvSpPr txBox="1"/>
            <p:nvPr/>
          </p:nvSpPr>
          <p:spPr>
            <a:xfrm>
              <a:off x="4931" y="2534"/>
              <a:ext cx="54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rear</a:t>
              </a:r>
              <a:endParaRPr lang="en-US" altLang="zh-CN" sz="2000" b="1" dirty="0">
                <a:ea typeface="楷体_GB2312"/>
              </a:endParaRPr>
            </a:p>
          </p:txBody>
        </p:sp>
        <p:grpSp>
          <p:nvGrpSpPr>
            <p:cNvPr id="53272" name="Group 84"/>
            <p:cNvGrpSpPr/>
            <p:nvPr/>
          </p:nvGrpSpPr>
          <p:grpSpPr>
            <a:xfrm>
              <a:off x="4608" y="2580"/>
              <a:ext cx="288" cy="197"/>
              <a:chOff x="3936" y="3120"/>
              <a:chExt cx="288" cy="287"/>
            </a:xfrm>
          </p:grpSpPr>
          <p:sp>
            <p:nvSpPr>
              <p:cNvPr id="53274" name="Rectangle 85"/>
              <p:cNvSpPr/>
              <p:nvPr/>
            </p:nvSpPr>
            <p:spPr>
              <a:xfrm>
                <a:off x="3936" y="3120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3275" name="Line 86"/>
              <p:cNvSpPr/>
              <p:nvPr/>
            </p:nvSpPr>
            <p:spPr>
              <a:xfrm>
                <a:off x="3936" y="3120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76" name="Line 87"/>
              <p:cNvSpPr/>
              <p:nvPr/>
            </p:nvSpPr>
            <p:spPr>
              <a:xfrm>
                <a:off x="3936" y="3407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77" name="Line 88"/>
              <p:cNvSpPr/>
              <p:nvPr/>
            </p:nvSpPr>
            <p:spPr>
              <a:xfrm>
                <a:off x="3936" y="3120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78" name="Line 89"/>
              <p:cNvSpPr/>
              <p:nvPr/>
            </p:nvSpPr>
            <p:spPr>
              <a:xfrm>
                <a:off x="4224" y="3120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3279" name="Oval 90"/>
              <p:cNvSpPr>
                <a:spLocks noChangeAspect="1"/>
              </p:cNvSpPr>
              <p:nvPr/>
            </p:nvSpPr>
            <p:spPr>
              <a:xfrm>
                <a:off x="4032" y="3202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3273" name="Line 91"/>
            <p:cNvSpPr/>
            <p:nvPr/>
          </p:nvSpPr>
          <p:spPr>
            <a:xfrm flipH="1">
              <a:off x="4560" y="2646"/>
              <a:ext cx="192" cy="198"/>
            </a:xfrm>
            <a:prstGeom prst="line">
              <a:avLst/>
            </a:prstGeom>
            <a:ln w="3175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274524" name="Rectangle 92"/>
          <p:cNvSpPr/>
          <p:nvPr/>
        </p:nvSpPr>
        <p:spPr>
          <a:xfrm>
            <a:off x="304800" y="4800600"/>
            <a:ext cx="5867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③ </a:t>
            </a:r>
            <a:r>
              <a:rPr lang="zh-CN" altLang="en-US" sz="2400" b="1" dirty="0"/>
              <a:t>怎样实现入队和出队操作？</a:t>
            </a:r>
            <a:endParaRPr lang="zh-CN" altLang="en-US" sz="2400" b="1" dirty="0"/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入队（尾部插入）：</a:t>
            </a:r>
            <a:r>
              <a:rPr lang="en-US" altLang="zh-CN" sz="2400" b="1" dirty="0">
                <a:solidFill>
                  <a:srgbClr val="0000FF"/>
                </a:solidFill>
              </a:rPr>
              <a:t>rear-&gt;next=S; rear=S;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出队（头部删除）：</a:t>
            </a:r>
            <a:r>
              <a:rPr lang="en-US" altLang="zh-CN" sz="2400" b="1" dirty="0">
                <a:solidFill>
                  <a:srgbClr val="0000FF"/>
                </a:solidFill>
              </a:rPr>
              <a:t>front-&gt;next=p-&gt;next;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74526" name="AutoShape 94">
            <a:hlinkClick r:id="" action="ppaction://hlinkshowjump?jump=previousslide"/>
          </p:cNvPr>
          <p:cNvSpPr/>
          <p:nvPr/>
        </p:nvSpPr>
        <p:spPr>
          <a:xfrm flipH="1">
            <a:off x="76962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4527" name="Rectangle 95"/>
          <p:cNvSpPr/>
          <p:nvPr/>
        </p:nvSpPr>
        <p:spPr>
          <a:xfrm>
            <a:off x="304800" y="4343400"/>
            <a:ext cx="2397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② </a:t>
            </a:r>
            <a:r>
              <a:rPr lang="zh-CN" altLang="en-US" sz="2400" b="1" dirty="0"/>
              <a:t>队列会满吗？</a:t>
            </a:r>
            <a:endParaRPr lang="zh-CN" altLang="en-US" sz="2400" b="1" dirty="0">
              <a:solidFill>
                <a:srgbClr val="00FF00"/>
              </a:solidFill>
            </a:endParaRPr>
          </a:p>
        </p:txBody>
      </p:sp>
      <p:sp>
        <p:nvSpPr>
          <p:cNvPr id="274528" name="Rectangle 96"/>
          <p:cNvSpPr/>
          <p:nvPr/>
        </p:nvSpPr>
        <p:spPr>
          <a:xfrm>
            <a:off x="2971800" y="3810000"/>
            <a:ext cx="17526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front==rear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74529" name="Rectangle 97"/>
          <p:cNvSpPr/>
          <p:nvPr/>
        </p:nvSpPr>
        <p:spPr>
          <a:xfrm>
            <a:off x="2514600" y="4360863"/>
            <a:ext cx="59737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一般不会，因为删除时有</a:t>
            </a:r>
            <a:r>
              <a:rPr lang="en-US" altLang="zh-CN" sz="2000" b="1" dirty="0">
                <a:solidFill>
                  <a:srgbClr val="0000FF"/>
                </a:solidFill>
              </a:rPr>
              <a:t>free</a:t>
            </a:r>
            <a:r>
              <a:rPr lang="zh-CN" altLang="en-US" sz="2000" b="1" dirty="0">
                <a:solidFill>
                  <a:srgbClr val="0000FF"/>
                </a:solidFill>
              </a:rPr>
              <a:t>动作。除非内存不足！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charRg st="4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4">
                                            <p:txEl>
                                              <p:charRg st="1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524">
                                            <p:txEl>
                                              <p:charRg st="4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4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4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animBg="1"/>
      <p:bldP spid="274436" grpId="0" build="p"/>
      <p:bldP spid="274524" grpId="0" build="p"/>
      <p:bldP spid="274526" grpId="0" animBg="1"/>
      <p:bldP spid="274527" grpId="0"/>
      <p:bldP spid="274528" grpId="0"/>
      <p:bldP spid="2745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54275" name="Group 4"/>
          <p:cNvGrpSpPr/>
          <p:nvPr/>
        </p:nvGrpSpPr>
        <p:grpSpPr>
          <a:xfrm>
            <a:off x="1219200" y="1758950"/>
            <a:ext cx="5486400" cy="900113"/>
            <a:chOff x="480" y="1488"/>
            <a:chExt cx="3456" cy="567"/>
          </a:xfrm>
        </p:grpSpPr>
        <p:grpSp>
          <p:nvGrpSpPr>
            <p:cNvPr id="54353" name="Group 5"/>
            <p:cNvGrpSpPr/>
            <p:nvPr/>
          </p:nvGrpSpPr>
          <p:grpSpPr>
            <a:xfrm>
              <a:off x="2160" y="1488"/>
              <a:ext cx="528" cy="384"/>
              <a:chOff x="4464" y="2208"/>
              <a:chExt cx="528" cy="384"/>
            </a:xfrm>
          </p:grpSpPr>
          <p:sp>
            <p:nvSpPr>
              <p:cNvPr id="54372" name="Rectangle 6"/>
              <p:cNvSpPr/>
              <p:nvPr/>
            </p:nvSpPr>
            <p:spPr>
              <a:xfrm>
                <a:off x="4464" y="2304"/>
                <a:ext cx="528" cy="288"/>
              </a:xfrm>
              <a:prstGeom prst="rect">
                <a:avLst/>
              </a:prstGeom>
              <a:solidFill>
                <a:srgbClr val="FFFF66"/>
              </a:solidFill>
              <a:ln w="9525" cap="flat" cmpd="sng"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</p:spPr>
            <p:txBody>
              <a:bodyPr wrap="none" anchor="ctr" anchorCtr="0">
                <a:flatTx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4373" name="Line 7"/>
              <p:cNvSpPr/>
              <p:nvPr/>
            </p:nvSpPr>
            <p:spPr>
              <a:xfrm>
                <a:off x="4800" y="230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74" name="Line 8"/>
              <p:cNvSpPr/>
              <p:nvPr/>
            </p:nvSpPr>
            <p:spPr>
              <a:xfrm flipV="1">
                <a:off x="4800" y="2208"/>
                <a:ext cx="96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4354" name="Rectangle 9"/>
            <p:cNvSpPr/>
            <p:nvPr/>
          </p:nvSpPr>
          <p:spPr>
            <a:xfrm>
              <a:off x="1296" y="1584"/>
              <a:ext cx="528" cy="288"/>
            </a:xfrm>
            <a:prstGeom prst="rect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55" name="Text Box 10"/>
            <p:cNvSpPr txBox="1"/>
            <p:nvPr/>
          </p:nvSpPr>
          <p:spPr>
            <a:xfrm>
              <a:off x="480" y="1488"/>
              <a:ext cx="6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front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56" name="Line 11"/>
            <p:cNvSpPr/>
            <p:nvPr/>
          </p:nvSpPr>
          <p:spPr>
            <a:xfrm>
              <a:off x="1056" y="1680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57" name="Line 12"/>
            <p:cNvSpPr/>
            <p:nvPr/>
          </p:nvSpPr>
          <p:spPr>
            <a:xfrm>
              <a:off x="1632" y="158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8" name="Line 13"/>
            <p:cNvSpPr/>
            <p:nvPr/>
          </p:nvSpPr>
          <p:spPr>
            <a:xfrm flipV="1">
              <a:off x="1632" y="148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9" name="Line 14"/>
            <p:cNvSpPr/>
            <p:nvPr/>
          </p:nvSpPr>
          <p:spPr>
            <a:xfrm>
              <a:off x="1728" y="1680"/>
              <a:ext cx="3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60" name="Line 15"/>
            <p:cNvSpPr/>
            <p:nvPr/>
          </p:nvSpPr>
          <p:spPr>
            <a:xfrm>
              <a:off x="1056" y="2016"/>
              <a:ext cx="105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61" name="Text Box 16"/>
            <p:cNvSpPr txBox="1"/>
            <p:nvPr/>
          </p:nvSpPr>
          <p:spPr>
            <a:xfrm>
              <a:off x="480" y="1728"/>
              <a:ext cx="5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rear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62" name="Line 17"/>
            <p:cNvSpPr/>
            <p:nvPr/>
          </p:nvSpPr>
          <p:spPr>
            <a:xfrm flipH="1">
              <a:off x="1392" y="1584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3" name="Line 18"/>
            <p:cNvSpPr/>
            <p:nvPr/>
          </p:nvSpPr>
          <p:spPr>
            <a:xfrm flipH="1">
              <a:off x="1488" y="1632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4" name="Line 19"/>
            <p:cNvSpPr/>
            <p:nvPr/>
          </p:nvSpPr>
          <p:spPr>
            <a:xfrm flipH="1">
              <a:off x="1392" y="1584"/>
              <a:ext cx="24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5" name="Line 20"/>
            <p:cNvSpPr/>
            <p:nvPr/>
          </p:nvSpPr>
          <p:spPr>
            <a:xfrm flipH="1">
              <a:off x="1536" y="1680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6" name="Line 21"/>
            <p:cNvSpPr/>
            <p:nvPr/>
          </p:nvSpPr>
          <p:spPr>
            <a:xfrm flipH="1">
              <a:off x="1392" y="158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67" name="Line 22"/>
            <p:cNvSpPr/>
            <p:nvPr/>
          </p:nvSpPr>
          <p:spPr>
            <a:xfrm flipH="1" flipV="1">
              <a:off x="912" y="1920"/>
              <a:ext cx="144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68" name="Line 23"/>
            <p:cNvSpPr/>
            <p:nvPr/>
          </p:nvSpPr>
          <p:spPr>
            <a:xfrm flipV="1">
              <a:off x="2112" y="1872"/>
              <a:ext cx="144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4369" name="Text Box 24"/>
            <p:cNvSpPr txBox="1"/>
            <p:nvPr/>
          </p:nvSpPr>
          <p:spPr>
            <a:xfrm>
              <a:off x="2208" y="158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x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70" name="Text Box 25"/>
            <p:cNvSpPr txBox="1"/>
            <p:nvPr/>
          </p:nvSpPr>
          <p:spPr>
            <a:xfrm>
              <a:off x="2496" y="158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^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4371" name="Text Box 26"/>
            <p:cNvSpPr txBox="1"/>
            <p:nvPr/>
          </p:nvSpPr>
          <p:spPr>
            <a:xfrm>
              <a:off x="2928" y="1488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元素</a:t>
              </a:r>
              <a:r>
                <a:rPr lang="en-US" altLang="zh-CN" sz="2400" b="1" dirty="0">
                  <a:solidFill>
                    <a:srgbClr val="0000FF"/>
                  </a:solidFill>
                  <a:ea typeface="楷体_GB2312"/>
                </a:rPr>
                <a:t>x</a:t>
              </a: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入队</a:t>
              </a:r>
              <a:endParaRPr lang="zh-CN" altLang="en-US" sz="2400" b="1" dirty="0">
                <a:solidFill>
                  <a:srgbClr val="0000FF"/>
                </a:solidFill>
                <a:ea typeface="楷体_GB2312"/>
              </a:endParaRPr>
            </a:p>
          </p:txBody>
        </p:sp>
      </p:grpSp>
      <p:grpSp>
        <p:nvGrpSpPr>
          <p:cNvPr id="54276" name="Group 27"/>
          <p:cNvGrpSpPr/>
          <p:nvPr/>
        </p:nvGrpSpPr>
        <p:grpSpPr>
          <a:xfrm>
            <a:off x="1219200" y="3092450"/>
            <a:ext cx="6477000" cy="976313"/>
            <a:chOff x="480" y="2208"/>
            <a:chExt cx="4080" cy="615"/>
          </a:xfrm>
        </p:grpSpPr>
        <p:sp>
          <p:nvSpPr>
            <p:cNvPr id="54326" name="Rectangle 28"/>
            <p:cNvSpPr/>
            <p:nvPr/>
          </p:nvSpPr>
          <p:spPr>
            <a:xfrm>
              <a:off x="1296" y="2304"/>
              <a:ext cx="528" cy="288"/>
            </a:xfrm>
            <a:prstGeom prst="rect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27" name="Text Box 29"/>
            <p:cNvSpPr txBox="1"/>
            <p:nvPr/>
          </p:nvSpPr>
          <p:spPr>
            <a:xfrm>
              <a:off x="480" y="2208"/>
              <a:ext cx="6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front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28" name="Line 30"/>
            <p:cNvSpPr/>
            <p:nvPr/>
          </p:nvSpPr>
          <p:spPr>
            <a:xfrm>
              <a:off x="1056" y="2400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29" name="Line 31"/>
            <p:cNvSpPr/>
            <p:nvPr/>
          </p:nvSpPr>
          <p:spPr>
            <a:xfrm>
              <a:off x="163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0" name="Line 32"/>
            <p:cNvSpPr/>
            <p:nvPr/>
          </p:nvSpPr>
          <p:spPr>
            <a:xfrm flipV="1">
              <a:off x="1632" y="220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1" name="Rectangle 33"/>
            <p:cNvSpPr/>
            <p:nvPr/>
          </p:nvSpPr>
          <p:spPr>
            <a:xfrm>
              <a:off x="2112" y="2304"/>
              <a:ext cx="528" cy="288"/>
            </a:xfrm>
            <a:prstGeom prst="rect">
              <a:avLst/>
            </a:prstGeom>
            <a:solidFill>
              <a:srgbClr val="FFFF6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32" name="Line 34"/>
            <p:cNvSpPr/>
            <p:nvPr/>
          </p:nvSpPr>
          <p:spPr>
            <a:xfrm>
              <a:off x="1728" y="2400"/>
              <a:ext cx="3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33" name="Line 35"/>
            <p:cNvSpPr/>
            <p:nvPr/>
          </p:nvSpPr>
          <p:spPr>
            <a:xfrm>
              <a:off x="244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4" name="Line 36"/>
            <p:cNvSpPr/>
            <p:nvPr/>
          </p:nvSpPr>
          <p:spPr>
            <a:xfrm flipV="1">
              <a:off x="2448" y="220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5" name="Rectangle 37"/>
            <p:cNvSpPr/>
            <p:nvPr/>
          </p:nvSpPr>
          <p:spPr>
            <a:xfrm>
              <a:off x="2928" y="2304"/>
              <a:ext cx="528" cy="288"/>
            </a:xfrm>
            <a:prstGeom prst="rect">
              <a:avLst/>
            </a:prstGeom>
            <a:solidFill>
              <a:srgbClr val="FFFF6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36" name="Line 38"/>
            <p:cNvSpPr/>
            <p:nvPr/>
          </p:nvSpPr>
          <p:spPr>
            <a:xfrm>
              <a:off x="2688" y="2400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37" name="Line 39"/>
            <p:cNvSpPr/>
            <p:nvPr/>
          </p:nvSpPr>
          <p:spPr>
            <a:xfrm>
              <a:off x="326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8" name="Line 40"/>
            <p:cNvSpPr/>
            <p:nvPr/>
          </p:nvSpPr>
          <p:spPr>
            <a:xfrm flipV="1">
              <a:off x="3264" y="220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9" name="Line 41"/>
            <p:cNvSpPr/>
            <p:nvPr/>
          </p:nvSpPr>
          <p:spPr>
            <a:xfrm>
              <a:off x="960" y="2688"/>
              <a:ext cx="144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40" name="Text Box 42"/>
            <p:cNvSpPr txBox="1"/>
            <p:nvPr/>
          </p:nvSpPr>
          <p:spPr>
            <a:xfrm>
              <a:off x="528" y="2496"/>
              <a:ext cx="52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rear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41" name="Line 43"/>
            <p:cNvSpPr/>
            <p:nvPr/>
          </p:nvSpPr>
          <p:spPr>
            <a:xfrm flipH="1">
              <a:off x="1392" y="2304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2" name="Line 44"/>
            <p:cNvSpPr/>
            <p:nvPr/>
          </p:nvSpPr>
          <p:spPr>
            <a:xfrm flipH="1">
              <a:off x="1488" y="2352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3" name="Line 45"/>
            <p:cNvSpPr/>
            <p:nvPr/>
          </p:nvSpPr>
          <p:spPr>
            <a:xfrm flipH="1">
              <a:off x="1392" y="2304"/>
              <a:ext cx="24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4" name="Line 46"/>
            <p:cNvSpPr/>
            <p:nvPr/>
          </p:nvSpPr>
          <p:spPr>
            <a:xfrm flipH="1">
              <a:off x="1536" y="2400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5" name="Line 47"/>
            <p:cNvSpPr/>
            <p:nvPr/>
          </p:nvSpPr>
          <p:spPr>
            <a:xfrm flipH="1">
              <a:off x="1392" y="230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6" name="Line 48"/>
            <p:cNvSpPr/>
            <p:nvPr/>
          </p:nvSpPr>
          <p:spPr>
            <a:xfrm>
              <a:off x="1104" y="2784"/>
              <a:ext cx="192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47" name="Line 49"/>
            <p:cNvSpPr/>
            <p:nvPr/>
          </p:nvSpPr>
          <p:spPr>
            <a:xfrm flipV="1">
              <a:off x="3024" y="2592"/>
              <a:ext cx="96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48" name="Text Box 50"/>
            <p:cNvSpPr txBox="1"/>
            <p:nvPr/>
          </p:nvSpPr>
          <p:spPr>
            <a:xfrm>
              <a:off x="2160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x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49" name="Text Box 51"/>
            <p:cNvSpPr txBox="1"/>
            <p:nvPr/>
          </p:nvSpPr>
          <p:spPr>
            <a:xfrm>
              <a:off x="2448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4350" name="Text Box 52"/>
            <p:cNvSpPr txBox="1"/>
            <p:nvPr/>
          </p:nvSpPr>
          <p:spPr>
            <a:xfrm>
              <a:off x="2976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y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51" name="Text Box 53"/>
            <p:cNvSpPr txBox="1"/>
            <p:nvPr/>
          </p:nvSpPr>
          <p:spPr>
            <a:xfrm>
              <a:off x="3264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^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4352" name="Text Box 54"/>
            <p:cNvSpPr txBox="1"/>
            <p:nvPr/>
          </p:nvSpPr>
          <p:spPr>
            <a:xfrm>
              <a:off x="3552" y="2256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元素</a:t>
              </a:r>
              <a:r>
                <a:rPr lang="en-US" altLang="zh-CN" sz="2400" b="1" dirty="0">
                  <a:solidFill>
                    <a:srgbClr val="0000FF"/>
                  </a:solidFill>
                  <a:ea typeface="楷体_GB2312"/>
                </a:rPr>
                <a:t>y</a:t>
              </a: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入队</a:t>
              </a:r>
              <a:endParaRPr lang="zh-CN" altLang="en-US" sz="2400" b="1" dirty="0">
                <a:solidFill>
                  <a:srgbClr val="0000FF"/>
                </a:solidFill>
                <a:ea typeface="楷体_GB2312"/>
              </a:endParaRPr>
            </a:p>
          </p:txBody>
        </p:sp>
      </p:grpSp>
      <p:grpSp>
        <p:nvGrpSpPr>
          <p:cNvPr id="54277" name="Group 55"/>
          <p:cNvGrpSpPr/>
          <p:nvPr/>
        </p:nvGrpSpPr>
        <p:grpSpPr>
          <a:xfrm>
            <a:off x="1219200" y="4572000"/>
            <a:ext cx="6477000" cy="1143000"/>
            <a:chOff x="768" y="2880"/>
            <a:chExt cx="4080" cy="720"/>
          </a:xfrm>
        </p:grpSpPr>
        <p:sp>
          <p:nvSpPr>
            <p:cNvPr id="54295" name="Rectangle 56"/>
            <p:cNvSpPr/>
            <p:nvPr/>
          </p:nvSpPr>
          <p:spPr>
            <a:xfrm>
              <a:off x="1584" y="3072"/>
              <a:ext cx="528" cy="288"/>
            </a:xfrm>
            <a:prstGeom prst="rect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296" name="Text Box 57"/>
            <p:cNvSpPr txBox="1"/>
            <p:nvPr/>
          </p:nvSpPr>
          <p:spPr>
            <a:xfrm>
              <a:off x="768" y="2976"/>
              <a:ext cx="6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front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297" name="Line 58"/>
            <p:cNvSpPr/>
            <p:nvPr/>
          </p:nvSpPr>
          <p:spPr>
            <a:xfrm>
              <a:off x="1344" y="3168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298" name="Line 59"/>
            <p:cNvSpPr/>
            <p:nvPr/>
          </p:nvSpPr>
          <p:spPr>
            <a:xfrm>
              <a:off x="1920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9" name="Line 60"/>
            <p:cNvSpPr/>
            <p:nvPr/>
          </p:nvSpPr>
          <p:spPr>
            <a:xfrm flipV="1">
              <a:off x="1920" y="2976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0" name="Rectangle 61"/>
            <p:cNvSpPr/>
            <p:nvPr/>
          </p:nvSpPr>
          <p:spPr>
            <a:xfrm>
              <a:off x="2400" y="3072"/>
              <a:ext cx="528" cy="288"/>
            </a:xfrm>
            <a:prstGeom prst="rect">
              <a:avLst/>
            </a:prstGeom>
            <a:solidFill>
              <a:srgbClr val="FFFF6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01" name="Line 62"/>
            <p:cNvSpPr/>
            <p:nvPr/>
          </p:nvSpPr>
          <p:spPr>
            <a:xfrm>
              <a:off x="2016" y="3168"/>
              <a:ext cx="3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02" name="Line 63"/>
            <p:cNvSpPr/>
            <p:nvPr/>
          </p:nvSpPr>
          <p:spPr>
            <a:xfrm>
              <a:off x="2736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3" name="Line 64"/>
            <p:cNvSpPr/>
            <p:nvPr/>
          </p:nvSpPr>
          <p:spPr>
            <a:xfrm flipV="1">
              <a:off x="2736" y="2976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4" name="Rectangle 65"/>
            <p:cNvSpPr/>
            <p:nvPr/>
          </p:nvSpPr>
          <p:spPr>
            <a:xfrm>
              <a:off x="3216" y="3072"/>
              <a:ext cx="528" cy="288"/>
            </a:xfrm>
            <a:prstGeom prst="rect">
              <a:avLst/>
            </a:prstGeom>
            <a:solidFill>
              <a:srgbClr val="FFFF66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66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54305" name="Line 66"/>
            <p:cNvSpPr/>
            <p:nvPr/>
          </p:nvSpPr>
          <p:spPr>
            <a:xfrm>
              <a:off x="2976" y="3168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06" name="Line 67"/>
            <p:cNvSpPr/>
            <p:nvPr/>
          </p:nvSpPr>
          <p:spPr>
            <a:xfrm>
              <a:off x="3552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7" name="Line 68"/>
            <p:cNvSpPr/>
            <p:nvPr/>
          </p:nvSpPr>
          <p:spPr>
            <a:xfrm flipV="1">
              <a:off x="3552" y="2976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8" name="Line 69"/>
            <p:cNvSpPr/>
            <p:nvPr/>
          </p:nvSpPr>
          <p:spPr>
            <a:xfrm>
              <a:off x="1248" y="3504"/>
              <a:ext cx="288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09" name="Text Box 70"/>
            <p:cNvSpPr txBox="1"/>
            <p:nvPr/>
          </p:nvSpPr>
          <p:spPr>
            <a:xfrm>
              <a:off x="768" y="3264"/>
              <a:ext cx="5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FF"/>
                  </a:solidFill>
                </a:rPr>
                <a:t>rear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10" name="Line 71"/>
            <p:cNvSpPr/>
            <p:nvPr/>
          </p:nvSpPr>
          <p:spPr>
            <a:xfrm flipH="1">
              <a:off x="1680" y="3072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1" name="Line 72"/>
            <p:cNvSpPr/>
            <p:nvPr/>
          </p:nvSpPr>
          <p:spPr>
            <a:xfrm flipH="1">
              <a:off x="1776" y="3120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2" name="Line 73"/>
            <p:cNvSpPr/>
            <p:nvPr/>
          </p:nvSpPr>
          <p:spPr>
            <a:xfrm flipH="1">
              <a:off x="1680" y="3072"/>
              <a:ext cx="24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3" name="Line 74"/>
            <p:cNvSpPr/>
            <p:nvPr/>
          </p:nvSpPr>
          <p:spPr>
            <a:xfrm flipH="1">
              <a:off x="1824" y="316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4" name="Line 75"/>
            <p:cNvSpPr/>
            <p:nvPr/>
          </p:nvSpPr>
          <p:spPr>
            <a:xfrm flipH="1">
              <a:off x="1680" y="3072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5" name="Text Box 76"/>
            <p:cNvSpPr txBox="1"/>
            <p:nvPr/>
          </p:nvSpPr>
          <p:spPr>
            <a:xfrm>
              <a:off x="2496" y="307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x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16" name="Text Box 77"/>
            <p:cNvSpPr txBox="1"/>
            <p:nvPr/>
          </p:nvSpPr>
          <p:spPr>
            <a:xfrm>
              <a:off x="3552" y="307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^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4317" name="Text Box 78"/>
            <p:cNvSpPr txBox="1"/>
            <p:nvPr/>
          </p:nvSpPr>
          <p:spPr>
            <a:xfrm>
              <a:off x="2736" y="3072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^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4318" name="Text Box 79"/>
            <p:cNvSpPr txBox="1"/>
            <p:nvPr/>
          </p:nvSpPr>
          <p:spPr>
            <a:xfrm>
              <a:off x="3264" y="307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y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54319" name="Line 80"/>
            <p:cNvSpPr/>
            <p:nvPr/>
          </p:nvSpPr>
          <p:spPr>
            <a:xfrm>
              <a:off x="1536" y="3600"/>
              <a:ext cx="18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20" name="Line 81"/>
            <p:cNvSpPr/>
            <p:nvPr/>
          </p:nvSpPr>
          <p:spPr>
            <a:xfrm flipV="1">
              <a:off x="3408" y="3312"/>
              <a:ext cx="48" cy="28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21" name="Text Box 82"/>
            <p:cNvSpPr txBox="1"/>
            <p:nvPr/>
          </p:nvSpPr>
          <p:spPr>
            <a:xfrm>
              <a:off x="3840" y="2976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元素</a:t>
              </a:r>
              <a:r>
                <a:rPr lang="en-US" altLang="zh-CN" sz="2400" b="1" dirty="0">
                  <a:solidFill>
                    <a:srgbClr val="0000FF"/>
                  </a:solidFill>
                  <a:ea typeface="楷体_GB2312"/>
                </a:rPr>
                <a:t>x</a:t>
              </a:r>
              <a:r>
                <a:rPr lang="zh-CN" altLang="en-US" sz="2400" b="1" dirty="0">
                  <a:solidFill>
                    <a:srgbClr val="0000FF"/>
                  </a:solidFill>
                  <a:ea typeface="楷体_GB2312"/>
                </a:rPr>
                <a:t>出队</a:t>
              </a:r>
              <a:endParaRPr lang="zh-CN" altLang="en-US" sz="2400" b="1" dirty="0">
                <a:solidFill>
                  <a:srgbClr val="0000FF"/>
                </a:solidFill>
                <a:ea typeface="楷体_GB2312"/>
              </a:endParaRPr>
            </a:p>
          </p:txBody>
        </p:sp>
        <p:sp>
          <p:nvSpPr>
            <p:cNvPr id="54322" name="Line 83"/>
            <p:cNvSpPr/>
            <p:nvPr/>
          </p:nvSpPr>
          <p:spPr>
            <a:xfrm flipV="1">
              <a:off x="2016" y="2880"/>
              <a:ext cx="144" cy="288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23" name="Line 84"/>
            <p:cNvSpPr/>
            <p:nvPr/>
          </p:nvSpPr>
          <p:spPr>
            <a:xfrm>
              <a:off x="2160" y="2880"/>
              <a:ext cx="129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sm" len="med"/>
            </a:ln>
          </p:spPr>
        </p:sp>
        <p:sp>
          <p:nvSpPr>
            <p:cNvPr id="54324" name="Line 85"/>
            <p:cNvSpPr/>
            <p:nvPr/>
          </p:nvSpPr>
          <p:spPr>
            <a:xfrm>
              <a:off x="3456" y="2880"/>
              <a:ext cx="0" cy="144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25" name="Line 86"/>
            <p:cNvSpPr/>
            <p:nvPr/>
          </p:nvSpPr>
          <p:spPr>
            <a:xfrm>
              <a:off x="2256" y="3120"/>
              <a:ext cx="48" cy="144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sm" len="med"/>
            </a:ln>
          </p:spPr>
        </p:sp>
      </p:grpSp>
      <p:grpSp>
        <p:nvGrpSpPr>
          <p:cNvPr id="54278" name="Group 87"/>
          <p:cNvGrpSpPr/>
          <p:nvPr/>
        </p:nvGrpSpPr>
        <p:grpSpPr>
          <a:xfrm>
            <a:off x="1295400" y="539750"/>
            <a:ext cx="3733800" cy="900113"/>
            <a:chOff x="768" y="624"/>
            <a:chExt cx="2352" cy="567"/>
          </a:xfrm>
        </p:grpSpPr>
        <p:grpSp>
          <p:nvGrpSpPr>
            <p:cNvPr id="54279" name="Group 88"/>
            <p:cNvGrpSpPr/>
            <p:nvPr/>
          </p:nvGrpSpPr>
          <p:grpSpPr>
            <a:xfrm>
              <a:off x="768" y="624"/>
              <a:ext cx="2352" cy="567"/>
              <a:chOff x="480" y="864"/>
              <a:chExt cx="2352" cy="567"/>
            </a:xfrm>
          </p:grpSpPr>
          <p:sp>
            <p:nvSpPr>
              <p:cNvPr id="54281" name="Rectangle 89"/>
              <p:cNvSpPr/>
              <p:nvPr/>
            </p:nvSpPr>
            <p:spPr>
              <a:xfrm>
                <a:off x="1325" y="960"/>
                <a:ext cx="547" cy="288"/>
              </a:xfrm>
              <a:prstGeom prst="rect">
                <a:avLst/>
              </a:prstGeom>
              <a:noFill/>
              <a:ln w="952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8000"/>
                </a:extrusionClr>
              </a:sp3d>
            </p:spPr>
            <p:txBody>
              <a:bodyPr wrap="none" anchor="ctr" anchorCtr="0">
                <a:flatTx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4282" name="Text Box 90"/>
              <p:cNvSpPr txBox="1"/>
              <p:nvPr/>
            </p:nvSpPr>
            <p:spPr>
              <a:xfrm>
                <a:off x="480" y="864"/>
                <a:ext cx="60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0000FF"/>
                    </a:solidFill>
                  </a:rPr>
                  <a:t>front</a:t>
                </a:r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54283" name="Line 91"/>
              <p:cNvSpPr/>
              <p:nvPr/>
            </p:nvSpPr>
            <p:spPr>
              <a:xfrm>
                <a:off x="1077" y="1056"/>
                <a:ext cx="248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med"/>
              </a:ln>
            </p:spPr>
          </p:sp>
          <p:sp>
            <p:nvSpPr>
              <p:cNvPr id="54284" name="Line 92"/>
              <p:cNvSpPr/>
              <p:nvPr/>
            </p:nvSpPr>
            <p:spPr>
              <a:xfrm>
                <a:off x="1673" y="960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85" name="Line 93"/>
              <p:cNvSpPr/>
              <p:nvPr/>
            </p:nvSpPr>
            <p:spPr>
              <a:xfrm flipV="1">
                <a:off x="1673" y="864"/>
                <a:ext cx="10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86" name="Text Box 94"/>
              <p:cNvSpPr txBox="1"/>
              <p:nvPr/>
            </p:nvSpPr>
            <p:spPr>
              <a:xfrm>
                <a:off x="480" y="1104"/>
                <a:ext cx="5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0000FF"/>
                    </a:solidFill>
                  </a:rPr>
                  <a:t>rear</a:t>
                </a:r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54287" name="Line 95"/>
              <p:cNvSpPr/>
              <p:nvPr/>
            </p:nvSpPr>
            <p:spPr>
              <a:xfrm flipH="1">
                <a:off x="1425" y="960"/>
                <a:ext cx="149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88" name="Line 96"/>
              <p:cNvSpPr/>
              <p:nvPr/>
            </p:nvSpPr>
            <p:spPr>
              <a:xfrm flipH="1">
                <a:off x="1524" y="1008"/>
                <a:ext cx="149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89" name="Line 97"/>
              <p:cNvSpPr/>
              <p:nvPr/>
            </p:nvSpPr>
            <p:spPr>
              <a:xfrm flipH="1">
                <a:off x="1425" y="960"/>
                <a:ext cx="248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0" name="Line 98"/>
              <p:cNvSpPr/>
              <p:nvPr/>
            </p:nvSpPr>
            <p:spPr>
              <a:xfrm flipH="1">
                <a:off x="1574" y="1056"/>
                <a:ext cx="99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1" name="Line 99"/>
              <p:cNvSpPr/>
              <p:nvPr/>
            </p:nvSpPr>
            <p:spPr>
              <a:xfrm flipH="1">
                <a:off x="1425" y="960"/>
                <a:ext cx="99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2" name="Text Box 100"/>
              <p:cNvSpPr txBox="1"/>
              <p:nvPr/>
            </p:nvSpPr>
            <p:spPr>
              <a:xfrm>
                <a:off x="1584" y="1104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/>
                  <a:t>^</a:t>
                </a:r>
                <a:endParaRPr lang="en-US" altLang="zh-CN" sz="2400" b="1" dirty="0"/>
              </a:p>
            </p:txBody>
          </p:sp>
          <p:sp>
            <p:nvSpPr>
              <p:cNvPr id="54293" name="Line 101"/>
              <p:cNvSpPr/>
              <p:nvPr/>
            </p:nvSpPr>
            <p:spPr>
              <a:xfrm flipV="1">
                <a:off x="1056" y="1200"/>
                <a:ext cx="240" cy="9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med"/>
              </a:ln>
            </p:spPr>
          </p:sp>
          <p:sp>
            <p:nvSpPr>
              <p:cNvPr id="54294" name="Text Box 102"/>
              <p:cNvSpPr txBox="1"/>
              <p:nvPr/>
            </p:nvSpPr>
            <p:spPr>
              <a:xfrm>
                <a:off x="2112" y="912"/>
                <a:ext cx="7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zh-CN" altLang="en-US" sz="2400" b="1" dirty="0">
                    <a:solidFill>
                      <a:srgbClr val="003366"/>
                    </a:solidFill>
                    <a:ea typeface="楷体_GB2312"/>
                  </a:rPr>
                  <a:t>空队列</a:t>
                </a:r>
                <a:endParaRPr lang="zh-CN" altLang="en-US" sz="2400" b="1" dirty="0">
                  <a:solidFill>
                    <a:srgbClr val="003366"/>
                  </a:solidFill>
                  <a:ea typeface="楷体_GB2312"/>
                </a:endParaRPr>
              </a:p>
            </p:txBody>
          </p:sp>
        </p:grpSp>
        <p:sp>
          <p:nvSpPr>
            <p:cNvPr id="54280" name="Rectangle 103"/>
            <p:cNvSpPr/>
            <p:nvPr/>
          </p:nvSpPr>
          <p:spPr>
            <a:xfrm>
              <a:off x="1968" y="672"/>
              <a:ext cx="2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3366"/>
                  </a:solidFill>
                </a:rPr>
                <a:t>^</a:t>
              </a:r>
              <a:endParaRPr lang="en-US" altLang="zh-CN" sz="2400" b="1" dirty="0">
                <a:solidFill>
                  <a:srgbClr val="003366"/>
                </a:solidFill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3352800" y="0"/>
            <a:ext cx="3276600" cy="457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顺序队示意图</a:t>
            </a:r>
            <a:endParaRPr lang="zh-CN" altLang="en-US" sz="3200" b="1" dirty="0"/>
          </a:p>
        </p:txBody>
      </p:sp>
      <p:grpSp>
        <p:nvGrpSpPr>
          <p:cNvPr id="2" name="Group 3"/>
          <p:cNvGrpSpPr/>
          <p:nvPr/>
        </p:nvGrpSpPr>
        <p:grpSpPr>
          <a:xfrm>
            <a:off x="2498725" y="820738"/>
            <a:ext cx="1082675" cy="550862"/>
            <a:chOff x="1190" y="432"/>
            <a:chExt cx="682" cy="347"/>
          </a:xfrm>
        </p:grpSpPr>
        <p:sp>
          <p:nvSpPr>
            <p:cNvPr id="55353" name="Text Box 4"/>
            <p:cNvSpPr txBox="1"/>
            <p:nvPr/>
          </p:nvSpPr>
          <p:spPr>
            <a:xfrm>
              <a:off x="1190" y="432"/>
              <a:ext cx="1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楷体_GB2312"/>
                </a:rPr>
                <a:t>Q</a:t>
              </a:r>
              <a:endParaRPr lang="en-US" altLang="zh-CN" sz="2400" b="1" dirty="0">
                <a:ea typeface="楷体_GB2312"/>
              </a:endParaRPr>
            </a:p>
          </p:txBody>
        </p:sp>
        <p:sp>
          <p:nvSpPr>
            <p:cNvPr id="55354" name="Line 5"/>
            <p:cNvSpPr/>
            <p:nvPr/>
          </p:nvSpPr>
          <p:spPr>
            <a:xfrm>
              <a:off x="1536" y="62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5355" name="Group 6"/>
            <p:cNvGrpSpPr/>
            <p:nvPr/>
          </p:nvGrpSpPr>
          <p:grpSpPr>
            <a:xfrm>
              <a:off x="1405" y="492"/>
              <a:ext cx="250" cy="287"/>
              <a:chOff x="269" y="2941"/>
              <a:chExt cx="288" cy="287"/>
            </a:xfrm>
          </p:grpSpPr>
          <p:sp>
            <p:nvSpPr>
              <p:cNvPr id="55356" name="Rectangle 7"/>
              <p:cNvSpPr/>
              <p:nvPr/>
            </p:nvSpPr>
            <p:spPr>
              <a:xfrm>
                <a:off x="269" y="2941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5357" name="Line 8"/>
              <p:cNvSpPr/>
              <p:nvPr/>
            </p:nvSpPr>
            <p:spPr>
              <a:xfrm>
                <a:off x="269" y="2941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58" name="Line 9"/>
              <p:cNvSpPr/>
              <p:nvPr/>
            </p:nvSpPr>
            <p:spPr>
              <a:xfrm>
                <a:off x="269" y="3228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59" name="Line 10"/>
              <p:cNvSpPr/>
              <p:nvPr/>
            </p:nvSpPr>
            <p:spPr>
              <a:xfrm>
                <a:off x="269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60" name="Line 11"/>
              <p:cNvSpPr/>
              <p:nvPr/>
            </p:nvSpPr>
            <p:spPr>
              <a:xfrm>
                <a:off x="557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61" name="Oval 12"/>
              <p:cNvSpPr>
                <a:spLocks noChangeAspect="1"/>
              </p:cNvSpPr>
              <p:nvPr/>
            </p:nvSpPr>
            <p:spPr>
              <a:xfrm>
                <a:off x="365" y="302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75469" name="Text Box 13"/>
          <p:cNvSpPr txBox="1"/>
          <p:nvPr/>
        </p:nvSpPr>
        <p:spPr>
          <a:xfrm>
            <a:off x="7532688" y="3429000"/>
            <a:ext cx="99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(</a:t>
            </a:r>
            <a:r>
              <a:rPr lang="zh-CN" altLang="en-US" sz="2400" b="1" dirty="0"/>
              <a:t>队尾</a:t>
            </a:r>
            <a:r>
              <a:rPr lang="en-US" altLang="zh-CN" sz="2400" b="1" dirty="0"/>
              <a:t>)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275470" name="Text Box 14"/>
          <p:cNvSpPr txBox="1"/>
          <p:nvPr/>
        </p:nvSpPr>
        <p:spPr>
          <a:xfrm>
            <a:off x="7456488" y="2133600"/>
            <a:ext cx="99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(</a:t>
            </a:r>
            <a:r>
              <a:rPr lang="zh-CN" altLang="en-US" sz="2400" b="1" dirty="0"/>
              <a:t>队首</a:t>
            </a:r>
            <a:r>
              <a:rPr lang="en-US" altLang="zh-CN" sz="2400" b="1" dirty="0"/>
              <a:t>)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275471" name="Rectangle 15"/>
          <p:cNvSpPr/>
          <p:nvPr/>
        </p:nvSpPr>
        <p:spPr>
          <a:xfrm>
            <a:off x="3649663" y="533400"/>
            <a:ext cx="5265737" cy="4638675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3649663" y="1066800"/>
            <a:ext cx="1905000" cy="1219200"/>
            <a:chOff x="1584" y="1344"/>
            <a:chExt cx="1200" cy="768"/>
          </a:xfrm>
        </p:grpSpPr>
        <p:sp>
          <p:nvSpPr>
            <p:cNvPr id="55344" name="Text Box 17"/>
            <p:cNvSpPr txBox="1"/>
            <p:nvPr/>
          </p:nvSpPr>
          <p:spPr>
            <a:xfrm>
              <a:off x="1584" y="1344"/>
              <a:ext cx="6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front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5345" name="Line 18"/>
            <p:cNvSpPr/>
            <p:nvPr/>
          </p:nvSpPr>
          <p:spPr>
            <a:xfrm>
              <a:off x="1922" y="1792"/>
              <a:ext cx="862" cy="32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5346" name="Group 19"/>
            <p:cNvGrpSpPr/>
            <p:nvPr/>
          </p:nvGrpSpPr>
          <p:grpSpPr>
            <a:xfrm>
              <a:off x="1778" y="1632"/>
              <a:ext cx="288" cy="287"/>
              <a:chOff x="269" y="2941"/>
              <a:chExt cx="288" cy="287"/>
            </a:xfrm>
          </p:grpSpPr>
          <p:sp>
            <p:nvSpPr>
              <p:cNvPr id="55347" name="Rectangle 20"/>
              <p:cNvSpPr/>
              <p:nvPr/>
            </p:nvSpPr>
            <p:spPr>
              <a:xfrm>
                <a:off x="269" y="2941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5348" name="Line 21"/>
              <p:cNvSpPr/>
              <p:nvPr/>
            </p:nvSpPr>
            <p:spPr>
              <a:xfrm>
                <a:off x="269" y="2941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49" name="Line 22"/>
              <p:cNvSpPr/>
              <p:nvPr/>
            </p:nvSpPr>
            <p:spPr>
              <a:xfrm>
                <a:off x="269" y="3228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50" name="Line 23"/>
              <p:cNvSpPr/>
              <p:nvPr/>
            </p:nvSpPr>
            <p:spPr>
              <a:xfrm>
                <a:off x="269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51" name="Line 24"/>
              <p:cNvSpPr/>
              <p:nvPr/>
            </p:nvSpPr>
            <p:spPr>
              <a:xfrm>
                <a:off x="557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52" name="Oval 25"/>
              <p:cNvSpPr>
                <a:spLocks noChangeAspect="1"/>
              </p:cNvSpPr>
              <p:nvPr/>
            </p:nvSpPr>
            <p:spPr>
              <a:xfrm>
                <a:off x="365" y="302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75482" name="AutoShape 26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6" name="Group 27"/>
          <p:cNvGrpSpPr/>
          <p:nvPr/>
        </p:nvGrpSpPr>
        <p:grpSpPr>
          <a:xfrm>
            <a:off x="5249863" y="752475"/>
            <a:ext cx="2228850" cy="4048125"/>
            <a:chOff x="2592" y="1146"/>
            <a:chExt cx="1404" cy="2550"/>
          </a:xfrm>
        </p:grpSpPr>
        <p:sp>
          <p:nvSpPr>
            <p:cNvPr id="55326" name="Rectangle 28"/>
            <p:cNvSpPr/>
            <p:nvPr/>
          </p:nvSpPr>
          <p:spPr>
            <a:xfrm>
              <a:off x="2928" y="1968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1</a:t>
              </a:r>
              <a:endParaRPr lang="en-US" altLang="zh-CN" sz="2400" dirty="0"/>
            </a:p>
          </p:txBody>
        </p:sp>
        <p:sp>
          <p:nvSpPr>
            <p:cNvPr id="55327" name="Rectangle 29"/>
            <p:cNvSpPr/>
            <p:nvPr/>
          </p:nvSpPr>
          <p:spPr>
            <a:xfrm>
              <a:off x="2928" y="2256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2</a:t>
              </a:r>
              <a:endParaRPr lang="en-US" altLang="zh-CN" sz="2400" dirty="0"/>
            </a:p>
          </p:txBody>
        </p:sp>
        <p:sp>
          <p:nvSpPr>
            <p:cNvPr id="55328" name="Rectangle 30"/>
            <p:cNvSpPr/>
            <p:nvPr/>
          </p:nvSpPr>
          <p:spPr>
            <a:xfrm>
              <a:off x="2919" y="2556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dirty="0"/>
                <a:t> a</a:t>
              </a:r>
              <a:r>
                <a:rPr lang="en-US" altLang="zh-CN" sz="2400" baseline="-10000" dirty="0"/>
                <a:t>3</a:t>
              </a:r>
              <a:endParaRPr lang="en-US" altLang="zh-CN" sz="2400" baseline="-10000" dirty="0"/>
            </a:p>
          </p:txBody>
        </p:sp>
        <p:sp>
          <p:nvSpPr>
            <p:cNvPr id="55329" name="Line 31"/>
            <p:cNvSpPr/>
            <p:nvPr/>
          </p:nvSpPr>
          <p:spPr>
            <a:xfrm>
              <a:off x="2919" y="1440"/>
              <a:ext cx="105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0" name="Line 32"/>
            <p:cNvSpPr/>
            <p:nvPr/>
          </p:nvSpPr>
          <p:spPr>
            <a:xfrm>
              <a:off x="2919" y="2006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1" name="Line 33"/>
            <p:cNvSpPr/>
            <p:nvPr/>
          </p:nvSpPr>
          <p:spPr>
            <a:xfrm>
              <a:off x="2919" y="2556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2" name="Line 34"/>
            <p:cNvSpPr/>
            <p:nvPr/>
          </p:nvSpPr>
          <p:spPr>
            <a:xfrm>
              <a:off x="2919" y="2843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3" name="Line 35"/>
            <p:cNvSpPr/>
            <p:nvPr/>
          </p:nvSpPr>
          <p:spPr>
            <a:xfrm>
              <a:off x="2928" y="3399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4" name="Line 36"/>
            <p:cNvSpPr/>
            <p:nvPr/>
          </p:nvSpPr>
          <p:spPr>
            <a:xfrm>
              <a:off x="2919" y="3696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37"/>
            <p:cNvSpPr/>
            <p:nvPr/>
          </p:nvSpPr>
          <p:spPr>
            <a:xfrm>
              <a:off x="2928" y="1440"/>
              <a:ext cx="0" cy="22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6" name="Line 38"/>
            <p:cNvSpPr/>
            <p:nvPr/>
          </p:nvSpPr>
          <p:spPr>
            <a:xfrm>
              <a:off x="3984" y="1440"/>
              <a:ext cx="0" cy="22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Rectangle 39"/>
            <p:cNvSpPr/>
            <p:nvPr/>
          </p:nvSpPr>
          <p:spPr>
            <a:xfrm>
              <a:off x="3057" y="1146"/>
              <a:ext cx="4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data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55338" name="Rectangle 40"/>
            <p:cNvSpPr/>
            <p:nvPr/>
          </p:nvSpPr>
          <p:spPr>
            <a:xfrm>
              <a:off x="2928" y="2832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 a</a:t>
              </a:r>
              <a:r>
                <a:rPr lang="en-US" altLang="zh-CN" sz="2400" b="1" baseline="-10000" dirty="0"/>
                <a:t>4</a:t>
              </a:r>
              <a:endParaRPr lang="en-US" altLang="zh-CN" sz="2400" b="1" dirty="0"/>
            </a:p>
          </p:txBody>
        </p:sp>
        <p:sp>
          <p:nvSpPr>
            <p:cNvPr id="55339" name="Line 41"/>
            <p:cNvSpPr/>
            <p:nvPr/>
          </p:nvSpPr>
          <p:spPr>
            <a:xfrm>
              <a:off x="2924" y="2283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0" name="Line 42"/>
            <p:cNvSpPr/>
            <p:nvPr/>
          </p:nvSpPr>
          <p:spPr>
            <a:xfrm>
              <a:off x="2912" y="1706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1" name="Rectangle 43"/>
            <p:cNvSpPr/>
            <p:nvPr/>
          </p:nvSpPr>
          <p:spPr>
            <a:xfrm>
              <a:off x="2940" y="1456"/>
              <a:ext cx="10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endParaRPr lang="zh-CN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55342" name="Text Box 44"/>
            <p:cNvSpPr txBox="1"/>
            <p:nvPr/>
          </p:nvSpPr>
          <p:spPr>
            <a:xfrm>
              <a:off x="2592" y="1411"/>
              <a:ext cx="330" cy="228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4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0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4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4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1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1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1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.</a:t>
              </a:r>
              <a:endParaRPr lang="en-US" altLang="zh-CN" sz="2000" b="1" dirty="0">
                <a:ea typeface="楷体_GB231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ea typeface="楷体_GB2312"/>
                </a:rPr>
                <a:t>99</a:t>
              </a:r>
              <a:endParaRPr lang="en-US" altLang="zh-CN" sz="2000" b="1" dirty="0">
                <a:ea typeface="楷体_GB2312"/>
              </a:endParaRPr>
            </a:p>
          </p:txBody>
        </p:sp>
        <p:sp>
          <p:nvSpPr>
            <p:cNvPr id="55343" name="Line 45"/>
            <p:cNvSpPr/>
            <p:nvPr/>
          </p:nvSpPr>
          <p:spPr>
            <a:xfrm>
              <a:off x="2928" y="3120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46"/>
          <p:cNvGrpSpPr/>
          <p:nvPr/>
        </p:nvGrpSpPr>
        <p:grpSpPr>
          <a:xfrm>
            <a:off x="3802063" y="3505200"/>
            <a:ext cx="1912937" cy="912813"/>
            <a:chOff x="2395" y="2208"/>
            <a:chExt cx="1205" cy="575"/>
          </a:xfrm>
        </p:grpSpPr>
        <p:sp>
          <p:nvSpPr>
            <p:cNvPr id="55317" name="Text Box 47"/>
            <p:cNvSpPr txBox="1"/>
            <p:nvPr/>
          </p:nvSpPr>
          <p:spPr>
            <a:xfrm>
              <a:off x="2395" y="2208"/>
              <a:ext cx="6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ea typeface="楷体_GB2312"/>
                </a:rPr>
                <a:t>rear</a:t>
              </a:r>
              <a:endParaRPr lang="en-US" altLang="zh-CN" sz="2800" b="1" dirty="0">
                <a:ea typeface="楷体_GB2312"/>
              </a:endParaRPr>
            </a:p>
          </p:txBody>
        </p:sp>
        <p:sp>
          <p:nvSpPr>
            <p:cNvPr id="55318" name="Line 48"/>
            <p:cNvSpPr/>
            <p:nvPr/>
          </p:nvSpPr>
          <p:spPr>
            <a:xfrm>
              <a:off x="2736" y="2592"/>
              <a:ext cx="864" cy="0"/>
            </a:xfrm>
            <a:prstGeom prst="line">
              <a:avLst/>
            </a:prstGeom>
            <a:ln w="25400" cap="flat" cmpd="sng">
              <a:solidFill>
                <a:srgbClr val="00FF00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55319" name="Group 49"/>
            <p:cNvGrpSpPr/>
            <p:nvPr/>
          </p:nvGrpSpPr>
          <p:grpSpPr>
            <a:xfrm>
              <a:off x="2589" y="2496"/>
              <a:ext cx="288" cy="287"/>
              <a:chOff x="269" y="2941"/>
              <a:chExt cx="288" cy="287"/>
            </a:xfrm>
          </p:grpSpPr>
          <p:sp>
            <p:nvSpPr>
              <p:cNvPr id="55320" name="Rectangle 50"/>
              <p:cNvSpPr/>
              <p:nvPr/>
            </p:nvSpPr>
            <p:spPr>
              <a:xfrm>
                <a:off x="269" y="2941"/>
                <a:ext cx="288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/>
              </a:p>
            </p:txBody>
          </p:sp>
          <p:sp>
            <p:nvSpPr>
              <p:cNvPr id="55321" name="Line 51"/>
              <p:cNvSpPr/>
              <p:nvPr/>
            </p:nvSpPr>
            <p:spPr>
              <a:xfrm>
                <a:off x="269" y="2941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22" name="Line 52"/>
              <p:cNvSpPr/>
              <p:nvPr/>
            </p:nvSpPr>
            <p:spPr>
              <a:xfrm>
                <a:off x="269" y="3228"/>
                <a:ext cx="28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23" name="Line 53"/>
              <p:cNvSpPr/>
              <p:nvPr/>
            </p:nvSpPr>
            <p:spPr>
              <a:xfrm>
                <a:off x="269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24" name="Line 54"/>
              <p:cNvSpPr/>
              <p:nvPr/>
            </p:nvSpPr>
            <p:spPr>
              <a:xfrm>
                <a:off x="557" y="2941"/>
                <a:ext cx="0" cy="287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5325" name="Oval 55"/>
              <p:cNvSpPr>
                <a:spLocks noChangeAspect="1"/>
              </p:cNvSpPr>
              <p:nvPr/>
            </p:nvSpPr>
            <p:spPr>
              <a:xfrm>
                <a:off x="365" y="302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75512" name="Rectangle 56"/>
          <p:cNvSpPr/>
          <p:nvPr/>
        </p:nvSpPr>
        <p:spPr>
          <a:xfrm>
            <a:off x="0" y="2590800"/>
            <a:ext cx="2743200" cy="1371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② </a:t>
            </a:r>
            <a:r>
              <a:rPr lang="zh-CN" altLang="en-US" sz="2400" b="1" dirty="0"/>
              <a:t>队列会满吗？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很可能会，因为数组前端空间无法释放。因此数组应当有长度限制。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5513" name="Text Box 57"/>
          <p:cNvSpPr txBox="1"/>
          <p:nvPr/>
        </p:nvSpPr>
        <p:spPr>
          <a:xfrm>
            <a:off x="0" y="1447800"/>
            <a:ext cx="29718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① </a:t>
            </a:r>
            <a:r>
              <a:rPr lang="zh-CN" altLang="en-US" sz="2400" b="1" dirty="0"/>
              <a:t>空队列的特征？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约定：</a:t>
            </a:r>
            <a:r>
              <a:rPr lang="en-US" altLang="zh-CN" sz="2400" b="1" dirty="0">
                <a:solidFill>
                  <a:srgbClr val="0000FF"/>
                </a:solidFill>
              </a:rPr>
              <a:t>front==rear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75514" name="Text Box 58"/>
          <p:cNvSpPr txBox="1"/>
          <p:nvPr/>
        </p:nvSpPr>
        <p:spPr>
          <a:xfrm>
            <a:off x="5751513" y="3886200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队尾后地址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75515" name="Rectangle 59"/>
          <p:cNvSpPr/>
          <p:nvPr/>
        </p:nvSpPr>
        <p:spPr>
          <a:xfrm>
            <a:off x="228600" y="5334000"/>
            <a:ext cx="5181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入队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尾部插入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v[rear]=e;   rear++;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出队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头部删除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x=v[front]; front++;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75516" name="Rectangle 60"/>
          <p:cNvSpPr/>
          <p:nvPr/>
        </p:nvSpPr>
        <p:spPr>
          <a:xfrm>
            <a:off x="0" y="838200"/>
            <a:ext cx="12366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讨论：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75517" name="AutoShape 61"/>
          <p:cNvSpPr>
            <a:spLocks noChangeArrowheads="1"/>
          </p:cNvSpPr>
          <p:nvPr/>
        </p:nvSpPr>
        <p:spPr bwMode="auto">
          <a:xfrm>
            <a:off x="5943600" y="5334000"/>
            <a:ext cx="1895475" cy="762000"/>
          </a:xfrm>
          <a:prstGeom prst="cloudCallout">
            <a:avLst>
              <a:gd name="adj1" fmla="val -310"/>
              <a:gd name="adj2" fmla="val 8208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假溢出</a:t>
            </a: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5518" name="Rectangle 62"/>
          <p:cNvSpPr/>
          <p:nvPr/>
        </p:nvSpPr>
        <p:spPr>
          <a:xfrm>
            <a:off x="5410200" y="5334000"/>
            <a:ext cx="6096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 </a:t>
            </a:r>
            <a:r>
              <a:rPr lang="zh-CN" altLang="en-US" sz="2000" b="1" dirty="0"/>
              <a:t>有缺陷</a:t>
            </a:r>
            <a:endParaRPr lang="zh-CN" altLang="en-US" sz="2000" b="1" dirty="0"/>
          </a:p>
        </p:txBody>
      </p:sp>
      <p:sp>
        <p:nvSpPr>
          <p:cNvPr id="275519" name="Rectangle 63"/>
          <p:cNvSpPr/>
          <p:nvPr/>
        </p:nvSpPr>
        <p:spPr>
          <a:xfrm>
            <a:off x="0" y="4343400"/>
            <a:ext cx="2895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③ </a:t>
            </a:r>
            <a:r>
              <a:rPr lang="zh-CN" altLang="en-US" sz="2400" b="1" dirty="0"/>
              <a:t>怎样实现入队和出队操作？</a:t>
            </a:r>
            <a:endParaRPr lang="zh-CN" altLang="en-US" sz="2400" b="1" dirty="0"/>
          </a:p>
        </p:txBody>
      </p:sp>
      <p:sp>
        <p:nvSpPr>
          <p:cNvPr id="55316" name="Rectangle 64"/>
          <p:cNvSpPr/>
          <p:nvPr/>
        </p:nvSpPr>
        <p:spPr>
          <a:xfrm>
            <a:off x="0" y="66675"/>
            <a:ext cx="1892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/>
              </a:rPr>
              <a:t>3.2  </a:t>
            </a:r>
            <a:r>
              <a:rPr lang="zh-CN" altLang="en-US" b="1" dirty="0">
                <a:solidFill>
                  <a:srgbClr val="0000FF"/>
                </a:solidFill>
                <a:ea typeface="楷体_GB2312"/>
              </a:rPr>
              <a:t>队列</a:t>
            </a:r>
            <a:endParaRPr lang="zh-CN" altLang="en-US" b="1" dirty="0">
              <a:solidFill>
                <a:srgbClr val="0000FF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3">
                                            <p:txEl>
                                              <p:charRg st="1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2">
                                            <p:txEl>
                                              <p:charRg st="9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5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9" grpId="0"/>
      <p:bldP spid="275470" grpId="0"/>
      <p:bldP spid="275471" grpId="0" animBg="1"/>
      <p:bldP spid="275482" grpId="0" animBg="1"/>
      <p:bldP spid="275512" grpId="0" build="p"/>
      <p:bldP spid="275513" grpId="0" build="p"/>
      <p:bldP spid="275514" grpId="0"/>
      <p:bldP spid="275515" grpId="0" build="p"/>
      <p:bldP spid="275516" grpId="0" build="p"/>
      <p:bldP spid="275517" grpId="0" animBg="1"/>
      <p:bldP spid="275518" grpId="0" build="p"/>
      <p:bldP spid="27551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6482" name="Rectangle 2"/>
          <p:cNvSpPr>
            <a:spLocks noGrp="1"/>
          </p:cNvSpPr>
          <p:nvPr>
            <p:ph type="title"/>
          </p:nvPr>
        </p:nvSpPr>
        <p:spPr>
          <a:xfrm>
            <a:off x="609600" y="852488"/>
            <a:ext cx="77724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/>
              <a:t>问：什么叫“假溢出” ？如何解决？</a:t>
            </a:r>
            <a:endParaRPr lang="zh-CN" altLang="en-US" sz="3600" b="1" dirty="0"/>
          </a:p>
        </p:txBody>
      </p:sp>
      <p:sp>
        <p:nvSpPr>
          <p:cNvPr id="276483" name="Rectangle 3"/>
          <p:cNvSpPr>
            <a:spLocks noGrp="1"/>
          </p:cNvSpPr>
          <p:nvPr>
            <p:ph idx="1"/>
          </p:nvPr>
        </p:nvSpPr>
        <p:spPr>
          <a:xfrm>
            <a:off x="609600" y="1614488"/>
            <a:ext cx="7924800" cy="167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3600" b="1" dirty="0">
                <a:solidFill>
                  <a:schemeClr val="tx2"/>
                </a:solidFill>
              </a:rPr>
              <a:t>答：</a:t>
            </a:r>
            <a:r>
              <a:rPr lang="zh-CN" altLang="en-US" b="1" dirty="0">
                <a:latin typeface="楷体_GB2312"/>
                <a:ea typeface="楷体_GB2312"/>
              </a:rPr>
              <a:t>在顺序队中，当尾指针已经到了数组的上界，不能再有入队操作，但其实数组中还有空位置，这就叫</a:t>
            </a:r>
            <a:r>
              <a:rPr lang="zh-CN" altLang="en-US" b="1" dirty="0">
                <a:ea typeface="楷体_GB2312"/>
              </a:rPr>
              <a:t>“</a:t>
            </a:r>
            <a:r>
              <a:rPr lang="zh-CN" altLang="en-US" b="1" dirty="0">
                <a:latin typeface="楷体_GB2312"/>
                <a:ea typeface="楷体_GB2312"/>
              </a:rPr>
              <a:t>假溢出</a:t>
            </a:r>
            <a:r>
              <a:rPr lang="zh-CN" altLang="en-US" b="1" dirty="0">
                <a:ea typeface="楷体_GB2312"/>
              </a:rPr>
              <a:t>”</a:t>
            </a:r>
            <a:r>
              <a:rPr lang="zh-CN" altLang="en-US" b="1" dirty="0">
                <a:latin typeface="楷体_GB2312"/>
                <a:ea typeface="楷体_GB2312"/>
              </a:rPr>
              <a:t>。</a:t>
            </a:r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56325" name="Rectangle 4"/>
          <p:cNvSpPr/>
          <p:nvPr/>
        </p:nvSpPr>
        <p:spPr>
          <a:xfrm>
            <a:off x="393700" y="273050"/>
            <a:ext cx="30924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/>
              </a:rPr>
              <a:t>3.2  </a:t>
            </a:r>
            <a:r>
              <a:rPr lang="zh-CN" altLang="en-US" b="1" dirty="0">
                <a:solidFill>
                  <a:srgbClr val="0000FF"/>
                </a:solidFill>
                <a:ea typeface="楷体_GB2312"/>
              </a:rPr>
              <a:t>循环队列</a:t>
            </a:r>
            <a:endParaRPr lang="zh-CN" altLang="en-US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276485" name="AutoShape 5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6486" name="Rectangle 6"/>
          <p:cNvSpPr/>
          <p:nvPr/>
        </p:nvSpPr>
        <p:spPr>
          <a:xfrm>
            <a:off x="762000" y="4035425"/>
            <a:ext cx="77724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楷体_GB2312"/>
                <a:ea typeface="楷体_GB2312"/>
              </a:rPr>
              <a:t>解决假溢出的途径</a:t>
            </a:r>
            <a:r>
              <a:rPr lang="en-US" altLang="zh-CN" b="1" dirty="0">
                <a:ea typeface="楷体_GB2312"/>
              </a:rPr>
              <a:t>———</a:t>
            </a: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  <a:hlinkClick r:id="" action="ppaction://hlinkshowjump?jump=nextslide"/>
              </a:rPr>
              <a:t>采用循环队列</a:t>
            </a:r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/>
      <p:bldP spid="276483" grpId="0"/>
      <p:bldP spid="276485" grpId="0" animBg="1"/>
      <p:bldP spid="27648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7506" name="AutoShape 2"/>
          <p:cNvSpPr/>
          <p:nvPr/>
        </p:nvSpPr>
        <p:spPr>
          <a:xfrm>
            <a:off x="3505200" y="2057400"/>
            <a:ext cx="1143000" cy="609600"/>
          </a:xfrm>
          <a:prstGeom prst="rightArrow">
            <a:avLst>
              <a:gd name="adj1" fmla="val 50000"/>
              <a:gd name="adj2" fmla="val 46875"/>
            </a:avLst>
          </a:prstGeom>
          <a:solidFill>
            <a:schemeClr val="accent1"/>
          </a:solidFill>
          <a:ln w="317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592638" y="584200"/>
            <a:ext cx="4252912" cy="3440113"/>
            <a:chOff x="2893" y="560"/>
            <a:chExt cx="2679" cy="2167"/>
          </a:xfrm>
        </p:grpSpPr>
        <p:sp>
          <p:nvSpPr>
            <p:cNvPr id="57376" name="Rectangle 4"/>
            <p:cNvSpPr/>
            <p:nvPr/>
          </p:nvSpPr>
          <p:spPr>
            <a:xfrm>
              <a:off x="3792" y="210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a3</a:t>
              </a:r>
              <a:endParaRPr lang="en-US" altLang="zh-CN" sz="2400" b="1" dirty="0"/>
            </a:p>
          </p:txBody>
        </p:sp>
        <p:sp>
          <p:nvSpPr>
            <p:cNvPr id="57377" name="Rectangle 5"/>
            <p:cNvSpPr/>
            <p:nvPr/>
          </p:nvSpPr>
          <p:spPr>
            <a:xfrm>
              <a:off x="4300" y="2055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a2</a:t>
              </a:r>
              <a:endParaRPr lang="en-US" altLang="zh-CN" sz="2400" b="1" dirty="0"/>
            </a:p>
          </p:txBody>
        </p:sp>
        <p:sp>
          <p:nvSpPr>
            <p:cNvPr id="57378" name="Rectangle 6"/>
            <p:cNvSpPr/>
            <p:nvPr/>
          </p:nvSpPr>
          <p:spPr>
            <a:xfrm>
              <a:off x="4608" y="1671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a1</a:t>
              </a:r>
              <a:endParaRPr lang="en-US" altLang="zh-CN" sz="2400" b="1" dirty="0"/>
            </a:p>
          </p:txBody>
        </p:sp>
        <p:grpSp>
          <p:nvGrpSpPr>
            <p:cNvPr id="57379" name="Group 7"/>
            <p:cNvGrpSpPr/>
            <p:nvPr/>
          </p:nvGrpSpPr>
          <p:grpSpPr>
            <a:xfrm>
              <a:off x="3312" y="903"/>
              <a:ext cx="1680" cy="1632"/>
              <a:chOff x="2304" y="2160"/>
              <a:chExt cx="1440" cy="1296"/>
            </a:xfrm>
          </p:grpSpPr>
          <p:sp>
            <p:nvSpPr>
              <p:cNvPr id="57389" name="Oval 8"/>
              <p:cNvSpPr/>
              <p:nvPr/>
            </p:nvSpPr>
            <p:spPr>
              <a:xfrm>
                <a:off x="2640" y="2448"/>
                <a:ext cx="768" cy="720"/>
              </a:xfrm>
              <a:prstGeom prst="ellipse">
                <a:avLst/>
              </a:prstGeom>
              <a:noFill/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7390" name="Oval 9"/>
              <p:cNvSpPr/>
              <p:nvPr/>
            </p:nvSpPr>
            <p:spPr>
              <a:xfrm>
                <a:off x="2304" y="2160"/>
                <a:ext cx="1440" cy="1296"/>
              </a:xfrm>
              <a:prstGeom prst="ellipse">
                <a:avLst/>
              </a:prstGeom>
              <a:noFill/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7391" name="Line 10"/>
              <p:cNvSpPr/>
              <p:nvPr/>
            </p:nvSpPr>
            <p:spPr>
              <a:xfrm>
                <a:off x="3408" y="2784"/>
                <a:ext cx="336" cy="0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2" name="Line 11"/>
              <p:cNvSpPr/>
              <p:nvPr/>
            </p:nvSpPr>
            <p:spPr>
              <a:xfrm>
                <a:off x="2304" y="2784"/>
                <a:ext cx="336" cy="0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3" name="Line 12"/>
              <p:cNvSpPr/>
              <p:nvPr/>
            </p:nvSpPr>
            <p:spPr>
              <a:xfrm>
                <a:off x="3024" y="2160"/>
                <a:ext cx="0" cy="288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4" name="Line 13"/>
              <p:cNvSpPr/>
              <p:nvPr/>
            </p:nvSpPr>
            <p:spPr>
              <a:xfrm>
                <a:off x="3024" y="3168"/>
                <a:ext cx="0" cy="288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5" name="Line 14"/>
              <p:cNvSpPr/>
              <p:nvPr/>
            </p:nvSpPr>
            <p:spPr>
              <a:xfrm>
                <a:off x="2496" y="2352"/>
                <a:ext cx="240" cy="240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6" name="Line 15"/>
              <p:cNvSpPr/>
              <p:nvPr/>
            </p:nvSpPr>
            <p:spPr>
              <a:xfrm>
                <a:off x="3312" y="3024"/>
                <a:ext cx="240" cy="240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7" name="Line 16"/>
              <p:cNvSpPr/>
              <p:nvPr/>
            </p:nvSpPr>
            <p:spPr>
              <a:xfrm flipH="1">
                <a:off x="3264" y="2304"/>
                <a:ext cx="240" cy="240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7398" name="Line 17"/>
              <p:cNvSpPr/>
              <p:nvPr/>
            </p:nvSpPr>
            <p:spPr>
              <a:xfrm flipH="1">
                <a:off x="2496" y="3072"/>
                <a:ext cx="240" cy="192"/>
              </a:xfrm>
              <a:prstGeom prst="line">
                <a:avLst/>
              </a:prstGeom>
              <a:ln w="317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57380" name="Rectangle 18"/>
            <p:cNvSpPr/>
            <p:nvPr/>
          </p:nvSpPr>
          <p:spPr>
            <a:xfrm>
              <a:off x="4416" y="61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/>
                <a:t>0</a:t>
              </a:r>
              <a:endParaRPr lang="en-US" altLang="zh-CN" sz="2800" dirty="0"/>
            </a:p>
          </p:txBody>
        </p:sp>
        <p:sp>
          <p:nvSpPr>
            <p:cNvPr id="57381" name="Rectangle 19"/>
            <p:cNvSpPr/>
            <p:nvPr/>
          </p:nvSpPr>
          <p:spPr>
            <a:xfrm>
              <a:off x="4944" y="99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/>
                <a:t>1</a:t>
              </a:r>
              <a:endParaRPr lang="en-US" altLang="zh-CN" sz="2800" dirty="0"/>
            </a:p>
          </p:txBody>
        </p:sp>
        <p:sp>
          <p:nvSpPr>
            <p:cNvPr id="57382" name="Rectangle 20"/>
            <p:cNvSpPr/>
            <p:nvPr/>
          </p:nvSpPr>
          <p:spPr>
            <a:xfrm>
              <a:off x="5004" y="182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/>
                <a:t>2</a:t>
              </a:r>
              <a:endParaRPr lang="en-US" altLang="zh-CN" sz="2800" dirty="0"/>
            </a:p>
          </p:txBody>
        </p:sp>
        <p:sp>
          <p:nvSpPr>
            <p:cNvPr id="57383" name="Rectangle 21"/>
            <p:cNvSpPr/>
            <p:nvPr/>
          </p:nvSpPr>
          <p:spPr>
            <a:xfrm>
              <a:off x="4476" y="240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/>
                <a:t>3</a:t>
              </a:r>
              <a:endParaRPr lang="en-US" altLang="zh-CN" sz="2800" dirty="0"/>
            </a:p>
          </p:txBody>
        </p:sp>
        <p:sp>
          <p:nvSpPr>
            <p:cNvPr id="57384" name="Rectangle 22"/>
            <p:cNvSpPr/>
            <p:nvPr/>
          </p:nvSpPr>
          <p:spPr>
            <a:xfrm>
              <a:off x="3578" y="560"/>
              <a:ext cx="4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N-1</a:t>
              </a:r>
              <a:endParaRPr lang="en-US" altLang="zh-CN" sz="2400" dirty="0"/>
            </a:p>
          </p:txBody>
        </p:sp>
        <p:sp>
          <p:nvSpPr>
            <p:cNvPr id="57385" name="Line 23"/>
            <p:cNvSpPr/>
            <p:nvPr/>
          </p:nvSpPr>
          <p:spPr>
            <a:xfrm flipV="1">
              <a:off x="3072" y="2055"/>
              <a:ext cx="288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7386" name="Rectangle 24"/>
            <p:cNvSpPr/>
            <p:nvPr/>
          </p:nvSpPr>
          <p:spPr>
            <a:xfrm>
              <a:off x="2893" y="2151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rear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7387" name="Line 25"/>
            <p:cNvSpPr/>
            <p:nvPr/>
          </p:nvSpPr>
          <p:spPr>
            <a:xfrm flipH="1" flipV="1">
              <a:off x="4896" y="2055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7388" name="Rectangle 26"/>
            <p:cNvSpPr/>
            <p:nvPr/>
          </p:nvSpPr>
          <p:spPr>
            <a:xfrm>
              <a:off x="5040" y="2295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77531" name="Rectangle 27"/>
          <p:cNvSpPr>
            <a:spLocks noChangeArrowheads="1"/>
          </p:cNvSpPr>
          <p:nvPr/>
        </p:nvSpPr>
        <p:spPr bwMode="auto">
          <a:xfrm>
            <a:off x="5029200" y="0"/>
            <a:ext cx="30543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循环队列（臆造）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77532" name="Rectangle 28"/>
          <p:cNvSpPr>
            <a:spLocks noChangeArrowheads="1"/>
          </p:cNvSpPr>
          <p:nvPr/>
        </p:nvSpPr>
        <p:spPr bwMode="auto">
          <a:xfrm>
            <a:off x="0" y="0"/>
            <a:ext cx="16192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顺序队列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grpSp>
        <p:nvGrpSpPr>
          <p:cNvPr id="4" name="Group 29"/>
          <p:cNvGrpSpPr/>
          <p:nvPr/>
        </p:nvGrpSpPr>
        <p:grpSpPr>
          <a:xfrm>
            <a:off x="228600" y="228600"/>
            <a:ext cx="2667000" cy="3622675"/>
            <a:chOff x="144" y="864"/>
            <a:chExt cx="1680" cy="2282"/>
          </a:xfrm>
        </p:grpSpPr>
        <p:sp>
          <p:nvSpPr>
            <p:cNvPr id="57354" name="Rectangle 30"/>
            <p:cNvSpPr/>
            <p:nvPr/>
          </p:nvSpPr>
          <p:spPr>
            <a:xfrm>
              <a:off x="1104" y="2820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57355" name="Rectangle 31"/>
            <p:cNvSpPr/>
            <p:nvPr/>
          </p:nvSpPr>
          <p:spPr>
            <a:xfrm>
              <a:off x="1104" y="2494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57356" name="Rectangle 32"/>
            <p:cNvSpPr/>
            <p:nvPr/>
          </p:nvSpPr>
          <p:spPr>
            <a:xfrm>
              <a:off x="1104" y="2168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/>
                <a:t>a3</a:t>
              </a:r>
              <a:endParaRPr lang="en-US" altLang="zh-CN" sz="2800" dirty="0"/>
            </a:p>
          </p:txBody>
        </p:sp>
        <p:sp>
          <p:nvSpPr>
            <p:cNvPr id="57357" name="Rectangle 33"/>
            <p:cNvSpPr/>
            <p:nvPr/>
          </p:nvSpPr>
          <p:spPr>
            <a:xfrm>
              <a:off x="1104" y="1842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/>
                <a:t>a2</a:t>
              </a:r>
              <a:endParaRPr lang="en-US" altLang="zh-CN" sz="2800" dirty="0"/>
            </a:p>
          </p:txBody>
        </p:sp>
        <p:sp>
          <p:nvSpPr>
            <p:cNvPr id="57358" name="Rectangle 34"/>
            <p:cNvSpPr/>
            <p:nvPr/>
          </p:nvSpPr>
          <p:spPr>
            <a:xfrm>
              <a:off x="1104" y="1516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/>
                <a:t>a1</a:t>
              </a:r>
              <a:endParaRPr lang="en-US" altLang="zh-CN" sz="2800" dirty="0"/>
            </a:p>
          </p:txBody>
        </p:sp>
        <p:sp>
          <p:nvSpPr>
            <p:cNvPr id="57359" name="Rectangle 35"/>
            <p:cNvSpPr/>
            <p:nvPr/>
          </p:nvSpPr>
          <p:spPr>
            <a:xfrm>
              <a:off x="1104" y="1190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57360" name="Rectangle 36"/>
            <p:cNvSpPr/>
            <p:nvPr/>
          </p:nvSpPr>
          <p:spPr>
            <a:xfrm>
              <a:off x="1104" y="864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57361" name="Line 37"/>
            <p:cNvSpPr/>
            <p:nvPr/>
          </p:nvSpPr>
          <p:spPr>
            <a:xfrm>
              <a:off x="1104" y="864"/>
              <a:ext cx="7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2" name="Line 38"/>
            <p:cNvSpPr/>
            <p:nvPr/>
          </p:nvSpPr>
          <p:spPr>
            <a:xfrm>
              <a:off x="1104" y="1190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3" name="Line 39"/>
            <p:cNvSpPr/>
            <p:nvPr/>
          </p:nvSpPr>
          <p:spPr>
            <a:xfrm>
              <a:off x="1104" y="1516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4" name="Line 40"/>
            <p:cNvSpPr/>
            <p:nvPr/>
          </p:nvSpPr>
          <p:spPr>
            <a:xfrm>
              <a:off x="1104" y="1842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5" name="Line 41"/>
            <p:cNvSpPr/>
            <p:nvPr/>
          </p:nvSpPr>
          <p:spPr>
            <a:xfrm>
              <a:off x="1104" y="2168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6" name="Line 42"/>
            <p:cNvSpPr/>
            <p:nvPr/>
          </p:nvSpPr>
          <p:spPr>
            <a:xfrm>
              <a:off x="1104" y="2494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7" name="Line 43"/>
            <p:cNvSpPr/>
            <p:nvPr/>
          </p:nvSpPr>
          <p:spPr>
            <a:xfrm>
              <a:off x="1104" y="3146"/>
              <a:ext cx="7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8" name="Line 44"/>
            <p:cNvSpPr/>
            <p:nvPr/>
          </p:nvSpPr>
          <p:spPr>
            <a:xfrm>
              <a:off x="1104" y="864"/>
              <a:ext cx="0" cy="228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69" name="Line 45"/>
            <p:cNvSpPr/>
            <p:nvPr/>
          </p:nvSpPr>
          <p:spPr>
            <a:xfrm>
              <a:off x="1824" y="864"/>
              <a:ext cx="0" cy="228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7370" name="Line 46"/>
            <p:cNvSpPr/>
            <p:nvPr/>
          </p:nvSpPr>
          <p:spPr>
            <a:xfrm>
              <a:off x="1104" y="2820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1" name="Line 47"/>
            <p:cNvSpPr/>
            <p:nvPr/>
          </p:nvSpPr>
          <p:spPr>
            <a:xfrm>
              <a:off x="384" y="268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7372" name="Line 48"/>
            <p:cNvSpPr/>
            <p:nvPr/>
          </p:nvSpPr>
          <p:spPr>
            <a:xfrm>
              <a:off x="192" y="168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7373" name="Rectangle 49"/>
            <p:cNvSpPr/>
            <p:nvPr/>
          </p:nvSpPr>
          <p:spPr>
            <a:xfrm>
              <a:off x="144" y="1344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7374" name="Rectangle 50"/>
            <p:cNvSpPr/>
            <p:nvPr/>
          </p:nvSpPr>
          <p:spPr>
            <a:xfrm>
              <a:off x="432" y="2400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rear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7375" name="Text Box 51"/>
            <p:cNvSpPr txBox="1"/>
            <p:nvPr/>
          </p:nvSpPr>
          <p:spPr>
            <a:xfrm>
              <a:off x="720" y="912"/>
              <a:ext cx="432" cy="21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0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1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2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3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 .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400" dirty="0"/>
                <a:t>     .</a:t>
              </a:r>
              <a:endParaRPr lang="en-US" altLang="zh-CN" sz="2400" dirty="0"/>
            </a:p>
            <a:p>
              <a:pPr marL="0" lvl="0" indent="0" eaLnBrk="1" hangingPunct="1">
                <a:spcBef>
                  <a:spcPct val="40000"/>
                </a:spcBef>
                <a:buNone/>
              </a:pPr>
              <a:r>
                <a:rPr lang="en-US" altLang="zh-CN" sz="2000" b="1" dirty="0"/>
                <a:t>N-1</a:t>
              </a:r>
              <a:endParaRPr lang="en-US" altLang="zh-CN" sz="2000" b="1" dirty="0"/>
            </a:p>
          </p:txBody>
        </p:sp>
      </p:grpSp>
      <p:sp>
        <p:nvSpPr>
          <p:cNvPr id="277556" name="Rectangle 52"/>
          <p:cNvSpPr/>
          <p:nvPr/>
        </p:nvSpPr>
        <p:spPr>
          <a:xfrm>
            <a:off x="76200" y="3962400"/>
            <a:ext cx="9067800" cy="261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新问题：</a:t>
            </a:r>
            <a:r>
              <a:rPr lang="zh-CN" altLang="en-US" sz="2400" b="1" dirty="0">
                <a:latin typeface="楷体_GB2312"/>
                <a:ea typeface="楷体_GB2312"/>
              </a:rPr>
              <a:t>在循环队列中，空队特征是</a:t>
            </a:r>
            <a:r>
              <a:rPr lang="en-US" altLang="zh-CN" sz="2400" b="1" dirty="0">
                <a:solidFill>
                  <a:srgbClr val="0000FF"/>
                </a:solidFill>
              </a:rPr>
              <a:t>front=rear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  <a:r>
              <a:rPr lang="zh-CN" altLang="en-US" sz="2400" b="1" dirty="0">
                <a:latin typeface="楷体_GB2312"/>
                <a:ea typeface="楷体_GB2312"/>
              </a:rPr>
              <a:t>队满时也会有</a:t>
            </a:r>
            <a:r>
              <a:rPr lang="en-US" altLang="zh-CN" sz="2400" b="1" dirty="0">
                <a:solidFill>
                  <a:srgbClr val="0000FF"/>
                </a:solidFill>
              </a:rPr>
              <a:t>front=rear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  <a:r>
              <a:rPr lang="zh-CN" altLang="en-US" sz="2400" b="1" dirty="0">
                <a:latin typeface="楷体_GB2312"/>
                <a:ea typeface="楷体_GB2312"/>
              </a:rPr>
              <a:t>判决条件将出现二义性！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解决方案有三：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000" b="1" dirty="0"/>
              <a:t>① 加设标志位，让删除动作使其为</a:t>
            </a:r>
            <a:r>
              <a:rPr lang="en-US" altLang="zh-CN" sz="2000" b="1" dirty="0"/>
              <a:t>1,</a:t>
            </a:r>
            <a:r>
              <a:rPr lang="zh-CN" altLang="en-US" sz="2000" b="1" dirty="0"/>
              <a:t>插入动作使其为</a:t>
            </a:r>
            <a:r>
              <a:rPr lang="en-US" altLang="zh-CN" sz="2000" b="1" dirty="0"/>
              <a:t>0,</a:t>
            </a:r>
            <a:r>
              <a:rPr lang="zh-CN" altLang="en-US" sz="2000" b="1" dirty="0"/>
              <a:t>则可识别当前    </a:t>
            </a:r>
            <a:r>
              <a:rPr lang="en-US" altLang="zh-CN" sz="2400" b="1" dirty="0">
                <a:solidFill>
                  <a:srgbClr val="0000FF"/>
                </a:solidFill>
              </a:rPr>
              <a:t>front=rear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② </a:t>
            </a:r>
            <a:r>
              <a:rPr lang="zh-CN" altLang="en-US" sz="2000" b="1" dirty="0"/>
              <a:t>使用一个计数器记录队列中元素个数（即队列长度）；</a:t>
            </a:r>
            <a:endParaRPr lang="zh-CN" altLang="en-US" sz="2000" b="1" dirty="0"/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2000" b="1" dirty="0"/>
              <a:t>③ 人为浪费一个单元，令</a:t>
            </a:r>
            <a:r>
              <a:rPr lang="zh-CN" altLang="en-US" sz="2400" b="1" dirty="0">
                <a:latin typeface="楷体_GB2312"/>
                <a:ea typeface="楷体_GB2312"/>
              </a:rPr>
              <a:t>队满特征为</a:t>
            </a:r>
            <a:r>
              <a:rPr lang="en-US" altLang="zh-CN" sz="2400" b="1" dirty="0">
                <a:solidFill>
                  <a:srgbClr val="0000FF"/>
                </a:solidFill>
              </a:rPr>
              <a:t>front=(rear+1)%N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77557" name="AutoShape 53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6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6">
                                            <p:txEl>
                                              <p:charRg st="56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6">
                                            <p:txEl>
                                              <p:charRg st="64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6">
                                            <p:txEl>
                                              <p:charRg st="11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6">
                                            <p:txEl>
                                              <p:charRg st="139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6" grpId="0" animBg="1"/>
      <p:bldP spid="277531" grpId="0"/>
      <p:bldP spid="277532" grpId="0"/>
      <p:bldP spid="277556" grpId="0" build="p"/>
      <p:bldP spid="27755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8530" name="Text Box 2"/>
          <p:cNvSpPr txBox="1"/>
          <p:nvPr/>
        </p:nvSpPr>
        <p:spPr>
          <a:xfrm>
            <a:off x="533400" y="685800"/>
            <a:ext cx="73152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/>
              <a:t>队空条件 </a:t>
            </a:r>
            <a:r>
              <a:rPr lang="en-US" altLang="zh-CN" sz="2400" b="1" dirty="0"/>
              <a:t>:  </a:t>
            </a:r>
            <a:r>
              <a:rPr lang="en-US" altLang="zh-CN" sz="2400" b="1" dirty="0">
                <a:solidFill>
                  <a:srgbClr val="0000FF"/>
                </a:solidFill>
              </a:rPr>
              <a:t>front = rear</a:t>
            </a:r>
            <a:r>
              <a:rPr lang="en-US" altLang="zh-CN" sz="2400" b="1" dirty="0"/>
              <a:t>       (</a:t>
            </a:r>
            <a:r>
              <a:rPr lang="zh-CN" altLang="en-US" sz="2400" b="1" dirty="0"/>
              <a:t>初始化时：</a:t>
            </a:r>
            <a:r>
              <a:rPr lang="en-US" altLang="zh-CN" sz="2400" b="1" dirty="0"/>
              <a:t>front = rear )</a:t>
            </a:r>
            <a:endParaRPr lang="en-US" altLang="zh-CN" sz="2400" b="1" dirty="0"/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/>
              <a:t>队满条件</a:t>
            </a:r>
            <a:r>
              <a:rPr lang="zh-CN" altLang="en-US" sz="2400" b="1" dirty="0">
                <a:sym typeface="Wingdings" panose="05000000000000000000" pitchFamily="2" charset="2"/>
              </a:rPr>
              <a:t>： 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front = (rear+1) % N</a:t>
            </a:r>
            <a:r>
              <a:rPr lang="en-US" altLang="zh-CN" sz="2400" b="1" dirty="0">
                <a:sym typeface="Wingdings" panose="05000000000000000000" pitchFamily="2" charset="2"/>
              </a:rPr>
              <a:t>         (N=maxsize)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sym typeface="Wingdings" panose="05000000000000000000" pitchFamily="2" charset="2"/>
              </a:rPr>
              <a:t>队列长度：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L=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＋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rear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－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front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% N</a:t>
            </a:r>
            <a:r>
              <a:rPr lang="en-US" altLang="zh-CN" sz="2400" b="1" dirty="0">
                <a:sym typeface="Wingdings" panose="05000000000000000000" pitchFamily="2" charset="2"/>
              </a:rPr>
              <a:t> 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20650" y="2286000"/>
            <a:ext cx="3917950" cy="3505200"/>
            <a:chOff x="1296" y="1584"/>
            <a:chExt cx="2468" cy="2208"/>
          </a:xfrm>
        </p:grpSpPr>
        <p:pic>
          <p:nvPicPr>
            <p:cNvPr id="58379" name="Picture 4" descr="未命名1"/>
            <p:cNvPicPr>
              <a:picLocks noChangeAspect="1"/>
            </p:cNvPicPr>
            <p:nvPr/>
          </p:nvPicPr>
          <p:blipFill>
            <a:blip r:embed="rId1"/>
            <a:srcRect l="-4742" t="29028" r="68550" b="22153"/>
            <a:stretch>
              <a:fillRect/>
            </a:stretch>
          </p:blipFill>
          <p:spPr>
            <a:xfrm>
              <a:off x="1920" y="1584"/>
              <a:ext cx="1824" cy="17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0" name="Text Box 5"/>
            <p:cNvSpPr txBox="1"/>
            <p:nvPr/>
          </p:nvSpPr>
          <p:spPr>
            <a:xfrm>
              <a:off x="2496" y="1968"/>
              <a:ext cx="12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solidFill>
                    <a:schemeClr val="bg1"/>
                  </a:solidFill>
                  <a:ea typeface="PMingLiU" pitchFamily="18" charset="-120"/>
                </a:rPr>
                <a:t>J2             J3	</a:t>
              </a:r>
              <a:endParaRPr lang="en-US" altLang="zh-TW" sz="2000" b="1" dirty="0">
                <a:solidFill>
                  <a:schemeClr val="bg1"/>
                </a:solidFill>
                <a:ea typeface="PMingLiU" pitchFamily="18" charset="-120"/>
              </a:endParaRPr>
            </a:p>
          </p:txBody>
        </p:sp>
        <p:sp>
          <p:nvSpPr>
            <p:cNvPr id="58381" name="Text Box 6"/>
            <p:cNvSpPr txBox="1"/>
            <p:nvPr/>
          </p:nvSpPr>
          <p:spPr>
            <a:xfrm>
              <a:off x="2309" y="2466"/>
              <a:ext cx="13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solidFill>
                    <a:schemeClr val="bg1"/>
                  </a:solidFill>
                  <a:ea typeface="PMingLiU" pitchFamily="18" charset="-120"/>
                </a:rPr>
                <a:t>J1                        J4</a:t>
              </a:r>
              <a:endParaRPr lang="en-US" altLang="zh-TW" sz="2000" dirty="0">
                <a:solidFill>
                  <a:schemeClr val="bg1"/>
                </a:solidFill>
                <a:ea typeface="PMingLiU" pitchFamily="18" charset="-120"/>
              </a:endParaRPr>
            </a:p>
          </p:txBody>
        </p:sp>
        <p:sp>
          <p:nvSpPr>
            <p:cNvPr id="58382" name="Text Box 7"/>
            <p:cNvSpPr txBox="1"/>
            <p:nvPr/>
          </p:nvSpPr>
          <p:spPr>
            <a:xfrm>
              <a:off x="3029" y="2894"/>
              <a:ext cx="3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TW" altLang="zh-TW" sz="2000" b="1" dirty="0">
                  <a:solidFill>
                    <a:schemeClr val="bg1"/>
                  </a:solidFill>
                  <a:ea typeface="PMingLiU" pitchFamily="18" charset="-120"/>
                </a:rPr>
                <a:t> </a:t>
              </a:r>
              <a:r>
                <a:rPr lang="en-US" altLang="zh-TW" sz="2000" b="1" dirty="0">
                  <a:solidFill>
                    <a:schemeClr val="bg1"/>
                  </a:solidFill>
                  <a:ea typeface="PMingLiU" pitchFamily="18" charset="-120"/>
                </a:rPr>
                <a:t>J5</a:t>
              </a:r>
              <a:endParaRPr lang="en-US" altLang="zh-TW" sz="2000" b="1" dirty="0">
                <a:solidFill>
                  <a:schemeClr val="bg1"/>
                </a:solidFill>
                <a:ea typeface="PMingLiU" pitchFamily="18" charset="-120"/>
              </a:endParaRPr>
            </a:p>
          </p:txBody>
        </p:sp>
        <p:sp>
          <p:nvSpPr>
            <p:cNvPr id="58383" name="Rectangle 8"/>
            <p:cNvSpPr/>
            <p:nvPr/>
          </p:nvSpPr>
          <p:spPr>
            <a:xfrm>
              <a:off x="1296" y="2640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8384" name="Rectangle 9"/>
            <p:cNvSpPr/>
            <p:nvPr/>
          </p:nvSpPr>
          <p:spPr>
            <a:xfrm>
              <a:off x="2304" y="3504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rear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8385" name="Line 10"/>
            <p:cNvSpPr/>
            <p:nvPr/>
          </p:nvSpPr>
          <p:spPr>
            <a:xfrm flipV="1">
              <a:off x="1776" y="2688"/>
              <a:ext cx="384" cy="96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6" name="Line 11"/>
            <p:cNvSpPr/>
            <p:nvPr/>
          </p:nvSpPr>
          <p:spPr>
            <a:xfrm flipV="1">
              <a:off x="2592" y="3168"/>
              <a:ext cx="0" cy="432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78540" name="Rectangle 12"/>
          <p:cNvSpPr/>
          <p:nvPr/>
        </p:nvSpPr>
        <p:spPr>
          <a:xfrm>
            <a:off x="0" y="15240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</a:rPr>
              <a:t>选用</a:t>
            </a:r>
            <a:r>
              <a:rPr lang="zh-CN" altLang="en-US" sz="2400" b="1" dirty="0">
                <a:solidFill>
                  <a:schemeClr val="tx2"/>
                </a:solidFill>
                <a:ea typeface="黑体" panose="02010609060101010101" pitchFamily="49" charset="-122"/>
              </a:rPr>
              <a:t>空闲单元法：</a:t>
            </a:r>
            <a:r>
              <a:rPr lang="zh-CN" altLang="en-US" sz="2200" b="1" dirty="0">
                <a:ea typeface="楷体_GB2312"/>
              </a:rPr>
              <a:t>即</a:t>
            </a:r>
            <a:r>
              <a:rPr lang="en-US" altLang="zh-CN" sz="2200" b="1" dirty="0">
                <a:ea typeface="楷体_GB2312"/>
              </a:rPr>
              <a:t>front</a:t>
            </a:r>
            <a:r>
              <a:rPr lang="zh-CN" altLang="en-US" sz="2200" b="1" dirty="0">
                <a:ea typeface="楷体_GB2312"/>
              </a:rPr>
              <a:t>和</a:t>
            </a:r>
            <a:r>
              <a:rPr lang="en-US" altLang="zh-CN" sz="2200" b="1" dirty="0">
                <a:ea typeface="楷体_GB2312"/>
              </a:rPr>
              <a:t>rear</a:t>
            </a:r>
            <a:r>
              <a:rPr lang="zh-CN" altLang="en-US" sz="2200" b="1" dirty="0">
                <a:ea typeface="楷体_GB2312"/>
              </a:rPr>
              <a:t>之一指向实元素，另一指向空闲元素。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278541" name="Rectangle 13"/>
          <p:cNvSpPr/>
          <p:nvPr/>
        </p:nvSpPr>
        <p:spPr>
          <a:xfrm>
            <a:off x="4419600" y="3505200"/>
            <a:ext cx="3886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问</a:t>
            </a:r>
            <a:r>
              <a:rPr lang="en-US" altLang="zh-CN" sz="2400" b="1" dirty="0">
                <a:solidFill>
                  <a:schemeClr val="tx2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ym typeface="Wingdings" panose="05000000000000000000" pitchFamily="2" charset="2"/>
              </a:rPr>
              <a:t> 在具有</a:t>
            </a:r>
            <a:r>
              <a:rPr lang="en-US" altLang="zh-CN" sz="2400" b="1" dirty="0">
                <a:sym typeface="Wingdings" panose="05000000000000000000" pitchFamily="2" charset="2"/>
              </a:rPr>
              <a:t>n</a:t>
            </a:r>
            <a:r>
              <a:rPr lang="zh-CN" altLang="en-US" sz="2400" b="1" dirty="0">
                <a:sym typeface="Wingdings" panose="05000000000000000000" pitchFamily="2" charset="2"/>
              </a:rPr>
              <a:t>个单元的循环队列中，队满时共有多少个元素？ 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sp>
        <p:nvSpPr>
          <p:cNvPr id="278542" name="Rectangle 14"/>
          <p:cNvSpPr/>
          <p:nvPr/>
        </p:nvSpPr>
        <p:spPr>
          <a:xfrm>
            <a:off x="6019800" y="4267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n-1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个</a:t>
            </a:r>
            <a:endParaRPr lang="zh-CN" altLang="en-US" sz="2400" b="1" dirty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278543" name="Rectangle 15"/>
          <p:cNvSpPr/>
          <p:nvPr/>
        </p:nvSpPr>
        <p:spPr>
          <a:xfrm>
            <a:off x="8077200" y="2743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5</a:t>
            </a:r>
            <a:r>
              <a:rPr lang="en-US" altLang="zh-CN" sz="2400" b="1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endParaRPr lang="en-US" altLang="zh-CN" sz="24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278544" name="Rectangle 16"/>
          <p:cNvSpPr/>
          <p:nvPr/>
        </p:nvSpPr>
        <p:spPr>
          <a:xfrm>
            <a:off x="4419600" y="2743200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问</a:t>
            </a:r>
            <a:r>
              <a:rPr lang="en-US" altLang="zh-CN" sz="2400" b="1" dirty="0">
                <a:solidFill>
                  <a:schemeClr val="tx2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ym typeface="Wingdings" panose="05000000000000000000" pitchFamily="2" charset="2"/>
              </a:rPr>
              <a:t>左图中队列长度</a:t>
            </a:r>
            <a:r>
              <a:rPr lang="en-US" altLang="zh-CN" sz="2400" b="1" dirty="0">
                <a:sym typeface="Wingdings" panose="05000000000000000000" pitchFamily="2" charset="2"/>
              </a:rPr>
              <a:t>L=</a:t>
            </a:r>
            <a:r>
              <a:rPr lang="zh-CN" altLang="en-US" sz="2400" b="1" dirty="0">
                <a:sym typeface="Wingdings" panose="05000000000000000000" pitchFamily="2" charset="2"/>
              </a:rPr>
              <a:t>？</a:t>
            </a:r>
            <a:endParaRPr lang="zh-CN" altLang="en-US" sz="2400" b="1" dirty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278545" name="AutoShape 17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0" grpId="0"/>
      <p:bldP spid="278540" grpId="0"/>
      <p:bldP spid="278541" grpId="0"/>
      <p:bldP spid="278542" grpId="0"/>
      <p:bldP spid="278543" grpId="0"/>
      <p:bldP spid="278544" grpId="0"/>
      <p:bldP spid="27854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5105400" y="1641475"/>
            <a:ext cx="2895600" cy="2819400"/>
            <a:chOff x="2832" y="1392"/>
            <a:chExt cx="2066" cy="2112"/>
          </a:xfrm>
        </p:grpSpPr>
        <p:pic>
          <p:nvPicPr>
            <p:cNvPr id="59430" name="Picture 3" descr="未命名1"/>
            <p:cNvPicPr>
              <a:picLocks noChangeAspect="1"/>
            </p:cNvPicPr>
            <p:nvPr/>
          </p:nvPicPr>
          <p:blipFill>
            <a:blip r:embed="rId1"/>
            <a:srcRect l="31409" t="25070" r="27599" b="16875"/>
            <a:stretch>
              <a:fillRect/>
            </a:stretch>
          </p:blipFill>
          <p:spPr>
            <a:xfrm>
              <a:off x="2832" y="1392"/>
              <a:ext cx="2066" cy="211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31" name="Text Box 4"/>
            <p:cNvSpPr txBox="1"/>
            <p:nvPr/>
          </p:nvSpPr>
          <p:spPr>
            <a:xfrm>
              <a:off x="3484" y="2777"/>
              <a:ext cx="811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ea typeface="PMingLiU" pitchFamily="18" charset="-120"/>
                </a:rPr>
                <a:t>J6       J5</a:t>
              </a:r>
              <a:endParaRPr lang="en-US" altLang="zh-TW" sz="2000" b="1" dirty="0">
                <a:ea typeface="PMingLiU" pitchFamily="18" charset="-120"/>
              </a:endParaRPr>
            </a:p>
          </p:txBody>
        </p:sp>
        <p:sp>
          <p:nvSpPr>
            <p:cNvPr id="59432" name="Text Box 5"/>
            <p:cNvSpPr txBox="1"/>
            <p:nvPr/>
          </p:nvSpPr>
          <p:spPr>
            <a:xfrm>
              <a:off x="3182" y="2391"/>
              <a:ext cx="313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ea typeface="PMingLiU" pitchFamily="18" charset="-120"/>
                </a:rPr>
                <a:t>J7</a:t>
              </a:r>
              <a:endParaRPr lang="en-US" altLang="zh-TW" sz="2000" b="1" dirty="0">
                <a:ea typeface="PMingLiU" pitchFamily="18" charset="-120"/>
              </a:endParaRPr>
            </a:p>
          </p:txBody>
        </p:sp>
        <p:sp>
          <p:nvSpPr>
            <p:cNvPr id="59433" name="Text Box 6"/>
            <p:cNvSpPr txBox="1"/>
            <p:nvPr/>
          </p:nvSpPr>
          <p:spPr>
            <a:xfrm>
              <a:off x="3382" y="1894"/>
              <a:ext cx="947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ea typeface="PMingLiU" pitchFamily="18" charset="-120"/>
                </a:rPr>
                <a:t>J8          J9</a:t>
              </a:r>
              <a:endParaRPr lang="en-US" altLang="zh-TW" sz="2000" b="1" dirty="0">
                <a:ea typeface="PMingLiU" pitchFamily="18" charset="-120"/>
              </a:endParaRPr>
            </a:p>
          </p:txBody>
        </p:sp>
      </p:grpSp>
      <p:sp>
        <p:nvSpPr>
          <p:cNvPr id="279559" name="Rectangle 7"/>
          <p:cNvSpPr/>
          <p:nvPr/>
        </p:nvSpPr>
        <p:spPr>
          <a:xfrm>
            <a:off x="381000" y="284163"/>
            <a:ext cx="80772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ym typeface="Wingdings" panose="05000000000000000000" pitchFamily="2" charset="2"/>
              </a:rPr>
              <a:t>  一循环队列如下图所示，队头和队尾指针的初态分别为</a:t>
            </a:r>
            <a:r>
              <a:rPr lang="en-US" altLang="zh-CN" sz="2400" b="1" dirty="0">
                <a:sym typeface="Wingdings" panose="05000000000000000000" pitchFamily="2" charset="2"/>
              </a:rPr>
              <a:t>front=1</a:t>
            </a:r>
            <a:r>
              <a:rPr lang="zh-CN" altLang="en-US" sz="2400" b="1" dirty="0">
                <a:sym typeface="Wingdings" panose="05000000000000000000" pitchFamily="2" charset="2"/>
              </a:rPr>
              <a:t>和</a:t>
            </a:r>
            <a:r>
              <a:rPr lang="en-US" altLang="zh-CN" sz="2400" b="1" dirty="0">
                <a:sym typeface="Wingdings" panose="05000000000000000000" pitchFamily="2" charset="2"/>
              </a:rPr>
              <a:t>rear=6,</a:t>
            </a:r>
            <a:r>
              <a:rPr lang="zh-CN" altLang="en-US" sz="2400" b="1" dirty="0">
                <a:sym typeface="Wingdings" panose="05000000000000000000" pitchFamily="2" charset="2"/>
              </a:rPr>
              <a:t>若先删除</a:t>
            </a:r>
            <a:r>
              <a:rPr lang="en-US" altLang="zh-CN" sz="2400" b="1" dirty="0"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ym typeface="Wingdings" panose="05000000000000000000" pitchFamily="2" charset="2"/>
              </a:rPr>
              <a:t>个元素，接着再插入</a:t>
            </a:r>
            <a:r>
              <a:rPr lang="en-US" altLang="zh-CN" sz="2400" b="1" dirty="0"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ym typeface="Wingdings" panose="05000000000000000000" pitchFamily="2" charset="2"/>
              </a:rPr>
              <a:t>个元素，请问队头和队尾指针分别指向哪个位置</a:t>
            </a:r>
            <a:r>
              <a:rPr lang="en-US" altLang="zh-CN" sz="2400" b="1" dirty="0">
                <a:sym typeface="Wingdings" panose="05000000000000000000" pitchFamily="2" charset="2"/>
              </a:rPr>
              <a:t>? 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304800" y="1641475"/>
            <a:ext cx="3689350" cy="3124200"/>
            <a:chOff x="192" y="816"/>
            <a:chExt cx="2324" cy="1968"/>
          </a:xfrm>
        </p:grpSpPr>
        <p:pic>
          <p:nvPicPr>
            <p:cNvPr id="59422" name="Picture 9" descr="未命名1"/>
            <p:cNvPicPr>
              <a:picLocks noChangeAspect="1"/>
            </p:cNvPicPr>
            <p:nvPr/>
          </p:nvPicPr>
          <p:blipFill>
            <a:blip r:embed="rId1"/>
            <a:srcRect l="-4742" t="29028" r="68550" b="22153"/>
            <a:stretch>
              <a:fillRect/>
            </a:stretch>
          </p:blipFill>
          <p:spPr>
            <a:xfrm>
              <a:off x="672" y="816"/>
              <a:ext cx="1824" cy="17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23" name="Text Box 10"/>
            <p:cNvSpPr txBox="1"/>
            <p:nvPr/>
          </p:nvSpPr>
          <p:spPr>
            <a:xfrm>
              <a:off x="1248" y="1200"/>
              <a:ext cx="12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ea typeface="PMingLiU" pitchFamily="18" charset="-120"/>
                </a:rPr>
                <a:t>J2             J3	</a:t>
              </a:r>
              <a:endParaRPr lang="en-US" altLang="zh-TW" sz="2000" b="1" dirty="0">
                <a:ea typeface="PMingLiU" pitchFamily="18" charset="-120"/>
              </a:endParaRPr>
            </a:p>
          </p:txBody>
        </p:sp>
        <p:sp>
          <p:nvSpPr>
            <p:cNvPr id="59424" name="Text Box 11"/>
            <p:cNvSpPr txBox="1"/>
            <p:nvPr/>
          </p:nvSpPr>
          <p:spPr>
            <a:xfrm>
              <a:off x="1061" y="1698"/>
              <a:ext cx="13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000" b="1" dirty="0">
                  <a:ea typeface="PMingLiU" pitchFamily="18" charset="-120"/>
                </a:rPr>
                <a:t>J1                        J4</a:t>
              </a:r>
              <a:endParaRPr lang="en-US" altLang="zh-TW" sz="2000" dirty="0">
                <a:ea typeface="PMingLiU" pitchFamily="18" charset="-120"/>
              </a:endParaRPr>
            </a:p>
          </p:txBody>
        </p:sp>
        <p:sp>
          <p:nvSpPr>
            <p:cNvPr id="59425" name="Text Box 12"/>
            <p:cNvSpPr txBox="1"/>
            <p:nvPr/>
          </p:nvSpPr>
          <p:spPr>
            <a:xfrm>
              <a:off x="1781" y="2126"/>
              <a:ext cx="3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TW" altLang="zh-TW" sz="2000" b="1" dirty="0">
                  <a:ea typeface="PMingLiU" pitchFamily="18" charset="-120"/>
                </a:rPr>
                <a:t> </a:t>
              </a:r>
              <a:r>
                <a:rPr lang="en-US" altLang="zh-TW" sz="2000" b="1" dirty="0">
                  <a:ea typeface="PMingLiU" pitchFamily="18" charset="-120"/>
                </a:rPr>
                <a:t>J5</a:t>
              </a:r>
              <a:endParaRPr lang="en-US" altLang="zh-TW" sz="2000" b="1" dirty="0">
                <a:ea typeface="PMingLiU" pitchFamily="18" charset="-120"/>
              </a:endParaRPr>
            </a:p>
          </p:txBody>
        </p:sp>
        <p:sp>
          <p:nvSpPr>
            <p:cNvPr id="59426" name="Rectangle 13"/>
            <p:cNvSpPr/>
            <p:nvPr/>
          </p:nvSpPr>
          <p:spPr>
            <a:xfrm>
              <a:off x="192" y="1776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front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59427" name="Rectangle 14"/>
            <p:cNvSpPr/>
            <p:nvPr/>
          </p:nvSpPr>
          <p:spPr>
            <a:xfrm>
              <a:off x="1069" y="2496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rear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28" name="Line 15"/>
            <p:cNvSpPr/>
            <p:nvPr/>
          </p:nvSpPr>
          <p:spPr>
            <a:xfrm flipV="1">
              <a:off x="672" y="1920"/>
              <a:ext cx="240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29" name="Line 16"/>
            <p:cNvSpPr/>
            <p:nvPr/>
          </p:nvSpPr>
          <p:spPr>
            <a:xfrm flipV="1">
              <a:off x="1344" y="2400"/>
              <a:ext cx="0" cy="192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79569" name="Rectangle 17"/>
          <p:cNvSpPr/>
          <p:nvPr/>
        </p:nvSpPr>
        <p:spPr>
          <a:xfrm>
            <a:off x="-38100" y="4924425"/>
            <a:ext cx="861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6750" lvl="0" indent="-66675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Wingdings" panose="05000000000000000000" pitchFamily="2" charset="2"/>
              </a:rPr>
              <a:t>解：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grpSp>
        <p:nvGrpSpPr>
          <p:cNvPr id="4" name="Group 18"/>
          <p:cNvGrpSpPr/>
          <p:nvPr/>
        </p:nvGrpSpPr>
        <p:grpSpPr>
          <a:xfrm>
            <a:off x="7086600" y="3973513"/>
            <a:ext cx="990600" cy="609600"/>
            <a:chOff x="4464" y="2256"/>
            <a:chExt cx="624" cy="384"/>
          </a:xfrm>
        </p:grpSpPr>
        <p:sp>
          <p:nvSpPr>
            <p:cNvPr id="59420" name="Rectangle 19"/>
            <p:cNvSpPr/>
            <p:nvPr/>
          </p:nvSpPr>
          <p:spPr>
            <a:xfrm>
              <a:off x="4556" y="2352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21" name="Line 20"/>
            <p:cNvSpPr/>
            <p:nvPr/>
          </p:nvSpPr>
          <p:spPr>
            <a:xfrm flipH="1" flipV="1">
              <a:off x="4464" y="2256"/>
              <a:ext cx="96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21"/>
          <p:cNvGrpSpPr/>
          <p:nvPr/>
        </p:nvGrpSpPr>
        <p:grpSpPr>
          <a:xfrm>
            <a:off x="7640638" y="2782888"/>
            <a:ext cx="1198562" cy="457200"/>
            <a:chOff x="4848" y="1824"/>
            <a:chExt cx="755" cy="288"/>
          </a:xfrm>
        </p:grpSpPr>
        <p:sp>
          <p:nvSpPr>
            <p:cNvPr id="59418" name="Rectangle 22"/>
            <p:cNvSpPr/>
            <p:nvPr/>
          </p:nvSpPr>
          <p:spPr>
            <a:xfrm>
              <a:off x="5136" y="1824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rear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19" name="Line 23"/>
            <p:cNvSpPr/>
            <p:nvPr/>
          </p:nvSpPr>
          <p:spPr>
            <a:xfrm flipH="1" flipV="1">
              <a:off x="4848" y="1968"/>
              <a:ext cx="336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79576" name="AutoShape 2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9577" name="Rectangle 25"/>
          <p:cNvSpPr/>
          <p:nvPr/>
        </p:nvSpPr>
        <p:spPr>
          <a:xfrm>
            <a:off x="457200" y="4953000"/>
            <a:ext cx="7918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ym typeface="Wingdings" panose="05000000000000000000" pitchFamily="2" charset="2"/>
              </a:rPr>
              <a:t>删除</a:t>
            </a:r>
            <a:r>
              <a:rPr lang="en-US" altLang="zh-CN" sz="2400" b="1" dirty="0"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ym typeface="Wingdings" panose="05000000000000000000" pitchFamily="2" charset="2"/>
              </a:rPr>
              <a:t>个元素后</a:t>
            </a:r>
            <a:r>
              <a:rPr lang="en-US" altLang="zh-CN" sz="2400" b="1" dirty="0">
                <a:sym typeface="Wingdings" panose="05000000000000000000" pitchFamily="2" charset="2"/>
              </a:rPr>
              <a:t>front=5</a:t>
            </a:r>
            <a:r>
              <a:rPr lang="zh-CN" altLang="en-US" sz="2400" b="1" dirty="0">
                <a:sym typeface="Wingdings" panose="05000000000000000000" pitchFamily="2" charset="2"/>
              </a:rPr>
              <a:t>；再插入</a:t>
            </a:r>
            <a:r>
              <a:rPr lang="en-US" altLang="zh-CN" sz="2400" b="1" dirty="0"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ym typeface="Wingdings" panose="05000000000000000000" pitchFamily="2" charset="2"/>
              </a:rPr>
              <a:t>个元素后，</a:t>
            </a:r>
            <a:r>
              <a:rPr lang="en-US" altLang="zh-CN" sz="2400" b="1" dirty="0">
                <a:sym typeface="Wingdings" panose="05000000000000000000" pitchFamily="2" charset="2"/>
              </a:rPr>
              <a:t>r=(6+4)</a:t>
            </a:r>
            <a:r>
              <a:rPr lang="en-US" altLang="zh-CN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%</a:t>
            </a:r>
            <a:r>
              <a:rPr lang="en-US" altLang="zh-CN" sz="2400" b="1" dirty="0">
                <a:sym typeface="Wingdings" panose="05000000000000000000" pitchFamily="2" charset="2"/>
              </a:rPr>
              <a:t>6=4 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grpSp>
        <p:nvGrpSpPr>
          <p:cNvPr id="6" name="Group 26"/>
          <p:cNvGrpSpPr/>
          <p:nvPr/>
        </p:nvGrpSpPr>
        <p:grpSpPr>
          <a:xfrm>
            <a:off x="609600" y="1611313"/>
            <a:ext cx="1066800" cy="609600"/>
            <a:chOff x="384" y="816"/>
            <a:chExt cx="672" cy="384"/>
          </a:xfrm>
        </p:grpSpPr>
        <p:sp>
          <p:nvSpPr>
            <p:cNvPr id="59416" name="Rectangle 27"/>
            <p:cNvSpPr/>
            <p:nvPr/>
          </p:nvSpPr>
          <p:spPr>
            <a:xfrm>
              <a:off x="384" y="816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17" name="Line 28"/>
            <p:cNvSpPr/>
            <p:nvPr/>
          </p:nvSpPr>
          <p:spPr>
            <a:xfrm>
              <a:off x="816" y="1008"/>
              <a:ext cx="240" cy="192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29"/>
          <p:cNvGrpSpPr/>
          <p:nvPr/>
        </p:nvGrpSpPr>
        <p:grpSpPr>
          <a:xfrm>
            <a:off x="298450" y="3135313"/>
            <a:ext cx="1149350" cy="457200"/>
            <a:chOff x="188" y="1776"/>
            <a:chExt cx="724" cy="288"/>
          </a:xfrm>
        </p:grpSpPr>
        <p:sp>
          <p:nvSpPr>
            <p:cNvPr id="59414" name="Rectangle 30"/>
            <p:cNvSpPr/>
            <p:nvPr/>
          </p:nvSpPr>
          <p:spPr>
            <a:xfrm>
              <a:off x="188" y="1776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front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15" name="Line 31"/>
            <p:cNvSpPr/>
            <p:nvPr/>
          </p:nvSpPr>
          <p:spPr>
            <a:xfrm flipV="1">
              <a:off x="672" y="1920"/>
              <a:ext cx="24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32"/>
          <p:cNvGrpSpPr/>
          <p:nvPr/>
        </p:nvGrpSpPr>
        <p:grpSpPr>
          <a:xfrm>
            <a:off x="3387725" y="1420813"/>
            <a:ext cx="844550" cy="685800"/>
            <a:chOff x="2112" y="672"/>
            <a:chExt cx="532" cy="432"/>
          </a:xfrm>
        </p:grpSpPr>
        <p:sp>
          <p:nvSpPr>
            <p:cNvPr id="59412" name="Rectangle 33"/>
            <p:cNvSpPr/>
            <p:nvPr/>
          </p:nvSpPr>
          <p:spPr>
            <a:xfrm>
              <a:off x="2112" y="672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13" name="Line 34"/>
            <p:cNvSpPr/>
            <p:nvPr/>
          </p:nvSpPr>
          <p:spPr>
            <a:xfrm flipH="1">
              <a:off x="2112" y="912"/>
              <a:ext cx="240" cy="192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" name="Group 35"/>
          <p:cNvGrpSpPr/>
          <p:nvPr/>
        </p:nvGrpSpPr>
        <p:grpSpPr>
          <a:xfrm>
            <a:off x="3810000" y="2525713"/>
            <a:ext cx="1073150" cy="685800"/>
            <a:chOff x="2400" y="1392"/>
            <a:chExt cx="676" cy="432"/>
          </a:xfrm>
        </p:grpSpPr>
        <p:sp>
          <p:nvSpPr>
            <p:cNvPr id="59410" name="Rectangle 36"/>
            <p:cNvSpPr/>
            <p:nvPr/>
          </p:nvSpPr>
          <p:spPr>
            <a:xfrm>
              <a:off x="2544" y="1392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11" name="Line 37"/>
            <p:cNvSpPr/>
            <p:nvPr/>
          </p:nvSpPr>
          <p:spPr>
            <a:xfrm flipH="1">
              <a:off x="2400" y="1680"/>
              <a:ext cx="288" cy="144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38"/>
          <p:cNvGrpSpPr/>
          <p:nvPr/>
        </p:nvGrpSpPr>
        <p:grpSpPr>
          <a:xfrm>
            <a:off x="3124200" y="4049713"/>
            <a:ext cx="1219200" cy="533400"/>
            <a:chOff x="1968" y="2352"/>
            <a:chExt cx="768" cy="336"/>
          </a:xfrm>
        </p:grpSpPr>
        <p:sp>
          <p:nvSpPr>
            <p:cNvPr id="59408" name="Rectangle 39"/>
            <p:cNvSpPr/>
            <p:nvPr/>
          </p:nvSpPr>
          <p:spPr>
            <a:xfrm>
              <a:off x="2204" y="2400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front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9409" name="Line 40"/>
            <p:cNvSpPr/>
            <p:nvPr/>
          </p:nvSpPr>
          <p:spPr>
            <a:xfrm flipH="1" flipV="1">
              <a:off x="1968" y="2352"/>
              <a:ext cx="240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9" grpId="0"/>
      <p:bldP spid="279569" grpId="0"/>
      <p:bldP spid="279576" grpId="0" animBg="1"/>
      <p:bldP spid="27957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0578" name="Rectang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153400" cy="1295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例</a:t>
            </a:r>
            <a:r>
              <a:rPr lang="en-US" altLang="zh-CN" sz="2800" b="1" dirty="0"/>
              <a:t>2 </a:t>
            </a:r>
            <a:r>
              <a:rPr lang="zh-CN" altLang="en-US" sz="2800" b="1" dirty="0"/>
              <a:t>：</a:t>
            </a:r>
            <a:r>
              <a:rPr lang="zh-CN" altLang="en-US" sz="2400" b="1" dirty="0">
                <a:solidFill>
                  <a:schemeClr val="tx1"/>
                </a:solidFill>
              </a:rPr>
              <a:t>数组Ｑ</a:t>
            </a:r>
            <a:r>
              <a:rPr lang="en-US" altLang="zh-CN" sz="2400" b="1" dirty="0">
                <a:solidFill>
                  <a:schemeClr val="tx1"/>
                </a:solidFill>
              </a:rPr>
              <a:t>[n]</a:t>
            </a:r>
            <a:r>
              <a:rPr lang="zh-CN" altLang="en-US" sz="2400" b="1" dirty="0">
                <a:solidFill>
                  <a:schemeClr val="tx1"/>
                </a:solidFill>
              </a:rPr>
              <a:t>用来表示一个循环队列，</a:t>
            </a:r>
            <a:r>
              <a:rPr lang="en-US" altLang="zh-CN" sz="2400" b="1" dirty="0">
                <a:solidFill>
                  <a:schemeClr val="tx1"/>
                </a:solidFill>
              </a:rPr>
              <a:t>f </a:t>
            </a:r>
            <a:r>
              <a:rPr lang="zh-CN" altLang="en-US" sz="2400" b="1" dirty="0">
                <a:solidFill>
                  <a:schemeClr val="tx1"/>
                </a:solidFill>
              </a:rPr>
              <a:t>为当前队列头元素的</a:t>
            </a:r>
            <a:r>
              <a:rPr lang="zh-CN" altLang="en-US" sz="2400" b="1" dirty="0">
                <a:solidFill>
                  <a:srgbClr val="0000FF"/>
                </a:solidFill>
              </a:rPr>
              <a:t>前一</a:t>
            </a:r>
            <a:r>
              <a:rPr lang="zh-CN" altLang="en-US" sz="2400" b="1" dirty="0">
                <a:solidFill>
                  <a:schemeClr val="tx1"/>
                </a:solidFill>
              </a:rPr>
              <a:t>位置，</a:t>
            </a:r>
            <a:r>
              <a:rPr lang="en-US" altLang="zh-CN" sz="2400" b="1" dirty="0">
                <a:solidFill>
                  <a:schemeClr val="tx1"/>
                </a:solidFill>
              </a:rPr>
              <a:t>r </a:t>
            </a:r>
            <a:r>
              <a:rPr lang="zh-CN" altLang="en-US" sz="2400" b="1" dirty="0">
                <a:solidFill>
                  <a:schemeClr val="tx1"/>
                </a:solidFill>
              </a:rPr>
              <a:t>为队尾元素的位置。假定队列中元素的个数小于</a:t>
            </a:r>
            <a:r>
              <a:rPr lang="en-US" altLang="zh-CN" sz="2400" b="1" dirty="0">
                <a:solidFill>
                  <a:schemeClr val="tx1"/>
                </a:solidFill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</a:rPr>
              <a:t>，计算队列中元素的公式为</a:t>
            </a:r>
            <a:r>
              <a:rPr lang="en-US" altLang="zh-CN" sz="2400" b="1" dirty="0">
                <a:solidFill>
                  <a:schemeClr val="tx1"/>
                </a:solidFill>
              </a:rPr>
              <a:t>: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280579" name="Rectangle 3"/>
          <p:cNvSpPr>
            <a:spLocks noGrp="1"/>
          </p:cNvSpPr>
          <p:nvPr>
            <p:ph idx="1"/>
          </p:nvPr>
        </p:nvSpPr>
        <p:spPr>
          <a:xfrm>
            <a:off x="152400" y="1295400"/>
            <a:ext cx="8077200" cy="838200"/>
          </a:xfrm>
          <a:ln/>
        </p:spPr>
        <p:txBody>
          <a:bodyPr vert="horz" wrap="square" lIns="91440" tIns="45720" rIns="91440" bIns="45720" anchor="t" anchorCtr="0"/>
          <a:p>
            <a:pPr marL="0" indent="0" defTabSz="914400" eaLnBrk="1" hangingPunct="1">
              <a:lnSpc>
                <a:spcPct val="90000"/>
              </a:lnSpc>
              <a:buNone/>
              <a:tabLst>
                <a:tab pos="95250" algn="l"/>
              </a:tabLst>
            </a:pPr>
            <a:r>
              <a:rPr lang="zh-CN" altLang="en-US" sz="2400" b="1" dirty="0"/>
              <a:t>（Ａ） 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f                </a:t>
            </a:r>
            <a:r>
              <a:rPr lang="zh-CN" altLang="en-US" sz="2400" b="1" dirty="0"/>
              <a:t>（Ｂ）（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＋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% n    </a:t>
            </a:r>
            <a:endParaRPr lang="en-US" altLang="zh-CN" sz="2400" b="1" dirty="0"/>
          </a:p>
          <a:p>
            <a:pPr marL="0" indent="0" defTabSz="914400" eaLnBrk="1" hangingPunct="1">
              <a:lnSpc>
                <a:spcPct val="90000"/>
              </a:lnSpc>
              <a:buNone/>
              <a:tabLst>
                <a:tab pos="95250" algn="l"/>
              </a:tabLst>
            </a:pPr>
            <a:r>
              <a:rPr lang="zh-CN" altLang="en-US" sz="2400" b="1" dirty="0"/>
              <a:t>（Ｃ）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＋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f           </a:t>
            </a:r>
            <a:r>
              <a:rPr lang="zh-CN" altLang="en-US" sz="2400" b="1" dirty="0"/>
              <a:t>（Ｄ） （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＋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－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% n</a:t>
            </a:r>
            <a:endParaRPr lang="en-US" altLang="zh-CN" sz="2400" b="1" dirty="0"/>
          </a:p>
        </p:txBody>
      </p:sp>
      <p:sp>
        <p:nvSpPr>
          <p:cNvPr id="280580" name="Rectangle 4"/>
          <p:cNvSpPr/>
          <p:nvPr/>
        </p:nvSpPr>
        <p:spPr>
          <a:xfrm>
            <a:off x="1042988" y="2133600"/>
            <a:ext cx="4343400" cy="1447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defTabSz="914400" eaLnBrk="1" hangingPunct="1">
              <a:buNone/>
              <a:tabLst>
                <a:tab pos="95250" algn="l"/>
              </a:tabLst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种公式哪种合理？</a:t>
            </a:r>
            <a:endParaRPr lang="zh-CN" altLang="en-US" sz="2400" b="1" dirty="0"/>
          </a:p>
          <a:p>
            <a:pPr marL="0" lvl="0" indent="0" algn="just" defTabSz="914400" eaLnBrk="1" hangingPunct="1">
              <a:buNone/>
              <a:tabLst>
                <a:tab pos="95250" algn="l"/>
              </a:tabLst>
            </a:pPr>
            <a:r>
              <a:rPr lang="zh-CN" altLang="en-US" sz="2400" b="1" dirty="0"/>
              <a:t>当 </a:t>
            </a:r>
            <a:r>
              <a:rPr lang="en-US" altLang="zh-CN" sz="2400" b="1" dirty="0"/>
              <a:t>r ≥f </a:t>
            </a:r>
            <a:r>
              <a:rPr lang="zh-CN" altLang="en-US" sz="2400" b="1" dirty="0"/>
              <a:t>时（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）合理；</a:t>
            </a:r>
            <a:endParaRPr lang="zh-CN" altLang="en-US" sz="2400" b="1" dirty="0"/>
          </a:p>
          <a:p>
            <a:pPr marL="0" lvl="0" indent="0" algn="just" defTabSz="914400" eaLnBrk="1" hangingPunct="1">
              <a:buNone/>
              <a:tabLst>
                <a:tab pos="95250" algn="l"/>
              </a:tabLst>
            </a:pPr>
            <a:r>
              <a:rPr lang="zh-CN" altLang="en-US" sz="2400" b="1" dirty="0"/>
              <a:t>当 </a:t>
            </a:r>
            <a:r>
              <a:rPr lang="en-US" altLang="zh-CN" sz="2400" b="1" dirty="0"/>
              <a:t>r &lt; f </a:t>
            </a:r>
            <a:r>
              <a:rPr lang="zh-CN" altLang="en-US" sz="2400" b="1" dirty="0"/>
              <a:t>时（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）合理；</a:t>
            </a:r>
            <a:endParaRPr lang="zh-CN" altLang="en-US" sz="2400" b="1" dirty="0"/>
          </a:p>
        </p:txBody>
      </p:sp>
      <p:sp>
        <p:nvSpPr>
          <p:cNvPr id="280581" name="Rectangle 5"/>
          <p:cNvSpPr/>
          <p:nvPr/>
        </p:nvSpPr>
        <p:spPr>
          <a:xfrm>
            <a:off x="211138" y="2133600"/>
            <a:ext cx="1101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分析 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80582" name="AutoShape 6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0583" name="AutoShape 7"/>
          <p:cNvSpPr/>
          <p:nvPr/>
        </p:nvSpPr>
        <p:spPr>
          <a:xfrm>
            <a:off x="4572000" y="2590800"/>
            <a:ext cx="152400" cy="762000"/>
          </a:xfrm>
          <a:prstGeom prst="rightBrace">
            <a:avLst>
              <a:gd name="adj1" fmla="val 41666"/>
              <a:gd name="adj2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0584" name="Text Box 8"/>
          <p:cNvSpPr txBox="1"/>
          <p:nvPr/>
        </p:nvSpPr>
        <p:spPr>
          <a:xfrm>
            <a:off x="4953000" y="2514600"/>
            <a:ext cx="3276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综合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种情况，以（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）的表达最为合理</a:t>
            </a:r>
            <a:endParaRPr lang="zh-CN" altLang="en-US" sz="2400" b="1" dirty="0"/>
          </a:p>
        </p:txBody>
      </p:sp>
      <p:sp>
        <p:nvSpPr>
          <p:cNvPr id="280585" name="Rectangle 9"/>
          <p:cNvSpPr/>
          <p:nvPr/>
        </p:nvSpPr>
        <p:spPr>
          <a:xfrm>
            <a:off x="381000" y="3581400"/>
            <a:ext cx="7848600" cy="1752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914400" eaLnBrk="1" hangingPunct="1">
              <a:spcBef>
                <a:spcPct val="0"/>
              </a:spcBef>
              <a:buNone/>
              <a:tabLst>
                <a:tab pos="762000" algn="l"/>
              </a:tabLst>
            </a:pPr>
            <a:r>
              <a:rPr lang="zh-CN" altLang="en-US" sz="2800" b="1" dirty="0">
                <a:solidFill>
                  <a:schemeClr val="tx2"/>
                </a:solidFill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：</a:t>
            </a:r>
            <a:r>
              <a:rPr lang="zh-CN" altLang="en-US" sz="2400" b="1" dirty="0"/>
              <a:t>在一个循环队列中，若约定队首指针指向队首元素的</a:t>
            </a:r>
            <a:r>
              <a:rPr lang="zh-CN" altLang="en-US" sz="2400" b="1" dirty="0">
                <a:solidFill>
                  <a:srgbClr val="0000FF"/>
                </a:solidFill>
              </a:rPr>
              <a:t>前一个</a:t>
            </a:r>
            <a:r>
              <a:rPr lang="zh-CN" altLang="en-US" sz="2400" b="1" dirty="0"/>
              <a:t>位置。那么，从循环队列中删除一个元素时，其操作是 先 </a:t>
            </a:r>
            <a:r>
              <a:rPr lang="zh-CN" altLang="en-US" sz="2400" b="1" u="sng" dirty="0"/>
              <a:t>                             </a:t>
            </a:r>
            <a:r>
              <a:rPr lang="zh-CN" altLang="en-US" sz="2400" b="1" dirty="0"/>
              <a:t>，后</a:t>
            </a:r>
            <a:r>
              <a:rPr lang="zh-CN" altLang="en-US" sz="2400" b="1" u="sng" dirty="0"/>
              <a:t>                      </a:t>
            </a:r>
            <a:r>
              <a:rPr lang="zh-CN" altLang="en-US" sz="2400" b="1" dirty="0"/>
              <a:t>。</a:t>
            </a:r>
            <a:r>
              <a:rPr lang="zh-CN" altLang="en-US" sz="4000" b="1" dirty="0">
                <a:solidFill>
                  <a:schemeClr val="tx2"/>
                </a:solidFill>
              </a:rPr>
              <a:t> </a:t>
            </a:r>
            <a:endParaRPr lang="zh-CN" altLang="en-US" sz="2800" b="1" dirty="0"/>
          </a:p>
        </p:txBody>
      </p:sp>
      <p:sp>
        <p:nvSpPr>
          <p:cNvPr id="280586" name="Rectangle 10"/>
          <p:cNvSpPr/>
          <p:nvPr/>
        </p:nvSpPr>
        <p:spPr>
          <a:xfrm>
            <a:off x="2027238" y="4648200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移动队首指针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0587" name="Rectangle 11"/>
          <p:cNvSpPr/>
          <p:nvPr/>
        </p:nvSpPr>
        <p:spPr>
          <a:xfrm>
            <a:off x="4849813" y="46482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取出元素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0588" name="Text Box 12"/>
          <p:cNvSpPr txBox="1"/>
          <p:nvPr/>
        </p:nvSpPr>
        <p:spPr>
          <a:xfrm>
            <a:off x="3962400" y="172085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chemeClr val="hlink"/>
                </a:solidFill>
              </a:rPr>
              <a:t>√</a:t>
            </a:r>
            <a:endParaRPr lang="en-US" altLang="zh-CN" sz="36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charRg st="4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1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8" grpId="0"/>
      <p:bldP spid="280579" grpId="0" advAuto="1000" build="p"/>
      <p:bldP spid="280580" grpId="0" advAuto="1000" build="p"/>
      <p:bldP spid="280581" grpId="0"/>
      <p:bldP spid="280582" grpId="0" animBg="1"/>
      <p:bldP spid="280583" grpId="0" animBg="1"/>
      <p:bldP spid="280584" grpId="0"/>
      <p:bldP spid="280585" grpId="0" build="p"/>
      <p:bldP spid="280586" grpId="0"/>
      <p:bldP spid="280587" grpId="0"/>
      <p:bldP spid="28058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1602" name="Rectangle 2"/>
          <p:cNvSpPr>
            <a:spLocks noGrp="1"/>
          </p:cNvSpPr>
          <p:nvPr>
            <p:ph type="title"/>
          </p:nvPr>
        </p:nvSpPr>
        <p:spPr>
          <a:xfrm>
            <a:off x="0" y="381000"/>
            <a:ext cx="77724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/>
              <a:t>问：为什么要设计队列？它有什么独特用途？</a:t>
            </a:r>
            <a:endParaRPr lang="zh-CN" altLang="en-US" sz="2800" b="1" dirty="0"/>
          </a:p>
        </p:txBody>
      </p:sp>
      <p:sp>
        <p:nvSpPr>
          <p:cNvPr id="281603" name="Rectangle 3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190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 b="1" dirty="0"/>
              <a:t>离散事件的模拟（模拟事件发生的先后顺序）；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sz="2400" b="1" dirty="0"/>
              <a:t>操作系统中多道作业的处理（一个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执行多个作业）；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简化程序设计。</a:t>
            </a:r>
            <a:endParaRPr lang="zh-CN" altLang="en-US" sz="2400" dirty="0"/>
          </a:p>
        </p:txBody>
      </p:sp>
      <p:sp>
        <p:nvSpPr>
          <p:cNvPr id="281604" name="Rectangle 4"/>
          <p:cNvSpPr/>
          <p:nvPr/>
        </p:nvSpPr>
        <p:spPr>
          <a:xfrm>
            <a:off x="228600" y="1371600"/>
            <a:ext cx="8937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答：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81605" name="Rectangle 5"/>
          <p:cNvSpPr/>
          <p:nvPr/>
        </p:nvSpPr>
        <p:spPr>
          <a:xfrm>
            <a:off x="1219200" y="4038600"/>
            <a:ext cx="5943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" action="ppaction://hlinkshowjump?jump=nextslide"/>
              </a:rPr>
              <a:t>循环队列的操作实现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见教材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P64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1606" name="AutoShape 6">
            <a:hlinkClick r:id="rId1" action="ppaction://hlinksldjump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charRg st="2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2" grpId="0"/>
      <p:bldP spid="281603" grpId="0" build="p"/>
      <p:bldP spid="281604" grpId="0"/>
      <p:bldP spid="281605" grpId="0"/>
      <p:bldP spid="28160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2626" name="Text Box 2"/>
          <p:cNvSpPr txBox="1"/>
          <p:nvPr/>
        </p:nvSpPr>
        <p:spPr>
          <a:xfrm>
            <a:off x="1066800" y="5334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循环队列的操作实现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2627" name="Rectangle 3"/>
          <p:cNvSpPr/>
          <p:nvPr/>
        </p:nvSpPr>
        <p:spPr>
          <a:xfrm>
            <a:off x="1404938" y="1447800"/>
            <a:ext cx="2787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chemeClr val="tx2"/>
                </a:solidFill>
              </a:rPr>
              <a:t>初始化一空队列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82628" name="Text Box 4"/>
          <p:cNvSpPr txBox="1"/>
          <p:nvPr/>
        </p:nvSpPr>
        <p:spPr>
          <a:xfrm>
            <a:off x="1447800" y="2057400"/>
            <a:ext cx="70104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算法要求：生成一空队列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算法操作：为队列分配基本容量空间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                设置队列为</a:t>
            </a:r>
            <a:r>
              <a:rPr lang="zh-CN" altLang="en-US" sz="2400" b="1" dirty="0">
                <a:solidFill>
                  <a:srgbClr val="0000FF"/>
                </a:solidFill>
              </a:rPr>
              <a:t>空队列</a:t>
            </a:r>
            <a:r>
              <a:rPr lang="zh-CN" altLang="en-US" sz="2400" b="1" dirty="0">
                <a:solidFill>
                  <a:schemeClr val="accent1"/>
                </a:solidFill>
              </a:rPr>
              <a:t>，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即 </a:t>
            </a:r>
            <a:r>
              <a:rPr lang="en-US" altLang="zh-CN" sz="2400" b="1" dirty="0">
                <a:solidFill>
                  <a:srgbClr val="0000FF"/>
                </a:solidFill>
              </a:rPr>
              <a:t>front=rear=0</a:t>
            </a:r>
            <a:r>
              <a:rPr lang="zh-CN" altLang="en-US" sz="2400" b="1" dirty="0">
                <a:solidFill>
                  <a:srgbClr val="0000FF"/>
                </a:solidFill>
              </a:rPr>
              <a:t>（也可为任意单元，如 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，或 </a:t>
            </a:r>
            <a:r>
              <a:rPr lang="en-US" altLang="zh-CN" sz="2400" b="1" dirty="0">
                <a:solidFill>
                  <a:srgbClr val="0000FF"/>
                </a:solidFill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r>
              <a:rPr lang="en-US" altLang="zh-CN" sz="2400" b="1" dirty="0">
                <a:solidFill>
                  <a:schemeClr val="accent1"/>
                </a:solidFill>
              </a:rPr>
              <a:t>;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282629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charRg st="5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6" grpId="0" advAuto="1000" build="p"/>
      <p:bldP spid="282627" grpId="0" build="p"/>
      <p:bldP spid="282628" grpId="0" build="p"/>
      <p:bldP spid="2826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3650" name="Text Box 2"/>
          <p:cNvSpPr txBox="1"/>
          <p:nvPr/>
        </p:nvSpPr>
        <p:spPr>
          <a:xfrm>
            <a:off x="1143000" y="533400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算法：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3651" name="Text Box 3"/>
          <p:cNvSpPr txBox="1"/>
          <p:nvPr/>
        </p:nvSpPr>
        <p:spPr>
          <a:xfrm>
            <a:off x="1295400" y="1143000"/>
            <a:ext cx="73914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Status   InitQueue (   SqQueue    &amp;q )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{//</a:t>
            </a:r>
            <a:r>
              <a:rPr lang="zh-CN" altLang="en-US" sz="2400" b="1" dirty="0"/>
              <a:t>初始化空循环队列  </a:t>
            </a:r>
            <a:r>
              <a:rPr lang="en-US" altLang="zh-CN" sz="2400" b="1" dirty="0"/>
              <a:t>q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q . base=(QElemType *)malloc</a:t>
            </a:r>
            <a:r>
              <a:rPr lang="en-US" altLang="en-US" sz="2400" b="1" dirty="0">
                <a:solidFill>
                  <a:srgbClr val="0000FF"/>
                </a:solidFill>
              </a:rPr>
              <a:t>(</a:t>
            </a:r>
            <a:r>
              <a:rPr lang="en-US" altLang="en-US" sz="2400" b="1" dirty="0"/>
              <a:t>sizeof(QElemType</a:t>
            </a:r>
            <a:r>
              <a:rPr lang="zh-CN" altLang="en-US" sz="2400" b="1" dirty="0"/>
              <a:t>）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* QUEUE_MAXSIZE</a:t>
            </a:r>
            <a:r>
              <a:rPr lang="en-US" altLang="en-US" sz="2400" b="1" dirty="0">
                <a:solidFill>
                  <a:srgbClr val="0000FF"/>
                </a:solidFill>
              </a:rPr>
              <a:t>);</a:t>
            </a:r>
            <a:endParaRPr lang="en-US" altLang="en-US" sz="2400" b="1" dirty="0">
              <a:solidFill>
                <a:srgbClr val="0000FF"/>
              </a:solidFill>
            </a:endParaRPr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//</a:t>
            </a:r>
            <a:r>
              <a:rPr lang="zh-CN" altLang="en-US" sz="2400" b="1" dirty="0"/>
              <a:t>分配空间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if (</a:t>
            </a:r>
            <a:r>
              <a:rPr lang="en-US" altLang="en-US" sz="2400" b="1" dirty="0">
                <a:solidFill>
                  <a:srgbClr val="0000FF"/>
                </a:solidFill>
              </a:rPr>
              <a:t>!q.base</a:t>
            </a:r>
            <a:r>
              <a:rPr lang="en-US" altLang="en-US" sz="2400" b="1" dirty="0"/>
              <a:t>)  exit(OVERFLOW);//</a:t>
            </a:r>
            <a:r>
              <a:rPr lang="zh-CN" altLang="en-US" sz="2400" b="1" dirty="0"/>
              <a:t>失败，退出程序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q.front =q.rear=0;//</a:t>
            </a:r>
            <a:r>
              <a:rPr lang="zh-CN" altLang="en-US" sz="2400" b="1" dirty="0"/>
              <a:t>置空队列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return OK;</a:t>
            </a:r>
            <a:endParaRPr lang="en-US" altLang="en-US" sz="2400" b="1" dirty="0"/>
          </a:p>
          <a:p>
            <a:pPr marL="4381500" lvl="0" indent="-438150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}//InitQueue;</a:t>
            </a:r>
            <a:endParaRPr lang="en-US" altLang="zh-CN" sz="2400" b="1" dirty="0"/>
          </a:p>
        </p:txBody>
      </p:sp>
      <p:sp>
        <p:nvSpPr>
          <p:cNvPr id="283652" name="AutoShape 4">
            <a:hlinkClick r:id="" action="ppaction://hlinkshowjump?jump=nextslide"/>
          </p:cNvPr>
          <p:cNvSpPr/>
          <p:nvPr/>
        </p:nvSpPr>
        <p:spPr>
          <a:xfrm>
            <a:off x="80772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3653" name="AutoShape 5"/>
          <p:cNvSpPr/>
          <p:nvPr/>
        </p:nvSpPr>
        <p:spPr>
          <a:xfrm>
            <a:off x="4495800" y="3200400"/>
            <a:ext cx="4648200" cy="533400"/>
          </a:xfrm>
          <a:prstGeom prst="wedgeRoundRectCallout">
            <a:avLst>
              <a:gd name="adj1" fmla="val -89037"/>
              <a:gd name="adj2" fmla="val 8481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/>
              <a:t>新开单元的地址为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则表示内存不足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5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10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122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133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175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203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charRg st="218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 advAuto="1000" build="p"/>
      <p:bldP spid="283651" grpId="0" build="p"/>
      <p:bldP spid="283652" grpId="0" animBg="1"/>
      <p:bldP spid="28365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4674" name="Text Box 2"/>
          <p:cNvSpPr txBox="1"/>
          <p:nvPr/>
        </p:nvSpPr>
        <p:spPr>
          <a:xfrm>
            <a:off x="990600" y="1468438"/>
            <a:ext cx="7239000" cy="392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算法说明：向循环队列的队尾插入一个元素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分        析</a:t>
            </a:r>
            <a:r>
              <a:rPr lang="zh-CN" altLang="en-US" sz="2400" b="1" dirty="0">
                <a:solidFill>
                  <a:srgbClr val="0000FF"/>
                </a:solidFill>
                <a:sym typeface="Wingdings" panose="05000000000000000000" pitchFamily="2" charset="2"/>
              </a:rPr>
              <a:t>：</a:t>
            </a:r>
            <a:endParaRPr lang="zh-CN" altLang="en-US" sz="2400" b="1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(1)  </a:t>
            </a:r>
            <a:r>
              <a:rPr lang="zh-CN" altLang="en-US" sz="2400" b="1" dirty="0"/>
              <a:t>插入前应当先判断队列是否满</a:t>
            </a:r>
            <a:endParaRPr lang="zh-CN" altLang="en-US" sz="2400" b="1" dirty="0"/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if (( q . rear + 1 ) %</a:t>
            </a:r>
            <a:r>
              <a:rPr lang="en-US" altLang="zh-CN" sz="2400" b="1" dirty="0">
                <a:solidFill>
                  <a:schemeClr val="accent1"/>
                </a:solidFill>
              </a:rPr>
              <a:t> </a:t>
            </a:r>
            <a:r>
              <a:rPr lang="en-US" altLang="zh-CN" sz="2000" b="1" dirty="0"/>
              <a:t>QUEUE_MAXSIZE</a:t>
            </a:r>
            <a:r>
              <a:rPr lang="en-US" altLang="zh-CN" sz="2400" b="1" dirty="0"/>
              <a:t> )==q.front)</a:t>
            </a:r>
            <a:endParaRPr lang="en-US" altLang="zh-CN" sz="2400" b="1" dirty="0"/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 return ERROR;</a:t>
            </a:r>
            <a:endParaRPr lang="en-US" altLang="zh-CN" sz="2400" b="1" dirty="0"/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(2</a:t>
            </a:r>
            <a:r>
              <a:rPr lang="zh-CN" altLang="en-US" sz="2400" b="1" dirty="0">
                <a:sym typeface="Wingdings" panose="05000000000000000000" pitchFamily="2" charset="2"/>
              </a:rPr>
              <a:t>）插入动作</a:t>
            </a:r>
            <a:endParaRPr lang="zh-CN" altLang="en-US" sz="2400" b="1" dirty="0"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</a:t>
            </a:r>
            <a:r>
              <a:rPr lang="en-US" altLang="zh-CN" sz="2400" b="1" dirty="0"/>
              <a:t>q.base [q.rear] = e;   </a:t>
            </a:r>
            <a:endParaRPr lang="en-US" altLang="zh-CN" sz="2400" b="1" dirty="0"/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    q.rear = ( q . rear + 1 ) %  </a:t>
            </a:r>
            <a:r>
              <a:rPr lang="en-US" altLang="zh-CN" sz="2000" b="1" dirty="0"/>
              <a:t>QUEUE_MAXSIZE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                 </a:t>
            </a:r>
            <a:endParaRPr lang="en-US" altLang="zh-CN" sz="2400" b="1" dirty="0"/>
          </a:p>
        </p:txBody>
      </p:sp>
      <p:sp>
        <p:nvSpPr>
          <p:cNvPr id="284675" name="Rectangle 3"/>
          <p:cNvSpPr/>
          <p:nvPr/>
        </p:nvSpPr>
        <p:spPr>
          <a:xfrm>
            <a:off x="990600" y="762000"/>
            <a:ext cx="1946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 入队操作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4676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32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5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108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13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13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173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charRg st="228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build="p"/>
      <p:bldP spid="284675" grpId="0" advAuto="1000" build="p"/>
      <p:bldP spid="28467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5698" name="Text Box 2"/>
          <p:cNvSpPr txBox="1"/>
          <p:nvPr/>
        </p:nvSpPr>
        <p:spPr>
          <a:xfrm>
            <a:off x="609600" y="990600"/>
            <a:ext cx="800100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Status   </a:t>
            </a:r>
            <a:r>
              <a:rPr lang="en-US" altLang="zh-CN" sz="2400" b="1" dirty="0">
                <a:solidFill>
                  <a:srgbClr val="0000FF"/>
                </a:solidFill>
              </a:rPr>
              <a:t>EnQueue</a:t>
            </a:r>
            <a:r>
              <a:rPr lang="en-US" altLang="en-US" sz="2400" b="1" dirty="0"/>
              <a:t>(SqQueue  &amp;q,    QElemType e)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{</a:t>
            </a:r>
            <a:r>
              <a:rPr lang="en-US" altLang="en-US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向循环队列  </a:t>
            </a:r>
            <a:r>
              <a:rPr lang="en-US" altLang="zh-CN" sz="2400" b="1" dirty="0">
                <a:solidFill>
                  <a:srgbClr val="0000FF"/>
                </a:solidFill>
              </a:rPr>
              <a:t>q </a:t>
            </a:r>
            <a:r>
              <a:rPr lang="zh-CN" altLang="en-US" sz="2400" b="1" dirty="0">
                <a:solidFill>
                  <a:srgbClr val="0000FF"/>
                </a:solidFill>
              </a:rPr>
              <a:t>的队尾加入一个元素 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en-US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if (   (q.rear+1) %  </a:t>
            </a:r>
            <a:r>
              <a:rPr lang="en-US" altLang="en-US" sz="2000" b="1" dirty="0"/>
              <a:t>QUEUE_MAXSIZE</a:t>
            </a:r>
            <a:r>
              <a:rPr lang="en-US" altLang="en-US" sz="2400" b="1" dirty="0"/>
              <a:t> = =  q.front  ) 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               return  ERROR ;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 q.base [ q.rear ] = e; </a:t>
            </a:r>
            <a:r>
              <a:rPr lang="en-US" altLang="en-US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存储</a:t>
            </a:r>
            <a:endParaRPr lang="en-US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</a:t>
            </a:r>
            <a:r>
              <a:rPr lang="en-US" altLang="zh-CN" sz="2400" b="1" dirty="0"/>
              <a:t>q.rear = ( q . rear + 1 ) %  </a:t>
            </a:r>
            <a:r>
              <a:rPr lang="en-US" altLang="zh-CN" sz="2000" b="1" dirty="0"/>
              <a:t>QUEUE_MAXSIZE</a:t>
            </a:r>
            <a:r>
              <a:rPr lang="en-US" altLang="zh-CN" sz="2400" b="1" dirty="0"/>
              <a:t>;</a:t>
            </a:r>
            <a:r>
              <a:rPr lang="en-US" altLang="zh-CN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指针后移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 return  OK;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}</a:t>
            </a:r>
            <a:r>
              <a:rPr lang="en-US" altLang="en-US" sz="2400" b="1" dirty="0">
                <a:solidFill>
                  <a:srgbClr val="0000FF"/>
                </a:solidFill>
              </a:rPr>
              <a:t>// </a:t>
            </a:r>
            <a:r>
              <a:rPr lang="en-US" altLang="zh-CN" sz="2400" b="1" dirty="0">
                <a:solidFill>
                  <a:srgbClr val="0000FF"/>
                </a:solidFill>
              </a:rPr>
              <a:t>EnQueue</a:t>
            </a:r>
            <a:r>
              <a:rPr lang="en-US" altLang="en-US" sz="2400" b="1" dirty="0">
                <a:solidFill>
                  <a:srgbClr val="0000FF"/>
                </a:solidFill>
              </a:rPr>
              <a:t>;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85699" name="AutoShape 3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5700" name="Rectangle 4"/>
          <p:cNvSpPr/>
          <p:nvPr/>
        </p:nvSpPr>
        <p:spPr>
          <a:xfrm>
            <a:off x="990600" y="381000"/>
            <a:ext cx="373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 入队操作（完整函数）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5698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85698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7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85698">
                                            <p:txEl>
                                              <p:charRg st="70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5698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161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5698">
                                            <p:txEl>
                                              <p:charRg st="161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195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5698">
                                            <p:txEl>
                                              <p:charRg st="195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247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5698">
                                            <p:txEl>
                                              <p:charRg st="247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charRg st="265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5698">
                                            <p:txEl>
                                              <p:charRg st="265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dvAuto="1000" build="p"/>
      <p:bldP spid="285699" grpId="0" animBg="1"/>
      <p:bldP spid="285700" grpId="0" advAuto="100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22" name="Text Box 2"/>
          <p:cNvSpPr txBox="1"/>
          <p:nvPr/>
        </p:nvSpPr>
        <p:spPr>
          <a:xfrm>
            <a:off x="990600" y="457200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）出队操作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6723" name="Text Box 3"/>
          <p:cNvSpPr txBox="1"/>
          <p:nvPr/>
        </p:nvSpPr>
        <p:spPr>
          <a:xfrm>
            <a:off x="990600" y="1295400"/>
            <a:ext cx="7315200" cy="4154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算法说明：删除队头元素，返回其值 </a:t>
            </a:r>
            <a:r>
              <a:rPr lang="en-US" altLang="zh-CN" sz="2400" b="1" dirty="0">
                <a:solidFill>
                  <a:srgbClr val="0000FF"/>
                </a:solidFill>
              </a:rPr>
              <a:t>e 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分        析： 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</a:t>
            </a:r>
            <a:r>
              <a:rPr lang="zh-CN" altLang="en-US" sz="2400" b="1" dirty="0">
                <a:solidFill>
                  <a:srgbClr val="0000FF"/>
                </a:solidFill>
              </a:rPr>
              <a:t>在删除前应当判断队列是否空；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if (q.front == q.rear ) return ERROR;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删除动作分析；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因为队头指针</a:t>
            </a:r>
            <a:r>
              <a:rPr lang="en-US" altLang="zh-CN" sz="2400" b="1" dirty="0"/>
              <a:t>front</a:t>
            </a:r>
            <a:r>
              <a:rPr lang="zh-CN" altLang="en-US" sz="2400" b="1" dirty="0"/>
              <a:t>指向队头元素的位置，所以：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e = q.base [ q.front ]  ; 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      q.front = ( q . front + 1 ) %  </a:t>
            </a:r>
            <a:r>
              <a:rPr lang="en-US" altLang="zh-CN" sz="2000" b="1" dirty="0"/>
              <a:t>QUEUE_MAXSIZE</a:t>
            </a:r>
            <a:r>
              <a:rPr lang="en-US" altLang="zh-CN" sz="2400" b="1" dirty="0"/>
              <a:t>;      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     </a:t>
            </a:r>
            <a:endParaRPr lang="en-US" altLang="zh-CN" sz="2400" b="1" dirty="0"/>
          </a:p>
        </p:txBody>
      </p:sp>
      <p:sp>
        <p:nvSpPr>
          <p:cNvPr id="286724" name="AutoShape 4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2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3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53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104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11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15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194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259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/>
      <p:bldP spid="286723" grpId="0" build="p"/>
      <p:bldP spid="2867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7746" name="Text Box 2"/>
          <p:cNvSpPr txBox="1"/>
          <p:nvPr/>
        </p:nvSpPr>
        <p:spPr>
          <a:xfrm>
            <a:off x="914400" y="955675"/>
            <a:ext cx="7239000" cy="434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Status     </a:t>
            </a:r>
            <a:r>
              <a:rPr lang="en-US" altLang="zh-CN" sz="2400" b="1" dirty="0">
                <a:solidFill>
                  <a:srgbClr val="0000FF"/>
                </a:solidFill>
              </a:rPr>
              <a:t>DeQueue</a:t>
            </a:r>
            <a:r>
              <a:rPr lang="en-US" altLang="zh-CN" sz="2400" b="1" dirty="0"/>
              <a:t> </a:t>
            </a:r>
            <a:r>
              <a:rPr lang="en-US" altLang="en-US" sz="2400" b="1" dirty="0"/>
              <a:t>( SqQueue  &amp;q,    QElemType &amp;e)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{</a:t>
            </a:r>
            <a:r>
              <a:rPr lang="en-US" altLang="en-US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若队列不空，删除循环队列 </a:t>
            </a:r>
            <a:r>
              <a:rPr lang="en-US" altLang="zh-CN" sz="2400" b="1" dirty="0">
                <a:solidFill>
                  <a:srgbClr val="0000FF"/>
                </a:solidFill>
              </a:rPr>
              <a:t>q </a:t>
            </a:r>
            <a:r>
              <a:rPr lang="zh-CN" altLang="en-US" sz="2400" b="1" dirty="0">
                <a:solidFill>
                  <a:srgbClr val="0000FF"/>
                </a:solidFill>
              </a:rPr>
              <a:t>的队头元素，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由 </a:t>
            </a:r>
            <a:r>
              <a:rPr lang="en-US" altLang="zh-CN" sz="2400" b="1" dirty="0">
                <a:solidFill>
                  <a:srgbClr val="0000FF"/>
                </a:solidFill>
              </a:rPr>
              <a:t>e </a:t>
            </a:r>
            <a:r>
              <a:rPr lang="zh-CN" altLang="en-US" sz="2400" b="1" dirty="0">
                <a:solidFill>
                  <a:srgbClr val="0000FF"/>
                </a:solidFill>
              </a:rPr>
              <a:t>返回其值，并返回</a:t>
            </a:r>
            <a:r>
              <a:rPr lang="en-US" altLang="zh-CN" sz="2400" b="1" dirty="0">
                <a:solidFill>
                  <a:srgbClr val="0000FF"/>
                </a:solidFill>
              </a:rPr>
              <a:t>OK</a:t>
            </a:r>
            <a:endParaRPr lang="en-US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 if ( q.front = = q.rear )   return ERROR;</a:t>
            </a:r>
            <a:r>
              <a:rPr lang="en-US" altLang="en-US" sz="2400" b="1" dirty="0">
                <a:solidFill>
                  <a:srgbClr val="0000FF"/>
                </a:solidFill>
              </a:rPr>
              <a:t>//</a:t>
            </a:r>
            <a:r>
              <a:rPr lang="zh-CN" altLang="en-US" sz="2400" b="1" dirty="0">
                <a:solidFill>
                  <a:srgbClr val="0000FF"/>
                </a:solidFill>
              </a:rPr>
              <a:t>队列空</a:t>
            </a:r>
            <a:endParaRPr lang="en-US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 e = q.base [ q.front ] ;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q.front=(q.front+1) % </a:t>
            </a:r>
            <a:r>
              <a:rPr lang="en-US" altLang="en-US" sz="2000" b="1" dirty="0"/>
              <a:t>QUEUE_MAXSIZE</a:t>
            </a:r>
            <a:r>
              <a:rPr lang="en-US" altLang="en-US" sz="2400" b="1" dirty="0"/>
              <a:t> ;   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 return OK;</a:t>
            </a:r>
            <a:endParaRPr lang="en-US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2400" b="1" dirty="0"/>
              <a:t>    }</a:t>
            </a:r>
            <a:r>
              <a:rPr lang="en-US" altLang="en-US" sz="2400" b="1" dirty="0">
                <a:solidFill>
                  <a:srgbClr val="0000FF"/>
                </a:solidFill>
              </a:rPr>
              <a:t>// DeQueue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87747" name="Text Box 3"/>
          <p:cNvSpPr txBox="1"/>
          <p:nvPr/>
        </p:nvSpPr>
        <p:spPr>
          <a:xfrm>
            <a:off x="962025" y="403225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算法：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7748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774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87746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87746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9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7746">
                                            <p:txEl>
                                              <p:charRg st="96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149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7746">
                                            <p:txEl>
                                              <p:charRg st="149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18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7746">
                                            <p:txEl>
                                              <p:charRg st="180" end="2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226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7746">
                                            <p:txEl>
                                              <p:charRg st="226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242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7746">
                                            <p:txEl>
                                              <p:charRg st="242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6" grpId="0" advAuto="1000" build="p"/>
      <p:bldP spid="287747" grpId="0"/>
      <p:bldP spid="28774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8610" name="Object 4"/>
          <p:cNvGraphicFramePr>
            <a:graphicFrameLocks noChangeAspect="1"/>
          </p:cNvGraphicFramePr>
          <p:nvPr/>
        </p:nvGraphicFramePr>
        <p:xfrm>
          <a:off x="609600" y="2344738"/>
          <a:ext cx="13487400" cy="432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532120" imgH="1342390" progId="Word.Document.8">
                  <p:embed/>
                </p:oleObj>
              </mc:Choice>
              <mc:Fallback>
                <p:oleObj name="" r:id="rId1" imgW="5532120" imgH="1342390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344738"/>
                        <a:ext cx="13487400" cy="432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1" name="Rectangle 5"/>
          <p:cNvSpPr/>
          <p:nvPr/>
        </p:nvSpPr>
        <p:spPr>
          <a:xfrm>
            <a:off x="265113" y="255588"/>
            <a:ext cx="6505575" cy="11636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CC0000"/>
                </a:solidFill>
                <a:latin typeface="楷体_GB2312"/>
                <a:ea typeface="楷体_GB2312"/>
              </a:rPr>
              <a:t>队列应用举例 </a:t>
            </a:r>
            <a:endParaRPr lang="zh-CN" altLang="en-US" sz="3200" b="1" dirty="0">
              <a:solidFill>
                <a:srgbClr val="CC0000"/>
              </a:solidFill>
              <a:latin typeface="楷体_GB2312"/>
              <a:ea typeface="楷体_GB231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CC0000"/>
                </a:solidFill>
                <a:ea typeface="楷体_GB2312"/>
              </a:rPr>
              <a:t>—</a:t>
            </a:r>
            <a:r>
              <a:rPr lang="zh-CN" altLang="en-US" sz="3200" b="1" dirty="0">
                <a:solidFill>
                  <a:srgbClr val="CC0000"/>
                </a:solidFill>
                <a:ea typeface="楷体_GB2312"/>
              </a:rPr>
              <a:t>打印二项展开式 </a:t>
            </a:r>
            <a:r>
              <a:rPr lang="en-US" altLang="zh-CN" sz="3200" b="1" dirty="0">
                <a:solidFill>
                  <a:srgbClr val="CC0000"/>
                </a:solidFill>
                <a:ea typeface="楷体_GB2312"/>
              </a:rPr>
              <a:t>(a + b)</a:t>
            </a:r>
            <a:r>
              <a:rPr lang="en-US" altLang="zh-CN" sz="3200" b="1" baseline="30000" dirty="0">
                <a:solidFill>
                  <a:srgbClr val="CC0000"/>
                </a:solidFill>
                <a:ea typeface="楷体_GB2312"/>
              </a:rPr>
              <a:t>i </a:t>
            </a:r>
            <a:r>
              <a:rPr lang="zh-CN" altLang="en-US" sz="3200" b="1" dirty="0">
                <a:solidFill>
                  <a:srgbClr val="CC0000"/>
                </a:solidFill>
                <a:ea typeface="楷体_GB2312"/>
              </a:rPr>
              <a:t>的系数</a:t>
            </a:r>
            <a:endParaRPr lang="zh-CN" altLang="en-US" sz="3200" b="1" dirty="0">
              <a:solidFill>
                <a:srgbClr val="CC0000"/>
              </a:solidFill>
              <a:ea typeface="楷体_GB2312"/>
            </a:endParaRPr>
          </a:p>
        </p:txBody>
      </p:sp>
      <p:sp>
        <p:nvSpPr>
          <p:cNvPr id="68612" name="Rectangle 6"/>
          <p:cNvSpPr/>
          <p:nvPr/>
        </p:nvSpPr>
        <p:spPr>
          <a:xfrm>
            <a:off x="609600" y="1419225"/>
            <a:ext cx="4883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杨辉三角形  </a:t>
            </a: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(Pascal’s triangle)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68613" name="Text Box 7"/>
          <p:cNvSpPr txBox="1"/>
          <p:nvPr/>
        </p:nvSpPr>
        <p:spPr>
          <a:xfrm>
            <a:off x="3176588" y="3629025"/>
            <a:ext cx="341312" cy="4572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68614" name="Text Box 8"/>
          <p:cNvSpPr txBox="1"/>
          <p:nvPr/>
        </p:nvSpPr>
        <p:spPr>
          <a:xfrm>
            <a:off x="3951288" y="3629025"/>
            <a:ext cx="341312" cy="4572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95400"/>
            <a:ext cx="8077200" cy="3803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5" name="Text Box 5"/>
          <p:cNvSpPr txBox="1"/>
          <p:nvPr/>
        </p:nvSpPr>
        <p:spPr>
          <a:xfrm>
            <a:off x="685800" y="409575"/>
            <a:ext cx="68611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分析第 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i </a:t>
            </a: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行元素与第 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i+1</a:t>
            </a: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行元素的关系</a:t>
            </a:r>
            <a:endParaRPr lang="zh-CN" altLang="en-US" b="1" dirty="0">
              <a:solidFill>
                <a:srgbClr val="003366"/>
              </a:solidFill>
              <a:ea typeface="楷体_GB2312"/>
            </a:endParaRPr>
          </a:p>
        </p:txBody>
      </p:sp>
      <p:sp>
        <p:nvSpPr>
          <p:cNvPr id="69636" name="Text Box 6"/>
          <p:cNvSpPr txBox="1"/>
          <p:nvPr/>
        </p:nvSpPr>
        <p:spPr>
          <a:xfrm>
            <a:off x="457200" y="54864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目的是从前一行的数据可以计算下一行的数据</a:t>
            </a:r>
            <a:endParaRPr lang="zh-CN" altLang="en-US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95400"/>
            <a:ext cx="8458200" cy="4822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59" name="Text Box 5"/>
          <p:cNvSpPr txBox="1"/>
          <p:nvPr/>
        </p:nvSpPr>
        <p:spPr>
          <a:xfrm>
            <a:off x="457200" y="457200"/>
            <a:ext cx="723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从第 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i </a:t>
            </a: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行数据计算并存放第 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i+1 </a:t>
            </a: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行数据</a:t>
            </a:r>
            <a:endParaRPr lang="zh-CN" altLang="en-US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Text Box 4"/>
          <p:cNvSpPr txBox="1"/>
          <p:nvPr/>
        </p:nvSpPr>
        <p:spPr>
          <a:xfrm>
            <a:off x="127000" y="260350"/>
            <a:ext cx="8829675" cy="6299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void YANGVI ( int n ) {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    Queue q;                               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zh-CN" sz="2400" b="1" dirty="0">
                <a:solidFill>
                  <a:srgbClr val="CC0000"/>
                </a:solidFill>
                <a:ea typeface="楷体_GB2312"/>
              </a:rPr>
              <a:t>队列初始化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  <a:ea typeface="楷体_GB2312"/>
              </a:rPr>
              <a:t>    </a:t>
            </a: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q.MakeEmpty ( );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    q.EnQueue (1);  q.EnQueue (1);/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预放入第一行的两个系数</a:t>
            </a:r>
            <a:r>
              <a:rPr lang="zh-CN" altLang="en-US" sz="2400" b="1" dirty="0">
                <a:solidFill>
                  <a:srgbClr val="003366"/>
                </a:solidFill>
                <a:ea typeface="楷体_GB2312"/>
              </a:rPr>
              <a:t>	</a:t>
            </a:r>
            <a:endParaRPr lang="zh-CN" altLang="en-US" sz="24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  <a:ea typeface="楷体_GB2312"/>
              </a:rPr>
              <a:t>    </a:t>
            </a:r>
            <a:r>
              <a:rPr lang="en-US" altLang="zh-CN" sz="2400" b="1" dirty="0">
                <a:solidFill>
                  <a:srgbClr val="003366"/>
                </a:solidFill>
                <a:ea typeface="楷体_GB2312"/>
              </a:rPr>
              <a:t>int s = 0;</a:t>
            </a:r>
            <a:endParaRPr lang="en-US" altLang="zh-CN" sz="24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for ( int i=1; i&lt;=n; i++ ) {  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逐行处理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</a:rPr>
              <a:t>        </a:t>
            </a:r>
            <a:r>
              <a:rPr lang="en-US" altLang="zh-CN" sz="2400" b="1" dirty="0">
                <a:solidFill>
                  <a:srgbClr val="003366"/>
                </a:solidFill>
              </a:rPr>
              <a:t>cout &lt;&lt; endl;					</a:t>
            </a:r>
            <a:endParaRPr lang="en-US" altLang="zh-CN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        q.EnQueue (0);					</a:t>
            </a:r>
            <a:endParaRPr lang="en-US" altLang="zh-CN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        for ( int j=1; j&lt;=i+2; j++ ) { 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处理第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i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行的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i+2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个系数</a:t>
            </a:r>
            <a:endParaRPr lang="zh-CN" altLang="en-US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</a:rPr>
              <a:t>            </a:t>
            </a:r>
            <a:r>
              <a:rPr lang="en-US" altLang="zh-CN" sz="2400" b="1" dirty="0">
                <a:solidFill>
                  <a:srgbClr val="003366"/>
                </a:solidFill>
              </a:rPr>
              <a:t>int t = q.DeQueue ( );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读取系数		</a:t>
            </a:r>
            <a:r>
              <a:rPr lang="zh-CN" altLang="en-US" sz="2400" b="1" dirty="0">
                <a:solidFill>
                  <a:srgbClr val="003366"/>
                </a:solidFill>
              </a:rPr>
              <a:t>		</a:t>
            </a:r>
            <a:endParaRPr lang="zh-CN" altLang="en-US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</a:rPr>
              <a:t>            </a:t>
            </a:r>
            <a:r>
              <a:rPr lang="en-US" altLang="zh-CN" sz="2400" b="1" dirty="0">
                <a:solidFill>
                  <a:srgbClr val="003366"/>
                </a:solidFill>
              </a:rPr>
              <a:t>q.EnQueue ( s+t );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计算下一行系数，并进队列</a:t>
            </a:r>
            <a:r>
              <a:rPr lang="zh-CN" altLang="en-US" sz="2400" b="1" dirty="0">
                <a:solidFill>
                  <a:srgbClr val="003366"/>
                </a:solidFill>
              </a:rPr>
              <a:t>		</a:t>
            </a:r>
            <a:endParaRPr lang="zh-CN" altLang="en-US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366"/>
                </a:solidFill>
              </a:rPr>
              <a:t>            </a:t>
            </a:r>
            <a:r>
              <a:rPr lang="en-US" altLang="zh-CN" sz="2400" b="1" dirty="0">
                <a:solidFill>
                  <a:srgbClr val="003366"/>
                </a:solidFill>
              </a:rPr>
              <a:t>s = t;</a:t>
            </a:r>
            <a:endParaRPr lang="en-US" altLang="zh-CN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            if ( j != i+2 ) cout &lt;&lt; s &lt;&lt; ‘ ’;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打印一个系数，第 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i+2</a:t>
            </a:r>
            <a:r>
              <a:rPr lang="zh-CN" altLang="en-US" sz="2400" b="1" dirty="0">
                <a:solidFill>
                  <a:srgbClr val="CC0000"/>
                </a:solidFill>
                <a:ea typeface="楷体_GB2312"/>
              </a:rPr>
              <a:t>个为</a:t>
            </a:r>
            <a:r>
              <a:rPr lang="en-US" altLang="zh-CN" sz="2400" b="1" dirty="0">
                <a:solidFill>
                  <a:srgbClr val="CC0000"/>
                </a:solidFill>
                <a:ea typeface="楷体_GB2312"/>
              </a:rPr>
              <a:t>0	</a:t>
            </a:r>
            <a:endParaRPr lang="en-US" altLang="zh-CN" sz="2400" b="1" dirty="0">
              <a:solidFill>
                <a:srgbClr val="CC0000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        }</a:t>
            </a:r>
            <a:endParaRPr lang="en-US" altLang="zh-CN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    }</a:t>
            </a:r>
            <a:endParaRPr lang="en-US" altLang="zh-CN" sz="2400" b="1" dirty="0">
              <a:solidFill>
                <a:srgbClr val="003366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366"/>
                </a:solidFill>
              </a:rPr>
              <a:t>}</a:t>
            </a:r>
            <a:endParaRPr lang="en-US" altLang="zh-CN" sz="2800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Text Box 3"/>
          <p:cNvSpPr txBox="1"/>
          <p:nvPr/>
        </p:nvSpPr>
        <p:spPr>
          <a:xfrm>
            <a:off x="217488" y="188913"/>
            <a:ext cx="2806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</a:rPr>
              <a:t>补充：双端队列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  <p:sp>
        <p:nvSpPr>
          <p:cNvPr id="72708" name="矩形 3"/>
          <p:cNvSpPr/>
          <p:nvPr/>
        </p:nvSpPr>
        <p:spPr>
          <a:xfrm>
            <a:off x="330200" y="3990975"/>
            <a:ext cx="8461375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某队列允许在其两端进行入队操作，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但仅允许在一端进行出队操作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，元素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a,b,c,d,e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依次入此队列后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再进行出队操作，则不可能得到的出队序列是（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）</a:t>
            </a:r>
            <a:endParaRPr lang="en-US" altLang="zh-CN" sz="2800" b="1" dirty="0">
              <a:solidFill>
                <a:srgbClr val="333399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   A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b,a,c,d,e       B  d,b,a,c,e      </a:t>
            </a:r>
            <a:endParaRPr lang="en-US" altLang="zh-CN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</a:rPr>
              <a:t>   d,b,c,a,e       D   e,c,b,a,d</a:t>
            </a: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2709" name="矩形 4"/>
          <p:cNvSpPr/>
          <p:nvPr/>
        </p:nvSpPr>
        <p:spPr>
          <a:xfrm>
            <a:off x="330200" y="750888"/>
            <a:ext cx="8461375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zh-CN" altLang="zh-CN" sz="2800" b="1" dirty="0">
                <a:latin typeface="宋体" panose="02010600030101010101" pitchFamily="2" charset="-122"/>
              </a:rPr>
              <a:t>双端队列（deque，全名double-ended queue）是一种具有</a:t>
            </a:r>
            <a:r>
              <a:rPr lang="zh-CN" altLang="zh-CN" sz="2800" b="1" dirty="0">
                <a:latin typeface="宋体" panose="02010600030101010101" pitchFamily="2" charset="-122"/>
                <a:hlinkClick r:id="rId1" tooltip="队列"/>
              </a:rPr>
              <a:t>队列</a:t>
            </a:r>
            <a:r>
              <a:rPr lang="zh-CN" altLang="zh-CN" sz="2800" b="1" dirty="0">
                <a:latin typeface="宋体" panose="02010600030101010101" pitchFamily="2" charset="-122"/>
              </a:rPr>
              <a:t>和</a:t>
            </a:r>
            <a:r>
              <a:rPr lang="zh-CN" altLang="zh-CN" sz="2800" b="1" dirty="0">
                <a:latin typeface="宋体" panose="02010600030101010101" pitchFamily="2" charset="-122"/>
                <a:hlinkClick r:id="rId2" tooltip="栈"/>
              </a:rPr>
              <a:t>栈</a:t>
            </a:r>
            <a:r>
              <a:rPr lang="zh-CN" altLang="zh-CN" sz="2800" b="1" dirty="0">
                <a:latin typeface="宋体" panose="02010600030101010101" pitchFamily="2" charset="-122"/>
              </a:rPr>
              <a:t>性质的</a:t>
            </a:r>
            <a:r>
              <a:rPr lang="zh-CN" altLang="zh-CN" sz="2800" b="1" dirty="0">
                <a:latin typeface="宋体" panose="02010600030101010101" pitchFamily="2" charset="-122"/>
                <a:hlinkClick r:id="rId3" tooltip="数据结构"/>
              </a:rPr>
              <a:t>数据结构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0000CC"/>
                </a:solidFill>
                <a:latin typeface="宋体" panose="02010600030101010101" pitchFamily="2" charset="-122"/>
              </a:rPr>
              <a:t>把双端队列可看成栈底连在一起的两个栈</a:t>
            </a:r>
            <a:r>
              <a:rPr lang="zh-CN" altLang="zh-CN" sz="2800" b="1" dirty="0">
                <a:latin typeface="宋体" panose="02010600030101010101" pitchFamily="2" charset="-122"/>
              </a:rPr>
              <a:t>。双端队列中的元素可以从两端弹出，插入和删除操作限定在队列的两边进行。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pic>
        <p:nvPicPr>
          <p:cNvPr id="72710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838" y="2566988"/>
            <a:ext cx="4738687" cy="145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3731" name="矩形 2"/>
          <p:cNvSpPr/>
          <p:nvPr/>
        </p:nvSpPr>
        <p:spPr>
          <a:xfrm>
            <a:off x="454025" y="1238250"/>
            <a:ext cx="8186738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  允许在一端进行插入和删除，但在另一端只允许插入的双端队列叫做输出受限的双端队列，允许在一端进行插入和删除，但在另一端只允许删除的双端队列叫做输入受限的双端队列。</a:t>
            </a:r>
            <a:endParaRPr lang="zh-CN" altLang="en-US" sz="2800" b="1" dirty="0">
              <a:solidFill>
                <a:srgbClr val="333399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4025" y="566738"/>
            <a:ext cx="280670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</a:rPr>
              <a:t>受限的双端队列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  <p:pic>
        <p:nvPicPr>
          <p:cNvPr id="73733" name="Picture 2" descr="http://g.hiphotos.baidu.com/baike/pic/item/eaf81a4c510fd9f9a9ecb068252dd42a2834a43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488" y="3038475"/>
            <a:ext cx="4416425" cy="2878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1371600" y="381000"/>
            <a:ext cx="5638800" cy="838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讨论（代本章小结）</a:t>
            </a:r>
            <a:endParaRPr lang="zh-CN" altLang="en-US" b="1" dirty="0"/>
          </a:p>
        </p:txBody>
      </p:sp>
      <p:sp>
        <p:nvSpPr>
          <p:cNvPr id="288771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0010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线性表、栈与队的异同点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相同点：</a:t>
            </a:r>
            <a:r>
              <a:rPr lang="zh-CN" altLang="en-US" sz="2400" b="1" dirty="0">
                <a:ea typeface="楷体_GB2312"/>
              </a:rPr>
              <a:t>逻辑结构相同，都是线性的；都可以用顺序存储或链表存储；栈和队列是两种特殊的线性表，即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</a:rPr>
              <a:t>受限的线性表</a:t>
            </a:r>
            <a:r>
              <a:rPr lang="zh-CN" altLang="en-US" sz="2400" b="1" dirty="0">
                <a:ea typeface="楷体_GB2312"/>
              </a:rPr>
              <a:t>（只是对插入、删除运算加以限制）。</a:t>
            </a:r>
            <a:endParaRPr lang="zh-CN" altLang="en-US" sz="2400" b="1" dirty="0">
              <a:ea typeface="楷体_GB231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不同点：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① 运算规则不同，线性表为随机存取，而栈是只允许在一端进行插入和删除运算，因而是后进先出表</a:t>
            </a:r>
            <a:r>
              <a:rPr lang="en-US" altLang="zh-CN" sz="2400" b="1" dirty="0">
                <a:latin typeface="楷体_GB2312"/>
                <a:ea typeface="楷体_GB2312"/>
              </a:rPr>
              <a:t>LIFO</a:t>
            </a:r>
            <a:r>
              <a:rPr lang="zh-CN" altLang="en-US" sz="2400" b="1" dirty="0">
                <a:latin typeface="楷体_GB2312"/>
                <a:ea typeface="楷体_GB2312"/>
              </a:rPr>
              <a:t>；队列是只允许在一端进行插入、另一端进行删除运算，因而是先进先出表</a:t>
            </a:r>
            <a:r>
              <a:rPr lang="en-US" altLang="zh-CN" sz="2400" b="1" dirty="0">
                <a:latin typeface="楷体_GB2312"/>
                <a:ea typeface="楷体_GB2312"/>
              </a:rPr>
              <a:t>FIFO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② 用途不同，线性表比较通用；堆栈用于函数调用、递归和简化设计等；队列用于离散事件模拟、多道作业处理和简化设计等。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88772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1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8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87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charRg st="175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1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/>
      <p:bldP spid="28877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25413" y="492125"/>
            <a:ext cx="8893175" cy="5976938"/>
          </a:xfrm>
          <a:prstGeom prst="rect">
            <a:avLst/>
          </a:prstGeom>
        </p:spPr>
        <p:txBody>
          <a:bodyPr/>
          <a:lstStyle/>
          <a:p>
            <a:pPr marR="0" algn="just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1.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在作进栈运算时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应先判别栈是否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(  ①  ),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在作退栈运算时应先判别栈是否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( ②  )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。当栈中元素为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n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个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作进栈运算时发生上溢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则说明该栈的最大容量为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( ③ )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1" lang="zh-CN" altLang="en-US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为了增加内存空间的利用率和减少溢出的可能性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由两个栈共享一片连续的内存空间时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应将两栈的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( ④   )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分别设在这片内存空间的两端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这样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当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( ⑤ )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时，才产生上溢。 </a:t>
            </a:r>
            <a:endParaRPr kumimoji="1" lang="zh-CN" altLang="en-US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endParaRPr kumimoji="1" lang="zh-CN" altLang="en-US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①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 ②: A.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空  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B.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满 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C.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上溢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D.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下溢      </a:t>
            </a:r>
            <a:endParaRPr kumimoji="1" lang="zh-CN" altLang="en-US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③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: A. n-1   B. n    C. n+1   D.  n/2 </a:t>
            </a:r>
            <a:endParaRPr kumimoji="1" lang="en-US" altLang="zh-CN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④: A.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长度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B.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深度 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C.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栈顶   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D.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栈底</a:t>
            </a:r>
            <a:endParaRPr kumimoji="1" lang="zh-CN" altLang="en-US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⑤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: A.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两个栈的栈顶同时到达栈空间的中心点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.</a:t>
            </a:r>
            <a:endParaRPr kumimoji="1" lang="en-US" altLang="zh-CN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    B.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其中一个栈的栈顶到达栈空间的中心点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.</a:t>
            </a:r>
            <a:endParaRPr kumimoji="1" lang="en-US" altLang="zh-CN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    C.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两个栈的栈顶在栈空间的某一位置相遇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.</a:t>
            </a:r>
            <a:endParaRPr kumimoji="1" lang="en-US" altLang="zh-CN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R="0" algn="just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        D. 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两个栈均不空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且一个栈的栈顶到达另一个栈的栈底</a:t>
            </a:r>
            <a:r>
              <a:rPr kumimoji="1" lang="en-US" altLang="zh-CN" sz="2400" kern="0" cap="none" spc="0" normalizeH="0" baseline="0" noProof="0" dirty="0">
                <a:latin typeface="宋体" panose="02010600030101010101" pitchFamily="2" charset="-122"/>
                <a:ea typeface="+mn-ea"/>
                <a:cs typeface="+mn-cs"/>
              </a:rPr>
              <a:t>.</a:t>
            </a:r>
            <a:endParaRPr kumimoji="1" lang="en-US" altLang="zh-CN" sz="2400" kern="0" cap="none" spc="0" normalizeH="0" baseline="0" noProof="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66700" y="1009650"/>
            <a:ext cx="8666163" cy="523875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2.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输入序列为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ABC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，可以变为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CBA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时，经过的栈操作为（  ）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A. 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push,pop,push,pop,push,pop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        </a:t>
            </a:r>
            <a:b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</a:b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B. 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push,push,push,pop,pop,pop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C. 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push,push,pop,pop,push,pop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        </a:t>
            </a:r>
            <a:b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</a:b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D. 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push,pop,push,push,pop,pop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3.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若一个栈以向量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V[1..n]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存储，初始栈顶指针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top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为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n+1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，则下面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x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进栈的正确操作是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    )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。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top:=top+1;  V [top]:=x            </a:t>
            </a:r>
            <a:b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</a:b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B.  V [top]:=x; top:=top+1    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C. top:=top-1;  V [top]:=x            </a:t>
            </a:r>
            <a:b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</a:b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D.  V [top]:=x; top:=top-1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4.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设计一个判别表达式中左，右括号是否配对出现的算法，采用（    ）数据结构最佳。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．线性表的顺序存储结构          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队列     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8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线性表的链式存储结构            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栈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51788" y="942975"/>
            <a:ext cx="5984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</a:t>
            </a:r>
            <a:endParaRPr kumimoji="1" lang="zh-CN" altLang="en-US" sz="2400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0" y="2954338"/>
            <a:ext cx="59848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</a:t>
            </a:r>
            <a:endParaRPr kumimoji="1" lang="zh-CN" altLang="en-US" sz="2400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3988" y="4879975"/>
            <a:ext cx="5984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</a:t>
            </a:r>
            <a:endParaRPr kumimoji="1" lang="zh-CN" altLang="en-US" sz="2400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4625" y="914400"/>
            <a:ext cx="8675688" cy="5064125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5.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用不带头结点的单链表存储队列时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其队头指针指向队头结点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其队尾指针指向队尾结点，则在进行删除操作时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    )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。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．仅修改队头指针          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仅修改队尾指针 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队头、队尾指针都要修改  </a:t>
            </a:r>
            <a:b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</a:b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队头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队尾指针都可能要修改 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6.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假设以数组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A[m]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存放循环队列的元素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其头尾指针分别为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front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和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rear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，则当前队列中的元素个数为（    ）。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(rear-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front+m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)%m       B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rear-front+1     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 C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(front-</a:t>
            </a:r>
            <a:r>
              <a:rPr kumimoji="1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rear+m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)%m      D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(rear-front)%m </a:t>
            </a:r>
            <a:endParaRPr kumimoji="1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7.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栈和队都是（    ）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．顺序存储的线性结构       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B.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链式存储的非线性结构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C.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限制存取点的线性结构     </a:t>
            </a:r>
            <a:r>
              <a:rPr kumimoji="1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D. </a:t>
            </a:r>
            <a:r>
              <a:rPr kumimoji="1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限制存取点的非线性结构 </a:t>
            </a:r>
            <a:endParaRPr kumimoji="1" lang="zh-CN" altLang="en-US" sz="24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16346</Words>
  <Application>WPS 演示</Application>
  <PresentationFormat>全屏显示(4:3)</PresentationFormat>
  <Paragraphs>1464</Paragraphs>
  <Slides>72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72</vt:i4>
      </vt:variant>
    </vt:vector>
  </HeadingPairs>
  <TitlesOfParts>
    <vt:vector size="98" baseType="lpstr">
      <vt:lpstr>Arial</vt:lpstr>
      <vt:lpstr>宋体</vt:lpstr>
      <vt:lpstr>Wingdings</vt:lpstr>
      <vt:lpstr>Times New Roman</vt:lpstr>
      <vt:lpstr>楷体_GB2312</vt:lpstr>
      <vt:lpstr>新宋体</vt:lpstr>
      <vt:lpstr>黑体</vt:lpstr>
      <vt:lpstr>隶书</vt:lpstr>
      <vt:lpstr>楷体</vt:lpstr>
      <vt:lpstr>仿宋_GB2312</vt:lpstr>
      <vt:lpstr>仿宋</vt:lpstr>
      <vt:lpstr>PMingLiU</vt:lpstr>
      <vt:lpstr>MingLiU-ExtB</vt:lpstr>
      <vt:lpstr>华文行楷</vt:lpstr>
      <vt:lpstr>Monotype Sorts</vt:lpstr>
      <vt:lpstr>Wingdings</vt:lpstr>
      <vt:lpstr>Symbol</vt:lpstr>
      <vt:lpstr>Arial Narrow</vt:lpstr>
      <vt:lpstr>楷体_GB2312</vt:lpstr>
      <vt:lpstr>仿宋_GB2312</vt:lpstr>
      <vt:lpstr>微软雅黑</vt:lpstr>
      <vt:lpstr>Arial Unicode MS</vt:lpstr>
      <vt:lpstr>默认设计模板</vt:lpstr>
      <vt:lpstr>Equation.3</vt:lpstr>
      <vt:lpstr>Equation.3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河南大学计算机与信息工程学院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数据结构课件</dc:title>
  <dc:creator>张连堂</dc:creator>
  <cp:lastModifiedBy>裴前.贤hj</cp:lastModifiedBy>
  <cp:revision>264</cp:revision>
  <dcterms:created xsi:type="dcterms:W3CDTF">2002-09-11T17:10:59Z</dcterms:created>
  <dcterms:modified xsi:type="dcterms:W3CDTF">2024-11-20T04:27:07Z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C071CF7C71CD467D8BFFE72D1AA6D0F0_12</vt:lpwstr>
  </property>
  <property fmtid="{D5CDD505-2E9C-101B-9397-08002B2CF9AE}" pid="3" name="KSOProductBuildVer">
    <vt:lpwstr>2052-12.1.0.18912</vt:lpwstr>
  </property>
</Properties>
</file>