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7" r:id="rId2"/>
    <p:sldId id="470" r:id="rId3"/>
    <p:sldId id="474" r:id="rId4"/>
    <p:sldId id="689" r:id="rId5"/>
    <p:sldId id="483" r:id="rId6"/>
    <p:sldId id="484" r:id="rId7"/>
    <p:sldId id="485" r:id="rId8"/>
    <p:sldId id="486" r:id="rId9"/>
    <p:sldId id="488" r:id="rId10"/>
    <p:sldId id="490" r:id="rId11"/>
    <p:sldId id="493" r:id="rId12"/>
    <p:sldId id="687" r:id="rId13"/>
    <p:sldId id="494" r:id="rId14"/>
    <p:sldId id="495" r:id="rId15"/>
    <p:sldId id="496" r:id="rId16"/>
    <p:sldId id="498" r:id="rId17"/>
    <p:sldId id="499" r:id="rId18"/>
    <p:sldId id="500" r:id="rId19"/>
    <p:sldId id="501" r:id="rId20"/>
    <p:sldId id="684" r:id="rId21"/>
    <p:sldId id="685" r:id="rId22"/>
  </p:sldIdLst>
  <p:sldSz cx="9144000" cy="5143500" type="screen16x9"/>
  <p:notesSz cx="6858000" cy="9144000"/>
  <p:embeddedFontLst>
    <p:embeddedFont>
      <p:font typeface="微软雅黑" panose="020B0503020204020204" pitchFamily="34" charset="-122"/>
      <p:regular r:id="rId24"/>
      <p:bold r:id="rId25"/>
    </p:embeddedFont>
    <p:embeddedFont>
      <p:font typeface="Calibri" panose="020F0502020204030204" pitchFamily="34" charset="0"/>
      <p:regular r:id="rId26"/>
      <p:bold r:id="rId27"/>
      <p:italic r:id="rId28"/>
      <p:boldItalic r:id="rId29"/>
    </p:embeddedFont>
    <p:embeddedFont>
      <p:font typeface="黑体" panose="02010609060101010101" pitchFamily="49" charset="-122"/>
      <p:regular r:id="rId3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00CC"/>
    <a:srgbClr val="009900"/>
    <a:srgbClr val="99FFCC"/>
    <a:srgbClr val="00FF99"/>
    <a:srgbClr val="3333FF"/>
    <a:srgbClr val="99CCFF"/>
    <a:srgbClr val="00FFFF"/>
    <a:srgbClr val="CC66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5657" autoAdjust="0"/>
    <p:restoredTop sz="94650" autoAdjust="0"/>
  </p:normalViewPr>
  <p:slideViewPr>
    <p:cSldViewPr snapToGrid="0">
      <p:cViewPr varScale="1">
        <p:scale>
          <a:sx n="84" d="100"/>
          <a:sy n="84" d="100"/>
        </p:scale>
        <p:origin x="54" y="396"/>
      </p:cViewPr>
      <p:guideLst>
        <p:guide orient="horz" pos="1620"/>
        <p:guide pos="2880"/>
      </p:guideLst>
    </p:cSldViewPr>
  </p:slideViewPr>
  <p:notesTextViewPr>
    <p:cViewPr>
      <p:scale>
        <a:sx n="1" d="1"/>
        <a:sy n="1" d="1"/>
      </p:scale>
      <p:origin x="0" y="0"/>
    </p:cViewPr>
  </p:notesTextViewPr>
  <p:sorterViewPr>
    <p:cViewPr>
      <p:scale>
        <a:sx n="100" d="100"/>
        <a:sy n="100" d="100"/>
      </p:scale>
      <p:origin x="0" y="-2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2020/3/3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02CC29-53F3-4D08-A819-C2203B45D86F}" type="slidenum">
              <a:rPr lang="en-US" altLang="zh-CN"/>
              <a:pPr/>
              <a:t>12</a:t>
            </a:fld>
            <a:endParaRPr lang="en-US" altLang="zh-CN"/>
          </a:p>
        </p:txBody>
      </p:sp>
      <p:sp>
        <p:nvSpPr>
          <p:cNvPr id="553986" name="Rectangle 2"/>
          <p:cNvSpPr>
            <a:spLocks noGrp="1" noRot="1" noChangeAspect="1" noChangeArrowheads="1" noTextEdit="1"/>
          </p:cNvSpPr>
          <p:nvPr>
            <p:ph type="sldImg"/>
          </p:nvPr>
        </p:nvSpPr>
        <p:spPr>
          <a:ln/>
        </p:spPr>
      </p:sp>
      <p:sp>
        <p:nvSpPr>
          <p:cNvPr id="553987" name="Rectangle 3"/>
          <p:cNvSpPr>
            <a:spLocks noGrp="1" noChangeArrowheads="1"/>
          </p:cNvSpPr>
          <p:nvPr>
            <p:ph type="body" idx="1"/>
          </p:nvPr>
        </p:nvSpPr>
        <p:spPr/>
        <p:txBody>
          <a:bodyPr/>
          <a:lstStyle/>
          <a:p>
            <a:endParaRPr lang="zh-CN" altLang="zh-CN" dirty="0"/>
          </a:p>
        </p:txBody>
      </p:sp>
    </p:spTree>
    <p:extLst>
      <p:ext uri="{BB962C8B-B14F-4D97-AF65-F5344CB8AC3E}">
        <p14:creationId xmlns:p14="http://schemas.microsoft.com/office/powerpoint/2010/main" val="2132948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2020/3/3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499667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2020/3/3</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0064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2020/3/3</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992268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2020/3/3</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617186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2020/3/3</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591302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2020/3/3</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22852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2020/3/3</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715674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2020/3/3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16946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2020/3/3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315308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10997"/>
            <a:ext cx="8229600" cy="3394472"/>
          </a:xfrm>
          <a:prstGeom prst="rect">
            <a:avLst/>
          </a:prstGeom>
        </p:spPr>
        <p:txBody>
          <a:bodyPr/>
          <a:lstStyle>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6727032" y="4805958"/>
            <a:ext cx="1920240" cy="274320"/>
          </a:xfrm>
          <a:prstGeom prst="rect">
            <a:avLst/>
          </a:prstGeom>
        </p:spPr>
        <p:txBody>
          <a:bodyPr/>
          <a:lstStyle>
            <a:extLst/>
          </a:lstStyle>
          <a:p>
            <a:endParaRPr lang="en-US" altLang="zh-CN" dirty="0"/>
          </a:p>
        </p:txBody>
      </p:sp>
      <p:sp>
        <p:nvSpPr>
          <p:cNvPr id="5" name="页脚占位符 4"/>
          <p:cNvSpPr>
            <a:spLocks noGrp="1"/>
          </p:cNvSpPr>
          <p:nvPr>
            <p:ph type="ftr" sz="quarter" idx="11"/>
          </p:nvPr>
        </p:nvSpPr>
        <p:spPr>
          <a:xfrm>
            <a:off x="4380073" y="4805959"/>
            <a:ext cx="2350681" cy="273844"/>
          </a:xfrm>
          <a:prstGeom prst="rect">
            <a:avLst/>
          </a:prstGeom>
        </p:spPr>
        <p:txBody>
          <a:bodyPr/>
          <a:lstStyle>
            <a:extLst/>
          </a:lstStyle>
          <a:p>
            <a:endParaRPr lang="en-US" altLang="zh-CN"/>
          </a:p>
        </p:txBody>
      </p:sp>
      <p:sp>
        <p:nvSpPr>
          <p:cNvPr id="6" name="灯片编号占位符 5"/>
          <p:cNvSpPr>
            <a:spLocks noGrp="1"/>
          </p:cNvSpPr>
          <p:nvPr>
            <p:ph type="sldNum" sz="quarter" idx="12"/>
          </p:nvPr>
        </p:nvSpPr>
        <p:spPr>
          <a:xfrm>
            <a:off x="8647272" y="4805959"/>
            <a:ext cx="365760" cy="273844"/>
          </a:xfrm>
          <a:prstGeom prst="rect">
            <a:avLst/>
          </a:prstGeom>
        </p:spPr>
        <p:txBody>
          <a:bodyPr/>
          <a:lstStyle>
            <a:extLst/>
          </a:lstStyle>
          <a:p>
            <a:fld id="{7AC79822-BC0D-4DE8-A7E5-90A3732A2B82}" type="slidenum">
              <a:rPr lang="zh-CN" altLang="en-US" smtClean="0"/>
              <a:pPr/>
              <a:t>‹#›</a:t>
            </a:fld>
            <a:endParaRPr lang="en-US" altLang="zh-CN"/>
          </a:p>
        </p:txBody>
      </p:sp>
      <p:sp>
        <p:nvSpPr>
          <p:cNvPr id="7" name="标题 6"/>
          <p:cNvSpPr>
            <a:spLocks noGrp="1"/>
          </p:cNvSpPr>
          <p:nvPr>
            <p:ph type="title"/>
          </p:nvPr>
        </p:nvSpPr>
        <p:spPr>
          <a:xfrm>
            <a:off x="457200" y="205979"/>
            <a:ext cx="8229600" cy="857250"/>
          </a:xfrm>
          <a:prstGeom prst="rect">
            <a:avLst/>
          </a:prstGeom>
        </p:spPr>
        <p:txBody>
          <a:bodyPr rtlCol="0"/>
          <a:lstStyle>
            <a:extLst/>
          </a:lstStyle>
          <a:p>
            <a:r>
              <a:rPr kumimoji="0" lang="zh-CN" altLang="en-US" smtClean="0"/>
              <a:t>单击此处编辑母版标题样式</a:t>
            </a:r>
            <a:endParaRPr kumimoji="0" lang="en-US"/>
          </a:p>
        </p:txBody>
      </p:sp>
      <p:sp>
        <p:nvSpPr>
          <p:cNvPr id="8" name="Line 8"/>
          <p:cNvSpPr>
            <a:spLocks noChangeShapeType="1"/>
          </p:cNvSpPr>
          <p:nvPr userDrawn="1"/>
        </p:nvSpPr>
        <p:spPr bwMode="auto">
          <a:xfrm>
            <a:off x="457200" y="789552"/>
            <a:ext cx="8368811"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Tree>
    <p:extLst>
      <p:ext uri="{BB962C8B-B14F-4D97-AF65-F5344CB8AC3E}">
        <p14:creationId xmlns:p14="http://schemas.microsoft.com/office/powerpoint/2010/main" val="176024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Line 3"/>
          <p:cNvSpPr>
            <a:spLocks noChangeShapeType="1"/>
          </p:cNvSpPr>
          <p:nvPr userDrawn="1"/>
        </p:nvSpPr>
        <p:spPr bwMode="auto">
          <a:xfrm>
            <a:off x="0" y="428092"/>
            <a:ext cx="9144000" cy="0"/>
          </a:xfrm>
          <a:prstGeom prst="line">
            <a:avLst/>
          </a:prstGeom>
          <a:noFill/>
          <a:ln w="2540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矩形 7"/>
          <p:cNvSpPr/>
          <p:nvPr userDrawn="1"/>
        </p:nvSpPr>
        <p:spPr>
          <a:xfrm>
            <a:off x="4231482" y="123478"/>
            <a:ext cx="681036" cy="465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userDrawn="1"/>
        </p:nvSpPr>
        <p:spPr bwMode="auto">
          <a:xfrm>
            <a:off x="0" y="301530"/>
            <a:ext cx="2960498"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10" name="Rectangle 4"/>
          <p:cNvSpPr>
            <a:spLocks noChangeArrowheads="1"/>
          </p:cNvSpPr>
          <p:nvPr userDrawn="1"/>
        </p:nvSpPr>
        <p:spPr bwMode="auto">
          <a:xfrm>
            <a:off x="4810742" y="164227"/>
            <a:ext cx="1065212"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fr-FR" sz="1100" b="1" dirty="0">
                <a:solidFill>
                  <a:srgbClr val="0070C0"/>
                </a:solidFill>
                <a:latin typeface="微软雅黑" pitchFamily="34" charset="-122"/>
                <a:ea typeface="微软雅黑" pitchFamily="34" charset="-122"/>
              </a:rPr>
              <a:t>谢希仁 编著</a:t>
            </a:r>
          </a:p>
        </p:txBody>
      </p:sp>
      <p:sp>
        <p:nvSpPr>
          <p:cNvPr id="11" name="Rectangle 5"/>
          <p:cNvSpPr>
            <a:spLocks noChangeArrowheads="1"/>
          </p:cNvSpPr>
          <p:nvPr userDrawn="1"/>
        </p:nvSpPr>
        <p:spPr bwMode="auto">
          <a:xfrm>
            <a:off x="2960498" y="164857"/>
            <a:ext cx="1367682"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dirty="0" smtClean="0">
                <a:solidFill>
                  <a:srgbClr val="0070C0"/>
                </a:solidFill>
                <a:latin typeface="微软雅黑" pitchFamily="34" charset="-122"/>
                <a:ea typeface="微软雅黑" pitchFamily="34" charset="-122"/>
              </a:rPr>
              <a:t>计算机网络</a:t>
            </a:r>
            <a:r>
              <a:rPr lang="en-US" altLang="zh-CN" sz="1100" b="1" dirty="0" smtClean="0">
                <a:solidFill>
                  <a:srgbClr val="0070C0"/>
                </a:solidFill>
                <a:latin typeface="微软雅黑" pitchFamily="34" charset="-122"/>
                <a:ea typeface="微软雅黑" pitchFamily="34" charset="-122"/>
              </a:rPr>
              <a:t>(</a:t>
            </a:r>
            <a:r>
              <a:rPr lang="zh-CN" altLang="en-US" sz="1100" b="1" dirty="0" smtClean="0">
                <a:solidFill>
                  <a:srgbClr val="0070C0"/>
                </a:solidFill>
                <a:latin typeface="微软雅黑" pitchFamily="34" charset="-122"/>
                <a:ea typeface="微软雅黑" pitchFamily="34" charset="-122"/>
              </a:rPr>
              <a:t>第</a:t>
            </a:r>
            <a:r>
              <a:rPr lang="en-US" altLang="zh-CN" sz="1100" b="1" dirty="0" smtClean="0">
                <a:solidFill>
                  <a:srgbClr val="0070C0"/>
                </a:solidFill>
                <a:latin typeface="微软雅黑" pitchFamily="34" charset="-122"/>
                <a:ea typeface="微软雅黑" pitchFamily="34" charset="-122"/>
              </a:rPr>
              <a:t>7</a:t>
            </a:r>
            <a:r>
              <a:rPr lang="zh-CN" altLang="en-US" sz="1100" b="1" dirty="0" smtClean="0">
                <a:solidFill>
                  <a:srgbClr val="0070C0"/>
                </a:solidFill>
                <a:latin typeface="微软雅黑" pitchFamily="34" charset="-122"/>
                <a:ea typeface="微软雅黑" pitchFamily="34" charset="-122"/>
              </a:rPr>
              <a:t>版</a:t>
            </a:r>
            <a:r>
              <a:rPr lang="en-US" altLang="zh-CN" sz="1100" b="1" dirty="0" smtClean="0">
                <a:solidFill>
                  <a:srgbClr val="0070C0"/>
                </a:solidFill>
                <a:latin typeface="微软雅黑" pitchFamily="34" charset="-122"/>
                <a:ea typeface="微软雅黑" pitchFamily="34" charset="-122"/>
              </a:rPr>
              <a:t>)</a:t>
            </a:r>
            <a:endParaRPr lang="fr-FR" sz="1100" b="1" dirty="0">
              <a:solidFill>
                <a:srgbClr val="0070C0"/>
              </a:solidFill>
              <a:latin typeface="微软雅黑" pitchFamily="34" charset="-122"/>
              <a:ea typeface="微软雅黑" pitchFamily="34" charset="-122"/>
            </a:endParaRPr>
          </a:p>
        </p:txBody>
      </p:sp>
      <p:sp>
        <p:nvSpPr>
          <p:cNvPr id="12" name="椭圆 11"/>
          <p:cNvSpPr/>
          <p:nvPr userDrawn="1"/>
        </p:nvSpPr>
        <p:spPr>
          <a:xfrm>
            <a:off x="2942045"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sp>
        <p:nvSpPr>
          <p:cNvPr id="13" name="Line 3"/>
          <p:cNvSpPr>
            <a:spLocks noChangeShapeType="1"/>
          </p:cNvSpPr>
          <p:nvPr userDrawn="1"/>
        </p:nvSpPr>
        <p:spPr bwMode="auto">
          <a:xfrm>
            <a:off x="5671079" y="301530"/>
            <a:ext cx="3472921"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14" name="椭圆 13"/>
          <p:cNvSpPr/>
          <p:nvPr userDrawn="1"/>
        </p:nvSpPr>
        <p:spPr>
          <a:xfrm>
            <a:off x="5671079"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pic>
        <p:nvPicPr>
          <p:cNvPr id="16" name="图片 15"/>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41223" y="4662544"/>
            <a:ext cx="1125345" cy="267703"/>
          </a:xfrm>
          <a:prstGeom prst="rect">
            <a:avLst/>
          </a:prstGeom>
        </p:spPr>
      </p:pic>
      <p:sp>
        <p:nvSpPr>
          <p:cNvPr id="17" name="Line 3"/>
          <p:cNvSpPr>
            <a:spLocks noChangeShapeType="1"/>
          </p:cNvSpPr>
          <p:nvPr userDrawn="1"/>
        </p:nvSpPr>
        <p:spPr bwMode="auto">
          <a:xfrm>
            <a:off x="1266568" y="4803998"/>
            <a:ext cx="6942395"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Rectangle 9"/>
          <p:cNvSpPr>
            <a:spLocks noChangeArrowheads="1"/>
          </p:cNvSpPr>
          <p:nvPr userDrawn="1"/>
        </p:nvSpPr>
        <p:spPr bwMode="auto">
          <a:xfrm>
            <a:off x="8208962" y="4394656"/>
            <a:ext cx="609917" cy="609917"/>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cs typeface="Arial" charset="0"/>
            </a:endParaRPr>
          </a:p>
        </p:txBody>
      </p:sp>
      <p:pic>
        <p:nvPicPr>
          <p:cNvPr id="19" name="图片 1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262049" y="4419021"/>
            <a:ext cx="503429" cy="559959"/>
          </a:xfrm>
          <a:prstGeom prst="rect">
            <a:avLst/>
          </a:prstGeom>
        </p:spPr>
      </p:pic>
      <p:pic>
        <p:nvPicPr>
          <p:cNvPr id="20" name="图片 1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392827" y="149234"/>
            <a:ext cx="358346" cy="458684"/>
          </a:xfrm>
          <a:prstGeom prst="rect">
            <a:avLst/>
          </a:prstGeom>
        </p:spPr>
      </p:pic>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Rectangle 4"/>
          <p:cNvSpPr>
            <a:spLocks noChangeArrowheads="1"/>
          </p:cNvSpPr>
          <p:nvPr/>
        </p:nvSpPr>
        <p:spPr bwMode="auto">
          <a:xfrm>
            <a:off x="431231" y="2544537"/>
            <a:ext cx="1206500"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a:t>
            </a:r>
            <a:r>
              <a:rPr lang="fr-FR" sz="1200" b="1" dirty="0" smtClean="0">
                <a:solidFill>
                  <a:srgbClr val="00B0F0"/>
                </a:solidFill>
                <a:latin typeface="微软雅黑" pitchFamily="34" charset="-122"/>
                <a:ea typeface="微软雅黑" pitchFamily="34" charset="-122"/>
              </a:rPr>
              <a:t> 编著</a:t>
            </a:r>
            <a:endParaRPr lang="fr-FR" sz="1200" b="1" dirty="0">
              <a:solidFill>
                <a:srgbClr val="00B0F0"/>
              </a:solidFill>
              <a:latin typeface="微软雅黑" pitchFamily="34" charset="-122"/>
              <a:ea typeface="微软雅黑" pitchFamily="34" charset="-122"/>
            </a:endParaRPr>
          </a:p>
        </p:txBody>
      </p:sp>
      <p:sp>
        <p:nvSpPr>
          <p:cNvPr id="6" name="Rectangle 6"/>
          <p:cNvSpPr>
            <a:spLocks noChangeArrowheads="1"/>
          </p:cNvSpPr>
          <p:nvPr/>
        </p:nvSpPr>
        <p:spPr bwMode="auto">
          <a:xfrm>
            <a:off x="49252" y="2239857"/>
            <a:ext cx="2499984"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计算机网络（第7版</a:t>
            </a:r>
            <a:r>
              <a:rPr lang="fr-FR" sz="1600" b="1" dirty="0" smtClean="0">
                <a:solidFill>
                  <a:srgbClr val="00B0F0"/>
                </a:solidFill>
                <a:latin typeface="微软雅黑" pitchFamily="34" charset="-122"/>
                <a:ea typeface="微软雅黑" pitchFamily="34" charset="-122"/>
              </a:rPr>
              <a:t>）</a:t>
            </a:r>
            <a:endParaRPr lang="fr-FR" sz="1600" b="1" dirty="0">
              <a:solidFill>
                <a:srgbClr val="00B0F0"/>
              </a:solidFill>
              <a:latin typeface="微软雅黑" pitchFamily="34" charset="-122"/>
              <a:ea typeface="微软雅黑" pitchFamily="34" charset="-122"/>
            </a:endParaRPr>
          </a:p>
        </p:txBody>
      </p:sp>
      <p:sp>
        <p:nvSpPr>
          <p:cNvPr id="7" name="矩形 6"/>
          <p:cNvSpPr/>
          <p:nvPr/>
        </p:nvSpPr>
        <p:spPr>
          <a:xfrm>
            <a:off x="4285818" y="2219222"/>
            <a:ext cx="3897221" cy="938719"/>
          </a:xfrm>
          <a:prstGeom prst="rect">
            <a:avLst/>
          </a:prstGeom>
        </p:spPr>
        <p:txBody>
          <a:bodyPr wrap="none">
            <a:spAutoFit/>
          </a:bodyPr>
          <a:lstStyle/>
          <a:p>
            <a:pPr algn="ctr" eaLnBrk="0" hangingPunct="0"/>
            <a:r>
              <a:rPr lang="zh-CN" altLang="en-US" sz="5500" b="1" dirty="0" smtClean="0">
                <a:solidFill>
                  <a:schemeClr val="bg1"/>
                </a:solidFill>
                <a:latin typeface="微软雅黑" pitchFamily="34" charset="-122"/>
                <a:ea typeface="微软雅黑" pitchFamily="34" charset="-122"/>
              </a:rPr>
              <a:t>数</a:t>
            </a:r>
            <a:r>
              <a:rPr lang="zh-CN" altLang="en-US" sz="1200" b="1" dirty="0" smtClean="0">
                <a:solidFill>
                  <a:schemeClr val="bg1"/>
                </a:solidFill>
                <a:latin typeface="微软雅黑" pitchFamily="34" charset="-122"/>
                <a:ea typeface="微软雅黑" pitchFamily="34" charset="-122"/>
              </a:rPr>
              <a:t> </a:t>
            </a:r>
            <a:r>
              <a:rPr lang="zh-CN" altLang="en-US" sz="5500" b="1" dirty="0" smtClean="0">
                <a:solidFill>
                  <a:schemeClr val="bg1"/>
                </a:solidFill>
                <a:latin typeface="微软雅黑" pitchFamily="34" charset="-122"/>
                <a:ea typeface="微软雅黑" pitchFamily="34" charset="-122"/>
              </a:rPr>
              <a:t>据</a:t>
            </a:r>
            <a:r>
              <a:rPr lang="zh-CN" altLang="en-US" sz="1200" b="1" dirty="0" smtClean="0">
                <a:solidFill>
                  <a:schemeClr val="bg1"/>
                </a:solidFill>
                <a:latin typeface="微软雅黑" pitchFamily="34" charset="-122"/>
                <a:ea typeface="微软雅黑" pitchFamily="34" charset="-122"/>
              </a:rPr>
              <a:t> </a:t>
            </a:r>
            <a:r>
              <a:rPr lang="zh-CN" altLang="en-US" sz="5500" b="1" dirty="0" smtClean="0">
                <a:solidFill>
                  <a:schemeClr val="bg1"/>
                </a:solidFill>
                <a:latin typeface="微软雅黑" pitchFamily="34" charset="-122"/>
                <a:ea typeface="微软雅黑" pitchFamily="34" charset="-122"/>
              </a:rPr>
              <a:t>链</a:t>
            </a:r>
            <a:r>
              <a:rPr lang="zh-CN" altLang="en-US" sz="1200" b="1" dirty="0" smtClean="0">
                <a:solidFill>
                  <a:schemeClr val="bg1"/>
                </a:solidFill>
                <a:latin typeface="微软雅黑" pitchFamily="34" charset="-122"/>
                <a:ea typeface="微软雅黑" pitchFamily="34" charset="-122"/>
              </a:rPr>
              <a:t> </a:t>
            </a:r>
            <a:r>
              <a:rPr lang="zh-CN" altLang="en-US" sz="5500" b="1" dirty="0" smtClean="0">
                <a:solidFill>
                  <a:schemeClr val="bg1"/>
                </a:solidFill>
                <a:latin typeface="微软雅黑" pitchFamily="34" charset="-122"/>
                <a:ea typeface="微软雅黑" pitchFamily="34" charset="-122"/>
              </a:rPr>
              <a:t>路</a:t>
            </a:r>
            <a:r>
              <a:rPr lang="zh-CN" altLang="en-US" sz="1200" b="1" dirty="0" smtClean="0">
                <a:solidFill>
                  <a:schemeClr val="bg1"/>
                </a:solidFill>
                <a:latin typeface="微软雅黑" pitchFamily="34" charset="-122"/>
                <a:ea typeface="微软雅黑" pitchFamily="34" charset="-122"/>
              </a:rPr>
              <a:t> </a:t>
            </a:r>
            <a:r>
              <a:rPr lang="zh-CN" altLang="en-US" sz="5500" b="1" dirty="0" smtClean="0">
                <a:solidFill>
                  <a:schemeClr val="bg1"/>
                </a:solidFill>
                <a:latin typeface="微软雅黑" pitchFamily="34" charset="-122"/>
                <a:ea typeface="微软雅黑" pitchFamily="34" charset="-122"/>
              </a:rPr>
              <a:t>层</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smtClean="0">
                <a:solidFill>
                  <a:schemeClr val="bg1"/>
                </a:solidFill>
                <a:latin typeface="微软雅黑" pitchFamily="34" charset="-122"/>
                <a:ea typeface="微软雅黑" pitchFamily="34" charset="-122"/>
              </a:rPr>
              <a:t>第 </a:t>
            </a:r>
            <a:r>
              <a:rPr lang="fr-FR" altLang="zh-CN" sz="2800" b="1" dirty="0">
                <a:solidFill>
                  <a:schemeClr val="bg1"/>
                </a:solidFill>
                <a:latin typeface="微软雅黑" pitchFamily="34" charset="-122"/>
                <a:ea typeface="微软雅黑" pitchFamily="34" charset="-122"/>
              </a:rPr>
              <a:t>3</a:t>
            </a:r>
            <a:r>
              <a:rPr lang="fr-FR" altLang="zh-CN" sz="2800" b="1" dirty="0" smtClean="0">
                <a:solidFill>
                  <a:schemeClr val="bg1"/>
                </a:solidFill>
                <a:latin typeface="微软雅黑" pitchFamily="34" charset="-122"/>
                <a:ea typeface="微软雅黑" pitchFamily="34" charset="-122"/>
              </a:rPr>
              <a:t> 章</a:t>
            </a:r>
            <a:endParaRPr lang="fr-FR" altLang="zh-CN" sz="2800" b="1" dirty="0">
              <a:solidFill>
                <a:schemeClr val="bg1"/>
              </a:solidFill>
              <a:latin typeface="微软雅黑" pitchFamily="34" charset="-122"/>
              <a:ea typeface="微软雅黑" pitchFamily="34" charset="-122"/>
            </a:endParaRPr>
          </a:p>
        </p:txBody>
      </p:sp>
      <p:cxnSp>
        <p:nvCxnSpPr>
          <p:cNvPr id="9" name="直接连接符 8"/>
          <p:cNvCxnSpPr/>
          <p:nvPr/>
        </p:nvCxnSpPr>
        <p:spPr>
          <a:xfrm>
            <a:off x="0" y="2236899"/>
            <a:ext cx="2309091" cy="0"/>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8877" y="2916846"/>
            <a:ext cx="1198400" cy="285083"/>
          </a:xfrm>
          <a:prstGeom prst="rect">
            <a:avLst/>
          </a:prstGeom>
        </p:spPr>
      </p:pic>
    </p:spTree>
    <p:extLst>
      <p:ext uri="{BB962C8B-B14F-4D97-AF65-F5344CB8AC3E}">
        <p14:creationId xmlns:p14="http://schemas.microsoft.com/office/powerpoint/2010/main" val="40205601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6445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320578" y="641362"/>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共享信道带来的问题</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34452" y="1106424"/>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9" name="组合 8"/>
          <p:cNvGrpSpPr/>
          <p:nvPr/>
        </p:nvGrpSpPr>
        <p:grpSpPr>
          <a:xfrm>
            <a:off x="3185822" y="1399408"/>
            <a:ext cx="2811270" cy="1114568"/>
            <a:chOff x="4981610" y="1448932"/>
            <a:chExt cx="2811270" cy="1114568"/>
          </a:xfrm>
          <a:solidFill>
            <a:srgbClr val="CC00CC"/>
          </a:solidFill>
        </p:grpSpPr>
        <p:sp>
          <p:nvSpPr>
            <p:cNvPr id="10" name="Line 7"/>
            <p:cNvSpPr>
              <a:spLocks noChangeShapeType="1"/>
            </p:cNvSpPr>
            <p:nvPr/>
          </p:nvSpPr>
          <p:spPr bwMode="auto">
            <a:xfrm>
              <a:off x="4981610" y="2005103"/>
              <a:ext cx="2811270" cy="0"/>
            </a:xfrm>
            <a:prstGeom prst="line">
              <a:avLst/>
            </a:prstGeom>
            <a:grpFill/>
            <a:ln w="57150">
              <a:solidFill>
                <a:srgbClr val="000000"/>
              </a:solidFill>
              <a:round/>
              <a:headEnd/>
              <a:tailEnd/>
            </a:ln>
            <a:extLst/>
          </p:spPr>
          <p:txBody>
            <a:bodyPr/>
            <a:lstStyle/>
            <a:p>
              <a:endParaRPr lang="zh-CN" altLang="en-US"/>
            </a:p>
          </p:txBody>
        </p:sp>
        <p:sp>
          <p:nvSpPr>
            <p:cNvPr id="11"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椭圆 15"/>
            <p:cNvSpPr/>
            <p:nvPr/>
          </p:nvSpPr>
          <p:spPr>
            <a:xfrm>
              <a:off x="5712342" y="1448932"/>
              <a:ext cx="300252" cy="300252"/>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6842078" y="1448932"/>
              <a:ext cx="300252" cy="300252"/>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5357496" y="2263248"/>
              <a:ext cx="300252" cy="300252"/>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6241568" y="2263248"/>
              <a:ext cx="300252" cy="300252"/>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161654" y="2263248"/>
              <a:ext cx="300252" cy="300252"/>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2238703" y="2651092"/>
            <a:ext cx="4855780" cy="1415772"/>
          </a:xfrm>
          <a:prstGeom prst="rect">
            <a:avLst/>
          </a:prstGeom>
        </p:spPr>
        <p:txBody>
          <a:bodyPr wrap="square">
            <a:spAutoFit/>
          </a:bodyPr>
          <a:lstStyle/>
          <a:p>
            <a:pPr algn="ctr" eaLnBrk="0" hangingPunct="0">
              <a:buClr>
                <a:srgbClr val="0070C0"/>
              </a:buClr>
            </a:pPr>
            <a:r>
              <a:rPr lang="zh-CN" altLang="en-US" sz="1400" b="1" dirty="0" smtClean="0">
                <a:latin typeface="微软雅黑" pitchFamily="34" charset="-122"/>
                <a:ea typeface="微软雅黑" pitchFamily="34" charset="-122"/>
              </a:rPr>
              <a:t>共享的广播信道</a:t>
            </a:r>
            <a:endParaRPr lang="en-US" altLang="zh-CN" sz="1400" b="1" dirty="0">
              <a:latin typeface="微软雅黑" pitchFamily="34" charset="-122"/>
              <a:ea typeface="微软雅黑" pitchFamily="34" charset="-122"/>
            </a:endParaRPr>
          </a:p>
          <a:p>
            <a:pPr algn="ctr" eaLnBrk="0" hangingPunct="0">
              <a:buClr>
                <a:srgbClr val="0070C0"/>
              </a:buClr>
            </a:pPr>
            <a:endParaRPr lang="en-US" altLang="zh-CN" sz="1400" b="1" dirty="0" smtClean="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smtClean="0">
                <a:latin typeface="微软雅黑" pitchFamily="34" charset="-122"/>
                <a:ea typeface="微软雅黑" pitchFamily="34" charset="-122"/>
              </a:rPr>
              <a:t>使用</a:t>
            </a:r>
            <a:r>
              <a:rPr lang="zh-CN" altLang="en-US" sz="1600" b="1" dirty="0">
                <a:latin typeface="微软雅黑" pitchFamily="34" charset="-122"/>
                <a:ea typeface="微软雅黑" pitchFamily="34" charset="-122"/>
              </a:rPr>
              <a:t>一对多的</a:t>
            </a:r>
            <a:r>
              <a:rPr lang="zh-CN" altLang="en-US" sz="1600" b="1" dirty="0">
                <a:solidFill>
                  <a:srgbClr val="0000FF"/>
                </a:solidFill>
                <a:latin typeface="微软雅黑" pitchFamily="34" charset="-122"/>
                <a:ea typeface="微软雅黑" pitchFamily="34" charset="-122"/>
              </a:rPr>
              <a:t>广播通信</a:t>
            </a:r>
            <a:r>
              <a:rPr lang="zh-CN" altLang="en-US" sz="1600" b="1" dirty="0" smtClean="0">
                <a:latin typeface="微软雅黑" pitchFamily="34" charset="-122"/>
                <a:ea typeface="微软雅黑" pitchFamily="34" charset="-122"/>
              </a:rPr>
              <a:t>方式。</a:t>
            </a:r>
            <a:endParaRPr lang="en-US" altLang="zh-CN" sz="1600" b="1" dirty="0" smtClean="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solidFill>
                  <a:srgbClr val="CC00CC"/>
                </a:solidFill>
                <a:latin typeface="微软雅黑" pitchFamily="34" charset="-122"/>
                <a:ea typeface="微软雅黑" pitchFamily="34" charset="-122"/>
              </a:rPr>
              <a:t>问题</a:t>
            </a:r>
            <a:r>
              <a:rPr lang="zh-CN" altLang="en-US" sz="1600" b="1" dirty="0" smtClean="0">
                <a:solidFill>
                  <a:srgbClr val="CC00CC"/>
                </a:solidFill>
                <a:latin typeface="微软雅黑" pitchFamily="34" charset="-122"/>
                <a:ea typeface="微软雅黑" pitchFamily="34" charset="-122"/>
              </a:rPr>
              <a:t>：</a:t>
            </a:r>
            <a:r>
              <a:rPr lang="zh-CN" altLang="en-US" sz="1600" b="1" dirty="0">
                <a:latin typeface="微软雅黑" pitchFamily="34" charset="-122"/>
                <a:ea typeface="微软雅黑" pitchFamily="34" charset="-122"/>
              </a:rPr>
              <a:t>若多</a:t>
            </a:r>
            <a:r>
              <a:rPr lang="zh-CN" altLang="en-US" sz="1600" b="1" dirty="0" smtClean="0">
                <a:latin typeface="微软雅黑" pitchFamily="34" charset="-122"/>
                <a:ea typeface="微软雅黑" pitchFamily="34" charset="-122"/>
              </a:rPr>
              <a:t>个</a:t>
            </a:r>
            <a:r>
              <a:rPr lang="zh-CN" altLang="en-US" sz="1600" b="1" dirty="0">
                <a:latin typeface="微软雅黑" pitchFamily="34" charset="-122"/>
                <a:ea typeface="微软雅黑" pitchFamily="34" charset="-122"/>
              </a:rPr>
              <a:t>设备在共享的广播信道上同时发送数据，则会造成彼此干扰，导致发送失败</a:t>
            </a:r>
            <a:r>
              <a:rPr lang="zh-CN" altLang="en-US" sz="1600" b="1" dirty="0" smtClean="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grpSp>
        <p:nvGrpSpPr>
          <p:cNvPr id="22" name="组合 21"/>
          <p:cNvGrpSpPr/>
          <p:nvPr/>
        </p:nvGrpSpPr>
        <p:grpSpPr>
          <a:xfrm>
            <a:off x="4922826" y="1740967"/>
            <a:ext cx="400271" cy="332403"/>
            <a:chOff x="6811108" y="1790491"/>
            <a:chExt cx="400271" cy="332403"/>
          </a:xfrm>
        </p:grpSpPr>
        <p:cxnSp>
          <p:nvCxnSpPr>
            <p:cNvPr id="23" name="直接箭头连接符 22"/>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7205364" y="1790491"/>
              <a:ext cx="0" cy="332403"/>
            </a:xfrm>
            <a:prstGeom prst="straightConnector1">
              <a:avLst/>
            </a:prstGeom>
            <a:ln w="12700">
              <a:solidFill>
                <a:srgbClr val="0000FF"/>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3861960" y="1699660"/>
            <a:ext cx="967081" cy="545210"/>
            <a:chOff x="5750242" y="1749184"/>
            <a:chExt cx="967081" cy="545210"/>
          </a:xfrm>
        </p:grpSpPr>
        <p:cxnSp>
          <p:nvCxnSpPr>
            <p:cNvPr id="26" name="直接箭头连接符 25"/>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5750242" y="2130650"/>
              <a:ext cx="0" cy="163744"/>
            </a:xfrm>
            <a:prstGeom prst="straightConnector1">
              <a:avLst/>
            </a:prstGeom>
            <a:ln w="12700">
              <a:solidFill>
                <a:srgbClr val="0000FF"/>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0" name="爆炸形 1 29"/>
          <p:cNvSpPr/>
          <p:nvPr/>
        </p:nvSpPr>
        <p:spPr>
          <a:xfrm>
            <a:off x="4775761" y="1989757"/>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277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1500"/>
                                        <p:tgtEl>
                                          <p:spTgt spid="25"/>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1500"/>
                                        <p:tgtEl>
                                          <p:spTgt spid="22"/>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02920" y="111183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矩形 45"/>
          <p:cNvSpPr/>
          <p:nvPr/>
        </p:nvSpPr>
        <p:spPr>
          <a:xfrm>
            <a:off x="616085" y="1060448"/>
            <a:ext cx="2699778" cy="400110"/>
          </a:xfrm>
          <a:prstGeom prst="rect">
            <a:avLst/>
          </a:prstGeom>
        </p:spPr>
        <p:txBody>
          <a:bodyPr wrap="none">
            <a:spAutoFit/>
          </a:bodyPr>
          <a:lstStyle/>
          <a:p>
            <a:r>
              <a:rPr lang="en-US" altLang="zh-CN" sz="2000" b="1" dirty="0" smtClean="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以太网的两个标准 </a:t>
            </a:r>
          </a:p>
        </p:txBody>
      </p:sp>
      <p:sp>
        <p:nvSpPr>
          <p:cNvPr id="47" name="矩形 46"/>
          <p:cNvSpPr/>
          <p:nvPr/>
        </p:nvSpPr>
        <p:spPr>
          <a:xfrm>
            <a:off x="502919" y="1508241"/>
            <a:ext cx="8129015"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en-US" altLang="zh-CN" sz="2000" b="1" dirty="0">
                <a:solidFill>
                  <a:srgbClr val="0000FF"/>
                </a:solidFill>
                <a:latin typeface="微软雅黑" pitchFamily="34" charset="-122"/>
                <a:ea typeface="微软雅黑" pitchFamily="34" charset="-122"/>
              </a:rPr>
              <a:t>DIX Ethernet V2 </a:t>
            </a:r>
            <a:r>
              <a:rPr lang="zh-CN" altLang="en-US" sz="2000" b="1" dirty="0">
                <a:latin typeface="微软雅黑" pitchFamily="34" charset="-122"/>
                <a:ea typeface="微软雅黑" pitchFamily="34" charset="-122"/>
              </a:rPr>
              <a:t>是世界上第一个局域网产品（以太网）的规约。</a:t>
            </a:r>
          </a:p>
          <a:p>
            <a:pPr marL="285750" indent="-285750">
              <a:lnSpc>
                <a:spcPts val="3300"/>
              </a:lnSpc>
              <a:buClr>
                <a:srgbClr val="0070C0"/>
              </a:buClr>
              <a:buFont typeface="Wingdings" pitchFamily="2" charset="2"/>
              <a:buChar char="l"/>
            </a:pPr>
            <a:r>
              <a:rPr lang="en-US" altLang="zh-CN" sz="2000" b="1" dirty="0">
                <a:solidFill>
                  <a:srgbClr val="0000FF"/>
                </a:solidFill>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是第一个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的以太网标准。</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DIX Ethernet V2 </a:t>
            </a:r>
            <a:r>
              <a:rPr lang="zh-CN" altLang="en-US" sz="2000" b="1" dirty="0">
                <a:latin typeface="微软雅黑" pitchFamily="34" charset="-122"/>
                <a:ea typeface="微软雅黑" pitchFamily="34" charset="-122"/>
              </a:rPr>
              <a:t>标准与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802.3 </a:t>
            </a:r>
            <a:r>
              <a:rPr lang="zh-CN" altLang="en-US" sz="2000" b="1" dirty="0">
                <a:latin typeface="微软雅黑" pitchFamily="34" charset="-122"/>
                <a:ea typeface="微软雅黑" pitchFamily="34" charset="-122"/>
              </a:rPr>
              <a:t>标准只有很小的差别，因此可以将 </a:t>
            </a:r>
            <a:r>
              <a:rPr lang="en-US" altLang="zh-CN" sz="2000" b="1" dirty="0">
                <a:latin typeface="微软雅黑" pitchFamily="34" charset="-122"/>
                <a:ea typeface="微软雅黑" pitchFamily="34" charset="-122"/>
              </a:rPr>
              <a:t>802.3 </a:t>
            </a:r>
            <a:r>
              <a:rPr lang="zh-CN" altLang="en-US" sz="2000" b="1" dirty="0">
                <a:latin typeface="微软雅黑" pitchFamily="34" charset="-122"/>
                <a:ea typeface="微软雅黑" pitchFamily="34" charset="-122"/>
              </a:rPr>
              <a:t>局域网简称为“以太网”。</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严格说来，“以太网”应当是指符合 </a:t>
            </a:r>
            <a:r>
              <a:rPr lang="en-US" altLang="zh-CN" sz="2000" b="1" dirty="0">
                <a:latin typeface="微软雅黑" pitchFamily="34" charset="-122"/>
                <a:ea typeface="微软雅黑" pitchFamily="34" charset="-122"/>
              </a:rPr>
              <a:t>DIX Ethernet V2 </a:t>
            </a:r>
            <a:r>
              <a:rPr lang="zh-CN" altLang="en-US" sz="2000" b="1" dirty="0">
                <a:latin typeface="微软雅黑" pitchFamily="34" charset="-122"/>
                <a:ea typeface="微软雅黑" pitchFamily="34" charset="-122"/>
              </a:rPr>
              <a:t>标准的局域网 。 </a:t>
            </a:r>
          </a:p>
        </p:txBody>
      </p:sp>
    </p:spTree>
    <p:extLst>
      <p:ext uri="{BB962C8B-B14F-4D97-AF65-F5344CB8AC3E}">
        <p14:creationId xmlns:p14="http://schemas.microsoft.com/office/powerpoint/2010/main" val="39210484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17436" y="1216091"/>
            <a:ext cx="6799659" cy="648072"/>
          </a:xfrm>
        </p:spPr>
        <p:txBody>
          <a:bodyPr>
            <a:noAutofit/>
          </a:bodyPr>
          <a:lstStyle/>
          <a:p>
            <a:pPr marL="82296" indent="0">
              <a:buNone/>
            </a:pPr>
            <a:r>
              <a:rPr lang="zh-CN" altLang="en-US" sz="2100" b="1" dirty="0">
                <a:solidFill>
                  <a:srgbClr val="7030A0"/>
                </a:solidFill>
                <a:latin typeface="微软雅黑" panose="020B0503020204020204" pitchFamily="34" charset="-122"/>
                <a:ea typeface="微软雅黑" panose="020B0503020204020204" pitchFamily="34" charset="-122"/>
              </a:rPr>
              <a:t>长度</a:t>
            </a:r>
            <a:r>
              <a:rPr lang="en-US" altLang="zh-CN" sz="2100" b="1" dirty="0">
                <a:solidFill>
                  <a:srgbClr val="7030A0"/>
                </a:solidFill>
                <a:latin typeface="微软雅黑" panose="020B0503020204020204" pitchFamily="34" charset="-122"/>
                <a:ea typeface="微软雅黑" panose="020B0503020204020204" pitchFamily="34" charset="-122"/>
              </a:rPr>
              <a:t>/</a:t>
            </a:r>
            <a:r>
              <a:rPr lang="zh-CN" altLang="en-US" sz="2100" b="1" dirty="0">
                <a:solidFill>
                  <a:srgbClr val="7030A0"/>
                </a:solidFill>
                <a:latin typeface="微软雅黑" panose="020B0503020204020204" pitchFamily="34" charset="-122"/>
                <a:ea typeface="微软雅黑" panose="020B0503020204020204" pitchFamily="34" charset="-122"/>
              </a:rPr>
              <a:t>类型字段</a:t>
            </a:r>
            <a:endParaRPr lang="en-US" altLang="zh-CN" sz="2100" b="1" dirty="0">
              <a:solidFill>
                <a:srgbClr val="7030A0"/>
              </a:solidFill>
              <a:latin typeface="微软雅黑" panose="020B0503020204020204" pitchFamily="34" charset="-122"/>
              <a:ea typeface="微软雅黑" panose="020B0503020204020204" pitchFamily="34" charset="-122"/>
            </a:endParaRPr>
          </a:p>
          <a:p>
            <a:r>
              <a:rPr lang="zh-CN" altLang="en-US" sz="1800" b="1" dirty="0">
                <a:latin typeface="微软雅黑" panose="020B0503020204020204" pitchFamily="34" charset="-122"/>
                <a:ea typeface="微软雅黑" panose="020B0503020204020204" pitchFamily="34" charset="-122"/>
              </a:rPr>
              <a:t>小于</a:t>
            </a:r>
            <a:r>
              <a:rPr lang="en-US" altLang="zh-CN" sz="1800" b="1" dirty="0">
                <a:solidFill>
                  <a:srgbClr val="0000FF"/>
                </a:solidFill>
                <a:latin typeface="微软雅黑" panose="020B0503020204020204" pitchFamily="34" charset="-122"/>
                <a:ea typeface="微软雅黑" panose="020B0503020204020204" pitchFamily="34" charset="-122"/>
              </a:rPr>
              <a:t>0x0600</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1536</a:t>
            </a:r>
            <a:r>
              <a:rPr lang="zh-CN" altLang="en-US" sz="1800" b="1" dirty="0">
                <a:latin typeface="微软雅黑" panose="020B0503020204020204" pitchFamily="34" charset="-122"/>
                <a:ea typeface="微软雅黑" panose="020B0503020204020204" pitchFamily="34" charset="-122"/>
              </a:rPr>
              <a:t>字节）：长度字段，数据部分包含</a:t>
            </a:r>
            <a:r>
              <a:rPr lang="en-US" altLang="zh-CN" sz="1800" b="1" dirty="0">
                <a:latin typeface="微软雅黑" panose="020B0503020204020204" pitchFamily="34" charset="-122"/>
                <a:ea typeface="微软雅黑" panose="020B0503020204020204" pitchFamily="34" charset="-122"/>
              </a:rPr>
              <a:t>LLC</a:t>
            </a:r>
            <a:r>
              <a:rPr lang="zh-CN" altLang="en-US" sz="1800" b="1" dirty="0">
                <a:latin typeface="微软雅黑" panose="020B0503020204020204" pitchFamily="34" charset="-122"/>
                <a:ea typeface="微软雅黑" panose="020B0503020204020204" pitchFamily="34" charset="-122"/>
              </a:rPr>
              <a:t>帧。</a:t>
            </a:r>
            <a:endParaRPr lang="en-US" altLang="zh-CN" sz="1800" b="1" dirty="0">
              <a:latin typeface="微软雅黑" panose="020B0503020204020204" pitchFamily="34" charset="-122"/>
              <a:ea typeface="微软雅黑" panose="020B0503020204020204" pitchFamily="34" charset="-122"/>
            </a:endParaRPr>
          </a:p>
          <a:p>
            <a:r>
              <a:rPr lang="zh-CN" altLang="en-US" sz="1800" b="1" dirty="0">
                <a:latin typeface="微软雅黑" panose="020B0503020204020204" pitchFamily="34" charset="-122"/>
                <a:ea typeface="微软雅黑" panose="020B0503020204020204" pitchFamily="34" charset="-122"/>
              </a:rPr>
              <a:t>大于</a:t>
            </a:r>
            <a:r>
              <a:rPr lang="en-US" altLang="zh-CN" sz="1800" b="1" dirty="0">
                <a:latin typeface="微软雅黑" panose="020B0503020204020204" pitchFamily="34" charset="-122"/>
                <a:ea typeface="微软雅黑" panose="020B0503020204020204" pitchFamily="34" charset="-122"/>
              </a:rPr>
              <a:t>0x0600</a:t>
            </a:r>
            <a:r>
              <a:rPr lang="zh-CN" altLang="en-US" sz="1800" b="1" dirty="0">
                <a:latin typeface="微软雅黑" panose="020B0503020204020204" pitchFamily="34" charset="-122"/>
                <a:ea typeface="微软雅黑" panose="020B0503020204020204" pitchFamily="34" charset="-122"/>
              </a:rPr>
              <a:t>：类型字段，此时与</a:t>
            </a:r>
            <a:r>
              <a:rPr lang="en-US" altLang="zh-CN" sz="1800" b="1" dirty="0">
                <a:solidFill>
                  <a:srgbClr val="FF0000"/>
                </a:solidFill>
                <a:latin typeface="微软雅黑" panose="020B0503020204020204" pitchFamily="34" charset="-122"/>
                <a:ea typeface="微软雅黑" panose="020B0503020204020204" pitchFamily="34" charset="-122"/>
              </a:rPr>
              <a:t>DIX Ethernet V2 </a:t>
            </a:r>
            <a:r>
              <a:rPr lang="zh-CN" altLang="en-US" sz="1800" b="1" dirty="0">
                <a:latin typeface="微软雅黑" panose="020B0503020204020204" pitchFamily="34" charset="-122"/>
                <a:ea typeface="微软雅黑" panose="020B0503020204020204" pitchFamily="34" charset="-122"/>
              </a:rPr>
              <a:t>格式一样。</a:t>
            </a:r>
            <a:endParaRPr lang="zh-CN" altLang="en-US" sz="1800" b="1" dirty="0">
              <a:latin typeface="微软雅黑" panose="020B0503020204020204" pitchFamily="34" charset="-122"/>
              <a:ea typeface="微软雅黑" panose="020B0503020204020204" pitchFamily="34" charset="-122"/>
            </a:endParaRPr>
          </a:p>
        </p:txBody>
      </p:sp>
      <p:pic>
        <p:nvPicPr>
          <p:cNvPr id="10242" name="Picture 2" descr="https://gss0.baidu.com/-vo3dSag_xI4khGko9WTAnF6hhy/zhidao/pic/item/63d0f703918fa0ec2d0452ec219759ee3c6ddb0b.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23628" y="2381956"/>
            <a:ext cx="6453205" cy="2296028"/>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5"/>
          <p:cNvSpPr>
            <a:spLocks noChangeArrowheads="1"/>
          </p:cNvSpPr>
          <p:nvPr/>
        </p:nvSpPr>
        <p:spPr bwMode="auto">
          <a:xfrm>
            <a:off x="518257" y="83734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b="1" dirty="0">
                <a:latin typeface="微软雅黑" panose="020B0503020204020204" pitchFamily="34" charset="-122"/>
                <a:ea typeface="微软雅黑" panose="020B0503020204020204" pitchFamily="34" charset="-122"/>
              </a:rPr>
              <a:t>以太网帧格式</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907237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502921" y="1791694"/>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Line 7"/>
          <p:cNvSpPr>
            <a:spLocks noChangeShapeType="1"/>
          </p:cNvSpPr>
          <p:nvPr/>
        </p:nvSpPr>
        <p:spPr bwMode="auto">
          <a:xfrm flipV="1">
            <a:off x="1258776" y="2349297"/>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Rectangle 9"/>
          <p:cNvSpPr>
            <a:spLocks noChangeArrowheads="1"/>
          </p:cNvSpPr>
          <p:nvPr/>
        </p:nvSpPr>
        <p:spPr bwMode="auto">
          <a:xfrm>
            <a:off x="7668344" y="2233754"/>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AutoShape 5"/>
          <p:cNvSpPr>
            <a:spLocks noChangeArrowheads="1"/>
          </p:cNvSpPr>
          <p:nvPr/>
        </p:nvSpPr>
        <p:spPr bwMode="auto">
          <a:xfrm>
            <a:off x="502921" y="625449"/>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73" name="Rectangle 6"/>
          <p:cNvSpPr>
            <a:spLocks noChangeArrowheads="1"/>
          </p:cNvSpPr>
          <p:nvPr/>
        </p:nvSpPr>
        <p:spPr bwMode="auto">
          <a:xfrm>
            <a:off x="2840852" y="583178"/>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smtClean="0">
                <a:solidFill>
                  <a:schemeClr val="bg1"/>
                </a:solidFill>
                <a:latin typeface="微软雅黑" pitchFamily="34" charset="-122"/>
                <a:ea typeface="微软雅黑" pitchFamily="34" charset="-122"/>
              </a:rPr>
              <a:t>协议</a:t>
            </a:r>
            <a:endParaRPr lang="zh-CN" altLang="en-US" sz="2400" b="1" dirty="0">
              <a:solidFill>
                <a:schemeClr val="bg1"/>
              </a:solidFill>
              <a:latin typeface="微软雅黑" pitchFamily="34" charset="-122"/>
              <a:ea typeface="微软雅黑" pitchFamily="34" charset="-122"/>
            </a:endParaRPr>
          </a:p>
        </p:txBody>
      </p:sp>
      <p:sp>
        <p:nvSpPr>
          <p:cNvPr id="74" name="Rectangle 8"/>
          <p:cNvSpPr>
            <a:spLocks noChangeArrowheads="1"/>
          </p:cNvSpPr>
          <p:nvPr/>
        </p:nvSpPr>
        <p:spPr bwMode="auto">
          <a:xfrm>
            <a:off x="502921" y="1038474"/>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最初的以太网是将许多计算机都连接到一根总线上</a:t>
            </a:r>
            <a:r>
              <a:rPr lang="zh-CN" altLang="en-US" b="1" dirty="0" smtClean="0">
                <a:latin typeface="微软雅黑" pitchFamily="34" charset="-122"/>
                <a:ea typeface="微软雅黑" pitchFamily="34" charset="-122"/>
              </a:rPr>
              <a:t>。</a:t>
            </a:r>
            <a:r>
              <a:rPr lang="zh-CN" altLang="en-US" b="1" dirty="0" smtClean="0">
                <a:solidFill>
                  <a:srgbClr val="CC00CC"/>
                </a:solidFill>
                <a:latin typeface="微软雅黑" pitchFamily="34" charset="-122"/>
                <a:ea typeface="微软雅黑" pitchFamily="34" charset="-122"/>
              </a:rPr>
              <a:t>易于实现广播通信</a:t>
            </a:r>
            <a:r>
              <a:rPr lang="zh-CN" altLang="en-US" b="1" dirty="0" smtClean="0">
                <a:latin typeface="微软雅黑" pitchFamily="34" charset="-122"/>
                <a:ea typeface="微软雅黑" pitchFamily="34" charset="-122"/>
              </a:rPr>
              <a:t>。当初</a:t>
            </a:r>
            <a:r>
              <a:rPr lang="zh-CN" altLang="en-US" b="1" dirty="0">
                <a:latin typeface="微软雅黑" pitchFamily="34" charset="-122"/>
                <a:ea typeface="微软雅黑" pitchFamily="34" charset="-122"/>
              </a:rPr>
              <a:t>认为这样的连接方法既简单又可靠，因为总线上没有有源器件。 </a:t>
            </a:r>
          </a:p>
        </p:txBody>
      </p:sp>
      <p:sp>
        <p:nvSpPr>
          <p:cNvPr id="75" name="Line 5"/>
          <p:cNvSpPr>
            <a:spLocks noChangeShapeType="1"/>
          </p:cNvSpPr>
          <p:nvPr/>
        </p:nvSpPr>
        <p:spPr bwMode="auto">
          <a:xfrm rot="16200000" flipV="1">
            <a:off x="4153306" y="2765026"/>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78993" y="2233754"/>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0"/>
          <p:cNvSpPr>
            <a:spLocks noChangeShapeType="1"/>
          </p:cNvSpPr>
          <p:nvPr/>
        </p:nvSpPr>
        <p:spPr bwMode="auto">
          <a:xfrm>
            <a:off x="7372521" y="2159805"/>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3320888" y="2359128"/>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7"/>
          <p:cNvSpPr>
            <a:spLocks noChangeShapeType="1"/>
          </p:cNvSpPr>
          <p:nvPr/>
        </p:nvSpPr>
        <p:spPr bwMode="auto">
          <a:xfrm rot="16200000" flipV="1">
            <a:off x="5388709" y="2765026"/>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9"/>
          <p:cNvSpPr>
            <a:spLocks/>
          </p:cNvSpPr>
          <p:nvPr/>
        </p:nvSpPr>
        <p:spPr bwMode="auto">
          <a:xfrm>
            <a:off x="7028431" y="2359127"/>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Text Box 21"/>
          <p:cNvSpPr txBox="1">
            <a:spLocks noChangeArrowheads="1"/>
          </p:cNvSpPr>
          <p:nvPr/>
        </p:nvSpPr>
        <p:spPr bwMode="auto">
          <a:xfrm>
            <a:off x="2696874" y="3684241"/>
            <a:ext cx="1258678" cy="523220"/>
          </a:xfrm>
          <a:prstGeom prst="rect">
            <a:avLst/>
          </a:prstGeom>
          <a:solidFill>
            <a:schemeClr val="bg1"/>
          </a:solidFill>
          <a:ln>
            <a:noFill/>
          </a:ln>
          <a:effectLst/>
          <a:extLst/>
        </p:spPr>
        <p:txBody>
          <a:bodyPr wrap="none">
            <a:spAutoFit/>
          </a:bodyPr>
          <a:lstStyle/>
          <a:p>
            <a:pPr algn="ctr"/>
            <a:r>
              <a:rPr kumimoji="1" lang="en-US" altLang="zh-CN" sz="1400" b="1" dirty="0" smtClean="0">
                <a:solidFill>
                  <a:srgbClr val="CC00CC"/>
                </a:solidFill>
                <a:latin typeface="微软雅黑" pitchFamily="34" charset="-122"/>
                <a:ea typeface="微软雅黑" pitchFamily="34" charset="-122"/>
              </a:rPr>
              <a:t>B </a:t>
            </a:r>
            <a:r>
              <a:rPr kumimoji="1" lang="zh-CN" altLang="en-US" sz="1400" b="1" dirty="0" smtClean="0">
                <a:solidFill>
                  <a:srgbClr val="CC00CC"/>
                </a:solidFill>
                <a:latin typeface="微软雅黑" pitchFamily="34" charset="-122"/>
                <a:ea typeface="微软雅黑" pitchFamily="34" charset="-122"/>
              </a:rPr>
              <a:t>向所有站点</a:t>
            </a:r>
            <a:endParaRPr kumimoji="1" lang="en-US" altLang="zh-CN" sz="1400" b="1" dirty="0">
              <a:solidFill>
                <a:srgbClr val="CC00CC"/>
              </a:solidFill>
              <a:latin typeface="微软雅黑" pitchFamily="34" charset="-122"/>
              <a:ea typeface="微软雅黑" pitchFamily="34" charset="-122"/>
            </a:endParaRP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82" name="Text Box 22"/>
          <p:cNvSpPr txBox="1">
            <a:spLocks noChangeArrowheads="1"/>
          </p:cNvSpPr>
          <p:nvPr/>
        </p:nvSpPr>
        <p:spPr bwMode="auto">
          <a:xfrm>
            <a:off x="4179547" y="3441745"/>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83" name="Text Box 23"/>
          <p:cNvSpPr txBox="1">
            <a:spLocks noChangeArrowheads="1"/>
          </p:cNvSpPr>
          <p:nvPr/>
        </p:nvSpPr>
        <p:spPr bwMode="auto">
          <a:xfrm>
            <a:off x="5472194" y="3430685"/>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D</a:t>
            </a:r>
          </a:p>
        </p:txBody>
      </p:sp>
      <p:sp>
        <p:nvSpPr>
          <p:cNvPr id="84" name="Text Box 24"/>
          <p:cNvSpPr txBox="1">
            <a:spLocks noChangeArrowheads="1"/>
          </p:cNvSpPr>
          <p:nvPr/>
        </p:nvSpPr>
        <p:spPr bwMode="auto">
          <a:xfrm>
            <a:off x="1715396" y="3430685"/>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85" name="Text Box 25"/>
          <p:cNvSpPr txBox="1">
            <a:spLocks noChangeArrowheads="1"/>
          </p:cNvSpPr>
          <p:nvPr/>
        </p:nvSpPr>
        <p:spPr bwMode="auto">
          <a:xfrm>
            <a:off x="6629055" y="3428228"/>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86" name="Line 26"/>
          <p:cNvSpPr>
            <a:spLocks noChangeShapeType="1"/>
          </p:cNvSpPr>
          <p:nvPr/>
        </p:nvSpPr>
        <p:spPr bwMode="auto">
          <a:xfrm flipH="1">
            <a:off x="1209238" y="2104065"/>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7"/>
          <p:cNvSpPr txBox="1">
            <a:spLocks noChangeArrowheads="1"/>
          </p:cNvSpPr>
          <p:nvPr/>
        </p:nvSpPr>
        <p:spPr bwMode="auto">
          <a:xfrm>
            <a:off x="1638815" y="1963402"/>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88" name="Text Box 28"/>
          <p:cNvSpPr txBox="1">
            <a:spLocks noChangeArrowheads="1"/>
          </p:cNvSpPr>
          <p:nvPr/>
        </p:nvSpPr>
        <p:spPr bwMode="auto">
          <a:xfrm>
            <a:off x="6548762" y="1963402"/>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89" name="Freeform 32"/>
          <p:cNvSpPr>
            <a:spLocks/>
          </p:cNvSpPr>
          <p:nvPr/>
        </p:nvSpPr>
        <p:spPr bwMode="auto">
          <a:xfrm>
            <a:off x="3329046" y="2410739"/>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0" name="Text Box 48"/>
          <p:cNvSpPr txBox="1">
            <a:spLocks noChangeArrowheads="1"/>
          </p:cNvSpPr>
          <p:nvPr/>
        </p:nvSpPr>
        <p:spPr bwMode="auto">
          <a:xfrm>
            <a:off x="3170457" y="3430685"/>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6984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6984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6984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4" name="Line 12"/>
          <p:cNvSpPr>
            <a:spLocks noChangeShapeType="1"/>
          </p:cNvSpPr>
          <p:nvPr/>
        </p:nvSpPr>
        <p:spPr bwMode="auto">
          <a:xfrm rot="16200000" flipV="1">
            <a:off x="1682498" y="2765026"/>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Freeform 29"/>
          <p:cNvSpPr>
            <a:spLocks/>
          </p:cNvSpPr>
          <p:nvPr/>
        </p:nvSpPr>
        <p:spPr bwMode="auto">
          <a:xfrm>
            <a:off x="3293468" y="2426715"/>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6" name="Freeform 30"/>
          <p:cNvSpPr>
            <a:spLocks/>
          </p:cNvSpPr>
          <p:nvPr/>
        </p:nvSpPr>
        <p:spPr bwMode="auto">
          <a:xfrm>
            <a:off x="3329047" y="2436546"/>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7" name="Freeform 31"/>
          <p:cNvSpPr>
            <a:spLocks/>
          </p:cNvSpPr>
          <p:nvPr/>
        </p:nvSpPr>
        <p:spPr bwMode="auto">
          <a:xfrm>
            <a:off x="3329046" y="2439004"/>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8" name="Freeform 33"/>
          <p:cNvSpPr>
            <a:spLocks/>
          </p:cNvSpPr>
          <p:nvPr/>
        </p:nvSpPr>
        <p:spPr bwMode="auto">
          <a:xfrm>
            <a:off x="1371600" y="2410739"/>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9" name="Freeform 34"/>
          <p:cNvSpPr>
            <a:spLocks/>
          </p:cNvSpPr>
          <p:nvPr/>
        </p:nvSpPr>
        <p:spPr bwMode="auto">
          <a:xfrm flipH="1">
            <a:off x="2015319" y="2410739"/>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10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69846"/>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01" name="组合 100"/>
          <p:cNvGrpSpPr/>
          <p:nvPr/>
        </p:nvGrpSpPr>
        <p:grpSpPr>
          <a:xfrm>
            <a:off x="1817612" y="3717623"/>
            <a:ext cx="5498027" cy="309717"/>
            <a:chOff x="1817612" y="3764815"/>
            <a:chExt cx="5498027" cy="309717"/>
          </a:xfrm>
        </p:grpSpPr>
        <p:sp>
          <p:nvSpPr>
            <p:cNvPr id="102" name="Text Box 47"/>
            <p:cNvSpPr txBox="1">
              <a:spLocks noChangeArrowheads="1"/>
            </p:cNvSpPr>
            <p:nvPr/>
          </p:nvSpPr>
          <p:spPr bwMode="auto">
            <a:xfrm>
              <a:off x="55201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3" name="Text Box 47"/>
            <p:cNvSpPr txBox="1">
              <a:spLocks noChangeArrowheads="1"/>
            </p:cNvSpPr>
            <p:nvPr/>
          </p:nvSpPr>
          <p:spPr bwMode="auto">
            <a:xfrm>
              <a:off x="6773139"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sp>
          <p:nvSpPr>
            <p:cNvPr id="104" name="Text Box 47"/>
            <p:cNvSpPr txBox="1">
              <a:spLocks noChangeArrowheads="1"/>
            </p:cNvSpPr>
            <p:nvPr/>
          </p:nvSpPr>
          <p:spPr bwMode="auto">
            <a:xfrm>
              <a:off x="42884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5" name="Text Box 47"/>
            <p:cNvSpPr txBox="1">
              <a:spLocks noChangeArrowheads="1"/>
            </p:cNvSpPr>
            <p:nvPr/>
          </p:nvSpPr>
          <p:spPr bwMode="auto">
            <a:xfrm>
              <a:off x="1817612"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grpSp>
      <p:pic>
        <p:nvPicPr>
          <p:cNvPr id="10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69846"/>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46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500" fill="hold"/>
                                        <p:tgtEl>
                                          <p:spTgt spid="81"/>
                                        </p:tgtEl>
                                        <p:attrNameLst>
                                          <p:attrName>style.visibility</p:attrName>
                                        </p:attrNameLst>
                                      </p:cBhvr>
                                      <p:tavLst>
                                        <p:tav tm="0">
                                          <p:val>
                                            <p:strVal val="hidden"/>
                                          </p:val>
                                        </p:tav>
                                        <p:tav tm="50000">
                                          <p:val>
                                            <p:strVal val="visible"/>
                                          </p:val>
                                        </p:tav>
                                      </p:tavLst>
                                    </p:anim>
                                  </p:childTnLst>
                                </p:cTn>
                              </p:par>
                            </p:childTnLst>
                          </p:cTn>
                        </p:par>
                        <p:par>
                          <p:cTn id="10" fill="hold">
                            <p:stCondLst>
                              <p:cond delay="2000"/>
                            </p:stCondLst>
                            <p:childTnLst>
                              <p:par>
                                <p:cTn id="11" presetID="22" presetClass="entr" presetSubtype="2" fill="hold" grpId="0" nodeType="afterEffect">
                                  <p:stCondLst>
                                    <p:cond delay="500"/>
                                  </p:stCondLst>
                                  <p:childTnLst>
                                    <p:set>
                                      <p:cBhvr>
                                        <p:cTn id="12" dur="1" fill="hold">
                                          <p:stCondLst>
                                            <p:cond delay="0"/>
                                          </p:stCondLst>
                                        </p:cTn>
                                        <p:tgtEl>
                                          <p:spTgt spid="99"/>
                                        </p:tgtEl>
                                        <p:attrNameLst>
                                          <p:attrName>style.visibility</p:attrName>
                                        </p:attrNameLst>
                                      </p:cBhvr>
                                      <p:to>
                                        <p:strVal val="visible"/>
                                      </p:to>
                                    </p:set>
                                    <p:animEffect transition="in" filter="wipe(right)">
                                      <p:cBhvr>
                                        <p:cTn id="13" dur="2500"/>
                                        <p:tgtEl>
                                          <p:spTgt spid="99"/>
                                        </p:tgtEl>
                                      </p:cBhvr>
                                    </p:animEffect>
                                  </p:childTnLst>
                                </p:cTn>
                              </p:par>
                              <p:par>
                                <p:cTn id="14" presetID="22" presetClass="entr" presetSubtype="2" fill="hold" grpId="0" nodeType="withEffect">
                                  <p:stCondLst>
                                    <p:cond delay="500"/>
                                  </p:stCondLst>
                                  <p:childTnLst>
                                    <p:set>
                                      <p:cBhvr>
                                        <p:cTn id="15" dur="1" fill="hold">
                                          <p:stCondLst>
                                            <p:cond delay="0"/>
                                          </p:stCondLst>
                                        </p:cTn>
                                        <p:tgtEl>
                                          <p:spTgt spid="98"/>
                                        </p:tgtEl>
                                        <p:attrNameLst>
                                          <p:attrName>style.visibility</p:attrName>
                                        </p:attrNameLst>
                                      </p:cBhvr>
                                      <p:to>
                                        <p:strVal val="visible"/>
                                      </p:to>
                                    </p:set>
                                    <p:animEffect transition="in" filter="wipe(right)">
                                      <p:cBhvr>
                                        <p:cTn id="16" dur="2500"/>
                                        <p:tgtEl>
                                          <p:spTgt spid="98"/>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95"/>
                                        </p:tgtEl>
                                        <p:attrNameLst>
                                          <p:attrName>style.visibility</p:attrName>
                                        </p:attrNameLst>
                                      </p:cBhvr>
                                      <p:to>
                                        <p:strVal val="visible"/>
                                      </p:to>
                                    </p:set>
                                    <p:animEffect transition="in" filter="wipe(left)">
                                      <p:cBhvr>
                                        <p:cTn id="19" dur="2500"/>
                                        <p:tgtEl>
                                          <p:spTgt spid="95"/>
                                        </p:tgtEl>
                                      </p:cBhvr>
                                    </p:animEffect>
                                  </p:childTnLst>
                                </p:cTn>
                              </p:par>
                              <p:par>
                                <p:cTn id="20" presetID="22" presetClass="entr" presetSubtype="8" fill="hold" grpId="0" nodeType="withEffect">
                                  <p:stCondLst>
                                    <p:cond delay="500"/>
                                  </p:stCondLst>
                                  <p:childTnLst>
                                    <p:set>
                                      <p:cBhvr>
                                        <p:cTn id="21" dur="1" fill="hold">
                                          <p:stCondLst>
                                            <p:cond delay="0"/>
                                          </p:stCondLst>
                                        </p:cTn>
                                        <p:tgtEl>
                                          <p:spTgt spid="96"/>
                                        </p:tgtEl>
                                        <p:attrNameLst>
                                          <p:attrName>style.visibility</p:attrName>
                                        </p:attrNameLst>
                                      </p:cBhvr>
                                      <p:to>
                                        <p:strVal val="visible"/>
                                      </p:to>
                                    </p:set>
                                    <p:animEffect transition="in" filter="wipe(left)">
                                      <p:cBhvr>
                                        <p:cTn id="22" dur="2750"/>
                                        <p:tgtEl>
                                          <p:spTgt spid="96"/>
                                        </p:tgtEl>
                                      </p:cBhvr>
                                    </p:animEffect>
                                  </p:childTnLst>
                                </p:cTn>
                              </p:par>
                              <p:par>
                                <p:cTn id="23" presetID="22" presetClass="entr" presetSubtype="8" fill="hold" grpId="0" nodeType="withEffect">
                                  <p:stCondLst>
                                    <p:cond delay="500"/>
                                  </p:stCondLst>
                                  <p:childTnLst>
                                    <p:set>
                                      <p:cBhvr>
                                        <p:cTn id="24" dur="1" fill="hold">
                                          <p:stCondLst>
                                            <p:cond delay="0"/>
                                          </p:stCondLst>
                                        </p:cTn>
                                        <p:tgtEl>
                                          <p:spTgt spid="97"/>
                                        </p:tgtEl>
                                        <p:attrNameLst>
                                          <p:attrName>style.visibility</p:attrName>
                                        </p:attrNameLst>
                                      </p:cBhvr>
                                      <p:to>
                                        <p:strVal val="visible"/>
                                      </p:to>
                                    </p:set>
                                    <p:animEffect transition="in" filter="wipe(left)">
                                      <p:cBhvr>
                                        <p:cTn id="25" dur="2500"/>
                                        <p:tgtEl>
                                          <p:spTgt spid="97"/>
                                        </p:tgtEl>
                                      </p:cBhvr>
                                    </p:animEffect>
                                  </p:childTnLst>
                                </p:cTn>
                              </p:par>
                              <p:par>
                                <p:cTn id="26" presetID="22" presetClass="entr" presetSubtype="8" fill="hold" grpId="0" nodeType="withEffect">
                                  <p:stCondLst>
                                    <p:cond delay="500"/>
                                  </p:stCondLst>
                                  <p:childTnLst>
                                    <p:set>
                                      <p:cBhvr>
                                        <p:cTn id="27" dur="1" fill="hold">
                                          <p:stCondLst>
                                            <p:cond delay="0"/>
                                          </p:stCondLst>
                                        </p:cTn>
                                        <p:tgtEl>
                                          <p:spTgt spid="89"/>
                                        </p:tgtEl>
                                        <p:attrNameLst>
                                          <p:attrName>style.visibility</p:attrName>
                                        </p:attrNameLst>
                                      </p:cBhvr>
                                      <p:to>
                                        <p:strVal val="visible"/>
                                      </p:to>
                                    </p:set>
                                    <p:animEffect transition="in" filter="wipe(left)">
                                      <p:cBhvr>
                                        <p:cTn id="28" dur="2500"/>
                                        <p:tgtEl>
                                          <p:spTgt spid="89"/>
                                        </p:tgtEl>
                                      </p:cBhvr>
                                    </p:animEffect>
                                  </p:childTnLst>
                                </p:cTn>
                              </p:par>
                            </p:childTnLst>
                          </p:cTn>
                        </p:par>
                        <p:par>
                          <p:cTn id="29" fill="hold">
                            <p:stCondLst>
                              <p:cond delay="5250"/>
                            </p:stCondLst>
                            <p:childTnLst>
                              <p:par>
                                <p:cTn id="30" presetID="1" presetClass="entr" presetSubtype="0" fill="hold" nodeType="afterEffect">
                                  <p:stCondLst>
                                    <p:cond delay="1000"/>
                                  </p:stCondLst>
                                  <p:childTnLst>
                                    <p:set>
                                      <p:cBhvr>
                                        <p:cTn id="31" dur="1" fill="hold">
                                          <p:stCondLst>
                                            <p:cond delay="0"/>
                                          </p:stCondLst>
                                        </p:cTn>
                                        <p:tgtEl>
                                          <p:spTgt spid="101"/>
                                        </p:tgtEl>
                                        <p:attrNameLst>
                                          <p:attrName>style.visibility</p:attrName>
                                        </p:attrNameLst>
                                      </p:cBhvr>
                                      <p:to>
                                        <p:strVal val="visible"/>
                                      </p:to>
                                    </p:set>
                                  </p:childTnLst>
                                </p:cTn>
                              </p:par>
                            </p:childTnLst>
                          </p:cTn>
                        </p:par>
                        <p:par>
                          <p:cTn id="32" fill="hold">
                            <p:stCondLst>
                              <p:cond delay="6250"/>
                            </p:stCondLst>
                            <p:childTnLst>
                              <p:par>
                                <p:cTn id="33" presetID="35" presetClass="emph" presetSubtype="0" repeatCount="indefinite" fill="hold" nodeType="afterEffect">
                                  <p:stCondLst>
                                    <p:cond delay="0"/>
                                  </p:stCondLst>
                                  <p:endCondLst>
                                    <p:cond evt="onNext" delay="0">
                                      <p:tgtEl>
                                        <p:sldTgt/>
                                      </p:tgtEl>
                                    </p:cond>
                                  </p:endCondLst>
                                  <p:childTnLst>
                                    <p:anim calcmode="discrete" valueType="str">
                                      <p:cBhvr>
                                        <p:cTn id="34" dur="500" fill="hold"/>
                                        <p:tgtEl>
                                          <p:spTgt spid="10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1" grpId="1" animBg="1"/>
      <p:bldP spid="89" grpId="0" animBg="1"/>
      <p:bldP spid="95" grpId="0" animBg="1"/>
      <p:bldP spid="96" grpId="0" animBg="1"/>
      <p:bldP spid="97" grpId="0" animBg="1"/>
      <p:bldP spid="98" grpId="0" animBg="1"/>
      <p:bldP spid="9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791694"/>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7"/>
          <p:cNvSpPr>
            <a:spLocks noChangeShapeType="1"/>
          </p:cNvSpPr>
          <p:nvPr/>
        </p:nvSpPr>
        <p:spPr bwMode="auto">
          <a:xfrm flipV="1">
            <a:off x="1258776" y="2349297"/>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9"/>
          <p:cNvSpPr>
            <a:spLocks noChangeArrowheads="1"/>
          </p:cNvSpPr>
          <p:nvPr/>
        </p:nvSpPr>
        <p:spPr bwMode="auto">
          <a:xfrm>
            <a:off x="7668344" y="2233754"/>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AutoShape 5"/>
          <p:cNvSpPr>
            <a:spLocks noChangeArrowheads="1"/>
          </p:cNvSpPr>
          <p:nvPr/>
        </p:nvSpPr>
        <p:spPr bwMode="auto">
          <a:xfrm>
            <a:off x="502921" y="625449"/>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12" name="Rectangle 6"/>
          <p:cNvSpPr>
            <a:spLocks noChangeArrowheads="1"/>
          </p:cNvSpPr>
          <p:nvPr/>
        </p:nvSpPr>
        <p:spPr bwMode="auto">
          <a:xfrm>
            <a:off x="2840852" y="583178"/>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smtClean="0">
                <a:solidFill>
                  <a:schemeClr val="bg1"/>
                </a:solidFill>
                <a:latin typeface="微软雅黑" pitchFamily="34" charset="-122"/>
                <a:ea typeface="微软雅黑" pitchFamily="34" charset="-122"/>
              </a:rPr>
              <a:t>协议</a:t>
            </a:r>
            <a:endParaRPr lang="zh-CN" altLang="en-US" sz="2400" b="1" dirty="0">
              <a:solidFill>
                <a:schemeClr val="bg1"/>
              </a:solidFill>
              <a:latin typeface="微软雅黑" pitchFamily="34" charset="-122"/>
              <a:ea typeface="微软雅黑" pitchFamily="34" charset="-122"/>
            </a:endParaRPr>
          </a:p>
        </p:txBody>
      </p:sp>
      <p:sp>
        <p:nvSpPr>
          <p:cNvPr id="13" name="Rectangle 8"/>
          <p:cNvSpPr>
            <a:spLocks noChangeArrowheads="1"/>
          </p:cNvSpPr>
          <p:nvPr/>
        </p:nvSpPr>
        <p:spPr bwMode="auto">
          <a:xfrm>
            <a:off x="502921" y="1038474"/>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smtClean="0">
                <a:latin typeface="微软雅黑" pitchFamily="34" charset="-122"/>
                <a:ea typeface="微软雅黑" pitchFamily="34" charset="-122"/>
              </a:rPr>
              <a:t>为了实现</a:t>
            </a:r>
            <a:r>
              <a:rPr lang="zh-CN" altLang="en-US" b="1" dirty="0" smtClean="0">
                <a:solidFill>
                  <a:srgbClr val="CC00CC"/>
                </a:solidFill>
                <a:latin typeface="微软雅黑" pitchFamily="34" charset="-122"/>
                <a:ea typeface="微软雅黑" pitchFamily="34" charset="-122"/>
              </a:rPr>
              <a:t>一对一</a:t>
            </a:r>
            <a:r>
              <a:rPr lang="zh-CN" altLang="en-US" b="1" dirty="0" smtClean="0">
                <a:latin typeface="微软雅黑" pitchFamily="34" charset="-122"/>
                <a:ea typeface="微软雅黑" pitchFamily="34" charset="-122"/>
              </a:rPr>
              <a:t>通信</a:t>
            </a:r>
            <a:r>
              <a:rPr lang="zh-CN" altLang="en-US" b="1" dirty="0">
                <a:latin typeface="微软雅黑" pitchFamily="34" charset="-122"/>
                <a:ea typeface="微软雅黑" pitchFamily="34" charset="-122"/>
              </a:rPr>
              <a:t>，将接收站的硬件</a:t>
            </a:r>
            <a:r>
              <a:rPr lang="zh-CN" altLang="en-US" b="1" dirty="0" smtClean="0">
                <a:latin typeface="微软雅黑" pitchFamily="34" charset="-122"/>
                <a:ea typeface="微软雅黑" pitchFamily="34" charset="-122"/>
              </a:rPr>
              <a:t>地址写入</a:t>
            </a:r>
            <a:r>
              <a:rPr lang="zh-CN" altLang="en-US" b="1" dirty="0">
                <a:latin typeface="微软雅黑" pitchFamily="34" charset="-122"/>
                <a:ea typeface="微软雅黑" pitchFamily="34" charset="-122"/>
              </a:rPr>
              <a:t>帧首部中的</a:t>
            </a:r>
            <a:r>
              <a:rPr lang="zh-CN" altLang="en-US" b="1" dirty="0">
                <a:solidFill>
                  <a:srgbClr val="CC00CC"/>
                </a:solidFill>
                <a:latin typeface="微软雅黑" pitchFamily="34" charset="-122"/>
                <a:ea typeface="微软雅黑" pitchFamily="34" charset="-122"/>
              </a:rPr>
              <a:t>目的地址</a:t>
            </a:r>
            <a:r>
              <a:rPr lang="zh-CN" altLang="en-US" b="1" dirty="0">
                <a:latin typeface="微软雅黑" pitchFamily="34" charset="-122"/>
                <a:ea typeface="微软雅黑" pitchFamily="34" charset="-122"/>
              </a:rPr>
              <a:t>字段中。仅当数据帧中的目的地址与</a:t>
            </a:r>
            <a:r>
              <a:rPr lang="zh-CN" altLang="en-US" b="1" dirty="0" smtClean="0">
                <a:latin typeface="微软雅黑" pitchFamily="34" charset="-122"/>
                <a:ea typeface="微软雅黑" pitchFamily="34" charset="-122"/>
              </a:rPr>
              <a:t>适配器的</a:t>
            </a:r>
            <a:r>
              <a:rPr lang="zh-CN" altLang="en-US" b="1" dirty="0">
                <a:latin typeface="微软雅黑" pitchFamily="34" charset="-122"/>
                <a:ea typeface="微软雅黑" pitchFamily="34" charset="-122"/>
              </a:rPr>
              <a:t>硬件地址一致时</a:t>
            </a:r>
            <a:r>
              <a:rPr lang="zh-CN" altLang="en-US" b="1" dirty="0" smtClean="0">
                <a:latin typeface="微软雅黑" pitchFamily="34" charset="-122"/>
                <a:ea typeface="微软雅黑" pitchFamily="34" charset="-122"/>
              </a:rPr>
              <a:t>，才能</a:t>
            </a:r>
            <a:r>
              <a:rPr lang="zh-CN" altLang="en-US" b="1" dirty="0">
                <a:latin typeface="微软雅黑" pitchFamily="34" charset="-122"/>
                <a:ea typeface="微软雅黑" pitchFamily="34" charset="-122"/>
              </a:rPr>
              <a:t>接收这个</a:t>
            </a:r>
            <a:r>
              <a:rPr lang="zh-CN" altLang="en-US" b="1" dirty="0" smtClean="0">
                <a:latin typeface="微软雅黑" pitchFamily="34" charset="-122"/>
                <a:ea typeface="微软雅黑" pitchFamily="34" charset="-122"/>
              </a:rPr>
              <a:t>数据帧。</a:t>
            </a:r>
            <a:endParaRPr lang="zh-CN" altLang="en-US" b="1" dirty="0">
              <a:latin typeface="微软雅黑" pitchFamily="34" charset="-122"/>
              <a:ea typeface="微软雅黑" pitchFamily="34" charset="-122"/>
            </a:endParaRPr>
          </a:p>
        </p:txBody>
      </p:sp>
      <p:sp>
        <p:nvSpPr>
          <p:cNvPr id="14" name="Line 5"/>
          <p:cNvSpPr>
            <a:spLocks noChangeShapeType="1"/>
          </p:cNvSpPr>
          <p:nvPr/>
        </p:nvSpPr>
        <p:spPr bwMode="auto">
          <a:xfrm rot="16200000" flipV="1">
            <a:off x="4153306" y="2765026"/>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078993" y="2233754"/>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10"/>
          <p:cNvSpPr>
            <a:spLocks noChangeShapeType="1"/>
          </p:cNvSpPr>
          <p:nvPr/>
        </p:nvSpPr>
        <p:spPr bwMode="auto">
          <a:xfrm>
            <a:off x="7372521" y="2159805"/>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Freeform 14"/>
          <p:cNvSpPr>
            <a:spLocks/>
          </p:cNvSpPr>
          <p:nvPr/>
        </p:nvSpPr>
        <p:spPr bwMode="auto">
          <a:xfrm>
            <a:off x="3320888" y="2359128"/>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7"/>
          <p:cNvSpPr>
            <a:spLocks noChangeShapeType="1"/>
          </p:cNvSpPr>
          <p:nvPr/>
        </p:nvSpPr>
        <p:spPr bwMode="auto">
          <a:xfrm rot="16200000" flipV="1">
            <a:off x="5388709" y="2765026"/>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9"/>
          <p:cNvSpPr>
            <a:spLocks/>
          </p:cNvSpPr>
          <p:nvPr/>
        </p:nvSpPr>
        <p:spPr bwMode="auto">
          <a:xfrm>
            <a:off x="7028431" y="2359127"/>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Text Box 21"/>
          <p:cNvSpPr txBox="1">
            <a:spLocks noChangeArrowheads="1"/>
          </p:cNvSpPr>
          <p:nvPr/>
        </p:nvSpPr>
        <p:spPr bwMode="auto">
          <a:xfrm>
            <a:off x="2874807" y="3684241"/>
            <a:ext cx="902811" cy="523220"/>
          </a:xfrm>
          <a:prstGeom prst="rect">
            <a:avLst/>
          </a:prstGeom>
          <a:solidFill>
            <a:schemeClr val="bg1"/>
          </a:solidFill>
          <a:ln>
            <a:noFill/>
          </a:ln>
          <a:effectLst/>
          <a:extLst/>
        </p:spPr>
        <p:txBody>
          <a:bodyPr wrap="none">
            <a:spAutoFit/>
          </a:bodyPr>
          <a:lstStyle/>
          <a:p>
            <a:pPr algn="ctr"/>
            <a:r>
              <a:rPr kumimoji="1" lang="en-US" altLang="zh-CN" sz="1400" b="1" dirty="0" smtClean="0">
                <a:solidFill>
                  <a:srgbClr val="CC00CC"/>
                </a:solidFill>
                <a:latin typeface="微软雅黑" pitchFamily="34" charset="-122"/>
                <a:ea typeface="微软雅黑" pitchFamily="34" charset="-122"/>
              </a:rPr>
              <a:t>B </a:t>
            </a:r>
            <a:r>
              <a:rPr kumimoji="1" lang="zh-CN" altLang="en-US" sz="1400" b="1" dirty="0" smtClean="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21" name="Text Box 22"/>
          <p:cNvSpPr txBox="1">
            <a:spLocks noChangeArrowheads="1"/>
          </p:cNvSpPr>
          <p:nvPr/>
        </p:nvSpPr>
        <p:spPr bwMode="auto">
          <a:xfrm>
            <a:off x="4179547" y="3441745"/>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2" name="Text Box 23"/>
          <p:cNvSpPr txBox="1">
            <a:spLocks noChangeArrowheads="1"/>
          </p:cNvSpPr>
          <p:nvPr/>
        </p:nvSpPr>
        <p:spPr bwMode="auto">
          <a:xfrm>
            <a:off x="5472194" y="3430685"/>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3" name="Text Box 24"/>
          <p:cNvSpPr txBox="1">
            <a:spLocks noChangeArrowheads="1"/>
          </p:cNvSpPr>
          <p:nvPr/>
        </p:nvSpPr>
        <p:spPr bwMode="auto">
          <a:xfrm>
            <a:off x="1715396" y="3430685"/>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4" name="Text Box 25"/>
          <p:cNvSpPr txBox="1">
            <a:spLocks noChangeArrowheads="1"/>
          </p:cNvSpPr>
          <p:nvPr/>
        </p:nvSpPr>
        <p:spPr bwMode="auto">
          <a:xfrm>
            <a:off x="6629055" y="3428228"/>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5" name="Line 26"/>
          <p:cNvSpPr>
            <a:spLocks noChangeShapeType="1"/>
          </p:cNvSpPr>
          <p:nvPr/>
        </p:nvSpPr>
        <p:spPr bwMode="auto">
          <a:xfrm flipH="1">
            <a:off x="1209238" y="2104065"/>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27"/>
          <p:cNvSpPr txBox="1">
            <a:spLocks noChangeArrowheads="1"/>
          </p:cNvSpPr>
          <p:nvPr/>
        </p:nvSpPr>
        <p:spPr bwMode="auto">
          <a:xfrm>
            <a:off x="1638815" y="1963402"/>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7" name="Text Box 28"/>
          <p:cNvSpPr txBox="1">
            <a:spLocks noChangeArrowheads="1"/>
          </p:cNvSpPr>
          <p:nvPr/>
        </p:nvSpPr>
        <p:spPr bwMode="auto">
          <a:xfrm>
            <a:off x="6548762" y="1963402"/>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8" name="Freeform 32"/>
          <p:cNvSpPr>
            <a:spLocks/>
          </p:cNvSpPr>
          <p:nvPr/>
        </p:nvSpPr>
        <p:spPr bwMode="auto">
          <a:xfrm>
            <a:off x="3329046" y="2410739"/>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48"/>
          <p:cNvSpPr txBox="1">
            <a:spLocks noChangeArrowheads="1"/>
          </p:cNvSpPr>
          <p:nvPr/>
        </p:nvSpPr>
        <p:spPr bwMode="auto">
          <a:xfrm>
            <a:off x="3170457" y="3430685"/>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3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6984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6984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69846"/>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组合 32"/>
          <p:cNvGrpSpPr/>
          <p:nvPr/>
        </p:nvGrpSpPr>
        <p:grpSpPr>
          <a:xfrm>
            <a:off x="1715396" y="3113750"/>
            <a:ext cx="5676467" cy="944924"/>
            <a:chOff x="1715396" y="3160942"/>
            <a:chExt cx="5676467" cy="944924"/>
          </a:xfrm>
        </p:grpSpPr>
        <p:sp>
          <p:nvSpPr>
            <p:cNvPr id="34" name="Text Box 47"/>
            <p:cNvSpPr txBox="1">
              <a:spLocks noChangeArrowheads="1"/>
            </p:cNvSpPr>
            <p:nvPr/>
          </p:nvSpPr>
          <p:spPr bwMode="auto">
            <a:xfrm>
              <a:off x="5520120" y="3796149"/>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grpSp>
          <p:nvGrpSpPr>
            <p:cNvPr id="35" name="组合 34"/>
            <p:cNvGrpSpPr/>
            <p:nvPr/>
          </p:nvGrpSpPr>
          <p:grpSpPr>
            <a:xfrm>
              <a:off x="1715396" y="3160942"/>
              <a:ext cx="5676467" cy="944924"/>
              <a:chOff x="1715396" y="3160942"/>
              <a:chExt cx="5676467" cy="944924"/>
            </a:xfrm>
          </p:grpSpPr>
          <p:sp>
            <p:nvSpPr>
              <p:cNvPr id="36" name="AutoShape 38"/>
              <p:cNvSpPr>
                <a:spLocks noChangeArrowheads="1"/>
              </p:cNvSpPr>
              <p:nvPr/>
            </p:nvSpPr>
            <p:spPr bwMode="auto">
              <a:xfrm>
                <a:off x="6655680" y="3782632"/>
                <a:ext cx="736183"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不接受</a:t>
                </a:r>
              </a:p>
            </p:txBody>
          </p:sp>
          <p:sp>
            <p:nvSpPr>
              <p:cNvPr id="37" name="AutoShape 42"/>
              <p:cNvSpPr>
                <a:spLocks noChangeArrowheads="1"/>
              </p:cNvSpPr>
              <p:nvPr/>
            </p:nvSpPr>
            <p:spPr bwMode="auto">
              <a:xfrm>
                <a:off x="4191528"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sp>
            <p:nvSpPr>
              <p:cNvPr id="38" name="AutoShape 46"/>
              <p:cNvSpPr>
                <a:spLocks noChangeArrowheads="1"/>
              </p:cNvSpPr>
              <p:nvPr/>
            </p:nvSpPr>
            <p:spPr bwMode="auto">
              <a:xfrm>
                <a:off x="1715396"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grpSp>
            <p:nvGrpSpPr>
              <p:cNvPr id="39" name="Group 35"/>
              <p:cNvGrpSpPr>
                <a:grpSpLocks/>
              </p:cNvGrpSpPr>
              <p:nvPr/>
            </p:nvGrpSpPr>
            <p:grpSpPr bwMode="auto">
              <a:xfrm>
                <a:off x="6940081" y="3160942"/>
                <a:ext cx="209007" cy="207675"/>
                <a:chOff x="1474" y="3430"/>
                <a:chExt cx="136" cy="136"/>
              </a:xfrm>
            </p:grpSpPr>
            <p:sp>
              <p:nvSpPr>
                <p:cNvPr id="46"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7"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0" name="Group 35"/>
              <p:cNvGrpSpPr>
                <a:grpSpLocks/>
              </p:cNvGrpSpPr>
              <p:nvPr/>
            </p:nvGrpSpPr>
            <p:grpSpPr bwMode="auto">
              <a:xfrm>
                <a:off x="4463416" y="3160942"/>
                <a:ext cx="209007" cy="207675"/>
                <a:chOff x="1474" y="3430"/>
                <a:chExt cx="136" cy="136"/>
              </a:xfrm>
            </p:grpSpPr>
            <p:sp>
              <p:nvSpPr>
                <p:cNvPr id="44"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1" name="Group 35"/>
              <p:cNvGrpSpPr>
                <a:grpSpLocks/>
              </p:cNvGrpSpPr>
              <p:nvPr/>
            </p:nvGrpSpPr>
            <p:grpSpPr bwMode="auto">
              <a:xfrm>
                <a:off x="1979712" y="3160942"/>
                <a:ext cx="209007" cy="207675"/>
                <a:chOff x="1474" y="3430"/>
                <a:chExt cx="136" cy="136"/>
              </a:xfrm>
            </p:grpSpPr>
            <p:sp>
              <p:nvSpPr>
                <p:cNvPr id="42"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grpSp>
      <p:sp>
        <p:nvSpPr>
          <p:cNvPr id="48" name="Line 12"/>
          <p:cNvSpPr>
            <a:spLocks noChangeShapeType="1"/>
          </p:cNvSpPr>
          <p:nvPr/>
        </p:nvSpPr>
        <p:spPr bwMode="auto">
          <a:xfrm rot="16200000" flipV="1">
            <a:off x="1682498" y="2765026"/>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Freeform 29"/>
          <p:cNvSpPr>
            <a:spLocks/>
          </p:cNvSpPr>
          <p:nvPr/>
        </p:nvSpPr>
        <p:spPr bwMode="auto">
          <a:xfrm>
            <a:off x="3293468" y="2426715"/>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30"/>
          <p:cNvSpPr>
            <a:spLocks/>
          </p:cNvSpPr>
          <p:nvPr/>
        </p:nvSpPr>
        <p:spPr bwMode="auto">
          <a:xfrm>
            <a:off x="3329047" y="2436546"/>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Freeform 31"/>
          <p:cNvSpPr>
            <a:spLocks/>
          </p:cNvSpPr>
          <p:nvPr/>
        </p:nvSpPr>
        <p:spPr bwMode="auto">
          <a:xfrm>
            <a:off x="3329046" y="2439004"/>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Text Box 49"/>
          <p:cNvSpPr txBox="1">
            <a:spLocks noChangeArrowheads="1"/>
          </p:cNvSpPr>
          <p:nvPr/>
        </p:nvSpPr>
        <p:spPr bwMode="auto">
          <a:xfrm>
            <a:off x="4259153" y="2561409"/>
            <a:ext cx="1258679" cy="523220"/>
          </a:xfrm>
          <a:prstGeom prst="rect">
            <a:avLst/>
          </a:prstGeom>
          <a:solidFill>
            <a:srgbClr val="0000CC"/>
          </a:solidFill>
          <a:ln w="12700">
            <a:solidFill>
              <a:schemeClr val="tx1"/>
            </a:solidFill>
            <a:miter lim="800000"/>
            <a:headEnd/>
            <a:tailEnd/>
          </a:ln>
          <a:effectLst/>
        </p:spPr>
        <p:txBody>
          <a:bodyPr wrap="none">
            <a:spAutoFit/>
          </a:bodyPr>
          <a:lstStyle/>
          <a:p>
            <a:pPr algn="ctr"/>
            <a:r>
              <a:rPr lang="zh-CN" altLang="en-US" sz="1400" b="1" dirty="0">
                <a:solidFill>
                  <a:schemeClr val="bg1"/>
                </a:solidFill>
                <a:latin typeface="微软雅黑" pitchFamily="34" charset="-122"/>
                <a:ea typeface="微软雅黑" pitchFamily="34" charset="-122"/>
              </a:rPr>
              <a:t>只有 </a:t>
            </a:r>
            <a:r>
              <a:rPr lang="en-US" altLang="zh-CN" sz="1400" b="1" dirty="0">
                <a:solidFill>
                  <a:schemeClr val="bg1"/>
                </a:solidFill>
                <a:latin typeface="微软雅黑" pitchFamily="34" charset="-122"/>
                <a:ea typeface="微软雅黑" pitchFamily="34" charset="-122"/>
              </a:rPr>
              <a:t>D </a:t>
            </a:r>
            <a:r>
              <a:rPr lang="zh-CN" altLang="en-US" sz="1400" b="1" dirty="0">
                <a:solidFill>
                  <a:schemeClr val="bg1"/>
                </a:solidFill>
                <a:latin typeface="微软雅黑" pitchFamily="34" charset="-122"/>
                <a:ea typeface="微软雅黑" pitchFamily="34" charset="-122"/>
              </a:rPr>
              <a:t>接受</a:t>
            </a:r>
          </a:p>
          <a:p>
            <a:pPr algn="ctr"/>
            <a:r>
              <a:rPr lang="en-US" altLang="zh-CN" sz="1400" b="1" dirty="0">
                <a:solidFill>
                  <a:schemeClr val="bg1"/>
                </a:solidFill>
                <a:latin typeface="微软雅黑" pitchFamily="34" charset="-122"/>
                <a:ea typeface="微软雅黑" pitchFamily="34" charset="-122"/>
              </a:rPr>
              <a:t>B </a:t>
            </a:r>
            <a:r>
              <a:rPr lang="zh-CN" altLang="en-US" sz="1400" b="1" dirty="0">
                <a:solidFill>
                  <a:schemeClr val="bg1"/>
                </a:solidFill>
                <a:latin typeface="微软雅黑" pitchFamily="34" charset="-122"/>
                <a:ea typeface="微软雅黑" pitchFamily="34" charset="-122"/>
              </a:rPr>
              <a:t>发送的数据</a:t>
            </a:r>
          </a:p>
        </p:txBody>
      </p:sp>
      <p:sp>
        <p:nvSpPr>
          <p:cNvPr id="53" name="Freeform 33"/>
          <p:cNvSpPr>
            <a:spLocks/>
          </p:cNvSpPr>
          <p:nvPr/>
        </p:nvSpPr>
        <p:spPr bwMode="auto">
          <a:xfrm>
            <a:off x="1371600" y="2410739"/>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Freeform 34"/>
          <p:cNvSpPr>
            <a:spLocks/>
          </p:cNvSpPr>
          <p:nvPr/>
        </p:nvSpPr>
        <p:spPr bwMode="auto">
          <a:xfrm flipH="1">
            <a:off x="2015319" y="2410739"/>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6984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6984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57" name="Line 36"/>
          <p:cNvSpPr>
            <a:spLocks noChangeShapeType="1"/>
          </p:cNvSpPr>
          <p:nvPr/>
        </p:nvSpPr>
        <p:spPr bwMode="auto">
          <a:xfrm>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37"/>
          <p:cNvSpPr>
            <a:spLocks noChangeShapeType="1"/>
          </p:cNvSpPr>
          <p:nvPr/>
        </p:nvSpPr>
        <p:spPr bwMode="auto">
          <a:xfrm flipH="1">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86509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indefinite" fill="hold" grpId="1" nodeType="afterEffect">
                                  <p:stCondLst>
                                    <p:cond delay="500"/>
                                  </p:stCondLst>
                                  <p:endCondLst>
                                    <p:cond evt="onNext" delay="0">
                                      <p:tgtEl>
                                        <p:sldTgt/>
                                      </p:tgtEl>
                                    </p:cond>
                                  </p:endCondLst>
                                  <p:childTnLst>
                                    <p:anim calcmode="discrete" valueType="str">
                                      <p:cBhvr>
                                        <p:cTn id="9" dur="5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wipe(right)">
                                      <p:cBhvr>
                                        <p:cTn id="14" dur="4000"/>
                                        <p:tgtEl>
                                          <p:spTgt spid="54"/>
                                        </p:tgtEl>
                                      </p:cBhvr>
                                    </p:animEffect>
                                  </p:childTnLst>
                                </p:cTn>
                              </p:par>
                              <p:par>
                                <p:cTn id="15" presetID="22" presetClass="entr" presetSubtype="2" fill="hold" grpId="0" nodeType="withEffect">
                                  <p:stCondLst>
                                    <p:cond delay="500"/>
                                  </p:stCondLst>
                                  <p:childTnLst>
                                    <p:set>
                                      <p:cBhvr>
                                        <p:cTn id="16" dur="1" fill="hold">
                                          <p:stCondLst>
                                            <p:cond delay="0"/>
                                          </p:stCondLst>
                                        </p:cTn>
                                        <p:tgtEl>
                                          <p:spTgt spid="53"/>
                                        </p:tgtEl>
                                        <p:attrNameLst>
                                          <p:attrName>style.visibility</p:attrName>
                                        </p:attrNameLst>
                                      </p:cBhvr>
                                      <p:to>
                                        <p:strVal val="visible"/>
                                      </p:to>
                                    </p:set>
                                    <p:animEffect transition="in" filter="wipe(right)">
                                      <p:cBhvr>
                                        <p:cTn id="17" dur="3500"/>
                                        <p:tgtEl>
                                          <p:spTgt spid="53"/>
                                        </p:tgtEl>
                                      </p:cBhvr>
                                    </p:animEffect>
                                  </p:childTnLst>
                                </p:cTn>
                              </p:par>
                              <p:par>
                                <p:cTn id="18" presetID="22" presetClass="entr" presetSubtype="8" fill="hold" grpId="0" nodeType="withEffect">
                                  <p:stCondLst>
                                    <p:cond delay="50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500"/>
                                        <p:tgtEl>
                                          <p:spTgt spid="49"/>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50"/>
                                        </p:tgtEl>
                                        <p:attrNameLst>
                                          <p:attrName>style.visibility</p:attrName>
                                        </p:attrNameLst>
                                      </p:cBhvr>
                                      <p:to>
                                        <p:strVal val="visible"/>
                                      </p:to>
                                    </p:set>
                                    <p:animEffect transition="in" filter="wipe(left)">
                                      <p:cBhvr>
                                        <p:cTn id="23" dur="3500"/>
                                        <p:tgtEl>
                                          <p:spTgt spid="5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51"/>
                                        </p:tgtEl>
                                        <p:attrNameLst>
                                          <p:attrName>style.visibility</p:attrName>
                                        </p:attrNameLst>
                                      </p:cBhvr>
                                      <p:to>
                                        <p:strVal val="visible"/>
                                      </p:to>
                                    </p:set>
                                    <p:animEffect transition="in" filter="wipe(left)">
                                      <p:cBhvr>
                                        <p:cTn id="26" dur="3500"/>
                                        <p:tgtEl>
                                          <p:spTgt spid="51"/>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3500"/>
                                        <p:tgtEl>
                                          <p:spTgt spid="28"/>
                                        </p:tgtEl>
                                      </p:cBhvr>
                                    </p:animEffect>
                                  </p:childTnLst>
                                </p:cTn>
                              </p:par>
                            </p:childTnLst>
                          </p:cTn>
                        </p:par>
                        <p:par>
                          <p:cTn id="30" fill="hold">
                            <p:stCondLst>
                              <p:cond delay="4000"/>
                            </p:stCondLst>
                            <p:childTnLst>
                              <p:par>
                                <p:cTn id="31" presetID="1" presetClass="entr" presetSubtype="0" fill="hold" nodeType="afterEffect">
                                  <p:stCondLst>
                                    <p:cond delay="750"/>
                                  </p:stCondLst>
                                  <p:childTnLst>
                                    <p:set>
                                      <p:cBhvr>
                                        <p:cTn id="32" dur="1" fill="hold">
                                          <p:stCondLst>
                                            <p:cond delay="0"/>
                                          </p:stCondLst>
                                        </p:cTn>
                                        <p:tgtEl>
                                          <p:spTgt spid="33"/>
                                        </p:tgtEl>
                                        <p:attrNameLst>
                                          <p:attrName>style.visibility</p:attrName>
                                        </p:attrNameLst>
                                      </p:cBhvr>
                                      <p:to>
                                        <p:strVal val="visible"/>
                                      </p:to>
                                    </p:set>
                                  </p:childTnLst>
                                </p:cTn>
                              </p:par>
                            </p:childTnLst>
                          </p:cTn>
                        </p:par>
                        <p:par>
                          <p:cTn id="33" fill="hold">
                            <p:stCondLst>
                              <p:cond delay="4750"/>
                            </p:stCondLst>
                            <p:childTnLst>
                              <p:par>
                                <p:cTn id="34" presetID="35" presetClass="emph" presetSubtype="0" repeatCount="5000" fill="hold" nodeType="afterEffect">
                                  <p:stCondLst>
                                    <p:cond delay="750"/>
                                  </p:stCondLst>
                                  <p:childTnLst>
                                    <p:anim calcmode="discrete" valueType="str">
                                      <p:cBhvr>
                                        <p:cTn id="35" dur="500" fill="hold"/>
                                        <p:tgtEl>
                                          <p:spTgt spid="33"/>
                                        </p:tgtEl>
                                        <p:attrNameLst>
                                          <p:attrName>style.visibility</p:attrName>
                                        </p:attrNameLst>
                                      </p:cBhvr>
                                      <p:tavLst>
                                        <p:tav tm="0">
                                          <p:val>
                                            <p:strVal val="hidden"/>
                                          </p:val>
                                        </p:tav>
                                        <p:tav tm="50000">
                                          <p:val>
                                            <p:strVal val="visible"/>
                                          </p:val>
                                        </p:tav>
                                      </p:tavLst>
                                    </p:anim>
                                  </p:childTnLst>
                                </p:cTn>
                              </p:par>
                            </p:childTnLst>
                          </p:cTn>
                        </p:par>
                        <p:par>
                          <p:cTn id="36" fill="hold">
                            <p:stCondLst>
                              <p:cond delay="8000"/>
                            </p:stCondLst>
                            <p:childTnLst>
                              <p:par>
                                <p:cTn id="37" presetID="10" presetClass="exit" presetSubtype="0" fill="hold" grpId="1" nodeType="afterEffect">
                                  <p:stCondLst>
                                    <p:cond delay="500"/>
                                  </p:stCondLst>
                                  <p:childTnLst>
                                    <p:animEffect transition="out" filter="fade">
                                      <p:cBhvr>
                                        <p:cTn id="38" dur="3000"/>
                                        <p:tgtEl>
                                          <p:spTgt spid="54"/>
                                        </p:tgtEl>
                                      </p:cBhvr>
                                    </p:animEffect>
                                    <p:set>
                                      <p:cBhvr>
                                        <p:cTn id="39" dur="1" fill="hold">
                                          <p:stCondLst>
                                            <p:cond delay="2999"/>
                                          </p:stCondLst>
                                        </p:cTn>
                                        <p:tgtEl>
                                          <p:spTgt spid="54"/>
                                        </p:tgtEl>
                                        <p:attrNameLst>
                                          <p:attrName>style.visibility</p:attrName>
                                        </p:attrNameLst>
                                      </p:cBhvr>
                                      <p:to>
                                        <p:strVal val="hidden"/>
                                      </p:to>
                                    </p:set>
                                  </p:childTnLst>
                                </p:cTn>
                              </p:par>
                              <p:par>
                                <p:cTn id="40" presetID="10" presetClass="exit" presetSubtype="0" fill="hold" grpId="1" nodeType="withEffect">
                                  <p:stCondLst>
                                    <p:cond delay="500"/>
                                  </p:stCondLst>
                                  <p:childTnLst>
                                    <p:animEffect transition="out" filter="fade">
                                      <p:cBhvr>
                                        <p:cTn id="41" dur="3000"/>
                                        <p:tgtEl>
                                          <p:spTgt spid="53"/>
                                        </p:tgtEl>
                                      </p:cBhvr>
                                    </p:animEffect>
                                    <p:set>
                                      <p:cBhvr>
                                        <p:cTn id="42" dur="1" fill="hold">
                                          <p:stCondLst>
                                            <p:cond delay="2999"/>
                                          </p:stCondLst>
                                        </p:cTn>
                                        <p:tgtEl>
                                          <p:spTgt spid="53"/>
                                        </p:tgtEl>
                                        <p:attrNameLst>
                                          <p:attrName>style.visibility</p:attrName>
                                        </p:attrNameLst>
                                      </p:cBhvr>
                                      <p:to>
                                        <p:strVal val="hidden"/>
                                      </p:to>
                                    </p:set>
                                  </p:childTnLst>
                                </p:cTn>
                              </p:par>
                              <p:par>
                                <p:cTn id="43" presetID="10" presetClass="exit" presetSubtype="0" fill="hold" grpId="1" nodeType="withEffect">
                                  <p:stCondLst>
                                    <p:cond delay="500"/>
                                  </p:stCondLst>
                                  <p:childTnLst>
                                    <p:animEffect transition="out" filter="fade">
                                      <p:cBhvr>
                                        <p:cTn id="44" dur="3000"/>
                                        <p:tgtEl>
                                          <p:spTgt spid="49"/>
                                        </p:tgtEl>
                                      </p:cBhvr>
                                    </p:animEffect>
                                    <p:set>
                                      <p:cBhvr>
                                        <p:cTn id="45" dur="1" fill="hold">
                                          <p:stCondLst>
                                            <p:cond delay="2999"/>
                                          </p:stCondLst>
                                        </p:cTn>
                                        <p:tgtEl>
                                          <p:spTgt spid="49"/>
                                        </p:tgtEl>
                                        <p:attrNameLst>
                                          <p:attrName>style.visibility</p:attrName>
                                        </p:attrNameLst>
                                      </p:cBhvr>
                                      <p:to>
                                        <p:strVal val="hidden"/>
                                      </p:to>
                                    </p:set>
                                  </p:childTnLst>
                                </p:cTn>
                              </p:par>
                              <p:par>
                                <p:cTn id="46" presetID="10" presetClass="exit" presetSubtype="0" fill="hold" grpId="1" nodeType="withEffect">
                                  <p:stCondLst>
                                    <p:cond delay="500"/>
                                  </p:stCondLst>
                                  <p:childTnLst>
                                    <p:animEffect transition="out" filter="fade">
                                      <p:cBhvr>
                                        <p:cTn id="47" dur="3000"/>
                                        <p:tgtEl>
                                          <p:spTgt spid="51"/>
                                        </p:tgtEl>
                                      </p:cBhvr>
                                    </p:animEffect>
                                    <p:set>
                                      <p:cBhvr>
                                        <p:cTn id="48" dur="1" fill="hold">
                                          <p:stCondLst>
                                            <p:cond delay="2999"/>
                                          </p:stCondLst>
                                        </p:cTn>
                                        <p:tgtEl>
                                          <p:spTgt spid="51"/>
                                        </p:tgtEl>
                                        <p:attrNameLst>
                                          <p:attrName>style.visibility</p:attrName>
                                        </p:attrNameLst>
                                      </p:cBhvr>
                                      <p:to>
                                        <p:strVal val="hidden"/>
                                      </p:to>
                                    </p:set>
                                  </p:childTnLst>
                                </p:cTn>
                              </p:par>
                              <p:par>
                                <p:cTn id="49" presetID="10" presetClass="exit" presetSubtype="0" fill="hold" grpId="1" nodeType="withEffect">
                                  <p:stCondLst>
                                    <p:cond delay="500"/>
                                  </p:stCondLst>
                                  <p:childTnLst>
                                    <p:animEffect transition="out" filter="fade">
                                      <p:cBhvr>
                                        <p:cTn id="50" dur="3000"/>
                                        <p:tgtEl>
                                          <p:spTgt spid="28"/>
                                        </p:tgtEl>
                                      </p:cBhvr>
                                    </p:animEffect>
                                    <p:set>
                                      <p:cBhvr>
                                        <p:cTn id="51" dur="1" fill="hold">
                                          <p:stCondLst>
                                            <p:cond delay="2999"/>
                                          </p:stCondLst>
                                        </p:cTn>
                                        <p:tgtEl>
                                          <p:spTgt spid="28"/>
                                        </p:tgtEl>
                                        <p:attrNameLst>
                                          <p:attrName>style.visibility</p:attrName>
                                        </p:attrNameLst>
                                      </p:cBhvr>
                                      <p:to>
                                        <p:strVal val="hidden"/>
                                      </p:to>
                                    </p:set>
                                  </p:childTnLst>
                                </p:cTn>
                              </p:par>
                            </p:childTnLst>
                          </p:cTn>
                        </p:par>
                        <p:par>
                          <p:cTn id="52" fill="hold">
                            <p:stCondLst>
                              <p:cond delay="11500"/>
                            </p:stCondLst>
                            <p:childTnLst>
                              <p:par>
                                <p:cTn id="53" presetID="1" presetClass="entr" presetSubtype="0" fill="hold" grpId="0" nodeType="afterEffect">
                                  <p:stCondLst>
                                    <p:cond delay="500"/>
                                  </p:stCondLst>
                                  <p:childTnLst>
                                    <p:set>
                                      <p:cBhvr>
                                        <p:cTn id="54" dur="1" fill="hold">
                                          <p:stCondLst>
                                            <p:cond delay="0"/>
                                          </p:stCondLst>
                                        </p:cTn>
                                        <p:tgtEl>
                                          <p:spTgt spid="52"/>
                                        </p:tgtEl>
                                        <p:attrNameLst>
                                          <p:attrName>style.visibility</p:attrName>
                                        </p:attrNameLst>
                                      </p:cBhvr>
                                      <p:to>
                                        <p:strVal val="visible"/>
                                      </p:to>
                                    </p:set>
                                  </p:childTnLst>
                                </p:cTn>
                              </p:par>
                            </p:childTnLst>
                          </p:cTn>
                        </p:par>
                        <p:par>
                          <p:cTn id="55" fill="hold">
                            <p:stCondLst>
                              <p:cond delay="12000"/>
                            </p:stCondLst>
                            <p:childTnLst>
                              <p:par>
                                <p:cTn id="56" presetID="35" presetClass="emph" presetSubtype="0" repeatCount="5000" fill="hold" grpId="1" nodeType="afterEffect">
                                  <p:stCondLst>
                                    <p:cond delay="500"/>
                                  </p:stCondLst>
                                  <p:childTnLst>
                                    <p:anim calcmode="discrete" valueType="str">
                                      <p:cBhvr>
                                        <p:cTn id="57" dur="500" fill="hold"/>
                                        <p:tgtEl>
                                          <p:spTgt spid="5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8" grpId="0" animBg="1"/>
      <p:bldP spid="28" grpId="1" animBg="1"/>
      <p:bldP spid="49" grpId="0" animBg="1"/>
      <p:bldP spid="49" grpId="1" animBg="1"/>
      <p:bldP spid="50" grpId="0" animBg="1"/>
      <p:bldP spid="51" grpId="0" animBg="1"/>
      <p:bldP spid="51" grpId="1" animBg="1"/>
      <p:bldP spid="52" grpId="0" animBg="1"/>
      <p:bldP spid="52" grpId="1" animBg="1"/>
      <p:bldP spid="53" grpId="0" animBg="1"/>
      <p:bldP spid="53" grpId="1" animBg="1"/>
      <p:bldP spid="54" grpId="0" animBg="1"/>
      <p:bldP spid="5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1" y="1791694"/>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Line 7"/>
          <p:cNvSpPr>
            <a:spLocks noChangeShapeType="1"/>
          </p:cNvSpPr>
          <p:nvPr/>
        </p:nvSpPr>
        <p:spPr bwMode="auto">
          <a:xfrm flipV="1">
            <a:off x="1258776" y="2349297"/>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9"/>
          <p:cNvSpPr>
            <a:spLocks noChangeArrowheads="1"/>
          </p:cNvSpPr>
          <p:nvPr/>
        </p:nvSpPr>
        <p:spPr bwMode="auto">
          <a:xfrm>
            <a:off x="7668344" y="2233754"/>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AutoShape 5"/>
          <p:cNvSpPr>
            <a:spLocks noChangeArrowheads="1"/>
          </p:cNvSpPr>
          <p:nvPr/>
        </p:nvSpPr>
        <p:spPr bwMode="auto">
          <a:xfrm>
            <a:off x="502921" y="625449"/>
            <a:ext cx="8129015" cy="388721"/>
          </a:xfrm>
          <a:prstGeom prst="roundRect">
            <a:avLst>
              <a:gd name="adj" fmla="val 16667"/>
            </a:avLst>
          </a:prstGeom>
          <a:solidFill>
            <a:srgbClr val="0089FA"/>
          </a:solidFill>
          <a:ln>
            <a:noFill/>
          </a:ln>
          <a:effectLst/>
          <a:extLst/>
        </p:spPr>
        <p:txBody>
          <a:bodyPr wrap="none" anchor="ctr"/>
          <a:lstStyle/>
          <a:p>
            <a:endParaRPr lang="zh-CN" altLang="en-US"/>
          </a:p>
        </p:txBody>
      </p:sp>
      <p:sp>
        <p:nvSpPr>
          <p:cNvPr id="9" name="Rectangle 6"/>
          <p:cNvSpPr>
            <a:spLocks noChangeArrowheads="1"/>
          </p:cNvSpPr>
          <p:nvPr/>
        </p:nvSpPr>
        <p:spPr bwMode="auto">
          <a:xfrm>
            <a:off x="2840852" y="583178"/>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smtClean="0">
                <a:solidFill>
                  <a:schemeClr val="bg1"/>
                </a:solidFill>
                <a:latin typeface="微软雅黑" pitchFamily="34" charset="-122"/>
                <a:ea typeface="微软雅黑" pitchFamily="34" charset="-122"/>
              </a:rPr>
              <a:t>协议</a:t>
            </a:r>
            <a:endParaRPr lang="zh-CN" altLang="en-US" sz="2400" b="1" dirty="0">
              <a:solidFill>
                <a:schemeClr val="bg1"/>
              </a:solidFill>
              <a:latin typeface="微软雅黑" pitchFamily="34" charset="-122"/>
              <a:ea typeface="微软雅黑" pitchFamily="34" charset="-122"/>
            </a:endParaRPr>
          </a:p>
        </p:txBody>
      </p:sp>
      <p:sp>
        <p:nvSpPr>
          <p:cNvPr id="10" name="Rectangle 8"/>
          <p:cNvSpPr>
            <a:spLocks noChangeArrowheads="1"/>
          </p:cNvSpPr>
          <p:nvPr/>
        </p:nvSpPr>
        <p:spPr bwMode="auto">
          <a:xfrm>
            <a:off x="502921" y="1038474"/>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smtClean="0">
                <a:latin typeface="微软雅黑" pitchFamily="34" charset="-122"/>
                <a:ea typeface="微软雅黑" pitchFamily="34" charset="-122"/>
              </a:rPr>
              <a:t>总线</a:t>
            </a:r>
            <a:r>
              <a:rPr lang="zh-CN" altLang="en-US" b="1" dirty="0">
                <a:latin typeface="微软雅黑" pitchFamily="34" charset="-122"/>
                <a:ea typeface="微软雅黑" pitchFamily="34" charset="-122"/>
              </a:rPr>
              <a:t>也有</a:t>
            </a:r>
            <a:r>
              <a:rPr lang="zh-CN" altLang="en-US" b="1" dirty="0">
                <a:solidFill>
                  <a:srgbClr val="C00000"/>
                </a:solidFill>
                <a:latin typeface="微软雅黑" pitchFamily="34" charset="-122"/>
                <a:ea typeface="微软雅黑" pitchFamily="34" charset="-122"/>
              </a:rPr>
              <a:t>缺点</a:t>
            </a:r>
            <a:r>
              <a:rPr lang="zh-CN" altLang="en-US" b="1" dirty="0" smtClean="0">
                <a:latin typeface="微软雅黑" pitchFamily="34" charset="-122"/>
                <a:ea typeface="微软雅黑" pitchFamily="34" charset="-122"/>
              </a:rPr>
              <a:t>。若</a:t>
            </a:r>
            <a:r>
              <a:rPr lang="zh-CN" altLang="en-US" b="1" dirty="0">
                <a:latin typeface="微软雅黑" pitchFamily="34" charset="-122"/>
                <a:ea typeface="微软雅黑" pitchFamily="34" charset="-122"/>
              </a:rPr>
              <a:t>多台计算机或多个站点同时发送时，会产生发送碰撞或冲突，导致发送失败</a:t>
            </a:r>
            <a:r>
              <a:rPr lang="zh-CN" altLang="en-US" b="1" dirty="0" smtClean="0">
                <a:latin typeface="微软雅黑" pitchFamily="34" charset="-122"/>
                <a:ea typeface="微软雅黑" pitchFamily="34" charset="-122"/>
              </a:rPr>
              <a:t>。</a:t>
            </a:r>
            <a:endParaRPr lang="zh-CN" altLang="en-US" b="1" dirty="0">
              <a:latin typeface="微软雅黑" pitchFamily="34" charset="-122"/>
              <a:ea typeface="微软雅黑" pitchFamily="34" charset="-122"/>
            </a:endParaRPr>
          </a:p>
        </p:txBody>
      </p:sp>
      <p:sp>
        <p:nvSpPr>
          <p:cNvPr id="11" name="Line 5"/>
          <p:cNvSpPr>
            <a:spLocks noChangeShapeType="1"/>
          </p:cNvSpPr>
          <p:nvPr/>
        </p:nvSpPr>
        <p:spPr bwMode="auto">
          <a:xfrm rot="16200000" flipV="1">
            <a:off x="4153306" y="2765026"/>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078993" y="2233754"/>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Line 10"/>
          <p:cNvSpPr>
            <a:spLocks noChangeShapeType="1"/>
          </p:cNvSpPr>
          <p:nvPr/>
        </p:nvSpPr>
        <p:spPr bwMode="auto">
          <a:xfrm>
            <a:off x="7372521" y="2159805"/>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Freeform 14"/>
          <p:cNvSpPr>
            <a:spLocks/>
          </p:cNvSpPr>
          <p:nvPr/>
        </p:nvSpPr>
        <p:spPr bwMode="auto">
          <a:xfrm>
            <a:off x="3320888" y="2359128"/>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7"/>
          <p:cNvSpPr>
            <a:spLocks noChangeShapeType="1"/>
          </p:cNvSpPr>
          <p:nvPr/>
        </p:nvSpPr>
        <p:spPr bwMode="auto">
          <a:xfrm rot="16200000" flipV="1">
            <a:off x="5388709" y="2765026"/>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Freeform 19"/>
          <p:cNvSpPr>
            <a:spLocks/>
          </p:cNvSpPr>
          <p:nvPr/>
        </p:nvSpPr>
        <p:spPr bwMode="auto">
          <a:xfrm>
            <a:off x="7028431" y="2359127"/>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Text Box 21"/>
          <p:cNvSpPr txBox="1">
            <a:spLocks noChangeArrowheads="1"/>
          </p:cNvSpPr>
          <p:nvPr/>
        </p:nvSpPr>
        <p:spPr bwMode="auto">
          <a:xfrm>
            <a:off x="2874807" y="3684241"/>
            <a:ext cx="902811" cy="523220"/>
          </a:xfrm>
          <a:prstGeom prst="rect">
            <a:avLst/>
          </a:prstGeom>
          <a:solidFill>
            <a:schemeClr val="bg1"/>
          </a:solidFill>
          <a:ln>
            <a:noFill/>
          </a:ln>
          <a:effectLst/>
          <a:extLst/>
        </p:spPr>
        <p:txBody>
          <a:bodyPr wrap="none">
            <a:spAutoFit/>
          </a:bodyPr>
          <a:lstStyle/>
          <a:p>
            <a:pPr algn="ctr"/>
            <a:r>
              <a:rPr kumimoji="1" lang="en-US" altLang="zh-CN" sz="1400" b="1" dirty="0" smtClean="0">
                <a:solidFill>
                  <a:srgbClr val="CC00CC"/>
                </a:solidFill>
                <a:latin typeface="微软雅黑" pitchFamily="34" charset="-122"/>
                <a:ea typeface="微软雅黑" pitchFamily="34" charset="-122"/>
              </a:rPr>
              <a:t>B </a:t>
            </a:r>
            <a:r>
              <a:rPr kumimoji="1" lang="zh-CN" altLang="en-US" sz="1400" b="1" dirty="0" smtClean="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18" name="Text Box 22"/>
          <p:cNvSpPr txBox="1">
            <a:spLocks noChangeArrowheads="1"/>
          </p:cNvSpPr>
          <p:nvPr/>
        </p:nvSpPr>
        <p:spPr bwMode="auto">
          <a:xfrm>
            <a:off x="4179547" y="3441745"/>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19" name="Text Box 23"/>
          <p:cNvSpPr txBox="1">
            <a:spLocks noChangeArrowheads="1"/>
          </p:cNvSpPr>
          <p:nvPr/>
        </p:nvSpPr>
        <p:spPr bwMode="auto">
          <a:xfrm>
            <a:off x="5472194" y="3430685"/>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0" name="Text Box 24"/>
          <p:cNvSpPr txBox="1">
            <a:spLocks noChangeArrowheads="1"/>
          </p:cNvSpPr>
          <p:nvPr/>
        </p:nvSpPr>
        <p:spPr bwMode="auto">
          <a:xfrm>
            <a:off x="1715396" y="3430685"/>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1" name="Text Box 25"/>
          <p:cNvSpPr txBox="1">
            <a:spLocks noChangeArrowheads="1"/>
          </p:cNvSpPr>
          <p:nvPr/>
        </p:nvSpPr>
        <p:spPr bwMode="auto">
          <a:xfrm>
            <a:off x="6629055" y="3428228"/>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2" name="Line 26"/>
          <p:cNvSpPr>
            <a:spLocks noChangeShapeType="1"/>
          </p:cNvSpPr>
          <p:nvPr/>
        </p:nvSpPr>
        <p:spPr bwMode="auto">
          <a:xfrm flipH="1">
            <a:off x="1209238" y="2104065"/>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27"/>
          <p:cNvSpPr txBox="1">
            <a:spLocks noChangeArrowheads="1"/>
          </p:cNvSpPr>
          <p:nvPr/>
        </p:nvSpPr>
        <p:spPr bwMode="auto">
          <a:xfrm>
            <a:off x="1638815" y="1963402"/>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4" name="Text Box 28"/>
          <p:cNvSpPr txBox="1">
            <a:spLocks noChangeArrowheads="1"/>
          </p:cNvSpPr>
          <p:nvPr/>
        </p:nvSpPr>
        <p:spPr bwMode="auto">
          <a:xfrm>
            <a:off x="6548762" y="1963402"/>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5" name="Freeform 32"/>
          <p:cNvSpPr>
            <a:spLocks/>
          </p:cNvSpPr>
          <p:nvPr/>
        </p:nvSpPr>
        <p:spPr bwMode="auto">
          <a:xfrm>
            <a:off x="3329047" y="2410739"/>
            <a:ext cx="1726088"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48"/>
          <p:cNvSpPr txBox="1">
            <a:spLocks noChangeArrowheads="1"/>
          </p:cNvSpPr>
          <p:nvPr/>
        </p:nvSpPr>
        <p:spPr bwMode="auto">
          <a:xfrm>
            <a:off x="3170457" y="3430685"/>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2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6984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6984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29" name="Line 12"/>
          <p:cNvSpPr>
            <a:spLocks noChangeShapeType="1"/>
          </p:cNvSpPr>
          <p:nvPr/>
        </p:nvSpPr>
        <p:spPr bwMode="auto">
          <a:xfrm rot="16200000" flipV="1">
            <a:off x="1682498" y="2765026"/>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Freeform 29"/>
          <p:cNvSpPr>
            <a:spLocks/>
          </p:cNvSpPr>
          <p:nvPr/>
        </p:nvSpPr>
        <p:spPr bwMode="auto">
          <a:xfrm>
            <a:off x="3293468" y="2426715"/>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Freeform 33"/>
          <p:cNvSpPr>
            <a:spLocks/>
          </p:cNvSpPr>
          <p:nvPr/>
        </p:nvSpPr>
        <p:spPr bwMode="auto">
          <a:xfrm>
            <a:off x="1371600" y="2410739"/>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Freeform 34"/>
          <p:cNvSpPr>
            <a:spLocks/>
          </p:cNvSpPr>
          <p:nvPr/>
        </p:nvSpPr>
        <p:spPr bwMode="auto">
          <a:xfrm flipH="1">
            <a:off x="2088861" y="2410739"/>
            <a:ext cx="1240185"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6984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4" name="Text Box 21"/>
          <p:cNvSpPr txBox="1">
            <a:spLocks noChangeArrowheads="1"/>
          </p:cNvSpPr>
          <p:nvPr/>
        </p:nvSpPr>
        <p:spPr bwMode="auto">
          <a:xfrm>
            <a:off x="6592983" y="3684241"/>
            <a:ext cx="902811" cy="523220"/>
          </a:xfrm>
          <a:prstGeom prst="rect">
            <a:avLst/>
          </a:prstGeom>
          <a:solidFill>
            <a:schemeClr val="bg1"/>
          </a:solidFill>
          <a:ln>
            <a:noFill/>
          </a:ln>
          <a:effectLst/>
          <a:ex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E</a:t>
            </a:r>
            <a:r>
              <a:rPr kumimoji="1" lang="en-US" altLang="zh-CN" sz="1400" b="1" dirty="0" smtClean="0">
                <a:solidFill>
                  <a:srgbClr val="CC00CC"/>
                </a:solidFill>
                <a:latin typeface="微软雅黑" pitchFamily="34" charset="-122"/>
                <a:ea typeface="微软雅黑" pitchFamily="34" charset="-122"/>
              </a:rPr>
              <a:t> </a:t>
            </a:r>
            <a:r>
              <a:rPr kumimoji="1" lang="zh-CN" altLang="en-US" sz="1400" b="1" dirty="0" smtClean="0">
                <a:solidFill>
                  <a:srgbClr val="CC00CC"/>
                </a:solidFill>
                <a:latin typeface="微软雅黑" pitchFamily="34" charset="-122"/>
                <a:ea typeface="微软雅黑" pitchFamily="34" charset="-122"/>
              </a:rPr>
              <a:t>向 </a:t>
            </a:r>
            <a:r>
              <a:rPr kumimoji="1" lang="en-US" altLang="zh-CN" sz="1400" b="1" dirty="0" smtClean="0">
                <a:solidFill>
                  <a:srgbClr val="CC00CC"/>
                </a:solidFill>
                <a:latin typeface="微软雅黑" pitchFamily="34" charset="-122"/>
                <a:ea typeface="微软雅黑" pitchFamily="34" charset="-122"/>
              </a:rPr>
              <a:t>A</a:t>
            </a:r>
            <a:endParaRPr kumimoji="1" lang="en-US" altLang="zh-CN" sz="1400" b="1" dirty="0">
              <a:solidFill>
                <a:srgbClr val="CC00CC"/>
              </a:solidFill>
              <a:latin typeface="微软雅黑" pitchFamily="34" charset="-122"/>
              <a:ea typeface="微软雅黑" pitchFamily="34" charset="-122"/>
            </a:endParaRP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35" name="Freeform 32"/>
          <p:cNvSpPr>
            <a:spLocks/>
          </p:cNvSpPr>
          <p:nvPr/>
        </p:nvSpPr>
        <p:spPr bwMode="auto">
          <a:xfrm>
            <a:off x="7020254" y="2410739"/>
            <a:ext cx="559277"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6" name="Freeform 33"/>
          <p:cNvSpPr>
            <a:spLocks/>
          </p:cNvSpPr>
          <p:nvPr/>
        </p:nvSpPr>
        <p:spPr bwMode="auto">
          <a:xfrm>
            <a:off x="5189518" y="2422614"/>
            <a:ext cx="1917717"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Freeform 34"/>
          <p:cNvSpPr>
            <a:spLocks/>
          </p:cNvSpPr>
          <p:nvPr/>
        </p:nvSpPr>
        <p:spPr bwMode="auto">
          <a:xfrm flipH="1">
            <a:off x="5820252" y="2410739"/>
            <a:ext cx="1200001"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6984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9" name="爆炸形 1 38"/>
          <p:cNvSpPr/>
          <p:nvPr/>
        </p:nvSpPr>
        <p:spPr>
          <a:xfrm>
            <a:off x="4946867" y="2233183"/>
            <a:ext cx="470735" cy="4641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69846"/>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38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17"/>
                                        </p:tgtEl>
                                        <p:attrNameLst>
                                          <p:attrName>style.visibility</p:attrName>
                                        </p:attrNameLst>
                                      </p:cBhvr>
                                      <p:tavLst>
                                        <p:tav tm="0">
                                          <p:val>
                                            <p:strVal val="hidden"/>
                                          </p:val>
                                        </p:tav>
                                        <p:tav tm="50000">
                                          <p:val>
                                            <p:strVal val="visible"/>
                                          </p:val>
                                        </p:tav>
                                      </p:tavLst>
                                    </p:anim>
                                  </p:childTnLst>
                                </p:cTn>
                              </p:par>
                              <p:par>
                                <p:cTn id="10" presetID="1"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par>
                                <p:cTn id="12" presetID="35" presetClass="emph" presetSubtype="0" repeatCount="3000" fill="hold" grpId="1" nodeType="withEffect">
                                  <p:stCondLst>
                                    <p:cond delay="500"/>
                                  </p:stCondLst>
                                  <p:childTnLst>
                                    <p:anim calcmode="discrete" valueType="str">
                                      <p:cBhvr>
                                        <p:cTn id="13" dur="1000" fill="hold"/>
                                        <p:tgtEl>
                                          <p:spTgt spid="34"/>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4000"/>
                                        <p:tgtEl>
                                          <p:spTgt spid="32"/>
                                        </p:tgtEl>
                                      </p:cBhvr>
                                    </p:animEffect>
                                  </p:childTnLst>
                                </p:cTn>
                              </p:par>
                              <p:par>
                                <p:cTn id="18" presetID="22" presetClass="entr" presetSubtype="2" fill="hold" grpId="0" nodeType="withEffect">
                                  <p:stCondLst>
                                    <p:cond delay="500"/>
                                  </p:stCondLst>
                                  <p:childTnLst>
                                    <p:set>
                                      <p:cBhvr>
                                        <p:cTn id="19" dur="1" fill="hold">
                                          <p:stCondLst>
                                            <p:cond delay="0"/>
                                          </p:stCondLst>
                                        </p:cTn>
                                        <p:tgtEl>
                                          <p:spTgt spid="31"/>
                                        </p:tgtEl>
                                        <p:attrNameLst>
                                          <p:attrName>style.visibility</p:attrName>
                                        </p:attrNameLst>
                                      </p:cBhvr>
                                      <p:to>
                                        <p:strVal val="visible"/>
                                      </p:to>
                                    </p:set>
                                    <p:animEffect transition="in" filter="wipe(right)">
                                      <p:cBhvr>
                                        <p:cTn id="20" dur="3500"/>
                                        <p:tgtEl>
                                          <p:spTgt spid="31"/>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3500"/>
                                        <p:tgtEl>
                                          <p:spTgt spid="3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3500"/>
                                        <p:tgtEl>
                                          <p:spTgt spid="25"/>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right)">
                                      <p:cBhvr>
                                        <p:cTn id="29" dur="4000"/>
                                        <p:tgtEl>
                                          <p:spTgt spid="37"/>
                                        </p:tgtEl>
                                      </p:cBhvr>
                                    </p:animEffect>
                                  </p:childTnLst>
                                </p:cTn>
                              </p:par>
                              <p:par>
                                <p:cTn id="30" presetID="22" presetClass="entr" presetSubtype="2" fill="hold" grpId="0" nodeType="withEffect">
                                  <p:stCondLst>
                                    <p:cond delay="500"/>
                                  </p:stCondLst>
                                  <p:childTnLst>
                                    <p:set>
                                      <p:cBhvr>
                                        <p:cTn id="31" dur="1" fill="hold">
                                          <p:stCondLst>
                                            <p:cond delay="0"/>
                                          </p:stCondLst>
                                        </p:cTn>
                                        <p:tgtEl>
                                          <p:spTgt spid="36"/>
                                        </p:tgtEl>
                                        <p:attrNameLst>
                                          <p:attrName>style.visibility</p:attrName>
                                        </p:attrNameLst>
                                      </p:cBhvr>
                                      <p:to>
                                        <p:strVal val="visible"/>
                                      </p:to>
                                    </p:set>
                                    <p:animEffect transition="in" filter="wipe(right)">
                                      <p:cBhvr>
                                        <p:cTn id="32" dur="3500"/>
                                        <p:tgtEl>
                                          <p:spTgt spid="36"/>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3500"/>
                                        <p:tgtEl>
                                          <p:spTgt spid="35"/>
                                        </p:tgtEl>
                                      </p:cBhvr>
                                    </p:animEffect>
                                  </p:childTnLst>
                                </p:cTn>
                              </p:par>
                              <p:par>
                                <p:cTn id="36" presetID="1" presetClass="entr" presetSubtype="0" fill="hold" grpId="0" nodeType="withEffect">
                                  <p:stCondLst>
                                    <p:cond delay="3750"/>
                                  </p:stCondLst>
                                  <p:childTnLst>
                                    <p:set>
                                      <p:cBhvr>
                                        <p:cTn id="37" dur="1" fill="hold">
                                          <p:stCondLst>
                                            <p:cond delay="0"/>
                                          </p:stCondLst>
                                        </p:cTn>
                                        <p:tgtEl>
                                          <p:spTgt spid="39"/>
                                        </p:tgtEl>
                                        <p:attrNameLst>
                                          <p:attrName>style.visibility</p:attrName>
                                        </p:attrNameLst>
                                      </p:cBhvr>
                                      <p:to>
                                        <p:strVal val="visible"/>
                                      </p:to>
                                    </p:set>
                                  </p:childTnLst>
                                </p:cTn>
                              </p:par>
                            </p:childTnLst>
                          </p:cTn>
                        </p:par>
                        <p:par>
                          <p:cTn id="38" fill="hold">
                            <p:stCondLst>
                              <p:cond delay="7500"/>
                            </p:stCondLst>
                            <p:childTnLst>
                              <p:par>
                                <p:cTn id="39" presetID="35" presetClass="emph" presetSubtype="0" repeatCount="indefinite" fill="hold" grpId="1" nodeType="afterEffect">
                                  <p:stCondLst>
                                    <p:cond delay="0"/>
                                  </p:stCondLst>
                                  <p:endCondLst>
                                    <p:cond evt="onNext" delay="0">
                                      <p:tgtEl>
                                        <p:sldTgt/>
                                      </p:tgtEl>
                                    </p:cond>
                                  </p:endCondLst>
                                  <p:childTnLst>
                                    <p:anim calcmode="discrete" valueType="str">
                                      <p:cBhvr>
                                        <p:cTn id="40" dur="1000" fill="hold"/>
                                        <p:tgtEl>
                                          <p:spTgt spid="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5" grpId="0" animBg="1"/>
      <p:bldP spid="30" grpId="0" animBg="1"/>
      <p:bldP spid="31" grpId="0" animBg="1"/>
      <p:bldP spid="32" grpId="0" animBg="1"/>
      <p:bldP spid="34" grpId="0" animBg="1"/>
      <p:bldP spid="34" grpId="1" animBg="1"/>
      <p:bldP spid="35" grpId="0" animBg="1"/>
      <p:bldP spid="36" grpId="0" animBg="1"/>
      <p:bldP spid="37" grpId="0" animBg="1"/>
      <p:bldP spid="39" grpId="0" animBg="1"/>
      <p:bldP spid="39"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1418752"/>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300"/>
              </a:lnSpc>
              <a:buClr>
                <a:srgbClr val="0070C0"/>
              </a:buClr>
            </a:pPr>
            <a:r>
              <a:rPr lang="zh-CN" altLang="en-US" sz="2000" b="1" dirty="0">
                <a:latin typeface="微软雅黑" pitchFamily="34" charset="-122"/>
                <a:ea typeface="微软雅黑" pitchFamily="34" charset="-122"/>
              </a:rPr>
              <a:t>为了通信的简便，以太网采取了两种重要的措施：</a:t>
            </a:r>
          </a:p>
          <a:p>
            <a:pPr eaLnBrk="0" hangingPunct="0">
              <a:lnSpc>
                <a:spcPts val="3300"/>
              </a:lnSpc>
              <a:buClr>
                <a:srgbClr val="0070C0"/>
              </a:buClr>
            </a:pP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采用较为灵活的</a:t>
            </a:r>
            <a:r>
              <a:rPr lang="zh-CN" altLang="en-US" sz="2000" b="1" dirty="0">
                <a:solidFill>
                  <a:srgbClr val="0000FF"/>
                </a:solidFill>
                <a:latin typeface="微软雅黑" pitchFamily="34" charset="-122"/>
                <a:ea typeface="微软雅黑" pitchFamily="34" charset="-122"/>
              </a:rPr>
              <a:t>无连接的工作方式</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无连</a:t>
            </a:r>
            <a:r>
              <a:rPr lang="zh-CN" altLang="en-US" sz="2000" b="1" dirty="0" smtClean="0">
                <a:latin typeface="微软雅黑" pitchFamily="34" charset="-122"/>
                <a:ea typeface="微软雅黑" pitchFamily="34" charset="-122"/>
              </a:rPr>
              <a:t>接无确认，尽力交付</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差错控制由高层完成。</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endParaRPr lang="en-US" altLang="zh-CN" sz="2000" b="1" dirty="0" smtClean="0">
              <a:latin typeface="微软雅黑" pitchFamily="34" charset="-122"/>
              <a:ea typeface="微软雅黑" pitchFamily="34" charset="-122"/>
            </a:endParaRPr>
          </a:p>
          <a:p>
            <a:pPr eaLnBrk="0" hangingPunct="0">
              <a:lnSpc>
                <a:spcPts val="3300"/>
              </a:lnSpc>
              <a:buClr>
                <a:srgbClr val="0070C0"/>
              </a:buClr>
            </a:pP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以太网发送的数据都使用</a:t>
            </a:r>
            <a:r>
              <a:rPr lang="zh-CN" altLang="en-US" sz="2000" b="1" dirty="0">
                <a:solidFill>
                  <a:srgbClr val="0000FF"/>
                </a:solidFill>
                <a:latin typeface="微软雅黑" pitchFamily="34" charset="-122"/>
                <a:ea typeface="微软雅黑" pitchFamily="34" charset="-122"/>
              </a:rPr>
              <a:t>曼彻斯特</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(Manchester) </a:t>
            </a:r>
            <a:r>
              <a:rPr lang="zh-CN" altLang="en-US" sz="2000" b="1" dirty="0">
                <a:latin typeface="微软雅黑" pitchFamily="34" charset="-122"/>
                <a:ea typeface="微软雅黑" pitchFamily="34" charset="-122"/>
              </a:rPr>
              <a:t>编码</a:t>
            </a:r>
          </a:p>
          <a:p>
            <a:pPr eaLnBrk="0" hangingPunct="0">
              <a:lnSpc>
                <a:spcPts val="3300"/>
              </a:lnSpc>
              <a:buClr>
                <a:srgbClr val="0070C0"/>
              </a:buClr>
            </a:pPr>
            <a:endParaRPr lang="zh-CN" altLang="en-US" sz="2000" b="1" dirty="0">
              <a:latin typeface="微软雅黑" pitchFamily="34" charset="-122"/>
              <a:ea typeface="微软雅黑" pitchFamily="34" charset="-122"/>
            </a:endParaRPr>
          </a:p>
        </p:txBody>
      </p:sp>
      <p:sp>
        <p:nvSpPr>
          <p:cNvPr id="9" name="AutoShape 5"/>
          <p:cNvSpPr>
            <a:spLocks noChangeArrowheads="1"/>
          </p:cNvSpPr>
          <p:nvPr/>
        </p:nvSpPr>
        <p:spPr bwMode="auto">
          <a:xfrm>
            <a:off x="502921" y="101404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769144" y="990950"/>
            <a:ext cx="35958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以太网采取了两种重要的</a:t>
            </a:r>
            <a:r>
              <a:rPr lang="zh-CN" altLang="en-US" sz="2000" b="1" dirty="0" smtClean="0">
                <a:solidFill>
                  <a:schemeClr val="bg1"/>
                </a:solidFill>
                <a:latin typeface="微软雅黑" pitchFamily="34" charset="-122"/>
                <a:ea typeface="微软雅黑" pitchFamily="34" charset="-122"/>
              </a:rPr>
              <a:t>措施</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9440419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1" y="1357960"/>
            <a:ext cx="8129015" cy="282864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Line 7"/>
          <p:cNvSpPr>
            <a:spLocks noChangeShapeType="1"/>
          </p:cNvSpPr>
          <p:nvPr/>
        </p:nvSpPr>
        <p:spPr bwMode="auto">
          <a:xfrm flipV="1">
            <a:off x="1258776" y="1915563"/>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9"/>
          <p:cNvSpPr>
            <a:spLocks noChangeArrowheads="1"/>
          </p:cNvSpPr>
          <p:nvPr/>
        </p:nvSpPr>
        <p:spPr bwMode="auto">
          <a:xfrm>
            <a:off x="7668344" y="1800020"/>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Line 5"/>
          <p:cNvSpPr>
            <a:spLocks noChangeShapeType="1"/>
          </p:cNvSpPr>
          <p:nvPr/>
        </p:nvSpPr>
        <p:spPr bwMode="auto">
          <a:xfrm rot="16200000" flipV="1">
            <a:off x="4153306" y="2331292"/>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Rectangle 9"/>
          <p:cNvSpPr>
            <a:spLocks noChangeArrowheads="1"/>
          </p:cNvSpPr>
          <p:nvPr/>
        </p:nvSpPr>
        <p:spPr bwMode="auto">
          <a:xfrm>
            <a:off x="1078993" y="1800020"/>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Line 10"/>
          <p:cNvSpPr>
            <a:spLocks noChangeShapeType="1"/>
          </p:cNvSpPr>
          <p:nvPr/>
        </p:nvSpPr>
        <p:spPr bwMode="auto">
          <a:xfrm>
            <a:off x="7372521" y="1726071"/>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Freeform 14"/>
          <p:cNvSpPr>
            <a:spLocks/>
          </p:cNvSpPr>
          <p:nvPr/>
        </p:nvSpPr>
        <p:spPr bwMode="auto">
          <a:xfrm>
            <a:off x="3320888" y="1925394"/>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Line 17"/>
          <p:cNvSpPr>
            <a:spLocks noChangeShapeType="1"/>
          </p:cNvSpPr>
          <p:nvPr/>
        </p:nvSpPr>
        <p:spPr bwMode="auto">
          <a:xfrm rot="16200000" flipV="1">
            <a:off x="5388709" y="2331292"/>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Freeform 19"/>
          <p:cNvSpPr>
            <a:spLocks/>
          </p:cNvSpPr>
          <p:nvPr/>
        </p:nvSpPr>
        <p:spPr bwMode="auto">
          <a:xfrm>
            <a:off x="7028431" y="1925393"/>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Text Box 21"/>
          <p:cNvSpPr txBox="1">
            <a:spLocks noChangeArrowheads="1"/>
          </p:cNvSpPr>
          <p:nvPr/>
        </p:nvSpPr>
        <p:spPr bwMode="auto">
          <a:xfrm>
            <a:off x="2292427" y="3291451"/>
            <a:ext cx="3071143" cy="738664"/>
          </a:xfrm>
          <a:prstGeom prst="rect">
            <a:avLst/>
          </a:prstGeom>
          <a:solidFill>
            <a:schemeClr val="bg1"/>
          </a:solidFill>
          <a:ln>
            <a:noFill/>
          </a:ln>
          <a:effectLst/>
          <a:extLst/>
        </p:spPr>
        <p:txBody>
          <a:bodyPr wrap="square">
            <a:spAutoFit/>
          </a:bodyPr>
          <a:lstStyle/>
          <a:p>
            <a:r>
              <a:rPr kumimoji="1" lang="en-US" altLang="zh-CN" sz="1400" b="1" dirty="0" smtClean="0">
                <a:latin typeface="微软雅黑" pitchFamily="34" charset="-122"/>
                <a:ea typeface="微软雅黑" pitchFamily="34" charset="-122"/>
              </a:rPr>
              <a:t>B </a:t>
            </a:r>
            <a:r>
              <a:rPr kumimoji="1" lang="zh-CN" altLang="en-US" sz="1400" b="1" dirty="0" smtClean="0">
                <a:latin typeface="微软雅黑" pitchFamily="34" charset="-122"/>
                <a:ea typeface="微软雅黑" pitchFamily="34" charset="-122"/>
              </a:rPr>
              <a:t>向 </a:t>
            </a:r>
            <a:r>
              <a:rPr kumimoji="1" lang="en-US" altLang="zh-CN" sz="1400" b="1" dirty="0" smtClean="0">
                <a:latin typeface="微软雅黑" pitchFamily="34" charset="-122"/>
                <a:ea typeface="微软雅黑" pitchFamily="34" charset="-122"/>
              </a:rPr>
              <a:t>D </a:t>
            </a:r>
            <a:r>
              <a:rPr kumimoji="1" lang="zh-CN" altLang="en-US" sz="1400" b="1" dirty="0" smtClean="0">
                <a:latin typeface="微软雅黑" pitchFamily="34" charset="-122"/>
                <a:ea typeface="微软雅黑" pitchFamily="34" charset="-122"/>
              </a:rPr>
              <a:t>发送数据。能发送吗？</a:t>
            </a:r>
            <a:endParaRPr kumimoji="1" lang="en-US" altLang="zh-CN" sz="1400" b="1" dirty="0" smtClean="0">
              <a:latin typeface="微软雅黑" pitchFamily="34" charset="-122"/>
              <a:ea typeface="微软雅黑" pitchFamily="34" charset="-122"/>
            </a:endParaRPr>
          </a:p>
          <a:p>
            <a:r>
              <a:rPr kumimoji="1" lang="zh-CN" altLang="en-US" sz="1400" b="1" dirty="0" smtClean="0">
                <a:solidFill>
                  <a:srgbClr val="CC00CC"/>
                </a:solidFill>
                <a:latin typeface="微软雅黑" pitchFamily="34" charset="-122"/>
                <a:ea typeface="微软雅黑" pitchFamily="34" charset="-122"/>
              </a:rPr>
              <a:t>如何避免与其它站的发送产生碰撞？</a:t>
            </a:r>
            <a:endParaRPr kumimoji="1" lang="en-US" altLang="zh-CN" sz="1400" b="1" dirty="0" smtClean="0">
              <a:solidFill>
                <a:srgbClr val="CC00CC"/>
              </a:solidFill>
              <a:latin typeface="微软雅黑" pitchFamily="34" charset="-122"/>
              <a:ea typeface="微软雅黑" pitchFamily="34" charset="-122"/>
            </a:endParaRPr>
          </a:p>
          <a:p>
            <a:r>
              <a:rPr kumimoji="1" lang="zh-CN" altLang="en-US" sz="1400" b="1" dirty="0" smtClean="0">
                <a:solidFill>
                  <a:srgbClr val="0000FF"/>
                </a:solidFill>
                <a:latin typeface="微软雅黑" pitchFamily="34" charset="-122"/>
                <a:ea typeface="微软雅黑" pitchFamily="34" charset="-122"/>
              </a:rPr>
              <a:t>使用这种方法吧：</a:t>
            </a:r>
            <a:r>
              <a:rPr kumimoji="1" lang="en-US" altLang="zh-CN" sz="1400" b="1" dirty="0" smtClean="0">
                <a:solidFill>
                  <a:srgbClr val="0000FF"/>
                </a:solidFill>
                <a:latin typeface="微软雅黑" pitchFamily="34" charset="-122"/>
                <a:ea typeface="微软雅黑" pitchFamily="34" charset="-122"/>
              </a:rPr>
              <a:t>CSMA/CD</a:t>
            </a:r>
            <a:r>
              <a:rPr kumimoji="1" lang="zh-CN" altLang="en-US" sz="1400" b="1" dirty="0" smtClean="0">
                <a:solidFill>
                  <a:srgbClr val="0000FF"/>
                </a:solidFill>
                <a:latin typeface="微软雅黑" pitchFamily="34" charset="-122"/>
                <a:ea typeface="微软雅黑" pitchFamily="34" charset="-122"/>
              </a:rPr>
              <a:t>！！！</a:t>
            </a:r>
            <a:endParaRPr kumimoji="1" lang="zh-CN" altLang="en-US" sz="1400" b="1" dirty="0">
              <a:solidFill>
                <a:srgbClr val="0000FF"/>
              </a:solidFill>
              <a:latin typeface="微软雅黑" pitchFamily="34" charset="-122"/>
              <a:ea typeface="微软雅黑" pitchFamily="34" charset="-122"/>
            </a:endParaRPr>
          </a:p>
        </p:txBody>
      </p:sp>
      <p:sp>
        <p:nvSpPr>
          <p:cNvPr id="15" name="Text Box 22"/>
          <p:cNvSpPr txBox="1">
            <a:spLocks noChangeArrowheads="1"/>
          </p:cNvSpPr>
          <p:nvPr/>
        </p:nvSpPr>
        <p:spPr bwMode="auto">
          <a:xfrm>
            <a:off x="4179547" y="3008011"/>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16" name="Text Box 23"/>
          <p:cNvSpPr txBox="1">
            <a:spLocks noChangeArrowheads="1"/>
          </p:cNvSpPr>
          <p:nvPr/>
        </p:nvSpPr>
        <p:spPr bwMode="auto">
          <a:xfrm>
            <a:off x="5472194" y="2996951"/>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17" name="Text Box 24"/>
          <p:cNvSpPr txBox="1">
            <a:spLocks noChangeArrowheads="1"/>
          </p:cNvSpPr>
          <p:nvPr/>
        </p:nvSpPr>
        <p:spPr bwMode="auto">
          <a:xfrm>
            <a:off x="1715396" y="2996951"/>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18" name="Text Box 25"/>
          <p:cNvSpPr txBox="1">
            <a:spLocks noChangeArrowheads="1"/>
          </p:cNvSpPr>
          <p:nvPr/>
        </p:nvSpPr>
        <p:spPr bwMode="auto">
          <a:xfrm>
            <a:off x="6629055" y="2994494"/>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19" name="Line 26"/>
          <p:cNvSpPr>
            <a:spLocks noChangeShapeType="1"/>
          </p:cNvSpPr>
          <p:nvPr/>
        </p:nvSpPr>
        <p:spPr bwMode="auto">
          <a:xfrm flipH="1">
            <a:off x="1209238" y="1670331"/>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Text Box 27"/>
          <p:cNvSpPr txBox="1">
            <a:spLocks noChangeArrowheads="1"/>
          </p:cNvSpPr>
          <p:nvPr/>
        </p:nvSpPr>
        <p:spPr bwMode="auto">
          <a:xfrm>
            <a:off x="1638815" y="1529668"/>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1" name="Text Box 28"/>
          <p:cNvSpPr txBox="1">
            <a:spLocks noChangeArrowheads="1"/>
          </p:cNvSpPr>
          <p:nvPr/>
        </p:nvSpPr>
        <p:spPr bwMode="auto">
          <a:xfrm>
            <a:off x="6548762" y="152966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2" name="Text Box 48"/>
          <p:cNvSpPr txBox="1">
            <a:spLocks noChangeArrowheads="1"/>
          </p:cNvSpPr>
          <p:nvPr/>
        </p:nvSpPr>
        <p:spPr bwMode="auto">
          <a:xfrm>
            <a:off x="3170457" y="2996951"/>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2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263611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2636112"/>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25" name="Line 12"/>
          <p:cNvSpPr>
            <a:spLocks noChangeShapeType="1"/>
          </p:cNvSpPr>
          <p:nvPr/>
        </p:nvSpPr>
        <p:spPr bwMode="auto">
          <a:xfrm rot="16200000" flipV="1">
            <a:off x="1682498" y="2331292"/>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2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63611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2636112"/>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1" name="AutoShape 5"/>
          <p:cNvSpPr>
            <a:spLocks noChangeArrowheads="1"/>
          </p:cNvSpPr>
          <p:nvPr/>
        </p:nvSpPr>
        <p:spPr bwMode="auto">
          <a:xfrm>
            <a:off x="502921" y="88274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Rectangle 6"/>
          <p:cNvSpPr>
            <a:spLocks noChangeArrowheads="1"/>
          </p:cNvSpPr>
          <p:nvPr/>
        </p:nvSpPr>
        <p:spPr bwMode="auto">
          <a:xfrm>
            <a:off x="1704753" y="859654"/>
            <a:ext cx="57246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如何避免同时</a:t>
            </a:r>
            <a:r>
              <a:rPr lang="zh-CN" altLang="en-US" sz="2000" b="1" dirty="0" smtClean="0">
                <a:solidFill>
                  <a:schemeClr val="bg1"/>
                </a:solidFill>
                <a:latin typeface="微软雅黑" pitchFamily="34" charset="-122"/>
                <a:ea typeface="微软雅黑" pitchFamily="34" charset="-122"/>
              </a:rPr>
              <a:t>发送产生的碰撞？ 采用 </a:t>
            </a:r>
            <a:r>
              <a:rPr lang="en-US" altLang="zh-CN" sz="2000" b="1" dirty="0" smtClean="0">
                <a:solidFill>
                  <a:schemeClr val="bg1"/>
                </a:solidFill>
                <a:latin typeface="微软雅黑" pitchFamily="34" charset="-122"/>
                <a:ea typeface="微软雅黑" pitchFamily="34" charset="-122"/>
              </a:rPr>
              <a:t>CSMA/CD</a:t>
            </a:r>
            <a:endParaRPr lang="fr-FR" altLang="zh-CN" sz="2000" b="1" dirty="0">
              <a:solidFill>
                <a:schemeClr val="bg1"/>
              </a:solidFill>
              <a:latin typeface="微软雅黑" pitchFamily="34" charset="-122"/>
              <a:ea typeface="微软雅黑" pitchFamily="34" charset="-122"/>
            </a:endParaRPr>
          </a:p>
        </p:txBody>
      </p:sp>
      <p:pic>
        <p:nvPicPr>
          <p:cNvPr id="3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2636112"/>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59905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1025560"/>
            <a:ext cx="8266175"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含义：</a:t>
            </a:r>
            <a:r>
              <a:rPr lang="zh-CN" altLang="en-US" sz="2000" b="1" dirty="0">
                <a:solidFill>
                  <a:srgbClr val="0000FF"/>
                </a:solidFill>
                <a:latin typeface="微软雅黑" pitchFamily="34" charset="-122"/>
                <a:ea typeface="微软雅黑" pitchFamily="34" charset="-122"/>
              </a:rPr>
              <a:t>载波监听多点接入 </a:t>
            </a:r>
            <a:r>
              <a:rPr lang="en-US" altLang="zh-CN" sz="2000" b="1" dirty="0">
                <a:solidFill>
                  <a:srgbClr val="0000FF"/>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碰撞检测  </a:t>
            </a:r>
            <a:r>
              <a:rPr lang="en-US" altLang="zh-CN" sz="2000" b="1" dirty="0">
                <a:latin typeface="微软雅黑" pitchFamily="34" charset="-122"/>
                <a:ea typeface="微软雅黑" pitchFamily="34" charset="-122"/>
              </a:rPr>
              <a:t>(Carrier Sense Multiple Access with Collision Detection) </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多点接入</a:t>
            </a:r>
            <a:r>
              <a:rPr lang="zh-CN" altLang="en-US" sz="2000" b="1" dirty="0">
                <a:latin typeface="微软雅黑" pitchFamily="34" charset="-122"/>
                <a:ea typeface="微软雅黑" pitchFamily="34" charset="-122"/>
              </a:rPr>
              <a:t>”表示许多计算机以多点接入的方式连接在一根总线上。</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载波监听</a:t>
            </a:r>
            <a:r>
              <a:rPr lang="zh-CN" altLang="en-US" sz="2000" b="1" dirty="0">
                <a:latin typeface="微软雅黑" pitchFamily="34" charset="-122"/>
                <a:ea typeface="微软雅黑" pitchFamily="34" charset="-122"/>
              </a:rPr>
              <a:t>”是指每一个站在发送数据之前先要检测一下总线上是否有其他计算机在发送数据，如果有，则暂时不要发送数据，以免发生碰撞。 </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碰撞检测</a:t>
            </a:r>
            <a:r>
              <a:rPr lang="zh-CN" altLang="en-US" sz="2000" b="1" dirty="0">
                <a:latin typeface="微软雅黑" pitchFamily="34" charset="-122"/>
                <a:ea typeface="微软雅黑" pitchFamily="34" charset="-122"/>
              </a:rPr>
              <a:t>”就是计算机边发送数据边检测信道上的信号电压大小</a:t>
            </a:r>
            <a:r>
              <a:rPr lang="zh-CN" altLang="en-US" sz="2000" b="1" dirty="0" smtClean="0">
                <a:latin typeface="微软雅黑" pitchFamily="34" charset="-122"/>
                <a:ea typeface="微软雅黑" pitchFamily="34" charset="-122"/>
              </a:rPr>
              <a:t>。也称为“冲突检测”。</a:t>
            </a:r>
            <a:endParaRPr lang="zh-CN" altLang="en-US" sz="2000" b="1" dirty="0">
              <a:latin typeface="微软雅黑" pitchFamily="34" charset="-122"/>
              <a:ea typeface="微软雅黑" pitchFamily="34" charset="-122"/>
            </a:endParaRPr>
          </a:p>
        </p:txBody>
      </p:sp>
      <p:sp>
        <p:nvSpPr>
          <p:cNvPr id="9" name="AutoShape 5"/>
          <p:cNvSpPr>
            <a:spLocks noChangeArrowheads="1"/>
          </p:cNvSpPr>
          <p:nvPr/>
        </p:nvSpPr>
        <p:spPr bwMode="auto">
          <a:xfrm>
            <a:off x="502921" y="66656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410345" y="643478"/>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以太网提供的</a:t>
            </a:r>
            <a:r>
              <a:rPr lang="zh-CN" altLang="en-US" sz="2000" b="1" dirty="0" smtClean="0">
                <a:solidFill>
                  <a:schemeClr val="bg1"/>
                </a:solidFill>
                <a:latin typeface="微软雅黑" pitchFamily="34" charset="-122"/>
                <a:ea typeface="微软雅黑" pitchFamily="34" charset="-122"/>
              </a:rPr>
              <a:t>服务</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8345917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AutoShape 5"/>
          <p:cNvSpPr>
            <a:spLocks noChangeArrowheads="1"/>
          </p:cNvSpPr>
          <p:nvPr/>
        </p:nvSpPr>
        <p:spPr bwMode="auto">
          <a:xfrm>
            <a:off x="502921" y="61567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Rectangle 6"/>
          <p:cNvSpPr>
            <a:spLocks noChangeArrowheads="1"/>
          </p:cNvSpPr>
          <p:nvPr/>
        </p:nvSpPr>
        <p:spPr bwMode="auto">
          <a:xfrm>
            <a:off x="3025627" y="592586"/>
            <a:ext cx="30828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CSMA/CD </a:t>
            </a:r>
            <a:r>
              <a:rPr lang="zh-CN" altLang="en-US" sz="2000" b="1" dirty="0" smtClean="0">
                <a:solidFill>
                  <a:schemeClr val="bg1"/>
                </a:solidFill>
                <a:latin typeface="微软雅黑" pitchFamily="34" charset="-122"/>
                <a:ea typeface="微软雅黑" pitchFamily="34" charset="-122"/>
              </a:rPr>
              <a:t>协议工作流程</a:t>
            </a:r>
            <a:endParaRPr lang="fr-FR" altLang="zh-CN" sz="2000" b="1" dirty="0">
              <a:solidFill>
                <a:schemeClr val="bg1"/>
              </a:solidFill>
              <a:latin typeface="微软雅黑" pitchFamily="34" charset="-122"/>
              <a:ea typeface="微软雅黑" pitchFamily="34" charset="-122"/>
            </a:endParaRPr>
          </a:p>
        </p:txBody>
      </p:sp>
      <p:sp>
        <p:nvSpPr>
          <p:cNvPr id="93" name="矩形 92"/>
          <p:cNvSpPr/>
          <p:nvPr/>
        </p:nvSpPr>
        <p:spPr>
          <a:xfrm>
            <a:off x="2288932" y="1038008"/>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94" name="菱形 93"/>
          <p:cNvSpPr/>
          <p:nvPr/>
        </p:nvSpPr>
        <p:spPr>
          <a:xfrm>
            <a:off x="2288932" y="2222287"/>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chemeClr val="bg1"/>
                </a:solidFill>
                <a:latin typeface="微软雅黑" pitchFamily="34" charset="-122"/>
                <a:ea typeface="微软雅黑" pitchFamily="34" charset="-122"/>
              </a:rPr>
              <a:t>侦听到载波？</a:t>
            </a:r>
            <a:endParaRPr lang="zh-CN" altLang="en-US" sz="1300" b="1" dirty="0">
              <a:solidFill>
                <a:schemeClr val="bg1"/>
              </a:solidFill>
              <a:latin typeface="微软雅黑" pitchFamily="34" charset="-122"/>
              <a:ea typeface="微软雅黑" pitchFamily="34" charset="-122"/>
            </a:endParaRPr>
          </a:p>
        </p:txBody>
      </p:sp>
      <p:sp>
        <p:nvSpPr>
          <p:cNvPr id="95" name="矩形 94"/>
          <p:cNvSpPr/>
          <p:nvPr/>
        </p:nvSpPr>
        <p:spPr>
          <a:xfrm>
            <a:off x="2288932" y="294484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开始</a:t>
            </a:r>
            <a:r>
              <a:rPr lang="zh-CN" altLang="en-US" sz="1200" b="1" dirty="0" smtClean="0">
                <a:solidFill>
                  <a:schemeClr val="bg1"/>
                </a:solidFill>
                <a:latin typeface="微软雅黑" pitchFamily="34" charset="-122"/>
                <a:ea typeface="微软雅黑" pitchFamily="34" charset="-122"/>
              </a:rPr>
              <a:t>发送，</a:t>
            </a:r>
            <a:endParaRPr lang="en-US" altLang="zh-CN" sz="1200" b="1" dirty="0" smtClean="0">
              <a:solidFill>
                <a:schemeClr val="bg1"/>
              </a:solidFill>
              <a:latin typeface="微软雅黑" pitchFamily="34" charset="-122"/>
              <a:ea typeface="微软雅黑" pitchFamily="34" charset="-122"/>
            </a:endParaRPr>
          </a:p>
          <a:p>
            <a:pPr algn="ctr"/>
            <a:r>
              <a:rPr lang="zh-CN" altLang="en-US" sz="1200" b="1" dirty="0" smtClean="0">
                <a:solidFill>
                  <a:schemeClr val="bg1"/>
                </a:solidFill>
                <a:latin typeface="微软雅黑" pitchFamily="34" charset="-122"/>
                <a:ea typeface="微软雅黑" pitchFamily="34" charset="-122"/>
              </a:rPr>
              <a:t>同时进行碰撞检测</a:t>
            </a:r>
            <a:endParaRPr lang="zh-CN" altLang="en-US" sz="1200" b="1" dirty="0">
              <a:solidFill>
                <a:schemeClr val="bg1"/>
              </a:solidFill>
              <a:latin typeface="微软雅黑" pitchFamily="34" charset="-122"/>
              <a:ea typeface="微软雅黑" pitchFamily="34" charset="-122"/>
            </a:endParaRPr>
          </a:p>
        </p:txBody>
      </p:sp>
      <p:sp>
        <p:nvSpPr>
          <p:cNvPr id="96" name="菱形 95"/>
          <p:cNvSpPr/>
          <p:nvPr/>
        </p:nvSpPr>
        <p:spPr>
          <a:xfrm>
            <a:off x="2288932" y="3506795"/>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chemeClr val="bg1"/>
                </a:solidFill>
                <a:latin typeface="微软雅黑" pitchFamily="34" charset="-122"/>
                <a:ea typeface="微软雅黑" pitchFamily="34" charset="-122"/>
              </a:rPr>
              <a:t>检测到碰撞？</a:t>
            </a:r>
            <a:endParaRPr lang="zh-CN" altLang="en-US" sz="1300" b="1" dirty="0">
              <a:solidFill>
                <a:schemeClr val="bg1"/>
              </a:solidFill>
              <a:latin typeface="微软雅黑" pitchFamily="34" charset="-122"/>
              <a:ea typeface="微软雅黑" pitchFamily="34" charset="-122"/>
            </a:endParaRPr>
          </a:p>
        </p:txBody>
      </p:sp>
      <p:sp>
        <p:nvSpPr>
          <p:cNvPr id="97" name="矩形 96"/>
          <p:cNvSpPr/>
          <p:nvPr/>
        </p:nvSpPr>
        <p:spPr>
          <a:xfrm>
            <a:off x="2288932" y="4250365"/>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发送，直到完毕</a:t>
            </a:r>
            <a:endParaRPr lang="zh-CN" altLang="en-US" sz="1400" b="1" dirty="0">
              <a:solidFill>
                <a:schemeClr val="bg1"/>
              </a:solidFill>
              <a:latin typeface="微软雅黑" pitchFamily="34" charset="-122"/>
              <a:ea typeface="微软雅黑" pitchFamily="34" charset="-122"/>
            </a:endParaRPr>
          </a:p>
        </p:txBody>
      </p:sp>
      <p:sp>
        <p:nvSpPr>
          <p:cNvPr id="98" name="矩形 97"/>
          <p:cNvSpPr/>
          <p:nvPr/>
        </p:nvSpPr>
        <p:spPr>
          <a:xfrm>
            <a:off x="2288932" y="163558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载波侦听</a:t>
            </a:r>
            <a:endParaRPr lang="zh-CN" altLang="en-US" sz="1400" b="1" dirty="0">
              <a:solidFill>
                <a:schemeClr val="bg1"/>
              </a:solidFill>
              <a:latin typeface="微软雅黑" pitchFamily="34" charset="-122"/>
              <a:ea typeface="微软雅黑" pitchFamily="34" charset="-122"/>
            </a:endParaRPr>
          </a:p>
        </p:txBody>
      </p:sp>
      <p:cxnSp>
        <p:nvCxnSpPr>
          <p:cNvPr id="99" name="直接箭头连接符 98"/>
          <p:cNvCxnSpPr>
            <a:stCxn id="95" idx="2"/>
            <a:endCxn id="96" idx="0"/>
          </p:cNvCxnSpPr>
          <p:nvPr/>
        </p:nvCxnSpPr>
        <p:spPr>
          <a:xfrm>
            <a:off x="3007421" y="3335592"/>
            <a:ext cx="0" cy="17120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96" idx="2"/>
            <a:endCxn id="97" idx="0"/>
          </p:cNvCxnSpPr>
          <p:nvPr/>
        </p:nvCxnSpPr>
        <p:spPr>
          <a:xfrm>
            <a:off x="3007421" y="4007538"/>
            <a:ext cx="0" cy="24282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4" idx="2"/>
            <a:endCxn id="95" idx="0"/>
          </p:cNvCxnSpPr>
          <p:nvPr/>
        </p:nvCxnSpPr>
        <p:spPr>
          <a:xfrm>
            <a:off x="3007421" y="2723030"/>
            <a:ext cx="0" cy="22181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a:stCxn id="98" idx="2"/>
            <a:endCxn id="94" idx="0"/>
          </p:cNvCxnSpPr>
          <p:nvPr/>
        </p:nvCxnSpPr>
        <p:spPr>
          <a:xfrm>
            <a:off x="3007421" y="2026332"/>
            <a:ext cx="0"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93" idx="2"/>
            <a:endCxn id="98" idx="0"/>
          </p:cNvCxnSpPr>
          <p:nvPr/>
        </p:nvCxnSpPr>
        <p:spPr>
          <a:xfrm>
            <a:off x="3007421" y="1428758"/>
            <a:ext cx="0" cy="206824"/>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矩形 103"/>
          <p:cNvSpPr/>
          <p:nvPr/>
        </p:nvSpPr>
        <p:spPr>
          <a:xfrm>
            <a:off x="5300152" y="3562368"/>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停止发送</a:t>
            </a:r>
            <a:endParaRPr lang="en-US" altLang="zh-CN" sz="1400" b="1" dirty="0" smtClean="0">
              <a:solidFill>
                <a:schemeClr val="bg1"/>
              </a:solidFill>
              <a:latin typeface="微软雅黑" pitchFamily="34" charset="-122"/>
              <a:ea typeface="微软雅黑" pitchFamily="34" charset="-122"/>
            </a:endParaRPr>
          </a:p>
        </p:txBody>
      </p:sp>
      <p:sp>
        <p:nvSpPr>
          <p:cNvPr id="105" name="矩形 104"/>
          <p:cNvSpPr/>
          <p:nvPr/>
        </p:nvSpPr>
        <p:spPr>
          <a:xfrm>
            <a:off x="5300151" y="1038007"/>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等待随机时间</a:t>
            </a:r>
            <a:endParaRPr lang="en-US" altLang="zh-CN" sz="1400" b="1" dirty="0" smtClean="0">
              <a:solidFill>
                <a:schemeClr val="bg1"/>
              </a:solidFill>
              <a:latin typeface="微软雅黑" pitchFamily="34" charset="-122"/>
              <a:ea typeface="微软雅黑" pitchFamily="34" charset="-122"/>
            </a:endParaRPr>
          </a:p>
        </p:txBody>
      </p:sp>
      <p:cxnSp>
        <p:nvCxnSpPr>
          <p:cNvPr id="106" name="直接箭头连接符 105"/>
          <p:cNvCxnSpPr>
            <a:stCxn id="96" idx="3"/>
            <a:endCxn id="104" idx="1"/>
          </p:cNvCxnSpPr>
          <p:nvPr/>
        </p:nvCxnSpPr>
        <p:spPr>
          <a:xfrm>
            <a:off x="3725909" y="3757167"/>
            <a:ext cx="1574243"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04" idx="0"/>
            <a:endCxn id="105" idx="2"/>
          </p:cNvCxnSpPr>
          <p:nvPr/>
        </p:nvCxnSpPr>
        <p:spPr>
          <a:xfrm flipH="1" flipV="1">
            <a:off x="6018640" y="1428757"/>
            <a:ext cx="1" cy="213361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stCxn id="105" idx="1"/>
            <a:endCxn id="93" idx="3"/>
          </p:cNvCxnSpPr>
          <p:nvPr/>
        </p:nvCxnSpPr>
        <p:spPr>
          <a:xfrm flipH="1">
            <a:off x="3725909" y="1233382"/>
            <a:ext cx="1574242" cy="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94" idx="3"/>
          </p:cNvCxnSpPr>
          <p:nvPr/>
        </p:nvCxnSpPr>
        <p:spPr>
          <a:xfrm flipV="1">
            <a:off x="3725909" y="1233383"/>
            <a:ext cx="1028695"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3769453" y="222227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111" name="TextBox 110"/>
          <p:cNvSpPr txBox="1"/>
          <p:nvPr/>
        </p:nvSpPr>
        <p:spPr>
          <a:xfrm>
            <a:off x="3800497" y="3500070"/>
            <a:ext cx="338554" cy="276999"/>
          </a:xfrm>
          <a:prstGeom prst="rect">
            <a:avLst/>
          </a:prstGeom>
          <a:noFill/>
          <a:ln w="9525">
            <a:noFill/>
          </a:ln>
        </p:spPr>
        <p:txBody>
          <a:bodyPr wrap="none" rtlCol="0">
            <a:spAutoFit/>
          </a:bodyPr>
          <a:lstStyle/>
          <a:p>
            <a:r>
              <a:rPr lang="zh-CN" altLang="en-US" sz="1200" b="1" dirty="0" smtClean="0">
                <a:latin typeface="微软雅黑" pitchFamily="34" charset="-122"/>
                <a:ea typeface="微软雅黑" pitchFamily="34" charset="-122"/>
              </a:rPr>
              <a:t>是</a:t>
            </a:r>
            <a:endParaRPr lang="zh-CN" altLang="en-US" sz="1200" b="1" dirty="0">
              <a:latin typeface="微软雅黑" pitchFamily="34" charset="-122"/>
              <a:ea typeface="微软雅黑" pitchFamily="34" charset="-122"/>
            </a:endParaRPr>
          </a:p>
        </p:txBody>
      </p:sp>
      <p:sp>
        <p:nvSpPr>
          <p:cNvPr id="112" name="TextBox 111"/>
          <p:cNvSpPr txBox="1"/>
          <p:nvPr/>
        </p:nvSpPr>
        <p:spPr>
          <a:xfrm>
            <a:off x="2679271" y="398659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113" name="TextBox 112"/>
          <p:cNvSpPr txBox="1"/>
          <p:nvPr/>
        </p:nvSpPr>
        <p:spPr>
          <a:xfrm>
            <a:off x="2679271" y="267275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3" name="文本框 2"/>
          <p:cNvSpPr txBox="1"/>
          <p:nvPr/>
        </p:nvSpPr>
        <p:spPr>
          <a:xfrm>
            <a:off x="7170377" y="1665822"/>
            <a:ext cx="1338828" cy="1754326"/>
          </a:xfrm>
          <a:prstGeom prst="rect">
            <a:avLst/>
          </a:prstGeom>
          <a:solidFill>
            <a:schemeClr val="accent1">
              <a:lumMod val="20000"/>
              <a:lumOff val="80000"/>
            </a:schemeClr>
          </a:solidFill>
        </p:spPr>
        <p:txBody>
          <a:bodyPr wrap="none" rtlCol="0">
            <a:spAutoFit/>
          </a:bodyPr>
          <a:lstStyle/>
          <a:p>
            <a:pPr>
              <a:lnSpc>
                <a:spcPct val="150000"/>
              </a:lnSpc>
            </a:pPr>
            <a:r>
              <a:rPr lang="zh-CN" altLang="en-US" b="1" dirty="0" smtClean="0">
                <a:latin typeface="微软雅黑" panose="020B0503020204020204" pitchFamily="34" charset="-122"/>
                <a:ea typeface="微软雅黑" panose="020B0503020204020204" pitchFamily="34" charset="-122"/>
              </a:rPr>
              <a:t>先听后发，</a:t>
            </a:r>
            <a:endParaRPr lang="en-US" altLang="zh-CN" b="1" dirty="0" smtClean="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边听边</a:t>
            </a:r>
            <a:r>
              <a:rPr lang="zh-CN" altLang="en-US" b="1" dirty="0" smtClean="0">
                <a:latin typeface="微软雅黑" panose="020B0503020204020204" pitchFamily="34" charset="-122"/>
                <a:ea typeface="微软雅黑" panose="020B0503020204020204" pitchFamily="34" charset="-122"/>
              </a:rPr>
              <a:t>发，</a:t>
            </a:r>
            <a:endParaRPr lang="en-US" altLang="zh-CN" b="1" dirty="0" smtClean="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冲</a:t>
            </a:r>
            <a:r>
              <a:rPr lang="zh-CN" altLang="en-US" b="1" dirty="0" smtClean="0">
                <a:latin typeface="微软雅黑" panose="020B0503020204020204" pitchFamily="34" charset="-122"/>
                <a:ea typeface="微软雅黑" panose="020B0503020204020204" pitchFamily="34" charset="-122"/>
              </a:rPr>
              <a:t>突停止，</a:t>
            </a:r>
            <a:endParaRPr lang="en-US" altLang="zh-CN" b="1" dirty="0" smtClean="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延</a:t>
            </a:r>
            <a:r>
              <a:rPr lang="zh-CN" altLang="en-US" b="1" dirty="0" smtClean="0">
                <a:latin typeface="微软雅黑" panose="020B0503020204020204" pitchFamily="34" charset="-122"/>
                <a:ea typeface="微软雅黑" panose="020B0503020204020204" pitchFamily="34" charset="-122"/>
              </a:rPr>
              <a:t>后再听。</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39916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圆角矩形 85"/>
          <p:cNvSpPr/>
          <p:nvPr/>
        </p:nvSpPr>
        <p:spPr>
          <a:xfrm>
            <a:off x="406399" y="33468"/>
            <a:ext cx="8353777" cy="466832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413698" name="Rectangle 2"/>
          <p:cNvSpPr>
            <a:spLocks noChangeArrowheads="1"/>
          </p:cNvSpPr>
          <p:nvPr/>
        </p:nvSpPr>
        <p:spPr bwMode="auto">
          <a:xfrm>
            <a:off x="5270530" y="3925231"/>
            <a:ext cx="929978" cy="107156"/>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699" name="Rectangle 3"/>
          <p:cNvSpPr>
            <a:spLocks noChangeArrowheads="1"/>
          </p:cNvSpPr>
          <p:nvPr/>
        </p:nvSpPr>
        <p:spPr bwMode="auto">
          <a:xfrm>
            <a:off x="2636670" y="3763306"/>
            <a:ext cx="3563839" cy="107156"/>
          </a:xfrm>
          <a:prstGeom prst="rect">
            <a:avLst/>
          </a:prstGeom>
          <a:solidFill>
            <a:srgbClr val="FF0000"/>
          </a:solidFill>
          <a:ln w="12700">
            <a:solidFill>
              <a:schemeClr val="tx1"/>
            </a:solidFill>
            <a:miter lim="800000"/>
            <a:headEnd/>
            <a:tailEnd/>
          </a:ln>
          <a:effectLst/>
        </p:spPr>
        <p:txBody>
          <a:bodyPr wrap="none" anchor="ctr"/>
          <a:lstStyle/>
          <a:p>
            <a:endParaRPr lang="zh-CN" altLang="en-US" sz="1350" b="1">
              <a:solidFill>
                <a:srgbClr val="000099"/>
              </a:solidFill>
              <a:ea typeface="黑体" pitchFamily="2" charset="-122"/>
            </a:endParaRPr>
          </a:p>
        </p:txBody>
      </p:sp>
      <p:sp>
        <p:nvSpPr>
          <p:cNvPr id="413700" name="Line 4"/>
          <p:cNvSpPr>
            <a:spLocks noChangeShapeType="1"/>
          </p:cNvSpPr>
          <p:nvPr/>
        </p:nvSpPr>
        <p:spPr bwMode="auto">
          <a:xfrm>
            <a:off x="2493041" y="407324"/>
            <a:ext cx="3786981" cy="0"/>
          </a:xfrm>
          <a:prstGeom prst="line">
            <a:avLst/>
          </a:prstGeom>
          <a:noFill/>
          <a:ln w="57150" cmpd="dbl">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01" name="Line 5"/>
          <p:cNvSpPr>
            <a:spLocks noChangeShapeType="1"/>
          </p:cNvSpPr>
          <p:nvPr/>
        </p:nvSpPr>
        <p:spPr bwMode="auto">
          <a:xfrm>
            <a:off x="2487881" y="190630"/>
            <a:ext cx="3797300"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02" name="Rectangle 6"/>
          <p:cNvSpPr>
            <a:spLocks noChangeArrowheads="1"/>
          </p:cNvSpPr>
          <p:nvPr/>
        </p:nvSpPr>
        <p:spPr bwMode="auto">
          <a:xfrm>
            <a:off x="4006028" y="33468"/>
            <a:ext cx="488116" cy="27507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eaLnBrk="0" hangingPunct="0"/>
            <a:r>
              <a:rPr kumimoji="1" lang="en-US" altLang="zh-CN" sz="1350" b="1">
                <a:solidFill>
                  <a:srgbClr val="000099"/>
                </a:solidFill>
                <a:ea typeface="黑体" pitchFamily="2" charset="-122"/>
              </a:rPr>
              <a:t>1 km</a:t>
            </a:r>
          </a:p>
        </p:txBody>
      </p:sp>
      <p:sp>
        <p:nvSpPr>
          <p:cNvPr id="413703" name="Line 7"/>
          <p:cNvSpPr>
            <a:spLocks noChangeShapeType="1"/>
          </p:cNvSpPr>
          <p:nvPr/>
        </p:nvSpPr>
        <p:spPr bwMode="auto">
          <a:xfrm>
            <a:off x="2484012" y="410896"/>
            <a:ext cx="0" cy="13561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04" name="Line 8"/>
          <p:cNvSpPr>
            <a:spLocks noChangeShapeType="1"/>
          </p:cNvSpPr>
          <p:nvPr/>
        </p:nvSpPr>
        <p:spPr bwMode="auto">
          <a:xfrm>
            <a:off x="2487880" y="410896"/>
            <a:ext cx="3776663" cy="651272"/>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05" name="Rectangle 9"/>
          <p:cNvSpPr>
            <a:spLocks noChangeArrowheads="1"/>
          </p:cNvSpPr>
          <p:nvPr/>
        </p:nvSpPr>
        <p:spPr bwMode="auto">
          <a:xfrm>
            <a:off x="2276347" y="148958"/>
            <a:ext cx="241253" cy="275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eaLnBrk="0" hangingPunct="0"/>
            <a:r>
              <a:rPr kumimoji="1" lang="en-US" altLang="zh-CN" sz="1350" b="1">
                <a:solidFill>
                  <a:srgbClr val="000099"/>
                </a:solidFill>
                <a:ea typeface="黑体" pitchFamily="2" charset="-122"/>
              </a:rPr>
              <a:t>A</a:t>
            </a:r>
          </a:p>
        </p:txBody>
      </p:sp>
      <p:sp>
        <p:nvSpPr>
          <p:cNvPr id="413706" name="Rectangle 10"/>
          <p:cNvSpPr>
            <a:spLocks noChangeArrowheads="1"/>
          </p:cNvSpPr>
          <p:nvPr/>
        </p:nvSpPr>
        <p:spPr bwMode="auto">
          <a:xfrm>
            <a:off x="6194892" y="148958"/>
            <a:ext cx="234841" cy="275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eaLnBrk="0" hangingPunct="0"/>
            <a:r>
              <a:rPr kumimoji="1" lang="en-US" altLang="zh-CN" sz="1350" b="1">
                <a:solidFill>
                  <a:srgbClr val="000099"/>
                </a:solidFill>
                <a:ea typeface="黑体" pitchFamily="2" charset="-122"/>
              </a:rPr>
              <a:t>B</a:t>
            </a:r>
          </a:p>
        </p:txBody>
      </p:sp>
      <p:sp>
        <p:nvSpPr>
          <p:cNvPr id="413707" name="Line 11"/>
          <p:cNvSpPr>
            <a:spLocks noChangeShapeType="1"/>
          </p:cNvSpPr>
          <p:nvPr/>
        </p:nvSpPr>
        <p:spPr bwMode="auto">
          <a:xfrm flipH="1">
            <a:off x="2388564" y="668071"/>
            <a:ext cx="5159" cy="81796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08" name="Rectangle 12"/>
          <p:cNvSpPr>
            <a:spLocks noChangeArrowheads="1"/>
          </p:cNvSpPr>
          <p:nvPr/>
        </p:nvSpPr>
        <p:spPr bwMode="auto">
          <a:xfrm>
            <a:off x="2210566" y="916911"/>
            <a:ext cx="196369" cy="275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eaLnBrk="0" hangingPunct="0"/>
            <a:r>
              <a:rPr kumimoji="1" lang="en-US" altLang="zh-CN" sz="1350" b="1" i="1">
                <a:solidFill>
                  <a:srgbClr val="000099"/>
                </a:solidFill>
                <a:ea typeface="黑体" pitchFamily="2" charset="-122"/>
              </a:rPr>
              <a:t>t</a:t>
            </a:r>
          </a:p>
        </p:txBody>
      </p:sp>
      <p:sp>
        <p:nvSpPr>
          <p:cNvPr id="413709" name="Line 13"/>
          <p:cNvSpPr>
            <a:spLocks noChangeShapeType="1"/>
          </p:cNvSpPr>
          <p:nvPr/>
        </p:nvSpPr>
        <p:spPr bwMode="auto">
          <a:xfrm>
            <a:off x="6280022" y="402561"/>
            <a:ext cx="0" cy="1113234"/>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10" name="Line 14"/>
          <p:cNvSpPr>
            <a:spLocks noChangeShapeType="1"/>
          </p:cNvSpPr>
          <p:nvPr/>
        </p:nvSpPr>
        <p:spPr bwMode="auto">
          <a:xfrm flipH="1">
            <a:off x="2484013" y="938344"/>
            <a:ext cx="3794720" cy="659606"/>
          </a:xfrm>
          <a:prstGeom prst="line">
            <a:avLst/>
          </a:prstGeom>
          <a:noFill/>
          <a:ln w="76200">
            <a:solidFill>
              <a:srgbClr val="9966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grpSp>
        <p:nvGrpSpPr>
          <p:cNvPr id="413711" name="Group 15"/>
          <p:cNvGrpSpPr>
            <a:grpSpLocks/>
          </p:cNvGrpSpPr>
          <p:nvPr/>
        </p:nvGrpSpPr>
        <p:grpSpPr bwMode="auto">
          <a:xfrm>
            <a:off x="5281683" y="407323"/>
            <a:ext cx="784225" cy="595313"/>
            <a:chOff x="3364" y="411"/>
            <a:chExt cx="608" cy="500"/>
          </a:xfrm>
        </p:grpSpPr>
        <p:sp>
          <p:nvSpPr>
            <p:cNvPr id="413712" name="Line 16"/>
            <p:cNvSpPr>
              <a:spLocks noChangeShapeType="1"/>
            </p:cNvSpPr>
            <p:nvPr/>
          </p:nvSpPr>
          <p:spPr bwMode="auto">
            <a:xfrm>
              <a:off x="3755" y="728"/>
              <a:ext cx="112" cy="18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13" name="AutoShape 17"/>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p>
              <a:pPr algn="ctr" defTabSz="571500" eaLnBrk="0" hangingPunct="0"/>
              <a:r>
                <a:rPr kumimoji="1" lang="zh-CN" altLang="en-US" sz="1350" b="1">
                  <a:solidFill>
                    <a:srgbClr val="000099"/>
                  </a:solidFill>
                  <a:ea typeface="黑体" pitchFamily="2" charset="-122"/>
                </a:rPr>
                <a:t>碰撞</a:t>
              </a:r>
            </a:p>
          </p:txBody>
        </p:sp>
      </p:grpSp>
      <p:sp>
        <p:nvSpPr>
          <p:cNvPr id="413714" name="Text Box 18"/>
          <p:cNvSpPr txBox="1">
            <a:spLocks noChangeArrowheads="1"/>
          </p:cNvSpPr>
          <p:nvPr/>
        </p:nvSpPr>
        <p:spPr bwMode="auto">
          <a:xfrm>
            <a:off x="6550056" y="2464110"/>
            <a:ext cx="1532792" cy="653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sz="1350" b="1" i="1" dirty="0">
                <a:solidFill>
                  <a:srgbClr val="000099"/>
                </a:solidFill>
                <a:latin typeface="+mn-lt"/>
                <a:ea typeface="黑体" pitchFamily="2" charset="-122"/>
              </a:rPr>
              <a:t>t</a:t>
            </a:r>
            <a:r>
              <a:rPr kumimoji="1" lang="en-US" altLang="zh-CN" sz="1350" b="1" dirty="0">
                <a:solidFill>
                  <a:srgbClr val="000099"/>
                </a:solidFill>
                <a:latin typeface="+mn-lt"/>
                <a:ea typeface="黑体" pitchFamily="2" charset="-122"/>
              </a:rPr>
              <a:t> = </a:t>
            </a:r>
            <a:r>
              <a:rPr kumimoji="1" lang="en-US" altLang="zh-CN" sz="1350" b="1" dirty="0">
                <a:solidFill>
                  <a:srgbClr val="000099"/>
                </a:solidFill>
                <a:latin typeface="+mn-lt"/>
                <a:ea typeface="黑体" pitchFamily="2" charset="-122"/>
                <a:sym typeface="Symbol" pitchFamily="18" charset="2"/>
              </a:rPr>
              <a:t></a:t>
            </a:r>
            <a:r>
              <a:rPr kumimoji="1" lang="en-US" altLang="zh-CN" sz="1350" b="1" dirty="0">
                <a:solidFill>
                  <a:srgbClr val="000099"/>
                </a:solidFill>
                <a:latin typeface="+mn-lt"/>
                <a:ea typeface="黑体" pitchFamily="2" charset="-122"/>
              </a:rPr>
              <a:t> </a:t>
            </a:r>
            <a:r>
              <a:rPr kumimoji="1" lang="en-US" altLang="zh-CN" sz="1350" b="1" dirty="0">
                <a:solidFill>
                  <a:srgbClr val="000099"/>
                </a:solidFill>
                <a:latin typeface="+mn-lt"/>
                <a:ea typeface="黑体" pitchFamily="2" charset="-122"/>
                <a:sym typeface="Symbol" pitchFamily="18" charset="2"/>
              </a:rPr>
              <a:t> </a:t>
            </a:r>
            <a:endParaRPr kumimoji="1" lang="en-US" altLang="zh-CN" sz="1350" b="1" dirty="0">
              <a:solidFill>
                <a:srgbClr val="000099"/>
              </a:solidFill>
              <a:latin typeface="+mn-lt"/>
              <a:ea typeface="黑体" pitchFamily="2" charset="-122"/>
            </a:endParaRPr>
          </a:p>
          <a:p>
            <a:pPr eaLnBrk="0" hangingPunct="0">
              <a:lnSpc>
                <a:spcPct val="90000"/>
              </a:lnSpc>
            </a:pPr>
            <a:r>
              <a:rPr kumimoji="1" lang="en-US" altLang="zh-CN" sz="1350" b="1" dirty="0">
                <a:solidFill>
                  <a:srgbClr val="000099"/>
                </a:solidFill>
                <a:latin typeface="+mn-lt"/>
                <a:ea typeface="黑体" pitchFamily="2" charset="-122"/>
              </a:rPr>
              <a:t>B </a:t>
            </a:r>
            <a:r>
              <a:rPr kumimoji="1" lang="zh-CN" altLang="en-US" sz="1350" b="1" dirty="0">
                <a:solidFill>
                  <a:srgbClr val="000099"/>
                </a:solidFill>
                <a:latin typeface="+mn-lt"/>
                <a:ea typeface="黑体" pitchFamily="2" charset="-122"/>
              </a:rPr>
              <a:t>检测到信道空闲</a:t>
            </a:r>
          </a:p>
          <a:p>
            <a:pPr eaLnBrk="0" hangingPunct="0">
              <a:lnSpc>
                <a:spcPct val="90000"/>
              </a:lnSpc>
            </a:pPr>
            <a:r>
              <a:rPr kumimoji="1" lang="zh-CN" altLang="en-US" sz="1350" b="1" dirty="0">
                <a:solidFill>
                  <a:srgbClr val="000099"/>
                </a:solidFill>
                <a:latin typeface="+mn-lt"/>
                <a:ea typeface="黑体" pitchFamily="2" charset="-122"/>
              </a:rPr>
              <a:t>发送数据</a:t>
            </a:r>
          </a:p>
        </p:txBody>
      </p:sp>
      <p:sp>
        <p:nvSpPr>
          <p:cNvPr id="413715" name="Text Box 19"/>
          <p:cNvSpPr txBox="1">
            <a:spLocks noChangeArrowheads="1"/>
          </p:cNvSpPr>
          <p:nvPr/>
        </p:nvSpPr>
        <p:spPr bwMode="auto">
          <a:xfrm>
            <a:off x="6550056" y="3077133"/>
            <a:ext cx="978153" cy="466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sz="1350" b="1" i="1">
                <a:solidFill>
                  <a:srgbClr val="000099"/>
                </a:solidFill>
                <a:latin typeface="+mn-lt"/>
                <a:ea typeface="黑体" pitchFamily="2" charset="-122"/>
              </a:rPr>
              <a:t>t</a:t>
            </a:r>
            <a:r>
              <a:rPr kumimoji="1" lang="en-US" altLang="zh-CN" sz="1350" b="1">
                <a:solidFill>
                  <a:srgbClr val="000099"/>
                </a:solidFill>
                <a:latin typeface="+mn-lt"/>
                <a:ea typeface="黑体" pitchFamily="2" charset="-122"/>
              </a:rPr>
              <a:t> = </a:t>
            </a:r>
            <a:r>
              <a:rPr kumimoji="1" lang="en-US" altLang="zh-CN" sz="1350" b="1">
                <a:solidFill>
                  <a:srgbClr val="000099"/>
                </a:solidFill>
                <a:latin typeface="+mn-lt"/>
                <a:ea typeface="黑体" pitchFamily="2" charset="-122"/>
                <a:sym typeface="Symbol" pitchFamily="18" charset="2"/>
              </a:rPr>
              <a:t></a:t>
            </a:r>
            <a:r>
              <a:rPr kumimoji="1" lang="en-US" altLang="zh-CN" sz="1350" b="1">
                <a:solidFill>
                  <a:srgbClr val="000099"/>
                </a:solidFill>
                <a:latin typeface="+mn-lt"/>
                <a:ea typeface="黑体" pitchFamily="2" charset="-122"/>
              </a:rPr>
              <a:t> </a:t>
            </a:r>
            <a:r>
              <a:rPr kumimoji="1" lang="en-US" altLang="zh-CN" sz="1350" b="1">
                <a:solidFill>
                  <a:srgbClr val="000099"/>
                </a:solidFill>
                <a:latin typeface="+mn-lt"/>
                <a:ea typeface="黑体" pitchFamily="2" charset="-122"/>
                <a:sym typeface="Symbol" pitchFamily="18" charset="2"/>
              </a:rPr>
              <a:t>  / 2</a:t>
            </a:r>
            <a:endParaRPr kumimoji="1" lang="en-US" altLang="zh-CN" sz="1350" b="1" baseline="30000">
              <a:solidFill>
                <a:srgbClr val="000099"/>
              </a:solidFill>
              <a:latin typeface="+mn-lt"/>
              <a:ea typeface="黑体" pitchFamily="2" charset="-122"/>
            </a:endParaRPr>
          </a:p>
          <a:p>
            <a:pPr eaLnBrk="0" hangingPunct="0">
              <a:lnSpc>
                <a:spcPct val="90000"/>
              </a:lnSpc>
            </a:pPr>
            <a:r>
              <a:rPr kumimoji="1" lang="zh-CN" altLang="en-US" sz="1350" b="1">
                <a:solidFill>
                  <a:srgbClr val="000099"/>
                </a:solidFill>
                <a:latin typeface="+mn-lt"/>
                <a:ea typeface="黑体" pitchFamily="2" charset="-122"/>
              </a:rPr>
              <a:t>发生碰撞</a:t>
            </a:r>
          </a:p>
        </p:txBody>
      </p:sp>
      <p:grpSp>
        <p:nvGrpSpPr>
          <p:cNvPr id="413716" name="Group 20"/>
          <p:cNvGrpSpPr>
            <a:grpSpLocks/>
          </p:cNvGrpSpPr>
          <p:nvPr/>
        </p:nvGrpSpPr>
        <p:grpSpPr bwMode="auto">
          <a:xfrm>
            <a:off x="1146444" y="815708"/>
            <a:ext cx="3218161" cy="913209"/>
            <a:chOff x="158" y="754"/>
            <a:chExt cx="2495" cy="767"/>
          </a:xfrm>
        </p:grpSpPr>
        <p:sp>
          <p:nvSpPr>
            <p:cNvPr id="413717" name="Text Box 21"/>
            <p:cNvSpPr txBox="1">
              <a:spLocks noChangeArrowheads="1"/>
            </p:cNvSpPr>
            <p:nvPr/>
          </p:nvSpPr>
          <p:spPr bwMode="auto">
            <a:xfrm>
              <a:off x="158" y="1269"/>
              <a:ext cx="64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350" b="1" i="1" dirty="0">
                  <a:solidFill>
                    <a:srgbClr val="000099"/>
                  </a:solidFill>
                  <a:latin typeface="+mn-lt"/>
                  <a:ea typeface="黑体" pitchFamily="2" charset="-122"/>
                </a:rPr>
                <a:t>t</a:t>
              </a:r>
              <a:r>
                <a:rPr kumimoji="1" lang="en-US" altLang="zh-CN" sz="1350" b="1" dirty="0">
                  <a:solidFill>
                    <a:srgbClr val="000099"/>
                  </a:solidFill>
                  <a:latin typeface="+mn-lt"/>
                  <a:ea typeface="黑体" pitchFamily="2" charset="-122"/>
                </a:rPr>
                <a:t> = 2</a:t>
              </a:r>
              <a:r>
                <a:rPr kumimoji="1" lang="en-US" altLang="zh-CN" sz="1350" b="1" dirty="0">
                  <a:solidFill>
                    <a:srgbClr val="000099"/>
                  </a:solidFill>
                  <a:latin typeface="+mn-lt"/>
                  <a:ea typeface="黑体" pitchFamily="2" charset="-122"/>
                  <a:sym typeface="Symbol" pitchFamily="18" charset="2"/>
                </a:rPr>
                <a:t></a:t>
              </a:r>
              <a:r>
                <a:rPr kumimoji="1" lang="en-US" altLang="zh-CN" sz="1350" b="1" dirty="0">
                  <a:solidFill>
                    <a:srgbClr val="000099"/>
                  </a:solidFill>
                  <a:latin typeface="+mn-lt"/>
                  <a:ea typeface="黑体" pitchFamily="2" charset="-122"/>
                </a:rPr>
                <a:t> </a:t>
              </a:r>
              <a:r>
                <a:rPr kumimoji="1" lang="en-US" altLang="zh-CN" sz="1350" b="1" dirty="0">
                  <a:solidFill>
                    <a:srgbClr val="000099"/>
                  </a:solidFill>
                  <a:latin typeface="+mn-lt"/>
                  <a:ea typeface="黑体" pitchFamily="2" charset="-122"/>
                  <a:sym typeface="Symbol" pitchFamily="18" charset="2"/>
                </a:rPr>
                <a:t> </a:t>
              </a:r>
            </a:p>
          </p:txBody>
        </p:sp>
        <p:sp>
          <p:nvSpPr>
            <p:cNvPr id="413718" name="Line 22"/>
            <p:cNvSpPr>
              <a:spLocks noChangeShapeType="1"/>
            </p:cNvSpPr>
            <p:nvPr/>
          </p:nvSpPr>
          <p:spPr bwMode="auto">
            <a:xfrm>
              <a:off x="913" y="1417"/>
              <a:ext cx="26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grpSp>
          <p:nvGrpSpPr>
            <p:cNvPr id="413719" name="Group 23"/>
            <p:cNvGrpSpPr>
              <a:grpSpLocks/>
            </p:cNvGrpSpPr>
            <p:nvPr/>
          </p:nvGrpSpPr>
          <p:grpSpPr bwMode="auto">
            <a:xfrm>
              <a:off x="1247" y="754"/>
              <a:ext cx="1406" cy="272"/>
              <a:chOff x="1247" y="754"/>
              <a:chExt cx="1406" cy="272"/>
            </a:xfrm>
          </p:grpSpPr>
          <p:sp>
            <p:nvSpPr>
              <p:cNvPr id="413720" name="AutoShape 24"/>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571500" eaLnBrk="0" hangingPunct="0"/>
                <a:endParaRPr kumimoji="1" lang="zh-CN" altLang="zh-CN" sz="1350" b="1">
                  <a:solidFill>
                    <a:srgbClr val="000099"/>
                  </a:solidFill>
                  <a:ea typeface="黑体" pitchFamily="2" charset="-122"/>
                </a:endParaRPr>
              </a:p>
            </p:txBody>
          </p:sp>
          <p:sp>
            <p:nvSpPr>
              <p:cNvPr id="413721" name="Text Box 25"/>
              <p:cNvSpPr txBox="1">
                <a:spLocks noChangeArrowheads="1"/>
              </p:cNvSpPr>
              <p:nvPr/>
            </p:nvSpPr>
            <p:spPr bwMode="auto">
              <a:xfrm>
                <a:off x="1247" y="754"/>
                <a:ext cx="138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350" b="1">
                    <a:solidFill>
                      <a:srgbClr val="000099"/>
                    </a:solidFill>
                    <a:latin typeface="+mn-lt"/>
                    <a:ea typeface="黑体" pitchFamily="2" charset="-122"/>
                  </a:rPr>
                  <a:t>A </a:t>
                </a:r>
                <a:r>
                  <a:rPr kumimoji="1" lang="zh-CN" altLang="en-US" sz="1350" b="1">
                    <a:solidFill>
                      <a:srgbClr val="000099"/>
                    </a:solidFill>
                    <a:latin typeface="+mn-lt"/>
                    <a:ea typeface="黑体" pitchFamily="2" charset="-122"/>
                  </a:rPr>
                  <a:t>检测到发生碰撞</a:t>
                </a:r>
              </a:p>
            </p:txBody>
          </p:sp>
        </p:grpSp>
      </p:grpSp>
      <p:grpSp>
        <p:nvGrpSpPr>
          <p:cNvPr id="413722" name="Group 26"/>
          <p:cNvGrpSpPr>
            <a:grpSpLocks/>
          </p:cNvGrpSpPr>
          <p:nvPr/>
        </p:nvGrpSpPr>
        <p:grpSpPr bwMode="auto">
          <a:xfrm>
            <a:off x="6317428" y="318027"/>
            <a:ext cx="1498799" cy="729853"/>
            <a:chOff x="4167" y="336"/>
            <a:chExt cx="1162" cy="613"/>
          </a:xfrm>
        </p:grpSpPr>
        <p:grpSp>
          <p:nvGrpSpPr>
            <p:cNvPr id="413723" name="Group 27"/>
            <p:cNvGrpSpPr>
              <a:grpSpLocks/>
            </p:cNvGrpSpPr>
            <p:nvPr/>
          </p:nvGrpSpPr>
          <p:grpSpPr bwMode="auto">
            <a:xfrm>
              <a:off x="4167" y="697"/>
              <a:ext cx="897" cy="252"/>
              <a:chOff x="4167" y="697"/>
              <a:chExt cx="897" cy="252"/>
            </a:xfrm>
          </p:grpSpPr>
          <p:sp>
            <p:nvSpPr>
              <p:cNvPr id="413724" name="Line 28"/>
              <p:cNvSpPr>
                <a:spLocks noChangeShapeType="1"/>
              </p:cNvSpPr>
              <p:nvPr/>
            </p:nvSpPr>
            <p:spPr bwMode="auto">
              <a:xfrm flipH="1">
                <a:off x="4167" y="847"/>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sp>
            <p:nvSpPr>
              <p:cNvPr id="413725" name="Text Box 29"/>
              <p:cNvSpPr txBox="1">
                <a:spLocks noChangeArrowheads="1"/>
              </p:cNvSpPr>
              <p:nvPr/>
            </p:nvSpPr>
            <p:spPr bwMode="auto">
              <a:xfrm>
                <a:off x="4411" y="697"/>
                <a:ext cx="6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350" b="1" i="1" dirty="0">
                    <a:solidFill>
                      <a:srgbClr val="000099"/>
                    </a:solidFill>
                    <a:latin typeface="+mn-lt"/>
                    <a:ea typeface="黑体" pitchFamily="2" charset="-122"/>
                  </a:rPr>
                  <a:t>  t</a:t>
                </a:r>
                <a:r>
                  <a:rPr kumimoji="1" lang="en-US" altLang="zh-CN" sz="1350" b="1" dirty="0">
                    <a:solidFill>
                      <a:srgbClr val="000099"/>
                    </a:solidFill>
                    <a:latin typeface="+mn-lt"/>
                    <a:ea typeface="黑体" pitchFamily="2" charset="-122"/>
                  </a:rPr>
                  <a:t> = </a:t>
                </a:r>
                <a:r>
                  <a:rPr kumimoji="1" lang="en-US" altLang="zh-CN" sz="1350" b="1" dirty="0">
                    <a:solidFill>
                      <a:srgbClr val="000099"/>
                    </a:solidFill>
                    <a:latin typeface="+mn-lt"/>
                    <a:ea typeface="黑体" pitchFamily="2" charset="-122"/>
                    <a:sym typeface="Symbol" pitchFamily="18" charset="2"/>
                  </a:rPr>
                  <a:t></a:t>
                </a:r>
                <a:r>
                  <a:rPr kumimoji="1" lang="en-US" altLang="zh-CN" sz="1350" b="1" dirty="0">
                    <a:solidFill>
                      <a:srgbClr val="000099"/>
                    </a:solidFill>
                    <a:latin typeface="+mn-lt"/>
                    <a:ea typeface="黑体" pitchFamily="2" charset="-122"/>
                  </a:rPr>
                  <a:t> </a:t>
                </a:r>
                <a:r>
                  <a:rPr kumimoji="1" lang="en-US" altLang="zh-CN" sz="1350" b="1" dirty="0">
                    <a:solidFill>
                      <a:srgbClr val="000099"/>
                    </a:solidFill>
                    <a:latin typeface="+mn-lt"/>
                    <a:ea typeface="黑体" pitchFamily="2" charset="-122"/>
                    <a:sym typeface="Symbol" pitchFamily="18" charset="2"/>
                  </a:rPr>
                  <a:t> </a:t>
                </a:r>
                <a:r>
                  <a:rPr kumimoji="1" lang="en-US" altLang="zh-CN" sz="1350" b="1" baseline="30000" dirty="0">
                    <a:solidFill>
                      <a:srgbClr val="000099"/>
                    </a:solidFill>
                    <a:latin typeface="+mn-lt"/>
                    <a:ea typeface="黑体" pitchFamily="2" charset="-122"/>
                  </a:rPr>
                  <a:t> </a:t>
                </a:r>
              </a:p>
            </p:txBody>
          </p:sp>
        </p:grpSp>
        <p:grpSp>
          <p:nvGrpSpPr>
            <p:cNvPr id="413726" name="Group 30"/>
            <p:cNvGrpSpPr>
              <a:grpSpLocks/>
            </p:cNvGrpSpPr>
            <p:nvPr/>
          </p:nvGrpSpPr>
          <p:grpSpPr bwMode="auto">
            <a:xfrm>
              <a:off x="4286" y="336"/>
              <a:ext cx="1043" cy="256"/>
              <a:chOff x="4286" y="336"/>
              <a:chExt cx="1043" cy="256"/>
            </a:xfrm>
          </p:grpSpPr>
          <p:sp>
            <p:nvSpPr>
              <p:cNvPr id="413727" name="AutoShape 31"/>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571500" eaLnBrk="0" hangingPunct="0"/>
                <a:endParaRPr kumimoji="1" lang="zh-CN" altLang="zh-CN" sz="1350" b="1">
                  <a:solidFill>
                    <a:srgbClr val="000099"/>
                  </a:solidFill>
                  <a:ea typeface="黑体" pitchFamily="2" charset="-122"/>
                </a:endParaRPr>
              </a:p>
            </p:txBody>
          </p:sp>
          <p:sp>
            <p:nvSpPr>
              <p:cNvPr id="413728" name="Text Box 32"/>
              <p:cNvSpPr txBox="1">
                <a:spLocks noChangeArrowheads="1"/>
              </p:cNvSpPr>
              <p:nvPr/>
            </p:nvSpPr>
            <p:spPr bwMode="auto">
              <a:xfrm>
                <a:off x="4286" y="336"/>
                <a:ext cx="84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350" b="1">
                    <a:solidFill>
                      <a:srgbClr val="000099"/>
                    </a:solidFill>
                    <a:latin typeface="+mn-lt"/>
                    <a:ea typeface="黑体" pitchFamily="2" charset="-122"/>
                  </a:rPr>
                  <a:t>  B </a:t>
                </a:r>
                <a:r>
                  <a:rPr kumimoji="1" lang="zh-CN" altLang="en-US" sz="1350" b="1">
                    <a:solidFill>
                      <a:srgbClr val="000099"/>
                    </a:solidFill>
                    <a:latin typeface="+mn-lt"/>
                    <a:ea typeface="黑体" pitchFamily="2" charset="-122"/>
                  </a:rPr>
                  <a:t>发送数据</a:t>
                </a:r>
              </a:p>
            </p:txBody>
          </p:sp>
        </p:grpSp>
      </p:grpSp>
      <p:grpSp>
        <p:nvGrpSpPr>
          <p:cNvPr id="413729" name="Group 33"/>
          <p:cNvGrpSpPr>
            <a:grpSpLocks/>
          </p:cNvGrpSpPr>
          <p:nvPr/>
        </p:nvGrpSpPr>
        <p:grpSpPr bwMode="auto">
          <a:xfrm>
            <a:off x="4247228" y="947869"/>
            <a:ext cx="2943424" cy="754856"/>
            <a:chOff x="2562" y="865"/>
            <a:chExt cx="2282" cy="634"/>
          </a:xfrm>
        </p:grpSpPr>
        <p:grpSp>
          <p:nvGrpSpPr>
            <p:cNvPr id="413730" name="Group 34"/>
            <p:cNvGrpSpPr>
              <a:grpSpLocks/>
            </p:cNvGrpSpPr>
            <p:nvPr/>
          </p:nvGrpSpPr>
          <p:grpSpPr bwMode="auto">
            <a:xfrm>
              <a:off x="2562" y="1240"/>
              <a:ext cx="1546" cy="259"/>
              <a:chOff x="2562" y="1240"/>
              <a:chExt cx="1546" cy="259"/>
            </a:xfrm>
          </p:grpSpPr>
          <p:sp>
            <p:nvSpPr>
              <p:cNvPr id="413731" name="AutoShape 35"/>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571500" eaLnBrk="0" hangingPunct="0"/>
                <a:endParaRPr kumimoji="1" lang="zh-CN" altLang="zh-CN" sz="1350" b="1">
                  <a:solidFill>
                    <a:srgbClr val="000099"/>
                  </a:solidFill>
                  <a:ea typeface="黑体" pitchFamily="2" charset="-122"/>
                </a:endParaRPr>
              </a:p>
            </p:txBody>
          </p:sp>
          <p:sp>
            <p:nvSpPr>
              <p:cNvPr id="413732" name="Text Box 36"/>
              <p:cNvSpPr txBox="1">
                <a:spLocks noChangeArrowheads="1"/>
              </p:cNvSpPr>
              <p:nvPr/>
            </p:nvSpPr>
            <p:spPr bwMode="auto">
              <a:xfrm>
                <a:off x="2562" y="1240"/>
                <a:ext cx="154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350" b="1">
                    <a:solidFill>
                      <a:srgbClr val="000099"/>
                    </a:solidFill>
                    <a:latin typeface="+mn-lt"/>
                    <a:ea typeface="黑体" pitchFamily="2" charset="-122"/>
                  </a:rPr>
                  <a:t>B </a:t>
                </a:r>
                <a:r>
                  <a:rPr kumimoji="1" lang="zh-CN" altLang="en-US" sz="1350" b="1">
                    <a:solidFill>
                      <a:srgbClr val="000099"/>
                    </a:solidFill>
                    <a:latin typeface="+mn-lt"/>
                    <a:ea typeface="黑体" pitchFamily="2" charset="-122"/>
                  </a:rPr>
                  <a:t>检测到发生碰撞</a:t>
                </a:r>
              </a:p>
            </p:txBody>
          </p:sp>
        </p:grpSp>
        <p:sp>
          <p:nvSpPr>
            <p:cNvPr id="413733" name="Line 37"/>
            <p:cNvSpPr>
              <a:spLocks noChangeShapeType="1"/>
            </p:cNvSpPr>
            <p:nvPr/>
          </p:nvSpPr>
          <p:spPr bwMode="auto">
            <a:xfrm flipH="1">
              <a:off x="4167" y="964"/>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sp>
          <p:nvSpPr>
            <p:cNvPr id="413734" name="Text Box 38"/>
            <p:cNvSpPr txBox="1">
              <a:spLocks noChangeArrowheads="1"/>
            </p:cNvSpPr>
            <p:nvPr/>
          </p:nvSpPr>
          <p:spPr bwMode="auto">
            <a:xfrm>
              <a:off x="4410" y="865"/>
              <a:ext cx="43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350" b="1" i="1" dirty="0">
                  <a:solidFill>
                    <a:srgbClr val="000099"/>
                  </a:solidFill>
                  <a:latin typeface="+mn-lt"/>
                  <a:ea typeface="黑体" pitchFamily="2" charset="-122"/>
                </a:rPr>
                <a:t>  t</a:t>
              </a:r>
              <a:r>
                <a:rPr kumimoji="1" lang="en-US" altLang="zh-CN" sz="1350" b="1" dirty="0">
                  <a:solidFill>
                    <a:srgbClr val="000099"/>
                  </a:solidFill>
                  <a:latin typeface="+mn-lt"/>
                  <a:ea typeface="黑体" pitchFamily="2" charset="-122"/>
                </a:rPr>
                <a:t> = </a:t>
              </a:r>
              <a:r>
                <a:rPr kumimoji="1" lang="en-US" altLang="zh-CN" sz="1350" b="1" dirty="0">
                  <a:solidFill>
                    <a:srgbClr val="000099"/>
                  </a:solidFill>
                  <a:latin typeface="+mn-lt"/>
                  <a:ea typeface="黑体" pitchFamily="2" charset="-122"/>
                  <a:sym typeface="Symbol" pitchFamily="18" charset="2"/>
                </a:rPr>
                <a:t></a:t>
              </a:r>
            </a:p>
          </p:txBody>
        </p:sp>
      </p:grpSp>
      <p:sp>
        <p:nvSpPr>
          <p:cNvPr id="413735" name="Rectangle 39"/>
          <p:cNvSpPr>
            <a:spLocks noChangeArrowheads="1"/>
          </p:cNvSpPr>
          <p:nvPr/>
        </p:nvSpPr>
        <p:spPr bwMode="auto">
          <a:xfrm>
            <a:off x="2337426" y="3165240"/>
            <a:ext cx="325041" cy="378619"/>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A</a:t>
            </a:r>
          </a:p>
        </p:txBody>
      </p:sp>
      <p:sp>
        <p:nvSpPr>
          <p:cNvPr id="413736" name="Rectangle 40"/>
          <p:cNvSpPr>
            <a:spLocks noChangeArrowheads="1"/>
          </p:cNvSpPr>
          <p:nvPr/>
        </p:nvSpPr>
        <p:spPr bwMode="auto">
          <a:xfrm>
            <a:off x="6165682" y="3709727"/>
            <a:ext cx="325041" cy="376238"/>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B</a:t>
            </a:r>
          </a:p>
        </p:txBody>
      </p:sp>
      <p:grpSp>
        <p:nvGrpSpPr>
          <p:cNvPr id="413737" name="Group 41"/>
          <p:cNvGrpSpPr>
            <a:grpSpLocks/>
          </p:cNvGrpSpPr>
          <p:nvPr/>
        </p:nvGrpSpPr>
        <p:grpSpPr bwMode="auto">
          <a:xfrm>
            <a:off x="2662467" y="3220009"/>
            <a:ext cx="3331667" cy="107156"/>
            <a:chOff x="1318" y="2795"/>
            <a:chExt cx="2583" cy="90"/>
          </a:xfrm>
          <a:solidFill>
            <a:srgbClr val="FF0000"/>
          </a:solidFill>
        </p:grpSpPr>
        <p:sp>
          <p:nvSpPr>
            <p:cNvPr id="413738" name="Rectangle 42"/>
            <p:cNvSpPr>
              <a:spLocks noChangeArrowheads="1"/>
            </p:cNvSpPr>
            <p:nvPr/>
          </p:nvSpPr>
          <p:spPr bwMode="auto">
            <a:xfrm>
              <a:off x="1318" y="2795"/>
              <a:ext cx="2462" cy="90"/>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39" name="Line 43"/>
            <p:cNvSpPr>
              <a:spLocks noChangeShapeType="1"/>
            </p:cNvSpPr>
            <p:nvPr/>
          </p:nvSpPr>
          <p:spPr bwMode="auto">
            <a:xfrm>
              <a:off x="3780" y="2841"/>
              <a:ext cx="121" cy="0"/>
            </a:xfrm>
            <a:prstGeom prst="line">
              <a:avLst/>
            </a:prstGeom>
            <a:grpFill/>
            <a:ln w="12700">
              <a:solidFill>
                <a:srgbClr val="333399"/>
              </a:solidFill>
              <a:round/>
              <a:headE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grpSp>
      <p:grpSp>
        <p:nvGrpSpPr>
          <p:cNvPr id="413740" name="Group 44"/>
          <p:cNvGrpSpPr>
            <a:grpSpLocks/>
          </p:cNvGrpSpPr>
          <p:nvPr/>
        </p:nvGrpSpPr>
        <p:grpSpPr bwMode="auto">
          <a:xfrm>
            <a:off x="5683281" y="3380741"/>
            <a:ext cx="517228" cy="109538"/>
            <a:chOff x="3660" y="2930"/>
            <a:chExt cx="401" cy="92"/>
          </a:xfrm>
        </p:grpSpPr>
        <p:sp>
          <p:nvSpPr>
            <p:cNvPr id="413741" name="Rectangle 45"/>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42" name="Line 46"/>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grpSp>
      <p:sp>
        <p:nvSpPr>
          <p:cNvPr id="413743" name="Line 47"/>
          <p:cNvSpPr>
            <a:spLocks noChangeShapeType="1"/>
          </p:cNvSpPr>
          <p:nvPr/>
        </p:nvSpPr>
        <p:spPr bwMode="auto">
          <a:xfrm>
            <a:off x="6117959" y="3816884"/>
            <a:ext cx="154781"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grpSp>
        <p:nvGrpSpPr>
          <p:cNvPr id="413744" name="Group 48"/>
          <p:cNvGrpSpPr>
            <a:grpSpLocks/>
          </p:cNvGrpSpPr>
          <p:nvPr/>
        </p:nvGrpSpPr>
        <p:grpSpPr bwMode="auto">
          <a:xfrm>
            <a:off x="2337426" y="4212451"/>
            <a:ext cx="4153297" cy="377428"/>
            <a:chOff x="1066" y="3719"/>
            <a:chExt cx="3220" cy="317"/>
          </a:xfrm>
        </p:grpSpPr>
        <p:sp>
          <p:nvSpPr>
            <p:cNvPr id="413745" name="Rectangle 49"/>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46" name="Rectangle 50"/>
            <p:cNvSpPr>
              <a:spLocks noChangeArrowheads="1"/>
            </p:cNvSpPr>
            <p:nvPr/>
          </p:nvSpPr>
          <p:spPr bwMode="auto">
            <a:xfrm>
              <a:off x="1298" y="3765"/>
              <a:ext cx="2763" cy="90"/>
            </a:xfrm>
            <a:prstGeom prst="rect">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47" name="Rectangle 51"/>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A</a:t>
              </a:r>
            </a:p>
          </p:txBody>
        </p:sp>
        <p:sp>
          <p:nvSpPr>
            <p:cNvPr id="413748" name="Rectangle 52"/>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B</a:t>
              </a:r>
            </a:p>
          </p:txBody>
        </p:sp>
        <p:sp>
          <p:nvSpPr>
            <p:cNvPr id="413749" name="Line 53"/>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grpSp>
      <p:sp>
        <p:nvSpPr>
          <p:cNvPr id="413750" name="Rectangle 54"/>
          <p:cNvSpPr>
            <a:spLocks noChangeArrowheads="1"/>
          </p:cNvSpPr>
          <p:nvPr/>
        </p:nvSpPr>
        <p:spPr bwMode="auto">
          <a:xfrm>
            <a:off x="6097321" y="2871303"/>
            <a:ext cx="103187" cy="109538"/>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51" name="Rectangle 55"/>
          <p:cNvSpPr>
            <a:spLocks noChangeArrowheads="1"/>
          </p:cNvSpPr>
          <p:nvPr/>
        </p:nvSpPr>
        <p:spPr bwMode="auto">
          <a:xfrm>
            <a:off x="2662467" y="2709378"/>
            <a:ext cx="2762846" cy="108347"/>
          </a:xfrm>
          <a:prstGeom prst="rect">
            <a:avLst/>
          </a:prstGeom>
          <a:solidFill>
            <a:srgbClr val="FF0000"/>
          </a:solidFill>
          <a:ln w="12700">
            <a:solidFill>
              <a:srgbClr val="333399"/>
            </a:solidFill>
            <a:miter lim="800000"/>
            <a:headEnd/>
            <a:tailEnd/>
          </a:ln>
          <a:effectLst/>
        </p:spPr>
        <p:txBody>
          <a:bodyPr wrap="none" anchor="ctr"/>
          <a:lstStyle/>
          <a:p>
            <a:endParaRPr lang="zh-CN" altLang="en-US" sz="1350" b="1">
              <a:solidFill>
                <a:srgbClr val="000099"/>
              </a:solidFill>
              <a:ea typeface="黑体" pitchFamily="2" charset="-122"/>
            </a:endParaRPr>
          </a:p>
        </p:txBody>
      </p:sp>
      <p:sp>
        <p:nvSpPr>
          <p:cNvPr id="413752" name="Rectangle 56"/>
          <p:cNvSpPr>
            <a:spLocks noChangeArrowheads="1"/>
          </p:cNvSpPr>
          <p:nvPr/>
        </p:nvSpPr>
        <p:spPr bwMode="auto">
          <a:xfrm>
            <a:off x="2337426" y="2655801"/>
            <a:ext cx="325041" cy="378619"/>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A</a:t>
            </a:r>
          </a:p>
        </p:txBody>
      </p:sp>
      <p:sp>
        <p:nvSpPr>
          <p:cNvPr id="413753" name="Rectangle 57"/>
          <p:cNvSpPr>
            <a:spLocks noChangeArrowheads="1"/>
          </p:cNvSpPr>
          <p:nvPr/>
        </p:nvSpPr>
        <p:spPr bwMode="auto">
          <a:xfrm>
            <a:off x="6165682" y="2655801"/>
            <a:ext cx="325041" cy="378619"/>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B</a:t>
            </a:r>
          </a:p>
        </p:txBody>
      </p:sp>
      <p:sp>
        <p:nvSpPr>
          <p:cNvPr id="413754" name="Line 58"/>
          <p:cNvSpPr>
            <a:spLocks noChangeShapeType="1"/>
          </p:cNvSpPr>
          <p:nvPr/>
        </p:nvSpPr>
        <p:spPr bwMode="auto">
          <a:xfrm>
            <a:off x="5425312" y="2764147"/>
            <a:ext cx="154781"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sp>
        <p:nvSpPr>
          <p:cNvPr id="413755" name="Line 59"/>
          <p:cNvSpPr>
            <a:spLocks noChangeShapeType="1"/>
          </p:cNvSpPr>
          <p:nvPr/>
        </p:nvSpPr>
        <p:spPr bwMode="auto">
          <a:xfrm flipH="1">
            <a:off x="5942540" y="2924881"/>
            <a:ext cx="154781"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sp>
        <p:nvSpPr>
          <p:cNvPr id="413756" name="Text Box 60"/>
          <p:cNvSpPr txBox="1">
            <a:spLocks noChangeArrowheads="1"/>
          </p:cNvSpPr>
          <p:nvPr/>
        </p:nvSpPr>
        <p:spPr bwMode="auto">
          <a:xfrm>
            <a:off x="1280637" y="1889559"/>
            <a:ext cx="877163" cy="87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sz="1350" b="1" i="1" dirty="0">
                <a:solidFill>
                  <a:srgbClr val="000099"/>
                </a:solidFill>
                <a:latin typeface="+mn-lt"/>
                <a:ea typeface="黑体" pitchFamily="2" charset="-122"/>
              </a:rPr>
              <a:t>t</a:t>
            </a:r>
            <a:r>
              <a:rPr kumimoji="1" lang="en-US" altLang="zh-CN" sz="1350" b="1" dirty="0">
                <a:solidFill>
                  <a:srgbClr val="000099"/>
                </a:solidFill>
                <a:latin typeface="+mn-lt"/>
                <a:ea typeface="黑体" pitchFamily="2" charset="-122"/>
              </a:rPr>
              <a:t> </a:t>
            </a:r>
            <a:r>
              <a:rPr kumimoji="1" lang="en-US" altLang="zh-CN" sz="1350" b="1" dirty="0">
                <a:solidFill>
                  <a:srgbClr val="000099"/>
                </a:solidFill>
                <a:latin typeface="+mn-lt"/>
                <a:ea typeface="黑体" pitchFamily="2" charset="-122"/>
              </a:rPr>
              <a:t>= 0</a:t>
            </a:r>
            <a:endParaRPr kumimoji="1" lang="en-US" altLang="zh-CN" sz="1350" b="1" baseline="30000" dirty="0">
              <a:solidFill>
                <a:srgbClr val="000099"/>
              </a:solidFill>
              <a:latin typeface="+mn-lt"/>
              <a:ea typeface="黑体" pitchFamily="2" charset="-122"/>
            </a:endParaRPr>
          </a:p>
          <a:p>
            <a:pPr eaLnBrk="0" hangingPunct="0">
              <a:lnSpc>
                <a:spcPct val="95000"/>
              </a:lnSpc>
            </a:pPr>
            <a:r>
              <a:rPr kumimoji="1" lang="en-US" altLang="zh-CN" sz="1350" b="1" dirty="0">
                <a:solidFill>
                  <a:srgbClr val="000099"/>
                </a:solidFill>
                <a:latin typeface="+mn-lt"/>
                <a:ea typeface="黑体" pitchFamily="2" charset="-122"/>
              </a:rPr>
              <a:t>A </a:t>
            </a:r>
            <a:r>
              <a:rPr kumimoji="1" lang="zh-CN" altLang="en-US" sz="1350" b="1" dirty="0">
                <a:solidFill>
                  <a:srgbClr val="000099"/>
                </a:solidFill>
                <a:latin typeface="+mn-lt"/>
                <a:ea typeface="黑体" pitchFamily="2" charset="-122"/>
              </a:rPr>
              <a:t>检测到</a:t>
            </a:r>
          </a:p>
          <a:p>
            <a:pPr eaLnBrk="0" hangingPunct="0">
              <a:lnSpc>
                <a:spcPct val="95000"/>
              </a:lnSpc>
            </a:pPr>
            <a:r>
              <a:rPr kumimoji="1" lang="zh-CN" altLang="en-US" sz="1350" b="1" dirty="0">
                <a:solidFill>
                  <a:srgbClr val="000099"/>
                </a:solidFill>
                <a:latin typeface="+mn-lt"/>
                <a:ea typeface="黑体" pitchFamily="2" charset="-122"/>
              </a:rPr>
              <a:t>信道空闲</a:t>
            </a:r>
          </a:p>
          <a:p>
            <a:pPr eaLnBrk="0" hangingPunct="0">
              <a:lnSpc>
                <a:spcPct val="95000"/>
              </a:lnSpc>
            </a:pPr>
            <a:r>
              <a:rPr kumimoji="1" lang="zh-CN" altLang="en-US" sz="1350" b="1" dirty="0">
                <a:solidFill>
                  <a:srgbClr val="000099"/>
                </a:solidFill>
                <a:latin typeface="+mn-lt"/>
                <a:ea typeface="黑体" pitchFamily="2" charset="-122"/>
              </a:rPr>
              <a:t>发送数据</a:t>
            </a:r>
          </a:p>
        </p:txBody>
      </p:sp>
      <p:grpSp>
        <p:nvGrpSpPr>
          <p:cNvPr id="413757" name="Group 61"/>
          <p:cNvGrpSpPr>
            <a:grpSpLocks/>
          </p:cNvGrpSpPr>
          <p:nvPr/>
        </p:nvGrpSpPr>
        <p:grpSpPr bwMode="auto">
          <a:xfrm>
            <a:off x="2583787" y="2214601"/>
            <a:ext cx="362446" cy="107156"/>
            <a:chOff x="1176" y="1872"/>
            <a:chExt cx="336" cy="96"/>
          </a:xfrm>
        </p:grpSpPr>
        <p:sp>
          <p:nvSpPr>
            <p:cNvPr id="413758" name="Rectangle 62"/>
            <p:cNvSpPr>
              <a:spLocks noChangeArrowheads="1"/>
            </p:cNvSpPr>
            <p:nvPr/>
          </p:nvSpPr>
          <p:spPr bwMode="auto">
            <a:xfrm>
              <a:off x="1176" y="1872"/>
              <a:ext cx="192" cy="96"/>
            </a:xfrm>
            <a:prstGeom prst="rect">
              <a:avLst/>
            </a:prstGeom>
            <a:solidFill>
              <a:srgbClr val="FF0000"/>
            </a:solidFill>
            <a:ln w="12700">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b="1">
                <a:solidFill>
                  <a:srgbClr val="000099"/>
                </a:solidFill>
                <a:ea typeface="黑体" pitchFamily="2" charset="-122"/>
              </a:endParaRPr>
            </a:p>
          </p:txBody>
        </p:sp>
        <p:sp>
          <p:nvSpPr>
            <p:cNvPr id="413759" name="Line 63"/>
            <p:cNvSpPr>
              <a:spLocks noChangeShapeType="1"/>
            </p:cNvSpPr>
            <p:nvPr/>
          </p:nvSpPr>
          <p:spPr bwMode="auto">
            <a:xfrm>
              <a:off x="1368" y="1926"/>
              <a:ext cx="144"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grpSp>
      <p:sp>
        <p:nvSpPr>
          <p:cNvPr id="413760" name="Rectangle 64"/>
          <p:cNvSpPr>
            <a:spLocks noChangeArrowheads="1"/>
          </p:cNvSpPr>
          <p:nvPr/>
        </p:nvSpPr>
        <p:spPr bwMode="auto">
          <a:xfrm>
            <a:off x="2337426" y="2161021"/>
            <a:ext cx="325041" cy="377429"/>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A</a:t>
            </a:r>
          </a:p>
        </p:txBody>
      </p:sp>
      <p:sp>
        <p:nvSpPr>
          <p:cNvPr id="413761" name="Rectangle 65"/>
          <p:cNvSpPr>
            <a:spLocks noChangeArrowheads="1"/>
          </p:cNvSpPr>
          <p:nvPr/>
        </p:nvSpPr>
        <p:spPr bwMode="auto">
          <a:xfrm>
            <a:off x="6165682" y="2161021"/>
            <a:ext cx="325041" cy="377429"/>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B</a:t>
            </a:r>
          </a:p>
        </p:txBody>
      </p:sp>
      <p:sp>
        <p:nvSpPr>
          <p:cNvPr id="413762" name="Text Box 66"/>
          <p:cNvSpPr txBox="1">
            <a:spLocks noChangeArrowheads="1"/>
          </p:cNvSpPr>
          <p:nvPr/>
        </p:nvSpPr>
        <p:spPr bwMode="auto">
          <a:xfrm>
            <a:off x="1575963" y="253733"/>
            <a:ext cx="49564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350" b="1" i="1">
                <a:solidFill>
                  <a:srgbClr val="000099"/>
                </a:solidFill>
                <a:latin typeface="+mn-lt"/>
                <a:ea typeface="黑体" pitchFamily="2" charset="-122"/>
              </a:rPr>
              <a:t>t</a:t>
            </a:r>
            <a:r>
              <a:rPr kumimoji="1" lang="en-US" altLang="zh-CN" sz="1350" b="1">
                <a:solidFill>
                  <a:srgbClr val="000099"/>
                </a:solidFill>
                <a:latin typeface="+mn-lt"/>
                <a:ea typeface="黑体" pitchFamily="2" charset="-122"/>
              </a:rPr>
              <a:t> = 0</a:t>
            </a:r>
            <a:endParaRPr kumimoji="1" lang="en-US" altLang="zh-CN" sz="1350" b="1" baseline="30000">
              <a:solidFill>
                <a:srgbClr val="000099"/>
              </a:solidFill>
              <a:latin typeface="+mn-lt"/>
              <a:ea typeface="黑体" pitchFamily="2" charset="-122"/>
            </a:endParaRPr>
          </a:p>
        </p:txBody>
      </p:sp>
      <p:sp>
        <p:nvSpPr>
          <p:cNvPr id="413763" name="Line 67"/>
          <p:cNvSpPr>
            <a:spLocks noChangeShapeType="1"/>
          </p:cNvSpPr>
          <p:nvPr/>
        </p:nvSpPr>
        <p:spPr bwMode="auto">
          <a:xfrm>
            <a:off x="2120275" y="407324"/>
            <a:ext cx="33536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b="1">
              <a:solidFill>
                <a:srgbClr val="000099"/>
              </a:solidFill>
              <a:ea typeface="黑体" pitchFamily="2" charset="-122"/>
            </a:endParaRPr>
          </a:p>
        </p:txBody>
      </p:sp>
      <p:grpSp>
        <p:nvGrpSpPr>
          <p:cNvPr id="413764" name="Group 68"/>
          <p:cNvGrpSpPr>
            <a:grpSpLocks/>
          </p:cNvGrpSpPr>
          <p:nvPr/>
        </p:nvGrpSpPr>
        <p:grpSpPr bwMode="auto">
          <a:xfrm>
            <a:off x="4619160" y="3544229"/>
            <a:ext cx="3463231" cy="653654"/>
            <a:chOff x="2835" y="3100"/>
            <a:chExt cx="2685" cy="549"/>
          </a:xfrm>
        </p:grpSpPr>
        <p:sp>
          <p:nvSpPr>
            <p:cNvPr id="413765" name="Text Box 69"/>
            <p:cNvSpPr txBox="1">
              <a:spLocks noChangeArrowheads="1"/>
            </p:cNvSpPr>
            <p:nvPr/>
          </p:nvSpPr>
          <p:spPr bwMode="auto">
            <a:xfrm>
              <a:off x="4332" y="3100"/>
              <a:ext cx="1188" cy="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sz="1350" b="1" i="1" dirty="0">
                  <a:solidFill>
                    <a:srgbClr val="000099"/>
                  </a:solidFill>
                  <a:latin typeface="+mn-lt"/>
                  <a:ea typeface="黑体" pitchFamily="2" charset="-122"/>
                </a:rPr>
                <a:t>t</a:t>
              </a:r>
              <a:r>
                <a:rPr kumimoji="1" lang="en-US" altLang="zh-CN" sz="1350" b="1" dirty="0">
                  <a:solidFill>
                    <a:srgbClr val="000099"/>
                  </a:solidFill>
                  <a:latin typeface="+mn-lt"/>
                  <a:ea typeface="黑体" pitchFamily="2" charset="-122"/>
                </a:rPr>
                <a:t> = </a:t>
              </a:r>
              <a:r>
                <a:rPr kumimoji="1" lang="en-US" altLang="zh-CN" sz="1350" b="1" dirty="0">
                  <a:solidFill>
                    <a:srgbClr val="000099"/>
                  </a:solidFill>
                  <a:latin typeface="+mn-lt"/>
                  <a:ea typeface="黑体" pitchFamily="2" charset="-122"/>
                  <a:sym typeface="Symbol" pitchFamily="18" charset="2"/>
                </a:rPr>
                <a:t></a:t>
              </a:r>
              <a:endParaRPr kumimoji="1" lang="en-US" altLang="zh-CN" sz="1350" b="1" baseline="30000" dirty="0">
                <a:solidFill>
                  <a:srgbClr val="000099"/>
                </a:solidFill>
                <a:latin typeface="+mn-lt"/>
                <a:ea typeface="黑体" pitchFamily="2" charset="-122"/>
              </a:endParaRPr>
            </a:p>
            <a:p>
              <a:pPr eaLnBrk="0" hangingPunct="0">
                <a:lnSpc>
                  <a:spcPct val="90000"/>
                </a:lnSpc>
              </a:pPr>
              <a:r>
                <a:rPr kumimoji="1" lang="en-US" altLang="zh-CN" sz="1350" b="1" dirty="0">
                  <a:solidFill>
                    <a:srgbClr val="000099"/>
                  </a:solidFill>
                  <a:latin typeface="+mn-lt"/>
                  <a:ea typeface="黑体" pitchFamily="2" charset="-122"/>
                </a:rPr>
                <a:t>B </a:t>
              </a:r>
              <a:r>
                <a:rPr kumimoji="1" lang="zh-CN" altLang="en-US" sz="1350" b="1" dirty="0">
                  <a:solidFill>
                    <a:srgbClr val="000099"/>
                  </a:solidFill>
                  <a:latin typeface="+mn-lt"/>
                  <a:ea typeface="黑体" pitchFamily="2" charset="-122"/>
                </a:rPr>
                <a:t>检测到发生碰撞</a:t>
              </a:r>
            </a:p>
            <a:p>
              <a:pPr eaLnBrk="0" hangingPunct="0">
                <a:lnSpc>
                  <a:spcPct val="90000"/>
                </a:lnSpc>
              </a:pPr>
              <a:r>
                <a:rPr kumimoji="1" lang="zh-CN" altLang="en-US" sz="1350" b="1" dirty="0">
                  <a:solidFill>
                    <a:srgbClr val="000099"/>
                  </a:solidFill>
                  <a:latin typeface="+mn-lt"/>
                  <a:ea typeface="黑体" pitchFamily="2" charset="-122"/>
                </a:rPr>
                <a:t>停止发送</a:t>
              </a:r>
            </a:p>
          </p:txBody>
        </p:sp>
        <p:sp>
          <p:nvSpPr>
            <p:cNvPr id="413766" name="Text Box 70"/>
            <p:cNvSpPr txBox="1">
              <a:spLocks noChangeArrowheads="1"/>
            </p:cNvSpPr>
            <p:nvPr/>
          </p:nvSpPr>
          <p:spPr bwMode="auto">
            <a:xfrm>
              <a:off x="2835" y="3339"/>
              <a:ext cx="4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b="1">
                  <a:solidFill>
                    <a:srgbClr val="000099"/>
                  </a:solidFill>
                  <a:ea typeface="黑体" pitchFamily="2" charset="-122"/>
                </a:rPr>
                <a:t>STOP</a:t>
              </a:r>
            </a:p>
          </p:txBody>
        </p:sp>
      </p:grpSp>
      <p:grpSp>
        <p:nvGrpSpPr>
          <p:cNvPr id="413767" name="Group 71"/>
          <p:cNvGrpSpPr>
            <a:grpSpLocks/>
          </p:cNvGrpSpPr>
          <p:nvPr/>
        </p:nvGrpSpPr>
        <p:grpSpPr bwMode="auto">
          <a:xfrm>
            <a:off x="1225581" y="4030284"/>
            <a:ext cx="1959273" cy="671512"/>
            <a:chOff x="204" y="3566"/>
            <a:chExt cx="1519" cy="564"/>
          </a:xfrm>
        </p:grpSpPr>
        <p:sp>
          <p:nvSpPr>
            <p:cNvPr id="413768" name="Text Box 72"/>
            <p:cNvSpPr txBox="1">
              <a:spLocks noChangeArrowheads="1"/>
            </p:cNvSpPr>
            <p:nvPr/>
          </p:nvSpPr>
          <p:spPr bwMode="auto">
            <a:xfrm>
              <a:off x="204" y="3581"/>
              <a:ext cx="680" cy="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sz="1350" b="1" i="1">
                  <a:solidFill>
                    <a:srgbClr val="000099"/>
                  </a:solidFill>
                  <a:latin typeface="+mn-lt"/>
                  <a:ea typeface="黑体" pitchFamily="2" charset="-122"/>
                </a:rPr>
                <a:t>t</a:t>
              </a:r>
              <a:r>
                <a:rPr kumimoji="1" lang="en-US" altLang="zh-CN" sz="1350" b="1">
                  <a:solidFill>
                    <a:srgbClr val="000099"/>
                  </a:solidFill>
                  <a:latin typeface="+mn-lt"/>
                  <a:ea typeface="黑体" pitchFamily="2" charset="-122"/>
                </a:rPr>
                <a:t> = 2</a:t>
              </a:r>
              <a:r>
                <a:rPr kumimoji="1" lang="en-US" altLang="zh-CN" sz="1350" b="1">
                  <a:solidFill>
                    <a:srgbClr val="000099"/>
                  </a:solidFill>
                  <a:latin typeface="+mn-lt"/>
                  <a:ea typeface="黑体" pitchFamily="2" charset="-122"/>
                  <a:sym typeface="Symbol" pitchFamily="18" charset="2"/>
                </a:rPr>
                <a:t></a:t>
              </a:r>
              <a:r>
                <a:rPr kumimoji="1" lang="en-US" altLang="zh-CN" sz="1350" b="1">
                  <a:solidFill>
                    <a:srgbClr val="000099"/>
                  </a:solidFill>
                  <a:latin typeface="+mn-lt"/>
                  <a:ea typeface="黑体" pitchFamily="2" charset="-122"/>
                </a:rPr>
                <a:t> </a:t>
              </a:r>
              <a:r>
                <a:rPr kumimoji="1" lang="en-US" altLang="zh-CN" sz="1350" b="1">
                  <a:solidFill>
                    <a:srgbClr val="000099"/>
                  </a:solidFill>
                  <a:latin typeface="+mn-lt"/>
                  <a:ea typeface="黑体" pitchFamily="2" charset="-122"/>
                  <a:sym typeface="Symbol" pitchFamily="18" charset="2"/>
                </a:rPr>
                <a:t> </a:t>
              </a:r>
              <a:endParaRPr kumimoji="1" lang="en-US" altLang="zh-CN" sz="1350" b="1" baseline="30000">
                <a:solidFill>
                  <a:srgbClr val="000099"/>
                </a:solidFill>
                <a:latin typeface="+mn-lt"/>
                <a:ea typeface="黑体" pitchFamily="2" charset="-122"/>
              </a:endParaRPr>
            </a:p>
            <a:p>
              <a:pPr eaLnBrk="0" hangingPunct="0">
                <a:lnSpc>
                  <a:spcPct val="90000"/>
                </a:lnSpc>
              </a:pPr>
              <a:r>
                <a:rPr kumimoji="1" lang="en-US" altLang="zh-CN" sz="1350" b="1">
                  <a:solidFill>
                    <a:srgbClr val="000099"/>
                  </a:solidFill>
                  <a:latin typeface="+mn-lt"/>
                  <a:ea typeface="黑体" pitchFamily="2" charset="-122"/>
                </a:rPr>
                <a:t>A </a:t>
              </a:r>
              <a:r>
                <a:rPr kumimoji="1" lang="zh-CN" altLang="en-US" sz="1350" b="1">
                  <a:solidFill>
                    <a:srgbClr val="000099"/>
                  </a:solidFill>
                  <a:latin typeface="+mn-lt"/>
                  <a:ea typeface="黑体" pitchFamily="2" charset="-122"/>
                </a:rPr>
                <a:t>检测到</a:t>
              </a:r>
            </a:p>
            <a:p>
              <a:pPr eaLnBrk="0" hangingPunct="0">
                <a:lnSpc>
                  <a:spcPct val="90000"/>
                </a:lnSpc>
              </a:pPr>
              <a:r>
                <a:rPr kumimoji="1" lang="zh-CN" altLang="en-US" sz="1350" b="1">
                  <a:solidFill>
                    <a:srgbClr val="000099"/>
                  </a:solidFill>
                  <a:latin typeface="+mn-lt"/>
                  <a:ea typeface="黑体" pitchFamily="2" charset="-122"/>
                </a:rPr>
                <a:t>发生碰撞</a:t>
              </a:r>
            </a:p>
          </p:txBody>
        </p:sp>
        <p:sp>
          <p:nvSpPr>
            <p:cNvPr id="413769" name="Text Box 73"/>
            <p:cNvSpPr txBox="1">
              <a:spLocks noChangeArrowheads="1"/>
            </p:cNvSpPr>
            <p:nvPr/>
          </p:nvSpPr>
          <p:spPr bwMode="auto">
            <a:xfrm>
              <a:off x="1294" y="3566"/>
              <a:ext cx="4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b="1">
                  <a:solidFill>
                    <a:srgbClr val="000099"/>
                  </a:solidFill>
                  <a:ea typeface="黑体" pitchFamily="2" charset="-122"/>
                </a:rPr>
                <a:t>STOP</a:t>
              </a:r>
            </a:p>
          </p:txBody>
        </p:sp>
      </p:grpSp>
      <p:sp>
        <p:nvSpPr>
          <p:cNvPr id="413770" name="Rectangle 74"/>
          <p:cNvSpPr>
            <a:spLocks noChangeArrowheads="1"/>
          </p:cNvSpPr>
          <p:nvPr/>
        </p:nvSpPr>
        <p:spPr bwMode="auto">
          <a:xfrm>
            <a:off x="2337426" y="3709727"/>
            <a:ext cx="325041" cy="376238"/>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A</a:t>
            </a:r>
          </a:p>
        </p:txBody>
      </p:sp>
      <p:sp>
        <p:nvSpPr>
          <p:cNvPr id="413771" name="Rectangle 75"/>
          <p:cNvSpPr>
            <a:spLocks noChangeArrowheads="1"/>
          </p:cNvSpPr>
          <p:nvPr/>
        </p:nvSpPr>
        <p:spPr bwMode="auto">
          <a:xfrm>
            <a:off x="6165682" y="3165240"/>
            <a:ext cx="325041" cy="378619"/>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571500" eaLnBrk="0" hangingPunct="0"/>
            <a:r>
              <a:rPr kumimoji="1" lang="en-US" altLang="zh-CN" sz="1350" b="1">
                <a:solidFill>
                  <a:srgbClr val="000099"/>
                </a:solidFill>
                <a:ea typeface="黑体" pitchFamily="2" charset="-122"/>
              </a:rPr>
              <a:t>B</a:t>
            </a:r>
          </a:p>
        </p:txBody>
      </p:sp>
      <p:sp>
        <p:nvSpPr>
          <p:cNvPr id="413772" name="Text Box 76"/>
          <p:cNvSpPr txBox="1">
            <a:spLocks noChangeArrowheads="1"/>
          </p:cNvSpPr>
          <p:nvPr/>
        </p:nvSpPr>
        <p:spPr bwMode="auto">
          <a:xfrm>
            <a:off x="6369206" y="1253859"/>
            <a:ext cx="178606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solidFill>
                  <a:srgbClr val="000099"/>
                </a:solidFill>
                <a:ea typeface="黑体" pitchFamily="2" charset="-122"/>
              </a:rPr>
              <a:t>单程端到端</a:t>
            </a:r>
          </a:p>
          <a:p>
            <a:pPr algn="ctr"/>
            <a:r>
              <a:rPr lang="zh-CN" altLang="en-US" b="1" dirty="0">
                <a:solidFill>
                  <a:srgbClr val="000099"/>
                </a:solidFill>
                <a:ea typeface="黑体" pitchFamily="2" charset="-122"/>
              </a:rPr>
              <a:t>传播时延记</a:t>
            </a:r>
            <a:r>
              <a:rPr lang="zh-CN" altLang="en-US" b="1" dirty="0">
                <a:solidFill>
                  <a:srgbClr val="000099"/>
                </a:solidFill>
                <a:ea typeface="黑体" pitchFamily="2" charset="-122"/>
              </a:rPr>
              <a:t>为 </a:t>
            </a:r>
            <a:r>
              <a:rPr lang="zh-CN" altLang="en-US" b="1" i="1" dirty="0">
                <a:solidFill>
                  <a:srgbClr val="000099"/>
                </a:solidFill>
                <a:ea typeface="黑体" pitchFamily="2" charset="-122"/>
                <a:sym typeface="Symbol" pitchFamily="18" charset="2"/>
              </a:rPr>
              <a:t></a:t>
            </a:r>
            <a:r>
              <a:rPr lang="zh-CN" altLang="en-US" b="1" dirty="0">
                <a:solidFill>
                  <a:srgbClr val="000099"/>
                </a:solidFill>
                <a:ea typeface="黑体" pitchFamily="2" charset="-122"/>
              </a:rPr>
              <a:t> </a:t>
            </a:r>
            <a:endParaRPr lang="zh-CN" altLang="en-US" b="1" dirty="0">
              <a:solidFill>
                <a:srgbClr val="000099"/>
              </a:solidFill>
              <a:ea typeface="黑体" pitchFamily="2" charset="-122"/>
            </a:endParaRPr>
          </a:p>
        </p:txBody>
      </p:sp>
      <p:cxnSp>
        <p:nvCxnSpPr>
          <p:cNvPr id="3" name="直接连接符 2"/>
          <p:cNvCxnSpPr/>
          <p:nvPr/>
        </p:nvCxnSpPr>
        <p:spPr>
          <a:xfrm flipV="1">
            <a:off x="2662466" y="1767018"/>
            <a:ext cx="0" cy="3940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6165682" y="1767018"/>
            <a:ext cx="0" cy="3940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2662467" y="1964020"/>
            <a:ext cx="3486447" cy="0"/>
          </a:xfrm>
          <a:prstGeom prst="straightConnector1">
            <a:avLst/>
          </a:prstGeom>
          <a:ln w="15875">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4190858" y="1825520"/>
            <a:ext cx="298480" cy="300082"/>
          </a:xfrm>
          <a:prstGeom prst="rect">
            <a:avLst/>
          </a:prstGeom>
          <a:solidFill>
            <a:schemeClr val="bg1"/>
          </a:solidFill>
        </p:spPr>
        <p:txBody>
          <a:bodyPr wrap="none">
            <a:spAutoFit/>
          </a:bodyPr>
          <a:lstStyle/>
          <a:p>
            <a:pPr algn="ctr"/>
            <a:r>
              <a:rPr lang="zh-CN" altLang="en-US" sz="1350" b="1" i="1" dirty="0">
                <a:solidFill>
                  <a:srgbClr val="000099"/>
                </a:solidFill>
                <a:ea typeface="黑体" pitchFamily="2" charset="-122"/>
                <a:sym typeface="Symbol" pitchFamily="18" charset="2"/>
              </a:rPr>
              <a:t></a:t>
            </a:r>
            <a:r>
              <a:rPr lang="zh-CN" altLang="en-US" sz="1350" b="1" dirty="0">
                <a:solidFill>
                  <a:srgbClr val="000099"/>
                </a:solidFill>
                <a:ea typeface="黑体" pitchFamily="2" charset="-122"/>
              </a:rPr>
              <a:t> </a:t>
            </a:r>
          </a:p>
        </p:txBody>
      </p:sp>
      <p:cxnSp>
        <p:nvCxnSpPr>
          <p:cNvPr id="83" name="直接连接符 82"/>
          <p:cNvCxnSpPr/>
          <p:nvPr/>
        </p:nvCxnSpPr>
        <p:spPr>
          <a:xfrm flipV="1">
            <a:off x="5425312" y="2315374"/>
            <a:ext cx="0" cy="3940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6165682" y="2313713"/>
            <a:ext cx="0" cy="3940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5425313" y="2512376"/>
            <a:ext cx="740370" cy="0"/>
          </a:xfrm>
          <a:prstGeom prst="straightConnector1">
            <a:avLst/>
          </a:prstGeom>
          <a:ln w="15875">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5726132" y="2354111"/>
            <a:ext cx="269626" cy="300082"/>
          </a:xfrm>
          <a:prstGeom prst="rect">
            <a:avLst/>
          </a:prstGeom>
          <a:solidFill>
            <a:schemeClr val="bg1"/>
          </a:solidFill>
        </p:spPr>
        <p:txBody>
          <a:bodyPr wrap="none">
            <a:spAutoFit/>
          </a:bodyPr>
          <a:lstStyle/>
          <a:p>
            <a:r>
              <a:rPr kumimoji="1" lang="en-US" altLang="zh-CN" sz="1350" b="1" dirty="0">
                <a:solidFill>
                  <a:srgbClr val="000099"/>
                </a:solidFill>
                <a:ea typeface="黑体" pitchFamily="2" charset="-122"/>
                <a:sym typeface="Symbol" pitchFamily="18" charset="2"/>
              </a:rPr>
              <a:t></a:t>
            </a:r>
            <a:endParaRPr lang="zh-CN" altLang="en-US" sz="1350" dirty="0"/>
          </a:p>
        </p:txBody>
      </p:sp>
      <p:sp>
        <p:nvSpPr>
          <p:cNvPr id="2" name="灯片编号占位符 1"/>
          <p:cNvSpPr>
            <a:spLocks noGrp="1"/>
          </p:cNvSpPr>
          <p:nvPr>
            <p:ph type="sldNum" sz="quarter" idx="12"/>
          </p:nvPr>
        </p:nvSpPr>
        <p:spPr/>
        <p:txBody>
          <a:bodyPr/>
          <a:lstStyle/>
          <a:p>
            <a:fld id="{137DC1DE-D772-415A-B75D-6C2A3BBF0EE5}" type="slidenum">
              <a:rPr lang="zh-CN" altLang="en-US" smtClean="0"/>
              <a:pPr/>
              <a:t>12</a:t>
            </a:fld>
            <a:endParaRPr lang="en-US" altLang="zh-CN"/>
          </a:p>
        </p:txBody>
      </p:sp>
    </p:spTree>
    <p:extLst>
      <p:ext uri="{BB962C8B-B14F-4D97-AF65-F5344CB8AC3E}">
        <p14:creationId xmlns:p14="http://schemas.microsoft.com/office/powerpoint/2010/main" val="28974693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13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37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37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3761"/>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413756"/>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41375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37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37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37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37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37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37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3714"/>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41371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413750"/>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413750"/>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grpId="1" nodeType="withEffect">
                                  <p:stCondLst>
                                    <p:cond delay="500"/>
                                  </p:stCondLst>
                                  <p:childTnLst>
                                    <p:anim calcmode="discrete" valueType="str">
                                      <p:cBhvr>
                                        <p:cTn id="40" dur="1000" fill="hold"/>
                                        <p:tgtEl>
                                          <p:spTgt spid="413755"/>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37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3771"/>
                                        </p:tgtEl>
                                        <p:attrNameLst>
                                          <p:attrName>style.visibility</p:attrName>
                                        </p:attrNameLst>
                                      </p:cBhvr>
                                      <p:to>
                                        <p:strVal val="visible"/>
                                      </p:to>
                                    </p:set>
                                  </p:childTnLst>
                                </p:cTn>
                              </p:par>
                            </p:childTnLst>
                          </p:cTn>
                        </p:par>
                        <p:par>
                          <p:cTn id="47" fill="hold" nodeType="afterGroup">
                            <p:stCondLst>
                              <p:cond delay="0"/>
                            </p:stCondLst>
                            <p:childTnLst>
                              <p:par>
                                <p:cTn id="48" presetID="22" presetClass="entr" presetSubtype="8" fill="hold" nodeType="afterEffect">
                                  <p:stCondLst>
                                    <p:cond delay="0"/>
                                  </p:stCondLst>
                                  <p:childTnLst>
                                    <p:set>
                                      <p:cBhvr>
                                        <p:cTn id="49" dur="1" fill="hold">
                                          <p:stCondLst>
                                            <p:cond delay="0"/>
                                          </p:stCondLst>
                                        </p:cTn>
                                        <p:tgtEl>
                                          <p:spTgt spid="413737"/>
                                        </p:tgtEl>
                                        <p:attrNameLst>
                                          <p:attrName>style.visibility</p:attrName>
                                        </p:attrNameLst>
                                      </p:cBhvr>
                                      <p:to>
                                        <p:strVal val="visible"/>
                                      </p:to>
                                    </p:set>
                                    <p:animEffect transition="in" filter="wipe(left)">
                                      <p:cBhvr>
                                        <p:cTn id="50" dur="7000"/>
                                        <p:tgtEl>
                                          <p:spTgt spid="413737"/>
                                        </p:tgtEl>
                                      </p:cBhvr>
                                    </p:animEffect>
                                  </p:childTnLst>
                                </p:cTn>
                              </p:par>
                              <p:par>
                                <p:cTn id="51" presetID="22" presetClass="entr" presetSubtype="2" fill="hold" nodeType="withEffect">
                                  <p:stCondLst>
                                    <p:cond delay="6000"/>
                                  </p:stCondLst>
                                  <p:childTnLst>
                                    <p:set>
                                      <p:cBhvr>
                                        <p:cTn id="52" dur="1" fill="hold">
                                          <p:stCondLst>
                                            <p:cond delay="0"/>
                                          </p:stCondLst>
                                        </p:cTn>
                                        <p:tgtEl>
                                          <p:spTgt spid="413740"/>
                                        </p:tgtEl>
                                        <p:attrNameLst>
                                          <p:attrName>style.visibility</p:attrName>
                                        </p:attrNameLst>
                                      </p:cBhvr>
                                      <p:to>
                                        <p:strVal val="visible"/>
                                      </p:to>
                                    </p:set>
                                    <p:animEffect transition="in" filter="wipe(right)">
                                      <p:cBhvr>
                                        <p:cTn id="53" dur="1000"/>
                                        <p:tgtEl>
                                          <p:spTgt spid="413740"/>
                                        </p:tgtEl>
                                      </p:cBhvr>
                                    </p:animEffect>
                                  </p:childTnLst>
                                </p:cTn>
                              </p:par>
                            </p:childTnLst>
                          </p:cTn>
                        </p:par>
                        <p:par>
                          <p:cTn id="54" fill="hold" nodeType="afterGroup">
                            <p:stCondLst>
                              <p:cond delay="7000"/>
                            </p:stCondLst>
                            <p:childTnLst>
                              <p:par>
                                <p:cTn id="55" presetID="1" presetClass="entr" presetSubtype="0" fill="hold" grpId="0" nodeType="afterEffect">
                                  <p:stCondLst>
                                    <p:cond delay="0"/>
                                  </p:stCondLst>
                                  <p:childTnLst>
                                    <p:set>
                                      <p:cBhvr>
                                        <p:cTn id="56" dur="1" fill="hold">
                                          <p:stCondLst>
                                            <p:cond delay="0"/>
                                          </p:stCondLst>
                                        </p:cTn>
                                        <p:tgtEl>
                                          <p:spTgt spid="413715"/>
                                        </p:tgtEl>
                                        <p:attrNameLst>
                                          <p:attrName>style.visibility</p:attrName>
                                        </p:attrNameLst>
                                      </p:cBhvr>
                                      <p:to>
                                        <p:strVal val="visible"/>
                                      </p:to>
                                    </p:set>
                                  </p:childTnLst>
                                </p:cTn>
                              </p:par>
                            </p:childTnLst>
                          </p:cTn>
                        </p:par>
                        <p:par>
                          <p:cTn id="57" fill="hold" nodeType="afterGroup">
                            <p:stCondLst>
                              <p:cond delay="7000"/>
                            </p:stCondLst>
                            <p:childTnLst>
                              <p:par>
                                <p:cTn id="58" presetID="35" presetClass="emph" presetSubtype="0" repeatCount="4000" fill="hold" grpId="1" nodeType="afterEffect">
                                  <p:stCondLst>
                                    <p:cond delay="0"/>
                                  </p:stCondLst>
                                  <p:childTnLst>
                                    <p:anim calcmode="discrete" valueType="str">
                                      <p:cBhvr>
                                        <p:cTn id="59" dur="1000" fill="hold"/>
                                        <p:tgtEl>
                                          <p:spTgt spid="413715"/>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3770"/>
                                        </p:tgtEl>
                                        <p:attrNameLst>
                                          <p:attrName>style.visibility</p:attrName>
                                        </p:attrNameLst>
                                      </p:cBhvr>
                                      <p:to>
                                        <p:strVal val="visible"/>
                                      </p:to>
                                    </p:set>
                                  </p:childTnLst>
                                </p:cTn>
                              </p:par>
                            </p:childTnLst>
                          </p:cTn>
                        </p:par>
                        <p:par>
                          <p:cTn id="64" fill="hold" nodeType="afterGroup">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413736"/>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41369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1369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13743"/>
                                        </p:tgtEl>
                                        <p:attrNameLst>
                                          <p:attrName>style.visibility</p:attrName>
                                        </p:attrNameLst>
                                      </p:cBhvr>
                                      <p:to>
                                        <p:strVal val="visible"/>
                                      </p:to>
                                    </p:set>
                                  </p:childTnLst>
                                </p:cTn>
                              </p:par>
                            </p:childTnLst>
                          </p:cTn>
                        </p:par>
                        <p:par>
                          <p:cTn id="74" fill="hold" nodeType="afterGroup">
                            <p:stCondLst>
                              <p:cond delay="0"/>
                            </p:stCondLst>
                            <p:childTnLst>
                              <p:par>
                                <p:cTn id="75" presetID="1" presetClass="entr" presetSubtype="0" fill="hold" nodeType="afterEffect">
                                  <p:stCondLst>
                                    <p:cond delay="0"/>
                                  </p:stCondLst>
                                  <p:childTnLst>
                                    <p:set>
                                      <p:cBhvr>
                                        <p:cTn id="76" dur="1" fill="hold">
                                          <p:stCondLst>
                                            <p:cond delay="0"/>
                                          </p:stCondLst>
                                        </p:cTn>
                                        <p:tgtEl>
                                          <p:spTgt spid="413764"/>
                                        </p:tgtEl>
                                        <p:attrNameLst>
                                          <p:attrName>style.visibility</p:attrName>
                                        </p:attrNameLst>
                                      </p:cBhvr>
                                      <p:to>
                                        <p:strVal val="visible"/>
                                      </p:to>
                                    </p:set>
                                  </p:childTnLst>
                                </p:cTn>
                              </p:par>
                            </p:childTnLst>
                          </p:cTn>
                        </p:par>
                        <p:par>
                          <p:cTn id="77" fill="hold" nodeType="afterGroup">
                            <p:stCondLst>
                              <p:cond delay="0"/>
                            </p:stCondLst>
                            <p:childTnLst>
                              <p:par>
                                <p:cTn id="78" presetID="35" presetClass="emph" presetSubtype="0" repeatCount="3000" fill="hold" nodeType="afterEffect">
                                  <p:stCondLst>
                                    <p:cond delay="0"/>
                                  </p:stCondLst>
                                  <p:childTnLst>
                                    <p:anim calcmode="discrete" valueType="str">
                                      <p:cBhvr>
                                        <p:cTn id="79" dur="1000" fill="hold"/>
                                        <p:tgtEl>
                                          <p:spTgt spid="413764"/>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413744"/>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nodeType="afterEffect">
                                  <p:stCondLst>
                                    <p:cond delay="0"/>
                                  </p:stCondLst>
                                  <p:childTnLst>
                                    <p:set>
                                      <p:cBhvr>
                                        <p:cTn id="86" dur="1" fill="hold">
                                          <p:stCondLst>
                                            <p:cond delay="0"/>
                                          </p:stCondLst>
                                        </p:cTn>
                                        <p:tgtEl>
                                          <p:spTgt spid="413767"/>
                                        </p:tgtEl>
                                        <p:attrNameLst>
                                          <p:attrName>style.visibility</p:attrName>
                                        </p:attrNameLst>
                                      </p:cBhvr>
                                      <p:to>
                                        <p:strVal val="visible"/>
                                      </p:to>
                                    </p:set>
                                  </p:childTnLst>
                                </p:cTn>
                              </p:par>
                            </p:childTnLst>
                          </p:cTn>
                        </p:par>
                        <p:par>
                          <p:cTn id="87" fill="hold" nodeType="afterGroup">
                            <p:stCondLst>
                              <p:cond delay="0"/>
                            </p:stCondLst>
                            <p:childTnLst>
                              <p:par>
                                <p:cTn id="88" presetID="35" presetClass="emph" presetSubtype="0" repeatCount="3000" fill="hold" nodeType="afterEffect">
                                  <p:stCondLst>
                                    <p:cond delay="0"/>
                                  </p:stCondLst>
                                  <p:childTnLst>
                                    <p:anim calcmode="discrete" valueType="str">
                                      <p:cBhvr>
                                        <p:cTn id="89" dur="1000" fill="hold"/>
                                        <p:tgtEl>
                                          <p:spTgt spid="413767"/>
                                        </p:tgtEl>
                                        <p:attrNameLst>
                                          <p:attrName>style.visibility</p:attrName>
                                        </p:attrNameLst>
                                      </p:cBhvr>
                                      <p:tavLst>
                                        <p:tav tm="0">
                                          <p:val>
                                            <p:strVal val="hidden"/>
                                          </p:val>
                                        </p:tav>
                                        <p:tav tm="50000">
                                          <p:val>
                                            <p:strVal val="visible"/>
                                          </p:val>
                                        </p:tav>
                                      </p:tavLst>
                                    </p:anim>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413729"/>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413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animBg="1"/>
      <p:bldP spid="413699" grpId="0" animBg="1"/>
      <p:bldP spid="413714" grpId="0"/>
      <p:bldP spid="413714" grpId="1"/>
      <p:bldP spid="413715" grpId="0"/>
      <p:bldP spid="413715" grpId="1"/>
      <p:bldP spid="413735" grpId="0" animBg="1"/>
      <p:bldP spid="413736" grpId="0" animBg="1"/>
      <p:bldP spid="413743" grpId="0" animBg="1"/>
      <p:bldP spid="413750" grpId="0" animBg="1"/>
      <p:bldP spid="413750" grpId="1" animBg="1"/>
      <p:bldP spid="413750" grpId="2" animBg="1"/>
      <p:bldP spid="413751" grpId="0" animBg="1"/>
      <p:bldP spid="413752" grpId="0" animBg="1"/>
      <p:bldP spid="413753" grpId="0" animBg="1"/>
      <p:bldP spid="413754" grpId="0" animBg="1"/>
      <p:bldP spid="413755" grpId="0" animBg="1"/>
      <p:bldP spid="413755" grpId="1" animBg="1"/>
      <p:bldP spid="413756" grpId="0"/>
      <p:bldP spid="413756" grpId="1"/>
      <p:bldP spid="413760" grpId="0" animBg="1"/>
      <p:bldP spid="413761" grpId="0" animBg="1"/>
      <p:bldP spid="413770" grpId="0" animBg="1"/>
      <p:bldP spid="41377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6445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641132" y="641362"/>
            <a:ext cx="78302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为什么要进行碰撞检测</a:t>
            </a:r>
            <a:r>
              <a:rPr lang="zh-CN" altLang="en-US" sz="2000" b="1" dirty="0" smtClean="0">
                <a:solidFill>
                  <a:schemeClr val="bg1"/>
                </a:solidFill>
                <a:latin typeface="微软雅黑" pitchFamily="34" charset="-122"/>
                <a:ea typeface="微软雅黑" pitchFamily="34" charset="-122"/>
              </a:rPr>
              <a:t>？ 因为信号</a:t>
            </a:r>
            <a:r>
              <a:rPr lang="zh-CN" altLang="en-US" sz="2000" b="1" dirty="0">
                <a:solidFill>
                  <a:schemeClr val="bg1"/>
                </a:solidFill>
                <a:latin typeface="微软雅黑" pitchFamily="34" charset="-122"/>
                <a:ea typeface="微软雅黑" pitchFamily="34" charset="-122"/>
              </a:rPr>
              <a:t>传播时延对载波</a:t>
            </a:r>
            <a:r>
              <a:rPr lang="zh-CN" altLang="en-US" sz="2000" b="1" dirty="0" smtClean="0">
                <a:solidFill>
                  <a:schemeClr val="bg1"/>
                </a:solidFill>
                <a:latin typeface="微软雅黑" pitchFamily="34" charset="-122"/>
                <a:ea typeface="微软雅黑" pitchFamily="34" charset="-122"/>
              </a:rPr>
              <a:t>监听产生了影响</a:t>
            </a:r>
            <a:endParaRPr lang="fr-FR" altLang="zh-CN" sz="2000" b="1" dirty="0">
              <a:solidFill>
                <a:schemeClr val="bg1"/>
              </a:solidFill>
              <a:latin typeface="微软雅黑" pitchFamily="34" charset="-122"/>
              <a:ea typeface="微软雅黑" pitchFamily="34" charset="-122"/>
            </a:endParaRPr>
          </a:p>
        </p:txBody>
      </p:sp>
      <p:sp>
        <p:nvSpPr>
          <p:cNvPr id="7" name="圆角矩形 6"/>
          <p:cNvSpPr/>
          <p:nvPr/>
        </p:nvSpPr>
        <p:spPr>
          <a:xfrm>
            <a:off x="502922" y="1106424"/>
            <a:ext cx="8129014" cy="26334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Line 2"/>
          <p:cNvSpPr>
            <a:spLocks noChangeShapeType="1"/>
          </p:cNvSpPr>
          <p:nvPr/>
        </p:nvSpPr>
        <p:spPr bwMode="auto">
          <a:xfrm>
            <a:off x="2863581" y="1715063"/>
            <a:ext cx="2983640" cy="0"/>
          </a:xfrm>
          <a:prstGeom prst="line">
            <a:avLst/>
          </a:prstGeom>
          <a:noFill/>
          <a:ln w="57150" cmpd="sng">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9" name="Line 3"/>
          <p:cNvSpPr>
            <a:spLocks noChangeShapeType="1"/>
          </p:cNvSpPr>
          <p:nvPr/>
        </p:nvSpPr>
        <p:spPr bwMode="auto">
          <a:xfrm>
            <a:off x="2969528" y="1544337"/>
            <a:ext cx="2708999"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4055615" y="1283625"/>
            <a:ext cx="629982" cy="305212"/>
          </a:xfrm>
          <a:prstGeom prst="rect">
            <a:avLst/>
          </a:prstGeom>
          <a:noFill/>
          <a:ln>
            <a:noFill/>
          </a:ln>
          <a:effectLst/>
          <a:extLst/>
        </p:spPr>
        <p:txBody>
          <a:bodyPr wrap="none" lIns="90488" tIns="44450" rIns="90488" bIns="44450">
            <a:spAutoFit/>
          </a:bodyPr>
          <a:lstStyle/>
          <a:p>
            <a:pPr defTabSz="762000" eaLnBrk="0" hangingPunct="0"/>
            <a:r>
              <a:rPr kumimoji="1" lang="en-US" altLang="zh-CN" sz="1400" b="1" dirty="0">
                <a:solidFill>
                  <a:srgbClr val="CC3300"/>
                </a:solidFill>
                <a:latin typeface="微软雅黑" pitchFamily="34" charset="-122"/>
                <a:ea typeface="微软雅黑" pitchFamily="34" charset="-122"/>
              </a:rPr>
              <a:t>1 km</a:t>
            </a:r>
          </a:p>
        </p:txBody>
      </p:sp>
      <p:sp>
        <p:nvSpPr>
          <p:cNvPr id="11" name="Line 5"/>
          <p:cNvSpPr>
            <a:spLocks noChangeShapeType="1"/>
          </p:cNvSpPr>
          <p:nvPr/>
        </p:nvSpPr>
        <p:spPr bwMode="auto">
          <a:xfrm>
            <a:off x="2856468" y="1717878"/>
            <a:ext cx="0" cy="10684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2" name="Line 6"/>
          <p:cNvSpPr>
            <a:spLocks noChangeShapeType="1"/>
          </p:cNvSpPr>
          <p:nvPr/>
        </p:nvSpPr>
        <p:spPr bwMode="auto">
          <a:xfrm>
            <a:off x="2859516" y="1717878"/>
            <a:ext cx="2975510" cy="513116"/>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3" name="Rectangle 7"/>
          <p:cNvSpPr>
            <a:spLocks noChangeArrowheads="1"/>
          </p:cNvSpPr>
          <p:nvPr/>
        </p:nvSpPr>
        <p:spPr bwMode="auto">
          <a:xfrm>
            <a:off x="2720659" y="1407296"/>
            <a:ext cx="33663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A</a:t>
            </a:r>
          </a:p>
        </p:txBody>
      </p:sp>
      <p:sp>
        <p:nvSpPr>
          <p:cNvPr id="14" name="Rectangle 8"/>
          <p:cNvSpPr>
            <a:spLocks noChangeArrowheads="1"/>
          </p:cNvSpPr>
          <p:nvPr/>
        </p:nvSpPr>
        <p:spPr bwMode="auto">
          <a:xfrm>
            <a:off x="5667384" y="1421452"/>
            <a:ext cx="32380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B</a:t>
            </a:r>
          </a:p>
        </p:txBody>
      </p:sp>
      <p:sp>
        <p:nvSpPr>
          <p:cNvPr id="15" name="Line 9"/>
          <p:cNvSpPr>
            <a:spLocks noChangeShapeType="1"/>
          </p:cNvSpPr>
          <p:nvPr/>
        </p:nvSpPr>
        <p:spPr bwMode="auto">
          <a:xfrm flipH="1">
            <a:off x="2781267" y="1920497"/>
            <a:ext cx="4065" cy="6444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6" name="Rectangle 10"/>
          <p:cNvSpPr>
            <a:spLocks noChangeArrowheads="1"/>
          </p:cNvSpPr>
          <p:nvPr/>
        </p:nvSpPr>
        <p:spPr bwMode="auto">
          <a:xfrm>
            <a:off x="2494725" y="2098262"/>
            <a:ext cx="2677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i="1" dirty="0">
                <a:latin typeface="微软雅黑" pitchFamily="34" charset="-122"/>
                <a:ea typeface="微软雅黑" pitchFamily="34" charset="-122"/>
              </a:rPr>
              <a:t>t</a:t>
            </a:r>
          </a:p>
        </p:txBody>
      </p:sp>
      <p:sp>
        <p:nvSpPr>
          <p:cNvPr id="17" name="Line 11"/>
          <p:cNvSpPr>
            <a:spLocks noChangeShapeType="1"/>
          </p:cNvSpPr>
          <p:nvPr/>
        </p:nvSpPr>
        <p:spPr bwMode="auto">
          <a:xfrm>
            <a:off x="5847221" y="1711311"/>
            <a:ext cx="0" cy="87708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8" name="Line 12"/>
          <p:cNvSpPr>
            <a:spLocks noChangeShapeType="1"/>
          </p:cNvSpPr>
          <p:nvPr/>
        </p:nvSpPr>
        <p:spPr bwMode="auto">
          <a:xfrm flipH="1">
            <a:off x="2856468" y="2133436"/>
            <a:ext cx="2989738" cy="519682"/>
          </a:xfrm>
          <a:prstGeom prst="line">
            <a:avLst/>
          </a:prstGeom>
          <a:noFill/>
          <a:ln w="571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19" name="Group 13"/>
          <p:cNvGrpSpPr>
            <a:grpSpLocks/>
          </p:cNvGrpSpPr>
          <p:nvPr/>
        </p:nvGrpSpPr>
        <p:grpSpPr bwMode="auto">
          <a:xfrm>
            <a:off x="4934650" y="1497434"/>
            <a:ext cx="786559" cy="686656"/>
            <a:chOff x="3240" y="179"/>
            <a:chExt cx="774" cy="732"/>
          </a:xfrm>
        </p:grpSpPr>
        <p:sp>
          <p:nvSpPr>
            <p:cNvPr id="20" name="Line 14"/>
            <p:cNvSpPr>
              <a:spLocks noChangeShapeType="1"/>
            </p:cNvSpPr>
            <p:nvPr/>
          </p:nvSpPr>
          <p:spPr bwMode="auto">
            <a:xfrm>
              <a:off x="3755" y="728"/>
              <a:ext cx="112" cy="18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AutoShape 15"/>
            <p:cNvSpPr>
              <a:spLocks noChangeArrowheads="1"/>
            </p:cNvSpPr>
            <p:nvPr/>
          </p:nvSpPr>
          <p:spPr bwMode="auto">
            <a:xfrm>
              <a:off x="3240" y="179"/>
              <a:ext cx="774" cy="721"/>
            </a:xfrm>
            <a:prstGeom prst="irregularSeal1">
              <a:avLst/>
            </a:prstGeom>
            <a:solidFill>
              <a:srgbClr val="CC00CC"/>
            </a:solidFill>
            <a:ln w="12700">
              <a:solidFill>
                <a:srgbClr val="CC00CC"/>
              </a:solidFill>
              <a:miter lim="800000"/>
              <a:headEnd/>
              <a:tailEnd/>
            </a:ln>
            <a:effectLst/>
          </p:spPr>
          <p:txBody>
            <a:bodyPr wrap="none" anchor="ctr"/>
            <a:lstStyle/>
            <a:p>
              <a:pPr algn="ctr" defTabSz="762000" eaLnBrk="0" hangingPunct="0"/>
              <a:r>
                <a:rPr kumimoji="1" lang="zh-CN" altLang="en-US" sz="1400" b="1" dirty="0">
                  <a:solidFill>
                    <a:schemeClr val="bg1"/>
                  </a:solidFill>
                  <a:latin typeface="微软雅黑" pitchFamily="34" charset="-122"/>
                  <a:ea typeface="微软雅黑" pitchFamily="34" charset="-122"/>
                </a:rPr>
                <a:t>碰撞</a:t>
              </a:r>
            </a:p>
          </p:txBody>
        </p:sp>
      </p:grpSp>
      <p:grpSp>
        <p:nvGrpSpPr>
          <p:cNvPr id="22" name="Group 16"/>
          <p:cNvGrpSpPr>
            <a:grpSpLocks/>
          </p:cNvGrpSpPr>
          <p:nvPr/>
        </p:nvGrpSpPr>
        <p:grpSpPr bwMode="auto">
          <a:xfrm>
            <a:off x="1638014" y="2482392"/>
            <a:ext cx="2463332" cy="1040302"/>
            <a:chOff x="-4" y="1229"/>
            <a:chExt cx="2424" cy="1109"/>
          </a:xfrm>
        </p:grpSpPr>
        <p:sp>
          <p:nvSpPr>
            <p:cNvPr id="23" name="Text Box 17"/>
            <p:cNvSpPr txBox="1">
              <a:spLocks noChangeArrowheads="1"/>
            </p:cNvSpPr>
            <p:nvPr/>
          </p:nvSpPr>
          <p:spPr bwMode="auto">
            <a:xfrm>
              <a:off x="-4" y="1229"/>
              <a:ext cx="967"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2</a:t>
              </a:r>
              <a:r>
                <a:rPr kumimoji="1" lang="en-US" altLang="zh-CN" sz="1400" b="1" dirty="0">
                  <a:latin typeface="微软雅黑" pitchFamily="34" charset="-122"/>
                  <a:ea typeface="微软雅黑" pitchFamily="34" charset="-122"/>
                  <a:sym typeface="Symbol" pitchFamily="18" charset="2"/>
                </a:rPr>
                <a:t></a:t>
              </a:r>
              <a:r>
                <a:rPr kumimoji="1" lang="en-US" altLang="zh-CN"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sym typeface="Symbol" pitchFamily="18" charset="2"/>
                </a:rPr>
                <a:t> </a:t>
              </a:r>
            </a:p>
          </p:txBody>
        </p:sp>
        <p:sp>
          <p:nvSpPr>
            <p:cNvPr id="24" name="Line 18"/>
            <p:cNvSpPr>
              <a:spLocks noChangeShapeType="1"/>
            </p:cNvSpPr>
            <p:nvPr/>
          </p:nvSpPr>
          <p:spPr bwMode="auto">
            <a:xfrm>
              <a:off x="913" y="1417"/>
              <a:ext cx="26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nvGrpSpPr>
            <p:cNvPr id="25" name="Group 19"/>
            <p:cNvGrpSpPr>
              <a:grpSpLocks/>
            </p:cNvGrpSpPr>
            <p:nvPr/>
          </p:nvGrpSpPr>
          <p:grpSpPr bwMode="auto">
            <a:xfrm>
              <a:off x="1251" y="1683"/>
              <a:ext cx="1169" cy="655"/>
              <a:chOff x="1251" y="1683"/>
              <a:chExt cx="1169" cy="655"/>
            </a:xfrm>
          </p:grpSpPr>
          <p:sp>
            <p:nvSpPr>
              <p:cNvPr id="26" name="AutoShape 20"/>
              <p:cNvSpPr>
                <a:spLocks noChangeArrowheads="1"/>
              </p:cNvSpPr>
              <p:nvPr/>
            </p:nvSpPr>
            <p:spPr bwMode="auto">
              <a:xfrm>
                <a:off x="1251" y="1683"/>
                <a:ext cx="1034" cy="655"/>
              </a:xfrm>
              <a:prstGeom prst="wedgeRoundRectCallout">
                <a:avLst>
                  <a:gd name="adj1" fmla="val -52346"/>
                  <a:gd name="adj2" fmla="val -88408"/>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27" name="Text Box 21"/>
              <p:cNvSpPr txBox="1">
                <a:spLocks noChangeArrowheads="1"/>
              </p:cNvSpPr>
              <p:nvPr/>
            </p:nvSpPr>
            <p:spPr bwMode="auto">
              <a:xfrm>
                <a:off x="1258" y="1755"/>
                <a:ext cx="1162"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检测到发生碰撞</a:t>
                </a:r>
              </a:p>
            </p:txBody>
          </p:sp>
        </p:grpSp>
      </p:grpSp>
      <p:grpSp>
        <p:nvGrpSpPr>
          <p:cNvPr id="28" name="Group 22"/>
          <p:cNvGrpSpPr>
            <a:grpSpLocks/>
          </p:cNvGrpSpPr>
          <p:nvPr/>
        </p:nvGrpSpPr>
        <p:grpSpPr bwMode="auto">
          <a:xfrm>
            <a:off x="5876691" y="1431770"/>
            <a:ext cx="1531456" cy="890215"/>
            <a:chOff x="4167" y="109"/>
            <a:chExt cx="1507" cy="949"/>
          </a:xfrm>
        </p:grpSpPr>
        <p:grpSp>
          <p:nvGrpSpPr>
            <p:cNvPr id="29" name="Group 23"/>
            <p:cNvGrpSpPr>
              <a:grpSpLocks/>
            </p:cNvGrpSpPr>
            <p:nvPr/>
          </p:nvGrpSpPr>
          <p:grpSpPr bwMode="auto">
            <a:xfrm>
              <a:off x="4167" y="697"/>
              <a:ext cx="1360" cy="361"/>
              <a:chOff x="4167" y="697"/>
              <a:chExt cx="1360" cy="361"/>
            </a:xfrm>
          </p:grpSpPr>
          <p:sp>
            <p:nvSpPr>
              <p:cNvPr id="33" name="Line 24"/>
              <p:cNvSpPr>
                <a:spLocks noChangeShapeType="1"/>
              </p:cNvSpPr>
              <p:nvPr/>
            </p:nvSpPr>
            <p:spPr bwMode="auto">
              <a:xfrm flipH="1">
                <a:off x="4167" y="847"/>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54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4" name="Text Box 25"/>
              <p:cNvSpPr txBox="1">
                <a:spLocks noChangeArrowheads="1"/>
              </p:cNvSpPr>
              <p:nvPr/>
            </p:nvSpPr>
            <p:spPr bwMode="auto">
              <a:xfrm>
                <a:off x="4411" y="697"/>
                <a:ext cx="111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r>
                  <a:rPr kumimoji="1" lang="en-US" altLang="zh-CN" sz="1600" b="1" dirty="0">
                    <a:latin typeface="微软雅黑" pitchFamily="34" charset="-122"/>
                    <a:ea typeface="微软雅黑" pitchFamily="34" charset="-122"/>
                  </a:rPr>
                  <a:t> </a:t>
                </a:r>
                <a:r>
                  <a:rPr kumimoji="1" lang="en-US" altLang="zh-CN" sz="1600" b="1" dirty="0">
                    <a:latin typeface="微软雅黑" pitchFamily="34" charset="-122"/>
                    <a:ea typeface="微软雅黑" pitchFamily="34" charset="-122"/>
                    <a:sym typeface="Symbol" pitchFamily="18" charset="2"/>
                  </a:rPr>
                  <a:t> </a:t>
                </a:r>
                <a:r>
                  <a:rPr kumimoji="1" lang="en-US" altLang="zh-CN" sz="1600" b="1" baseline="30000" dirty="0">
                    <a:latin typeface="微软雅黑" pitchFamily="34" charset="-122"/>
                    <a:ea typeface="微软雅黑" pitchFamily="34" charset="-122"/>
                  </a:rPr>
                  <a:t> </a:t>
                </a:r>
              </a:p>
            </p:txBody>
          </p:sp>
        </p:grpSp>
        <p:grpSp>
          <p:nvGrpSpPr>
            <p:cNvPr id="30" name="Group 26"/>
            <p:cNvGrpSpPr>
              <a:grpSpLocks/>
            </p:cNvGrpSpPr>
            <p:nvPr/>
          </p:nvGrpSpPr>
          <p:grpSpPr bwMode="auto">
            <a:xfrm>
              <a:off x="4352" y="109"/>
              <a:ext cx="1322" cy="363"/>
              <a:chOff x="4352" y="109"/>
              <a:chExt cx="1322" cy="363"/>
            </a:xfrm>
          </p:grpSpPr>
          <p:sp>
            <p:nvSpPr>
              <p:cNvPr id="31" name="AutoShape 27"/>
              <p:cNvSpPr>
                <a:spLocks noChangeArrowheads="1"/>
              </p:cNvSpPr>
              <p:nvPr/>
            </p:nvSpPr>
            <p:spPr bwMode="auto">
              <a:xfrm>
                <a:off x="4406" y="109"/>
                <a:ext cx="1169" cy="363"/>
              </a:xfrm>
              <a:prstGeom prst="wedgeRoundRectCallout">
                <a:avLst>
                  <a:gd name="adj1" fmla="val -70042"/>
                  <a:gd name="adj2" fmla="val 145528"/>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254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32" name="Text Box 28"/>
              <p:cNvSpPr txBox="1">
                <a:spLocks noChangeArrowheads="1"/>
              </p:cNvSpPr>
              <p:nvPr/>
            </p:nvSpPr>
            <p:spPr bwMode="auto">
              <a:xfrm>
                <a:off x="4352" y="126"/>
                <a:ext cx="1322"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  B </a:t>
                </a:r>
                <a:r>
                  <a:rPr kumimoji="1" lang="zh-CN" altLang="en-US" sz="1400" b="1" dirty="0">
                    <a:solidFill>
                      <a:srgbClr val="000099"/>
                    </a:solidFill>
                    <a:latin typeface="微软雅黑" pitchFamily="34" charset="-122"/>
                    <a:ea typeface="微软雅黑" pitchFamily="34" charset="-122"/>
                  </a:rPr>
                  <a:t>发送数据</a:t>
                </a:r>
              </a:p>
            </p:txBody>
          </p:sp>
        </p:grpSp>
      </p:grpSp>
      <p:grpSp>
        <p:nvGrpSpPr>
          <p:cNvPr id="35" name="Group 29"/>
          <p:cNvGrpSpPr>
            <a:grpSpLocks/>
          </p:cNvGrpSpPr>
          <p:nvPr/>
        </p:nvGrpSpPr>
        <p:grpSpPr bwMode="auto">
          <a:xfrm>
            <a:off x="4720226" y="2140940"/>
            <a:ext cx="2161515" cy="908036"/>
            <a:chOff x="3029" y="865"/>
            <a:chExt cx="2127" cy="968"/>
          </a:xfrm>
        </p:grpSpPr>
        <p:grpSp>
          <p:nvGrpSpPr>
            <p:cNvPr id="36" name="Group 30"/>
            <p:cNvGrpSpPr>
              <a:grpSpLocks/>
            </p:cNvGrpSpPr>
            <p:nvPr/>
          </p:nvGrpSpPr>
          <p:grpSpPr bwMode="auto">
            <a:xfrm>
              <a:off x="3029" y="1223"/>
              <a:ext cx="1095" cy="610"/>
              <a:chOff x="3029" y="1223"/>
              <a:chExt cx="1095" cy="610"/>
            </a:xfrm>
          </p:grpSpPr>
          <p:sp>
            <p:nvSpPr>
              <p:cNvPr id="39" name="AutoShape 31"/>
              <p:cNvSpPr>
                <a:spLocks noChangeArrowheads="1"/>
              </p:cNvSpPr>
              <p:nvPr/>
            </p:nvSpPr>
            <p:spPr bwMode="auto">
              <a:xfrm>
                <a:off x="3029" y="1223"/>
                <a:ext cx="966" cy="610"/>
              </a:xfrm>
              <a:prstGeom prst="wedgeRoundRectCallout">
                <a:avLst>
                  <a:gd name="adj1" fmla="val 61231"/>
                  <a:gd name="adj2" fmla="val -88745"/>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40" name="Text Box 32"/>
              <p:cNvSpPr txBox="1">
                <a:spLocks noChangeArrowheads="1"/>
              </p:cNvSpPr>
              <p:nvPr/>
            </p:nvSpPr>
            <p:spPr bwMode="auto">
              <a:xfrm>
                <a:off x="3101" y="1260"/>
                <a:ext cx="1023"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检测到发生碰撞</a:t>
                </a:r>
              </a:p>
            </p:txBody>
          </p:sp>
        </p:grpSp>
        <p:sp>
          <p:nvSpPr>
            <p:cNvPr id="37" name="Line 33"/>
            <p:cNvSpPr>
              <a:spLocks noChangeShapeType="1"/>
            </p:cNvSpPr>
            <p:nvPr/>
          </p:nvSpPr>
          <p:spPr bwMode="auto">
            <a:xfrm flipH="1">
              <a:off x="4167" y="964"/>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8" name="Text Box 34"/>
            <p:cNvSpPr txBox="1">
              <a:spLocks noChangeArrowheads="1"/>
            </p:cNvSpPr>
            <p:nvPr/>
          </p:nvSpPr>
          <p:spPr bwMode="auto">
            <a:xfrm>
              <a:off x="4410" y="865"/>
              <a:ext cx="7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p>
          </p:txBody>
        </p:sp>
      </p:grpSp>
      <p:sp>
        <p:nvSpPr>
          <p:cNvPr id="41" name="Text Box 35"/>
          <p:cNvSpPr txBox="1">
            <a:spLocks noChangeArrowheads="1"/>
          </p:cNvSpPr>
          <p:nvPr/>
        </p:nvSpPr>
        <p:spPr bwMode="auto">
          <a:xfrm>
            <a:off x="2031318" y="1557478"/>
            <a:ext cx="61106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0</a:t>
            </a:r>
            <a:endParaRPr kumimoji="1" lang="en-US" altLang="zh-CN" sz="1400" b="1" baseline="30000" dirty="0">
              <a:latin typeface="微软雅黑" pitchFamily="34" charset="-122"/>
              <a:ea typeface="微软雅黑" pitchFamily="34" charset="-122"/>
            </a:endParaRPr>
          </a:p>
        </p:txBody>
      </p:sp>
      <p:sp>
        <p:nvSpPr>
          <p:cNvPr id="42" name="Line 36"/>
          <p:cNvSpPr>
            <a:spLocks noChangeShapeType="1"/>
          </p:cNvSpPr>
          <p:nvPr/>
        </p:nvSpPr>
        <p:spPr bwMode="auto">
          <a:xfrm>
            <a:off x="2569892" y="1715063"/>
            <a:ext cx="264219"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Text Box 37"/>
          <p:cNvSpPr txBox="1">
            <a:spLocks noChangeArrowheads="1"/>
          </p:cNvSpPr>
          <p:nvPr/>
        </p:nvSpPr>
        <p:spPr bwMode="auto">
          <a:xfrm>
            <a:off x="5907108" y="2455172"/>
            <a:ext cx="14462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1" dirty="0">
                <a:solidFill>
                  <a:srgbClr val="0000FF"/>
                </a:solidFill>
                <a:latin typeface="微软雅黑" pitchFamily="34" charset="-122"/>
                <a:ea typeface="微软雅黑" pitchFamily="34" charset="-122"/>
              </a:rPr>
              <a:t>单程端到端</a:t>
            </a:r>
          </a:p>
          <a:p>
            <a:pPr algn="ctr"/>
            <a:r>
              <a:rPr lang="zh-CN" altLang="en-US" sz="1400" b="1" dirty="0">
                <a:solidFill>
                  <a:srgbClr val="0000FF"/>
                </a:solidFill>
                <a:latin typeface="微软雅黑" pitchFamily="34" charset="-122"/>
                <a:ea typeface="微软雅黑" pitchFamily="34" charset="-122"/>
              </a:rPr>
              <a:t>传播时延记</a:t>
            </a:r>
            <a:r>
              <a:rPr lang="zh-CN" altLang="en-US" sz="1400" b="1" dirty="0" smtClean="0">
                <a:solidFill>
                  <a:srgbClr val="0000FF"/>
                </a:solidFill>
                <a:latin typeface="微软雅黑" pitchFamily="34" charset="-122"/>
                <a:ea typeface="微软雅黑" pitchFamily="34" charset="-122"/>
              </a:rPr>
              <a:t>为 </a:t>
            </a:r>
            <a:r>
              <a:rPr lang="zh-CN" altLang="en-US" sz="1400" b="1" i="1" dirty="0" smtClean="0">
                <a:solidFill>
                  <a:srgbClr val="0000FF"/>
                </a:solidFill>
                <a:latin typeface="微软雅黑" pitchFamily="34" charset="-122"/>
                <a:ea typeface="微软雅黑" pitchFamily="34" charset="-122"/>
                <a:sym typeface="Symbol" pitchFamily="18" charset="2"/>
              </a:rPr>
              <a:t></a:t>
            </a:r>
            <a:r>
              <a:rPr lang="zh-CN" altLang="en-US" sz="1400" b="1" dirty="0" smtClean="0">
                <a:solidFill>
                  <a:srgbClr val="0000FF"/>
                </a:solidFill>
                <a:latin typeface="微软雅黑" pitchFamily="34" charset="-122"/>
                <a:ea typeface="微软雅黑" pitchFamily="34" charset="-122"/>
              </a:rPr>
              <a:t> </a:t>
            </a:r>
            <a:endParaRPr lang="zh-CN" altLang="en-US" sz="1400" b="1" dirty="0">
              <a:solidFill>
                <a:srgbClr val="0000FF"/>
              </a:solidFill>
              <a:latin typeface="微软雅黑" pitchFamily="34" charset="-122"/>
              <a:ea typeface="微软雅黑" pitchFamily="34" charset="-122"/>
            </a:endParaRPr>
          </a:p>
        </p:txBody>
      </p:sp>
      <p:grpSp>
        <p:nvGrpSpPr>
          <p:cNvPr id="44" name="组合 43"/>
          <p:cNvGrpSpPr/>
          <p:nvPr/>
        </p:nvGrpSpPr>
        <p:grpSpPr>
          <a:xfrm>
            <a:off x="502922" y="3834300"/>
            <a:ext cx="8129014" cy="509100"/>
            <a:chOff x="502922" y="3477684"/>
            <a:chExt cx="8129014" cy="509100"/>
          </a:xfrm>
        </p:grpSpPr>
        <p:sp>
          <p:nvSpPr>
            <p:cNvPr id="45" name="对角圆角矩形 44"/>
            <p:cNvSpPr/>
            <p:nvPr/>
          </p:nvSpPr>
          <p:spPr>
            <a:xfrm>
              <a:off x="502922" y="3477684"/>
              <a:ext cx="8129014" cy="50910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877824" y="3513507"/>
              <a:ext cx="7699646" cy="438582"/>
            </a:xfrm>
            <a:prstGeom prst="rect">
              <a:avLst/>
            </a:prstGeom>
          </p:spPr>
          <p:txBody>
            <a:bodyPr wrap="square">
              <a:spAutoFit/>
            </a:bodyPr>
            <a:lstStyle/>
            <a:p>
              <a:pPr>
                <a:lnSpc>
                  <a:spcPts val="2700"/>
                </a:lnSpc>
                <a:spcBef>
                  <a:spcPts val="600"/>
                </a:spcBef>
              </a:pPr>
              <a:r>
                <a:rPr lang="en-US" altLang="zh-CN" b="1" dirty="0" smtClean="0">
                  <a:solidFill>
                    <a:schemeClr val="bg1"/>
                  </a:solidFill>
                  <a:latin typeface="微软雅黑" pitchFamily="34" charset="-122"/>
                  <a:ea typeface="微软雅黑" pitchFamily="34" charset="-122"/>
                </a:rPr>
                <a:t>A </a:t>
              </a:r>
              <a:r>
                <a:rPr lang="zh-CN" altLang="en-US" b="1" dirty="0" smtClean="0">
                  <a:solidFill>
                    <a:schemeClr val="bg1"/>
                  </a:solidFill>
                  <a:latin typeface="微软雅黑" pitchFamily="34" charset="-122"/>
                  <a:ea typeface="微软雅黑" pitchFamily="34" charset="-122"/>
                </a:rPr>
                <a:t>需要</a:t>
              </a:r>
              <a:r>
                <a:rPr lang="zh-CN" altLang="en-US" b="1" dirty="0">
                  <a:solidFill>
                    <a:schemeClr val="bg1"/>
                  </a:solidFill>
                  <a:latin typeface="微软雅黑" pitchFamily="34" charset="-122"/>
                  <a:ea typeface="微软雅黑" pitchFamily="34" charset="-122"/>
                </a:rPr>
                <a:t>单程传播时延的 </a:t>
              </a:r>
              <a:r>
                <a:rPr lang="en-US" altLang="zh-CN" b="1" dirty="0">
                  <a:solidFill>
                    <a:schemeClr val="bg1"/>
                  </a:solidFill>
                  <a:latin typeface="微软雅黑" pitchFamily="34" charset="-122"/>
                  <a:ea typeface="微软雅黑" pitchFamily="34" charset="-122"/>
                </a:rPr>
                <a:t>2 </a:t>
              </a:r>
              <a:r>
                <a:rPr lang="zh-CN" altLang="en-US" b="1" dirty="0">
                  <a:solidFill>
                    <a:schemeClr val="bg1"/>
                  </a:solidFill>
                  <a:latin typeface="微软雅黑" pitchFamily="34" charset="-122"/>
                  <a:ea typeface="微软雅黑" pitchFamily="34" charset="-122"/>
                </a:rPr>
                <a:t>倍的时间</a:t>
              </a:r>
              <a:r>
                <a:rPr lang="zh-CN" altLang="en-US" b="1" dirty="0" smtClean="0">
                  <a:solidFill>
                    <a:schemeClr val="bg1"/>
                  </a:solidFill>
                  <a:latin typeface="微软雅黑" pitchFamily="34" charset="-122"/>
                  <a:ea typeface="微软雅黑" pitchFamily="34" charset="-122"/>
                </a:rPr>
                <a:t>，才能</a:t>
              </a:r>
              <a:r>
                <a:rPr lang="zh-CN" altLang="en-US" b="1" dirty="0">
                  <a:solidFill>
                    <a:schemeClr val="bg1"/>
                  </a:solidFill>
                  <a:latin typeface="微软雅黑" pitchFamily="34" charset="-122"/>
                  <a:ea typeface="微软雅黑" pitchFamily="34" charset="-122"/>
                </a:rPr>
                <a:t>检测到与 </a:t>
              </a:r>
              <a:r>
                <a:rPr lang="en-US" altLang="zh-CN" b="1" dirty="0">
                  <a:solidFill>
                    <a:schemeClr val="bg1"/>
                  </a:solidFill>
                  <a:latin typeface="微软雅黑" pitchFamily="34" charset="-122"/>
                  <a:ea typeface="微软雅黑" pitchFamily="34" charset="-122"/>
                </a:rPr>
                <a:t>B </a:t>
              </a:r>
              <a:r>
                <a:rPr lang="zh-CN" altLang="en-US" b="1" dirty="0">
                  <a:solidFill>
                    <a:schemeClr val="bg1"/>
                  </a:solidFill>
                  <a:latin typeface="微软雅黑" pitchFamily="34" charset="-122"/>
                  <a:ea typeface="微软雅黑" pitchFamily="34" charset="-122"/>
                </a:rPr>
                <a:t>的发送产生了冲突</a:t>
              </a:r>
            </a:p>
          </p:txBody>
        </p:sp>
      </p:grpSp>
    </p:spTree>
    <p:extLst>
      <p:ext uri="{BB962C8B-B14F-4D97-AF65-F5344CB8AC3E}">
        <p14:creationId xmlns:p14="http://schemas.microsoft.com/office/powerpoint/2010/main" val="5357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right)">
                                      <p:cBhvr>
                                        <p:cTn id="12" dur="4000"/>
                                        <p:tgtEl>
                                          <p:spTgt spid="18"/>
                                        </p:tgtEl>
                                      </p:cBhvr>
                                    </p:animEffect>
                                  </p:childTnLst>
                                </p:cTn>
                              </p:par>
                              <p:par>
                                <p:cTn id="13" presetID="1" presetClass="entr" presetSubtype="0" fill="hold" nodeType="withEffect">
                                  <p:stCondLst>
                                    <p:cond delay="750"/>
                                  </p:stCondLst>
                                  <p:childTnLst>
                                    <p:set>
                                      <p:cBhvr>
                                        <p:cTn id="14" dur="1" fill="hold">
                                          <p:stCondLst>
                                            <p:cond delay="0"/>
                                          </p:stCondLst>
                                        </p:cTn>
                                        <p:tgtEl>
                                          <p:spTgt spid="28"/>
                                        </p:tgtEl>
                                        <p:attrNameLst>
                                          <p:attrName>style.visibility</p:attrName>
                                        </p:attrNameLst>
                                      </p:cBhvr>
                                      <p:to>
                                        <p:strVal val="visible"/>
                                      </p:to>
                                    </p:set>
                                  </p:childTnLst>
                                </p:cTn>
                              </p:par>
                              <p:par>
                                <p:cTn id="15" presetID="53" presetClass="entr" presetSubtype="16" fill="hold" nodeType="withEffect">
                                  <p:stCondLst>
                                    <p:cond delay="750"/>
                                  </p:stCondLst>
                                  <p:childTnLst>
                                    <p:set>
                                      <p:cBhvr>
                                        <p:cTn id="16" dur="1" fill="hold">
                                          <p:stCondLst>
                                            <p:cond delay="0"/>
                                          </p:stCondLst>
                                        </p:cTn>
                                        <p:tgtEl>
                                          <p:spTgt spid="19"/>
                                        </p:tgtEl>
                                        <p:attrNameLst>
                                          <p:attrName>style.visibility</p:attrName>
                                        </p:attrNameLst>
                                      </p:cBhvr>
                                      <p:to>
                                        <p:strVal val="visible"/>
                                      </p:to>
                                    </p:set>
                                    <p:anim calcmode="lin" valueType="num">
                                      <p:cBhvr>
                                        <p:cTn id="17" dur="250" fill="hold"/>
                                        <p:tgtEl>
                                          <p:spTgt spid="19"/>
                                        </p:tgtEl>
                                        <p:attrNameLst>
                                          <p:attrName>ppt_w</p:attrName>
                                        </p:attrNameLst>
                                      </p:cBhvr>
                                      <p:tavLst>
                                        <p:tav tm="0">
                                          <p:val>
                                            <p:fltVal val="0"/>
                                          </p:val>
                                        </p:tav>
                                        <p:tav tm="100000">
                                          <p:val>
                                            <p:strVal val="#ppt_w"/>
                                          </p:val>
                                        </p:tav>
                                      </p:tavLst>
                                    </p:anim>
                                    <p:anim calcmode="lin" valueType="num">
                                      <p:cBhvr>
                                        <p:cTn id="18" dur="250" fill="hold"/>
                                        <p:tgtEl>
                                          <p:spTgt spid="19"/>
                                        </p:tgtEl>
                                        <p:attrNameLst>
                                          <p:attrName>ppt_h</p:attrName>
                                        </p:attrNameLst>
                                      </p:cBhvr>
                                      <p:tavLst>
                                        <p:tav tm="0">
                                          <p:val>
                                            <p:fltVal val="0"/>
                                          </p:val>
                                        </p:tav>
                                        <p:tav tm="100000">
                                          <p:val>
                                            <p:strVal val="#ppt_h"/>
                                          </p:val>
                                        </p:tav>
                                      </p:tavLst>
                                    </p:anim>
                                    <p:animEffect transition="in" filter="fade">
                                      <p:cBhvr>
                                        <p:cTn id="19" dur="250"/>
                                        <p:tgtEl>
                                          <p:spTgt spid="19"/>
                                        </p:tgtEl>
                                      </p:cBhvr>
                                    </p:animEffect>
                                  </p:childTnLst>
                                </p:cTn>
                              </p:par>
                              <p:par>
                                <p:cTn id="20" presetID="1" presetClass="entr" presetSubtype="0" fill="hold" nodeType="withEffect">
                                  <p:stCondLst>
                                    <p:cond delay="1500"/>
                                  </p:stCondLst>
                                  <p:childTnLst>
                                    <p:set>
                                      <p:cBhvr>
                                        <p:cTn id="21" dur="1" fill="hold">
                                          <p:stCondLst>
                                            <p:cond delay="0"/>
                                          </p:stCondLst>
                                        </p:cTn>
                                        <p:tgtEl>
                                          <p:spTgt spid="35"/>
                                        </p:tgtEl>
                                        <p:attrNameLst>
                                          <p:attrName>style.visibility</p:attrName>
                                        </p:attrNameLst>
                                      </p:cBhvr>
                                      <p:to>
                                        <p:strVal val="visible"/>
                                      </p:to>
                                    </p:set>
                                  </p:childTnLst>
                                </p:cTn>
                              </p:par>
                            </p:childTnLst>
                          </p:cTn>
                        </p:par>
                        <p:par>
                          <p:cTn id="22" fill="hold">
                            <p:stCondLst>
                              <p:cond delay="4000"/>
                            </p:stCondLst>
                            <p:childTnLst>
                              <p:par>
                                <p:cTn id="23" presetID="1" presetClass="entr" presetSubtype="0" fill="hold" nodeType="afterEffect">
                                  <p:stCondLst>
                                    <p:cond delay="25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46"/>
          <p:cNvSpPr>
            <a:spLocks noChangeArrowheads="1"/>
          </p:cNvSpPr>
          <p:nvPr/>
        </p:nvSpPr>
        <p:spPr bwMode="auto">
          <a:xfrm>
            <a:off x="502921" y="1647352"/>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最先发送数据帧的站，在发送数据帧后</a:t>
            </a:r>
            <a:r>
              <a:rPr lang="zh-CN" altLang="en-US" sz="2000" b="1" dirty="0">
                <a:solidFill>
                  <a:srgbClr val="0000FF"/>
                </a:solidFill>
                <a:latin typeface="微软雅黑" pitchFamily="34" charset="-122"/>
                <a:ea typeface="微软雅黑" pitchFamily="34" charset="-122"/>
              </a:rPr>
              <a:t>至多</a:t>
            </a:r>
            <a:r>
              <a:rPr lang="zh-CN" altLang="en-US" sz="2000" b="1" dirty="0">
                <a:latin typeface="微软雅黑" pitchFamily="34" charset="-122"/>
                <a:ea typeface="微软雅黑" pitchFamily="34" charset="-122"/>
              </a:rPr>
              <a:t>经过时间</a:t>
            </a:r>
            <a:r>
              <a:rPr lang="zh-CN" altLang="en-US" sz="2000" b="1" dirty="0">
                <a:solidFill>
                  <a:srgbClr val="0000FF"/>
                </a:solidFill>
                <a:latin typeface="微软雅黑" pitchFamily="34" charset="-122"/>
                <a:ea typeface="微软雅黑" pitchFamily="34" charset="-122"/>
              </a:rPr>
              <a:t> </a:t>
            </a:r>
            <a:r>
              <a:rPr lang="en-US" altLang="zh-CN" sz="2000" b="1" dirty="0" smtClean="0">
                <a:solidFill>
                  <a:srgbClr val="0000FF"/>
                </a:solidFill>
                <a:latin typeface="微软雅黑" pitchFamily="34" charset="-122"/>
                <a:ea typeface="微软雅黑" pitchFamily="34" charset="-122"/>
              </a:rPr>
              <a:t>2</a:t>
            </a:r>
            <a:r>
              <a:rPr lang="en-US" altLang="zh-CN" sz="2000" b="1" i="1" dirty="0" smtClean="0">
                <a:solidFill>
                  <a:srgbClr val="0000FF"/>
                </a:solidFill>
                <a:latin typeface="微软雅黑" pitchFamily="34" charset="-122"/>
                <a:ea typeface="微软雅黑" pitchFamily="34" charset="-122"/>
                <a:sym typeface="Symbol" pitchFamily="18" charset="2"/>
              </a:rPr>
              <a:t> </a:t>
            </a:r>
            <a:r>
              <a:rPr lang="zh-CN" altLang="en-US" sz="2000" b="1" dirty="0" smtClean="0">
                <a:solidFill>
                  <a:srgbClr val="0000FF"/>
                </a:solidFill>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两倍的端到端往返时延）</a:t>
            </a:r>
            <a:r>
              <a:rPr lang="zh-CN" altLang="en-US" sz="2000" b="1" dirty="0">
                <a:latin typeface="微软雅黑" pitchFamily="34" charset="-122"/>
                <a:ea typeface="微软雅黑" pitchFamily="34" charset="-122"/>
              </a:rPr>
              <a:t>就可知道发送的数据帧是否遭受了碰撞。</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以太网的端到端往返</a:t>
            </a:r>
            <a:r>
              <a:rPr lang="zh-CN" altLang="en-US" sz="2000" b="1" dirty="0" smtClean="0">
                <a:latin typeface="微软雅黑" pitchFamily="34" charset="-122"/>
                <a:ea typeface="微软雅黑" pitchFamily="34" charset="-122"/>
              </a:rPr>
              <a:t>时延 </a:t>
            </a:r>
            <a:r>
              <a:rPr lang="en-US" altLang="zh-CN" sz="2000" b="1" dirty="0" smtClean="0">
                <a:latin typeface="微软雅黑" pitchFamily="34" charset="-122"/>
                <a:ea typeface="微软雅黑" pitchFamily="34" charset="-122"/>
              </a:rPr>
              <a:t>2</a:t>
            </a:r>
            <a:r>
              <a:rPr lang="en-US" altLang="zh-CN" sz="2000" b="1" i="1" dirty="0" smtClean="0">
                <a:latin typeface="微软雅黑" pitchFamily="34" charset="-122"/>
                <a:ea typeface="微软雅黑" pitchFamily="34" charset="-122"/>
                <a:sym typeface="Symbol" pitchFamily="18" charset="2"/>
              </a:rPr>
              <a:t>  </a:t>
            </a:r>
            <a:r>
              <a:rPr lang="zh-CN" altLang="en-US" sz="2000" b="1" dirty="0" smtClean="0">
                <a:latin typeface="微软雅黑" pitchFamily="34" charset="-122"/>
                <a:ea typeface="微软雅黑" pitchFamily="34" charset="-122"/>
              </a:rPr>
              <a:t>称为</a:t>
            </a:r>
            <a:r>
              <a:rPr lang="zh-CN" altLang="en-US" sz="2000" b="1" dirty="0">
                <a:solidFill>
                  <a:srgbClr val="0000FF"/>
                </a:solidFill>
                <a:latin typeface="微软雅黑" pitchFamily="34" charset="-122"/>
                <a:ea typeface="微软雅黑" pitchFamily="34" charset="-122"/>
              </a:rPr>
              <a:t>争用期</a:t>
            </a:r>
            <a:r>
              <a:rPr lang="zh-CN" altLang="en-US" sz="2000" b="1" dirty="0">
                <a:latin typeface="微软雅黑" pitchFamily="34" charset="-122"/>
                <a:ea typeface="微软雅黑" pitchFamily="34" charset="-122"/>
              </a:rPr>
              <a:t>，或</a:t>
            </a:r>
            <a:r>
              <a:rPr lang="zh-CN" altLang="en-US" sz="2000" b="1" dirty="0">
                <a:solidFill>
                  <a:srgbClr val="0000FF"/>
                </a:solidFill>
                <a:latin typeface="微软雅黑" pitchFamily="34" charset="-122"/>
                <a:ea typeface="微软雅黑" pitchFamily="34" charset="-122"/>
              </a:rPr>
              <a:t>碰撞窗口</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经过争用期这段时间还没有检测到碰撞，才能肯定这次发送不会发生碰撞。</a:t>
            </a:r>
          </a:p>
        </p:txBody>
      </p:sp>
      <p:sp>
        <p:nvSpPr>
          <p:cNvPr id="65" name="AutoShape 5"/>
          <p:cNvSpPr>
            <a:spLocks noChangeArrowheads="1"/>
          </p:cNvSpPr>
          <p:nvPr/>
        </p:nvSpPr>
        <p:spPr bwMode="auto">
          <a:xfrm>
            <a:off x="502921" y="125178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6"/>
          <p:cNvSpPr>
            <a:spLocks noChangeArrowheads="1"/>
          </p:cNvSpPr>
          <p:nvPr/>
        </p:nvSpPr>
        <p:spPr bwMode="auto">
          <a:xfrm>
            <a:off x="4090019" y="1228694"/>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争用期</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9809236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46"/>
          <p:cNvSpPr>
            <a:spLocks noChangeArrowheads="1"/>
          </p:cNvSpPr>
          <p:nvPr/>
        </p:nvSpPr>
        <p:spPr bwMode="auto">
          <a:xfrm>
            <a:off x="502921" y="1117000"/>
            <a:ext cx="8129015" cy="32085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发生碰撞的站在停止发送数据后，要推迟（退避）一个</a:t>
            </a:r>
            <a:r>
              <a:rPr lang="zh-CN" altLang="en-US" b="1" dirty="0">
                <a:solidFill>
                  <a:srgbClr val="0000FF"/>
                </a:solidFill>
                <a:latin typeface="微软雅黑" pitchFamily="34" charset="-122"/>
                <a:ea typeface="微软雅黑" pitchFamily="34" charset="-122"/>
              </a:rPr>
              <a:t>随机时间</a:t>
            </a:r>
            <a:r>
              <a:rPr lang="zh-CN" altLang="en-US" b="1" dirty="0">
                <a:latin typeface="微软雅黑" pitchFamily="34" charset="-122"/>
                <a:ea typeface="微软雅黑" pitchFamily="34" charset="-122"/>
              </a:rPr>
              <a:t>才能再发送数据。</a:t>
            </a:r>
          </a:p>
          <a:p>
            <a:pPr marL="715963" indent="-342900" eaLnBrk="0" hangingPunct="0">
              <a:lnSpc>
                <a:spcPts val="27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基本退避时间取为争用期 </a:t>
            </a:r>
            <a:r>
              <a:rPr lang="en-US" altLang="zh-CN" b="1" dirty="0">
                <a:solidFill>
                  <a:srgbClr val="0000FF"/>
                </a:solidFill>
                <a:latin typeface="微软雅黑" pitchFamily="34" charset="-122"/>
                <a:ea typeface="微软雅黑" pitchFamily="34" charset="-122"/>
              </a:rPr>
              <a:t>2</a:t>
            </a:r>
            <a:r>
              <a:rPr lang="en-US" altLang="zh-CN" b="1" i="1" dirty="0">
                <a:solidFill>
                  <a:srgbClr val="0000FF"/>
                </a:solidFill>
                <a:latin typeface="微软雅黑" pitchFamily="34" charset="-122"/>
                <a:ea typeface="微软雅黑" pitchFamily="34" charset="-122"/>
                <a:sym typeface="Symbol" pitchFamily="18" charset="2"/>
              </a:rPr>
              <a:t> </a:t>
            </a:r>
            <a:r>
              <a:rPr lang="zh-CN" altLang="en-US" b="1" dirty="0" smtClean="0">
                <a:solidFill>
                  <a:srgbClr val="0000FF"/>
                </a:solidFill>
                <a:latin typeface="微软雅黑" pitchFamily="34" charset="-122"/>
                <a:ea typeface="微软雅黑" pitchFamily="34" charset="-122"/>
              </a:rPr>
              <a:t>。</a:t>
            </a:r>
            <a:endParaRPr lang="zh-CN" altLang="en-US" b="1" dirty="0">
              <a:solidFill>
                <a:srgbClr val="0000FF"/>
              </a:solidFill>
              <a:latin typeface="微软雅黑" pitchFamily="34" charset="-122"/>
              <a:ea typeface="微软雅黑" pitchFamily="34" charset="-122"/>
            </a:endParaRPr>
          </a:p>
          <a:p>
            <a:pPr marL="715963" indent="-342900" eaLnBrk="0" hangingPunct="0">
              <a:lnSpc>
                <a:spcPts val="2700"/>
              </a:lnSpc>
              <a:buClr>
                <a:srgbClr val="7030A0"/>
              </a:buClr>
              <a:buFont typeface="+mj-lt"/>
              <a:buAutoNum type="arabicPeriod"/>
            </a:pPr>
            <a:r>
              <a:rPr lang="zh-CN" altLang="en-US" b="1" dirty="0">
                <a:latin typeface="微软雅黑" pitchFamily="34" charset="-122"/>
                <a:ea typeface="微软雅黑" pitchFamily="34" charset="-122"/>
              </a:rPr>
              <a:t>从整数集合 </a:t>
            </a:r>
            <a:r>
              <a:rPr lang="en-US" altLang="zh-CN" b="1" dirty="0">
                <a:latin typeface="微软雅黑" pitchFamily="34" charset="-122"/>
                <a:ea typeface="微软雅黑" pitchFamily="34" charset="-122"/>
              </a:rPr>
              <a:t>[0, 1, … , (</a:t>
            </a:r>
            <a:r>
              <a:rPr lang="en-US" altLang="zh-CN" b="1" dirty="0" smtClean="0">
                <a:latin typeface="微软雅黑" pitchFamily="34" charset="-122"/>
                <a:ea typeface="微软雅黑" pitchFamily="34" charset="-122"/>
              </a:rPr>
              <a:t>2</a:t>
            </a:r>
            <a:r>
              <a:rPr lang="en-US" altLang="zh-CN" b="1" i="1" baseline="30000" dirty="0" smtClean="0">
                <a:latin typeface="微软雅黑" pitchFamily="34" charset="-122"/>
                <a:ea typeface="微软雅黑" pitchFamily="34" charset="-122"/>
              </a:rPr>
              <a:t>k </a:t>
            </a:r>
            <a:r>
              <a:rPr lang="en-US" altLang="zh-CN" b="1" dirty="0" smtClean="0">
                <a:latin typeface="微软雅黑" pitchFamily="34" charset="-122"/>
                <a:ea typeface="微软雅黑" pitchFamily="34" charset="-122"/>
              </a:rPr>
              <a:t>- 1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中</a:t>
            </a:r>
            <a:r>
              <a:rPr lang="zh-CN" altLang="en-US" b="1" dirty="0">
                <a:solidFill>
                  <a:srgbClr val="0000FF"/>
                </a:solidFill>
                <a:latin typeface="微软雅黑" pitchFamily="34" charset="-122"/>
                <a:ea typeface="微软雅黑" pitchFamily="34" charset="-122"/>
              </a:rPr>
              <a:t>随机</a:t>
            </a:r>
            <a:r>
              <a:rPr lang="zh-CN" altLang="en-US" b="1" dirty="0">
                <a:latin typeface="微软雅黑" pitchFamily="34" charset="-122"/>
                <a:ea typeface="微软雅黑" pitchFamily="34" charset="-122"/>
              </a:rPr>
              <a:t>地取出一个数，记为</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r</a:t>
            </a:r>
            <a:r>
              <a:rPr lang="zh-CN" altLang="en-US" b="1" dirty="0">
                <a:latin typeface="微软雅黑" pitchFamily="34" charset="-122"/>
                <a:ea typeface="微软雅黑" pitchFamily="34" charset="-122"/>
              </a:rPr>
              <a:t>。重传所需的时延就是 </a:t>
            </a:r>
            <a:r>
              <a:rPr lang="en-US" altLang="zh-CN" b="1" dirty="0">
                <a:latin typeface="微软雅黑" pitchFamily="34" charset="-122"/>
                <a:ea typeface="微软雅黑" pitchFamily="34" charset="-122"/>
              </a:rPr>
              <a:t>r </a:t>
            </a:r>
            <a:r>
              <a:rPr lang="zh-CN" altLang="en-US" b="1" dirty="0">
                <a:latin typeface="微软雅黑" pitchFamily="34" charset="-122"/>
                <a:ea typeface="微软雅黑" pitchFamily="34" charset="-122"/>
              </a:rPr>
              <a:t>倍的基本退避时间。</a:t>
            </a:r>
          </a:p>
          <a:p>
            <a:pPr marL="715963" indent="-342900" eaLnBrk="0" hangingPunct="0">
              <a:lnSpc>
                <a:spcPts val="2700"/>
              </a:lnSpc>
              <a:buClr>
                <a:srgbClr val="7030A0"/>
              </a:buClr>
              <a:buFont typeface="+mj-lt"/>
              <a:buAutoNum type="arabicPeriod"/>
            </a:pPr>
            <a:r>
              <a:rPr lang="zh-CN" altLang="en-US" b="1" dirty="0">
                <a:latin typeface="微软雅黑" pitchFamily="34" charset="-122"/>
                <a:ea typeface="微软雅黑" pitchFamily="34" charset="-122"/>
              </a:rPr>
              <a:t>参数 </a:t>
            </a:r>
            <a:r>
              <a:rPr lang="en-US" altLang="zh-CN" b="1" i="1" dirty="0">
                <a:latin typeface="微软雅黑" pitchFamily="34" charset="-122"/>
                <a:ea typeface="微软雅黑" pitchFamily="34" charset="-122"/>
              </a:rPr>
              <a:t>k</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按下面的公式计算：</a:t>
            </a:r>
          </a:p>
          <a:p>
            <a:pPr marL="715963" indent="-342900" algn="ctr" eaLnBrk="0" hangingPunct="0">
              <a:lnSpc>
                <a:spcPts val="2700"/>
              </a:lnSpc>
              <a:buClr>
                <a:srgbClr val="7030A0"/>
              </a:buClr>
            </a:pPr>
            <a:r>
              <a:rPr lang="en-US" altLang="zh-CN" b="1" i="1" dirty="0" smtClean="0">
                <a:solidFill>
                  <a:srgbClr val="0000FF"/>
                </a:solidFill>
                <a:latin typeface="微软雅黑" pitchFamily="34" charset="-122"/>
                <a:ea typeface="微软雅黑" pitchFamily="34" charset="-122"/>
              </a:rPr>
              <a:t>k </a:t>
            </a:r>
            <a:r>
              <a:rPr lang="en-US" altLang="zh-CN" b="1" dirty="0">
                <a:solidFill>
                  <a:srgbClr val="0000FF"/>
                </a:solidFill>
                <a:latin typeface="微软雅黑" pitchFamily="34" charset="-122"/>
                <a:ea typeface="微软雅黑" pitchFamily="34" charset="-122"/>
              </a:rPr>
              <a:t>= Min[</a:t>
            </a:r>
            <a:r>
              <a:rPr lang="zh-CN" altLang="en-US" b="1" dirty="0">
                <a:solidFill>
                  <a:srgbClr val="0000FF"/>
                </a:solidFill>
                <a:latin typeface="微软雅黑" pitchFamily="34" charset="-122"/>
                <a:ea typeface="微软雅黑" pitchFamily="34" charset="-122"/>
              </a:rPr>
              <a:t>重传次数</a:t>
            </a:r>
            <a:r>
              <a:rPr lang="en-US" altLang="zh-CN" b="1" dirty="0">
                <a:solidFill>
                  <a:srgbClr val="0000FF"/>
                </a:solidFill>
                <a:latin typeface="微软雅黑" pitchFamily="34" charset="-122"/>
                <a:ea typeface="微软雅黑" pitchFamily="34" charset="-122"/>
              </a:rPr>
              <a:t>, 10]</a:t>
            </a:r>
          </a:p>
          <a:p>
            <a:pPr marL="715963" indent="-342900" eaLnBrk="0" hangingPunct="0">
              <a:lnSpc>
                <a:spcPts val="2700"/>
              </a:lnSpc>
              <a:buClr>
                <a:srgbClr val="7030A0"/>
              </a:buClr>
              <a:buFont typeface="+mj-lt"/>
              <a:buAutoNum type="arabicPeriod" startAt="4"/>
            </a:pPr>
            <a:r>
              <a:rPr lang="zh-CN" altLang="en-US" b="1" dirty="0">
                <a:latin typeface="微软雅黑" pitchFamily="34" charset="-122"/>
                <a:ea typeface="微软雅黑" pitchFamily="34" charset="-122"/>
              </a:rPr>
              <a:t>当 </a:t>
            </a:r>
            <a:r>
              <a:rPr lang="en-US" altLang="zh-CN" b="1" i="1" dirty="0">
                <a:latin typeface="微软雅黑" pitchFamily="34" charset="-122"/>
                <a:ea typeface="微软雅黑" pitchFamily="34" charset="-122"/>
              </a:rPr>
              <a:t>k</a:t>
            </a:r>
            <a:r>
              <a:rPr lang="en-US" altLang="zh-CN" b="1" dirty="0">
                <a:latin typeface="微软雅黑" pitchFamily="34" charset="-122"/>
                <a:ea typeface="微软雅黑" pitchFamily="34" charset="-122"/>
              </a:rPr>
              <a:t> ≤10 </a:t>
            </a:r>
            <a:r>
              <a:rPr lang="zh-CN" altLang="en-US" b="1" dirty="0">
                <a:latin typeface="微软雅黑" pitchFamily="34" charset="-122"/>
                <a:ea typeface="微软雅黑" pitchFamily="34" charset="-122"/>
              </a:rPr>
              <a:t>时，参数 </a:t>
            </a:r>
            <a:r>
              <a:rPr lang="en-US" altLang="zh-CN" b="1" i="1" dirty="0">
                <a:latin typeface="微软雅黑" pitchFamily="34" charset="-122"/>
                <a:ea typeface="微软雅黑" pitchFamily="34" charset="-122"/>
              </a:rPr>
              <a:t>k </a:t>
            </a:r>
            <a:r>
              <a:rPr lang="zh-CN" altLang="en-US" b="1" dirty="0">
                <a:latin typeface="微软雅黑" pitchFamily="34" charset="-122"/>
                <a:ea typeface="微软雅黑" pitchFamily="34" charset="-122"/>
              </a:rPr>
              <a:t>等于重传次数。</a:t>
            </a:r>
          </a:p>
          <a:p>
            <a:pPr marL="715963" indent="-342900" eaLnBrk="0" hangingPunct="0">
              <a:lnSpc>
                <a:spcPts val="2700"/>
              </a:lnSpc>
              <a:buClr>
                <a:srgbClr val="7030A0"/>
              </a:buClr>
              <a:buFont typeface="+mj-lt"/>
              <a:buAutoNum type="arabicPeriod" startAt="4"/>
            </a:pPr>
            <a:r>
              <a:rPr lang="zh-CN" altLang="en-US" b="1" dirty="0">
                <a:latin typeface="微软雅黑" pitchFamily="34" charset="-122"/>
                <a:ea typeface="微软雅黑" pitchFamily="34" charset="-122"/>
              </a:rPr>
              <a:t>当重传达 </a:t>
            </a:r>
            <a:r>
              <a:rPr lang="en-US" altLang="zh-CN" b="1" dirty="0">
                <a:latin typeface="微软雅黑" pitchFamily="34" charset="-122"/>
                <a:ea typeface="微软雅黑" pitchFamily="34" charset="-122"/>
              </a:rPr>
              <a:t>16 </a:t>
            </a:r>
            <a:r>
              <a:rPr lang="zh-CN" altLang="en-US" b="1" dirty="0">
                <a:latin typeface="微软雅黑" pitchFamily="34" charset="-122"/>
                <a:ea typeface="微软雅黑" pitchFamily="34" charset="-122"/>
              </a:rPr>
              <a:t>次仍不能成功时即丢弃该帧，并向高层报告。 </a:t>
            </a:r>
          </a:p>
        </p:txBody>
      </p:sp>
      <p:sp>
        <p:nvSpPr>
          <p:cNvPr id="58" name="AutoShape 5"/>
          <p:cNvSpPr>
            <a:spLocks noChangeArrowheads="1"/>
          </p:cNvSpPr>
          <p:nvPr/>
        </p:nvSpPr>
        <p:spPr bwMode="auto">
          <a:xfrm>
            <a:off x="502921" y="72143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Rectangle 6"/>
          <p:cNvSpPr>
            <a:spLocks noChangeArrowheads="1"/>
          </p:cNvSpPr>
          <p:nvPr/>
        </p:nvSpPr>
        <p:spPr bwMode="auto">
          <a:xfrm>
            <a:off x="764598" y="698342"/>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二进制指数类型退避</a:t>
            </a:r>
            <a:r>
              <a:rPr lang="zh-CN" altLang="en-US" sz="2000" b="1" dirty="0" smtClean="0">
                <a:solidFill>
                  <a:schemeClr val="bg1"/>
                </a:solidFill>
                <a:latin typeface="微软雅黑" pitchFamily="34" charset="-122"/>
                <a:ea typeface="微软雅黑" pitchFamily="34" charset="-122"/>
              </a:rPr>
              <a:t>算法 </a:t>
            </a:r>
            <a:r>
              <a:rPr lang="en-US" altLang="zh-CN" sz="2000" b="1" dirty="0" smtClean="0">
                <a:solidFill>
                  <a:schemeClr val="bg1"/>
                </a:solidFill>
                <a:latin typeface="微软雅黑" pitchFamily="34" charset="-122"/>
                <a:ea typeface="微软雅黑" pitchFamily="34" charset="-122"/>
              </a:rPr>
              <a:t>(</a:t>
            </a:r>
            <a:r>
              <a:rPr lang="en-US" altLang="zh-CN" sz="2000" b="1" dirty="0">
                <a:solidFill>
                  <a:schemeClr val="bg1"/>
                </a:solidFill>
                <a:latin typeface="微软雅黑" pitchFamily="34" charset="-122"/>
                <a:ea typeface="微软雅黑" pitchFamily="34" charset="-122"/>
              </a:rPr>
              <a:t>truncated binary exponential type)</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699340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1401577"/>
            <a:ext cx="830275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以太网取 </a:t>
            </a:r>
            <a:r>
              <a:rPr lang="en-US" altLang="zh-CN" sz="2000" b="1" dirty="0" smtClean="0">
                <a:latin typeface="微软雅黑" pitchFamily="34" charset="-122"/>
                <a:ea typeface="微软雅黑" pitchFamily="34" charset="-122"/>
              </a:rPr>
              <a:t>51.2</a:t>
            </a:r>
            <a:r>
              <a:rPr lang="en-US" altLang="zh-CN" sz="2000" b="1" dirty="0">
                <a:latin typeface="微软雅黑" pitchFamily="34" charset="-122"/>
                <a:ea typeface="微软雅黑" pitchFamily="34" charset="-122"/>
                <a:sym typeface="Symbol" pitchFamily="18" charset="2"/>
              </a:rPr>
              <a:t> </a:t>
            </a:r>
            <a:r>
              <a:rPr lang="en-US" altLang="zh-CN" sz="2000" b="1" dirty="0" smtClean="0">
                <a:latin typeface="微软雅黑" pitchFamily="34" charset="-122"/>
                <a:ea typeface="微软雅黑" pitchFamily="34" charset="-122"/>
                <a:sym typeface="Symbol" pitchFamily="18" charset="2"/>
              </a:rPr>
              <a:t></a:t>
            </a:r>
            <a:r>
              <a:rPr lang="en-US" altLang="zh-CN" sz="2000" b="1" dirty="0" smtClean="0">
                <a:latin typeface="微软雅黑" pitchFamily="34" charset="-122"/>
                <a:ea typeface="微软雅黑" pitchFamily="34" charset="-122"/>
              </a:rPr>
              <a:t>s </a:t>
            </a:r>
            <a:r>
              <a:rPr lang="zh-CN" altLang="en-US" sz="2000" b="1" dirty="0">
                <a:latin typeface="微软雅黑" pitchFamily="34" charset="-122"/>
                <a:ea typeface="微软雅黑" pitchFamily="34" charset="-122"/>
              </a:rPr>
              <a:t>为争用期的长度。</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对于 </a:t>
            </a: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
        <p:nvSpPr>
          <p:cNvPr id="9" name="AutoShape 5"/>
          <p:cNvSpPr>
            <a:spLocks noChangeArrowheads="1"/>
          </p:cNvSpPr>
          <p:nvPr/>
        </p:nvSpPr>
        <p:spPr bwMode="auto">
          <a:xfrm>
            <a:off x="502921" y="10060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652125" y="982919"/>
            <a:ext cx="38298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10 Mbit/s </a:t>
            </a:r>
            <a:r>
              <a:rPr lang="zh-CN" altLang="en-US" sz="2000" b="1" dirty="0" smtClean="0">
                <a:solidFill>
                  <a:schemeClr val="bg1"/>
                </a:solidFill>
                <a:latin typeface="微软雅黑" pitchFamily="34" charset="-122"/>
                <a:ea typeface="微软雅黑" pitchFamily="34" charset="-122"/>
              </a:rPr>
              <a:t>以太网争用</a:t>
            </a:r>
            <a:r>
              <a:rPr lang="zh-CN" altLang="en-US" sz="2000" b="1" dirty="0">
                <a:solidFill>
                  <a:schemeClr val="bg1"/>
                </a:solidFill>
                <a:latin typeface="微软雅黑" pitchFamily="34" charset="-122"/>
                <a:ea typeface="微软雅黑" pitchFamily="34" charset="-122"/>
              </a:rPr>
              <a:t>期的</a:t>
            </a:r>
            <a:r>
              <a:rPr lang="zh-CN" altLang="en-US" sz="2000" b="1" dirty="0" smtClean="0">
                <a:solidFill>
                  <a:schemeClr val="bg1"/>
                </a:solidFill>
                <a:latin typeface="微软雅黑" pitchFamily="34" charset="-122"/>
                <a:ea typeface="微软雅黑" pitchFamily="34" charset="-122"/>
              </a:rPr>
              <a:t>长度</a:t>
            </a:r>
            <a:endParaRPr lang="fr-FR" altLang="zh-CN" sz="2000" b="1" dirty="0">
              <a:solidFill>
                <a:schemeClr val="bg1"/>
              </a:solidFill>
              <a:latin typeface="微软雅黑" pitchFamily="34" charset="-122"/>
              <a:ea typeface="微软雅黑" pitchFamily="34" charset="-122"/>
            </a:endParaRPr>
          </a:p>
        </p:txBody>
      </p:sp>
      <p:sp>
        <p:nvSpPr>
          <p:cNvPr id="11" name="对角圆角矩形 10"/>
          <p:cNvSpPr/>
          <p:nvPr/>
        </p:nvSpPr>
        <p:spPr>
          <a:xfrm>
            <a:off x="502921" y="2487168"/>
            <a:ext cx="8129015" cy="145389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60060" y="2604767"/>
            <a:ext cx="6864823" cy="1246495"/>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这意味着：</a:t>
            </a:r>
          </a:p>
          <a:p>
            <a:pPr>
              <a:lnSpc>
                <a:spcPts val="3000"/>
              </a:lnSpc>
            </a:pPr>
            <a:r>
              <a:rPr lang="zh-CN" altLang="en-US" sz="2000" b="1" dirty="0">
                <a:solidFill>
                  <a:schemeClr val="bg1"/>
                </a:solidFill>
                <a:latin typeface="微软雅黑" pitchFamily="34" charset="-122"/>
                <a:ea typeface="微软雅黑" pitchFamily="34" charset="-122"/>
              </a:rPr>
              <a:t>以太网在发送数据时，若前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字节没有发生冲突，则后续的数据就不会发生冲突。</a:t>
            </a:r>
          </a:p>
        </p:txBody>
      </p:sp>
    </p:spTree>
    <p:extLst>
      <p:ext uri="{BB962C8B-B14F-4D97-AF65-F5344CB8AC3E}">
        <p14:creationId xmlns:p14="http://schemas.microsoft.com/office/powerpoint/2010/main" val="5622565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1593601"/>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如果发生冲突，就一定是在发送的前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字节之内。 </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由于一检测到冲突就立即中止发送，这时已经发送出去的数据一定小于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 </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以太网规定了最短有效帧长为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字节，凡长度小于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字节的帧都是由于冲突而异常中止的</a:t>
            </a:r>
            <a:r>
              <a:rPr lang="zh-CN" altLang="en-US" sz="2000" b="1" dirty="0">
                <a:solidFill>
                  <a:srgbClr val="0000FF"/>
                </a:solidFill>
                <a:latin typeface="微软雅黑" pitchFamily="34" charset="-122"/>
                <a:ea typeface="微软雅黑" pitchFamily="34" charset="-122"/>
              </a:rPr>
              <a:t>无效帧</a:t>
            </a:r>
            <a:r>
              <a:rPr lang="zh-CN" altLang="en-US" sz="2000" b="1" dirty="0">
                <a:latin typeface="微软雅黑" pitchFamily="34" charset="-122"/>
                <a:ea typeface="微软雅黑" pitchFamily="34" charset="-122"/>
              </a:rPr>
              <a:t>。</a:t>
            </a:r>
          </a:p>
        </p:txBody>
      </p:sp>
      <p:sp>
        <p:nvSpPr>
          <p:cNvPr id="9" name="AutoShape 5"/>
          <p:cNvSpPr>
            <a:spLocks noChangeArrowheads="1"/>
          </p:cNvSpPr>
          <p:nvPr/>
        </p:nvSpPr>
        <p:spPr bwMode="auto">
          <a:xfrm>
            <a:off x="502921" y="11980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705298" y="1174943"/>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最短有效帧</a:t>
            </a:r>
            <a:r>
              <a:rPr lang="zh-CN" altLang="en-US" sz="2000" b="1" dirty="0" smtClean="0">
                <a:solidFill>
                  <a:schemeClr val="bg1"/>
                </a:solidFill>
                <a:latin typeface="微软雅黑" pitchFamily="34" charset="-122"/>
                <a:ea typeface="微软雅黑" pitchFamily="34" charset="-122"/>
              </a:rPr>
              <a:t>长</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4369035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46"/>
          <p:cNvSpPr>
            <a:spLocks noChangeArrowheads="1"/>
          </p:cNvSpPr>
          <p:nvPr/>
        </p:nvSpPr>
        <p:spPr bwMode="auto">
          <a:xfrm>
            <a:off x="502922" y="1593601"/>
            <a:ext cx="7694021"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在 </a:t>
            </a:r>
            <a:r>
              <a:rPr lang="en-US" altLang="zh-CN" sz="2000" b="1" dirty="0" smtClean="0">
                <a:latin typeface="微软雅黑" pitchFamily="34" charset="-122"/>
                <a:ea typeface="微软雅黑" pitchFamily="34" charset="-122"/>
              </a:rPr>
              <a:t>10 </a:t>
            </a:r>
            <a:r>
              <a:rPr lang="en-US" altLang="zh-CN" sz="2000" b="1" dirty="0">
                <a:latin typeface="微软雅黑" pitchFamily="34" charset="-122"/>
                <a:ea typeface="微软雅黑" pitchFamily="34" charset="-122"/>
              </a:rPr>
              <a:t>Mbit/s </a:t>
            </a:r>
            <a:r>
              <a:rPr lang="zh-CN" altLang="en-US" sz="2000" b="1" dirty="0" smtClean="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51.2 </a:t>
            </a:r>
            <a:r>
              <a:rPr lang="en-US" altLang="zh-CN" sz="2000" b="1" dirty="0" err="1">
                <a:latin typeface="微软雅黑" pitchFamily="34" charset="-122"/>
                <a:ea typeface="微软雅黑" pitchFamily="34" charset="-122"/>
              </a:rPr>
              <a:t>μs</a:t>
            </a:r>
            <a:r>
              <a:rPr lang="en-US" altLang="zh-CN" sz="2000" b="1" dirty="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的</a:t>
            </a:r>
            <a:r>
              <a:rPr lang="zh-CN" altLang="en-US" sz="2000" b="1" dirty="0">
                <a:latin typeface="微软雅黑" pitchFamily="34" charset="-122"/>
                <a:ea typeface="微软雅黑" pitchFamily="34" charset="-122"/>
              </a:rPr>
              <a:t>争用期内，信号能传输多远的距离</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以太网</a:t>
            </a:r>
            <a:r>
              <a:rPr lang="zh-CN" altLang="en-US" sz="2000" b="1" dirty="0">
                <a:latin typeface="微软雅黑" pitchFamily="34" charset="-122"/>
                <a:ea typeface="微软雅黑" pitchFamily="34" charset="-122"/>
              </a:rPr>
              <a:t>上最大的端到</a:t>
            </a:r>
            <a:r>
              <a:rPr lang="zh-CN" altLang="en-US" sz="2000" b="1" dirty="0" smtClean="0">
                <a:latin typeface="微软雅黑" pitchFamily="34" charset="-122"/>
                <a:ea typeface="微软雅黑" pitchFamily="34" charset="-122"/>
              </a:rPr>
              <a:t>端单程时延</a:t>
            </a:r>
            <a:r>
              <a:rPr lang="zh-CN" altLang="en-US" sz="2000" b="1" dirty="0">
                <a:latin typeface="微软雅黑" pitchFamily="34" charset="-122"/>
                <a:ea typeface="微软雅黑" pitchFamily="34" charset="-122"/>
              </a:rPr>
              <a:t>必须小于争用期的</a:t>
            </a:r>
            <a:r>
              <a:rPr lang="zh-CN" altLang="en-US" sz="2000" b="1" dirty="0" smtClean="0">
                <a:latin typeface="微软雅黑" pitchFamily="34" charset="-122"/>
                <a:ea typeface="微软雅黑" pitchFamily="34" charset="-122"/>
              </a:rPr>
              <a:t>一半（即 </a:t>
            </a:r>
            <a:r>
              <a:rPr lang="en-US" altLang="zh-CN" sz="2000" b="1" dirty="0" smtClean="0">
                <a:latin typeface="微软雅黑" pitchFamily="34" charset="-122"/>
                <a:ea typeface="微软雅黑" pitchFamily="34" charset="-122"/>
              </a:rPr>
              <a:t>25.6 </a:t>
            </a:r>
            <a:r>
              <a:rPr lang="en-US" altLang="zh-CN" sz="2000" b="1" dirty="0" err="1" smtClean="0">
                <a:latin typeface="微软雅黑" pitchFamily="34" charset="-122"/>
                <a:ea typeface="微软雅黑" pitchFamily="34" charset="-122"/>
              </a:rPr>
              <a:t>μs</a:t>
            </a:r>
            <a:r>
              <a:rPr lang="zh-CN" altLang="en-US" sz="2000" b="1" dirty="0">
                <a:latin typeface="微软雅黑" pitchFamily="34" charset="-122"/>
                <a:ea typeface="微软雅黑" pitchFamily="34" charset="-122"/>
              </a:rPr>
              <a:t>），这相当于以太网的最大端到端长度约</a:t>
            </a:r>
            <a:r>
              <a:rPr lang="zh-CN" altLang="en-US" sz="2000" b="1" dirty="0" smtClean="0">
                <a:latin typeface="微软雅黑" pitchFamily="34" charset="-122"/>
                <a:ea typeface="微软雅黑" pitchFamily="34" charset="-122"/>
              </a:rPr>
              <a:t>为 </a:t>
            </a:r>
            <a:r>
              <a:rPr lang="en-US" altLang="zh-CN" sz="2000" b="1" dirty="0" smtClean="0">
                <a:latin typeface="微软雅黑" pitchFamily="34" charset="-122"/>
                <a:ea typeface="微软雅黑" pitchFamily="34" charset="-122"/>
              </a:rPr>
              <a:t>5 </a:t>
            </a:r>
            <a:r>
              <a:rPr lang="en-US" altLang="zh-CN" sz="2000" b="1" dirty="0">
                <a:latin typeface="微软雅黑" pitchFamily="34" charset="-122"/>
                <a:ea typeface="微软雅黑" pitchFamily="34" charset="-122"/>
              </a:rPr>
              <a:t>km</a:t>
            </a:r>
            <a:r>
              <a:rPr lang="zh-CN" altLang="en-US" sz="2000" b="1" dirty="0">
                <a:latin typeface="微软雅黑" pitchFamily="34" charset="-122"/>
                <a:ea typeface="微软雅黑" pitchFamily="34" charset="-122"/>
              </a:rPr>
              <a:t>。</a:t>
            </a:r>
          </a:p>
        </p:txBody>
      </p:sp>
      <p:sp>
        <p:nvSpPr>
          <p:cNvPr id="80" name="AutoShape 5"/>
          <p:cNvSpPr>
            <a:spLocks noChangeArrowheads="1"/>
          </p:cNvSpPr>
          <p:nvPr/>
        </p:nvSpPr>
        <p:spPr bwMode="auto">
          <a:xfrm>
            <a:off x="502921" y="11980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Rectangle 6"/>
          <p:cNvSpPr>
            <a:spLocks noChangeArrowheads="1"/>
          </p:cNvSpPr>
          <p:nvPr/>
        </p:nvSpPr>
        <p:spPr bwMode="auto">
          <a:xfrm>
            <a:off x="3961778" y="1174943"/>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覆盖范围</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4580716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6445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705297" y="641362"/>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人为干扰信号</a:t>
            </a:r>
            <a:endParaRPr lang="fr-FR" altLang="zh-CN" sz="2000" b="1" dirty="0">
              <a:solidFill>
                <a:schemeClr val="bg1"/>
              </a:solidFill>
              <a:latin typeface="微软雅黑" pitchFamily="34" charset="-122"/>
              <a:ea typeface="微软雅黑" pitchFamily="34" charset="-122"/>
            </a:endParaRPr>
          </a:p>
        </p:txBody>
      </p:sp>
      <p:sp>
        <p:nvSpPr>
          <p:cNvPr id="10" name="圆角矩形 9"/>
          <p:cNvSpPr/>
          <p:nvPr/>
        </p:nvSpPr>
        <p:spPr>
          <a:xfrm>
            <a:off x="502922" y="1106424"/>
            <a:ext cx="8129014" cy="22951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11" name="组合 10"/>
          <p:cNvGrpSpPr/>
          <p:nvPr/>
        </p:nvGrpSpPr>
        <p:grpSpPr>
          <a:xfrm>
            <a:off x="502922" y="3486828"/>
            <a:ext cx="8129014" cy="865716"/>
            <a:chOff x="502922" y="3477684"/>
            <a:chExt cx="8129014" cy="865716"/>
          </a:xfrm>
        </p:grpSpPr>
        <p:sp>
          <p:nvSpPr>
            <p:cNvPr id="12" name="对角圆角矩形 11"/>
            <p:cNvSpPr/>
            <p:nvPr/>
          </p:nvSpPr>
          <p:spPr>
            <a:xfrm>
              <a:off x="502922" y="3477684"/>
              <a:ext cx="8129014" cy="86571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96036" y="3522651"/>
              <a:ext cx="7935900" cy="733534"/>
            </a:xfrm>
            <a:prstGeom prst="rect">
              <a:avLst/>
            </a:prstGeom>
          </p:spPr>
          <p:txBody>
            <a:bodyPr wrap="square">
              <a:spAutoFit/>
            </a:bodyPr>
            <a:lstStyle/>
            <a:p>
              <a:pPr>
                <a:lnSpc>
                  <a:spcPts val="2200"/>
                </a:lnSpc>
                <a:spcBef>
                  <a:spcPts val="600"/>
                </a:spcBef>
              </a:pPr>
              <a:r>
                <a:rPr lang="zh-CN" altLang="en-US" b="1" dirty="0" smtClean="0">
                  <a:solidFill>
                    <a:schemeClr val="bg1"/>
                  </a:solidFill>
                  <a:latin typeface="微软雅黑" pitchFamily="34" charset="-122"/>
                  <a:ea typeface="微软雅黑" pitchFamily="34" charset="-122"/>
                </a:rPr>
                <a:t>注意：</a:t>
              </a:r>
              <a:r>
                <a:rPr lang="en-US" altLang="zh-CN" b="1" dirty="0" smtClean="0">
                  <a:solidFill>
                    <a:schemeClr val="bg1"/>
                  </a:solidFill>
                  <a:latin typeface="微软雅黑" pitchFamily="34" charset="-122"/>
                  <a:ea typeface="微软雅黑" pitchFamily="34" charset="-122"/>
                </a:rPr>
                <a:t>B </a:t>
              </a:r>
              <a:r>
                <a:rPr lang="zh-CN" altLang="en-US" b="1" dirty="0">
                  <a:solidFill>
                    <a:schemeClr val="bg1"/>
                  </a:solidFill>
                  <a:latin typeface="微软雅黑" pitchFamily="34" charset="-122"/>
                  <a:ea typeface="微软雅黑" pitchFamily="34" charset="-122"/>
                </a:rPr>
                <a:t>也能够检测到冲突，并立即停止发送数据帧，接着就发送干扰信号</a:t>
              </a:r>
              <a:r>
                <a:rPr lang="zh-CN" altLang="en-US" b="1" dirty="0" smtClean="0">
                  <a:solidFill>
                    <a:schemeClr val="bg1"/>
                  </a:solidFill>
                  <a:latin typeface="微软雅黑" pitchFamily="34" charset="-122"/>
                  <a:ea typeface="微软雅黑" pitchFamily="34" charset="-122"/>
                </a:rPr>
                <a:t>。</a:t>
              </a:r>
              <a:endParaRPr lang="en-US" altLang="zh-CN" b="1" dirty="0" smtClean="0">
                <a:solidFill>
                  <a:schemeClr val="bg1"/>
                </a:solidFill>
                <a:latin typeface="微软雅黑" pitchFamily="34" charset="-122"/>
                <a:ea typeface="微软雅黑" pitchFamily="34" charset="-122"/>
              </a:endParaRPr>
            </a:p>
            <a:p>
              <a:pPr>
                <a:lnSpc>
                  <a:spcPts val="2200"/>
                </a:lnSpc>
                <a:spcBef>
                  <a:spcPts val="600"/>
                </a:spcBef>
              </a:pPr>
              <a:r>
                <a:rPr lang="zh-CN" altLang="en-US" b="1" dirty="0" smtClean="0">
                  <a:solidFill>
                    <a:schemeClr val="bg1"/>
                  </a:solidFill>
                  <a:latin typeface="微软雅黑" pitchFamily="34" charset="-122"/>
                  <a:ea typeface="微软雅黑" pitchFamily="34" charset="-122"/>
                </a:rPr>
                <a:t>这里</a:t>
              </a:r>
              <a:r>
                <a:rPr lang="zh-CN" altLang="en-US" b="1" dirty="0">
                  <a:solidFill>
                    <a:schemeClr val="bg1"/>
                  </a:solidFill>
                  <a:latin typeface="微软雅黑" pitchFamily="34" charset="-122"/>
                  <a:ea typeface="微软雅黑" pitchFamily="34" charset="-122"/>
                </a:rPr>
                <a:t>为了简单起见，只画出 </a:t>
              </a:r>
              <a:r>
                <a:rPr lang="en-US" altLang="zh-CN" b="1" dirty="0">
                  <a:solidFill>
                    <a:schemeClr val="bg1"/>
                  </a:solidFill>
                  <a:latin typeface="微软雅黑" pitchFamily="34" charset="-122"/>
                  <a:ea typeface="微软雅黑" pitchFamily="34" charset="-122"/>
                </a:rPr>
                <a:t>A </a:t>
              </a:r>
              <a:r>
                <a:rPr lang="zh-CN" altLang="en-US" b="1" dirty="0">
                  <a:solidFill>
                    <a:schemeClr val="bg1"/>
                  </a:solidFill>
                  <a:latin typeface="微软雅黑" pitchFamily="34" charset="-122"/>
                  <a:ea typeface="微软雅黑" pitchFamily="34" charset="-122"/>
                </a:rPr>
                <a:t>发送干扰信号的情况。</a:t>
              </a:r>
            </a:p>
          </p:txBody>
        </p:sp>
      </p:grpSp>
      <p:grpSp>
        <p:nvGrpSpPr>
          <p:cNvPr id="14" name="Group 5"/>
          <p:cNvGrpSpPr>
            <a:grpSpLocks/>
          </p:cNvGrpSpPr>
          <p:nvPr/>
        </p:nvGrpSpPr>
        <p:grpSpPr bwMode="auto">
          <a:xfrm>
            <a:off x="2894807" y="1560158"/>
            <a:ext cx="3300674" cy="1317548"/>
            <a:chOff x="992" y="1619"/>
            <a:chExt cx="3804" cy="1645"/>
          </a:xfrm>
        </p:grpSpPr>
        <p:sp>
          <p:nvSpPr>
            <p:cNvPr id="15" name="AutoShape 6"/>
            <p:cNvSpPr>
              <a:spLocks noChangeArrowheads="1"/>
            </p:cNvSpPr>
            <p:nvPr/>
          </p:nvSpPr>
          <p:spPr bwMode="auto">
            <a:xfrm rot="5400000">
              <a:off x="2071" y="540"/>
              <a:ext cx="1645" cy="3804"/>
            </a:xfrm>
            <a:prstGeom prst="parallelogram">
              <a:avLst>
                <a:gd name="adj" fmla="val 37968"/>
              </a:avLst>
            </a:prstGeom>
            <a:solidFill>
              <a:srgbClr val="00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16" name="AutoShape 7"/>
            <p:cNvSpPr>
              <a:spLocks noChangeArrowheads="1"/>
            </p:cNvSpPr>
            <p:nvPr/>
          </p:nvSpPr>
          <p:spPr bwMode="auto">
            <a:xfrm rot="601221">
              <a:off x="2212" y="2087"/>
              <a:ext cx="1066" cy="424"/>
            </a:xfrm>
            <a:prstGeom prst="rightArrow">
              <a:avLst>
                <a:gd name="adj1" fmla="val 49370"/>
                <a:gd name="adj2" fmla="val 80790"/>
              </a:avLst>
            </a:prstGeom>
            <a:solidFill>
              <a:srgbClr val="00FFFF"/>
            </a:solidFill>
            <a:ln w="12700">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zh-CN" altLang="en-US" sz="1050" b="1" dirty="0">
                  <a:solidFill>
                    <a:srgbClr val="0000CC"/>
                  </a:solidFill>
                  <a:latin typeface="微软雅黑" pitchFamily="34" charset="-122"/>
                  <a:ea typeface="微软雅黑" pitchFamily="34" charset="-122"/>
                </a:rPr>
                <a:t>数据帧</a:t>
              </a:r>
            </a:p>
          </p:txBody>
        </p:sp>
      </p:grpSp>
      <p:grpSp>
        <p:nvGrpSpPr>
          <p:cNvPr id="17" name="Group 8"/>
          <p:cNvGrpSpPr>
            <a:grpSpLocks/>
          </p:cNvGrpSpPr>
          <p:nvPr/>
        </p:nvGrpSpPr>
        <p:grpSpPr bwMode="auto">
          <a:xfrm>
            <a:off x="2500010" y="2357094"/>
            <a:ext cx="3695471" cy="873026"/>
            <a:chOff x="537" y="2606"/>
            <a:chExt cx="4259" cy="1090"/>
          </a:xfrm>
        </p:grpSpPr>
        <p:grpSp>
          <p:nvGrpSpPr>
            <p:cNvPr id="18" name="Group 9"/>
            <p:cNvGrpSpPr>
              <a:grpSpLocks/>
            </p:cNvGrpSpPr>
            <p:nvPr/>
          </p:nvGrpSpPr>
          <p:grpSpPr bwMode="auto">
            <a:xfrm>
              <a:off x="992" y="2627"/>
              <a:ext cx="3804" cy="1061"/>
              <a:chOff x="992" y="2627"/>
              <a:chExt cx="3804" cy="1061"/>
            </a:xfrm>
          </p:grpSpPr>
          <p:grpSp>
            <p:nvGrpSpPr>
              <p:cNvPr id="26" name="Group 10"/>
              <p:cNvGrpSpPr>
                <a:grpSpLocks/>
              </p:cNvGrpSpPr>
              <p:nvPr/>
            </p:nvGrpSpPr>
            <p:grpSpPr bwMode="auto">
              <a:xfrm>
                <a:off x="992" y="2627"/>
                <a:ext cx="3804" cy="1061"/>
                <a:chOff x="992" y="2627"/>
                <a:chExt cx="3804" cy="1061"/>
              </a:xfrm>
            </p:grpSpPr>
            <p:sp>
              <p:nvSpPr>
                <p:cNvPr id="28" name="AutoShape 11"/>
                <p:cNvSpPr>
                  <a:spLocks noChangeArrowheads="1"/>
                </p:cNvSpPr>
                <p:nvPr/>
              </p:nvSpPr>
              <p:spPr bwMode="auto">
                <a:xfrm rot="5400000">
                  <a:off x="2363" y="1256"/>
                  <a:ext cx="1061" cy="3804"/>
                </a:xfrm>
                <a:prstGeom prst="parallelogram">
                  <a:avLst>
                    <a:gd name="adj" fmla="val 59685"/>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9" name="AutoShape 12"/>
                <p:cNvSpPr>
                  <a:spLocks noChangeArrowheads="1"/>
                </p:cNvSpPr>
                <p:nvPr/>
              </p:nvSpPr>
              <p:spPr bwMode="auto">
                <a:xfrm rot="601221">
                  <a:off x="2275" y="2982"/>
                  <a:ext cx="1737" cy="426"/>
                </a:xfrm>
                <a:prstGeom prst="rightArrow">
                  <a:avLst>
                    <a:gd name="adj1" fmla="val 49370"/>
                    <a:gd name="adj2" fmla="val 119013"/>
                  </a:avLst>
                </a:prstGeom>
                <a:solidFill>
                  <a:srgbClr val="00FFFF"/>
                </a:solidFill>
                <a:ln w="12700" cmpd="dbl">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27" name="Text Box 13"/>
              <p:cNvSpPr txBox="1">
                <a:spLocks noChangeArrowheads="1"/>
              </p:cNvSpPr>
              <p:nvPr/>
            </p:nvSpPr>
            <p:spPr bwMode="auto">
              <a:xfrm rot="595815">
                <a:off x="2461" y="2988"/>
                <a:ext cx="8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50" b="1" dirty="0">
                    <a:solidFill>
                      <a:srgbClr val="0000CC"/>
                    </a:solidFill>
                    <a:latin typeface="微软雅黑" pitchFamily="34" charset="-122"/>
                    <a:ea typeface="微软雅黑" pitchFamily="34" charset="-122"/>
                  </a:rPr>
                  <a:t>干扰信号</a:t>
                </a:r>
              </a:p>
            </p:txBody>
          </p:sp>
        </p:grpSp>
        <p:grpSp>
          <p:nvGrpSpPr>
            <p:cNvPr id="19" name="Group 14"/>
            <p:cNvGrpSpPr>
              <a:grpSpLocks/>
            </p:cNvGrpSpPr>
            <p:nvPr/>
          </p:nvGrpSpPr>
          <p:grpSpPr bwMode="auto">
            <a:xfrm>
              <a:off x="537" y="2606"/>
              <a:ext cx="455" cy="1090"/>
              <a:chOff x="537" y="2606"/>
              <a:chExt cx="455" cy="1090"/>
            </a:xfrm>
          </p:grpSpPr>
          <p:sp>
            <p:nvSpPr>
              <p:cNvPr id="20" name="Line 15"/>
              <p:cNvSpPr>
                <a:spLocks noChangeShapeType="1"/>
              </p:cNvSpPr>
              <p:nvPr/>
            </p:nvSpPr>
            <p:spPr bwMode="auto">
              <a:xfrm>
                <a:off x="823" y="3057"/>
                <a:ext cx="0" cy="639"/>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1" name="Line 16"/>
              <p:cNvSpPr>
                <a:spLocks noChangeShapeType="1"/>
              </p:cNvSpPr>
              <p:nvPr/>
            </p:nvSpPr>
            <p:spPr bwMode="auto">
              <a:xfrm>
                <a:off x="814" y="2606"/>
                <a:ext cx="9" cy="445"/>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2" name="Rectangle 17"/>
              <p:cNvSpPr>
                <a:spLocks noChangeArrowheads="1"/>
              </p:cNvSpPr>
              <p:nvPr/>
            </p:nvSpPr>
            <p:spPr bwMode="auto">
              <a:xfrm>
                <a:off x="592" y="3259"/>
                <a:ext cx="283" cy="323"/>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mn-lt"/>
                    <a:ea typeface="黑体" pitchFamily="2" charset="-122"/>
                    <a:sym typeface="Symbol" pitchFamily="18" charset="2"/>
                  </a:rPr>
                  <a:t></a:t>
                </a:r>
              </a:p>
            </p:txBody>
          </p:sp>
          <p:sp>
            <p:nvSpPr>
              <p:cNvPr id="23" name="Line 18"/>
              <p:cNvSpPr>
                <a:spLocks noChangeShapeType="1"/>
              </p:cNvSpPr>
              <p:nvPr/>
            </p:nvSpPr>
            <p:spPr bwMode="auto">
              <a:xfrm>
                <a:off x="739" y="3051"/>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4" name="Line 19"/>
              <p:cNvSpPr>
                <a:spLocks noChangeShapeType="1"/>
              </p:cNvSpPr>
              <p:nvPr/>
            </p:nvSpPr>
            <p:spPr bwMode="auto">
              <a:xfrm>
                <a:off x="739" y="3696"/>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5" name="Text Box 20"/>
              <p:cNvSpPr txBox="1">
                <a:spLocks noChangeArrowheads="1"/>
              </p:cNvSpPr>
              <p:nvPr/>
            </p:nvSpPr>
            <p:spPr bwMode="auto">
              <a:xfrm>
                <a:off x="537" y="2722"/>
                <a:ext cx="329" cy="327"/>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a:latin typeface="+mn-lt"/>
                    <a:ea typeface="黑体" pitchFamily="2" charset="-122"/>
                  </a:rPr>
                  <a:t>T</a:t>
                </a:r>
                <a:r>
                  <a:rPr kumimoji="1" lang="en-US" altLang="zh-CN" sz="1100" b="1" i="1" baseline="-25000">
                    <a:latin typeface="+mn-lt"/>
                    <a:ea typeface="黑体" pitchFamily="2" charset="-122"/>
                  </a:rPr>
                  <a:t>J</a:t>
                </a:r>
                <a:endParaRPr kumimoji="1" lang="en-US" altLang="zh-CN" sz="1100" b="1">
                  <a:latin typeface="+mn-lt"/>
                  <a:ea typeface="黑体" pitchFamily="2" charset="-122"/>
                </a:endParaRPr>
              </a:p>
            </p:txBody>
          </p:sp>
        </p:grpSp>
      </p:grpSp>
      <p:sp>
        <p:nvSpPr>
          <p:cNvPr id="30" name="Line 22"/>
          <p:cNvSpPr>
            <a:spLocks noChangeShapeType="1"/>
          </p:cNvSpPr>
          <p:nvPr/>
        </p:nvSpPr>
        <p:spPr bwMode="auto">
          <a:xfrm>
            <a:off x="2902614" y="1560158"/>
            <a:ext cx="3291132" cy="0"/>
          </a:xfrm>
          <a:prstGeom prst="line">
            <a:avLst/>
          </a:prstGeom>
          <a:ln w="19050">
            <a:solidFill>
              <a:srgbClr val="0000FF"/>
            </a:solidFill>
            <a:headEnd/>
            <a:tailEnd/>
          </a:ln>
          <a:extLst/>
        </p:spPr>
        <p:style>
          <a:lnRef idx="1">
            <a:schemeClr val="dk1"/>
          </a:lnRef>
          <a:fillRef idx="0">
            <a:schemeClr val="dk1"/>
          </a:fillRef>
          <a:effectRef idx="0">
            <a:schemeClr val="dk1"/>
          </a:effectRef>
          <a:fontRef idx="minor">
            <a:schemeClr val="tx1"/>
          </a:fontRef>
        </p:style>
        <p:txBody>
          <a:bodyPr wrap="none" anchor="ctr"/>
          <a:lstStyle/>
          <a:p>
            <a:endParaRPr lang="zh-CN" altLang="en-US" sz="1200" b="1">
              <a:solidFill>
                <a:srgbClr val="0000CC"/>
              </a:solidFill>
              <a:latin typeface="+mn-lt"/>
              <a:ea typeface="黑体" pitchFamily="2" charset="-122"/>
            </a:endParaRPr>
          </a:p>
        </p:txBody>
      </p:sp>
      <p:sp>
        <p:nvSpPr>
          <p:cNvPr id="31" name="Line 23"/>
          <p:cNvSpPr>
            <a:spLocks noChangeShapeType="1"/>
          </p:cNvSpPr>
          <p:nvPr/>
        </p:nvSpPr>
        <p:spPr bwMode="auto">
          <a:xfrm>
            <a:off x="2894804" y="1564163"/>
            <a:ext cx="0" cy="17332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2" name="Line 24"/>
          <p:cNvSpPr>
            <a:spLocks noChangeShapeType="1"/>
          </p:cNvSpPr>
          <p:nvPr/>
        </p:nvSpPr>
        <p:spPr bwMode="auto">
          <a:xfrm>
            <a:off x="6221512" y="1560158"/>
            <a:ext cx="51540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3" name="Line 25"/>
          <p:cNvSpPr>
            <a:spLocks noChangeShapeType="1"/>
          </p:cNvSpPr>
          <p:nvPr/>
        </p:nvSpPr>
        <p:spPr bwMode="auto">
          <a:xfrm>
            <a:off x="6221512" y="2070357"/>
            <a:ext cx="2195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4" name="Line 26"/>
          <p:cNvSpPr>
            <a:spLocks noChangeShapeType="1"/>
          </p:cNvSpPr>
          <p:nvPr/>
        </p:nvSpPr>
        <p:spPr bwMode="auto">
          <a:xfrm>
            <a:off x="6323898" y="1564163"/>
            <a:ext cx="0" cy="506195"/>
          </a:xfrm>
          <a:prstGeom prst="line">
            <a:avLst/>
          </a:prstGeom>
          <a:noFill/>
          <a:ln w="12700">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5" name="Rectangle 27"/>
          <p:cNvSpPr>
            <a:spLocks noChangeArrowheads="1"/>
          </p:cNvSpPr>
          <p:nvPr/>
        </p:nvSpPr>
        <p:spPr bwMode="auto">
          <a:xfrm>
            <a:off x="2690898" y="1339098"/>
            <a:ext cx="2757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FF"/>
                </a:solidFill>
                <a:latin typeface="+mn-lt"/>
                <a:ea typeface="黑体" pitchFamily="2" charset="-122"/>
              </a:rPr>
              <a:t>A</a:t>
            </a:r>
          </a:p>
        </p:txBody>
      </p:sp>
      <p:sp>
        <p:nvSpPr>
          <p:cNvPr id="36" name="Rectangle 28"/>
          <p:cNvSpPr>
            <a:spLocks noChangeArrowheads="1"/>
          </p:cNvSpPr>
          <p:nvPr/>
        </p:nvSpPr>
        <p:spPr bwMode="auto">
          <a:xfrm>
            <a:off x="6106977" y="1339098"/>
            <a:ext cx="26930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mn-lt"/>
                <a:ea typeface="黑体" pitchFamily="2" charset="-122"/>
              </a:rPr>
              <a:t>B</a:t>
            </a:r>
          </a:p>
        </p:txBody>
      </p:sp>
      <p:sp>
        <p:nvSpPr>
          <p:cNvPr id="37" name="Line 29"/>
          <p:cNvSpPr>
            <a:spLocks noChangeShapeType="1"/>
          </p:cNvSpPr>
          <p:nvPr/>
        </p:nvSpPr>
        <p:spPr bwMode="auto">
          <a:xfrm>
            <a:off x="2376429" y="1663480"/>
            <a:ext cx="0" cy="1171776"/>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8" name="Line 30"/>
          <p:cNvSpPr>
            <a:spLocks noChangeShapeType="1"/>
          </p:cNvSpPr>
          <p:nvPr/>
        </p:nvSpPr>
        <p:spPr bwMode="auto">
          <a:xfrm>
            <a:off x="6193745" y="1556955"/>
            <a:ext cx="0" cy="1744449"/>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9" name="Line 31"/>
          <p:cNvSpPr>
            <a:spLocks noChangeShapeType="1"/>
          </p:cNvSpPr>
          <p:nvPr/>
        </p:nvSpPr>
        <p:spPr bwMode="auto">
          <a:xfrm>
            <a:off x="2664628" y="2337828"/>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0" name="Line 32"/>
          <p:cNvSpPr>
            <a:spLocks noChangeShapeType="1"/>
          </p:cNvSpPr>
          <p:nvPr/>
        </p:nvSpPr>
        <p:spPr bwMode="auto">
          <a:xfrm>
            <a:off x="2636234" y="1560158"/>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1" name="Line 33"/>
          <p:cNvSpPr>
            <a:spLocks noChangeShapeType="1"/>
          </p:cNvSpPr>
          <p:nvPr/>
        </p:nvSpPr>
        <p:spPr bwMode="auto">
          <a:xfrm>
            <a:off x="2748166" y="1560158"/>
            <a:ext cx="0" cy="792131"/>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2" name="Text Box 36"/>
          <p:cNvSpPr txBox="1">
            <a:spLocks noChangeArrowheads="1"/>
          </p:cNvSpPr>
          <p:nvPr/>
        </p:nvSpPr>
        <p:spPr bwMode="auto">
          <a:xfrm>
            <a:off x="2511518" y="1796130"/>
            <a:ext cx="307710" cy="261259"/>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dirty="0">
                <a:latin typeface="+mn-lt"/>
                <a:ea typeface="黑体" pitchFamily="2" charset="-122"/>
              </a:rPr>
              <a:t>T</a:t>
            </a:r>
            <a:r>
              <a:rPr kumimoji="1" lang="en-US" altLang="zh-CN" sz="1100" b="1" i="1" baseline="-25000" dirty="0">
                <a:latin typeface="+mn-lt"/>
                <a:ea typeface="黑体" pitchFamily="2" charset="-122"/>
              </a:rPr>
              <a:t>B</a:t>
            </a:r>
            <a:endParaRPr kumimoji="1" lang="en-US" altLang="zh-CN" sz="1100" b="1" dirty="0">
              <a:latin typeface="+mn-lt"/>
              <a:ea typeface="黑体" pitchFamily="2" charset="-122"/>
            </a:endParaRPr>
          </a:p>
        </p:txBody>
      </p:sp>
      <p:sp>
        <p:nvSpPr>
          <p:cNvPr id="43" name="Text Box 37"/>
          <p:cNvSpPr txBox="1">
            <a:spLocks noChangeArrowheads="1"/>
          </p:cNvSpPr>
          <p:nvPr/>
        </p:nvSpPr>
        <p:spPr bwMode="auto">
          <a:xfrm>
            <a:off x="2264734" y="2820039"/>
            <a:ext cx="2375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i="1" dirty="0">
                <a:latin typeface="+mn-lt"/>
                <a:ea typeface="黑体" pitchFamily="2" charset="-122"/>
              </a:rPr>
              <a:t>t</a:t>
            </a:r>
          </a:p>
        </p:txBody>
      </p:sp>
      <p:sp>
        <p:nvSpPr>
          <p:cNvPr id="44" name="Line 38"/>
          <p:cNvSpPr>
            <a:spLocks noChangeShapeType="1"/>
          </p:cNvSpPr>
          <p:nvPr/>
        </p:nvSpPr>
        <p:spPr bwMode="auto">
          <a:xfrm>
            <a:off x="2894804" y="3223712"/>
            <a:ext cx="3307618" cy="0"/>
          </a:xfrm>
          <a:prstGeom prst="line">
            <a:avLst/>
          </a:prstGeom>
          <a:noFill/>
          <a:ln w="19050">
            <a:solidFill>
              <a:srgbClr val="0000FF"/>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5" name="Rectangle 39"/>
          <p:cNvSpPr>
            <a:spLocks noChangeArrowheads="1"/>
          </p:cNvSpPr>
          <p:nvPr/>
        </p:nvSpPr>
        <p:spPr bwMode="auto">
          <a:xfrm>
            <a:off x="6262175" y="1657777"/>
            <a:ext cx="250069" cy="27443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CC"/>
                </a:solidFill>
                <a:latin typeface="+mn-lt"/>
                <a:ea typeface="黑体" pitchFamily="2" charset="-122"/>
                <a:sym typeface="Symbol" pitchFamily="18" charset="2"/>
              </a:rPr>
              <a:t></a:t>
            </a:r>
          </a:p>
        </p:txBody>
      </p:sp>
      <p:sp>
        <p:nvSpPr>
          <p:cNvPr id="46" name="Line 54"/>
          <p:cNvSpPr>
            <a:spLocks noChangeShapeType="1"/>
          </p:cNvSpPr>
          <p:nvPr/>
        </p:nvSpPr>
        <p:spPr bwMode="auto">
          <a:xfrm>
            <a:off x="6237130" y="3223712"/>
            <a:ext cx="499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7" name="Line 55"/>
          <p:cNvSpPr>
            <a:spLocks noChangeShapeType="1"/>
          </p:cNvSpPr>
          <p:nvPr/>
        </p:nvSpPr>
        <p:spPr bwMode="auto">
          <a:xfrm>
            <a:off x="6578998" y="1548945"/>
            <a:ext cx="0" cy="166836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8" name="Text Box 56"/>
          <p:cNvSpPr txBox="1">
            <a:spLocks noChangeArrowheads="1"/>
          </p:cNvSpPr>
          <p:nvPr/>
        </p:nvSpPr>
        <p:spPr bwMode="auto">
          <a:xfrm>
            <a:off x="6520525" y="1852470"/>
            <a:ext cx="325730" cy="110799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100" b="1" dirty="0">
                <a:latin typeface="微软雅黑" pitchFamily="34" charset="-122"/>
                <a:ea typeface="微软雅黑" pitchFamily="34" charset="-122"/>
              </a:rPr>
              <a:t>信</a:t>
            </a:r>
          </a:p>
          <a:p>
            <a:pPr eaLnBrk="0" hangingPunct="0"/>
            <a:r>
              <a:rPr kumimoji="1" lang="zh-CN" altLang="en-US" sz="1100" b="1" dirty="0">
                <a:latin typeface="微软雅黑" pitchFamily="34" charset="-122"/>
                <a:ea typeface="微软雅黑" pitchFamily="34" charset="-122"/>
              </a:rPr>
              <a:t>道</a:t>
            </a:r>
          </a:p>
          <a:p>
            <a:pPr eaLnBrk="0" hangingPunct="0"/>
            <a:r>
              <a:rPr kumimoji="1" lang="zh-CN" altLang="en-US" sz="1100" b="1" dirty="0">
                <a:latin typeface="微软雅黑" pitchFamily="34" charset="-122"/>
                <a:ea typeface="微软雅黑" pitchFamily="34" charset="-122"/>
              </a:rPr>
              <a:t>占</a:t>
            </a:r>
          </a:p>
          <a:p>
            <a:pPr eaLnBrk="0" hangingPunct="0"/>
            <a:r>
              <a:rPr kumimoji="1" lang="zh-CN" altLang="en-US" sz="1100" b="1" dirty="0">
                <a:latin typeface="微软雅黑" pitchFamily="34" charset="-122"/>
                <a:ea typeface="微软雅黑" pitchFamily="34" charset="-122"/>
              </a:rPr>
              <a:t>用</a:t>
            </a:r>
          </a:p>
          <a:p>
            <a:pPr eaLnBrk="0" hangingPunct="0"/>
            <a:r>
              <a:rPr kumimoji="1" lang="zh-CN" altLang="en-US" sz="1100" b="1" dirty="0">
                <a:latin typeface="微软雅黑" pitchFamily="34" charset="-122"/>
                <a:ea typeface="微软雅黑" pitchFamily="34" charset="-122"/>
              </a:rPr>
              <a:t>时</a:t>
            </a:r>
          </a:p>
          <a:p>
            <a:pPr eaLnBrk="0" hangingPunct="0"/>
            <a:r>
              <a:rPr kumimoji="1" lang="zh-CN" altLang="en-US" sz="1100" b="1" dirty="0">
                <a:latin typeface="微软雅黑" pitchFamily="34" charset="-122"/>
                <a:ea typeface="微软雅黑" pitchFamily="34" charset="-122"/>
              </a:rPr>
              <a:t>间</a:t>
            </a:r>
          </a:p>
        </p:txBody>
      </p:sp>
      <p:grpSp>
        <p:nvGrpSpPr>
          <p:cNvPr id="49" name="Group 57"/>
          <p:cNvGrpSpPr>
            <a:grpSpLocks/>
          </p:cNvGrpSpPr>
          <p:nvPr/>
        </p:nvGrpSpPr>
        <p:grpSpPr bwMode="auto">
          <a:xfrm>
            <a:off x="2919100" y="1201342"/>
            <a:ext cx="1107169" cy="356420"/>
            <a:chOff x="1020" y="1171"/>
            <a:chExt cx="1276" cy="445"/>
          </a:xfrm>
        </p:grpSpPr>
        <p:sp>
          <p:nvSpPr>
            <p:cNvPr id="50" name="AutoShape 58"/>
            <p:cNvSpPr>
              <a:spLocks noChangeArrowheads="1"/>
            </p:cNvSpPr>
            <p:nvPr/>
          </p:nvSpPr>
          <p:spPr bwMode="auto">
            <a:xfrm flipH="1">
              <a:off x="1111" y="1171"/>
              <a:ext cx="1185"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1" name="Line 60"/>
            <p:cNvSpPr>
              <a:spLocks noChangeShapeType="1"/>
            </p:cNvSpPr>
            <p:nvPr/>
          </p:nvSpPr>
          <p:spPr bwMode="auto">
            <a:xfrm flipH="1">
              <a:off x="1020" y="1389"/>
              <a:ext cx="409" cy="22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2" name="Line 61"/>
          <p:cNvSpPr>
            <a:spLocks noChangeShapeType="1"/>
          </p:cNvSpPr>
          <p:nvPr/>
        </p:nvSpPr>
        <p:spPr bwMode="auto">
          <a:xfrm flipH="1">
            <a:off x="2887863" y="1858108"/>
            <a:ext cx="3293735" cy="508598"/>
          </a:xfrm>
          <a:prstGeom prst="line">
            <a:avLst/>
          </a:prstGeom>
          <a:noFill/>
          <a:ln w="57150">
            <a:solidFill>
              <a:srgbClr val="FF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3" name="Rectangle 62"/>
          <p:cNvSpPr>
            <a:spLocks noChangeArrowheads="1"/>
          </p:cNvSpPr>
          <p:nvPr/>
        </p:nvSpPr>
        <p:spPr bwMode="auto">
          <a:xfrm>
            <a:off x="2683957" y="3195917"/>
            <a:ext cx="235143" cy="1786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54" name="组合 53"/>
          <p:cNvGrpSpPr/>
          <p:nvPr/>
        </p:nvGrpSpPr>
        <p:grpSpPr>
          <a:xfrm>
            <a:off x="5384195" y="1158085"/>
            <a:ext cx="996103" cy="700021"/>
            <a:chOff x="5384195" y="1158085"/>
            <a:chExt cx="996103" cy="700021"/>
          </a:xfrm>
        </p:grpSpPr>
        <p:grpSp>
          <p:nvGrpSpPr>
            <p:cNvPr id="55" name="Group 40"/>
            <p:cNvGrpSpPr>
              <a:grpSpLocks/>
            </p:cNvGrpSpPr>
            <p:nvPr/>
          </p:nvGrpSpPr>
          <p:grpSpPr bwMode="auto">
            <a:xfrm>
              <a:off x="5384195" y="1201336"/>
              <a:ext cx="996103" cy="656770"/>
              <a:chOff x="3861" y="1171"/>
              <a:chExt cx="1148" cy="820"/>
            </a:xfrm>
          </p:grpSpPr>
          <p:sp>
            <p:nvSpPr>
              <p:cNvPr id="57" name="AutoShape 41"/>
              <p:cNvSpPr>
                <a:spLocks noChangeArrowheads="1"/>
              </p:cNvSpPr>
              <p:nvPr/>
            </p:nvSpPr>
            <p:spPr bwMode="auto">
              <a:xfrm flipH="1">
                <a:off x="3861" y="1171"/>
                <a:ext cx="1148"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8" name="Line 43"/>
              <p:cNvSpPr>
                <a:spLocks noChangeShapeType="1"/>
              </p:cNvSpPr>
              <p:nvPr/>
            </p:nvSpPr>
            <p:spPr bwMode="auto">
              <a:xfrm>
                <a:off x="4377" y="1389"/>
                <a:ext cx="427" cy="60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6" name="Text Box 42"/>
            <p:cNvSpPr txBox="1">
              <a:spLocks noChangeArrowheads="1"/>
            </p:cNvSpPr>
            <p:nvPr/>
          </p:nvSpPr>
          <p:spPr bwMode="auto">
            <a:xfrm>
              <a:off x="5451450" y="1158085"/>
              <a:ext cx="88678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B </a:t>
              </a:r>
              <a:r>
                <a:rPr kumimoji="1" lang="zh-CN" altLang="en-US" sz="1100" b="1" dirty="0">
                  <a:solidFill>
                    <a:srgbClr val="0000CC"/>
                  </a:solidFill>
                  <a:latin typeface="微软雅黑" pitchFamily="34" charset="-122"/>
                  <a:ea typeface="微软雅黑" pitchFamily="34" charset="-122"/>
                </a:rPr>
                <a:t>发送数据</a:t>
              </a:r>
            </a:p>
          </p:txBody>
        </p:sp>
      </p:grpSp>
      <p:sp>
        <p:nvSpPr>
          <p:cNvPr id="59" name="Text Box 59"/>
          <p:cNvSpPr txBox="1">
            <a:spLocks noChangeArrowheads="1"/>
          </p:cNvSpPr>
          <p:nvPr/>
        </p:nvSpPr>
        <p:spPr bwMode="auto">
          <a:xfrm>
            <a:off x="3071000" y="1158090"/>
            <a:ext cx="89639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A </a:t>
            </a:r>
            <a:r>
              <a:rPr kumimoji="1" lang="zh-CN" altLang="en-US" sz="1100" b="1" dirty="0">
                <a:solidFill>
                  <a:srgbClr val="0000CC"/>
                </a:solidFill>
                <a:latin typeface="微软雅黑" pitchFamily="34" charset="-122"/>
                <a:ea typeface="微软雅黑" pitchFamily="34" charset="-122"/>
              </a:rPr>
              <a:t>发送数据</a:t>
            </a:r>
          </a:p>
        </p:txBody>
      </p:sp>
      <p:grpSp>
        <p:nvGrpSpPr>
          <p:cNvPr id="60" name="组合 59"/>
          <p:cNvGrpSpPr/>
          <p:nvPr/>
        </p:nvGrpSpPr>
        <p:grpSpPr>
          <a:xfrm>
            <a:off x="2891333" y="1591620"/>
            <a:ext cx="933630" cy="799339"/>
            <a:chOff x="2891333" y="1591620"/>
            <a:chExt cx="933630" cy="799339"/>
          </a:xfrm>
        </p:grpSpPr>
        <p:sp>
          <p:nvSpPr>
            <p:cNvPr id="61" name="Line 45"/>
            <p:cNvSpPr>
              <a:spLocks noChangeShapeType="1"/>
            </p:cNvSpPr>
            <p:nvPr/>
          </p:nvSpPr>
          <p:spPr bwMode="auto">
            <a:xfrm flipH="1">
              <a:off x="2891333" y="2070358"/>
              <a:ext cx="295013" cy="292343"/>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2" name="AutoShape 46"/>
            <p:cNvSpPr>
              <a:spLocks noChangeArrowheads="1"/>
            </p:cNvSpPr>
            <p:nvPr/>
          </p:nvSpPr>
          <p:spPr bwMode="auto">
            <a:xfrm>
              <a:off x="2894804" y="1591620"/>
              <a:ext cx="930159" cy="799339"/>
            </a:xfrm>
            <a:prstGeom prst="irregularSeal1">
              <a:avLst/>
            </a:prstGeom>
            <a:solidFill>
              <a:srgbClr val="00FF99"/>
            </a:solidFill>
            <a:ln w="12700">
              <a:solidFill>
                <a:schemeClr val="tx1"/>
              </a:solidFill>
              <a:miter lim="800000"/>
              <a:headEnd/>
              <a:tailEnd/>
            </a:ln>
            <a:effectLst/>
          </p:spPr>
          <p:txBody>
            <a:bodyPr wrap="none" anchor="ctr"/>
            <a:lstStyle/>
            <a:p>
              <a:endParaRPr lang="zh-CN" altLang="en-US" sz="1200" b="1">
                <a:solidFill>
                  <a:srgbClr val="0000CC"/>
                </a:solidFill>
                <a:latin typeface="+mn-lt"/>
                <a:ea typeface="黑体" pitchFamily="2" charset="-122"/>
              </a:endParaRPr>
            </a:p>
          </p:txBody>
        </p:sp>
        <p:sp>
          <p:nvSpPr>
            <p:cNvPr id="63" name="Text Box 47"/>
            <p:cNvSpPr txBox="1">
              <a:spLocks noChangeArrowheads="1"/>
            </p:cNvSpPr>
            <p:nvPr/>
          </p:nvSpPr>
          <p:spPr bwMode="auto">
            <a:xfrm>
              <a:off x="3062032" y="1817485"/>
              <a:ext cx="614271" cy="3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85000"/>
                </a:lnSpc>
              </a:pPr>
              <a:r>
                <a:rPr kumimoji="1" lang="en-US" altLang="zh-CN" sz="1050" b="1" dirty="0">
                  <a:latin typeface="微软雅黑" pitchFamily="34" charset="-122"/>
                  <a:ea typeface="微软雅黑" pitchFamily="34" charset="-122"/>
                </a:rPr>
                <a:t>A </a:t>
              </a:r>
              <a:r>
                <a:rPr kumimoji="1" lang="zh-CN" altLang="en-US" sz="1050" b="1" dirty="0">
                  <a:latin typeface="微软雅黑" pitchFamily="34" charset="-122"/>
                  <a:ea typeface="微软雅黑" pitchFamily="34" charset="-122"/>
                </a:rPr>
                <a:t>检测</a:t>
              </a:r>
            </a:p>
            <a:p>
              <a:pPr eaLnBrk="0" hangingPunct="0">
                <a:lnSpc>
                  <a:spcPct val="85000"/>
                </a:lnSpc>
              </a:pPr>
              <a:r>
                <a:rPr kumimoji="1" lang="zh-CN" altLang="en-US" sz="1050" b="1" dirty="0">
                  <a:latin typeface="微软雅黑" pitchFamily="34" charset="-122"/>
                  <a:ea typeface="微软雅黑" pitchFamily="34" charset="-122"/>
                </a:rPr>
                <a:t>到冲突</a:t>
              </a:r>
            </a:p>
          </p:txBody>
        </p:sp>
      </p:grpSp>
      <p:grpSp>
        <p:nvGrpSpPr>
          <p:cNvPr id="64" name="Group 48"/>
          <p:cNvGrpSpPr>
            <a:grpSpLocks/>
          </p:cNvGrpSpPr>
          <p:nvPr/>
        </p:nvGrpSpPr>
        <p:grpSpPr bwMode="auto">
          <a:xfrm>
            <a:off x="4571173" y="1259805"/>
            <a:ext cx="972676" cy="704828"/>
            <a:chOff x="2925" y="1207"/>
            <a:chExt cx="1121" cy="880"/>
          </a:xfrm>
        </p:grpSpPr>
        <p:sp>
          <p:nvSpPr>
            <p:cNvPr id="65" name="Line 49"/>
            <p:cNvSpPr>
              <a:spLocks noChangeShapeType="1"/>
            </p:cNvSpPr>
            <p:nvPr/>
          </p:nvSpPr>
          <p:spPr bwMode="auto">
            <a:xfrm>
              <a:off x="3787" y="1706"/>
              <a:ext cx="232" cy="381"/>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66" name="Group 50"/>
            <p:cNvGrpSpPr>
              <a:grpSpLocks/>
            </p:cNvGrpSpPr>
            <p:nvPr/>
          </p:nvGrpSpPr>
          <p:grpSpPr bwMode="auto">
            <a:xfrm>
              <a:off x="2925" y="1207"/>
              <a:ext cx="1121" cy="681"/>
              <a:chOff x="3514" y="2256"/>
              <a:chExt cx="1121" cy="681"/>
            </a:xfrm>
          </p:grpSpPr>
          <p:sp>
            <p:nvSpPr>
              <p:cNvPr id="67" name="AutoShape 51"/>
              <p:cNvSpPr>
                <a:spLocks noChangeArrowheads="1"/>
              </p:cNvSpPr>
              <p:nvPr/>
            </p:nvSpPr>
            <p:spPr bwMode="auto">
              <a:xfrm>
                <a:off x="3514" y="2256"/>
                <a:ext cx="1121" cy="681"/>
              </a:xfrm>
              <a:prstGeom prst="irregularSeal1">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8" name="Text Box 52"/>
              <p:cNvSpPr txBox="1">
                <a:spLocks noChangeArrowheads="1"/>
              </p:cNvSpPr>
              <p:nvPr/>
            </p:nvSpPr>
            <p:spPr bwMode="auto">
              <a:xfrm>
                <a:off x="3633" y="2428"/>
                <a:ext cx="8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50" b="1" dirty="0">
                    <a:solidFill>
                      <a:schemeClr val="bg1"/>
                    </a:solidFill>
                    <a:latin typeface="微软雅黑" pitchFamily="34" charset="-122"/>
                    <a:ea typeface="微软雅黑" pitchFamily="34" charset="-122"/>
                  </a:rPr>
                  <a:t>开始冲突</a:t>
                </a:r>
              </a:p>
            </p:txBody>
          </p:sp>
        </p:grpSp>
      </p:grpSp>
    </p:spTree>
    <p:extLst>
      <p:ext uri="{BB962C8B-B14F-4D97-AF65-F5344CB8AC3E}">
        <p14:creationId xmlns:p14="http://schemas.microsoft.com/office/powerpoint/2010/main" val="124757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0"/>
                                        <p:tgtEl>
                                          <p:spTgt spid="14"/>
                                        </p:tgtEl>
                                      </p:cBhvr>
                                    </p:animEffect>
                                  </p:childTnLst>
                                </p:cTn>
                              </p:par>
                              <p:par>
                                <p:cTn id="8" presetID="1" presetClass="entr" presetSubtype="0" fill="hold" nodeType="withEffect">
                                  <p:stCondLst>
                                    <p:cond delay="3250"/>
                                  </p:stCondLst>
                                  <p:childTnLst>
                                    <p:set>
                                      <p:cBhvr>
                                        <p:cTn id="9" dur="1" fill="hold">
                                          <p:stCondLst>
                                            <p:cond delay="0"/>
                                          </p:stCondLst>
                                        </p:cTn>
                                        <p:tgtEl>
                                          <p:spTgt spid="54"/>
                                        </p:tgtEl>
                                        <p:attrNameLst>
                                          <p:attrName>style.visibility</p:attrName>
                                        </p:attrNameLst>
                                      </p:cBhvr>
                                      <p:to>
                                        <p:strVal val="visible"/>
                                      </p:to>
                                    </p:set>
                                  </p:childTnLst>
                                </p:cTn>
                              </p:par>
                              <p:par>
                                <p:cTn id="10" presetID="22" presetClass="entr" presetSubtype="2" fill="hold" grpId="0" nodeType="withEffect">
                                  <p:stCondLst>
                                    <p:cond delay="3250"/>
                                  </p:stCondLst>
                                  <p:childTnLst>
                                    <p:set>
                                      <p:cBhvr>
                                        <p:cTn id="11" dur="1" fill="hold">
                                          <p:stCondLst>
                                            <p:cond delay="0"/>
                                          </p:stCondLst>
                                        </p:cTn>
                                        <p:tgtEl>
                                          <p:spTgt spid="52"/>
                                        </p:tgtEl>
                                        <p:attrNameLst>
                                          <p:attrName>style.visibility</p:attrName>
                                        </p:attrNameLst>
                                      </p:cBhvr>
                                      <p:to>
                                        <p:strVal val="visible"/>
                                      </p:to>
                                    </p:set>
                                    <p:animEffect transition="in" filter="wipe(right)">
                                      <p:cBhvr>
                                        <p:cTn id="12" dur="5000"/>
                                        <p:tgtEl>
                                          <p:spTgt spid="52"/>
                                        </p:tgtEl>
                                      </p:cBhvr>
                                    </p:animEffect>
                                  </p:childTnLst>
                                </p:cTn>
                              </p:par>
                              <p:par>
                                <p:cTn id="13" presetID="1" presetClass="entr" presetSubtype="0" fill="hold" nodeType="withEffect">
                                  <p:stCondLst>
                                    <p:cond delay="4250"/>
                                  </p:stCondLst>
                                  <p:childTnLst>
                                    <p:set>
                                      <p:cBhvr>
                                        <p:cTn id="14" dur="1" fill="hold">
                                          <p:stCondLst>
                                            <p:cond delay="0"/>
                                          </p:stCondLst>
                                        </p:cTn>
                                        <p:tgtEl>
                                          <p:spTgt spid="64"/>
                                        </p:tgtEl>
                                        <p:attrNameLst>
                                          <p:attrName>style.visibility</p:attrName>
                                        </p:attrNameLst>
                                      </p:cBhvr>
                                      <p:to>
                                        <p:strVal val="visible"/>
                                      </p:to>
                                    </p:set>
                                  </p:childTnLst>
                                </p:cTn>
                              </p:par>
                              <p:par>
                                <p:cTn id="15" presetID="35" presetClass="emph" presetSubtype="0" repeatCount="3000" fill="hold" nodeType="withEffect">
                                  <p:stCondLst>
                                    <p:cond delay="4250"/>
                                  </p:stCondLst>
                                  <p:childTnLst>
                                    <p:anim calcmode="discrete" valueType="str">
                                      <p:cBhvr>
                                        <p:cTn id="16" dur="500" fill="hold"/>
                                        <p:tgtEl>
                                          <p:spTgt spid="64"/>
                                        </p:tgtEl>
                                        <p:attrNameLst>
                                          <p:attrName>style.visibility</p:attrName>
                                        </p:attrNameLst>
                                      </p:cBhvr>
                                      <p:tavLst>
                                        <p:tav tm="0">
                                          <p:val>
                                            <p:strVal val="hidden"/>
                                          </p:val>
                                        </p:tav>
                                        <p:tav tm="50000">
                                          <p:val>
                                            <p:strVal val="visible"/>
                                          </p:val>
                                        </p:tav>
                                      </p:tavLst>
                                    </p:anim>
                                  </p:childTnLst>
                                </p:cTn>
                              </p:par>
                            </p:childTnLst>
                          </p:cTn>
                        </p:par>
                        <p:par>
                          <p:cTn id="17" fill="hold">
                            <p:stCondLst>
                              <p:cond delay="8250"/>
                            </p:stCondLst>
                            <p:childTnLst>
                              <p:par>
                                <p:cTn id="18" presetID="1" presetClass="entr" presetSubtype="0" fill="hold" nodeType="afterEffect">
                                  <p:stCondLst>
                                    <p:cond delay="0"/>
                                  </p:stCondLst>
                                  <p:childTnLst>
                                    <p:set>
                                      <p:cBhvr>
                                        <p:cTn id="19" dur="1" fill="hold">
                                          <p:stCondLst>
                                            <p:cond delay="0"/>
                                          </p:stCondLst>
                                        </p:cTn>
                                        <p:tgtEl>
                                          <p:spTgt spid="60"/>
                                        </p:tgtEl>
                                        <p:attrNameLst>
                                          <p:attrName>style.visibility</p:attrName>
                                        </p:attrNameLst>
                                      </p:cBhvr>
                                      <p:to>
                                        <p:strVal val="visible"/>
                                      </p:to>
                                    </p:set>
                                  </p:childTnLst>
                                </p:cTn>
                              </p:par>
                            </p:childTnLst>
                          </p:cTn>
                        </p:par>
                        <p:par>
                          <p:cTn id="20" fill="hold">
                            <p:stCondLst>
                              <p:cond delay="8250"/>
                            </p:stCondLst>
                            <p:childTnLst>
                              <p:par>
                                <p:cTn id="21" presetID="35" presetClass="emph" presetSubtype="0" repeatCount="3000" fill="hold" nodeType="afterEffect">
                                  <p:stCondLst>
                                    <p:cond delay="0"/>
                                  </p:stCondLst>
                                  <p:childTnLst>
                                    <p:anim calcmode="discrete" valueType="str">
                                      <p:cBhvr>
                                        <p:cTn id="22" dur="500" fill="hold"/>
                                        <p:tgtEl>
                                          <p:spTgt spid="60"/>
                                        </p:tgtEl>
                                        <p:attrNameLst>
                                          <p:attrName>style.visibility</p:attrName>
                                        </p:attrNameLst>
                                      </p:cBhvr>
                                      <p:tavLst>
                                        <p:tav tm="0">
                                          <p:val>
                                            <p:strVal val="hidden"/>
                                          </p:val>
                                        </p:tav>
                                        <p:tav tm="50000">
                                          <p:val>
                                            <p:strVal val="visible"/>
                                          </p:val>
                                        </p:tav>
                                      </p:tavLst>
                                    </p:anim>
                                  </p:childTnLst>
                                </p:cTn>
                              </p:par>
                            </p:childTnLst>
                          </p:cTn>
                        </p:par>
                        <p:par>
                          <p:cTn id="23" fill="hold">
                            <p:stCondLst>
                              <p:cond delay="9750"/>
                            </p:stCondLst>
                            <p:childTnLst>
                              <p:par>
                                <p:cTn id="24" presetID="22" presetClass="entr" presetSubtype="8"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2921" y="1473616"/>
            <a:ext cx="8293607"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协议的以太网不能进行全双工通信而</a:t>
            </a:r>
            <a:r>
              <a:rPr lang="zh-CN" altLang="en-US" sz="2000" b="1" dirty="0">
                <a:solidFill>
                  <a:srgbClr val="C00000"/>
                </a:solidFill>
                <a:latin typeface="微软雅黑" pitchFamily="34" charset="-122"/>
                <a:ea typeface="微软雅黑" pitchFamily="34" charset="-122"/>
              </a:rPr>
              <a:t>只能</a:t>
            </a:r>
            <a:r>
              <a:rPr lang="zh-CN" altLang="en-US" sz="2000" b="1" dirty="0">
                <a:solidFill>
                  <a:srgbClr val="0000FF"/>
                </a:solidFill>
                <a:latin typeface="微软雅黑" pitchFamily="34" charset="-122"/>
                <a:ea typeface="微软雅黑" pitchFamily="34" charset="-122"/>
              </a:rPr>
              <a:t>进行双向交替通信（半双工通信）</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每个站在发送数据之后的一小段时间内，存在着遭遇碰撞的可能性。 </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这种</a:t>
            </a:r>
            <a:r>
              <a:rPr lang="zh-CN" altLang="en-US" sz="2000" b="1" dirty="0">
                <a:solidFill>
                  <a:srgbClr val="0000FF"/>
                </a:solidFill>
                <a:latin typeface="微软雅黑" pitchFamily="34" charset="-122"/>
                <a:ea typeface="微软雅黑" pitchFamily="34" charset="-122"/>
              </a:rPr>
              <a:t>发送的不确定性</a:t>
            </a:r>
            <a:r>
              <a:rPr lang="zh-CN" altLang="en-US" sz="2000" b="1" dirty="0">
                <a:latin typeface="微软雅黑" pitchFamily="34" charset="-122"/>
                <a:ea typeface="微软雅黑" pitchFamily="34" charset="-122"/>
              </a:rPr>
              <a:t>使整个以太网的平均通信量远小于以太网的最高数据率。 </a:t>
            </a:r>
            <a:endParaRPr lang="zh-CN" altLang="en-US" sz="2000" b="1" dirty="0">
              <a:solidFill>
                <a:srgbClr val="0000FF"/>
              </a:solidFill>
              <a:latin typeface="微软雅黑" pitchFamily="34" charset="-122"/>
              <a:ea typeface="微软雅黑" pitchFamily="34" charset="-122"/>
            </a:endParaRPr>
          </a:p>
        </p:txBody>
      </p:sp>
      <p:sp>
        <p:nvSpPr>
          <p:cNvPr id="3" name="AutoShape 5"/>
          <p:cNvSpPr>
            <a:spLocks noChangeArrowheads="1"/>
          </p:cNvSpPr>
          <p:nvPr/>
        </p:nvSpPr>
        <p:spPr bwMode="auto">
          <a:xfrm>
            <a:off x="502921" y="107804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897385" y="1054958"/>
            <a:ext cx="33393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smtClean="0">
                <a:solidFill>
                  <a:schemeClr val="bg1"/>
                </a:solidFill>
                <a:latin typeface="微软雅黑" pitchFamily="34" charset="-122"/>
                <a:ea typeface="微软雅黑" pitchFamily="34" charset="-122"/>
              </a:rPr>
              <a:t>协议的重要</a:t>
            </a:r>
            <a:r>
              <a:rPr lang="zh-CN" altLang="en-US" sz="2000" b="1" dirty="0">
                <a:solidFill>
                  <a:schemeClr val="bg1"/>
                </a:solidFill>
                <a:latin typeface="微软雅黑" pitchFamily="34" charset="-122"/>
                <a:ea typeface="微软雅黑" pitchFamily="34" charset="-122"/>
              </a:rPr>
              <a:t>特性</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6157158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21" y="62157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153867" y="59848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CSMA/CD </a:t>
            </a:r>
            <a:r>
              <a:rPr lang="zh-CN" altLang="en-US" sz="2000" b="1" dirty="0" smtClean="0">
                <a:solidFill>
                  <a:schemeClr val="bg1"/>
                </a:solidFill>
                <a:latin typeface="微软雅黑" pitchFamily="34" charset="-122"/>
                <a:ea typeface="微软雅黑" pitchFamily="34" charset="-122"/>
              </a:rPr>
              <a:t>协议的要点</a:t>
            </a:r>
            <a:endParaRPr lang="fr-FR" altLang="zh-CN" sz="2000" b="1" dirty="0">
              <a:solidFill>
                <a:schemeClr val="bg1"/>
              </a:solidFill>
              <a:latin typeface="微软雅黑" pitchFamily="34" charset="-122"/>
              <a:ea typeface="微软雅黑" pitchFamily="34" charset="-122"/>
            </a:endParaRPr>
          </a:p>
        </p:txBody>
      </p:sp>
      <p:sp>
        <p:nvSpPr>
          <p:cNvPr id="4" name="矩形 3"/>
          <p:cNvSpPr/>
          <p:nvPr/>
        </p:nvSpPr>
        <p:spPr>
          <a:xfrm>
            <a:off x="1296537" y="1035415"/>
            <a:ext cx="2429373"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5" name="菱形 4"/>
          <p:cNvSpPr/>
          <p:nvPr/>
        </p:nvSpPr>
        <p:spPr>
          <a:xfrm>
            <a:off x="1356653" y="2237837"/>
            <a:ext cx="2309140"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chemeClr val="bg1"/>
                </a:solidFill>
                <a:latin typeface="微软雅黑" pitchFamily="34" charset="-122"/>
                <a:ea typeface="微软雅黑" pitchFamily="34" charset="-122"/>
              </a:rPr>
              <a:t>侦听到载波？</a:t>
            </a:r>
            <a:endParaRPr lang="zh-CN" altLang="en-US" sz="1300" b="1" dirty="0">
              <a:solidFill>
                <a:schemeClr val="bg1"/>
              </a:solidFill>
              <a:latin typeface="微软雅黑" pitchFamily="34" charset="-122"/>
              <a:ea typeface="微软雅黑" pitchFamily="34" charset="-122"/>
            </a:endParaRPr>
          </a:p>
        </p:txBody>
      </p:sp>
      <p:sp>
        <p:nvSpPr>
          <p:cNvPr id="6" name="矩形 5"/>
          <p:cNvSpPr/>
          <p:nvPr/>
        </p:nvSpPr>
        <p:spPr>
          <a:xfrm>
            <a:off x="1296537" y="2936796"/>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bg1"/>
                </a:solidFill>
                <a:latin typeface="微软雅黑" pitchFamily="34" charset="-122"/>
                <a:ea typeface="微软雅黑" pitchFamily="34" charset="-122"/>
              </a:rPr>
              <a:t>96bit</a:t>
            </a:r>
            <a:r>
              <a:rPr lang="zh-CN" altLang="en-US" sz="1200" b="1" dirty="0" smtClean="0">
                <a:solidFill>
                  <a:schemeClr val="bg1"/>
                </a:solidFill>
                <a:latin typeface="微软雅黑" pitchFamily="34" charset="-122"/>
                <a:ea typeface="微软雅黑" pitchFamily="34" charset="-122"/>
              </a:rPr>
              <a:t>时间内仍然空闲，开始发送，</a:t>
            </a:r>
            <a:endParaRPr lang="en-US" altLang="zh-CN" sz="1200" b="1" dirty="0" smtClean="0">
              <a:solidFill>
                <a:schemeClr val="bg1"/>
              </a:solidFill>
              <a:latin typeface="微软雅黑" pitchFamily="34" charset="-122"/>
              <a:ea typeface="微软雅黑" pitchFamily="34" charset="-122"/>
            </a:endParaRPr>
          </a:p>
          <a:p>
            <a:pPr algn="ctr"/>
            <a:r>
              <a:rPr lang="zh-CN" altLang="en-US" sz="1200" b="1" dirty="0" smtClean="0">
                <a:solidFill>
                  <a:schemeClr val="bg1"/>
                </a:solidFill>
                <a:latin typeface="微软雅黑" pitchFamily="34" charset="-122"/>
                <a:ea typeface="微软雅黑" pitchFamily="34" charset="-122"/>
              </a:rPr>
              <a:t>同时进行碰撞检测</a:t>
            </a:r>
            <a:endParaRPr lang="zh-CN" altLang="en-US" sz="1200" b="1" dirty="0">
              <a:solidFill>
                <a:schemeClr val="bg1"/>
              </a:solidFill>
              <a:latin typeface="微软雅黑" pitchFamily="34" charset="-122"/>
              <a:ea typeface="微软雅黑" pitchFamily="34" charset="-122"/>
            </a:endParaRPr>
          </a:p>
        </p:txBody>
      </p:sp>
      <p:sp>
        <p:nvSpPr>
          <p:cNvPr id="7" name="菱形 6"/>
          <p:cNvSpPr/>
          <p:nvPr/>
        </p:nvSpPr>
        <p:spPr>
          <a:xfrm>
            <a:off x="1296537" y="3522345"/>
            <a:ext cx="2429373"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chemeClr val="bg1"/>
                </a:solidFill>
                <a:latin typeface="微软雅黑" pitchFamily="34" charset="-122"/>
                <a:ea typeface="微软雅黑" pitchFamily="34" charset="-122"/>
              </a:rPr>
              <a:t>检测到碰撞？</a:t>
            </a:r>
            <a:endParaRPr lang="zh-CN" altLang="en-US" sz="1300" b="1" dirty="0">
              <a:solidFill>
                <a:schemeClr val="bg1"/>
              </a:solidFill>
              <a:latin typeface="微软雅黑" pitchFamily="34" charset="-122"/>
              <a:ea typeface="微软雅黑" pitchFamily="34" charset="-122"/>
            </a:endParaRPr>
          </a:p>
        </p:txBody>
      </p:sp>
      <p:sp>
        <p:nvSpPr>
          <p:cNvPr id="8" name="矩形 7"/>
          <p:cNvSpPr/>
          <p:nvPr/>
        </p:nvSpPr>
        <p:spPr>
          <a:xfrm>
            <a:off x="1296537" y="4236420"/>
            <a:ext cx="2429373"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发送，直到完毕</a:t>
            </a:r>
            <a:endParaRPr lang="zh-CN" altLang="en-US" sz="1400" b="1" dirty="0">
              <a:solidFill>
                <a:schemeClr val="bg1"/>
              </a:solidFill>
              <a:latin typeface="微软雅黑" pitchFamily="34" charset="-122"/>
              <a:ea typeface="微软雅黑" pitchFamily="34" charset="-122"/>
            </a:endParaRPr>
          </a:p>
        </p:txBody>
      </p:sp>
      <p:sp>
        <p:nvSpPr>
          <p:cNvPr id="9" name="矩形 8"/>
          <p:cNvSpPr/>
          <p:nvPr/>
        </p:nvSpPr>
        <p:spPr>
          <a:xfrm>
            <a:off x="1296537" y="1651132"/>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载波侦听，检测信道</a:t>
            </a:r>
            <a:endParaRPr lang="zh-CN" altLang="en-US" sz="1400" b="1" dirty="0">
              <a:solidFill>
                <a:schemeClr val="bg1"/>
              </a:solidFill>
              <a:latin typeface="微软雅黑" pitchFamily="34" charset="-122"/>
              <a:ea typeface="微软雅黑" pitchFamily="34" charset="-122"/>
            </a:endParaRPr>
          </a:p>
        </p:txBody>
      </p:sp>
      <p:cxnSp>
        <p:nvCxnSpPr>
          <p:cNvPr id="10" name="直接箭头连接符 9"/>
          <p:cNvCxnSpPr/>
          <p:nvPr/>
        </p:nvCxnSpPr>
        <p:spPr>
          <a:xfrm>
            <a:off x="2511223" y="3327546"/>
            <a:ext cx="0" cy="194799"/>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511223" y="4023088"/>
            <a:ext cx="0" cy="21333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511223" y="2738580"/>
            <a:ext cx="1" cy="19821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2511223" y="2041882"/>
            <a:ext cx="1"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2511223" y="1444308"/>
            <a:ext cx="0" cy="206824"/>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300152" y="3577918"/>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停止发送</a:t>
            </a:r>
            <a:r>
              <a:rPr lang="zh-CN" altLang="en-US" sz="1400" b="1" dirty="0">
                <a:solidFill>
                  <a:schemeClr val="bg1"/>
                </a:solidFill>
                <a:latin typeface="微软雅黑" pitchFamily="34" charset="-122"/>
                <a:ea typeface="微软雅黑" pitchFamily="34" charset="-122"/>
              </a:rPr>
              <a:t>数据</a:t>
            </a:r>
            <a:endParaRPr lang="en-US" altLang="zh-CN" sz="1400" b="1" dirty="0" smtClean="0">
              <a:solidFill>
                <a:schemeClr val="bg1"/>
              </a:solidFill>
              <a:latin typeface="微软雅黑" pitchFamily="34" charset="-122"/>
              <a:ea typeface="微软雅黑" pitchFamily="34" charset="-122"/>
            </a:endParaRPr>
          </a:p>
        </p:txBody>
      </p:sp>
      <p:sp>
        <p:nvSpPr>
          <p:cNvPr id="16" name="矩形 15"/>
          <p:cNvSpPr/>
          <p:nvPr/>
        </p:nvSpPr>
        <p:spPr>
          <a:xfrm>
            <a:off x="5300151" y="1035415"/>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chemeClr val="bg1"/>
                </a:solidFill>
                <a:latin typeface="微软雅黑" pitchFamily="34" charset="-122"/>
                <a:ea typeface="微软雅黑" pitchFamily="34" charset="-122"/>
              </a:rPr>
              <a:t>等待随机时间</a:t>
            </a:r>
            <a:endParaRPr lang="en-US" altLang="zh-CN" sz="1200" b="1" dirty="0" smtClean="0">
              <a:solidFill>
                <a:schemeClr val="bg1"/>
              </a:solidFill>
              <a:latin typeface="微软雅黑" pitchFamily="34" charset="-122"/>
              <a:ea typeface="微软雅黑" pitchFamily="34" charset="-122"/>
            </a:endParaRPr>
          </a:p>
          <a:p>
            <a:pPr algn="ctr"/>
            <a:r>
              <a:rPr lang="zh-CN" altLang="en-US" sz="1200" b="1" dirty="0" smtClean="0">
                <a:solidFill>
                  <a:schemeClr val="bg1"/>
                </a:solidFill>
                <a:latin typeface="微软雅黑" pitchFamily="34" charset="-122"/>
                <a:ea typeface="微软雅黑" pitchFamily="34" charset="-122"/>
              </a:rPr>
              <a:t>二</a:t>
            </a:r>
            <a:r>
              <a:rPr lang="zh-CN" altLang="en-US" sz="1200" b="1" dirty="0" smtClean="0">
                <a:solidFill>
                  <a:schemeClr val="bg1"/>
                </a:solidFill>
                <a:latin typeface="微软雅黑" pitchFamily="34" charset="-122"/>
                <a:ea typeface="微软雅黑" pitchFamily="34" charset="-122"/>
              </a:rPr>
              <a:t>进制指数算法</a:t>
            </a:r>
            <a:endParaRPr lang="en-US" altLang="zh-CN" sz="1200" b="1" dirty="0" smtClean="0">
              <a:solidFill>
                <a:schemeClr val="bg1"/>
              </a:solidFill>
              <a:latin typeface="微软雅黑" pitchFamily="34" charset="-122"/>
              <a:ea typeface="微软雅黑" pitchFamily="34" charset="-122"/>
            </a:endParaRPr>
          </a:p>
        </p:txBody>
      </p:sp>
      <p:cxnSp>
        <p:nvCxnSpPr>
          <p:cNvPr id="17" name="直接箭头连接符 16"/>
          <p:cNvCxnSpPr>
            <a:stCxn id="7" idx="3"/>
            <a:endCxn id="15" idx="1"/>
          </p:cNvCxnSpPr>
          <p:nvPr/>
        </p:nvCxnSpPr>
        <p:spPr>
          <a:xfrm>
            <a:off x="3725910" y="3772717"/>
            <a:ext cx="1574242"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5" idx="0"/>
            <a:endCxn id="16" idx="2"/>
          </p:cNvCxnSpPr>
          <p:nvPr/>
        </p:nvCxnSpPr>
        <p:spPr>
          <a:xfrm flipH="1" flipV="1">
            <a:off x="6478272" y="1426165"/>
            <a:ext cx="1" cy="136363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6" idx="1"/>
            <a:endCxn id="4" idx="3"/>
          </p:cNvCxnSpPr>
          <p:nvPr/>
        </p:nvCxnSpPr>
        <p:spPr>
          <a:xfrm flipH="1">
            <a:off x="3725910" y="1230790"/>
            <a:ext cx="1574241" cy="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0" name="肘形连接符 19"/>
          <p:cNvCxnSpPr>
            <a:stCxn id="5" idx="3"/>
          </p:cNvCxnSpPr>
          <p:nvPr/>
        </p:nvCxnSpPr>
        <p:spPr>
          <a:xfrm flipV="1">
            <a:off x="3665793" y="1248933"/>
            <a:ext cx="965979"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05677" y="223782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22" name="TextBox 21"/>
          <p:cNvSpPr txBox="1"/>
          <p:nvPr/>
        </p:nvSpPr>
        <p:spPr>
          <a:xfrm>
            <a:off x="3800497" y="3515620"/>
            <a:ext cx="1107996" cy="276999"/>
          </a:xfrm>
          <a:prstGeom prst="rect">
            <a:avLst/>
          </a:prstGeom>
          <a:noFill/>
          <a:ln w="9525">
            <a:noFill/>
          </a:ln>
        </p:spPr>
        <p:txBody>
          <a:bodyPr wrap="none" rtlCol="0">
            <a:spAutoFit/>
          </a:bodyPr>
          <a:lstStyle/>
          <a:p>
            <a:r>
              <a:rPr lang="zh-CN" altLang="en-US" sz="1200" b="1" dirty="0" smtClean="0">
                <a:latin typeface="微软雅黑" pitchFamily="34" charset="-122"/>
                <a:ea typeface="微软雅黑" pitchFamily="34" charset="-122"/>
              </a:rPr>
              <a:t>是，发送失败</a:t>
            </a:r>
            <a:endParaRPr lang="zh-CN" altLang="en-US" sz="1200" b="1" dirty="0">
              <a:latin typeface="微软雅黑" pitchFamily="34" charset="-122"/>
              <a:ea typeface="微软雅黑" pitchFamily="34" charset="-122"/>
            </a:endParaRPr>
          </a:p>
        </p:txBody>
      </p:sp>
      <p:sp>
        <p:nvSpPr>
          <p:cNvPr id="23" name="TextBox 22"/>
          <p:cNvSpPr txBox="1"/>
          <p:nvPr/>
        </p:nvSpPr>
        <p:spPr>
          <a:xfrm>
            <a:off x="2137226" y="400214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4" name="TextBox 23"/>
          <p:cNvSpPr txBox="1"/>
          <p:nvPr/>
        </p:nvSpPr>
        <p:spPr>
          <a:xfrm>
            <a:off x="2137226" y="268830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5" name="矩形 24"/>
          <p:cNvSpPr/>
          <p:nvPr/>
        </p:nvSpPr>
        <p:spPr>
          <a:xfrm>
            <a:off x="5300152" y="2789795"/>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发送人为干扰信号</a:t>
            </a:r>
            <a:endParaRPr lang="en-US" altLang="zh-CN" sz="1400" b="1" dirty="0" smtClean="0">
              <a:solidFill>
                <a:schemeClr val="bg1"/>
              </a:solidFill>
              <a:latin typeface="微软雅黑" pitchFamily="34" charset="-122"/>
              <a:ea typeface="微软雅黑" pitchFamily="34" charset="-122"/>
            </a:endParaRPr>
          </a:p>
        </p:txBody>
      </p:sp>
      <p:cxnSp>
        <p:nvCxnSpPr>
          <p:cNvPr id="26" name="直接箭头连接符 25"/>
          <p:cNvCxnSpPr>
            <a:stCxn id="15" idx="0"/>
            <a:endCxn id="25" idx="2"/>
          </p:cNvCxnSpPr>
          <p:nvPr/>
        </p:nvCxnSpPr>
        <p:spPr>
          <a:xfrm flipV="1">
            <a:off x="6478273" y="3180545"/>
            <a:ext cx="0" cy="39737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9493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2758</TotalTime>
  <Words>2177</Words>
  <Application>Microsoft Office PowerPoint</Application>
  <PresentationFormat>全屏显示(16:9)</PresentationFormat>
  <Paragraphs>232</Paragraphs>
  <Slides>21</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Symbol</vt:lpstr>
      <vt:lpstr>宋体</vt:lpstr>
      <vt:lpstr>微软雅黑</vt:lpstr>
      <vt:lpstr>Calibri</vt:lpstr>
      <vt:lpstr>黑体</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sn</cp:lastModifiedBy>
  <cp:revision>473</cp:revision>
  <dcterms:created xsi:type="dcterms:W3CDTF">2018-07-18T08:51:30Z</dcterms:created>
  <dcterms:modified xsi:type="dcterms:W3CDTF">2020-03-03T02:13:34Z</dcterms:modified>
</cp:coreProperties>
</file>