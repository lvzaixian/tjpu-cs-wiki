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7" r:id="rId2"/>
    <p:sldId id="416" r:id="rId3"/>
    <p:sldId id="428" r:id="rId4"/>
    <p:sldId id="429" r:id="rId5"/>
    <p:sldId id="432" r:id="rId6"/>
    <p:sldId id="689" r:id="rId7"/>
    <p:sldId id="690" r:id="rId8"/>
    <p:sldId id="686" r:id="rId9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CC"/>
    <a:srgbClr val="009900"/>
    <a:srgbClr val="99FFCC"/>
    <a:srgbClr val="00FF99"/>
    <a:srgbClr val="3333FF"/>
    <a:srgbClr val="99CCFF"/>
    <a:srgbClr val="00FFFF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57" autoAdjust="0"/>
    <p:restoredTop sz="94650" autoAdjust="0"/>
  </p:normalViewPr>
  <p:slideViewPr>
    <p:cSldViewPr snapToGrid="0">
      <p:cViewPr varScale="1">
        <p:scale>
          <a:sx n="84" d="100"/>
          <a:sy n="84" d="100"/>
        </p:scale>
        <p:origin x="60" y="3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37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460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2588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667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68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18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3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85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674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946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308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3"/>
          <p:cNvSpPr>
            <a:spLocks noChangeShapeType="1"/>
          </p:cNvSpPr>
          <p:nvPr userDrawn="1"/>
        </p:nvSpPr>
        <p:spPr bwMode="auto">
          <a:xfrm>
            <a:off x="0" y="428092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4231482" y="123478"/>
            <a:ext cx="681036" cy="465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Line 3"/>
          <p:cNvSpPr>
            <a:spLocks noChangeShapeType="1"/>
          </p:cNvSpPr>
          <p:nvPr userDrawn="1"/>
        </p:nvSpPr>
        <p:spPr bwMode="auto">
          <a:xfrm>
            <a:off x="0" y="301530"/>
            <a:ext cx="2960498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4810742" y="164227"/>
            <a:ext cx="10652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谢希仁 编著</a:t>
            </a: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2960498" y="164857"/>
            <a:ext cx="136768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fr-FR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</a:t>
            </a:r>
            <a:r>
              <a:rPr lang="en-US" altLang="zh-CN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版</a:t>
            </a:r>
            <a:r>
              <a:rPr lang="en-US" altLang="zh-CN" sz="11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fr-FR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2942045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sp>
        <p:nvSpPr>
          <p:cNvPr id="13" name="Line 3"/>
          <p:cNvSpPr>
            <a:spLocks noChangeShapeType="1"/>
          </p:cNvSpPr>
          <p:nvPr userDrawn="1"/>
        </p:nvSpPr>
        <p:spPr bwMode="auto">
          <a:xfrm>
            <a:off x="5671079" y="301530"/>
            <a:ext cx="3472921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5671079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23" y="4662544"/>
            <a:ext cx="1125345" cy="267703"/>
          </a:xfrm>
          <a:prstGeom prst="rect">
            <a:avLst/>
          </a:prstGeom>
        </p:spPr>
      </p:pic>
      <p:sp>
        <p:nvSpPr>
          <p:cNvPr id="17" name="Line 3"/>
          <p:cNvSpPr>
            <a:spLocks noChangeShapeType="1"/>
          </p:cNvSpPr>
          <p:nvPr userDrawn="1"/>
        </p:nvSpPr>
        <p:spPr bwMode="auto">
          <a:xfrm>
            <a:off x="1266568" y="4803998"/>
            <a:ext cx="6942395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 9"/>
          <p:cNvSpPr>
            <a:spLocks noChangeArrowheads="1"/>
          </p:cNvSpPr>
          <p:nvPr userDrawn="1"/>
        </p:nvSpPr>
        <p:spPr bwMode="auto">
          <a:xfrm>
            <a:off x="8208962" y="4394656"/>
            <a:ext cx="609917" cy="60991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fr-FR">
              <a:cs typeface="Arial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049" y="4419021"/>
            <a:ext cx="503429" cy="559959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827" y="149234"/>
            <a:ext cx="358346" cy="45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0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31231" y="2544537"/>
            <a:ext cx="12065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谢希仁 </a:t>
            </a:r>
            <a:r>
              <a:rPr lang="fr-FR" sz="12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编著</a:t>
            </a:r>
            <a:endParaRPr lang="fr-FR" sz="1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9252" y="2239857"/>
            <a:ext cx="24999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hangingPunct="0">
              <a:spcBef>
                <a:spcPts val="1000"/>
              </a:spcBef>
            </a:pPr>
            <a:r>
              <a:rPr lang="fr-FR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计算机网络（第7版</a:t>
            </a:r>
            <a:r>
              <a:rPr lang="fr-FR" sz="16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fr-FR" sz="1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85818" y="2219222"/>
            <a:ext cx="3897221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55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据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链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路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层</a:t>
            </a:r>
            <a:endParaRPr lang="fr-FR" altLang="zh-CN" sz="55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65012" y="1736604"/>
            <a:ext cx="1338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fr-FR" altLang="zh-CN" sz="28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 </a:t>
            </a:r>
            <a:r>
              <a:rPr lang="fr-FR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fr-FR" altLang="zh-CN" sz="28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章</a:t>
            </a:r>
            <a:endParaRPr lang="fr-FR" altLang="zh-CN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0" y="2236899"/>
            <a:ext cx="2309091" cy="0"/>
          </a:xfrm>
          <a:prstGeom prst="line">
            <a:avLst/>
          </a:prstGeom>
          <a:ln w="19050">
            <a:solidFill>
              <a:srgbClr val="6D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77" y="2916846"/>
            <a:ext cx="1198400" cy="28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6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466345" y="1230425"/>
            <a:ext cx="8129015" cy="388721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047385" y="1188154"/>
            <a:ext cx="30492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3.1.2 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三个基本问题 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466345" y="1734890"/>
            <a:ext cx="8129015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68288" indent="-268288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数据链路层协议有许多种，但有三个基本问题则是共同的。这三个基本问题是：</a:t>
            </a:r>
          </a:p>
          <a:p>
            <a:pPr marL="633413" indent="-34290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封装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成帧</a:t>
            </a:r>
          </a:p>
          <a:p>
            <a:pPr marL="633413" indent="-34290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透明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传输</a:t>
            </a:r>
          </a:p>
          <a:p>
            <a:pPr marL="633413" indent="-34290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差错控制 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06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ChangeArrowheads="1"/>
          </p:cNvSpPr>
          <p:nvPr/>
        </p:nvSpPr>
        <p:spPr bwMode="auto">
          <a:xfrm>
            <a:off x="466345" y="1208440"/>
            <a:ext cx="8129015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差错产生原因：通信信道内噪声影响。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差错程度参数：误码率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BER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差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错检测措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施：数据信息码后加入冗余码，判断差错。 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冗余码分类： 检错码、纠错码。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i="1" dirty="0" smtClean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en-US" sz="2000" b="1" i="1" dirty="0" smtClean="0">
                <a:latin typeface="微软雅黑" pitchFamily="34" charset="-122"/>
                <a:ea typeface="微软雅黑" pitchFamily="34" charset="-122"/>
              </a:rPr>
              <a:t>数据链路层传送的帧中，广泛使</a:t>
            </a:r>
            <a:r>
              <a:rPr lang="zh-CN" altLang="en-US" sz="2000" b="1" i="1" dirty="0" smtClean="0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zh-CN" altLang="en-US" sz="2000" b="1" i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</a:t>
            </a:r>
            <a:r>
              <a:rPr lang="zh-CN" altLang="en-US" sz="2000" b="1" i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环冗余检验</a:t>
            </a:r>
            <a:r>
              <a:rPr lang="zh-CN" altLang="en-US" sz="2000" b="1" i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i="1" dirty="0" smtClean="0"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000" b="1" i="1" dirty="0" smtClean="0">
                <a:latin typeface="微软雅黑" pitchFamily="34" charset="-122"/>
                <a:ea typeface="微软雅黑" pitchFamily="34" charset="-122"/>
              </a:rPr>
              <a:t>的检错技术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466345" y="86871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3768616" y="835502"/>
            <a:ext cx="15969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3.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差错检测</a:t>
            </a:r>
            <a:endParaRPr lang="fr-FR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524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466344" y="1202481"/>
            <a:ext cx="4356027" cy="297763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466344" y="690465"/>
            <a:ext cx="8129015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16085" y="63908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循环冗余检验的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原理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7507" y="1613754"/>
            <a:ext cx="2332892" cy="299698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原始数据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90396" y="1613754"/>
            <a:ext cx="1184033" cy="299698"/>
          </a:xfrm>
          <a:prstGeom prst="rect">
            <a:avLst/>
          </a:prstGeom>
          <a:solidFill>
            <a:srgbClr val="00FF9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冗余码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7507" y="2539878"/>
            <a:ext cx="3516922" cy="299698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发送数据</a:t>
            </a:r>
            <a:endParaRPr lang="zh-CN" altLang="en-US" sz="14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56437" y="1339043"/>
            <a:ext cx="476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 i="1" dirty="0" smtClean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2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位</a:t>
            </a:r>
            <a:endParaRPr lang="zh-CN" altLang="en-US" sz="1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499167" y="1339043"/>
            <a:ext cx="4844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 i="1" dirty="0" smtClean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2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位</a:t>
            </a:r>
            <a:endParaRPr lang="zh-CN" altLang="en-US" sz="1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下箭头 13"/>
          <p:cNvSpPr/>
          <p:nvPr/>
        </p:nvSpPr>
        <p:spPr>
          <a:xfrm>
            <a:off x="2440121" y="2018962"/>
            <a:ext cx="208780" cy="410308"/>
          </a:xfrm>
          <a:prstGeom prst="downArrow">
            <a:avLst/>
          </a:prstGeom>
          <a:solidFill>
            <a:srgbClr val="00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230560" y="2838763"/>
            <a:ext cx="7857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 i="1" dirty="0" smtClean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200" b="1" dirty="0" smtClean="0">
                <a:latin typeface="微软雅黑" pitchFamily="34" charset="-122"/>
                <a:ea typeface="微软雅黑" pitchFamily="34" charset="-122"/>
              </a:rPr>
              <a:t> + </a:t>
            </a:r>
            <a:r>
              <a:rPr lang="en-US" altLang="zh-CN" sz="1200" b="1" i="1" dirty="0" smtClean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2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位</a:t>
            </a:r>
            <a:endParaRPr lang="zh-CN" altLang="en-US" sz="12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190399" y="2539878"/>
            <a:ext cx="0" cy="29969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下箭头 17"/>
          <p:cNvSpPr/>
          <p:nvPr/>
        </p:nvSpPr>
        <p:spPr>
          <a:xfrm>
            <a:off x="2440121" y="3162654"/>
            <a:ext cx="208780" cy="410308"/>
          </a:xfrm>
          <a:prstGeom prst="downArrow">
            <a:avLst/>
          </a:prstGeom>
          <a:solidFill>
            <a:srgbClr val="00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2230560" y="3689371"/>
            <a:ext cx="679713" cy="276999"/>
          </a:xfrm>
          <a:prstGeom prst="roundRect">
            <a:avLst/>
          </a:prstGeom>
          <a:solidFill>
            <a:srgbClr val="CC00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</a:t>
            </a:r>
            <a:endParaRPr lang="zh-CN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20616" y="1336537"/>
            <a:ext cx="3696515" cy="2208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在发送端，先把数据划分为组。假定每组 </a:t>
            </a:r>
            <a:r>
              <a:rPr lang="en-US" altLang="zh-CN" sz="2000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个比特。 </a:t>
            </a:r>
          </a:p>
          <a:p>
            <a:pPr marL="285750" lvl="0" indent="-28575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在每组 </a:t>
            </a:r>
            <a:r>
              <a:rPr lang="en-US" altLang="zh-CN" sz="2000" b="1" i="1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后面</a:t>
            </a:r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再添加供差错检测用的 </a:t>
            </a:r>
            <a:r>
              <a:rPr lang="en-US" altLang="zh-CN" sz="2000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冗余码，</a:t>
            </a:r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然后一起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发送出去。 </a:t>
            </a:r>
            <a:endParaRPr lang="zh-CN" altLang="en-US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093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43"/>
          <p:cNvSpPr/>
          <p:nvPr/>
        </p:nvSpPr>
        <p:spPr>
          <a:xfrm>
            <a:off x="466344" y="1028233"/>
            <a:ext cx="8129015" cy="332697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66344" y="627200"/>
            <a:ext cx="8129015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16085" y="575816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循环冗余检验的原理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说明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660204" y="1118782"/>
            <a:ext cx="5586506" cy="3122156"/>
            <a:chOff x="669696" y="1204869"/>
            <a:chExt cx="8778542" cy="5056277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669696" y="1645619"/>
              <a:ext cx="1160847" cy="384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 (</a:t>
              </a:r>
              <a:r>
                <a:rPr lang="zh-CN" altLang="en-US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除数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endParaRPr lang="zh-CN" altLang="en-US" sz="15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351435" y="1644427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4067523" y="1206277"/>
              <a:ext cx="1421987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110100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3483322" y="1641251"/>
              <a:ext cx="2386013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101001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000</a:t>
              </a:r>
              <a:endParaRPr lang="en-US" altLang="zh-CN" sz="15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5993010" y="1664374"/>
              <a:ext cx="2316906" cy="373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1500" b="1" i="1" baseline="30000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M </a:t>
              </a:r>
              <a:r>
                <a:rPr lang="en-US" altLang="zh-CN" sz="15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zh-CN" altLang="en-US" sz="15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被除数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endParaRPr lang="en-US" altLang="zh-CN" sz="15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3483322" y="1993677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691285" y="2395314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1110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3688109" y="2706463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3892897" y="3096989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0111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3892897" y="3401788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0000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4086571" y="3787551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1110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4083397" y="4116166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4285011" y="4463826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0110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4285011" y="4787677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0000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Rectangle 18"/>
            <p:cNvSpPr>
              <a:spLocks noChangeArrowheads="1"/>
            </p:cNvSpPr>
            <p:nvPr/>
          </p:nvSpPr>
          <p:spPr bwMode="auto">
            <a:xfrm>
              <a:off x="4451021" y="5140103"/>
              <a:ext cx="767423" cy="384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1100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4448079" y="5467128"/>
              <a:ext cx="767423" cy="384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4689410" y="5876703"/>
              <a:ext cx="575567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001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6071115" y="5846473"/>
              <a:ext cx="3377123" cy="373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15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zh-CN" altLang="en-US" sz="15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余数</a:t>
              </a:r>
              <a:r>
                <a:rPr lang="en-US" altLang="zh-CN" sz="15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r>
                <a:rPr lang="zh-CN" altLang="en-US" sz="15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，作为 </a:t>
              </a:r>
              <a:r>
                <a:rPr lang="en-US" altLang="zh-CN" sz="15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FCS</a:t>
              </a: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3199160" y="1626964"/>
              <a:ext cx="2600325" cy="454025"/>
            </a:xfrm>
            <a:custGeom>
              <a:avLst/>
              <a:gdLst>
                <a:gd name="T0" fmla="*/ 0 w 944"/>
                <a:gd name="T1" fmla="*/ 2147483647 h 134"/>
                <a:gd name="T2" fmla="*/ 2147483647 w 944"/>
                <a:gd name="T3" fmla="*/ 2147483647 h 134"/>
                <a:gd name="T4" fmla="*/ 2147483647 w 944"/>
                <a:gd name="T5" fmla="*/ 2147483647 h 134"/>
                <a:gd name="T6" fmla="*/ 2147483647 w 944"/>
                <a:gd name="T7" fmla="*/ 2147483647 h 134"/>
                <a:gd name="T8" fmla="*/ 2147483647 w 944"/>
                <a:gd name="T9" fmla="*/ 2147483647 h 134"/>
                <a:gd name="T10" fmla="*/ 2147483647 w 944"/>
                <a:gd name="T11" fmla="*/ 2147483647 h 134"/>
                <a:gd name="T12" fmla="*/ 2147483647 w 944"/>
                <a:gd name="T13" fmla="*/ 2147483647 h 134"/>
                <a:gd name="T14" fmla="*/ 2147483647 w 944"/>
                <a:gd name="T15" fmla="*/ 2147483647 h 134"/>
                <a:gd name="T16" fmla="*/ 2147483647 w 944"/>
                <a:gd name="T17" fmla="*/ 2147483647 h 134"/>
                <a:gd name="T18" fmla="*/ 2147483647 w 944"/>
                <a:gd name="T19" fmla="*/ 2147483647 h 134"/>
                <a:gd name="T20" fmla="*/ 2147483647 w 944"/>
                <a:gd name="T21" fmla="*/ 2147483647 h 134"/>
                <a:gd name="T22" fmla="*/ 2147483647 w 944"/>
                <a:gd name="T23" fmla="*/ 2147483647 h 134"/>
                <a:gd name="T24" fmla="*/ 2147483647 w 944"/>
                <a:gd name="T25" fmla="*/ 2147483647 h 134"/>
                <a:gd name="T26" fmla="*/ 2147483647 w 944"/>
                <a:gd name="T27" fmla="*/ 2147483647 h 134"/>
                <a:gd name="T28" fmla="*/ 2147483647 w 944"/>
                <a:gd name="T29" fmla="*/ 2147483647 h 134"/>
                <a:gd name="T30" fmla="*/ 2147483647 w 944"/>
                <a:gd name="T31" fmla="*/ 2147483647 h 134"/>
                <a:gd name="T32" fmla="*/ 2147483647 w 944"/>
                <a:gd name="T33" fmla="*/ 2147483647 h 134"/>
                <a:gd name="T34" fmla="*/ 2147483647 w 944"/>
                <a:gd name="T35" fmla="*/ 2147483647 h 134"/>
                <a:gd name="T36" fmla="*/ 2147483647 w 944"/>
                <a:gd name="T37" fmla="*/ 0 h 134"/>
                <a:gd name="T38" fmla="*/ 2147483647 w 944"/>
                <a:gd name="T39" fmla="*/ 0 h 134"/>
                <a:gd name="T40" fmla="*/ 2147483647 w 944"/>
                <a:gd name="T41" fmla="*/ 0 h 134"/>
                <a:gd name="T42" fmla="*/ 2147483647 w 944"/>
                <a:gd name="T43" fmla="*/ 0 h 1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944" h="134">
                  <a:moveTo>
                    <a:pt x="0" y="134"/>
                  </a:moveTo>
                  <a:lnTo>
                    <a:pt x="4" y="134"/>
                  </a:lnTo>
                  <a:lnTo>
                    <a:pt x="4" y="129"/>
                  </a:lnTo>
                  <a:lnTo>
                    <a:pt x="13" y="129"/>
                  </a:lnTo>
                  <a:lnTo>
                    <a:pt x="18" y="125"/>
                  </a:lnTo>
                  <a:lnTo>
                    <a:pt x="22" y="120"/>
                  </a:lnTo>
                  <a:lnTo>
                    <a:pt x="31" y="111"/>
                  </a:lnTo>
                  <a:lnTo>
                    <a:pt x="36" y="103"/>
                  </a:lnTo>
                  <a:lnTo>
                    <a:pt x="40" y="94"/>
                  </a:lnTo>
                  <a:lnTo>
                    <a:pt x="45" y="80"/>
                  </a:lnTo>
                  <a:lnTo>
                    <a:pt x="45" y="67"/>
                  </a:lnTo>
                  <a:lnTo>
                    <a:pt x="45" y="54"/>
                  </a:lnTo>
                  <a:lnTo>
                    <a:pt x="40" y="45"/>
                  </a:lnTo>
                  <a:lnTo>
                    <a:pt x="36" y="31"/>
                  </a:lnTo>
                  <a:lnTo>
                    <a:pt x="31" y="22"/>
                  </a:lnTo>
                  <a:lnTo>
                    <a:pt x="27" y="18"/>
                  </a:lnTo>
                  <a:lnTo>
                    <a:pt x="18" y="9"/>
                  </a:lnTo>
                  <a:lnTo>
                    <a:pt x="13" y="5"/>
                  </a:lnTo>
                  <a:lnTo>
                    <a:pt x="9" y="0"/>
                  </a:lnTo>
                  <a:lnTo>
                    <a:pt x="944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937097" y="1836514"/>
              <a:ext cx="34448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4333979" y="1991047"/>
              <a:ext cx="19050" cy="43814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4518128" y="1978347"/>
              <a:ext cx="15876" cy="11414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4675650" y="1991047"/>
              <a:ext cx="25400" cy="176530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4861388" y="1991047"/>
              <a:ext cx="33337" cy="24399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3492039" y="2379622"/>
              <a:ext cx="757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3686881" y="3092410"/>
              <a:ext cx="7572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>
              <a:off x="3859530" y="3779798"/>
              <a:ext cx="7588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4107210" y="4467185"/>
              <a:ext cx="757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4244483" y="5141873"/>
              <a:ext cx="7588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4519547" y="5860827"/>
              <a:ext cx="7572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35"/>
            <p:cNvSpPr>
              <a:spLocks noChangeShapeType="1"/>
            </p:cNvSpPr>
            <p:nvPr/>
          </p:nvSpPr>
          <p:spPr bwMode="auto">
            <a:xfrm>
              <a:off x="5047606" y="1992635"/>
              <a:ext cx="39687" cy="318293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H="1">
              <a:off x="5386636" y="1849214"/>
              <a:ext cx="5048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flipH="1">
              <a:off x="5489510" y="6037039"/>
              <a:ext cx="504825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5978721" y="1204869"/>
              <a:ext cx="900993" cy="384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 (</a:t>
              </a:r>
              <a:r>
                <a:rPr lang="zh-CN" altLang="en-US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商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endParaRPr lang="zh-CN" altLang="en-US" sz="15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 flipH="1">
              <a:off x="5385048" y="1399952"/>
              <a:ext cx="5048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圆角矩形 2"/>
          <p:cNvSpPr/>
          <p:nvPr/>
        </p:nvSpPr>
        <p:spPr>
          <a:xfrm>
            <a:off x="773570" y="1932390"/>
            <a:ext cx="2690979" cy="1722556"/>
          </a:xfrm>
          <a:prstGeom prst="roundRect">
            <a:avLst>
              <a:gd name="adj" fmla="val 1054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原始数据 </a:t>
            </a:r>
            <a:r>
              <a:rPr lang="en-US" altLang="zh-CN" sz="1600" b="1" i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= 101001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除数 </a:t>
            </a:r>
            <a:r>
              <a:rPr lang="en-US" altLang="zh-CN" sz="1600" b="1" i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= 1101</a:t>
            </a:r>
          </a:p>
          <a:p>
            <a:pPr>
              <a:lnSpc>
                <a:spcPct val="120000"/>
              </a:lnSpc>
            </a:pPr>
            <a:endParaRPr lang="en-US" altLang="zh-CN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得到：</a:t>
            </a:r>
            <a:endParaRPr lang="en-US" altLang="zh-CN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发送数据 </a:t>
            </a: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= 101001</a:t>
            </a:r>
            <a:r>
              <a:rPr lang="en-US" altLang="zh-CN" sz="1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001</a:t>
            </a:r>
            <a:endParaRPr lang="zh-CN" altLang="en-US" sz="1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2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43"/>
          <p:cNvSpPr/>
          <p:nvPr/>
        </p:nvSpPr>
        <p:spPr>
          <a:xfrm>
            <a:off x="466344" y="1028233"/>
            <a:ext cx="8129015" cy="332697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66344" y="627200"/>
            <a:ext cx="8129015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16085" y="575816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生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成多项式与二进制对应关系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73570" y="1580444"/>
            <a:ext cx="6361008" cy="2074502"/>
          </a:xfrm>
          <a:prstGeom prst="roundRect">
            <a:avLst>
              <a:gd name="adj" fmla="val 1054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二进制数据： 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1    0    1    0    0     1</a:t>
            </a:r>
            <a:endParaRPr lang="en-US" altLang="zh-CN" sz="24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对应位：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4    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    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    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     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多</a:t>
            </a:r>
            <a:r>
              <a:rPr lang="zh-CN" altLang="en-US" sz="2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项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式：       </a:t>
            </a:r>
            <a:r>
              <a:rPr lang="en-US" altLang="zh-CN" sz="24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2400" b="1" baseline="30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          </a:t>
            </a:r>
            <a:r>
              <a:rPr lang="en-US" altLang="zh-CN" sz="2400" b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+      1</a:t>
            </a:r>
            <a:endParaRPr lang="en-US" altLang="zh-CN" sz="2400" b="1" baseline="30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65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43"/>
          <p:cNvSpPr/>
          <p:nvPr/>
        </p:nvSpPr>
        <p:spPr>
          <a:xfrm>
            <a:off x="466344" y="1028233"/>
            <a:ext cx="8129015" cy="332697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66344" y="627200"/>
            <a:ext cx="8129015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16085" y="5758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接收端检验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的原理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说明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660204" y="1118782"/>
            <a:ext cx="5586506" cy="3115602"/>
            <a:chOff x="669696" y="1204869"/>
            <a:chExt cx="8778542" cy="5045663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669696" y="1645619"/>
              <a:ext cx="1160847" cy="384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 (</a:t>
              </a:r>
              <a:r>
                <a:rPr lang="zh-CN" altLang="en-US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除数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endParaRPr lang="zh-CN" altLang="en-US" sz="15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351435" y="1644427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4067523" y="1206277"/>
              <a:ext cx="1421987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110100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3483322" y="1641251"/>
              <a:ext cx="2386013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101001001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5993010" y="1664374"/>
              <a:ext cx="2316906" cy="373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1500" b="1" i="1" baseline="30000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M </a:t>
              </a:r>
              <a:r>
                <a:rPr lang="en-US" altLang="zh-CN" sz="15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zh-CN" altLang="en-US" sz="15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被除数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endParaRPr lang="en-US" altLang="zh-CN" sz="15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3483322" y="1993677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691285" y="2395314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1110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3688109" y="2706463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3892897" y="3096989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0111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3892897" y="3401788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0000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4086571" y="3787551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1110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4083397" y="4116166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4285011" y="4463826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0110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4285011" y="4787677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0000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Rectangle 18"/>
            <p:cNvSpPr>
              <a:spLocks noChangeArrowheads="1"/>
            </p:cNvSpPr>
            <p:nvPr/>
          </p:nvSpPr>
          <p:spPr bwMode="auto">
            <a:xfrm>
              <a:off x="4451021" y="5140103"/>
              <a:ext cx="745604" cy="373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1101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4448079" y="5467128"/>
              <a:ext cx="767423" cy="384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4689411" y="5876704"/>
              <a:ext cx="549128" cy="373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itchFamily="34" charset="-122"/>
                  <a:ea typeface="微软雅黑" pitchFamily="34" charset="-122"/>
                </a:rPr>
                <a:t>    0</a:t>
              </a:r>
              <a:endParaRPr lang="en-US" altLang="zh-CN" sz="15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6071115" y="5846473"/>
              <a:ext cx="3377123" cy="373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15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zh-CN" altLang="en-US" sz="15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余数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)=0</a:t>
              </a:r>
              <a:r>
                <a:rPr lang="zh-CN" altLang="en-US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，正确</a:t>
              </a:r>
              <a:endParaRPr lang="en-US" altLang="zh-CN" sz="15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3199160" y="1626964"/>
              <a:ext cx="2600325" cy="454025"/>
            </a:xfrm>
            <a:custGeom>
              <a:avLst/>
              <a:gdLst>
                <a:gd name="T0" fmla="*/ 0 w 944"/>
                <a:gd name="T1" fmla="*/ 2147483647 h 134"/>
                <a:gd name="T2" fmla="*/ 2147483647 w 944"/>
                <a:gd name="T3" fmla="*/ 2147483647 h 134"/>
                <a:gd name="T4" fmla="*/ 2147483647 w 944"/>
                <a:gd name="T5" fmla="*/ 2147483647 h 134"/>
                <a:gd name="T6" fmla="*/ 2147483647 w 944"/>
                <a:gd name="T7" fmla="*/ 2147483647 h 134"/>
                <a:gd name="T8" fmla="*/ 2147483647 w 944"/>
                <a:gd name="T9" fmla="*/ 2147483647 h 134"/>
                <a:gd name="T10" fmla="*/ 2147483647 w 944"/>
                <a:gd name="T11" fmla="*/ 2147483647 h 134"/>
                <a:gd name="T12" fmla="*/ 2147483647 w 944"/>
                <a:gd name="T13" fmla="*/ 2147483647 h 134"/>
                <a:gd name="T14" fmla="*/ 2147483647 w 944"/>
                <a:gd name="T15" fmla="*/ 2147483647 h 134"/>
                <a:gd name="T16" fmla="*/ 2147483647 w 944"/>
                <a:gd name="T17" fmla="*/ 2147483647 h 134"/>
                <a:gd name="T18" fmla="*/ 2147483647 w 944"/>
                <a:gd name="T19" fmla="*/ 2147483647 h 134"/>
                <a:gd name="T20" fmla="*/ 2147483647 w 944"/>
                <a:gd name="T21" fmla="*/ 2147483647 h 134"/>
                <a:gd name="T22" fmla="*/ 2147483647 w 944"/>
                <a:gd name="T23" fmla="*/ 2147483647 h 134"/>
                <a:gd name="T24" fmla="*/ 2147483647 w 944"/>
                <a:gd name="T25" fmla="*/ 2147483647 h 134"/>
                <a:gd name="T26" fmla="*/ 2147483647 w 944"/>
                <a:gd name="T27" fmla="*/ 2147483647 h 134"/>
                <a:gd name="T28" fmla="*/ 2147483647 w 944"/>
                <a:gd name="T29" fmla="*/ 2147483647 h 134"/>
                <a:gd name="T30" fmla="*/ 2147483647 w 944"/>
                <a:gd name="T31" fmla="*/ 2147483647 h 134"/>
                <a:gd name="T32" fmla="*/ 2147483647 w 944"/>
                <a:gd name="T33" fmla="*/ 2147483647 h 134"/>
                <a:gd name="T34" fmla="*/ 2147483647 w 944"/>
                <a:gd name="T35" fmla="*/ 2147483647 h 134"/>
                <a:gd name="T36" fmla="*/ 2147483647 w 944"/>
                <a:gd name="T37" fmla="*/ 0 h 134"/>
                <a:gd name="T38" fmla="*/ 2147483647 w 944"/>
                <a:gd name="T39" fmla="*/ 0 h 134"/>
                <a:gd name="T40" fmla="*/ 2147483647 w 944"/>
                <a:gd name="T41" fmla="*/ 0 h 134"/>
                <a:gd name="T42" fmla="*/ 2147483647 w 944"/>
                <a:gd name="T43" fmla="*/ 0 h 1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944" h="134">
                  <a:moveTo>
                    <a:pt x="0" y="134"/>
                  </a:moveTo>
                  <a:lnTo>
                    <a:pt x="4" y="134"/>
                  </a:lnTo>
                  <a:lnTo>
                    <a:pt x="4" y="129"/>
                  </a:lnTo>
                  <a:lnTo>
                    <a:pt x="13" y="129"/>
                  </a:lnTo>
                  <a:lnTo>
                    <a:pt x="18" y="125"/>
                  </a:lnTo>
                  <a:lnTo>
                    <a:pt x="22" y="120"/>
                  </a:lnTo>
                  <a:lnTo>
                    <a:pt x="31" y="111"/>
                  </a:lnTo>
                  <a:lnTo>
                    <a:pt x="36" y="103"/>
                  </a:lnTo>
                  <a:lnTo>
                    <a:pt x="40" y="94"/>
                  </a:lnTo>
                  <a:lnTo>
                    <a:pt x="45" y="80"/>
                  </a:lnTo>
                  <a:lnTo>
                    <a:pt x="45" y="67"/>
                  </a:lnTo>
                  <a:lnTo>
                    <a:pt x="45" y="54"/>
                  </a:lnTo>
                  <a:lnTo>
                    <a:pt x="40" y="45"/>
                  </a:lnTo>
                  <a:lnTo>
                    <a:pt x="36" y="31"/>
                  </a:lnTo>
                  <a:lnTo>
                    <a:pt x="31" y="22"/>
                  </a:lnTo>
                  <a:lnTo>
                    <a:pt x="27" y="18"/>
                  </a:lnTo>
                  <a:lnTo>
                    <a:pt x="18" y="9"/>
                  </a:lnTo>
                  <a:lnTo>
                    <a:pt x="13" y="5"/>
                  </a:lnTo>
                  <a:lnTo>
                    <a:pt x="9" y="0"/>
                  </a:lnTo>
                  <a:lnTo>
                    <a:pt x="944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937097" y="1836514"/>
              <a:ext cx="34448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4333979" y="1991047"/>
              <a:ext cx="19050" cy="43814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4518128" y="1978347"/>
              <a:ext cx="15876" cy="11414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4675650" y="1991047"/>
              <a:ext cx="25400" cy="176530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4861388" y="1991047"/>
              <a:ext cx="33337" cy="24399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3492039" y="2379622"/>
              <a:ext cx="757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3686881" y="3092410"/>
              <a:ext cx="7572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>
              <a:off x="3859530" y="3779798"/>
              <a:ext cx="7588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4107210" y="4467185"/>
              <a:ext cx="757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4244483" y="5141873"/>
              <a:ext cx="7588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4519547" y="5860827"/>
              <a:ext cx="7572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35"/>
            <p:cNvSpPr>
              <a:spLocks noChangeShapeType="1"/>
            </p:cNvSpPr>
            <p:nvPr/>
          </p:nvSpPr>
          <p:spPr bwMode="auto">
            <a:xfrm>
              <a:off x="5047606" y="1992635"/>
              <a:ext cx="39687" cy="318293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H="1">
              <a:off x="5386636" y="1849214"/>
              <a:ext cx="5048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flipH="1">
              <a:off x="5489510" y="6037039"/>
              <a:ext cx="504825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5978721" y="1204869"/>
              <a:ext cx="900993" cy="384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 (</a:t>
              </a:r>
              <a:r>
                <a:rPr lang="zh-CN" altLang="en-US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商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endParaRPr lang="zh-CN" altLang="en-US" sz="15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 flipH="1">
              <a:off x="5385048" y="1399952"/>
              <a:ext cx="5048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圆角矩形 2"/>
          <p:cNvSpPr/>
          <p:nvPr/>
        </p:nvSpPr>
        <p:spPr>
          <a:xfrm>
            <a:off x="773570" y="1932390"/>
            <a:ext cx="2690979" cy="1722556"/>
          </a:xfrm>
          <a:prstGeom prst="roundRect">
            <a:avLst>
              <a:gd name="adj" fmla="val 1054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收到数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据 </a:t>
            </a: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= 101001</a:t>
            </a:r>
            <a:r>
              <a:rPr lang="en-US" altLang="zh-CN" sz="1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001</a:t>
            </a:r>
            <a:endParaRPr lang="zh-CN" altLang="en-US" sz="1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除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数 </a:t>
            </a:r>
            <a:r>
              <a:rPr lang="en-US" altLang="zh-CN" sz="1600" b="1" i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= 1101</a:t>
            </a:r>
          </a:p>
          <a:p>
            <a:pPr>
              <a:lnSpc>
                <a:spcPct val="120000"/>
              </a:lnSpc>
            </a:pPr>
            <a:endParaRPr lang="en-US" altLang="zh-CN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判断：</a:t>
            </a:r>
            <a:endParaRPr lang="en-US" altLang="zh-CN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余数 </a:t>
            </a: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？</a:t>
            </a:r>
            <a:endParaRPr lang="zh-CN" altLang="en-US" sz="1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542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66344" y="905978"/>
            <a:ext cx="8129015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16085" y="863738"/>
            <a:ext cx="20136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帧检验序列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FCS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6344" y="1302387"/>
            <a:ext cx="8302752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在数据后面添加上的冗余码称为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帧检验序列 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FCS (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Frame Check Sequence)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循环冗余检验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和帧检验序列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0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并不等同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542925" indent="-34290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是一种常用的检错方法，而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是添加在数据后面的冗余码。</a:t>
            </a:r>
          </a:p>
          <a:p>
            <a:pPr marL="542925" indent="-34290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可以用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这种方法得出，但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并非用来获得 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的唯一方法。 </a:t>
            </a:r>
          </a:p>
        </p:txBody>
      </p:sp>
    </p:spTree>
    <p:extLst>
      <p:ext uri="{BB962C8B-B14F-4D97-AF65-F5344CB8AC3E}">
        <p14:creationId xmlns:p14="http://schemas.microsoft.com/office/powerpoint/2010/main" val="360976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2744</TotalTime>
  <Words>546</Words>
  <Application>Microsoft Office PowerPoint</Application>
  <PresentationFormat>全屏显示(16:9)</PresentationFormat>
  <Paragraphs>85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宋体</vt:lpstr>
      <vt:lpstr>微软雅黑</vt:lpstr>
      <vt:lpstr>Calibri</vt:lpstr>
      <vt:lpstr>Wingdings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sn</cp:lastModifiedBy>
  <cp:revision>470</cp:revision>
  <dcterms:created xsi:type="dcterms:W3CDTF">2018-07-18T08:51:30Z</dcterms:created>
  <dcterms:modified xsi:type="dcterms:W3CDTF">2020-03-03T05:41:29Z</dcterms:modified>
</cp:coreProperties>
</file>