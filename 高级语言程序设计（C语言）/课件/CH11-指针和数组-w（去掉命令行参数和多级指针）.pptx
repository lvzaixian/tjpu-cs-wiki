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69" r:id="rId2"/>
    <p:sldId id="370" r:id="rId3"/>
    <p:sldId id="270" r:id="rId4"/>
    <p:sldId id="271" r:id="rId5"/>
    <p:sldId id="371" r:id="rId6"/>
    <p:sldId id="310" r:id="rId7"/>
    <p:sldId id="335" r:id="rId8"/>
    <p:sldId id="336" r:id="rId9"/>
    <p:sldId id="312" r:id="rId10"/>
    <p:sldId id="392" r:id="rId11"/>
    <p:sldId id="350" r:id="rId12"/>
    <p:sldId id="274" r:id="rId13"/>
    <p:sldId id="304" r:id="rId14"/>
    <p:sldId id="342" r:id="rId15"/>
    <p:sldId id="391" r:id="rId16"/>
    <p:sldId id="276" r:id="rId17"/>
    <p:sldId id="277" r:id="rId18"/>
    <p:sldId id="278" r:id="rId19"/>
    <p:sldId id="378" r:id="rId20"/>
    <p:sldId id="356" r:id="rId21"/>
    <p:sldId id="346" r:id="rId22"/>
    <p:sldId id="290" r:id="rId23"/>
    <p:sldId id="381" r:id="rId24"/>
    <p:sldId id="305" r:id="rId25"/>
    <p:sldId id="323" r:id="rId26"/>
    <p:sldId id="297" r:id="rId27"/>
    <p:sldId id="341" r:id="rId28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FF00"/>
    <a:srgbClr val="DDDDDD"/>
    <a:srgbClr val="339933"/>
    <a:srgbClr val="0000FF"/>
    <a:srgbClr val="C9C9C9"/>
    <a:srgbClr val="96969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162" y="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4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sz="1200" strike="noStrike" noProof="1"/>
          </a:p>
        </p:txBody>
      </p:sp>
      <p:sp>
        <p:nvSpPr>
          <p:cNvPr id="3075" name="日期占位符 3074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zh-CN" altLang="en-US" sz="1200" strike="noStrike" noProof="1"/>
          </a:p>
        </p:txBody>
      </p:sp>
      <p:sp>
        <p:nvSpPr>
          <p:cNvPr id="3076" name="页脚占位符 3075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zh-CN" sz="1200" strike="noStrike" noProof="1"/>
          </a:p>
        </p:txBody>
      </p:sp>
      <p:sp>
        <p:nvSpPr>
          <p:cNvPr id="3077" name="灯片编号占位符 3076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sz="1200" strike="noStrike" noProof="1"/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zh-CN" altLang="en-US" sz="1200" strike="noStrike" noProof="1"/>
          </a:p>
        </p:txBody>
      </p:sp>
      <p:sp>
        <p:nvSpPr>
          <p:cNvPr id="3076" name="幻灯片图像占位符 20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2052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 dirty="0"/>
              <a:t>单击以编辑母版文本样式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zh-CN" sz="1200" strike="noStrike" noProof="1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64865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3554" name="文本占位符 164866"/>
          <p:cNvSpPr>
            <a:spLocks noGrp="1"/>
          </p:cNvSpPr>
          <p:nvPr>
            <p:ph type="body"/>
          </p:nvPr>
        </p:nvSpPr>
        <p:spPr/>
        <p:txBody>
          <a:bodyPr anchor="t"/>
          <a:lstStyle/>
          <a:p>
            <a:pPr lvl="0" indent="0"/>
            <a:endParaRPr lang="zh-CN" altLang="en-US" dirty="0"/>
          </a:p>
        </p:txBody>
      </p:sp>
      <p:sp>
        <p:nvSpPr>
          <p:cNvPr id="23555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 eaLnBrk="1" hangingPunct="1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876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876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6248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6248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8193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8194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  <p:sndAc>
      <p:stSnd>
        <p:snd r:embed="rId13" name="CAMERA.WAV"/>
      </p:stSnd>
    </p:sndAc>
  </p:transition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Char char="§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«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v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FFCC00"/>
        </a:buClr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FF00FF"/>
        </a:buClr>
        <a:buFont typeface="Wingdings" panose="05000000000000000000" pitchFamily="2" charset="2"/>
        <a:buChar char="u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FF00FF"/>
        </a:buClr>
        <a:buFont typeface="Wingdings" panose="05000000000000000000" pitchFamily="2" charset="2"/>
        <a:buChar char="u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FF00FF"/>
        </a:buClr>
        <a:buFont typeface="Wingdings" panose="05000000000000000000" pitchFamily="2" charset="2"/>
        <a:buChar char="u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FF00FF"/>
        </a:buClr>
        <a:buFont typeface="Wingdings" panose="05000000000000000000" pitchFamily="2" charset="2"/>
        <a:buChar char="u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FF00FF"/>
        </a:buClr>
        <a:buFont typeface="Wingdings" panose="05000000000000000000" pitchFamily="2" charset="2"/>
        <a:buChar char="u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D:\TC\TC.EX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D:\TC\TC.EX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D:\TC\TC.EX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hyperlink" Target="file:///D:\TC\TC.EXE" TargetMode="Externa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占位符 21505"/>
          <p:cNvSpPr>
            <a:spLocks noGrp="1"/>
          </p:cNvSpPr>
          <p:nvPr>
            <p:ph type="body"/>
          </p:nvPr>
        </p:nvSpPr>
        <p:spPr>
          <a:xfrm>
            <a:off x="0" y="411163"/>
            <a:ext cx="8531225" cy="1139825"/>
          </a:xfrm>
        </p:spPr>
        <p:txBody>
          <a:bodyPr anchor="t"/>
          <a:lstStyle/>
          <a:p>
            <a:pPr lvl="0" indent="-342900"/>
            <a:r>
              <a:rPr lang="en-US" altLang="zh-CN" dirty="0"/>
              <a:t>11.1 </a:t>
            </a:r>
            <a:r>
              <a:rPr lang="zh-CN" altLang="en-US" dirty="0"/>
              <a:t>指针与一维数组</a:t>
            </a:r>
          </a:p>
          <a:p>
            <a:pPr lvl="1" indent="-285750"/>
            <a:r>
              <a:rPr lang="zh-CN" altLang="en-US" dirty="0"/>
              <a:t>指向数组元素的指针变量</a:t>
            </a:r>
          </a:p>
        </p:txBody>
      </p:sp>
      <p:sp>
        <p:nvSpPr>
          <p:cNvPr id="21507" name="文本框 21506"/>
          <p:cNvSpPr txBox="1"/>
          <p:nvPr/>
        </p:nvSpPr>
        <p:spPr>
          <a:xfrm>
            <a:off x="1125538" y="1504950"/>
            <a:ext cx="4548187" cy="191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indent="0"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 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array[10];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*p;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p=&amp;array[0];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//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p=array;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0" indent="0" eaLnBrk="0" hangingPunct="0"/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或   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*p=&amp;array[0];</a:t>
            </a:r>
          </a:p>
          <a:p>
            <a:pPr lvl="0" indent="0"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或   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*p=array;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581" name="组合 21580"/>
          <p:cNvGrpSpPr/>
          <p:nvPr/>
        </p:nvGrpSpPr>
        <p:grpSpPr>
          <a:xfrm>
            <a:off x="5730875" y="571500"/>
            <a:ext cx="3413125" cy="3771900"/>
            <a:chOff x="3295" y="492"/>
            <a:chExt cx="2150" cy="2376"/>
          </a:xfrm>
        </p:grpSpPr>
        <p:grpSp>
          <p:nvGrpSpPr>
            <p:cNvPr id="4100" name="组合 21573"/>
            <p:cNvGrpSpPr/>
            <p:nvPr/>
          </p:nvGrpSpPr>
          <p:grpSpPr>
            <a:xfrm>
              <a:off x="3451" y="492"/>
              <a:ext cx="1613" cy="2376"/>
              <a:chOff x="3451" y="492"/>
              <a:chExt cx="1613" cy="2376"/>
            </a:xfrm>
          </p:grpSpPr>
          <p:grpSp>
            <p:nvGrpSpPr>
              <p:cNvPr id="4101" name="组合 21562"/>
              <p:cNvGrpSpPr/>
              <p:nvPr/>
            </p:nvGrpSpPr>
            <p:grpSpPr>
              <a:xfrm>
                <a:off x="4128" y="492"/>
                <a:ext cx="936" cy="2376"/>
                <a:chOff x="4032" y="444"/>
                <a:chExt cx="936" cy="2376"/>
              </a:xfrm>
            </p:grpSpPr>
            <p:sp>
              <p:nvSpPr>
                <p:cNvPr id="4102" name="折角形 21511"/>
                <p:cNvSpPr/>
                <p:nvPr/>
              </p:nvSpPr>
              <p:spPr>
                <a:xfrm>
                  <a:off x="4032" y="444"/>
                  <a:ext cx="936" cy="2376"/>
                </a:xfrm>
                <a:prstGeom prst="foldedCorner">
                  <a:avLst>
                    <a:gd name="adj" fmla="val 13745"/>
                  </a:avLst>
                </a:prstGeom>
                <a:solidFill>
                  <a:schemeClr val="bg1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  <p:txBody>
                <a:bodyPr wrap="none" lIns="90000" tIns="46800" rIns="90000" bIns="46800" anchor="ctr"/>
                <a:lstStyle/>
                <a:p>
                  <a:pPr lvl="0" indent="0" algn="ctr" eaLnBrk="1" hangingPunct="1"/>
                  <a:endPara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4103" name="直接连接符 21512"/>
                <p:cNvSpPr/>
                <p:nvPr/>
              </p:nvSpPr>
              <p:spPr>
                <a:xfrm>
                  <a:off x="4032" y="756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04" name="直接连接符 21513"/>
                <p:cNvSpPr/>
                <p:nvPr/>
              </p:nvSpPr>
              <p:spPr>
                <a:xfrm>
                  <a:off x="4032" y="984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05" name="直接连接符 21514"/>
                <p:cNvSpPr/>
                <p:nvPr/>
              </p:nvSpPr>
              <p:spPr>
                <a:xfrm>
                  <a:off x="4032" y="1212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06" name="直接连接符 21515"/>
                <p:cNvSpPr/>
                <p:nvPr/>
              </p:nvSpPr>
              <p:spPr>
                <a:xfrm>
                  <a:off x="4032" y="1440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07" name="直接连接符 21516"/>
                <p:cNvSpPr/>
                <p:nvPr/>
              </p:nvSpPr>
              <p:spPr>
                <a:xfrm>
                  <a:off x="4032" y="1668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08" name="直接连接符 21517"/>
                <p:cNvSpPr/>
                <p:nvPr/>
              </p:nvSpPr>
              <p:spPr>
                <a:xfrm>
                  <a:off x="4032" y="1896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09" name="直接连接符 21518"/>
                <p:cNvSpPr/>
                <p:nvPr/>
              </p:nvSpPr>
              <p:spPr>
                <a:xfrm>
                  <a:off x="4032" y="2124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0" name="直接连接符 21519"/>
                <p:cNvSpPr/>
                <p:nvPr/>
              </p:nvSpPr>
              <p:spPr>
                <a:xfrm>
                  <a:off x="4032" y="2352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1" name="直接连接符 21551"/>
                <p:cNvSpPr/>
                <p:nvPr/>
              </p:nvSpPr>
              <p:spPr>
                <a:xfrm>
                  <a:off x="4608" y="1440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</p:grpSp>
          <p:grpSp>
            <p:nvGrpSpPr>
              <p:cNvPr id="4112" name="组合 21553"/>
              <p:cNvGrpSpPr/>
              <p:nvPr/>
            </p:nvGrpSpPr>
            <p:grpSpPr>
              <a:xfrm>
                <a:off x="4128" y="912"/>
                <a:ext cx="60" cy="1368"/>
                <a:chOff x="4032" y="864"/>
                <a:chExt cx="60" cy="1368"/>
              </a:xfrm>
            </p:grpSpPr>
            <p:sp>
              <p:nvSpPr>
                <p:cNvPr id="4113" name="直接连接符 21545"/>
                <p:cNvSpPr/>
                <p:nvPr/>
              </p:nvSpPr>
              <p:spPr>
                <a:xfrm>
                  <a:off x="4032" y="86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4" name="直接连接符 21546"/>
                <p:cNvSpPr/>
                <p:nvPr/>
              </p:nvSpPr>
              <p:spPr>
                <a:xfrm>
                  <a:off x="4032" y="1320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5" name="直接连接符 21547"/>
                <p:cNvSpPr/>
                <p:nvPr/>
              </p:nvSpPr>
              <p:spPr>
                <a:xfrm>
                  <a:off x="4032" y="1548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6" name="直接连接符 21548"/>
                <p:cNvSpPr/>
                <p:nvPr/>
              </p:nvSpPr>
              <p:spPr>
                <a:xfrm>
                  <a:off x="4032" y="1776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7" name="直接连接符 21549"/>
                <p:cNvSpPr/>
                <p:nvPr/>
              </p:nvSpPr>
              <p:spPr>
                <a:xfrm>
                  <a:off x="4032" y="200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8" name="直接连接符 21550"/>
                <p:cNvSpPr/>
                <p:nvPr/>
              </p:nvSpPr>
              <p:spPr>
                <a:xfrm>
                  <a:off x="4032" y="223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19" name="直接连接符 21552"/>
                <p:cNvSpPr/>
                <p:nvPr/>
              </p:nvSpPr>
              <p:spPr>
                <a:xfrm>
                  <a:off x="4032" y="109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</p:grpSp>
          <p:grpSp>
            <p:nvGrpSpPr>
              <p:cNvPr id="4120" name="组合 21554"/>
              <p:cNvGrpSpPr/>
              <p:nvPr/>
            </p:nvGrpSpPr>
            <p:grpSpPr>
              <a:xfrm>
                <a:off x="4992" y="924"/>
                <a:ext cx="60" cy="1368"/>
                <a:chOff x="4032" y="864"/>
                <a:chExt cx="60" cy="1368"/>
              </a:xfrm>
            </p:grpSpPr>
            <p:sp>
              <p:nvSpPr>
                <p:cNvPr id="4121" name="直接连接符 21555"/>
                <p:cNvSpPr/>
                <p:nvPr/>
              </p:nvSpPr>
              <p:spPr>
                <a:xfrm>
                  <a:off x="4032" y="86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22" name="直接连接符 21556"/>
                <p:cNvSpPr/>
                <p:nvPr/>
              </p:nvSpPr>
              <p:spPr>
                <a:xfrm>
                  <a:off x="4032" y="1320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23" name="直接连接符 21557"/>
                <p:cNvSpPr/>
                <p:nvPr/>
              </p:nvSpPr>
              <p:spPr>
                <a:xfrm>
                  <a:off x="4032" y="1548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24" name="直接连接符 21558"/>
                <p:cNvSpPr/>
                <p:nvPr/>
              </p:nvSpPr>
              <p:spPr>
                <a:xfrm>
                  <a:off x="4032" y="1776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25" name="直接连接符 21559"/>
                <p:cNvSpPr/>
                <p:nvPr/>
              </p:nvSpPr>
              <p:spPr>
                <a:xfrm>
                  <a:off x="4032" y="200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26" name="直接连接符 21560"/>
                <p:cNvSpPr/>
                <p:nvPr/>
              </p:nvSpPr>
              <p:spPr>
                <a:xfrm>
                  <a:off x="4032" y="223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4127" name="直接连接符 21561"/>
                <p:cNvSpPr/>
                <p:nvPr/>
              </p:nvSpPr>
              <p:spPr>
                <a:xfrm>
                  <a:off x="4032" y="109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</p:grpSp>
          <p:sp>
            <p:nvSpPr>
              <p:cNvPr id="4128" name="文本框 21564"/>
              <p:cNvSpPr txBox="1"/>
              <p:nvPr/>
            </p:nvSpPr>
            <p:spPr>
              <a:xfrm>
                <a:off x="3451" y="756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array[0]</a:t>
                </a:r>
              </a:p>
            </p:txBody>
          </p:sp>
          <p:sp>
            <p:nvSpPr>
              <p:cNvPr id="4129" name="文本框 21565"/>
              <p:cNvSpPr txBox="1"/>
              <p:nvPr/>
            </p:nvSpPr>
            <p:spPr>
              <a:xfrm>
                <a:off x="3451" y="982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array[1]</a:t>
                </a:r>
              </a:p>
            </p:txBody>
          </p:sp>
          <p:sp>
            <p:nvSpPr>
              <p:cNvPr id="4130" name="文本框 21566"/>
              <p:cNvSpPr txBox="1"/>
              <p:nvPr/>
            </p:nvSpPr>
            <p:spPr>
              <a:xfrm>
                <a:off x="3451" y="1208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array[2]</a:t>
                </a:r>
              </a:p>
            </p:txBody>
          </p:sp>
          <p:sp>
            <p:nvSpPr>
              <p:cNvPr id="4131" name="文本框 21567"/>
              <p:cNvSpPr txBox="1"/>
              <p:nvPr/>
            </p:nvSpPr>
            <p:spPr>
              <a:xfrm>
                <a:off x="3451" y="1434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array[3]</a:t>
                </a:r>
              </a:p>
            </p:txBody>
          </p:sp>
          <p:sp>
            <p:nvSpPr>
              <p:cNvPr id="4132" name="文本框 21570"/>
              <p:cNvSpPr txBox="1"/>
              <p:nvPr/>
            </p:nvSpPr>
            <p:spPr>
              <a:xfrm>
                <a:off x="3451" y="1896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array[9]</a:t>
                </a:r>
              </a:p>
            </p:txBody>
          </p:sp>
          <p:sp>
            <p:nvSpPr>
              <p:cNvPr id="4133" name="文本框 21571"/>
              <p:cNvSpPr txBox="1"/>
              <p:nvPr/>
            </p:nvSpPr>
            <p:spPr>
              <a:xfrm>
                <a:off x="4448" y="1759"/>
                <a:ext cx="344" cy="20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...</a:t>
                </a:r>
              </a:p>
            </p:txBody>
          </p:sp>
        </p:grpSp>
        <p:sp>
          <p:nvSpPr>
            <p:cNvPr id="4134" name="文本框 21574"/>
            <p:cNvSpPr txBox="1"/>
            <p:nvPr/>
          </p:nvSpPr>
          <p:spPr>
            <a:xfrm>
              <a:off x="3295" y="2100"/>
              <a:ext cx="85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sz="2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整型指针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135" name="文本框 21576"/>
            <p:cNvSpPr txBox="1"/>
            <p:nvPr/>
          </p:nvSpPr>
          <p:spPr>
            <a:xfrm>
              <a:off x="4197" y="2143"/>
              <a:ext cx="75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 sz="2000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&amp;array[0]</a:t>
              </a:r>
              <a:endParaRPr lang="en-US" altLang="zh-CN" sz="2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4136" name="组合 21579"/>
            <p:cNvGrpSpPr/>
            <p:nvPr/>
          </p:nvGrpSpPr>
          <p:grpSpPr>
            <a:xfrm>
              <a:off x="5028" y="648"/>
              <a:ext cx="417" cy="288"/>
              <a:chOff x="5028" y="648"/>
              <a:chExt cx="417" cy="288"/>
            </a:xfrm>
          </p:grpSpPr>
          <p:sp>
            <p:nvSpPr>
              <p:cNvPr id="4137" name="直接连接符 21577"/>
              <p:cNvSpPr/>
              <p:nvPr/>
            </p:nvSpPr>
            <p:spPr>
              <a:xfrm flipH="1">
                <a:off x="5028" y="804"/>
                <a:ext cx="264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lg" len="lg"/>
                <a:tailEnd type="triangle" w="med" len="med"/>
              </a:ln>
            </p:spPr>
          </p:sp>
          <p:sp>
            <p:nvSpPr>
              <p:cNvPr id="4138" name="文本框 21578"/>
              <p:cNvSpPr txBox="1"/>
              <p:nvPr/>
            </p:nvSpPr>
            <p:spPr>
              <a:xfrm>
                <a:off x="5235" y="648"/>
                <a:ext cx="21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p</a:t>
                </a:r>
                <a:endParaRPr lang="en-US" altLang="zh-CN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21582" name="矩形 21581"/>
          <p:cNvSpPr/>
          <p:nvPr/>
        </p:nvSpPr>
        <p:spPr>
          <a:xfrm>
            <a:off x="400050" y="4019550"/>
            <a:ext cx="5095875" cy="4953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339966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数组名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是表示数组</a:t>
            </a:r>
            <a:r>
              <a:rPr lang="zh-CN" altLang="en-US" dirty="0">
                <a:solidFill>
                  <a:srgbClr val="33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首地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址的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地址常量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15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1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 bldLvl="5"/>
      <p:bldP spid="21507" grpId="0"/>
      <p:bldP spid="2158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矩形 139266"/>
          <p:cNvSpPr/>
          <p:nvPr/>
        </p:nvSpPr>
        <p:spPr>
          <a:xfrm>
            <a:off x="0" y="974725"/>
            <a:ext cx="7251700" cy="307181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«"/>
            </a:pPr>
            <a:r>
              <a:rPr lang="zh-CN" altLang="en-US" sz="2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指针的运算</a:t>
            </a:r>
            <a:endParaRPr lang="zh-CN" altLang="en-US" sz="28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指针变量的赋值运算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p=&amp;a;             (将变量a地址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p)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p=array;          (将数组array首地址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p)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p=&amp;array[i];   (将数组元素地址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p)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p1=p2;            (指针变量p2值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p1)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不能把一个整数p,也不能把p的值整型变量</a:t>
            </a:r>
            <a:endParaRPr lang="en-US" altLang="zh-CN" sz="20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39268" name="文本框 139267"/>
          <p:cNvSpPr txBox="1"/>
          <p:nvPr/>
        </p:nvSpPr>
        <p:spPr>
          <a:xfrm>
            <a:off x="5537200" y="377825"/>
            <a:ext cx="2978150" cy="1225550"/>
          </a:xfrm>
          <a:prstGeom prst="rect">
            <a:avLst/>
          </a:prstGeom>
          <a:noFill/>
          <a:ln w="38100" cap="flat" cmpd="sng">
            <a:solidFill>
              <a:srgbClr val="339933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如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i,   *p;</a:t>
            </a: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p=1000;          (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i=p;                (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39269" name="矩形标注 139268"/>
          <p:cNvSpPr/>
          <p:nvPr/>
        </p:nvSpPr>
        <p:spPr>
          <a:xfrm>
            <a:off x="1009650" y="4705350"/>
            <a:ext cx="6010275" cy="495300"/>
          </a:xfrm>
          <a:prstGeom prst="wedgeRectCallout">
            <a:avLst>
              <a:gd name="adj1" fmla="val 8556"/>
              <a:gd name="adj2" fmla="val -222435"/>
            </a:avLst>
          </a:prstGeom>
          <a:solidFill>
            <a:schemeClr val="bg1"/>
          </a:solidFill>
          <a:ln w="38100" cap="flat" cmpd="sng">
            <a:solidFill>
              <a:srgbClr val="339966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指针变量与其指向的变量具有相同</a:t>
            </a:r>
            <a:r>
              <a:rPr lang="zh-CN" altLang="en-US" dirty="0">
                <a:solidFill>
                  <a:srgbClr val="33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数据类型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 bldLvl="4"/>
      <p:bldP spid="139268" grpId="0" animBg="1"/>
      <p:bldP spid="13926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2529"/>
          <p:cNvSpPr/>
          <p:nvPr/>
        </p:nvSpPr>
        <p:spPr>
          <a:xfrm>
            <a:off x="311150" y="265113"/>
            <a:ext cx="8620125" cy="19478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指针的算术运算：</a:t>
            </a:r>
            <a:endParaRPr lang="zh-CN" altLang="zh-CN" sz="2400" b="1" i="1" u="none" baseline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en-US" altLang="zh-CN" sz="2000" b="1" i="1" u="none" baseline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</a:t>
            </a:r>
            <a:r>
              <a:rPr lang="en-US" altLang="zh-CN" sz="2000" b="1" i="1" u="none" baseline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i    p id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(i为整型数，</a:t>
            </a:r>
            <a:r>
              <a:rPr lang="zh-CN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d为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p指向的变量所占字节数)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p++, p--, p+i, p-i, p+=i, p-=i等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若</a:t>
            </a:r>
            <a:r>
              <a:rPr lang="zh-CN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p1与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p2指向同一数组，p1-p2=两指针间元素个数</a:t>
            </a:r>
            <a:r>
              <a:rPr lang="en-US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(p1-p2)/d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en-US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p1+p2  </a:t>
            </a:r>
            <a:r>
              <a:rPr lang="zh-CN" altLang="en-US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无意义</a:t>
            </a:r>
            <a:endParaRPr lang="zh-CN" altLang="en-US" sz="20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2531" name="文本框 22530"/>
          <p:cNvSpPr txBox="1"/>
          <p:nvPr/>
        </p:nvSpPr>
        <p:spPr>
          <a:xfrm>
            <a:off x="454025" y="2398713"/>
            <a:ext cx="421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indent="0" eaLnBrk="0" hangingPunct="0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p指向float数，则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p+1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 p+1 4</a:t>
            </a:r>
            <a:endParaRPr lang="en-US" altLang="zh-CN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2532" name="文本框 22531"/>
          <p:cNvSpPr txBox="1"/>
          <p:nvPr/>
        </p:nvSpPr>
        <p:spPr>
          <a:xfrm>
            <a:off x="454025" y="3052763"/>
            <a:ext cx="3681413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indent="0" eaLnBrk="0" hangingPunct="0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p指向</a:t>
            </a:r>
            <a:r>
              <a:rPr lang="en-US" altLang="zh-CN" sz="200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型数组，且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p=&amp;a[0];</a:t>
            </a:r>
          </a:p>
          <a:p>
            <a:pPr lvl="0" indent="0" eaLnBrk="0" hangingPunct="0"/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则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p+1 指向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a[1]</a:t>
            </a:r>
          </a:p>
        </p:txBody>
      </p:sp>
      <p:sp>
        <p:nvSpPr>
          <p:cNvPr id="22533" name="文本框 22532"/>
          <p:cNvSpPr txBox="1"/>
          <p:nvPr/>
        </p:nvSpPr>
        <p:spPr>
          <a:xfrm>
            <a:off x="454025" y="3822700"/>
            <a:ext cx="2093913" cy="13112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indent="0" eaLnBrk="0" hangingPunct="0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r>
              <a:rPr lang="en-US" altLang="zh-CN" sz="200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a[10];</a:t>
            </a:r>
          </a:p>
          <a:p>
            <a:pPr lvl="0" indent="0" eaLnBrk="0" hangingPunct="0"/>
            <a:r>
              <a:rPr lang="en-US" altLang="zh-CN" sz="2000" err="1">
                <a:latin typeface="Times New Roman" panose="02020603050405020304" pitchFamily="18" charset="0"/>
                <a:ea typeface="宋体" panose="02010600030101010101" pitchFamily="2" charset="-122"/>
              </a:rPr>
              <a:t>      int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*p=&amp;a[2];</a:t>
            </a:r>
          </a:p>
          <a:p>
            <a:pPr lvl="0" indent="0" eaLnBrk="0" hangingPunct="0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p++;</a:t>
            </a:r>
          </a:p>
          <a:p>
            <a:pPr lvl="0" indent="0" eaLnBrk="0" hangingPunct="0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*p=1;</a:t>
            </a:r>
          </a:p>
        </p:txBody>
      </p:sp>
      <p:sp>
        <p:nvSpPr>
          <p:cNvPr id="22567" name="文本框 22566"/>
          <p:cNvSpPr txBox="1"/>
          <p:nvPr/>
        </p:nvSpPr>
        <p:spPr>
          <a:xfrm>
            <a:off x="454025" y="5248275"/>
            <a:ext cx="2157413" cy="13112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例   </a:t>
            </a:r>
            <a:r>
              <a:rPr lang="en-US" altLang="zh-CN" sz="200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a[10];</a:t>
            </a:r>
          </a:p>
          <a:p>
            <a:pPr lvl="0" indent="0" eaLnBrk="1" hangingPunct="1"/>
            <a:r>
              <a:rPr lang="en-US" altLang="zh-CN" sz="2000" err="1">
                <a:latin typeface="Times New Roman" panose="02020603050405020304" pitchFamily="18" charset="0"/>
                <a:ea typeface="宋体" panose="02010600030101010101" pitchFamily="2" charset="-122"/>
              </a:rPr>
              <a:t>       int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*p1=&amp;a[2];</a:t>
            </a:r>
          </a:p>
          <a:p>
            <a:pPr lvl="0" indent="0" eaLnBrk="1" hangingPunct="1"/>
            <a:r>
              <a:rPr lang="en-US" altLang="zh-CN" sz="2000" err="1">
                <a:latin typeface="Times New Roman" panose="02020603050405020304" pitchFamily="18" charset="0"/>
                <a:ea typeface="宋体" panose="02010600030101010101" pitchFamily="2" charset="-122"/>
              </a:rPr>
              <a:t>       int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*p2=&amp;a[5];</a:t>
            </a:r>
          </a:p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则：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p2-p1=3;</a:t>
            </a:r>
          </a:p>
        </p:txBody>
      </p:sp>
      <p:sp>
        <p:nvSpPr>
          <p:cNvPr id="6150" name="动作按钮: 前进或下一项 22567">
            <a:hlinkClick r:id="" action="ppaction://hlinkshowjump?jump=nextslide"/>
          </p:cNvPr>
          <p:cNvSpPr/>
          <p:nvPr/>
        </p:nvSpPr>
        <p:spPr>
          <a:xfrm>
            <a:off x="8432800" y="6243638"/>
            <a:ext cx="476250" cy="387350"/>
          </a:xfrm>
          <a:prstGeom prst="actionButtonForwardNex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582" name="组合 22581"/>
          <p:cNvGrpSpPr/>
          <p:nvPr/>
        </p:nvGrpSpPr>
        <p:grpSpPr>
          <a:xfrm>
            <a:off x="4545013" y="2320925"/>
            <a:ext cx="3905250" cy="4221163"/>
            <a:chOff x="2863" y="1462"/>
            <a:chExt cx="2460" cy="2659"/>
          </a:xfrm>
        </p:grpSpPr>
        <p:grpSp>
          <p:nvGrpSpPr>
            <p:cNvPr id="6152" name="组合 22564"/>
            <p:cNvGrpSpPr/>
            <p:nvPr/>
          </p:nvGrpSpPr>
          <p:grpSpPr>
            <a:xfrm>
              <a:off x="2863" y="1462"/>
              <a:ext cx="2460" cy="2659"/>
              <a:chOff x="3152" y="1307"/>
              <a:chExt cx="2460" cy="2659"/>
            </a:xfrm>
          </p:grpSpPr>
          <p:grpSp>
            <p:nvGrpSpPr>
              <p:cNvPr id="6153" name="组合 22533"/>
              <p:cNvGrpSpPr/>
              <p:nvPr/>
            </p:nvGrpSpPr>
            <p:grpSpPr>
              <a:xfrm>
                <a:off x="3152" y="1307"/>
                <a:ext cx="2460" cy="2659"/>
                <a:chOff x="3152" y="1307"/>
                <a:chExt cx="2460" cy="2659"/>
              </a:xfrm>
            </p:grpSpPr>
            <p:sp>
              <p:nvSpPr>
                <p:cNvPr id="6154" name="矩形 22534"/>
                <p:cNvSpPr/>
                <p:nvPr/>
              </p:nvSpPr>
              <p:spPr>
                <a:xfrm>
                  <a:off x="4122" y="1544"/>
                  <a:ext cx="1134" cy="2422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lvl="0" indent="0" eaLnBrk="0" hangingPunct="0"/>
                  <a:endPara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5" name="直接连接符 22535"/>
                <p:cNvSpPr/>
                <p:nvPr/>
              </p:nvSpPr>
              <p:spPr>
                <a:xfrm>
                  <a:off x="4122" y="1777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56" name="直接连接符 22536"/>
                <p:cNvSpPr/>
                <p:nvPr/>
              </p:nvSpPr>
              <p:spPr>
                <a:xfrm>
                  <a:off x="4128" y="1995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57" name="直接连接符 22537"/>
                <p:cNvSpPr/>
                <p:nvPr/>
              </p:nvSpPr>
              <p:spPr>
                <a:xfrm>
                  <a:off x="4107" y="2218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58" name="直接连接符 22538"/>
                <p:cNvSpPr/>
                <p:nvPr/>
              </p:nvSpPr>
              <p:spPr>
                <a:xfrm>
                  <a:off x="4129" y="2462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59" name="直接连接符 22539"/>
                <p:cNvSpPr/>
                <p:nvPr/>
              </p:nvSpPr>
              <p:spPr>
                <a:xfrm>
                  <a:off x="4136" y="2702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60" name="直接连接符 22540"/>
                <p:cNvSpPr/>
                <p:nvPr/>
              </p:nvSpPr>
              <p:spPr>
                <a:xfrm>
                  <a:off x="4125" y="2947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61" name="直接连接符 22541"/>
                <p:cNvSpPr/>
                <p:nvPr/>
              </p:nvSpPr>
              <p:spPr>
                <a:xfrm>
                  <a:off x="4125" y="3214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62" name="直接连接符 22542"/>
                <p:cNvSpPr/>
                <p:nvPr/>
              </p:nvSpPr>
              <p:spPr>
                <a:xfrm>
                  <a:off x="4136" y="3469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63" name="直接连接符 22543"/>
                <p:cNvSpPr/>
                <p:nvPr/>
              </p:nvSpPr>
              <p:spPr>
                <a:xfrm>
                  <a:off x="4136" y="3736"/>
                  <a:ext cx="113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64" name="文本框 22544"/>
                <p:cNvSpPr txBox="1"/>
                <p:nvPr/>
              </p:nvSpPr>
              <p:spPr>
                <a:xfrm>
                  <a:off x="5239" y="1530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a[0]</a:t>
                  </a:r>
                </a:p>
              </p:txBody>
            </p:sp>
            <p:sp>
              <p:nvSpPr>
                <p:cNvPr id="6165" name="文本框 22545"/>
                <p:cNvSpPr txBox="1"/>
                <p:nvPr/>
              </p:nvSpPr>
              <p:spPr>
                <a:xfrm>
                  <a:off x="5239" y="1772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a[1]</a:t>
                  </a:r>
                </a:p>
              </p:txBody>
            </p:sp>
            <p:sp>
              <p:nvSpPr>
                <p:cNvPr id="6166" name="文本框 22546"/>
                <p:cNvSpPr txBox="1"/>
                <p:nvPr/>
              </p:nvSpPr>
              <p:spPr>
                <a:xfrm>
                  <a:off x="5239" y="2013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a[2]</a:t>
                  </a:r>
                </a:p>
              </p:txBody>
            </p:sp>
            <p:sp>
              <p:nvSpPr>
                <p:cNvPr id="6167" name="文本框 22547"/>
                <p:cNvSpPr txBox="1"/>
                <p:nvPr/>
              </p:nvSpPr>
              <p:spPr>
                <a:xfrm>
                  <a:off x="5239" y="2255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a[3]</a:t>
                  </a:r>
                </a:p>
              </p:txBody>
            </p:sp>
            <p:sp>
              <p:nvSpPr>
                <p:cNvPr id="6168" name="文本框 22548"/>
                <p:cNvSpPr txBox="1"/>
                <p:nvPr/>
              </p:nvSpPr>
              <p:spPr>
                <a:xfrm>
                  <a:off x="5239" y="2496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a[4]</a:t>
                  </a:r>
                </a:p>
              </p:txBody>
            </p:sp>
            <p:sp>
              <p:nvSpPr>
                <p:cNvPr id="6169" name="文本框 22549"/>
                <p:cNvSpPr txBox="1"/>
                <p:nvPr/>
              </p:nvSpPr>
              <p:spPr>
                <a:xfrm>
                  <a:off x="5239" y="2738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a[5]</a:t>
                  </a:r>
                </a:p>
              </p:txBody>
            </p:sp>
            <p:sp>
              <p:nvSpPr>
                <p:cNvPr id="6170" name="文本框 22550"/>
                <p:cNvSpPr txBox="1"/>
                <p:nvPr/>
              </p:nvSpPr>
              <p:spPr>
                <a:xfrm>
                  <a:off x="5239" y="2979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a[6]</a:t>
                  </a:r>
                </a:p>
              </p:txBody>
            </p:sp>
            <p:sp>
              <p:nvSpPr>
                <p:cNvPr id="6171" name="文本框 22551"/>
                <p:cNvSpPr txBox="1"/>
                <p:nvPr/>
              </p:nvSpPr>
              <p:spPr>
                <a:xfrm>
                  <a:off x="5239" y="3221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a[7]</a:t>
                  </a:r>
                </a:p>
              </p:txBody>
            </p:sp>
            <p:sp>
              <p:nvSpPr>
                <p:cNvPr id="6172" name="文本框 22552"/>
                <p:cNvSpPr txBox="1"/>
                <p:nvPr/>
              </p:nvSpPr>
              <p:spPr>
                <a:xfrm>
                  <a:off x="5239" y="3462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a[8]</a:t>
                  </a:r>
                </a:p>
              </p:txBody>
            </p:sp>
            <p:sp>
              <p:nvSpPr>
                <p:cNvPr id="6173" name="文本框 22553"/>
                <p:cNvSpPr txBox="1"/>
                <p:nvPr/>
              </p:nvSpPr>
              <p:spPr>
                <a:xfrm>
                  <a:off x="5239" y="3703"/>
                  <a:ext cx="37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a[9]</a:t>
                  </a:r>
                </a:p>
              </p:txBody>
            </p:sp>
            <p:sp>
              <p:nvSpPr>
                <p:cNvPr id="6174" name="文本框 22554"/>
                <p:cNvSpPr txBox="1"/>
                <p:nvPr/>
              </p:nvSpPr>
              <p:spPr>
                <a:xfrm>
                  <a:off x="4426" y="1307"/>
                  <a:ext cx="507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zh-CN" altLang="zh-CN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a数组</a:t>
                  </a:r>
                  <a:endPara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75" name="直接连接符 22555"/>
                <p:cNvSpPr/>
                <p:nvPr/>
              </p:nvSpPr>
              <p:spPr>
                <a:xfrm>
                  <a:off x="3745" y="1555"/>
                  <a:ext cx="37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6176" name="文本框 22556"/>
                <p:cNvSpPr txBox="1"/>
                <p:nvPr/>
              </p:nvSpPr>
              <p:spPr>
                <a:xfrm>
                  <a:off x="3458" y="1397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</a:p>
              </p:txBody>
            </p:sp>
            <p:sp>
              <p:nvSpPr>
                <p:cNvPr id="6177" name="直接连接符 22557"/>
                <p:cNvSpPr/>
                <p:nvPr/>
              </p:nvSpPr>
              <p:spPr>
                <a:xfrm>
                  <a:off x="3756" y="1778"/>
                  <a:ext cx="367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6178" name="文本框 22558"/>
                <p:cNvSpPr txBox="1"/>
                <p:nvPr/>
              </p:nvSpPr>
              <p:spPr>
                <a:xfrm>
                  <a:off x="3156" y="1642"/>
                  <a:ext cx="647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p+1,a+1</a:t>
                  </a:r>
                </a:p>
              </p:txBody>
            </p:sp>
            <p:sp>
              <p:nvSpPr>
                <p:cNvPr id="6179" name="直接连接符 22559"/>
                <p:cNvSpPr/>
                <p:nvPr/>
              </p:nvSpPr>
              <p:spPr>
                <a:xfrm>
                  <a:off x="3767" y="2700"/>
                  <a:ext cx="356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6180" name="文本框 22560"/>
                <p:cNvSpPr txBox="1"/>
                <p:nvPr/>
              </p:nvSpPr>
              <p:spPr>
                <a:xfrm>
                  <a:off x="3189" y="2549"/>
                  <a:ext cx="575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p+i,a+i</a:t>
                  </a:r>
                </a:p>
              </p:txBody>
            </p:sp>
            <p:sp>
              <p:nvSpPr>
                <p:cNvPr id="6181" name="直接连接符 22561"/>
                <p:cNvSpPr/>
                <p:nvPr/>
              </p:nvSpPr>
              <p:spPr>
                <a:xfrm>
                  <a:off x="3767" y="3733"/>
                  <a:ext cx="367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6182" name="文本框 22562"/>
                <p:cNvSpPr txBox="1"/>
                <p:nvPr/>
              </p:nvSpPr>
              <p:spPr>
                <a:xfrm>
                  <a:off x="3152" y="3594"/>
                  <a:ext cx="647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lvl="0" indent="0" algn="ctr" eaLnBrk="0" hangingPunct="0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p+9,a+9</a:t>
                  </a:r>
                </a:p>
              </p:txBody>
            </p:sp>
          </p:grpSp>
          <p:sp>
            <p:nvSpPr>
              <p:cNvPr id="6183" name="文本框 22563"/>
              <p:cNvSpPr txBox="1"/>
              <p:nvPr/>
            </p:nvSpPr>
            <p:spPr>
              <a:xfrm>
                <a:off x="4599" y="2195"/>
                <a:ext cx="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84" name="直接连接符 22568"/>
            <p:cNvSpPr/>
            <p:nvPr/>
          </p:nvSpPr>
          <p:spPr>
            <a:xfrm>
              <a:off x="3823" y="1811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85" name="直接连接符 22569"/>
            <p:cNvSpPr/>
            <p:nvPr/>
          </p:nvSpPr>
          <p:spPr>
            <a:xfrm>
              <a:off x="3823" y="2054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86" name="直接连接符 22570"/>
            <p:cNvSpPr/>
            <p:nvPr/>
          </p:nvSpPr>
          <p:spPr>
            <a:xfrm>
              <a:off x="3823" y="2275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87" name="直接连接符 22571"/>
            <p:cNvSpPr/>
            <p:nvPr/>
          </p:nvSpPr>
          <p:spPr>
            <a:xfrm>
              <a:off x="3823" y="2508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88" name="直接连接符 22572"/>
            <p:cNvSpPr/>
            <p:nvPr/>
          </p:nvSpPr>
          <p:spPr>
            <a:xfrm>
              <a:off x="3823" y="2750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89" name="直接连接符 22573"/>
            <p:cNvSpPr/>
            <p:nvPr/>
          </p:nvSpPr>
          <p:spPr>
            <a:xfrm>
              <a:off x="3823" y="2994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90" name="直接连接符 22574"/>
            <p:cNvSpPr/>
            <p:nvPr/>
          </p:nvSpPr>
          <p:spPr>
            <a:xfrm>
              <a:off x="3823" y="3514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91" name="直接连接符 22575"/>
            <p:cNvSpPr/>
            <p:nvPr/>
          </p:nvSpPr>
          <p:spPr>
            <a:xfrm>
              <a:off x="3823" y="3757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92" name="直接连接符 22576"/>
            <p:cNvSpPr/>
            <p:nvPr/>
          </p:nvSpPr>
          <p:spPr>
            <a:xfrm>
              <a:off x="3823" y="4001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93" name="直接连接符 22578"/>
            <p:cNvSpPr/>
            <p:nvPr/>
          </p:nvSpPr>
          <p:spPr>
            <a:xfrm>
              <a:off x="3823" y="3238"/>
              <a:ext cx="11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22581" name="文本框 22580"/>
          <p:cNvSpPr txBox="1"/>
          <p:nvPr/>
        </p:nvSpPr>
        <p:spPr>
          <a:xfrm>
            <a:off x="6842125" y="37163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2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00" fill="hold"/>
                                        <p:tgtEl>
                                          <p:spTgt spid="2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300" fill="hold"/>
                                        <p:tgtEl>
                                          <p:spTgt spid="2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22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22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22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225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bldLvl="4"/>
      <p:bldP spid="22531" grpId="0" build="p"/>
      <p:bldP spid="22532" grpId="0"/>
      <p:bldP spid="22533" grpId="0"/>
      <p:bldP spid="22567" grpId="0" build="p"/>
      <p:bldP spid="2258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23553"/>
          <p:cNvSpPr/>
          <p:nvPr/>
        </p:nvSpPr>
        <p:spPr>
          <a:xfrm>
            <a:off x="238125" y="604838"/>
            <a:ext cx="7477125" cy="28813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指针变量的关系运算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若p1和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p2指向同一数组，则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p1&lt;p2    表示p1指的元素在前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p1&gt;p2    表示p1指的元素在后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p1==p2  表示</a:t>
            </a:r>
            <a:r>
              <a:rPr lang="zh-CN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p1与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p2指向同一元素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若p1与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p2不指向同一数组，比较无意义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p==NULL或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p!=NULL</a:t>
            </a:r>
            <a:endParaRPr lang="en-US" altLang="zh-CN" sz="20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动作按钮: 后退或前一项 23558">
            <a:hlinkClick r:id="" action="ppaction://hlinkshowjump?jump=previousslide"/>
          </p:cNvPr>
          <p:cNvSpPr/>
          <p:nvPr/>
        </p:nvSpPr>
        <p:spPr>
          <a:xfrm>
            <a:off x="8202613" y="6118225"/>
            <a:ext cx="582612" cy="457200"/>
          </a:xfrm>
          <a:prstGeom prst="actionButtonBackPrevious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矩形 140289"/>
          <p:cNvSpPr/>
          <p:nvPr/>
        </p:nvSpPr>
        <p:spPr>
          <a:xfrm>
            <a:off x="0" y="303213"/>
            <a:ext cx="7743825" cy="6905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742950" lvl="1" indent="-28575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«"/>
            </a:pPr>
            <a:r>
              <a:rPr lang="zh-CN" altLang="en-US" sz="2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数组元素表示方法</a:t>
            </a:r>
            <a:endParaRPr lang="zh-CN" altLang="en-US" sz="28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40388" name="组合 140387"/>
          <p:cNvGrpSpPr/>
          <p:nvPr/>
        </p:nvGrpSpPr>
        <p:grpSpPr>
          <a:xfrm>
            <a:off x="838200" y="1257300"/>
            <a:ext cx="3249613" cy="4705350"/>
            <a:chOff x="3327" y="732"/>
            <a:chExt cx="2047" cy="2964"/>
          </a:xfrm>
        </p:grpSpPr>
        <p:grpSp>
          <p:nvGrpSpPr>
            <p:cNvPr id="8195" name="组合 140292"/>
            <p:cNvGrpSpPr/>
            <p:nvPr/>
          </p:nvGrpSpPr>
          <p:grpSpPr>
            <a:xfrm>
              <a:off x="3771" y="984"/>
              <a:ext cx="936" cy="2376"/>
              <a:chOff x="4032" y="444"/>
              <a:chExt cx="936" cy="2376"/>
            </a:xfrm>
          </p:grpSpPr>
          <p:sp>
            <p:nvSpPr>
              <p:cNvPr id="8196" name="折角形 140293"/>
              <p:cNvSpPr/>
              <p:nvPr/>
            </p:nvSpPr>
            <p:spPr>
              <a:xfrm>
                <a:off x="4032" y="444"/>
                <a:ext cx="936" cy="2376"/>
              </a:xfrm>
              <a:prstGeom prst="foldedCorner">
                <a:avLst>
                  <a:gd name="adj" fmla="val 13745"/>
                </a:avLst>
              </a:prstGeom>
              <a:solidFill>
                <a:schemeClr val="bg1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pPr lvl="0" indent="0" algn="ctr" eaLnBrk="1" hangingPunct="1"/>
                <a:endPara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197" name="直接连接符 140294"/>
              <p:cNvSpPr/>
              <p:nvPr/>
            </p:nvSpPr>
            <p:spPr>
              <a:xfrm>
                <a:off x="4032" y="756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198" name="直接连接符 140295"/>
              <p:cNvSpPr/>
              <p:nvPr/>
            </p:nvSpPr>
            <p:spPr>
              <a:xfrm>
                <a:off x="4032" y="984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199" name="直接连接符 140296"/>
              <p:cNvSpPr/>
              <p:nvPr/>
            </p:nvSpPr>
            <p:spPr>
              <a:xfrm>
                <a:off x="4032" y="1212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0" name="直接连接符 140297"/>
              <p:cNvSpPr/>
              <p:nvPr/>
            </p:nvSpPr>
            <p:spPr>
              <a:xfrm>
                <a:off x="4032" y="1440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1" name="直接连接符 140298"/>
              <p:cNvSpPr/>
              <p:nvPr/>
            </p:nvSpPr>
            <p:spPr>
              <a:xfrm>
                <a:off x="4032" y="1668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2" name="直接连接符 140299"/>
              <p:cNvSpPr/>
              <p:nvPr/>
            </p:nvSpPr>
            <p:spPr>
              <a:xfrm>
                <a:off x="4032" y="1896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3" name="直接连接符 140300"/>
              <p:cNvSpPr/>
              <p:nvPr/>
            </p:nvSpPr>
            <p:spPr>
              <a:xfrm>
                <a:off x="4032" y="2124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4" name="直接连接符 140301"/>
              <p:cNvSpPr/>
              <p:nvPr/>
            </p:nvSpPr>
            <p:spPr>
              <a:xfrm>
                <a:off x="4032" y="2352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5" name="直接连接符 140302"/>
              <p:cNvSpPr/>
              <p:nvPr/>
            </p:nvSpPr>
            <p:spPr>
              <a:xfrm>
                <a:off x="4608" y="1440"/>
                <a:ext cx="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8206" name="组合 140303"/>
            <p:cNvGrpSpPr/>
            <p:nvPr/>
          </p:nvGrpSpPr>
          <p:grpSpPr>
            <a:xfrm>
              <a:off x="3771" y="1404"/>
              <a:ext cx="60" cy="1368"/>
              <a:chOff x="4032" y="864"/>
              <a:chExt cx="60" cy="1368"/>
            </a:xfrm>
          </p:grpSpPr>
          <p:sp>
            <p:nvSpPr>
              <p:cNvPr id="8207" name="直接连接符 140304"/>
              <p:cNvSpPr/>
              <p:nvPr/>
            </p:nvSpPr>
            <p:spPr>
              <a:xfrm>
                <a:off x="4032" y="86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8" name="直接连接符 140305"/>
              <p:cNvSpPr/>
              <p:nvPr/>
            </p:nvSpPr>
            <p:spPr>
              <a:xfrm>
                <a:off x="4032" y="1320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09" name="直接连接符 140306"/>
              <p:cNvSpPr/>
              <p:nvPr/>
            </p:nvSpPr>
            <p:spPr>
              <a:xfrm>
                <a:off x="4032" y="1548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0" name="直接连接符 140307"/>
              <p:cNvSpPr/>
              <p:nvPr/>
            </p:nvSpPr>
            <p:spPr>
              <a:xfrm>
                <a:off x="4032" y="1776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1" name="直接连接符 140308"/>
              <p:cNvSpPr/>
              <p:nvPr/>
            </p:nvSpPr>
            <p:spPr>
              <a:xfrm>
                <a:off x="4032" y="200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2" name="直接连接符 140309"/>
              <p:cNvSpPr/>
              <p:nvPr/>
            </p:nvSpPr>
            <p:spPr>
              <a:xfrm>
                <a:off x="4032" y="223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3" name="直接连接符 140310"/>
              <p:cNvSpPr/>
              <p:nvPr/>
            </p:nvSpPr>
            <p:spPr>
              <a:xfrm>
                <a:off x="4032" y="109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8214" name="组合 140311"/>
            <p:cNvGrpSpPr/>
            <p:nvPr/>
          </p:nvGrpSpPr>
          <p:grpSpPr>
            <a:xfrm>
              <a:off x="4635" y="1416"/>
              <a:ext cx="60" cy="1368"/>
              <a:chOff x="4032" y="864"/>
              <a:chExt cx="60" cy="1368"/>
            </a:xfrm>
          </p:grpSpPr>
          <p:sp>
            <p:nvSpPr>
              <p:cNvPr id="8215" name="直接连接符 140312"/>
              <p:cNvSpPr/>
              <p:nvPr/>
            </p:nvSpPr>
            <p:spPr>
              <a:xfrm>
                <a:off x="4032" y="86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6" name="直接连接符 140313"/>
              <p:cNvSpPr/>
              <p:nvPr/>
            </p:nvSpPr>
            <p:spPr>
              <a:xfrm>
                <a:off x="4032" y="1320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7" name="直接连接符 140314"/>
              <p:cNvSpPr/>
              <p:nvPr/>
            </p:nvSpPr>
            <p:spPr>
              <a:xfrm>
                <a:off x="4032" y="1548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8" name="直接连接符 140315"/>
              <p:cNvSpPr/>
              <p:nvPr/>
            </p:nvSpPr>
            <p:spPr>
              <a:xfrm>
                <a:off x="4032" y="1776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19" name="直接连接符 140316"/>
              <p:cNvSpPr/>
              <p:nvPr/>
            </p:nvSpPr>
            <p:spPr>
              <a:xfrm>
                <a:off x="4032" y="200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20" name="直接连接符 140317"/>
              <p:cNvSpPr/>
              <p:nvPr/>
            </p:nvSpPr>
            <p:spPr>
              <a:xfrm>
                <a:off x="4032" y="223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21" name="直接连接符 140318"/>
              <p:cNvSpPr/>
              <p:nvPr/>
            </p:nvSpPr>
            <p:spPr>
              <a:xfrm>
                <a:off x="4032" y="109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8222" name="组合 140370"/>
            <p:cNvGrpSpPr/>
            <p:nvPr/>
          </p:nvGrpSpPr>
          <p:grpSpPr>
            <a:xfrm>
              <a:off x="3874" y="1248"/>
              <a:ext cx="732" cy="1428"/>
              <a:chOff x="4594" y="636"/>
              <a:chExt cx="732" cy="1428"/>
            </a:xfrm>
          </p:grpSpPr>
          <p:sp>
            <p:nvSpPr>
              <p:cNvPr id="8223" name="文本框 140319"/>
              <p:cNvSpPr txBox="1"/>
              <p:nvPr/>
            </p:nvSpPr>
            <p:spPr>
              <a:xfrm>
                <a:off x="4748" y="636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a[0]</a:t>
                </a:r>
              </a:p>
            </p:txBody>
          </p:sp>
          <p:sp>
            <p:nvSpPr>
              <p:cNvPr id="8224" name="文本框 140320"/>
              <p:cNvSpPr txBox="1"/>
              <p:nvPr/>
            </p:nvSpPr>
            <p:spPr>
              <a:xfrm>
                <a:off x="4748" y="862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a[1]</a:t>
                </a:r>
              </a:p>
            </p:txBody>
          </p:sp>
          <p:sp>
            <p:nvSpPr>
              <p:cNvPr id="8225" name="文本框 140321"/>
              <p:cNvSpPr txBox="1"/>
              <p:nvPr/>
            </p:nvSpPr>
            <p:spPr>
              <a:xfrm>
                <a:off x="4748" y="1088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a[2]</a:t>
                </a:r>
              </a:p>
            </p:txBody>
          </p:sp>
          <p:sp>
            <p:nvSpPr>
              <p:cNvPr id="8226" name="文本框 140322"/>
              <p:cNvSpPr txBox="1"/>
              <p:nvPr/>
            </p:nvSpPr>
            <p:spPr>
              <a:xfrm>
                <a:off x="4748" y="1314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a[3]</a:t>
                </a:r>
              </a:p>
            </p:txBody>
          </p:sp>
          <p:sp>
            <p:nvSpPr>
              <p:cNvPr id="8227" name="文本框 140323"/>
              <p:cNvSpPr txBox="1"/>
              <p:nvPr/>
            </p:nvSpPr>
            <p:spPr>
              <a:xfrm>
                <a:off x="4594" y="1776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a[9]</a:t>
                </a:r>
              </a:p>
            </p:txBody>
          </p:sp>
        </p:grpSp>
        <p:sp>
          <p:nvSpPr>
            <p:cNvPr id="8228" name="文本框 140324"/>
            <p:cNvSpPr txBox="1"/>
            <p:nvPr/>
          </p:nvSpPr>
          <p:spPr>
            <a:xfrm>
              <a:off x="4091" y="2251"/>
              <a:ext cx="344" cy="202"/>
            </a:xfrm>
            <a:prstGeom prst="rect">
              <a:avLst/>
            </a:prstGeom>
            <a:noFill/>
            <a:ln w="38100">
              <a:noFill/>
            </a:ln>
          </p:spPr>
          <p:txBody>
            <a:bodyPr vert="eaVert"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latin typeface="Times New Roman" panose="02020603050405020304" pitchFamily="18" charset="0"/>
                  <a:ea typeface="隶书" panose="02010509060101010101" pitchFamily="49" charset="-122"/>
                </a:rPr>
                <a:t>...</a:t>
              </a:r>
            </a:p>
          </p:txBody>
        </p:sp>
        <p:sp>
          <p:nvSpPr>
            <p:cNvPr id="8229" name="文本框 140372"/>
            <p:cNvSpPr txBox="1"/>
            <p:nvPr/>
          </p:nvSpPr>
          <p:spPr>
            <a:xfrm>
              <a:off x="3579" y="1224"/>
              <a:ext cx="1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30" name="文本框 140375"/>
            <p:cNvSpPr txBox="1"/>
            <p:nvPr/>
          </p:nvSpPr>
          <p:spPr>
            <a:xfrm>
              <a:off x="3375" y="2400"/>
              <a:ext cx="4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a+9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31" name="文本框 140376"/>
            <p:cNvSpPr txBox="1"/>
            <p:nvPr/>
          </p:nvSpPr>
          <p:spPr>
            <a:xfrm>
              <a:off x="3375" y="1488"/>
              <a:ext cx="4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a+1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32" name="文本框 140377"/>
            <p:cNvSpPr txBox="1"/>
            <p:nvPr/>
          </p:nvSpPr>
          <p:spPr>
            <a:xfrm>
              <a:off x="3375" y="1716"/>
              <a:ext cx="4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a+2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33" name="文本框 140378"/>
            <p:cNvSpPr txBox="1"/>
            <p:nvPr/>
          </p:nvSpPr>
          <p:spPr>
            <a:xfrm>
              <a:off x="3327" y="732"/>
              <a:ext cx="4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dirty="0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地址</a:t>
              </a:r>
              <a:endParaRPr lang="zh-CN" altLang="en-US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34" name="文本框 140379"/>
            <p:cNvSpPr txBox="1"/>
            <p:nvPr/>
          </p:nvSpPr>
          <p:spPr>
            <a:xfrm>
              <a:off x="4767" y="768"/>
              <a:ext cx="4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元素</a:t>
              </a:r>
              <a:endPara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35" name="文本框 140380"/>
            <p:cNvSpPr txBox="1"/>
            <p:nvPr/>
          </p:nvSpPr>
          <p:spPr>
            <a:xfrm>
              <a:off x="3891" y="3408"/>
              <a:ext cx="69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dirty="0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下标法</a:t>
              </a:r>
              <a:endParaRPr lang="zh-CN" altLang="en-US">
                <a:solidFill>
                  <a:srgbClr val="3366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8236" name="组合 140381"/>
            <p:cNvGrpSpPr/>
            <p:nvPr/>
          </p:nvGrpSpPr>
          <p:grpSpPr>
            <a:xfrm>
              <a:off x="4642" y="1260"/>
              <a:ext cx="732" cy="1428"/>
              <a:chOff x="4594" y="636"/>
              <a:chExt cx="732" cy="1428"/>
            </a:xfrm>
          </p:grpSpPr>
          <p:sp>
            <p:nvSpPr>
              <p:cNvPr id="8237" name="文本框 140382"/>
              <p:cNvSpPr txBox="1"/>
              <p:nvPr/>
            </p:nvSpPr>
            <p:spPr>
              <a:xfrm>
                <a:off x="4748" y="636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a[0]</a:t>
                </a:r>
              </a:p>
            </p:txBody>
          </p:sp>
          <p:sp>
            <p:nvSpPr>
              <p:cNvPr id="8238" name="文本框 140383"/>
              <p:cNvSpPr txBox="1"/>
              <p:nvPr/>
            </p:nvSpPr>
            <p:spPr>
              <a:xfrm>
                <a:off x="4748" y="862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a[1]</a:t>
                </a:r>
              </a:p>
            </p:txBody>
          </p:sp>
          <p:sp>
            <p:nvSpPr>
              <p:cNvPr id="8239" name="文本框 140384"/>
              <p:cNvSpPr txBox="1"/>
              <p:nvPr/>
            </p:nvSpPr>
            <p:spPr>
              <a:xfrm>
                <a:off x="4748" y="1088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a[2]</a:t>
                </a:r>
              </a:p>
            </p:txBody>
          </p:sp>
          <p:sp>
            <p:nvSpPr>
              <p:cNvPr id="8240" name="文本框 140385"/>
              <p:cNvSpPr txBox="1"/>
              <p:nvPr/>
            </p:nvSpPr>
            <p:spPr>
              <a:xfrm>
                <a:off x="4902" y="1314"/>
                <a:ext cx="1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endPara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41" name="文本框 140386"/>
              <p:cNvSpPr txBox="1"/>
              <p:nvPr/>
            </p:nvSpPr>
            <p:spPr>
              <a:xfrm>
                <a:off x="4594" y="1776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a[9]</a:t>
                </a:r>
              </a:p>
            </p:txBody>
          </p:sp>
        </p:grpSp>
      </p:grpSp>
      <p:grpSp>
        <p:nvGrpSpPr>
          <p:cNvPr id="140446" name="组合 140445"/>
          <p:cNvGrpSpPr/>
          <p:nvPr/>
        </p:nvGrpSpPr>
        <p:grpSpPr>
          <a:xfrm>
            <a:off x="4938713" y="1257300"/>
            <a:ext cx="3249612" cy="4705350"/>
            <a:chOff x="3111" y="636"/>
            <a:chExt cx="2047" cy="2964"/>
          </a:xfrm>
        </p:grpSpPr>
        <p:grpSp>
          <p:nvGrpSpPr>
            <p:cNvPr id="8243" name="组合 140389"/>
            <p:cNvGrpSpPr/>
            <p:nvPr/>
          </p:nvGrpSpPr>
          <p:grpSpPr>
            <a:xfrm>
              <a:off x="3555" y="888"/>
              <a:ext cx="936" cy="2376"/>
              <a:chOff x="4032" y="444"/>
              <a:chExt cx="936" cy="2376"/>
            </a:xfrm>
          </p:grpSpPr>
          <p:sp>
            <p:nvSpPr>
              <p:cNvPr id="8244" name="折角形 140390"/>
              <p:cNvSpPr/>
              <p:nvPr/>
            </p:nvSpPr>
            <p:spPr>
              <a:xfrm>
                <a:off x="4032" y="444"/>
                <a:ext cx="936" cy="2376"/>
              </a:xfrm>
              <a:prstGeom prst="foldedCorner">
                <a:avLst>
                  <a:gd name="adj" fmla="val 13745"/>
                </a:avLst>
              </a:prstGeom>
              <a:solidFill>
                <a:schemeClr val="bg1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pPr lvl="0" indent="0" algn="ctr" eaLnBrk="1" hangingPunct="1"/>
                <a:endPara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45" name="直接连接符 140391"/>
              <p:cNvSpPr/>
              <p:nvPr/>
            </p:nvSpPr>
            <p:spPr>
              <a:xfrm>
                <a:off x="4032" y="756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46" name="直接连接符 140392"/>
              <p:cNvSpPr/>
              <p:nvPr/>
            </p:nvSpPr>
            <p:spPr>
              <a:xfrm>
                <a:off x="4032" y="984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47" name="直接连接符 140393"/>
              <p:cNvSpPr/>
              <p:nvPr/>
            </p:nvSpPr>
            <p:spPr>
              <a:xfrm>
                <a:off x="4032" y="1212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48" name="直接连接符 140394"/>
              <p:cNvSpPr/>
              <p:nvPr/>
            </p:nvSpPr>
            <p:spPr>
              <a:xfrm>
                <a:off x="4032" y="1440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49" name="直接连接符 140395"/>
              <p:cNvSpPr/>
              <p:nvPr/>
            </p:nvSpPr>
            <p:spPr>
              <a:xfrm>
                <a:off x="4032" y="1668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0" name="直接连接符 140396"/>
              <p:cNvSpPr/>
              <p:nvPr/>
            </p:nvSpPr>
            <p:spPr>
              <a:xfrm>
                <a:off x="4032" y="1896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1" name="直接连接符 140397"/>
              <p:cNvSpPr/>
              <p:nvPr/>
            </p:nvSpPr>
            <p:spPr>
              <a:xfrm>
                <a:off x="4032" y="2124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2" name="直接连接符 140398"/>
              <p:cNvSpPr/>
              <p:nvPr/>
            </p:nvSpPr>
            <p:spPr>
              <a:xfrm>
                <a:off x="4032" y="2352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3" name="直接连接符 140399"/>
              <p:cNvSpPr/>
              <p:nvPr/>
            </p:nvSpPr>
            <p:spPr>
              <a:xfrm>
                <a:off x="4608" y="1440"/>
                <a:ext cx="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8254" name="组合 140400"/>
            <p:cNvGrpSpPr/>
            <p:nvPr/>
          </p:nvGrpSpPr>
          <p:grpSpPr>
            <a:xfrm>
              <a:off x="3555" y="1308"/>
              <a:ext cx="60" cy="1368"/>
              <a:chOff x="4032" y="864"/>
              <a:chExt cx="60" cy="1368"/>
            </a:xfrm>
          </p:grpSpPr>
          <p:sp>
            <p:nvSpPr>
              <p:cNvPr id="8255" name="直接连接符 140401"/>
              <p:cNvSpPr/>
              <p:nvPr/>
            </p:nvSpPr>
            <p:spPr>
              <a:xfrm>
                <a:off x="4032" y="86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6" name="直接连接符 140402"/>
              <p:cNvSpPr/>
              <p:nvPr/>
            </p:nvSpPr>
            <p:spPr>
              <a:xfrm>
                <a:off x="4032" y="1320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7" name="直接连接符 140403"/>
              <p:cNvSpPr/>
              <p:nvPr/>
            </p:nvSpPr>
            <p:spPr>
              <a:xfrm>
                <a:off x="4032" y="1548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8" name="直接连接符 140404"/>
              <p:cNvSpPr/>
              <p:nvPr/>
            </p:nvSpPr>
            <p:spPr>
              <a:xfrm>
                <a:off x="4032" y="1776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59" name="直接连接符 140405"/>
              <p:cNvSpPr/>
              <p:nvPr/>
            </p:nvSpPr>
            <p:spPr>
              <a:xfrm>
                <a:off x="4032" y="200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0" name="直接连接符 140406"/>
              <p:cNvSpPr/>
              <p:nvPr/>
            </p:nvSpPr>
            <p:spPr>
              <a:xfrm>
                <a:off x="4032" y="223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1" name="直接连接符 140407"/>
              <p:cNvSpPr/>
              <p:nvPr/>
            </p:nvSpPr>
            <p:spPr>
              <a:xfrm>
                <a:off x="4032" y="109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8262" name="组合 140408"/>
            <p:cNvGrpSpPr/>
            <p:nvPr/>
          </p:nvGrpSpPr>
          <p:grpSpPr>
            <a:xfrm>
              <a:off x="4419" y="1320"/>
              <a:ext cx="60" cy="1368"/>
              <a:chOff x="4032" y="864"/>
              <a:chExt cx="60" cy="1368"/>
            </a:xfrm>
          </p:grpSpPr>
          <p:sp>
            <p:nvSpPr>
              <p:cNvPr id="8263" name="直接连接符 140409"/>
              <p:cNvSpPr/>
              <p:nvPr/>
            </p:nvSpPr>
            <p:spPr>
              <a:xfrm>
                <a:off x="4032" y="86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4" name="直接连接符 140410"/>
              <p:cNvSpPr/>
              <p:nvPr/>
            </p:nvSpPr>
            <p:spPr>
              <a:xfrm>
                <a:off x="4032" y="1320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5" name="直接连接符 140411"/>
              <p:cNvSpPr/>
              <p:nvPr/>
            </p:nvSpPr>
            <p:spPr>
              <a:xfrm>
                <a:off x="4032" y="1548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6" name="直接连接符 140412"/>
              <p:cNvSpPr/>
              <p:nvPr/>
            </p:nvSpPr>
            <p:spPr>
              <a:xfrm>
                <a:off x="4032" y="1776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7" name="直接连接符 140413"/>
              <p:cNvSpPr/>
              <p:nvPr/>
            </p:nvSpPr>
            <p:spPr>
              <a:xfrm>
                <a:off x="4032" y="2004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8" name="直接连接符 140414"/>
              <p:cNvSpPr/>
              <p:nvPr/>
            </p:nvSpPr>
            <p:spPr>
              <a:xfrm>
                <a:off x="4032" y="223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8269" name="直接连接符 140415"/>
              <p:cNvSpPr/>
              <p:nvPr/>
            </p:nvSpPr>
            <p:spPr>
              <a:xfrm>
                <a:off x="4032" y="1092"/>
                <a:ext cx="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8270" name="组合 140416"/>
            <p:cNvGrpSpPr/>
            <p:nvPr/>
          </p:nvGrpSpPr>
          <p:grpSpPr>
            <a:xfrm>
              <a:off x="3658" y="1152"/>
              <a:ext cx="732" cy="1428"/>
              <a:chOff x="4594" y="636"/>
              <a:chExt cx="732" cy="1428"/>
            </a:xfrm>
          </p:grpSpPr>
          <p:sp>
            <p:nvSpPr>
              <p:cNvPr id="8271" name="文本框 140417"/>
              <p:cNvSpPr txBox="1"/>
              <p:nvPr/>
            </p:nvSpPr>
            <p:spPr>
              <a:xfrm>
                <a:off x="4748" y="636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a[0]</a:t>
                </a:r>
              </a:p>
            </p:txBody>
          </p:sp>
          <p:sp>
            <p:nvSpPr>
              <p:cNvPr id="8272" name="文本框 140418"/>
              <p:cNvSpPr txBox="1"/>
              <p:nvPr/>
            </p:nvSpPr>
            <p:spPr>
              <a:xfrm>
                <a:off x="4748" y="862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a[1]</a:t>
                </a:r>
              </a:p>
            </p:txBody>
          </p:sp>
          <p:sp>
            <p:nvSpPr>
              <p:cNvPr id="8273" name="文本框 140419"/>
              <p:cNvSpPr txBox="1"/>
              <p:nvPr/>
            </p:nvSpPr>
            <p:spPr>
              <a:xfrm>
                <a:off x="4748" y="1088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a[2]</a:t>
                </a:r>
              </a:p>
            </p:txBody>
          </p:sp>
          <p:sp>
            <p:nvSpPr>
              <p:cNvPr id="8274" name="文本框 140420"/>
              <p:cNvSpPr txBox="1"/>
              <p:nvPr/>
            </p:nvSpPr>
            <p:spPr>
              <a:xfrm>
                <a:off x="4748" y="1314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a[3]</a:t>
                </a:r>
              </a:p>
            </p:txBody>
          </p:sp>
          <p:sp>
            <p:nvSpPr>
              <p:cNvPr id="8275" name="文本框 140421"/>
              <p:cNvSpPr txBox="1"/>
              <p:nvPr/>
            </p:nvSpPr>
            <p:spPr>
              <a:xfrm>
                <a:off x="4594" y="1776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a[9]</a:t>
                </a:r>
              </a:p>
            </p:txBody>
          </p:sp>
        </p:grpSp>
        <p:sp>
          <p:nvSpPr>
            <p:cNvPr id="8276" name="文本框 140422"/>
            <p:cNvSpPr txBox="1"/>
            <p:nvPr/>
          </p:nvSpPr>
          <p:spPr>
            <a:xfrm>
              <a:off x="3875" y="2155"/>
              <a:ext cx="344" cy="202"/>
            </a:xfrm>
            <a:prstGeom prst="rect">
              <a:avLst/>
            </a:prstGeom>
            <a:noFill/>
            <a:ln w="38100">
              <a:noFill/>
            </a:ln>
          </p:spPr>
          <p:txBody>
            <a:bodyPr vert="eaVert"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latin typeface="Times New Roman" panose="02020603050405020304" pitchFamily="18" charset="0"/>
                  <a:ea typeface="隶书" panose="02010509060101010101" pitchFamily="49" charset="-122"/>
                </a:rPr>
                <a:t>...</a:t>
              </a:r>
            </a:p>
          </p:txBody>
        </p:sp>
        <p:sp>
          <p:nvSpPr>
            <p:cNvPr id="8277" name="文本框 140423"/>
            <p:cNvSpPr txBox="1"/>
            <p:nvPr/>
          </p:nvSpPr>
          <p:spPr>
            <a:xfrm>
              <a:off x="3358" y="1128"/>
              <a:ext cx="21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78" name="文本框 140424"/>
            <p:cNvSpPr txBox="1"/>
            <p:nvPr/>
          </p:nvSpPr>
          <p:spPr>
            <a:xfrm>
              <a:off x="3154" y="2304"/>
              <a:ext cx="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p+9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79" name="文本框 140425"/>
            <p:cNvSpPr txBox="1"/>
            <p:nvPr/>
          </p:nvSpPr>
          <p:spPr>
            <a:xfrm>
              <a:off x="3154" y="1392"/>
              <a:ext cx="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p+1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80" name="文本框 140426"/>
            <p:cNvSpPr txBox="1"/>
            <p:nvPr/>
          </p:nvSpPr>
          <p:spPr>
            <a:xfrm>
              <a:off x="3154" y="1620"/>
              <a:ext cx="4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p+2</a:t>
              </a:r>
              <a:endParaRPr lang="en-US" altLang="zh-CN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81" name="文本框 140427"/>
            <p:cNvSpPr txBox="1"/>
            <p:nvPr/>
          </p:nvSpPr>
          <p:spPr>
            <a:xfrm>
              <a:off x="3111" y="636"/>
              <a:ext cx="4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dirty="0">
                  <a:solidFill>
                    <a:srgbClr val="3366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地址</a:t>
              </a:r>
              <a:endParaRPr lang="zh-CN" altLang="en-US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82" name="文本框 140428"/>
            <p:cNvSpPr txBox="1"/>
            <p:nvPr/>
          </p:nvSpPr>
          <p:spPr>
            <a:xfrm>
              <a:off x="4551" y="672"/>
              <a:ext cx="4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元素</a:t>
              </a:r>
              <a:endPara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83" name="文本框 140429"/>
            <p:cNvSpPr txBox="1"/>
            <p:nvPr/>
          </p:nvSpPr>
          <p:spPr>
            <a:xfrm>
              <a:off x="3675" y="3312"/>
              <a:ext cx="69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指针法</a:t>
              </a:r>
              <a:endParaRPr lang="zh-CN" altLang="en-US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8284" name="组合 140430"/>
            <p:cNvGrpSpPr/>
            <p:nvPr/>
          </p:nvGrpSpPr>
          <p:grpSpPr>
            <a:xfrm>
              <a:off x="4426" y="1164"/>
              <a:ext cx="732" cy="1428"/>
              <a:chOff x="4594" y="636"/>
              <a:chExt cx="732" cy="1428"/>
            </a:xfrm>
          </p:grpSpPr>
          <p:sp>
            <p:nvSpPr>
              <p:cNvPr id="8285" name="文本框 140431"/>
              <p:cNvSpPr txBox="1"/>
              <p:nvPr/>
            </p:nvSpPr>
            <p:spPr>
              <a:xfrm>
                <a:off x="4806" y="636"/>
                <a:ext cx="30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en-US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*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p</a:t>
                </a:r>
              </a:p>
            </p:txBody>
          </p:sp>
          <p:sp>
            <p:nvSpPr>
              <p:cNvPr id="8286" name="文本框 140432"/>
              <p:cNvSpPr txBox="1"/>
              <p:nvPr/>
            </p:nvSpPr>
            <p:spPr>
              <a:xfrm>
                <a:off x="4640" y="862"/>
                <a:ext cx="63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en-US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*(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p+1)</a:t>
                </a:r>
              </a:p>
            </p:txBody>
          </p:sp>
          <p:sp>
            <p:nvSpPr>
              <p:cNvPr id="8287" name="文本框 140433"/>
              <p:cNvSpPr txBox="1"/>
              <p:nvPr/>
            </p:nvSpPr>
            <p:spPr>
              <a:xfrm>
                <a:off x="4640" y="1088"/>
                <a:ext cx="63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en-US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*(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p+2)</a:t>
                </a:r>
              </a:p>
            </p:txBody>
          </p:sp>
          <p:sp>
            <p:nvSpPr>
              <p:cNvPr id="8288" name="文本框 140434"/>
              <p:cNvSpPr txBox="1"/>
              <p:nvPr/>
            </p:nvSpPr>
            <p:spPr>
              <a:xfrm>
                <a:off x="4902" y="1314"/>
                <a:ext cx="1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endPara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289" name="文本框 140435"/>
              <p:cNvSpPr txBox="1"/>
              <p:nvPr/>
            </p:nvSpPr>
            <p:spPr>
              <a:xfrm>
                <a:off x="4594" y="1776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en-US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*(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p+9)</a:t>
                </a:r>
              </a:p>
            </p:txBody>
          </p:sp>
        </p:grpSp>
      </p:grpSp>
      <p:sp>
        <p:nvSpPr>
          <p:cNvPr id="140438" name="矩形标注 140437"/>
          <p:cNvSpPr/>
          <p:nvPr/>
        </p:nvSpPr>
        <p:spPr>
          <a:xfrm>
            <a:off x="4017963" y="293688"/>
            <a:ext cx="2098675" cy="860425"/>
          </a:xfrm>
          <a:prstGeom prst="wedgeRectCallout">
            <a:avLst>
              <a:gd name="adj1" fmla="val -68231"/>
              <a:gd name="adj2" fmla="val 125278"/>
            </a:avLst>
          </a:prstGeom>
          <a:solidFill>
            <a:schemeClr val="bg1"/>
          </a:solidFill>
          <a:ln w="38100" cap="flat" cmpd="sng">
            <a:solidFill>
              <a:srgbClr val="339966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[]  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变址运算符</a:t>
            </a:r>
          </a:p>
          <a:p>
            <a:pPr lvl="0" indent="0" algn="ctr" eaLnBrk="1" hangingPunct="1"/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 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*(a+i)</a:t>
            </a:r>
            <a:endParaRPr lang="en-US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0439" name="矩形 140438"/>
          <p:cNvSpPr/>
          <p:nvPr/>
        </p:nvSpPr>
        <p:spPr>
          <a:xfrm>
            <a:off x="2114550" y="6057900"/>
            <a:ext cx="3924300" cy="4953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339966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en-US" altLang="zh-CN">
                <a:solidFill>
                  <a:srgbClr val="33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a[i]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3366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p[i]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*(p+i)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*(a+i)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40440" name="组合 140439"/>
          <p:cNvGrpSpPr/>
          <p:nvPr/>
        </p:nvGrpSpPr>
        <p:grpSpPr>
          <a:xfrm>
            <a:off x="3768725" y="2076450"/>
            <a:ext cx="1162050" cy="2266950"/>
            <a:chOff x="4594" y="636"/>
            <a:chExt cx="732" cy="1428"/>
          </a:xfrm>
        </p:grpSpPr>
        <p:sp>
          <p:nvSpPr>
            <p:cNvPr id="8293" name="文本框 140440"/>
            <p:cNvSpPr txBox="1"/>
            <p:nvPr/>
          </p:nvSpPr>
          <p:spPr>
            <a:xfrm>
              <a:off x="4811" y="636"/>
              <a:ext cx="29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*</a:t>
              </a:r>
              <a:r>
                <a:rPr lang="en-US" altLang="zh-CN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</a:t>
              </a:r>
            </a:p>
          </p:txBody>
        </p:sp>
        <p:sp>
          <p:nvSpPr>
            <p:cNvPr id="8294" name="文本框 140441"/>
            <p:cNvSpPr txBox="1"/>
            <p:nvPr/>
          </p:nvSpPr>
          <p:spPr>
            <a:xfrm>
              <a:off x="4645" y="862"/>
              <a:ext cx="62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*(</a:t>
              </a:r>
              <a:r>
                <a:rPr lang="en-US" altLang="zh-CN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a+1)</a:t>
              </a:r>
            </a:p>
          </p:txBody>
        </p:sp>
        <p:sp>
          <p:nvSpPr>
            <p:cNvPr id="8295" name="文本框 140442"/>
            <p:cNvSpPr txBox="1"/>
            <p:nvPr/>
          </p:nvSpPr>
          <p:spPr>
            <a:xfrm>
              <a:off x="4645" y="1088"/>
              <a:ext cx="62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*(</a:t>
              </a:r>
              <a:r>
                <a:rPr lang="en-US" altLang="zh-CN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a+2)</a:t>
              </a:r>
            </a:p>
          </p:txBody>
        </p:sp>
        <p:sp>
          <p:nvSpPr>
            <p:cNvPr id="8296" name="文本框 140443"/>
            <p:cNvSpPr txBox="1"/>
            <p:nvPr/>
          </p:nvSpPr>
          <p:spPr>
            <a:xfrm>
              <a:off x="4902" y="1314"/>
              <a:ext cx="1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endPara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297" name="文本框 140444"/>
            <p:cNvSpPr txBox="1"/>
            <p:nvPr/>
          </p:nvSpPr>
          <p:spPr>
            <a:xfrm>
              <a:off x="4594" y="1776"/>
              <a:ext cx="73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*(</a:t>
              </a:r>
              <a:r>
                <a:rPr lang="en-US" altLang="zh-CN">
                  <a:solidFill>
                    <a:srgbClr val="FF99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a+9)</a:t>
              </a:r>
            </a:p>
          </p:txBody>
        </p:sp>
      </p:grpSp>
      <p:grpSp>
        <p:nvGrpSpPr>
          <p:cNvPr id="140447" name="组合 140446"/>
          <p:cNvGrpSpPr/>
          <p:nvPr/>
        </p:nvGrpSpPr>
        <p:grpSpPr>
          <a:xfrm>
            <a:off x="7981950" y="2133600"/>
            <a:ext cx="1162050" cy="2266950"/>
            <a:chOff x="4594" y="636"/>
            <a:chExt cx="732" cy="1428"/>
          </a:xfrm>
        </p:grpSpPr>
        <p:sp>
          <p:nvSpPr>
            <p:cNvPr id="8299" name="文本框 140447"/>
            <p:cNvSpPr txBox="1"/>
            <p:nvPr/>
          </p:nvSpPr>
          <p:spPr>
            <a:xfrm>
              <a:off x="4741" y="636"/>
              <a:ext cx="4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p[0]</a:t>
              </a:r>
            </a:p>
          </p:txBody>
        </p:sp>
        <p:sp>
          <p:nvSpPr>
            <p:cNvPr id="8300" name="文本框 140448"/>
            <p:cNvSpPr txBox="1"/>
            <p:nvPr/>
          </p:nvSpPr>
          <p:spPr>
            <a:xfrm>
              <a:off x="4741" y="862"/>
              <a:ext cx="4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p[1]</a:t>
              </a:r>
            </a:p>
          </p:txBody>
        </p:sp>
        <p:sp>
          <p:nvSpPr>
            <p:cNvPr id="8301" name="文本框 140449"/>
            <p:cNvSpPr txBox="1"/>
            <p:nvPr/>
          </p:nvSpPr>
          <p:spPr>
            <a:xfrm>
              <a:off x="4741" y="1088"/>
              <a:ext cx="4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p[2]</a:t>
              </a:r>
            </a:p>
          </p:txBody>
        </p:sp>
        <p:sp>
          <p:nvSpPr>
            <p:cNvPr id="8302" name="文本框 140450"/>
            <p:cNvSpPr txBox="1"/>
            <p:nvPr/>
          </p:nvSpPr>
          <p:spPr>
            <a:xfrm>
              <a:off x="4902" y="1314"/>
              <a:ext cx="1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endPara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303" name="文本框 140451"/>
            <p:cNvSpPr txBox="1"/>
            <p:nvPr/>
          </p:nvSpPr>
          <p:spPr>
            <a:xfrm>
              <a:off x="4594" y="1776"/>
              <a:ext cx="73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p[9]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40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40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404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40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404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40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build="p" bldLvl="5"/>
      <p:bldP spid="140438" grpId="0" animBg="1"/>
      <p:bldP spid="1404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58" name="组合 63557"/>
          <p:cNvGrpSpPr/>
          <p:nvPr/>
        </p:nvGrpSpPr>
        <p:grpSpPr>
          <a:xfrm>
            <a:off x="5734050" y="1600200"/>
            <a:ext cx="2351088" cy="3771900"/>
            <a:chOff x="3612" y="1008"/>
            <a:chExt cx="1481" cy="2376"/>
          </a:xfrm>
        </p:grpSpPr>
        <p:grpSp>
          <p:nvGrpSpPr>
            <p:cNvPr id="9218" name="组合 63553"/>
            <p:cNvGrpSpPr/>
            <p:nvPr/>
          </p:nvGrpSpPr>
          <p:grpSpPr>
            <a:xfrm>
              <a:off x="4157" y="1008"/>
              <a:ext cx="936" cy="2376"/>
              <a:chOff x="4157" y="1008"/>
              <a:chExt cx="936" cy="2376"/>
            </a:xfrm>
          </p:grpSpPr>
          <p:grpSp>
            <p:nvGrpSpPr>
              <p:cNvPr id="9219" name="组合 63497"/>
              <p:cNvGrpSpPr/>
              <p:nvPr/>
            </p:nvGrpSpPr>
            <p:grpSpPr>
              <a:xfrm>
                <a:off x="4157" y="1008"/>
                <a:ext cx="936" cy="2376"/>
                <a:chOff x="4032" y="444"/>
                <a:chExt cx="936" cy="2376"/>
              </a:xfrm>
            </p:grpSpPr>
            <p:sp>
              <p:nvSpPr>
                <p:cNvPr id="9220" name="折角形 63498"/>
                <p:cNvSpPr/>
                <p:nvPr/>
              </p:nvSpPr>
              <p:spPr>
                <a:xfrm>
                  <a:off x="4032" y="444"/>
                  <a:ext cx="936" cy="2376"/>
                </a:xfrm>
                <a:prstGeom prst="foldedCorner">
                  <a:avLst>
                    <a:gd name="adj" fmla="val 13745"/>
                  </a:avLst>
                </a:prstGeom>
                <a:solidFill>
                  <a:schemeClr val="bg1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  <p:txBody>
                <a:bodyPr wrap="none" lIns="90000" tIns="46800" rIns="90000" bIns="46800" anchor="ctr"/>
                <a:lstStyle/>
                <a:p>
                  <a:pPr lvl="0" indent="0" algn="ctr" eaLnBrk="1" hangingPunct="1"/>
                  <a:endPara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9221" name="直接连接符 63499"/>
                <p:cNvSpPr/>
                <p:nvPr/>
              </p:nvSpPr>
              <p:spPr>
                <a:xfrm>
                  <a:off x="4032" y="756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2" name="直接连接符 63500"/>
                <p:cNvSpPr/>
                <p:nvPr/>
              </p:nvSpPr>
              <p:spPr>
                <a:xfrm>
                  <a:off x="4032" y="984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3" name="直接连接符 63501"/>
                <p:cNvSpPr/>
                <p:nvPr/>
              </p:nvSpPr>
              <p:spPr>
                <a:xfrm>
                  <a:off x="4032" y="1212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4" name="直接连接符 63502"/>
                <p:cNvSpPr/>
                <p:nvPr/>
              </p:nvSpPr>
              <p:spPr>
                <a:xfrm>
                  <a:off x="4032" y="1440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5" name="直接连接符 63503"/>
                <p:cNvSpPr/>
                <p:nvPr/>
              </p:nvSpPr>
              <p:spPr>
                <a:xfrm>
                  <a:off x="4032" y="1668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6" name="直接连接符 63504"/>
                <p:cNvSpPr/>
                <p:nvPr/>
              </p:nvSpPr>
              <p:spPr>
                <a:xfrm>
                  <a:off x="4032" y="1896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7" name="直接连接符 63505"/>
                <p:cNvSpPr/>
                <p:nvPr/>
              </p:nvSpPr>
              <p:spPr>
                <a:xfrm>
                  <a:off x="4032" y="2124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8" name="直接连接符 63506"/>
                <p:cNvSpPr/>
                <p:nvPr/>
              </p:nvSpPr>
              <p:spPr>
                <a:xfrm>
                  <a:off x="4032" y="2352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29" name="直接连接符 63507"/>
                <p:cNvSpPr/>
                <p:nvPr/>
              </p:nvSpPr>
              <p:spPr>
                <a:xfrm>
                  <a:off x="4608" y="1440"/>
                  <a:ext cx="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</p:grpSp>
          <p:grpSp>
            <p:nvGrpSpPr>
              <p:cNvPr id="9230" name="组合 63508"/>
              <p:cNvGrpSpPr/>
              <p:nvPr/>
            </p:nvGrpSpPr>
            <p:grpSpPr>
              <a:xfrm>
                <a:off x="4157" y="1428"/>
                <a:ext cx="60" cy="1368"/>
                <a:chOff x="4032" y="864"/>
                <a:chExt cx="60" cy="1368"/>
              </a:xfrm>
            </p:grpSpPr>
            <p:sp>
              <p:nvSpPr>
                <p:cNvPr id="9231" name="直接连接符 63509"/>
                <p:cNvSpPr/>
                <p:nvPr/>
              </p:nvSpPr>
              <p:spPr>
                <a:xfrm>
                  <a:off x="4032" y="86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32" name="直接连接符 63510"/>
                <p:cNvSpPr/>
                <p:nvPr/>
              </p:nvSpPr>
              <p:spPr>
                <a:xfrm>
                  <a:off x="4032" y="1320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33" name="直接连接符 63511"/>
                <p:cNvSpPr/>
                <p:nvPr/>
              </p:nvSpPr>
              <p:spPr>
                <a:xfrm>
                  <a:off x="4032" y="1548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34" name="直接连接符 63512"/>
                <p:cNvSpPr/>
                <p:nvPr/>
              </p:nvSpPr>
              <p:spPr>
                <a:xfrm>
                  <a:off x="4032" y="1776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35" name="直接连接符 63513"/>
                <p:cNvSpPr/>
                <p:nvPr/>
              </p:nvSpPr>
              <p:spPr>
                <a:xfrm>
                  <a:off x="4032" y="200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36" name="直接连接符 63514"/>
                <p:cNvSpPr/>
                <p:nvPr/>
              </p:nvSpPr>
              <p:spPr>
                <a:xfrm>
                  <a:off x="4032" y="223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37" name="直接连接符 63515"/>
                <p:cNvSpPr/>
                <p:nvPr/>
              </p:nvSpPr>
              <p:spPr>
                <a:xfrm>
                  <a:off x="4032" y="109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</p:grpSp>
          <p:grpSp>
            <p:nvGrpSpPr>
              <p:cNvPr id="9238" name="组合 63516"/>
              <p:cNvGrpSpPr/>
              <p:nvPr/>
            </p:nvGrpSpPr>
            <p:grpSpPr>
              <a:xfrm>
                <a:off x="5021" y="1440"/>
                <a:ext cx="60" cy="1368"/>
                <a:chOff x="4032" y="864"/>
                <a:chExt cx="60" cy="1368"/>
              </a:xfrm>
            </p:grpSpPr>
            <p:sp>
              <p:nvSpPr>
                <p:cNvPr id="9239" name="直接连接符 63517"/>
                <p:cNvSpPr/>
                <p:nvPr/>
              </p:nvSpPr>
              <p:spPr>
                <a:xfrm>
                  <a:off x="4032" y="86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40" name="直接连接符 63518"/>
                <p:cNvSpPr/>
                <p:nvPr/>
              </p:nvSpPr>
              <p:spPr>
                <a:xfrm>
                  <a:off x="4032" y="1320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41" name="直接连接符 63519"/>
                <p:cNvSpPr/>
                <p:nvPr/>
              </p:nvSpPr>
              <p:spPr>
                <a:xfrm>
                  <a:off x="4032" y="1548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42" name="直接连接符 63520"/>
                <p:cNvSpPr/>
                <p:nvPr/>
              </p:nvSpPr>
              <p:spPr>
                <a:xfrm>
                  <a:off x="4032" y="1776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43" name="直接连接符 63521"/>
                <p:cNvSpPr/>
                <p:nvPr/>
              </p:nvSpPr>
              <p:spPr>
                <a:xfrm>
                  <a:off x="4032" y="2004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44" name="直接连接符 63522"/>
                <p:cNvSpPr/>
                <p:nvPr/>
              </p:nvSpPr>
              <p:spPr>
                <a:xfrm>
                  <a:off x="4032" y="223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  <p:sp>
              <p:nvSpPr>
                <p:cNvPr id="9245" name="直接连接符 63523"/>
                <p:cNvSpPr/>
                <p:nvPr/>
              </p:nvSpPr>
              <p:spPr>
                <a:xfrm>
                  <a:off x="4032" y="1092"/>
                  <a:ext cx="6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lg" len="lg"/>
                  <a:tailEnd type="none" w="med" len="med"/>
                </a:ln>
              </p:spPr>
            </p:sp>
          </p:grpSp>
        </p:grpSp>
        <p:grpSp>
          <p:nvGrpSpPr>
            <p:cNvPr id="9246" name="组合 63546"/>
            <p:cNvGrpSpPr/>
            <p:nvPr/>
          </p:nvGrpSpPr>
          <p:grpSpPr>
            <a:xfrm>
              <a:off x="3612" y="1284"/>
              <a:ext cx="732" cy="1188"/>
              <a:chOff x="4260" y="1272"/>
              <a:chExt cx="732" cy="1188"/>
            </a:xfrm>
          </p:grpSpPr>
          <p:sp>
            <p:nvSpPr>
              <p:cNvPr id="9247" name="文本框 63547"/>
              <p:cNvSpPr txBox="1"/>
              <p:nvPr/>
            </p:nvSpPr>
            <p:spPr>
              <a:xfrm>
                <a:off x="4414" y="1272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a[0]</a:t>
                </a:r>
              </a:p>
            </p:txBody>
          </p:sp>
          <p:sp>
            <p:nvSpPr>
              <p:cNvPr id="9248" name="文本框 63548"/>
              <p:cNvSpPr txBox="1"/>
              <p:nvPr/>
            </p:nvSpPr>
            <p:spPr>
              <a:xfrm>
                <a:off x="4414" y="1498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a[1]</a:t>
                </a:r>
              </a:p>
            </p:txBody>
          </p:sp>
          <p:sp>
            <p:nvSpPr>
              <p:cNvPr id="9249" name="文本框 63549"/>
              <p:cNvSpPr txBox="1"/>
              <p:nvPr/>
            </p:nvSpPr>
            <p:spPr>
              <a:xfrm>
                <a:off x="4414" y="1724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a[2]</a:t>
                </a:r>
              </a:p>
            </p:txBody>
          </p:sp>
          <p:sp>
            <p:nvSpPr>
              <p:cNvPr id="9250" name="文本框 63550"/>
              <p:cNvSpPr txBox="1"/>
              <p:nvPr/>
            </p:nvSpPr>
            <p:spPr>
              <a:xfrm>
                <a:off x="4414" y="1950"/>
                <a:ext cx="4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a[3]</a:t>
                </a:r>
              </a:p>
            </p:txBody>
          </p:sp>
          <p:sp>
            <p:nvSpPr>
              <p:cNvPr id="9251" name="文本框 63551"/>
              <p:cNvSpPr txBox="1"/>
              <p:nvPr/>
            </p:nvSpPr>
            <p:spPr>
              <a:xfrm>
                <a:off x="4260" y="2172"/>
                <a:ext cx="73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a[4]</a:t>
                </a:r>
              </a:p>
            </p:txBody>
          </p:sp>
        </p:grpSp>
      </p:grpSp>
      <p:sp useBgFill="1">
        <p:nvSpPr>
          <p:cNvPr id="9252" name="动作按钮: 文档 63490">
            <a:hlinkClick r:id="rId4" action="ppaction://program"/>
          </p:cNvPr>
          <p:cNvSpPr/>
          <p:nvPr/>
        </p:nvSpPr>
        <p:spPr>
          <a:xfrm>
            <a:off x="533400" y="617220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2" name="文本框 63491"/>
          <p:cNvSpPr txBox="1"/>
          <p:nvPr/>
        </p:nvSpPr>
        <p:spPr>
          <a:xfrm>
            <a:off x="384175" y="293688"/>
            <a:ext cx="3460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 数组元素的引用方法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3" name="矩形 63492"/>
          <p:cNvSpPr/>
          <p:nvPr/>
        </p:nvSpPr>
        <p:spPr>
          <a:xfrm>
            <a:off x="230188" y="965200"/>
            <a:ext cx="5507037" cy="5241925"/>
          </a:xfrm>
          <a:prstGeom prst="rect">
            <a:avLst/>
          </a:prstGeom>
          <a:solidFill>
            <a:srgbClr val="E1FFF7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{  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a[5],*pa,i;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for(i=0;i&lt;5;i++)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 a[i]=i+1;</a:t>
            </a:r>
          </a:p>
          <a:p>
            <a:pPr lvl="0" indent="0" eaLnBrk="0" hangingPunct="0"/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pa=a;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for(i=0;i&lt;5;i++)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	 printf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("*(pa+%d):%d\n",i,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*(pa+i)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for(i=0;i&lt;5;i++)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	 printf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("*(a+%d):%d\n",i,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*(a+i)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for(i=0;i&lt;5;i++)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	 printf("pa[%d]:%d\n",i,</a:t>
            </a:r>
            <a:r>
              <a:rPr lang="en-US" altLang="zh-CN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pa[i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for(i=0;i&lt;5;i++)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	 printf("a[%d]:%d\n",i,</a:t>
            </a:r>
            <a:r>
              <a:rPr lang="en-US" altLang="zh-CN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a[i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grpSp>
        <p:nvGrpSpPr>
          <p:cNvPr id="63545" name="组合 63544"/>
          <p:cNvGrpSpPr/>
          <p:nvPr/>
        </p:nvGrpSpPr>
        <p:grpSpPr>
          <a:xfrm>
            <a:off x="6762750" y="2019300"/>
            <a:ext cx="1162050" cy="1885950"/>
            <a:chOff x="4260" y="1272"/>
            <a:chExt cx="732" cy="1188"/>
          </a:xfrm>
        </p:grpSpPr>
        <p:sp>
          <p:nvSpPr>
            <p:cNvPr id="9257" name="文本框 63525"/>
            <p:cNvSpPr txBox="1"/>
            <p:nvPr/>
          </p:nvSpPr>
          <p:spPr>
            <a:xfrm>
              <a:off x="4520" y="1272"/>
              <a:ext cx="21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9258" name="文本框 63526"/>
            <p:cNvSpPr txBox="1"/>
            <p:nvPr/>
          </p:nvSpPr>
          <p:spPr>
            <a:xfrm>
              <a:off x="4520" y="1498"/>
              <a:ext cx="21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9259" name="文本框 63527"/>
            <p:cNvSpPr txBox="1"/>
            <p:nvPr/>
          </p:nvSpPr>
          <p:spPr>
            <a:xfrm>
              <a:off x="4520" y="1724"/>
              <a:ext cx="21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3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9260" name="文本框 63528"/>
            <p:cNvSpPr txBox="1"/>
            <p:nvPr/>
          </p:nvSpPr>
          <p:spPr>
            <a:xfrm>
              <a:off x="4520" y="1950"/>
              <a:ext cx="21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4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9261" name="文本框 63529"/>
            <p:cNvSpPr txBox="1"/>
            <p:nvPr/>
          </p:nvSpPr>
          <p:spPr>
            <a:xfrm>
              <a:off x="4260" y="2172"/>
              <a:ext cx="73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en-US">
                  <a:solidFill>
                    <a:srgbClr val="99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5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63557" name="组合 63556"/>
          <p:cNvGrpSpPr/>
          <p:nvPr/>
        </p:nvGrpSpPr>
        <p:grpSpPr>
          <a:xfrm>
            <a:off x="8039100" y="1828800"/>
            <a:ext cx="844550" cy="457200"/>
            <a:chOff x="5064" y="1152"/>
            <a:chExt cx="532" cy="288"/>
          </a:xfrm>
        </p:grpSpPr>
        <p:sp>
          <p:nvSpPr>
            <p:cNvPr id="9263" name="直接连接符 63554"/>
            <p:cNvSpPr/>
            <p:nvPr/>
          </p:nvSpPr>
          <p:spPr>
            <a:xfrm flipH="1">
              <a:off x="5064" y="1296"/>
              <a:ext cx="288" cy="12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round/>
              <a:headEnd type="none" w="lg" len="lg"/>
              <a:tailEnd type="triangle" w="med" len="med"/>
            </a:ln>
          </p:spPr>
        </p:sp>
        <p:sp>
          <p:nvSpPr>
            <p:cNvPr id="9264" name="文本框 63555"/>
            <p:cNvSpPr txBox="1"/>
            <p:nvPr/>
          </p:nvSpPr>
          <p:spPr>
            <a:xfrm>
              <a:off x="5301" y="1152"/>
              <a:ext cx="29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pa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35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63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/>
      <p:bldP spid="6349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文本框 90113"/>
          <p:cNvSpPr txBox="1"/>
          <p:nvPr/>
        </p:nvSpPr>
        <p:spPr>
          <a:xfrm>
            <a:off x="984250" y="806450"/>
            <a:ext cx="7353295" cy="1200329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a[]={1,2,3,4,5,6,7,8,9,10},*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p=a;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1" hangingPunct="1"/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数组元素地址的正确表示：</a:t>
            </a:r>
            <a:b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&amp;(a+1) 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a++ 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&amp;p 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p[</a:t>
            </a:r>
            <a:r>
              <a:rPr lang="en-US" altLang="zh-CN" dirty="0"/>
              <a:t>3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5" name="文本框 90114"/>
          <p:cNvSpPr txBox="1"/>
          <p:nvPr/>
        </p:nvSpPr>
        <p:spPr>
          <a:xfrm>
            <a:off x="6543675" y="1503363"/>
            <a:ext cx="407988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</a:t>
            </a:r>
            <a:endParaRPr lang="en-US" altLang="zh-CN" sz="32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6" name="矩形标注 90115"/>
          <p:cNvSpPr/>
          <p:nvPr/>
        </p:nvSpPr>
        <p:spPr>
          <a:xfrm>
            <a:off x="2062163" y="3052763"/>
            <a:ext cx="2657475" cy="1590675"/>
          </a:xfrm>
          <a:prstGeom prst="wedgeRectCallout">
            <a:avLst>
              <a:gd name="adj1" fmla="val 14338"/>
              <a:gd name="adj2" fmla="val -118065"/>
            </a:avLst>
          </a:prstGeom>
          <a:solidFill>
            <a:schemeClr val="bg1"/>
          </a:solidFill>
          <a:ln w="38100" cap="flat" cmpd="sng">
            <a:solidFill>
              <a:srgbClr val="339966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数组名是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地址常量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p++,p--   (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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a++,a--    (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a+1, *(a+2)    (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)</a:t>
            </a:r>
          </a:p>
        </p:txBody>
      </p:sp>
      <p:sp>
        <p:nvSpPr>
          <p:cNvPr id="2" name="矩形 1"/>
          <p:cNvSpPr/>
          <p:nvPr/>
        </p:nvSpPr>
        <p:spPr>
          <a:xfrm>
            <a:off x="984249" y="2459504"/>
            <a:ext cx="75501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</a:rPr>
              <a:t>例</a:t>
            </a:r>
            <a:r>
              <a:rPr lang="en-US" altLang="zh-CN" dirty="0" smtClean="0">
                <a:latin typeface="宋体" panose="02010600030101010101" pitchFamily="2" charset="-122"/>
              </a:rPr>
              <a:t>2</a:t>
            </a:r>
            <a:r>
              <a:rPr lang="zh-CN" altLang="en-US" dirty="0" smtClean="0">
                <a:latin typeface="宋体" panose="02010600030101010101" pitchFamily="2" charset="-122"/>
              </a:rPr>
              <a:t>：若</a:t>
            </a:r>
            <a:r>
              <a:rPr lang="zh-CN" altLang="en-US" dirty="0">
                <a:latin typeface="宋体" panose="02010600030101010101" pitchFamily="2" charset="-122"/>
              </a:rPr>
              <a:t>有以下说明，并且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0≤i&lt;10,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则下面对数组元素引用错误的是</a:t>
            </a:r>
            <a:r>
              <a:rPr lang="zh-CN" altLang="en-US" dirty="0">
                <a:solidFill>
                  <a:srgbClr val="999999"/>
                </a:solidFill>
                <a:latin typeface=" 宋体"/>
                <a:ea typeface="Microsoft Yahei" panose="020B0503020204020204" pitchFamily="34" charset="-122"/>
              </a:rPr>
              <a:t>（</a:t>
            </a:r>
            <a:r>
              <a:rPr lang="zh-CN" altLang="en-US" dirty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  </a:t>
            </a:r>
            <a:r>
              <a:rPr lang="zh-CN" altLang="en-US" dirty="0">
                <a:solidFill>
                  <a:srgbClr val="999999"/>
                </a:solidFill>
                <a:latin typeface="宋体" panose="02010600030101010101" pitchFamily="2" charset="-122"/>
              </a:rPr>
              <a:t>）。</a:t>
            </a:r>
            <a:endParaRPr lang="zh-CN" altLang="en-US" dirty="0">
              <a:solidFill>
                <a:srgbClr val="9999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a[]={1, 2, 3, 4, 5, 6, 7, 8, 9, 10}, *p=a, 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latinLnBrk="1"/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*(</a:t>
            </a:r>
            <a:r>
              <a:rPr lang="en-US" altLang="zh-CN" dirty="0" err="1"/>
              <a:t>a+i</a:t>
            </a:r>
            <a:r>
              <a:rPr lang="en-US" altLang="zh-CN" dirty="0"/>
              <a:t>) </a:t>
            </a:r>
          </a:p>
          <a:p>
            <a:pPr latinLnBrk="1"/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a[</a:t>
            </a:r>
            <a:r>
              <a:rPr lang="en-US" altLang="zh-CN" dirty="0" err="1"/>
              <a:t>p-a+i</a:t>
            </a:r>
            <a:r>
              <a:rPr lang="en-US" altLang="zh-CN" dirty="0"/>
              <a:t>] </a:t>
            </a:r>
          </a:p>
          <a:p>
            <a:pPr latinLnBrk="1"/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 err="1"/>
              <a:t>p+i</a:t>
            </a:r>
            <a:r>
              <a:rPr lang="en-US" altLang="zh-CN" dirty="0"/>
              <a:t> </a:t>
            </a:r>
          </a:p>
          <a:p>
            <a:pPr latinLnBrk="1"/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/>
              <a:t>*(&amp;a[</a:t>
            </a:r>
            <a:r>
              <a:rPr lang="en-US" altLang="zh-CN" dirty="0" err="1"/>
              <a:t>i</a:t>
            </a:r>
            <a:r>
              <a:rPr lang="en-US" altLang="zh-CN" dirty="0" smtClean="0"/>
              <a:t>])</a:t>
            </a:r>
            <a:endParaRPr lang="en-US" altLang="zh-CN" dirty="0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  <p:bldP spid="90115" grpId="0" build="p"/>
      <p:bldP spid="90116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文本框 91137"/>
          <p:cNvSpPr txBox="1"/>
          <p:nvPr/>
        </p:nvSpPr>
        <p:spPr>
          <a:xfrm>
            <a:off x="949325" y="957263"/>
            <a:ext cx="4241800" cy="2686050"/>
          </a:xfrm>
          <a:prstGeom prst="rect">
            <a:avLst/>
          </a:prstGeom>
          <a:solidFill>
            <a:srgbClr val="E1FFF7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void  main()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{  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a []={5,8,7,6,2,7,3};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    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y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,*p=&amp;a[1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];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y=(*--p)++;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      printf(“%d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”,y);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  printf(“%d”,a[0]);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} </a:t>
            </a:r>
          </a:p>
        </p:txBody>
      </p:sp>
      <p:sp>
        <p:nvSpPr>
          <p:cNvPr id="91139" name="文本框 91138"/>
          <p:cNvSpPr txBox="1"/>
          <p:nvPr/>
        </p:nvSpPr>
        <p:spPr>
          <a:xfrm>
            <a:off x="982663" y="4640263"/>
            <a:ext cx="1428750" cy="434975"/>
          </a:xfrm>
          <a:prstGeom prst="rect">
            <a:avLst/>
          </a:prstGeom>
          <a:solidFill>
            <a:srgbClr val="33CCCC"/>
          </a:solidFill>
          <a:ln w="38100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输出：5   6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1168" name="组合 91167"/>
          <p:cNvGrpSpPr/>
          <p:nvPr/>
        </p:nvGrpSpPr>
        <p:grpSpPr>
          <a:xfrm>
            <a:off x="6030913" y="1738313"/>
            <a:ext cx="814387" cy="396875"/>
            <a:chOff x="3799" y="1095"/>
            <a:chExt cx="513" cy="250"/>
          </a:xfrm>
        </p:grpSpPr>
        <p:sp>
          <p:nvSpPr>
            <p:cNvPr id="11268" name="直接连接符 91165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69" name="文本框 91166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91169" name="组合 91168"/>
          <p:cNvGrpSpPr/>
          <p:nvPr/>
        </p:nvGrpSpPr>
        <p:grpSpPr>
          <a:xfrm>
            <a:off x="6024563" y="1414463"/>
            <a:ext cx="814387" cy="396875"/>
            <a:chOff x="3799" y="1095"/>
            <a:chExt cx="513" cy="250"/>
          </a:xfrm>
        </p:grpSpPr>
        <p:sp>
          <p:nvSpPr>
            <p:cNvPr id="11271" name="直接连接符 91169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72" name="文本框 91170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 dirty="0">
                  <a:solidFill>
                    <a:schemeClr val="accent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91165" name="组合 91164"/>
          <p:cNvGrpSpPr/>
          <p:nvPr/>
        </p:nvGrpSpPr>
        <p:grpSpPr>
          <a:xfrm>
            <a:off x="6029325" y="1277938"/>
            <a:ext cx="2474913" cy="3167062"/>
            <a:chOff x="3053" y="483"/>
            <a:chExt cx="1559" cy="1995"/>
          </a:xfrm>
        </p:grpSpPr>
        <p:sp>
          <p:nvSpPr>
            <p:cNvPr id="11276" name="矩形 91139"/>
            <p:cNvSpPr/>
            <p:nvPr/>
          </p:nvSpPr>
          <p:spPr>
            <a:xfrm>
              <a:off x="3556" y="655"/>
              <a:ext cx="900" cy="182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7" name="直接连接符 91140"/>
            <p:cNvSpPr/>
            <p:nvPr/>
          </p:nvSpPr>
          <p:spPr>
            <a:xfrm>
              <a:off x="3554" y="911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78" name="直接连接符 91141"/>
            <p:cNvSpPr/>
            <p:nvPr/>
          </p:nvSpPr>
          <p:spPr>
            <a:xfrm>
              <a:off x="3554" y="1171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79" name="直接连接符 91142"/>
            <p:cNvSpPr/>
            <p:nvPr/>
          </p:nvSpPr>
          <p:spPr>
            <a:xfrm>
              <a:off x="3554" y="1432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0" name="直接连接符 91143"/>
            <p:cNvSpPr/>
            <p:nvPr/>
          </p:nvSpPr>
          <p:spPr>
            <a:xfrm>
              <a:off x="3554" y="1693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1" name="直接连接符 91144"/>
            <p:cNvSpPr/>
            <p:nvPr/>
          </p:nvSpPr>
          <p:spPr>
            <a:xfrm>
              <a:off x="3554" y="1954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2" name="直接连接符 91145"/>
            <p:cNvSpPr/>
            <p:nvPr/>
          </p:nvSpPr>
          <p:spPr>
            <a:xfrm>
              <a:off x="3554" y="2215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3" name="文本框 91147"/>
            <p:cNvSpPr txBox="1"/>
            <p:nvPr/>
          </p:nvSpPr>
          <p:spPr>
            <a:xfrm>
              <a:off x="3909" y="65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1284" name="文本框 91148"/>
            <p:cNvSpPr txBox="1"/>
            <p:nvPr/>
          </p:nvSpPr>
          <p:spPr>
            <a:xfrm>
              <a:off x="3909" y="9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1285" name="文本框 91149"/>
            <p:cNvSpPr txBox="1"/>
            <p:nvPr/>
          </p:nvSpPr>
          <p:spPr>
            <a:xfrm>
              <a:off x="3909" y="117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1286" name="文本框 91150"/>
            <p:cNvSpPr txBox="1"/>
            <p:nvPr/>
          </p:nvSpPr>
          <p:spPr>
            <a:xfrm>
              <a:off x="3909" y="14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287" name="文本框 91151"/>
            <p:cNvSpPr txBox="1"/>
            <p:nvPr/>
          </p:nvSpPr>
          <p:spPr>
            <a:xfrm>
              <a:off x="3909" y="1693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288" name="文本框 91152"/>
            <p:cNvSpPr txBox="1"/>
            <p:nvPr/>
          </p:nvSpPr>
          <p:spPr>
            <a:xfrm>
              <a:off x="3909" y="195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1289" name="文本框 91153"/>
            <p:cNvSpPr txBox="1"/>
            <p:nvPr/>
          </p:nvSpPr>
          <p:spPr>
            <a:xfrm>
              <a:off x="3909" y="221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1290" name="文本框 91155"/>
            <p:cNvSpPr txBox="1"/>
            <p:nvPr/>
          </p:nvSpPr>
          <p:spPr>
            <a:xfrm>
              <a:off x="4416" y="646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1291" name="文本框 91156"/>
            <p:cNvSpPr txBox="1"/>
            <p:nvPr/>
          </p:nvSpPr>
          <p:spPr>
            <a:xfrm>
              <a:off x="4416" y="906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1292" name="文本框 91157"/>
            <p:cNvSpPr txBox="1"/>
            <p:nvPr/>
          </p:nvSpPr>
          <p:spPr>
            <a:xfrm>
              <a:off x="4416" y="116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293" name="文本框 91158"/>
            <p:cNvSpPr txBox="1"/>
            <p:nvPr/>
          </p:nvSpPr>
          <p:spPr>
            <a:xfrm>
              <a:off x="4416" y="142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1294" name="文本框 91159"/>
            <p:cNvSpPr txBox="1"/>
            <p:nvPr/>
          </p:nvSpPr>
          <p:spPr>
            <a:xfrm>
              <a:off x="4416" y="1689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1295" name="文本框 91160"/>
            <p:cNvSpPr txBox="1"/>
            <p:nvPr/>
          </p:nvSpPr>
          <p:spPr>
            <a:xfrm>
              <a:off x="4416" y="195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1296" name="文本框 91161"/>
            <p:cNvSpPr txBox="1"/>
            <p:nvPr/>
          </p:nvSpPr>
          <p:spPr>
            <a:xfrm>
              <a:off x="4416" y="221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297" name="直接连接符 91162"/>
            <p:cNvSpPr/>
            <p:nvPr/>
          </p:nvSpPr>
          <p:spPr>
            <a:xfrm>
              <a:off x="3200" y="644"/>
              <a:ext cx="3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98" name="文本框 91163"/>
            <p:cNvSpPr txBox="1"/>
            <p:nvPr/>
          </p:nvSpPr>
          <p:spPr>
            <a:xfrm>
              <a:off x="3053" y="483"/>
              <a:ext cx="18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91175" name="文本框 91174"/>
          <p:cNvSpPr txBox="1"/>
          <p:nvPr/>
        </p:nvSpPr>
        <p:spPr>
          <a:xfrm>
            <a:off x="779463" y="247650"/>
            <a:ext cx="3384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注意指针变量的运算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72" name="文本框 91171"/>
          <p:cNvSpPr txBox="1"/>
          <p:nvPr/>
        </p:nvSpPr>
        <p:spPr>
          <a:xfrm>
            <a:off x="7391400" y="1535113"/>
            <a:ext cx="352425" cy="396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lstStyle/>
          <a:p>
            <a:pPr lvl="0" indent="0"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3633910" y="4003676"/>
            <a:ext cx="2218250" cy="1243574"/>
          </a:xfrm>
          <a:prstGeom prst="wedgeRoundRectCallout">
            <a:avLst>
              <a:gd name="adj1" fmla="val -57488"/>
              <a:gd name="adj2" fmla="val -171100"/>
              <a:gd name="adj3" fmla="val 16667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1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p=p-1</a:t>
            </a:r>
            <a:r>
              <a:rPr lang="en-US" altLang="zh-CN" b="1" kern="1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1" kern="1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="1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=(*p)</a:t>
            </a:r>
            <a:r>
              <a:rPr lang="zh-CN" altLang="en-US" b="1" kern="1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b="1" kern="1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1" kern="1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(*</a:t>
            </a:r>
            <a:r>
              <a:rPr lang="en-US" altLang="zh-CN" b="1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p)=(*p)+1;</a:t>
            </a:r>
            <a:endParaRPr lang="en-US" altLang="zh-CN" sz="1800" b="1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1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animBg="1"/>
      <p:bldP spid="91139" grpId="0" animBg="1"/>
      <p:bldP spid="91175" grpId="0" build="p"/>
      <p:bldP spid="91172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矩形 65538"/>
          <p:cNvSpPr/>
          <p:nvPr/>
        </p:nvSpPr>
        <p:spPr>
          <a:xfrm>
            <a:off x="2319338" y="1168400"/>
            <a:ext cx="3068637" cy="3781425"/>
          </a:xfrm>
          <a:prstGeom prst="rect">
            <a:avLst/>
          </a:prstGeom>
          <a:solidFill>
            <a:srgbClr val="E1FFF7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{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i,*p,a[7];</a:t>
            </a:r>
          </a:p>
          <a:p>
            <a:pPr lvl="0" indent="0" eaLnBrk="0" hangingPunct="0"/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p=a;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for(i=0;i&lt;7;i++)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scanf("%d",</a:t>
            </a:r>
            <a:r>
              <a:rPr lang="en-US" altLang="zh-CN" err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++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printf("\n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");</a:t>
            </a:r>
          </a:p>
          <a:p>
            <a:pPr lvl="0" indent="0" eaLnBrk="0" hangingPunct="0"/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for(i=0;i&lt;7;i++,p++)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printf("%d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",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*p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65542" name="文本框 65541"/>
          <p:cNvSpPr txBox="1"/>
          <p:nvPr/>
        </p:nvSpPr>
        <p:spPr>
          <a:xfrm>
            <a:off x="420688" y="261938"/>
            <a:ext cx="307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注意指针的当前值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3" name="文本框 65542"/>
          <p:cNvSpPr txBox="1"/>
          <p:nvPr/>
        </p:nvSpPr>
        <p:spPr>
          <a:xfrm>
            <a:off x="2700338" y="3400425"/>
            <a:ext cx="727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p=a;</a:t>
            </a:r>
          </a:p>
        </p:txBody>
      </p:sp>
      <p:grpSp>
        <p:nvGrpSpPr>
          <p:cNvPr id="65545" name="组合 65544"/>
          <p:cNvGrpSpPr/>
          <p:nvPr/>
        </p:nvGrpSpPr>
        <p:grpSpPr>
          <a:xfrm>
            <a:off x="6030913" y="1738313"/>
            <a:ext cx="814387" cy="396875"/>
            <a:chOff x="3799" y="1095"/>
            <a:chExt cx="513" cy="250"/>
          </a:xfrm>
        </p:grpSpPr>
        <p:sp>
          <p:nvSpPr>
            <p:cNvPr id="12296" name="直接连接符 65545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297" name="文本框 65546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65548" name="组合 65547"/>
          <p:cNvGrpSpPr/>
          <p:nvPr/>
        </p:nvGrpSpPr>
        <p:grpSpPr>
          <a:xfrm>
            <a:off x="6024563" y="1414463"/>
            <a:ext cx="814387" cy="396875"/>
            <a:chOff x="3799" y="1095"/>
            <a:chExt cx="513" cy="250"/>
          </a:xfrm>
        </p:grpSpPr>
        <p:sp>
          <p:nvSpPr>
            <p:cNvPr id="12299" name="直接连接符 65548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00" name="文本框 65549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65552" name="组合 65551"/>
          <p:cNvGrpSpPr/>
          <p:nvPr/>
        </p:nvGrpSpPr>
        <p:grpSpPr>
          <a:xfrm>
            <a:off x="6029325" y="1277938"/>
            <a:ext cx="2474913" cy="3167062"/>
            <a:chOff x="3053" y="483"/>
            <a:chExt cx="1559" cy="1995"/>
          </a:xfrm>
        </p:grpSpPr>
        <p:sp>
          <p:nvSpPr>
            <p:cNvPr id="12302" name="矩形 65552"/>
            <p:cNvSpPr/>
            <p:nvPr/>
          </p:nvSpPr>
          <p:spPr>
            <a:xfrm>
              <a:off x="3556" y="655"/>
              <a:ext cx="900" cy="182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3" name="直接连接符 65553"/>
            <p:cNvSpPr/>
            <p:nvPr/>
          </p:nvSpPr>
          <p:spPr>
            <a:xfrm>
              <a:off x="3554" y="911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4" name="直接连接符 65554"/>
            <p:cNvSpPr/>
            <p:nvPr/>
          </p:nvSpPr>
          <p:spPr>
            <a:xfrm>
              <a:off x="3554" y="1171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5" name="直接连接符 65555"/>
            <p:cNvSpPr/>
            <p:nvPr/>
          </p:nvSpPr>
          <p:spPr>
            <a:xfrm>
              <a:off x="3554" y="1432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6" name="直接连接符 65556"/>
            <p:cNvSpPr/>
            <p:nvPr/>
          </p:nvSpPr>
          <p:spPr>
            <a:xfrm>
              <a:off x="3554" y="1693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7" name="直接连接符 65557"/>
            <p:cNvSpPr/>
            <p:nvPr/>
          </p:nvSpPr>
          <p:spPr>
            <a:xfrm>
              <a:off x="3554" y="1954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8" name="直接连接符 65558"/>
            <p:cNvSpPr/>
            <p:nvPr/>
          </p:nvSpPr>
          <p:spPr>
            <a:xfrm>
              <a:off x="3554" y="2215"/>
              <a:ext cx="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9" name="文本框 65559"/>
            <p:cNvSpPr txBox="1"/>
            <p:nvPr/>
          </p:nvSpPr>
          <p:spPr>
            <a:xfrm>
              <a:off x="3909" y="65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2310" name="文本框 65560"/>
            <p:cNvSpPr txBox="1"/>
            <p:nvPr/>
          </p:nvSpPr>
          <p:spPr>
            <a:xfrm>
              <a:off x="3909" y="9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2311" name="文本框 65561"/>
            <p:cNvSpPr txBox="1"/>
            <p:nvPr/>
          </p:nvSpPr>
          <p:spPr>
            <a:xfrm>
              <a:off x="3909" y="117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2312" name="文本框 65562"/>
            <p:cNvSpPr txBox="1"/>
            <p:nvPr/>
          </p:nvSpPr>
          <p:spPr>
            <a:xfrm>
              <a:off x="3909" y="14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313" name="文本框 65563"/>
            <p:cNvSpPr txBox="1"/>
            <p:nvPr/>
          </p:nvSpPr>
          <p:spPr>
            <a:xfrm>
              <a:off x="3909" y="1693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314" name="文本框 65564"/>
            <p:cNvSpPr txBox="1"/>
            <p:nvPr/>
          </p:nvSpPr>
          <p:spPr>
            <a:xfrm>
              <a:off x="3909" y="195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2315" name="文本框 65565"/>
            <p:cNvSpPr txBox="1"/>
            <p:nvPr/>
          </p:nvSpPr>
          <p:spPr>
            <a:xfrm>
              <a:off x="3909" y="221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2316" name="文本框 65566"/>
            <p:cNvSpPr txBox="1"/>
            <p:nvPr/>
          </p:nvSpPr>
          <p:spPr>
            <a:xfrm>
              <a:off x="4416" y="646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2317" name="文本框 65567"/>
            <p:cNvSpPr txBox="1"/>
            <p:nvPr/>
          </p:nvSpPr>
          <p:spPr>
            <a:xfrm>
              <a:off x="4416" y="906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318" name="文本框 65568"/>
            <p:cNvSpPr txBox="1"/>
            <p:nvPr/>
          </p:nvSpPr>
          <p:spPr>
            <a:xfrm>
              <a:off x="4416" y="116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319" name="文本框 65569"/>
            <p:cNvSpPr txBox="1"/>
            <p:nvPr/>
          </p:nvSpPr>
          <p:spPr>
            <a:xfrm>
              <a:off x="4416" y="142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2320" name="文本框 65570"/>
            <p:cNvSpPr txBox="1"/>
            <p:nvPr/>
          </p:nvSpPr>
          <p:spPr>
            <a:xfrm>
              <a:off x="4416" y="1689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2321" name="文本框 65571"/>
            <p:cNvSpPr txBox="1"/>
            <p:nvPr/>
          </p:nvSpPr>
          <p:spPr>
            <a:xfrm>
              <a:off x="4416" y="195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2322" name="文本框 65572"/>
            <p:cNvSpPr txBox="1"/>
            <p:nvPr/>
          </p:nvSpPr>
          <p:spPr>
            <a:xfrm>
              <a:off x="4416" y="221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323" name="直接连接符 65573"/>
            <p:cNvSpPr/>
            <p:nvPr/>
          </p:nvSpPr>
          <p:spPr>
            <a:xfrm>
              <a:off x="3200" y="644"/>
              <a:ext cx="3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24" name="文本框 65574"/>
            <p:cNvSpPr txBox="1"/>
            <p:nvPr/>
          </p:nvSpPr>
          <p:spPr>
            <a:xfrm>
              <a:off x="3053" y="483"/>
              <a:ext cx="18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65576" name="组合 65575"/>
          <p:cNvGrpSpPr/>
          <p:nvPr/>
        </p:nvGrpSpPr>
        <p:grpSpPr>
          <a:xfrm>
            <a:off x="6011863" y="2144713"/>
            <a:ext cx="814387" cy="396875"/>
            <a:chOff x="3799" y="1095"/>
            <a:chExt cx="513" cy="250"/>
          </a:xfrm>
        </p:grpSpPr>
        <p:sp>
          <p:nvSpPr>
            <p:cNvPr id="12326" name="直接连接符 65576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27" name="文本框 65577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65579" name="组合 65578"/>
          <p:cNvGrpSpPr/>
          <p:nvPr/>
        </p:nvGrpSpPr>
        <p:grpSpPr>
          <a:xfrm>
            <a:off x="6011863" y="2552700"/>
            <a:ext cx="814387" cy="396875"/>
            <a:chOff x="3799" y="1095"/>
            <a:chExt cx="513" cy="250"/>
          </a:xfrm>
        </p:grpSpPr>
        <p:sp>
          <p:nvSpPr>
            <p:cNvPr id="12329" name="直接连接符 65579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30" name="文本框 65580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65582" name="组合 65581"/>
          <p:cNvGrpSpPr/>
          <p:nvPr/>
        </p:nvGrpSpPr>
        <p:grpSpPr>
          <a:xfrm>
            <a:off x="6011863" y="2960688"/>
            <a:ext cx="814387" cy="396875"/>
            <a:chOff x="3799" y="1095"/>
            <a:chExt cx="513" cy="250"/>
          </a:xfrm>
        </p:grpSpPr>
        <p:sp>
          <p:nvSpPr>
            <p:cNvPr id="12332" name="直接连接符 65582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33" name="文本框 65583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65585" name="组合 65584"/>
          <p:cNvGrpSpPr/>
          <p:nvPr/>
        </p:nvGrpSpPr>
        <p:grpSpPr>
          <a:xfrm>
            <a:off x="6011863" y="3368675"/>
            <a:ext cx="814387" cy="396875"/>
            <a:chOff x="3799" y="1095"/>
            <a:chExt cx="513" cy="250"/>
          </a:xfrm>
        </p:grpSpPr>
        <p:sp>
          <p:nvSpPr>
            <p:cNvPr id="12335" name="直接连接符 65585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36" name="文本框 65586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65588" name="组合 65587"/>
          <p:cNvGrpSpPr/>
          <p:nvPr/>
        </p:nvGrpSpPr>
        <p:grpSpPr>
          <a:xfrm>
            <a:off x="6011863" y="3776663"/>
            <a:ext cx="814387" cy="396875"/>
            <a:chOff x="3799" y="1095"/>
            <a:chExt cx="513" cy="250"/>
          </a:xfrm>
        </p:grpSpPr>
        <p:sp>
          <p:nvSpPr>
            <p:cNvPr id="12338" name="直接连接符 65588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39" name="文本框 65589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65591" name="组合 65590"/>
          <p:cNvGrpSpPr/>
          <p:nvPr/>
        </p:nvGrpSpPr>
        <p:grpSpPr>
          <a:xfrm>
            <a:off x="6030913" y="4195763"/>
            <a:ext cx="814387" cy="396875"/>
            <a:chOff x="3799" y="1095"/>
            <a:chExt cx="513" cy="250"/>
          </a:xfrm>
        </p:grpSpPr>
        <p:sp>
          <p:nvSpPr>
            <p:cNvPr id="12341" name="直接连接符 65591"/>
            <p:cNvSpPr/>
            <p:nvPr/>
          </p:nvSpPr>
          <p:spPr>
            <a:xfrm>
              <a:off x="3946" y="1244"/>
              <a:ext cx="36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42" name="文本框 65592"/>
            <p:cNvSpPr txBox="1"/>
            <p:nvPr/>
          </p:nvSpPr>
          <p:spPr>
            <a:xfrm>
              <a:off x="3799" y="1095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sp>
        <p:nvSpPr>
          <p:cNvPr id="65594" name="椭圆形标注 65593"/>
          <p:cNvSpPr/>
          <p:nvPr/>
        </p:nvSpPr>
        <p:spPr>
          <a:xfrm>
            <a:off x="858838" y="5332413"/>
            <a:ext cx="7118350" cy="647700"/>
          </a:xfrm>
          <a:prstGeom prst="wedgeEllipseCallout">
            <a:avLst>
              <a:gd name="adj1" fmla="val 22880"/>
              <a:gd name="adj2" fmla="val -97551"/>
            </a:avLst>
          </a:prstGeom>
          <a:solidFill>
            <a:schemeClr val="bg1"/>
          </a:solidFill>
          <a:ln w="38100" cap="flat" cmpd="sng">
            <a:solidFill>
              <a:srgbClr val="339966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指针变量可以指到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数组后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的内存单元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65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6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animBg="1"/>
      <p:bldP spid="65542" grpId="0" build="p"/>
      <p:bldP spid="65543" grpId="0" build="p"/>
      <p:bldP spid="6559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1160" y="1231197"/>
            <a:ext cx="78416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</a:rPr>
              <a:t>1.</a:t>
            </a:r>
            <a:r>
              <a:rPr lang="zh-CN" altLang="en-US" dirty="0" smtClean="0">
                <a:latin typeface="宋体" panose="02010600030101010101" pitchFamily="2" charset="-122"/>
              </a:rPr>
              <a:t>以下</a:t>
            </a:r>
            <a:r>
              <a:rPr lang="zh-CN" altLang="en-US" dirty="0">
                <a:latin typeface="宋体" panose="02010600030101010101" pitchFamily="2" charset="-122"/>
              </a:rPr>
              <a:t>程序的输出结果是</a:t>
            </a:r>
            <a:r>
              <a:rPr lang="zh-CN" altLang="en-US" u="sng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        </a:t>
            </a:r>
            <a:r>
              <a:rPr lang="zh-CN" altLang="en-US" dirty="0" smtClean="0">
                <a:latin typeface="宋体" panose="02010600030101010101" pitchFamily="2" charset="-122"/>
              </a:rPr>
              <a:t>。</a:t>
            </a:r>
          </a:p>
          <a:p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main()</a:t>
            </a:r>
            <a:b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{</a:t>
            </a:r>
            <a:r>
              <a:rPr lang="en-US" altLang="zh-CN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arr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[ ]={30, 25, 20, 15, 10, 5}, *p=</a:t>
            </a:r>
            <a:r>
              <a:rPr lang="en-US" altLang="zh-CN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arr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  <a:b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 p++;</a:t>
            </a:r>
            <a:b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(“%d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%d\n”, *(p+3)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，*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p+3);</a:t>
            </a:r>
            <a:b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-1" y="290949"/>
            <a:ext cx="241069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练习</a:t>
            </a:r>
            <a:endParaRPr lang="zh-CN" alt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1159" y="4181200"/>
            <a:ext cx="802178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dirty="0">
                <a:latin typeface="宋体" panose="02010600030101010101" pitchFamily="2" charset="-122"/>
              </a:rPr>
              <a:t>以下程序的输出结果是</a:t>
            </a:r>
            <a:r>
              <a:rPr lang="zh-CN" altLang="en-US" u="sng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        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</a:p>
          <a:p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main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{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a[10]={19,23,44,17,37,28,49,36},*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p=a;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(“%d\n”,(p+=3)[3]);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06431" y="6163046"/>
            <a:ext cx="20858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输出结果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49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6436" y="3572246"/>
            <a:ext cx="2521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输出结果：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10,28</a:t>
            </a:r>
          </a:p>
        </p:txBody>
      </p:sp>
    </p:spTree>
    <p:extLst>
      <p:ext uri="{BB962C8B-B14F-4D97-AF65-F5344CB8AC3E}">
        <p14:creationId xmlns:p14="http://schemas.microsoft.com/office/powerpoint/2010/main" val="33019"/>
      </p:ext>
    </p:extLst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矩形 110595"/>
          <p:cNvSpPr/>
          <p:nvPr/>
        </p:nvSpPr>
        <p:spPr>
          <a:xfrm>
            <a:off x="0" y="950913"/>
            <a:ext cx="8829675" cy="3784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一级指针变量与一维数组的关系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None/>
            </a:pPr>
            <a:r>
              <a:rPr lang="en-US" altLang="zh-CN" sz="2000" b="1" i="1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*p   </a:t>
            </a:r>
            <a:r>
              <a:rPr lang="zh-CN" altLang="en-US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与  </a:t>
            </a:r>
            <a:r>
              <a:rPr lang="en-US" altLang="zh-CN" sz="2000" b="1" i="1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q[10]          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数组名是指针（地址）</a:t>
            </a:r>
            <a:r>
              <a:rPr lang="zh-CN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常量</a:t>
            </a:r>
            <a:endParaRPr lang="zh-CN" altLang="zh-CN" sz="2000" b="1" i="1" u="none" baseline="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p=q;   p+i 是q[i]的地址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数组元素的表示方法:</a:t>
            </a:r>
            <a:r>
              <a:rPr lang="zh-CN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下标法</a:t>
            </a:r>
            <a:r>
              <a:rPr lang="zh-CN" altLang="en-US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和</a:t>
            </a:r>
            <a:r>
              <a:rPr lang="zh-CN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指针法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，   即若p=q,                    则       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p[</a:t>
            </a:r>
            <a:r>
              <a:rPr lang="en-US" altLang="zh-CN" sz="2000" b="1" i="1" u="none" baseline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 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q[</a:t>
            </a:r>
            <a:r>
              <a:rPr lang="en-US" altLang="zh-CN" sz="2000" b="1" i="1" u="none" baseline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 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*(</a:t>
            </a:r>
            <a:r>
              <a:rPr lang="en-US" altLang="zh-CN" sz="2000" b="1" i="1" u="none" baseline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p+i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*(</a:t>
            </a:r>
            <a:r>
              <a:rPr lang="en-US" altLang="zh-CN" sz="2000" b="1" i="1" u="none" baseline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q+i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en-US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形参数组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实质上是</a:t>
            </a:r>
            <a:r>
              <a:rPr lang="zh-CN" altLang="zh-CN" sz="2000" b="1" i="1" u="none" baseline="0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指针变量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，即</a:t>
            </a:r>
            <a:r>
              <a:rPr lang="en-US" altLang="zh-CN" sz="2000" b="1" i="1" u="none" baseline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q[ ] 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2000" b="1" i="1" u="none" baseline="0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*q</a:t>
            </a: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在定义指针变量（不是形参）时，</a:t>
            </a:r>
            <a:r>
              <a:rPr lang="zh-CN" altLang="en-US" sz="1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不能</a:t>
            </a:r>
            <a:r>
              <a:rPr lang="zh-CN" altLang="zh-CN" sz="1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把</a:t>
            </a:r>
            <a:r>
              <a:rPr lang="en-US" altLang="zh-CN" sz="1800" b="1" i="1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zh-CN" altLang="zh-CN" sz="1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*p  写成</a:t>
            </a:r>
            <a:r>
              <a:rPr lang="en-US" altLang="zh-CN" sz="1800" b="1" i="1" u="non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1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p[];</a:t>
            </a:r>
            <a:endParaRPr lang="en-US" altLang="zh-CN" sz="2000" b="1" i="1" u="none" baseline="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系统只给p分配能保存一个指针值的内存区(一般2字节）；而给q分配2*10字节的内存区</a:t>
            </a:r>
            <a:endParaRPr lang="en-US" altLang="zh-CN" sz="2000" b="1" i="1" u="none" baseline="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endParaRPr lang="en-US" altLang="zh-CN" sz="2000" b="1" i="1" u="none" baseline="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0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0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05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05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05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05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build="p" bldLvl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26625"/>
          <p:cNvSpPr/>
          <p:nvPr/>
        </p:nvSpPr>
        <p:spPr>
          <a:xfrm>
            <a:off x="255588" y="211138"/>
            <a:ext cx="8620125" cy="8905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905" lvl="1" indent="455295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11.2 </a:t>
            </a:r>
            <a:r>
              <a:rPr lang="zh-CN" altLang="en-US" sz="28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指针与二维数组</a:t>
            </a:r>
          </a:p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二维数组的地址</a:t>
            </a:r>
            <a:endParaRPr lang="zh-CN" altLang="en-US" sz="24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6735" name="文本框 26734"/>
          <p:cNvSpPr txBox="1"/>
          <p:nvPr/>
        </p:nvSpPr>
        <p:spPr>
          <a:xfrm>
            <a:off x="242888" y="1720850"/>
            <a:ext cx="6473825" cy="16764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对于一维数组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）数组名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array表示数组的首地址，即array[0]的地址；</a:t>
            </a:r>
          </a:p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）数组名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array是地址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常量</a:t>
            </a:r>
            <a:endParaRPr lang="zh-CN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（3）array+i是元素array[i]的地址</a:t>
            </a:r>
          </a:p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（4）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array[i]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*(array+i)</a:t>
            </a:r>
          </a:p>
        </p:txBody>
      </p:sp>
      <p:grpSp>
        <p:nvGrpSpPr>
          <p:cNvPr id="26754" name="组合 26753"/>
          <p:cNvGrpSpPr/>
          <p:nvPr/>
        </p:nvGrpSpPr>
        <p:grpSpPr>
          <a:xfrm>
            <a:off x="6294438" y="979488"/>
            <a:ext cx="2578100" cy="3711575"/>
            <a:chOff x="3554" y="906"/>
            <a:chExt cx="1624" cy="2338"/>
          </a:xfrm>
        </p:grpSpPr>
        <p:sp>
          <p:nvSpPr>
            <p:cNvPr id="14340" name="矩形 26736"/>
            <p:cNvSpPr/>
            <p:nvPr/>
          </p:nvSpPr>
          <p:spPr>
            <a:xfrm>
              <a:off x="4222" y="1133"/>
              <a:ext cx="834" cy="211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1" name="直接连接符 26737"/>
            <p:cNvSpPr/>
            <p:nvPr/>
          </p:nvSpPr>
          <p:spPr>
            <a:xfrm>
              <a:off x="4222" y="1333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2" name="直接连接符 26738"/>
            <p:cNvSpPr/>
            <p:nvPr/>
          </p:nvSpPr>
          <p:spPr>
            <a:xfrm>
              <a:off x="4222" y="1545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3" name="直接连接符 26739"/>
            <p:cNvSpPr/>
            <p:nvPr/>
          </p:nvSpPr>
          <p:spPr>
            <a:xfrm>
              <a:off x="4222" y="1758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4" name="直接连接符 26740"/>
            <p:cNvSpPr/>
            <p:nvPr/>
          </p:nvSpPr>
          <p:spPr>
            <a:xfrm>
              <a:off x="4222" y="1970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5" name="直接连接符 26741"/>
            <p:cNvSpPr/>
            <p:nvPr/>
          </p:nvSpPr>
          <p:spPr>
            <a:xfrm>
              <a:off x="4222" y="2183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6" name="直接连接符 26742"/>
            <p:cNvSpPr/>
            <p:nvPr/>
          </p:nvSpPr>
          <p:spPr>
            <a:xfrm>
              <a:off x="4222" y="2396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7" name="直接连接符 26743"/>
            <p:cNvSpPr/>
            <p:nvPr/>
          </p:nvSpPr>
          <p:spPr>
            <a:xfrm>
              <a:off x="4222" y="2608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8" name="直接连接符 26744"/>
            <p:cNvSpPr/>
            <p:nvPr/>
          </p:nvSpPr>
          <p:spPr>
            <a:xfrm>
              <a:off x="4222" y="2821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9" name="直接连接符 26745"/>
            <p:cNvSpPr/>
            <p:nvPr/>
          </p:nvSpPr>
          <p:spPr>
            <a:xfrm>
              <a:off x="4222" y="3034"/>
              <a:ext cx="83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0" name="直接连接符 26746"/>
            <p:cNvSpPr/>
            <p:nvPr/>
          </p:nvSpPr>
          <p:spPr>
            <a:xfrm>
              <a:off x="3889" y="1144"/>
              <a:ext cx="3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51" name="文本框 26747"/>
            <p:cNvSpPr txBox="1"/>
            <p:nvPr/>
          </p:nvSpPr>
          <p:spPr>
            <a:xfrm>
              <a:off x="3554" y="973"/>
              <a:ext cx="4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array</a:t>
              </a:r>
            </a:p>
          </p:txBody>
        </p:sp>
        <p:sp>
          <p:nvSpPr>
            <p:cNvPr id="14352" name="文本框 26750"/>
            <p:cNvSpPr txBox="1"/>
            <p:nvPr/>
          </p:nvSpPr>
          <p:spPr>
            <a:xfrm>
              <a:off x="4176" y="906"/>
              <a:ext cx="100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array[10];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26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6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6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6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6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26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 bldLvl="3"/>
      <p:bldP spid="2673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3" name="文本框 57402"/>
          <p:cNvSpPr txBox="1"/>
          <p:nvPr/>
        </p:nvSpPr>
        <p:spPr>
          <a:xfrm>
            <a:off x="6583363" y="1938338"/>
            <a:ext cx="2560637" cy="3027362"/>
          </a:xfrm>
          <a:prstGeom prst="rect">
            <a:avLst/>
          </a:prstGeom>
          <a:noFill/>
          <a:ln w="9525">
            <a:noFill/>
          </a:ln>
        </p:spPr>
        <p:txBody>
          <a:bodyPr wrap="none" anchor="t"/>
          <a:lstStyle/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对于二维数组：</a:t>
            </a:r>
          </a:p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a是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数组名，</a:t>
            </a:r>
          </a:p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包含三个元素</a:t>
            </a:r>
          </a:p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a[0],a[1],a[2]</a:t>
            </a:r>
          </a:p>
          <a:p>
            <a:pPr lvl="0" indent="0" eaLnBrk="1" hangingPunct="1"/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（2）每个元素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a[i]</a:t>
            </a:r>
          </a:p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又是一个一维</a:t>
            </a:r>
          </a:p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数组，包含4个</a:t>
            </a:r>
          </a:p>
          <a:p>
            <a:pPr lvl="0" indent="0" eaLnBrk="1" hangingPunct="1"/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元素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434" name="组合 57433"/>
          <p:cNvGrpSpPr/>
          <p:nvPr/>
        </p:nvGrpSpPr>
        <p:grpSpPr>
          <a:xfrm>
            <a:off x="549275" y="1181100"/>
            <a:ext cx="688975" cy="3713163"/>
            <a:chOff x="274" y="708"/>
            <a:chExt cx="434" cy="2339"/>
          </a:xfrm>
        </p:grpSpPr>
        <p:sp>
          <p:nvSpPr>
            <p:cNvPr id="15363" name="文本框 57373"/>
            <p:cNvSpPr txBox="1"/>
            <p:nvPr/>
          </p:nvSpPr>
          <p:spPr>
            <a:xfrm>
              <a:off x="407" y="708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5364" name="文本框 57374"/>
            <p:cNvSpPr txBox="1"/>
            <p:nvPr/>
          </p:nvSpPr>
          <p:spPr>
            <a:xfrm>
              <a:off x="274" y="1797"/>
              <a:ext cx="4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a+1</a:t>
              </a:r>
            </a:p>
          </p:txBody>
        </p:sp>
        <p:sp>
          <p:nvSpPr>
            <p:cNvPr id="15365" name="文本框 57375"/>
            <p:cNvSpPr txBox="1"/>
            <p:nvPr/>
          </p:nvSpPr>
          <p:spPr>
            <a:xfrm>
              <a:off x="303" y="2759"/>
              <a:ext cx="4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a+2</a:t>
              </a:r>
            </a:p>
          </p:txBody>
        </p:sp>
      </p:grpSp>
      <p:grpSp>
        <p:nvGrpSpPr>
          <p:cNvPr id="57409" name="组合 57408"/>
          <p:cNvGrpSpPr/>
          <p:nvPr/>
        </p:nvGrpSpPr>
        <p:grpSpPr>
          <a:xfrm>
            <a:off x="6419850" y="431800"/>
            <a:ext cx="1952625" cy="1489075"/>
            <a:chOff x="3612" y="284"/>
            <a:chExt cx="1230" cy="938"/>
          </a:xfrm>
        </p:grpSpPr>
        <p:grpSp>
          <p:nvGrpSpPr>
            <p:cNvPr id="15367" name="组合 57406"/>
            <p:cNvGrpSpPr/>
            <p:nvPr/>
          </p:nvGrpSpPr>
          <p:grpSpPr>
            <a:xfrm>
              <a:off x="3612" y="550"/>
              <a:ext cx="1230" cy="672"/>
              <a:chOff x="3612" y="550"/>
              <a:chExt cx="1230" cy="672"/>
            </a:xfrm>
          </p:grpSpPr>
          <p:sp>
            <p:nvSpPr>
              <p:cNvPr id="15368" name="文本框 57403"/>
              <p:cNvSpPr txBox="1"/>
              <p:nvPr/>
            </p:nvSpPr>
            <p:spPr>
              <a:xfrm>
                <a:off x="3943" y="550"/>
                <a:ext cx="89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*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(*(a+0)+1)</a:t>
                </a:r>
              </a:p>
            </p:txBody>
          </p:sp>
          <p:sp>
            <p:nvSpPr>
              <p:cNvPr id="15369" name="直接连接符 57404"/>
              <p:cNvSpPr/>
              <p:nvPr/>
            </p:nvSpPr>
            <p:spPr>
              <a:xfrm flipH="1">
                <a:off x="3612" y="778"/>
                <a:ext cx="500" cy="444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370" name="文本框 57407"/>
            <p:cNvSpPr txBox="1"/>
            <p:nvPr/>
          </p:nvSpPr>
          <p:spPr>
            <a:xfrm>
              <a:off x="4020" y="284"/>
              <a:ext cx="72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+1)</a:t>
              </a:r>
              <a:endParaRPr lang="en-US" altLang="zh-CN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395" name="文本框 57394"/>
          <p:cNvSpPr txBox="1"/>
          <p:nvPr/>
        </p:nvSpPr>
        <p:spPr>
          <a:xfrm>
            <a:off x="3460750" y="581025"/>
            <a:ext cx="18240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en-US" altLang="zh-CN" sz="280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a[3][4];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437" name="组合 57436"/>
          <p:cNvGrpSpPr/>
          <p:nvPr/>
        </p:nvGrpSpPr>
        <p:grpSpPr>
          <a:xfrm>
            <a:off x="1443038" y="1031875"/>
            <a:ext cx="1914525" cy="5524500"/>
            <a:chOff x="909" y="650"/>
            <a:chExt cx="1206" cy="3480"/>
          </a:xfrm>
        </p:grpSpPr>
        <p:sp>
          <p:nvSpPr>
            <p:cNvPr id="15373" name="直接连接符 57364"/>
            <p:cNvSpPr/>
            <p:nvPr/>
          </p:nvSpPr>
          <p:spPr>
            <a:xfrm>
              <a:off x="1415" y="1978"/>
              <a:ext cx="686" cy="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15374" name="直接连接符 57365"/>
            <p:cNvSpPr/>
            <p:nvPr/>
          </p:nvSpPr>
          <p:spPr>
            <a:xfrm>
              <a:off x="1429" y="2989"/>
              <a:ext cx="686" cy="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grpSp>
          <p:nvGrpSpPr>
            <p:cNvPr id="15375" name="组合 57411"/>
            <p:cNvGrpSpPr/>
            <p:nvPr/>
          </p:nvGrpSpPr>
          <p:grpSpPr>
            <a:xfrm>
              <a:off x="1415" y="862"/>
              <a:ext cx="686" cy="3268"/>
              <a:chOff x="1043" y="850"/>
              <a:chExt cx="686" cy="3268"/>
            </a:xfrm>
          </p:grpSpPr>
          <p:sp>
            <p:nvSpPr>
              <p:cNvPr id="15376" name="矩形 57345"/>
              <p:cNvSpPr/>
              <p:nvPr/>
            </p:nvSpPr>
            <p:spPr>
              <a:xfrm>
                <a:off x="1043" y="852"/>
                <a:ext cx="686" cy="3266"/>
              </a:xfrm>
              <a:prstGeom prst="rect">
                <a:avLst/>
              </a:prstGeom>
              <a:noFill/>
              <a:ln w="9525" cap="rnd" cmpd="sng">
                <a:solidFill>
                  <a:schemeClr val="tx1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7" name="文本框 57366"/>
              <p:cNvSpPr txBox="1"/>
              <p:nvPr/>
            </p:nvSpPr>
            <p:spPr>
              <a:xfrm>
                <a:off x="1242" y="850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8" name="文本框 57367"/>
              <p:cNvSpPr txBox="1"/>
              <p:nvPr/>
            </p:nvSpPr>
            <p:spPr>
              <a:xfrm>
                <a:off x="1225" y="1935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9" name="文本框 57368"/>
              <p:cNvSpPr txBox="1"/>
              <p:nvPr/>
            </p:nvSpPr>
            <p:spPr>
              <a:xfrm>
                <a:off x="1190" y="2957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380" name="直接连接符 57369"/>
            <p:cNvSpPr/>
            <p:nvPr/>
          </p:nvSpPr>
          <p:spPr>
            <a:xfrm>
              <a:off x="993" y="878"/>
              <a:ext cx="4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81" name="直接连接符 57370"/>
            <p:cNvSpPr/>
            <p:nvPr/>
          </p:nvSpPr>
          <p:spPr>
            <a:xfrm>
              <a:off x="978" y="1974"/>
              <a:ext cx="4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82" name="直接连接符 57371"/>
            <p:cNvSpPr/>
            <p:nvPr/>
          </p:nvSpPr>
          <p:spPr>
            <a:xfrm>
              <a:off x="978" y="2985"/>
              <a:ext cx="4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83" name="文本框 57372"/>
            <p:cNvSpPr txBox="1"/>
            <p:nvPr/>
          </p:nvSpPr>
          <p:spPr>
            <a:xfrm>
              <a:off x="1002" y="650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</a:p>
          </p:txBody>
        </p:sp>
        <p:sp>
          <p:nvSpPr>
            <p:cNvPr id="15384" name="文本框 57376"/>
            <p:cNvSpPr txBox="1"/>
            <p:nvPr/>
          </p:nvSpPr>
          <p:spPr>
            <a:xfrm>
              <a:off x="909" y="1758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2008</a:t>
              </a:r>
            </a:p>
          </p:txBody>
        </p:sp>
        <p:sp>
          <p:nvSpPr>
            <p:cNvPr id="15385" name="文本框 57377"/>
            <p:cNvSpPr txBox="1"/>
            <p:nvPr/>
          </p:nvSpPr>
          <p:spPr>
            <a:xfrm>
              <a:off x="965" y="2756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2016</a:t>
              </a:r>
            </a:p>
          </p:txBody>
        </p:sp>
      </p:grpSp>
      <p:grpSp>
        <p:nvGrpSpPr>
          <p:cNvPr id="57438" name="组合 57437"/>
          <p:cNvGrpSpPr/>
          <p:nvPr/>
        </p:nvGrpSpPr>
        <p:grpSpPr>
          <a:xfrm>
            <a:off x="3165475" y="1149350"/>
            <a:ext cx="3368675" cy="5337175"/>
            <a:chOff x="1994" y="724"/>
            <a:chExt cx="2122" cy="3362"/>
          </a:xfrm>
        </p:grpSpPr>
        <p:sp>
          <p:nvSpPr>
            <p:cNvPr id="15387" name="直接连接符 57378"/>
            <p:cNvSpPr/>
            <p:nvPr/>
          </p:nvSpPr>
          <p:spPr>
            <a:xfrm>
              <a:off x="2020" y="967"/>
              <a:ext cx="133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88" name="直接连接符 57379"/>
            <p:cNvSpPr/>
            <p:nvPr/>
          </p:nvSpPr>
          <p:spPr>
            <a:xfrm>
              <a:off x="2980" y="1201"/>
              <a:ext cx="3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89" name="文本框 57380"/>
            <p:cNvSpPr txBox="1"/>
            <p:nvPr/>
          </p:nvSpPr>
          <p:spPr>
            <a:xfrm>
              <a:off x="2956" y="724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</a:p>
          </p:txBody>
        </p:sp>
        <p:sp>
          <p:nvSpPr>
            <p:cNvPr id="15390" name="文本框 57381"/>
            <p:cNvSpPr txBox="1"/>
            <p:nvPr/>
          </p:nvSpPr>
          <p:spPr>
            <a:xfrm>
              <a:off x="2956" y="968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2002</a:t>
              </a:r>
            </a:p>
          </p:txBody>
        </p:sp>
        <p:sp>
          <p:nvSpPr>
            <p:cNvPr id="15391" name="直接连接符 57383"/>
            <p:cNvSpPr/>
            <p:nvPr/>
          </p:nvSpPr>
          <p:spPr>
            <a:xfrm>
              <a:off x="2010" y="2056"/>
              <a:ext cx="13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92" name="直接连接符 57384"/>
            <p:cNvSpPr/>
            <p:nvPr/>
          </p:nvSpPr>
          <p:spPr>
            <a:xfrm flipV="1">
              <a:off x="2990" y="2300"/>
              <a:ext cx="33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93" name="直接连接符 57385"/>
            <p:cNvSpPr/>
            <p:nvPr/>
          </p:nvSpPr>
          <p:spPr>
            <a:xfrm>
              <a:off x="1994" y="3099"/>
              <a:ext cx="132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94" name="直接连接符 57386"/>
            <p:cNvSpPr/>
            <p:nvPr/>
          </p:nvSpPr>
          <p:spPr>
            <a:xfrm>
              <a:off x="2969" y="3345"/>
              <a:ext cx="3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95" name="文本框 57387"/>
            <p:cNvSpPr txBox="1"/>
            <p:nvPr/>
          </p:nvSpPr>
          <p:spPr>
            <a:xfrm>
              <a:off x="2944" y="1831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2008</a:t>
              </a:r>
            </a:p>
          </p:txBody>
        </p:sp>
        <p:sp>
          <p:nvSpPr>
            <p:cNvPr id="15396" name="文本框 57388"/>
            <p:cNvSpPr txBox="1"/>
            <p:nvPr/>
          </p:nvSpPr>
          <p:spPr>
            <a:xfrm>
              <a:off x="2944" y="2075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2010</a:t>
              </a:r>
            </a:p>
          </p:txBody>
        </p:sp>
        <p:sp>
          <p:nvSpPr>
            <p:cNvPr id="15397" name="文本框 57389"/>
            <p:cNvSpPr txBox="1"/>
            <p:nvPr/>
          </p:nvSpPr>
          <p:spPr>
            <a:xfrm>
              <a:off x="2953" y="2876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2016</a:t>
              </a:r>
            </a:p>
          </p:txBody>
        </p:sp>
        <p:sp>
          <p:nvSpPr>
            <p:cNvPr id="15398" name="文本框 57390"/>
            <p:cNvSpPr txBox="1"/>
            <p:nvPr/>
          </p:nvSpPr>
          <p:spPr>
            <a:xfrm>
              <a:off x="2954" y="3120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2018</a:t>
              </a:r>
            </a:p>
          </p:txBody>
        </p:sp>
        <p:sp>
          <p:nvSpPr>
            <p:cNvPr id="15399" name="矩形 57346"/>
            <p:cNvSpPr/>
            <p:nvPr/>
          </p:nvSpPr>
          <p:spPr>
            <a:xfrm>
              <a:off x="3355" y="853"/>
              <a:ext cx="747" cy="32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0" name="直接连接符 57347"/>
            <p:cNvSpPr/>
            <p:nvPr/>
          </p:nvSpPr>
          <p:spPr>
            <a:xfrm>
              <a:off x="3370" y="1103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1" name="直接连接符 57348"/>
            <p:cNvSpPr/>
            <p:nvPr/>
          </p:nvSpPr>
          <p:spPr>
            <a:xfrm>
              <a:off x="3358" y="1378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2" name="直接连接符 57349"/>
            <p:cNvSpPr/>
            <p:nvPr/>
          </p:nvSpPr>
          <p:spPr>
            <a:xfrm>
              <a:off x="3358" y="1928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3" name="直接连接符 57350"/>
            <p:cNvSpPr/>
            <p:nvPr/>
          </p:nvSpPr>
          <p:spPr>
            <a:xfrm>
              <a:off x="3358" y="2204"/>
              <a:ext cx="7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4" name="直接连接符 57351"/>
            <p:cNvSpPr/>
            <p:nvPr/>
          </p:nvSpPr>
          <p:spPr>
            <a:xfrm>
              <a:off x="3358" y="2479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5" name="直接连接符 57352"/>
            <p:cNvSpPr/>
            <p:nvPr/>
          </p:nvSpPr>
          <p:spPr>
            <a:xfrm>
              <a:off x="3358" y="3030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6" name="直接连接符 57353"/>
            <p:cNvSpPr/>
            <p:nvPr/>
          </p:nvSpPr>
          <p:spPr>
            <a:xfrm flipV="1">
              <a:off x="3358" y="3305"/>
              <a:ext cx="75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7" name="直接连接符 57354"/>
            <p:cNvSpPr/>
            <p:nvPr/>
          </p:nvSpPr>
          <p:spPr>
            <a:xfrm>
              <a:off x="3358" y="3581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8" name="文本框 57355"/>
            <p:cNvSpPr txBox="1"/>
            <p:nvPr/>
          </p:nvSpPr>
          <p:spPr>
            <a:xfrm>
              <a:off x="3483" y="85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15409" name="文本框 57356"/>
            <p:cNvSpPr txBox="1"/>
            <p:nvPr/>
          </p:nvSpPr>
          <p:spPr>
            <a:xfrm>
              <a:off x="3483" y="112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15410" name="文本框 57357"/>
            <p:cNvSpPr txBox="1"/>
            <p:nvPr/>
          </p:nvSpPr>
          <p:spPr>
            <a:xfrm>
              <a:off x="3483" y="193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15411" name="文本框 57358"/>
            <p:cNvSpPr txBox="1"/>
            <p:nvPr/>
          </p:nvSpPr>
          <p:spPr>
            <a:xfrm>
              <a:off x="3483" y="220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15412" name="文本框 57359"/>
            <p:cNvSpPr txBox="1"/>
            <p:nvPr/>
          </p:nvSpPr>
          <p:spPr>
            <a:xfrm>
              <a:off x="3483" y="301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15413" name="文本框 57360"/>
            <p:cNvSpPr txBox="1"/>
            <p:nvPr/>
          </p:nvSpPr>
          <p:spPr>
            <a:xfrm>
              <a:off x="3483" y="3287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15414" name="直接连接符 57412"/>
            <p:cNvSpPr/>
            <p:nvPr/>
          </p:nvSpPr>
          <p:spPr>
            <a:xfrm>
              <a:off x="3358" y="1653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15" name="直接连接符 57413"/>
            <p:cNvSpPr/>
            <p:nvPr/>
          </p:nvSpPr>
          <p:spPr>
            <a:xfrm>
              <a:off x="3358" y="2754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16" name="直接连接符 57414"/>
            <p:cNvSpPr/>
            <p:nvPr/>
          </p:nvSpPr>
          <p:spPr>
            <a:xfrm>
              <a:off x="3370" y="3857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17" name="文本框 57415"/>
            <p:cNvSpPr txBox="1"/>
            <p:nvPr/>
          </p:nvSpPr>
          <p:spPr>
            <a:xfrm>
              <a:off x="3483" y="139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15418" name="文本框 57416"/>
            <p:cNvSpPr txBox="1"/>
            <p:nvPr/>
          </p:nvSpPr>
          <p:spPr>
            <a:xfrm>
              <a:off x="3483" y="166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  <p:sp>
          <p:nvSpPr>
            <p:cNvPr id="15419" name="文本框 57417"/>
            <p:cNvSpPr txBox="1"/>
            <p:nvPr/>
          </p:nvSpPr>
          <p:spPr>
            <a:xfrm>
              <a:off x="3483" y="247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15420" name="文本框 57418"/>
            <p:cNvSpPr txBox="1"/>
            <p:nvPr/>
          </p:nvSpPr>
          <p:spPr>
            <a:xfrm>
              <a:off x="3483" y="274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  <p:sp>
          <p:nvSpPr>
            <p:cNvPr id="15421" name="文本框 57419"/>
            <p:cNvSpPr txBox="1"/>
            <p:nvPr/>
          </p:nvSpPr>
          <p:spPr>
            <a:xfrm>
              <a:off x="3483" y="3557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15422" name="文本框 57420"/>
            <p:cNvSpPr txBox="1"/>
            <p:nvPr/>
          </p:nvSpPr>
          <p:spPr>
            <a:xfrm>
              <a:off x="3483" y="3828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</p:grpSp>
      <p:sp>
        <p:nvSpPr>
          <p:cNvPr id="57429" name="爆炸形 1 57428"/>
          <p:cNvSpPr/>
          <p:nvPr/>
        </p:nvSpPr>
        <p:spPr>
          <a:xfrm>
            <a:off x="0" y="285750"/>
            <a:ext cx="3405188" cy="996950"/>
          </a:xfrm>
          <a:prstGeom prst="irregularSeal1">
            <a:avLst/>
          </a:prstGeom>
          <a:noFill/>
          <a:ln w="38100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行指针与列指针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439" name="组合 57438"/>
          <p:cNvGrpSpPr/>
          <p:nvPr/>
        </p:nvGrpSpPr>
        <p:grpSpPr>
          <a:xfrm>
            <a:off x="3317875" y="1733550"/>
            <a:ext cx="1181100" cy="4097338"/>
            <a:chOff x="2090" y="1092"/>
            <a:chExt cx="744" cy="2581"/>
          </a:xfrm>
        </p:grpSpPr>
        <p:grpSp>
          <p:nvGrpSpPr>
            <p:cNvPr id="15426" name="组合 57434"/>
            <p:cNvGrpSpPr/>
            <p:nvPr/>
          </p:nvGrpSpPr>
          <p:grpSpPr>
            <a:xfrm>
              <a:off x="2195" y="1092"/>
              <a:ext cx="560" cy="2377"/>
              <a:chOff x="2051" y="1068"/>
              <a:chExt cx="560" cy="2377"/>
            </a:xfrm>
          </p:grpSpPr>
          <p:sp>
            <p:nvSpPr>
              <p:cNvPr id="15427" name="文本框 57382"/>
              <p:cNvSpPr txBox="1"/>
              <p:nvPr/>
            </p:nvSpPr>
            <p:spPr>
              <a:xfrm>
                <a:off x="2068" y="1068"/>
                <a:ext cx="54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algn="r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+1</a:t>
                </a:r>
              </a:p>
            </p:txBody>
          </p:sp>
          <p:sp>
            <p:nvSpPr>
              <p:cNvPr id="15428" name="文本框 57391"/>
              <p:cNvSpPr txBox="1"/>
              <p:nvPr/>
            </p:nvSpPr>
            <p:spPr>
              <a:xfrm>
                <a:off x="2051" y="2138"/>
                <a:ext cx="54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algn="r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+1</a:t>
                </a:r>
              </a:p>
            </p:txBody>
          </p:sp>
          <p:sp>
            <p:nvSpPr>
              <p:cNvPr id="15429" name="文本框 57392"/>
              <p:cNvSpPr txBox="1"/>
              <p:nvPr/>
            </p:nvSpPr>
            <p:spPr>
              <a:xfrm>
                <a:off x="2056" y="3195"/>
                <a:ext cx="54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algn="r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+1</a:t>
                </a:r>
              </a:p>
            </p:txBody>
          </p:sp>
        </p:grpSp>
        <p:grpSp>
          <p:nvGrpSpPr>
            <p:cNvPr id="15430" name="组合 57435"/>
            <p:cNvGrpSpPr/>
            <p:nvPr/>
          </p:nvGrpSpPr>
          <p:grpSpPr>
            <a:xfrm>
              <a:off x="2090" y="1272"/>
              <a:ext cx="744" cy="2401"/>
              <a:chOff x="1946" y="1248"/>
              <a:chExt cx="744" cy="2401"/>
            </a:xfrm>
          </p:grpSpPr>
          <p:sp>
            <p:nvSpPr>
              <p:cNvPr id="15431" name="文本框 57430"/>
              <p:cNvSpPr txBox="1"/>
              <p:nvPr/>
            </p:nvSpPr>
            <p:spPr>
              <a:xfrm>
                <a:off x="1946" y="1248"/>
                <a:ext cx="71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algn="r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*(a+0)+1</a:t>
                </a:r>
              </a:p>
            </p:txBody>
          </p:sp>
          <p:sp>
            <p:nvSpPr>
              <p:cNvPr id="15432" name="文本框 57431"/>
              <p:cNvSpPr txBox="1"/>
              <p:nvPr/>
            </p:nvSpPr>
            <p:spPr>
              <a:xfrm>
                <a:off x="1977" y="2318"/>
                <a:ext cx="71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algn="r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*(a+1)+1</a:t>
                </a:r>
              </a:p>
            </p:txBody>
          </p:sp>
          <p:sp>
            <p:nvSpPr>
              <p:cNvPr id="15433" name="文本框 57432"/>
              <p:cNvSpPr txBox="1"/>
              <p:nvPr/>
            </p:nvSpPr>
            <p:spPr>
              <a:xfrm>
                <a:off x="1970" y="3399"/>
                <a:ext cx="71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algn="r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*(a+2)+1</a:t>
                </a:r>
              </a:p>
            </p:txBody>
          </p:sp>
        </p:grpSp>
      </p:grpSp>
      <p:sp>
        <p:nvSpPr>
          <p:cNvPr id="57440" name="矩形 57439"/>
          <p:cNvSpPr/>
          <p:nvPr/>
        </p:nvSpPr>
        <p:spPr>
          <a:xfrm>
            <a:off x="4686300" y="666750"/>
            <a:ext cx="400050" cy="40005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7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74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57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574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57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7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574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57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03" grpId="0"/>
      <p:bldP spid="57395" grpId="0" build="p"/>
      <p:bldP spid="574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内容占位符 97283"/>
          <p:cNvSpPr>
            <a:spLocks noGrp="1"/>
          </p:cNvSpPr>
          <p:nvPr>
            <p:ph idx="1"/>
          </p:nvPr>
        </p:nvSpPr>
        <p:spPr>
          <a:xfrm>
            <a:off x="1857375" y="782638"/>
            <a:ext cx="7772400" cy="2381250"/>
          </a:xfrm>
        </p:spPr>
        <p:txBody>
          <a:bodyPr wrap="square" lIns="91440" tIns="45720" rIns="91440" bIns="45720" anchor="t"/>
          <a:lstStyle/>
          <a:p>
            <a:pPr lvl="3"/>
            <a:r>
              <a:rPr lang="zh-CN" altLang="en-US" dirty="0"/>
              <a:t>对二维数组  </a:t>
            </a:r>
            <a:r>
              <a:rPr lang="en-US" altLang="zh-CN" err="1"/>
              <a:t>int</a:t>
            </a:r>
            <a:r>
              <a:rPr lang="zh-CN" altLang="zh-CN" dirty="0"/>
              <a:t>  a[3][4],有</a:t>
            </a:r>
          </a:p>
          <a:p>
            <a:pPr lvl="4"/>
            <a:r>
              <a:rPr lang="zh-CN" altLang="zh-CN" dirty="0"/>
              <a:t>a-----二维数组的首地址，即第0行的首地址</a:t>
            </a:r>
          </a:p>
          <a:p>
            <a:pPr lvl="4"/>
            <a:r>
              <a:rPr lang="zh-CN" altLang="zh-CN"/>
              <a:t>a+i-----第</a:t>
            </a:r>
            <a:r>
              <a:rPr lang="en-US" altLang="zh-CN"/>
              <a:t>i</a:t>
            </a:r>
            <a:r>
              <a:rPr lang="zh-CN" altLang="zh-CN" dirty="0">
                <a:solidFill>
                  <a:schemeClr val="accent2"/>
                </a:solidFill>
              </a:rPr>
              <a:t>行</a:t>
            </a:r>
            <a:r>
              <a:rPr lang="zh-CN" altLang="zh-CN" dirty="0"/>
              <a:t>的首地址</a:t>
            </a:r>
          </a:p>
          <a:p>
            <a:pPr lvl="4"/>
            <a:r>
              <a:rPr lang="en-US" altLang="zh-CN"/>
              <a:t>a[i] </a:t>
            </a:r>
            <a:r>
              <a:rPr lang="en-US" altLang="zh-CN">
                <a:sym typeface="Symbol" panose="05050102010706020507" pitchFamily="18" charset="2"/>
              </a:rPr>
              <a:t> *(a+i)</a:t>
            </a:r>
            <a:r>
              <a:rPr lang="zh-CN" altLang="zh-CN"/>
              <a:t>------第</a:t>
            </a:r>
            <a:r>
              <a:rPr lang="zh-CN" altLang="zh-CN" dirty="0"/>
              <a:t>i行第0</a:t>
            </a:r>
            <a:r>
              <a:rPr lang="zh-CN" altLang="zh-CN" dirty="0">
                <a:solidFill>
                  <a:schemeClr val="accent2"/>
                </a:solidFill>
              </a:rPr>
              <a:t>列</a:t>
            </a:r>
            <a:r>
              <a:rPr lang="zh-CN" altLang="zh-CN" dirty="0"/>
              <a:t>的元素地址</a:t>
            </a:r>
          </a:p>
          <a:p>
            <a:pPr lvl="4"/>
            <a:r>
              <a:rPr lang="en-US" altLang="zh-CN"/>
              <a:t>a[i]+j </a:t>
            </a:r>
            <a:r>
              <a:rPr lang="en-US" altLang="zh-CN">
                <a:sym typeface="Symbol" panose="05050102010706020507" pitchFamily="18" charset="2"/>
              </a:rPr>
              <a:t> *(a+i)+j</a:t>
            </a:r>
            <a:r>
              <a:rPr lang="zh-CN" altLang="zh-CN"/>
              <a:t> -----第</a:t>
            </a:r>
            <a:r>
              <a:rPr lang="zh-CN" altLang="zh-CN" dirty="0"/>
              <a:t>i行第</a:t>
            </a:r>
            <a:r>
              <a:rPr lang="en-US" altLang="zh-CN"/>
              <a:t>j</a:t>
            </a:r>
            <a:r>
              <a:rPr lang="zh-CN" altLang="zh-CN" dirty="0">
                <a:solidFill>
                  <a:schemeClr val="accent2"/>
                </a:solidFill>
              </a:rPr>
              <a:t>列</a:t>
            </a:r>
            <a:r>
              <a:rPr lang="zh-CN" altLang="zh-CN" dirty="0"/>
              <a:t>的元素地址</a:t>
            </a:r>
          </a:p>
          <a:p>
            <a:pPr lvl="4"/>
            <a:r>
              <a:rPr lang="en-US" altLang="zh-CN"/>
              <a:t>*(a[i]+j) </a:t>
            </a:r>
            <a:r>
              <a:rPr lang="en-US" altLang="zh-CN">
                <a:sym typeface="Symbol" panose="05050102010706020507" pitchFamily="18" charset="2"/>
              </a:rPr>
              <a:t> *(*(a+i)+j)  a[i][j]</a:t>
            </a:r>
          </a:p>
        </p:txBody>
      </p:sp>
      <p:sp>
        <p:nvSpPr>
          <p:cNvPr id="97285" name="矩形 97284"/>
          <p:cNvSpPr/>
          <p:nvPr/>
        </p:nvSpPr>
        <p:spPr>
          <a:xfrm>
            <a:off x="2460625" y="3409950"/>
            <a:ext cx="6683375" cy="1524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600200" lvl="3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a+i=&amp;a[i]=a[i]=*(a+i) =&amp;a[i][0],                              </a:t>
            </a:r>
            <a:r>
              <a:rPr lang="zh-CN" altLang="zh-CN" sz="2000" b="1" i="1" u="none" baseline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值相等，含义不同</a:t>
            </a:r>
            <a:endParaRPr lang="zh-CN" altLang="zh-CN" sz="2000" b="1" i="1" u="none" baseline="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en-US" altLang="zh-CN" sz="2000" b="1" i="1" u="none" baseline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a+i </a:t>
            </a:r>
            <a:r>
              <a:rPr lang="en-US" altLang="zh-CN" sz="2000" b="1" i="1" u="none" baseline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000" b="1" i="1" u="none" baseline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&amp;a[i],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表示第i行首地址，指向行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en-US" altLang="zh-CN" sz="2000" b="1" i="1" u="none" baseline="0">
                <a:solidFill>
                  <a:srgbClr val="66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a[i] </a:t>
            </a:r>
            <a:r>
              <a:rPr lang="en-US" altLang="zh-CN" sz="2000" b="1" i="1" u="none" baseline="0">
                <a:solidFill>
                  <a:srgbClr val="669900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000" b="1" i="1" u="none" baseline="0">
                <a:solidFill>
                  <a:srgbClr val="66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*(a+i) </a:t>
            </a:r>
            <a:r>
              <a:rPr lang="en-US" altLang="zh-CN" sz="2000" b="1" i="1" u="none" baseline="0">
                <a:solidFill>
                  <a:srgbClr val="669900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000" b="1" i="1" u="none" baseline="0">
                <a:solidFill>
                  <a:srgbClr val="66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&amp;a[i][0]</a:t>
            </a:r>
            <a:r>
              <a:rPr lang="zh-CN" altLang="en-US" sz="2000" b="1" i="1" u="none" baseline="0">
                <a:solidFill>
                  <a:srgbClr val="66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，</a:t>
            </a:r>
            <a:r>
              <a:rPr lang="zh-CN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表示第i行第0列元素地址，指向列</a:t>
            </a:r>
          </a:p>
        </p:txBody>
      </p:sp>
      <p:grpSp>
        <p:nvGrpSpPr>
          <p:cNvPr id="16387" name="组合 97341"/>
          <p:cNvGrpSpPr/>
          <p:nvPr/>
        </p:nvGrpSpPr>
        <p:grpSpPr>
          <a:xfrm>
            <a:off x="0" y="400050"/>
            <a:ext cx="3689350" cy="5937250"/>
            <a:chOff x="538" y="304"/>
            <a:chExt cx="2761" cy="3740"/>
          </a:xfrm>
        </p:grpSpPr>
        <p:sp>
          <p:nvSpPr>
            <p:cNvPr id="16388" name="文本框 97342"/>
            <p:cNvSpPr txBox="1"/>
            <p:nvPr/>
          </p:nvSpPr>
          <p:spPr>
            <a:xfrm>
              <a:off x="1679" y="304"/>
              <a:ext cx="13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8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  a[3][4];</a:t>
              </a:r>
            </a:p>
          </p:txBody>
        </p:sp>
        <p:grpSp>
          <p:nvGrpSpPr>
            <p:cNvPr id="16389" name="组合 97343"/>
            <p:cNvGrpSpPr/>
            <p:nvPr/>
          </p:nvGrpSpPr>
          <p:grpSpPr>
            <a:xfrm>
              <a:off x="840" y="564"/>
              <a:ext cx="1206" cy="3480"/>
              <a:chOff x="537" y="638"/>
              <a:chExt cx="1206" cy="3480"/>
            </a:xfrm>
          </p:grpSpPr>
          <p:grpSp>
            <p:nvGrpSpPr>
              <p:cNvPr id="16390" name="组合 97344"/>
              <p:cNvGrpSpPr/>
              <p:nvPr/>
            </p:nvGrpSpPr>
            <p:grpSpPr>
              <a:xfrm>
                <a:off x="1043" y="850"/>
                <a:ext cx="700" cy="3268"/>
                <a:chOff x="1043" y="850"/>
                <a:chExt cx="700" cy="3268"/>
              </a:xfrm>
            </p:grpSpPr>
            <p:sp>
              <p:nvSpPr>
                <p:cNvPr id="16391" name="直接连接符 97345"/>
                <p:cNvSpPr/>
                <p:nvPr/>
              </p:nvSpPr>
              <p:spPr>
                <a:xfrm>
                  <a:off x="1043" y="1966"/>
                  <a:ext cx="686" cy="0"/>
                </a:xfrm>
                <a:prstGeom prst="line">
                  <a:avLst/>
                </a:prstGeom>
                <a:ln w="9525" cap="rnd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392" name="直接连接符 97346"/>
                <p:cNvSpPr/>
                <p:nvPr/>
              </p:nvSpPr>
              <p:spPr>
                <a:xfrm>
                  <a:off x="1057" y="2977"/>
                  <a:ext cx="686" cy="0"/>
                </a:xfrm>
                <a:prstGeom prst="line">
                  <a:avLst/>
                </a:prstGeom>
                <a:ln w="9525" cap="rnd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16393" name="组合 97347"/>
                <p:cNvGrpSpPr/>
                <p:nvPr/>
              </p:nvGrpSpPr>
              <p:grpSpPr>
                <a:xfrm>
                  <a:off x="1043" y="850"/>
                  <a:ext cx="686" cy="3268"/>
                  <a:chOff x="1043" y="850"/>
                  <a:chExt cx="686" cy="3268"/>
                </a:xfrm>
              </p:grpSpPr>
              <p:sp>
                <p:nvSpPr>
                  <p:cNvPr id="16394" name="矩形 97348"/>
                  <p:cNvSpPr/>
                  <p:nvPr/>
                </p:nvSpPr>
                <p:spPr>
                  <a:xfrm>
                    <a:off x="1043" y="852"/>
                    <a:ext cx="686" cy="3266"/>
                  </a:xfrm>
                  <a:prstGeom prst="rect">
                    <a:avLst/>
                  </a:prstGeom>
                  <a:noFill/>
                  <a:ln w="9525" cap="rnd" cmpd="sng">
                    <a:solidFill>
                      <a:schemeClr val="tx1"/>
                    </a:solidFill>
                    <a:prstDash val="sysDot"/>
                    <a:miter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pPr lvl="0" indent="0" eaLnBrk="0" hangingPunct="0"/>
                    <a:endParaRPr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6395" name="文本框 97349"/>
                  <p:cNvSpPr txBox="1"/>
                  <p:nvPr/>
                </p:nvSpPr>
                <p:spPr>
                  <a:xfrm>
                    <a:off x="1241" y="850"/>
                    <a:ext cx="443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>
                    <a:spAutoFit/>
                  </a:bodyPr>
                  <a:lstStyle/>
                  <a:p>
                    <a:pPr lvl="0" indent="0" eaLnBrk="1" hangingPunct="1"/>
                    <a:r>
                      <a:rPr lang="en-US" altLang="zh-CN" sz="200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a[0]</a:t>
                    </a:r>
                    <a:endPara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6396" name="文本框 97350"/>
                  <p:cNvSpPr txBox="1"/>
                  <p:nvPr/>
                </p:nvSpPr>
                <p:spPr>
                  <a:xfrm>
                    <a:off x="1225" y="1935"/>
                    <a:ext cx="443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>
                    <a:spAutoFit/>
                  </a:bodyPr>
                  <a:lstStyle/>
                  <a:p>
                    <a:pPr lvl="0" indent="0" eaLnBrk="1" hangingPunct="1"/>
                    <a:r>
                      <a:rPr lang="en-US" altLang="zh-CN" sz="2000">
                        <a:solidFill>
                          <a:srgbClr val="339933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a[1]</a:t>
                    </a:r>
                    <a:endPara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6397" name="文本框 97351"/>
                  <p:cNvSpPr txBox="1"/>
                  <p:nvPr/>
                </p:nvSpPr>
                <p:spPr>
                  <a:xfrm>
                    <a:off x="1190" y="2957"/>
                    <a:ext cx="443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t">
                    <a:spAutoFit/>
                  </a:bodyPr>
                  <a:lstStyle/>
                  <a:p>
                    <a:pPr lvl="0" indent="0" eaLnBrk="1" hangingPunct="1"/>
                    <a:r>
                      <a:rPr lang="en-US" altLang="zh-CN" sz="2000">
                        <a:solidFill>
                          <a:srgbClr val="FF99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a[2]</a:t>
                    </a:r>
                    <a:endPara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6398" name="直接连接符 97352"/>
              <p:cNvSpPr/>
              <p:nvPr/>
            </p:nvSpPr>
            <p:spPr>
              <a:xfrm>
                <a:off x="621" y="866"/>
                <a:ext cx="42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399" name="直接连接符 97353"/>
              <p:cNvSpPr/>
              <p:nvPr/>
            </p:nvSpPr>
            <p:spPr>
              <a:xfrm>
                <a:off x="606" y="1962"/>
                <a:ext cx="42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00" name="直接连接符 97354"/>
              <p:cNvSpPr/>
              <p:nvPr/>
            </p:nvSpPr>
            <p:spPr>
              <a:xfrm>
                <a:off x="606" y="2973"/>
                <a:ext cx="42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01" name="文本框 97355"/>
              <p:cNvSpPr txBox="1"/>
              <p:nvPr/>
            </p:nvSpPr>
            <p:spPr>
              <a:xfrm>
                <a:off x="629" y="638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2000</a:t>
                </a:r>
              </a:p>
            </p:txBody>
          </p:sp>
          <p:sp>
            <p:nvSpPr>
              <p:cNvPr id="16402" name="文本框 97356"/>
              <p:cNvSpPr txBox="1"/>
              <p:nvPr/>
            </p:nvSpPr>
            <p:spPr>
              <a:xfrm>
                <a:off x="537" y="1746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2008</a:t>
                </a:r>
              </a:p>
            </p:txBody>
          </p:sp>
          <p:sp>
            <p:nvSpPr>
              <p:cNvPr id="16403" name="文本框 97357"/>
              <p:cNvSpPr txBox="1"/>
              <p:nvPr/>
            </p:nvSpPr>
            <p:spPr>
              <a:xfrm>
                <a:off x="593" y="2744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2016</a:t>
                </a:r>
              </a:p>
            </p:txBody>
          </p:sp>
        </p:grpSp>
        <p:grpSp>
          <p:nvGrpSpPr>
            <p:cNvPr id="16404" name="组合 97358"/>
            <p:cNvGrpSpPr/>
            <p:nvPr/>
          </p:nvGrpSpPr>
          <p:grpSpPr>
            <a:xfrm>
              <a:off x="1925" y="881"/>
              <a:ext cx="585" cy="2133"/>
              <a:chOff x="1925" y="881"/>
              <a:chExt cx="1365" cy="2133"/>
            </a:xfrm>
          </p:grpSpPr>
          <p:sp>
            <p:nvSpPr>
              <p:cNvPr id="16405" name="直接连接符 97359"/>
              <p:cNvSpPr/>
              <p:nvPr/>
            </p:nvSpPr>
            <p:spPr>
              <a:xfrm>
                <a:off x="1951" y="881"/>
                <a:ext cx="133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06" name="直接连接符 97360"/>
              <p:cNvSpPr/>
              <p:nvPr/>
            </p:nvSpPr>
            <p:spPr>
              <a:xfrm>
                <a:off x="1941" y="1970"/>
                <a:ext cx="132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07" name="直接连接符 97361"/>
              <p:cNvSpPr/>
              <p:nvPr/>
            </p:nvSpPr>
            <p:spPr>
              <a:xfrm>
                <a:off x="1925" y="3013"/>
                <a:ext cx="1320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16408" name="组合 97362"/>
            <p:cNvGrpSpPr/>
            <p:nvPr/>
          </p:nvGrpSpPr>
          <p:grpSpPr>
            <a:xfrm>
              <a:off x="2096" y="626"/>
              <a:ext cx="1203" cy="3362"/>
              <a:chOff x="2876" y="638"/>
              <a:chExt cx="1203" cy="3362"/>
            </a:xfrm>
          </p:grpSpPr>
          <p:sp>
            <p:nvSpPr>
              <p:cNvPr id="16409" name="直接连接符 97363"/>
              <p:cNvSpPr/>
              <p:nvPr/>
            </p:nvSpPr>
            <p:spPr>
              <a:xfrm>
                <a:off x="2911" y="1115"/>
                <a:ext cx="3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10" name="文本框 97364"/>
              <p:cNvSpPr txBox="1"/>
              <p:nvPr/>
            </p:nvSpPr>
            <p:spPr>
              <a:xfrm>
                <a:off x="2887" y="638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2000</a:t>
                </a:r>
              </a:p>
            </p:txBody>
          </p:sp>
          <p:sp>
            <p:nvSpPr>
              <p:cNvPr id="16411" name="文本框 97365"/>
              <p:cNvSpPr txBox="1"/>
              <p:nvPr/>
            </p:nvSpPr>
            <p:spPr>
              <a:xfrm>
                <a:off x="2887" y="882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2002</a:t>
                </a:r>
              </a:p>
            </p:txBody>
          </p:sp>
          <p:sp>
            <p:nvSpPr>
              <p:cNvPr id="16412" name="直接连接符 97366"/>
              <p:cNvSpPr/>
              <p:nvPr/>
            </p:nvSpPr>
            <p:spPr>
              <a:xfrm flipV="1">
                <a:off x="2921" y="2214"/>
                <a:ext cx="336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13" name="直接连接符 97367"/>
              <p:cNvSpPr/>
              <p:nvPr/>
            </p:nvSpPr>
            <p:spPr>
              <a:xfrm>
                <a:off x="2900" y="3259"/>
                <a:ext cx="37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14" name="文本框 97368"/>
              <p:cNvSpPr txBox="1"/>
              <p:nvPr/>
            </p:nvSpPr>
            <p:spPr>
              <a:xfrm>
                <a:off x="2876" y="1745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2008</a:t>
                </a:r>
              </a:p>
            </p:txBody>
          </p:sp>
          <p:sp>
            <p:nvSpPr>
              <p:cNvPr id="16415" name="文本框 97369"/>
              <p:cNvSpPr txBox="1"/>
              <p:nvPr/>
            </p:nvSpPr>
            <p:spPr>
              <a:xfrm>
                <a:off x="2876" y="1989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2010</a:t>
                </a:r>
              </a:p>
            </p:txBody>
          </p:sp>
          <p:sp>
            <p:nvSpPr>
              <p:cNvPr id="16416" name="文本框 97370"/>
              <p:cNvSpPr txBox="1"/>
              <p:nvPr/>
            </p:nvSpPr>
            <p:spPr>
              <a:xfrm>
                <a:off x="2885" y="2790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2016</a:t>
                </a:r>
              </a:p>
            </p:txBody>
          </p:sp>
          <p:sp>
            <p:nvSpPr>
              <p:cNvPr id="16417" name="文本框 97371"/>
              <p:cNvSpPr txBox="1"/>
              <p:nvPr/>
            </p:nvSpPr>
            <p:spPr>
              <a:xfrm>
                <a:off x="2885" y="3034"/>
                <a:ext cx="51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2018</a:t>
                </a:r>
              </a:p>
            </p:txBody>
          </p:sp>
          <p:grpSp>
            <p:nvGrpSpPr>
              <p:cNvPr id="16418" name="组合 97372"/>
              <p:cNvGrpSpPr/>
              <p:nvPr/>
            </p:nvGrpSpPr>
            <p:grpSpPr>
              <a:xfrm>
                <a:off x="3286" y="767"/>
                <a:ext cx="793" cy="3233"/>
                <a:chOff x="2983" y="841"/>
                <a:chExt cx="793" cy="3233"/>
              </a:xfrm>
            </p:grpSpPr>
            <p:sp>
              <p:nvSpPr>
                <p:cNvPr id="16419" name="矩形 97373"/>
                <p:cNvSpPr/>
                <p:nvPr/>
              </p:nvSpPr>
              <p:spPr>
                <a:xfrm>
                  <a:off x="2983" y="841"/>
                  <a:ext cx="747" cy="3233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lvl="0" indent="0" eaLnBrk="0" hangingPunct="0"/>
                  <a:endPara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20" name="直接连接符 97374"/>
                <p:cNvSpPr/>
                <p:nvPr/>
              </p:nvSpPr>
              <p:spPr>
                <a:xfrm>
                  <a:off x="2998" y="1091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1" name="直接连接符 97375"/>
                <p:cNvSpPr/>
                <p:nvPr/>
              </p:nvSpPr>
              <p:spPr>
                <a:xfrm>
                  <a:off x="2986" y="1366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2" name="直接连接符 97376"/>
                <p:cNvSpPr/>
                <p:nvPr/>
              </p:nvSpPr>
              <p:spPr>
                <a:xfrm>
                  <a:off x="2986" y="1916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3" name="直接连接符 97377"/>
                <p:cNvSpPr/>
                <p:nvPr/>
              </p:nvSpPr>
              <p:spPr>
                <a:xfrm>
                  <a:off x="2986" y="2192"/>
                  <a:ext cx="73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4" name="直接连接符 97378"/>
                <p:cNvSpPr/>
                <p:nvPr/>
              </p:nvSpPr>
              <p:spPr>
                <a:xfrm>
                  <a:off x="2986" y="2467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5" name="直接连接符 97379"/>
                <p:cNvSpPr/>
                <p:nvPr/>
              </p:nvSpPr>
              <p:spPr>
                <a:xfrm>
                  <a:off x="2986" y="3018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6" name="直接连接符 97380"/>
                <p:cNvSpPr/>
                <p:nvPr/>
              </p:nvSpPr>
              <p:spPr>
                <a:xfrm flipV="1">
                  <a:off x="2986" y="3293"/>
                  <a:ext cx="754" cy="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7" name="直接连接符 97381"/>
                <p:cNvSpPr/>
                <p:nvPr/>
              </p:nvSpPr>
              <p:spPr>
                <a:xfrm>
                  <a:off x="2986" y="3569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8" name="文本框 97382"/>
                <p:cNvSpPr txBox="1"/>
                <p:nvPr/>
              </p:nvSpPr>
              <p:spPr>
                <a:xfrm>
                  <a:off x="3112" y="842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a[0]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[0]</a:t>
                  </a:r>
                </a:p>
              </p:txBody>
            </p:sp>
            <p:sp>
              <p:nvSpPr>
                <p:cNvPr id="16429" name="文本框 97383"/>
                <p:cNvSpPr txBox="1"/>
                <p:nvPr/>
              </p:nvSpPr>
              <p:spPr>
                <a:xfrm>
                  <a:off x="3112" y="1112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a[0]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[1]</a:t>
                  </a:r>
                </a:p>
              </p:txBody>
            </p:sp>
            <p:sp>
              <p:nvSpPr>
                <p:cNvPr id="16430" name="文本框 97384"/>
                <p:cNvSpPr txBox="1"/>
                <p:nvPr/>
              </p:nvSpPr>
              <p:spPr>
                <a:xfrm>
                  <a:off x="3112" y="1923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3399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a[1]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[0]</a:t>
                  </a:r>
                </a:p>
              </p:txBody>
            </p:sp>
            <p:sp>
              <p:nvSpPr>
                <p:cNvPr id="16431" name="文本框 97385"/>
                <p:cNvSpPr txBox="1"/>
                <p:nvPr/>
              </p:nvSpPr>
              <p:spPr>
                <a:xfrm>
                  <a:off x="3112" y="2193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3399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a[1]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[1]</a:t>
                  </a:r>
                </a:p>
              </p:txBody>
            </p:sp>
            <p:sp>
              <p:nvSpPr>
                <p:cNvPr id="16432" name="文本框 97386"/>
                <p:cNvSpPr txBox="1"/>
                <p:nvPr/>
              </p:nvSpPr>
              <p:spPr>
                <a:xfrm>
                  <a:off x="3112" y="3004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FF99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a[2]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[0]</a:t>
                  </a:r>
                </a:p>
              </p:txBody>
            </p:sp>
            <p:sp>
              <p:nvSpPr>
                <p:cNvPr id="16433" name="文本框 97387"/>
                <p:cNvSpPr txBox="1"/>
                <p:nvPr/>
              </p:nvSpPr>
              <p:spPr>
                <a:xfrm>
                  <a:off x="3112" y="3275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FF99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a[2]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[1]</a:t>
                  </a:r>
                </a:p>
              </p:txBody>
            </p:sp>
            <p:sp>
              <p:nvSpPr>
                <p:cNvPr id="16434" name="直接连接符 97388"/>
                <p:cNvSpPr/>
                <p:nvPr/>
              </p:nvSpPr>
              <p:spPr>
                <a:xfrm>
                  <a:off x="2986" y="1641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35" name="直接连接符 97389"/>
                <p:cNvSpPr/>
                <p:nvPr/>
              </p:nvSpPr>
              <p:spPr>
                <a:xfrm>
                  <a:off x="2986" y="2742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36" name="直接连接符 97390"/>
                <p:cNvSpPr/>
                <p:nvPr/>
              </p:nvSpPr>
              <p:spPr>
                <a:xfrm>
                  <a:off x="2998" y="3845"/>
                  <a:ext cx="74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37" name="文本框 97391"/>
                <p:cNvSpPr txBox="1"/>
                <p:nvPr/>
              </p:nvSpPr>
              <p:spPr>
                <a:xfrm>
                  <a:off x="3112" y="1382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a[0]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[2]</a:t>
                  </a:r>
                </a:p>
              </p:txBody>
            </p:sp>
            <p:sp>
              <p:nvSpPr>
                <p:cNvPr id="16438" name="文本框 97392"/>
                <p:cNvSpPr txBox="1"/>
                <p:nvPr/>
              </p:nvSpPr>
              <p:spPr>
                <a:xfrm>
                  <a:off x="3112" y="1653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a[0]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[3]</a:t>
                  </a:r>
                </a:p>
              </p:txBody>
            </p:sp>
            <p:sp>
              <p:nvSpPr>
                <p:cNvPr id="16439" name="文本框 97393"/>
                <p:cNvSpPr txBox="1"/>
                <p:nvPr/>
              </p:nvSpPr>
              <p:spPr>
                <a:xfrm>
                  <a:off x="3112" y="2464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3399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a[1]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[2]</a:t>
                  </a:r>
                </a:p>
              </p:txBody>
            </p:sp>
            <p:sp>
              <p:nvSpPr>
                <p:cNvPr id="16440" name="文本框 97394"/>
                <p:cNvSpPr txBox="1"/>
                <p:nvPr/>
              </p:nvSpPr>
              <p:spPr>
                <a:xfrm>
                  <a:off x="3112" y="2734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339933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a[1]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[3]</a:t>
                  </a:r>
                </a:p>
              </p:txBody>
            </p:sp>
            <p:sp>
              <p:nvSpPr>
                <p:cNvPr id="16441" name="文本框 97395"/>
                <p:cNvSpPr txBox="1"/>
                <p:nvPr/>
              </p:nvSpPr>
              <p:spPr>
                <a:xfrm>
                  <a:off x="3112" y="3545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FF99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a[2]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[2]</a:t>
                  </a:r>
                </a:p>
              </p:txBody>
            </p:sp>
            <p:sp>
              <p:nvSpPr>
                <p:cNvPr id="16442" name="文本框 97396"/>
                <p:cNvSpPr txBox="1"/>
                <p:nvPr/>
              </p:nvSpPr>
              <p:spPr>
                <a:xfrm>
                  <a:off x="3112" y="3816"/>
                  <a:ext cx="66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FF99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a[2]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[3]</a:t>
                  </a:r>
                </a:p>
              </p:txBody>
            </p:sp>
          </p:grpSp>
        </p:grpSp>
        <p:grpSp>
          <p:nvGrpSpPr>
            <p:cNvPr id="16443" name="组合 97397"/>
            <p:cNvGrpSpPr/>
            <p:nvPr/>
          </p:nvGrpSpPr>
          <p:grpSpPr>
            <a:xfrm>
              <a:off x="538" y="636"/>
              <a:ext cx="510" cy="2339"/>
              <a:chOff x="274" y="708"/>
              <a:chExt cx="510" cy="2339"/>
            </a:xfrm>
          </p:grpSpPr>
          <p:sp>
            <p:nvSpPr>
              <p:cNvPr id="16444" name="文本框 97398"/>
              <p:cNvSpPr txBox="1"/>
              <p:nvPr/>
            </p:nvSpPr>
            <p:spPr>
              <a:xfrm>
                <a:off x="407" y="708"/>
                <a:ext cx="23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6445" name="文本框 97399"/>
              <p:cNvSpPr txBox="1"/>
              <p:nvPr/>
            </p:nvSpPr>
            <p:spPr>
              <a:xfrm>
                <a:off x="274" y="1797"/>
                <a:ext cx="48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a+1</a:t>
                </a:r>
              </a:p>
            </p:txBody>
          </p:sp>
          <p:sp>
            <p:nvSpPr>
              <p:cNvPr id="16446" name="文本框 97400"/>
              <p:cNvSpPr txBox="1"/>
              <p:nvPr/>
            </p:nvSpPr>
            <p:spPr>
              <a:xfrm>
                <a:off x="303" y="2759"/>
                <a:ext cx="48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a+2</a:t>
                </a:r>
              </a:p>
            </p:txBody>
          </p:sp>
        </p:grp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7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7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7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7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7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7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build="p" bldLvl="5"/>
      <p:bldP spid="97285" grpId="0" build="p" bldLvl="5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71" name="组合 171070"/>
          <p:cNvGrpSpPr/>
          <p:nvPr/>
        </p:nvGrpSpPr>
        <p:grpSpPr>
          <a:xfrm>
            <a:off x="438150" y="514350"/>
            <a:ext cx="1824038" cy="5753100"/>
            <a:chOff x="276" y="324"/>
            <a:chExt cx="1149" cy="3624"/>
          </a:xfrm>
        </p:grpSpPr>
        <p:sp>
          <p:nvSpPr>
            <p:cNvPr id="17410" name="文本框 171010"/>
            <p:cNvSpPr txBox="1"/>
            <p:nvPr/>
          </p:nvSpPr>
          <p:spPr>
            <a:xfrm>
              <a:off x="276" y="324"/>
              <a:ext cx="11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8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  a[3][4];</a:t>
              </a:r>
            </a:p>
          </p:txBody>
        </p:sp>
        <p:grpSp>
          <p:nvGrpSpPr>
            <p:cNvPr id="17411" name="组合 171069"/>
            <p:cNvGrpSpPr/>
            <p:nvPr/>
          </p:nvGrpSpPr>
          <p:grpSpPr>
            <a:xfrm>
              <a:off x="456" y="715"/>
              <a:ext cx="668" cy="3233"/>
              <a:chOff x="1656" y="703"/>
              <a:chExt cx="668" cy="3233"/>
            </a:xfrm>
          </p:grpSpPr>
          <p:sp>
            <p:nvSpPr>
              <p:cNvPr id="17412" name="矩形 171041"/>
              <p:cNvSpPr/>
              <p:nvPr/>
            </p:nvSpPr>
            <p:spPr>
              <a:xfrm>
                <a:off x="1656" y="703"/>
                <a:ext cx="629" cy="323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3" name="直接连接符 171042"/>
              <p:cNvSpPr/>
              <p:nvPr/>
            </p:nvSpPr>
            <p:spPr>
              <a:xfrm>
                <a:off x="1669" y="953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14" name="直接连接符 171043"/>
              <p:cNvSpPr/>
              <p:nvPr/>
            </p:nvSpPr>
            <p:spPr>
              <a:xfrm>
                <a:off x="1659" y="1228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15" name="直接连接符 171044"/>
              <p:cNvSpPr/>
              <p:nvPr/>
            </p:nvSpPr>
            <p:spPr>
              <a:xfrm>
                <a:off x="1659" y="1778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16" name="直接连接符 171045"/>
              <p:cNvSpPr/>
              <p:nvPr/>
            </p:nvSpPr>
            <p:spPr>
              <a:xfrm>
                <a:off x="1659" y="2054"/>
                <a:ext cx="62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17" name="直接连接符 171046"/>
              <p:cNvSpPr/>
              <p:nvPr/>
            </p:nvSpPr>
            <p:spPr>
              <a:xfrm>
                <a:off x="1659" y="2329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18" name="直接连接符 171047"/>
              <p:cNvSpPr/>
              <p:nvPr/>
            </p:nvSpPr>
            <p:spPr>
              <a:xfrm>
                <a:off x="1659" y="2880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19" name="直接连接符 171048"/>
              <p:cNvSpPr/>
              <p:nvPr/>
            </p:nvSpPr>
            <p:spPr>
              <a:xfrm flipV="1">
                <a:off x="1659" y="3155"/>
                <a:ext cx="635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0" name="直接连接符 171049"/>
              <p:cNvSpPr/>
              <p:nvPr/>
            </p:nvSpPr>
            <p:spPr>
              <a:xfrm>
                <a:off x="1659" y="3431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1" name="文本框 171050"/>
              <p:cNvSpPr txBox="1"/>
              <p:nvPr/>
            </p:nvSpPr>
            <p:spPr>
              <a:xfrm>
                <a:off x="1765" y="704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[0]</a:t>
                </a:r>
              </a:p>
            </p:txBody>
          </p:sp>
          <p:sp>
            <p:nvSpPr>
              <p:cNvPr id="17422" name="文本框 171051"/>
              <p:cNvSpPr txBox="1"/>
              <p:nvPr/>
            </p:nvSpPr>
            <p:spPr>
              <a:xfrm>
                <a:off x="1765" y="974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[1]</a:t>
                </a:r>
              </a:p>
            </p:txBody>
          </p:sp>
          <p:sp>
            <p:nvSpPr>
              <p:cNvPr id="17423" name="文本框 171052"/>
              <p:cNvSpPr txBox="1"/>
              <p:nvPr/>
            </p:nvSpPr>
            <p:spPr>
              <a:xfrm>
                <a:off x="1765" y="1785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[0]</a:t>
                </a:r>
              </a:p>
            </p:txBody>
          </p:sp>
          <p:sp>
            <p:nvSpPr>
              <p:cNvPr id="17424" name="文本框 171053"/>
              <p:cNvSpPr txBox="1"/>
              <p:nvPr/>
            </p:nvSpPr>
            <p:spPr>
              <a:xfrm>
                <a:off x="1765" y="2055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[1]</a:t>
                </a:r>
              </a:p>
            </p:txBody>
          </p:sp>
          <p:sp>
            <p:nvSpPr>
              <p:cNvPr id="17425" name="文本框 171054"/>
              <p:cNvSpPr txBox="1"/>
              <p:nvPr/>
            </p:nvSpPr>
            <p:spPr>
              <a:xfrm>
                <a:off x="1765" y="2866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[0]</a:t>
                </a:r>
              </a:p>
            </p:txBody>
          </p:sp>
          <p:sp>
            <p:nvSpPr>
              <p:cNvPr id="17426" name="文本框 171055"/>
              <p:cNvSpPr txBox="1"/>
              <p:nvPr/>
            </p:nvSpPr>
            <p:spPr>
              <a:xfrm>
                <a:off x="1765" y="3137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[1]</a:t>
                </a:r>
              </a:p>
            </p:txBody>
          </p:sp>
          <p:sp>
            <p:nvSpPr>
              <p:cNvPr id="17427" name="直接连接符 171056"/>
              <p:cNvSpPr/>
              <p:nvPr/>
            </p:nvSpPr>
            <p:spPr>
              <a:xfrm>
                <a:off x="1659" y="1503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8" name="直接连接符 171057"/>
              <p:cNvSpPr/>
              <p:nvPr/>
            </p:nvSpPr>
            <p:spPr>
              <a:xfrm>
                <a:off x="1659" y="2604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9" name="直接连接符 171058"/>
              <p:cNvSpPr/>
              <p:nvPr/>
            </p:nvSpPr>
            <p:spPr>
              <a:xfrm>
                <a:off x="1669" y="3707"/>
                <a:ext cx="6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30" name="文本框 171059"/>
              <p:cNvSpPr txBox="1"/>
              <p:nvPr/>
            </p:nvSpPr>
            <p:spPr>
              <a:xfrm>
                <a:off x="1765" y="1244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[2]</a:t>
                </a:r>
              </a:p>
            </p:txBody>
          </p:sp>
          <p:sp>
            <p:nvSpPr>
              <p:cNvPr id="17431" name="文本框 171060"/>
              <p:cNvSpPr txBox="1"/>
              <p:nvPr/>
            </p:nvSpPr>
            <p:spPr>
              <a:xfrm>
                <a:off x="1765" y="1515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[3]</a:t>
                </a:r>
              </a:p>
            </p:txBody>
          </p:sp>
          <p:sp>
            <p:nvSpPr>
              <p:cNvPr id="17432" name="文本框 171061"/>
              <p:cNvSpPr txBox="1"/>
              <p:nvPr/>
            </p:nvSpPr>
            <p:spPr>
              <a:xfrm>
                <a:off x="1765" y="2326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[2]</a:t>
                </a:r>
              </a:p>
            </p:txBody>
          </p:sp>
          <p:sp>
            <p:nvSpPr>
              <p:cNvPr id="17433" name="文本框 171062"/>
              <p:cNvSpPr txBox="1"/>
              <p:nvPr/>
            </p:nvSpPr>
            <p:spPr>
              <a:xfrm>
                <a:off x="1765" y="2596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[3]</a:t>
                </a:r>
              </a:p>
            </p:txBody>
          </p:sp>
          <p:sp>
            <p:nvSpPr>
              <p:cNvPr id="17434" name="文本框 171063"/>
              <p:cNvSpPr txBox="1"/>
              <p:nvPr/>
            </p:nvSpPr>
            <p:spPr>
              <a:xfrm>
                <a:off x="1765" y="3407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[2]</a:t>
                </a:r>
              </a:p>
            </p:txBody>
          </p:sp>
          <p:sp>
            <p:nvSpPr>
              <p:cNvPr id="17435" name="文本框 171064"/>
              <p:cNvSpPr txBox="1"/>
              <p:nvPr/>
            </p:nvSpPr>
            <p:spPr>
              <a:xfrm>
                <a:off x="1765" y="3678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[3]</a:t>
                </a:r>
              </a:p>
            </p:txBody>
          </p:sp>
        </p:grpSp>
      </p:grpSp>
      <p:sp>
        <p:nvSpPr>
          <p:cNvPr id="171072" name="文本框 171071"/>
          <p:cNvSpPr txBox="1"/>
          <p:nvPr/>
        </p:nvSpPr>
        <p:spPr>
          <a:xfrm>
            <a:off x="5607050" y="3670300"/>
            <a:ext cx="3536950" cy="19177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二维数组元素表示形式：</a:t>
            </a:r>
          </a:p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a[1][2]</a:t>
            </a:r>
          </a:p>
          <a:p>
            <a:pPr lvl="0" indent="0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*(a[1]+2)</a:t>
            </a:r>
          </a:p>
          <a:p>
            <a:pPr lvl="0" indent="0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*(*(a+1)+2)</a:t>
            </a:r>
          </a:p>
          <a:p>
            <a:pPr lvl="0" indent="0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*(&amp;a[0][0]+1*4+2)</a:t>
            </a:r>
          </a:p>
        </p:txBody>
      </p:sp>
      <p:sp>
        <p:nvSpPr>
          <p:cNvPr id="171073" name="直接连接符 171072"/>
          <p:cNvSpPr/>
          <p:nvPr/>
        </p:nvSpPr>
        <p:spPr>
          <a:xfrm flipH="1">
            <a:off x="1695450" y="2819400"/>
            <a:ext cx="5334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71074" name="文本框 171073"/>
          <p:cNvSpPr txBox="1"/>
          <p:nvPr/>
        </p:nvSpPr>
        <p:spPr>
          <a:xfrm>
            <a:off x="2995613" y="687388"/>
            <a:ext cx="2255837" cy="228282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地址表示：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(1) 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a+1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(2)  &amp;a[1][0]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(3)  a[1]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(4)  *(a+1)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(5)  (int  *) (a+1)</a:t>
            </a:r>
          </a:p>
        </p:txBody>
      </p:sp>
      <p:grpSp>
        <p:nvGrpSpPr>
          <p:cNvPr id="171077" name="组合 171076"/>
          <p:cNvGrpSpPr/>
          <p:nvPr/>
        </p:nvGrpSpPr>
        <p:grpSpPr>
          <a:xfrm>
            <a:off x="5086350" y="971550"/>
            <a:ext cx="1957388" cy="457200"/>
            <a:chOff x="3204" y="612"/>
            <a:chExt cx="1233" cy="288"/>
          </a:xfrm>
        </p:grpSpPr>
        <p:sp>
          <p:nvSpPr>
            <p:cNvPr id="17440" name="直接连接符 171074"/>
            <p:cNvSpPr/>
            <p:nvPr/>
          </p:nvSpPr>
          <p:spPr>
            <a:xfrm flipH="1">
              <a:off x="3204" y="768"/>
              <a:ext cx="576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41" name="文本框 171075"/>
            <p:cNvSpPr txBox="1"/>
            <p:nvPr/>
          </p:nvSpPr>
          <p:spPr>
            <a:xfrm>
              <a:off x="3747" y="612"/>
              <a:ext cx="69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0" hangingPunct="0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行指针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1082" name="组合 171081"/>
          <p:cNvGrpSpPr/>
          <p:nvPr/>
        </p:nvGrpSpPr>
        <p:grpSpPr>
          <a:xfrm>
            <a:off x="5581650" y="1524000"/>
            <a:ext cx="1214438" cy="1333500"/>
            <a:chOff x="3516" y="960"/>
            <a:chExt cx="765" cy="840"/>
          </a:xfrm>
        </p:grpSpPr>
        <p:sp>
          <p:nvSpPr>
            <p:cNvPr id="17443" name="右大括号 171077"/>
            <p:cNvSpPr/>
            <p:nvPr/>
          </p:nvSpPr>
          <p:spPr>
            <a:xfrm>
              <a:off x="3516" y="960"/>
              <a:ext cx="48" cy="840"/>
            </a:xfrm>
            <a:prstGeom prst="rightBrace">
              <a:avLst>
                <a:gd name="adj1" fmla="val 145752"/>
                <a:gd name="adj2" fmla="val 50000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44" name="文本框 171080"/>
            <p:cNvSpPr txBox="1"/>
            <p:nvPr/>
          </p:nvSpPr>
          <p:spPr>
            <a:xfrm>
              <a:off x="3591" y="1236"/>
              <a:ext cx="69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0" hangingPunct="0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列指针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1083" name="直接连接符 171082"/>
          <p:cNvSpPr/>
          <p:nvPr/>
        </p:nvSpPr>
        <p:spPr>
          <a:xfrm flipH="1">
            <a:off x="1695450" y="3714750"/>
            <a:ext cx="5334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71085" name="文本框 171084"/>
          <p:cNvSpPr txBox="1"/>
          <p:nvPr/>
        </p:nvSpPr>
        <p:spPr>
          <a:xfrm>
            <a:off x="2824163" y="3670300"/>
            <a:ext cx="2647950" cy="191770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地址表示：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(1) &amp;a[1][2]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(2) a[1]+2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(3) *(a+1)+2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(4) &amp;a[0][0]+1*4+2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1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71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7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7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7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7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7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71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710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71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71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71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71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71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71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171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171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171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171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3" dur="500"/>
                                        <p:tgtEl>
                                          <p:spTgt spid="171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72" grpId="0" build="p"/>
      <p:bldP spid="171074" grpId="0" uiExpand="1" build="p"/>
      <p:bldP spid="17108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28673"/>
          <p:cNvGrpSpPr/>
          <p:nvPr/>
        </p:nvGrpSpPr>
        <p:grpSpPr>
          <a:xfrm>
            <a:off x="247650" y="987425"/>
            <a:ext cx="8643938" cy="3316288"/>
            <a:chOff x="156" y="622"/>
            <a:chExt cx="5445" cy="2089"/>
          </a:xfrm>
        </p:grpSpPr>
        <p:sp>
          <p:nvSpPr>
            <p:cNvPr id="18434" name="矩形 28674"/>
            <p:cNvSpPr/>
            <p:nvPr/>
          </p:nvSpPr>
          <p:spPr>
            <a:xfrm>
              <a:off x="167" y="633"/>
              <a:ext cx="5434" cy="207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 algn="ctr" eaLnBrk="0" hangingPunct="0"/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35" name="直接连接符 28675"/>
            <p:cNvSpPr/>
            <p:nvPr/>
          </p:nvSpPr>
          <p:spPr>
            <a:xfrm>
              <a:off x="156" y="911"/>
              <a:ext cx="543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36" name="文本框 28676"/>
            <p:cNvSpPr txBox="1"/>
            <p:nvPr/>
          </p:nvSpPr>
          <p:spPr>
            <a:xfrm>
              <a:off x="745" y="630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表示形式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37" name="文本框 28677"/>
            <p:cNvSpPr txBox="1"/>
            <p:nvPr/>
          </p:nvSpPr>
          <p:spPr>
            <a:xfrm>
              <a:off x="3139" y="652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含义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文本框 28678"/>
            <p:cNvSpPr txBox="1"/>
            <p:nvPr/>
          </p:nvSpPr>
          <p:spPr>
            <a:xfrm>
              <a:off x="4760" y="642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39" name="直接连接符 28679"/>
            <p:cNvSpPr/>
            <p:nvPr/>
          </p:nvSpPr>
          <p:spPr>
            <a:xfrm>
              <a:off x="4423" y="622"/>
              <a:ext cx="0" cy="2067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0" name="直接连接符 28680"/>
            <p:cNvSpPr/>
            <p:nvPr/>
          </p:nvSpPr>
          <p:spPr>
            <a:xfrm>
              <a:off x="156" y="1222"/>
              <a:ext cx="5422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1" name="文本框 28681"/>
            <p:cNvSpPr txBox="1"/>
            <p:nvPr/>
          </p:nvSpPr>
          <p:spPr>
            <a:xfrm>
              <a:off x="596" y="930"/>
              <a:ext cx="18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8442" name="文本框 28682"/>
            <p:cNvSpPr txBox="1"/>
            <p:nvPr/>
          </p:nvSpPr>
          <p:spPr>
            <a:xfrm>
              <a:off x="2429" y="963"/>
              <a:ext cx="18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二维数组名，数组首地址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43" name="文本框 28683"/>
            <p:cNvSpPr txBox="1"/>
            <p:nvPr/>
          </p:nvSpPr>
          <p:spPr>
            <a:xfrm>
              <a:off x="223" y="1253"/>
              <a:ext cx="103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a[0],*(a+0),*a</a:t>
              </a:r>
            </a:p>
          </p:txBody>
        </p:sp>
        <p:sp>
          <p:nvSpPr>
            <p:cNvPr id="18444" name="直接连接符 28684"/>
            <p:cNvSpPr/>
            <p:nvPr/>
          </p:nvSpPr>
          <p:spPr>
            <a:xfrm>
              <a:off x="156" y="1522"/>
              <a:ext cx="543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5" name="文本框 28685"/>
            <p:cNvSpPr txBox="1"/>
            <p:nvPr/>
          </p:nvSpPr>
          <p:spPr>
            <a:xfrm>
              <a:off x="2429" y="1276"/>
              <a:ext cx="15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行第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列元素地址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46" name="直接连接符 28686"/>
            <p:cNvSpPr/>
            <p:nvPr/>
          </p:nvSpPr>
          <p:spPr>
            <a:xfrm>
              <a:off x="167" y="1822"/>
              <a:ext cx="543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7" name="文本框 28687"/>
            <p:cNvSpPr txBox="1"/>
            <p:nvPr/>
          </p:nvSpPr>
          <p:spPr>
            <a:xfrm>
              <a:off x="456" y="1519"/>
              <a:ext cx="35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a+1</a:t>
              </a:r>
            </a:p>
          </p:txBody>
        </p:sp>
        <p:sp>
          <p:nvSpPr>
            <p:cNvPr id="18448" name="文本框 28688"/>
            <p:cNvSpPr txBox="1"/>
            <p:nvPr/>
          </p:nvSpPr>
          <p:spPr>
            <a:xfrm>
              <a:off x="2429" y="1564"/>
              <a:ext cx="9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行首地址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49" name="直接连接符 28689"/>
            <p:cNvSpPr/>
            <p:nvPr/>
          </p:nvSpPr>
          <p:spPr>
            <a:xfrm>
              <a:off x="178" y="2100"/>
              <a:ext cx="5423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0" name="文本框 28690"/>
            <p:cNvSpPr txBox="1"/>
            <p:nvPr/>
          </p:nvSpPr>
          <p:spPr>
            <a:xfrm>
              <a:off x="261" y="1853"/>
              <a:ext cx="8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a[1],*(a+1)</a:t>
              </a:r>
            </a:p>
          </p:txBody>
        </p:sp>
        <p:sp>
          <p:nvSpPr>
            <p:cNvPr id="18451" name="文本框 28691"/>
            <p:cNvSpPr txBox="1"/>
            <p:nvPr/>
          </p:nvSpPr>
          <p:spPr>
            <a:xfrm>
              <a:off x="2429" y="1816"/>
              <a:ext cx="15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行第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列元素地址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2" name="直接连接符 28692"/>
            <p:cNvSpPr/>
            <p:nvPr/>
          </p:nvSpPr>
          <p:spPr>
            <a:xfrm>
              <a:off x="167" y="2389"/>
              <a:ext cx="543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53" name="文本框 28693"/>
            <p:cNvSpPr txBox="1"/>
            <p:nvPr/>
          </p:nvSpPr>
          <p:spPr>
            <a:xfrm>
              <a:off x="213" y="2130"/>
              <a:ext cx="178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a[1]+2,*(a+1)+2,&amp;a[1][2]</a:t>
              </a:r>
            </a:p>
          </p:txBody>
        </p:sp>
        <p:sp>
          <p:nvSpPr>
            <p:cNvPr id="18454" name="文本框 28694"/>
            <p:cNvSpPr txBox="1"/>
            <p:nvPr/>
          </p:nvSpPr>
          <p:spPr>
            <a:xfrm>
              <a:off x="2429" y="2117"/>
              <a:ext cx="15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行第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列元素地址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5" name="文本框 28695"/>
            <p:cNvSpPr txBox="1"/>
            <p:nvPr/>
          </p:nvSpPr>
          <p:spPr>
            <a:xfrm>
              <a:off x="188" y="2427"/>
              <a:ext cx="203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*(a[1]+2),*(*(a+1)+2),a[1][2]</a:t>
              </a:r>
            </a:p>
          </p:txBody>
        </p:sp>
        <p:sp>
          <p:nvSpPr>
            <p:cNvPr id="18456" name="文本框 28696"/>
            <p:cNvSpPr txBox="1"/>
            <p:nvPr/>
          </p:nvSpPr>
          <p:spPr>
            <a:xfrm>
              <a:off x="2429" y="2413"/>
              <a:ext cx="13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行第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列元素值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7" name="文本框 28697"/>
            <p:cNvSpPr txBox="1"/>
            <p:nvPr/>
          </p:nvSpPr>
          <p:spPr>
            <a:xfrm>
              <a:off x="4767" y="953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</a:p>
          </p:txBody>
        </p:sp>
        <p:sp>
          <p:nvSpPr>
            <p:cNvPr id="18458" name="文本框 28698"/>
            <p:cNvSpPr txBox="1"/>
            <p:nvPr/>
          </p:nvSpPr>
          <p:spPr>
            <a:xfrm>
              <a:off x="4767" y="1227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</a:p>
          </p:txBody>
        </p:sp>
        <p:sp>
          <p:nvSpPr>
            <p:cNvPr id="18459" name="文本框 28699"/>
            <p:cNvSpPr txBox="1"/>
            <p:nvPr/>
          </p:nvSpPr>
          <p:spPr>
            <a:xfrm>
              <a:off x="4767" y="1516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2008</a:t>
              </a:r>
            </a:p>
          </p:txBody>
        </p:sp>
        <p:sp>
          <p:nvSpPr>
            <p:cNvPr id="18460" name="文本框 28700"/>
            <p:cNvSpPr txBox="1"/>
            <p:nvPr/>
          </p:nvSpPr>
          <p:spPr>
            <a:xfrm>
              <a:off x="4767" y="1804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2008</a:t>
              </a:r>
            </a:p>
          </p:txBody>
        </p:sp>
        <p:sp>
          <p:nvSpPr>
            <p:cNvPr id="18461" name="文本框 28701"/>
            <p:cNvSpPr txBox="1"/>
            <p:nvPr/>
          </p:nvSpPr>
          <p:spPr>
            <a:xfrm>
              <a:off x="4767" y="2071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2012</a:t>
              </a:r>
            </a:p>
          </p:txBody>
        </p:sp>
        <p:sp>
          <p:nvSpPr>
            <p:cNvPr id="18462" name="文本框 28702"/>
            <p:cNvSpPr txBox="1"/>
            <p:nvPr/>
          </p:nvSpPr>
          <p:spPr>
            <a:xfrm>
              <a:off x="4767" y="2419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</a:p>
          </p:txBody>
        </p:sp>
        <p:sp>
          <p:nvSpPr>
            <p:cNvPr id="18463" name="直接连接符 28703"/>
            <p:cNvSpPr/>
            <p:nvPr/>
          </p:nvSpPr>
          <p:spPr>
            <a:xfrm>
              <a:off x="2311" y="622"/>
              <a:ext cx="0" cy="207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29697"/>
          <p:cNvSpPr>
            <a:spLocks noGrp="1"/>
          </p:cNvSpPr>
          <p:nvPr>
            <p:ph idx="1"/>
          </p:nvPr>
        </p:nvSpPr>
        <p:spPr>
          <a:xfrm>
            <a:off x="244475" y="234950"/>
            <a:ext cx="8688388" cy="820738"/>
          </a:xfrm>
        </p:spPr>
        <p:txBody>
          <a:bodyPr anchor="t"/>
          <a:lstStyle/>
          <a:p>
            <a:pPr lvl="2"/>
            <a:r>
              <a:rPr lang="zh-CN" altLang="en-US" dirty="0"/>
              <a:t>二维数组的指针变量</a:t>
            </a:r>
            <a:endParaRPr lang="zh-CN" altLang="en-US"/>
          </a:p>
          <a:p>
            <a:pPr lvl="3"/>
            <a:r>
              <a:rPr lang="zh-CN" altLang="en-US" dirty="0"/>
              <a:t>指向二维数组元素的指针变量</a:t>
            </a:r>
            <a:endParaRPr lang="zh-CN" altLang="en-US"/>
          </a:p>
        </p:txBody>
      </p:sp>
      <p:sp>
        <p:nvSpPr>
          <p:cNvPr id="29701" name="文本框 29700"/>
          <p:cNvSpPr txBox="1"/>
          <p:nvPr/>
        </p:nvSpPr>
        <p:spPr>
          <a:xfrm>
            <a:off x="301625" y="1114425"/>
            <a:ext cx="3867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例  指向二维数组元素的指针变量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9702" name="对象 29701">
            <a:hlinkClick r:id="" action="ppaction://ole?verb=0"/>
          </p:cNvPr>
          <p:cNvGraphicFramePr/>
          <p:nvPr/>
        </p:nvGraphicFramePr>
        <p:xfrm>
          <a:off x="4494213" y="1071563"/>
          <a:ext cx="79216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4" imgW="571500" imgH="466725" progId="Package">
                  <p:embed/>
                </p:oleObj>
              </mc:Choice>
              <mc:Fallback>
                <p:oleObj r:id="rId4" imgW="571500" imgH="466725" progId="Packag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94213" y="1071563"/>
                        <a:ext cx="792162" cy="706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文本框 29703"/>
          <p:cNvSpPr txBox="1"/>
          <p:nvPr/>
        </p:nvSpPr>
        <p:spPr>
          <a:xfrm>
            <a:off x="342900" y="1889125"/>
            <a:ext cx="6762750" cy="3051175"/>
          </a:xfrm>
          <a:prstGeom prst="rect">
            <a:avLst/>
          </a:prstGeom>
          <a:solidFill>
            <a:srgbClr val="E1FFF7"/>
          </a:solidFill>
          <a:ln w="38100" cap="flat" cmpd="sng">
            <a:solidFill>
              <a:srgbClr val="008000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{  static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a[3][4]={1,3,5,7,9,11,13,15,17,19,21,23};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err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*p;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for(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p=a[0];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p&lt;a[0]+12;</a:t>
            </a:r>
            <a:r>
              <a:rPr lang="en-US" altLang="zh-CN">
                <a:solidFill>
                  <a:srgbClr val="66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p++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{   if((p-a[0])%4==0)   printf("\n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printf("%4d  ",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*p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9707" name="矩形标注 29706"/>
          <p:cNvSpPr/>
          <p:nvPr/>
        </p:nvSpPr>
        <p:spPr>
          <a:xfrm>
            <a:off x="2559050" y="5038725"/>
            <a:ext cx="1938338" cy="1590675"/>
          </a:xfrm>
          <a:prstGeom prst="wedgeRectCallout">
            <a:avLst>
              <a:gd name="adj1" fmla="val -14292"/>
              <a:gd name="adj2" fmla="val -72556"/>
            </a:avLst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p=*a;  </a:t>
            </a: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p=&amp;a[0][0];   </a:t>
            </a: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p=*(a+0);  </a:t>
            </a:r>
          </a:p>
          <a:p>
            <a:pPr lvl="0" indent="0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p=a;            </a:t>
            </a:r>
          </a:p>
        </p:txBody>
      </p:sp>
      <p:grpSp>
        <p:nvGrpSpPr>
          <p:cNvPr id="29716" name="组合 29715"/>
          <p:cNvGrpSpPr/>
          <p:nvPr/>
        </p:nvGrpSpPr>
        <p:grpSpPr>
          <a:xfrm>
            <a:off x="2482850" y="4981575"/>
            <a:ext cx="2871788" cy="1590675"/>
            <a:chOff x="3088" y="3162"/>
            <a:chExt cx="1809" cy="1002"/>
          </a:xfrm>
        </p:grpSpPr>
        <p:sp>
          <p:nvSpPr>
            <p:cNvPr id="19464" name="矩形标注 29707"/>
            <p:cNvSpPr/>
            <p:nvPr/>
          </p:nvSpPr>
          <p:spPr>
            <a:xfrm>
              <a:off x="3088" y="3162"/>
              <a:ext cx="1809" cy="1002"/>
            </a:xfrm>
            <a:prstGeom prst="wedgeRectCallout">
              <a:avLst>
                <a:gd name="adj1" fmla="val -12630"/>
                <a:gd name="adj2" fmla="val -74949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lg" len="lg"/>
              <a:tailEnd type="none" w="med" len="med"/>
            </a:ln>
          </p:spPr>
          <p:txBody>
            <a:bodyPr lIns="90000" tIns="46800" rIns="90000" bIns="46800" anchor="ctr">
              <a:spAutoFit/>
            </a:bodyPr>
            <a:lstStyle/>
            <a:p>
              <a:pPr lvl="0" indent="0" eaLnBrk="1" hangingPunct="1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p=*a;  </a:t>
              </a:r>
            </a:p>
            <a:p>
              <a:pPr lvl="0" indent="0" eaLnBrk="1" hangingPunct="1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p=&amp;a[0][0];   </a:t>
              </a:r>
            </a:p>
            <a:p>
              <a:pPr lvl="0" indent="0" eaLnBrk="1" hangingPunct="1"/>
              <a:r>
                <a:rPr lang="en-US" altLang="zh-CN" err="1">
                  <a:latin typeface="Times New Roman" panose="02020603050405020304" pitchFamily="18" charset="0"/>
                  <a:ea typeface="宋体" panose="02010600030101010101" pitchFamily="2" charset="-122"/>
                </a:rPr>
                <a:t>p=(int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*)a;  </a:t>
              </a:r>
            </a:p>
            <a:p>
              <a:pPr lvl="0" indent="0" eaLnBrk="1" hangingPunct="1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p=a;            </a:t>
              </a:r>
            </a:p>
          </p:txBody>
        </p:sp>
        <p:sp>
          <p:nvSpPr>
            <p:cNvPr id="19465" name="任意多边形 29709"/>
            <p:cNvSpPr/>
            <p:nvPr/>
          </p:nvSpPr>
          <p:spPr>
            <a:xfrm>
              <a:off x="4344" y="3204"/>
              <a:ext cx="264" cy="156"/>
            </a:xfrm>
            <a:custGeom>
              <a:avLst/>
              <a:gdLst/>
              <a:ahLst/>
              <a:cxnLst/>
              <a:rect l="0" t="0" r="0" b="0"/>
              <a:pathLst>
                <a:path w="264" h="156">
                  <a:moveTo>
                    <a:pt x="0" y="84"/>
                  </a:moveTo>
                  <a:cubicBezTo>
                    <a:pt x="45" y="114"/>
                    <a:pt x="46" y="139"/>
                    <a:pt x="96" y="156"/>
                  </a:cubicBezTo>
                  <a:cubicBezTo>
                    <a:pt x="132" y="120"/>
                    <a:pt x="162" y="76"/>
                    <a:pt x="204" y="48"/>
                  </a:cubicBezTo>
                  <a:cubicBezTo>
                    <a:pt x="249" y="18"/>
                    <a:pt x="230" y="34"/>
                    <a:pt x="264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6" name="任意多边形 29710"/>
            <p:cNvSpPr/>
            <p:nvPr/>
          </p:nvSpPr>
          <p:spPr>
            <a:xfrm>
              <a:off x="4344" y="3414"/>
              <a:ext cx="264" cy="156"/>
            </a:xfrm>
            <a:custGeom>
              <a:avLst/>
              <a:gdLst/>
              <a:ahLst/>
              <a:cxnLst/>
              <a:rect l="0" t="0" r="0" b="0"/>
              <a:pathLst>
                <a:path w="264" h="156">
                  <a:moveTo>
                    <a:pt x="0" y="84"/>
                  </a:moveTo>
                  <a:cubicBezTo>
                    <a:pt x="45" y="114"/>
                    <a:pt x="46" y="139"/>
                    <a:pt x="96" y="156"/>
                  </a:cubicBezTo>
                  <a:cubicBezTo>
                    <a:pt x="132" y="120"/>
                    <a:pt x="162" y="76"/>
                    <a:pt x="204" y="48"/>
                  </a:cubicBezTo>
                  <a:cubicBezTo>
                    <a:pt x="249" y="18"/>
                    <a:pt x="230" y="34"/>
                    <a:pt x="264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7" name="任意多边形 29711"/>
            <p:cNvSpPr/>
            <p:nvPr/>
          </p:nvSpPr>
          <p:spPr>
            <a:xfrm>
              <a:off x="4344" y="3624"/>
              <a:ext cx="264" cy="156"/>
            </a:xfrm>
            <a:custGeom>
              <a:avLst/>
              <a:gdLst/>
              <a:ahLst/>
              <a:cxnLst/>
              <a:rect l="0" t="0" r="0" b="0"/>
              <a:pathLst>
                <a:path w="264" h="156">
                  <a:moveTo>
                    <a:pt x="0" y="84"/>
                  </a:moveTo>
                  <a:cubicBezTo>
                    <a:pt x="45" y="114"/>
                    <a:pt x="46" y="139"/>
                    <a:pt x="96" y="156"/>
                  </a:cubicBezTo>
                  <a:cubicBezTo>
                    <a:pt x="132" y="120"/>
                    <a:pt x="162" y="76"/>
                    <a:pt x="204" y="48"/>
                  </a:cubicBezTo>
                  <a:cubicBezTo>
                    <a:pt x="249" y="18"/>
                    <a:pt x="230" y="34"/>
                    <a:pt x="264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直接连接符 29712"/>
            <p:cNvSpPr/>
            <p:nvPr/>
          </p:nvSpPr>
          <p:spPr>
            <a:xfrm>
              <a:off x="4380" y="3924"/>
              <a:ext cx="120" cy="14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none" w="med" len="med"/>
            </a:ln>
          </p:spPr>
        </p:sp>
        <p:sp>
          <p:nvSpPr>
            <p:cNvPr id="19469" name="直接连接符 29713"/>
            <p:cNvSpPr/>
            <p:nvPr/>
          </p:nvSpPr>
          <p:spPr>
            <a:xfrm flipH="1">
              <a:off x="4368" y="3924"/>
              <a:ext cx="132" cy="13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none" w="med" len="med"/>
            </a:ln>
          </p:spPr>
        </p:sp>
      </p:grpSp>
      <p:grpSp>
        <p:nvGrpSpPr>
          <p:cNvPr id="29717" name="组合 29716"/>
          <p:cNvGrpSpPr/>
          <p:nvPr/>
        </p:nvGrpSpPr>
        <p:grpSpPr>
          <a:xfrm>
            <a:off x="7793038" y="690563"/>
            <a:ext cx="1350962" cy="5538787"/>
            <a:chOff x="3332" y="597"/>
            <a:chExt cx="851" cy="3489"/>
          </a:xfrm>
        </p:grpSpPr>
        <p:sp>
          <p:nvSpPr>
            <p:cNvPr id="19471" name="文本框 29717"/>
            <p:cNvSpPr txBox="1"/>
            <p:nvPr/>
          </p:nvSpPr>
          <p:spPr>
            <a:xfrm>
              <a:off x="3332" y="597"/>
              <a:ext cx="85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a[3][4];</a:t>
              </a:r>
            </a:p>
          </p:txBody>
        </p:sp>
        <p:sp>
          <p:nvSpPr>
            <p:cNvPr id="19472" name="矩形 29718"/>
            <p:cNvSpPr/>
            <p:nvPr/>
          </p:nvSpPr>
          <p:spPr>
            <a:xfrm>
              <a:off x="3355" y="853"/>
              <a:ext cx="747" cy="32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3" name="直接连接符 29719"/>
            <p:cNvSpPr/>
            <p:nvPr/>
          </p:nvSpPr>
          <p:spPr>
            <a:xfrm>
              <a:off x="3370" y="1103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4" name="直接连接符 29720"/>
            <p:cNvSpPr/>
            <p:nvPr/>
          </p:nvSpPr>
          <p:spPr>
            <a:xfrm>
              <a:off x="3358" y="1378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5" name="直接连接符 29721"/>
            <p:cNvSpPr/>
            <p:nvPr/>
          </p:nvSpPr>
          <p:spPr>
            <a:xfrm>
              <a:off x="3358" y="1928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6" name="直接连接符 29722"/>
            <p:cNvSpPr/>
            <p:nvPr/>
          </p:nvSpPr>
          <p:spPr>
            <a:xfrm>
              <a:off x="3358" y="2204"/>
              <a:ext cx="7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7" name="直接连接符 29723"/>
            <p:cNvSpPr/>
            <p:nvPr/>
          </p:nvSpPr>
          <p:spPr>
            <a:xfrm>
              <a:off x="3358" y="2479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8" name="直接连接符 29724"/>
            <p:cNvSpPr/>
            <p:nvPr/>
          </p:nvSpPr>
          <p:spPr>
            <a:xfrm>
              <a:off x="3358" y="3030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9" name="直接连接符 29725"/>
            <p:cNvSpPr/>
            <p:nvPr/>
          </p:nvSpPr>
          <p:spPr>
            <a:xfrm flipV="1">
              <a:off x="3358" y="3305"/>
              <a:ext cx="75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0" name="直接连接符 29726"/>
            <p:cNvSpPr/>
            <p:nvPr/>
          </p:nvSpPr>
          <p:spPr>
            <a:xfrm>
              <a:off x="3358" y="3581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1" name="文本框 29727"/>
            <p:cNvSpPr txBox="1"/>
            <p:nvPr/>
          </p:nvSpPr>
          <p:spPr>
            <a:xfrm>
              <a:off x="3483" y="85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19482" name="文本框 29728"/>
            <p:cNvSpPr txBox="1"/>
            <p:nvPr/>
          </p:nvSpPr>
          <p:spPr>
            <a:xfrm>
              <a:off x="3483" y="112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19483" name="文本框 29729"/>
            <p:cNvSpPr txBox="1"/>
            <p:nvPr/>
          </p:nvSpPr>
          <p:spPr>
            <a:xfrm>
              <a:off x="3483" y="193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19484" name="文本框 29730"/>
            <p:cNvSpPr txBox="1"/>
            <p:nvPr/>
          </p:nvSpPr>
          <p:spPr>
            <a:xfrm>
              <a:off x="3483" y="220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19485" name="文本框 29731"/>
            <p:cNvSpPr txBox="1"/>
            <p:nvPr/>
          </p:nvSpPr>
          <p:spPr>
            <a:xfrm>
              <a:off x="3483" y="301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19486" name="文本框 29732"/>
            <p:cNvSpPr txBox="1"/>
            <p:nvPr/>
          </p:nvSpPr>
          <p:spPr>
            <a:xfrm>
              <a:off x="3483" y="3287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19487" name="直接连接符 29733"/>
            <p:cNvSpPr/>
            <p:nvPr/>
          </p:nvSpPr>
          <p:spPr>
            <a:xfrm>
              <a:off x="3358" y="1653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8" name="直接连接符 29734"/>
            <p:cNvSpPr/>
            <p:nvPr/>
          </p:nvSpPr>
          <p:spPr>
            <a:xfrm>
              <a:off x="3358" y="2754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9" name="直接连接符 29735"/>
            <p:cNvSpPr/>
            <p:nvPr/>
          </p:nvSpPr>
          <p:spPr>
            <a:xfrm>
              <a:off x="3370" y="3857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0" name="文本框 29736"/>
            <p:cNvSpPr txBox="1"/>
            <p:nvPr/>
          </p:nvSpPr>
          <p:spPr>
            <a:xfrm>
              <a:off x="3483" y="139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19491" name="文本框 29737"/>
            <p:cNvSpPr txBox="1"/>
            <p:nvPr/>
          </p:nvSpPr>
          <p:spPr>
            <a:xfrm>
              <a:off x="3483" y="166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  <p:sp>
          <p:nvSpPr>
            <p:cNvPr id="19492" name="文本框 29738"/>
            <p:cNvSpPr txBox="1"/>
            <p:nvPr/>
          </p:nvSpPr>
          <p:spPr>
            <a:xfrm>
              <a:off x="3483" y="247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19493" name="文本框 29739"/>
            <p:cNvSpPr txBox="1"/>
            <p:nvPr/>
          </p:nvSpPr>
          <p:spPr>
            <a:xfrm>
              <a:off x="3483" y="274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  <p:sp>
          <p:nvSpPr>
            <p:cNvPr id="19494" name="文本框 29740"/>
            <p:cNvSpPr txBox="1"/>
            <p:nvPr/>
          </p:nvSpPr>
          <p:spPr>
            <a:xfrm>
              <a:off x="3483" y="3557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19495" name="文本框 29741"/>
            <p:cNvSpPr txBox="1"/>
            <p:nvPr/>
          </p:nvSpPr>
          <p:spPr>
            <a:xfrm>
              <a:off x="3483" y="3828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</p:grpSp>
      <p:grpSp>
        <p:nvGrpSpPr>
          <p:cNvPr id="29745" name="组合 29744"/>
          <p:cNvGrpSpPr/>
          <p:nvPr/>
        </p:nvGrpSpPr>
        <p:grpSpPr>
          <a:xfrm>
            <a:off x="7097713" y="865188"/>
            <a:ext cx="731837" cy="519112"/>
            <a:chOff x="4471" y="545"/>
            <a:chExt cx="461" cy="327"/>
          </a:xfrm>
        </p:grpSpPr>
        <p:sp>
          <p:nvSpPr>
            <p:cNvPr id="19497" name="直接连接符 29742"/>
            <p:cNvSpPr/>
            <p:nvPr/>
          </p:nvSpPr>
          <p:spPr>
            <a:xfrm>
              <a:off x="4644" y="720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98" name="文本框 29743"/>
            <p:cNvSpPr txBox="1"/>
            <p:nvPr/>
          </p:nvSpPr>
          <p:spPr>
            <a:xfrm>
              <a:off x="4471" y="54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0" hangingPunct="0"/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97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 bldLvl="5"/>
      <p:bldP spid="29701" grpId="0"/>
      <p:bldP spid="29704" grpId="0" animBg="1"/>
      <p:bldP spid="2970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30721"/>
          <p:cNvSpPr>
            <a:spLocks noGrp="1"/>
          </p:cNvSpPr>
          <p:nvPr>
            <p:ph idx="1"/>
          </p:nvPr>
        </p:nvSpPr>
        <p:spPr>
          <a:xfrm>
            <a:off x="-1016000" y="320675"/>
            <a:ext cx="8531225" cy="1309688"/>
          </a:xfrm>
        </p:spPr>
        <p:txBody>
          <a:bodyPr anchor="t"/>
          <a:lstStyle/>
          <a:p>
            <a:pPr lvl="3"/>
            <a:r>
              <a:rPr lang="zh-CN" altLang="en-US" dirty="0"/>
              <a:t>指向</a:t>
            </a:r>
            <a:r>
              <a:rPr lang="zh-CN" altLang="zh-CN" dirty="0"/>
              <a:t>一维数组的指针变量</a:t>
            </a:r>
          </a:p>
          <a:p>
            <a:pPr lvl="4"/>
            <a:r>
              <a:rPr lang="zh-CN" altLang="en-US" dirty="0"/>
              <a:t>定义形式：  </a:t>
            </a:r>
            <a:r>
              <a:rPr lang="zh-CN" altLang="en-US" dirty="0">
                <a:solidFill>
                  <a:schemeClr val="tx2"/>
                </a:solidFill>
              </a:rPr>
              <a:t>数据类型  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dirty="0">
                <a:solidFill>
                  <a:schemeClr val="tx2"/>
                </a:solidFill>
              </a:rPr>
              <a:t>*</a:t>
            </a:r>
            <a:r>
              <a:rPr lang="zh-CN" altLang="en-US" dirty="0">
                <a:solidFill>
                  <a:schemeClr val="tx2"/>
                </a:solidFill>
              </a:rPr>
              <a:t>指针名</a:t>
            </a:r>
            <a:r>
              <a:rPr lang="en-US" altLang="zh-CN">
                <a:solidFill>
                  <a:schemeClr val="accent2"/>
                </a:solidFill>
              </a:rPr>
              <a:t>)</a:t>
            </a:r>
            <a:r>
              <a:rPr lang="en-US" altLang="zh-CN" dirty="0">
                <a:solidFill>
                  <a:schemeClr val="tx2"/>
                </a:solidFill>
              </a:rPr>
              <a:t>[</a:t>
            </a:r>
            <a:r>
              <a:rPr lang="zh-CN" altLang="en-US" dirty="0">
                <a:solidFill>
                  <a:schemeClr val="tx2"/>
                </a:solidFill>
              </a:rPr>
              <a:t>一维数组维数</a:t>
            </a:r>
            <a:r>
              <a:rPr lang="en-US" altLang="zh-CN">
                <a:solidFill>
                  <a:schemeClr val="tx2"/>
                </a:solidFill>
              </a:rPr>
              <a:t>];</a:t>
            </a:r>
          </a:p>
          <a:p>
            <a:pPr lvl="4">
              <a:buNone/>
            </a:pPr>
            <a:r>
              <a:rPr lang="en-US" altLang="zh-CN" dirty="0"/>
              <a:t>   </a:t>
            </a:r>
            <a:r>
              <a:rPr lang="zh-CN" altLang="en-US" dirty="0"/>
              <a:t>例    </a:t>
            </a:r>
            <a:r>
              <a:rPr lang="en-US" altLang="zh-CN" err="1"/>
              <a:t>int</a:t>
            </a:r>
            <a:r>
              <a:rPr lang="en-US" altLang="zh-CN"/>
              <a:t>   (*p)[4];</a:t>
            </a:r>
          </a:p>
        </p:txBody>
      </p:sp>
      <p:sp>
        <p:nvSpPr>
          <p:cNvPr id="30736" name="矩形标注 30735"/>
          <p:cNvSpPr/>
          <p:nvPr/>
        </p:nvSpPr>
        <p:spPr>
          <a:xfrm>
            <a:off x="1227138" y="1779588"/>
            <a:ext cx="3451225" cy="860425"/>
          </a:xfrm>
          <a:prstGeom prst="wedgeRectCallout">
            <a:avLst>
              <a:gd name="adj1" fmla="val 46032"/>
              <a:gd name="adj2" fmla="val -132657"/>
            </a:avLst>
          </a:prstGeom>
          <a:noFill/>
          <a:ln w="38100" cap="flat" cmpd="sng">
            <a:solidFill>
              <a:srgbClr val="339933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1" hangingPunct="1"/>
            <a:r>
              <a:rPr lang="en-US" altLang="zh-CN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 )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不能少</a:t>
            </a:r>
          </a:p>
          <a:p>
            <a:pPr lvl="0" indent="0" eaLnBrk="1" hangingPunct="1"/>
            <a:r>
              <a:rPr lang="en-US" altLang="zh-CN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(*p)[4]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与</a:t>
            </a:r>
            <a:r>
              <a:rPr lang="en-US" altLang="zh-CN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 *p[4]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不同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37" name="矩形标注 30736"/>
          <p:cNvSpPr/>
          <p:nvPr/>
        </p:nvSpPr>
        <p:spPr>
          <a:xfrm>
            <a:off x="4560888" y="1665288"/>
            <a:ext cx="2809875" cy="860425"/>
          </a:xfrm>
          <a:prstGeom prst="wedgeRectCallout">
            <a:avLst>
              <a:gd name="adj1" fmla="val -54634"/>
              <a:gd name="adj2" fmla="val -123801"/>
            </a:avLst>
          </a:prstGeom>
          <a:noFill/>
          <a:ln w="38100" cap="flat" cmpd="sng">
            <a:solidFill>
              <a:srgbClr val="339933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的值是一维数组的</a:t>
            </a:r>
          </a:p>
          <a:p>
            <a:pPr lvl="0" indent="0" eaLnBrk="0" hangingPunct="0"/>
            <a:r>
              <a:rPr lang="zh-CN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首地址，p是</a:t>
            </a:r>
            <a:r>
              <a:rPr lang="zh-CN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行指针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8" name="矩形 30737"/>
          <p:cNvSpPr/>
          <p:nvPr/>
        </p:nvSpPr>
        <p:spPr>
          <a:xfrm>
            <a:off x="-1047750" y="1616075"/>
            <a:ext cx="8531225" cy="795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en-US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可让</a:t>
            </a:r>
            <a:r>
              <a:rPr lang="en-US" altLang="zh-CN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</a:t>
            </a:r>
            <a:r>
              <a:rPr lang="zh-CN" altLang="en-US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指向二维数组某一行</a:t>
            </a:r>
            <a:endParaRPr lang="zh-CN" altLang="en-US" sz="2000" b="1" i="1" u="none" baseline="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None/>
            </a:pPr>
            <a:r>
              <a:rPr lang="zh-CN" altLang="en-US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如    </a:t>
            </a:r>
            <a:r>
              <a:rPr lang="en-US" altLang="zh-CN" sz="2000" b="1" i="1" u="none" baseline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a[3][</a:t>
            </a:r>
            <a:r>
              <a:rPr lang="en-US" altLang="zh-CN" sz="2000" b="1" i="1" u="none" baseline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4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],  (*p)[</a:t>
            </a:r>
            <a:r>
              <a:rPr lang="en-US" altLang="zh-CN" sz="2000" b="1" i="1" u="none" baseline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4</a:t>
            </a:r>
            <a:r>
              <a:rPr lang="en-US" altLang="zh-CN" sz="20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]=a;</a:t>
            </a:r>
          </a:p>
        </p:txBody>
      </p:sp>
      <p:grpSp>
        <p:nvGrpSpPr>
          <p:cNvPr id="30765" name="组合 30764"/>
          <p:cNvGrpSpPr/>
          <p:nvPr/>
        </p:nvGrpSpPr>
        <p:grpSpPr>
          <a:xfrm>
            <a:off x="4310063" y="1033463"/>
            <a:ext cx="2859087" cy="5538787"/>
            <a:chOff x="2715" y="363"/>
            <a:chExt cx="1801" cy="3489"/>
          </a:xfrm>
        </p:grpSpPr>
        <p:grpSp>
          <p:nvGrpSpPr>
            <p:cNvPr id="20486" name="组合 30765"/>
            <p:cNvGrpSpPr/>
            <p:nvPr/>
          </p:nvGrpSpPr>
          <p:grpSpPr>
            <a:xfrm>
              <a:off x="3118" y="363"/>
              <a:ext cx="851" cy="3489"/>
              <a:chOff x="3332" y="597"/>
              <a:chExt cx="851" cy="3489"/>
            </a:xfrm>
          </p:grpSpPr>
          <p:sp>
            <p:nvSpPr>
              <p:cNvPr id="20487" name="文本框 30766"/>
              <p:cNvSpPr txBox="1"/>
              <p:nvPr/>
            </p:nvSpPr>
            <p:spPr>
              <a:xfrm>
                <a:off x="3332" y="597"/>
                <a:ext cx="85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a[3][4];</a:t>
                </a:r>
              </a:p>
            </p:txBody>
          </p:sp>
          <p:sp>
            <p:nvSpPr>
              <p:cNvPr id="20488" name="矩形 30767"/>
              <p:cNvSpPr/>
              <p:nvPr/>
            </p:nvSpPr>
            <p:spPr>
              <a:xfrm>
                <a:off x="3355" y="853"/>
                <a:ext cx="747" cy="323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9" name="直接连接符 30768"/>
              <p:cNvSpPr/>
              <p:nvPr/>
            </p:nvSpPr>
            <p:spPr>
              <a:xfrm>
                <a:off x="3370" y="1103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0" name="直接连接符 30769"/>
              <p:cNvSpPr/>
              <p:nvPr/>
            </p:nvSpPr>
            <p:spPr>
              <a:xfrm>
                <a:off x="3358" y="1378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1" name="直接连接符 30770"/>
              <p:cNvSpPr/>
              <p:nvPr/>
            </p:nvSpPr>
            <p:spPr>
              <a:xfrm>
                <a:off x="3358" y="1928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2" name="直接连接符 30771"/>
              <p:cNvSpPr/>
              <p:nvPr/>
            </p:nvSpPr>
            <p:spPr>
              <a:xfrm>
                <a:off x="3358" y="2204"/>
                <a:ext cx="73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3" name="直接连接符 30772"/>
              <p:cNvSpPr/>
              <p:nvPr/>
            </p:nvSpPr>
            <p:spPr>
              <a:xfrm>
                <a:off x="3358" y="2479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4" name="直接连接符 30773"/>
              <p:cNvSpPr/>
              <p:nvPr/>
            </p:nvSpPr>
            <p:spPr>
              <a:xfrm>
                <a:off x="3358" y="3030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5" name="直接连接符 30774"/>
              <p:cNvSpPr/>
              <p:nvPr/>
            </p:nvSpPr>
            <p:spPr>
              <a:xfrm flipV="1">
                <a:off x="3358" y="3305"/>
                <a:ext cx="754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6" name="直接连接符 30775"/>
              <p:cNvSpPr/>
              <p:nvPr/>
            </p:nvSpPr>
            <p:spPr>
              <a:xfrm>
                <a:off x="3358" y="3581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7" name="文本框 30776"/>
              <p:cNvSpPr txBox="1"/>
              <p:nvPr/>
            </p:nvSpPr>
            <p:spPr>
              <a:xfrm>
                <a:off x="3483" y="854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[0]</a:t>
                </a:r>
              </a:p>
            </p:txBody>
          </p:sp>
          <p:sp>
            <p:nvSpPr>
              <p:cNvPr id="20498" name="文本框 30777"/>
              <p:cNvSpPr txBox="1"/>
              <p:nvPr/>
            </p:nvSpPr>
            <p:spPr>
              <a:xfrm>
                <a:off x="3483" y="1124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[1]</a:t>
                </a:r>
              </a:p>
            </p:txBody>
          </p:sp>
          <p:sp>
            <p:nvSpPr>
              <p:cNvPr id="20499" name="文本框 30778"/>
              <p:cNvSpPr txBox="1"/>
              <p:nvPr/>
            </p:nvSpPr>
            <p:spPr>
              <a:xfrm>
                <a:off x="3483" y="1935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[0]</a:t>
                </a:r>
              </a:p>
            </p:txBody>
          </p:sp>
          <p:sp>
            <p:nvSpPr>
              <p:cNvPr id="20500" name="文本框 30779"/>
              <p:cNvSpPr txBox="1"/>
              <p:nvPr/>
            </p:nvSpPr>
            <p:spPr>
              <a:xfrm>
                <a:off x="3483" y="2205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[1]</a:t>
                </a:r>
              </a:p>
            </p:txBody>
          </p:sp>
          <p:sp>
            <p:nvSpPr>
              <p:cNvPr id="20501" name="文本框 30780"/>
              <p:cNvSpPr txBox="1"/>
              <p:nvPr/>
            </p:nvSpPr>
            <p:spPr>
              <a:xfrm>
                <a:off x="3483" y="3016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[0]</a:t>
                </a:r>
              </a:p>
            </p:txBody>
          </p:sp>
          <p:sp>
            <p:nvSpPr>
              <p:cNvPr id="20502" name="文本框 30781"/>
              <p:cNvSpPr txBox="1"/>
              <p:nvPr/>
            </p:nvSpPr>
            <p:spPr>
              <a:xfrm>
                <a:off x="3483" y="3287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[1]</a:t>
                </a:r>
              </a:p>
            </p:txBody>
          </p:sp>
          <p:sp>
            <p:nvSpPr>
              <p:cNvPr id="20503" name="直接连接符 30782"/>
              <p:cNvSpPr/>
              <p:nvPr/>
            </p:nvSpPr>
            <p:spPr>
              <a:xfrm>
                <a:off x="3358" y="1653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4" name="直接连接符 30783"/>
              <p:cNvSpPr/>
              <p:nvPr/>
            </p:nvSpPr>
            <p:spPr>
              <a:xfrm>
                <a:off x="3358" y="2754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5" name="直接连接符 30784"/>
              <p:cNvSpPr/>
              <p:nvPr/>
            </p:nvSpPr>
            <p:spPr>
              <a:xfrm>
                <a:off x="3370" y="3857"/>
                <a:ext cx="74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6" name="文本框 30785"/>
              <p:cNvSpPr txBox="1"/>
              <p:nvPr/>
            </p:nvSpPr>
            <p:spPr>
              <a:xfrm>
                <a:off x="3483" y="1394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[2]</a:t>
                </a:r>
              </a:p>
            </p:txBody>
          </p:sp>
          <p:sp>
            <p:nvSpPr>
              <p:cNvPr id="20507" name="文本框 30786"/>
              <p:cNvSpPr txBox="1"/>
              <p:nvPr/>
            </p:nvSpPr>
            <p:spPr>
              <a:xfrm>
                <a:off x="3483" y="1665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a[0]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[3]</a:t>
                </a:r>
              </a:p>
            </p:txBody>
          </p:sp>
          <p:sp>
            <p:nvSpPr>
              <p:cNvPr id="20508" name="文本框 30787"/>
              <p:cNvSpPr txBox="1"/>
              <p:nvPr/>
            </p:nvSpPr>
            <p:spPr>
              <a:xfrm>
                <a:off x="3483" y="2476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[2]</a:t>
                </a:r>
              </a:p>
            </p:txBody>
          </p:sp>
          <p:sp>
            <p:nvSpPr>
              <p:cNvPr id="20509" name="文本框 30788"/>
              <p:cNvSpPr txBox="1"/>
              <p:nvPr/>
            </p:nvSpPr>
            <p:spPr>
              <a:xfrm>
                <a:off x="3483" y="2746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339933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a[1]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[3]</a:t>
                </a:r>
              </a:p>
            </p:txBody>
          </p:sp>
          <p:sp>
            <p:nvSpPr>
              <p:cNvPr id="20510" name="文本框 30789"/>
              <p:cNvSpPr txBox="1"/>
              <p:nvPr/>
            </p:nvSpPr>
            <p:spPr>
              <a:xfrm>
                <a:off x="3483" y="3557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[2]</a:t>
                </a:r>
              </a:p>
            </p:txBody>
          </p:sp>
          <p:sp>
            <p:nvSpPr>
              <p:cNvPr id="20511" name="文本框 30790"/>
              <p:cNvSpPr txBox="1"/>
              <p:nvPr/>
            </p:nvSpPr>
            <p:spPr>
              <a:xfrm>
                <a:off x="3483" y="3828"/>
                <a:ext cx="55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solidFill>
                      <a:srgbClr val="FF99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a[2]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[3]</a:t>
                </a:r>
              </a:p>
            </p:txBody>
          </p:sp>
        </p:grpSp>
        <p:grpSp>
          <p:nvGrpSpPr>
            <p:cNvPr id="20512" name="组合 30791"/>
            <p:cNvGrpSpPr/>
            <p:nvPr/>
          </p:nvGrpSpPr>
          <p:grpSpPr>
            <a:xfrm>
              <a:off x="2715" y="492"/>
              <a:ext cx="403" cy="2448"/>
              <a:chOff x="2715" y="492"/>
              <a:chExt cx="403" cy="2448"/>
            </a:xfrm>
          </p:grpSpPr>
          <p:sp>
            <p:nvSpPr>
              <p:cNvPr id="20513" name="文本框 30792"/>
              <p:cNvSpPr txBox="1"/>
              <p:nvPr/>
            </p:nvSpPr>
            <p:spPr>
              <a:xfrm>
                <a:off x="2817" y="492"/>
                <a:ext cx="199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</a:t>
                </a:r>
              </a:p>
            </p:txBody>
          </p:sp>
          <p:sp>
            <p:nvSpPr>
              <p:cNvPr id="20514" name="文本框 30793"/>
              <p:cNvSpPr txBox="1"/>
              <p:nvPr/>
            </p:nvSpPr>
            <p:spPr>
              <a:xfrm>
                <a:off x="2715" y="1572"/>
                <a:ext cx="40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a+1</a:t>
                </a:r>
              </a:p>
            </p:txBody>
          </p:sp>
          <p:sp>
            <p:nvSpPr>
              <p:cNvPr id="20515" name="文本框 30794"/>
              <p:cNvSpPr txBox="1"/>
              <p:nvPr/>
            </p:nvSpPr>
            <p:spPr>
              <a:xfrm>
                <a:off x="2715" y="2652"/>
                <a:ext cx="40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a+2</a:t>
                </a:r>
              </a:p>
            </p:txBody>
          </p:sp>
        </p:grpSp>
        <p:sp>
          <p:nvSpPr>
            <p:cNvPr id="20516" name="直接连接符 30795"/>
            <p:cNvSpPr/>
            <p:nvPr/>
          </p:nvSpPr>
          <p:spPr>
            <a:xfrm flipH="1">
              <a:off x="3888" y="636"/>
              <a:ext cx="300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lg" len="lg"/>
              <a:tailEnd type="triangle" w="med" len="med"/>
            </a:ln>
          </p:spPr>
        </p:sp>
        <p:grpSp>
          <p:nvGrpSpPr>
            <p:cNvPr id="20517" name="组合 30796"/>
            <p:cNvGrpSpPr/>
            <p:nvPr/>
          </p:nvGrpSpPr>
          <p:grpSpPr>
            <a:xfrm>
              <a:off x="4102" y="492"/>
              <a:ext cx="414" cy="2448"/>
              <a:chOff x="2710" y="492"/>
              <a:chExt cx="414" cy="2448"/>
            </a:xfrm>
          </p:grpSpPr>
          <p:sp>
            <p:nvSpPr>
              <p:cNvPr id="20518" name="文本框 30797"/>
              <p:cNvSpPr txBox="1"/>
              <p:nvPr/>
            </p:nvSpPr>
            <p:spPr>
              <a:xfrm>
                <a:off x="2812" y="492"/>
                <a:ext cx="21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p</a:t>
                </a:r>
              </a:p>
            </p:txBody>
          </p:sp>
          <p:sp>
            <p:nvSpPr>
              <p:cNvPr id="20519" name="文本框 30798"/>
              <p:cNvSpPr txBox="1"/>
              <p:nvPr/>
            </p:nvSpPr>
            <p:spPr>
              <a:xfrm>
                <a:off x="2710" y="1572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p+1</a:t>
                </a:r>
              </a:p>
            </p:txBody>
          </p:sp>
          <p:sp>
            <p:nvSpPr>
              <p:cNvPr id="20520" name="文本框 30799"/>
              <p:cNvSpPr txBox="1"/>
              <p:nvPr/>
            </p:nvSpPr>
            <p:spPr>
              <a:xfrm>
                <a:off x="2710" y="2652"/>
                <a:ext cx="41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p+2</a:t>
                </a:r>
              </a:p>
            </p:txBody>
          </p:sp>
        </p:grpSp>
        <p:sp>
          <p:nvSpPr>
            <p:cNvPr id="20521" name="直接连接符 30800"/>
            <p:cNvSpPr/>
            <p:nvPr/>
          </p:nvSpPr>
          <p:spPr>
            <a:xfrm flipH="1">
              <a:off x="3888" y="1722"/>
              <a:ext cx="300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lg" len="lg"/>
              <a:tailEnd type="triangle" w="med" len="med"/>
            </a:ln>
          </p:spPr>
        </p:sp>
        <p:sp>
          <p:nvSpPr>
            <p:cNvPr id="20522" name="直接连接符 30801"/>
            <p:cNvSpPr/>
            <p:nvPr/>
          </p:nvSpPr>
          <p:spPr>
            <a:xfrm flipH="1">
              <a:off x="3888" y="2808"/>
              <a:ext cx="300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lg" len="lg"/>
              <a:tailEnd type="triangle" w="med" len="med"/>
            </a:ln>
          </p:spPr>
        </p:sp>
      </p:grpSp>
      <p:grpSp>
        <p:nvGrpSpPr>
          <p:cNvPr id="30803" name="组合 30802"/>
          <p:cNvGrpSpPr/>
          <p:nvPr/>
        </p:nvGrpSpPr>
        <p:grpSpPr>
          <a:xfrm>
            <a:off x="6153150" y="1581150"/>
            <a:ext cx="2990850" cy="2647950"/>
            <a:chOff x="3876" y="708"/>
            <a:chExt cx="1884" cy="1668"/>
          </a:xfrm>
        </p:grpSpPr>
        <p:sp>
          <p:nvSpPr>
            <p:cNvPr id="20524" name="直接连接符 30803"/>
            <p:cNvSpPr/>
            <p:nvPr/>
          </p:nvSpPr>
          <p:spPr>
            <a:xfrm flipH="1">
              <a:off x="3876" y="864"/>
              <a:ext cx="30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triangle" w="med" len="med"/>
            </a:ln>
          </p:spPr>
        </p:sp>
        <p:sp>
          <p:nvSpPr>
            <p:cNvPr id="20525" name="文本框 30804"/>
            <p:cNvSpPr txBox="1"/>
            <p:nvPr/>
          </p:nvSpPr>
          <p:spPr>
            <a:xfrm>
              <a:off x="4127" y="708"/>
              <a:ext cx="127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zh-CN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p[0]+1或 </a:t>
              </a:r>
              <a:r>
                <a:rPr lang="en-US" altLang="zh-CN">
                  <a:latin typeface="Times New Roman" panose="02020603050405020304" pitchFamily="18" charset="0"/>
                  <a:ea typeface="隶书" panose="02010509060101010101" pitchFamily="49" charset="-122"/>
                </a:rPr>
                <a:t>*p+1</a:t>
              </a:r>
            </a:p>
          </p:txBody>
        </p:sp>
        <p:sp>
          <p:nvSpPr>
            <p:cNvPr id="20526" name="直接连接符 30805"/>
            <p:cNvSpPr/>
            <p:nvPr/>
          </p:nvSpPr>
          <p:spPr>
            <a:xfrm flipH="1">
              <a:off x="3900" y="2244"/>
              <a:ext cx="30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triangle" w="med" len="med"/>
            </a:ln>
          </p:spPr>
        </p:sp>
        <p:sp>
          <p:nvSpPr>
            <p:cNvPr id="20527" name="文本框 30806"/>
            <p:cNvSpPr txBox="1"/>
            <p:nvPr/>
          </p:nvSpPr>
          <p:spPr>
            <a:xfrm>
              <a:off x="4154" y="2088"/>
              <a:ext cx="160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zh-CN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p[1]+2或 </a:t>
              </a:r>
              <a:r>
                <a:rPr lang="en-US" altLang="zh-CN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*</a:t>
              </a:r>
              <a:r>
                <a:rPr lang="en-US" altLang="zh-CN">
                  <a:latin typeface="Times New Roman" panose="02020603050405020304" pitchFamily="18" charset="0"/>
                  <a:ea typeface="隶书" panose="02010509060101010101" pitchFamily="49" charset="-122"/>
                </a:rPr>
                <a:t>(p+1)+2</a:t>
              </a:r>
            </a:p>
          </p:txBody>
        </p:sp>
      </p:grpSp>
      <p:grpSp>
        <p:nvGrpSpPr>
          <p:cNvPr id="30808" name="组合 30807"/>
          <p:cNvGrpSpPr/>
          <p:nvPr/>
        </p:nvGrpSpPr>
        <p:grpSpPr>
          <a:xfrm>
            <a:off x="6019800" y="1924050"/>
            <a:ext cx="2849563" cy="2724150"/>
            <a:chOff x="3792" y="924"/>
            <a:chExt cx="1795" cy="1716"/>
          </a:xfrm>
        </p:grpSpPr>
        <p:sp>
          <p:nvSpPr>
            <p:cNvPr id="20529" name="直接连接符 30808"/>
            <p:cNvSpPr/>
            <p:nvPr/>
          </p:nvSpPr>
          <p:spPr>
            <a:xfrm flipH="1">
              <a:off x="3804" y="1056"/>
              <a:ext cx="300" cy="0"/>
            </a:xfrm>
            <a:prstGeom prst="line">
              <a:avLst/>
            </a:prstGeom>
            <a:ln w="38100" cap="flat" cmpd="sng">
              <a:solidFill>
                <a:srgbClr val="339933"/>
              </a:solidFill>
              <a:prstDash val="solid"/>
              <a:round/>
              <a:headEnd type="none" w="lg" len="lg"/>
              <a:tailEnd type="triangle" w="med" len="med"/>
            </a:ln>
          </p:spPr>
        </p:sp>
        <p:sp>
          <p:nvSpPr>
            <p:cNvPr id="20530" name="文本框 30809"/>
            <p:cNvSpPr txBox="1"/>
            <p:nvPr/>
          </p:nvSpPr>
          <p:spPr>
            <a:xfrm>
              <a:off x="4069" y="924"/>
              <a:ext cx="15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en-US" altLang="zh-CN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*</a:t>
              </a:r>
              <a:r>
                <a:rPr lang="zh-CN" altLang="zh-CN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(*p+1)或 </a:t>
              </a:r>
              <a:r>
                <a:rPr lang="en-US" altLang="zh-CN">
                  <a:latin typeface="Times New Roman" panose="02020603050405020304" pitchFamily="18" charset="0"/>
                  <a:ea typeface="隶书" panose="02010509060101010101" pitchFamily="49" charset="-122"/>
                </a:rPr>
                <a:t>(*p)[1]</a:t>
              </a:r>
            </a:p>
          </p:txBody>
        </p:sp>
        <p:sp>
          <p:nvSpPr>
            <p:cNvPr id="20531" name="直接连接符 30810"/>
            <p:cNvSpPr/>
            <p:nvPr/>
          </p:nvSpPr>
          <p:spPr>
            <a:xfrm flipH="1">
              <a:off x="3792" y="2460"/>
              <a:ext cx="300" cy="0"/>
            </a:xfrm>
            <a:prstGeom prst="line">
              <a:avLst/>
            </a:prstGeom>
            <a:ln w="38100" cap="flat" cmpd="sng">
              <a:solidFill>
                <a:srgbClr val="339933"/>
              </a:solidFill>
              <a:prstDash val="solid"/>
              <a:round/>
              <a:headEnd type="none" w="lg" len="lg"/>
              <a:tailEnd type="triangle" w="med" len="med"/>
            </a:ln>
          </p:spPr>
        </p:sp>
        <p:sp>
          <p:nvSpPr>
            <p:cNvPr id="20532" name="文本框 30811"/>
            <p:cNvSpPr txBox="1"/>
            <p:nvPr/>
          </p:nvSpPr>
          <p:spPr>
            <a:xfrm>
              <a:off x="4102" y="2352"/>
              <a:ext cx="111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zh-CN"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*</a:t>
              </a:r>
              <a:r>
                <a:rPr lang="en-US" altLang="zh-CN">
                  <a:latin typeface="Times New Roman" panose="02020603050405020304" pitchFamily="18" charset="0"/>
                  <a:ea typeface="隶书" panose="02010509060101010101" pitchFamily="49" charset="-122"/>
                </a:rPr>
                <a:t>(*(p+1)+2)</a:t>
              </a:r>
            </a:p>
          </p:txBody>
        </p:sp>
      </p:grpSp>
      <p:sp>
        <p:nvSpPr>
          <p:cNvPr id="30813" name="矩形标注 30812"/>
          <p:cNvSpPr/>
          <p:nvPr/>
        </p:nvSpPr>
        <p:spPr>
          <a:xfrm>
            <a:off x="881063" y="2884488"/>
            <a:ext cx="3571875" cy="860425"/>
          </a:xfrm>
          <a:prstGeom prst="wedgeRectCallout">
            <a:avLst>
              <a:gd name="adj1" fmla="val -5333"/>
              <a:gd name="adj2" fmla="val -87269"/>
            </a:avLst>
          </a:prstGeom>
          <a:noFill/>
          <a:ln w="38100" cap="flat" cmpd="sng">
            <a:solidFill>
              <a:srgbClr val="339933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一维数组指针变量维数和</a:t>
            </a:r>
          </a:p>
          <a:p>
            <a:pPr lvl="0" indent="0" algn="ctr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二维数组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列数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必须相同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0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308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30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 bldLvl="5"/>
      <p:bldP spid="30736" grpId="0" animBg="1"/>
      <p:bldP spid="30737" grpId="0" animBg="1"/>
      <p:bldP spid="30738" grpId="0" build="p" bldLvl="5"/>
      <p:bldP spid="308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05" name="动作按钮: 文档 151553">
            <a:hlinkClick r:id="rId4" action="ppaction://program"/>
          </p:cNvPr>
          <p:cNvSpPr/>
          <p:nvPr/>
        </p:nvSpPr>
        <p:spPr>
          <a:xfrm>
            <a:off x="247650" y="592455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6" name="文本框 151555"/>
          <p:cNvSpPr txBox="1"/>
          <p:nvPr/>
        </p:nvSpPr>
        <p:spPr>
          <a:xfrm>
            <a:off x="490538" y="673100"/>
            <a:ext cx="3689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一维数组指针变量举例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7" name="文本框 151556"/>
          <p:cNvSpPr txBox="1"/>
          <p:nvPr/>
        </p:nvSpPr>
        <p:spPr>
          <a:xfrm>
            <a:off x="0" y="1247775"/>
            <a:ext cx="6915150" cy="3416300"/>
          </a:xfrm>
          <a:prstGeom prst="rect">
            <a:avLst/>
          </a:prstGeom>
          <a:solidFill>
            <a:srgbClr val="E1FFF7"/>
          </a:solidFill>
          <a:ln w="38100" cap="flat" cmpd="sng">
            <a:solidFill>
              <a:srgbClr val="008000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{    static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a[3][4]={1,3,5,7,9,11,13,15,17,19,21,23};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i,j,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(*p)[4];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for(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p=a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,i=0;i&lt;3;i++,</a:t>
            </a:r>
            <a:r>
              <a:rPr lang="en-US" altLang="zh-CN">
                <a:solidFill>
                  <a:srgbClr val="66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p++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  for(j=0;j&lt;4;j++)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printf("%d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",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*(*p+j)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0" hangingPunct="0">
              <a:spcBef>
                <a:spcPct val="50000"/>
              </a:spcBef>
            </a:pP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printf("\n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");</a:t>
            </a:r>
          </a:p>
          <a:p>
            <a:pPr lvl="0" indent="0"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51558" name="矩形标注 151557"/>
          <p:cNvSpPr/>
          <p:nvPr/>
        </p:nvSpPr>
        <p:spPr>
          <a:xfrm>
            <a:off x="1416050" y="5000625"/>
            <a:ext cx="1862138" cy="1590675"/>
          </a:xfrm>
          <a:prstGeom prst="wedgeRectCallout">
            <a:avLst>
              <a:gd name="adj1" fmla="val 47102"/>
              <a:gd name="adj2" fmla="val -70157"/>
            </a:avLst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lg" len="lg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p=a[0]; 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p=*a; 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p=&amp;a[0][0];  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p=&amp;a[0];  </a:t>
            </a:r>
          </a:p>
        </p:txBody>
      </p:sp>
      <p:grpSp>
        <p:nvGrpSpPr>
          <p:cNvPr id="151577" name="组合 151576"/>
          <p:cNvGrpSpPr/>
          <p:nvPr/>
        </p:nvGrpSpPr>
        <p:grpSpPr>
          <a:xfrm>
            <a:off x="1587500" y="4981575"/>
            <a:ext cx="3119438" cy="1590675"/>
            <a:chOff x="2824" y="3138"/>
            <a:chExt cx="1965" cy="1002"/>
          </a:xfrm>
        </p:grpSpPr>
        <p:sp>
          <p:nvSpPr>
            <p:cNvPr id="21511" name="任意多边形 151562"/>
            <p:cNvSpPr/>
            <p:nvPr/>
          </p:nvSpPr>
          <p:spPr>
            <a:xfrm>
              <a:off x="4296" y="3900"/>
              <a:ext cx="264" cy="156"/>
            </a:xfrm>
            <a:custGeom>
              <a:avLst/>
              <a:gdLst/>
              <a:ahLst/>
              <a:cxnLst/>
              <a:rect l="0" t="0" r="0" b="0"/>
              <a:pathLst>
                <a:path w="264" h="156">
                  <a:moveTo>
                    <a:pt x="0" y="84"/>
                  </a:moveTo>
                  <a:cubicBezTo>
                    <a:pt x="45" y="114"/>
                    <a:pt x="46" y="139"/>
                    <a:pt x="96" y="156"/>
                  </a:cubicBezTo>
                  <a:cubicBezTo>
                    <a:pt x="132" y="120"/>
                    <a:pt x="162" y="76"/>
                    <a:pt x="204" y="48"/>
                  </a:cubicBezTo>
                  <a:cubicBezTo>
                    <a:pt x="249" y="18"/>
                    <a:pt x="230" y="34"/>
                    <a:pt x="264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lg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2" name="矩形标注 151565"/>
            <p:cNvSpPr/>
            <p:nvPr/>
          </p:nvSpPr>
          <p:spPr>
            <a:xfrm>
              <a:off x="2824" y="3138"/>
              <a:ext cx="1965" cy="1002"/>
            </a:xfrm>
            <a:prstGeom prst="wedgeRectCallout">
              <a:avLst>
                <a:gd name="adj1" fmla="val 6741"/>
                <a:gd name="adj2" fmla="val -70157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lg" len="lg"/>
              <a:tailEnd type="none" w="med" len="med"/>
            </a:ln>
          </p:spPr>
          <p:txBody>
            <a:bodyPr lIns="90000" tIns="46800" rIns="90000" bIns="46800" anchor="ctr">
              <a:spAutoFit/>
            </a:bodyPr>
            <a:lstStyle/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p=a[0]; 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p=*a; 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p=&amp;a[0][0];  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p=&amp;a[0];  </a:t>
              </a:r>
            </a:p>
          </p:txBody>
        </p:sp>
        <p:grpSp>
          <p:nvGrpSpPr>
            <p:cNvPr id="21513" name="组合 151567"/>
            <p:cNvGrpSpPr/>
            <p:nvPr/>
          </p:nvGrpSpPr>
          <p:grpSpPr>
            <a:xfrm>
              <a:off x="4296" y="3228"/>
              <a:ext cx="132" cy="144"/>
              <a:chOff x="4920" y="2628"/>
              <a:chExt cx="132" cy="144"/>
            </a:xfrm>
          </p:grpSpPr>
          <p:sp>
            <p:nvSpPr>
              <p:cNvPr id="21514" name="直接连接符 151568"/>
              <p:cNvSpPr/>
              <p:nvPr/>
            </p:nvSpPr>
            <p:spPr>
              <a:xfrm>
                <a:off x="4932" y="2628"/>
                <a:ext cx="120" cy="14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21515" name="直接连接符 151569"/>
              <p:cNvSpPr/>
              <p:nvPr/>
            </p:nvSpPr>
            <p:spPr>
              <a:xfrm flipH="1">
                <a:off x="4920" y="2628"/>
                <a:ext cx="132" cy="1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21516" name="组合 151570"/>
            <p:cNvGrpSpPr/>
            <p:nvPr/>
          </p:nvGrpSpPr>
          <p:grpSpPr>
            <a:xfrm>
              <a:off x="4296" y="3452"/>
              <a:ext cx="132" cy="144"/>
              <a:chOff x="4920" y="2628"/>
              <a:chExt cx="132" cy="144"/>
            </a:xfrm>
          </p:grpSpPr>
          <p:sp>
            <p:nvSpPr>
              <p:cNvPr id="21517" name="直接连接符 151571"/>
              <p:cNvSpPr/>
              <p:nvPr/>
            </p:nvSpPr>
            <p:spPr>
              <a:xfrm>
                <a:off x="4932" y="2628"/>
                <a:ext cx="120" cy="14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21518" name="直接连接符 151572"/>
              <p:cNvSpPr/>
              <p:nvPr/>
            </p:nvSpPr>
            <p:spPr>
              <a:xfrm flipH="1">
                <a:off x="4920" y="2628"/>
                <a:ext cx="132" cy="1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  <p:grpSp>
          <p:nvGrpSpPr>
            <p:cNvPr id="21519" name="组合 151573"/>
            <p:cNvGrpSpPr/>
            <p:nvPr/>
          </p:nvGrpSpPr>
          <p:grpSpPr>
            <a:xfrm>
              <a:off x="4296" y="3676"/>
              <a:ext cx="132" cy="144"/>
              <a:chOff x="4920" y="2628"/>
              <a:chExt cx="132" cy="144"/>
            </a:xfrm>
          </p:grpSpPr>
          <p:sp>
            <p:nvSpPr>
              <p:cNvPr id="21520" name="直接连接符 151574"/>
              <p:cNvSpPr/>
              <p:nvPr/>
            </p:nvSpPr>
            <p:spPr>
              <a:xfrm>
                <a:off x="4932" y="2628"/>
                <a:ext cx="120" cy="14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  <p:sp>
            <p:nvSpPr>
              <p:cNvPr id="21521" name="直接连接符 151575"/>
              <p:cNvSpPr/>
              <p:nvPr/>
            </p:nvSpPr>
            <p:spPr>
              <a:xfrm flipH="1">
                <a:off x="4920" y="2628"/>
                <a:ext cx="132" cy="1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lg" len="lg"/>
                <a:tailEnd type="none" w="med" len="med"/>
              </a:ln>
            </p:spPr>
          </p:sp>
        </p:grpSp>
      </p:grpSp>
      <p:grpSp>
        <p:nvGrpSpPr>
          <p:cNvPr id="151578" name="组合 151577"/>
          <p:cNvGrpSpPr/>
          <p:nvPr/>
        </p:nvGrpSpPr>
        <p:grpSpPr>
          <a:xfrm>
            <a:off x="7793038" y="690563"/>
            <a:ext cx="1350962" cy="5538787"/>
            <a:chOff x="3332" y="597"/>
            <a:chExt cx="851" cy="3489"/>
          </a:xfrm>
        </p:grpSpPr>
        <p:sp>
          <p:nvSpPr>
            <p:cNvPr id="21523" name="文本框 151578"/>
            <p:cNvSpPr txBox="1"/>
            <p:nvPr/>
          </p:nvSpPr>
          <p:spPr>
            <a:xfrm>
              <a:off x="3332" y="597"/>
              <a:ext cx="85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a[3][4];</a:t>
              </a:r>
            </a:p>
          </p:txBody>
        </p:sp>
        <p:sp>
          <p:nvSpPr>
            <p:cNvPr id="21524" name="矩形 151579"/>
            <p:cNvSpPr/>
            <p:nvPr/>
          </p:nvSpPr>
          <p:spPr>
            <a:xfrm>
              <a:off x="3355" y="853"/>
              <a:ext cx="747" cy="32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25" name="直接连接符 151580"/>
            <p:cNvSpPr/>
            <p:nvPr/>
          </p:nvSpPr>
          <p:spPr>
            <a:xfrm>
              <a:off x="3370" y="1103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6" name="直接连接符 151581"/>
            <p:cNvSpPr/>
            <p:nvPr/>
          </p:nvSpPr>
          <p:spPr>
            <a:xfrm>
              <a:off x="3358" y="1378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7" name="直接连接符 151582"/>
            <p:cNvSpPr/>
            <p:nvPr/>
          </p:nvSpPr>
          <p:spPr>
            <a:xfrm>
              <a:off x="3358" y="1928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8" name="直接连接符 151583"/>
            <p:cNvSpPr/>
            <p:nvPr/>
          </p:nvSpPr>
          <p:spPr>
            <a:xfrm>
              <a:off x="3358" y="2204"/>
              <a:ext cx="7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9" name="直接连接符 151584"/>
            <p:cNvSpPr/>
            <p:nvPr/>
          </p:nvSpPr>
          <p:spPr>
            <a:xfrm>
              <a:off x="3358" y="2479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0" name="直接连接符 151585"/>
            <p:cNvSpPr/>
            <p:nvPr/>
          </p:nvSpPr>
          <p:spPr>
            <a:xfrm>
              <a:off x="3358" y="3030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1" name="直接连接符 151586"/>
            <p:cNvSpPr/>
            <p:nvPr/>
          </p:nvSpPr>
          <p:spPr>
            <a:xfrm flipV="1">
              <a:off x="3358" y="3305"/>
              <a:ext cx="75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2" name="直接连接符 151587"/>
            <p:cNvSpPr/>
            <p:nvPr/>
          </p:nvSpPr>
          <p:spPr>
            <a:xfrm>
              <a:off x="3358" y="3581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3" name="文本框 151588"/>
            <p:cNvSpPr txBox="1"/>
            <p:nvPr/>
          </p:nvSpPr>
          <p:spPr>
            <a:xfrm>
              <a:off x="3483" y="85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21534" name="文本框 151589"/>
            <p:cNvSpPr txBox="1"/>
            <p:nvPr/>
          </p:nvSpPr>
          <p:spPr>
            <a:xfrm>
              <a:off x="3483" y="112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21535" name="文本框 151590"/>
            <p:cNvSpPr txBox="1"/>
            <p:nvPr/>
          </p:nvSpPr>
          <p:spPr>
            <a:xfrm>
              <a:off x="3483" y="193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21536" name="文本框 151591"/>
            <p:cNvSpPr txBox="1"/>
            <p:nvPr/>
          </p:nvSpPr>
          <p:spPr>
            <a:xfrm>
              <a:off x="3483" y="220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21537" name="文本框 151592"/>
            <p:cNvSpPr txBox="1"/>
            <p:nvPr/>
          </p:nvSpPr>
          <p:spPr>
            <a:xfrm>
              <a:off x="3483" y="301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[0]</a:t>
              </a:r>
            </a:p>
          </p:txBody>
        </p:sp>
        <p:sp>
          <p:nvSpPr>
            <p:cNvPr id="21538" name="文本框 151593"/>
            <p:cNvSpPr txBox="1"/>
            <p:nvPr/>
          </p:nvSpPr>
          <p:spPr>
            <a:xfrm>
              <a:off x="3483" y="3287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[1]</a:t>
              </a:r>
            </a:p>
          </p:txBody>
        </p:sp>
        <p:sp>
          <p:nvSpPr>
            <p:cNvPr id="21539" name="直接连接符 151594"/>
            <p:cNvSpPr/>
            <p:nvPr/>
          </p:nvSpPr>
          <p:spPr>
            <a:xfrm>
              <a:off x="3358" y="1653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0" name="直接连接符 151595"/>
            <p:cNvSpPr/>
            <p:nvPr/>
          </p:nvSpPr>
          <p:spPr>
            <a:xfrm>
              <a:off x="3358" y="2754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1" name="直接连接符 151596"/>
            <p:cNvSpPr/>
            <p:nvPr/>
          </p:nvSpPr>
          <p:spPr>
            <a:xfrm>
              <a:off x="3370" y="3857"/>
              <a:ext cx="7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2" name="文本框 151597"/>
            <p:cNvSpPr txBox="1"/>
            <p:nvPr/>
          </p:nvSpPr>
          <p:spPr>
            <a:xfrm>
              <a:off x="3483" y="1394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21543" name="文本框 151598"/>
            <p:cNvSpPr txBox="1"/>
            <p:nvPr/>
          </p:nvSpPr>
          <p:spPr>
            <a:xfrm>
              <a:off x="3483" y="1665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a[0]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  <p:sp>
          <p:nvSpPr>
            <p:cNvPr id="21544" name="文本框 151599"/>
            <p:cNvSpPr txBox="1"/>
            <p:nvPr/>
          </p:nvSpPr>
          <p:spPr>
            <a:xfrm>
              <a:off x="3483" y="247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21545" name="文本框 151600"/>
            <p:cNvSpPr txBox="1"/>
            <p:nvPr/>
          </p:nvSpPr>
          <p:spPr>
            <a:xfrm>
              <a:off x="3483" y="2746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33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a[1]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  <p:sp>
          <p:nvSpPr>
            <p:cNvPr id="21546" name="文本框 151601"/>
            <p:cNvSpPr txBox="1"/>
            <p:nvPr/>
          </p:nvSpPr>
          <p:spPr>
            <a:xfrm>
              <a:off x="3483" y="3557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[2]</a:t>
              </a:r>
            </a:p>
          </p:txBody>
        </p:sp>
        <p:sp>
          <p:nvSpPr>
            <p:cNvPr id="21547" name="文本框 151602"/>
            <p:cNvSpPr txBox="1"/>
            <p:nvPr/>
          </p:nvSpPr>
          <p:spPr>
            <a:xfrm>
              <a:off x="3483" y="3828"/>
              <a:ext cx="55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a[2]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[3]</a:t>
              </a:r>
            </a:p>
          </p:txBody>
        </p:sp>
      </p:grpSp>
      <p:grpSp>
        <p:nvGrpSpPr>
          <p:cNvPr id="151604" name="组合 151603"/>
          <p:cNvGrpSpPr/>
          <p:nvPr/>
        </p:nvGrpSpPr>
        <p:grpSpPr>
          <a:xfrm>
            <a:off x="7097713" y="865188"/>
            <a:ext cx="731837" cy="519112"/>
            <a:chOff x="4471" y="545"/>
            <a:chExt cx="461" cy="327"/>
          </a:xfrm>
        </p:grpSpPr>
        <p:sp>
          <p:nvSpPr>
            <p:cNvPr id="21549" name="直接连接符 151604"/>
            <p:cNvSpPr/>
            <p:nvPr/>
          </p:nvSpPr>
          <p:spPr>
            <a:xfrm>
              <a:off x="4644" y="720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50" name="文本框 151605"/>
            <p:cNvSpPr txBox="1"/>
            <p:nvPr/>
          </p:nvSpPr>
          <p:spPr>
            <a:xfrm>
              <a:off x="4471" y="54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0" hangingPunct="0"/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151607" name="组合 151606"/>
          <p:cNvGrpSpPr/>
          <p:nvPr/>
        </p:nvGrpSpPr>
        <p:grpSpPr>
          <a:xfrm>
            <a:off x="7135813" y="2541588"/>
            <a:ext cx="731837" cy="519112"/>
            <a:chOff x="4471" y="545"/>
            <a:chExt cx="461" cy="327"/>
          </a:xfrm>
        </p:grpSpPr>
        <p:sp>
          <p:nvSpPr>
            <p:cNvPr id="21552" name="直接连接符 151607"/>
            <p:cNvSpPr/>
            <p:nvPr/>
          </p:nvSpPr>
          <p:spPr>
            <a:xfrm>
              <a:off x="4644" y="720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53" name="文本框 151608"/>
            <p:cNvSpPr txBox="1"/>
            <p:nvPr/>
          </p:nvSpPr>
          <p:spPr>
            <a:xfrm>
              <a:off x="4471" y="54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0" hangingPunct="0"/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grpSp>
        <p:nvGrpSpPr>
          <p:cNvPr id="151610" name="组合 151609"/>
          <p:cNvGrpSpPr/>
          <p:nvPr/>
        </p:nvGrpSpPr>
        <p:grpSpPr>
          <a:xfrm>
            <a:off x="7135813" y="4275138"/>
            <a:ext cx="731837" cy="519112"/>
            <a:chOff x="4471" y="545"/>
            <a:chExt cx="461" cy="327"/>
          </a:xfrm>
        </p:grpSpPr>
        <p:sp>
          <p:nvSpPr>
            <p:cNvPr id="21555" name="直接连接符 151610"/>
            <p:cNvSpPr/>
            <p:nvPr/>
          </p:nvSpPr>
          <p:spPr>
            <a:xfrm>
              <a:off x="4644" y="720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56" name="文本框 151611"/>
            <p:cNvSpPr txBox="1"/>
            <p:nvPr/>
          </p:nvSpPr>
          <p:spPr>
            <a:xfrm>
              <a:off x="4471" y="54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0" hangingPunct="0"/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</p:grpSp>
      <p:sp>
        <p:nvSpPr>
          <p:cNvPr id="151613" name="文本框 151612"/>
          <p:cNvSpPr txBox="1"/>
          <p:nvPr/>
        </p:nvSpPr>
        <p:spPr>
          <a:xfrm>
            <a:off x="4821238" y="3124200"/>
            <a:ext cx="1370012" cy="45720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0" hangingPunct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p[0][j]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515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51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51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51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51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515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/>
      <p:bldP spid="151557" grpId="0" animBg="1"/>
      <p:bldP spid="151558" grpId="0" animBg="1"/>
      <p:bldP spid="15161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文本框 116737"/>
          <p:cNvSpPr txBox="1"/>
          <p:nvPr/>
        </p:nvSpPr>
        <p:spPr>
          <a:xfrm>
            <a:off x="350838" y="171450"/>
            <a:ext cx="3308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二维数组与指针运算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 useBgFill="1">
        <p:nvSpPr>
          <p:cNvPr id="22530" name="动作按钮: 文档 116738">
            <a:hlinkClick r:id="rId4" action="ppaction://program"/>
          </p:cNvPr>
          <p:cNvSpPr/>
          <p:nvPr/>
        </p:nvSpPr>
        <p:spPr>
          <a:xfrm>
            <a:off x="279400" y="5908675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40" name="矩形 116739"/>
          <p:cNvSpPr/>
          <p:nvPr/>
        </p:nvSpPr>
        <p:spPr>
          <a:xfrm>
            <a:off x="255588" y="847725"/>
            <a:ext cx="5854700" cy="5241925"/>
          </a:xfrm>
          <a:prstGeom prst="rect">
            <a:avLst/>
          </a:prstGeom>
          <a:solidFill>
            <a:srgbClr val="E1FFF7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{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a[3][4]={{1,2,3,4},{3,4,5,6},{5,6,7,8}};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i;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(*p)[4]=a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,*q=a[0];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for(i=0;i&lt;3;i++)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{   if(i==0)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   (*p)[i+i/2]=*q+1;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  else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   p++,++q;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for(i=0;i&lt;3;i++)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  printf("%d,",a[i][i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]);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printf("%d,%d\n",*((int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*)p),*q);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6741" name="文本框 116740"/>
          <p:cNvSpPr txBox="1"/>
          <p:nvPr/>
        </p:nvSpPr>
        <p:spPr>
          <a:xfrm>
            <a:off x="1425575" y="6235700"/>
            <a:ext cx="3105150" cy="396875"/>
          </a:xfrm>
          <a:prstGeom prst="rect">
            <a:avLst/>
          </a:prstGeom>
          <a:solidFill>
            <a:srgbClr val="33CCCC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运行结果：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grpSp>
        <p:nvGrpSpPr>
          <p:cNvPr id="116773" name="组合 116772"/>
          <p:cNvGrpSpPr/>
          <p:nvPr/>
        </p:nvGrpSpPr>
        <p:grpSpPr>
          <a:xfrm>
            <a:off x="6886575" y="1906588"/>
            <a:ext cx="2257425" cy="1657350"/>
            <a:chOff x="4338" y="1223"/>
            <a:chExt cx="1723" cy="1044"/>
          </a:xfrm>
        </p:grpSpPr>
        <p:sp>
          <p:nvSpPr>
            <p:cNvPr id="22535" name="矩形 116743"/>
            <p:cNvSpPr/>
            <p:nvPr/>
          </p:nvSpPr>
          <p:spPr>
            <a:xfrm>
              <a:off x="4338" y="1223"/>
              <a:ext cx="1712" cy="104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 algn="ctr" eaLnBrk="0" hangingPunct="0"/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6" name="直接连接符 116744"/>
            <p:cNvSpPr/>
            <p:nvPr/>
          </p:nvSpPr>
          <p:spPr>
            <a:xfrm>
              <a:off x="4349" y="1601"/>
              <a:ext cx="171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7" name="直接连接符 116745"/>
            <p:cNvSpPr/>
            <p:nvPr/>
          </p:nvSpPr>
          <p:spPr>
            <a:xfrm>
              <a:off x="4338" y="1934"/>
              <a:ext cx="171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8" name="直接连接符 116746"/>
            <p:cNvSpPr/>
            <p:nvPr/>
          </p:nvSpPr>
          <p:spPr>
            <a:xfrm>
              <a:off x="5194" y="1223"/>
              <a:ext cx="0" cy="10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9" name="直接连接符 116747"/>
            <p:cNvSpPr/>
            <p:nvPr/>
          </p:nvSpPr>
          <p:spPr>
            <a:xfrm>
              <a:off x="4749" y="1223"/>
              <a:ext cx="0" cy="10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0" name="直接连接符 116748"/>
            <p:cNvSpPr/>
            <p:nvPr/>
          </p:nvSpPr>
          <p:spPr>
            <a:xfrm>
              <a:off x="5627" y="1223"/>
              <a:ext cx="0" cy="10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1" name="文本框 116759"/>
            <p:cNvSpPr txBox="1"/>
            <p:nvPr/>
          </p:nvSpPr>
          <p:spPr>
            <a:xfrm>
              <a:off x="4420" y="1309"/>
              <a:ext cx="2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2542" name="文本框 116760"/>
            <p:cNvSpPr txBox="1"/>
            <p:nvPr/>
          </p:nvSpPr>
          <p:spPr>
            <a:xfrm>
              <a:off x="4860" y="1305"/>
              <a:ext cx="2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2543" name="文本框 116761"/>
            <p:cNvSpPr txBox="1"/>
            <p:nvPr/>
          </p:nvSpPr>
          <p:spPr>
            <a:xfrm>
              <a:off x="5271" y="1294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2544" name="文本框 116762"/>
            <p:cNvSpPr txBox="1"/>
            <p:nvPr/>
          </p:nvSpPr>
          <p:spPr>
            <a:xfrm>
              <a:off x="5717" y="1294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2545" name="文本框 116763"/>
            <p:cNvSpPr txBox="1"/>
            <p:nvPr/>
          </p:nvSpPr>
          <p:spPr>
            <a:xfrm>
              <a:off x="4417" y="1650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2546" name="文本框 116764"/>
            <p:cNvSpPr txBox="1"/>
            <p:nvPr/>
          </p:nvSpPr>
          <p:spPr>
            <a:xfrm>
              <a:off x="4849" y="1660"/>
              <a:ext cx="2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2547" name="文本框 116765"/>
            <p:cNvSpPr txBox="1"/>
            <p:nvPr/>
          </p:nvSpPr>
          <p:spPr>
            <a:xfrm>
              <a:off x="5283" y="1660"/>
              <a:ext cx="2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2548" name="文本框 116766"/>
            <p:cNvSpPr txBox="1"/>
            <p:nvPr/>
          </p:nvSpPr>
          <p:spPr>
            <a:xfrm>
              <a:off x="5728" y="1671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2549" name="文本框 116767"/>
            <p:cNvSpPr txBox="1"/>
            <p:nvPr/>
          </p:nvSpPr>
          <p:spPr>
            <a:xfrm>
              <a:off x="4439" y="1982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2550" name="文本框 116768"/>
            <p:cNvSpPr txBox="1"/>
            <p:nvPr/>
          </p:nvSpPr>
          <p:spPr>
            <a:xfrm>
              <a:off x="4817" y="1982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2551" name="文本框 116769"/>
            <p:cNvSpPr txBox="1"/>
            <p:nvPr/>
          </p:nvSpPr>
          <p:spPr>
            <a:xfrm>
              <a:off x="5282" y="1983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2552" name="文本框 116770"/>
            <p:cNvSpPr txBox="1"/>
            <p:nvPr/>
          </p:nvSpPr>
          <p:spPr>
            <a:xfrm>
              <a:off x="5728" y="1993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lvl="0" indent="0" algn="ctr" eaLnBrk="0" hangingPunct="0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16793" name="组合 116792"/>
          <p:cNvGrpSpPr/>
          <p:nvPr/>
        </p:nvGrpSpPr>
        <p:grpSpPr>
          <a:xfrm>
            <a:off x="6259513" y="1244600"/>
            <a:ext cx="909637" cy="836613"/>
            <a:chOff x="3943" y="806"/>
            <a:chExt cx="573" cy="527"/>
          </a:xfrm>
        </p:grpSpPr>
        <p:grpSp>
          <p:nvGrpSpPr>
            <p:cNvPr id="22554" name="组合 116778"/>
            <p:cNvGrpSpPr/>
            <p:nvPr/>
          </p:nvGrpSpPr>
          <p:grpSpPr>
            <a:xfrm>
              <a:off x="3943" y="1083"/>
              <a:ext cx="391" cy="250"/>
              <a:chOff x="3943" y="1083"/>
              <a:chExt cx="391" cy="250"/>
            </a:xfrm>
          </p:grpSpPr>
          <p:sp>
            <p:nvSpPr>
              <p:cNvPr id="22555" name="直接连接符 116773"/>
              <p:cNvSpPr/>
              <p:nvPr/>
            </p:nvSpPr>
            <p:spPr>
              <a:xfrm>
                <a:off x="4112" y="1233"/>
                <a:ext cx="22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556" name="文本框 116774"/>
              <p:cNvSpPr txBox="1"/>
              <p:nvPr/>
            </p:nvSpPr>
            <p:spPr>
              <a:xfrm>
                <a:off x="3943" y="1083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</p:grpSp>
        <p:grpSp>
          <p:nvGrpSpPr>
            <p:cNvPr id="22557" name="组合 116777"/>
            <p:cNvGrpSpPr/>
            <p:nvPr/>
          </p:nvGrpSpPr>
          <p:grpSpPr>
            <a:xfrm>
              <a:off x="4320" y="806"/>
              <a:ext cx="196" cy="427"/>
              <a:chOff x="4320" y="806"/>
              <a:chExt cx="196" cy="427"/>
            </a:xfrm>
          </p:grpSpPr>
          <p:sp>
            <p:nvSpPr>
              <p:cNvPr id="22558" name="直接连接符 116775"/>
              <p:cNvSpPr/>
              <p:nvPr/>
            </p:nvSpPr>
            <p:spPr>
              <a:xfrm>
                <a:off x="4323" y="933"/>
                <a:ext cx="0" cy="3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559" name="文本框 116776"/>
              <p:cNvSpPr txBox="1"/>
              <p:nvPr/>
            </p:nvSpPr>
            <p:spPr>
              <a:xfrm>
                <a:off x="4320" y="806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</a:p>
            </p:txBody>
          </p:sp>
        </p:grpSp>
      </p:grpSp>
      <p:sp>
        <p:nvSpPr>
          <p:cNvPr id="116780" name="文本框 116779"/>
          <p:cNvSpPr txBox="1"/>
          <p:nvPr/>
        </p:nvSpPr>
        <p:spPr>
          <a:xfrm>
            <a:off x="6999288" y="2039938"/>
            <a:ext cx="311150" cy="396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6794" name="组合 116793"/>
          <p:cNvGrpSpPr/>
          <p:nvPr/>
        </p:nvGrpSpPr>
        <p:grpSpPr>
          <a:xfrm>
            <a:off x="6270625" y="1274763"/>
            <a:ext cx="1562100" cy="1382712"/>
            <a:chOff x="3950" y="825"/>
            <a:chExt cx="984" cy="871"/>
          </a:xfrm>
        </p:grpSpPr>
        <p:grpSp>
          <p:nvGrpSpPr>
            <p:cNvPr id="22562" name="组合 116780"/>
            <p:cNvGrpSpPr/>
            <p:nvPr/>
          </p:nvGrpSpPr>
          <p:grpSpPr>
            <a:xfrm>
              <a:off x="3950" y="1446"/>
              <a:ext cx="391" cy="250"/>
              <a:chOff x="3943" y="1083"/>
              <a:chExt cx="391" cy="250"/>
            </a:xfrm>
          </p:grpSpPr>
          <p:sp>
            <p:nvSpPr>
              <p:cNvPr id="22563" name="直接连接符 116781"/>
              <p:cNvSpPr/>
              <p:nvPr/>
            </p:nvSpPr>
            <p:spPr>
              <a:xfrm>
                <a:off x="4112" y="1233"/>
                <a:ext cx="22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564" name="文本框 116782"/>
              <p:cNvSpPr txBox="1"/>
              <p:nvPr/>
            </p:nvSpPr>
            <p:spPr>
              <a:xfrm>
                <a:off x="3943" y="1083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</p:grpSp>
        <p:grpSp>
          <p:nvGrpSpPr>
            <p:cNvPr id="22565" name="组合 116786"/>
            <p:cNvGrpSpPr/>
            <p:nvPr/>
          </p:nvGrpSpPr>
          <p:grpSpPr>
            <a:xfrm>
              <a:off x="4738" y="825"/>
              <a:ext cx="196" cy="427"/>
              <a:chOff x="4320" y="806"/>
              <a:chExt cx="196" cy="427"/>
            </a:xfrm>
          </p:grpSpPr>
          <p:sp>
            <p:nvSpPr>
              <p:cNvPr id="22566" name="直接连接符 116787"/>
              <p:cNvSpPr/>
              <p:nvPr/>
            </p:nvSpPr>
            <p:spPr>
              <a:xfrm>
                <a:off x="4323" y="933"/>
                <a:ext cx="0" cy="3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567" name="文本框 116788"/>
              <p:cNvSpPr txBox="1"/>
              <p:nvPr/>
            </p:nvSpPr>
            <p:spPr>
              <a:xfrm>
                <a:off x="4320" y="806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</a:p>
            </p:txBody>
          </p:sp>
        </p:grpSp>
      </p:grpSp>
      <p:grpSp>
        <p:nvGrpSpPr>
          <p:cNvPr id="116795" name="组合 116794"/>
          <p:cNvGrpSpPr/>
          <p:nvPr/>
        </p:nvGrpSpPr>
        <p:grpSpPr>
          <a:xfrm>
            <a:off x="6253163" y="1238250"/>
            <a:ext cx="2286000" cy="1965325"/>
            <a:chOff x="3939" y="802"/>
            <a:chExt cx="1440" cy="1238"/>
          </a:xfrm>
        </p:grpSpPr>
        <p:grpSp>
          <p:nvGrpSpPr>
            <p:cNvPr id="22569" name="组合 116783"/>
            <p:cNvGrpSpPr/>
            <p:nvPr/>
          </p:nvGrpSpPr>
          <p:grpSpPr>
            <a:xfrm>
              <a:off x="3939" y="1790"/>
              <a:ext cx="391" cy="250"/>
              <a:chOff x="3943" y="1083"/>
              <a:chExt cx="391" cy="250"/>
            </a:xfrm>
          </p:grpSpPr>
          <p:sp>
            <p:nvSpPr>
              <p:cNvPr id="22570" name="直接连接符 116784"/>
              <p:cNvSpPr/>
              <p:nvPr/>
            </p:nvSpPr>
            <p:spPr>
              <a:xfrm>
                <a:off x="4112" y="1233"/>
                <a:ext cx="22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571" name="文本框 116785"/>
              <p:cNvSpPr txBox="1"/>
              <p:nvPr/>
            </p:nvSpPr>
            <p:spPr>
              <a:xfrm>
                <a:off x="3943" y="1083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</p:grpSp>
        <p:grpSp>
          <p:nvGrpSpPr>
            <p:cNvPr id="22572" name="组合 116789"/>
            <p:cNvGrpSpPr/>
            <p:nvPr/>
          </p:nvGrpSpPr>
          <p:grpSpPr>
            <a:xfrm>
              <a:off x="5183" y="802"/>
              <a:ext cx="196" cy="427"/>
              <a:chOff x="4320" y="806"/>
              <a:chExt cx="196" cy="427"/>
            </a:xfrm>
          </p:grpSpPr>
          <p:sp>
            <p:nvSpPr>
              <p:cNvPr id="22573" name="直接连接符 116790"/>
              <p:cNvSpPr/>
              <p:nvPr/>
            </p:nvSpPr>
            <p:spPr>
              <a:xfrm>
                <a:off x="4323" y="933"/>
                <a:ext cx="0" cy="3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2574" name="文本框 116791"/>
              <p:cNvSpPr txBox="1"/>
              <p:nvPr/>
            </p:nvSpPr>
            <p:spPr>
              <a:xfrm>
                <a:off x="4320" y="806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</a:p>
            </p:txBody>
          </p:sp>
        </p:grp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67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67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16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116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67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167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uild="p"/>
      <p:bldP spid="116740" grpId="0" animBg="1"/>
      <p:bldP spid="116741" grpId="0" animBg="1"/>
      <p:bldP spid="11678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矩形 105473"/>
          <p:cNvSpPr/>
          <p:nvPr/>
        </p:nvSpPr>
        <p:spPr>
          <a:xfrm>
            <a:off x="-876300" y="784225"/>
            <a:ext cx="10020300" cy="46323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二维数组与一维数组指针变量的关系</a:t>
            </a:r>
            <a:endParaRPr lang="zh-CN" altLang="en-US" sz="2400" b="1" i="1" u="none" baseline="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None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如   </a:t>
            </a:r>
            <a:r>
              <a:rPr lang="en-US" altLang="zh-CN" sz="2400" b="1" i="1" u="none" baseline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zh-CN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a[5][10]  与</a:t>
            </a:r>
            <a:r>
              <a:rPr lang="en-US" altLang="zh-CN" sz="2400" b="1" i="1" u="none" baseline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int</a:t>
            </a:r>
            <a:r>
              <a:rPr lang="en-US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(*p)[10];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二维数组名是一个指向有</a:t>
            </a:r>
            <a:r>
              <a:rPr lang="en-US" altLang="zh-CN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10</a:t>
            </a: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个元素的一维数组的</a:t>
            </a:r>
            <a:r>
              <a:rPr lang="zh-CN" altLang="en-US" sz="2400" b="1" i="1" u="none" baseline="0" dirty="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指针常量</a:t>
            </a:r>
            <a:endParaRPr lang="zh-CN" altLang="zh-CN" sz="24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r>
              <a:rPr lang="zh-CN" altLang="zh-CN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p=a+i  使 p指向二维数组的第i行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r>
              <a:rPr lang="zh-CN" altLang="zh-CN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*(*(</a:t>
            </a:r>
            <a:r>
              <a:rPr lang="en-US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p+i)+j) </a:t>
            </a:r>
            <a:r>
              <a:rPr lang="en-US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a[i][j] 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r>
              <a:rPr lang="zh-CN" altLang="zh-CN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二维数组形参实际上是一维数组指针变量，                      即   </a:t>
            </a:r>
            <a:r>
              <a:rPr lang="en-US" altLang="zh-CN" sz="2400" b="1" i="1" u="none" baseline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x[ ][10]  </a:t>
            </a:r>
            <a:r>
              <a:rPr lang="en-US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400" b="1" i="1" u="none" baseline="0" err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int</a:t>
            </a:r>
            <a:r>
              <a:rPr lang="en-US" altLang="zh-CN" sz="2400" b="1" i="1" u="none" baseline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(*x)[10]</a:t>
            </a: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r>
              <a:rPr lang="zh-CN" altLang="zh-CN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变量定义(不是形参）时两者不等价</a:t>
            </a:r>
            <a:endParaRPr lang="zh-CN" altLang="zh-CN" sz="24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r>
              <a:rPr lang="zh-CN" altLang="zh-CN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系统只给p分配能保存一个指针值的内存区(一般2字节）；而给a分配2*5*10字节的内存区</a:t>
            </a:r>
            <a:endParaRPr lang="en-US" altLang="zh-CN" sz="24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endParaRPr lang="en-US" altLang="zh-CN" sz="24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2057400" lvl="4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99"/>
              </a:buClr>
              <a:buFont typeface="Wingdings" panose="05000000000000000000" pitchFamily="2" charset="2"/>
              <a:buChar char="Y"/>
            </a:pPr>
            <a:endParaRPr lang="en-US" altLang="zh-CN" sz="20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5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5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 build="p" bldLvl="5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43009"/>
          <p:cNvSpPr>
            <a:spLocks noGrp="1"/>
          </p:cNvSpPr>
          <p:nvPr>
            <p:ph idx="1"/>
          </p:nvPr>
        </p:nvSpPr>
        <p:spPr>
          <a:xfrm>
            <a:off x="0" y="420688"/>
            <a:ext cx="8829675" cy="2971800"/>
          </a:xfrm>
        </p:spPr>
        <p:txBody>
          <a:bodyPr anchor="t"/>
          <a:lstStyle/>
          <a:p>
            <a:r>
              <a:rPr lang="en-US" altLang="zh-CN">
                <a:solidFill>
                  <a:schemeClr val="accent1"/>
                </a:solidFill>
              </a:rPr>
              <a:t>11.3</a:t>
            </a:r>
            <a:r>
              <a:rPr lang="en-US" altLang="zh-CN" dirty="0"/>
              <a:t>  </a:t>
            </a:r>
            <a:r>
              <a:rPr lang="zh-CN" altLang="en-US" dirty="0"/>
              <a:t>指针数组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用于处理二维数组或多个字符串</a:t>
            </a:r>
          </a:p>
          <a:p>
            <a:pPr lvl="1"/>
            <a:r>
              <a:rPr lang="zh-CN" altLang="en-US" dirty="0"/>
              <a:t>指针数组</a:t>
            </a:r>
          </a:p>
          <a:p>
            <a:pPr lvl="2"/>
            <a:r>
              <a:rPr lang="zh-CN" altLang="en-US" dirty="0"/>
              <a:t>定义：数组中的元素为指针变量</a:t>
            </a:r>
          </a:p>
          <a:p>
            <a:pPr lvl="2"/>
            <a:r>
              <a:rPr lang="zh-CN" altLang="en-US" dirty="0"/>
              <a:t>定义形式：</a:t>
            </a:r>
            <a:r>
              <a:rPr lang="en-US" altLang="zh-CN"/>
              <a:t>[</a:t>
            </a:r>
            <a:r>
              <a:rPr lang="zh-CN" altLang="en-US" dirty="0">
                <a:solidFill>
                  <a:schemeClr val="tx2"/>
                </a:solidFill>
              </a:rPr>
              <a:t>存储类型</a:t>
            </a:r>
            <a:r>
              <a:rPr lang="en-US" altLang="zh-CN"/>
              <a:t>]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en-US" dirty="0">
                <a:solidFill>
                  <a:schemeClr val="tx2"/>
                </a:solidFill>
              </a:rPr>
              <a:t>数据类型 </a:t>
            </a:r>
            <a:r>
              <a:rPr lang="en-US" altLang="zh-CN" dirty="0">
                <a:solidFill>
                  <a:schemeClr val="tx2"/>
                </a:solidFill>
              </a:rPr>
              <a:t>*</a:t>
            </a:r>
            <a:r>
              <a:rPr lang="zh-CN" altLang="en-US" dirty="0">
                <a:solidFill>
                  <a:schemeClr val="tx2"/>
                </a:solidFill>
              </a:rPr>
              <a:t>数组名</a:t>
            </a:r>
            <a:r>
              <a:rPr lang="en-US" altLang="zh-CN" dirty="0">
                <a:solidFill>
                  <a:schemeClr val="tx2"/>
                </a:solidFill>
              </a:rPr>
              <a:t>[</a:t>
            </a:r>
            <a:r>
              <a:rPr lang="zh-CN" altLang="en-US" dirty="0">
                <a:solidFill>
                  <a:schemeClr val="tx2"/>
                </a:solidFill>
              </a:rPr>
              <a:t>数组长度说明</a:t>
            </a:r>
            <a:r>
              <a:rPr lang="en-US" altLang="zh-CN" dirty="0">
                <a:solidFill>
                  <a:schemeClr val="tx2"/>
                </a:solidFill>
              </a:rPr>
              <a:t>]</a:t>
            </a:r>
            <a:r>
              <a:rPr lang="zh-CN" altLang="en-US" dirty="0">
                <a:solidFill>
                  <a:schemeClr val="tx2"/>
                </a:solidFill>
              </a:rPr>
              <a:t>；</a:t>
            </a:r>
          </a:p>
          <a:p>
            <a:pPr lvl="2">
              <a:buNone/>
            </a:pPr>
            <a:r>
              <a:rPr lang="zh-CN" altLang="en-US" dirty="0"/>
              <a:t>例   </a:t>
            </a:r>
            <a:r>
              <a:rPr lang="en-US" altLang="zh-CN" err="1"/>
              <a:t>int</a:t>
            </a:r>
            <a:r>
              <a:rPr lang="en-US" altLang="zh-CN"/>
              <a:t>  *p[4];</a:t>
            </a:r>
          </a:p>
        </p:txBody>
      </p:sp>
      <p:sp>
        <p:nvSpPr>
          <p:cNvPr id="43011" name="矩形标注 43010"/>
          <p:cNvSpPr/>
          <p:nvPr/>
        </p:nvSpPr>
        <p:spPr>
          <a:xfrm>
            <a:off x="3529013" y="3562350"/>
            <a:ext cx="3876675" cy="495300"/>
          </a:xfrm>
          <a:prstGeom prst="wedgeRectCallout">
            <a:avLst>
              <a:gd name="adj1" fmla="val -12778"/>
              <a:gd name="adj2" fmla="val -203204"/>
            </a:avLst>
          </a:prstGeom>
          <a:solidFill>
            <a:srgbClr val="FFFFFF"/>
          </a:solidFill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指针所指向变量的数据类型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012" name="矩形标注 43011"/>
          <p:cNvSpPr/>
          <p:nvPr/>
        </p:nvSpPr>
        <p:spPr>
          <a:xfrm>
            <a:off x="2633663" y="3562350"/>
            <a:ext cx="2962275" cy="495300"/>
          </a:xfrm>
          <a:prstGeom prst="wedgeRectCallout">
            <a:avLst>
              <a:gd name="adj1" fmla="val -16722"/>
              <a:gd name="adj2" fmla="val -207051"/>
            </a:avLst>
          </a:prstGeom>
          <a:solidFill>
            <a:srgbClr val="FFFFFF"/>
          </a:solidFill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指针本身的存储类型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013" name="矩形标注 43012"/>
          <p:cNvSpPr/>
          <p:nvPr/>
        </p:nvSpPr>
        <p:spPr>
          <a:xfrm>
            <a:off x="1608138" y="3676650"/>
            <a:ext cx="3603625" cy="495300"/>
          </a:xfrm>
          <a:prstGeom prst="wedgeRectCallout">
            <a:avLst>
              <a:gd name="adj1" fmla="val -22597"/>
              <a:gd name="adj2" fmla="val -122435"/>
            </a:avLst>
          </a:prstGeom>
          <a:solidFill>
            <a:srgbClr val="FFFFFF"/>
          </a:solidFill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algn="ctr" eaLnBrk="1" hangingPunct="1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区分</a:t>
            </a:r>
            <a:r>
              <a:rPr lang="en-US" altLang="zh-CN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*p[4]</a:t>
            </a:r>
            <a:r>
              <a:rPr lang="zh-CN" altLang="zh-CN">
                <a:latin typeface="隶书" panose="02010509060101010101" pitchFamily="49" charset="-122"/>
                <a:ea typeface="隶书" panose="02010509060101010101" pitchFamily="49" charset="-122"/>
              </a:rPr>
              <a:t>与</a:t>
            </a:r>
            <a:r>
              <a:rPr lang="en-US" altLang="zh-CN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  (*p)[4]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3014" name="矩形 43013"/>
          <p:cNvSpPr/>
          <p:nvPr/>
        </p:nvSpPr>
        <p:spPr>
          <a:xfrm>
            <a:off x="0" y="3333750"/>
            <a:ext cx="8829675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指针数组赋值与初始化</a:t>
            </a:r>
            <a:endParaRPr lang="zh-CN" altLang="en-US" sz="24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43045" name="组合 43044"/>
          <p:cNvGrpSpPr/>
          <p:nvPr/>
        </p:nvGrpSpPr>
        <p:grpSpPr>
          <a:xfrm>
            <a:off x="865188" y="3722688"/>
            <a:ext cx="7488237" cy="2830512"/>
            <a:chOff x="545" y="2345"/>
            <a:chExt cx="4717" cy="1783"/>
          </a:xfrm>
        </p:grpSpPr>
        <p:sp>
          <p:nvSpPr>
            <p:cNvPr id="25607" name="文本框 43014"/>
            <p:cNvSpPr txBox="1"/>
            <p:nvPr/>
          </p:nvSpPr>
          <p:spPr>
            <a:xfrm>
              <a:off x="545" y="2400"/>
              <a:ext cx="1783" cy="1692"/>
            </a:xfrm>
            <a:prstGeom prst="rect">
              <a:avLst/>
            </a:prstGeom>
            <a:solidFill>
              <a:srgbClr val="E1FFF7"/>
            </a:solidFill>
            <a:ln w="381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赋值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main()</a:t>
              </a:r>
            </a:p>
            <a:p>
              <a:pPr lvl="0" indent="0" eaLnBrk="0" hangingPunct="0"/>
              <a:r>
                <a:rPr lang="en-US" altLang="zh-CN" err="1">
                  <a:latin typeface="Times New Roman" panose="02020603050405020304" pitchFamily="18" charset="0"/>
                  <a:ea typeface="宋体" panose="02010600030101010101" pitchFamily="2" charset="-122"/>
                </a:rPr>
                <a:t>{   int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b[2][3],*pb[2];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pb[0]=b[0];</a:t>
              </a:r>
            </a:p>
            <a:p>
              <a:pPr lvl="0" indent="0" eaLnBrk="0" hangingPunct="0"/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pb[1]=b[1];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    ……..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}</a:t>
              </a:r>
            </a:p>
          </p:txBody>
        </p:sp>
        <p:grpSp>
          <p:nvGrpSpPr>
            <p:cNvPr id="25608" name="组合 43042"/>
            <p:cNvGrpSpPr/>
            <p:nvPr/>
          </p:nvGrpSpPr>
          <p:grpSpPr>
            <a:xfrm>
              <a:off x="2310" y="2345"/>
              <a:ext cx="2952" cy="1783"/>
              <a:chOff x="2310" y="2345"/>
              <a:chExt cx="2952" cy="1783"/>
            </a:xfrm>
          </p:grpSpPr>
          <p:grpSp>
            <p:nvGrpSpPr>
              <p:cNvPr id="25609" name="组合 43015"/>
              <p:cNvGrpSpPr/>
              <p:nvPr/>
            </p:nvGrpSpPr>
            <p:grpSpPr>
              <a:xfrm>
                <a:off x="2310" y="2345"/>
                <a:ext cx="1428" cy="694"/>
                <a:chOff x="1283" y="1239"/>
                <a:chExt cx="1428" cy="694"/>
              </a:xfrm>
            </p:grpSpPr>
            <p:sp>
              <p:nvSpPr>
                <p:cNvPr id="25610" name="矩形 43016"/>
                <p:cNvSpPr/>
                <p:nvPr/>
              </p:nvSpPr>
              <p:spPr>
                <a:xfrm>
                  <a:off x="1722" y="1455"/>
                  <a:ext cx="989" cy="47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lvl="0" indent="0" eaLnBrk="0" hangingPunct="0"/>
                  <a:endPara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11" name="直接连接符 43017"/>
                <p:cNvSpPr/>
                <p:nvPr/>
              </p:nvSpPr>
              <p:spPr>
                <a:xfrm>
                  <a:off x="1722" y="1689"/>
                  <a:ext cx="977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12" name="文本框 43018"/>
                <p:cNvSpPr txBox="1"/>
                <p:nvPr/>
              </p:nvSpPr>
              <p:spPr>
                <a:xfrm>
                  <a:off x="1797" y="1239"/>
                  <a:ext cx="79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 err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int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*pb[2]</a:t>
                  </a:r>
                </a:p>
              </p:txBody>
            </p:sp>
            <p:sp>
              <p:nvSpPr>
                <p:cNvPr id="25613" name="文本框 43019"/>
                <p:cNvSpPr txBox="1"/>
                <p:nvPr/>
              </p:nvSpPr>
              <p:spPr>
                <a:xfrm>
                  <a:off x="1283" y="1461"/>
                  <a:ext cx="46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pb[0]</a:t>
                  </a:r>
                </a:p>
              </p:txBody>
            </p:sp>
            <p:sp>
              <p:nvSpPr>
                <p:cNvPr id="25614" name="文本框 43020"/>
                <p:cNvSpPr txBox="1"/>
                <p:nvPr/>
              </p:nvSpPr>
              <p:spPr>
                <a:xfrm>
                  <a:off x="1283" y="1668"/>
                  <a:ext cx="46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pb[1]</a:t>
                  </a:r>
                </a:p>
              </p:txBody>
            </p:sp>
          </p:grpSp>
          <p:grpSp>
            <p:nvGrpSpPr>
              <p:cNvPr id="25615" name="组合 43021"/>
              <p:cNvGrpSpPr/>
              <p:nvPr/>
            </p:nvGrpSpPr>
            <p:grpSpPr>
              <a:xfrm>
                <a:off x="4362" y="2378"/>
                <a:ext cx="900" cy="1750"/>
                <a:chOff x="3390" y="1105"/>
                <a:chExt cx="900" cy="1750"/>
              </a:xfrm>
            </p:grpSpPr>
            <p:grpSp>
              <p:nvGrpSpPr>
                <p:cNvPr id="25616" name="组合 43022"/>
                <p:cNvGrpSpPr/>
                <p:nvPr/>
              </p:nvGrpSpPr>
              <p:grpSpPr>
                <a:xfrm>
                  <a:off x="3390" y="1355"/>
                  <a:ext cx="900" cy="1500"/>
                  <a:chOff x="3512" y="1233"/>
                  <a:chExt cx="900" cy="2000"/>
                </a:xfrm>
              </p:grpSpPr>
              <p:sp>
                <p:nvSpPr>
                  <p:cNvPr id="25617" name="矩形 43023"/>
                  <p:cNvSpPr/>
                  <p:nvPr/>
                </p:nvSpPr>
                <p:spPr>
                  <a:xfrm>
                    <a:off x="3523" y="1233"/>
                    <a:ext cx="889" cy="20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pPr lvl="0" indent="0" eaLnBrk="0" hangingPunct="0"/>
                    <a:endParaRPr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5618" name="直接连接符 43024"/>
                  <p:cNvSpPr/>
                  <p:nvPr/>
                </p:nvSpPr>
                <p:spPr>
                  <a:xfrm>
                    <a:off x="3512" y="1567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19" name="直接连接符 43025"/>
                  <p:cNvSpPr/>
                  <p:nvPr/>
                </p:nvSpPr>
                <p:spPr>
                  <a:xfrm>
                    <a:off x="3512" y="1902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20" name="直接连接符 43026"/>
                  <p:cNvSpPr/>
                  <p:nvPr/>
                </p:nvSpPr>
                <p:spPr>
                  <a:xfrm>
                    <a:off x="3512" y="2237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21" name="直接连接符 43027"/>
                  <p:cNvSpPr/>
                  <p:nvPr/>
                </p:nvSpPr>
                <p:spPr>
                  <a:xfrm flipV="1">
                    <a:off x="3512" y="2561"/>
                    <a:ext cx="889" cy="1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22" name="直接连接符 43028"/>
                  <p:cNvSpPr/>
                  <p:nvPr/>
                </p:nvSpPr>
                <p:spPr>
                  <a:xfrm>
                    <a:off x="3512" y="2907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5623" name="文本框 43029"/>
                <p:cNvSpPr txBox="1"/>
                <p:nvPr/>
              </p:nvSpPr>
              <p:spPr>
                <a:xfrm>
                  <a:off x="3498" y="1105"/>
                  <a:ext cx="77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 err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int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b[2][3]</a:t>
                  </a:r>
                </a:p>
              </p:txBody>
            </p:sp>
          </p:grpSp>
          <p:sp>
            <p:nvSpPr>
              <p:cNvPr id="25624" name="直接连接符 43030"/>
              <p:cNvSpPr/>
              <p:nvPr/>
            </p:nvSpPr>
            <p:spPr>
              <a:xfrm flipV="1">
                <a:off x="3750" y="2716"/>
                <a:ext cx="622" cy="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25625" name="组合 43031"/>
              <p:cNvGrpSpPr/>
              <p:nvPr/>
            </p:nvGrpSpPr>
            <p:grpSpPr>
              <a:xfrm>
                <a:off x="3739" y="2906"/>
                <a:ext cx="634" cy="600"/>
                <a:chOff x="2767" y="1633"/>
                <a:chExt cx="634" cy="600"/>
              </a:xfrm>
            </p:grpSpPr>
            <p:sp>
              <p:nvSpPr>
                <p:cNvPr id="25626" name="直接连接符 43032"/>
                <p:cNvSpPr/>
                <p:nvPr/>
              </p:nvSpPr>
              <p:spPr>
                <a:xfrm>
                  <a:off x="2767" y="1633"/>
                  <a:ext cx="256" cy="0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27" name="直接连接符 43033"/>
                <p:cNvSpPr/>
                <p:nvPr/>
              </p:nvSpPr>
              <p:spPr>
                <a:xfrm>
                  <a:off x="3034" y="1644"/>
                  <a:ext cx="0" cy="589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28" name="直接连接符 43034"/>
                <p:cNvSpPr/>
                <p:nvPr/>
              </p:nvSpPr>
              <p:spPr>
                <a:xfrm>
                  <a:off x="3034" y="2233"/>
                  <a:ext cx="367" cy="0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25629" name="组合 43035"/>
              <p:cNvGrpSpPr/>
              <p:nvPr/>
            </p:nvGrpSpPr>
            <p:grpSpPr>
              <a:xfrm>
                <a:off x="4716" y="2623"/>
                <a:ext cx="196" cy="1496"/>
                <a:chOff x="3744" y="1350"/>
                <a:chExt cx="196" cy="1496"/>
              </a:xfrm>
            </p:grpSpPr>
            <p:sp>
              <p:nvSpPr>
                <p:cNvPr id="25630" name="文本框 43036"/>
                <p:cNvSpPr txBox="1"/>
                <p:nvPr/>
              </p:nvSpPr>
              <p:spPr>
                <a:xfrm>
                  <a:off x="3744" y="1350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25631" name="文本框 43037"/>
                <p:cNvSpPr txBox="1"/>
                <p:nvPr/>
              </p:nvSpPr>
              <p:spPr>
                <a:xfrm>
                  <a:off x="3744" y="1600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25632" name="文本框 43038"/>
                <p:cNvSpPr txBox="1"/>
                <p:nvPr/>
              </p:nvSpPr>
              <p:spPr>
                <a:xfrm>
                  <a:off x="3744" y="1849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25633" name="文本框 43039"/>
                <p:cNvSpPr txBox="1"/>
                <p:nvPr/>
              </p:nvSpPr>
              <p:spPr>
                <a:xfrm>
                  <a:off x="3744" y="2098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25634" name="文本框 43040"/>
                <p:cNvSpPr txBox="1"/>
                <p:nvPr/>
              </p:nvSpPr>
              <p:spPr>
                <a:xfrm>
                  <a:off x="3744" y="2347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25635" name="文本框 43041"/>
                <p:cNvSpPr txBox="1"/>
                <p:nvPr/>
              </p:nvSpPr>
              <p:spPr>
                <a:xfrm>
                  <a:off x="3744" y="2596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</p:grpSp>
      </p:grpSp>
      <p:grpSp>
        <p:nvGrpSpPr>
          <p:cNvPr id="43079" name="组合 43078"/>
          <p:cNvGrpSpPr/>
          <p:nvPr/>
        </p:nvGrpSpPr>
        <p:grpSpPr>
          <a:xfrm>
            <a:off x="296863" y="3852863"/>
            <a:ext cx="8631237" cy="2830512"/>
            <a:chOff x="149" y="2388"/>
            <a:chExt cx="5437" cy="1783"/>
          </a:xfrm>
        </p:grpSpPr>
        <p:sp>
          <p:nvSpPr>
            <p:cNvPr id="25637" name="文本框 43043"/>
            <p:cNvSpPr txBox="1"/>
            <p:nvPr/>
          </p:nvSpPr>
          <p:spPr>
            <a:xfrm>
              <a:off x="149" y="2688"/>
              <a:ext cx="2715" cy="1232"/>
            </a:xfrm>
            <a:prstGeom prst="rect">
              <a:avLst/>
            </a:prstGeom>
            <a:solidFill>
              <a:srgbClr val="E1FFF7"/>
            </a:solidFill>
            <a:ln w="381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初始化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main()</a:t>
              </a:r>
            </a:p>
            <a:p>
              <a:pPr lvl="0" indent="0" eaLnBrk="0" hangingPunct="0"/>
              <a:r>
                <a:rPr lang="en-US" altLang="zh-CN" err="1">
                  <a:latin typeface="Times New Roman" panose="02020603050405020304" pitchFamily="18" charset="0"/>
                  <a:ea typeface="宋体" panose="02010600030101010101" pitchFamily="2" charset="-122"/>
                </a:rPr>
                <a:t>{   int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b[2][3],</a:t>
              </a:r>
              <a:r>
                <a:rPr lang="en-US" altLang="zh-CN" err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*pb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 ]={b[0],b[1]}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;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    ……..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}</a:t>
              </a:r>
            </a:p>
          </p:txBody>
        </p:sp>
        <p:grpSp>
          <p:nvGrpSpPr>
            <p:cNvPr id="25638" name="组合 43077"/>
            <p:cNvGrpSpPr/>
            <p:nvPr/>
          </p:nvGrpSpPr>
          <p:grpSpPr>
            <a:xfrm>
              <a:off x="3018" y="2388"/>
              <a:ext cx="2568" cy="1783"/>
              <a:chOff x="3894" y="180"/>
              <a:chExt cx="2568" cy="1783"/>
            </a:xfrm>
          </p:grpSpPr>
          <p:grpSp>
            <p:nvGrpSpPr>
              <p:cNvPr id="25639" name="组合 43076"/>
              <p:cNvGrpSpPr/>
              <p:nvPr/>
            </p:nvGrpSpPr>
            <p:grpSpPr>
              <a:xfrm>
                <a:off x="4297" y="396"/>
                <a:ext cx="641" cy="478"/>
                <a:chOff x="3949" y="396"/>
                <a:chExt cx="989" cy="478"/>
              </a:xfrm>
            </p:grpSpPr>
            <p:sp>
              <p:nvSpPr>
                <p:cNvPr id="25640" name="矩形 43049"/>
                <p:cNvSpPr/>
                <p:nvPr/>
              </p:nvSpPr>
              <p:spPr>
                <a:xfrm>
                  <a:off x="3949" y="396"/>
                  <a:ext cx="989" cy="47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lvl="0" indent="0" eaLnBrk="0" hangingPunct="0"/>
                  <a:endPara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41" name="直接连接符 43050"/>
                <p:cNvSpPr/>
                <p:nvPr/>
              </p:nvSpPr>
              <p:spPr>
                <a:xfrm>
                  <a:off x="3949" y="630"/>
                  <a:ext cx="977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642" name="文本框 43051"/>
              <p:cNvSpPr txBox="1"/>
              <p:nvPr/>
            </p:nvSpPr>
            <p:spPr>
              <a:xfrm>
                <a:off x="4312" y="180"/>
                <a:ext cx="79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*pb[2]</a:t>
                </a:r>
              </a:p>
            </p:txBody>
          </p:sp>
          <p:sp>
            <p:nvSpPr>
              <p:cNvPr id="25643" name="文本框 43052"/>
              <p:cNvSpPr txBox="1"/>
              <p:nvPr/>
            </p:nvSpPr>
            <p:spPr>
              <a:xfrm>
                <a:off x="3894" y="402"/>
                <a:ext cx="46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pb[0]</a:t>
                </a:r>
              </a:p>
            </p:txBody>
          </p:sp>
          <p:sp>
            <p:nvSpPr>
              <p:cNvPr id="25644" name="文本框 43053"/>
              <p:cNvSpPr txBox="1"/>
              <p:nvPr/>
            </p:nvSpPr>
            <p:spPr>
              <a:xfrm>
                <a:off x="3894" y="609"/>
                <a:ext cx="46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pb[1]</a:t>
                </a:r>
              </a:p>
            </p:txBody>
          </p:sp>
          <p:grpSp>
            <p:nvGrpSpPr>
              <p:cNvPr id="25645" name="组合 43054"/>
              <p:cNvGrpSpPr/>
              <p:nvPr/>
            </p:nvGrpSpPr>
            <p:grpSpPr>
              <a:xfrm>
                <a:off x="5562" y="213"/>
                <a:ext cx="900" cy="1750"/>
                <a:chOff x="3390" y="1105"/>
                <a:chExt cx="900" cy="1750"/>
              </a:xfrm>
            </p:grpSpPr>
            <p:grpSp>
              <p:nvGrpSpPr>
                <p:cNvPr id="25646" name="组合 43055"/>
                <p:cNvGrpSpPr/>
                <p:nvPr/>
              </p:nvGrpSpPr>
              <p:grpSpPr>
                <a:xfrm>
                  <a:off x="3390" y="1355"/>
                  <a:ext cx="900" cy="1500"/>
                  <a:chOff x="3512" y="1233"/>
                  <a:chExt cx="900" cy="2000"/>
                </a:xfrm>
              </p:grpSpPr>
              <p:sp>
                <p:nvSpPr>
                  <p:cNvPr id="25647" name="矩形 43056"/>
                  <p:cNvSpPr/>
                  <p:nvPr/>
                </p:nvSpPr>
                <p:spPr>
                  <a:xfrm>
                    <a:off x="3523" y="1233"/>
                    <a:ext cx="889" cy="20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t"/>
                  <a:lstStyle/>
                  <a:p>
                    <a:pPr lvl="0" indent="0" eaLnBrk="0" hangingPunct="0"/>
                    <a:endParaRPr lang="zh-CN" altLang="en-US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5648" name="直接连接符 43057"/>
                  <p:cNvSpPr/>
                  <p:nvPr/>
                </p:nvSpPr>
                <p:spPr>
                  <a:xfrm>
                    <a:off x="3512" y="1567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49" name="直接连接符 43058"/>
                  <p:cNvSpPr/>
                  <p:nvPr/>
                </p:nvSpPr>
                <p:spPr>
                  <a:xfrm>
                    <a:off x="3512" y="1902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50" name="直接连接符 43059"/>
                  <p:cNvSpPr/>
                  <p:nvPr/>
                </p:nvSpPr>
                <p:spPr>
                  <a:xfrm>
                    <a:off x="3512" y="2237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51" name="直接连接符 43060"/>
                  <p:cNvSpPr/>
                  <p:nvPr/>
                </p:nvSpPr>
                <p:spPr>
                  <a:xfrm flipV="1">
                    <a:off x="3512" y="2561"/>
                    <a:ext cx="889" cy="1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52" name="直接连接符 43061"/>
                  <p:cNvSpPr/>
                  <p:nvPr/>
                </p:nvSpPr>
                <p:spPr>
                  <a:xfrm>
                    <a:off x="3512" y="2907"/>
                    <a:ext cx="87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5653" name="文本框 43062"/>
                <p:cNvSpPr txBox="1"/>
                <p:nvPr/>
              </p:nvSpPr>
              <p:spPr>
                <a:xfrm>
                  <a:off x="3498" y="1105"/>
                  <a:ext cx="77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 err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int</a:t>
                  </a:r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b[2][3]</a:t>
                  </a:r>
                </a:p>
              </p:txBody>
            </p:sp>
          </p:grpSp>
          <p:sp>
            <p:nvSpPr>
              <p:cNvPr id="25654" name="直接连接符 43063"/>
              <p:cNvSpPr/>
              <p:nvPr/>
            </p:nvSpPr>
            <p:spPr>
              <a:xfrm flipV="1">
                <a:off x="4950" y="551"/>
                <a:ext cx="622" cy="1"/>
              </a:xfrm>
              <a:prstGeom prst="line">
                <a:avLst/>
              </a:prstGeom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25655" name="组合 43064"/>
              <p:cNvGrpSpPr/>
              <p:nvPr/>
            </p:nvGrpSpPr>
            <p:grpSpPr>
              <a:xfrm>
                <a:off x="4939" y="741"/>
                <a:ext cx="634" cy="600"/>
                <a:chOff x="2767" y="1633"/>
                <a:chExt cx="634" cy="600"/>
              </a:xfrm>
            </p:grpSpPr>
            <p:sp>
              <p:nvSpPr>
                <p:cNvPr id="25656" name="直接连接符 43065"/>
                <p:cNvSpPr/>
                <p:nvPr/>
              </p:nvSpPr>
              <p:spPr>
                <a:xfrm>
                  <a:off x="2767" y="1633"/>
                  <a:ext cx="256" cy="0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57" name="直接连接符 43066"/>
                <p:cNvSpPr/>
                <p:nvPr/>
              </p:nvSpPr>
              <p:spPr>
                <a:xfrm>
                  <a:off x="3034" y="1644"/>
                  <a:ext cx="0" cy="589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58" name="直接连接符 43067"/>
                <p:cNvSpPr/>
                <p:nvPr/>
              </p:nvSpPr>
              <p:spPr>
                <a:xfrm>
                  <a:off x="3034" y="2233"/>
                  <a:ext cx="367" cy="0"/>
                </a:xfrm>
                <a:prstGeom prst="line">
                  <a:avLst/>
                </a:prstGeom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25659" name="组合 43068"/>
              <p:cNvGrpSpPr/>
              <p:nvPr/>
            </p:nvGrpSpPr>
            <p:grpSpPr>
              <a:xfrm>
                <a:off x="5916" y="458"/>
                <a:ext cx="196" cy="1496"/>
                <a:chOff x="3744" y="1350"/>
                <a:chExt cx="196" cy="1496"/>
              </a:xfrm>
            </p:grpSpPr>
            <p:sp>
              <p:nvSpPr>
                <p:cNvPr id="25660" name="文本框 43069"/>
                <p:cNvSpPr txBox="1"/>
                <p:nvPr/>
              </p:nvSpPr>
              <p:spPr>
                <a:xfrm>
                  <a:off x="3744" y="1350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25661" name="文本框 43070"/>
                <p:cNvSpPr txBox="1"/>
                <p:nvPr/>
              </p:nvSpPr>
              <p:spPr>
                <a:xfrm>
                  <a:off x="3744" y="1600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25662" name="文本框 43071"/>
                <p:cNvSpPr txBox="1"/>
                <p:nvPr/>
              </p:nvSpPr>
              <p:spPr>
                <a:xfrm>
                  <a:off x="3744" y="1849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25663" name="文本框 43072"/>
                <p:cNvSpPr txBox="1"/>
                <p:nvPr/>
              </p:nvSpPr>
              <p:spPr>
                <a:xfrm>
                  <a:off x="3744" y="2098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25664" name="文本框 43073"/>
                <p:cNvSpPr txBox="1"/>
                <p:nvPr/>
              </p:nvSpPr>
              <p:spPr>
                <a:xfrm>
                  <a:off x="3744" y="2347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25665" name="文本框 43074"/>
                <p:cNvSpPr txBox="1"/>
                <p:nvPr/>
              </p:nvSpPr>
              <p:spPr>
                <a:xfrm>
                  <a:off x="3744" y="2596"/>
                  <a:ext cx="19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</p:grp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43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43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uild="p" bldLvl="5"/>
      <p:bldP spid="43011" grpId="0" animBg="1"/>
      <p:bldP spid="43012" grpId="0" animBg="1"/>
      <p:bldP spid="43013" grpId="0" animBg="1"/>
      <p:bldP spid="43014" grpId="0" build="p" bldLvl="5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矩形 158808"/>
          <p:cNvSpPr/>
          <p:nvPr/>
        </p:nvSpPr>
        <p:spPr>
          <a:xfrm>
            <a:off x="0" y="285750"/>
            <a:ext cx="8829675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指针数组赋值与初始化</a:t>
            </a:r>
            <a:endParaRPr lang="zh-CN" altLang="en-US" sz="24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58847" name="组合 158846"/>
          <p:cNvGrpSpPr/>
          <p:nvPr/>
        </p:nvGrpSpPr>
        <p:grpSpPr>
          <a:xfrm>
            <a:off x="514350" y="812800"/>
            <a:ext cx="7902575" cy="5626100"/>
            <a:chOff x="324" y="512"/>
            <a:chExt cx="4978" cy="3544"/>
          </a:xfrm>
        </p:grpSpPr>
        <p:grpSp>
          <p:nvGrpSpPr>
            <p:cNvPr id="26627" name="组合 158806"/>
            <p:cNvGrpSpPr/>
            <p:nvPr/>
          </p:nvGrpSpPr>
          <p:grpSpPr>
            <a:xfrm>
              <a:off x="1121" y="2840"/>
              <a:ext cx="3127" cy="1216"/>
              <a:chOff x="2393" y="416"/>
              <a:chExt cx="3127" cy="1216"/>
            </a:xfrm>
          </p:grpSpPr>
          <p:sp>
            <p:nvSpPr>
              <p:cNvPr id="26628" name="矩形 158753"/>
              <p:cNvSpPr/>
              <p:nvPr/>
            </p:nvSpPr>
            <p:spPr>
              <a:xfrm>
                <a:off x="2740" y="484"/>
                <a:ext cx="633" cy="112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29" name="直接连接符 158754"/>
              <p:cNvSpPr/>
              <p:nvPr/>
            </p:nvSpPr>
            <p:spPr>
              <a:xfrm>
                <a:off x="2740" y="1050"/>
                <a:ext cx="62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0" name="直接连接符 158755"/>
              <p:cNvSpPr/>
              <p:nvPr/>
            </p:nvSpPr>
            <p:spPr>
              <a:xfrm>
                <a:off x="2740" y="773"/>
                <a:ext cx="64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31" name="直接连接符 158756"/>
              <p:cNvSpPr/>
              <p:nvPr/>
            </p:nvSpPr>
            <p:spPr>
              <a:xfrm>
                <a:off x="2740" y="1328"/>
                <a:ext cx="62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6632" name="组合 158757"/>
              <p:cNvGrpSpPr/>
              <p:nvPr/>
            </p:nvGrpSpPr>
            <p:grpSpPr>
              <a:xfrm>
                <a:off x="3856" y="723"/>
                <a:ext cx="1044" cy="273"/>
                <a:chOff x="1400" y="3389"/>
                <a:chExt cx="1044" cy="273"/>
              </a:xfrm>
            </p:grpSpPr>
            <p:sp>
              <p:nvSpPr>
                <p:cNvPr id="26633" name="矩形 158758"/>
                <p:cNvSpPr/>
                <p:nvPr/>
              </p:nvSpPr>
              <p:spPr>
                <a:xfrm>
                  <a:off x="1400" y="3389"/>
                  <a:ext cx="1044" cy="26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L   i    s    p   \0</a:t>
                  </a:r>
                </a:p>
              </p:txBody>
            </p:sp>
            <p:sp>
              <p:nvSpPr>
                <p:cNvPr id="26634" name="直接连接符 158759"/>
                <p:cNvSpPr/>
                <p:nvPr/>
              </p:nvSpPr>
              <p:spPr>
                <a:xfrm>
                  <a:off x="1611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35" name="直接连接符 158760"/>
                <p:cNvSpPr/>
                <p:nvPr/>
              </p:nvSpPr>
              <p:spPr>
                <a:xfrm>
                  <a:off x="1816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36" name="直接连接符 158761"/>
                <p:cNvSpPr/>
                <p:nvPr/>
              </p:nvSpPr>
              <p:spPr>
                <a:xfrm>
                  <a:off x="2022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37" name="直接连接符 158762"/>
                <p:cNvSpPr/>
                <p:nvPr/>
              </p:nvSpPr>
              <p:spPr>
                <a:xfrm>
                  <a:off x="2228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638" name="组合 158805"/>
              <p:cNvGrpSpPr/>
              <p:nvPr/>
            </p:nvGrpSpPr>
            <p:grpSpPr>
              <a:xfrm>
                <a:off x="3859" y="416"/>
                <a:ext cx="1661" cy="273"/>
                <a:chOff x="3871" y="1028"/>
                <a:chExt cx="1661" cy="273"/>
              </a:xfrm>
            </p:grpSpPr>
            <p:sp>
              <p:nvSpPr>
                <p:cNvPr id="26639" name="矩形 158764"/>
                <p:cNvSpPr/>
                <p:nvPr/>
              </p:nvSpPr>
              <p:spPr>
                <a:xfrm>
                  <a:off x="3871" y="1028"/>
                  <a:ext cx="1661" cy="26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   o    r    t    r   a   n    \0</a:t>
                  </a:r>
                </a:p>
              </p:txBody>
            </p:sp>
            <p:sp>
              <p:nvSpPr>
                <p:cNvPr id="26640" name="直接连接符 158765"/>
                <p:cNvSpPr/>
                <p:nvPr/>
              </p:nvSpPr>
              <p:spPr>
                <a:xfrm>
                  <a:off x="4082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41" name="直接连接符 158766"/>
                <p:cNvSpPr/>
                <p:nvPr/>
              </p:nvSpPr>
              <p:spPr>
                <a:xfrm>
                  <a:off x="4287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42" name="直接连接符 158767"/>
                <p:cNvSpPr/>
                <p:nvPr/>
              </p:nvSpPr>
              <p:spPr>
                <a:xfrm>
                  <a:off x="4493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43" name="直接连接符 158768"/>
                <p:cNvSpPr/>
                <p:nvPr/>
              </p:nvSpPr>
              <p:spPr>
                <a:xfrm>
                  <a:off x="4699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44" name="直接连接符 158769"/>
                <p:cNvSpPr/>
                <p:nvPr/>
              </p:nvSpPr>
              <p:spPr>
                <a:xfrm>
                  <a:off x="4905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45" name="直接连接符 158770"/>
                <p:cNvSpPr/>
                <p:nvPr/>
              </p:nvSpPr>
              <p:spPr>
                <a:xfrm>
                  <a:off x="5111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46" name="直接连接符 158771"/>
                <p:cNvSpPr/>
                <p:nvPr/>
              </p:nvSpPr>
              <p:spPr>
                <a:xfrm>
                  <a:off x="5317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647" name="组合 158773"/>
              <p:cNvGrpSpPr/>
              <p:nvPr/>
            </p:nvGrpSpPr>
            <p:grpSpPr>
              <a:xfrm>
                <a:off x="3855" y="1019"/>
                <a:ext cx="1244" cy="273"/>
                <a:chOff x="1400" y="3389"/>
                <a:chExt cx="1244" cy="273"/>
              </a:xfrm>
            </p:grpSpPr>
            <p:sp>
              <p:nvSpPr>
                <p:cNvPr id="26648" name="矩形 158774"/>
                <p:cNvSpPr/>
                <p:nvPr/>
              </p:nvSpPr>
              <p:spPr>
                <a:xfrm>
                  <a:off x="1400" y="3389"/>
                  <a:ext cx="1244" cy="26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   a    s   i    c   \0</a:t>
                  </a:r>
                </a:p>
              </p:txBody>
            </p:sp>
            <p:sp>
              <p:nvSpPr>
                <p:cNvPr id="26649" name="直接连接符 158775"/>
                <p:cNvSpPr/>
                <p:nvPr/>
              </p:nvSpPr>
              <p:spPr>
                <a:xfrm>
                  <a:off x="1611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50" name="直接连接符 158776"/>
                <p:cNvSpPr/>
                <p:nvPr/>
              </p:nvSpPr>
              <p:spPr>
                <a:xfrm>
                  <a:off x="1816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51" name="直接连接符 158777"/>
                <p:cNvSpPr/>
                <p:nvPr/>
              </p:nvSpPr>
              <p:spPr>
                <a:xfrm>
                  <a:off x="2022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52" name="直接连接符 158778"/>
                <p:cNvSpPr/>
                <p:nvPr/>
              </p:nvSpPr>
              <p:spPr>
                <a:xfrm>
                  <a:off x="2228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53" name="直接连接符 158779"/>
                <p:cNvSpPr/>
                <p:nvPr/>
              </p:nvSpPr>
              <p:spPr>
                <a:xfrm>
                  <a:off x="2434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654" name="直接连接符 158786"/>
              <p:cNvSpPr/>
              <p:nvPr/>
            </p:nvSpPr>
            <p:spPr>
              <a:xfrm>
                <a:off x="3400" y="566"/>
                <a:ext cx="4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55" name="直接连接符 158787"/>
              <p:cNvSpPr/>
              <p:nvPr/>
            </p:nvSpPr>
            <p:spPr>
              <a:xfrm>
                <a:off x="3389" y="866"/>
                <a:ext cx="4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56" name="直接连接符 158788"/>
              <p:cNvSpPr/>
              <p:nvPr/>
            </p:nvSpPr>
            <p:spPr>
              <a:xfrm>
                <a:off x="3389" y="1143"/>
                <a:ext cx="4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26657" name="组合 158803"/>
              <p:cNvGrpSpPr/>
              <p:nvPr/>
            </p:nvGrpSpPr>
            <p:grpSpPr>
              <a:xfrm>
                <a:off x="2393" y="495"/>
                <a:ext cx="382" cy="1113"/>
                <a:chOff x="2369" y="483"/>
                <a:chExt cx="382" cy="1113"/>
              </a:xfrm>
            </p:grpSpPr>
            <p:sp>
              <p:nvSpPr>
                <p:cNvPr id="26658" name="文本框 158791"/>
                <p:cNvSpPr txBox="1"/>
                <p:nvPr/>
              </p:nvSpPr>
              <p:spPr>
                <a:xfrm>
                  <a:off x="2369" y="483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p[0]</a:t>
                  </a:r>
                </a:p>
              </p:txBody>
            </p:sp>
            <p:sp>
              <p:nvSpPr>
                <p:cNvPr id="26659" name="文本框 158792"/>
                <p:cNvSpPr txBox="1"/>
                <p:nvPr/>
              </p:nvSpPr>
              <p:spPr>
                <a:xfrm>
                  <a:off x="2369" y="790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p[1]</a:t>
                  </a:r>
                </a:p>
              </p:txBody>
            </p:sp>
            <p:sp>
              <p:nvSpPr>
                <p:cNvPr id="26660" name="文本框 158793"/>
                <p:cNvSpPr txBox="1"/>
                <p:nvPr/>
              </p:nvSpPr>
              <p:spPr>
                <a:xfrm>
                  <a:off x="2369" y="1090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p[2]</a:t>
                  </a:r>
                </a:p>
              </p:txBody>
            </p:sp>
            <p:sp>
              <p:nvSpPr>
                <p:cNvPr id="26661" name="文本框 158794"/>
                <p:cNvSpPr txBox="1"/>
                <p:nvPr/>
              </p:nvSpPr>
              <p:spPr>
                <a:xfrm>
                  <a:off x="2369" y="1346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p[3]</a:t>
                  </a:r>
                </a:p>
              </p:txBody>
            </p:sp>
          </p:grpSp>
          <p:sp>
            <p:nvSpPr>
              <p:cNvPr id="26662" name="文本框 158804"/>
              <p:cNvSpPr txBox="1"/>
              <p:nvPr/>
            </p:nvSpPr>
            <p:spPr>
              <a:xfrm>
                <a:off x="2943" y="1344"/>
                <a:ext cx="21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26663" name="组合 158809"/>
            <p:cNvGrpSpPr/>
            <p:nvPr/>
          </p:nvGrpSpPr>
          <p:grpSpPr>
            <a:xfrm>
              <a:off x="324" y="512"/>
              <a:ext cx="4978" cy="2168"/>
              <a:chOff x="324" y="512"/>
              <a:chExt cx="4978" cy="2168"/>
            </a:xfrm>
          </p:grpSpPr>
          <p:sp>
            <p:nvSpPr>
              <p:cNvPr id="26664" name="文本框 158722"/>
              <p:cNvSpPr txBox="1"/>
              <p:nvPr/>
            </p:nvSpPr>
            <p:spPr>
              <a:xfrm>
                <a:off x="324" y="528"/>
                <a:ext cx="3178" cy="2152"/>
              </a:xfrm>
              <a:prstGeom prst="rect">
                <a:avLst/>
              </a:prstGeom>
              <a:solidFill>
                <a:srgbClr val="E1FFF7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>
                <a:spAutoFit/>
              </a:bodyPr>
              <a:lstStyle/>
              <a:p>
                <a:pPr lvl="0" indent="0" eaLnBrk="0" hangingPunct="0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赋值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main()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{  char a[]="Fortran";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char b[]="Lisp";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char c[]="Basic";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 *p[4];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p[0]=a; p[1]=b; p[2]=c; p[3]=NULL;</a:t>
                </a:r>
                <a:endParaRPr lang="en-US" altLang="zh-CN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……..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}</a:t>
                </a:r>
              </a:p>
            </p:txBody>
          </p:sp>
          <p:sp>
            <p:nvSpPr>
              <p:cNvPr id="26665" name="文本框 158807"/>
              <p:cNvSpPr txBox="1"/>
              <p:nvPr/>
            </p:nvSpPr>
            <p:spPr>
              <a:xfrm>
                <a:off x="3624" y="512"/>
                <a:ext cx="1678" cy="2152"/>
              </a:xfrm>
              <a:prstGeom prst="rect">
                <a:avLst/>
              </a:prstGeom>
              <a:solidFill>
                <a:srgbClr val="E1FFF7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>
                <a:spAutoFit/>
              </a:bodyPr>
              <a:lstStyle/>
              <a:p>
                <a:pPr lvl="0" indent="0" eaLnBrk="0" hangingPunct="0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或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main()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{   char *p[4];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p[0]= "Fortran"; 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p[1]= "Lisp"; 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p[2]= "Basic";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p[3]=NULL;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……..</a:t>
                </a:r>
              </a:p>
              <a:p>
                <a:pPr lvl="0" indent="0" eaLnBrk="0" hangingPunct="0"/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}</a:t>
                </a:r>
              </a:p>
            </p:txBody>
          </p:sp>
        </p:grpSp>
      </p:grpSp>
      <p:grpSp>
        <p:nvGrpSpPr>
          <p:cNvPr id="158848" name="组合 158847"/>
          <p:cNvGrpSpPr/>
          <p:nvPr/>
        </p:nvGrpSpPr>
        <p:grpSpPr>
          <a:xfrm>
            <a:off x="1265238" y="1273175"/>
            <a:ext cx="6151562" cy="5184775"/>
            <a:chOff x="797" y="802"/>
            <a:chExt cx="3875" cy="3266"/>
          </a:xfrm>
        </p:grpSpPr>
        <p:sp>
          <p:nvSpPr>
            <p:cNvPr id="26667" name="文本框 158751"/>
            <p:cNvSpPr txBox="1"/>
            <p:nvPr/>
          </p:nvSpPr>
          <p:spPr>
            <a:xfrm>
              <a:off x="797" y="802"/>
              <a:ext cx="3875" cy="1232"/>
            </a:xfrm>
            <a:prstGeom prst="rect">
              <a:avLst/>
            </a:prstGeom>
            <a:solidFill>
              <a:srgbClr val="E1FFF7"/>
            </a:solidFill>
            <a:ln w="381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初始化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main()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{ 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char *p[]={"Fortran", "Lisp", "Basic",NULL};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    ……..</a:t>
              </a:r>
            </a:p>
            <a:p>
              <a:pPr lvl="0" indent="0" eaLnBrk="0" hangingPunct="0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}</a:t>
              </a:r>
            </a:p>
          </p:txBody>
        </p:sp>
        <p:grpSp>
          <p:nvGrpSpPr>
            <p:cNvPr id="26668" name="组合 158810"/>
            <p:cNvGrpSpPr/>
            <p:nvPr/>
          </p:nvGrpSpPr>
          <p:grpSpPr>
            <a:xfrm>
              <a:off x="1145" y="2852"/>
              <a:ext cx="3127" cy="1216"/>
              <a:chOff x="2393" y="416"/>
              <a:chExt cx="3127" cy="1216"/>
            </a:xfrm>
          </p:grpSpPr>
          <p:sp>
            <p:nvSpPr>
              <p:cNvPr id="26669" name="矩形 158811"/>
              <p:cNvSpPr/>
              <p:nvPr/>
            </p:nvSpPr>
            <p:spPr>
              <a:xfrm>
                <a:off x="2740" y="484"/>
                <a:ext cx="633" cy="112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0" name="直接连接符 158812"/>
              <p:cNvSpPr/>
              <p:nvPr/>
            </p:nvSpPr>
            <p:spPr>
              <a:xfrm>
                <a:off x="2740" y="1050"/>
                <a:ext cx="62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71" name="直接连接符 158813"/>
              <p:cNvSpPr/>
              <p:nvPr/>
            </p:nvSpPr>
            <p:spPr>
              <a:xfrm>
                <a:off x="2740" y="773"/>
                <a:ext cx="64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72" name="直接连接符 158814"/>
              <p:cNvSpPr/>
              <p:nvPr/>
            </p:nvSpPr>
            <p:spPr>
              <a:xfrm>
                <a:off x="2740" y="1328"/>
                <a:ext cx="62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6673" name="组合 158815"/>
              <p:cNvGrpSpPr/>
              <p:nvPr/>
            </p:nvGrpSpPr>
            <p:grpSpPr>
              <a:xfrm>
                <a:off x="3856" y="723"/>
                <a:ext cx="1044" cy="273"/>
                <a:chOff x="1400" y="3389"/>
                <a:chExt cx="1044" cy="273"/>
              </a:xfrm>
            </p:grpSpPr>
            <p:sp>
              <p:nvSpPr>
                <p:cNvPr id="26674" name="矩形 158816"/>
                <p:cNvSpPr/>
                <p:nvPr/>
              </p:nvSpPr>
              <p:spPr>
                <a:xfrm>
                  <a:off x="1400" y="3389"/>
                  <a:ext cx="1044" cy="26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L   i    s    p   \0</a:t>
                  </a:r>
                </a:p>
              </p:txBody>
            </p:sp>
            <p:sp>
              <p:nvSpPr>
                <p:cNvPr id="26675" name="直接连接符 158817"/>
                <p:cNvSpPr/>
                <p:nvPr/>
              </p:nvSpPr>
              <p:spPr>
                <a:xfrm>
                  <a:off x="1611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6" name="直接连接符 158818"/>
                <p:cNvSpPr/>
                <p:nvPr/>
              </p:nvSpPr>
              <p:spPr>
                <a:xfrm>
                  <a:off x="1816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7" name="直接连接符 158819"/>
                <p:cNvSpPr/>
                <p:nvPr/>
              </p:nvSpPr>
              <p:spPr>
                <a:xfrm>
                  <a:off x="2022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8" name="直接连接符 158820"/>
                <p:cNvSpPr/>
                <p:nvPr/>
              </p:nvSpPr>
              <p:spPr>
                <a:xfrm>
                  <a:off x="2228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679" name="组合 158821"/>
              <p:cNvGrpSpPr/>
              <p:nvPr/>
            </p:nvGrpSpPr>
            <p:grpSpPr>
              <a:xfrm>
                <a:off x="3859" y="416"/>
                <a:ext cx="1661" cy="273"/>
                <a:chOff x="3871" y="1028"/>
                <a:chExt cx="1661" cy="273"/>
              </a:xfrm>
            </p:grpSpPr>
            <p:sp>
              <p:nvSpPr>
                <p:cNvPr id="26680" name="矩形 158822"/>
                <p:cNvSpPr/>
                <p:nvPr/>
              </p:nvSpPr>
              <p:spPr>
                <a:xfrm>
                  <a:off x="3871" y="1028"/>
                  <a:ext cx="1661" cy="26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   o    r    t    r   a   n    \0</a:t>
                  </a:r>
                </a:p>
              </p:txBody>
            </p:sp>
            <p:sp>
              <p:nvSpPr>
                <p:cNvPr id="26681" name="直接连接符 158823"/>
                <p:cNvSpPr/>
                <p:nvPr/>
              </p:nvSpPr>
              <p:spPr>
                <a:xfrm>
                  <a:off x="4082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82" name="直接连接符 158824"/>
                <p:cNvSpPr/>
                <p:nvPr/>
              </p:nvSpPr>
              <p:spPr>
                <a:xfrm>
                  <a:off x="4287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83" name="直接连接符 158825"/>
                <p:cNvSpPr/>
                <p:nvPr/>
              </p:nvSpPr>
              <p:spPr>
                <a:xfrm>
                  <a:off x="4493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84" name="直接连接符 158826"/>
                <p:cNvSpPr/>
                <p:nvPr/>
              </p:nvSpPr>
              <p:spPr>
                <a:xfrm>
                  <a:off x="4699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85" name="直接连接符 158827"/>
                <p:cNvSpPr/>
                <p:nvPr/>
              </p:nvSpPr>
              <p:spPr>
                <a:xfrm>
                  <a:off x="4905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86" name="直接连接符 158828"/>
                <p:cNvSpPr/>
                <p:nvPr/>
              </p:nvSpPr>
              <p:spPr>
                <a:xfrm>
                  <a:off x="5111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87" name="直接连接符 158829"/>
                <p:cNvSpPr/>
                <p:nvPr/>
              </p:nvSpPr>
              <p:spPr>
                <a:xfrm>
                  <a:off x="5317" y="1035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688" name="组合 158830"/>
              <p:cNvGrpSpPr/>
              <p:nvPr/>
            </p:nvGrpSpPr>
            <p:grpSpPr>
              <a:xfrm>
                <a:off x="3855" y="1019"/>
                <a:ext cx="1244" cy="273"/>
                <a:chOff x="1400" y="3389"/>
                <a:chExt cx="1244" cy="273"/>
              </a:xfrm>
            </p:grpSpPr>
            <p:sp>
              <p:nvSpPr>
                <p:cNvPr id="26689" name="矩形 158831"/>
                <p:cNvSpPr/>
                <p:nvPr/>
              </p:nvSpPr>
              <p:spPr>
                <a:xfrm>
                  <a:off x="1400" y="3389"/>
                  <a:ext cx="1244" cy="26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   a    s   i    c   \0</a:t>
                  </a:r>
                </a:p>
              </p:txBody>
            </p:sp>
            <p:sp>
              <p:nvSpPr>
                <p:cNvPr id="26690" name="直接连接符 158832"/>
                <p:cNvSpPr/>
                <p:nvPr/>
              </p:nvSpPr>
              <p:spPr>
                <a:xfrm>
                  <a:off x="1611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91" name="直接连接符 158833"/>
                <p:cNvSpPr/>
                <p:nvPr/>
              </p:nvSpPr>
              <p:spPr>
                <a:xfrm>
                  <a:off x="1816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92" name="直接连接符 158834"/>
                <p:cNvSpPr/>
                <p:nvPr/>
              </p:nvSpPr>
              <p:spPr>
                <a:xfrm>
                  <a:off x="2022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93" name="直接连接符 158835"/>
                <p:cNvSpPr/>
                <p:nvPr/>
              </p:nvSpPr>
              <p:spPr>
                <a:xfrm>
                  <a:off x="2228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94" name="直接连接符 158836"/>
                <p:cNvSpPr/>
                <p:nvPr/>
              </p:nvSpPr>
              <p:spPr>
                <a:xfrm>
                  <a:off x="2434" y="3396"/>
                  <a:ext cx="0" cy="26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695" name="直接连接符 158837"/>
              <p:cNvSpPr/>
              <p:nvPr/>
            </p:nvSpPr>
            <p:spPr>
              <a:xfrm>
                <a:off x="3400" y="566"/>
                <a:ext cx="4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96" name="直接连接符 158838"/>
              <p:cNvSpPr/>
              <p:nvPr/>
            </p:nvSpPr>
            <p:spPr>
              <a:xfrm>
                <a:off x="3389" y="866"/>
                <a:ext cx="4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97" name="直接连接符 158839"/>
              <p:cNvSpPr/>
              <p:nvPr/>
            </p:nvSpPr>
            <p:spPr>
              <a:xfrm>
                <a:off x="3389" y="1143"/>
                <a:ext cx="4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26698" name="组合 158840"/>
              <p:cNvGrpSpPr/>
              <p:nvPr/>
            </p:nvGrpSpPr>
            <p:grpSpPr>
              <a:xfrm>
                <a:off x="2393" y="495"/>
                <a:ext cx="382" cy="1113"/>
                <a:chOff x="2369" y="483"/>
                <a:chExt cx="382" cy="1113"/>
              </a:xfrm>
            </p:grpSpPr>
            <p:sp>
              <p:nvSpPr>
                <p:cNvPr id="26699" name="文本框 158841"/>
                <p:cNvSpPr txBox="1"/>
                <p:nvPr/>
              </p:nvSpPr>
              <p:spPr>
                <a:xfrm>
                  <a:off x="2369" y="483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p[0]</a:t>
                  </a:r>
                </a:p>
              </p:txBody>
            </p:sp>
            <p:sp>
              <p:nvSpPr>
                <p:cNvPr id="26700" name="文本框 158842"/>
                <p:cNvSpPr txBox="1"/>
                <p:nvPr/>
              </p:nvSpPr>
              <p:spPr>
                <a:xfrm>
                  <a:off x="2369" y="790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p[1]</a:t>
                  </a:r>
                </a:p>
              </p:txBody>
            </p:sp>
            <p:sp>
              <p:nvSpPr>
                <p:cNvPr id="26701" name="文本框 158843"/>
                <p:cNvSpPr txBox="1"/>
                <p:nvPr/>
              </p:nvSpPr>
              <p:spPr>
                <a:xfrm>
                  <a:off x="2369" y="1090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p[2]</a:t>
                  </a:r>
                </a:p>
              </p:txBody>
            </p:sp>
            <p:sp>
              <p:nvSpPr>
                <p:cNvPr id="26702" name="文本框 158844"/>
                <p:cNvSpPr txBox="1"/>
                <p:nvPr/>
              </p:nvSpPr>
              <p:spPr>
                <a:xfrm>
                  <a:off x="2369" y="1346"/>
                  <a:ext cx="38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lstStyle/>
                <a:p>
                  <a:pPr lvl="0" indent="0" eaLnBrk="1" hangingPunct="1"/>
                  <a:r>
                    <a:rPr lang="en-US" altLang="zh-CN" sz="20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p[3]</a:t>
                  </a:r>
                </a:p>
              </p:txBody>
            </p:sp>
          </p:grpSp>
          <p:sp>
            <p:nvSpPr>
              <p:cNvPr id="26703" name="文本框 158845"/>
              <p:cNvSpPr txBox="1"/>
              <p:nvPr/>
            </p:nvSpPr>
            <p:spPr>
              <a:xfrm>
                <a:off x="2943" y="1344"/>
                <a:ext cx="21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lvl="0" indent="0" algn="ctr" eaLnBrk="1" hangingPunct="1"/>
                <a:r>
                  <a:rPr lang="en-US" altLang="zh-CN">
                    <a:latin typeface="Times New Roman" panose="02020603050405020304" pitchFamily="18" charset="0"/>
                    <a:ea typeface="隶书" panose="02010509060101010101" pitchFamily="49" charset="-122"/>
                  </a:rPr>
                  <a:t>0</a:t>
                </a:r>
              </a:p>
            </p:txBody>
          </p:sp>
        </p:grp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8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88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文本框 58370"/>
          <p:cNvSpPr txBox="1"/>
          <p:nvPr/>
        </p:nvSpPr>
        <p:spPr>
          <a:xfrm>
            <a:off x="258763" y="849313"/>
            <a:ext cx="6570662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 name[5][9]={“gain”,“much”,“stronger”, “point”,“bye”};</a:t>
            </a:r>
          </a:p>
        </p:txBody>
      </p:sp>
      <p:sp>
        <p:nvSpPr>
          <p:cNvPr id="58372" name="文本框 58371"/>
          <p:cNvSpPr txBox="1"/>
          <p:nvPr/>
        </p:nvSpPr>
        <p:spPr>
          <a:xfrm>
            <a:off x="820738" y="4060825"/>
            <a:ext cx="6338887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*name[5]={“gain”,“much”,“stronger”, “point”,“bye”};</a:t>
            </a:r>
          </a:p>
        </p:txBody>
      </p:sp>
      <p:grpSp>
        <p:nvGrpSpPr>
          <p:cNvPr id="58440" name="组合 58439"/>
          <p:cNvGrpSpPr/>
          <p:nvPr/>
        </p:nvGrpSpPr>
        <p:grpSpPr>
          <a:xfrm>
            <a:off x="3871913" y="1509713"/>
            <a:ext cx="4833937" cy="2468562"/>
            <a:chOff x="2516" y="1700"/>
            <a:chExt cx="3045" cy="1555"/>
          </a:xfrm>
        </p:grpSpPr>
        <p:sp>
          <p:nvSpPr>
            <p:cNvPr id="27652" name="矩形 58440"/>
            <p:cNvSpPr/>
            <p:nvPr/>
          </p:nvSpPr>
          <p:spPr>
            <a:xfrm>
              <a:off x="2541" y="1785"/>
              <a:ext cx="633" cy="136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3" name="直接连接符 58441"/>
            <p:cNvSpPr/>
            <p:nvPr/>
          </p:nvSpPr>
          <p:spPr>
            <a:xfrm>
              <a:off x="2541" y="2351"/>
              <a:ext cx="62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54" name="直接连接符 58442"/>
            <p:cNvSpPr/>
            <p:nvPr/>
          </p:nvSpPr>
          <p:spPr>
            <a:xfrm>
              <a:off x="2541" y="2074"/>
              <a:ext cx="6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55" name="直接连接符 58443"/>
            <p:cNvSpPr/>
            <p:nvPr/>
          </p:nvSpPr>
          <p:spPr>
            <a:xfrm>
              <a:off x="2541" y="2629"/>
              <a:ext cx="62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7656" name="组合 58444"/>
            <p:cNvGrpSpPr/>
            <p:nvPr/>
          </p:nvGrpSpPr>
          <p:grpSpPr>
            <a:xfrm>
              <a:off x="3681" y="1700"/>
              <a:ext cx="1044" cy="273"/>
              <a:chOff x="1400" y="3389"/>
              <a:chExt cx="1044" cy="273"/>
            </a:xfrm>
          </p:grpSpPr>
          <p:sp>
            <p:nvSpPr>
              <p:cNvPr id="27657" name="矩形 58445"/>
              <p:cNvSpPr/>
              <p:nvPr/>
            </p:nvSpPr>
            <p:spPr>
              <a:xfrm>
                <a:off x="1400" y="3389"/>
                <a:ext cx="1044" cy="2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g   a    i    n   \0</a:t>
                </a:r>
              </a:p>
            </p:txBody>
          </p:sp>
          <p:sp>
            <p:nvSpPr>
              <p:cNvPr id="27658" name="直接连接符 58446"/>
              <p:cNvSpPr/>
              <p:nvPr/>
            </p:nvSpPr>
            <p:spPr>
              <a:xfrm>
                <a:off x="1611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59" name="直接连接符 58447"/>
              <p:cNvSpPr/>
              <p:nvPr/>
            </p:nvSpPr>
            <p:spPr>
              <a:xfrm>
                <a:off x="1816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0" name="直接连接符 58448"/>
              <p:cNvSpPr/>
              <p:nvPr/>
            </p:nvSpPr>
            <p:spPr>
              <a:xfrm>
                <a:off x="2022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1" name="直接连接符 58449"/>
              <p:cNvSpPr/>
              <p:nvPr/>
            </p:nvSpPr>
            <p:spPr>
              <a:xfrm>
                <a:off x="2228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62" name="组合 58450"/>
            <p:cNvGrpSpPr/>
            <p:nvPr/>
          </p:nvGrpSpPr>
          <p:grpSpPr>
            <a:xfrm>
              <a:off x="3672" y="2329"/>
              <a:ext cx="1889" cy="273"/>
              <a:chOff x="1400" y="3389"/>
              <a:chExt cx="1889" cy="273"/>
            </a:xfrm>
          </p:grpSpPr>
          <p:sp>
            <p:nvSpPr>
              <p:cNvPr id="27663" name="矩形 58451"/>
              <p:cNvSpPr/>
              <p:nvPr/>
            </p:nvSpPr>
            <p:spPr>
              <a:xfrm>
                <a:off x="1400" y="3389"/>
                <a:ext cx="1889" cy="2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s   t    r    o   n   g   e    r   \0</a:t>
                </a:r>
              </a:p>
            </p:txBody>
          </p:sp>
          <p:sp>
            <p:nvSpPr>
              <p:cNvPr id="27664" name="直接连接符 58452"/>
              <p:cNvSpPr/>
              <p:nvPr/>
            </p:nvSpPr>
            <p:spPr>
              <a:xfrm>
                <a:off x="1611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5" name="直接连接符 58453"/>
              <p:cNvSpPr/>
              <p:nvPr/>
            </p:nvSpPr>
            <p:spPr>
              <a:xfrm>
                <a:off x="1816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6" name="直接连接符 58454"/>
              <p:cNvSpPr/>
              <p:nvPr/>
            </p:nvSpPr>
            <p:spPr>
              <a:xfrm>
                <a:off x="2022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7" name="直接连接符 58455"/>
              <p:cNvSpPr/>
              <p:nvPr/>
            </p:nvSpPr>
            <p:spPr>
              <a:xfrm>
                <a:off x="2228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8" name="直接连接符 58456"/>
              <p:cNvSpPr/>
              <p:nvPr/>
            </p:nvSpPr>
            <p:spPr>
              <a:xfrm>
                <a:off x="2434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9" name="直接连接符 58457"/>
              <p:cNvSpPr/>
              <p:nvPr/>
            </p:nvSpPr>
            <p:spPr>
              <a:xfrm>
                <a:off x="2640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0" name="直接连接符 58458"/>
              <p:cNvSpPr/>
              <p:nvPr/>
            </p:nvSpPr>
            <p:spPr>
              <a:xfrm>
                <a:off x="2846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1" name="直接连接符 58459"/>
              <p:cNvSpPr/>
              <p:nvPr/>
            </p:nvSpPr>
            <p:spPr>
              <a:xfrm>
                <a:off x="3052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72" name="组合 58460"/>
            <p:cNvGrpSpPr/>
            <p:nvPr/>
          </p:nvGrpSpPr>
          <p:grpSpPr>
            <a:xfrm>
              <a:off x="3680" y="2656"/>
              <a:ext cx="1244" cy="273"/>
              <a:chOff x="1400" y="3389"/>
              <a:chExt cx="1244" cy="273"/>
            </a:xfrm>
          </p:grpSpPr>
          <p:sp>
            <p:nvSpPr>
              <p:cNvPr id="27673" name="矩形 58461"/>
              <p:cNvSpPr/>
              <p:nvPr/>
            </p:nvSpPr>
            <p:spPr>
              <a:xfrm>
                <a:off x="1400" y="3389"/>
                <a:ext cx="1244" cy="2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   o    i    n   t   \0</a:t>
                </a:r>
              </a:p>
            </p:txBody>
          </p:sp>
          <p:sp>
            <p:nvSpPr>
              <p:cNvPr id="27674" name="直接连接符 58462"/>
              <p:cNvSpPr/>
              <p:nvPr/>
            </p:nvSpPr>
            <p:spPr>
              <a:xfrm>
                <a:off x="1611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5" name="直接连接符 58463"/>
              <p:cNvSpPr/>
              <p:nvPr/>
            </p:nvSpPr>
            <p:spPr>
              <a:xfrm>
                <a:off x="1816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6" name="直接连接符 58464"/>
              <p:cNvSpPr/>
              <p:nvPr/>
            </p:nvSpPr>
            <p:spPr>
              <a:xfrm>
                <a:off x="2022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7" name="直接连接符 58465"/>
              <p:cNvSpPr/>
              <p:nvPr/>
            </p:nvSpPr>
            <p:spPr>
              <a:xfrm>
                <a:off x="2228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78" name="直接连接符 58466"/>
              <p:cNvSpPr/>
              <p:nvPr/>
            </p:nvSpPr>
            <p:spPr>
              <a:xfrm>
                <a:off x="2434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79" name="组合 58467"/>
            <p:cNvGrpSpPr/>
            <p:nvPr/>
          </p:nvGrpSpPr>
          <p:grpSpPr>
            <a:xfrm>
              <a:off x="3664" y="2019"/>
              <a:ext cx="1044" cy="273"/>
              <a:chOff x="1400" y="3389"/>
              <a:chExt cx="1044" cy="273"/>
            </a:xfrm>
          </p:grpSpPr>
          <p:sp>
            <p:nvSpPr>
              <p:cNvPr id="27680" name="矩形 58468"/>
              <p:cNvSpPr/>
              <p:nvPr/>
            </p:nvSpPr>
            <p:spPr>
              <a:xfrm>
                <a:off x="1400" y="3389"/>
                <a:ext cx="1044" cy="2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m   u   c   h   \0</a:t>
                </a:r>
              </a:p>
            </p:txBody>
          </p:sp>
          <p:sp>
            <p:nvSpPr>
              <p:cNvPr id="27681" name="直接连接符 58469"/>
              <p:cNvSpPr/>
              <p:nvPr/>
            </p:nvSpPr>
            <p:spPr>
              <a:xfrm>
                <a:off x="1611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2" name="直接连接符 58470"/>
              <p:cNvSpPr/>
              <p:nvPr/>
            </p:nvSpPr>
            <p:spPr>
              <a:xfrm>
                <a:off x="1816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3" name="直接连接符 58471"/>
              <p:cNvSpPr/>
              <p:nvPr/>
            </p:nvSpPr>
            <p:spPr>
              <a:xfrm>
                <a:off x="2022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4" name="直接连接符 58472"/>
              <p:cNvSpPr/>
              <p:nvPr/>
            </p:nvSpPr>
            <p:spPr>
              <a:xfrm>
                <a:off x="2228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685" name="直接连接符 58473"/>
            <p:cNvSpPr/>
            <p:nvPr/>
          </p:nvSpPr>
          <p:spPr>
            <a:xfrm>
              <a:off x="3201" y="1867"/>
              <a:ext cx="4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6" name="直接连接符 58474"/>
            <p:cNvSpPr/>
            <p:nvPr/>
          </p:nvSpPr>
          <p:spPr>
            <a:xfrm>
              <a:off x="3190" y="2167"/>
              <a:ext cx="4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7" name="直接连接符 58475"/>
            <p:cNvSpPr/>
            <p:nvPr/>
          </p:nvSpPr>
          <p:spPr>
            <a:xfrm>
              <a:off x="3190" y="2444"/>
              <a:ext cx="4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8" name="直接连接符 58476"/>
            <p:cNvSpPr/>
            <p:nvPr/>
          </p:nvSpPr>
          <p:spPr>
            <a:xfrm flipV="1">
              <a:off x="3179" y="2767"/>
              <a:ext cx="50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9" name="直接连接符 58477"/>
            <p:cNvSpPr/>
            <p:nvPr/>
          </p:nvSpPr>
          <p:spPr>
            <a:xfrm>
              <a:off x="2545" y="2900"/>
              <a:ext cx="6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0" name="文本框 58478"/>
            <p:cNvSpPr txBox="1"/>
            <p:nvPr/>
          </p:nvSpPr>
          <p:spPr>
            <a:xfrm>
              <a:off x="2542" y="1784"/>
              <a:ext cx="6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name[0]</a:t>
              </a:r>
            </a:p>
          </p:txBody>
        </p:sp>
        <p:sp>
          <p:nvSpPr>
            <p:cNvPr id="27691" name="文本框 58479"/>
            <p:cNvSpPr txBox="1"/>
            <p:nvPr/>
          </p:nvSpPr>
          <p:spPr>
            <a:xfrm>
              <a:off x="2516" y="2091"/>
              <a:ext cx="6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name[1]</a:t>
              </a:r>
            </a:p>
          </p:txBody>
        </p:sp>
        <p:sp>
          <p:nvSpPr>
            <p:cNvPr id="27692" name="文本框 58480"/>
            <p:cNvSpPr txBox="1"/>
            <p:nvPr/>
          </p:nvSpPr>
          <p:spPr>
            <a:xfrm>
              <a:off x="2538" y="2391"/>
              <a:ext cx="6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name[2]</a:t>
              </a:r>
            </a:p>
          </p:txBody>
        </p:sp>
        <p:sp>
          <p:nvSpPr>
            <p:cNvPr id="27693" name="文本框 58481"/>
            <p:cNvSpPr txBox="1"/>
            <p:nvPr/>
          </p:nvSpPr>
          <p:spPr>
            <a:xfrm>
              <a:off x="2527" y="2647"/>
              <a:ext cx="6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name[3]</a:t>
              </a:r>
            </a:p>
          </p:txBody>
        </p:sp>
        <p:sp>
          <p:nvSpPr>
            <p:cNvPr id="27694" name="文本框 58482"/>
            <p:cNvSpPr txBox="1"/>
            <p:nvPr/>
          </p:nvSpPr>
          <p:spPr>
            <a:xfrm>
              <a:off x="2516" y="2891"/>
              <a:ext cx="6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name[4]</a:t>
              </a:r>
            </a:p>
          </p:txBody>
        </p:sp>
        <p:grpSp>
          <p:nvGrpSpPr>
            <p:cNvPr id="27695" name="组合 58483"/>
            <p:cNvGrpSpPr/>
            <p:nvPr/>
          </p:nvGrpSpPr>
          <p:grpSpPr>
            <a:xfrm>
              <a:off x="3682" y="2982"/>
              <a:ext cx="833" cy="273"/>
              <a:chOff x="3682" y="2982"/>
              <a:chExt cx="833" cy="273"/>
            </a:xfrm>
          </p:grpSpPr>
          <p:sp>
            <p:nvSpPr>
              <p:cNvPr id="27696" name="矩形 58484"/>
              <p:cNvSpPr/>
              <p:nvPr/>
            </p:nvSpPr>
            <p:spPr>
              <a:xfrm>
                <a:off x="3682" y="2982"/>
                <a:ext cx="833" cy="2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   y   e   \0</a:t>
                </a:r>
              </a:p>
            </p:txBody>
          </p:sp>
          <p:sp>
            <p:nvSpPr>
              <p:cNvPr id="27697" name="直接连接符 58485"/>
              <p:cNvSpPr/>
              <p:nvPr/>
            </p:nvSpPr>
            <p:spPr>
              <a:xfrm>
                <a:off x="3893" y="2989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98" name="直接连接符 58486"/>
              <p:cNvSpPr/>
              <p:nvPr/>
            </p:nvSpPr>
            <p:spPr>
              <a:xfrm>
                <a:off x="4098" y="2989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99" name="直接连接符 58487"/>
              <p:cNvSpPr/>
              <p:nvPr/>
            </p:nvSpPr>
            <p:spPr>
              <a:xfrm>
                <a:off x="4304" y="2989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700" name="直接连接符 58488"/>
            <p:cNvSpPr/>
            <p:nvPr/>
          </p:nvSpPr>
          <p:spPr>
            <a:xfrm>
              <a:off x="3178" y="3078"/>
              <a:ext cx="5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8498" name="组合 58497"/>
          <p:cNvGrpSpPr/>
          <p:nvPr/>
        </p:nvGrpSpPr>
        <p:grpSpPr>
          <a:xfrm>
            <a:off x="334963" y="1546225"/>
            <a:ext cx="3011487" cy="2141538"/>
            <a:chOff x="508" y="1600"/>
            <a:chExt cx="1897" cy="1349"/>
          </a:xfrm>
        </p:grpSpPr>
        <p:sp>
          <p:nvSpPr>
            <p:cNvPr id="27702" name="矩形 58383"/>
            <p:cNvSpPr/>
            <p:nvPr/>
          </p:nvSpPr>
          <p:spPr>
            <a:xfrm>
              <a:off x="514" y="1611"/>
              <a:ext cx="1888" cy="26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g   a    i    n   \0</a:t>
              </a:r>
            </a:p>
          </p:txBody>
        </p:sp>
        <p:grpSp>
          <p:nvGrpSpPr>
            <p:cNvPr id="27703" name="组合 58388"/>
            <p:cNvGrpSpPr/>
            <p:nvPr/>
          </p:nvGrpSpPr>
          <p:grpSpPr>
            <a:xfrm>
              <a:off x="516" y="2140"/>
              <a:ext cx="1889" cy="273"/>
              <a:chOff x="1400" y="3389"/>
              <a:chExt cx="1889" cy="273"/>
            </a:xfrm>
          </p:grpSpPr>
          <p:sp>
            <p:nvSpPr>
              <p:cNvPr id="27704" name="矩形 58389"/>
              <p:cNvSpPr/>
              <p:nvPr/>
            </p:nvSpPr>
            <p:spPr>
              <a:xfrm>
                <a:off x="1400" y="3389"/>
                <a:ext cx="1889" cy="26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eaLnBrk="1" hangingPunct="1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s   t    r    o   n   g   e    r   \0</a:t>
                </a:r>
              </a:p>
            </p:txBody>
          </p:sp>
          <p:sp>
            <p:nvSpPr>
              <p:cNvPr id="27705" name="直接连接符 58390"/>
              <p:cNvSpPr/>
              <p:nvPr/>
            </p:nvSpPr>
            <p:spPr>
              <a:xfrm>
                <a:off x="1611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06" name="直接连接符 58391"/>
              <p:cNvSpPr/>
              <p:nvPr/>
            </p:nvSpPr>
            <p:spPr>
              <a:xfrm>
                <a:off x="1816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07" name="直接连接符 58392"/>
              <p:cNvSpPr/>
              <p:nvPr/>
            </p:nvSpPr>
            <p:spPr>
              <a:xfrm>
                <a:off x="2022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08" name="直接连接符 58393"/>
              <p:cNvSpPr/>
              <p:nvPr/>
            </p:nvSpPr>
            <p:spPr>
              <a:xfrm>
                <a:off x="2228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09" name="直接连接符 58394"/>
              <p:cNvSpPr/>
              <p:nvPr/>
            </p:nvSpPr>
            <p:spPr>
              <a:xfrm>
                <a:off x="2434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10" name="直接连接符 58395"/>
              <p:cNvSpPr/>
              <p:nvPr/>
            </p:nvSpPr>
            <p:spPr>
              <a:xfrm>
                <a:off x="2640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11" name="直接连接符 58396"/>
              <p:cNvSpPr/>
              <p:nvPr/>
            </p:nvSpPr>
            <p:spPr>
              <a:xfrm>
                <a:off x="2846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12" name="直接连接符 58397"/>
              <p:cNvSpPr/>
              <p:nvPr/>
            </p:nvSpPr>
            <p:spPr>
              <a:xfrm>
                <a:off x="3052" y="3396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713" name="矩形 58399"/>
            <p:cNvSpPr/>
            <p:nvPr/>
          </p:nvSpPr>
          <p:spPr>
            <a:xfrm>
              <a:off x="513" y="2412"/>
              <a:ext cx="1888" cy="26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   o    i    n   t   \0</a:t>
              </a:r>
            </a:p>
          </p:txBody>
        </p:sp>
        <p:sp>
          <p:nvSpPr>
            <p:cNvPr id="27714" name="矩形 58406"/>
            <p:cNvSpPr/>
            <p:nvPr/>
          </p:nvSpPr>
          <p:spPr>
            <a:xfrm>
              <a:off x="508" y="1875"/>
              <a:ext cx="1889" cy="26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m   u   c   h   \0</a:t>
              </a:r>
            </a:p>
          </p:txBody>
        </p:sp>
        <p:sp>
          <p:nvSpPr>
            <p:cNvPr id="27715" name="直接连接符 58407"/>
            <p:cNvSpPr/>
            <p:nvPr/>
          </p:nvSpPr>
          <p:spPr>
            <a:xfrm>
              <a:off x="719" y="1882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6" name="直接连接符 58408"/>
            <p:cNvSpPr/>
            <p:nvPr/>
          </p:nvSpPr>
          <p:spPr>
            <a:xfrm>
              <a:off x="935" y="1882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7" name="直接连接符 58409"/>
            <p:cNvSpPr/>
            <p:nvPr/>
          </p:nvSpPr>
          <p:spPr>
            <a:xfrm>
              <a:off x="1130" y="1882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8" name="直接连接符 58410"/>
            <p:cNvSpPr/>
            <p:nvPr/>
          </p:nvSpPr>
          <p:spPr>
            <a:xfrm>
              <a:off x="1348" y="1882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9" name="矩形 58431"/>
            <p:cNvSpPr/>
            <p:nvPr/>
          </p:nvSpPr>
          <p:spPr>
            <a:xfrm>
              <a:off x="515" y="2683"/>
              <a:ext cx="1888" cy="26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   y   e   \0</a:t>
              </a:r>
            </a:p>
          </p:txBody>
        </p:sp>
        <p:sp>
          <p:nvSpPr>
            <p:cNvPr id="27720" name="直接连接符 58489"/>
            <p:cNvSpPr/>
            <p:nvPr/>
          </p:nvSpPr>
          <p:spPr>
            <a:xfrm>
              <a:off x="2167" y="1633"/>
              <a:ext cx="0" cy="1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1" name="直接连接符 58490"/>
            <p:cNvSpPr/>
            <p:nvPr/>
          </p:nvSpPr>
          <p:spPr>
            <a:xfrm>
              <a:off x="1967" y="1600"/>
              <a:ext cx="0" cy="13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2" name="直接连接符 58491"/>
            <p:cNvSpPr/>
            <p:nvPr/>
          </p:nvSpPr>
          <p:spPr>
            <a:xfrm>
              <a:off x="1756" y="1611"/>
              <a:ext cx="0" cy="1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3" name="直接连接符 58492"/>
            <p:cNvSpPr/>
            <p:nvPr/>
          </p:nvSpPr>
          <p:spPr>
            <a:xfrm>
              <a:off x="1545" y="1600"/>
              <a:ext cx="0" cy="13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4" name="直接连接符 58493"/>
            <p:cNvSpPr/>
            <p:nvPr/>
          </p:nvSpPr>
          <p:spPr>
            <a:xfrm>
              <a:off x="1345" y="1611"/>
              <a:ext cx="0" cy="1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5" name="直接连接符 58494"/>
            <p:cNvSpPr/>
            <p:nvPr/>
          </p:nvSpPr>
          <p:spPr>
            <a:xfrm>
              <a:off x="1133" y="1622"/>
              <a:ext cx="0" cy="13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6" name="直接连接符 58495"/>
            <p:cNvSpPr/>
            <p:nvPr/>
          </p:nvSpPr>
          <p:spPr>
            <a:xfrm>
              <a:off x="933" y="1611"/>
              <a:ext cx="0" cy="13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7" name="直接连接符 58496"/>
            <p:cNvSpPr/>
            <p:nvPr/>
          </p:nvSpPr>
          <p:spPr>
            <a:xfrm>
              <a:off x="722" y="1611"/>
              <a:ext cx="0" cy="1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8500" name="矩形 58499"/>
          <p:cNvSpPr/>
          <p:nvPr/>
        </p:nvSpPr>
        <p:spPr>
          <a:xfrm>
            <a:off x="0" y="266700"/>
            <a:ext cx="8829675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1143000" lvl="2" indent="-228600" algn="l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zh-CN" altLang="en-US" sz="24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二维数组与指针数组区别</a:t>
            </a:r>
            <a:r>
              <a:rPr lang="zh-CN" altLang="en-US" sz="2000" b="1" i="1" u="none" baseline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：</a:t>
            </a:r>
            <a:endParaRPr lang="zh-CN" altLang="en-US" sz="2000" b="1" i="1" u="none" baseline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8501" name="矩形标注 58500"/>
          <p:cNvSpPr/>
          <p:nvPr/>
        </p:nvSpPr>
        <p:spPr>
          <a:xfrm>
            <a:off x="912813" y="5140325"/>
            <a:ext cx="5743575" cy="1225550"/>
          </a:xfrm>
          <a:prstGeom prst="wedgeRectCallout">
            <a:avLst>
              <a:gd name="adj1" fmla="val -25843"/>
              <a:gd name="adj2" fmla="val -91708"/>
            </a:avLst>
          </a:prstGeom>
          <a:solidFill>
            <a:srgbClr val="FFFFFF"/>
          </a:solidFill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二维数组存储空间固定</a:t>
            </a:r>
          </a:p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字符指针数组相当于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可变列长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的二维数组</a:t>
            </a:r>
          </a:p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分配内存单元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数组维数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*2+</a:t>
            </a:r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各字符串长度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8502" name="矩形标注 58501"/>
          <p:cNvSpPr/>
          <p:nvPr/>
        </p:nvSpPr>
        <p:spPr>
          <a:xfrm>
            <a:off x="2436813" y="5102225"/>
            <a:ext cx="6010275" cy="1225550"/>
          </a:xfrm>
          <a:prstGeom prst="wedgeRectCallout">
            <a:avLst>
              <a:gd name="adj1" fmla="val -25833"/>
              <a:gd name="adj2" fmla="val -93264"/>
            </a:avLst>
          </a:prstGeom>
          <a:solidFill>
            <a:srgbClr val="FFFFFF"/>
          </a:solidFill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指针数组元素的作用相当于二维数组的行名</a:t>
            </a:r>
          </a:p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但指针数组中元素是指针变量</a:t>
            </a:r>
          </a:p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二维数组的行名是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地址常量</a:t>
            </a:r>
            <a:endParaRPr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8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8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84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8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8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  <p:bldP spid="58372" grpId="0" build="p"/>
      <p:bldP spid="58500" grpId="0" build="p"/>
      <p:bldP spid="58501" grpId="0" animBg="1"/>
      <p:bldP spid="5850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47" name="文本框 76846"/>
          <p:cNvSpPr txBox="1"/>
          <p:nvPr/>
        </p:nvSpPr>
        <p:spPr>
          <a:xfrm>
            <a:off x="0" y="1382713"/>
            <a:ext cx="5889625" cy="451167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66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{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b[2][3],*pb[2];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i,j;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for(i=0;i&lt;2;i++)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 for(j=0;j&lt;3;j++)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  b[i][j]=(i+1)*(j+1);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pb[0]=b[0];</a:t>
            </a:r>
          </a:p>
          <a:p>
            <a:pPr lvl="0" indent="0" eaLnBrk="0" hangingPunct="0"/>
            <a:r>
              <a: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pb[1]=b[1];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for(i=0;i&lt;2;i++)</a:t>
            </a:r>
          </a:p>
          <a:p>
            <a:pPr lvl="0" indent="0" eaLnBrk="0" hangingPunct="0"/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        for(j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=0;j&lt;3;j++,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pb[i]++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  printf("b[%d][%d]:%2d\n",i,j</a:t>
            </a:r>
            <a:r>
              <a:rPr lang="en-US" altLang="zh-CN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,*pb[i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]);</a:t>
            </a:r>
          </a:p>
          <a:p>
            <a:pPr lvl="0" indent="0"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76802" name="文本框 76801"/>
          <p:cNvSpPr txBox="1"/>
          <p:nvPr/>
        </p:nvSpPr>
        <p:spPr>
          <a:xfrm>
            <a:off x="790575" y="523875"/>
            <a:ext cx="399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用指针数组处理二维数组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6803" name="对象 76802">
            <a:hlinkClick r:id="" action="ppaction://ole?verb=0"/>
          </p:cNvPr>
          <p:cNvGraphicFramePr/>
          <p:nvPr/>
        </p:nvGraphicFramePr>
        <p:xfrm>
          <a:off x="5222875" y="449263"/>
          <a:ext cx="8413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r:id="rId4" imgW="638175" imgH="466725" progId="Package">
                  <p:embed/>
                </p:oleObj>
              </mc:Choice>
              <mc:Fallback>
                <p:oleObj r:id="rId4" imgW="638175" imgH="466725" progId="Packag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22875" y="449263"/>
                        <a:ext cx="841375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8676" name="动作按钮: 文档 76803">
            <a:hlinkClick r:id="rId6" action="ppaction://program"/>
          </p:cNvPr>
          <p:cNvSpPr/>
          <p:nvPr/>
        </p:nvSpPr>
        <p:spPr>
          <a:xfrm>
            <a:off x="685800" y="594360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6810" name="组合 76809"/>
          <p:cNvGrpSpPr/>
          <p:nvPr/>
        </p:nvGrpSpPr>
        <p:grpSpPr>
          <a:xfrm>
            <a:off x="3128432" y="1949450"/>
            <a:ext cx="2081743" cy="1101725"/>
            <a:chOff x="1137" y="1239"/>
            <a:chExt cx="1660" cy="694"/>
          </a:xfrm>
        </p:grpSpPr>
        <p:sp>
          <p:nvSpPr>
            <p:cNvPr id="28678" name="矩形 76804"/>
            <p:cNvSpPr/>
            <p:nvPr/>
          </p:nvSpPr>
          <p:spPr>
            <a:xfrm>
              <a:off x="1722" y="1455"/>
              <a:ext cx="989" cy="47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 eaLnBrk="0" hangingPunct="0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直接连接符 76805"/>
            <p:cNvSpPr/>
            <p:nvPr/>
          </p:nvSpPr>
          <p:spPr>
            <a:xfrm>
              <a:off x="1722" y="1689"/>
              <a:ext cx="97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0" name="文本框 76806"/>
            <p:cNvSpPr txBox="1"/>
            <p:nvPr/>
          </p:nvSpPr>
          <p:spPr>
            <a:xfrm>
              <a:off x="1797" y="1239"/>
              <a:ext cx="10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*pb[2]</a:t>
              </a:r>
            </a:p>
          </p:txBody>
        </p:sp>
        <p:sp>
          <p:nvSpPr>
            <p:cNvPr id="28681" name="文本框 76807"/>
            <p:cNvSpPr txBox="1"/>
            <p:nvPr/>
          </p:nvSpPr>
          <p:spPr>
            <a:xfrm>
              <a:off x="1137" y="1439"/>
              <a:ext cx="5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pb[0]</a:t>
              </a:r>
            </a:p>
          </p:txBody>
        </p:sp>
        <p:sp>
          <p:nvSpPr>
            <p:cNvPr id="28682" name="文本框 76808"/>
            <p:cNvSpPr txBox="1"/>
            <p:nvPr/>
          </p:nvSpPr>
          <p:spPr>
            <a:xfrm>
              <a:off x="1137" y="1648"/>
              <a:ext cx="5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pb[1]</a:t>
              </a:r>
            </a:p>
          </p:txBody>
        </p:sp>
      </p:grpSp>
      <p:grpSp>
        <p:nvGrpSpPr>
          <p:cNvPr id="76838" name="组合 76837"/>
          <p:cNvGrpSpPr/>
          <p:nvPr/>
        </p:nvGrpSpPr>
        <p:grpSpPr>
          <a:xfrm>
            <a:off x="6092825" y="2001838"/>
            <a:ext cx="1346200" cy="2778125"/>
            <a:chOff x="3390" y="1105"/>
            <a:chExt cx="1272" cy="1750"/>
          </a:xfrm>
        </p:grpSpPr>
        <p:grpSp>
          <p:nvGrpSpPr>
            <p:cNvPr id="28684" name="组合 76816"/>
            <p:cNvGrpSpPr/>
            <p:nvPr/>
          </p:nvGrpSpPr>
          <p:grpSpPr>
            <a:xfrm>
              <a:off x="3390" y="1355"/>
              <a:ext cx="900" cy="1500"/>
              <a:chOff x="3512" y="1233"/>
              <a:chExt cx="900" cy="2000"/>
            </a:xfrm>
          </p:grpSpPr>
          <p:sp>
            <p:nvSpPr>
              <p:cNvPr id="28685" name="矩形 76810"/>
              <p:cNvSpPr/>
              <p:nvPr/>
            </p:nvSpPr>
            <p:spPr>
              <a:xfrm>
                <a:off x="3523" y="1233"/>
                <a:ext cx="889" cy="200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 indent="0"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6" name="直接连接符 76811"/>
              <p:cNvSpPr/>
              <p:nvPr/>
            </p:nvSpPr>
            <p:spPr>
              <a:xfrm>
                <a:off x="3512" y="1567"/>
                <a:ext cx="8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7" name="直接连接符 76812"/>
              <p:cNvSpPr/>
              <p:nvPr/>
            </p:nvSpPr>
            <p:spPr>
              <a:xfrm>
                <a:off x="3512" y="1902"/>
                <a:ext cx="8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8" name="直接连接符 76813"/>
              <p:cNvSpPr/>
              <p:nvPr/>
            </p:nvSpPr>
            <p:spPr>
              <a:xfrm>
                <a:off x="3512" y="2237"/>
                <a:ext cx="8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9" name="直接连接符 76814"/>
              <p:cNvSpPr/>
              <p:nvPr/>
            </p:nvSpPr>
            <p:spPr>
              <a:xfrm flipV="1">
                <a:off x="3512" y="2561"/>
                <a:ext cx="889" cy="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90" name="直接连接符 76815"/>
              <p:cNvSpPr/>
              <p:nvPr/>
            </p:nvSpPr>
            <p:spPr>
              <a:xfrm>
                <a:off x="3512" y="2907"/>
                <a:ext cx="8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691" name="文本框 76817"/>
            <p:cNvSpPr txBox="1"/>
            <p:nvPr/>
          </p:nvSpPr>
          <p:spPr>
            <a:xfrm>
              <a:off x="3498" y="1105"/>
              <a:ext cx="116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b[2][3]</a:t>
              </a:r>
            </a:p>
          </p:txBody>
        </p:sp>
      </p:grpSp>
      <p:grpSp>
        <p:nvGrpSpPr>
          <p:cNvPr id="76839" name="组合 76838"/>
          <p:cNvGrpSpPr/>
          <p:nvPr/>
        </p:nvGrpSpPr>
        <p:grpSpPr>
          <a:xfrm>
            <a:off x="7000875" y="2336800"/>
            <a:ext cx="2143125" cy="2374900"/>
            <a:chOff x="4298" y="1328"/>
            <a:chExt cx="1350" cy="1496"/>
          </a:xfrm>
        </p:grpSpPr>
        <p:sp>
          <p:nvSpPr>
            <p:cNvPr id="28693" name="文本框 76818"/>
            <p:cNvSpPr txBox="1"/>
            <p:nvPr/>
          </p:nvSpPr>
          <p:spPr>
            <a:xfrm>
              <a:off x="4298" y="1328"/>
              <a:ext cx="10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b[0][0]  *pb[0]</a:t>
              </a:r>
            </a:p>
          </p:txBody>
        </p:sp>
        <p:sp>
          <p:nvSpPr>
            <p:cNvPr id="28694" name="文本框 76819"/>
            <p:cNvSpPr txBox="1"/>
            <p:nvPr/>
          </p:nvSpPr>
          <p:spPr>
            <a:xfrm>
              <a:off x="4298" y="1578"/>
              <a:ext cx="135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b[0][1]  *(pb[0]+1)</a:t>
              </a:r>
            </a:p>
          </p:txBody>
        </p:sp>
        <p:sp>
          <p:nvSpPr>
            <p:cNvPr id="28695" name="文本框 76820"/>
            <p:cNvSpPr txBox="1"/>
            <p:nvPr/>
          </p:nvSpPr>
          <p:spPr>
            <a:xfrm>
              <a:off x="4298" y="1827"/>
              <a:ext cx="135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b[0][2]  *(pb[0]+2)</a:t>
              </a:r>
            </a:p>
          </p:txBody>
        </p:sp>
        <p:sp>
          <p:nvSpPr>
            <p:cNvPr id="28696" name="文本框 76821"/>
            <p:cNvSpPr txBox="1"/>
            <p:nvPr/>
          </p:nvSpPr>
          <p:spPr>
            <a:xfrm>
              <a:off x="4298" y="2076"/>
              <a:ext cx="10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b[1][0]  *pb[1]</a:t>
              </a:r>
            </a:p>
          </p:txBody>
        </p:sp>
        <p:sp>
          <p:nvSpPr>
            <p:cNvPr id="28697" name="文本框 76822"/>
            <p:cNvSpPr txBox="1"/>
            <p:nvPr/>
          </p:nvSpPr>
          <p:spPr>
            <a:xfrm>
              <a:off x="4298" y="2325"/>
              <a:ext cx="135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b[1][1]  *(pb[1]+1)</a:t>
              </a:r>
            </a:p>
          </p:txBody>
        </p:sp>
        <p:sp>
          <p:nvSpPr>
            <p:cNvPr id="28698" name="文本框 76823"/>
            <p:cNvSpPr txBox="1"/>
            <p:nvPr/>
          </p:nvSpPr>
          <p:spPr>
            <a:xfrm>
              <a:off x="4298" y="2574"/>
              <a:ext cx="135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b[1][2]  *(pb[1]+2)</a:t>
              </a:r>
            </a:p>
          </p:txBody>
        </p:sp>
      </p:grpSp>
      <p:sp>
        <p:nvSpPr>
          <p:cNvPr id="76826" name="直接连接符 76825"/>
          <p:cNvSpPr/>
          <p:nvPr/>
        </p:nvSpPr>
        <p:spPr>
          <a:xfrm flipV="1">
            <a:off x="5121275" y="2538413"/>
            <a:ext cx="987425" cy="1587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76840" name="组合 76839"/>
          <p:cNvGrpSpPr/>
          <p:nvPr/>
        </p:nvGrpSpPr>
        <p:grpSpPr>
          <a:xfrm>
            <a:off x="5103813" y="2840038"/>
            <a:ext cx="1006475" cy="952500"/>
            <a:chOff x="2767" y="1633"/>
            <a:chExt cx="634" cy="600"/>
          </a:xfrm>
        </p:grpSpPr>
        <p:sp>
          <p:nvSpPr>
            <p:cNvPr id="28701" name="直接连接符 76826"/>
            <p:cNvSpPr/>
            <p:nvPr/>
          </p:nvSpPr>
          <p:spPr>
            <a:xfrm>
              <a:off x="2767" y="1633"/>
              <a:ext cx="256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2" name="直接连接符 76827"/>
            <p:cNvSpPr/>
            <p:nvPr/>
          </p:nvSpPr>
          <p:spPr>
            <a:xfrm>
              <a:off x="3034" y="1644"/>
              <a:ext cx="0" cy="589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3" name="直接连接符 76828"/>
            <p:cNvSpPr/>
            <p:nvPr/>
          </p:nvSpPr>
          <p:spPr>
            <a:xfrm>
              <a:off x="3034" y="2233"/>
              <a:ext cx="367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6837" name="组合 76836"/>
          <p:cNvGrpSpPr/>
          <p:nvPr/>
        </p:nvGrpSpPr>
        <p:grpSpPr>
          <a:xfrm>
            <a:off x="6419215" y="2406650"/>
            <a:ext cx="311150" cy="2374900"/>
            <a:chOff x="3744" y="1350"/>
            <a:chExt cx="196" cy="1496"/>
          </a:xfrm>
        </p:grpSpPr>
        <p:sp>
          <p:nvSpPr>
            <p:cNvPr id="28705" name="文本框 76830"/>
            <p:cNvSpPr txBox="1"/>
            <p:nvPr/>
          </p:nvSpPr>
          <p:spPr>
            <a:xfrm>
              <a:off x="3744" y="135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8706" name="文本框 76831"/>
            <p:cNvSpPr txBox="1"/>
            <p:nvPr/>
          </p:nvSpPr>
          <p:spPr>
            <a:xfrm>
              <a:off x="3744" y="160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8707" name="文本框 76832"/>
            <p:cNvSpPr txBox="1"/>
            <p:nvPr/>
          </p:nvSpPr>
          <p:spPr>
            <a:xfrm>
              <a:off x="3744" y="1849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8708" name="文本框 76833"/>
            <p:cNvSpPr txBox="1"/>
            <p:nvPr/>
          </p:nvSpPr>
          <p:spPr>
            <a:xfrm>
              <a:off x="3744" y="2098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8709" name="文本框 76834"/>
            <p:cNvSpPr txBox="1"/>
            <p:nvPr/>
          </p:nvSpPr>
          <p:spPr>
            <a:xfrm>
              <a:off x="3744" y="2347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8710" name="文本框 76835"/>
            <p:cNvSpPr txBox="1"/>
            <p:nvPr/>
          </p:nvSpPr>
          <p:spPr>
            <a:xfrm>
              <a:off x="3744" y="2596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</p:grpSp>
      <p:sp>
        <p:nvSpPr>
          <p:cNvPr id="76843" name="直接连接符 76842"/>
          <p:cNvSpPr/>
          <p:nvPr/>
        </p:nvSpPr>
        <p:spPr>
          <a:xfrm>
            <a:off x="5103813" y="2576513"/>
            <a:ext cx="1004887" cy="29845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844" name="直接连接符 76843"/>
          <p:cNvSpPr/>
          <p:nvPr/>
        </p:nvSpPr>
        <p:spPr>
          <a:xfrm>
            <a:off x="5103813" y="2593975"/>
            <a:ext cx="1004887" cy="739775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845" name="直接连接符 76844"/>
          <p:cNvSpPr/>
          <p:nvPr/>
        </p:nvSpPr>
        <p:spPr>
          <a:xfrm>
            <a:off x="5086350" y="2981325"/>
            <a:ext cx="1022350" cy="1217613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846" name="直接连接符 76845"/>
          <p:cNvSpPr/>
          <p:nvPr/>
        </p:nvSpPr>
        <p:spPr>
          <a:xfrm>
            <a:off x="4945063" y="2981325"/>
            <a:ext cx="1163637" cy="165735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6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6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6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6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6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76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76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76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76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76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47" grpId="0" animBg="1"/>
      <p:bldP spid="7680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3" name="组合 50212"/>
          <p:cNvGrpSpPr/>
          <p:nvPr/>
        </p:nvGrpSpPr>
        <p:grpSpPr>
          <a:xfrm>
            <a:off x="0" y="533400"/>
            <a:ext cx="8675688" cy="5424488"/>
            <a:chOff x="133" y="660"/>
            <a:chExt cx="5465" cy="3417"/>
          </a:xfrm>
        </p:grpSpPr>
        <p:grpSp>
          <p:nvGrpSpPr>
            <p:cNvPr id="33794" name="组合 50178"/>
            <p:cNvGrpSpPr/>
            <p:nvPr/>
          </p:nvGrpSpPr>
          <p:grpSpPr>
            <a:xfrm>
              <a:off x="133" y="988"/>
              <a:ext cx="5465" cy="3089"/>
              <a:chOff x="133" y="988"/>
              <a:chExt cx="5465" cy="3089"/>
            </a:xfrm>
          </p:grpSpPr>
          <p:sp>
            <p:nvSpPr>
              <p:cNvPr id="33795" name="矩形 50179"/>
              <p:cNvSpPr/>
              <p:nvPr/>
            </p:nvSpPr>
            <p:spPr>
              <a:xfrm>
                <a:off x="133" y="988"/>
                <a:ext cx="5457" cy="3089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indent="0" algn="ctr" eaLnBrk="0" hangingPunct="0"/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96" name="直接连接符 50180"/>
              <p:cNvSpPr/>
              <p:nvPr/>
            </p:nvSpPr>
            <p:spPr>
              <a:xfrm flipV="1">
                <a:off x="133" y="1266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797" name="直接连接符 50181"/>
              <p:cNvSpPr/>
              <p:nvPr/>
            </p:nvSpPr>
            <p:spPr>
              <a:xfrm flipV="1">
                <a:off x="151" y="1540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798" name="直接连接符 50182"/>
              <p:cNvSpPr/>
              <p:nvPr/>
            </p:nvSpPr>
            <p:spPr>
              <a:xfrm flipV="1">
                <a:off x="152" y="1840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799" name="直接连接符 50183"/>
              <p:cNvSpPr/>
              <p:nvPr/>
            </p:nvSpPr>
            <p:spPr>
              <a:xfrm flipV="1">
                <a:off x="140" y="2151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0" name="直接连接符 50184"/>
              <p:cNvSpPr/>
              <p:nvPr/>
            </p:nvSpPr>
            <p:spPr>
              <a:xfrm flipV="1">
                <a:off x="140" y="2473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1" name="直接连接符 50185"/>
              <p:cNvSpPr/>
              <p:nvPr/>
            </p:nvSpPr>
            <p:spPr>
              <a:xfrm flipV="1">
                <a:off x="151" y="2773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2" name="直接连接符 50186"/>
              <p:cNvSpPr/>
              <p:nvPr/>
            </p:nvSpPr>
            <p:spPr>
              <a:xfrm flipV="1">
                <a:off x="140" y="3106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3" name="直接连接符 50187"/>
              <p:cNvSpPr/>
              <p:nvPr/>
            </p:nvSpPr>
            <p:spPr>
              <a:xfrm flipV="1">
                <a:off x="151" y="3429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4" name="直接连接符 50188"/>
              <p:cNvSpPr/>
              <p:nvPr/>
            </p:nvSpPr>
            <p:spPr>
              <a:xfrm flipV="1">
                <a:off x="151" y="3762"/>
                <a:ext cx="5446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5" name="直接连接符 50189"/>
              <p:cNvSpPr/>
              <p:nvPr/>
            </p:nvSpPr>
            <p:spPr>
              <a:xfrm>
                <a:off x="1178" y="989"/>
                <a:ext cx="0" cy="3088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6" name="文本框 50190"/>
              <p:cNvSpPr txBox="1"/>
              <p:nvPr/>
            </p:nvSpPr>
            <p:spPr>
              <a:xfrm>
                <a:off x="383" y="1009"/>
                <a:ext cx="4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定义</a:t>
                </a:r>
                <a:endPara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7" name="文本框 50191"/>
              <p:cNvSpPr txBox="1"/>
              <p:nvPr/>
            </p:nvSpPr>
            <p:spPr>
              <a:xfrm>
                <a:off x="2905" y="997"/>
                <a:ext cx="4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含义</a:t>
                </a:r>
                <a:endPara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8" name="文本框 50192"/>
              <p:cNvSpPr txBox="1"/>
              <p:nvPr/>
            </p:nvSpPr>
            <p:spPr>
              <a:xfrm>
                <a:off x="356" y="1286"/>
                <a:ext cx="45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i;</a:t>
                </a:r>
              </a:p>
            </p:txBody>
          </p:sp>
          <p:sp>
            <p:nvSpPr>
              <p:cNvPr id="33809" name="文本框 50193"/>
              <p:cNvSpPr txBox="1"/>
              <p:nvPr/>
            </p:nvSpPr>
            <p:spPr>
              <a:xfrm>
                <a:off x="356" y="1593"/>
                <a:ext cx="56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*p;</a:t>
                </a:r>
              </a:p>
            </p:txBody>
          </p:sp>
          <p:sp>
            <p:nvSpPr>
              <p:cNvPr id="33810" name="文本框 50194"/>
              <p:cNvSpPr txBox="1"/>
              <p:nvPr/>
            </p:nvSpPr>
            <p:spPr>
              <a:xfrm>
                <a:off x="356" y="1882"/>
                <a:ext cx="66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a[n];</a:t>
                </a:r>
              </a:p>
            </p:txBody>
          </p:sp>
          <p:sp>
            <p:nvSpPr>
              <p:cNvPr id="33811" name="文本框 50195"/>
              <p:cNvSpPr txBox="1"/>
              <p:nvPr/>
            </p:nvSpPr>
            <p:spPr>
              <a:xfrm>
                <a:off x="356" y="2204"/>
                <a:ext cx="75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*p[n];</a:t>
                </a:r>
              </a:p>
            </p:txBody>
          </p:sp>
          <p:sp>
            <p:nvSpPr>
              <p:cNvPr id="33812" name="文本框 50196"/>
              <p:cNvSpPr txBox="1"/>
              <p:nvPr/>
            </p:nvSpPr>
            <p:spPr>
              <a:xfrm>
                <a:off x="356" y="2500"/>
                <a:ext cx="86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(*p)[n];</a:t>
                </a:r>
              </a:p>
            </p:txBody>
          </p:sp>
          <p:sp>
            <p:nvSpPr>
              <p:cNvPr id="33813" name="文本框 50197"/>
              <p:cNvSpPr txBox="1"/>
              <p:nvPr/>
            </p:nvSpPr>
            <p:spPr>
              <a:xfrm>
                <a:off x="356" y="2796"/>
                <a:ext cx="52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f();</a:t>
                </a:r>
              </a:p>
            </p:txBody>
          </p:sp>
          <p:sp>
            <p:nvSpPr>
              <p:cNvPr id="33814" name="文本框 50198"/>
              <p:cNvSpPr txBox="1"/>
              <p:nvPr/>
            </p:nvSpPr>
            <p:spPr>
              <a:xfrm>
                <a:off x="356" y="3126"/>
                <a:ext cx="63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*p();</a:t>
                </a:r>
              </a:p>
            </p:txBody>
          </p:sp>
          <p:sp>
            <p:nvSpPr>
              <p:cNvPr id="33815" name="文本框 50199"/>
              <p:cNvSpPr txBox="1"/>
              <p:nvPr/>
            </p:nvSpPr>
            <p:spPr>
              <a:xfrm>
                <a:off x="356" y="3477"/>
                <a:ext cx="7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(*p)();</a:t>
                </a:r>
              </a:p>
            </p:txBody>
          </p:sp>
          <p:sp>
            <p:nvSpPr>
              <p:cNvPr id="33816" name="文本框 50200"/>
              <p:cNvSpPr txBox="1"/>
              <p:nvPr/>
            </p:nvSpPr>
            <p:spPr>
              <a:xfrm>
                <a:off x="367" y="3811"/>
                <a:ext cx="60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int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**p;</a:t>
                </a:r>
              </a:p>
            </p:txBody>
          </p:sp>
          <p:sp>
            <p:nvSpPr>
              <p:cNvPr id="33817" name="文本框 50201"/>
              <p:cNvSpPr txBox="1"/>
              <p:nvPr/>
            </p:nvSpPr>
            <p:spPr>
              <a:xfrm>
                <a:off x="1620" y="1297"/>
                <a:ext cx="112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定义整型变量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</a:p>
            </p:txBody>
          </p:sp>
          <p:sp>
            <p:nvSpPr>
              <p:cNvPr id="33818" name="文本框 50202"/>
              <p:cNvSpPr txBox="1"/>
              <p:nvPr/>
            </p:nvSpPr>
            <p:spPr>
              <a:xfrm>
                <a:off x="1624" y="1564"/>
                <a:ext cx="21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p为指向整型数据的指针变量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19" name="文本框 50203"/>
              <p:cNvSpPr txBox="1"/>
              <p:nvPr/>
            </p:nvSpPr>
            <p:spPr>
              <a:xfrm>
                <a:off x="1585" y="1886"/>
                <a:ext cx="202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定义含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n个元素的整型数组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3820" name="文本框 50204"/>
              <p:cNvSpPr txBox="1"/>
              <p:nvPr/>
            </p:nvSpPr>
            <p:spPr>
              <a:xfrm>
                <a:off x="1620" y="2198"/>
                <a:ext cx="33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n个指向整型数据的指针变量组成的指针数组</a:t>
                </a: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  <p:sp>
            <p:nvSpPr>
              <p:cNvPr id="33821" name="文本框 50205"/>
              <p:cNvSpPr txBox="1"/>
              <p:nvPr/>
            </p:nvSpPr>
            <p:spPr>
              <a:xfrm>
                <a:off x="1620" y="2508"/>
                <a:ext cx="33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p为指向含n个元素的一维整型数组的指针变量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22" name="文本框 50206"/>
              <p:cNvSpPr txBox="1"/>
              <p:nvPr/>
            </p:nvSpPr>
            <p:spPr>
              <a:xfrm>
                <a:off x="1620" y="2842"/>
                <a:ext cx="160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f为返回整型数的函数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23" name="文本框 50207"/>
              <p:cNvSpPr txBox="1"/>
              <p:nvPr/>
            </p:nvSpPr>
            <p:spPr>
              <a:xfrm>
                <a:off x="1620" y="3153"/>
                <a:ext cx="33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p为返回指针的函数，该指针指向一个整型数据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24" name="文本框 50208"/>
              <p:cNvSpPr txBox="1"/>
              <p:nvPr/>
            </p:nvSpPr>
            <p:spPr>
              <a:xfrm>
                <a:off x="1620" y="3530"/>
                <a:ext cx="32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p为指向函数的指针变量，该函数返回整型数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25" name="文本框 50209"/>
              <p:cNvSpPr txBox="1"/>
              <p:nvPr/>
            </p:nvSpPr>
            <p:spPr>
              <a:xfrm>
                <a:off x="1664" y="3786"/>
                <a:ext cx="37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lvl="0" indent="0" algn="ctr" eaLnBrk="0" hangingPunct="0"/>
                <a:r>
                  <a:rPr lang="zh-CN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p为指针变量，它指向一个指向整型数据的指针变量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3826" name="文本框 50211"/>
            <p:cNvSpPr txBox="1"/>
            <p:nvPr/>
          </p:nvSpPr>
          <p:spPr>
            <a:xfrm>
              <a:off x="2151" y="660"/>
              <a:ext cx="1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lvl="0" indent="0" algn="ctr" eaLnBrk="1" hangingPunct="1"/>
              <a:r>
                <a:rPr lang="zh-CN" altLang="en-US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指针的数据类型</a:t>
              </a:r>
              <a:endParaRPr lang="zh-CN" altLang="en-US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文本框 96257"/>
          <p:cNvSpPr txBox="1"/>
          <p:nvPr/>
        </p:nvSpPr>
        <p:spPr>
          <a:xfrm>
            <a:off x="0" y="735013"/>
            <a:ext cx="3043238" cy="30130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 下列定义的含义</a:t>
            </a:r>
          </a:p>
          <a:p>
            <a:pPr lvl="0" indent="0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*p[3];</a:t>
            </a:r>
          </a:p>
          <a:p>
            <a:pPr lvl="0" indent="0" eaLnBrk="1" hangingPunct="1"/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(*p)[3];</a:t>
            </a:r>
          </a:p>
          <a:p>
            <a:pPr lvl="0" indent="0" eaLnBrk="1" hangingPunct="1"/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  *p(int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1" hangingPunct="1"/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  (*p)(int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1" hangingPunct="1"/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  *(*p)(int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</a:p>
          <a:p>
            <a:pPr lvl="0" indent="0" eaLnBrk="1" hangingPunct="1"/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(*p[3])(int);</a:t>
            </a:r>
          </a:p>
          <a:p>
            <a:pPr lvl="0" indent="0" eaLnBrk="1" hangingPunct="1"/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err="1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*(*p[3])(int);</a:t>
            </a:r>
          </a:p>
        </p:txBody>
      </p:sp>
      <p:grpSp>
        <p:nvGrpSpPr>
          <p:cNvPr id="96280" name="组合 96279"/>
          <p:cNvGrpSpPr/>
          <p:nvPr/>
        </p:nvGrpSpPr>
        <p:grpSpPr>
          <a:xfrm>
            <a:off x="2946400" y="3378200"/>
            <a:ext cx="5816600" cy="457200"/>
            <a:chOff x="2500" y="2128"/>
            <a:chExt cx="3664" cy="288"/>
          </a:xfrm>
        </p:grpSpPr>
        <p:sp>
          <p:nvSpPr>
            <p:cNvPr id="34819" name="文本框 96258"/>
            <p:cNvSpPr txBox="1"/>
            <p:nvPr/>
          </p:nvSpPr>
          <p:spPr>
            <a:xfrm>
              <a:off x="3158" y="2128"/>
              <a:ext cx="30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zh-CN" altLang="zh-CN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函数指针数组，函数返回</a:t>
              </a:r>
              <a:r>
                <a:rPr lang="en-US" altLang="zh-CN" err="1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zh-CN" altLang="zh-CN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型指针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0" name="直接连接符 96265"/>
            <p:cNvSpPr/>
            <p:nvPr/>
          </p:nvSpPr>
          <p:spPr>
            <a:xfrm flipH="1">
              <a:off x="2500" y="2250"/>
              <a:ext cx="5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96274" name="组合 96273"/>
          <p:cNvGrpSpPr/>
          <p:nvPr/>
        </p:nvGrpSpPr>
        <p:grpSpPr>
          <a:xfrm>
            <a:off x="2946400" y="1068388"/>
            <a:ext cx="2447925" cy="457200"/>
            <a:chOff x="2500" y="673"/>
            <a:chExt cx="1542" cy="288"/>
          </a:xfrm>
        </p:grpSpPr>
        <p:sp>
          <p:nvSpPr>
            <p:cNvPr id="34822" name="直接连接符 96259"/>
            <p:cNvSpPr/>
            <p:nvPr/>
          </p:nvSpPr>
          <p:spPr>
            <a:xfrm flipH="1">
              <a:off x="2500" y="823"/>
              <a:ext cx="5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23" name="文本框 96267"/>
            <p:cNvSpPr txBox="1"/>
            <p:nvPr/>
          </p:nvSpPr>
          <p:spPr>
            <a:xfrm>
              <a:off x="3158" y="673"/>
              <a:ext cx="88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1" hangingPunct="1"/>
              <a:r>
                <a:rPr lang="zh-CN" altLang="en-US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指针数组</a:t>
              </a:r>
              <a:endParaRPr lang="zh-CN" altLang="en-US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6275" name="组合 96274"/>
          <p:cNvGrpSpPr/>
          <p:nvPr/>
        </p:nvGrpSpPr>
        <p:grpSpPr>
          <a:xfrm>
            <a:off x="2946400" y="1454150"/>
            <a:ext cx="3971925" cy="457200"/>
            <a:chOff x="2500" y="916"/>
            <a:chExt cx="2502" cy="288"/>
          </a:xfrm>
        </p:grpSpPr>
        <p:sp>
          <p:nvSpPr>
            <p:cNvPr id="34825" name="直接连接符 96260"/>
            <p:cNvSpPr/>
            <p:nvPr/>
          </p:nvSpPr>
          <p:spPr>
            <a:xfrm flipH="1">
              <a:off x="2500" y="1060"/>
              <a:ext cx="5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26" name="文本框 96268"/>
            <p:cNvSpPr txBox="1"/>
            <p:nvPr/>
          </p:nvSpPr>
          <p:spPr>
            <a:xfrm>
              <a:off x="3158" y="916"/>
              <a:ext cx="18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en-US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指向一维数组的指针</a:t>
              </a:r>
              <a:endParaRPr lang="zh-CN" altLang="en-US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6276" name="组合 96275"/>
          <p:cNvGrpSpPr/>
          <p:nvPr/>
        </p:nvGrpSpPr>
        <p:grpSpPr>
          <a:xfrm>
            <a:off x="2946400" y="1838325"/>
            <a:ext cx="3362325" cy="457200"/>
            <a:chOff x="2500" y="1158"/>
            <a:chExt cx="2118" cy="288"/>
          </a:xfrm>
        </p:grpSpPr>
        <p:sp>
          <p:nvSpPr>
            <p:cNvPr id="34828" name="直接连接符 96261"/>
            <p:cNvSpPr/>
            <p:nvPr/>
          </p:nvSpPr>
          <p:spPr>
            <a:xfrm flipH="1">
              <a:off x="2500" y="1298"/>
              <a:ext cx="5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29" name="文本框 96269"/>
            <p:cNvSpPr txBox="1"/>
            <p:nvPr/>
          </p:nvSpPr>
          <p:spPr>
            <a:xfrm>
              <a:off x="3158" y="1158"/>
              <a:ext cx="146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en-US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返回指针的函数</a:t>
              </a:r>
              <a:endParaRPr lang="zh-CN" altLang="en-US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6277" name="组合 96276"/>
          <p:cNvGrpSpPr/>
          <p:nvPr/>
        </p:nvGrpSpPr>
        <p:grpSpPr>
          <a:xfrm>
            <a:off x="2946400" y="2224088"/>
            <a:ext cx="6121400" cy="457200"/>
            <a:chOff x="2500" y="1401"/>
            <a:chExt cx="3856" cy="288"/>
          </a:xfrm>
        </p:grpSpPr>
        <p:sp>
          <p:nvSpPr>
            <p:cNvPr id="34831" name="直接连接符 96262"/>
            <p:cNvSpPr/>
            <p:nvPr/>
          </p:nvSpPr>
          <p:spPr>
            <a:xfrm flipH="1">
              <a:off x="2500" y="1536"/>
              <a:ext cx="5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32" name="文本框 96270"/>
            <p:cNvSpPr txBox="1"/>
            <p:nvPr/>
          </p:nvSpPr>
          <p:spPr>
            <a:xfrm>
              <a:off x="3158" y="1401"/>
              <a:ext cx="319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en-US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指向函数的指针，函数返回</a:t>
              </a:r>
              <a:r>
                <a:rPr lang="en-US" altLang="zh-CN" err="1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zh-CN" altLang="zh-CN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型变量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6278" name="组合 96277"/>
          <p:cNvGrpSpPr/>
          <p:nvPr/>
        </p:nvGrpSpPr>
        <p:grpSpPr>
          <a:xfrm>
            <a:off x="2946400" y="2608263"/>
            <a:ext cx="6197600" cy="457200"/>
            <a:chOff x="2500" y="1643"/>
            <a:chExt cx="3904" cy="288"/>
          </a:xfrm>
        </p:grpSpPr>
        <p:sp>
          <p:nvSpPr>
            <p:cNvPr id="34834" name="直接连接符 96263"/>
            <p:cNvSpPr/>
            <p:nvPr/>
          </p:nvSpPr>
          <p:spPr>
            <a:xfrm flipH="1">
              <a:off x="2500" y="1774"/>
              <a:ext cx="5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35" name="文本框 96271"/>
            <p:cNvSpPr txBox="1"/>
            <p:nvPr/>
          </p:nvSpPr>
          <p:spPr>
            <a:xfrm>
              <a:off x="3158" y="1643"/>
              <a:ext cx="324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en-US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指向函数的指针，函数返回</a:t>
              </a:r>
              <a:r>
                <a:rPr lang="en-US" altLang="zh-CN" err="1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zh-CN" altLang="zh-CN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型指针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6279" name="组合 96278"/>
          <p:cNvGrpSpPr/>
          <p:nvPr/>
        </p:nvGrpSpPr>
        <p:grpSpPr>
          <a:xfrm>
            <a:off x="2946400" y="2994025"/>
            <a:ext cx="5816600" cy="457200"/>
            <a:chOff x="2500" y="1886"/>
            <a:chExt cx="3664" cy="288"/>
          </a:xfrm>
        </p:grpSpPr>
        <p:sp>
          <p:nvSpPr>
            <p:cNvPr id="34837" name="直接连接符 96264"/>
            <p:cNvSpPr/>
            <p:nvPr/>
          </p:nvSpPr>
          <p:spPr>
            <a:xfrm flipH="1">
              <a:off x="2500" y="2012"/>
              <a:ext cx="5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38" name="文本框 96272"/>
            <p:cNvSpPr txBox="1"/>
            <p:nvPr/>
          </p:nvSpPr>
          <p:spPr>
            <a:xfrm>
              <a:off x="3158" y="1886"/>
              <a:ext cx="300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lstStyle/>
            <a:p>
              <a:pPr lvl="0" indent="0" eaLnBrk="0" hangingPunct="0"/>
              <a:r>
                <a:rPr lang="zh-CN" altLang="zh-CN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函数指针数组，函数返回</a:t>
              </a:r>
              <a:r>
                <a:rPr lang="en-US" altLang="zh-CN" err="1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int</a:t>
              </a:r>
              <a:r>
                <a:rPr lang="zh-CN" altLang="zh-CN" dirty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型变量</a:t>
              </a:r>
              <a:endPara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6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6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6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6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6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6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ban">
  <a:themeElements>
    <a:clrScheme name="">
      <a:dk1>
        <a:srgbClr val="000000"/>
      </a:dk1>
      <a:lt1>
        <a:srgbClr val="FFFFFF"/>
      </a:lt1>
      <a:dk2>
        <a:srgbClr val="6666FF"/>
      </a:dk2>
      <a:lt2>
        <a:srgbClr val="808080"/>
      </a:lt2>
      <a:accent1>
        <a:srgbClr val="00CC99"/>
      </a:accent1>
      <a:accent2>
        <a:srgbClr val="FF33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E52D00"/>
      </a:accent6>
      <a:hlink>
        <a:srgbClr val="3399FF"/>
      </a:hlink>
      <a:folHlink>
        <a:srgbClr val="B2B2B2"/>
      </a:folHlink>
    </a:clrScheme>
    <a:fontScheme name="">
      <a:majorFont>
        <a:latin typeface="Times New Roman"/>
        <a:ea typeface="隶书"/>
        <a:cs typeface=""/>
      </a:majorFont>
      <a:minorFont>
        <a:latin typeface="Times New Roman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666FF"/>
        </a:dk2>
        <a:lt2>
          <a:srgbClr val="808080"/>
        </a:lt2>
        <a:accent1>
          <a:srgbClr val="00CC99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E52D00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D:\FengYi\pbdoc\moban.pot</Template>
  <TotalTime>134</TotalTime>
  <Words>3557</Words>
  <Application>Microsoft Office PowerPoint</Application>
  <PresentationFormat>全屏显示(4:3)</PresentationFormat>
  <Paragraphs>693</Paragraphs>
  <Slides>27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 宋体</vt:lpstr>
      <vt:lpstr>Microsoft Yahei</vt:lpstr>
      <vt:lpstr>隶书</vt:lpstr>
      <vt:lpstr>宋体</vt:lpstr>
      <vt:lpstr>Calibri</vt:lpstr>
      <vt:lpstr>Symbol</vt:lpstr>
      <vt:lpstr>Times New Roman</vt:lpstr>
      <vt:lpstr>Wingdings</vt:lpstr>
      <vt:lpstr>moban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 指针</dc:title>
  <dc:creator>hyg</dc:creator>
  <cp:lastModifiedBy>WWR</cp:lastModifiedBy>
  <cp:revision>1284</cp:revision>
  <dcterms:created xsi:type="dcterms:W3CDTF">1999-12-15T04:41:00Z</dcterms:created>
  <dcterms:modified xsi:type="dcterms:W3CDTF">2022-04-10T10:39:59Z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