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1"/>
  </p:notesMasterIdLst>
  <p:sldIdLst>
    <p:sldId id="256" r:id="rId2"/>
    <p:sldId id="260" r:id="rId3"/>
    <p:sldId id="295" r:id="rId4"/>
    <p:sldId id="319" r:id="rId5"/>
    <p:sldId id="261" r:id="rId6"/>
    <p:sldId id="327" r:id="rId7"/>
    <p:sldId id="262" r:id="rId8"/>
    <p:sldId id="328" r:id="rId9"/>
    <p:sldId id="263" r:id="rId10"/>
    <p:sldId id="297" r:id="rId11"/>
    <p:sldId id="296" r:id="rId12"/>
    <p:sldId id="329" r:id="rId13"/>
    <p:sldId id="264" r:id="rId14"/>
    <p:sldId id="298" r:id="rId15"/>
    <p:sldId id="299" r:id="rId16"/>
    <p:sldId id="330" r:id="rId17"/>
    <p:sldId id="331" r:id="rId18"/>
    <p:sldId id="266" r:id="rId19"/>
    <p:sldId id="332" r:id="rId20"/>
    <p:sldId id="325" r:id="rId21"/>
    <p:sldId id="333" r:id="rId22"/>
    <p:sldId id="267" r:id="rId23"/>
    <p:sldId id="265" r:id="rId24"/>
    <p:sldId id="302" r:id="rId25"/>
    <p:sldId id="268" r:id="rId26"/>
    <p:sldId id="322" r:id="rId27"/>
    <p:sldId id="310" r:id="rId28"/>
    <p:sldId id="341" r:id="rId29"/>
    <p:sldId id="270" r:id="rId30"/>
    <p:sldId id="334" r:id="rId31"/>
    <p:sldId id="335" r:id="rId32"/>
    <p:sldId id="318" r:id="rId33"/>
    <p:sldId id="338" r:id="rId34"/>
    <p:sldId id="336" r:id="rId35"/>
    <p:sldId id="311" r:id="rId36"/>
    <p:sldId id="272" r:id="rId37"/>
    <p:sldId id="306" r:id="rId38"/>
    <p:sldId id="337" r:id="rId39"/>
    <p:sldId id="308" r:id="rId40"/>
    <p:sldId id="323" r:id="rId41"/>
    <p:sldId id="274" r:id="rId42"/>
    <p:sldId id="275" r:id="rId43"/>
    <p:sldId id="276" r:id="rId44"/>
    <p:sldId id="324" r:id="rId45"/>
    <p:sldId id="278" r:id="rId46"/>
    <p:sldId id="339" r:id="rId47"/>
    <p:sldId id="342" r:id="rId48"/>
    <p:sldId id="316" r:id="rId49"/>
    <p:sldId id="340" r:id="rId50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299" autoAdjust="0"/>
  </p:normalViewPr>
  <p:slideViewPr>
    <p:cSldViewPr snapToGrid="0">
      <p:cViewPr varScale="1">
        <p:scale>
          <a:sx n="81" d="100"/>
          <a:sy n="81" d="100"/>
        </p:scale>
        <p:origin x="652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CD1FE-CD8F-4DD3-988C-23750F69133A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0B290D-7BE5-49F2-B0B7-A6AA2E33270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57064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98307" name="备注占位符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" name="日期占位符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652D8149-D787-4E87-834E-80E4AAD69F09}" type="datetime11">
              <a:rPr lang="zh-CN" altLang="en-US" smtClean="0"/>
              <a:pPr>
                <a:defRPr/>
              </a:pPr>
              <a:t>05:06:23</a:t>
            </a:fld>
            <a:endParaRPr lang="en-US" altLang="zh-CN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3425CF87-0B82-4BB4-B23D-01A967DBAAFC}" type="slidenum">
              <a:rPr lang="zh-CN" altLang="en-US" smtClean="0"/>
              <a:pPr>
                <a:defRPr/>
              </a:pPr>
              <a:t>32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03080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16584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7625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00424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57196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76460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355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704438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03083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35339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374133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71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25F909-4CA1-4D57-8C10-6CC94D4EE7FB}" type="datetimeFigureOut">
              <a:rPr lang="zh-CN" altLang="en-US" smtClean="0"/>
              <a:t>2024/6/27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731894-38E2-46C7-9EDF-9AA14546961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5002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88066" y="2486935"/>
            <a:ext cx="9144000" cy="1424898"/>
          </a:xfrm>
        </p:spPr>
        <p:txBody>
          <a:bodyPr>
            <a:normAutofit/>
          </a:bodyPr>
          <a:lstStyle/>
          <a:p>
            <a:r>
              <a:rPr lang="zh-CN" altLang="en-US" sz="8000" dirty="0"/>
              <a:t>期末复习</a:t>
            </a:r>
          </a:p>
        </p:txBody>
      </p:sp>
    </p:spTree>
    <p:extLst>
      <p:ext uri="{BB962C8B-B14F-4D97-AF65-F5344CB8AC3E}">
        <p14:creationId xmlns:p14="http://schemas.microsoft.com/office/powerpoint/2010/main" val="8162240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956" y="178892"/>
            <a:ext cx="10515600" cy="694241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第一章：命题逻辑的基本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24462" y="995300"/>
            <a:ext cx="10515600" cy="5702534"/>
          </a:xfrm>
        </p:spPr>
        <p:txBody>
          <a:bodyPr>
            <a:noAutofit/>
          </a:bodyPr>
          <a:lstStyle/>
          <a:p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命题的判断方法：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两步骤：① 是否为陈述句；②是否有确定、唯一的真值；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，祈使句，疑问句，感叹句都不是命题。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，悖论不是命题。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，真值确定，但暂时未知的陈述句同样是命题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会求复合公式的层数。（</a:t>
            </a:r>
            <a:r>
              <a:rPr lang="en-US" altLang="zh-CN" dirty="0">
                <a:sym typeface="Symbol" panose="05050102010706020507" pitchFamily="18" charset="2"/>
              </a:rPr>
              <a:t></a:t>
            </a:r>
            <a:r>
              <a:rPr lang="en-US" altLang="zh-CN" i="1" dirty="0"/>
              <a:t>p</a:t>
            </a:r>
            <a:r>
              <a:rPr lang="en-US" altLang="zh-CN" dirty="0">
                <a:sym typeface="Symbol" panose="05050102010706020507" pitchFamily="18" charset="2"/>
              </a:rPr>
              <a:t></a:t>
            </a:r>
            <a:r>
              <a:rPr lang="en-US" altLang="zh-CN" dirty="0"/>
              <a:t>(</a:t>
            </a:r>
            <a:r>
              <a:rPr lang="en-US" altLang="zh-CN" i="1" dirty="0" err="1"/>
              <a:t>q</a:t>
            </a:r>
            <a:r>
              <a:rPr lang="en-US" altLang="zh-CN" dirty="0" err="1">
                <a:sym typeface="Symbol" panose="05050102010706020507" pitchFamily="18" charset="2"/>
              </a:rPr>
              <a:t></a:t>
            </a:r>
            <a:r>
              <a:rPr lang="en-US" altLang="zh-CN" i="1" dirty="0" err="1"/>
              <a:t>r</a:t>
            </a:r>
            <a:r>
              <a:rPr lang="en-US" altLang="zh-CN" dirty="0"/>
              <a:t>)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练习：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指出下列哪些是命题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x+2&lt;10</a:t>
            </a: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，我正在说谎。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，明年的今天下雨。</a:t>
            </a:r>
            <a:endParaRPr lang="zh-CN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4030349" y="5054450"/>
            <a:ext cx="3319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不是命题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030349" y="5577670"/>
            <a:ext cx="331979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悖论不是命题</a:t>
            </a:r>
          </a:p>
        </p:txBody>
      </p:sp>
      <p:sp>
        <p:nvSpPr>
          <p:cNvPr id="7" name="文本框 6"/>
          <p:cNvSpPr txBox="1"/>
          <p:nvPr/>
        </p:nvSpPr>
        <p:spPr>
          <a:xfrm>
            <a:off x="4030349" y="6043606"/>
            <a:ext cx="606882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真值确定，但未知的陈述句是命题</a:t>
            </a:r>
          </a:p>
        </p:txBody>
      </p:sp>
    </p:spTree>
    <p:extLst>
      <p:ext uri="{BB962C8B-B14F-4D97-AF65-F5344CB8AC3E}">
        <p14:creationId xmlns:p14="http://schemas.microsoft.com/office/powerpoint/2010/main" val="132215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4461" y="317205"/>
                <a:ext cx="11665481" cy="6381545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0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五个联结词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¬,</m:t>
                    </m:r>
                    <m:nary>
                      <m:naryPr>
                        <m:chr m:val="⋀"/>
                        <m:subHide m:val="on"/>
                        <m:supHide m:val="on"/>
                        <m:ctrlPr>
                          <a:rPr lang="en-US" altLang="zh-C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 </m:t>
                    </m:r>
                    <m:nary>
                      <m:naryPr>
                        <m:chr m:val="⋁"/>
                        <m:subHide m:val="on"/>
                        <m:sup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↔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）及其真值表。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nary>
                      <m:naryPr>
                        <m:chr m:val="⋁"/>
                        <m:subHide m:val="on"/>
                        <m:supHide m:val="on"/>
                        <m:ctrlPr>
                          <a:rPr lang="zh-CN" altLang="en-US" i="1" smtClean="0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  <m:r>
                      <a:rPr lang="zh-CN" altLang="en-US" b="0" i="1">
                        <a:latin typeface="Cambria Math" panose="02040503050406030204" pitchFamily="18" charset="0"/>
                      </a:rPr>
                      <m:t>：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区分“相容或” 和“排斥或”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zh-CN" altLang="en-US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： “只有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…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才”，“除非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…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才”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“除非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…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否则非”；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⟺¬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→¬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以及 </a:t>
                </a:r>
                <a14:m>
                  <m:oMath xmlns:m="http://schemas.openxmlformats.org/officeDocument/2006/math">
                    <m:r>
                      <a:rPr lang="en-US" altLang="zh-CN" b="0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↔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⟺(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)⋀(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𝑞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𝑝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练习：指出下列命题的真值</a:t>
                </a:r>
                <a:endParaRPr lang="en-US" altLang="zh-CN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1,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只有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是自然数，一个公式的范式才唯一；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，一阶逻辑公式的前束范式是唯一的这句话是不对的。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，命题逻辑中每个命题公式都有与它等值的主范式且是唯一的。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，一阶逻辑中每个命题公式都有与它等值的前束范式且唯一的。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zh-CN" dirty="0"/>
                  <a:t>若</a:t>
                </a:r>
                <a:r>
                  <a:rPr lang="en-US" altLang="zh-CN" i="1" dirty="0"/>
                  <a:t>R</a:t>
                </a:r>
                <a:r>
                  <a:rPr lang="en-US" altLang="zh-CN" i="1" baseline="-25000" dirty="0"/>
                  <a:t>1</a:t>
                </a:r>
                <a:r>
                  <a:rPr lang="zh-CN" altLang="zh-CN" i="1" dirty="0"/>
                  <a:t>，</a:t>
                </a:r>
                <a:r>
                  <a:rPr lang="en-US" altLang="zh-CN" i="1" dirty="0"/>
                  <a:t>R</a:t>
                </a:r>
                <a:r>
                  <a:rPr lang="en-US" altLang="zh-CN" i="1" baseline="-25000" dirty="0"/>
                  <a:t>2</a:t>
                </a:r>
                <a:r>
                  <a:rPr lang="zh-CN" altLang="zh-CN" dirty="0"/>
                  <a:t>是传递关系，则</a:t>
                </a:r>
                <a:r>
                  <a:rPr lang="en-US" altLang="zh-CN" i="1" dirty="0"/>
                  <a:t>R</a:t>
                </a:r>
                <a:r>
                  <a:rPr lang="en-US" altLang="zh-CN" i="1" baseline="-25000" dirty="0"/>
                  <a:t>1</a:t>
                </a:r>
                <a:r>
                  <a:rPr kumimoji="1" lang="en-US" altLang="zh-CN" b="1" dirty="0">
                    <a:latin typeface="黑体" pitchFamily="49" charset="-122"/>
                    <a:ea typeface="黑体" pitchFamily="49" charset="-122"/>
                  </a:rPr>
                  <a:t>∩</a:t>
                </a:r>
                <a:r>
                  <a:rPr lang="en-US" altLang="zh-CN" i="1" dirty="0"/>
                  <a:t>R</a:t>
                </a:r>
                <a:r>
                  <a:rPr lang="en-US" altLang="zh-CN" i="1" baseline="-25000" dirty="0"/>
                  <a:t>2</a:t>
                </a:r>
                <a:r>
                  <a:rPr lang="zh-CN" altLang="zh-CN" dirty="0"/>
                  <a:t>也是传递关系</a:t>
                </a:r>
                <a:r>
                  <a:rPr lang="zh-CN" altLang="en-US" dirty="0"/>
                  <a:t>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4461" y="317205"/>
                <a:ext cx="11665481" cy="6381545"/>
              </a:xfrm>
              <a:blipFill>
                <a:blip r:embed="rId2"/>
                <a:stretch>
                  <a:fillRect l="-1045" t="-95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文本框 3"/>
          <p:cNvSpPr txBox="1"/>
          <p:nvPr/>
        </p:nvSpPr>
        <p:spPr>
          <a:xfrm>
            <a:off x="7396376" y="3167390"/>
            <a:ext cx="221902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真值为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9274715" y="3690610"/>
            <a:ext cx="1614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真值为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188B5D6-1AB1-488A-B89A-CB2B7968166E}"/>
              </a:ext>
            </a:extLst>
          </p:cNvPr>
          <p:cNvSpPr txBox="1"/>
          <p:nvPr/>
        </p:nvSpPr>
        <p:spPr>
          <a:xfrm>
            <a:off x="10253073" y="4246840"/>
            <a:ext cx="1614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真值为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E8783C4-2145-4424-A53B-0A453C6D0BB7}"/>
              </a:ext>
            </a:extLst>
          </p:cNvPr>
          <p:cNvSpPr txBox="1"/>
          <p:nvPr/>
        </p:nvSpPr>
        <p:spPr>
          <a:xfrm>
            <a:off x="10314275" y="4803070"/>
            <a:ext cx="1614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真值为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A70E662-EA00-463A-941F-4DF9CFA22F20}"/>
              </a:ext>
            </a:extLst>
          </p:cNvPr>
          <p:cNvSpPr txBox="1"/>
          <p:nvPr/>
        </p:nvSpPr>
        <p:spPr>
          <a:xfrm>
            <a:off x="8000932" y="5841541"/>
            <a:ext cx="16144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真值为</a:t>
            </a:r>
            <a:r>
              <a:rPr lang="en-US" altLang="zh-CN" sz="28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endParaRPr lang="zh-CN" altLang="en-US" sz="28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74732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9" grpId="0"/>
      <p:bldP spid="11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33918" y="414670"/>
                <a:ext cx="11568222" cy="6220046"/>
              </a:xfrm>
            </p:spPr>
            <p:txBody>
              <a:bodyPr>
                <a:noAutofit/>
              </a:bodyPr>
              <a:lstStyle/>
              <a:p>
                <a:r>
                  <a:rPr lang="zh-CN" altLang="en-US" sz="3200" b="1" dirty="0"/>
                  <a:t>命题符号化</a:t>
                </a:r>
                <a:endParaRPr lang="en-US" altLang="zh-CN" sz="3200" b="1" dirty="0"/>
              </a:p>
              <a:p>
                <a:pPr marL="0" indent="0">
                  <a:buNone/>
                </a:pPr>
                <a:r>
                  <a:rPr lang="en-US" altLang="zh-CN" sz="3200" b="1" dirty="0"/>
                  <a:t>1</a:t>
                </a:r>
                <a:r>
                  <a:rPr lang="zh-CN" altLang="en-US" sz="3200" b="1" dirty="0"/>
                  <a:t>，</a:t>
                </a:r>
                <a:r>
                  <a:rPr lang="en-US" altLang="zh-CN" sz="3200" b="1" dirty="0"/>
                  <a:t>p</a:t>
                </a:r>
                <a:r>
                  <a:rPr lang="zh-CN" altLang="en-US" sz="3200" b="1" dirty="0"/>
                  <a:t>：</a:t>
                </a:r>
                <a:r>
                  <a:rPr lang="en-US" altLang="zh-CN" sz="3200" b="1" dirty="0"/>
                  <a:t>2</a:t>
                </a:r>
                <a:r>
                  <a:rPr lang="zh-CN" altLang="en-US" sz="3200" b="1" dirty="0"/>
                  <a:t>能整除</a:t>
                </a:r>
                <a:r>
                  <a:rPr lang="en-US" altLang="zh-CN" sz="3200" b="1" dirty="0"/>
                  <a:t>4</a:t>
                </a:r>
                <a:r>
                  <a:rPr lang="zh-CN" altLang="en-US" sz="3200" b="1" dirty="0"/>
                  <a:t>；</a:t>
                </a:r>
                <a:r>
                  <a:rPr lang="en-US" altLang="zh-CN" sz="3200" b="1" dirty="0"/>
                  <a:t>q</a:t>
                </a:r>
                <a:r>
                  <a:rPr lang="zh-CN" altLang="en-US" sz="3200" b="1" dirty="0"/>
                  <a:t>：</a:t>
                </a:r>
                <a:r>
                  <a:rPr lang="en-US" altLang="zh-CN" sz="3200" b="1" dirty="0"/>
                  <a:t>2</a:t>
                </a:r>
                <a:r>
                  <a:rPr lang="zh-CN" altLang="en-US" sz="3200" b="1" dirty="0"/>
                  <a:t>能整除</a:t>
                </a:r>
                <a:r>
                  <a:rPr lang="en-US" altLang="zh-CN" sz="3200" b="1" dirty="0"/>
                  <a:t>5</a:t>
                </a:r>
                <a:r>
                  <a:rPr lang="zh-CN" altLang="en-US" sz="3200" b="1" dirty="0"/>
                  <a:t>；“只有</a:t>
                </a:r>
                <a:r>
                  <a:rPr lang="en-US" altLang="zh-CN" sz="3200" b="1" dirty="0"/>
                  <a:t>2</a:t>
                </a:r>
                <a:r>
                  <a:rPr lang="zh-CN" altLang="en-US" sz="3200" b="1" dirty="0"/>
                  <a:t>能整除</a:t>
                </a:r>
                <a:r>
                  <a:rPr lang="en-US" altLang="zh-CN" sz="3200" b="1" dirty="0"/>
                  <a:t>4</a:t>
                </a:r>
                <a:r>
                  <a:rPr lang="zh-CN" altLang="en-US" sz="3200" b="1" dirty="0"/>
                  <a:t>，</a:t>
                </a:r>
                <a:r>
                  <a:rPr lang="en-US" altLang="zh-CN" sz="3200" b="1" dirty="0"/>
                  <a:t> 2</a:t>
                </a:r>
                <a:r>
                  <a:rPr lang="zh-CN" altLang="en-US" sz="3200" b="1" dirty="0"/>
                  <a:t>才不能整除</a:t>
                </a:r>
                <a:r>
                  <a:rPr lang="en-US" altLang="zh-CN" sz="3200" b="1" dirty="0"/>
                  <a:t>5</a:t>
                </a:r>
                <a:r>
                  <a:rPr lang="zh-CN" altLang="en-US" sz="3200" b="1" dirty="0"/>
                  <a:t>”</a:t>
                </a:r>
                <a:endParaRPr lang="en-US" altLang="zh-CN" sz="3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𝒑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sz="3200" b="1" dirty="0"/>
              </a:p>
              <a:p>
                <a:pPr marL="0" indent="0">
                  <a:buNone/>
                </a:pPr>
                <a:r>
                  <a:rPr lang="en-US" altLang="zh-CN" sz="3200" b="1" dirty="0"/>
                  <a:t>2</a:t>
                </a:r>
                <a:r>
                  <a:rPr lang="zh-CN" altLang="en-US" sz="3200" b="1" dirty="0"/>
                  <a:t>，</a:t>
                </a:r>
                <a:r>
                  <a:rPr lang="en-US" altLang="zh-CN" sz="3200" b="1" dirty="0"/>
                  <a:t>p</a:t>
                </a:r>
                <a:r>
                  <a:rPr lang="zh-CN" altLang="en-US" sz="3200" b="1" dirty="0"/>
                  <a:t>：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3200" b="1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 smtClean="0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zh-CN" altLang="en-US" sz="3200" b="1" dirty="0"/>
                  <a:t>是无理数；</a:t>
                </a:r>
                <a:r>
                  <a:rPr lang="en-US" altLang="zh-CN" sz="3200" b="1" dirty="0"/>
                  <a:t>q:5</a:t>
                </a:r>
                <a:r>
                  <a:rPr lang="zh-CN" altLang="en-US" sz="3200" b="1" dirty="0"/>
                  <a:t>是无理数；“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zh-CN" altLang="en-US" sz="3200" b="1" i="1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</a:rPr>
                          <m:t>𝟑</m:t>
                        </m:r>
                      </m:e>
                    </m:rad>
                  </m:oMath>
                </a14:m>
                <a:r>
                  <a:rPr lang="zh-CN" altLang="en-US" sz="3200" b="1" dirty="0"/>
                  <a:t>和</a:t>
                </a:r>
                <a:r>
                  <a:rPr lang="en-US" altLang="zh-CN" sz="3200" b="1" dirty="0"/>
                  <a:t>5</a:t>
                </a:r>
                <a:r>
                  <a:rPr lang="zh-CN" altLang="en-US" sz="3200" b="1" dirty="0"/>
                  <a:t>中仅有一个是无理数”</a:t>
                </a:r>
                <a:endParaRPr lang="en-US" altLang="zh-CN" sz="3200" b="1" dirty="0"/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</m:oMath>
                </a14:m>
                <a:r>
                  <a:rPr lang="en-US" altLang="zh-CN" sz="3200" b="1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⋀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b="1" dirty="0"/>
              </a:p>
              <a:p>
                <a:pPr marL="0" indent="0">
                  <a:buNone/>
                </a:pPr>
                <a:r>
                  <a:rPr lang="en-US" altLang="zh-CN" sz="3200" b="1" dirty="0"/>
                  <a:t>3</a:t>
                </a:r>
                <a:r>
                  <a:rPr lang="zh-CN" altLang="en-US" sz="3200" b="1" dirty="0"/>
                  <a:t>，</a:t>
                </a:r>
                <a:r>
                  <a:rPr lang="en-US" altLang="zh-CN" sz="3200" b="1" dirty="0"/>
                  <a:t>p</a:t>
                </a:r>
                <a:r>
                  <a:rPr lang="zh-CN" altLang="en-US" sz="3200" b="1" dirty="0"/>
                  <a:t>：</a:t>
                </a:r>
                <a:r>
                  <a:rPr lang="en-US" altLang="zh-CN" sz="3200" b="1" dirty="0"/>
                  <a:t>4</a:t>
                </a:r>
                <a:r>
                  <a:rPr lang="zh-CN" altLang="en-US" sz="3200" b="1" dirty="0"/>
                  <a:t>是奇数；</a:t>
                </a:r>
                <a:r>
                  <a:rPr lang="en-US" altLang="zh-CN" sz="3200" b="1" dirty="0"/>
                  <a:t>q:5</a:t>
                </a:r>
                <a:r>
                  <a:rPr lang="zh-CN" altLang="en-US" sz="3200" b="1" dirty="0"/>
                  <a:t>是奇数；“除非</a:t>
                </a:r>
                <a:r>
                  <a:rPr lang="en-US" altLang="zh-CN" sz="3200" b="1" dirty="0"/>
                  <a:t>4</a:t>
                </a:r>
                <a:r>
                  <a:rPr lang="zh-CN" altLang="en-US" sz="3200" b="1" dirty="0"/>
                  <a:t>是奇数，否则</a:t>
                </a:r>
                <a:r>
                  <a:rPr lang="en-US" altLang="zh-CN" sz="3200" b="1" dirty="0"/>
                  <a:t>5</a:t>
                </a:r>
                <a:r>
                  <a:rPr lang="zh-CN" altLang="en-US" sz="3200" b="1" dirty="0"/>
                  <a:t>不是奇数”</a:t>
                </a:r>
                <a:endParaRPr lang="en-US" altLang="zh-CN" sz="3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 smtClean="0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altLang="zh-CN" sz="3200" b="1" dirty="0"/>
              </a:p>
              <a:p>
                <a:pPr marL="0" indent="0">
                  <a:buNone/>
                </a:pPr>
                <a:r>
                  <a:rPr lang="en-US" altLang="zh-CN" sz="3200" b="1" dirty="0"/>
                  <a:t>4</a:t>
                </a:r>
                <a:r>
                  <a:rPr lang="zh-CN" altLang="en-US" sz="3200" b="1" dirty="0"/>
                  <a:t>，</a:t>
                </a:r>
                <a:r>
                  <a:rPr lang="en-US" altLang="zh-CN" sz="3200" b="1" dirty="0"/>
                  <a:t>p:2+2=5</a:t>
                </a:r>
                <a:r>
                  <a:rPr lang="zh-CN" altLang="en-US" sz="3200" b="1" dirty="0"/>
                  <a:t>；</a:t>
                </a:r>
                <a:r>
                  <a:rPr lang="en-US" altLang="zh-CN" sz="3200" b="1" dirty="0"/>
                  <a:t>q</a:t>
                </a:r>
                <a:r>
                  <a:rPr lang="zh-CN" altLang="en-US" sz="3200" b="1" dirty="0"/>
                  <a:t>：地球是静止不动的；“除非</a:t>
                </a:r>
                <a:r>
                  <a:rPr lang="en-US" altLang="zh-CN" sz="3200" b="1" dirty="0"/>
                  <a:t>2+2=5</a:t>
                </a:r>
                <a:r>
                  <a:rPr lang="zh-CN" altLang="en-US" sz="3200" b="1" dirty="0"/>
                  <a:t>，否则地球是静止不动的”</a:t>
                </a:r>
                <a:endParaRPr lang="en-US" altLang="zh-CN" sz="3200" b="1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¬ 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𝒒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⟶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</m:oMath>
                  </m:oMathPara>
                </a14:m>
                <a:endParaRPr lang="en-US" altLang="zh-CN" sz="3200" b="1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3918" y="414670"/>
                <a:ext cx="11568222" cy="6220046"/>
              </a:xfrm>
              <a:blipFill>
                <a:blip r:embed="rId2"/>
                <a:stretch>
                  <a:fillRect l="-1317" t="-2549" r="-13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46351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5208" y="267127"/>
            <a:ext cx="11815281" cy="6506421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会写出命题公式的真值表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真值表的作用：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①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判断公式类型，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②求出全部成真赋值和成假赋值，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③通过真值表可以写出命题公式的主范式；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b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什么是</a:t>
            </a:r>
            <a:r>
              <a:rPr lang="zh-CN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哑元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命题式类型：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重言式，矛盾式，可满足式（非矛盾式）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给定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个命题变量，能够形成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多少个赋值？多少个</a:t>
            </a:r>
            <a:r>
              <a:rPr lang="zh-CN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真值表？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CA9D773-950E-46A5-B6D2-63E2B4CD1A20}"/>
                  </a:ext>
                </a:extLst>
              </p:cNvPr>
              <p:cNvSpPr txBox="1"/>
              <p:nvPr/>
            </p:nvSpPr>
            <p:spPr>
              <a:xfrm>
                <a:off x="4642359" y="5173261"/>
                <a:ext cx="1852464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𝟐</m:t>
                        </m:r>
                      </m:e>
                      <m:sup>
                        <m:r>
                          <a:rPr lang="en-US" altLang="zh-CN" sz="2800" b="1" i="1" kern="10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𝒏</m:t>
                        </m:r>
                      </m:sup>
                    </m:sSup>
                  </m:oMath>
                </a14:m>
                <a:r>
                  <a:rPr lang="zh-CN" altLang="en-US" sz="28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个赋值</a:t>
                </a:r>
              </a:p>
            </p:txBody>
          </p:sp>
        </mc:Choice>
        <mc:Fallback xmlns="">
          <p:sp>
            <p:nvSpPr>
              <p:cNvPr id="7" name="文本框 6">
                <a:extLst>
                  <a:ext uri="{FF2B5EF4-FFF2-40B4-BE49-F238E27FC236}">
                    <a16:creationId xmlns:a16="http://schemas.microsoft.com/office/drawing/2014/main" id="{6CA9D773-950E-46A5-B6D2-63E2B4CD1A2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42359" y="5173261"/>
                <a:ext cx="1852464" cy="523220"/>
              </a:xfrm>
              <a:prstGeom prst="rect">
                <a:avLst/>
              </a:prstGeom>
              <a:blipFill>
                <a:blip r:embed="rId2"/>
                <a:stretch>
                  <a:fillRect t="-12941" b="-3294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0940DBB-9A2C-472F-8257-1F3C6C181D1A}"/>
                  </a:ext>
                </a:extLst>
              </p:cNvPr>
              <p:cNvSpPr txBox="1"/>
              <p:nvPr/>
            </p:nvSpPr>
            <p:spPr>
              <a:xfrm>
                <a:off x="7147912" y="5173261"/>
                <a:ext cx="2222578" cy="55803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pPr>
                      <m:e>
                        <m:r>
                          <a:rPr lang="en-US" altLang="zh-CN" sz="2800" b="1" i="1" kern="10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𝟐</m:t>
                        </m:r>
                      </m:e>
                      <m:sup>
                        <m:sSup>
                          <m:sSupPr>
                            <m:ctrlPr>
                              <a:rPr lang="en-US" altLang="zh-CN" sz="28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</m:ctrlPr>
                          </m:sSupPr>
                          <m:e>
                            <m:r>
                              <a:rPr lang="en-US" altLang="zh-CN" sz="28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𝟐</m:t>
                            </m:r>
                          </m:e>
                          <m:sup>
                            <m:r>
                              <a:rPr lang="en-US" altLang="zh-CN" sz="2800" b="1" i="1" kern="100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</a:rPr>
                              <m:t>𝒏</m:t>
                            </m:r>
                          </m:sup>
                        </m:sSup>
                      </m:sup>
                    </m:sSup>
                  </m:oMath>
                </a14:m>
                <a:r>
                  <a:rPr lang="zh-CN" altLang="en-US" sz="28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个真值表</a:t>
                </a:r>
              </a:p>
            </p:txBody>
          </p:sp>
        </mc:Choice>
        <mc:Fallback xmlns="">
          <p:sp>
            <p:nvSpPr>
              <p:cNvPr id="11" name="文本框 10">
                <a:extLst>
                  <a:ext uri="{FF2B5EF4-FFF2-40B4-BE49-F238E27FC236}">
                    <a16:creationId xmlns:a16="http://schemas.microsoft.com/office/drawing/2014/main" id="{D0940DBB-9A2C-472F-8257-1F3C6C181D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147912" y="5173261"/>
                <a:ext cx="2222578" cy="558038"/>
              </a:xfrm>
              <a:prstGeom prst="rect">
                <a:avLst/>
              </a:prstGeom>
              <a:blipFill>
                <a:blip r:embed="rId3"/>
                <a:stretch>
                  <a:fillRect t="-5495" r="-2473" b="-3076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8329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5208" y="267127"/>
                <a:ext cx="11815281" cy="6506421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50000"/>
                  </a:lnSpc>
                  <a:buNone/>
                </a:pP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练习：</a:t>
                </a:r>
                <a:endParaRPr lang="en-US" altLang="zh-CN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50000"/>
                  </a:lnSpc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，判断下列公式类型：</a:t>
                </a: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d>
                      <m:dPr>
                        <m:ctrlP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→</m:t>
                        </m:r>
                        <m:r>
                          <a:rPr lang="en-US" altLang="zh-CN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;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lnSpc>
                    <a:spcPct val="110000"/>
                  </a:lnSpc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，指出下列公式成真赋值？并写出其主析取范式？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14:m>
                  <m:oMath xmlns:m="http://schemas.openxmlformats.org/officeDocument/2006/math"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∧┐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)∨(┐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;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08" y="267127"/>
                <a:ext cx="11815281" cy="6506421"/>
              </a:xfrm>
              <a:blipFill>
                <a:blip r:embed="rId2"/>
                <a:stretch>
                  <a:fillRect l="-103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/>
              </p:nvPr>
            </p:nvGraphicFramePr>
            <p:xfrm>
              <a:off x="3922442" y="2404628"/>
              <a:ext cx="8128000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3119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94522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945223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  <a:gridCol w="2681555">
                      <a:extLst>
                        <a:ext uri="{9D8B030D-6E8A-4147-A177-3AD203B41FA5}">
                          <a16:colId xmlns:a16="http://schemas.microsoft.com/office/drawing/2014/main" val="20003"/>
                        </a:ext>
                      </a:extLst>
                    </a:gridCol>
                    <a:gridCol w="2772881">
                      <a:extLst>
                        <a:ext uri="{9D8B030D-6E8A-4147-A177-3AD203B41FA5}">
                          <a16:colId xmlns:a16="http://schemas.microsoft.com/office/drawing/2014/main" val="20004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p</a:t>
                          </a:r>
                          <a:endParaRPr lang="zh-CN" altLang="en-US" sz="2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q</a:t>
                          </a:r>
                          <a:endParaRPr lang="zh-CN" altLang="en-US" sz="2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/>
                            <a:t>r</a:t>
                          </a:r>
                          <a:endParaRPr lang="zh-CN" altLang="en-US" sz="2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altLang="zh-CN" sz="2400" b="1" i="1" smtClean="0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¬</m:t>
                                </m:r>
                                <m:d>
                                  <m:dPr>
                                    <m:ctrlP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𝒒</m:t>
                                    </m:r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→</m:t>
                                    </m:r>
                                    <m:r>
                                      <a:rPr lang="en-US" altLang="zh-CN" sz="2400" b="1" i="1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𝒓</m:t>
                                    </m:r>
                                  </m:e>
                                </m:d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∧</m:t>
                                </m:r>
                                <m:r>
                                  <a:rPr lang="en-US" altLang="zh-CN" sz="2400" b="1" i="1"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𝒓</m:t>
                                </m:r>
                              </m:oMath>
                            </m:oMathPara>
                          </a14:m>
                          <a:endParaRPr lang="zh-CN" altLang="en-US" sz="2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m:rPr>
                                    <m:nor/>
                                  </m:rPr>
                                  <a:rPr lang="en-US" altLang="zh-CN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i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∧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┐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i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  <m:r>
                                  <m:rPr>
                                    <m:nor/>
                                  </m:rPr>
                                  <a:rPr lang="ja-JP" altLang="en-US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∨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(┐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i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p</m:t>
                                </m:r>
                                <m:r>
                                  <m:rPr>
                                    <m:nor/>
                                  </m:rPr>
                                  <a:rPr lang="zh-CN" altLang="en-US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∧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i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q</m:t>
                                </m:r>
                                <m:r>
                                  <m:rPr>
                                    <m:nor/>
                                  </m:rPr>
                                  <a:rPr lang="en-US" altLang="zh-CN" sz="2800" b="1" kern="1200" smtClean="0">
                                    <a:solidFill>
                                      <a:schemeClr val="lt1"/>
                                    </a:solidFill>
                                    <a:effectLst/>
                                    <a:latin typeface="+mn-lt"/>
                                    <a:ea typeface="+mn-ea"/>
                                    <a:cs typeface="+mn-cs"/>
                                  </a:rPr>
                                  <m:t>)</m:t>
                                </m:r>
                              </m:oMath>
                            </m:oMathPara>
                          </a14:m>
                          <a:endParaRPr lang="zh-CN" altLang="en-US" sz="36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2" name="表格 1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0958204"/>
                  </p:ext>
                </p:extLst>
              </p:nvPr>
            </p:nvGraphicFramePr>
            <p:xfrm>
              <a:off x="3922442" y="2404628"/>
              <a:ext cx="8128000" cy="518160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783119"/>
                    <a:gridCol w="945222"/>
                    <a:gridCol w="945223"/>
                    <a:gridCol w="2681555"/>
                    <a:gridCol w="2772881"/>
                  </a:tblGrid>
                  <a:tr h="51816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 smtClean="0"/>
                            <a:t>p</a:t>
                          </a:r>
                          <a:endParaRPr lang="zh-CN" altLang="en-US" sz="2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 smtClean="0"/>
                            <a:t>q</a:t>
                          </a:r>
                          <a:endParaRPr lang="zh-CN" altLang="en-US" sz="2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altLang="zh-CN" sz="2400" dirty="0" smtClean="0"/>
                            <a:t>r</a:t>
                          </a:r>
                          <a:endParaRPr lang="zh-CN" altLang="en-US" sz="2400" dirty="0"/>
                        </a:p>
                      </a:txBody>
                      <a:tcPr>
                        <a:solidFill>
                          <a:schemeClr val="accent5">
                            <a:lumMod val="50000"/>
                          </a:schemeClr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00000" t="-9302" r="-104318" b="-1395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zh-CN"/>
                        </a:p>
                      </a:txBody>
                      <a:tcPr>
                        <a:blipFill rotWithShape="0">
                          <a:blip r:embed="rId3"/>
                          <a:stretch>
                            <a:fillRect l="-193407" t="-9302" r="-879" b="-13953"/>
                          </a:stretch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graphicFrame>
        <p:nvGraphicFramePr>
          <p:cNvPr id="8" name="表格 7"/>
          <p:cNvGraphicFramePr>
            <a:graphicFrameLocks noGrp="1"/>
          </p:cNvGraphicFramePr>
          <p:nvPr>
            <p:extLst/>
          </p:nvPr>
        </p:nvGraphicFramePr>
        <p:xfrm>
          <a:off x="3948815" y="2894712"/>
          <a:ext cx="2673564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831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349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554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9" name="表格 8"/>
          <p:cNvGraphicFramePr>
            <a:graphicFrameLocks noGrp="1"/>
          </p:cNvGraphicFramePr>
          <p:nvPr>
            <p:extLst/>
          </p:nvPr>
        </p:nvGraphicFramePr>
        <p:xfrm>
          <a:off x="6645094" y="2866965"/>
          <a:ext cx="2591371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13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" name="表格 9"/>
          <p:cNvGraphicFramePr>
            <a:graphicFrameLocks noGrp="1"/>
          </p:cNvGraphicFramePr>
          <p:nvPr>
            <p:extLst/>
          </p:nvPr>
        </p:nvGraphicFramePr>
        <p:xfrm>
          <a:off x="9291376" y="2874492"/>
          <a:ext cx="2724935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249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1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4572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b="1" dirty="0">
                          <a:solidFill>
                            <a:schemeClr val="bg1"/>
                          </a:solidFill>
                        </a:rPr>
                        <a:t>0</a:t>
                      </a:r>
                      <a:endParaRPr lang="zh-CN" altLang="en-US" sz="2400" b="1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solidFill>
                      <a:schemeClr val="accent5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454070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9725" y="174963"/>
            <a:ext cx="10515600" cy="763003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第二章：命题逻辑的等值演算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9725" y="1329422"/>
                <a:ext cx="11281767" cy="4826282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等值的概念：</a:t>
                </a:r>
                <a:r>
                  <a:rPr lang="zh-CN" altLang="en-US" b="1" dirty="0">
                    <a:solidFill>
                      <a:srgbClr val="FFFF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“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等价式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 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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B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应为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重言式”记作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  <a:ea typeface="+mj-ea"/>
                      </a:rPr>
                      <m:t>𝐴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+mj-ea"/>
                      </a:rPr>
                      <m:t>⟺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+mj-ea"/>
                      </a:rPr>
                      <m:t>𝐵</m:t>
                    </m:r>
                  </m:oMath>
                </a14:m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0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判断两个命题公式等值的方法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：真值表，等值演算法，主范式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;</a:t>
                </a:r>
              </a:p>
              <a:p>
                <a:pPr marL="0">
                  <a:lnSpc>
                    <a:spcPct val="100000"/>
                  </a:lnSpc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范式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：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存在且不唯一；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文字：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命题变项</a:t>
                </a:r>
                <a:r>
                  <a:rPr lang="zh-CN" altLang="en-US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或者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命题变项</a:t>
                </a:r>
                <a:r>
                  <a:rPr lang="en-US" altLang="zh-CN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 </a:t>
                </a:r>
                <a14:m>
                  <m:oMath xmlns:m="http://schemas.openxmlformats.org/officeDocument/2006/math">
                    <m:r>
                      <a:rPr lang="en-US" altLang="zh-CN" b="1" i="1">
                        <a:solidFill>
                          <a:schemeClr val="accent2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¬</m:t>
                    </m:r>
                  </m:oMath>
                </a14:m>
                <a:endParaRPr lang="en-US" altLang="zh-CN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析取范式（由有限个简单合取式组成的析取式）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合取范式（由有限个简单析取式组成的合取式）：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求范式的步骤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00000"/>
                  </a:lnSpc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① 消去（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  <a:ea typeface="+mj-ea"/>
                      </a:rPr>
                      <m:t>→</m:t>
                    </m:r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</a:rPr>
                      <m:t>, </m:t>
                    </m:r>
                    <m:r>
                      <a:rPr lang="zh-CN" altLang="en-US" i="1">
                        <a:latin typeface="Cambria Math" panose="02040503050406030204" pitchFamily="18" charset="0"/>
                        <a:ea typeface="+mj-ea"/>
                      </a:rPr>
                      <m:t>↔ 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）； ② 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 pitchFamily="18" charset="0"/>
                        <a:ea typeface="+mj-ea"/>
                      </a:rPr>
                      <m:t>¬</m:t>
                    </m:r>
                  </m:oMath>
                </a14:m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放括号内； ③ 分配率；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>
                  <a:lnSpc>
                    <a:spcPct val="100000"/>
                  </a:lnSpc>
                </a:pP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9725" y="1329422"/>
                <a:ext cx="11281767" cy="4826282"/>
              </a:xfrm>
              <a:blipFill>
                <a:blip r:embed="rId2"/>
                <a:stretch>
                  <a:fillRect l="-1080" t="-1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99096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46B6D2A-1A17-4CF0-BCF4-689D90EFFA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7512" y="391886"/>
            <a:ext cx="10926288" cy="5785077"/>
          </a:xfrm>
        </p:spPr>
        <p:txBody>
          <a:bodyPr/>
          <a:lstStyle/>
          <a:p>
            <a:r>
              <a:rPr lang="zh-CN" altLang="zh-CN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简单合取式中存在极小项；简单析取式中存在极大项；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极小项（极大项）中一定含有所有命题变项，且仅含有一个；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个命题变项产生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个极小项和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个极大项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一个命题公式的极大项和极小项数目之和是</a:t>
            </a:r>
            <a:r>
              <a:rPr lang="en-US" altLang="zh-CN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2</a:t>
            </a:r>
            <a:r>
              <a:rPr lang="en-US" altLang="zh-CN" b="1" i="1" kern="1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n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个</a:t>
            </a:r>
          </a:p>
          <a:p>
            <a:r>
              <a:rPr lang="zh-CN" altLang="zh-CN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每个极小项都有且仅有一个成真赋值。每个极大项都有且仅有一个成假赋值。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,   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 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</a:t>
            </a:r>
            <a:r>
              <a:rPr lang="en-US" altLang="zh-CN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</a:t>
            </a:r>
            <a:r>
              <a:rPr lang="en-US" altLang="zh-CN" i="1" baseline="-250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579351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11873" y="234176"/>
            <a:ext cx="11980127" cy="6459701"/>
          </a:xfrm>
        </p:spPr>
        <p:txBody>
          <a:bodyPr>
            <a:noAutofit/>
          </a:bodyPr>
          <a:lstStyle/>
          <a:p>
            <a:pPr marL="0">
              <a:lnSpc>
                <a:spcPct val="100000"/>
              </a:lnSpc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主范式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存在且唯一；</a:t>
            </a:r>
            <a:endParaRPr lang="en-US" altLang="zh-CN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主析取范式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：由极小项（简单合取式且成真赋值唯一）析取组成；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主合取范式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：由极大项（简单析取式且成假赋值唯一）合取组成；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求主范式的方法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，等值演算法（①求范式；②求主范式）；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，真值表法；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，由主析（合）取范式直接写出主合（析）取范式；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三种公式类型的主范式特征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重言式的主合取范式为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矛盾式的主析取范式为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</a:pP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主范式的用途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：同真值表（知道全部成真赋值以及成假赋值，知道公式类型）；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zh-CN" altLang="en-US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702402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-523984" y="0"/>
            <a:ext cx="11661169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双重否定律</a:t>
            </a:r>
            <a:r>
              <a:rPr lang="zh-CN" altLang="en-US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 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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zh-CN" altLang="zh-CN" sz="2800" b="1" kern="1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00050"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幂等律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       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, 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zh-CN" altLang="zh-CN" sz="2800" b="1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00050"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交换律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          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, 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endParaRPr lang="zh-CN" altLang="zh-CN" sz="2800" b="1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00050"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结合律</a:t>
            </a:r>
            <a:r>
              <a:rPr lang="zh-CN" altLang="en-US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       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),  </a:t>
            </a:r>
            <a:r>
              <a:rPr lang="en-US" altLang="zh-CN" sz="2800" b="1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zh-CN" altLang="zh-CN" sz="2800" b="1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00050"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分配律</a:t>
            </a:r>
            <a:r>
              <a:rPr lang="zh-CN" altLang="en-US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        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), 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 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C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endParaRPr lang="en-US" altLang="zh-CN" sz="2800" b="1" kern="1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00050"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德摩根律</a:t>
            </a:r>
            <a:r>
              <a:rPr lang="zh-CN" altLang="en-US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：   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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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2800" b="1" kern="100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)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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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endParaRPr lang="zh-CN" altLang="zh-CN" sz="2800" b="1" kern="100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-143838" y="3014723"/>
            <a:ext cx="11362624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零律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    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1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1,   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0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0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同一律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0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</a:t>
            </a:r>
            <a:r>
              <a:rPr lang="zh-CN" altLang="en-US" sz="2800" b="1" kern="100" dirty="0">
                <a:latin typeface="华文楷体" panose="02010600040101010101" pitchFamily="2" charset="-122"/>
              </a:rPr>
              <a:t>，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 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1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排中律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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1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矛盾律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                   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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0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蕴涵等值式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           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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B</a:t>
            </a:r>
            <a:endParaRPr lang="zh-CN" altLang="zh-CN" sz="280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等价等值式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       </a:t>
            </a:r>
            <a:r>
              <a:rPr lang="en-US" altLang="zh-CN" sz="2800" b="1" i="1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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b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)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b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(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solidFill>
                  <a:srgbClr val="FF0000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A </a:t>
            </a:r>
            <a:r>
              <a:rPr lang="en-US" altLang="zh-CN" sz="2800" b="1" kern="100" dirty="0">
                <a:solidFill>
                  <a:srgbClr val="FF0000"/>
                </a:solidFill>
                <a:latin typeface="华文楷体" panose="02010600040101010101" pitchFamily="2" charset="-122"/>
              </a:rPr>
              <a:t>)</a:t>
            </a:r>
            <a:endParaRPr lang="zh-CN" altLang="zh-CN" sz="2800" kern="100" dirty="0">
              <a:solidFill>
                <a:srgbClr val="FF0000"/>
              </a:solidFill>
              <a:latin typeface="Times New Roman" panose="02020603050405020304" pitchFamily="18" charset="0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假言易位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： 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          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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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</a:t>
            </a:r>
            <a:endParaRPr lang="zh-CN" altLang="zh-CN" sz="2800" kern="100" dirty="0">
              <a:latin typeface="Times New Roman" panose="02020603050405020304" pitchFamily="18" charset="0"/>
            </a:endParaRPr>
          </a:p>
          <a:p>
            <a:pPr indent="276225" algn="just">
              <a:spcAft>
                <a:spcPts val="0"/>
              </a:spcAft>
            </a:pPr>
            <a:r>
              <a:rPr lang="zh-CN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等价否定等值式</a:t>
            </a:r>
            <a:r>
              <a:rPr lang="en-US" altLang="zh-CN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zh-CN" altLang="en-US" sz="2800" b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en-US" altLang="zh-CN" sz="2800" b="1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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B 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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effectLst/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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93378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42719" y="47090"/>
                <a:ext cx="11599523" cy="6910556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练习：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是含</a:t>
                </a:r>
                <a:r>
                  <a:rPr lang="en-US" altLang="zh-CN" b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p,q,r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三个命题变项的命题公式，其主析取范式为：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  <a14:m>
                  <m:oMath xmlns:m="http://schemas.openxmlformats.org/officeDocument/2006/math">
                    <m:nary>
                      <m:naryPr>
                        <m:chr m:val="⋁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m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14:m>
                  <m:oMath xmlns:m="http://schemas.openxmlformats.org/officeDocument/2006/math">
                    <m:nary>
                      <m:naryPr>
                        <m:chr m:val="⋁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m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14:m>
                  <m:oMath xmlns:m="http://schemas.openxmlformats.org/officeDocument/2006/math">
                    <m:nary>
                      <m:naryPr>
                        <m:chr m:val="⋁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m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5</a:t>
                </a:r>
                <a14:m>
                  <m:oMath xmlns:m="http://schemas.openxmlformats.org/officeDocument/2006/math">
                    <m:nary>
                      <m:naryPr>
                        <m:chr m:val="⋁"/>
                        <m:subHide m:val="on"/>
                        <m:supHide m:val="on"/>
                        <m:ctrlPr>
                          <a:rPr lang="zh-CN" altLang="en-US" i="1">
                            <a:latin typeface="Cambria Math" panose="02040503050406030204" pitchFamily="18" charset="0"/>
                          </a:rPr>
                        </m:ctrlPr>
                      </m:naryPr>
                      <m:sub/>
                      <m:sup/>
                      <m:e>
                        <m:r>
                          <a:rPr lang="en-US" altLang="zh-CN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</m:nary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m</a:t>
                </a:r>
                <a:r>
                  <a:rPr lang="en-US" altLang="zh-CN" b="1" baseline="-25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7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，求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的主合取范式；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的主合取范式：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𝟏</m:t>
                        </m:r>
                      </m:sub>
                    </m:sSub>
                    <m:r>
                      <a:rPr lang="en-US" altLang="zh-CN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𝟒</m:t>
                        </m:r>
                      </m:sub>
                    </m:sSub>
                    <m:r>
                      <a:rPr lang="en-US" altLang="zh-CN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∧</m:t>
                    </m:r>
                    <m:sSub>
                      <m:sSubPr>
                        <m:ctrlP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zh-CN" b="1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𝑴</m:t>
                        </m:r>
                      </m:e>
                      <m:sub>
                        <m:r>
                          <a:rPr lang="en-US" altLang="zh-CN" b="1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𝟔</m:t>
                        </m:r>
                      </m:sub>
                    </m:sSub>
                  </m:oMath>
                </a14:m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，已知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是含</a:t>
                </a:r>
                <a:r>
                  <a:rPr lang="en-US" altLang="zh-CN" b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p,q,r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命题变项的矛盾式。求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的主析取范式及主合取范式；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的主析取范式：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的主合取范式：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4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5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6</a:t>
                </a:r>
                <a:r>
                  <a:rPr lang="en-US" altLang="zh-CN" b="1" kern="100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</a:t>
                </a:r>
                <a:r>
                  <a:rPr lang="en-US" altLang="zh-CN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7</a:t>
                </a:r>
                <a:endParaRPr lang="en-US" altLang="zh-CN" b="1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，求公式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的主析取范式，并指出列出全部成真赋值；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解：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¬¬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zh-CN" altLang="en-US" i="1" smtClean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)∧(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US" altLang="zh-CN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)∧(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)∨(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   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r>
                        <a:rPr lang="en-US" altLang="zh-CN" b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𝒑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)∨(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𝒒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∧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𝒓</m:t>
                      </m:r>
                      <m:r>
                        <a:rPr lang="en-US" altLang="zh-CN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endParaRPr lang="zh-CN" altLang="en-US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42719" y="47090"/>
                <a:ext cx="11599523" cy="6910556"/>
              </a:xfrm>
              <a:blipFill rotWithShape="0">
                <a:blip r:embed="rId2"/>
                <a:stretch>
                  <a:fillRect l="-1051" t="-1589" r="-946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5548046" y="4240928"/>
                <a:ext cx="6643954" cy="175432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28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  <m:r>
                      <a:rPr lang="en-US" altLang="zh-CN" sz="28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∧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)∨</m:t>
                    </m:r>
                  </m:oMath>
                </a14:m>
                <a:r>
                  <a:rPr lang="en-US" altLang="zh-CN" sz="28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d>
                      <m:dPr>
                        <m:ctrlP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¬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𝒑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𝒒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∧</m:t>
                        </m:r>
                        <m:r>
                          <a:rPr lang="en-US" altLang="zh-CN" sz="28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𝒓</m:t>
                        </m:r>
                      </m:e>
                    </m:d>
                  </m:oMath>
                </a14:m>
                <a:endParaRPr lang="en-US" altLang="zh-CN" sz="28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⇔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  <m:r>
                        <a:rPr lang="en-US" altLang="zh-CN" sz="28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∨</m:t>
                      </m:r>
                      <m:d>
                        <m:dPr>
                          <m:ctrlP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¬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𝒑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𝒒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sz="28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𝒓</m:t>
                          </m:r>
                        </m:e>
                      </m:d>
                    </m:oMath>
                  </m:oMathPara>
                </a14:m>
                <a:endParaRPr lang="en-US" altLang="zh-CN" sz="28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zh-CN" sz="28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sz="28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28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</m:oMath>
                </a14:m>
                <a:r>
                  <a:rPr lang="en-US" altLang="zh-CN" sz="2800" b="1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2800" b="1" baseline="-250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7</a:t>
                </a:r>
              </a:p>
              <a:p>
                <a:r>
                  <a:rPr lang="zh-CN" altLang="en-US" sz="3600" b="1" baseline="-25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成真赋值：</a:t>
                </a:r>
                <a:r>
                  <a:rPr lang="en-US" altLang="zh-CN" sz="3600" b="1" baseline="-25000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011,111</a:t>
                </a:r>
                <a:endParaRPr lang="zh-CN" altLang="en-US" sz="3600" b="1" baseline="-250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48046" y="4240928"/>
                <a:ext cx="6643954" cy="1754326"/>
              </a:xfrm>
              <a:prstGeom prst="rect">
                <a:avLst/>
              </a:prstGeom>
              <a:blipFill rotWithShape="0">
                <a:blip r:embed="rId3"/>
                <a:stretch>
                  <a:fillRect l="-1376" b="-1393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圆角右箭头 1"/>
          <p:cNvSpPr/>
          <p:nvPr/>
        </p:nvSpPr>
        <p:spPr>
          <a:xfrm>
            <a:off x="5175738" y="4448908"/>
            <a:ext cx="316524" cy="1611923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00919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8138BE7-181D-4CDF-ACEB-35771EA501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154739"/>
            <a:ext cx="11940480" cy="6192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9pPr>
          </a:lstStyle>
          <a:p>
            <a:pPr eaLnBrk="1" hangingPunct="1"/>
            <a:r>
              <a:rPr lang="zh-CN" altLang="en-US" sz="2400" b="1" dirty="0">
                <a:solidFill>
                  <a:srgbClr val="FF0000"/>
                </a:solidFill>
                <a:latin typeface="华文中宋" panose="02010600040101010101" pitchFamily="2" charset="-122"/>
                <a:ea typeface="华文中宋" panose="02010600040101010101" pitchFamily="2" charset="-122"/>
              </a:rPr>
              <a:t>例：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求下列公式的主合取范式，再用主合取范式求出主析取范式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：</a:t>
            </a:r>
            <a:r>
              <a:rPr lang="zh-CN" altLang="en-US" sz="2400" b="1" dirty="0">
                <a:sym typeface="Symbol" panose="05050102010706020507" pitchFamily="18" charset="2"/>
              </a:rPr>
              <a:t>（</a:t>
            </a:r>
            <a:r>
              <a:rPr lang="en-US" altLang="zh-CN" sz="2400" b="1" dirty="0">
                <a:sym typeface="Symbol" panose="05050102010706020507" pitchFamily="18" charset="2"/>
              </a:rPr>
              <a:t>2</a:t>
            </a:r>
            <a:r>
              <a:rPr lang="zh-CN" altLang="en-US" sz="2400" b="1" dirty="0">
                <a:sym typeface="Symbol" panose="05050102010706020507" pitchFamily="18" charset="2"/>
              </a:rPr>
              <a:t>）</a:t>
            </a:r>
            <a:r>
              <a:rPr lang="en-US" altLang="zh-CN" sz="2400" b="1" dirty="0">
                <a:sym typeface="Symbol" panose="05050102010706020507" pitchFamily="18" charset="2"/>
              </a:rPr>
              <a:t>(p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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400" b="1" dirty="0">
                <a:sym typeface="Symbol" panose="05050102010706020507" pitchFamily="18" charset="2"/>
              </a:rPr>
              <a:t>q)</a:t>
            </a:r>
            <a:r>
              <a:rPr lang="zh-CN" altLang="en-US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→ </a:t>
            </a: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r</a:t>
            </a:r>
          </a:p>
          <a:p>
            <a:pPr eaLnBrk="1" hangingPunct="1">
              <a:spcBef>
                <a:spcPts val="300"/>
              </a:spcBef>
            </a:pPr>
            <a:r>
              <a:rPr lang="en-US" altLang="zh-CN" sz="2400" dirty="0">
                <a:latin typeface="华文中宋" panose="02010600040101010101" pitchFamily="2" charset="-122"/>
                <a:ea typeface="华文中宋" panose="02010600040101010101" pitchFamily="2" charset="-122"/>
              </a:rPr>
              <a:t>    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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 ((p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→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q)∧(q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→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((p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q)∧(q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p))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→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((p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q)∧(q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p))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∨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(p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(q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p)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∨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((p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∧q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q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∧p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∨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((p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800" b="1" u="sng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(p</a:t>
            </a:r>
            <a:r>
              <a:rPr lang="zh-CN" altLang="en-US" sz="2800" b="1" u="sng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  <a:r>
              <a:rPr lang="en-US" altLang="zh-CN" sz="2800" b="1" u="sng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800" b="1" u="sng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u="sng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q</a:t>
            </a:r>
            <a:r>
              <a:rPr lang="zh-CN" altLang="en-US" sz="2800" b="1" u="sng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u="sng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u="sng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((p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∧1∧1∧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((p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))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(p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r)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q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r)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M0</a:t>
            </a:r>
            <a:r>
              <a:rPr lang="en-US" altLang="zh-CN" sz="2800" b="1" dirty="0"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 ∧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M6 (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主合取范式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)</a:t>
            </a:r>
          </a:p>
          <a:p>
            <a:pPr eaLnBrk="1" hangingPunct="1">
              <a:spcBef>
                <a:spcPts val="300"/>
              </a:spcBef>
              <a:buFont typeface="Symbol" panose="05050102010706020507" pitchFamily="18" charset="2"/>
              <a:buChar char="Û"/>
            </a:pP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m1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m2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m3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m4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m5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∨</a:t>
            </a:r>
            <a:r>
              <a:rPr lang="en-US" altLang="zh-CN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 m7</a:t>
            </a:r>
            <a:r>
              <a:rPr lang="zh-CN" altLang="en-US" sz="2800" b="1" dirty="0">
                <a:latin typeface="Times New Roman" panose="02020603050405020304" pitchFamily="18" charset="0"/>
                <a:ea typeface="华文中宋" panose="02010600040101010101" pitchFamily="2" charset="-122"/>
                <a:cs typeface="Times New Roman" panose="02020603050405020304" pitchFamily="18" charset="0"/>
              </a:rPr>
              <a:t>（主析取范式）</a:t>
            </a:r>
            <a:endParaRPr lang="en-US" altLang="zh-CN" sz="2800" b="1" dirty="0">
              <a:latin typeface="Times New Roman" panose="02020603050405020304" pitchFamily="18" charset="0"/>
              <a:ea typeface="华文中宋" panose="02010600040101010101" pitchFamily="2" charset="-122"/>
              <a:cs typeface="Times New Roman" panose="02020603050405020304" pitchFamily="18" charset="0"/>
            </a:endParaRPr>
          </a:p>
          <a:p>
            <a:pPr eaLnBrk="1" hangingPunct="1"/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endParaRPr lang="en-US" altLang="zh-CN" sz="1800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pPr eaLnBrk="1" hangingPunct="1"/>
            <a:endParaRPr lang="en-US" altLang="zh-CN" sz="1800" b="1" dirty="0"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64202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088" y="227144"/>
            <a:ext cx="10515600" cy="673448"/>
          </a:xfrm>
        </p:spPr>
        <p:txBody>
          <a:bodyPr>
            <a:noAutofit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第三章：命题逻辑的推理理论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6279" y="1068512"/>
            <a:ext cx="11151220" cy="5548045"/>
          </a:xfrm>
        </p:spPr>
        <p:txBody>
          <a:bodyPr>
            <a:noAutofit/>
          </a:bodyPr>
          <a:lstStyle/>
          <a:p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定理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3.1</a:t>
            </a: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：命题公式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32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的推理正确</a:t>
            </a:r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的充要条件：</a:t>
            </a:r>
            <a:endParaRPr lang="en-US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 </a:t>
            </a: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∧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 </a:t>
            </a: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∧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… </a:t>
            </a: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∧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 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为重言式。</a:t>
            </a:r>
            <a:endParaRPr lang="en-US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推理的形式就写作：</a:t>
            </a:r>
          </a:p>
          <a:p>
            <a:pPr marL="0" indent="0">
              <a:buNone/>
            </a:pP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前提：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baseline="-25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…</a:t>
            </a:r>
            <a:r>
              <a:rPr lang="en-US" altLang="zh-CN" sz="3200" b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3200" b="1" baseline="-25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k</a:t>
            </a:r>
            <a:endParaRPr lang="zh-CN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结论：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自然推理体系</a:t>
            </a: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的构造证明：</a:t>
            </a:r>
            <a:endParaRPr lang="en-US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直接证明法；</a:t>
            </a:r>
            <a:endParaRPr lang="en-US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附加前提证明法；</a:t>
            </a:r>
            <a:endParaRPr lang="en-US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归谬法；</a:t>
            </a:r>
          </a:p>
        </p:txBody>
      </p:sp>
    </p:spTree>
    <p:extLst>
      <p:ext uri="{BB962C8B-B14F-4D97-AF65-F5344CB8AC3E}">
        <p14:creationId xmlns:p14="http://schemas.microsoft.com/office/powerpoint/2010/main" val="28492635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0" y="674022"/>
            <a:ext cx="291967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0050" algn="just">
              <a:spcAft>
                <a:spcPts val="0"/>
              </a:spcAft>
            </a:pP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假言推理规则</a:t>
            </a:r>
            <a:endParaRPr lang="zh-CN" altLang="zh-CN" sz="2800" kern="1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2919677" y="674022"/>
            <a:ext cx="245370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拒取式规则</a:t>
            </a: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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5967034" y="772427"/>
            <a:ext cx="1872148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化简规则：</a:t>
            </a:r>
            <a:r>
              <a:rPr lang="en-US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800" u="sng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 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8054938" y="772427"/>
            <a:ext cx="320553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800" kern="100" dirty="0">
                <a:solidFill>
                  <a:srgbClr val="FF000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析取三段论规则：</a:t>
            </a:r>
            <a:endParaRPr lang="zh-CN" altLang="zh-CN" sz="2800" kern="100" dirty="0">
              <a:solidFill>
                <a:srgbClr val="FF000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293711" y="2823374"/>
            <a:ext cx="2778262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7965" algn="just">
              <a:spcAft>
                <a:spcPts val="0"/>
              </a:spcAft>
            </a:pPr>
            <a:r>
              <a:rPr lang="zh-CN" altLang="zh-CN" sz="2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合取引入规则：</a:t>
            </a:r>
            <a:endParaRPr lang="zh-CN" altLang="zh-CN" sz="2800" kern="100" dirty="0">
              <a:solidFill>
                <a:srgbClr val="00B05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indent="266700"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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3671740" y="2848111"/>
            <a:ext cx="2295294" cy="13849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266700" algn="just">
              <a:spcAft>
                <a:spcPts val="0"/>
              </a:spcAft>
            </a:pPr>
            <a:r>
              <a:rPr lang="zh-CN" altLang="zh-CN" sz="2800" kern="100" dirty="0">
                <a:solidFill>
                  <a:srgbClr val="00B050"/>
                </a:solidFill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附加规则：</a:t>
            </a:r>
            <a:endParaRPr lang="zh-CN" altLang="zh-CN" sz="2800" kern="100" dirty="0">
              <a:solidFill>
                <a:srgbClr val="00B050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116958" y="4748015"/>
            <a:ext cx="3943814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00050" algn="just">
              <a:spcAft>
                <a:spcPts val="0"/>
              </a:spcAft>
            </a:pPr>
            <a:r>
              <a:rPr lang="zh-CN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假言三段论规则：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  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sz="2800" u="sng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algn="just">
              <a:spcAft>
                <a:spcPts val="0"/>
              </a:spcAft>
            </a:pP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          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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800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2800" i="1" kern="100" dirty="0">
                <a:effectLst/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endParaRPr lang="zh-CN" altLang="zh-CN" sz="2800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09867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11477" y="212582"/>
                <a:ext cx="11840110" cy="6464665"/>
              </a:xfrm>
            </p:spPr>
            <p:txBody>
              <a:bodyPr>
                <a:normAutofit lnSpcReduction="10000"/>
              </a:bodyPr>
              <a:lstStyle/>
              <a:p>
                <a:pPr marL="0" indent="0">
                  <a:buNone/>
                </a:pPr>
                <a:r>
                  <a:rPr lang="zh-CN" altLang="en-US" sz="3200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练习：</a:t>
                </a:r>
                <a:endParaRPr lang="en-US" altLang="zh-CN" sz="3200" b="1" kern="100" dirty="0">
                  <a:latin typeface="华文楷体" panose="02010600040101010101" pitchFamily="2" charset="-122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en-US" altLang="zh-CN" sz="3200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1</a:t>
                </a:r>
                <a:r>
                  <a:rPr lang="zh-CN" altLang="en-US" sz="3200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，在自然推理体系中，用附加前提证明法推理证明：</a:t>
                </a:r>
                <a:endParaRPr lang="en-US" altLang="zh-CN" sz="3200" b="1" kern="100" dirty="0">
                  <a:latin typeface="华文楷体" panose="02010600040101010101" pitchFamily="2" charset="-122"/>
                  <a:ea typeface="华文楷体" panose="02010600040101010101" pitchFamily="2" charset="-122"/>
                  <a:sym typeface="Symbol" panose="05050102010706020507" pitchFamily="18" charset="2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前提：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𝒑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  <m:r>
                      <a:rPr lang="zh-CN" altLang="en-US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，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600" b="1" i="1" smtClean="0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𝒒</m:t>
                    </m:r>
                    <m:r>
                      <a:rPr lang="en-US" altLang="zh-CN" sz="36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3600" b="0" i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</m:oMath>
                </a14:m>
                <a:endParaRPr lang="en-US" altLang="zh-CN" sz="3600" b="0" dirty="0">
                  <a:latin typeface="华文楷体" panose="02010600040101010101" pitchFamily="2" charset="-122"/>
                  <a:ea typeface="Cambria Math" panose="020405030504060302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结论：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200" kern="100" dirty="0">
                        <a:latin typeface="Times New Roman" panose="02020603050405020304" pitchFamily="18" charset="0"/>
                        <a:ea typeface="华文中宋" panose="02010600040101010101" pitchFamily="2" charset="-122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en-US" altLang="zh-CN" sz="3200" b="1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𝒔</m:t>
                    </m:r>
                  </m:oMath>
                </a14:m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证明：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①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200" kern="100" dirty="0">
                        <a:latin typeface="Times New Roman" panose="02020603050405020304" pitchFamily="18" charset="0"/>
                        <a:ea typeface="华文中宋" panose="02010600040101010101" pitchFamily="2" charset="-122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附加前提引入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②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𝒓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前提引入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514350" indent="-514350">
                  <a:buAutoNum type="circleNumDbPlain" startAt="3"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200" kern="100" dirty="0">
                        <a:latin typeface="Times New Roman" panose="02020603050405020304" pitchFamily="18" charset="0"/>
                        <a:ea typeface="华文中宋" panose="02010600040101010101" pitchFamily="2" charset="-122"/>
                        <a:sym typeface="Symbol" panose="05050102010706020507" pitchFamily="18" charset="2"/>
                      </a:rPr>
                      <m:t>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𝒑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①②拒取式 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514350" indent="-514350">
                  <a:buAutoNum type="circleNumDbPlain" startAt="3"/>
                </a:pPr>
                <a:r>
                  <a:rPr lang="en-US" altLang="zh-CN" sz="3200" b="1" dirty="0"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𝒑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∨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𝒒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前提引入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514350" indent="-514350">
                  <a:buAutoNum type="circleNumDbPlain" startAt="3"/>
                </a:pP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𝒒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  </a:t>
                </a: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③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④ 析取三段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514350" indent="-514350">
                  <a:buAutoNum type="circleNumDbPlain" startAt="3"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𝒒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m:rPr>
                        <m:nor/>
                      </m:rPr>
                      <a:rPr lang="en-US" altLang="zh-CN" sz="32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s</m:t>
                    </m:r>
                    <m:r>
                      <m:rPr>
                        <m:nor/>
                      </m:rPr>
                      <a:rPr lang="en-US" altLang="zh-CN" sz="3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         </m:t>
                    </m:r>
                    <m:r>
                      <m:rPr>
                        <m:nor/>
                      </m:rPr>
                      <a:rPr lang="zh-CN" altLang="en-US" sz="3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前提引入</m:t>
                    </m:r>
                  </m:oMath>
                </a14:m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514350" indent="-514350">
                  <a:buFontTx/>
                  <a:buAutoNum type="circleNumDbPlain" startAt="3"/>
                </a:pP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𝐬</m:t>
                    </m:r>
                    <m:r>
                      <a:rPr lang="en-US" altLang="zh-CN" sz="3200" b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  ⑤⑥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假言三段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11477" y="212582"/>
                <a:ext cx="11840110" cy="6464665"/>
              </a:xfrm>
              <a:blipFill rotWithShape="0">
                <a:blip r:embed="rId2"/>
                <a:stretch>
                  <a:fillRect l="-1339" t="-25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5288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8E7B6B40-BDA8-496B-8774-E29AB15345D9}"/>
              </a:ext>
            </a:extLst>
          </p:cNvPr>
          <p:cNvSpPr/>
          <p:nvPr/>
        </p:nvSpPr>
        <p:spPr>
          <a:xfrm>
            <a:off x="99120" y="243582"/>
            <a:ext cx="11966210" cy="45243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lvl="0" indent="-514350" algn="just">
              <a:spcAft>
                <a:spcPts val="0"/>
              </a:spcAft>
              <a:buFont typeface="+mj-lt"/>
              <a:buAutoNum type="arabicPeriod" startAt="2"/>
              <a:tabLst>
                <a:tab pos="342900" algn="l"/>
              </a:tabLst>
            </a:pP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直接证明法</a:t>
            </a:r>
            <a:r>
              <a:rPr lang="zh-CN" altLang="en-US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用构造证明法构造下面推理的证明：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720000" algn="just">
              <a:spcAft>
                <a:spcPts val="0"/>
              </a:spcAft>
            </a:pP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若明天是星期一或星期三，我就有课</a:t>
            </a:r>
            <a:r>
              <a:rPr lang="zh-CN" altLang="en-US" sz="3200" b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若有课，今天必备课</a:t>
            </a:r>
            <a:r>
              <a:rPr lang="zh-CN" altLang="en-US" sz="3200" b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我今天下午没备课</a:t>
            </a:r>
            <a:r>
              <a:rPr lang="zh-CN" altLang="en-US" sz="3200" b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所以，说明天是星期一或星期三是不对的</a:t>
            </a:r>
            <a:r>
              <a:rPr lang="en-US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. </a:t>
            </a:r>
          </a:p>
          <a:p>
            <a:pPr algn="just">
              <a:spcAft>
                <a:spcPts val="0"/>
              </a:spcAft>
            </a:pP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构造证明</a:t>
            </a:r>
            <a:r>
              <a:rPr lang="zh-CN" altLang="en-US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indent="133350" algn="just">
              <a:spcAft>
                <a:spcPts val="0"/>
              </a:spcAft>
            </a:pPr>
            <a:r>
              <a:rPr lang="zh-CN" altLang="en-US" sz="3200" b="1" kern="100" dirty="0">
                <a:solidFill>
                  <a:schemeClr val="accent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解：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设</a:t>
            </a:r>
            <a:r>
              <a:rPr lang="en-US" altLang="zh-CN" sz="3200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：明天是星期一</a:t>
            </a:r>
            <a:r>
              <a:rPr lang="zh-CN" altLang="en-US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r>
              <a:rPr lang="en-US" altLang="zh-CN" sz="3200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q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：明天是星期三</a:t>
            </a:r>
            <a:r>
              <a:rPr lang="zh-CN" altLang="en-US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endParaRPr lang="en-US" altLang="zh-CN" sz="3200" kern="1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indent="133350" algn="just">
              <a:spcAft>
                <a:spcPts val="0"/>
              </a:spcAft>
            </a:pPr>
            <a:r>
              <a:rPr lang="en-US" altLang="zh-CN" sz="3200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    r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：我有课</a:t>
            </a:r>
            <a:r>
              <a:rPr lang="zh-CN" altLang="en-US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；</a:t>
            </a:r>
            <a:r>
              <a:rPr lang="en-US" altLang="zh-CN" sz="3200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s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：我备课</a:t>
            </a:r>
            <a:r>
              <a:rPr lang="zh-CN" altLang="en-US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。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  <a:tabLst>
                <a:tab pos="457200" algn="l"/>
                <a:tab pos="685800" algn="l"/>
              </a:tabLst>
            </a:pP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形式结构</a:t>
            </a:r>
            <a:r>
              <a:rPr lang="zh-CN" altLang="en-US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前提：</a:t>
            </a:r>
            <a:r>
              <a:rPr lang="en-US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(</a:t>
            </a:r>
            <a:r>
              <a:rPr lang="en-US" altLang="zh-CN" sz="3200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p</a:t>
            </a:r>
            <a:r>
              <a:rPr lang="en-US" altLang="zh-CN" sz="3200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3200" i="1" kern="100" dirty="0" err="1">
                <a:latin typeface="华文楷体" panose="02010600040101010101" pitchFamily="2" charset="-122"/>
                <a:ea typeface="宋体" panose="02010600030101010101" pitchFamily="2" charset="-122"/>
              </a:rPr>
              <a:t>q</a:t>
            </a:r>
            <a:r>
              <a:rPr lang="en-US" altLang="zh-CN" sz="3200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)</a:t>
            </a:r>
            <a:r>
              <a:rPr lang="en-US" altLang="zh-CN" sz="3200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200" i="1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3200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,  </a:t>
            </a:r>
            <a:r>
              <a:rPr lang="en-US" altLang="zh-CN" sz="3200" i="1" kern="100" dirty="0" err="1">
                <a:latin typeface="华文楷体" panose="02010600040101010101" pitchFamily="2" charset="-122"/>
                <a:ea typeface="宋体" panose="02010600030101010101" pitchFamily="2" charset="-122"/>
              </a:rPr>
              <a:t>r</a:t>
            </a:r>
            <a:r>
              <a:rPr lang="en-US" altLang="zh-CN" sz="3200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3200" i="1" kern="100" dirty="0" err="1">
                <a:latin typeface="华文楷体" panose="02010600040101010101" pitchFamily="2" charset="-122"/>
                <a:ea typeface="宋体" panose="02010600030101010101" pitchFamily="2" charset="-122"/>
              </a:rPr>
              <a:t>s</a:t>
            </a:r>
            <a:r>
              <a:rPr lang="en-US" altLang="zh-CN" sz="3200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,  </a:t>
            </a:r>
            <a:r>
              <a:rPr lang="en-US" altLang="zh-CN" sz="3200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200" i="1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s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spcAft>
                <a:spcPts val="0"/>
              </a:spcAft>
            </a:pPr>
            <a:r>
              <a:rPr lang="en-US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zh-CN" altLang="zh-CN" sz="3200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结论：</a:t>
            </a:r>
            <a:r>
              <a:rPr lang="en-US" altLang="zh-CN" sz="3200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3200" i="1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p</a:t>
            </a:r>
            <a:r>
              <a:rPr lang="en-US" altLang="zh-CN" sz="3200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</a:t>
            </a:r>
            <a:r>
              <a:rPr lang="en-US" altLang="zh-CN" sz="3200" i="1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q</a:t>
            </a:r>
            <a:endParaRPr lang="zh-CN" altLang="zh-CN" sz="32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D69FAD0E-60E1-4120-A919-5C8C4A9BA86A}"/>
              </a:ext>
            </a:extLst>
          </p:cNvPr>
          <p:cNvSpPr/>
          <p:nvPr/>
        </p:nvSpPr>
        <p:spPr>
          <a:xfrm>
            <a:off x="5198459" y="3318570"/>
            <a:ext cx="7200800" cy="35394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>
              <a:spcAft>
                <a:spcPts val="0"/>
              </a:spcAft>
              <a:tabLst>
                <a:tab pos="685800" algn="l"/>
              </a:tabLst>
            </a:pPr>
            <a:r>
              <a:rPr lang="zh-CN" altLang="zh-CN" sz="3200" b="1" kern="100" dirty="0">
                <a:solidFill>
                  <a:schemeClr val="accent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证明</a:t>
            </a:r>
            <a:r>
              <a:rPr lang="zh-CN" altLang="en-US" sz="3200" b="1" kern="100" dirty="0">
                <a:solidFill>
                  <a:schemeClr val="accent4"/>
                </a:solidFill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endParaRPr lang="zh-CN" altLang="zh-CN" sz="3200" b="1" kern="100" dirty="0">
              <a:solidFill>
                <a:schemeClr val="accent4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lvl="1" algn="just">
              <a:spcAft>
                <a:spcPts val="0"/>
              </a:spcAft>
            </a:pPr>
            <a:r>
              <a:rPr lang="zh-CN" altLang="zh-CN" sz="32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</a:t>
            </a:r>
            <a:r>
              <a:rPr lang="en-US" altLang="zh-CN" sz="32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i="1" kern="1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200" kern="1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i="1" kern="1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32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zh-CN" sz="3200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前提引入</a:t>
            </a:r>
            <a:endParaRPr lang="en-US" altLang="zh-CN" sz="3200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</a:pP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②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s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  </a:t>
            </a: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前提引入</a:t>
            </a:r>
            <a:endParaRPr lang="en-US" altLang="zh-CN" sz="32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 algn="just">
              <a:spcAft>
                <a:spcPts val="0"/>
              </a:spcAft>
            </a:pP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③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</a:t>
            </a: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①②拒取式</a:t>
            </a:r>
          </a:p>
          <a:p>
            <a:pPr lvl="1" algn="just">
              <a:spcAft>
                <a:spcPts val="0"/>
              </a:spcAft>
            </a:pP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④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(</a:t>
            </a:r>
            <a:r>
              <a:rPr lang="en-US" altLang="zh-CN" sz="32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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</a:t>
            </a: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前提引入</a:t>
            </a:r>
          </a:p>
          <a:p>
            <a:pPr lvl="1" algn="just">
              <a:spcAft>
                <a:spcPts val="0"/>
              </a:spcAft>
            </a:pP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⑤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</a:t>
            </a:r>
            <a:r>
              <a:rPr lang="en-US" altLang="zh-CN" sz="32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3200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</a:t>
            </a:r>
            <a:r>
              <a:rPr lang="en-US" altLang="zh-CN" sz="3200" i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                        </a:t>
            </a: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③④拒取式</a:t>
            </a:r>
          </a:p>
          <a:p>
            <a:pPr lvl="1" algn="just">
              <a:spcAft>
                <a:spcPts val="0"/>
              </a:spcAft>
            </a:pP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⑥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</a:t>
            </a:r>
            <a:r>
              <a:rPr lang="en-US" altLang="zh-CN" sz="3200" i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en-US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                      </a:t>
            </a:r>
            <a:r>
              <a:rPr lang="zh-CN" altLang="zh-CN" sz="32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⑤置换</a:t>
            </a:r>
          </a:p>
        </p:txBody>
      </p:sp>
    </p:spTree>
    <p:extLst>
      <p:ext uri="{BB962C8B-B14F-4D97-AF65-F5344CB8AC3E}">
        <p14:creationId xmlns:p14="http://schemas.microsoft.com/office/powerpoint/2010/main" val="582143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1FE21BEE-63F0-4E44-8207-25905E2B0942}"/>
              </a:ext>
            </a:extLst>
          </p:cNvPr>
          <p:cNvSpPr/>
          <p:nvPr/>
        </p:nvSpPr>
        <p:spPr>
          <a:xfrm>
            <a:off x="125760" y="116632"/>
            <a:ext cx="883872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16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，在自然推理体系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中用归谬法证明下面推理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）前提：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3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r∨q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r∧s</a:t>
            </a:r>
          </a:p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结论：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p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EEC4CF4-95D5-48E1-988B-1D5118BCBD63}"/>
              </a:ext>
            </a:extLst>
          </p:cNvPr>
          <p:cNvSpPr/>
          <p:nvPr/>
        </p:nvSpPr>
        <p:spPr>
          <a:xfrm>
            <a:off x="251520" y="2060848"/>
            <a:ext cx="4985498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3200" b="1" dirty="0">
                <a:solidFill>
                  <a:schemeClr val="accent2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证明：</a:t>
            </a:r>
            <a:endParaRPr lang="en-US" altLang="zh-CN" sz="3200" b="1" dirty="0">
              <a:solidFill>
                <a:schemeClr val="accent2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前提：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3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r∨q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r∧s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endParaRPr lang="zh-CN" altLang="en-US" sz="32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606D8A76-765D-42FC-B38A-5A71A95ACEC5}"/>
              </a:ext>
            </a:extLst>
          </p:cNvPr>
          <p:cNvSpPr/>
          <p:nvPr/>
        </p:nvSpPr>
        <p:spPr>
          <a:xfrm>
            <a:off x="6192180" y="1348800"/>
            <a:ext cx="5544616" cy="55092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     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结论否定引入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    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前提引入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                   ①②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假言推理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r∧s     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                      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化简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r∨q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前提引入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                     ⑤⑥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析取三段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 marL="457200" indent="-457200">
              <a:buFont typeface="+mj-ea"/>
              <a:buAutoNum type="circleNumDbPlai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q∧</a:t>
            </a:r>
            <a:r>
              <a:rPr lang="en-US" altLang="zh-CN" sz="3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                  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合取引入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由⑧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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q∧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q0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，可知：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→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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q)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∧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(</a:t>
            </a:r>
            <a:r>
              <a:rPr lang="en-US" altLang="zh-CN" sz="3200" b="1" dirty="0" err="1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r∨q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(r∧s)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∧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p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为矛盾式，所以推理得证。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997582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5353" y="209009"/>
            <a:ext cx="10778447" cy="627334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第四章：一阶逻辑基本概念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81000" y="1105108"/>
                <a:ext cx="11430000" cy="5616023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10000"/>
                  </a:lnSpc>
                  <a:spcBef>
                    <a:spcPts val="1200"/>
                  </a:spcBef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一阶逻辑三要素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：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1200"/>
                  </a:spcBef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个体词（个体常项，个体变项）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1200"/>
                  </a:spcBef>
                  <a:buNone/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谓词（一元谓词，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元谓词）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lnSpc>
                    <a:spcPct val="110000"/>
                  </a:lnSpc>
                  <a:spcBef>
                    <a:spcPts val="1200"/>
                  </a:spcBef>
                  <a:buNone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 n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元谓词是以个体域为定义域，以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{0,1}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为值域的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元函数或关系。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  <a:defRPr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当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H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等表示谓词常项时，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元谓词为命题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zh-CN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  <a:defRPr/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任何命题均可以表示成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0</a:t>
                </a:r>
                <a:r>
                  <a:rPr lang="zh-CN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元谓词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buNone/>
                  <a:defRPr/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量词（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 pitchFamily="18" charset="0"/>
                      </a:rPr>
                      <m:t>∀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∃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和</m:t>
                    </m:r>
                    <m:r>
                      <a:rPr lang="zh-CN" altLang="en-US" i="1">
                        <a:latin typeface="Cambria Math" panose="02040503050406030204" pitchFamily="18" charset="0"/>
                      </a:rPr>
                      <m:t>⋀</m:t>
                    </m:r>
                  </m:oMath>
                </a14:m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）；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 algn="just">
                  <a:spcAft>
                    <a:spcPts val="0"/>
                  </a:spcAft>
                  <a:buNone/>
                  <a:defRPr/>
                </a:pPr>
                <a:r>
                  <a:rPr lang="en-US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</a:t>
                </a:r>
                <a:r>
                  <a:rPr lang="zh-CN" altLang="zh-CN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多个量词同时出现时，不能随意改变它们的次序，否则将改变原命题的涵义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81000" y="1105108"/>
                <a:ext cx="11430000" cy="5616023"/>
              </a:xfrm>
              <a:blipFill>
                <a:blip r:embed="rId2"/>
                <a:stretch>
                  <a:fillRect l="-1120" t="-651" r="-106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20710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4767A3-A6C8-4A05-923F-540E46FEC6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27512"/>
            <a:ext cx="10515600" cy="5749451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b="1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命题符号化：</a:t>
            </a:r>
            <a:endParaRPr lang="en-US" altLang="zh-CN" b="1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b="1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zh-CN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在不同的个体域中符号化的形式可能不一样。</a:t>
            </a:r>
            <a:endParaRPr lang="en-US" altLang="zh-CN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en-US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命题的真值也可能会改变。</a:t>
            </a:r>
            <a:endParaRPr lang="en-US" altLang="zh-CN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 </a:t>
            </a:r>
            <a:r>
              <a:rPr lang="zh-CN" altLang="zh-CN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在考虑命题的符号化时，如果对个体域未做声明，一律使用全总个体域</a:t>
            </a:r>
            <a:r>
              <a:rPr lang="en-US" altLang="zh-CN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.</a:t>
            </a: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</a:t>
            </a:r>
            <a:r>
              <a:rPr lang="zh-CN" altLang="zh-CN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命题的符号化形式不唯一。</a:t>
            </a:r>
            <a:r>
              <a:rPr lang="zh-CN" altLang="en-US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（学会转述）</a:t>
            </a:r>
            <a:endParaRPr lang="en-US" altLang="zh-CN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CN" altLang="en-US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     多个量词同时存在时，一般不能调换位置</a:t>
            </a:r>
            <a:endParaRPr lang="en-US" altLang="zh-CN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10000"/>
              </a:lnSpc>
              <a:spcBef>
                <a:spcPts val="1200"/>
              </a:spcBef>
              <a:buNone/>
            </a:pPr>
            <a:r>
              <a:rPr lang="zh-CN" altLang="en-US" b="1" kern="100" dirty="0">
                <a:latin typeface="华文楷体" panose="02010600040101010101" pitchFamily="2" charset="-122"/>
                <a:ea typeface="华文楷体" panose="02010600040101010101" pitchFamily="2" charset="-122"/>
              </a:rPr>
              <a:t>特性谓词的使用：</a:t>
            </a:r>
            <a:endParaRPr lang="en-US" altLang="zh-CN" b="1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CN" altLang="en-US" b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</a:t>
            </a:r>
            <a:r>
              <a:rPr lang="zh-CN" altLang="en-US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命题中描述范围与个体域不相同，需要引入特性量词。</a:t>
            </a:r>
            <a:endParaRPr lang="en-US" altLang="zh-CN" kern="1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CN" altLang="en-US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命题中没有指定</a:t>
            </a:r>
            <a:r>
              <a:rPr lang="en-US" altLang="zh-CN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zh-CN" altLang="en-US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的个体域，因此符号化时，不引入特性谓词</a:t>
            </a:r>
            <a:endParaRPr lang="en-US" altLang="zh-CN" kern="1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33958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日期占位符 1"/>
          <p:cNvSpPr>
            <a:spLocks noGrp="1"/>
          </p:cNvSpPr>
          <p:nvPr>
            <p:ph type="dt" sz="half" idx="10"/>
          </p:nvPr>
        </p:nvSpPr>
        <p:spPr>
          <a:xfrm>
            <a:off x="179388" y="6245225"/>
            <a:ext cx="2411412" cy="476250"/>
          </a:xfrm>
        </p:spPr>
        <p:txBody>
          <a:bodyPr/>
          <a:lstStyle/>
          <a:p>
            <a:pPr>
              <a:defRPr/>
            </a:pPr>
            <a:fld id="{EEFD9C86-C2D5-4A8B-9BDA-107119E817CD}" type="datetime11">
              <a:rPr lang="zh-CN" altLang="en-US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05:06:23</a:t>
            </a:fld>
            <a:endParaRPr lang="en-US" altLang="zh-CN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矩形 15"/>
              <p:cNvSpPr/>
              <p:nvPr/>
            </p:nvSpPr>
            <p:spPr>
              <a:xfrm>
                <a:off x="156888" y="34226"/>
                <a:ext cx="12035112" cy="5139869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0" lvl="1" algn="just">
                  <a:spcBef>
                    <a:spcPts val="600"/>
                  </a:spcBef>
                  <a:defRPr/>
                </a:pPr>
                <a:r>
                  <a:rPr lang="zh-CN" altLang="en-US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练习：将下列命题符号化</a:t>
                </a:r>
                <a:endParaRPr lang="en-US" altLang="zh-CN" sz="3200" b="1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marL="457200" algn="just">
                  <a:spcBef>
                    <a:spcPts val="600"/>
                  </a:spcBef>
                  <a:spcAft>
                    <a:spcPts val="0"/>
                  </a:spcAft>
                  <a:defRPr/>
                </a:pP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例 （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3200" b="1" u="sng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所有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人都呼吸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zh-CN" sz="3200" b="1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0"/>
                  </a:spcAft>
                  <a:defRPr/>
                </a:pP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        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</a:t>
                </a:r>
                <a:r>
                  <a:rPr lang="zh-CN" altLang="zh-CN" sz="3200" b="1" u="sng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有的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人吸烟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zh-CN" sz="3200" b="1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0"/>
                  </a:spcAft>
                  <a:tabLst>
                    <a:tab pos="457200" algn="l"/>
                  </a:tabLst>
                  <a:defRPr/>
                </a:pPr>
                <a:r>
                  <a:rPr lang="zh-CN" altLang="en-US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解：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个体域为全总个体域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.</a:t>
                </a:r>
                <a:endParaRPr lang="zh-CN" altLang="zh-CN" sz="3200" b="1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0"/>
                  </a:spcAft>
                  <a:defRPr/>
                </a:pP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 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是人； 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呼吸； 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：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吸烟</a:t>
                </a:r>
              </a:p>
              <a:p>
                <a:pPr algn="just">
                  <a:spcBef>
                    <a:spcPts val="600"/>
                  </a:spcBef>
                  <a:spcAft>
                    <a:spcPts val="0"/>
                  </a:spcAft>
                  <a:defRPr/>
                </a:pP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）符号化为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))</a:t>
                </a:r>
              </a:p>
              <a:p>
                <a:pPr algn="just">
                  <a:spcBef>
                    <a:spcPts val="600"/>
                  </a:spcBef>
                  <a:spcAft>
                    <a:spcPts val="0"/>
                  </a:spcAft>
                  <a:defRPr/>
                </a:pP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          </a:t>
                </a:r>
                <a:r>
                  <a:rPr lang="zh-CN" altLang="en-US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或</a:t>
                </a:r>
                <a14:m>
                  <m:oMath xmlns:m="http://schemas.openxmlformats.org/officeDocument/2006/math">
                    <m:r>
                      <a:rPr lang="en-US" altLang="zh-CN" sz="3200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</m:t>
                    </m:r>
                  </m:oMath>
                </a14:m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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</a:t>
                </a:r>
                <a:r>
                  <a:rPr lang="en-US" altLang="zh-CN" sz="3200" b="1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</m:oMath>
                </a14:m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F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))           </a:t>
                </a:r>
                <a:endParaRPr lang="zh-CN" altLang="zh-CN" sz="3200" b="1" kern="100" dirty="0">
                  <a:latin typeface="Times New Roman" panose="02020603050405020304" pitchFamily="18" charset="0"/>
                  <a:ea typeface="楷体" panose="02010609060101010101" pitchFamily="49" charset="-122"/>
                  <a:cs typeface="Times New Roman" panose="02020603050405020304" pitchFamily="18" charset="0"/>
                </a:endParaRPr>
              </a:p>
              <a:p>
                <a:pPr algn="just">
                  <a:spcBef>
                    <a:spcPts val="600"/>
                  </a:spcBef>
                  <a:spcAft>
                    <a:spcPts val="0"/>
                  </a:spcAft>
                  <a:defRPr/>
                </a:pP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）符号化为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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G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)) </a:t>
                </a:r>
              </a:p>
              <a:p>
                <a:pPr algn="just">
                  <a:spcBef>
                    <a:spcPts val="600"/>
                  </a:spcBef>
                  <a:defRPr/>
                </a:pP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           </a:t>
                </a:r>
                <a:r>
                  <a:rPr lang="zh-CN" altLang="en-US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或 </a:t>
                </a:r>
                <a14:m>
                  <m:oMath xmlns:m="http://schemas.openxmlformats.org/officeDocument/2006/math">
                    <m:r>
                      <a:rPr lang="en-US" altLang="zh-CN" sz="3200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</m:oMath>
                </a14:m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</a:t>
                </a:r>
                <a:r>
                  <a:rPr lang="en-US" altLang="zh-CN" sz="3200" b="1" kern="100" dirty="0">
                    <a:ea typeface="Cambria Math" panose="020405030504060302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¬ </m:t>
                    </m:r>
                  </m:oMath>
                </a14:m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G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sz="3200" b="1" i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sz="3200" b="1" kern="100" dirty="0">
                    <a:latin typeface="Times New Roman" panose="02020603050405020304" pitchFamily="18" charset="0"/>
                    <a:ea typeface="楷体" panose="02010609060101010101" pitchFamily="49" charset="-122"/>
                    <a:cs typeface="Times New Roman" panose="02020603050405020304" pitchFamily="18" charset="0"/>
                  </a:rPr>
                  <a:t>))</a:t>
                </a:r>
              </a:p>
            </p:txBody>
          </p:sp>
        </mc:Choice>
        <mc:Fallback xmlns="">
          <p:sp>
            <p:nvSpPr>
              <p:cNvPr id="16" name="矩形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6888" y="34226"/>
                <a:ext cx="12035112" cy="5139869"/>
              </a:xfrm>
              <a:prstGeom prst="rect">
                <a:avLst/>
              </a:prstGeom>
              <a:blipFill rotWithShape="0">
                <a:blip r:embed="rId2"/>
                <a:stretch>
                  <a:fillRect l="-1317" t="-2017" b="-28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939696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D292C9B-5DB9-4D3A-8BB7-CEE1F1B96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593766"/>
            <a:ext cx="10515600" cy="5583197"/>
          </a:xfrm>
        </p:spPr>
        <p:txBody>
          <a:bodyPr/>
          <a:lstStyle/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辖域，指导变项，自由出现，约束出现；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spcBef>
                <a:spcPts val="1200"/>
              </a:spcBef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封闭公式（没有自有出现个体变项的公式）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：在任何解释下均是命题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081899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243550" y="126475"/>
            <a:ext cx="10515600" cy="465278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第五章：一阶逻辑等值演算与推理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26740" y="694915"/>
            <a:ext cx="11396547" cy="1051691"/>
          </a:xfrm>
        </p:spPr>
        <p:txBody>
          <a:bodyPr>
            <a:noAutofit/>
          </a:bodyPr>
          <a:lstStyle/>
          <a:p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 </a:t>
            </a:r>
            <a:r>
              <a:rPr lang="zh-CN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一阶逻辑等值式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en-US" altLang="zh-CN" sz="32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</a:t>
            </a:r>
            <a:r>
              <a:rPr lang="en-US" altLang="zh-CN" sz="32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为永真式，称</a:t>
            </a:r>
            <a:r>
              <a:rPr lang="en-US" altLang="zh-CN" sz="32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zh-CN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与</a:t>
            </a:r>
            <a:r>
              <a:rPr lang="en-US" altLang="zh-CN" sz="32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等值，记作：</a:t>
            </a:r>
            <a:r>
              <a:rPr lang="en-US" altLang="zh-CN" sz="32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A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3200" b="1" i="1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4" name="矩形 3"/>
          <p:cNvSpPr/>
          <p:nvPr/>
        </p:nvSpPr>
        <p:spPr>
          <a:xfrm>
            <a:off x="134347" y="1649911"/>
            <a:ext cx="4170525" cy="177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algn="just">
              <a:lnSpc>
                <a:spcPct val="130000"/>
              </a:lnSpc>
              <a:spcAft>
                <a:spcPts val="0"/>
              </a:spcAft>
              <a:tabLst>
                <a:tab pos="819150" algn="l"/>
              </a:tabLst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量词否定等值式</a:t>
            </a:r>
            <a:endParaRPr lang="zh-CN" altLang="zh-CN" sz="2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①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 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</a:t>
            </a:r>
            <a:r>
              <a:rPr lang="en-US" altLang="zh-CN" sz="28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lang="en-US" altLang="zh-CN" sz="2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②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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 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 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i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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</a:t>
            </a:r>
            <a:r>
              <a:rPr lang="en-US" altLang="zh-CN" sz="2800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)</a:t>
            </a:r>
            <a:endParaRPr lang="zh-CN" altLang="zh-CN" sz="2800" kern="100" dirty="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6740" y="3754988"/>
            <a:ext cx="557969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关于全称量词的：</a:t>
            </a: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①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x(A(x)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②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x(A(x)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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③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(A(x)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B) 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endParaRPr lang="zh-CN" altLang="zh-CN" sz="2800" b="1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④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x(B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A(x))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B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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   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5862566" y="1667970"/>
            <a:ext cx="5896584" cy="17727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量词分配等值式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①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x(A(x)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B(x))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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xB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②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x(A(x)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B(x))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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xB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5806431" y="3749628"/>
            <a:ext cx="5158221" cy="289310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关于存在量词的：</a:t>
            </a: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①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x(A(x)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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②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x(A(x)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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③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(A(x)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</a:t>
            </a:r>
            <a:r>
              <a:rPr lang="en-US" altLang="zh-CN" sz="2800" b="1" kern="100" dirty="0" err="1">
                <a:solidFill>
                  <a:srgbClr val="FF0000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B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  <a:p>
            <a:pPr algn="just">
              <a:lnSpc>
                <a:spcPct val="130000"/>
              </a:lnSpc>
            </a:pPr>
            <a:r>
              <a:rPr lang="zh-CN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④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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x(B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A(x)) 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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B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</a:t>
            </a:r>
            <a:r>
              <a:rPr lang="en-US" altLang="zh-CN" sz="2800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xA</a:t>
            </a:r>
            <a:r>
              <a:rPr lang="en-US" altLang="zh-CN" sz="2800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(x)</a:t>
            </a:r>
            <a:endParaRPr lang="zh-CN" altLang="zh-CN" sz="2800" kern="100" dirty="0">
              <a:latin typeface="Times New Roman" panose="02020603050405020304" pitchFamily="18" charset="0"/>
              <a:ea typeface="华文中宋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60301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8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内容占位符 2"/>
          <p:cNvSpPr txBox="1">
            <a:spLocks/>
          </p:cNvSpPr>
          <p:nvPr/>
        </p:nvSpPr>
        <p:spPr>
          <a:xfrm>
            <a:off x="291626" y="222133"/>
            <a:ext cx="11705065" cy="247386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 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换名原则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：</a:t>
            </a:r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①一个一阶逻辑公式中不能出现约束出现变项与自由出现变项重名；②不能出现两个辖域内的约束重名</a:t>
            </a:r>
            <a:endParaRPr lang="en-US" altLang="zh-CN" b="1" dirty="0">
              <a:solidFill>
                <a:schemeClr val="accent2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前束范式：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存在且不唯一；</a:t>
            </a:r>
            <a:endParaRPr lang="en-US" altLang="zh-CN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00000"/>
              </a:lnSpc>
            </a:pP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求前束范式：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①首先换名；②量词前的否定连接词向后移；③提取全部的量词，注意</a:t>
            </a:r>
            <a:r>
              <a:rPr lang="zh-CN" altLang="en-US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不能改变量词位置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2904319E-307A-4314-969C-A0C0667E0BB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001486" y="2778251"/>
                <a:ext cx="10515600" cy="4029739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200" dirty="0"/>
                  <a:t>设个体域</a:t>
                </a:r>
                <a:r>
                  <a:rPr lang="en-US" altLang="zh-CN" sz="3200" dirty="0"/>
                  <a:t>D={a</a:t>
                </a:r>
                <a:r>
                  <a:rPr lang="zh-CN" altLang="en-US" sz="3200" dirty="0"/>
                  <a:t>，</a:t>
                </a:r>
                <a:r>
                  <a:rPr lang="en-US" altLang="zh-CN" sz="3200" dirty="0"/>
                  <a:t>b}</a:t>
                </a:r>
                <a:r>
                  <a:rPr lang="zh-CN" altLang="en-US" sz="3200" dirty="0"/>
                  <a:t>，消去下列公式的量词</a:t>
                </a:r>
                <a:endParaRPr lang="en-US" altLang="zh-CN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buNone/>
                </a:pPr>
                <a:endParaRPr lang="en-US" altLang="zh-CN" sz="3200" dirty="0"/>
              </a:p>
              <a:p>
                <a:pPr marL="0" indent="0">
                  <a:buNone/>
                </a:pPr>
                <a:r>
                  <a:rPr lang="zh-CN" altLang="en-US" sz="3200" dirty="0"/>
                  <a:t>解：</a:t>
                </a:r>
                <a:endParaRPr lang="en-US" altLang="zh-CN" sz="320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zh-CN" altLang="en-US" sz="3200" i="1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∃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𝐹</m:t>
                      </m:r>
                      <m:d>
                        <m:dPr>
                          <m:ctrlP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→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(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𝑦</m:t>
                      </m:r>
                      <m:r>
                        <a:rPr lang="en-US" altLang="zh-CN" sz="32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buNone/>
                </a:pPr>
                <a:r>
                  <a:rPr lang="zh-CN" altLang="en-US" sz="3200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)⟶</m:t>
                    </m:r>
                  </m:oMath>
                </a14:m>
                <a:r>
                  <a:rPr lang="en-US" altLang="zh-CN" sz="3200" dirty="0"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∃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𝑦𝐺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200" dirty="0"/>
              </a:p>
              <a:p>
                <a:pPr marL="0" indent="0">
                  <a:buNone/>
                </a:pPr>
                <a:r>
                  <a:rPr lang="zh-CN" altLang="en-US" sz="3200" dirty="0"/>
                  <a:t>                               </a:t>
                </a:r>
                <a14:m>
                  <m:oMath xmlns:m="http://schemas.openxmlformats.org/officeDocument/2006/math">
                    <m:r>
                      <a:rPr lang="zh-CN" altLang="en-US" sz="3200" i="1" smtClean="0">
                        <a:latin typeface="Cambria Math" panose="02040503050406030204" pitchFamily="18" charset="0"/>
                      </a:rPr>
                      <m:t>⇔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𝐹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))⟶</m:t>
                    </m:r>
                  </m:oMath>
                </a14:m>
                <a:r>
                  <a:rPr lang="en-US" altLang="zh-CN" sz="3200" dirty="0"/>
                  <a:t> 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zh-CN" sz="3200" i="1">
                        <a:latin typeface="Cambria Math" panose="02040503050406030204" pitchFamily="18" charset="0"/>
                      </a:rPr>
                      <m:t>)∨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𝐺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altLang="zh-CN" sz="32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))</m:t>
                    </m:r>
                  </m:oMath>
                </a14:m>
                <a:endParaRPr lang="zh-CN" altLang="en-US" sz="3200" dirty="0"/>
              </a:p>
            </p:txBody>
          </p:sp>
        </mc:Choice>
        <mc:Fallback xmlns="">
          <p:sp>
            <p:nvSpPr>
              <p:cNvPr id="12" name="内容占位符 2">
                <a:extLst>
                  <a:ext uri="{FF2B5EF4-FFF2-40B4-BE49-F238E27FC236}">
                    <a16:creationId xmlns:a16="http://schemas.microsoft.com/office/drawing/2014/main" id="{2904319E-307A-4314-969C-A0C0667E0BB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001486" y="2778251"/>
                <a:ext cx="10515600" cy="4029739"/>
              </a:xfrm>
              <a:blipFill>
                <a:blip r:embed="rId2"/>
                <a:stretch>
                  <a:fillRect l="-1449" t="-393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766789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77402" y="107008"/>
                <a:ext cx="11076398" cy="6835398"/>
              </a:xfrm>
            </p:spPr>
            <p:txBody>
              <a:bodyPr>
                <a:normAutofit/>
              </a:bodyPr>
              <a:lstStyle/>
              <a:p>
                <a:pPr marL="0" indent="0">
                  <a:spcBef>
                    <a:spcPts val="1800"/>
                  </a:spcBef>
                  <a:buNone/>
                </a:pPr>
                <a:r>
                  <a:rPr lang="zh-CN" altLang="en-US" b="1" dirty="0"/>
                  <a:t>练习：</a:t>
                </a:r>
                <a:endParaRPr lang="en-US" altLang="zh-CN" b="1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altLang="zh-CN" b="1" dirty="0"/>
                  <a:t>1</a:t>
                </a:r>
                <a:r>
                  <a:rPr lang="zh-CN" altLang="en-US" b="1" dirty="0"/>
                  <a:t>，求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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xF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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yG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</a:t>
                </a:r>
                <a:r>
                  <a:rPr lang="zh-CN" altLang="en-US" b="1" kern="100" dirty="0">
                    <a:latin typeface="Times New Roman" panose="02020603050405020304" pitchFamily="18" charset="0"/>
                  </a:rPr>
                  <a:t>的前束范式；</a:t>
                </a:r>
                <a:endParaRPr lang="en-US" altLang="zh-CN" b="1" kern="100" dirty="0">
                  <a:latin typeface="Times New Roman" panose="02020603050405020304" pitchFamily="18" charset="0"/>
                </a:endParaRP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zh-CN" altLang="en-US" b="1" kern="100" dirty="0">
                    <a:latin typeface="Times New Roman" panose="02020603050405020304" pitchFamily="18" charset="0"/>
                  </a:rPr>
                  <a:t>解：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 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xF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 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yG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altLang="zh-CN" b="1" kern="1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 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xF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 </a:t>
                </a:r>
                <a:r>
                  <a:rPr lang="en-US" altLang="zh-CN" b="1" i="1" kern="100" dirty="0" err="1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yG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t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altLang="zh-CN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altLang="zh-CN" b="1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xF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 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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G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t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</m:t>
                    </m:r>
                    <m:r>
                      <a:rPr lang="en-US" altLang="zh-CN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altLang="zh-CN" b="1" kern="100" dirty="0">
                    <a:latin typeface="Times New Roman" panose="02020603050405020304" pitchFamily="18" charset="0"/>
                  </a:rPr>
                  <a:t>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 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F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x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  <a:sym typeface="Symbol" panose="05050102010706020507" pitchFamily="18" charset="2"/>
                  </a:rPr>
                  <a:t>  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G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(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t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中宋" panose="02010600040101010101" pitchFamily="2" charset="-122"/>
                  </a:rPr>
                  <a:t>) )</a:t>
                </a:r>
                <a:endParaRPr lang="en-US" altLang="zh-CN" b="1" kern="100" dirty="0">
                  <a:latin typeface="Times New Roman" panose="02020603050405020304" pitchFamily="18" charset="0"/>
                </a:endParaRP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altLang="zh-CN" b="1" kern="100" dirty="0">
                    <a:latin typeface="Times New Roman" panose="02020603050405020304" pitchFamily="18" charset="0"/>
                  </a:rPr>
                  <a:t>2</a:t>
                </a:r>
                <a:r>
                  <a:rPr lang="zh-CN" altLang="en-US" b="1" kern="100" dirty="0">
                    <a:latin typeface="Times New Roman" panose="02020603050405020304" pitchFamily="18" charset="0"/>
                  </a:rPr>
                  <a:t>，求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 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)∧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 )</a:t>
                </a:r>
                <a:r>
                  <a:rPr lang="zh-CN" altLang="en-US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∨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 H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 y, 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的前束范式</a:t>
                </a:r>
                <a:endParaRPr lang="en-US" altLang="zh-CN" b="1" dirty="0"/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zh-CN" altLang="en-US" dirty="0"/>
                  <a:t>解：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 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)∧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 )</a:t>
                </a:r>
                <a:r>
                  <a:rPr lang="zh-CN" altLang="en-US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∨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 H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 y, 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altLang="zh-CN" b="1" kern="1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dirty="0"/>
                  <a:t>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 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)∧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 )</a:t>
                </a:r>
                <a:r>
                  <a:rPr lang="zh-CN" altLang="en-US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∨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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H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y, 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14:m>
                  <m:oMath xmlns:m="http://schemas.openxmlformats.org/officeDocument/2006/math">
                    <m:r>
                      <a:rPr lang="en-US" altLang="zh-CN" b="1" i="1" kern="10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   </m:t>
                    </m:r>
                    <m:r>
                      <a:rPr lang="en-US" altLang="zh-CN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dirty="0"/>
                  <a:t> 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 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)∧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 )</a:t>
                </a:r>
                <a:r>
                  <a:rPr lang="zh-CN" altLang="en-US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∨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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H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</a:p>
              <a:p>
                <a:pPr marL="0" indent="0">
                  <a:spcBef>
                    <a:spcPts val="1800"/>
                  </a:spcBef>
                  <a:buNone/>
                </a:pPr>
                <a:r>
                  <a:rPr lang="en-US" altLang="zh-CN" b="1" kern="1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b="1" i="1" kern="10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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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 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 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)∧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 )</a:t>
                </a:r>
                <a:r>
                  <a:rPr lang="zh-CN" altLang="en-US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∨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H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b="1" i="1" kern="100" dirty="0">
                    <a:solidFill>
                      <a:srgbClr val="FF0000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t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en-US" altLang="zh-CN" b="1" i="1" kern="100" dirty="0">
                    <a:solidFill>
                      <a:srgbClr val="0000FF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u</a:t>
                </a:r>
                <a:r>
                  <a:rPr lang="en-US" altLang="zh-CN" b="1" i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z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zh-CN" altLang="en-US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b="1" kern="1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77402" y="107008"/>
                <a:ext cx="11076398" cy="6835398"/>
              </a:xfrm>
              <a:blipFill rotWithShape="0">
                <a:blip r:embed="rId2"/>
                <a:stretch>
                  <a:fillRect l="-1156" t="-19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393021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91735" y="153252"/>
            <a:ext cx="10515600" cy="557301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第六章：集合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6476" y="892097"/>
                <a:ext cx="11586117" cy="5718374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会判断元素与集合的关系（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∈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∉</m:t>
                    </m:r>
                  </m:oMath>
                </a14:m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  <a:endPara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会判断两个集合的关系（</a:t>
                </a:r>
                <a14:m>
                  <m:oMath xmlns:m="http://schemas.openxmlformats.org/officeDocument/2006/math"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⊆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，</m:t>
                    </m:r>
                    <m:r>
                      <a:rPr lang="zh-CN" altLang="en-US" b="1" i="1" smtClean="0">
                        <a:latin typeface="Cambria Math" panose="02040503050406030204" pitchFamily="18" charset="0"/>
                      </a:rPr>
                      <m:t>⊈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，</m:t>
                    </m:r>
                  </m:oMath>
                </a14:m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）</a:t>
                </a:r>
                <a:endPara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空集：</a:t>
                </a:r>
                <a:r>
                  <a:rPr lang="zh-CN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是一切集合的子集</a:t>
                </a:r>
                <a:r>
                  <a:rPr lang="zh-CN" altLang="en-US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且唯一；</a:t>
                </a:r>
                <a:endParaRPr lang="en-US" altLang="zh-CN" b="1" kern="1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对任意集合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en-US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 </a:t>
                </a:r>
                <a:r>
                  <a:rPr lang="zh-CN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有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en-US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en-US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</a:t>
                </a:r>
                <a:r>
                  <a:rPr lang="en-US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b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A</a:t>
                </a:r>
                <a:r>
                  <a:rPr lang="en-US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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endParaRPr lang="en-US" altLang="zh-CN" b="1" kern="100" dirty="0">
                  <a:latin typeface="华文楷体" panose="02010600040101010101" pitchFamily="2" charset="-122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会求一个集合的幂集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P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)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endPara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集合运算：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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B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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B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–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B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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B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，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Arial" panose="020B0604020202020204" pitchFamily="34" charset="0"/>
                  </a:rPr>
                  <a:t>~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  <a:cs typeface="Arial" panose="020B0604020202020204" pitchFamily="34" charset="0"/>
                  </a:rPr>
                  <a:t>，</a:t>
                </a:r>
                <a:r>
                  <a:rPr lang="en-US" altLang="zh-CN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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</a:t>
                </a:r>
                <a:r>
                  <a:rPr lang="en-US" altLang="zh-CN" b="1" i="1" kern="100" dirty="0"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A</a:t>
                </a:r>
                <a:r>
                  <a:rPr lang="en-US" altLang="zh-CN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en-US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。</a:t>
                </a:r>
                <a:endParaRPr lang="en-US" altLang="zh-CN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6476" y="892097"/>
                <a:ext cx="11586117" cy="5718374"/>
              </a:xfrm>
              <a:blipFill>
                <a:blip r:embed="rId2"/>
                <a:stretch>
                  <a:fillRect l="-94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62560878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13561" y="395878"/>
                <a:ext cx="5889267" cy="4106621"/>
              </a:xfrm>
            </p:spPr>
            <p:txBody>
              <a:bodyPr>
                <a:normAutofit/>
              </a:bodyPr>
              <a:lstStyle/>
              <a:p>
                <a:r>
                  <a:rPr lang="zh-CN" altLang="en-US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设集合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zh-CN" sz="3600" dirty="0">
                        <a:latin typeface="Cambria Math" panose="02040503050406030204" pitchFamily="18" charset="0"/>
                      </a:rPr>
                      <m:t>A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zh-CN" sz="3600" b="0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zh-CN" sz="3600" b="0" i="1" dirty="0" smtClean="0">
                                <a:latin typeface="Cambria Math" panose="02040503050406030204" pitchFamily="18" charset="0"/>
                              </a:rPr>
                              <m:t>1,2</m:t>
                            </m:r>
                          </m:e>
                        </m:d>
                        <m:r>
                          <a:rPr lang="en-US" altLang="zh-CN" sz="3600" b="0" i="1" dirty="0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nor/>
                          </m:rPr>
                          <a:rPr lang="en-US" altLang="zh-CN" sz="3600" b="1" i="0" dirty="0" smtClean="0">
                            <a:latin typeface="华文楷体" panose="02010600040101010101" pitchFamily="2" charset="-122"/>
                            <a:ea typeface="华文楷体" panose="02010600040101010101" pitchFamily="2" charset="-122"/>
                          </a:rPr>
                          <m:t>{</m:t>
                        </m:r>
                        <m:r>
                          <m:rPr>
                            <m:nor/>
                          </m:rPr>
                          <a:rPr lang="en-US" altLang="zh-CN" sz="3600" b="1" kern="100" dirty="0">
                            <a:latin typeface="华文楷体" panose="02010600040101010101" pitchFamily="2" charset="-122"/>
                            <a:ea typeface="华文楷体" panose="0201060004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</m:t>
                        </m:r>
                        <m:r>
                          <a:rPr lang="en-US" altLang="zh-CN" sz="3600" b="0" i="1" kern="100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  <a:sym typeface="Symbol" panose="05050102010706020507" pitchFamily="18" charset="2"/>
                          </a:rPr>
                          <m:t>}</m:t>
                        </m:r>
                      </m:e>
                    </m:d>
                  </m:oMath>
                </a14:m>
                <a:endParaRPr lang="en-US" altLang="zh-CN" sz="3600" b="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求：</a:t>
                </a:r>
                <a14:m>
                  <m:oMath xmlns:m="http://schemas.openxmlformats.org/officeDocument/2006/math">
                    <m:r>
                      <a:rPr lang="en-US" altLang="zh-CN" sz="360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⋂⋃</m:t>
                    </m:r>
                    <m:r>
                      <a:rPr lang="en-US" altLang="zh-CN" sz="3600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endParaRPr lang="en-US" altLang="zh-CN" sz="3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zh-CN" altLang="en-US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解：</a:t>
                </a:r>
                <a:endParaRPr lang="en-US" altLang="zh-CN" sz="3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en-US" altLang="zh-CN" sz="3600" dirty="0">
                    <a:ea typeface="Cambria Math" panose="02040503050406030204" pitchFamily="18" charset="0"/>
                  </a:rPr>
                  <a:t>   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⋂⋃</m:t>
                    </m:r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lang="en-US" altLang="zh-CN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</m:t>
                    </m:r>
                    <m:r>
                      <a:rPr lang="en-US" altLang="zh-CN" sz="3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({1,2}</m:t>
                    </m:r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⋃</m:t>
                    </m:r>
                    <m:r>
                      <m:rPr>
                        <m:nor/>
                      </m:rPr>
                      <a:rPr lang="en-US" altLang="zh-CN" sz="3600" b="1" i="0" dirty="0" smtClean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{</m:t>
                    </m:r>
                    <m:r>
                      <m:rPr>
                        <m:nor/>
                      </m:rPr>
                      <a:rPr lang="en-US" altLang="zh-CN" sz="3600" b="1" kern="100" dirty="0"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</m:t>
                    </m:r>
                    <m:r>
                      <m:rPr>
                        <m:nor/>
                      </m:rPr>
                      <a:rPr lang="en-US" altLang="zh-CN" sz="3600" b="1" i="0" kern="100" dirty="0" smtClean="0"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}</m:t>
                    </m:r>
                    <m:r>
                      <a:rPr lang="en-US" altLang="zh-CN" sz="3600" b="0" i="0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zh-CN" sz="3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en-US" altLang="zh-CN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</m:t>
                    </m:r>
                  </m:oMath>
                </a14:m>
                <a:r>
                  <a:rPr lang="en-US" altLang="zh-CN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{1,2,</a:t>
                </a:r>
                <a:r>
                  <a:rPr lang="en-US" altLang="zh-CN" sz="3600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b="1" kern="100" dirty="0"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r>
                  <a:rPr lang="en-US" altLang="zh-CN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}=1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</m:t>
                    </m:r>
                  </m:oMath>
                </a14:m>
                <a:r>
                  <a:rPr lang="en-US" altLang="zh-CN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2 </a:t>
                </a:r>
                <a14:m>
                  <m:oMath xmlns:m="http://schemas.openxmlformats.org/officeDocument/2006/math">
                    <m:r>
                      <a:rPr lang="en-US" altLang="zh-CN" sz="3600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⋂</m:t>
                    </m:r>
                  </m:oMath>
                </a14:m>
                <a:r>
                  <a:rPr lang="en-US" altLang="zh-CN" sz="3600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b="1" kern="100" dirty="0"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r>
                  <a:rPr lang="en-US" altLang="zh-CN" sz="36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3600" b="1" kern="100" dirty="0">
                    <a:latin typeface="华文楷体" panose="02010600040101010101" pitchFamily="2" charset="-122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 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altLang="zh-CN" sz="3600" b="1" kern="100" dirty="0">
                        <a:latin typeface="华文楷体" panose="02010600040101010101" pitchFamily="2" charset="-122"/>
                        <a:ea typeface="华文楷体" panose="02010600040101010101" pitchFamily="2" charset="-122"/>
                        <a:cs typeface="Times New Roman" panose="02020603050405020304" pitchFamily="18" charset="0"/>
                        <a:sym typeface="Symbol" panose="05050102010706020507" pitchFamily="18" charset="2"/>
                      </a:rPr>
                      <m:t></m:t>
                    </m:r>
                  </m:oMath>
                </a14:m>
                <a:endParaRPr lang="en-US" altLang="zh-CN" sz="3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3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endParaRPr lang="en-US" altLang="zh-CN" sz="3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endParaRPr lang="zh-CN" altLang="en-US" sz="3600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3561" y="395878"/>
                <a:ext cx="5889267" cy="4106621"/>
              </a:xfrm>
              <a:blipFill>
                <a:blip r:embed="rId2"/>
                <a:stretch>
                  <a:fillRect l="-3209" t="-252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内容占位符 2">
            <a:extLst>
              <a:ext uri="{FF2B5EF4-FFF2-40B4-BE49-F238E27FC236}">
                <a16:creationId xmlns:a16="http://schemas.microsoft.com/office/drawing/2014/main" id="{27D6B44D-86DB-44A7-AF75-486E1F777C0D}"/>
              </a:ext>
            </a:extLst>
          </p:cNvPr>
          <p:cNvSpPr txBox="1">
            <a:spLocks/>
          </p:cNvSpPr>
          <p:nvPr/>
        </p:nvSpPr>
        <p:spPr>
          <a:xfrm>
            <a:off x="6302828" y="225708"/>
            <a:ext cx="5285200" cy="62364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练习：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判断下列命题是否正确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</a:t>
            </a:r>
            <a:endParaRPr lang="zh-CN" altLang="zh-CN" b="1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</a:t>
            </a:r>
            <a:endParaRPr lang="zh-CN" altLang="zh-CN" b="1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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endParaRPr lang="zh-CN" altLang="zh-CN" b="1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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endParaRPr lang="zh-CN" altLang="zh-CN" b="1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}}</a:t>
            </a:r>
            <a:endParaRPr lang="zh-CN" altLang="zh-CN" b="1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}}</a:t>
            </a:r>
            <a:endParaRPr lang="zh-CN" altLang="zh-CN" b="1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,{{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}}} </a:t>
            </a:r>
            <a:endParaRPr lang="zh-CN" altLang="zh-CN" b="1" kern="1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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,{{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b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</a:t>
            </a:r>
            <a:r>
              <a:rPr lang="en-US" altLang="zh-CN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</a:t>
            </a:r>
            <a:r>
              <a:rPr lang="en-US" altLang="zh-CN" b="1" kern="1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}}}</a:t>
            </a: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  <a:sym typeface="Symbol" panose="05050102010706020507" pitchFamily="18" charset="2"/>
              </a:rPr>
              <a:t>x </a:t>
            </a: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</a:rPr>
              <a:t>{</a:t>
            </a: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  <a:sym typeface="Symbol" panose="05050102010706020507" pitchFamily="18" charset="2"/>
              </a:rPr>
              <a:t>x}-{</a:t>
            </a: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</a:rPr>
              <a:t>{</a:t>
            </a: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  <a:sym typeface="Symbol" panose="05050102010706020507" pitchFamily="18" charset="2"/>
              </a:rPr>
              <a:t>x}}</a:t>
            </a:r>
          </a:p>
          <a:p>
            <a:pPr marL="742950" indent="-514350" algn="just">
              <a:buFont typeface="+mj-ea"/>
              <a:buAutoNum type="circleNumDbPlain"/>
            </a:pP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  <a:sym typeface="Symbol" panose="05050102010706020507" pitchFamily="18" charset="2"/>
              </a:rPr>
              <a:t>x </a:t>
            </a: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</a:rPr>
              <a:t>{</a:t>
            </a:r>
            <a:r>
              <a:rPr lang="en-US" altLang="zh-CN" b="1" kern="100" dirty="0">
                <a:latin typeface="Times New Roman" panose="02020603050405020304" pitchFamily="18" charset="0"/>
                <a:ea typeface="华文中宋" panose="02010600040101010101" pitchFamily="2" charset="-122"/>
                <a:cs typeface="Tahoma" panose="020B0604030504040204" pitchFamily="34" charset="0"/>
                <a:sym typeface="Symbol" panose="05050102010706020507" pitchFamily="18" charset="2"/>
              </a:rPr>
              <a:t>x}</a:t>
            </a:r>
            <a:r>
              <a:rPr kumimoji="1" lang="zh-CN" altLang="en-US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∪ </a:t>
            </a:r>
            <a:r>
              <a:rPr kumimoji="1" lang="en-US" altLang="zh-CN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x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DAB4924-52CF-422E-9351-12B9FE87A6B9}"/>
              </a:ext>
            </a:extLst>
          </p:cNvPr>
          <p:cNvSpPr txBox="1"/>
          <p:nvPr/>
        </p:nvSpPr>
        <p:spPr>
          <a:xfrm>
            <a:off x="10673628" y="124387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279607C-914D-4215-BB70-9C5DAAEDAFDD}"/>
              </a:ext>
            </a:extLst>
          </p:cNvPr>
          <p:cNvSpPr txBox="1"/>
          <p:nvPr/>
        </p:nvSpPr>
        <p:spPr>
          <a:xfrm>
            <a:off x="10673628" y="1767098"/>
            <a:ext cx="760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DF9B814-C2BB-48E2-A822-EF0A83969E01}"/>
              </a:ext>
            </a:extLst>
          </p:cNvPr>
          <p:cNvSpPr txBox="1"/>
          <p:nvPr/>
        </p:nvSpPr>
        <p:spPr>
          <a:xfrm>
            <a:off x="10673628" y="229031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A0747FB2-6518-4E3D-9156-383CCD57C461}"/>
              </a:ext>
            </a:extLst>
          </p:cNvPr>
          <p:cNvSpPr txBox="1"/>
          <p:nvPr/>
        </p:nvSpPr>
        <p:spPr>
          <a:xfrm>
            <a:off x="10673628" y="2827807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82F3723-02D6-48C2-8E2B-60E016FC37FE}"/>
              </a:ext>
            </a:extLst>
          </p:cNvPr>
          <p:cNvSpPr txBox="1"/>
          <p:nvPr/>
        </p:nvSpPr>
        <p:spPr>
          <a:xfrm>
            <a:off x="10673628" y="3407730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E5458688-BA0B-4CAD-B680-CA5AD9A6129B}"/>
              </a:ext>
            </a:extLst>
          </p:cNvPr>
          <p:cNvSpPr txBox="1"/>
          <p:nvPr/>
        </p:nvSpPr>
        <p:spPr>
          <a:xfrm>
            <a:off x="10673628" y="391686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A105E707-9F0B-45B6-AFA0-836D813B708D}"/>
              </a:ext>
            </a:extLst>
          </p:cNvPr>
          <p:cNvSpPr txBox="1"/>
          <p:nvPr/>
        </p:nvSpPr>
        <p:spPr>
          <a:xfrm>
            <a:off x="10673628" y="4440088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1D3FAB7F-E0ED-4DD6-AD8E-84644EE87956}"/>
              </a:ext>
            </a:extLst>
          </p:cNvPr>
          <p:cNvSpPr txBox="1"/>
          <p:nvPr/>
        </p:nvSpPr>
        <p:spPr>
          <a:xfrm>
            <a:off x="10673628" y="5012970"/>
            <a:ext cx="7602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✘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FAC6721A-237A-465C-8267-A5C29096C336}"/>
              </a:ext>
            </a:extLst>
          </p:cNvPr>
          <p:cNvSpPr txBox="1"/>
          <p:nvPr/>
        </p:nvSpPr>
        <p:spPr>
          <a:xfrm>
            <a:off x="10673628" y="5424444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8A9CEE0C-0D9B-473E-ADB0-3F94D7DD17E7}"/>
              </a:ext>
            </a:extLst>
          </p:cNvPr>
          <p:cNvSpPr txBox="1"/>
          <p:nvPr/>
        </p:nvSpPr>
        <p:spPr>
          <a:xfrm>
            <a:off x="10684172" y="5898561"/>
            <a:ext cx="914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dirty="0">
                <a:solidFill>
                  <a:srgbClr val="FF0000"/>
                </a:solidFill>
              </a:rPr>
              <a:t>✔</a:t>
            </a:r>
          </a:p>
        </p:txBody>
      </p:sp>
    </p:spTree>
    <p:extLst>
      <p:ext uri="{BB962C8B-B14F-4D97-AF65-F5344CB8AC3E}">
        <p14:creationId xmlns:p14="http://schemas.microsoft.com/office/powerpoint/2010/main" val="1143398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>
            <a:extLst>
              <a:ext uri="{FF2B5EF4-FFF2-40B4-BE49-F238E27FC236}">
                <a16:creationId xmlns:a16="http://schemas.microsoft.com/office/drawing/2014/main" id="{B1FC3EF2-1718-44BB-B906-59411697B9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4915" y="508453"/>
            <a:ext cx="4050177" cy="514804"/>
          </a:xfrm>
        </p:spPr>
        <p:txBody>
          <a:bodyPr/>
          <a:lstStyle/>
          <a:p>
            <a:r>
              <a:rPr lang="zh-CN" altLang="en-US" dirty="0"/>
              <a:t>集合的证明</a:t>
            </a:r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482E0094-6DAA-423E-8BBE-C5DE48AFF8CE}"/>
              </a:ext>
            </a:extLst>
          </p:cNvPr>
          <p:cNvSpPr/>
          <p:nvPr/>
        </p:nvSpPr>
        <p:spPr>
          <a:xfrm>
            <a:off x="385041" y="1215834"/>
            <a:ext cx="4340051" cy="51337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30000"/>
              </a:lnSpc>
              <a:spcAft>
                <a:spcPts val="0"/>
              </a:spcAft>
              <a:buAutoNum type="arabicPeriod"/>
            </a:pP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等幂律：</a:t>
            </a: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A=A 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∩ A=A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2. 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结合律</a:t>
            </a:r>
            <a:r>
              <a:rPr lang="zh-CN" altLang="zh-CN" sz="2800" b="1" kern="100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</a:t>
            </a:r>
            <a:r>
              <a:rPr lang="en-US" altLang="zh-CN" sz="2800" b="1" kern="100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B)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C=A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C)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(A∩B) ∩ C=A ∩ (B∩C)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3. 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交换律：</a:t>
            </a: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B=B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</a:p>
          <a:p>
            <a:pPr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∩ B=B ∩ A</a:t>
            </a:r>
            <a:endParaRPr lang="zh-CN" altLang="zh-CN" sz="2800" b="1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B428A921-8B4D-4BA3-B956-8FA7A2653DC6}"/>
              </a:ext>
            </a:extLst>
          </p:cNvPr>
          <p:cNvSpPr/>
          <p:nvPr/>
        </p:nvSpPr>
        <p:spPr>
          <a:xfrm>
            <a:off x="4725092" y="1157583"/>
            <a:ext cx="4896544" cy="52137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4.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分配律：</a:t>
            </a:r>
            <a:endParaRPr lang="en-US" altLang="zh-CN" sz="2800" b="1" kern="100" dirty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</a:t>
            </a:r>
            <a:r>
              <a:rPr lang="zh-CN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(B∩C)=(A</a:t>
            </a:r>
            <a:r>
              <a:rPr lang="zh-CN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B)∩(A</a:t>
            </a:r>
            <a:r>
              <a:rPr lang="zh-CN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C)</a:t>
            </a:r>
            <a:endParaRPr lang="zh-CN" altLang="zh-CN" sz="2800" b="1" kern="100" dirty="0">
              <a:solidFill>
                <a:srgbClr val="FF3399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A∩(B</a:t>
            </a:r>
            <a:r>
              <a:rPr lang="zh-CN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C)=(A∩B)</a:t>
            </a:r>
            <a:r>
              <a:rPr lang="zh-CN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solidFill>
                  <a:srgbClr val="FF33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(A∩C)</a:t>
            </a:r>
            <a:endParaRPr lang="zh-CN" altLang="zh-CN" sz="2800" b="1" kern="100" dirty="0">
              <a:solidFill>
                <a:srgbClr val="FF3399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5.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同一律：</a:t>
            </a: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A=A</a:t>
            </a: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 ∩ A = A</a:t>
            </a: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6. </a:t>
            </a:r>
            <a:r>
              <a:rPr lang="zh-CN" altLang="zh-CN" sz="2800" b="1" kern="1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零律：</a:t>
            </a:r>
            <a:r>
              <a:rPr lang="en-US" altLang="zh-CN" sz="2800" b="1" kern="100" dirty="0">
                <a:solidFill>
                  <a:srgbClr val="FFFF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</a:t>
            </a: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</a:t>
            </a:r>
            <a:r>
              <a:rPr lang="zh-CN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∪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 = E</a:t>
            </a:r>
          </a:p>
          <a:p>
            <a:pPr indent="133985" algn="just">
              <a:lnSpc>
                <a:spcPct val="130000"/>
              </a:lnSpc>
              <a:spcAft>
                <a:spcPts val="0"/>
              </a:spcAft>
            </a:pP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 </a:t>
            </a:r>
            <a:r>
              <a:rPr lang="en-US" altLang="zh-CN" sz="2800" b="1" kern="100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∩ A=</a:t>
            </a:r>
            <a:r>
              <a:rPr lang="en-US" altLang="zh-CN" sz="28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Symbol" panose="05050102010706020507" pitchFamily="18" charset="2"/>
              </a:rPr>
              <a:t> </a:t>
            </a:r>
            <a:endParaRPr lang="zh-CN" altLang="zh-CN" sz="2800" b="1" kern="100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848055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0B7FD23B-A686-406F-96A0-12492BD218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00" y="503841"/>
            <a:ext cx="10515600" cy="5909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spcAft>
                <a:spcPts val="0"/>
              </a:spcAft>
              <a:buFont typeface="+mj-ea"/>
              <a:buAutoNum type="circleNumDbPlain"/>
            </a:pPr>
            <a:r>
              <a:rPr lang="zh-CN" altLang="zh-CN" sz="3600" b="1" kern="100" dirty="0">
                <a:ln w="0">
                  <a:solidFill>
                    <a:prstClr val="black"/>
                  </a:solidFill>
                </a:ln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命题演算法证 </a:t>
            </a:r>
            <a:r>
              <a:rPr lang="zh-CN" altLang="en-US" sz="3600" b="1" kern="100" dirty="0">
                <a:ln w="0">
                  <a:solidFill>
                    <a:prstClr val="black"/>
                  </a:solidFill>
                </a:ln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证明</a:t>
            </a:r>
            <a:r>
              <a:rPr lang="en-US" altLang="zh-CN" sz="3600" b="1" i="1" kern="100" dirty="0">
                <a:ln w="0">
                  <a:solidFill>
                    <a:prstClr val="black"/>
                  </a:solidFill>
                </a:ln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3600" b="1" kern="100" dirty="0">
                <a:ln w="0">
                  <a:solidFill>
                    <a:prstClr val="black"/>
                  </a:solidFill>
                </a:ln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3600" b="1" i="1" kern="100" dirty="0">
                <a:ln w="0">
                  <a:solidFill>
                    <a:prstClr val="black"/>
                  </a:solidFill>
                </a:ln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Y </a:t>
            </a:r>
            <a:r>
              <a:rPr lang="zh-CN" altLang="en-US" sz="3600" b="1" kern="100" dirty="0">
                <a:ln w="0">
                  <a:solidFill>
                    <a:prstClr val="black"/>
                  </a:solidFill>
                </a:ln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或者 </a:t>
            </a:r>
            <a:r>
              <a:rPr lang="en-US" altLang="zh-CN" sz="3600" b="1" i="1" kern="100" dirty="0">
                <a:ln w="0">
                  <a:solidFill>
                    <a:prstClr val="black"/>
                  </a:solidFill>
                </a:ln>
                <a:solidFill>
                  <a:srgbClr val="FF9933"/>
                </a:solidFill>
                <a:latin typeface="Times New Roman" panose="02020603050405020304" pitchFamily="18" charset="0"/>
                <a:ea typeface="华文中宋" panose="02010600040101010101" pitchFamily="2" charset="-122"/>
              </a:rPr>
              <a:t>X=Y </a:t>
            </a:r>
            <a:endParaRPr lang="zh-CN" altLang="zh-CN" kern="100" dirty="0">
              <a:solidFill>
                <a:srgbClr val="FF9933"/>
              </a:solidFill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B24D3E46-43B1-45B2-9CE5-B245977907B9}"/>
              </a:ext>
            </a:extLst>
          </p:cNvPr>
          <p:cNvSpPr/>
          <p:nvPr/>
        </p:nvSpPr>
        <p:spPr>
          <a:xfrm>
            <a:off x="2720888" y="1203627"/>
            <a:ext cx="72008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spcAft>
                <a:spcPts val="0"/>
              </a:spcAft>
            </a:pPr>
            <a:r>
              <a:rPr lang="zh-CN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证明思路：任取 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x </a:t>
            </a:r>
            <a:r>
              <a:rPr lang="zh-CN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，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kern="100" dirty="0" err="1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…  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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x</a:t>
            </a:r>
            <a:r>
              <a:rPr lang="en-US" altLang="zh-CN" sz="2800" b="1" kern="100" dirty="0" err="1">
                <a:latin typeface="Times New Roman" panose="02020603050405020304" pitchFamily="18" charset="0"/>
                <a:ea typeface="华文中宋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中宋" panose="02010600040101010101" pitchFamily="2" charset="-122"/>
              </a:rPr>
              <a:t>Y</a:t>
            </a:r>
            <a:r>
              <a:rPr lang="en-US" altLang="zh-CN" sz="2800" b="1" kern="100" dirty="0">
                <a:latin typeface="Times New Roman" panose="02020603050405020304" pitchFamily="18" charset="0"/>
                <a:ea typeface="华文中宋" panose="02010600040101010101" pitchFamily="2" charset="-122"/>
              </a:rPr>
              <a:t>  </a:t>
            </a:r>
            <a:endParaRPr lang="zh-CN" altLang="zh-CN" sz="2800" kern="1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5A53B868-2CAF-4CA9-920A-8C457BDC6B6D}"/>
              </a:ext>
            </a:extLst>
          </p:cNvPr>
          <p:cNvSpPr/>
          <p:nvPr/>
        </p:nvSpPr>
        <p:spPr>
          <a:xfrm>
            <a:off x="904385" y="1960282"/>
            <a:ext cx="579273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kern="100" dirty="0">
                <a:solidFill>
                  <a:schemeClr val="accent2"/>
                </a:solidFill>
                <a:latin typeface="华文楷体" panose="02010600040101010101" pitchFamily="2" charset="-122"/>
              </a:rPr>
              <a:t>已知</a:t>
            </a:r>
            <a:r>
              <a:rPr lang="en-US" altLang="zh-CN" sz="2800" b="1" kern="100" dirty="0">
                <a:solidFill>
                  <a:schemeClr val="accent2"/>
                </a:solidFill>
                <a:latin typeface="华文楷体" panose="02010600040101010101" pitchFamily="2" charset="-122"/>
              </a:rPr>
              <a:t>A</a:t>
            </a:r>
            <a:r>
              <a:rPr lang="en-US" altLang="zh-CN" sz="2800" b="1" kern="1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b="1" kern="100" dirty="0">
                <a:solidFill>
                  <a:schemeClr val="accent2"/>
                </a:solidFill>
                <a:latin typeface="华文楷体" panose="02010600040101010101" pitchFamily="2" charset="-122"/>
              </a:rPr>
              <a:t>B </a:t>
            </a:r>
            <a:r>
              <a:rPr lang="zh-CN" altLang="en-US" sz="2800" b="1" kern="100" dirty="0">
                <a:solidFill>
                  <a:schemeClr val="accent2"/>
                </a:solidFill>
                <a:latin typeface="华文楷体" panose="02010600040101010101" pitchFamily="2" charset="-122"/>
              </a:rPr>
              <a:t>，证明：</a:t>
            </a:r>
            <a:r>
              <a:rPr lang="en-US" altLang="zh-CN" sz="2800" b="1" kern="100" dirty="0">
                <a:solidFill>
                  <a:schemeClr val="accent2"/>
                </a:solidFill>
                <a:latin typeface="华文楷体" panose="02010600040101010101" pitchFamily="2" charset="-122"/>
              </a:rPr>
              <a:t> A</a:t>
            </a:r>
            <a:r>
              <a:rPr lang="en-US" altLang="zh-CN" sz="2800" b="1" kern="100" dirty="0">
                <a:solidFill>
                  <a:schemeClr val="accent2"/>
                </a:solidFill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sz="2800" b="1" kern="100" dirty="0">
                <a:solidFill>
                  <a:schemeClr val="accent2"/>
                </a:solidFill>
                <a:latin typeface="华文楷体" panose="02010600040101010101" pitchFamily="2" charset="-122"/>
              </a:rPr>
              <a:t>B=B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E7B1B11-D0B3-4456-853C-CDF64F825687}"/>
              </a:ext>
            </a:extLst>
          </p:cNvPr>
          <p:cNvSpPr/>
          <p:nvPr/>
        </p:nvSpPr>
        <p:spPr>
          <a:xfrm>
            <a:off x="1052303" y="2655383"/>
            <a:ext cx="4622356" cy="26434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任取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x</a:t>
            </a:r>
            <a:r>
              <a:rPr lang="zh-CN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endParaRPr lang="en-US" altLang="zh-CN" sz="2800" b="1" i="1" kern="1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华文楷体" panose="02010600040101010101" pitchFamily="2" charset="-122"/>
              </a:rPr>
              <a:t>A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sz="2800" b="1" i="1" kern="100" dirty="0" err="1">
                <a:latin typeface="华文楷体" panose="0201060004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 </a:t>
            </a:r>
          </a:p>
          <a:p>
            <a:pPr marL="457200" indent="-457200" algn="just">
              <a:lnSpc>
                <a:spcPct val="120000"/>
              </a:lnSpc>
              <a:spcAft>
                <a:spcPts val="0"/>
              </a:spcAft>
              <a:buFont typeface="Symbol" panose="05050102010706020507" pitchFamily="18" charset="2"/>
              <a:buChar char="Û"/>
            </a:pP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华文楷体" panose="02010600040101010101" pitchFamily="2" charset="-122"/>
              </a:rPr>
              <a:t>A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华文楷体" panose="0201060004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 </a:t>
            </a:r>
          </a:p>
          <a:p>
            <a:pPr marL="457200" indent="-457200" algn="just">
              <a:lnSpc>
                <a:spcPct val="120000"/>
              </a:lnSpc>
              <a:spcAft>
                <a:spcPts val="0"/>
              </a:spcAft>
              <a:buFont typeface="Symbol" panose="05050102010706020507" pitchFamily="18" charset="2"/>
              <a:buChar char="Þ"/>
            </a:pP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华文楷体" panose="0201060004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 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 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华文楷体" panose="0201060004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 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(∵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A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B</a:t>
            </a:r>
            <a:r>
              <a:rPr lang="en-US" altLang="zh-CN" sz="2800" b="1" kern="100" dirty="0">
                <a:latin typeface="华文楷体" panose="02010600040101010101" pitchFamily="2" charset="-122"/>
              </a:rPr>
              <a:t>)</a:t>
            </a:r>
            <a:endParaRPr lang="en-US" altLang="zh-CN" sz="2800" b="1" i="1" kern="100" dirty="0">
              <a:latin typeface="华文楷体" panose="02010600040101010101" pitchFamily="2" charset="-122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  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 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华文楷体" panose="0201060004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        ∴ 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b="1" i="1" kern="100" dirty="0">
                <a:latin typeface="华文楷体" panose="02010600040101010101" pitchFamily="2" charset="-122"/>
              </a:rPr>
              <a:t>B</a:t>
            </a:r>
            <a:endParaRPr lang="zh-CN" altLang="en-US" sz="2800" b="1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822A42F8-C666-413A-9C28-4344A150AE20}"/>
              </a:ext>
            </a:extLst>
          </p:cNvPr>
          <p:cNvSpPr/>
          <p:nvPr/>
        </p:nvSpPr>
        <p:spPr>
          <a:xfrm>
            <a:off x="7343147" y="2821868"/>
            <a:ext cx="3350076" cy="21263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 algn="just">
              <a:lnSpc>
                <a:spcPct val="120000"/>
              </a:lnSpc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任取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x</a:t>
            </a:r>
            <a:r>
              <a:rPr lang="zh-CN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，</a:t>
            </a:r>
            <a:endParaRPr lang="en-US" altLang="zh-CN" sz="2800" b="1" i="1" kern="100" dirty="0">
              <a:latin typeface="Times New Roman" panose="02020603050405020304" pitchFamily="18" charset="0"/>
              <a:ea typeface="华文楷体" panose="02010600040101010101" pitchFamily="2" charset="-122"/>
            </a:endParaRP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     x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 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 </a:t>
            </a:r>
          </a:p>
          <a:p>
            <a:pPr marL="457200" indent="-457200" algn="just">
              <a:lnSpc>
                <a:spcPct val="120000"/>
              </a:lnSpc>
              <a:spcAft>
                <a:spcPts val="0"/>
              </a:spcAft>
              <a:buFont typeface="Symbol" panose="05050102010706020507" pitchFamily="18" charset="2"/>
              <a:buChar char="Û"/>
            </a:pP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   </a:t>
            </a:r>
            <a:r>
              <a:rPr lang="en-US" altLang="zh-CN" sz="2800" b="1" i="1" kern="100" dirty="0" err="1">
                <a:latin typeface="Times New Roman" panose="02020603050405020304" pitchFamily="18" charset="0"/>
                <a:ea typeface="华文楷体" panose="02010600040101010101" pitchFamily="2" charset="-122"/>
              </a:rPr>
              <a:t>x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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宋体" panose="02010600030101010101" pitchFamily="2" charset="-122"/>
              </a:rPr>
              <a:t>A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sz="2800" b="1" i="1" kern="100" dirty="0" err="1">
                <a:latin typeface="华文楷体" panose="0201060004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 </a:t>
            </a:r>
          </a:p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en-US" altLang="zh-CN" sz="2800" b="1" i="1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 ∴  B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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宋体" panose="02010600030101010101" pitchFamily="2" charset="-122"/>
              </a:rPr>
              <a:t>B</a:t>
            </a:r>
            <a:r>
              <a:rPr lang="en-US" altLang="zh-CN" sz="2800" b="1" i="1" kern="1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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A.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1ABBC5C6-3A89-4403-9ACE-8C9F4CF7689B}"/>
              </a:ext>
            </a:extLst>
          </p:cNvPr>
          <p:cNvSpPr/>
          <p:nvPr/>
        </p:nvSpPr>
        <p:spPr>
          <a:xfrm>
            <a:off x="7343147" y="4948219"/>
            <a:ext cx="2159566" cy="57656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>
              <a:lnSpc>
                <a:spcPct val="120000"/>
              </a:lnSpc>
              <a:spcAft>
                <a:spcPts val="0"/>
              </a:spcAft>
            </a:pPr>
            <a:r>
              <a:rPr lang="zh-CN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综上</a:t>
            </a:r>
            <a:r>
              <a:rPr lang="zh-CN" altLang="en-US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：</a:t>
            </a:r>
            <a:r>
              <a:rPr lang="zh-CN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得证</a:t>
            </a:r>
            <a:r>
              <a:rPr lang="en-US" altLang="zh-CN" sz="2800" b="1" i="1" kern="100" dirty="0">
                <a:latin typeface="Times New Roman" panose="02020603050405020304" pitchFamily="18" charset="0"/>
                <a:ea typeface="华文楷体" panose="02010600040101010101" pitchFamily="2" charset="-122"/>
              </a:rPr>
              <a:t>. </a:t>
            </a:r>
            <a:endParaRPr lang="zh-CN" altLang="zh-CN" sz="2800" b="1" kern="100" dirty="0">
              <a:latin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76598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65450" y="149630"/>
            <a:ext cx="10515600" cy="555099"/>
          </a:xfrm>
        </p:spPr>
        <p:txBody>
          <a:bodyPr>
            <a:normAutofit fontScale="90000"/>
          </a:bodyPr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第七章：二元关系</a:t>
            </a:r>
            <a:r>
              <a:rPr lang="zh-CN" altLang="en-US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（很重要）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53991" y="979318"/>
            <a:ext cx="11784637" cy="546807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会计算笛卡尔积；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C694885-13A6-4CB3-9067-73FFC7479C08}"/>
              </a:ext>
            </a:extLst>
          </p:cNvPr>
          <p:cNvSpPr txBox="1">
            <a:spLocks noChangeArrowheads="1"/>
          </p:cNvSpPr>
          <p:nvPr/>
        </p:nvSpPr>
        <p:spPr>
          <a:xfrm>
            <a:off x="465450" y="1526992"/>
            <a:ext cx="11472559" cy="5331007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A×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＝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,        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×A＝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endParaRPr lang="en-US" altLang="zh-CN" sz="3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A×B≠B×A (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A≠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∧ B≠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∧ A≠B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时)</a:t>
            </a:r>
          </a:p>
          <a:p>
            <a:pPr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A×B)×C≠A×(B×C)(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当 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A≠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∧ B≠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∧ C≠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时)</a:t>
            </a:r>
            <a:endParaRPr lang="en-US" altLang="zh-CN" sz="32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spcBef>
                <a:spcPts val="120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A×(B∪C)=(A×B)∪(A×C)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B∪C)×A=(B×A)∪(C×A)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A×(B∩C)=(A×B)∩(A×C)</a:t>
            </a:r>
          </a:p>
          <a:p>
            <a:pPr>
              <a:spcBef>
                <a:spcPts val="1200"/>
              </a:spcBef>
              <a:buNone/>
            </a:pP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B∩C)×A=(B×A)∩(C×A)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 ∧ B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en-US" altLang="zh-CN" sz="32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A×B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C×D</a:t>
            </a:r>
          </a:p>
          <a:p>
            <a:pPr>
              <a:lnSpc>
                <a:spcPct val="100000"/>
              </a:lnSpc>
              <a:spcBef>
                <a:spcPts val="1200"/>
              </a:spcBef>
              <a:buNone/>
            </a:pP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A×B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C×D 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</a:t>
            </a:r>
            <a:r>
              <a:rPr lang="en-US" altLang="zh-CN" sz="32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C∧B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D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A=B=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 或（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A≠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且</a:t>
            </a:r>
            <a:r>
              <a:rPr lang="en-US" altLang="zh-CN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B≠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） </a:t>
            </a:r>
            <a:r>
              <a:rPr lang="zh-CN" altLang="en-US" sz="32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</a:t>
            </a:r>
          </a:p>
        </p:txBody>
      </p:sp>
    </p:spTree>
    <p:extLst>
      <p:ext uri="{BB962C8B-B14F-4D97-AF65-F5344CB8AC3E}">
        <p14:creationId xmlns:p14="http://schemas.microsoft.com/office/powerpoint/2010/main" val="19543550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03681" y="444928"/>
                <a:ext cx="11784637" cy="6312132"/>
              </a:xfrm>
            </p:spPr>
            <p:txBody>
              <a:bodyPr>
                <a:normAutofit/>
              </a:bodyPr>
              <a:lstStyle/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对于含有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个元素的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集合，则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上的二元关系有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zh-CN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sSupPr>
                      <m:e>
                        <m:r>
                          <a:rPr lang="en-US" altLang="zh-CN" b="0" i="1" dirty="0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2</m:t>
                        </m:r>
                      </m:e>
                      <m:sup>
                        <m:sSup>
                          <m:sSupPr>
                            <m:ctrlPr>
                              <a:rPr lang="en-US" altLang="zh-CN" i="1" dirty="0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</m:ctrlPr>
                          </m:sSupPr>
                          <m:e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US" altLang="zh-CN" b="0" i="1" dirty="0" smtClean="0">
                                <a:latin typeface="Cambria Math" panose="02040503050406030204" pitchFamily="18" charset="0"/>
                                <a:ea typeface="华文楷体" panose="02010600040101010101" pitchFamily="2" charset="-122"/>
                                <a:cs typeface="Times New Roman" panose="02020603050405020304" pitchFamily="18" charset="0"/>
                              </a:rPr>
                              <m:t>2</m:t>
                            </m:r>
                          </m:sup>
                        </m:sSup>
                      </m:sup>
                    </m:sSup>
                  </m:oMath>
                </a14:m>
                <a:endParaRPr lang="en-US" altLang="zh-CN" baseline="30000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会求给定集合的特殊关系：恒等关系，空关系，整除关系，小于等于关系等；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（建议先求出全域关系，然后在其中找满足条件的元素）</a:t>
                </a:r>
                <a:endParaRPr lang="en-US" altLang="zh-CN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关系的三种表示方法：集合表达式，矩阵表达，关系图；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关系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定义域</a:t>
                </a:r>
                <a:r>
                  <a:rPr lang="en-US" altLang="zh-CN" b="1" dirty="0" err="1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dom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值域</a:t>
                </a:r>
                <a:r>
                  <a:rPr lang="en-US" altLang="zh-CN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ran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和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域</a:t>
                </a:r>
                <a:r>
                  <a:rPr lang="en-US" altLang="zh-CN" b="1" dirty="0" err="1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fld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en-US" altLang="zh-CN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上的限制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↑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A=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{&lt;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x,y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&gt;|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xRy</a:t>
                </a:r>
                <a:r>
                  <a:rPr lang="en-US" altLang="zh-CN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∧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}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），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在</a:t>
                </a:r>
                <a:r>
                  <a:rPr lang="en-US" altLang="zh-CN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下的像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（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[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 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=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{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y</a:t>
                </a:r>
                <a:r>
                  <a:rPr lang="en-US" altLang="zh-CN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|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xRy</a:t>
                </a:r>
                <a:r>
                  <a:rPr lang="en-US" altLang="zh-CN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∧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x</a:t>
                </a:r>
                <a:r>
                  <a:rPr lang="en-US" altLang="zh-CN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∈</a:t>
                </a:r>
                <a:r>
                  <a:rPr lang="en-US" altLang="zh-CN" i="1" dirty="0" err="1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}</a:t>
                </a:r>
                <a:r>
                  <a:rPr lang="en-US" altLang="zh-CN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）。</a:t>
                </a:r>
                <a:endParaRPr lang="en-US" altLang="zh-CN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关系的逆运算：</a:t>
                </a:r>
                <a:r>
                  <a:rPr lang="zh-CN" altLang="en-US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i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)</a:t>
                </a:r>
                <a:r>
                  <a:rPr lang="en-US" altLang="zh-CN" i="1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en-US" altLang="zh-CN" i="1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＝F 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(F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G)</a:t>
                </a:r>
                <a:r>
                  <a:rPr lang="en-US" altLang="zh-CN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en-US" altLang="zh-CN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＝G</a:t>
                </a:r>
                <a:r>
                  <a:rPr lang="en-US" altLang="zh-CN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F</a:t>
                </a:r>
                <a:r>
                  <a:rPr lang="en-US" altLang="zh-CN" baseline="30000" dirty="0">
                    <a:solidFill>
                      <a:schemeClr val="tx1"/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;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关系的右复合，幂运算。</a:t>
                </a:r>
                <a:endParaRPr lang="en-US" altLang="zh-CN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R</a:t>
                </a:r>
                <a:r>
                  <a:rPr lang="en-US" altLang="zh-CN" baseline="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n+1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＝R</a:t>
                </a:r>
                <a:r>
                  <a:rPr lang="en-US" altLang="zh-CN" baseline="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 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</a:t>
                </a:r>
                <a:r>
                  <a:rPr lang="en-US" altLang="zh-CN" baseline="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 (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F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G)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H＝F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(G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H)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(F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G)</a:t>
                </a:r>
                <a:r>
                  <a:rPr lang="en-US" altLang="zh-CN" baseline="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＝G</a:t>
                </a:r>
                <a:r>
                  <a:rPr lang="en-US" altLang="zh-CN" baseline="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F</a:t>
                </a:r>
                <a:r>
                  <a:rPr lang="en-US" altLang="zh-CN" baseline="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-1</a:t>
                </a:r>
                <a:r>
                  <a:rPr lang="zh-CN" altLang="en-US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 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 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I</a:t>
                </a:r>
                <a:r>
                  <a:rPr lang="en-US" altLang="zh-CN" baseline="-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＝ I</a:t>
                </a:r>
                <a:r>
                  <a:rPr lang="en-US" altLang="zh-CN" baseline="-30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  <a:sym typeface="Symbol" panose="05050102010706020507" pitchFamily="18" charset="2"/>
                  </a:rPr>
                  <a:t> 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R＝ R</a:t>
                </a:r>
              </a:p>
              <a:p>
                <a:pPr>
                  <a:lnSpc>
                    <a:spcPct val="100000"/>
                  </a:lnSpc>
                  <a:spcBef>
                    <a:spcPts val="1200"/>
                  </a:spcBef>
                </a:pPr>
                <a:r>
                  <a:rPr lang="zh-CN" altLang="en-US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所有的关系运算都优先于集合运算</a:t>
                </a:r>
                <a:endParaRPr lang="en-US" altLang="zh-CN" dirty="0">
                  <a:solidFill>
                    <a:srgbClr val="FF0000"/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03681" y="444928"/>
                <a:ext cx="11784637" cy="6312132"/>
              </a:xfrm>
              <a:blipFill>
                <a:blip r:embed="rId2"/>
                <a:stretch>
                  <a:fillRect l="-931" t="-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299608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03681" y="456804"/>
            <a:ext cx="11784637" cy="5468075"/>
          </a:xfrm>
        </p:spPr>
        <p:txBody>
          <a:bodyPr>
            <a:normAutofit lnSpcReduction="10000"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关系运算的性质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(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∪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H)＝F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G∪F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</a:t>
            </a:r>
            <a:b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(G∪H)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＝G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∪H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F</a:t>
            </a:r>
            <a:b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</a:b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(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G∩H)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G∩F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</a:t>
            </a:r>
            <a:b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</a:b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(G∩H)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F </a:t>
            </a:r>
            <a:r>
              <a:rPr lang="zh-CN" altLang="en-US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G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F∩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H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F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  <a:sym typeface="Symbol" panose="05050102010706020507" pitchFamily="18" charset="2"/>
            </a:endParaRPr>
          </a:p>
          <a:p>
            <a:pPr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en-US" altLang="zh-CN" dirty="0"/>
              <a:t>R</a:t>
            </a:r>
            <a:r>
              <a:rPr lang="en-US" altLang="zh-CN" baseline="30000" dirty="0"/>
              <a:t>s</a:t>
            </a:r>
            <a:r>
              <a:rPr lang="en-US" altLang="zh-CN" dirty="0"/>
              <a:t>=R</a:t>
            </a:r>
            <a:r>
              <a:rPr lang="en-US" altLang="zh-CN" baseline="30000" dirty="0"/>
              <a:t>t 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 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</a:t>
            </a:r>
            <a:r>
              <a:rPr lang="en-US" altLang="zh-CN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baseline="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＝R</a:t>
            </a:r>
            <a:r>
              <a:rPr lang="en-US" altLang="zh-CN" baseline="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m+n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(R</a:t>
            </a:r>
            <a:r>
              <a:rPr lang="en-US" altLang="zh-CN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)</a:t>
            </a:r>
            <a:r>
              <a:rPr lang="en-US" altLang="zh-CN" baseline="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n</a:t>
            </a:r>
            <a:r>
              <a:rPr lang="en-US" altLang="zh-CN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＝R</a:t>
            </a:r>
            <a:r>
              <a:rPr lang="en-US" altLang="zh-CN" baseline="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mn</a:t>
            </a:r>
            <a:endParaRPr lang="zh-CN" altLang="en-US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关系的五种性质：自反，反自反，对称，反对称，传递性；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恒等关系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和空关系都是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上的对称关系。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恒等关系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和空关系也是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上的反对称关系。</a:t>
            </a: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恒等关系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</a:t>
            </a:r>
            <a:r>
              <a:rPr lang="en-US" altLang="zh-CN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和空关系都是</a:t>
            </a:r>
            <a:r>
              <a:rPr lang="en-US" altLang="zh-CN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上的传递关系。</a:t>
            </a:r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US" altLang="zh-CN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7CF9A861-E366-4366-8B75-9E32215C2B03}"/>
              </a:ext>
            </a:extLst>
          </p:cNvPr>
          <p:cNvSpPr/>
          <p:nvPr/>
        </p:nvSpPr>
        <p:spPr>
          <a:xfrm>
            <a:off x="4686795" y="1039999"/>
            <a:ext cx="4326577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F↑(A∪B)＝F↑A∪F↑B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F[A∪B]＝F[A]∪F[B] </a:t>
            </a: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F↑(A∩B)＝F↑A∩F↑B </a:t>
            </a:r>
            <a:endParaRPr lang="zh-CN" altLang="en-US" sz="2800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None/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  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F[A∩B] </a:t>
            </a:r>
            <a:r>
              <a:rPr lang="zh-CN" altLang="en-US" sz="2800" b="1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 </a:t>
            </a:r>
            <a:r>
              <a:rPr lang="en-US" altLang="zh-CN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F[A]∩F[B] </a:t>
            </a:r>
          </a:p>
        </p:txBody>
      </p:sp>
    </p:spTree>
    <p:extLst>
      <p:ext uri="{BB962C8B-B14F-4D97-AF65-F5344CB8AC3E}">
        <p14:creationId xmlns:p14="http://schemas.microsoft.com/office/powerpoint/2010/main" val="35674128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82" name="Rectangle 2"/>
          <p:cNvSpPr>
            <a:spLocks noGrp="1" noChangeArrowheads="1"/>
          </p:cNvSpPr>
          <p:nvPr>
            <p:ph type="title"/>
          </p:nvPr>
        </p:nvSpPr>
        <p:spPr>
          <a:xfrm>
            <a:off x="296884" y="-105686"/>
            <a:ext cx="12397839" cy="762000"/>
          </a:xfrm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zh-CN" altLang="en-US" sz="28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从集合表达式，矩阵表达式，关系图上可以判断出二关关系的五种性质</a:t>
            </a:r>
          </a:p>
        </p:txBody>
      </p:sp>
      <p:graphicFrame>
        <p:nvGraphicFramePr>
          <p:cNvPr id="515216" name="Group 144"/>
          <p:cNvGraphicFramePr>
            <a:graphicFrameLocks noGrp="1"/>
          </p:cNvGraphicFramePr>
          <p:nvPr/>
        </p:nvGraphicFramePr>
        <p:xfrm>
          <a:off x="1775520" y="620688"/>
          <a:ext cx="8839200" cy="5970994"/>
        </p:xfrm>
        <a:graphic>
          <a:graphicData uri="http://schemas.openxmlformats.org/drawingml/2006/table">
            <a:tbl>
              <a:tblPr/>
              <a:tblGrid>
                <a:gridCol w="12241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417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0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2237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6064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rgbClr val="FFFFFF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自反性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反自反性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对称性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反对称性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传递性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8739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集合表达式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Symbol" pitchFamily="18" charset="2"/>
                        </a:rPr>
                        <a:t>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R∩I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＝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Symbol" pitchFamily="18" charset="2"/>
                        </a:rPr>
                        <a:t>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R＝R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-1</a:t>
                      </a:r>
                      <a:endParaRPr kumimoji="1" lang="zh-CN" altLang="en-US" sz="2400" b="1" i="0" u="none" strike="noStrike" cap="none" normalizeH="0" baseline="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R∩R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-1 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Symbol" pitchFamily="18" charset="2"/>
                        </a:rPr>
                        <a:t>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A</a:t>
                      </a:r>
                      <a:endParaRPr kumimoji="1" lang="zh-CN" altLang="en-US" sz="2400" b="1" i="0" u="none" strike="noStrike" cap="none" normalizeH="0" baseline="-30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0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Symbol" pitchFamily="18" charset="2"/>
                        </a:rPr>
                        <a:t>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sym typeface="Symbol" pitchFamily="18" charset="2"/>
                        </a:rPr>
                        <a:t>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1057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关系矩阵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主对角线元素全是1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主对角线元素全是0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矩阵是对称矩阵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若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ij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＝1，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且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i≠j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，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则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ji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＝0 </a:t>
                      </a: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华文楷体" panose="02010600040101010101" pitchFamily="2" charset="-122"/>
                        <a:ea typeface="华文楷体" panose="02010600040101010101" pitchFamily="2" charset="-122"/>
                      </a:endParaRP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对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M</a:t>
                      </a:r>
                      <a:r>
                        <a:rPr kumimoji="1" lang="en-US" altLang="zh-CN" sz="2400" b="1" i="0" u="none" strike="noStrike" cap="none" normalizeH="0" baseline="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2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中1所在位置，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M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中相应的位置都是1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224936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关系图</a:t>
                      </a:r>
                    </a:p>
                  </a:txBody>
                  <a:tcPr marT="45715" marB="45715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每个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顶点都有环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每个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顶点都没有环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如果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两个顶点之间有边，一定是一对方向相反的边(无单边)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  <a:cs typeface="+mn-cs"/>
                        </a:rPr>
                        <a:t>如果两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点之间有边，一定是一条有向边(无双向边)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如果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顶点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到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j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有边，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j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到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k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有边，则从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i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到</a:t>
                      </a:r>
                      <a:r>
                        <a:rPr kumimoji="1" lang="en-US" altLang="zh-CN" sz="24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x</a:t>
                      </a:r>
                      <a:r>
                        <a:rPr kumimoji="1" lang="en-US" altLang="zh-CN" sz="2400" b="1" i="0" u="none" strike="noStrike" cap="none" normalizeH="0" baseline="-3000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k</a:t>
                      </a: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a:t>也有边 </a:t>
                      </a:r>
                    </a:p>
                  </a:txBody>
                  <a:tcPr marT="45715" marB="45715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6D845B-DE6C-40E6-90D7-DE75E2FD9C0E}" type="datetime11">
              <a:rPr lang="zh-CN" altLang="en-US" smtClean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pPr/>
              <a:t>05:06:23</a:t>
            </a:fld>
            <a:endParaRPr lang="zh-CN" altLang="en-US">
              <a:solidFill>
                <a:schemeClr val="tx1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0751586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Group 60">
            <a:extLst>
              <a:ext uri="{FF2B5EF4-FFF2-40B4-BE49-F238E27FC236}">
                <a16:creationId xmlns:a16="http://schemas.microsoft.com/office/drawing/2014/main" id="{8A98FD10-9D14-4BF1-BD9C-B9C7997390E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926758"/>
              </p:ext>
            </p:extLst>
          </p:nvPr>
        </p:nvGraphicFramePr>
        <p:xfrm>
          <a:off x="417922" y="275210"/>
          <a:ext cx="8610600" cy="4064002"/>
        </p:xfrm>
        <a:graphic>
          <a:graphicData uri="http://schemas.openxmlformats.org/drawingml/2006/table">
            <a:tbl>
              <a:tblPr/>
              <a:tblGrid>
                <a:gridCol w="143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351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677863">
                <a:tc>
                  <a:txBody>
                    <a:bodyPr/>
                    <a:lstStyle/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zh-CN" altLang="en-US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自反性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反自反性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对称性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反对称性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传递性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30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-1</a:t>
                      </a:r>
                      <a:endParaRPr kumimoji="1" lang="en-US" altLang="zh-CN" sz="24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∩R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</a:t>
                      </a:r>
                      <a:endParaRPr kumimoji="1" lang="en-US" altLang="zh-CN" sz="2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∪R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</a:t>
                      </a:r>
                      <a:endParaRPr kumimoji="1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762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</a:t>
                      </a:r>
                      <a:r>
                        <a:rPr kumimoji="1" lang="en-US" altLang="zh-CN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－R</a:t>
                      </a:r>
                      <a:r>
                        <a:rPr kumimoji="1" lang="en-US" altLang="zh-CN" sz="2400" b="1" i="0" u="none" strike="noStrike" cap="none" normalizeH="0" baseline="-2500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</a:t>
                      </a:r>
                      <a:endParaRPr kumimoji="1" lang="zh-CN" altLang="en-US" sz="2400" b="1" i="0" u="none" strike="noStrike" cap="none" normalizeH="0" baseline="-2500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778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1 </a:t>
                      </a:r>
                      <a:r>
                        <a:rPr kumimoji="0" lang="en-US" altLang="zh-CN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  <a:sym typeface="Symbol" pitchFamily="18" charset="2"/>
                        </a:rPr>
                        <a:t>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 </a:t>
                      </a:r>
                      <a:r>
                        <a:rPr kumimoji="1" lang="en-US" altLang="zh-CN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R</a:t>
                      </a:r>
                      <a:r>
                        <a:rPr kumimoji="1" lang="en-US" altLang="zh-CN" sz="2400" b="1" i="0" u="none" strike="noStrike" cap="none" normalizeH="0" baseline="-2500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2</a:t>
                      </a:r>
                      <a:endParaRPr kumimoji="1" lang="zh-CN" altLang="en-US" sz="2400" b="1" i="0" u="none" strike="noStrike" cap="none" normalizeH="0" baseline="-2500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黑体" pitchFamily="49" charset="-122"/>
                        <a:ea typeface="黑体" pitchFamily="49" charset="-122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√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45000"/>
                        </a:spcBef>
                        <a:spcAft>
                          <a:spcPct val="0"/>
                        </a:spcAft>
                        <a:buClr>
                          <a:srgbClr val="99CCCC"/>
                        </a:buClr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zh-CN" altLang="en-US" sz="2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黑体" pitchFamily="49" charset="-122"/>
                          <a:ea typeface="黑体" pitchFamily="49" charset="-122"/>
                        </a:rPr>
                        <a:t>×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5313407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3BFAA32-3791-4D87-9AFE-E9AF8E5A29E9}"/>
              </a:ext>
            </a:extLst>
          </p:cNvPr>
          <p:cNvSpPr txBox="1">
            <a:spLocks noChangeArrowheads="1"/>
          </p:cNvSpPr>
          <p:nvPr/>
        </p:nvSpPr>
        <p:spPr>
          <a:xfrm>
            <a:off x="251520" y="188640"/>
            <a:ext cx="8305800" cy="609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hlink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例：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判断下图中关系的性质，并说明理由。 </a:t>
            </a:r>
          </a:p>
        </p:txBody>
      </p:sp>
      <p:pic>
        <p:nvPicPr>
          <p:cNvPr id="5" name="Picture 6" descr="7-91">
            <a:extLst>
              <a:ext uri="{FF2B5EF4-FFF2-40B4-BE49-F238E27FC236}">
                <a16:creationId xmlns:a16="http://schemas.microsoft.com/office/drawing/2014/main" id="{DCB0C9D5-C571-46EB-B0FD-966CD41A618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5402" y="982996"/>
            <a:ext cx="7488238" cy="1828800"/>
          </a:xfrm>
          <a:prstGeom prst="rect">
            <a:avLst/>
          </a:prstGeom>
          <a:solidFill>
            <a:srgbClr val="0000FF"/>
          </a:solidFill>
          <a:ln>
            <a:noFill/>
          </a:ln>
          <a:extLst/>
        </p:spPr>
      </p:pic>
      <p:sp>
        <p:nvSpPr>
          <p:cNvPr id="6" name="Rectangle 7">
            <a:extLst>
              <a:ext uri="{FF2B5EF4-FFF2-40B4-BE49-F238E27FC236}">
                <a16:creationId xmlns:a16="http://schemas.microsoft.com/office/drawing/2014/main" id="{F2A7ECA7-AF7F-40E1-BDB2-FD62BDF28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855" y="3354834"/>
            <a:ext cx="11799095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45000"/>
              </a:spcBef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  <a:lvl2pPr marL="742950" indent="-28575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2pPr>
            <a:lvl3pPr marL="1143000" indent="-228600">
              <a:spcBef>
                <a:spcPct val="45000"/>
              </a:spcBef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3pPr>
            <a:lvl4pPr marL="1600200" indent="-228600">
              <a:spcBef>
                <a:spcPct val="45000"/>
              </a:spcBef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4pPr>
            <a:lvl5pPr marL="2057400" indent="-228600">
              <a:spcBef>
                <a:spcPct val="20000"/>
              </a:spcBef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9pPr>
          </a:lstStyle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（1）不是自反的，不是反自反的，对称的，不是反对称的，不是传递的。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（2）不是自反的，是反自反的，不是对称的，是反对称的，是传递的</a:t>
            </a:r>
            <a:r>
              <a:rPr lang="en-US" altLang="zh-CN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</a:p>
          <a:p>
            <a:pPr>
              <a:lnSpc>
                <a:spcPct val="9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en-US" altLang="zh-CN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（3）</a:t>
            </a:r>
            <a:r>
              <a:rPr lang="zh-CN" altLang="en-US" sz="3200" dirty="0">
                <a:solidFill>
                  <a:schemeClr val="tx1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是自反的，不是反自反的，不是对称的，是反对称的，不是传递的。</a:t>
            </a:r>
          </a:p>
        </p:txBody>
      </p:sp>
    </p:spTree>
    <p:extLst>
      <p:ext uri="{BB962C8B-B14F-4D97-AF65-F5344CB8AC3E}">
        <p14:creationId xmlns:p14="http://schemas.microsoft.com/office/powerpoint/2010/main" val="18668883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 autoUpdateAnimBg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52573" y="195208"/>
                <a:ext cx="10515600" cy="4808969"/>
              </a:xfrm>
            </p:spPr>
            <p:txBody>
              <a:bodyPr>
                <a:noAutofit/>
              </a:bodyPr>
              <a:lstStyle/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练习：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，设</a:t>
                </a: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R={&lt;0,1&gt;,&lt;0,2&gt;,&lt;0,3&gt;,&lt;1,2&gt;,&lt;1,3&gt;,&lt;2,3&gt;},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求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↑{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𝟐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,</a:t>
                </a:r>
                <a14:m>
                  <m:oMath xmlns:m="http://schemas.openxmlformats.org/officeDocument/2006/math">
                    <m:r>
                      <a:rPr lang="en-US" altLang="zh-CN" sz="3200" b="1" i="0" smtClean="0">
                        <a:latin typeface="Cambria Math" panose="02040503050406030204" pitchFamily="18" charset="0"/>
                      </a:rPr>
                      <m:t>  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，并画出关系图，说出</a:t>
                </a: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具有哪些性质</a:t>
                </a: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;</a:t>
                </a: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解：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</a:rPr>
                        <m:t>𝑹</m:t>
                      </m:r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↑</m:t>
                      </m:r>
                      <m:d>
                        <m:dPr>
                          <m:begChr m:val="{"/>
                          <m:endChr m:val="}"/>
                          <m:ctrlPr>
                            <a:rPr lang="en-US" altLang="zh-CN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zh-CN" sz="320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𝟐</m:t>
                          </m:r>
                        </m:e>
                      </m:d>
                      <m:r>
                        <a:rPr lang="en-US" altLang="zh-CN" sz="3200" b="1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altLang="zh-CN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{</m:t>
                      </m:r>
                      <m:r>
                        <m:rPr>
                          <m:nor/>
                        </m:rPr>
                        <a:rPr lang="en-US" altLang="zh-CN" sz="3200" b="1" dirty="0">
                          <a:latin typeface="华文楷体" panose="02010600040101010101" pitchFamily="2" charset="-122"/>
                          <a:ea typeface="华文楷体" panose="02010600040101010101" pitchFamily="2" charset="-122"/>
                        </a:rPr>
                        <m:t>&lt;1,2&gt;,&lt;1,3&gt;,&lt;2,3&gt;</m:t>
                      </m:r>
                      <m:r>
                        <a:rPr lang="en-US" altLang="zh-CN" sz="3200" b="1" i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}</m:t>
                      </m:r>
                    </m:oMath>
                  </m:oMathPara>
                </a14:m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buNone/>
                </a:pP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</a:rPr>
                      <m:t>𝑹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[</m:t>
                    </m:r>
                    <m:d>
                      <m:dPr>
                        <m:begChr m:val="{"/>
                        <m:endChr m:val="}"/>
                        <m:ctrlP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𝟏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</m:t>
                        </m:r>
                        <m:r>
                          <a:rPr lang="en-US" altLang="zh-CN" sz="3200" b="1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𝟐</m:t>
                        </m:r>
                      </m:e>
                    </m:d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altLang="zh-CN" sz="3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{2,3}</a:t>
                </a:r>
              </a:p>
              <a:p>
                <a:pPr marL="0" indent="0">
                  <a:buNone/>
                </a:pPr>
                <a:r>
                  <a:rPr lang="en-US" altLang="zh-CN" sz="3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R</a:t>
                </a:r>
                <a:r>
                  <a:rPr lang="zh-CN" altLang="en-US" sz="3200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具有反自反，反对称，传递特性；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2573" y="195208"/>
                <a:ext cx="10515600" cy="4808969"/>
              </a:xfrm>
              <a:blipFill rotWithShape="0">
                <a:blip r:embed="rId2"/>
                <a:stretch>
                  <a:fillRect l="-1449" t="-266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" name="组合 11"/>
          <p:cNvGrpSpPr/>
          <p:nvPr/>
        </p:nvGrpSpPr>
        <p:grpSpPr>
          <a:xfrm>
            <a:off x="5399795" y="3006333"/>
            <a:ext cx="4189667" cy="3071114"/>
            <a:chOff x="5399795" y="3006333"/>
            <a:chExt cx="4189667" cy="3071114"/>
          </a:xfrm>
        </p:grpSpPr>
        <p:sp>
          <p:nvSpPr>
            <p:cNvPr id="4" name="流程图: 联系 3"/>
            <p:cNvSpPr/>
            <p:nvPr/>
          </p:nvSpPr>
          <p:spPr>
            <a:xfrm>
              <a:off x="6811766" y="3606229"/>
              <a:ext cx="252000" cy="252000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5" name="流程图: 联系 4"/>
            <p:cNvSpPr/>
            <p:nvPr/>
          </p:nvSpPr>
          <p:spPr>
            <a:xfrm>
              <a:off x="5510373" y="5219272"/>
              <a:ext cx="252000" cy="252000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6" name="流程图: 联系 5"/>
            <p:cNvSpPr/>
            <p:nvPr/>
          </p:nvSpPr>
          <p:spPr>
            <a:xfrm>
              <a:off x="7667946" y="5825447"/>
              <a:ext cx="252000" cy="252000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7" name="流程图: 联系 6"/>
            <p:cNvSpPr/>
            <p:nvPr/>
          </p:nvSpPr>
          <p:spPr>
            <a:xfrm>
              <a:off x="9096054" y="4130210"/>
              <a:ext cx="252000" cy="252000"/>
            </a:xfrm>
            <a:prstGeom prst="flowChartConnector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0000FF"/>
                </a:solidFill>
              </a:endParaRPr>
            </a:p>
          </p:txBody>
        </p:sp>
        <p:sp>
          <p:nvSpPr>
            <p:cNvPr id="8" name="文本框 7"/>
            <p:cNvSpPr txBox="1"/>
            <p:nvPr/>
          </p:nvSpPr>
          <p:spPr>
            <a:xfrm>
              <a:off x="6570358" y="3006333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0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文本框 8"/>
            <p:cNvSpPr txBox="1"/>
            <p:nvPr/>
          </p:nvSpPr>
          <p:spPr>
            <a:xfrm>
              <a:off x="9222054" y="3529553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1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" name="文本框 9"/>
            <p:cNvSpPr txBox="1"/>
            <p:nvPr/>
          </p:nvSpPr>
          <p:spPr>
            <a:xfrm>
              <a:off x="7918517" y="5554227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2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" name="文本框 10"/>
            <p:cNvSpPr txBox="1"/>
            <p:nvPr/>
          </p:nvSpPr>
          <p:spPr>
            <a:xfrm>
              <a:off x="5399795" y="4651505"/>
              <a:ext cx="36740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28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3</a:t>
              </a:r>
              <a:endParaRPr lang="zh-CN" alt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cxnSp>
        <p:nvCxnSpPr>
          <p:cNvPr id="14" name="直接箭头连接符 13"/>
          <p:cNvCxnSpPr>
            <a:stCxn id="4" idx="6"/>
            <a:endCxn id="7" idx="2"/>
          </p:cNvCxnSpPr>
          <p:nvPr/>
        </p:nvCxnSpPr>
        <p:spPr>
          <a:xfrm>
            <a:off x="7063766" y="3732229"/>
            <a:ext cx="2032288" cy="523981"/>
          </a:xfrm>
          <a:prstGeom prst="straightConnector1">
            <a:avLst/>
          </a:prstGeom>
          <a:ln w="5080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>
            <a:stCxn id="4" idx="4"/>
            <a:endCxn id="6" idx="1"/>
          </p:cNvCxnSpPr>
          <p:nvPr/>
        </p:nvCxnSpPr>
        <p:spPr>
          <a:xfrm>
            <a:off x="6937766" y="3858229"/>
            <a:ext cx="767085" cy="2004123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>
            <a:stCxn id="4" idx="3"/>
            <a:endCxn id="5" idx="6"/>
          </p:cNvCxnSpPr>
          <p:nvPr/>
        </p:nvCxnSpPr>
        <p:spPr>
          <a:xfrm flipH="1">
            <a:off x="5762373" y="3821324"/>
            <a:ext cx="1086298" cy="1523948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>
            <a:stCxn id="7" idx="3"/>
            <a:endCxn id="6" idx="0"/>
          </p:cNvCxnSpPr>
          <p:nvPr/>
        </p:nvCxnSpPr>
        <p:spPr>
          <a:xfrm flipH="1">
            <a:off x="7793946" y="4345305"/>
            <a:ext cx="1339013" cy="1480142"/>
          </a:xfrm>
          <a:prstGeom prst="straightConnector1">
            <a:avLst/>
          </a:prstGeom>
          <a:ln w="5080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7" idx="3"/>
            <a:endCxn id="5" idx="5"/>
          </p:cNvCxnSpPr>
          <p:nvPr/>
        </p:nvCxnSpPr>
        <p:spPr>
          <a:xfrm flipH="1">
            <a:off x="5725468" y="4345305"/>
            <a:ext cx="3407491" cy="1089062"/>
          </a:xfrm>
          <a:prstGeom prst="straightConnector1">
            <a:avLst/>
          </a:prstGeom>
          <a:ln w="50800">
            <a:tailEnd type="arrow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6" idx="2"/>
          </p:cNvCxnSpPr>
          <p:nvPr/>
        </p:nvCxnSpPr>
        <p:spPr>
          <a:xfrm flipH="1" flipV="1">
            <a:off x="5762373" y="5465132"/>
            <a:ext cx="1905573" cy="486315"/>
          </a:xfrm>
          <a:prstGeom prst="straightConnector1">
            <a:avLst/>
          </a:prstGeom>
          <a:ln w="508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4777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82675" y="258917"/>
            <a:ext cx="11440138" cy="5136521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会构造一个关系闭包（自反，对称，传递）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关系为集合形式，矩阵形式，关系图下能够构造出关系闭包；</a:t>
            </a:r>
            <a:endParaRPr lang="en-US" altLang="zh-CN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197406" y="1657940"/>
            <a:ext cx="6671352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-514350">
              <a:spcBef>
                <a:spcPts val="1800"/>
              </a:spcBef>
              <a:buFont typeface="+mj-ea"/>
              <a:buAutoNum type="circleNumDbPlain"/>
            </a:pPr>
            <a:r>
              <a:rPr lang="en-US" altLang="zh-CN" sz="2400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</a:t>
            </a:r>
            <a:r>
              <a:rPr lang="en-US" altLang="zh-CN" sz="2400" b="1" i="1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 M＋E</a:t>
            </a:r>
            <a:r>
              <a:rPr lang="en-US" altLang="zh-CN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对角线上的值都改为1</a:t>
            </a:r>
          </a:p>
          <a:p>
            <a:pPr indent="-514350">
              <a:spcBef>
                <a:spcPts val="1800"/>
              </a:spcBef>
              <a:buFont typeface="+mj-ea"/>
              <a:buAutoNum type="circleNumDbPlain"/>
            </a:pPr>
            <a:r>
              <a:rPr lang="en-US" altLang="zh-CN" sz="2400" b="1" i="1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i="1" baseline="-30000" dirty="0" err="1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s</a:t>
            </a:r>
            <a:r>
              <a:rPr lang="en-US" altLang="zh-CN" sz="2400" b="1" i="1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 M＋M</a:t>
            </a:r>
            <a:r>
              <a:rPr lang="zh-CN" altLang="en-US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′</a:t>
            </a:r>
            <a:r>
              <a:rPr lang="zh-CN" altLang="en-US" sz="24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	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ij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＝1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则令</a:t>
            </a:r>
            <a:r>
              <a:rPr lang="en-US" altLang="zh-CN" sz="2400" b="1" i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en-US" altLang="zh-CN" sz="2400" b="1" i="1" baseline="-25000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ji</a:t>
            </a:r>
            <a:r>
              <a:rPr lang="en-US" altLang="zh-CN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＝1</a:t>
            </a:r>
          </a:p>
          <a:p>
            <a:pPr indent="-514350">
              <a:spcBef>
                <a:spcPts val="1800"/>
              </a:spcBef>
              <a:buFont typeface="+mj-ea"/>
              <a:buAutoNum type="circleNumDbPlain"/>
            </a:pP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M</a:t>
            </a:r>
            <a:r>
              <a:rPr lang="en-US" altLang="zh-CN" sz="2400" b="1" i="1" baseline="-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t 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＝ M＋M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＋M</a:t>
            </a:r>
            <a:r>
              <a:rPr lang="en-US" altLang="zh-CN" sz="2400" b="1" i="1" baseline="30000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400" b="1" i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＋…  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沃舍尔（</a:t>
            </a:r>
            <a:r>
              <a:rPr lang="en-US" altLang="zh-CN" sz="2400" b="1" i="1" dirty="0" err="1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Warshall</a:t>
            </a:r>
            <a:r>
              <a:rPr lang="zh-CN" altLang="en-US" sz="2400" b="1" dirty="0">
                <a:solidFill>
                  <a:schemeClr val="hlink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）算法</a:t>
            </a:r>
          </a:p>
        </p:txBody>
      </p:sp>
      <p:sp>
        <p:nvSpPr>
          <p:cNvPr id="4" name="矩形 3"/>
          <p:cNvSpPr/>
          <p:nvPr/>
        </p:nvSpPr>
        <p:spPr>
          <a:xfrm>
            <a:off x="282675" y="1569273"/>
            <a:ext cx="4476896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zh-CN" altLang="en-US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（1）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r(R)＝R∪R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0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（2）s(R)＝R∪R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-1</a:t>
            </a:r>
          </a:p>
          <a:p>
            <a:pPr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（3）t(R)＝R∪R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∪R</a:t>
            </a:r>
            <a:r>
              <a:rPr lang="en-US" altLang="zh-CN" sz="2800" baseline="300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3</a:t>
            </a:r>
            <a:r>
              <a:rPr lang="en-US" altLang="zh-CN" sz="28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∪… </a:t>
            </a:r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>
          <a:xfrm>
            <a:off x="167553" y="4116035"/>
            <a:ext cx="11863486" cy="234641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-457200">
              <a:lnSpc>
                <a:spcPct val="11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考察每个顶点，没有环的均加环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-457200">
              <a:lnSpc>
                <a:spcPct val="11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若两个顶点间只有一条边，则再加一条相反的边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</a:p>
          <a:p>
            <a:pPr marL="0" indent="-457200">
              <a:lnSpc>
                <a:spcPct val="110000"/>
              </a:lnSpc>
              <a:spcBef>
                <a:spcPts val="1200"/>
              </a:spcBef>
              <a:buFont typeface="+mj-ea"/>
              <a:buAutoNum type="circleNumDbPlain"/>
            </a:pP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若结点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可间接到达另一结点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时，则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到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y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添加一条有向边，其中包括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x</a:t>
            </a:r>
            <a:r>
              <a:rPr lang="zh-CN" altLang="en-US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间接到达自身时，添加自身到自身的环</a:t>
            </a:r>
            <a:r>
              <a:rPr lang="en-US" altLang="zh-CN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5294711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34968" y="457532"/>
                <a:ext cx="11586918" cy="6123526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3200" b="1" dirty="0">
                    <a:solidFill>
                      <a:schemeClr val="accent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等价关系 （自反、对称、传递）</a:t>
                </a:r>
                <a:endParaRPr lang="en-US" altLang="zh-CN" sz="3200" b="1" dirty="0">
                  <a:solidFill>
                    <a:schemeClr val="accent2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模</a:t>
                </a: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等价关系，等价类，商集；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A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的划分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划分块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商集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等价关系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nor/>
                      </m:rPr>
                      <a:rPr lang="zh-CN" altLang="en-US" sz="3200" b="1" dirty="0"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等价类</m:t>
                    </m:r>
                  </m:oMath>
                </a14:m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；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4968" y="457532"/>
                <a:ext cx="11586918" cy="6123526"/>
              </a:xfrm>
              <a:blipFill>
                <a:blip r:embed="rId2"/>
                <a:stretch>
                  <a:fillRect l="-1211" t="-139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 3">
            <a:extLst>
              <a:ext uri="{FF2B5EF4-FFF2-40B4-BE49-F238E27FC236}">
                <a16:creationId xmlns:a16="http://schemas.microsoft.com/office/drawing/2014/main" id="{0593DC2F-8757-4932-AF5E-F46D40EB50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68" y="2420888"/>
            <a:ext cx="8305800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商集的理解：</a:t>
            </a:r>
            <a:endParaRPr lang="en-US" altLang="zh-CN" sz="3200" kern="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0"/>
              </a:spcBef>
              <a:buFont typeface="+mj-ea"/>
              <a:buAutoNum type="circleNumDbPlain"/>
            </a:pP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商集是</a:t>
            </a: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的子集族（元素为</a:t>
            </a: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的子集）</a:t>
            </a:r>
            <a:endParaRPr lang="en-US" altLang="zh-CN" sz="3200" kern="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0"/>
              </a:spcBef>
              <a:buFont typeface="+mj-ea"/>
              <a:buAutoNum type="circleNumDbPlain"/>
            </a:pP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商集元素为等价类，具有等价类性质：无空集，元素间不交，商集的广义并为</a:t>
            </a: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3200" kern="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0B842A16-4579-4DC4-873F-F99F08BB99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4968" y="4564834"/>
            <a:ext cx="8305800" cy="20162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Font typeface="Wingdings" panose="05000000000000000000" pitchFamily="2" charset="2"/>
              <a:buChar char="q"/>
              <a:defRPr kumimoji="1" sz="2400" b="1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Char char="•"/>
              <a:defRPr kumimoji="1" sz="2400" b="1">
                <a:solidFill>
                  <a:srgbClr val="FFFFFF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45000"/>
              </a:spcBef>
              <a:spcAft>
                <a:spcPct val="0"/>
              </a:spcAft>
              <a:buClr>
                <a:srgbClr val="99CCCC"/>
              </a:buClr>
              <a:buChar char="–"/>
              <a:defRPr kumimoji="1" sz="2400" b="1">
                <a:solidFill>
                  <a:srgbClr val="FFFFFF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2B515"/>
              </a:buClr>
              <a:buChar char="»"/>
              <a:defRPr kumimoji="1" sz="2000">
                <a:solidFill>
                  <a:srgbClr val="FFFFFF"/>
                </a:solidFill>
                <a:latin typeface="Arial" pitchFamily="34" charset="0"/>
                <a:ea typeface="+mn-ea"/>
              </a:defRPr>
            </a:lvl9pPr>
          </a:lstStyle>
          <a:p>
            <a:pPr marL="0" indent="0"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划分的理解：</a:t>
            </a:r>
            <a:endParaRPr lang="en-US" altLang="zh-CN" sz="3200" kern="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0"/>
              </a:spcBef>
              <a:buFont typeface="+mj-ea"/>
              <a:buAutoNum type="circleNumDbPlain"/>
            </a:pP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划分是</a:t>
            </a: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的子集族（元素为</a:t>
            </a: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的子集）</a:t>
            </a:r>
            <a:endParaRPr lang="en-US" altLang="zh-CN" sz="3200" kern="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514350" indent="-514350">
              <a:spcBef>
                <a:spcPts val="0"/>
              </a:spcBef>
              <a:buFont typeface="+mj-ea"/>
              <a:buAutoNum type="circleNumDbPlain"/>
            </a:pP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划分中元素划分块的性质：无空集，元素间不交，划分的广义并为</a:t>
            </a:r>
            <a:r>
              <a:rPr lang="en-US" altLang="zh-CN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A</a:t>
            </a:r>
            <a:r>
              <a:rPr lang="zh-CN" altLang="en-US" sz="3200" kern="0" dirty="0">
                <a:solidFill>
                  <a:schemeClr val="tx1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；</a:t>
            </a:r>
            <a:endParaRPr lang="en-US" altLang="zh-CN" sz="3200" kern="0" dirty="0">
              <a:solidFill>
                <a:schemeClr val="tx1"/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4806783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234968" y="457533"/>
                <a:ext cx="11586918" cy="1240605"/>
              </a:xfrm>
            </p:spPr>
            <p:txBody>
              <a:bodyPr>
                <a:normAutofit/>
              </a:bodyPr>
              <a:lstStyle/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3200" b="1" dirty="0">
                    <a:solidFill>
                      <a:schemeClr val="accent2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偏序关系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（自反，反对称，传递）</a:t>
                </a:r>
                <a:endParaRPr lang="en-US" altLang="zh-CN" sz="3200" b="1" dirty="0"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marL="0" indent="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zh-CN" altLang="en-US" sz="32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偏序关系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lang="zh-CN" altLang="en-US" sz="3200" b="1" dirty="0">
                        <a:solidFill>
                          <a:srgbClr val="FF0000"/>
                        </a:solidFill>
                        <a:latin typeface="华文楷体" panose="02010600040101010101" pitchFamily="2" charset="-122"/>
                        <a:ea typeface="华文楷体" panose="02010600040101010101" pitchFamily="2" charset="-122"/>
                      </a:rPr>
                      <m:t>集合表达式</m:t>
                    </m:r>
                    <m:r>
                      <a:rPr lang="zh-CN" altLang="en-US" sz="32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⇔</m:t>
                    </m:r>
                  </m:oMath>
                </a14:m>
                <a:r>
                  <a:rPr lang="en-US" altLang="zh-CN" sz="32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zh-CN" altLang="en-US" sz="32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哈斯图</a:t>
                </a:r>
                <a14:m>
                  <m:oMath xmlns:m="http://schemas.openxmlformats.org/officeDocument/2006/math">
                    <m:r>
                      <a:rPr lang="zh-CN" altLang="en-US" sz="3200" b="1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⇔ </m:t>
                    </m:r>
                  </m:oMath>
                </a14:m>
                <a:r>
                  <a:rPr lang="zh-CN" altLang="en-US" sz="3200" b="1" dirty="0">
                    <a:solidFill>
                      <a:srgbClr val="FF0000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偏序集；</a:t>
                </a:r>
                <a:endParaRPr lang="en-US" altLang="zh-CN" sz="3200" b="1" dirty="0">
                  <a:solidFill>
                    <a:srgbClr val="FF0000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34968" y="457533"/>
                <a:ext cx="11586918" cy="1240605"/>
              </a:xfrm>
              <a:blipFill>
                <a:blip r:embed="rId2"/>
                <a:stretch>
                  <a:fillRect l="-1211" t="-6863" b="-196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矩形 3"/>
          <p:cNvSpPr/>
          <p:nvPr/>
        </p:nvSpPr>
        <p:spPr>
          <a:xfrm>
            <a:off x="234968" y="4428247"/>
            <a:ext cx="11550724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zh-CN" altLang="en-US" sz="3200" b="1" kern="0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上界，下界：不一定是</a:t>
            </a:r>
            <a:r>
              <a:rPr lang="en-US" altLang="zh-CN" sz="3200" b="1" kern="0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3200" b="1" kern="0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中元素，但要求与</a:t>
            </a:r>
            <a:r>
              <a:rPr lang="en-US" altLang="zh-CN" sz="3200" b="1" kern="0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3200" b="1" kern="0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中元素均可比； </a:t>
            </a:r>
            <a:endParaRPr lang="en-US" altLang="zh-CN" sz="3200" b="1" kern="0" dirty="0">
              <a:solidFill>
                <a:schemeClr val="accent2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zh-CN" altLang="en-US" sz="3200" b="1" kern="0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最小上界，最大下界：上界的最小元，下界的最大元，若存在一定唯一；</a:t>
            </a:r>
            <a:endParaRPr lang="en-US" altLang="zh-CN" sz="3200" b="1" kern="0" dirty="0">
              <a:solidFill>
                <a:schemeClr val="accent2">
                  <a:lumMod val="75000"/>
                </a:schemeClr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176625" y="1785920"/>
            <a:ext cx="11703603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57200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最大元，最小元：</a:t>
            </a:r>
            <a:r>
              <a:rPr lang="en-US" altLang="zh-CN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中元素，且与</a:t>
            </a:r>
            <a:r>
              <a:rPr lang="en-US" altLang="zh-CN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中其他元素均可比；若存在比唯一。</a:t>
            </a:r>
            <a:endParaRPr lang="en-US" altLang="zh-CN" sz="3200" b="1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457200" indent="-45720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极大元，极小元：</a:t>
            </a:r>
            <a:r>
              <a:rPr lang="en-US" altLang="zh-CN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中元素，且不要求与</a:t>
            </a:r>
            <a:r>
              <a:rPr lang="en-US" altLang="zh-CN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B</a:t>
            </a:r>
            <a:r>
              <a:rPr lang="zh-CN" altLang="en-US" sz="3200" b="1" kern="0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中所有元素均可比，仅要求与它可比的元素中，其实最大的或最小的即可，对于有限集一定存在；</a:t>
            </a:r>
            <a:endParaRPr lang="en-US" altLang="zh-CN" sz="3200" b="1" kern="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5996665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39046" y="92467"/>
                <a:ext cx="5743255" cy="6092575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练习：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，Ａ＝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{1,2,…,12},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zh-CN" altLang="en-US" b="1">
                        <a:latin typeface="Cambria Math" panose="02040503050406030204" pitchFamily="18" charset="0"/>
                      </a:rPr>
                      <m:t>≺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为整除关系，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begChr m:val=""/>
                          <m:endChr m:val="}"/>
                          <m:ctrlPr>
                            <a:rPr lang="zh-CN" altLang="en-US" b="1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𝑩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={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∈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𝑨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∧</m:t>
                          </m:r>
                          <m: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𝒙</m:t>
                          </m:r>
                          <m:r>
                            <a:rPr lang="zh-CN" altLang="en-US" b="1">
                              <a:latin typeface="Cambria Math" panose="02040503050406030204" pitchFamily="18" charset="0"/>
                            </a:rPr>
                            <m:t>≤</m:t>
                          </m:r>
                          <m:r>
                            <a:rPr lang="zh-CN" altLang="en-US" b="1" i="1">
                              <a:latin typeface="Cambria Math" panose="02040503050406030204" pitchFamily="18" charset="0"/>
                            </a:rPr>
                            <m:t>𝟒</m:t>
                          </m:r>
                        </m:e>
                      </m:d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①画出偏序集</a:t>
                </a:r>
                <a14:m>
                  <m:oMath xmlns:m="http://schemas.openxmlformats.org/officeDocument/2006/math">
                    <m:r>
                      <a:rPr lang="zh-CN" altLang="en-US" b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≺</m:t>
                        </m:r>
                      </m:sub>
                    </m:sSub>
                    <m:r>
                      <a:rPr lang="zh-CN" altLang="en-US" b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的哈斯图；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②在偏序集</a:t>
                </a:r>
                <a14:m>
                  <m:oMath xmlns:m="http://schemas.openxmlformats.org/officeDocument/2006/math">
                    <m:r>
                      <a:rPr lang="zh-CN" altLang="en-US" b="1">
                        <a:latin typeface="Cambria Math" panose="02040503050406030204" pitchFamily="18" charset="0"/>
                      </a:rPr>
                      <m:t>&lt;</m:t>
                    </m:r>
                    <m:r>
                      <a:rPr lang="zh-CN" altLang="en-US" b="1" i="1">
                        <a:latin typeface="Cambria Math" panose="02040503050406030204" pitchFamily="18" charset="0"/>
                      </a:rPr>
                      <m:t>𝑨</m:t>
                    </m:r>
                    <m:r>
                      <a:rPr lang="zh-CN" altLang="en-US" b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zh-CN" alt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zh-CN" altLang="en-US" b="1" i="1">
                            <a:latin typeface="Cambria Math" panose="02040503050406030204" pitchFamily="18" charset="0"/>
                          </a:rPr>
                          <m:t>𝑹</m:t>
                        </m:r>
                      </m:e>
                      <m:sub>
                        <m:r>
                          <a:rPr lang="zh-CN" altLang="en-US" b="1">
                            <a:latin typeface="Cambria Math" panose="02040503050406030204" pitchFamily="18" charset="0"/>
                          </a:rPr>
                          <m:t>≺</m:t>
                        </m:r>
                      </m:sub>
                    </m:sSub>
                    <m:r>
                      <a:rPr lang="zh-CN" altLang="en-US" b="1">
                        <a:latin typeface="Cambria Math" panose="02040503050406030204" pitchFamily="18" charset="0"/>
                      </a:rPr>
                      <m:t>&gt;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中求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B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的最大元、最小元、最小上界和最大下界。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39046" y="92467"/>
                <a:ext cx="5743255" cy="6092575"/>
              </a:xfrm>
              <a:blipFill rotWithShape="0">
                <a:blip r:embed="rId2"/>
                <a:stretch>
                  <a:fillRect l="-2229" t="-1700" r="-435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39" name="组合 138"/>
          <p:cNvGrpSpPr/>
          <p:nvPr/>
        </p:nvGrpSpPr>
        <p:grpSpPr>
          <a:xfrm>
            <a:off x="6632159" y="479429"/>
            <a:ext cx="5071770" cy="3146677"/>
            <a:chOff x="6570514" y="736283"/>
            <a:chExt cx="5071770" cy="3146677"/>
          </a:xfrm>
        </p:grpSpPr>
        <p:grpSp>
          <p:nvGrpSpPr>
            <p:cNvPr id="58" name="组合 57"/>
            <p:cNvGrpSpPr/>
            <p:nvPr/>
          </p:nvGrpSpPr>
          <p:grpSpPr>
            <a:xfrm>
              <a:off x="8673549" y="3421295"/>
              <a:ext cx="648382" cy="461665"/>
              <a:chOff x="8681663" y="3380198"/>
              <a:chExt cx="648382" cy="461665"/>
            </a:xfrm>
          </p:grpSpPr>
          <p:sp>
            <p:nvSpPr>
              <p:cNvPr id="56" name="流程图: 联系 55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7" name="文本框 56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1</a:t>
                </a:r>
                <a:endParaRPr lang="zh-CN" altLang="en-US" sz="2400" b="1" dirty="0"/>
              </a:p>
            </p:txBody>
          </p:sp>
        </p:grpSp>
        <p:grpSp>
          <p:nvGrpSpPr>
            <p:cNvPr id="59" name="组合 58"/>
            <p:cNvGrpSpPr/>
            <p:nvPr/>
          </p:nvGrpSpPr>
          <p:grpSpPr>
            <a:xfrm>
              <a:off x="8662847" y="2466469"/>
              <a:ext cx="648382" cy="461665"/>
              <a:chOff x="8681663" y="3380198"/>
              <a:chExt cx="648382" cy="461665"/>
            </a:xfrm>
          </p:grpSpPr>
          <p:sp>
            <p:nvSpPr>
              <p:cNvPr id="60" name="流程图: 联系 59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文本框 60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2</a:t>
                </a:r>
                <a:endParaRPr lang="zh-CN" altLang="en-US" sz="2400" b="1" dirty="0"/>
              </a:p>
            </p:txBody>
          </p:sp>
        </p:grpSp>
        <p:grpSp>
          <p:nvGrpSpPr>
            <p:cNvPr id="62" name="组合 61"/>
            <p:cNvGrpSpPr/>
            <p:nvPr/>
          </p:nvGrpSpPr>
          <p:grpSpPr>
            <a:xfrm>
              <a:off x="9750175" y="2496620"/>
              <a:ext cx="648382" cy="461665"/>
              <a:chOff x="8681663" y="3380198"/>
              <a:chExt cx="648382" cy="461665"/>
            </a:xfrm>
          </p:grpSpPr>
          <p:sp>
            <p:nvSpPr>
              <p:cNvPr id="63" name="流程图: 联系 62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4" name="文本框 63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3</a:t>
                </a:r>
                <a:endParaRPr lang="zh-CN" altLang="en-US" sz="2400" b="1" dirty="0"/>
              </a:p>
            </p:txBody>
          </p:sp>
        </p:grpSp>
        <p:grpSp>
          <p:nvGrpSpPr>
            <p:cNvPr id="65" name="组合 64"/>
            <p:cNvGrpSpPr/>
            <p:nvPr/>
          </p:nvGrpSpPr>
          <p:grpSpPr>
            <a:xfrm>
              <a:off x="8634873" y="1747279"/>
              <a:ext cx="648382" cy="461665"/>
              <a:chOff x="8681663" y="3380198"/>
              <a:chExt cx="648382" cy="461665"/>
            </a:xfrm>
          </p:grpSpPr>
          <p:sp>
            <p:nvSpPr>
              <p:cNvPr id="66" name="流程图: 联系 65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7" name="文本框 66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4</a:t>
                </a:r>
                <a:endParaRPr lang="zh-CN" altLang="en-US" sz="2400" b="1" dirty="0"/>
              </a:p>
            </p:txBody>
          </p:sp>
        </p:grpSp>
        <p:grpSp>
          <p:nvGrpSpPr>
            <p:cNvPr id="68" name="组合 67"/>
            <p:cNvGrpSpPr/>
            <p:nvPr/>
          </p:nvGrpSpPr>
          <p:grpSpPr>
            <a:xfrm>
              <a:off x="8615004" y="783209"/>
              <a:ext cx="648382" cy="461665"/>
              <a:chOff x="8681663" y="3380198"/>
              <a:chExt cx="648382" cy="461665"/>
            </a:xfrm>
          </p:grpSpPr>
          <p:sp>
            <p:nvSpPr>
              <p:cNvPr id="69" name="流程图: 联系 68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0" name="文本框 69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8</a:t>
                </a:r>
                <a:endParaRPr lang="zh-CN" altLang="en-US" sz="2400" b="1" dirty="0"/>
              </a:p>
            </p:txBody>
          </p:sp>
        </p:grpSp>
        <p:grpSp>
          <p:nvGrpSpPr>
            <p:cNvPr id="71" name="组合 70"/>
            <p:cNvGrpSpPr/>
            <p:nvPr/>
          </p:nvGrpSpPr>
          <p:grpSpPr>
            <a:xfrm>
              <a:off x="7652268" y="2604498"/>
              <a:ext cx="648382" cy="461665"/>
              <a:chOff x="8681663" y="3380198"/>
              <a:chExt cx="648382" cy="461665"/>
            </a:xfrm>
          </p:grpSpPr>
          <p:sp>
            <p:nvSpPr>
              <p:cNvPr id="72" name="流程图: 联系 71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3" name="文本框 72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5</a:t>
                </a:r>
                <a:endParaRPr lang="zh-CN" altLang="en-US" sz="2400" b="1" dirty="0"/>
              </a:p>
            </p:txBody>
          </p:sp>
        </p:grpSp>
        <p:grpSp>
          <p:nvGrpSpPr>
            <p:cNvPr id="74" name="组合 73"/>
            <p:cNvGrpSpPr/>
            <p:nvPr/>
          </p:nvGrpSpPr>
          <p:grpSpPr>
            <a:xfrm>
              <a:off x="9750175" y="1644537"/>
              <a:ext cx="648382" cy="461665"/>
              <a:chOff x="8681663" y="3380198"/>
              <a:chExt cx="648382" cy="461665"/>
            </a:xfrm>
          </p:grpSpPr>
          <p:sp>
            <p:nvSpPr>
              <p:cNvPr id="75" name="流程图: 联系 74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6" name="文本框 75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6</a:t>
                </a:r>
                <a:endParaRPr lang="zh-CN" altLang="en-US" sz="2400" b="1" dirty="0"/>
              </a:p>
            </p:txBody>
          </p:sp>
        </p:grpSp>
        <p:grpSp>
          <p:nvGrpSpPr>
            <p:cNvPr id="77" name="组合 76"/>
            <p:cNvGrpSpPr/>
            <p:nvPr/>
          </p:nvGrpSpPr>
          <p:grpSpPr>
            <a:xfrm>
              <a:off x="10993902" y="2589422"/>
              <a:ext cx="648382" cy="461665"/>
              <a:chOff x="8681663" y="3380198"/>
              <a:chExt cx="648382" cy="461665"/>
            </a:xfrm>
          </p:grpSpPr>
          <p:sp>
            <p:nvSpPr>
              <p:cNvPr id="78" name="流程图: 联系 77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79" name="文本框 78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7</a:t>
                </a:r>
                <a:endParaRPr lang="zh-CN" altLang="en-US" sz="2400" b="1" dirty="0"/>
              </a:p>
            </p:txBody>
          </p:sp>
        </p:grpSp>
        <p:grpSp>
          <p:nvGrpSpPr>
            <p:cNvPr id="80" name="组合 79"/>
            <p:cNvGrpSpPr/>
            <p:nvPr/>
          </p:nvGrpSpPr>
          <p:grpSpPr>
            <a:xfrm>
              <a:off x="10777711" y="1609249"/>
              <a:ext cx="648382" cy="461665"/>
              <a:chOff x="8681663" y="3380198"/>
              <a:chExt cx="648382" cy="461665"/>
            </a:xfrm>
          </p:grpSpPr>
          <p:sp>
            <p:nvSpPr>
              <p:cNvPr id="81" name="流程图: 联系 80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2" name="文本框 81"/>
              <p:cNvSpPr txBox="1"/>
              <p:nvPr/>
            </p:nvSpPr>
            <p:spPr>
              <a:xfrm>
                <a:off x="8989887" y="3380198"/>
                <a:ext cx="340158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9</a:t>
                </a:r>
                <a:endParaRPr lang="zh-CN" altLang="en-US" sz="2400" b="1" dirty="0"/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7672304" y="1653259"/>
              <a:ext cx="803873" cy="461665"/>
              <a:chOff x="8681663" y="3380198"/>
              <a:chExt cx="803873" cy="461665"/>
            </a:xfrm>
          </p:grpSpPr>
          <p:sp>
            <p:nvSpPr>
              <p:cNvPr id="84" name="流程图: 联系 83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5" name="文本框 84"/>
              <p:cNvSpPr txBox="1"/>
              <p:nvPr/>
            </p:nvSpPr>
            <p:spPr>
              <a:xfrm>
                <a:off x="8989887" y="3380198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10</a:t>
                </a:r>
                <a:endParaRPr lang="zh-CN" altLang="en-US" sz="2400" b="1" dirty="0"/>
              </a:p>
            </p:txBody>
          </p:sp>
        </p:grpSp>
        <p:grpSp>
          <p:nvGrpSpPr>
            <p:cNvPr id="86" name="组合 85"/>
            <p:cNvGrpSpPr/>
            <p:nvPr/>
          </p:nvGrpSpPr>
          <p:grpSpPr>
            <a:xfrm>
              <a:off x="6570514" y="2360069"/>
              <a:ext cx="702601" cy="491009"/>
              <a:chOff x="8681663" y="3104946"/>
              <a:chExt cx="702601" cy="491009"/>
            </a:xfrm>
          </p:grpSpPr>
          <p:sp>
            <p:nvSpPr>
              <p:cNvPr id="87" name="流程图: 联系 86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88" name="文本框 87"/>
              <p:cNvSpPr txBox="1"/>
              <p:nvPr/>
            </p:nvSpPr>
            <p:spPr>
              <a:xfrm>
                <a:off x="8888615" y="3104946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11</a:t>
                </a:r>
                <a:endParaRPr lang="zh-CN" altLang="en-US" sz="2400" b="1" dirty="0"/>
              </a:p>
            </p:txBody>
          </p:sp>
        </p:grpSp>
        <p:grpSp>
          <p:nvGrpSpPr>
            <p:cNvPr id="89" name="组合 88"/>
            <p:cNvGrpSpPr/>
            <p:nvPr/>
          </p:nvGrpSpPr>
          <p:grpSpPr>
            <a:xfrm>
              <a:off x="9750731" y="736283"/>
              <a:ext cx="803873" cy="461665"/>
              <a:chOff x="8681663" y="3380198"/>
              <a:chExt cx="803873" cy="461665"/>
            </a:xfrm>
          </p:grpSpPr>
          <p:sp>
            <p:nvSpPr>
              <p:cNvPr id="90" name="流程图: 联系 89"/>
              <p:cNvSpPr/>
              <p:nvPr/>
            </p:nvSpPr>
            <p:spPr>
              <a:xfrm>
                <a:off x="8681663" y="3380198"/>
                <a:ext cx="216000" cy="215757"/>
              </a:xfrm>
              <a:prstGeom prst="flowChartConnector">
                <a:avLst/>
              </a:prstGeom>
              <a:solidFill>
                <a:srgbClr val="FF0000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91" name="文本框 90"/>
              <p:cNvSpPr txBox="1"/>
              <p:nvPr/>
            </p:nvSpPr>
            <p:spPr>
              <a:xfrm>
                <a:off x="8989887" y="3380198"/>
                <a:ext cx="495649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2400" b="1" dirty="0"/>
                  <a:t>12</a:t>
                </a:r>
                <a:endParaRPr lang="zh-CN" altLang="en-US" sz="2400" b="1" dirty="0"/>
              </a:p>
            </p:txBody>
          </p:sp>
        </p:grpSp>
        <p:cxnSp>
          <p:nvCxnSpPr>
            <p:cNvPr id="93" name="直接连接符 92"/>
            <p:cNvCxnSpPr>
              <a:stCxn id="60" idx="4"/>
              <a:endCxn id="56" idx="0"/>
            </p:cNvCxnSpPr>
            <p:nvPr/>
          </p:nvCxnSpPr>
          <p:spPr>
            <a:xfrm>
              <a:off x="8770847" y="2682226"/>
              <a:ext cx="10702" cy="739069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直接连接符 94"/>
            <p:cNvCxnSpPr>
              <a:stCxn id="66" idx="4"/>
              <a:endCxn id="60" idx="0"/>
            </p:cNvCxnSpPr>
            <p:nvPr/>
          </p:nvCxnSpPr>
          <p:spPr>
            <a:xfrm>
              <a:off x="8742873" y="1963036"/>
              <a:ext cx="27974" cy="50343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直接连接符 99"/>
            <p:cNvCxnSpPr>
              <a:stCxn id="60" idx="6"/>
              <a:endCxn id="75" idx="3"/>
            </p:cNvCxnSpPr>
            <p:nvPr/>
          </p:nvCxnSpPr>
          <p:spPr>
            <a:xfrm flipV="1">
              <a:off x="8878847" y="1828697"/>
              <a:ext cx="902960" cy="74565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直接连接符 100"/>
            <p:cNvCxnSpPr>
              <a:stCxn id="56" idx="6"/>
              <a:endCxn id="78" idx="3"/>
            </p:cNvCxnSpPr>
            <p:nvPr/>
          </p:nvCxnSpPr>
          <p:spPr>
            <a:xfrm flipV="1">
              <a:off x="8889549" y="2773582"/>
              <a:ext cx="2135985" cy="75559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直接连接符 103"/>
            <p:cNvCxnSpPr>
              <a:stCxn id="72" idx="4"/>
              <a:endCxn id="56" idx="1"/>
            </p:cNvCxnSpPr>
            <p:nvPr/>
          </p:nvCxnSpPr>
          <p:spPr>
            <a:xfrm>
              <a:off x="7760268" y="2820255"/>
              <a:ext cx="944913" cy="63263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直接连接符 106"/>
            <p:cNvCxnSpPr>
              <a:stCxn id="87" idx="5"/>
              <a:endCxn id="56" idx="2"/>
            </p:cNvCxnSpPr>
            <p:nvPr/>
          </p:nvCxnSpPr>
          <p:spPr>
            <a:xfrm>
              <a:off x="6754882" y="2819481"/>
              <a:ext cx="1918667" cy="70969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直接连接符 113"/>
            <p:cNvCxnSpPr>
              <a:stCxn id="56" idx="7"/>
            </p:cNvCxnSpPr>
            <p:nvPr/>
          </p:nvCxnSpPr>
          <p:spPr>
            <a:xfrm flipV="1">
              <a:off x="8857917" y="2669711"/>
              <a:ext cx="939152" cy="783181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6" name="直接连接符 115"/>
            <p:cNvCxnSpPr>
              <a:stCxn id="75" idx="4"/>
              <a:endCxn id="63" idx="0"/>
            </p:cNvCxnSpPr>
            <p:nvPr/>
          </p:nvCxnSpPr>
          <p:spPr>
            <a:xfrm>
              <a:off x="9858175" y="1860294"/>
              <a:ext cx="0" cy="636326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9" name="直接连接符 118"/>
            <p:cNvCxnSpPr>
              <a:stCxn id="63" idx="7"/>
              <a:endCxn id="81" idx="3"/>
            </p:cNvCxnSpPr>
            <p:nvPr/>
          </p:nvCxnSpPr>
          <p:spPr>
            <a:xfrm flipV="1">
              <a:off x="9934543" y="1793409"/>
              <a:ext cx="874800" cy="734808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直接连接符 121"/>
            <p:cNvCxnSpPr>
              <a:stCxn id="90" idx="4"/>
              <a:endCxn id="75" idx="0"/>
            </p:cNvCxnSpPr>
            <p:nvPr/>
          </p:nvCxnSpPr>
          <p:spPr>
            <a:xfrm flipH="1">
              <a:off x="9858175" y="952040"/>
              <a:ext cx="556" cy="692497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8" name="直接连接符 127"/>
            <p:cNvCxnSpPr>
              <a:stCxn id="69" idx="4"/>
              <a:endCxn id="66" idx="0"/>
            </p:cNvCxnSpPr>
            <p:nvPr/>
          </p:nvCxnSpPr>
          <p:spPr>
            <a:xfrm>
              <a:off x="8723004" y="998966"/>
              <a:ext cx="19869" cy="74831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直接连接符 130"/>
            <p:cNvCxnSpPr>
              <a:stCxn id="84" idx="4"/>
              <a:endCxn id="72" idx="0"/>
            </p:cNvCxnSpPr>
            <p:nvPr/>
          </p:nvCxnSpPr>
          <p:spPr>
            <a:xfrm flipH="1">
              <a:off x="7760268" y="1869016"/>
              <a:ext cx="20036" cy="735482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4" name="直接连接符 133"/>
            <p:cNvCxnSpPr>
              <a:stCxn id="84" idx="5"/>
            </p:cNvCxnSpPr>
            <p:nvPr/>
          </p:nvCxnSpPr>
          <p:spPr>
            <a:xfrm>
              <a:off x="7856672" y="1837419"/>
              <a:ext cx="806175" cy="685904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6" name="直接连接符 135"/>
            <p:cNvCxnSpPr>
              <a:stCxn id="66" idx="7"/>
              <a:endCxn id="90" idx="3"/>
            </p:cNvCxnSpPr>
            <p:nvPr/>
          </p:nvCxnSpPr>
          <p:spPr>
            <a:xfrm flipV="1">
              <a:off x="8819241" y="920443"/>
              <a:ext cx="963122" cy="858433"/>
            </a:xfrm>
            <a:prstGeom prst="line">
              <a:avLst/>
            </a:prstGeom>
            <a:ln w="762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0" name="椭圆 139"/>
          <p:cNvSpPr/>
          <p:nvPr/>
        </p:nvSpPr>
        <p:spPr>
          <a:xfrm>
            <a:off x="8396901" y="1274667"/>
            <a:ext cx="878250" cy="719191"/>
          </a:xfrm>
          <a:prstGeom prst="ellipse">
            <a:avLst/>
          </a:prstGeom>
          <a:noFill/>
          <a:ln w="508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1" name="椭圆 140"/>
          <p:cNvSpPr/>
          <p:nvPr/>
        </p:nvSpPr>
        <p:spPr>
          <a:xfrm>
            <a:off x="8386576" y="2013736"/>
            <a:ext cx="878250" cy="719191"/>
          </a:xfrm>
          <a:prstGeom prst="ellipse">
            <a:avLst/>
          </a:prstGeom>
          <a:noFill/>
          <a:ln w="508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2" name="椭圆 141"/>
          <p:cNvSpPr/>
          <p:nvPr/>
        </p:nvSpPr>
        <p:spPr>
          <a:xfrm>
            <a:off x="9535837" y="2013736"/>
            <a:ext cx="878250" cy="719191"/>
          </a:xfrm>
          <a:prstGeom prst="ellipse">
            <a:avLst/>
          </a:prstGeom>
          <a:noFill/>
          <a:ln w="508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3" name="文本框 142"/>
          <p:cNvSpPr txBox="1"/>
          <p:nvPr/>
        </p:nvSpPr>
        <p:spPr>
          <a:xfrm>
            <a:off x="6459209" y="4032240"/>
            <a:ext cx="2549480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最大元：无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最小元：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极大元：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3,4</a:t>
            </a: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极小元：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</a:p>
        </p:txBody>
      </p:sp>
      <p:sp>
        <p:nvSpPr>
          <p:cNvPr id="144" name="椭圆 143"/>
          <p:cNvSpPr/>
          <p:nvPr/>
        </p:nvSpPr>
        <p:spPr>
          <a:xfrm>
            <a:off x="8501367" y="2879719"/>
            <a:ext cx="878250" cy="719191"/>
          </a:xfrm>
          <a:prstGeom prst="ellipse">
            <a:avLst/>
          </a:prstGeom>
          <a:noFill/>
          <a:ln w="50800">
            <a:solidFill>
              <a:schemeClr val="accent5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5" name="矩形 144"/>
          <p:cNvSpPr/>
          <p:nvPr/>
        </p:nvSpPr>
        <p:spPr>
          <a:xfrm>
            <a:off x="9004742" y="3977814"/>
            <a:ext cx="2924445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上界：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12</a:t>
            </a: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下界：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最小上界：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12</a:t>
            </a:r>
          </a:p>
          <a:p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最大下界：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endParaRPr lang="zh-CN" altLang="en-US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7113575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" grpId="0" animBg="1"/>
      <p:bldP spid="141" grpId="0" animBg="1"/>
      <p:bldP spid="142" grpId="0" animBg="1"/>
      <p:bldP spid="14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07148" y="262588"/>
                <a:ext cx="11633215" cy="6092575"/>
              </a:xfrm>
            </p:spPr>
            <p:txBody>
              <a:bodyPr>
                <a:noAutofit/>
              </a:bodyPr>
              <a:lstStyle/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练习：</a:t>
                </a:r>
                <a:endParaRPr lang="en-US" altLang="zh-CN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，设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A={1,2,3,4}, B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集合：</a:t>
                </a:r>
                <a14:m>
                  <m:oMath xmlns:m="http://schemas.openxmlformats.org/officeDocument/2006/math">
                    <m:r>
                      <a:rPr lang="en-US" altLang="zh-CN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nor/>
                      </m:rPr>
                      <a:rPr lang="en-US" altLang="zh-CN"/>
                      <m:t>{{</m:t>
                    </m:r>
                    <m:r>
                      <m:rPr>
                        <m:nor/>
                      </m:rPr>
                      <a:rPr lang="en-US" altLang="zh-CN" b="0" i="1" smtClean="0"/>
                      <m:t>1</m:t>
                    </m:r>
                    <m:r>
                      <m:rPr>
                        <m:nor/>
                      </m:rPr>
                      <a:rPr lang="en-US" altLang="zh-CN"/>
                      <m:t>}</m:t>
                    </m:r>
                    <m:r>
                      <m:rPr>
                        <m:nor/>
                      </m:rPr>
                      <a:rPr lang="zh-CN" altLang="en-US"/>
                      <m:t>，</m:t>
                    </m:r>
                    <m:r>
                      <m:rPr>
                        <m:nor/>
                      </m:rPr>
                      <a:rPr lang="en-US" altLang="zh-CN"/>
                      <m:t>{</m:t>
                    </m:r>
                    <m:r>
                      <m:rPr>
                        <m:nor/>
                      </m:rPr>
                      <a:rPr lang="en-US" altLang="zh-CN" b="0" i="1" smtClean="0"/>
                      <m:t>2</m:t>
                    </m:r>
                    <m:r>
                      <m:rPr>
                        <m:nor/>
                      </m:rPr>
                      <a:rPr lang="zh-CN" altLang="en-US"/>
                      <m:t>，</m:t>
                    </m:r>
                    <m:r>
                      <m:rPr>
                        <m:nor/>
                      </m:rPr>
                      <a:rPr lang="en-US" altLang="zh-CN" b="0" i="1" smtClean="0"/>
                      <m:t>3</m:t>
                    </m:r>
                    <m:r>
                      <m:rPr>
                        <m:nor/>
                      </m:rPr>
                      <a:rPr lang="en-US" altLang="zh-CN"/>
                      <m:t>}</m:t>
                    </m:r>
                    <m:r>
                      <m:rPr>
                        <m:nor/>
                      </m:rPr>
                      <a:rPr lang="zh-CN" altLang="en-US"/>
                      <m:t>，</m:t>
                    </m:r>
                    <m:r>
                      <m:rPr>
                        <m:nor/>
                      </m:rPr>
                      <a:rPr lang="en-US" altLang="zh-CN"/>
                      <m:t>{</m:t>
                    </m:r>
                    <m:r>
                      <m:rPr>
                        <m:nor/>
                      </m:rPr>
                      <a:rPr lang="en-US" altLang="zh-CN" b="0" i="1" smtClean="0"/>
                      <m:t>4</m:t>
                    </m:r>
                    <m:r>
                      <m:rPr>
                        <m:nor/>
                      </m:rPr>
                      <a:rPr lang="en-US" altLang="zh-CN"/>
                      <m:t>}}</m:t>
                    </m:r>
                  </m:oMath>
                </a14:m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是否为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上的一个划分？如果是，求出由该划分确定的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上的等价关系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R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，求出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中各元素的等价类。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解：</a:t>
                </a: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   R = {&lt;2,3&gt;, &lt;3,2&gt; } </a:t>
                </a:r>
                <a:r>
                  <a:rPr lang="en-US" altLang="zh-CN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∪ I</a:t>
                </a:r>
                <a:r>
                  <a:rPr lang="en-US" altLang="zh-CN" baseline="-25000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            [1]={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};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            [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]=[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]={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</a:t>
                </a:r>
                <a:r>
                  <a:rPr lang="en-US" altLang="zh-CN" b="1" i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};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                   [4]={4}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3, 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集合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lang="en-US" altLang="zh-CN" b="1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r>
                          <a:rPr lang="en-US" altLang="zh-CN" b="1" i="1" smtClean="0">
                            <a:latin typeface="Cambria Math" panose="02040503050406030204" pitchFamily="18" charset="0"/>
                            <a:ea typeface="华文楷体" panose="02010600040101010101" pitchFamily="2" charset="-122"/>
                            <a:cs typeface="Times New Roman" panose="02020603050405020304" pitchFamily="18" charset="0"/>
                          </a:rPr>
                          <m:t>𝑨</m:t>
                        </m:r>
                      </m:e>
                    </m:d>
                    <m:r>
                      <a:rPr lang="en-US" altLang="zh-CN" b="1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b="1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, 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则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A</a:t>
                </a:r>
                <a:r>
                  <a:rPr lang="zh-CN" altLang="en-US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上的二元关系有多少个？</a:t>
                </a: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:r>
                  <a:rPr lang="en-US" altLang="zh-CN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</a:p>
              <a:p>
                <a:pPr marL="0" indent="0">
                  <a:spcBef>
                    <a:spcPts val="0"/>
                  </a:spcBef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US" altLang="zh-CN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r>
                            <a:rPr lang="en-US" altLang="zh-CN" i="1" dirty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2</m:t>
                          </m:r>
                        </m:e>
                        <m:sup>
                          <m:sSup>
                            <m:sSupPr>
                              <m:ctrlPr>
                                <a:rPr lang="en-US" altLang="zh-CN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lang="en-US" altLang="zh-CN" i="1" dirty="0">
                                  <a:latin typeface="Cambria Math" panose="02040503050406030204" pitchFamily="18" charset="0"/>
                                  <a:ea typeface="华文楷体" panose="02010600040101010101" pitchFamily="2" charset="-122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sup>
                      </m:sSup>
                    </m:oMath>
                  </m:oMathPara>
                </a14:m>
                <a:endParaRPr lang="en-US" altLang="zh-CN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07148" y="262588"/>
                <a:ext cx="11633215" cy="6092575"/>
              </a:xfrm>
              <a:blipFill>
                <a:blip r:embed="rId2"/>
                <a:stretch>
                  <a:fillRect l="-1048" t="-1700" r="-52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40606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4898" y="161277"/>
            <a:ext cx="10515600" cy="727695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第十四章：图（很重要）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35886" y="1045120"/>
            <a:ext cx="11396546" cy="4894573"/>
          </a:xfrm>
        </p:spPr>
        <p:txBody>
          <a:bodyPr>
            <a:normAutofit/>
          </a:bodyPr>
          <a:lstStyle/>
          <a:p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简单图，零图，平凡图，有向完全图，无向完全图，</a:t>
            </a:r>
            <a:r>
              <a:rPr lang="en-US" altLang="zh-CN" sz="3200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k-</a:t>
            </a: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正则图，竞赛图，生成子图，导出子图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；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会判断一个度数列是否可图化；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会判断有向图的连通性（弱连通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包含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单向连通</a:t>
            </a:r>
            <a:r>
              <a:rPr lang="zh-CN" altLang="en-US" sz="3600" b="1" kern="100" dirty="0">
                <a:solidFill>
                  <a:srgbClr val="FF0000"/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  <a:sym typeface="Symbol" panose="05050102010706020507" pitchFamily="18" charset="2"/>
              </a:rPr>
              <a:t>包含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强连通）；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求无向图（ △、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3200" baseline="300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）；有向图（ △</a:t>
            </a:r>
            <a:r>
              <a:rPr lang="zh-CN" altLang="en-US" sz="3200" baseline="30000" dirty="0">
                <a:latin typeface="华文楷体" panose="02010600040101010101" pitchFamily="2" charset="-122"/>
                <a:ea typeface="华文楷体" panose="02010600040101010101" pitchFamily="2" charset="-122"/>
              </a:rPr>
              <a:t>+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3200" baseline="30000" dirty="0">
                <a:latin typeface="华文楷体" panose="02010600040101010101" pitchFamily="2" charset="-122"/>
                <a:ea typeface="华文楷体" panose="02010600040101010101" pitchFamily="2" charset="-122"/>
              </a:rPr>
              <a:t>+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 △</a:t>
            </a:r>
            <a:r>
              <a:rPr lang="zh-CN" altLang="en-US" sz="3200" baseline="300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、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  <a:sym typeface="Symbol" panose="05050102010706020507" pitchFamily="18" charset="2"/>
              </a:rPr>
              <a:t></a:t>
            </a:r>
            <a:r>
              <a:rPr lang="zh-CN" altLang="en-US" sz="3200" baseline="30000" dirty="0">
                <a:latin typeface="华文楷体" panose="02010600040101010101" pitchFamily="2" charset="-122"/>
                <a:ea typeface="华文楷体" panose="02010600040101010101" pitchFamily="2" charset="-122"/>
              </a:rPr>
              <a:t>-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）；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en-US" altLang="zh-CN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握手定理</a:t>
            </a:r>
            <a:r>
              <a:rPr lang="zh-CN" altLang="en-US" sz="3200" b="1" dirty="0">
                <a:solidFill>
                  <a:srgbClr val="FF0000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（很重要）</a:t>
            </a:r>
            <a:endParaRPr lang="en-US" altLang="zh-CN" sz="3200" b="1" dirty="0">
              <a:solidFill>
                <a:srgbClr val="FF0000"/>
              </a:solidFill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求有向图的先驱元集、后继元集，邻域，闭邻域。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求无向图的邻域，闭邻域。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文本框 3"/>
              <p:cNvSpPr txBox="1"/>
              <p:nvPr/>
            </p:nvSpPr>
            <p:spPr>
              <a:xfrm>
                <a:off x="335886" y="5352545"/>
                <a:ext cx="2497543" cy="1174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𝒅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5886" y="5352545"/>
                <a:ext cx="2497543" cy="117429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矩形 4"/>
          <p:cNvSpPr/>
          <p:nvPr/>
        </p:nvSpPr>
        <p:spPr>
          <a:xfrm>
            <a:off x="8259337" y="4932714"/>
            <a:ext cx="3932663" cy="176400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Bef>
                <a:spcPct val="5000"/>
              </a:spcBef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任何图(无向的或有向的)中，度为奇数的顶点个数为偶数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3195066" y="5352545"/>
                <a:ext cx="4702633" cy="117429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sup>
                          </m:s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zh-CN" altLang="en-US" sz="2800" b="1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𝒊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sub>
                        <m: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𝒏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𝒅</m:t>
                              </m:r>
                            </m:e>
                            <m:sup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</m:sup>
                          </m:sSup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 (</m:t>
                          </m:r>
                          <m:sSub>
                            <m:sSubPr>
                              <m:ctrlP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𝒗</m:t>
                              </m:r>
                            </m:e>
                            <m:sub>
                              <m:r>
                                <a:rPr lang="en-US" altLang="zh-CN" sz="2800" b="1" i="1" smtClean="0">
                                  <a:latin typeface="Cambria Math" panose="02040503050406030204" pitchFamily="18" charset="0"/>
                                </a:rPr>
                                <m:t>𝒊</m:t>
                              </m:r>
                            </m:sub>
                          </m:sSub>
                          <m:r>
                            <a:rPr lang="en-US" altLang="zh-CN" sz="2800" b="1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zh-CN" sz="2800" b="1" i="1" smtClean="0">
                          <a:latin typeface="Cambria Math" panose="02040503050406030204" pitchFamily="18" charset="0"/>
                        </a:rPr>
                        <m:t>𝒎</m:t>
                      </m:r>
                    </m:oMath>
                  </m:oMathPara>
                </a14:m>
                <a:endParaRPr lang="zh-CN" altLang="en-US" sz="2800" b="1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95066" y="5352545"/>
                <a:ext cx="4702633" cy="117429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46161379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195208" y="432696"/>
                <a:ext cx="11702265" cy="6296877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20000"/>
                  </a:lnSpc>
                </a:pP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设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G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为任意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阶无向简单图，则最大度数</a:t>
                </a:r>
                <a14:m>
                  <m:oMath xmlns:m="http://schemas.openxmlformats.org/officeDocument/2006/math">
                    <m:r>
                      <a:rPr lang="en-US" altLang="zh-CN" sz="3200" b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:</m:t>
                    </m:r>
                    <m:r>
                      <a:rPr lang="zh-CN" altLang="en-US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△</m:t>
                    </m:r>
                    <m:d>
                      <m:d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dPr>
                      <m:e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𝑮</m:t>
                        </m:r>
                      </m:e>
                    </m:d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≤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𝒏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−</m:t>
                    </m:r>
                    <m:r>
                      <a:rPr lang="en-US" altLang="zh-CN" sz="3200" b="1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𝟏</m:t>
                    </m:r>
                  </m:oMath>
                </a14:m>
                <a:endParaRPr lang="en-US" altLang="zh-CN" sz="32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阶无向完全图</a:t>
                </a:r>
                <a:r>
                  <a:rPr lang="en-US" altLang="zh-CN" sz="3200" b="1" i="1" dirty="0" err="1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K</a:t>
                </a:r>
                <a:r>
                  <a:rPr lang="en-US" altLang="zh-CN" sz="3200" b="1" i="1" baseline="-30000" dirty="0" err="1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边数：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m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𝑪</m:t>
                        </m:r>
                      </m:e>
                      <m:sub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𝒏</m:t>
                        </m:r>
                      </m:sub>
                      <m:sup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= n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-1) / 2</a:t>
                </a: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                            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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-1</a:t>
                </a: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阶有向完全图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</a:t>
                </a:r>
              </a:p>
              <a:p>
                <a:pPr algn="just">
                  <a:buNone/>
                </a:pP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 边数：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m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</m:ctrlPr>
                      </m:sSubSupPr>
                      <m:e>
                        <m:r>
                          <a:rPr lang="en-US" altLang="zh-CN" sz="3200" b="1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𝑨</m:t>
                        </m:r>
                      </m:e>
                      <m:sub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𝒏</m:t>
                        </m:r>
                      </m:sub>
                      <m:sup>
                        <m:r>
                          <a:rPr lang="en-US" altLang="zh-CN" sz="3200" b="1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ea typeface="华文楷体" panose="02010600040101010101" pitchFamily="2" charset="-122"/>
                          </a:rPr>
                          <m:t>𝟐</m:t>
                        </m:r>
                      </m:sup>
                    </m:sSubSup>
                  </m:oMath>
                </a14:m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=n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(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-1) </a:t>
                </a: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                           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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2(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-1)</a:t>
                </a: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                             </a:t>
                </a:r>
                <a:r>
                  <a:rPr lang="en-US" altLang="zh-CN" sz="3200" b="1" i="1" baseline="30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+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 </a:t>
                </a:r>
                <a:r>
                  <a:rPr lang="en-US" altLang="zh-CN" sz="3200" b="1" i="1" baseline="30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+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 </a:t>
                </a:r>
                <a:r>
                  <a:rPr lang="en-US" altLang="zh-CN" sz="3200" b="1" i="1" baseline="30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-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 </a:t>
                </a:r>
                <a:r>
                  <a:rPr lang="en-US" altLang="zh-CN" sz="3200" b="1" i="1" baseline="30000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  <a:sym typeface="Symbol" panose="05050102010706020507" pitchFamily="18" charset="2"/>
                  </a:rPr>
                  <a:t>-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-1</a:t>
                </a: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阶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k</a:t>
                </a: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正则图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: </a:t>
                </a:r>
              </a:p>
              <a:p>
                <a:pPr algn="just">
                  <a:buFont typeface="Wingdings" panose="05000000000000000000" pitchFamily="2" charset="2"/>
                  <a:buNone/>
                </a:pPr>
                <a:r>
                  <a:rPr lang="zh-CN" altLang="en-US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                边数：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m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= </a:t>
                </a:r>
                <a:r>
                  <a:rPr lang="en-US" altLang="zh-CN" sz="3200" b="1" i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n k </a:t>
                </a:r>
                <a:r>
                  <a:rPr lang="en-US" altLang="zh-CN" sz="3200" b="1" dirty="0">
                    <a:solidFill>
                      <a:schemeClr val="tx1"/>
                    </a:solidFill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/ 2</a:t>
                </a:r>
              </a:p>
              <a:p>
                <a:endParaRPr lang="zh-CN" altLang="en-US" sz="3200" b="1" dirty="0">
                  <a:solidFill>
                    <a:schemeClr val="tx1"/>
                  </a:solidFill>
                  <a:latin typeface="华文楷体" panose="02010600040101010101" pitchFamily="2" charset="-122"/>
                  <a:ea typeface="华文楷体" panose="02010600040101010101" pitchFamily="2" charset="-122"/>
                </a:endParaRP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95208" y="432696"/>
                <a:ext cx="11702265" cy="6296877"/>
              </a:xfrm>
              <a:blipFill rotWithShape="0">
                <a:blip r:embed="rId2"/>
                <a:stretch>
                  <a:fillRect l="-1302" t="-29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342220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16894" y="195210"/>
            <a:ext cx="11353800" cy="6412419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补图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同构图的性质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点割集，边割集；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会求图的点连通度、边连通度；</a:t>
            </a:r>
            <a:r>
              <a:rPr lang="en-US" altLang="zh-CN" i="1" dirty="0">
                <a:sym typeface="Symbol" panose="05050102010706020507" pitchFamily="18" charset="2"/>
              </a:rPr>
              <a:t></a:t>
            </a:r>
            <a:r>
              <a:rPr lang="en-US" altLang="zh-CN" i="1" dirty="0"/>
              <a:t>(G)</a:t>
            </a:r>
            <a:r>
              <a:rPr lang="en-US" altLang="zh-CN" i="1" dirty="0">
                <a:sym typeface="Symbol" panose="05050102010706020507" pitchFamily="18" charset="2"/>
              </a:rPr>
              <a:t></a:t>
            </a:r>
            <a:r>
              <a:rPr lang="en-US" altLang="zh-CN" i="1" dirty="0"/>
              <a:t>(G)</a:t>
            </a:r>
            <a:r>
              <a:rPr lang="en-US" altLang="zh-CN" i="1" dirty="0">
                <a:sym typeface="Symbol" panose="05050102010706020507" pitchFamily="18" charset="2"/>
              </a:rPr>
              <a:t></a:t>
            </a:r>
            <a:r>
              <a:rPr lang="en-US" altLang="zh-CN" i="1" dirty="0"/>
              <a:t>(G)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r>
              <a:rPr lang="zh-CN" altLang="en-US" sz="3200" dirty="0">
                <a:latin typeface="华文楷体" panose="02010600040101010101" pitchFamily="2" charset="-122"/>
                <a:ea typeface="华文楷体" panose="02010600040101010101" pitchFamily="2" charset="-122"/>
              </a:rPr>
              <a:t>会写关联矩阵，邻接矩阵，可达矩阵；</a:t>
            </a: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  <a:spcBef>
                <a:spcPts val="0"/>
              </a:spcBef>
            </a:pPr>
            <a:endParaRPr lang="en-US" altLang="zh-CN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lnSpc>
                <a:spcPct val="150000"/>
              </a:lnSpc>
              <a:spcBef>
                <a:spcPts val="0"/>
              </a:spcBef>
              <a:buNone/>
            </a:pPr>
            <a:endParaRPr lang="zh-CN" altLang="en-US" sz="3200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107690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38200" y="265814"/>
            <a:ext cx="10515600" cy="5911149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， 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求出下图的关联矩阵，邻接矩阵，可达矩阵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0" indent="0">
              <a:buNone/>
            </a:pPr>
            <a:endParaRPr lang="zh-CN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文本框 4"/>
              <p:cNvSpPr txBox="1"/>
              <p:nvPr/>
            </p:nvSpPr>
            <p:spPr>
              <a:xfrm>
                <a:off x="5016257" y="1256511"/>
                <a:ext cx="4819396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altLang="zh-CN" sz="2400" i="1" smtClean="0">
                          <a:latin typeface="Cambria Math" panose="02040503050406030204" pitchFamily="18" charset="0"/>
                        </a:rPr>
                        <m:t>M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−</m:t>
                                      </m:r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−1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  </m:t>
                                      </m:r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    </m:t>
                                      </m:r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3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−1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>
          <p:sp>
            <p:nvSpPr>
              <p:cNvPr id="5" name="文本框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57" y="1256511"/>
                <a:ext cx="4819396" cy="1360629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071" y="1065875"/>
            <a:ext cx="3403747" cy="310253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文本框 6"/>
              <p:cNvSpPr txBox="1"/>
              <p:nvPr/>
            </p:nvSpPr>
            <p:spPr>
              <a:xfrm>
                <a:off x="5016257" y="3036422"/>
                <a:ext cx="2664768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i="1" smtClean="0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brk m:alnAt="7"/>
                                  </m:rP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7" name="文本框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57" y="3036422"/>
                <a:ext cx="2664768" cy="1360629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5016257" y="4726999"/>
                <a:ext cx="2664768" cy="136062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= </m:t>
                      </m:r>
                      <m:d>
                        <m:dPr>
                          <m:begChr m:val="["/>
                          <m:endChr m:val="]"/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a:rPr lang="en-US" altLang="zh-CN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e>
                                  </m:mr>
                                </m:m>
                              </m:e>
                            </m:mr>
                            <m:mr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1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r>
                                        <m:rPr>
                                          <m:brk m:alnAt="7"/>
                                        </m:rP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  <m:mr>
                                    <m:e>
                                      <m:r>
                                        <a:rPr lang="en-US" altLang="zh-CN" sz="2400" b="0" i="1" smtClean="0">
                                          <a:latin typeface="Cambria Math" panose="02040503050406030204" pitchFamily="18" charset="0"/>
                                        </a:rPr>
                                        <m:t>0</m:t>
                                      </m:r>
                                    </m:e>
                                  </m:mr>
                                </m:m>
                              </m:e>
                              <m:e>
                                <m:m>
                                  <m:mPr>
                                    <m:mcs>
                                      <m:mc>
                                        <m:mcPr>
                                          <m:count m:val="2"/>
                                          <m:mcJc m:val="center"/>
                                        </m:mcPr>
                                      </m:mc>
                                    </m:mcs>
                                    <m:ctrlPr>
                                      <a:rPr lang="en-US" altLang="zh-CN" sz="24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mPr>
                                  <m:mr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0</m:t>
                                            </m:r>
                                          </m:e>
                                        </m:mr>
                                      </m:m>
                                    </m:e>
                                    <m:e>
                                      <m:m>
                                        <m:mPr>
                                          <m:mcs>
                                            <m:mc>
                                              <m:mcPr>
                                                <m:count m:val="1"/>
                                                <m:mcJc m:val="center"/>
                                              </m:mcPr>
                                            </m:mc>
                                          </m:mcs>
                                          <m:ctrlPr>
                                            <a:rPr lang="en-US" altLang="zh-CN" sz="2400" b="0" i="1" smtClean="0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mP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  <m:mr>
                                          <m:e>
                                            <m:r>
                                              <a:rPr lang="en-US" altLang="zh-CN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1</m:t>
                                            </m:r>
                                          </m:e>
                                        </m:mr>
                                      </m:m>
                                    </m:e>
                                  </m:mr>
                                </m:m>
                              </m:e>
                            </m:mr>
                          </m:m>
                        </m:e>
                      </m:d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16257" y="4726999"/>
                <a:ext cx="2664768" cy="1360629"/>
              </a:xfrm>
              <a:prstGeom prst="rect">
                <a:avLst/>
              </a:prstGeom>
              <a:blipFill rotWithShape="0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00647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8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3803" y="178750"/>
            <a:ext cx="10515600" cy="772299"/>
          </a:xfrm>
        </p:spPr>
        <p:txBody>
          <a:bodyPr/>
          <a:lstStyle/>
          <a:p>
            <a:r>
              <a:rPr lang="zh-CN" altLang="en-US" b="1" dirty="0">
                <a:solidFill>
                  <a:schemeClr val="accent2">
                    <a:lumMod val="75000"/>
                  </a:schemeClr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第六章：树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328453" y="729823"/>
                <a:ext cx="11535094" cy="5788699"/>
              </a:xfrm>
            </p:spPr>
            <p:txBody>
              <a:bodyPr>
                <a:no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树：连通无回路的无向图且 </a:t>
                </a:r>
                <a:r>
                  <a:rPr lang="en-US" altLang="zh-CN" sz="3200" b="1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n</a:t>
                </a:r>
                <a:r>
                  <a:rPr lang="en-US" altLang="zh-CN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= </a:t>
                </a:r>
                <a:r>
                  <a:rPr lang="en-US" altLang="zh-CN" sz="3200" b="1" i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m</a:t>
                </a:r>
                <a:r>
                  <a:rPr lang="en-US" altLang="zh-CN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+1 </a:t>
                </a: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。</a:t>
                </a:r>
                <a:endParaRPr lang="en-US" altLang="zh-CN" sz="32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i="1" dirty="0">
                    <a:ea typeface="华文楷体" panose="02010600040101010101" pitchFamily="2" charset="-122"/>
                  </a:rPr>
                  <a:t>n</a:t>
                </a:r>
                <a:r>
                  <a:rPr lang="zh-CN" altLang="en-US" sz="3200" b="1" dirty="0">
                    <a:ea typeface="华文楷体" panose="02010600040101010101" pitchFamily="2" charset="-122"/>
                  </a:rPr>
                  <a:t>阶非平凡的无向树至少有两片树叶。</a:t>
                </a:r>
                <a:endParaRPr lang="en-US" altLang="zh-CN" sz="3200" b="1" dirty="0"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buClr>
                    <a:srgbClr val="FFFF00"/>
                  </a:buClr>
                </a:pPr>
                <a:r>
                  <a:rPr lang="en-US" altLang="zh-CN" sz="3200" b="1" i="1" dirty="0">
                    <a:ea typeface="华文楷体" panose="02010600040101010101" pitchFamily="2" charset="-122"/>
                  </a:rPr>
                  <a:t>n</a:t>
                </a:r>
                <a:r>
                  <a:rPr lang="zh-CN" altLang="en-US" sz="3200" b="1" dirty="0">
                    <a:ea typeface="华文楷体" panose="02010600040101010101" pitchFamily="2" charset="-122"/>
                  </a:rPr>
                  <a:t>阶</a:t>
                </a:r>
                <a:r>
                  <a:rPr lang="en-US" altLang="zh-CN" sz="3200" b="1" i="1" dirty="0">
                    <a:ea typeface="华文楷体" panose="02010600040101010101" pitchFamily="2" charset="-122"/>
                  </a:rPr>
                  <a:t>m</a:t>
                </a:r>
                <a:r>
                  <a:rPr lang="zh-CN" altLang="en-US" sz="3200" b="1" dirty="0">
                    <a:ea typeface="华文楷体" panose="02010600040101010101" pitchFamily="2" charset="-122"/>
                  </a:rPr>
                  <a:t>条边的无向连通图有</a:t>
                </a:r>
                <a:r>
                  <a:rPr lang="en-US" altLang="zh-CN" sz="3200" b="1" dirty="0">
                    <a:ea typeface="华文楷体" panose="02010600040101010101" pitchFamily="2" charset="-122"/>
                  </a:rPr>
                  <a:t>: 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𝒎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≥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𝒏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−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</a:rPr>
                      <m:t>𝟏</m:t>
                    </m:r>
                  </m:oMath>
                </a14:m>
                <a:endParaRPr lang="en-US" altLang="zh-CN" sz="3200" b="1" i="1" dirty="0"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  <a:buClr>
                    <a:srgbClr val="FFFF00"/>
                  </a:buClr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所有的连通图都具有生成树。</a:t>
                </a:r>
                <a:endParaRPr lang="en-US" altLang="zh-CN" sz="3200" b="1" i="1" dirty="0">
                  <a:ea typeface="华文楷体" panose="02010600040101010101" pitchFamily="2" charset="-122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CN" altLang="en-US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会求最小生成树。</a:t>
                </a:r>
                <a:endParaRPr lang="en-US" altLang="zh-CN" sz="32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 </a:t>
                </a:r>
                <a:r>
                  <a:rPr lang="zh-CN" altLang="en-US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会求树的权</a:t>
                </a:r>
                <a:endParaRPr lang="en-US" altLang="zh-CN" sz="32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CN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2</a:t>
                </a:r>
                <a:r>
                  <a:rPr lang="zh-CN" altLang="en-US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叉树的三种遍历（中序，前序（波兰），后序（逆波兰））</a:t>
                </a:r>
                <a:endParaRPr lang="en-US" altLang="zh-CN" sz="32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28453" y="729823"/>
                <a:ext cx="11535094" cy="5788699"/>
              </a:xfrm>
              <a:blipFill>
                <a:blip r:embed="rId2"/>
                <a:stretch>
                  <a:fillRect l="-1216" b="-547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2631028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34C66C43-45EC-40CA-94C0-AC7A9245D5D0}"/>
              </a:ext>
            </a:extLst>
          </p:cNvPr>
          <p:cNvSpPr/>
          <p:nvPr/>
        </p:nvSpPr>
        <p:spPr>
          <a:xfrm>
            <a:off x="312174" y="292059"/>
            <a:ext cx="11567651" cy="5847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图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是树的充要条件：</a:t>
            </a:r>
            <a:endParaRPr lang="en-US" altLang="zh-CN" sz="28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1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)G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连通而不含回路（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是树）。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2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)G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中每对顶点之间存在唯一的路径。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3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)G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中无回路且 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n = m+1。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(4)G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是连通的且 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n = m+1。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5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)G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中没有回路，但在任何两个不同的顶点之间加一条新边，在所得的图中得到唯一的一个含新边的圈。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(6) 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是连通的且</a:t>
            </a: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中任何边均为桥。</a:t>
            </a:r>
          </a:p>
          <a:p>
            <a:pPr>
              <a:lnSpc>
                <a:spcPct val="150000"/>
              </a:lnSpc>
            </a:pPr>
            <a:r>
              <a:rPr lang="en-US" altLang="zh-CN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(7) G</a:t>
            </a:r>
            <a:r>
              <a:rPr lang="zh-CN" altLang="en-US" sz="28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是连通的,但删除任何一条边后，就不连通了。</a:t>
            </a:r>
          </a:p>
        </p:txBody>
      </p:sp>
    </p:spTree>
    <p:extLst>
      <p:ext uri="{BB962C8B-B14F-4D97-AF65-F5344CB8AC3E}">
        <p14:creationId xmlns:p14="http://schemas.microsoft.com/office/powerpoint/2010/main" val="168982185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C8B34E-BB25-44A2-9D91-D4E4EFC3A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/>
          <a:lstStyle/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根树，树根，树叶，分支点，内点，树高，层数。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有序树，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叉树，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叉正则树，</a:t>
            </a:r>
            <a:r>
              <a:rPr lang="en-US" altLang="zh-CN" dirty="0">
                <a:latin typeface="华文楷体" panose="02010600040101010101" pitchFamily="2" charset="-122"/>
                <a:ea typeface="华文楷体" panose="02010600040101010101" pitchFamily="2" charset="-122"/>
              </a:rPr>
              <a:t>r</a:t>
            </a:r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叉完全正则树。</a:t>
            </a:r>
            <a:endParaRPr lang="en-US" altLang="zh-CN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r>
              <a:rPr lang="zh-CN" altLang="en-US" dirty="0">
                <a:latin typeface="华文楷体" panose="02010600040101010101" pitchFamily="2" charset="-122"/>
                <a:ea typeface="华文楷体" panose="02010600040101010101" pitchFamily="2" charset="-122"/>
              </a:rPr>
              <a:t>根子树，左子树，右子树。</a:t>
            </a:r>
          </a:p>
        </p:txBody>
      </p:sp>
    </p:spTree>
    <p:extLst>
      <p:ext uri="{BB962C8B-B14F-4D97-AF65-F5344CB8AC3E}">
        <p14:creationId xmlns:p14="http://schemas.microsoft.com/office/powerpoint/2010/main" val="3369315780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>
              <a:xfrm>
                <a:off x="478604" y="554804"/>
                <a:ext cx="10771598" cy="5570788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zh-CN" altLang="en-US" sz="3200" b="1" dirty="0">
                    <a:solidFill>
                      <a:schemeClr val="accent2">
                        <a:lumMod val="75000"/>
                      </a:schemeClr>
                    </a:solidFill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练习：</a:t>
                </a:r>
                <a:endParaRPr lang="en-US" altLang="zh-CN" sz="3200" b="1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en-US" altLang="zh-CN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1</a:t>
                </a: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，无向树</a:t>
                </a:r>
                <a:r>
                  <a:rPr lang="en-US" altLang="zh-CN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有5片树叶，3个2度分支点，其余分支点均为3度，问</a:t>
                </a:r>
                <a:r>
                  <a:rPr lang="en-US" altLang="zh-CN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G</a:t>
                </a: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有多少个顶点？</a:t>
                </a:r>
                <a:endParaRPr lang="en-US" altLang="zh-CN" sz="32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解：</a:t>
                </a:r>
                <a:endParaRPr lang="en-US" altLang="zh-CN" sz="32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设</a:t>
                </a:r>
                <a:r>
                  <a:rPr lang="en-US" altLang="zh-CN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: G</a:t>
                </a: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有</a:t>
                </a:r>
                <a14:m>
                  <m:oMath xmlns:m="http://schemas.openxmlformats.org/officeDocument/2006/math">
                    <m:r>
                      <a:rPr lang="en-US" altLang="zh-CN" sz="3200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imes New Roman" panose="02020603050405020304" pitchFamily="18" charset="0"/>
                      </a:rPr>
                      <m:t>𝒏</m:t>
                    </m:r>
                  </m:oMath>
                </a14:m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个顶点，那么边数</a:t>
                </a:r>
                <a14:m>
                  <m:oMath xmlns:m="http://schemas.openxmlformats.org/officeDocument/2006/math">
                    <m:r>
                      <a:rPr lang="en-US" altLang="zh-CN" sz="3200" b="1" i="1" smtClean="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𝒎</m:t>
                    </m:r>
                    <m:r>
                      <a:rPr lang="en-US" altLang="zh-CN" sz="3200" b="1" i="0" smtClean="0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𝒏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−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𝟏</m:t>
                    </m:r>
                    <m:r>
                      <a:rPr lang="en-US" altLang="zh-CN" sz="3200" b="1" i="1">
                        <a:latin typeface="Cambria Math" panose="02040503050406030204" pitchFamily="18" charset="0"/>
                        <a:ea typeface="华文楷体" panose="02010600040101010101" pitchFamily="2" charset="-122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；</a:t>
                </a:r>
                <a:endParaRPr lang="en-US" altLang="zh-CN" sz="32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根据握手定理得：</a:t>
                </a:r>
                <a:endParaRPr lang="en-US" altLang="zh-CN" sz="32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zh-CN" sz="3200" b="1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</m:ctrlPr>
                        </m:dPr>
                        <m:e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华文楷体" panose="02010600040101010101" pitchFamily="2" charset="-122"/>
                              <a:cs typeface="Times New Roman" panose="02020603050405020304" pitchFamily="18" charset="0"/>
                            </a:rPr>
                            <m:t>𝟓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𝟏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𝟐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d>
                            <m:dPr>
                              <m:ctrlP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𝒏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𝟓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zh-CN" sz="3200" b="1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𝟑</m:t>
                              </m:r>
                            </m:e>
                          </m:d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zh-CN" sz="32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𝟑</m:t>
                          </m:r>
                        </m:e>
                      </m:d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𝟐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(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−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𝟏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)</m:t>
                      </m:r>
                    </m:oMath>
                  </m:oMathPara>
                </a14:m>
                <a:endParaRPr lang="zh-CN" altLang="en-US" sz="32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Times New Roman" panose="02020603050405020304" pitchFamily="18" charset="0"/>
                    <a:ea typeface="华文楷体" panose="02010600040101010101" pitchFamily="2" charset="-122"/>
                    <a:cs typeface="Times New Roman" panose="02020603050405020304" pitchFamily="18" charset="0"/>
                  </a:rPr>
                  <a:t>解的：</a:t>
                </a:r>
                <a:endParaRPr lang="en-US" altLang="zh-CN" sz="3200" b="1" dirty="0">
                  <a:latin typeface="Times New Roman" panose="02020603050405020304" pitchFamily="18" charset="0"/>
                  <a:ea typeface="华文楷体" panose="02010600040101010101" pitchFamily="2" charset="-122"/>
                  <a:cs typeface="Times New Roman" panose="020206030504050203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b="1" i="1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𝒏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altLang="zh-CN" sz="3200" b="1" i="1" smtClean="0">
                          <a:latin typeface="Cambria Math" panose="02040503050406030204" pitchFamily="18" charset="0"/>
                          <a:ea typeface="华文楷体" panose="02010600040101010101" pitchFamily="2" charset="-122"/>
                          <a:cs typeface="Times New Roman" panose="02020603050405020304" pitchFamily="18" charset="0"/>
                        </a:rPr>
                        <m:t>𝟏𝟏</m:t>
                      </m:r>
                    </m:oMath>
                  </m:oMathPara>
                </a14:m>
                <a:endParaRPr lang="en-US" altLang="zh-CN" sz="3200" dirty="0"/>
              </a:p>
              <a:p>
                <a:pPr marL="0" indent="0">
                  <a:buNone/>
                </a:pP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所以</a:t>
                </a: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G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有</a:t>
                </a:r>
                <a:r>
                  <a:rPr lang="en-US" altLang="zh-CN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11</a:t>
                </a:r>
                <a:r>
                  <a:rPr lang="zh-CN" altLang="en-US" sz="3200" b="1" dirty="0">
                    <a:latin typeface="华文楷体" panose="02010600040101010101" pitchFamily="2" charset="-122"/>
                    <a:ea typeface="华文楷体" panose="02010600040101010101" pitchFamily="2" charset="-122"/>
                  </a:rPr>
                  <a:t>个顶点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78604" y="554804"/>
                <a:ext cx="10771598" cy="5570788"/>
              </a:xfrm>
              <a:blipFill rotWithShape="0">
                <a:blip r:embed="rId2"/>
                <a:stretch>
                  <a:fillRect l="-1471" t="-2298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532151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9D58A450-DE80-41EB-97D9-0E047D40A7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0182" y="1506884"/>
            <a:ext cx="4946836" cy="3993775"/>
          </a:xfrm>
          <a:prstGeom prst="rect">
            <a:avLst/>
          </a:prstGeom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F93E2241-DA96-4916-B71F-12FB0985C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0182" y="222295"/>
            <a:ext cx="5805818" cy="11350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zh-CN" altLang="en-US" sz="3200" b="1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练习：</a:t>
            </a:r>
            <a:endParaRPr lang="en-US" altLang="zh-CN" sz="3200" b="1" dirty="0">
              <a:solidFill>
                <a:schemeClr val="accent2">
                  <a:lumMod val="75000"/>
                </a:schemeClr>
              </a:solidFill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，前序遍历法遍历下面二叉树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E01AA8B2-161B-4B54-9B9D-9632641A309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0378" y="2436461"/>
            <a:ext cx="4946836" cy="3993775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903FA45-FA4C-42A4-ABCE-7919B20809CF}"/>
                  </a:ext>
                </a:extLst>
              </p:cNvPr>
              <p:cNvSpPr txBox="1"/>
              <p:nvPr/>
            </p:nvSpPr>
            <p:spPr>
              <a:xfrm>
                <a:off x="7315885" y="1506884"/>
                <a:ext cx="4008918" cy="4924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((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zh-CN" sz="3200" b="0" i="1" smtClean="0">
                        <a:latin typeface="Cambria Math" panose="02040503050406030204" pitchFamily="18" charset="0"/>
                      </a:rPr>
                      <m:t>)↑2)</m:t>
                    </m:r>
                  </m:oMath>
                </a14:m>
                <a:r>
                  <a:rPr lang="en-US" altLang="zh-CN" sz="3200" dirty="0"/>
                  <a:t>+((</a:t>
                </a:r>
                <a14:m>
                  <m:oMath xmlns:m="http://schemas.openxmlformats.org/officeDocument/2006/math">
                    <m:r>
                      <a:rPr lang="en-US" altLang="zh-CN" sz="32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3200" dirty="0"/>
                  <a:t>-4)/3)</a:t>
                </a:r>
                <a:endParaRPr lang="zh-CN" altLang="en-US" sz="3200" dirty="0"/>
              </a:p>
            </p:txBody>
          </p:sp>
        </mc:Choice>
        <mc:Fallback xmlns="">
          <p:sp>
            <p:nvSpPr>
              <p:cNvPr id="10" name="文本框 9">
                <a:extLst>
                  <a:ext uri="{FF2B5EF4-FFF2-40B4-BE49-F238E27FC236}">
                    <a16:creationId xmlns:a16="http://schemas.microsoft.com/office/drawing/2014/main" id="{A903FA45-FA4C-42A4-ABCE-7919B20809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15885" y="1506884"/>
                <a:ext cx="4008918" cy="492443"/>
              </a:xfrm>
              <a:prstGeom prst="rect">
                <a:avLst/>
              </a:prstGeom>
              <a:blipFill>
                <a:blip r:embed="rId3"/>
                <a:stretch>
                  <a:fillRect t="-23457" r="-2888" b="-50617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内容占位符 2">
            <a:extLst>
              <a:ext uri="{FF2B5EF4-FFF2-40B4-BE49-F238E27FC236}">
                <a16:creationId xmlns:a16="http://schemas.microsoft.com/office/drawing/2014/main" id="{533CB089-80C5-4A4F-ACEF-942AE1624C43}"/>
              </a:ext>
            </a:extLst>
          </p:cNvPr>
          <p:cNvSpPr txBox="1">
            <a:spLocks/>
          </p:cNvSpPr>
          <p:nvPr/>
        </p:nvSpPr>
        <p:spPr>
          <a:xfrm>
            <a:off x="6280887" y="222295"/>
            <a:ext cx="5805818" cy="113504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n-US" altLang="zh-CN" sz="3200" b="1" dirty="0">
              <a:latin typeface="Times New Roman" panose="02020603050405020304" pitchFamily="18" charset="0"/>
              <a:ea typeface="华文楷体" panose="02010600040101010101" pitchFamily="2" charset="-122"/>
              <a:cs typeface="Times New Roman" panose="02020603050405020304" pitchFamily="18" charset="0"/>
            </a:endParaRPr>
          </a:p>
          <a:p>
            <a:pPr marL="0" indent="0">
              <a:buFont typeface="Arial" panose="020B0604020202020204" pitchFamily="34" charset="0"/>
              <a:buNone/>
            </a:pPr>
            <a:r>
              <a:rPr lang="en-US" altLang="zh-CN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200" b="1" dirty="0">
                <a:latin typeface="Times New Roman" panose="02020603050405020304" pitchFamily="18" charset="0"/>
                <a:ea typeface="华文楷体" panose="02010600040101010101" pitchFamily="2" charset="-122"/>
                <a:cs typeface="Times New Roman" panose="02020603050405020304" pitchFamily="18" charset="0"/>
              </a:rPr>
              <a:t>，画出下列中序遍历的二叉树</a:t>
            </a:r>
            <a:endParaRPr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F99DAC-6C76-4ED6-826F-33941626DF0D}"/>
                  </a:ext>
                </a:extLst>
              </p:cNvPr>
              <p:cNvSpPr txBox="1"/>
              <p:nvPr/>
            </p:nvSpPr>
            <p:spPr>
              <a:xfrm>
                <a:off x="1246954" y="5814683"/>
                <a:ext cx="5156925" cy="61555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zh-CN" sz="4000" b="0" i="1" smtClean="0">
                        <a:latin typeface="Cambria Math" panose="02040503050406030204" pitchFamily="18" charset="0"/>
                      </a:rPr>
                      <m:t>+(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↑(+(</m:t>
                    </m:r>
                    <m:r>
                      <a:rPr lang="en-US" altLang="zh-CN" sz="40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𝑥𝑦</m:t>
                    </m:r>
                    <m:r>
                      <a:rPr lang="en-US" altLang="zh-CN" sz="40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zh-CN" sz="4000" dirty="0"/>
                  <a:t>2)/(- (</a:t>
                </a:r>
                <a14:m>
                  <m:oMath xmlns:m="http://schemas.openxmlformats.org/officeDocument/2006/math">
                    <m:r>
                      <a:rPr lang="en-US" altLang="zh-CN" sz="4000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US" altLang="zh-CN" sz="4000" dirty="0"/>
                  <a:t>4)3)) </a:t>
                </a:r>
                <a:endParaRPr lang="zh-CN" altLang="en-US" sz="4000" dirty="0"/>
              </a:p>
            </p:txBody>
          </p:sp>
        </mc:Choice>
        <mc:Fallback xmlns=""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id="{4BF99DAC-6C76-4ED6-826F-33941626DF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6954" y="5814683"/>
                <a:ext cx="5156925" cy="615553"/>
              </a:xfrm>
              <a:prstGeom prst="rect">
                <a:avLst/>
              </a:prstGeom>
              <a:blipFill>
                <a:blip r:embed="rId4"/>
                <a:stretch>
                  <a:fillRect t="-25743" r="-4965" b="-4851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805676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3335</TotalTime>
  <Words>6052</Words>
  <Application>Microsoft Office PowerPoint</Application>
  <PresentationFormat>宽屏</PresentationFormat>
  <Paragraphs>619</Paragraphs>
  <Slides>49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49</vt:i4>
      </vt:variant>
    </vt:vector>
  </HeadingPairs>
  <TitlesOfParts>
    <vt:vector size="63" baseType="lpstr">
      <vt:lpstr>宋体</vt:lpstr>
      <vt:lpstr>Arial</vt:lpstr>
      <vt:lpstr>Calibri</vt:lpstr>
      <vt:lpstr>Calibri Light</vt:lpstr>
      <vt:lpstr>Cambria Math</vt:lpstr>
      <vt:lpstr>Symbol</vt:lpstr>
      <vt:lpstr>Tahoma</vt:lpstr>
      <vt:lpstr>Times New Roman</vt:lpstr>
      <vt:lpstr>Wingdings</vt:lpstr>
      <vt:lpstr>黑体</vt:lpstr>
      <vt:lpstr>华文楷体</vt:lpstr>
      <vt:lpstr>华文中宋</vt:lpstr>
      <vt:lpstr>楷体</vt:lpstr>
      <vt:lpstr>Office 主题</vt:lpstr>
      <vt:lpstr>期末复习</vt:lpstr>
      <vt:lpstr>第一章：命题逻辑的基本</vt:lpstr>
      <vt:lpstr>PowerPoint 演示文稿</vt:lpstr>
      <vt:lpstr>PowerPoint 演示文稿</vt:lpstr>
      <vt:lpstr>PowerPoint 演示文稿</vt:lpstr>
      <vt:lpstr>PowerPoint 演示文稿</vt:lpstr>
      <vt:lpstr>第二章：命题逻辑的等值演算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第三章：命题逻辑的推理理论</vt:lpstr>
      <vt:lpstr>PowerPoint 演示文稿</vt:lpstr>
      <vt:lpstr>PowerPoint 演示文稿</vt:lpstr>
      <vt:lpstr>PowerPoint 演示文稿</vt:lpstr>
      <vt:lpstr>PowerPoint 演示文稿</vt:lpstr>
      <vt:lpstr>第四章：一阶逻辑基本概念</vt:lpstr>
      <vt:lpstr>PowerPoint 演示文稿</vt:lpstr>
      <vt:lpstr>PowerPoint 演示文稿</vt:lpstr>
      <vt:lpstr>PowerPoint 演示文稿</vt:lpstr>
      <vt:lpstr>第五章：一阶逻辑等值演算与推理</vt:lpstr>
      <vt:lpstr>PowerPoint 演示文稿</vt:lpstr>
      <vt:lpstr>PowerPoint 演示文稿</vt:lpstr>
      <vt:lpstr>第六章：集合</vt:lpstr>
      <vt:lpstr>PowerPoint 演示文稿</vt:lpstr>
      <vt:lpstr>PowerPoint 演示文稿</vt:lpstr>
      <vt:lpstr>命题演算法证 证明XY 或者 X=Y </vt:lpstr>
      <vt:lpstr>第七章：二元关系（很重要）</vt:lpstr>
      <vt:lpstr>PowerPoint 演示文稿</vt:lpstr>
      <vt:lpstr>PowerPoint 演示文稿</vt:lpstr>
      <vt:lpstr>从集合表达式，矩阵表达式，关系图上可以判断出二关关系的五种性质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第十四章：图（很重要）</vt:lpstr>
      <vt:lpstr>PowerPoint 演示文稿</vt:lpstr>
      <vt:lpstr>PowerPoint 演示文稿</vt:lpstr>
      <vt:lpstr>PowerPoint 演示文稿</vt:lpstr>
      <vt:lpstr>第六章：树</vt:lpstr>
      <vt:lpstr>PowerPoint 演示文稿</vt:lpstr>
      <vt:lpstr>PowerPoint 演示文稿</vt:lpstr>
      <vt:lpstr>PowerPoint 演示文稿</vt:lpstr>
      <vt:lpstr>PowerPoint 演示文稿</vt:lpstr>
    </vt:vector>
  </TitlesOfParts>
  <Company>TJPU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考试范围</dc:title>
  <dc:creator>LIU FANG</dc:creator>
  <cp:lastModifiedBy>刘芳</cp:lastModifiedBy>
  <cp:revision>258</cp:revision>
  <dcterms:created xsi:type="dcterms:W3CDTF">2017-05-12T09:57:36Z</dcterms:created>
  <dcterms:modified xsi:type="dcterms:W3CDTF">2024-06-26T22:01:31Z</dcterms:modified>
</cp:coreProperties>
</file>