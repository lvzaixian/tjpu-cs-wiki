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8.xml"/><Relationship Id="rId98" Type="http://schemas.openxmlformats.org/officeDocument/2006/relationships/slide" Target="slides/slide97.xml"/><Relationship Id="rId97" Type="http://schemas.openxmlformats.org/officeDocument/2006/relationships/slide" Target="slides/slide96.xml"/><Relationship Id="rId96" Type="http://schemas.openxmlformats.org/officeDocument/2006/relationships/slide" Target="slides/slide95.xml"/><Relationship Id="rId95" Type="http://schemas.openxmlformats.org/officeDocument/2006/relationships/slide" Target="slides/slide94.xml"/><Relationship Id="rId94" Type="http://schemas.openxmlformats.org/officeDocument/2006/relationships/slide" Target="slides/slide93.xml"/><Relationship Id="rId93" Type="http://schemas.openxmlformats.org/officeDocument/2006/relationships/slide" Target="slides/slide92.xml"/><Relationship Id="rId92" Type="http://schemas.openxmlformats.org/officeDocument/2006/relationships/slide" Target="slides/slide91.xml"/><Relationship Id="rId91" Type="http://schemas.openxmlformats.org/officeDocument/2006/relationships/slide" Target="slides/slide90.xml"/><Relationship Id="rId90" Type="http://schemas.openxmlformats.org/officeDocument/2006/relationships/slide" Target="slides/slide89.xml"/><Relationship Id="rId9" Type="http://schemas.openxmlformats.org/officeDocument/2006/relationships/slide" Target="slides/slide8.xml"/><Relationship Id="rId89" Type="http://schemas.openxmlformats.org/officeDocument/2006/relationships/slide" Target="slides/slide88.xml"/><Relationship Id="rId88" Type="http://schemas.openxmlformats.org/officeDocument/2006/relationships/slide" Target="slides/slide87.xml"/><Relationship Id="rId87" Type="http://schemas.openxmlformats.org/officeDocument/2006/relationships/slide" Target="slides/slide86.xml"/><Relationship Id="rId86" Type="http://schemas.openxmlformats.org/officeDocument/2006/relationships/slide" Target="slides/slide85.xml"/><Relationship Id="rId85" Type="http://schemas.openxmlformats.org/officeDocument/2006/relationships/slide" Target="slides/slide84.xml"/><Relationship Id="rId84" Type="http://schemas.openxmlformats.org/officeDocument/2006/relationships/slide" Target="slides/slide83.xml"/><Relationship Id="rId83" Type="http://schemas.openxmlformats.org/officeDocument/2006/relationships/slide" Target="slides/slide82.xml"/><Relationship Id="rId82" Type="http://schemas.openxmlformats.org/officeDocument/2006/relationships/slide" Target="slides/slide81.xml"/><Relationship Id="rId81" Type="http://schemas.openxmlformats.org/officeDocument/2006/relationships/slide" Target="slides/slide80.xml"/><Relationship Id="rId80" Type="http://schemas.openxmlformats.org/officeDocument/2006/relationships/slide" Target="slides/slide79.xml"/><Relationship Id="rId8" Type="http://schemas.openxmlformats.org/officeDocument/2006/relationships/slide" Target="slides/slide7.xml"/><Relationship Id="rId79" Type="http://schemas.openxmlformats.org/officeDocument/2006/relationships/slide" Target="slides/slide78.xml"/><Relationship Id="rId78" Type="http://schemas.openxmlformats.org/officeDocument/2006/relationships/slide" Target="slides/slide77.xml"/><Relationship Id="rId77" Type="http://schemas.openxmlformats.org/officeDocument/2006/relationships/slide" Target="slides/slide76.xml"/><Relationship Id="rId76" Type="http://schemas.openxmlformats.org/officeDocument/2006/relationships/slide" Target="slides/slide75.xml"/><Relationship Id="rId75" Type="http://schemas.openxmlformats.org/officeDocument/2006/relationships/slide" Target="slides/slide74.xml"/><Relationship Id="rId74" Type="http://schemas.openxmlformats.org/officeDocument/2006/relationships/slide" Target="slides/slide73.xml"/><Relationship Id="rId73" Type="http://schemas.openxmlformats.org/officeDocument/2006/relationships/slide" Target="slides/slide72.xml"/><Relationship Id="rId72" Type="http://schemas.openxmlformats.org/officeDocument/2006/relationships/slide" Target="slides/slide71.xml"/><Relationship Id="rId71" Type="http://schemas.openxmlformats.org/officeDocument/2006/relationships/slide" Target="slides/slide70.xml"/><Relationship Id="rId70" Type="http://schemas.openxmlformats.org/officeDocument/2006/relationships/slide" Target="slides/slide69.xml"/><Relationship Id="rId7" Type="http://schemas.openxmlformats.org/officeDocument/2006/relationships/slide" Target="slides/slide6.xml"/><Relationship Id="rId69" Type="http://schemas.openxmlformats.org/officeDocument/2006/relationships/slide" Target="slides/slide68.xml"/><Relationship Id="rId68" Type="http://schemas.openxmlformats.org/officeDocument/2006/relationships/slide" Target="slides/slide67.xml"/><Relationship Id="rId67" Type="http://schemas.openxmlformats.org/officeDocument/2006/relationships/slide" Target="slides/slide66.xml"/><Relationship Id="rId66" Type="http://schemas.openxmlformats.org/officeDocument/2006/relationships/slide" Target="slides/slide65.xml"/><Relationship Id="rId65" Type="http://schemas.openxmlformats.org/officeDocument/2006/relationships/slide" Target="slides/slide64.xml"/><Relationship Id="rId64" Type="http://schemas.openxmlformats.org/officeDocument/2006/relationships/slide" Target="slides/slide63.xml"/><Relationship Id="rId63" Type="http://schemas.openxmlformats.org/officeDocument/2006/relationships/slide" Target="slides/slide62.xml"/><Relationship Id="rId62" Type="http://schemas.openxmlformats.org/officeDocument/2006/relationships/slide" Target="slides/slide61.xml"/><Relationship Id="rId61" Type="http://schemas.openxmlformats.org/officeDocument/2006/relationships/slide" Target="slides/slide60.xml"/><Relationship Id="rId60" Type="http://schemas.openxmlformats.org/officeDocument/2006/relationships/slide" Target="slides/slide59.xml"/><Relationship Id="rId6" Type="http://schemas.openxmlformats.org/officeDocument/2006/relationships/slide" Target="slides/slide5.xml"/><Relationship Id="rId59" Type="http://schemas.openxmlformats.org/officeDocument/2006/relationships/slide" Target="slides/slide58.xml"/><Relationship Id="rId58" Type="http://schemas.openxmlformats.org/officeDocument/2006/relationships/slide" Target="slides/slide57.xml"/><Relationship Id="rId57" Type="http://schemas.openxmlformats.org/officeDocument/2006/relationships/slide" Target="slides/slide56.xml"/><Relationship Id="rId56" Type="http://schemas.openxmlformats.org/officeDocument/2006/relationships/slide" Target="slides/slide55.xml"/><Relationship Id="rId55" Type="http://schemas.openxmlformats.org/officeDocument/2006/relationships/slide" Target="slides/slide54.xml"/><Relationship Id="rId54" Type="http://schemas.openxmlformats.org/officeDocument/2006/relationships/slide" Target="slides/slide53.xml"/><Relationship Id="rId53" Type="http://schemas.openxmlformats.org/officeDocument/2006/relationships/slide" Target="slides/slide52.xml"/><Relationship Id="rId52" Type="http://schemas.openxmlformats.org/officeDocument/2006/relationships/slide" Target="slides/slide51.xml"/><Relationship Id="rId51" Type="http://schemas.openxmlformats.org/officeDocument/2006/relationships/slide" Target="slides/slide50.xml"/><Relationship Id="rId50" Type="http://schemas.openxmlformats.org/officeDocument/2006/relationships/slide" Target="slides/slide49.xml"/><Relationship Id="rId5" Type="http://schemas.openxmlformats.org/officeDocument/2006/relationships/slide" Target="slides/slide4.xml"/><Relationship Id="rId49" Type="http://schemas.openxmlformats.org/officeDocument/2006/relationships/slide" Target="slides/slide48.xml"/><Relationship Id="rId48" Type="http://schemas.openxmlformats.org/officeDocument/2006/relationships/slide" Target="slides/slide47.xml"/><Relationship Id="rId47" Type="http://schemas.openxmlformats.org/officeDocument/2006/relationships/slide" Target="slides/slide46.xml"/><Relationship Id="rId46" Type="http://schemas.openxmlformats.org/officeDocument/2006/relationships/slide" Target="slides/slide45.xml"/><Relationship Id="rId45" Type="http://schemas.openxmlformats.org/officeDocument/2006/relationships/slide" Target="slides/slide44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2" Type="http://schemas.openxmlformats.org/officeDocument/2006/relationships/slide" Target="slides/slide41.xml"/><Relationship Id="rId41" Type="http://schemas.openxmlformats.org/officeDocument/2006/relationships/slide" Target="slides/slide40.xml"/><Relationship Id="rId40" Type="http://schemas.openxmlformats.org/officeDocument/2006/relationships/slide" Target="slides/slide39.xml"/><Relationship Id="rId4" Type="http://schemas.openxmlformats.org/officeDocument/2006/relationships/slide" Target="slides/slide3.xml"/><Relationship Id="rId39" Type="http://schemas.openxmlformats.org/officeDocument/2006/relationships/slide" Target="slides/slide38.xml"/><Relationship Id="rId38" Type="http://schemas.openxmlformats.org/officeDocument/2006/relationships/slide" Target="slides/slide37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9" Type="http://schemas.openxmlformats.org/officeDocument/2006/relationships/viewProps" Target="viewProps.xml"/><Relationship Id="rId138" Type="http://schemas.openxmlformats.org/officeDocument/2006/relationships/tableStyles" Target="tableStyles.xml"/><Relationship Id="rId137" Type="http://schemas.openxmlformats.org/officeDocument/2006/relationships/presProps" Target="presProps.xml"/><Relationship Id="rId136" Type="http://schemas.openxmlformats.org/officeDocument/2006/relationships/slide" Target="slides/slide135.xml"/><Relationship Id="rId135" Type="http://schemas.openxmlformats.org/officeDocument/2006/relationships/slide" Target="slides/slide134.xml"/><Relationship Id="rId134" Type="http://schemas.openxmlformats.org/officeDocument/2006/relationships/slide" Target="slides/slide133.xml"/><Relationship Id="rId133" Type="http://schemas.openxmlformats.org/officeDocument/2006/relationships/slide" Target="slides/slide132.xml"/><Relationship Id="rId132" Type="http://schemas.openxmlformats.org/officeDocument/2006/relationships/slide" Target="slides/slide131.xml"/><Relationship Id="rId131" Type="http://schemas.openxmlformats.org/officeDocument/2006/relationships/slide" Target="slides/slide130.xml"/><Relationship Id="rId130" Type="http://schemas.openxmlformats.org/officeDocument/2006/relationships/slide" Target="slides/slide129.xml"/><Relationship Id="rId13" Type="http://schemas.openxmlformats.org/officeDocument/2006/relationships/slide" Target="slides/slide12.xml"/><Relationship Id="rId129" Type="http://schemas.openxmlformats.org/officeDocument/2006/relationships/slide" Target="slides/slide128.xml"/><Relationship Id="rId128" Type="http://schemas.openxmlformats.org/officeDocument/2006/relationships/slide" Target="slides/slide127.xml"/><Relationship Id="rId127" Type="http://schemas.openxmlformats.org/officeDocument/2006/relationships/slide" Target="slides/slide126.xml"/><Relationship Id="rId126" Type="http://schemas.openxmlformats.org/officeDocument/2006/relationships/slide" Target="slides/slide125.xml"/><Relationship Id="rId125" Type="http://schemas.openxmlformats.org/officeDocument/2006/relationships/slide" Target="slides/slide124.xml"/><Relationship Id="rId124" Type="http://schemas.openxmlformats.org/officeDocument/2006/relationships/slide" Target="slides/slide123.xml"/><Relationship Id="rId123" Type="http://schemas.openxmlformats.org/officeDocument/2006/relationships/slide" Target="slides/slide122.xml"/><Relationship Id="rId122" Type="http://schemas.openxmlformats.org/officeDocument/2006/relationships/slide" Target="slides/slide121.xml"/><Relationship Id="rId121" Type="http://schemas.openxmlformats.org/officeDocument/2006/relationships/slide" Target="slides/slide120.xml"/><Relationship Id="rId120" Type="http://schemas.openxmlformats.org/officeDocument/2006/relationships/slide" Target="slides/slide119.xml"/><Relationship Id="rId12" Type="http://schemas.openxmlformats.org/officeDocument/2006/relationships/slide" Target="slides/slide11.xml"/><Relationship Id="rId119" Type="http://schemas.openxmlformats.org/officeDocument/2006/relationships/slide" Target="slides/slide118.xml"/><Relationship Id="rId118" Type="http://schemas.openxmlformats.org/officeDocument/2006/relationships/slide" Target="slides/slide117.xml"/><Relationship Id="rId117" Type="http://schemas.openxmlformats.org/officeDocument/2006/relationships/slide" Target="slides/slide116.xml"/><Relationship Id="rId116" Type="http://schemas.openxmlformats.org/officeDocument/2006/relationships/slide" Target="slides/slide115.xml"/><Relationship Id="rId115" Type="http://schemas.openxmlformats.org/officeDocument/2006/relationships/slide" Target="slides/slide114.xml"/><Relationship Id="rId114" Type="http://schemas.openxmlformats.org/officeDocument/2006/relationships/slide" Target="slides/slide113.xml"/><Relationship Id="rId113" Type="http://schemas.openxmlformats.org/officeDocument/2006/relationships/slide" Target="slides/slide112.xml"/><Relationship Id="rId112" Type="http://schemas.openxmlformats.org/officeDocument/2006/relationships/slide" Target="slides/slide111.xml"/><Relationship Id="rId111" Type="http://schemas.openxmlformats.org/officeDocument/2006/relationships/slide" Target="slides/slide110.xml"/><Relationship Id="rId110" Type="http://schemas.openxmlformats.org/officeDocument/2006/relationships/slide" Target="slides/slide109.xml"/><Relationship Id="rId11" Type="http://schemas.openxmlformats.org/officeDocument/2006/relationships/slide" Target="slides/slide10.xml"/><Relationship Id="rId109" Type="http://schemas.openxmlformats.org/officeDocument/2006/relationships/slide" Target="slides/slide108.xml"/><Relationship Id="rId108" Type="http://schemas.openxmlformats.org/officeDocument/2006/relationships/slide" Target="slides/slide107.xml"/><Relationship Id="rId107" Type="http://schemas.openxmlformats.org/officeDocument/2006/relationships/slide" Target="slides/slide106.xml"/><Relationship Id="rId106" Type="http://schemas.openxmlformats.org/officeDocument/2006/relationships/slide" Target="slides/slide105.xml"/><Relationship Id="rId105" Type="http://schemas.openxmlformats.org/officeDocument/2006/relationships/slide" Target="slides/slide104.xml"/><Relationship Id="rId104" Type="http://schemas.openxmlformats.org/officeDocument/2006/relationships/slide" Target="slides/slide103.xml"/><Relationship Id="rId103" Type="http://schemas.openxmlformats.org/officeDocument/2006/relationships/slide" Target="slides/slide102.xml"/><Relationship Id="rId102" Type="http://schemas.openxmlformats.org/officeDocument/2006/relationships/slide" Target="slides/slide101.xml"/><Relationship Id="rId101" Type="http://schemas.openxmlformats.org/officeDocument/2006/relationships/slide" Target="slides/slide100.xml"/><Relationship Id="rId100" Type="http://schemas.openxmlformats.org/officeDocument/2006/relationships/slide" Target="slides/slide99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6" Type="http://schemas.openxmlformats.org/officeDocument/2006/relationships/image" Target="../media/image24.jpeg"/><Relationship Id="rId15" Type="http://schemas.openxmlformats.org/officeDocument/2006/relationships/image" Target="../media/image23.png"/><Relationship Id="rId14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20.jpeg"/><Relationship Id="rId11" Type="http://schemas.openxmlformats.org/officeDocument/2006/relationships/image" Target="../media/image19.png"/><Relationship Id="rId10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6.png"/><Relationship Id="rId3" Type="http://schemas.openxmlformats.org/officeDocument/2006/relationships/image" Target="../media/image1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image" Target="../media/image15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6.jpe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image" Target="../media/image57.png"/><Relationship Id="rId4" Type="http://schemas.openxmlformats.org/officeDocument/2006/relationships/image" Target="../media/image15.png"/><Relationship Id="rId3" Type="http://schemas.openxmlformats.org/officeDocument/2006/relationships/image" Target="../media/image5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58.png"/><Relationship Id="rId3" Type="http://schemas.openxmlformats.org/officeDocument/2006/relationships/image" Target="../media/image4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5.png"/><Relationship Id="rId3" Type="http://schemas.openxmlformats.org/officeDocument/2006/relationships/image" Target="../media/image4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image" Target="../media/image74.png"/><Relationship Id="rId3" Type="http://schemas.openxmlformats.org/officeDocument/2006/relationships/image" Target="../media/image41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image" Target="../media/image80.png"/><Relationship Id="rId3" Type="http://schemas.openxmlformats.org/officeDocument/2006/relationships/image" Target="../media/image41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image" Target="../media/image81.png"/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png"/><Relationship Id="rId8" Type="http://schemas.openxmlformats.org/officeDocument/2006/relationships/image" Target="../media/image93.png"/><Relationship Id="rId7" Type="http://schemas.openxmlformats.org/officeDocument/2006/relationships/image" Target="../media/image92.png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42.png"/><Relationship Id="rId3" Type="http://schemas.openxmlformats.org/officeDocument/2006/relationships/image" Target="../media/image44.png"/><Relationship Id="rId2" Type="http://schemas.openxmlformats.org/officeDocument/2006/relationships/image" Target="../media/image89.png"/><Relationship Id="rId15" Type="http://schemas.openxmlformats.org/officeDocument/2006/relationships/image" Target="../media/image100.png"/><Relationship Id="rId14" Type="http://schemas.openxmlformats.org/officeDocument/2006/relationships/image" Target="../media/image99.png"/><Relationship Id="rId13" Type="http://schemas.openxmlformats.org/officeDocument/2006/relationships/image" Target="../media/image98.png"/><Relationship Id="rId12" Type="http://schemas.openxmlformats.org/officeDocument/2006/relationships/image" Target="../media/image97.png"/><Relationship Id="rId11" Type="http://schemas.openxmlformats.org/officeDocument/2006/relationships/image" Target="../media/image96.png"/><Relationship Id="rId10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6.png"/><Relationship Id="rId3" Type="http://schemas.openxmlformats.org/officeDocument/2006/relationships/image" Target="../media/image4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9.png"/><Relationship Id="rId3" Type="http://schemas.openxmlformats.org/officeDocument/2006/relationships/image" Target="../media/image118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2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2.png"/><Relationship Id="rId8" Type="http://schemas.openxmlformats.org/officeDocument/2006/relationships/image" Target="../media/image131.png"/><Relationship Id="rId7" Type="http://schemas.openxmlformats.org/officeDocument/2006/relationships/image" Target="../media/image130.png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9" Type="http://schemas.openxmlformats.org/officeDocument/2006/relationships/image" Target="../media/image141.png"/><Relationship Id="rId18" Type="http://schemas.openxmlformats.org/officeDocument/2006/relationships/image" Target="../media/image56.png"/><Relationship Id="rId17" Type="http://schemas.openxmlformats.org/officeDocument/2006/relationships/image" Target="../media/image140.png"/><Relationship Id="rId16" Type="http://schemas.openxmlformats.org/officeDocument/2006/relationships/image" Target="../media/image139.png"/><Relationship Id="rId15" Type="http://schemas.openxmlformats.org/officeDocument/2006/relationships/image" Target="../media/image138.png"/><Relationship Id="rId14" Type="http://schemas.openxmlformats.org/officeDocument/2006/relationships/image" Target="../media/image137.png"/><Relationship Id="rId13" Type="http://schemas.openxmlformats.org/officeDocument/2006/relationships/image" Target="../media/image136.png"/><Relationship Id="rId12" Type="http://schemas.openxmlformats.org/officeDocument/2006/relationships/image" Target="../media/image135.png"/><Relationship Id="rId11" Type="http://schemas.openxmlformats.org/officeDocument/2006/relationships/image" Target="../media/image134.png"/><Relationship Id="rId10" Type="http://schemas.openxmlformats.org/officeDocument/2006/relationships/image" Target="../media/image133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png"/><Relationship Id="rId8" Type="http://schemas.openxmlformats.org/officeDocument/2006/relationships/image" Target="../media/image148.png"/><Relationship Id="rId7" Type="http://schemas.openxmlformats.org/officeDocument/2006/relationships/image" Target="../media/image147.png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1" Type="http://schemas.openxmlformats.org/officeDocument/2006/relationships/image" Target="../media/image151.png"/><Relationship Id="rId10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0.png"/><Relationship Id="rId8" Type="http://schemas.openxmlformats.org/officeDocument/2006/relationships/image" Target="../media/image159.png"/><Relationship Id="rId7" Type="http://schemas.openxmlformats.org/officeDocument/2006/relationships/image" Target="../media/image158.png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2" Type="http://schemas.openxmlformats.org/officeDocument/2006/relationships/image" Target="../media/image162.png"/><Relationship Id="rId11" Type="http://schemas.openxmlformats.org/officeDocument/2006/relationships/image" Target="../media/image42.png"/><Relationship Id="rId10" Type="http://schemas.openxmlformats.org/officeDocument/2006/relationships/image" Target="../media/image161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66.png"/><Relationship Id="rId3" Type="http://schemas.openxmlformats.org/officeDocument/2006/relationships/image" Target="../media/image118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69.png"/><Relationship Id="rId3" Type="http://schemas.openxmlformats.org/officeDocument/2006/relationships/image" Target="../media/image41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76.png"/><Relationship Id="rId3" Type="http://schemas.openxmlformats.org/officeDocument/2006/relationships/image" Target="../media/image17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77.png"/><Relationship Id="rId3" Type="http://schemas.openxmlformats.org/officeDocument/2006/relationships/image" Target="../media/image6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5" Type="http://schemas.openxmlformats.org/officeDocument/2006/relationships/image" Target="../media/image56.png"/><Relationship Id="rId4" Type="http://schemas.openxmlformats.org/officeDocument/2006/relationships/image" Target="../media/image15.png"/><Relationship Id="rId3" Type="http://schemas.openxmlformats.org/officeDocument/2006/relationships/image" Target="../media/image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8.png"/><Relationship Id="rId8" Type="http://schemas.openxmlformats.org/officeDocument/2006/relationships/image" Target="../media/image187.png"/><Relationship Id="rId7" Type="http://schemas.openxmlformats.org/officeDocument/2006/relationships/image" Target="../media/image186.png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Relationship Id="rId3" Type="http://schemas.openxmlformats.org/officeDocument/2006/relationships/image" Target="../media/image182.png"/><Relationship Id="rId2" Type="http://schemas.openxmlformats.org/officeDocument/2006/relationships/image" Target="../media/image41.png"/><Relationship Id="rId14" Type="http://schemas.openxmlformats.org/officeDocument/2006/relationships/image" Target="../media/image56.png"/><Relationship Id="rId13" Type="http://schemas.openxmlformats.org/officeDocument/2006/relationships/image" Target="../media/image192.png"/><Relationship Id="rId12" Type="http://schemas.openxmlformats.org/officeDocument/2006/relationships/image" Target="../media/image191.png"/><Relationship Id="rId11" Type="http://schemas.openxmlformats.org/officeDocument/2006/relationships/image" Target="../media/image190.png"/><Relationship Id="rId10" Type="http://schemas.openxmlformats.org/officeDocument/2006/relationships/image" Target="../media/image189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94.png"/><Relationship Id="rId3" Type="http://schemas.openxmlformats.org/officeDocument/2006/relationships/image" Target="../media/image5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13.png"/><Relationship Id="rId3" Type="http://schemas.openxmlformats.org/officeDocument/2006/relationships/image" Target="../media/image4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16.png"/><Relationship Id="rId3" Type="http://schemas.openxmlformats.org/officeDocument/2006/relationships/image" Target="../media/image41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17.png"/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19.png"/><Relationship Id="rId3" Type="http://schemas.openxmlformats.org/officeDocument/2006/relationships/image" Target="../media/image218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71512" y="608012"/>
            <a:ext cx="8377237" cy="4054475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984173" y="646518"/>
            <a:ext cx="7760969" cy="398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9265" algn="l" rtl="0" eaLnBrk="0">
              <a:lnSpc>
                <a:spcPct val="87000"/>
              </a:lnSpc>
              <a:tabLst/>
            </a:pPr>
            <a:r>
              <a:rPr sz="21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操作系统安全管理的主要目</a:t>
            </a:r>
            <a:r>
              <a:rPr sz="21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标</a:t>
            </a:r>
            <a:endParaRPr sz="2100" dirty="0">
              <a:latin typeface="SimSun"/>
              <a:ea typeface="SimSun"/>
              <a:cs typeface="SimSun"/>
            </a:endParaRPr>
          </a:p>
          <a:p>
            <a:pPr marL="12700" indent="591184" algn="l" rtl="0" eaLnBrk="0">
              <a:lnSpc>
                <a:spcPct val="92000"/>
              </a:lnSpc>
              <a:spcBef>
                <a:spcPts val="713"/>
              </a:spcBef>
              <a:tabLst/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）依据系统安全策略对用户的操作进行</a:t>
            </a:r>
            <a:r>
              <a:rPr sz="20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访问控</a:t>
            </a:r>
            <a:r>
              <a:rPr sz="2000" b="1" kern="0" spc="-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制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，防止用户对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信息资源的非法访问（窃取、篡改和破坏）。</a:t>
            </a:r>
            <a:endParaRPr sz="2000" dirty="0">
              <a:latin typeface="SimSun"/>
              <a:ea typeface="SimSun"/>
              <a:cs typeface="SimSun"/>
            </a:endParaRPr>
          </a:p>
          <a:p>
            <a:pPr marL="603884" algn="l" rtl="0" eaLnBrk="0">
              <a:lnSpc>
                <a:spcPct val="86000"/>
              </a:lnSpc>
              <a:spcBef>
                <a:spcPts val="1016"/>
              </a:spcBef>
              <a:tabLst/>
            </a:pP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）标识系统中的用户和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进行</a:t>
            </a:r>
            <a:r>
              <a:rPr sz="2000" b="1" kern="0" spc="-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身份鉴别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2000" dirty="0">
              <a:latin typeface="SimSun"/>
              <a:ea typeface="SimSun"/>
              <a:cs typeface="SimSun"/>
            </a:endParaRPr>
          </a:p>
          <a:p>
            <a:pPr marL="603884" algn="l" rtl="0" eaLnBrk="0">
              <a:lnSpc>
                <a:spcPct val="86000"/>
              </a:lnSpc>
              <a:spcBef>
                <a:spcPts val="928"/>
              </a:spcBef>
              <a:tabLst/>
            </a:pP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2000" b="1" kern="0" spc="-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监督系统运行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时的安全性。</a:t>
            </a:r>
            <a:endParaRPr sz="2000" dirty="0">
              <a:latin typeface="SimSun"/>
              <a:ea typeface="SimSun"/>
              <a:cs typeface="SimSun"/>
            </a:endParaRPr>
          </a:p>
          <a:p>
            <a:pPr marL="603884" algn="l" rtl="0" eaLnBrk="0">
              <a:lnSpc>
                <a:spcPct val="86000"/>
              </a:lnSpc>
              <a:spcBef>
                <a:spcPts val="944"/>
              </a:spcBef>
              <a:tabLst/>
            </a:pP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）保证系统自身的</a:t>
            </a:r>
            <a:r>
              <a:rPr sz="2000" b="1" kern="0" spc="-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安全性和完整性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2000" dirty="0">
              <a:latin typeface="SimSun"/>
              <a:ea typeface="SimSun"/>
              <a:cs typeface="SimSun"/>
            </a:endParaRPr>
          </a:p>
          <a:p>
            <a:pPr marL="13334" indent="589915" algn="l" rtl="0" eaLnBrk="0">
              <a:lnSpc>
                <a:spcPct val="92000"/>
              </a:lnSpc>
              <a:spcBef>
                <a:spcPts val="905"/>
              </a:spcBef>
              <a:tabLst/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）建立</a:t>
            </a:r>
            <a:r>
              <a:rPr sz="2000" b="1" kern="0" spc="-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访问控制</a:t>
            </a:r>
            <a:r>
              <a:rPr sz="20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机制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2000" kern="0" spc="-5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自主访问控制、安全标记与强制访问控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制、客体重用等。</a:t>
            </a:r>
            <a:endParaRPr sz="2000" dirty="0">
              <a:latin typeface="SimSun"/>
              <a:ea typeface="SimSun"/>
              <a:cs typeface="SimSun"/>
            </a:endParaRPr>
          </a:p>
          <a:p>
            <a:pPr marL="603884" algn="l" rtl="0" eaLnBrk="0">
              <a:lnSpc>
                <a:spcPct val="86000"/>
              </a:lnSpc>
              <a:spcBef>
                <a:spcPts val="1016"/>
              </a:spcBef>
              <a:tabLst/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）建立可</a:t>
            </a:r>
            <a:r>
              <a:rPr sz="20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追究机制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：标识与鉴别、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可信路径、安全审计等。</a:t>
            </a:r>
            <a:endParaRPr sz="2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8415" indent="584834" algn="l" rtl="0" eaLnBrk="0">
              <a:lnSpc>
                <a:spcPct val="113000"/>
              </a:lnSpc>
              <a:spcBef>
                <a:spcPts val="7"/>
              </a:spcBef>
              <a:tabLst/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）建立</a:t>
            </a:r>
            <a:r>
              <a:rPr sz="20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连续保护机制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：系统完整性、隐蔽通道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分析、最小特权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管理、可信恢复等。</a:t>
            </a:r>
            <a:endParaRPr sz="2000" dirty="0">
              <a:latin typeface="SimSun"/>
              <a:ea typeface="SimSun"/>
              <a:cs typeface="SimSun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246187" y="5072062"/>
          <a:ext cx="6036944" cy="1114425"/>
        </p:xfrm>
        <a:graphic>
          <a:graphicData uri="http://schemas.openxmlformats.org/drawingml/2006/table">
            <a:tbl>
              <a:tblPr>
                <a:solidFill>
                  <a:srgbClr val="FFFF66"/>
                </a:solidFill>
              </a:tblPr>
              <a:tblGrid>
                <a:gridCol w="6036944"/>
              </a:tblGrid>
              <a:tr h="1108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408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>
                          <a:tab pos="908685" algn="l"/>
                        </a:tabLst>
                      </a:pPr>
                      <a:r>
                        <a:rPr sz="3000" kern="0" spc="0" dirty="0">
                          <a:solidFill>
                            <a:srgbClr val="ED0706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3000" kern="0" spc="-70" dirty="0">
                          <a:solidFill>
                            <a:srgbClr val="ED0706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讨论思考:</a:t>
                      </a:r>
                      <a:endParaRPr sz="3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3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26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操作系统安全的主要目标是什么？</a:t>
                      </a:r>
                      <a:r>
                        <a:rPr sz="1500" kern="0" spc="-3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b="1" i="1" kern="0" spc="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与国家安</a:t>
                      </a:r>
                      <a:r>
                        <a:rPr sz="1600" b="1" i="1" kern="0" spc="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全有何关联？</a:t>
                      </a:r>
                      <a:endParaRPr sz="1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20367" y="5250980"/>
            <a:ext cx="434530" cy="341820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80543" y="6578600"/>
            <a:ext cx="5864225" cy="26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津工业大学软件学院</a:t>
            </a:r>
            <a:r>
              <a:rPr sz="1700" kern="0" spc="1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12/27/2025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106997" y="55371"/>
            <a:ext cx="8958580" cy="67633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0204" algn="l" rtl="0" eaLnBrk="0">
              <a:lnSpc>
                <a:spcPct val="86000"/>
              </a:lnSpc>
              <a:tabLst/>
            </a:pP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1.3</a:t>
            </a:r>
            <a:r>
              <a:rPr sz="3200" kern="0" spc="-3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、</a:t>
            </a:r>
            <a:r>
              <a:rPr sz="3200" kern="0" spc="-5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Linux</a:t>
            </a:r>
            <a:r>
              <a:rPr sz="3200" b="1" kern="0" spc="-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系统简介</a:t>
            </a:r>
            <a:endParaRPr sz="3200" dirty="0">
              <a:latin typeface="STXinwei"/>
              <a:ea typeface="STXinwei"/>
              <a:cs typeface="STXinwei"/>
            </a:endParaRPr>
          </a:p>
          <a:p>
            <a:pPr marL="375920" indent="-119379" algn="l" rtl="0" eaLnBrk="0">
              <a:lnSpc>
                <a:spcPct val="95000"/>
              </a:lnSpc>
              <a:spcBef>
                <a:spcPts val="1535"/>
              </a:spcBef>
              <a:tabLst>
                <a:tab pos="367665" algn="l"/>
              </a:tabLst>
            </a:pP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kern="0" spc="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荷兰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计算机科学家</a:t>
            </a: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Andy</a:t>
            </a:r>
            <a:r>
              <a:rPr sz="2700" kern="0" spc="12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Tanenbaum</a:t>
            </a:r>
            <a:r>
              <a:rPr sz="2700" kern="0" spc="12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开发了</a:t>
            </a:r>
            <a:r>
              <a:rPr sz="2700" kern="0" spc="-5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类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Unix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操作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Minix</a:t>
            </a:r>
            <a:r>
              <a:rPr sz="2700" kern="0" spc="-3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，主要应用于教学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实验。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367665" indent="-111125" algn="l" rtl="0" eaLnBrk="0">
              <a:lnSpc>
                <a:spcPct val="99000"/>
              </a:lnSpc>
              <a:spcBef>
                <a:spcPts val="1611"/>
              </a:spcBef>
              <a:tabLst>
                <a:tab pos="373379" algn="l"/>
              </a:tabLst>
            </a:pP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芬兰的大学生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Linus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Torvalds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Minix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基础上</a:t>
            </a:r>
            <a:r>
              <a:rPr sz="2700" kern="0" spc="-4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编写了一个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操作系统核心软件，并于</a:t>
            </a:r>
            <a:r>
              <a:rPr sz="2700" kern="0" spc="8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1991</a:t>
            </a:r>
            <a:r>
              <a:rPr sz="2700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年</a:t>
            </a:r>
            <a:r>
              <a:rPr sz="2700" kern="0" spc="8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2700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月公布为</a:t>
            </a: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Linux</a:t>
            </a:r>
            <a:r>
              <a:rPr sz="2700" kern="0" spc="8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0.0.2</a:t>
            </a:r>
            <a:r>
              <a:rPr sz="2700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版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。随后世界上众多的</a:t>
            </a:r>
            <a:r>
              <a:rPr sz="2700" kern="0" spc="-5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Unix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爱好者和黑客共同完善了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其余部分。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367665" indent="-111125" algn="l" rtl="0" eaLnBrk="0">
              <a:lnSpc>
                <a:spcPct val="101000"/>
              </a:lnSpc>
              <a:spcBef>
                <a:spcPts val="1538"/>
              </a:spcBef>
              <a:tabLst>
                <a:tab pos="43688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目前有很多商业公司可以</a:t>
            </a:r>
            <a:r>
              <a:rPr sz="2700" kern="0" spc="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免费</a:t>
            </a:r>
            <a:r>
              <a:rPr sz="2700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得到</a:t>
            </a: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Linux</a:t>
            </a:r>
            <a:r>
              <a:rPr sz="2700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的核心源代码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并加以包装和改进后形成自己的产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品，</a:t>
            </a:r>
            <a:r>
              <a:rPr sz="2700" kern="0" spc="-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即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Linux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发行套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件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distribution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367665" indent="-111125" algn="l" rtl="0" eaLnBrk="0">
              <a:lnSpc>
                <a:spcPct val="98000"/>
              </a:lnSpc>
              <a:spcBef>
                <a:spcPts val="1281"/>
              </a:spcBef>
              <a:tabLst>
                <a:tab pos="39179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当前公开发行的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Linux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内核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Kernel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版本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2.6</a:t>
            </a:r>
            <a:r>
              <a:rPr sz="2700" kern="0" spc="-2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。发行套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件版本则和具体的套件有关，如</a:t>
            </a: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RedHat</a:t>
            </a:r>
            <a:r>
              <a:rPr sz="2700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套件流行的</a:t>
            </a:r>
            <a:r>
              <a:rPr sz="2700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版</a:t>
            </a: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本为</a:t>
            </a:r>
            <a:r>
              <a:rPr sz="2700" kern="0" spc="3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9.0</a:t>
            </a:r>
            <a:r>
              <a:rPr sz="2700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8265159" algn="l" rtl="0" eaLnBrk="0">
              <a:lnSpc>
                <a:spcPct val="91000"/>
              </a:lnSpc>
              <a:spcBef>
                <a:spcPts val="2"/>
              </a:spcBef>
              <a:tabLst/>
            </a:pP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17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17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9697" y="4968239"/>
            <a:ext cx="243840" cy="244475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9697" y="3561079"/>
            <a:ext cx="243840" cy="244475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9697" y="1727200"/>
            <a:ext cx="243840" cy="244475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9697" y="746760"/>
            <a:ext cx="243840" cy="244475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80543" y="6578600"/>
            <a:ext cx="5864225" cy="26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津工业大学软件学院</a:t>
            </a:r>
            <a:r>
              <a:rPr sz="1700" kern="0" spc="1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12/27/2025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/>
          <p:nvPr/>
        </p:nvSpPr>
        <p:spPr>
          <a:xfrm>
            <a:off x="88265" y="-44450"/>
            <a:ext cx="8785859" cy="5041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2.3.1</a:t>
            </a:r>
            <a:r>
              <a:rPr sz="3500" b="1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500" b="1" kern="0" spc="-20" dirty="0">
                <a:solidFill>
                  <a:srgbClr val="FF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字符界面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944880" indent="-14604" algn="l" rtl="0" eaLnBrk="0">
              <a:lnSpc>
                <a:spcPct val="94000"/>
              </a:lnSpc>
              <a:spcBef>
                <a:spcPts val="2153"/>
              </a:spcBef>
              <a:tabLst/>
            </a:pP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在字符界面下常用的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关机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47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重</a:t>
            </a:r>
            <a:r>
              <a:rPr sz="4700" b="1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启命令</a:t>
            </a:r>
            <a:r>
              <a:rPr sz="47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</a:t>
            </a:r>
            <a:r>
              <a:rPr sz="4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halt</a:t>
            </a:r>
            <a:r>
              <a:rPr sz="4700" b="1" kern="0" spc="-7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7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4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reboot</a:t>
            </a:r>
            <a:r>
              <a:rPr sz="47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endParaRPr sz="4700" dirty="0">
              <a:latin typeface="SimSun"/>
              <a:ea typeface="SimSun"/>
              <a:cs typeface="SimSun"/>
            </a:endParaRPr>
          </a:p>
          <a:p>
            <a:pPr marL="950594" algn="l" rtl="0" eaLnBrk="0">
              <a:lnSpc>
                <a:spcPct val="90000"/>
              </a:lnSpc>
              <a:spcBef>
                <a:spcPts val="953"/>
              </a:spcBef>
              <a:tabLst/>
            </a:pPr>
            <a:r>
              <a:rPr sz="4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poweroff</a:t>
            </a:r>
            <a:r>
              <a:rPr sz="4700" b="1" kern="0" spc="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4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shutdown</a:t>
            </a:r>
            <a:r>
              <a:rPr sz="4700" b="1" kern="0" spc="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endParaRPr sz="4700" dirty="0">
              <a:latin typeface="SimSun"/>
              <a:ea typeface="SimSun"/>
              <a:cs typeface="SimSun"/>
            </a:endParaRPr>
          </a:p>
          <a:p>
            <a:pPr marL="932814" indent="19684" algn="l" rtl="0" eaLnBrk="0">
              <a:lnSpc>
                <a:spcPct val="96000"/>
              </a:lnSpc>
              <a:spcBef>
                <a:spcPts val="745"/>
              </a:spcBef>
              <a:tabLst/>
            </a:pPr>
            <a:r>
              <a:rPr sz="4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init</a:t>
            </a:r>
            <a:r>
              <a:rPr sz="4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等，它们都可以达到关</a:t>
            </a:r>
            <a:r>
              <a:rPr sz="47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闭或重启系统的目的，但每</a:t>
            </a:r>
            <a:r>
              <a:rPr sz="4700" b="1" kern="0" spc="-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个命令的工作过程是不同的。</a:t>
            </a:r>
            <a:endParaRPr sz="4700" dirty="0">
              <a:latin typeface="SimSun"/>
              <a:ea typeface="SimSun"/>
              <a:cs typeface="SimSun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823277"/>
            <a:ext cx="419100" cy="419100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80543" y="6578600"/>
            <a:ext cx="5864225" cy="26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津工业大学软件学院</a:t>
            </a:r>
            <a:r>
              <a:rPr sz="1700" kern="0" spc="1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12/27/2025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0"/>
          <p:cNvSpPr/>
          <p:nvPr/>
        </p:nvSpPr>
        <p:spPr>
          <a:xfrm>
            <a:off x="112953" y="-44450"/>
            <a:ext cx="8427084" cy="5354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5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halt</a:t>
            </a:r>
            <a:r>
              <a:rPr sz="3500" b="1" kern="0" spc="-20" dirty="0">
                <a:solidFill>
                  <a:srgbClr val="FF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命令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897255" indent="26034" algn="l" rtl="0" eaLnBrk="0">
              <a:lnSpc>
                <a:spcPct val="96000"/>
              </a:lnSpc>
              <a:spcBef>
                <a:spcPts val="2167"/>
              </a:spcBef>
              <a:tabLst/>
            </a:pPr>
            <a:r>
              <a:rPr sz="44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halt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命令的功能是</a:t>
            </a:r>
            <a:r>
              <a:rPr sz="44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关闭系统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，执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行过程中，终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止所有应用和系统进程，将所有数据写入存储介质，最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后关闭系统。其常用方法为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endParaRPr sz="2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04875" algn="l" rtl="0" eaLnBrk="0">
              <a:lnSpc>
                <a:spcPct val="80000"/>
              </a:lnSpc>
              <a:spcBef>
                <a:spcPts val="1599"/>
              </a:spcBef>
              <a:tabLst>
                <a:tab pos="1524635" algn="l"/>
              </a:tabLst>
            </a:pP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53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halt</a:t>
            </a:r>
            <a:r>
              <a:rPr sz="5300" b="1" kern="0" spc="4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3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[-f]</a:t>
            </a:r>
            <a:r>
              <a:rPr sz="5300" b="1" kern="0" spc="4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3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[-p]</a:t>
            </a:r>
            <a:endParaRPr sz="5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10589" indent="-267334" algn="l" rtl="0" eaLnBrk="0">
              <a:lnSpc>
                <a:spcPct val="95000"/>
              </a:lnSpc>
              <a:spcBef>
                <a:spcPts val="702"/>
              </a:spcBef>
              <a:tabLst>
                <a:tab pos="89852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参数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-f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用于强制快速关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机或重启；参数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-p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用于在关闭系统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时关掉电源。</a:t>
            </a:r>
            <a:endParaRPr sz="2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94714" indent="-251459" algn="l" rtl="0" eaLnBrk="0">
              <a:lnSpc>
                <a:spcPct val="99000"/>
              </a:lnSpc>
              <a:spcBef>
                <a:spcPts val="696"/>
              </a:spcBef>
              <a:tabLst>
                <a:tab pos="901064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一般情况下，使用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-p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参数时会在关闭系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统后自动关闭电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源。如果计算机不这样做，在看到消息“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</a:t>
            </a:r>
            <a:endParaRPr sz="2300" dirty="0">
              <a:latin typeface="Arial"/>
              <a:ea typeface="Arial"/>
              <a:cs typeface="Arial"/>
            </a:endParaRPr>
          </a:p>
          <a:p>
            <a:pPr marL="906144" algn="l" rtl="0" eaLnBrk="0">
              <a:lnSpc>
                <a:spcPct val="87000"/>
              </a:lnSpc>
              <a:spcBef>
                <a:spcPts val="313"/>
              </a:spcBef>
              <a:tabLst/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halted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2300" b="1" kern="0" spc="-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”后，可以手动关掉电源。</a:t>
            </a:r>
            <a:endParaRPr sz="2300" dirty="0">
              <a:latin typeface="SimSun"/>
              <a:ea typeface="SimSun"/>
              <a:cs typeface="SimSun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4311332"/>
            <a:ext cx="209550" cy="20955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3376612"/>
            <a:ext cx="209550" cy="20955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6734" y="2448242"/>
            <a:ext cx="471169" cy="47117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46734" y="810577"/>
            <a:ext cx="383540" cy="384175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80543" y="6578600"/>
            <a:ext cx="5864225" cy="26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津工业大学软件学院</a:t>
            </a:r>
            <a:r>
              <a:rPr sz="1700" kern="0" spc="1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12/27/2025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2"/>
          <p:cNvSpPr/>
          <p:nvPr/>
        </p:nvSpPr>
        <p:spPr>
          <a:xfrm>
            <a:off x="88265" y="-44450"/>
            <a:ext cx="8488680" cy="6207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5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reboot</a:t>
            </a:r>
            <a:r>
              <a:rPr sz="3500" b="1" kern="0" spc="50" dirty="0">
                <a:solidFill>
                  <a:srgbClr val="FF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命令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930275" indent="18415" algn="l" rtl="0" eaLnBrk="0">
              <a:lnSpc>
                <a:spcPct val="96000"/>
              </a:lnSpc>
              <a:spcBef>
                <a:spcPts val="2248"/>
              </a:spcBef>
              <a:tabLst/>
            </a:pPr>
            <a:r>
              <a:rPr sz="4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reboot</a:t>
            </a:r>
            <a:r>
              <a:rPr sz="47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的工作过程与</a:t>
            </a:r>
            <a:r>
              <a:rPr sz="4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halt</a:t>
            </a:r>
            <a:r>
              <a:rPr sz="47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几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乎一样，但其在关闭系统时</a:t>
            </a:r>
            <a:r>
              <a:rPr sz="47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会重新启动它。</a:t>
            </a:r>
            <a:endParaRPr sz="4700" dirty="0">
              <a:latin typeface="SimSun"/>
              <a:ea typeface="SimSun"/>
              <a:cs typeface="SimSun"/>
            </a:endParaRPr>
          </a:p>
          <a:p>
            <a:pPr marL="126364" algn="l" rtl="0" eaLnBrk="0">
              <a:lnSpc>
                <a:spcPct val="89000"/>
              </a:lnSpc>
              <a:spcBef>
                <a:spcPts val="1935"/>
              </a:spcBef>
              <a:tabLst/>
            </a:pP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5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poweroff</a:t>
            </a:r>
            <a:r>
              <a:rPr sz="3500" b="1" kern="0" spc="60" dirty="0">
                <a:solidFill>
                  <a:srgbClr val="FF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命令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975994" algn="l" rtl="0" eaLnBrk="0">
              <a:lnSpc>
                <a:spcPct val="90000"/>
              </a:lnSpc>
              <a:spcBef>
                <a:spcPts val="2440"/>
              </a:spcBef>
              <a:tabLst/>
            </a:pP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poweroff</a:t>
            </a:r>
            <a:r>
              <a:rPr sz="53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命令等价于</a:t>
            </a:r>
            <a:endParaRPr sz="5300" dirty="0">
              <a:latin typeface="SimSun"/>
              <a:ea typeface="SimSun"/>
              <a:cs typeface="SimSun"/>
            </a:endParaRPr>
          </a:p>
          <a:p>
            <a:pPr marL="946785" indent="10795" algn="l" rtl="0" eaLnBrk="0">
              <a:lnSpc>
                <a:spcPct val="93000"/>
              </a:lnSpc>
              <a:spcBef>
                <a:spcPts val="794"/>
              </a:spcBef>
              <a:tabLst/>
            </a:pP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halt -p</a:t>
            </a:r>
            <a:r>
              <a:rPr sz="5300" b="1" kern="0" spc="-8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，关闭系统时同时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关掉电源。</a:t>
            </a:r>
            <a:endParaRPr sz="5300" dirty="0">
              <a:latin typeface="SimSun"/>
              <a:ea typeface="SimSun"/>
              <a:cs typeface="SimSun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3938587"/>
            <a:ext cx="471169" cy="47117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6734" y="823277"/>
            <a:ext cx="419100" cy="41910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80543" y="6578600"/>
            <a:ext cx="5864225" cy="26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津工业大学软件学院</a:t>
            </a:r>
            <a:r>
              <a:rPr sz="1700" kern="0" spc="1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12/27/2025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/>
          <p:cNvSpPr/>
          <p:nvPr/>
        </p:nvSpPr>
        <p:spPr>
          <a:xfrm>
            <a:off x="85521" y="-44450"/>
            <a:ext cx="8483600" cy="6339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6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shutdown</a:t>
            </a:r>
            <a:r>
              <a:rPr sz="3500" b="1" kern="0" spc="130" dirty="0">
                <a:solidFill>
                  <a:srgbClr val="FF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命令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927100" indent="-256540" algn="l" rtl="0" eaLnBrk="0">
              <a:lnSpc>
                <a:spcPct val="102000"/>
              </a:lnSpc>
              <a:spcBef>
                <a:spcPts val="2041"/>
              </a:spcBef>
              <a:tabLst>
                <a:tab pos="924560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shutdown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命令时，将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在关机前向系统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内的所有用户发送通知或警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告信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息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，告诉系统发生了什么及如何处理，如系统要在什么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时候关机或重启，请做好准备，并提前退出等。其用法</a:t>
            </a:r>
            <a:r>
              <a:rPr sz="23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为：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942975" indent="-132714" algn="l" rtl="0" eaLnBrk="0">
              <a:lnSpc>
                <a:spcPct val="92000"/>
              </a:lnSpc>
              <a:spcBef>
                <a:spcPts val="2357"/>
              </a:spcBef>
              <a:tabLst>
                <a:tab pos="923289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shutdown</a:t>
            </a:r>
            <a:r>
              <a:rPr sz="3900" b="1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krhfFc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time</a:t>
            </a:r>
            <a:r>
              <a:rPr sz="3900" b="1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wall </a:t>
            </a: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msg]</a:t>
            </a:r>
            <a:endParaRPr sz="3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70559" algn="l" rtl="0" eaLnBrk="0">
              <a:lnSpc>
                <a:spcPct val="87000"/>
              </a:lnSpc>
              <a:spcBef>
                <a:spcPts val="694"/>
              </a:spcBef>
              <a:tabLst>
                <a:tab pos="927100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说明：当不带任何选项，比如，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-h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-H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-r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执行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923289" indent="-4444" algn="l" rtl="0" eaLnBrk="0">
              <a:lnSpc>
                <a:spcPct val="99000"/>
              </a:lnSpc>
              <a:spcBef>
                <a:spcPts val="444"/>
              </a:spcBef>
              <a:tabLst/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shutdown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，默认切换到运行级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（单用户模式</a:t>
            </a:r>
            <a:r>
              <a:rPr sz="2300" b="1" kern="0" spc="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）；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若要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通过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shutdown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-c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撤销已经发出的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shutdown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任务，则在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以前的系统中，必须在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与发出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shutdown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命令不同的终端</a:t>
            </a:r>
            <a:endParaRPr sz="2300" dirty="0">
              <a:latin typeface="SimSun"/>
              <a:ea typeface="SimSun"/>
              <a:cs typeface="SimSun"/>
            </a:endParaR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4931092"/>
            <a:ext cx="209550" cy="20955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6734" y="3560762"/>
            <a:ext cx="349250" cy="34925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867092"/>
            <a:ext cx="209550" cy="209550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80543" y="6329159"/>
            <a:ext cx="5864225" cy="511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30910" algn="l" rtl="0" eaLnBrk="0">
              <a:lnSpc>
                <a:spcPct val="79000"/>
              </a:lnSpc>
              <a:tabLst/>
            </a:pP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上进行。</a:t>
            </a:r>
            <a:endParaRPr sz="23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80000"/>
              </a:lnSpc>
              <a:spcBef>
                <a:spcPts val="16"/>
              </a:spcBef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津工业大学软件学院</a:t>
            </a:r>
            <a:r>
              <a:rPr sz="1700" kern="0" spc="1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12/27/2025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table 60"/>
          <p:cNvGraphicFramePr>
            <a:graphicFrameLocks noGrp="1"/>
          </p:cNvGraphicFramePr>
          <p:nvPr/>
        </p:nvGraphicFramePr>
        <p:xfrm>
          <a:off x="677862" y="614362"/>
          <a:ext cx="7887969" cy="5739765"/>
        </p:xfrm>
        <a:graphic>
          <a:graphicData uri="http://schemas.openxmlformats.org/drawingml/2006/table">
            <a:tbl>
              <a:tblPr/>
              <a:tblGrid>
                <a:gridCol w="1280794"/>
                <a:gridCol w="6607175"/>
              </a:tblGrid>
              <a:tr h="6273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7345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选项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3960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3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2300" kern="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3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r>
                        <a:rPr sz="23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3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描</a:t>
                      </a:r>
                      <a:r>
                        <a:rPr sz="23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3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述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03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2130" algn="l" rtl="0" eaLnBrk="0">
                        <a:lnSpc>
                          <a:spcPts val="1378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-r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重启计算机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3529" algn="l" rtl="0" eaLnBrk="0">
                        <a:lnSpc>
                          <a:spcPct val="7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-h/-H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09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关机后关闭电源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984" algn="l" rtl="0" eaLnBrk="0">
                        <a:lnSpc>
                          <a:spcPct val="6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-k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并不真正关机，只是发送警告信号给每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位用户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39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2130" algn="l" rtl="0" eaLnBrk="0">
                        <a:lnSpc>
                          <a:spcPts val="136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-c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indent="190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取消目前已经提交的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shutdown</a:t>
                      </a:r>
                      <a:r>
                        <a:rPr sz="23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任务。该选项同时</a:t>
                      </a:r>
                      <a:r>
                        <a:rPr sz="23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使用可有一个用来解释撤销关机的广播信息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3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1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31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2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time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3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指定关机时间。可为格</a:t>
                      </a:r>
                      <a:r>
                        <a:rPr sz="23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式为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hh</a:t>
                      </a:r>
                      <a:r>
                        <a:rPr sz="23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mm</a:t>
                      </a:r>
                      <a:r>
                        <a:rPr sz="23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的绝对时间，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5240" indent="635" algn="l" rtl="0" eaLnBrk="0">
                        <a:lnSpc>
                          <a:spcPct val="97000"/>
                        </a:lnSpc>
                        <a:spcBef>
                          <a:spcPts val="406"/>
                        </a:spcBef>
                        <a:tabLst/>
                      </a:pP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如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1:20</a:t>
                      </a:r>
                      <a:r>
                        <a:rPr sz="2300" b="1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，或相对时间（单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位为分</a:t>
                      </a:r>
                      <a:r>
                        <a:rPr sz="23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），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如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+10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表示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分钟后关机，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+0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表</a:t>
                      </a: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示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now</a:t>
                      </a:r>
                      <a:r>
                        <a:rPr sz="2300" b="1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。若不指定则默认为+1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8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655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wall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795" algn="l" rtl="0" eaLnBrk="0">
                        <a:lnSpc>
                          <a:spcPts val="1764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3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msg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2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广播信息。若不指定，系统提供默认信息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2" name="textbox 62"/>
          <p:cNvSpPr/>
          <p:nvPr/>
        </p:nvSpPr>
        <p:spPr>
          <a:xfrm>
            <a:off x="87350" y="-44450"/>
            <a:ext cx="446277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shutdown</a:t>
            </a:r>
            <a:r>
              <a:rPr sz="3500" b="1" kern="0" spc="1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的部分参数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80543" y="6578600"/>
            <a:ext cx="5864225" cy="26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津工业大学软件学院</a:t>
            </a:r>
            <a:r>
              <a:rPr sz="1700" kern="0" spc="1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12/27/2025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6"/>
          <p:cNvSpPr/>
          <p:nvPr/>
        </p:nvSpPr>
        <p:spPr>
          <a:xfrm>
            <a:off x="87350" y="-44450"/>
            <a:ext cx="8663940" cy="6570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shutdown</a:t>
            </a:r>
            <a:r>
              <a:rPr sz="3500" b="1" kern="0" spc="2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示例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738505" algn="l" rtl="0" eaLnBrk="0">
              <a:lnSpc>
                <a:spcPct val="86000"/>
              </a:lnSpc>
              <a:spcBef>
                <a:spcPts val="2053"/>
              </a:spcBef>
              <a:tabLst>
                <a:tab pos="913764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#shutdown -r n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ow</a:t>
            </a:r>
            <a:r>
              <a:rPr sz="32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立刻重新启动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738505" algn="l" rtl="0" eaLnBrk="0">
              <a:lnSpc>
                <a:spcPct val="86000"/>
              </a:lnSpc>
              <a:spcBef>
                <a:spcPts val="2150"/>
              </a:spcBef>
              <a:tabLst>
                <a:tab pos="913764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#shutdown -h</a:t>
            </a:r>
            <a:r>
              <a:rPr sz="32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w#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立刻关机</a:t>
            </a:r>
            <a:endParaRPr sz="3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8505" algn="l" rtl="0" eaLnBrk="0">
              <a:lnSpc>
                <a:spcPct val="80000"/>
              </a:lnSpc>
              <a:spcBef>
                <a:spcPts val="969"/>
              </a:spcBef>
              <a:tabLst>
                <a:tab pos="913764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#shutdown -k</a:t>
            </a:r>
            <a:r>
              <a:rPr sz="32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now 'Hey</a:t>
            </a:r>
            <a:r>
              <a:rPr sz="3200" b="1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Lets</a:t>
            </a:r>
            <a:r>
              <a:rPr sz="32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go</a:t>
            </a:r>
            <a:r>
              <a:rPr sz="32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now.'</a:t>
            </a:r>
            <a:endParaRPr sz="3200" dirty="0">
              <a:latin typeface="Arial"/>
              <a:ea typeface="Arial"/>
              <a:cs typeface="Arial"/>
            </a:endParaRPr>
          </a:p>
          <a:p>
            <a:pPr marL="1362075" algn="l" rtl="0" eaLnBrk="0">
              <a:lnSpc>
                <a:spcPct val="86000"/>
              </a:lnSpc>
              <a:spcBef>
                <a:spcPts val="390"/>
              </a:spcBef>
              <a:tabLst/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发出警告信息，但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没有真关机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922019" indent="-183514" algn="l" rtl="0" eaLnBrk="0">
              <a:lnSpc>
                <a:spcPct val="92000"/>
              </a:lnSpc>
              <a:spcBef>
                <a:spcPts val="2104"/>
              </a:spcBef>
              <a:tabLst>
                <a:tab pos="913764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#shutdown -h</a:t>
            </a:r>
            <a:r>
              <a:rPr sz="3200" b="1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10:42 "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系统将在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10:42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关闭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请届时退出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"#10:42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关机</a:t>
            </a:r>
            <a:endParaRPr sz="3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22019" indent="-183514" algn="l" rtl="0" eaLnBrk="0">
              <a:lnSpc>
                <a:spcPct val="92000"/>
              </a:lnSpc>
              <a:spcBef>
                <a:spcPts val="967"/>
              </a:spcBef>
              <a:tabLst>
                <a:tab pos="913764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#shutdown -r +20 '20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分钟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后将重启系统，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请提前退出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32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#20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分钟后重启系统</a:t>
            </a:r>
            <a:endParaRPr sz="3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923925" indent="-185420" algn="l" rtl="0" eaLnBrk="0">
              <a:lnSpc>
                <a:spcPct val="92000"/>
              </a:lnSpc>
              <a:spcBef>
                <a:spcPts val="4"/>
              </a:spcBef>
              <a:tabLst>
                <a:tab pos="913764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#shutdown -c</a:t>
            </a:r>
            <a:r>
              <a:rPr sz="32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撤销已下达的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hutdown</a:t>
            </a:r>
            <a:r>
              <a:rPr sz="32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5688647"/>
            <a:ext cx="279400" cy="2794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4510087"/>
            <a:ext cx="279400" cy="2794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3331527"/>
            <a:ext cx="279400" cy="27940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2152967"/>
            <a:ext cx="279400" cy="27940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1462087"/>
            <a:ext cx="279400" cy="2794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771207"/>
            <a:ext cx="279400" cy="279400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80543" y="6578600"/>
            <a:ext cx="5864225" cy="26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津工业大学软件学院</a:t>
            </a:r>
            <a:r>
              <a:rPr sz="1700" kern="0" spc="1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12/27/2025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99212" y="2625725"/>
            <a:ext cx="1754187" cy="495300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15000" y="4568825"/>
            <a:ext cx="2979737" cy="495300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859462" y="5721350"/>
            <a:ext cx="2740025" cy="523875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910338" y="3415779"/>
            <a:ext cx="2652560" cy="885279"/>
          </a:xfrm>
          <a:prstGeom prst="rect">
            <a:avLst/>
          </a:prstGeom>
        </p:spPr>
      </p:pic>
      <p:sp>
        <p:nvSpPr>
          <p:cNvPr id="90" name="textbox 90"/>
          <p:cNvSpPr/>
          <p:nvPr/>
        </p:nvSpPr>
        <p:spPr>
          <a:xfrm>
            <a:off x="78739" y="550417"/>
            <a:ext cx="8970009" cy="5767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797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3900" b="1" kern="0" spc="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3.1</a:t>
            </a:r>
            <a:r>
              <a:rPr sz="3900" kern="0" spc="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shell</a:t>
            </a:r>
            <a:r>
              <a:rPr sz="3900" b="1" kern="0" spc="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基本功能与基本概念</a:t>
            </a:r>
            <a:endParaRPr sz="3900" dirty="0">
              <a:latin typeface="STXinwei"/>
              <a:ea typeface="STXinwei"/>
              <a:cs typeface="STXinw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6000"/>
              </a:lnSpc>
              <a:spcBef>
                <a:spcPts val="816"/>
              </a:spcBef>
              <a:tabLst>
                <a:tab pos="374015" algn="l"/>
              </a:tabLst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Shell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是操作系统的命令解释程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367665" algn="l" rtl="0" eaLnBrk="0">
              <a:lnSpc>
                <a:spcPts val="3662"/>
              </a:lnSpc>
              <a:spcBef>
                <a:spcPts val="578"/>
              </a:spcBef>
              <a:tabLst/>
            </a:pPr>
            <a:r>
              <a:rPr sz="4300" b="1" kern="0" spc="0" baseline="1363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序，它专门负责接收用户的输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367665" algn="l" rtl="0" eaLnBrk="0">
              <a:lnSpc>
                <a:spcPct val="96000"/>
              </a:lnSpc>
              <a:spcBef>
                <a:spcPts val="28"/>
              </a:spcBef>
              <a:tabLst/>
            </a:pPr>
            <a:r>
              <a:rPr sz="4300" b="1" kern="0" spc="30" baseline="484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入命令，并对其进行解</a:t>
            </a:r>
            <a:r>
              <a:rPr sz="4300" b="1" kern="0" spc="20" baseline="484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释和执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</a:t>
            </a:r>
            <a:r>
              <a:rPr sz="3600" b="1" kern="0" spc="20" baseline="-18809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读取命令行</a:t>
            </a:r>
            <a:endParaRPr sz="3600" baseline="-18809" dirty="0">
              <a:latin typeface="SimSun"/>
              <a:ea typeface="SimSun"/>
              <a:cs typeface="SimSun"/>
            </a:endParaRPr>
          </a:p>
          <a:p>
            <a:pPr marL="374650" algn="l" rtl="0" eaLnBrk="0">
              <a:lnSpc>
                <a:spcPct val="84000"/>
              </a:lnSpc>
              <a:spcBef>
                <a:spcPts val="39"/>
              </a:spcBef>
              <a:tabLst/>
            </a:pP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行。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功能有六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命令解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释执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</a:t>
            </a:r>
            <a:r>
              <a:rPr sz="2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sz="2900" dirty="0">
              <a:latin typeface="Microsoft YaHei"/>
              <a:ea typeface="Microsoft YaHei"/>
              <a:cs typeface="Microsoft YaHei"/>
            </a:endParaRPr>
          </a:p>
          <a:p>
            <a:pPr marL="372109" algn="l" rtl="0" eaLnBrk="0">
              <a:lnSpc>
                <a:spcPts val="3135"/>
              </a:lnSpc>
              <a:spcBef>
                <a:spcPts val="594"/>
              </a:spcBef>
              <a:tabLst>
                <a:tab pos="8957309" algn="l"/>
              </a:tabLst>
            </a:pPr>
            <a:r>
              <a:rPr sz="3600" b="1" kern="0" spc="30" baseline="1590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行；文件名及管理；</a:t>
            </a:r>
            <a:r>
              <a:rPr sz="3600" b="1" kern="0" spc="30" baseline="15903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I/O</a:t>
            </a:r>
            <a:r>
              <a:rPr sz="3600" b="1" kern="0" spc="30" baseline="1590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重定向</a:t>
            </a:r>
            <a:r>
              <a:rPr sz="3600" b="1" kern="0" spc="20" baseline="1590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；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</a:t>
            </a:r>
            <a:r>
              <a:rPr sz="3600" b="1" kern="0" spc="20" baseline="-10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3600" b="1" kern="0" spc="0" baseline="-10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exit</a:t>
            </a:r>
            <a:r>
              <a:rPr sz="3600" b="1" kern="0" spc="20" baseline="-10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命令吗？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300" strike="sngStrike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367029" algn="l" rtl="0" eaLnBrk="0">
              <a:lnSpc>
                <a:spcPct val="85000"/>
              </a:lnSpc>
              <a:spcBef>
                <a:spcPts val="25"/>
              </a:spcBef>
              <a:tabLst/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通信管道建立；系统环境设置；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367665" algn="l" rtl="0" eaLnBrk="0">
              <a:lnSpc>
                <a:spcPct val="87000"/>
              </a:lnSpc>
              <a:spcBef>
                <a:spcPts val="251"/>
              </a:spcBef>
              <a:tabLst/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shell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编程。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             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5760084" algn="l" rtl="0" eaLnBrk="0">
              <a:lnSpc>
                <a:spcPct val="87000"/>
              </a:lnSpc>
              <a:spcBef>
                <a:spcPts val="269"/>
              </a:spcBef>
              <a:tabLst/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创建命令进程并执行</a:t>
            </a:r>
            <a:endParaRPr sz="2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70840" algn="l" rtl="0" eaLnBrk="0">
              <a:lnSpc>
                <a:spcPts val="3778"/>
              </a:lnSpc>
              <a:spcBef>
                <a:spcPts val="2"/>
              </a:spcBef>
              <a:tabLst/>
            </a:pPr>
            <a:r>
              <a:rPr sz="4300" b="1" kern="0" spc="10" baseline="-735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这些</a:t>
            </a:r>
            <a:r>
              <a:rPr sz="4300" b="1" kern="0" spc="0" baseline="-7357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Shell</a:t>
            </a:r>
            <a:r>
              <a:rPr sz="4300" b="1" kern="0" spc="10" baseline="-735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程序的功能基本相</a:t>
            </a:r>
            <a:r>
              <a:rPr sz="4300" b="1" kern="0" spc="0" baseline="-735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同。</a:t>
            </a:r>
            <a:r>
              <a:rPr sz="2700" kern="0" spc="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3600" b="1" kern="0" spc="0" baseline="2738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退出</a:t>
            </a:r>
            <a:r>
              <a:rPr sz="3600" b="1" kern="0" spc="0" baseline="27383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Shell</a:t>
            </a:r>
            <a:r>
              <a:rPr sz="3600" b="1" kern="0" spc="0" baseline="2738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环境</a:t>
            </a:r>
            <a:endParaRPr sz="3600" baseline="27383" dirty="0">
              <a:latin typeface="SimSun"/>
              <a:ea typeface="SimSun"/>
              <a:cs typeface="SimSun"/>
            </a:endParaRPr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135060" y="4291012"/>
            <a:ext cx="146050" cy="288925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1439" y="1765300"/>
            <a:ext cx="243840" cy="244475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139014" y="-44450"/>
            <a:ext cx="582104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3500" kern="0" spc="-2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三</a:t>
            </a:r>
            <a:r>
              <a:rPr sz="3500" kern="0" spc="-4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章</a:t>
            </a:r>
            <a:r>
              <a:rPr sz="3500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基本操作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00" name="picture 1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873750" y="1042987"/>
            <a:ext cx="2740025" cy="523875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026525" y="3859212"/>
            <a:ext cx="19050" cy="1584325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5280025" y="1541462"/>
            <a:ext cx="204152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82775" algn="l" rtl="0" eaLnBrk="0">
              <a:lnSpc>
                <a:spcPct val="86000"/>
              </a:lnSpc>
              <a:tabLst>
                <a:tab pos="1884045" algn="l"/>
              </a:tabLst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sz="2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8" name="picture 10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292725" y="1625600"/>
            <a:ext cx="1871662" cy="146050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283200" y="1698625"/>
            <a:ext cx="19050" cy="3529012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930900" y="1833562"/>
            <a:ext cx="2673350" cy="495300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236132" y="1029436"/>
            <a:ext cx="8258809" cy="532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3.1.1 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基本功能</a:t>
            </a:r>
            <a:r>
              <a:rPr sz="3900" kern="0" spc="3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3600" b="1" kern="0" spc="60" baseline="1012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开始进入</a:t>
            </a:r>
            <a:r>
              <a:rPr sz="3600" b="1" kern="0" spc="0" baseline="10128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Shell</a:t>
            </a:r>
            <a:r>
              <a:rPr sz="3600" b="1" kern="0" spc="60" baseline="1012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环</a:t>
            </a:r>
            <a:r>
              <a:rPr sz="3600" b="1" kern="0" spc="50" baseline="1012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境</a:t>
            </a:r>
            <a:endParaRPr sz="3600" baseline="10128" dirty="0">
              <a:latin typeface="SimSun"/>
              <a:ea typeface="SimSun"/>
              <a:cs typeface="SimSun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6049797" y="1911464"/>
            <a:ext cx="2453639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显示命令行提示符</a:t>
            </a:r>
            <a:endParaRPr sz="2300" dirty="0">
              <a:latin typeface="SimSun"/>
              <a:ea typeface="SimSun"/>
              <a:cs typeface="SimSun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78739" y="4913413"/>
            <a:ext cx="8970009" cy="977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2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3379" indent="-116839" algn="l" rtl="0" eaLnBrk="0">
              <a:lnSpc>
                <a:spcPct val="95000"/>
              </a:lnSpc>
              <a:tabLst>
                <a:tab pos="361950" algn="l"/>
                <a:tab pos="8957309" algn="l"/>
              </a:tabLst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Linux</a:t>
            </a:r>
            <a:r>
              <a:rPr sz="2700" b="1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Shell</a:t>
            </a:r>
            <a:r>
              <a:rPr sz="3900" b="1" kern="0" spc="1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种类繁多</a:t>
            </a:r>
            <a:r>
              <a:rPr sz="2700" b="1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2700" kern="0" spc="-3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strike="sngStrike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</a:t>
            </a:r>
            <a:r>
              <a:rPr sz="2700" kern="0" spc="-1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u="sng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最常用的是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ash</a:t>
            </a:r>
            <a:r>
              <a:rPr sz="2700" b="1" kern="0" spc="-3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bash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tcsh</a:t>
            </a:r>
            <a:r>
              <a:rPr sz="2700" b="1" kern="0" spc="-2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pic>
        <p:nvPicPr>
          <p:cNvPr id="120" name="picture 1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106931" y="5443537"/>
            <a:ext cx="146050" cy="288925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211011" y="5083175"/>
            <a:ext cx="19050" cy="144462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1439" y="5067300"/>
            <a:ext cx="243840" cy="244475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223772" y="321563"/>
            <a:ext cx="7200900" cy="62804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" name="table 128"/>
          <p:cNvGraphicFramePr>
            <a:graphicFrameLocks noGrp="1"/>
          </p:cNvGraphicFramePr>
          <p:nvPr/>
        </p:nvGraphicFramePr>
        <p:xfrm>
          <a:off x="58737" y="2870200"/>
          <a:ext cx="8973820" cy="3191510"/>
        </p:xfrm>
        <a:graphic>
          <a:graphicData uri="http://schemas.openxmlformats.org/drawingml/2006/table">
            <a:tbl>
              <a:tblPr/>
              <a:tblGrid>
                <a:gridCol w="1499235"/>
                <a:gridCol w="1494155"/>
                <a:gridCol w="1322705"/>
                <a:gridCol w="2034539"/>
                <a:gridCol w="1349375"/>
                <a:gridCol w="1273810"/>
              </a:tblGrid>
              <a:tr h="7816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79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字</a:t>
                      </a:r>
                      <a:r>
                        <a:rPr sz="2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</a:t>
                      </a:r>
                      <a:r>
                        <a:rPr sz="2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符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87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意</a:t>
                      </a:r>
                      <a:r>
                        <a:rPr sz="2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</a:t>
                      </a: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义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939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字</a:t>
                      </a:r>
                      <a:r>
                        <a:rPr sz="2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</a:t>
                      </a:r>
                      <a:r>
                        <a:rPr sz="2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符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038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意</a:t>
                      </a:r>
                      <a:r>
                        <a:rPr sz="2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</a:t>
                      </a: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义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827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字</a:t>
                      </a:r>
                      <a:r>
                        <a:rPr sz="2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</a:t>
                      </a:r>
                      <a:r>
                        <a:rPr sz="2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符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839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意</a:t>
                      </a:r>
                      <a:r>
                        <a:rPr sz="2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</a:t>
                      </a: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义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5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245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\a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066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2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响铃符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21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2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\x??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02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2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16进制表示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\\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260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2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\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5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245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\b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2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退格键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31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2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\0???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669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2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8进制表示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2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\`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864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2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`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245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\f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449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换页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01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\t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8009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Tab</a:t>
                      </a:r>
                      <a:r>
                        <a:rPr sz="2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键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\”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4505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800" kern="0" spc="17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”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245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\n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449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换行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01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\r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9769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回车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\e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6079" algn="l" rtl="0" eaLnBrk="0">
                        <a:lnSpc>
                          <a:spcPct val="7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ESC</a:t>
                      </a:r>
                      <a:endParaRPr sz="2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0" name="textbox 130"/>
          <p:cNvSpPr/>
          <p:nvPr/>
        </p:nvSpPr>
        <p:spPr>
          <a:xfrm>
            <a:off x="105518" y="624332"/>
            <a:ext cx="8807450" cy="2111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290" algn="l" rtl="0" eaLnBrk="0">
              <a:lnSpc>
                <a:spcPct val="86000"/>
              </a:lnSpc>
              <a:tabLst/>
            </a:pP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特殊</a:t>
            </a:r>
            <a:r>
              <a:rPr sz="5900" b="1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字符“</a:t>
            </a:r>
            <a:r>
              <a:rPr sz="5900" b="1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\</a:t>
            </a:r>
            <a:r>
              <a:rPr sz="5900" b="1" kern="0" spc="-7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900" b="1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被称为</a:t>
            </a:r>
            <a:r>
              <a:rPr sz="5900" b="1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转义字符</a:t>
            </a:r>
            <a:r>
              <a:rPr sz="5900" kern="0" spc="-13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5559" indent="10160" algn="l" rtl="0" eaLnBrk="0">
              <a:lnSpc>
                <a:spcPct val="98000"/>
              </a:lnSpc>
              <a:spcBef>
                <a:spcPts val="2"/>
              </a:spcBef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ESCape</a:t>
            </a:r>
            <a:r>
              <a:rPr sz="27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char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），</a:t>
            </a:r>
            <a:r>
              <a:rPr sz="27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用于对某些特殊字符的表示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“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\</a:t>
            </a:r>
            <a:r>
              <a:rPr sz="2700" b="1" kern="0" spc="-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”的作用与在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语言中的作用类似。</a:t>
            </a:r>
            <a:r>
              <a:rPr sz="2700" kern="0" spc="-3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“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\</a:t>
            </a:r>
            <a:r>
              <a:rPr sz="2700" b="1" kern="0" spc="-3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”转义的特殊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字符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113614" y="-44450"/>
            <a:ext cx="872744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3500" kern="0" spc="-3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三</a:t>
            </a:r>
            <a:r>
              <a:rPr sz="3500" kern="0" spc="-4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章</a:t>
            </a:r>
            <a:r>
              <a:rPr sz="3500" kern="0" spc="2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基本操作</a:t>
            </a:r>
            <a:r>
              <a:rPr sz="3500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</a:t>
            </a:r>
            <a:r>
              <a:rPr sz="4300" b="1" kern="0" spc="-30" baseline="-484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转义字符</a:t>
            </a:r>
            <a:endParaRPr sz="4300" baseline="-4845" dirty="0">
              <a:latin typeface="SimSun"/>
              <a:ea typeface="SimSun"/>
              <a:cs typeface="SimSun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8"/>
          <p:cNvSpPr/>
          <p:nvPr/>
        </p:nvSpPr>
        <p:spPr>
          <a:xfrm>
            <a:off x="230581" y="719277"/>
            <a:ext cx="8126730" cy="2137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4019" algn="l" rtl="0" eaLnBrk="0">
              <a:lnSpc>
                <a:spcPct val="86000"/>
              </a:lnSpc>
              <a:tabLst/>
            </a:pPr>
            <a:r>
              <a:rPr sz="44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4400" b="1" kern="0" spc="-6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．文件类型</a:t>
            </a:r>
            <a:endParaRPr sz="4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909" indent="-29844" algn="l" rtl="0" eaLnBrk="0">
              <a:lnSpc>
                <a:spcPct val="93000"/>
              </a:lnSpc>
              <a:tabLst/>
            </a:pPr>
            <a:r>
              <a:rPr sz="4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UNIX</a:t>
            </a:r>
            <a:r>
              <a:rPr sz="4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4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4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系统中有</a:t>
            </a:r>
            <a:r>
              <a:rPr sz="47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三种</a:t>
            </a:r>
            <a:r>
              <a:rPr sz="4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基本</a:t>
            </a:r>
            <a:r>
              <a:rPr sz="4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的文件类型：</a:t>
            </a:r>
            <a:endParaRPr sz="4700" dirty="0">
              <a:latin typeface="SimSun"/>
              <a:ea typeface="SimSun"/>
              <a:cs typeface="SimSun"/>
            </a:endParaRPr>
          </a:p>
        </p:txBody>
      </p:sp>
      <p:pic>
        <p:nvPicPr>
          <p:cNvPr id="140" name="picture 1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749295" y="3140964"/>
            <a:ext cx="6289548" cy="1726691"/>
          </a:xfrm>
          <a:prstGeom prst="rect">
            <a:avLst/>
          </a:prstGeom>
        </p:spPr>
      </p:pic>
      <p:sp>
        <p:nvSpPr>
          <p:cNvPr id="142" name="textbox 142"/>
          <p:cNvSpPr/>
          <p:nvPr/>
        </p:nvSpPr>
        <p:spPr>
          <a:xfrm>
            <a:off x="208025" y="2953613"/>
            <a:ext cx="2450464" cy="2104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4700" b="1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普通文件</a:t>
            </a:r>
            <a:endParaRPr sz="47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86000"/>
              </a:lnSpc>
              <a:spcBef>
                <a:spcPts val="910"/>
              </a:spcBef>
              <a:tabLst/>
            </a:pPr>
            <a:r>
              <a:rPr sz="4700" b="1" kern="0" spc="-1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目录文件</a:t>
            </a:r>
            <a:endParaRPr sz="4700" dirty="0">
              <a:latin typeface="SimSun"/>
              <a:ea typeface="SimSun"/>
              <a:cs typeface="SimSun"/>
            </a:endParaRPr>
          </a:p>
          <a:p>
            <a:pPr marL="24765" algn="l" rtl="0" eaLnBrk="0">
              <a:lnSpc>
                <a:spcPct val="86000"/>
              </a:lnSpc>
              <a:spcBef>
                <a:spcPts val="910"/>
              </a:spcBef>
              <a:tabLst/>
            </a:pPr>
            <a:r>
              <a:rPr sz="4700" b="1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设备文件</a:t>
            </a:r>
            <a:endParaRPr sz="4700" dirty="0">
              <a:latin typeface="SimSun"/>
              <a:ea typeface="SimSun"/>
              <a:cs typeface="SimSun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139014" y="-44450"/>
            <a:ext cx="583565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3500" kern="0" spc="-3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三</a:t>
            </a:r>
            <a:r>
              <a:rPr sz="3500" kern="0" spc="-4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章</a:t>
            </a:r>
            <a:r>
              <a:rPr sz="3500" kern="0" spc="2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ell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基本操作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50"/>
          <p:cNvSpPr/>
          <p:nvPr/>
        </p:nvSpPr>
        <p:spPr>
          <a:xfrm>
            <a:off x="564810" y="872908"/>
            <a:ext cx="8173719" cy="5478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7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7000"/>
              </a:lnSpc>
              <a:tabLst/>
            </a:pP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普通文件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是用于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存放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的文件。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2700" indent="7620" algn="l" rtl="0" eaLnBrk="0">
              <a:lnSpc>
                <a:spcPct val="97000"/>
              </a:lnSpc>
              <a:spcBef>
                <a:spcPts val="719"/>
              </a:spcBef>
              <a:tabLst/>
            </a:pP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文本文件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：以可阅读的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ASCII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码形式</a:t>
            </a:r>
            <a:r>
              <a:rPr sz="39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存储，大多数情况下，是以“行</a:t>
            </a:r>
            <a:r>
              <a:rPr sz="3900" kern="0" spc="-13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”为</a:t>
            </a:r>
            <a:r>
              <a:rPr sz="39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基本结构的。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4604" indent="7620" algn="l" rtl="0" eaLnBrk="0">
              <a:lnSpc>
                <a:spcPct val="102000"/>
              </a:lnSpc>
              <a:spcBef>
                <a:spcPts val="674"/>
              </a:spcBef>
              <a:tabLst/>
            </a:pP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二进制文件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：是人们一般不能直接读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懂，只有通过相应的软件才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能对其进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行操作的文件。一般是经编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译程序编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译后生成的可执行程序、图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形、图像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或声音等。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139014" y="-44450"/>
            <a:ext cx="877315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3500" kern="0" spc="-3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三</a:t>
            </a:r>
            <a:r>
              <a:rPr sz="3500" kern="0" spc="-4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章</a:t>
            </a:r>
            <a:r>
              <a:rPr sz="3500" kern="0" spc="2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基本操作</a:t>
            </a: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</a:t>
            </a:r>
            <a:r>
              <a:rPr sz="4300" b="1" kern="0" spc="-20" baseline="-726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普通文件</a:t>
            </a:r>
            <a:endParaRPr sz="4300" baseline="-7268" dirty="0">
              <a:latin typeface="SimSun"/>
              <a:ea typeface="SimSun"/>
              <a:cs typeface="SimSun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13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56" name="picture 1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58"/>
          <p:cNvSpPr/>
          <p:nvPr/>
        </p:nvSpPr>
        <p:spPr>
          <a:xfrm>
            <a:off x="418318" y="872908"/>
            <a:ext cx="8333105" cy="5476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2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indent="62864" algn="l" rtl="0" eaLnBrk="0">
              <a:lnSpc>
                <a:spcPct val="97000"/>
              </a:lnSpc>
              <a:tabLst/>
            </a:pP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目录文件</a:t>
            </a: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用于存储一组</a:t>
            </a:r>
            <a:r>
              <a:rPr sz="39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相关的文件项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信息或文件说明信息，其中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包括文件</a:t>
            </a: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名及其属性的信息。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2700" indent="1905" algn="l" rtl="0" eaLnBrk="0">
              <a:lnSpc>
                <a:spcPct val="98000"/>
              </a:lnSpc>
              <a:spcBef>
                <a:spcPts val="706"/>
              </a:spcBef>
              <a:tabLst/>
            </a:pP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UNIX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系统中，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目录只包括</a:t>
            </a:r>
            <a:r>
              <a:rPr sz="39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件名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节点号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等相关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信息，而文件的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属性信息保存在i节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点信息中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13664" algn="l" rtl="0" eaLnBrk="0">
              <a:lnSpc>
                <a:spcPct val="85000"/>
              </a:lnSpc>
              <a:spcBef>
                <a:spcPts val="758"/>
              </a:spcBef>
              <a:tabLst/>
            </a:pP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目录文件在形式上同普通文件一样，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108000"/>
              </a:lnSpc>
              <a:spcBef>
                <a:spcPts val="20"/>
              </a:spcBef>
              <a:tabLst/>
            </a:pP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但具有目录属性，只能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用目录管理命</a:t>
            </a: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令来访问和管理。</a:t>
            </a:r>
            <a:endParaRPr sz="3900" dirty="0">
              <a:latin typeface="SimHei"/>
              <a:ea typeface="SimHei"/>
              <a:cs typeface="SimHei"/>
            </a:endParaRPr>
          </a:p>
        </p:txBody>
      </p:sp>
      <p:pic>
        <p:nvPicPr>
          <p:cNvPr id="160" name="picture 1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sp>
        <p:nvSpPr>
          <p:cNvPr id="162" name="textbox 162"/>
          <p:cNvSpPr/>
          <p:nvPr/>
        </p:nvSpPr>
        <p:spPr>
          <a:xfrm>
            <a:off x="139014" y="-44450"/>
            <a:ext cx="870204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3500" kern="0" spc="-3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三</a:t>
            </a:r>
            <a:r>
              <a:rPr sz="3500" kern="0" spc="-4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章</a:t>
            </a:r>
            <a:r>
              <a:rPr sz="3500" kern="0" spc="2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基本操作</a:t>
            </a:r>
            <a:r>
              <a:rPr sz="3500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4300" b="1" kern="0" spc="-30" baseline="-726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目录文</a:t>
            </a:r>
            <a:r>
              <a:rPr sz="4300" b="1" kern="0" spc="-40" baseline="-726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件</a:t>
            </a:r>
            <a:endParaRPr sz="4300" baseline="-7268" dirty="0">
              <a:latin typeface="SimSun"/>
              <a:ea typeface="SimSun"/>
              <a:cs typeface="SimSun"/>
            </a:endParaRPr>
          </a:p>
        </p:txBody>
      </p:sp>
      <p:pic>
        <p:nvPicPr>
          <p:cNvPr id="164" name="picture 1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4611" y="0"/>
            <a:ext cx="8374380" cy="2796540"/>
          </a:xfrm>
          <a:prstGeom prst="rect">
            <a:avLst/>
          </a:prstGeom>
        </p:spPr>
      </p:pic>
      <p:sp>
        <p:nvSpPr>
          <p:cNvPr id="166" name="textbox 16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14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68"/>
          <p:cNvSpPr/>
          <p:nvPr/>
        </p:nvSpPr>
        <p:spPr>
          <a:xfrm>
            <a:off x="100557" y="555130"/>
            <a:ext cx="8422005" cy="5766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5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85000"/>
              </a:lnSpc>
              <a:tabLst/>
            </a:pP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一个目录文件内至少要有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两个文件</a:t>
            </a:r>
            <a:endParaRPr sz="4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5871"/>
              </a:lnSpc>
              <a:tabLst/>
            </a:pPr>
            <a:r>
              <a:rPr sz="4400" b="1" kern="0" spc="-11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项：</a:t>
            </a:r>
            <a:endParaRPr sz="4400" dirty="0">
              <a:latin typeface="SimHei"/>
              <a:ea typeface="SimHei"/>
              <a:cs typeface="SimHei"/>
            </a:endParaRPr>
          </a:p>
          <a:p>
            <a:pPr marL="257175" algn="l" rtl="0" eaLnBrk="0">
              <a:lnSpc>
                <a:spcPct val="66000"/>
              </a:lnSpc>
              <a:spcBef>
                <a:spcPts val="1724"/>
              </a:spcBef>
              <a:tabLst/>
            </a:pPr>
            <a:r>
              <a:rPr sz="5900" b="1" kern="0" spc="-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  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当前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目录；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45719" algn="l" rtl="0" eaLnBrk="0">
              <a:lnSpc>
                <a:spcPts val="4519"/>
              </a:lnSpc>
              <a:spcBef>
                <a:spcPts val="2561"/>
              </a:spcBef>
              <a:tabLst/>
            </a:pPr>
            <a:r>
              <a:rPr sz="5900" b="1" kern="0" spc="-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..</a:t>
            </a:r>
            <a:r>
              <a:rPr sz="5900" b="1" kern="0" spc="12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44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上级</a:t>
            </a:r>
            <a:r>
              <a:rPr sz="44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目录。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14604" indent="104139" algn="l" rtl="0" eaLnBrk="0">
              <a:lnSpc>
                <a:spcPct val="96000"/>
              </a:lnSpc>
              <a:spcBef>
                <a:spcPts val="1108"/>
              </a:spcBef>
              <a:tabLst/>
            </a:pPr>
            <a:r>
              <a:rPr sz="44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目录文件简称为目录或子目录，在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图形界面下称为文件夹。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根目录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因为目录也是文件，所以它的命名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规则与文件命名规则相同。</a:t>
            </a:r>
            <a:endParaRPr sz="4400" dirty="0">
              <a:latin typeface="SimSun"/>
              <a:ea typeface="SimSun"/>
              <a:cs typeface="SimSun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139014" y="-44450"/>
            <a:ext cx="890905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3500" kern="0" spc="-3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三</a:t>
            </a:r>
            <a:r>
              <a:rPr sz="3500" kern="0" spc="-4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章</a:t>
            </a:r>
            <a:r>
              <a:rPr sz="3500" kern="0" spc="2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基本操作</a:t>
            </a: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</a:t>
            </a:r>
            <a:r>
              <a:rPr sz="4300" b="1" kern="0" spc="-10" baseline="-6056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关于目录的说明</a:t>
            </a:r>
            <a:endParaRPr sz="4300" baseline="-6056" dirty="0">
              <a:latin typeface="SimSun"/>
              <a:ea typeface="SimSun"/>
              <a:cs typeface="SimSun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74" name="picture 1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76"/>
          <p:cNvSpPr/>
          <p:nvPr/>
        </p:nvSpPr>
        <p:spPr>
          <a:xfrm>
            <a:off x="349352" y="661136"/>
            <a:ext cx="8587740" cy="5481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1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6509" algn="l" rtl="0" eaLnBrk="0">
              <a:lnSpc>
                <a:spcPct val="102000"/>
              </a:lnSpc>
              <a:tabLst/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UNIX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把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每一个I/O设备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都看成一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个文件，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与普通文件一样处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，这样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可以使文件与设备的操作尽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可能统一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。从用户角度来看，对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I/O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设备的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和对一般文件的使用一样，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不必了解</a:t>
            </a:r>
            <a:r>
              <a:rPr sz="3900" kern="0" spc="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900" b="1" kern="0" spc="4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I/O设备的细节</a:t>
            </a:r>
            <a:r>
              <a:rPr sz="39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3900" dirty="0">
              <a:latin typeface="SimHei"/>
              <a:ea typeface="SimHei"/>
              <a:cs typeface="SimHei"/>
            </a:endParaRPr>
          </a:p>
          <a:p>
            <a:pPr marL="18415" algn="l" rtl="0" eaLnBrk="0">
              <a:lnSpc>
                <a:spcPct val="85000"/>
              </a:lnSpc>
              <a:spcBef>
                <a:spcPts val="234"/>
              </a:spcBef>
              <a:tabLst/>
            </a:pP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为区分普通文件、</a:t>
            </a:r>
            <a:r>
              <a:rPr sz="3900" kern="0" spc="-9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目录文件之间的不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6509" indent="45084" algn="l" rtl="0" eaLnBrk="0">
              <a:lnSpc>
                <a:spcPct val="108000"/>
              </a:lnSpc>
              <a:spcBef>
                <a:spcPts val="81"/>
              </a:spcBef>
              <a:tabLst/>
            </a:pP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同，系统把设备文件称为“设备</a:t>
            </a:r>
            <a:r>
              <a:rPr sz="3900" b="1" kern="0" spc="6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特别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</a:t>
            </a:r>
            <a:r>
              <a:rPr sz="3900" kern="0" spc="-14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”，简称</a:t>
            </a:r>
            <a:r>
              <a:rPr sz="3900" b="1" kern="0" spc="2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设备文</a:t>
            </a:r>
            <a:r>
              <a:rPr sz="3900" b="1" kern="0" spc="1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件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139014" y="-44450"/>
            <a:ext cx="819721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3500" kern="0" spc="-2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三</a:t>
            </a:r>
            <a:r>
              <a:rPr sz="3500" kern="0" spc="-4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章</a:t>
            </a:r>
            <a:r>
              <a:rPr sz="3500" kern="0" spc="2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基本操作</a:t>
            </a:r>
            <a:r>
              <a:rPr sz="3500" kern="0" spc="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</a:t>
            </a:r>
            <a:r>
              <a:rPr sz="4300" b="1" kern="0" spc="-30" baseline="-726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设备文件</a:t>
            </a:r>
            <a:endParaRPr sz="4300" baseline="-7268" dirty="0">
              <a:latin typeface="SimSun"/>
              <a:ea typeface="SimSun"/>
              <a:cs typeface="SimSun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82" name="picture 1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184"/>
          <p:cNvSpPr/>
          <p:nvPr/>
        </p:nvSpPr>
        <p:spPr>
          <a:xfrm>
            <a:off x="202691" y="555130"/>
            <a:ext cx="8730615" cy="5457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1589" algn="l" rtl="0" eaLnBrk="0">
              <a:lnSpc>
                <a:spcPct val="86000"/>
              </a:lnSpc>
              <a:tabLst/>
            </a:pPr>
            <a:r>
              <a:rPr sz="4400" b="1" kern="0" spc="-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两类文件链接</a:t>
            </a:r>
            <a:endParaRPr sz="4400" dirty="0">
              <a:latin typeface="SimHei"/>
              <a:ea typeface="SimHei"/>
              <a:cs typeface="SimHei"/>
            </a:endParaRPr>
          </a:p>
          <a:p>
            <a:pPr marL="13970" algn="l" rtl="0" eaLnBrk="0">
              <a:lnSpc>
                <a:spcPct val="98000"/>
              </a:lnSpc>
              <a:spcBef>
                <a:spcPts val="1705"/>
              </a:spcBef>
              <a:tabLst/>
            </a:pPr>
            <a:r>
              <a:rPr sz="44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硬链接（-</a:t>
            </a:r>
            <a:r>
              <a:rPr sz="4400" b="1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两个或多个文件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名共用一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个文件体，也就是说一个文件可以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具有多个</a:t>
            </a:r>
            <a:r>
              <a:rPr sz="3500" b="1" u="sng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不同的名字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，但它们具有</a:t>
            </a:r>
            <a:r>
              <a:rPr sz="3500" b="1" u="sng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相同的</a:t>
            </a:r>
            <a:r>
              <a:rPr sz="3500" b="1" u="sng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3500" b="1" u="sng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节点号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12700" indent="3175" algn="l" rtl="0" eaLnBrk="0">
              <a:lnSpc>
                <a:spcPct val="102000"/>
              </a:lnSpc>
              <a:spcBef>
                <a:spcPts val="505"/>
              </a:spcBef>
              <a:tabLst/>
            </a:pP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符号链接（</a:t>
            </a:r>
            <a:r>
              <a:rPr sz="4400" kern="0" spc="-7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l</a:t>
            </a:r>
            <a:r>
              <a:rPr sz="4400" b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3500" b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与硬链接不同，它们是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不同的文件（从名称看</a:t>
            </a:r>
            <a:r>
              <a:rPr sz="3500" b="1" kern="0" spc="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），</a:t>
            </a:r>
            <a:r>
              <a:rPr sz="3500" b="1" u="sng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各有</a:t>
            </a:r>
            <a:r>
              <a:rPr sz="3500" b="1" u="sng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自己的</a:t>
            </a:r>
            <a:r>
              <a:rPr sz="3500" b="1" u="sng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3500" b="1" u="sng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节</a:t>
            </a:r>
            <a:r>
              <a:rPr sz="3500" b="1" u="sng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点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，但可以通过符号链接文件的内容访问被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链接文件。符号链接也叫软链接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OS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中称为替身。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86" name="picture 1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24000" y="1219200"/>
            <a:ext cx="6096000" cy="4419600"/>
          </a:xfrm>
          <a:prstGeom prst="rect">
            <a:avLst/>
          </a:prstGeom>
        </p:spPr>
      </p:pic>
      <p:sp>
        <p:nvSpPr>
          <p:cNvPr id="188" name="textbox 188"/>
          <p:cNvSpPr/>
          <p:nvPr/>
        </p:nvSpPr>
        <p:spPr>
          <a:xfrm>
            <a:off x="139014" y="-44450"/>
            <a:ext cx="583565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3500" kern="0" spc="-3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三</a:t>
            </a:r>
            <a:r>
              <a:rPr sz="3500" kern="0" spc="-4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章</a:t>
            </a:r>
            <a:r>
              <a:rPr sz="3500" kern="0" spc="2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ell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基本操作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92" name="picture 1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1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547052" y="539634"/>
            <a:ext cx="2226945" cy="4744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7000"/>
              </a:lnSpc>
              <a:tabLst>
                <a:tab pos="55816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链接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693"/>
              </a:spcBef>
              <a:tabLst/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根目录文件内容</a:t>
            </a:r>
            <a:endParaRPr sz="2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24585" algn="l" rtl="0" eaLnBrk="0">
              <a:lnSpc>
                <a:spcPct val="88000"/>
              </a:lnSpc>
              <a:spcBef>
                <a:spcPts val="517"/>
              </a:spcBef>
              <a:tabLst/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…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9404" algn="l" rtl="0" eaLnBrk="0">
              <a:lnSpc>
                <a:spcPct val="75000"/>
              </a:lnSpc>
              <a:spcBef>
                <a:spcPts val="695"/>
              </a:spcBef>
              <a:tabLst/>
            </a:pPr>
            <a:r>
              <a:rPr sz="23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home</a:t>
            </a:r>
            <a:r>
              <a:rPr sz="23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  <a:r>
              <a:rPr sz="23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2300" dirty="0">
              <a:latin typeface="Arial"/>
              <a:ea typeface="Arial"/>
              <a:cs typeface="Arial"/>
            </a:endParaRPr>
          </a:p>
          <a:p>
            <a:pPr marL="368300" algn="l" rtl="0" eaLnBrk="0">
              <a:lnSpc>
                <a:spcPct val="87000"/>
              </a:lnSpc>
              <a:spcBef>
                <a:spcPts val="500"/>
              </a:spcBef>
              <a:tabLst/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目录文件内容</a:t>
            </a:r>
            <a:endParaRPr sz="2300" dirty="0">
              <a:latin typeface="SimSun"/>
              <a:ea typeface="SimSun"/>
              <a:cs typeface="SimSun"/>
            </a:endParaRPr>
          </a:p>
        </p:txBody>
      </p:sp>
      <p:pic>
        <p:nvPicPr>
          <p:cNvPr id="198" name="picture 1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9752" y="612775"/>
            <a:ext cx="243840" cy="244475"/>
          </a:xfrm>
          <a:prstGeom prst="rect">
            <a:avLst/>
          </a:prstGeom>
        </p:spPr>
      </p:pic>
      <p:sp>
        <p:nvSpPr>
          <p:cNvPr id="200" name="textbox 200"/>
          <p:cNvSpPr/>
          <p:nvPr/>
        </p:nvSpPr>
        <p:spPr>
          <a:xfrm>
            <a:off x="3173094" y="1341146"/>
            <a:ext cx="2086610" cy="3468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索引节点表</a:t>
            </a:r>
            <a:endParaRPr sz="2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7509" algn="l" rtl="0" eaLnBrk="0">
              <a:lnSpc>
                <a:spcPct val="75000"/>
              </a:lnSpc>
              <a:spcBef>
                <a:spcPts val="512"/>
              </a:spcBef>
              <a:tabLst/>
            </a:pP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415414" algn="l" rtl="0" eaLnBrk="0">
              <a:lnSpc>
                <a:spcPct val="88000"/>
              </a:lnSpc>
              <a:spcBef>
                <a:spcPts val="1023"/>
              </a:spcBef>
              <a:tabLst/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…</a:t>
            </a:r>
            <a:endParaRPr sz="1700" dirty="0">
              <a:latin typeface="SimSun"/>
              <a:ea typeface="SimSun"/>
              <a:cs typeface="SimSun"/>
            </a:endParaRPr>
          </a:p>
          <a:p>
            <a:pPr marL="24765" algn="l" rtl="0" eaLnBrk="0">
              <a:lnSpc>
                <a:spcPct val="75000"/>
              </a:lnSpc>
              <a:spcBef>
                <a:spcPts val="752"/>
              </a:spcBef>
              <a:tabLst/>
            </a:pP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1023</a:t>
            </a:r>
            <a:endParaRPr sz="17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75000"/>
              </a:lnSpc>
              <a:spcBef>
                <a:spcPts val="1308"/>
              </a:spcBef>
              <a:tabLst/>
            </a:pP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1024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415414" algn="l" rtl="0" eaLnBrk="0">
              <a:lnSpc>
                <a:spcPct val="88000"/>
              </a:lnSpc>
              <a:spcBef>
                <a:spcPts val="1023"/>
              </a:spcBef>
              <a:tabLst/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…</a:t>
            </a:r>
            <a:endParaRPr sz="1700" dirty="0">
              <a:latin typeface="SimSun"/>
              <a:ea typeface="SimSun"/>
              <a:cs typeface="SimSun"/>
            </a:endParaRPr>
          </a:p>
          <a:p>
            <a:pPr marL="24765" algn="l" rtl="0" eaLnBrk="0">
              <a:lnSpc>
                <a:spcPct val="75000"/>
              </a:lnSpc>
              <a:spcBef>
                <a:spcPts val="1316"/>
              </a:spcBef>
              <a:tabLst/>
            </a:pP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1098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415414" algn="l" rtl="0" eaLnBrk="0">
              <a:lnSpc>
                <a:spcPct val="88000"/>
              </a:lnSpc>
              <a:spcBef>
                <a:spcPts val="1021"/>
              </a:spcBef>
              <a:tabLst/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…</a:t>
            </a:r>
            <a:endParaRPr sz="17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75000"/>
              </a:lnSpc>
              <a:spcBef>
                <a:spcPts val="1327"/>
              </a:spcBef>
              <a:tabLst/>
            </a:pP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2010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415414" algn="l" rtl="0" eaLnBrk="0">
              <a:lnSpc>
                <a:spcPct val="88000"/>
              </a:lnSpc>
              <a:spcBef>
                <a:spcPts val="461"/>
              </a:spcBef>
              <a:tabLst/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…</a:t>
            </a:r>
            <a:endParaRPr sz="1700" dirty="0">
              <a:latin typeface="SimSun"/>
              <a:ea typeface="SimSun"/>
              <a:cs typeface="SimSun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7103198" y="2133308"/>
            <a:ext cx="781050" cy="287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磁盘块</a:t>
            </a:r>
            <a:endParaRPr sz="2000" dirty="0">
              <a:latin typeface="SimSun"/>
              <a:ea typeface="SimSun"/>
              <a:cs typeface="SimSun"/>
            </a:endParaRPr>
          </a:p>
        </p:txBody>
      </p:sp>
      <p:pic>
        <p:nvPicPr>
          <p:cNvPr id="204" name="picture 2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6408" y="658367"/>
            <a:ext cx="8855964" cy="5756148"/>
          </a:xfrm>
          <a:prstGeom prst="rect">
            <a:avLst/>
          </a:prstGeom>
        </p:spPr>
      </p:pic>
      <p:sp>
        <p:nvSpPr>
          <p:cNvPr id="206" name="textbox 20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21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1176693" y="1849565"/>
            <a:ext cx="1190625" cy="1252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3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75000"/>
              </a:lnSpc>
              <a:tabLst/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1023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75000"/>
              </a:lnSpc>
              <a:spcBef>
                <a:spcPts val="1228"/>
              </a:spcBef>
              <a:tabLst/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1054</a:t>
            </a:r>
            <a:endParaRPr sz="17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75000"/>
              </a:lnSpc>
              <a:spcBef>
                <a:spcPts val="1225"/>
              </a:spcBef>
              <a:tabLst/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root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1067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spcBef>
                <a:spcPts val="6"/>
              </a:spcBef>
              <a:tabLst/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home</a:t>
            </a:r>
            <a:r>
              <a:rPr sz="17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1098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1314742" y="5488749"/>
            <a:ext cx="914400" cy="507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3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75000"/>
              </a:lnSpc>
              <a:tabLst/>
            </a:pP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b.c 2000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spcBef>
                <a:spcPts val="6"/>
              </a:spcBef>
              <a:tabLst/>
            </a:pP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a.c 2010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1119543" y="3551364"/>
            <a:ext cx="130492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3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hello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.c 2010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4715" y="1629155"/>
            <a:ext cx="8487156" cy="3848100"/>
          </a:xfrm>
          <a:prstGeom prst="rect">
            <a:avLst/>
          </a:prstGeom>
        </p:spPr>
      </p:pic>
      <p:sp>
        <p:nvSpPr>
          <p:cNvPr id="216" name="textbox 216"/>
          <p:cNvSpPr/>
          <p:nvPr/>
        </p:nvSpPr>
        <p:spPr>
          <a:xfrm>
            <a:off x="702351" y="612659"/>
            <a:ext cx="7073900" cy="810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链接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87000"/>
              </a:lnSpc>
              <a:spcBef>
                <a:spcPts val="556"/>
              </a:spcBef>
              <a:tabLst/>
            </a:pP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建立链接命令：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ln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源文件名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链接文件名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22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220" name="picture 2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2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sp>
        <p:nvSpPr>
          <p:cNvPr id="224" name="textbox 224"/>
          <p:cNvSpPr/>
          <p:nvPr/>
        </p:nvSpPr>
        <p:spPr>
          <a:xfrm>
            <a:off x="204447" y="541539"/>
            <a:ext cx="8684259" cy="5822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75" algn="l" rtl="0" eaLnBrk="0">
              <a:lnSpc>
                <a:spcPct val="85000"/>
              </a:lnSpc>
              <a:tabLst/>
            </a:pP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）路径（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相对路径或绝对路径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2700" indent="3810" algn="l" rtl="0" eaLnBrk="0">
              <a:lnSpc>
                <a:spcPct val="99000"/>
              </a:lnSpc>
              <a:spcBef>
                <a:spcPts val="50"/>
              </a:spcBef>
              <a:tabLst/>
            </a:pP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路径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是指从树型目录中的某个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目录到另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一个文件或目录的路线。路径表示符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由它所经过的目录名，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间用“/”链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接构成的。文件在文件系统中的位置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以由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相对路径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绝对路径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来决定。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8415" algn="l" rtl="0" eaLnBrk="0">
              <a:lnSpc>
                <a:spcPct val="85000"/>
              </a:lnSpc>
              <a:spcBef>
                <a:spcPts val="758"/>
              </a:spcBef>
              <a:tabLst/>
            </a:pP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绝对路径是指从“根</a:t>
            </a:r>
            <a:r>
              <a:rPr sz="3900" kern="0" spc="-14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”开始的</a:t>
            </a:r>
            <a:r>
              <a:rPr sz="39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路径；相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8415" indent="-5714" algn="l" rtl="0" eaLnBrk="0">
              <a:lnSpc>
                <a:spcPct val="106000"/>
              </a:lnSpc>
              <a:spcBef>
                <a:spcPts val="59"/>
              </a:spcBef>
              <a:tabLst/>
            </a:pP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对路径是从用户工作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目录开始的路径。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绝对路径是确定不变的，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而相对路径则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随着用户工作目录的变化而不断变化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139014" y="-44450"/>
            <a:ext cx="583565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3500" kern="0" spc="-3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三</a:t>
            </a:r>
            <a:r>
              <a:rPr sz="3500" kern="0" spc="-4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章</a:t>
            </a:r>
            <a:r>
              <a:rPr sz="3500" kern="0" spc="2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ell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基本操作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picture 2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sp>
        <p:nvSpPr>
          <p:cNvPr id="232" name="textbox 232"/>
          <p:cNvSpPr/>
          <p:nvPr/>
        </p:nvSpPr>
        <p:spPr>
          <a:xfrm>
            <a:off x="448843" y="534035"/>
            <a:ext cx="7713344" cy="5583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7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47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4700" b="1" kern="0" spc="-1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4700" kern="0" spc="-4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4700" b="1" kern="0" spc="-1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标准输入</a:t>
            </a:r>
            <a:r>
              <a:rPr sz="4700" kern="0" spc="-4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4700" b="1" kern="0" spc="-1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重定向</a:t>
            </a:r>
            <a:endParaRPr sz="4700" dirty="0">
              <a:latin typeface="STXinwei"/>
              <a:ea typeface="STXinwei"/>
              <a:cs typeface="STXinwei"/>
            </a:endParaRPr>
          </a:p>
          <a:p>
            <a:pPr marL="500380" indent="-219075" algn="l" rtl="0" eaLnBrk="0">
              <a:lnSpc>
                <a:spcPct val="99000"/>
              </a:lnSpc>
              <a:spcBef>
                <a:spcPts val="1381"/>
              </a:spcBef>
              <a:tabLst>
                <a:tab pos="50800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是指让命令（程序）的标准输入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从指定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文件中读取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。因此，输入重定向主要用于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解决命令的输入源数据，尤其是输入数据量大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或重复使用问题。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526415" indent="-139700" algn="l" rtl="0" eaLnBrk="0">
              <a:lnSpc>
                <a:spcPct val="95000"/>
              </a:lnSpc>
              <a:spcBef>
                <a:spcPts val="2252"/>
              </a:spcBef>
              <a:tabLst>
                <a:tab pos="508000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例如，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wc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可用于统计指定文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件包含的行数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、单词数和字符数。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1790" algn="l" rtl="0" eaLnBrk="0">
              <a:lnSpc>
                <a:spcPct val="84000"/>
              </a:lnSpc>
              <a:spcBef>
                <a:spcPts val="1055"/>
              </a:spcBef>
              <a:tabLst>
                <a:tab pos="504190" algn="l"/>
              </a:tabLst>
            </a:pP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1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$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wc</a:t>
            </a:r>
            <a:r>
              <a:rPr sz="3500" b="1" kern="0" spc="1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3500" b="1" kern="0" spc="1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passwd</a:t>
            </a:r>
            <a:endParaRPr sz="3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351790" algn="l" rtl="0" eaLnBrk="0">
              <a:lnSpc>
                <a:spcPct val="84000"/>
              </a:lnSpc>
              <a:spcBef>
                <a:spcPts val="5"/>
              </a:spcBef>
              <a:tabLst>
                <a:tab pos="504190" algn="l"/>
              </a:tabLst>
            </a:pP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$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wc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&lt;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passwd</a:t>
            </a:r>
            <a:endParaRPr sz="3500" dirty="0">
              <a:latin typeface="Arial"/>
              <a:ea typeface="Arial"/>
              <a:cs typeface="Arial"/>
            </a:endParaRPr>
          </a:p>
        </p:txBody>
      </p:sp>
      <p:pic>
        <p:nvPicPr>
          <p:cNvPr id="234" name="picture 2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6727" y="5698807"/>
            <a:ext cx="314325" cy="314325"/>
          </a:xfrm>
          <a:prstGeom prst="rect">
            <a:avLst/>
          </a:prstGeom>
        </p:spPr>
      </p:pic>
      <p:pic>
        <p:nvPicPr>
          <p:cNvPr id="236" name="picture 2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6727" y="4946967"/>
            <a:ext cx="314325" cy="314325"/>
          </a:xfrm>
          <a:prstGeom prst="rect">
            <a:avLst/>
          </a:prstGeom>
        </p:spPr>
      </p:pic>
      <p:pic>
        <p:nvPicPr>
          <p:cNvPr id="238" name="picture 2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86727" y="3720147"/>
            <a:ext cx="349249" cy="349250"/>
          </a:xfrm>
          <a:prstGeom prst="rect">
            <a:avLst/>
          </a:prstGeom>
        </p:spPr>
      </p:pic>
      <p:pic>
        <p:nvPicPr>
          <p:cNvPr id="240" name="picture 2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86727" y="1496377"/>
            <a:ext cx="243840" cy="244475"/>
          </a:xfrm>
          <a:prstGeom prst="rect">
            <a:avLst/>
          </a:prstGeom>
        </p:spPr>
      </p:pic>
      <p:sp>
        <p:nvSpPr>
          <p:cNvPr id="242" name="textbox 24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40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picture 2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sp>
        <p:nvSpPr>
          <p:cNvPr id="246" name="textbox 246"/>
          <p:cNvSpPr/>
          <p:nvPr/>
        </p:nvSpPr>
        <p:spPr>
          <a:xfrm>
            <a:off x="268906" y="523430"/>
            <a:ext cx="8481059" cy="5455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900" kern="0" spc="-3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标准输出重定向</a:t>
            </a:r>
            <a:endParaRPr sz="3900" dirty="0">
              <a:latin typeface="STXinwei"/>
              <a:ea typeface="STXinwei"/>
              <a:cs typeface="STXinwei"/>
            </a:endParaRPr>
          </a:p>
          <a:p>
            <a:pPr marL="545465" indent="-228600" algn="l" rtl="0" eaLnBrk="0">
              <a:lnSpc>
                <a:spcPct val="103000"/>
              </a:lnSpc>
              <a:spcBef>
                <a:spcPts val="2333"/>
              </a:spcBef>
              <a:tabLst>
                <a:tab pos="543559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是指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把命令的标准输出保存到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文件中</a:t>
            </a:r>
            <a:r>
              <a:rPr sz="3900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2700" kern="0" spc="8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可用</a:t>
            </a:r>
            <a:r>
              <a:rPr sz="44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两种方式：覆盖方式</a:t>
            </a:r>
            <a:r>
              <a:rPr sz="4400" b="1" kern="0" spc="-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(&gt;)</a:t>
            </a:r>
            <a:r>
              <a:rPr sz="4400" b="1" kern="0" spc="-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和追</a:t>
            </a: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加方式</a:t>
            </a: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(&gt;&gt;)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。例如：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316865" algn="l" rtl="0" eaLnBrk="0">
              <a:lnSpc>
                <a:spcPct val="85000"/>
              </a:lnSpc>
              <a:spcBef>
                <a:spcPts val="1368"/>
              </a:spcBef>
              <a:tabLst>
                <a:tab pos="535940" algn="l"/>
              </a:tabLst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$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&gt; 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tmp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dir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</a:t>
            </a:r>
            <a:endParaRPr sz="2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6865" algn="l" rtl="0" eaLnBrk="0">
              <a:lnSpc>
                <a:spcPct val="85000"/>
              </a:lnSpc>
              <a:spcBef>
                <a:spcPts val="814"/>
              </a:spcBef>
              <a:tabLst>
                <a:tab pos="535940" algn="l"/>
              </a:tabLst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$</a:t>
            </a:r>
            <a:r>
              <a:rPr sz="2700" b="1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usr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&gt;&gt; 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tmp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dir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</a:t>
            </a:r>
            <a:endParaRPr sz="2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600" dirty="0">
              <a:latin typeface="Arial"/>
              <a:ea typeface="Arial"/>
              <a:cs typeface="Arial"/>
            </a:endParaRPr>
          </a:p>
          <a:p>
            <a:pPr marL="541655" indent="-224790" algn="l" rtl="0" eaLnBrk="0">
              <a:lnSpc>
                <a:spcPct val="98000"/>
              </a:lnSpc>
              <a:spcBef>
                <a:spcPts val="6"/>
              </a:spcBef>
              <a:tabLst>
                <a:tab pos="53911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标准输出的重定向是有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副作用的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：一是它可能覆盖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已经存在的文件；二是它可能会在一个具有完整意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义的文件后面追加一些外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来或无意义的信息。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pic>
        <p:nvPicPr>
          <p:cNvPr id="248" name="picture 2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2264" y="4818697"/>
            <a:ext cx="243840" cy="244475"/>
          </a:xfrm>
          <a:prstGeom prst="rect">
            <a:avLst/>
          </a:prstGeom>
        </p:spPr>
      </p:pic>
      <p:pic>
        <p:nvPicPr>
          <p:cNvPr id="250" name="picture 2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2264" y="4188777"/>
            <a:ext cx="243840" cy="244475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2264" y="3558857"/>
            <a:ext cx="243840" cy="244475"/>
          </a:xfrm>
          <a:prstGeom prst="rect">
            <a:avLst/>
          </a:prstGeom>
        </p:spPr>
      </p:pic>
      <p:pic>
        <p:nvPicPr>
          <p:cNvPr id="254" name="picture 2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2264" y="1496377"/>
            <a:ext cx="243840" cy="244475"/>
          </a:xfrm>
          <a:prstGeom prst="rect">
            <a:avLst/>
          </a:prstGeom>
        </p:spPr>
      </p:pic>
      <p:sp>
        <p:nvSpPr>
          <p:cNvPr id="256" name="textbox 25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41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258"/>
          <p:cNvSpPr/>
          <p:nvPr/>
        </p:nvSpPr>
        <p:spPr>
          <a:xfrm>
            <a:off x="181610" y="555765"/>
            <a:ext cx="8540115" cy="5628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6000"/>
              </a:lnSpc>
              <a:tabLst>
                <a:tab pos="471169" algn="l"/>
              </a:tabLst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在开始执行时就已经定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义了一些</a:t>
            </a:r>
            <a:r>
              <a:rPr sz="44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4400" b="1" u="sng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系统工</a:t>
            </a:r>
            <a:endParaRPr sz="44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86000"/>
              </a:lnSpc>
              <a:spcBef>
                <a:spcPts val="757"/>
              </a:spcBef>
              <a:tabLst/>
            </a:pPr>
            <a:r>
              <a:rPr sz="4400" b="1" u="sng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作</a:t>
            </a:r>
            <a:r>
              <a:rPr sz="4400" u="sng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4400" kern="0" spc="1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400" b="1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关的变量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，用来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476884" algn="l" rtl="0" eaLnBrk="0">
              <a:lnSpc>
                <a:spcPct val="86000"/>
              </a:lnSpc>
              <a:spcBef>
                <a:spcPts val="613"/>
              </a:spcBef>
              <a:tabLst/>
            </a:pP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执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程序</a:t>
            </a:r>
            <a:r>
              <a:rPr sz="2700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执行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供环境支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487044" indent="1905" algn="l" rtl="0" eaLnBrk="0">
              <a:lnSpc>
                <a:spcPct val="91000"/>
              </a:lnSpc>
              <a:spcBef>
                <a:spcPts val="2360"/>
              </a:spcBef>
              <a:tabLst/>
            </a:pPr>
            <a:r>
              <a:rPr sz="44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</a:t>
            </a:r>
            <a:r>
              <a:rPr sz="4400" kern="0" spc="1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4400" b="1" kern="0" spc="-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nv</a:t>
            </a:r>
            <a:r>
              <a:rPr sz="4400" b="1" kern="0" spc="1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4400" b="1" kern="0" spc="-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xpo</a:t>
            </a:r>
            <a:r>
              <a:rPr sz="4400" b="1" kern="0" spc="5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44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</a:t>
            </a:r>
            <a:r>
              <a:rPr sz="4400" b="1" kern="0" spc="-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4400" b="1" kern="0" spc="1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44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来查</a:t>
            </a:r>
            <a:r>
              <a:rPr sz="4400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4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环</a:t>
            </a:r>
            <a:r>
              <a:rPr sz="4400" b="1" kern="0" spc="-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境</a:t>
            </a:r>
            <a:r>
              <a:rPr sz="4400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400" b="1" kern="0" spc="-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量</a:t>
            </a:r>
            <a:endParaRPr sz="4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1965" algn="l" rtl="0" eaLnBrk="0">
              <a:lnSpc>
                <a:spcPct val="82000"/>
              </a:lnSpc>
              <a:spcBef>
                <a:spcPts val="1328"/>
              </a:spcBef>
              <a:tabLst/>
            </a:pPr>
            <a:r>
              <a:rPr sz="4400" b="1" kern="0" spc="-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$</a:t>
            </a:r>
            <a:r>
              <a:rPr sz="4400" b="1" kern="0" spc="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4400" b="1" kern="0" spc="-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4400" b="1" kern="0" spc="2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4400" b="1" kern="0" spc="-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4400" b="1" kern="0" spc="2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显示所有的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变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1965" algn="l" rtl="0" eaLnBrk="0">
              <a:lnSpc>
                <a:spcPct val="80000"/>
              </a:lnSpc>
              <a:spcBef>
                <a:spcPts val="1331"/>
              </a:spcBef>
              <a:tabLst/>
            </a:pPr>
            <a:r>
              <a:rPr sz="4400" b="1" kern="0" spc="-1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$</a:t>
            </a: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2700" b="1" kern="0" spc="-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同上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6000"/>
              </a:lnSpc>
              <a:spcBef>
                <a:spcPts val="6"/>
              </a:spcBef>
              <a:tabLst>
                <a:tab pos="480059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己的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（见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pic>
        <p:nvPicPr>
          <p:cNvPr id="260" name="picture 2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4310" y="5876289"/>
            <a:ext cx="243840" cy="244475"/>
          </a:xfrm>
          <a:prstGeom prst="rect">
            <a:avLst/>
          </a:prstGeom>
        </p:spPr>
      </p:pic>
      <p:pic>
        <p:nvPicPr>
          <p:cNvPr id="262" name="picture 2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4310" y="5055234"/>
            <a:ext cx="383540" cy="384175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4310" y="4181475"/>
            <a:ext cx="383540" cy="384175"/>
          </a:xfrm>
          <a:prstGeom prst="rect">
            <a:avLst/>
          </a:prstGeom>
        </p:spPr>
      </p:pic>
      <p:pic>
        <p:nvPicPr>
          <p:cNvPr id="266" name="picture 2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4310" y="2637154"/>
            <a:ext cx="383540" cy="384175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4310" y="735329"/>
            <a:ext cx="243840" cy="244475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sp>
        <p:nvSpPr>
          <p:cNvPr id="272" name="textbox 272"/>
          <p:cNvSpPr/>
          <p:nvPr/>
        </p:nvSpPr>
        <p:spPr>
          <a:xfrm>
            <a:off x="88265" y="-44450"/>
            <a:ext cx="255651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3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环</a:t>
            </a:r>
            <a:r>
              <a:rPr sz="3500" kern="0" spc="-4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境变量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274" name="picture 2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9244" y="952500"/>
            <a:ext cx="7626097" cy="5416295"/>
          </a:xfrm>
          <a:prstGeom prst="rect">
            <a:avLst/>
          </a:prstGeom>
        </p:spPr>
      </p:pic>
      <p:sp>
        <p:nvSpPr>
          <p:cNvPr id="276" name="textbox 27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50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picture 2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graphicFrame>
        <p:nvGraphicFramePr>
          <p:cNvPr id="280" name="table 280"/>
          <p:cNvGraphicFramePr>
            <a:graphicFrameLocks noGrp="1"/>
          </p:cNvGraphicFramePr>
          <p:nvPr/>
        </p:nvGraphicFramePr>
        <p:xfrm>
          <a:off x="0" y="534987"/>
          <a:ext cx="9114790" cy="6322695"/>
        </p:xfrm>
        <a:graphic>
          <a:graphicData uri="http://schemas.openxmlformats.org/drawingml/2006/table">
            <a:tbl>
              <a:tblPr/>
              <a:tblGrid>
                <a:gridCol w="1163955"/>
                <a:gridCol w="7950834"/>
              </a:tblGrid>
              <a:tr h="4997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112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选</a:t>
                      </a:r>
                      <a:r>
                        <a:rPr sz="23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项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33775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意</a:t>
                      </a:r>
                      <a:r>
                        <a:rPr sz="23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23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义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2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0045" algn="l" rtl="0" eaLnBrk="0">
                        <a:lnSpc>
                          <a:spcPts val="2791"/>
                        </a:lnSpc>
                        <a:tabLst/>
                      </a:pPr>
                      <a:r>
                        <a:rPr sz="47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-a</a:t>
                      </a:r>
                      <a:endParaRPr sz="4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indent="698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300" b="1" kern="0" spc="1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列出所有文件及目录（</a:t>
                      </a:r>
                      <a:r>
                        <a:rPr sz="23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Linux</a:t>
                      </a:r>
                      <a:r>
                        <a:rPr sz="2300" b="1" kern="0" spc="1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规定以点</a:t>
                      </a:r>
                      <a:r>
                        <a:rPr sz="2300" b="1" kern="0" spc="1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“</a:t>
                      </a:r>
                      <a:r>
                        <a:rPr sz="2300" b="1" kern="0" spc="1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2300" b="1" kern="0" spc="-19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300" b="1" kern="0" spc="1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”开头为隐藏文</a:t>
                      </a:r>
                      <a:r>
                        <a:rPr sz="2300" b="1" kern="0" spc="8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件，默认情况下不会列出</a:t>
                      </a:r>
                      <a:r>
                        <a:rPr sz="2300" b="1" kern="0" spc="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）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100" algn="l" rtl="0" eaLnBrk="0">
                        <a:lnSpc>
                          <a:spcPct val="7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47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-A</a:t>
                      </a:r>
                      <a:endParaRPr sz="4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85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同</a:t>
                      </a:r>
                      <a:r>
                        <a:rPr sz="2300" b="1" kern="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-a</a:t>
                      </a:r>
                      <a:r>
                        <a:rPr sz="2300" b="1" kern="0" spc="-29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300" b="1" kern="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，但不列出</a:t>
                      </a:r>
                      <a:r>
                        <a:rPr sz="2300" b="1" kern="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2300" b="1" kern="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和</a:t>
                      </a:r>
                      <a:r>
                        <a:rPr sz="2300" b="1" kern="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..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0534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-b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以八进制数字方式列出不可显示的文件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7355" algn="l" rtl="0" eaLnBrk="0">
                        <a:lnSpc>
                          <a:spcPct val="69000"/>
                        </a:lnSpc>
                        <a:tabLst/>
                      </a:pPr>
                      <a:r>
                        <a:rPr sz="47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-i</a:t>
                      </a:r>
                      <a:endParaRPr sz="4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8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列出目录时显示</a:t>
                      </a:r>
                      <a:r>
                        <a:rPr sz="2300" b="1" kern="0" spc="8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sz="2300" b="1" kern="0" spc="8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节</a:t>
                      </a:r>
                      <a:r>
                        <a:rPr sz="2300" b="1" kern="0" spc="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点信息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7355" algn="l" rtl="0" eaLnBrk="0">
                        <a:lnSpc>
                          <a:spcPct val="6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47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-l</a:t>
                      </a:r>
                      <a:endParaRPr sz="4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长格式列表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6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3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2280" algn="l" rtl="0" eaLnBrk="0">
                        <a:lnSpc>
                          <a:spcPct val="69000"/>
                        </a:lnSpc>
                        <a:tabLst/>
                      </a:pP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-F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短格式列表，文件名称后加一符号表示属性：可执行文件加</a:t>
                      </a:r>
                      <a:r>
                        <a:rPr sz="2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*</a:t>
                      </a:r>
                      <a:r>
                        <a:rPr sz="2000" b="1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</a:t>
                      </a:r>
                      <a:r>
                        <a:rPr sz="2000" kern="0" spc="-5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目录</a:t>
                      </a:r>
                      <a:r>
                        <a:rPr sz="2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190" algn="l" rtl="0" eaLnBrk="0">
                        <a:lnSpc>
                          <a:spcPts val="2767"/>
                        </a:lnSpc>
                        <a:tabLst/>
                      </a:pPr>
                      <a:r>
                        <a:rPr sz="47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-r</a:t>
                      </a:r>
                      <a:endParaRPr sz="4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6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将文件以相反排序方式列出（默认按文件名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ASCII</a:t>
                      </a:r>
                      <a:r>
                        <a:rPr sz="23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码值）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100" algn="l" rtl="0" eaLnBrk="0">
                        <a:lnSpc>
                          <a:spcPct val="6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4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-R</a:t>
                      </a:r>
                      <a:endParaRPr sz="4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0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递归列出目录及其子目录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4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300" b="1" kern="0" spc="-60" baseline="20382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《</a:t>
                      </a:r>
                      <a:r>
                        <a:rPr sz="2300" b="1" kern="0" spc="-60" baseline="20382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r>
                        <a:rPr sz="2300" b="1" kern="0" spc="-60" baseline="-29441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300" b="1" kern="0" spc="-60" baseline="20382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1400" b="1" kern="0" spc="-6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300" b="1" kern="0" spc="-60" baseline="20382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1400" b="1" kern="0" spc="-6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00" b="1" kern="0" spc="-60" baseline="20382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系</a:t>
                      </a:r>
                      <a:endParaRPr sz="2300" baseline="20382" dirty="0">
                        <a:latin typeface="STXinwei"/>
                        <a:ea typeface="STXinwei"/>
                        <a:cs typeface="STXinw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-6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统</a:t>
                      </a:r>
                      <a:r>
                        <a:rPr sz="20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按</a:t>
                      </a:r>
                      <a:r>
                        <a:rPr sz="1500" b="1" kern="0" spc="-6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与</a:t>
                      </a:r>
                      <a:r>
                        <a:rPr sz="1500" kern="0" spc="-6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            </a:t>
                      </a:r>
                      <a:r>
                        <a:rPr sz="2400" b="1" kern="0" spc="-60" baseline="-217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》</a:t>
                      </a:r>
                      <a:r>
                        <a:rPr sz="20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依</a:t>
                      </a:r>
                      <a:r>
                        <a:rPr sz="1500" b="1" kern="0" spc="-6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天</a:t>
                      </a:r>
                      <a:r>
                        <a:rPr sz="20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修</a:t>
                      </a:r>
                      <a:r>
                        <a:rPr sz="1500" b="1" kern="0" spc="-6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津</a:t>
                      </a:r>
                      <a:r>
                        <a:rPr sz="1500" kern="0" spc="-6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            </a:t>
                      </a:r>
                      <a:r>
                        <a:rPr sz="1500" b="1" kern="0" spc="-6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大</a:t>
                      </a:r>
                      <a:r>
                        <a:rPr sz="20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间</a:t>
                      </a:r>
                      <a:r>
                        <a:rPr sz="1500" b="1" kern="0" spc="-6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学</a:t>
                      </a:r>
                      <a:r>
                        <a:rPr sz="1500" kern="0" spc="-6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         </a:t>
                      </a:r>
                      <a:r>
                        <a:rPr sz="1500" kern="0" spc="-7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    </a:t>
                      </a:r>
                      <a:r>
                        <a:rPr sz="2400" b="1" kern="0" spc="-70" baseline="434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软件学院</a:t>
                      </a:r>
                      <a:r>
                        <a:rPr sz="1500" kern="0" spc="18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 </a:t>
                      </a:r>
                      <a:r>
                        <a:rPr sz="2400" b="1" kern="0" spc="-70" baseline="434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  <a:r>
                        <a:rPr sz="2400" b="1" kern="0" spc="-70" baseline="434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年</a:t>
                      </a:r>
                      <a:r>
                        <a:rPr sz="2400" b="1" kern="0" spc="-70" baseline="434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  <a:r>
                        <a:rPr sz="2400" b="1" kern="0" spc="-70" baseline="434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月</a:t>
                      </a:r>
                      <a:r>
                        <a:rPr sz="2400" b="1" kern="0" spc="-70" baseline="434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  <a:r>
                        <a:rPr sz="1500" b="1" kern="0" spc="15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70" baseline="434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日</a:t>
                      </a:r>
                      <a:r>
                        <a:rPr sz="2400" b="1" kern="0" spc="-70" baseline="434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  <a:r>
                        <a:rPr sz="2400" b="1" kern="0" spc="-70" baseline="434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时</a:t>
                      </a:r>
                      <a:r>
                        <a:rPr sz="2400" b="1" kern="0" spc="-70" baseline="434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  <a:r>
                        <a:rPr sz="2400" b="1" kern="0" spc="-70" baseline="434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分</a:t>
                      </a:r>
                      <a:r>
                        <a:rPr sz="1500" kern="0" spc="-70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             </a:t>
                      </a:r>
                      <a:r>
                        <a:rPr sz="2400" kern="0" spc="-70" baseline="10851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第</a:t>
                      </a:r>
                      <a:r>
                        <a:rPr sz="2400" b="1" kern="0" spc="-70" baseline="10851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68</a:t>
                      </a:r>
                      <a:r>
                        <a:rPr sz="2400" kern="0" spc="-70" baseline="10851" dirty="0">
                          <a:solidFill>
                            <a:srgbClr val="3333CC">
                              <a:alpha val="100000"/>
                            </a:srgbClr>
                          </a:solidFill>
                          <a:latin typeface="STXinwei"/>
                          <a:ea typeface="STXinwei"/>
                          <a:cs typeface="STXinwei"/>
                        </a:rPr>
                        <a:t>页</a:t>
                      </a:r>
                      <a:endParaRPr sz="2400" baseline="10851" dirty="0">
                        <a:latin typeface="STXinwei"/>
                        <a:ea typeface="STXinwei"/>
                        <a:cs typeface="STXinw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82" name="picture 2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43841" y="6554266"/>
            <a:ext cx="294132" cy="297065"/>
          </a:xfrm>
          <a:prstGeom prst="rect">
            <a:avLst/>
          </a:prstGeom>
        </p:spPr>
      </p:pic>
      <p:pic>
        <p:nvPicPr>
          <p:cNvPr id="284" name="picture 2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338991" y="6554266"/>
            <a:ext cx="292912" cy="297065"/>
          </a:xfrm>
          <a:prstGeom prst="rect">
            <a:avLst/>
          </a:prstGeom>
        </p:spPr>
      </p:pic>
      <p:pic>
        <p:nvPicPr>
          <p:cNvPr id="286" name="picture 2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563226" y="6554266"/>
            <a:ext cx="296519" cy="297065"/>
          </a:xfrm>
          <a:prstGeom prst="rect">
            <a:avLst/>
          </a:prstGeom>
        </p:spPr>
      </p:pic>
      <p:pic>
        <p:nvPicPr>
          <p:cNvPr id="288" name="picture 2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271431" y="6554266"/>
            <a:ext cx="282244" cy="297065"/>
          </a:xfrm>
          <a:prstGeom prst="rect">
            <a:avLst/>
          </a:prstGeom>
        </p:spPr>
      </p:pic>
      <p:pic>
        <p:nvPicPr>
          <p:cNvPr id="290" name="picture 2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036851" y="6554266"/>
            <a:ext cx="294132" cy="297065"/>
          </a:xfrm>
          <a:prstGeom prst="rect">
            <a:avLst/>
          </a:prstGeom>
        </p:spPr>
      </p:pic>
      <p:pic>
        <p:nvPicPr>
          <p:cNvPr id="292" name="picture 29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734439" y="6554266"/>
            <a:ext cx="293649" cy="297065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53084" y="6531813"/>
            <a:ext cx="191998" cy="319519"/>
          </a:xfrm>
          <a:prstGeom prst="rect">
            <a:avLst/>
          </a:prstGeom>
        </p:spPr>
      </p:pic>
      <p:sp>
        <p:nvSpPr>
          <p:cNvPr id="296" name="textbox 296"/>
          <p:cNvSpPr/>
          <p:nvPr/>
        </p:nvSpPr>
        <p:spPr>
          <a:xfrm>
            <a:off x="88265" y="-44450"/>
            <a:ext cx="255651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4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参数说明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box 298"/>
          <p:cNvSpPr/>
          <p:nvPr/>
        </p:nvSpPr>
        <p:spPr>
          <a:xfrm>
            <a:off x="256222" y="695337"/>
            <a:ext cx="8740775" cy="5135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2600" indent="-155575" algn="l" rtl="0" eaLnBrk="0">
              <a:lnSpc>
                <a:spcPct val="94000"/>
              </a:lnSpc>
              <a:tabLst>
                <a:tab pos="594359" algn="l"/>
              </a:tabLst>
            </a:pP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-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ltr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3500" b="1" kern="0" spc="5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列出当前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目录下所有名字以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开头的文件，按修改时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间倒排序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2600" indent="-155575" algn="l" rtl="0" eaLnBrk="0">
              <a:lnSpc>
                <a:spcPct val="94000"/>
              </a:lnSpc>
              <a:spcBef>
                <a:spcPts val="1061"/>
              </a:spcBef>
              <a:tabLst>
                <a:tab pos="467359" algn="l"/>
              </a:tabLst>
            </a:pP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-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lR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递归列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目录及其子目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录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7025" algn="l" rtl="0" eaLnBrk="0">
              <a:lnSpc>
                <a:spcPct val="86000"/>
              </a:lnSpc>
              <a:spcBef>
                <a:spcPts val="1059"/>
              </a:spcBef>
              <a:tabLst>
                <a:tab pos="467359" algn="l"/>
              </a:tabLst>
            </a:pP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r>
              <a:rPr sz="3500" b="1" kern="0" spc="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-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</a:t>
            </a:r>
            <a:r>
              <a:rPr sz="3500" b="1" kern="0" spc="2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.*   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列所有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名以点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开头的文件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7025" algn="l" rtl="0" eaLnBrk="0">
              <a:lnSpc>
                <a:spcPct val="86000"/>
              </a:lnSpc>
              <a:spcBef>
                <a:spcPts val="1050"/>
              </a:spcBef>
              <a:tabLst>
                <a:tab pos="467359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-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AF</a:t>
            </a:r>
            <a:r>
              <a:rPr sz="3500" b="1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列当前目录，名后属性字符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81330" indent="-154304" algn="l" rtl="0" eaLnBrk="0">
              <a:lnSpc>
                <a:spcPct val="94000"/>
              </a:lnSpc>
              <a:spcBef>
                <a:spcPts val="1"/>
              </a:spcBef>
              <a:tabLst>
                <a:tab pos="467359" algn="l"/>
              </a:tabLst>
            </a:pP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-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lid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usr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sda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以长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格式列文件且输出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节点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号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300" name="picture 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8922" y="4889182"/>
            <a:ext cx="314325" cy="314325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8922" y="4137342"/>
            <a:ext cx="314325" cy="314325"/>
          </a:xfrm>
          <a:prstGeom prst="rect">
            <a:avLst/>
          </a:prstGeom>
        </p:spPr>
      </p:pic>
      <p:pic>
        <p:nvPicPr>
          <p:cNvPr id="304" name="picture 3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8922" y="3385502"/>
            <a:ext cx="314325" cy="314325"/>
          </a:xfrm>
          <a:prstGeom prst="rect">
            <a:avLst/>
          </a:prstGeom>
        </p:spPr>
      </p:pic>
      <p:pic>
        <p:nvPicPr>
          <p:cNvPr id="306" name="picture 3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8922" y="2085022"/>
            <a:ext cx="314325" cy="314325"/>
          </a:xfrm>
          <a:prstGeom prst="rect">
            <a:avLst/>
          </a:prstGeom>
        </p:spPr>
      </p:pic>
      <p:pic>
        <p:nvPicPr>
          <p:cNvPr id="308" name="picture 3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8922" y="784542"/>
            <a:ext cx="314325" cy="314325"/>
          </a:xfrm>
          <a:prstGeom prst="rect">
            <a:avLst/>
          </a:prstGeom>
        </p:spPr>
      </p:pic>
      <p:sp>
        <p:nvSpPr>
          <p:cNvPr id="310" name="textbox 31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69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94208" y="-44450"/>
            <a:ext cx="163512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1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示例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314" name="picture 3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box 316"/>
          <p:cNvSpPr/>
          <p:nvPr/>
        </p:nvSpPr>
        <p:spPr>
          <a:xfrm>
            <a:off x="111760" y="615200"/>
            <a:ext cx="8842375" cy="540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6000"/>
              </a:lnSpc>
              <a:tabLst>
                <a:tab pos="488950" algn="l"/>
              </a:tabLst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-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lid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usr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sda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的有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以下内容：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6689" algn="l" rtl="0" eaLnBrk="0">
              <a:lnSpc>
                <a:spcPct val="83000"/>
              </a:lnSpc>
              <a:spcBef>
                <a:spcPts val="603"/>
              </a:spcBef>
              <a:tabLst>
                <a:tab pos="46291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000" u="sng" kern="0" spc="-8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2039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2000" u="sng" kern="0" spc="-9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b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u="sng" kern="0" spc="-9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rw-rw---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.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2000" u="sng" kern="0" spc="-7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u="sng" kern="0" spc="-9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root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u="sng" kern="0" spc="-8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disk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2000" u="sng" kern="0" spc="-9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8,</a:t>
            </a:r>
            <a:r>
              <a:rPr sz="2000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Mar</a:t>
            </a:r>
            <a:r>
              <a:rPr sz="2000" u="sng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</a:t>
            </a:r>
            <a:r>
              <a:rPr sz="2000" u="sng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09:06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u="sng" kern="0" spc="-9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/dev/sda</a:t>
            </a:r>
            <a:endParaRPr sz="2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6689" algn="l" rtl="0" eaLnBrk="0">
              <a:lnSpc>
                <a:spcPct val="83000"/>
              </a:lnSpc>
              <a:spcBef>
                <a:spcPts val="604"/>
              </a:spcBef>
              <a:tabLst>
                <a:tab pos="46291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000" u="sng" kern="0" spc="-9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651522</a:t>
            </a:r>
            <a:r>
              <a:rPr sz="2000" u="sng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</a:t>
            </a:r>
            <a:r>
              <a:rPr sz="2000" u="sng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rwxr-x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r-x.</a:t>
            </a:r>
            <a:r>
              <a:rPr sz="2000" u="sng" kern="0" spc="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141</a:t>
            </a:r>
            <a:r>
              <a:rPr sz="2000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root</a:t>
            </a:r>
            <a:r>
              <a:rPr sz="2000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root</a:t>
            </a:r>
            <a:r>
              <a:rPr sz="2000" u="sng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2288</a:t>
            </a:r>
            <a:r>
              <a:rPr sz="2000" u="sng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Mar</a:t>
            </a:r>
            <a:r>
              <a:rPr sz="2000" u="sng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</a:t>
            </a:r>
            <a:r>
              <a:rPr sz="2000" u="sng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09:08</a:t>
            </a:r>
            <a:r>
              <a:rPr sz="2000" u="sng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/etc</a:t>
            </a:r>
            <a:endParaRPr sz="2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6689" algn="l" rtl="0" eaLnBrk="0">
              <a:lnSpc>
                <a:spcPct val="83000"/>
              </a:lnSpc>
              <a:spcBef>
                <a:spcPts val="604"/>
              </a:spcBef>
              <a:tabLst>
                <a:tab pos="46291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000" u="sng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894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2000" u="sng" kern="0" spc="-9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u="sng" kern="0" spc="-9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rwxr-x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r-x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.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2000" u="sng" kern="0" spc="-7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u="sng" kern="0" spc="-9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root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u="sng" kern="0" spc="-9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root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2000" u="sng" kern="0" spc="-7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14159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Nov</a:t>
            </a:r>
            <a:r>
              <a:rPr sz="2000" u="sng" kern="0" spc="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2000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01:21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u="sng" kern="0" spc="-9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u="sng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/usr/bin/ls</a:t>
            </a:r>
            <a:endParaRPr sz="2000" dirty="0">
              <a:latin typeface="SimSun"/>
              <a:ea typeface="SimSun"/>
              <a:cs typeface="SimSun"/>
            </a:endParaRPr>
          </a:p>
          <a:p>
            <a:pPr marL="38100" indent="444500" algn="l" rtl="0" eaLnBrk="0">
              <a:lnSpc>
                <a:spcPct val="110000"/>
              </a:lnSpc>
              <a:spcBef>
                <a:spcPts val="2230"/>
              </a:spcBef>
              <a:tabLst/>
            </a:pPr>
            <a:r>
              <a:rPr sz="44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①</a:t>
            </a:r>
            <a:r>
              <a:rPr sz="4400" kern="0" spc="-9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4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4400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4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4400" kern="0" spc="9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4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④</a:t>
            </a:r>
            <a:r>
              <a:rPr sz="4400" kern="0" spc="-10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4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⑤</a:t>
            </a:r>
            <a:r>
              <a:rPr sz="4400" kern="0" spc="-10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4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⑥</a:t>
            </a:r>
            <a:r>
              <a:rPr sz="4400" kern="0" spc="-10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4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⑦</a:t>
            </a:r>
            <a:r>
              <a:rPr sz="4400" kern="0" spc="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44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⑧</a:t>
            </a:r>
            <a:r>
              <a:rPr sz="4400" kern="0" spc="9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4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⑨</a:t>
            </a:r>
            <a:r>
              <a:rPr sz="4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各域的意义是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：①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节点号；②文件类型</a:t>
            </a:r>
            <a:r>
              <a:rPr sz="3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;</a:t>
            </a:r>
            <a:r>
              <a:rPr sz="3900" kern="0" spc="1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③权限；④链接数；⑤主；⑥组；⑦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3815" indent="-13970" algn="l" rtl="0" eaLnBrk="0">
              <a:lnSpc>
                <a:spcPct val="94000"/>
              </a:lnSpc>
              <a:spcBef>
                <a:spcPts val="308"/>
              </a:spcBef>
              <a:tabLst/>
            </a:pP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普通文件为长度，特别文件为主次设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备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号；⑧最后修改时间；⑨文件名。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pic>
        <p:nvPicPr>
          <p:cNvPr id="318" name="picture 3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892425"/>
            <a:ext cx="383540" cy="384175"/>
          </a:xfrm>
          <a:prstGeom prst="rect">
            <a:avLst/>
          </a:prstGeom>
        </p:spPr>
      </p:pic>
      <p:pic>
        <p:nvPicPr>
          <p:cNvPr id="320" name="picture 3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2306320"/>
            <a:ext cx="174624" cy="174625"/>
          </a:xfrm>
          <a:prstGeom prst="rect">
            <a:avLst/>
          </a:prstGeom>
        </p:spPr>
      </p:pic>
      <p:pic>
        <p:nvPicPr>
          <p:cNvPr id="322" name="picture 3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1798320"/>
            <a:ext cx="174624" cy="174625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1290320"/>
            <a:ext cx="174624" cy="174625"/>
          </a:xfrm>
          <a:prstGeom prst="rect">
            <a:avLst/>
          </a:prstGeom>
        </p:spPr>
      </p:pic>
      <p:pic>
        <p:nvPicPr>
          <p:cNvPr id="326" name="picture 3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24460" y="686434"/>
            <a:ext cx="243840" cy="244475"/>
          </a:xfrm>
          <a:prstGeom prst="rect">
            <a:avLst/>
          </a:prstGeom>
        </p:spPr>
      </p:pic>
      <p:sp>
        <p:nvSpPr>
          <p:cNvPr id="328" name="textbox 32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70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85521" y="-44450"/>
            <a:ext cx="489902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5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的输出与文件属性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332" name="picture 3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box 334"/>
          <p:cNvSpPr/>
          <p:nvPr/>
        </p:nvSpPr>
        <p:spPr>
          <a:xfrm>
            <a:off x="256222" y="699870"/>
            <a:ext cx="8642350" cy="5048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1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1950" algn="l" rtl="0" eaLnBrk="0">
              <a:lnSpc>
                <a:spcPct val="87000"/>
              </a:lnSpc>
              <a:tabLst>
                <a:tab pos="503555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9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）功能及用法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80059" indent="-118745" algn="l" rtl="0" eaLnBrk="0">
              <a:lnSpc>
                <a:spcPct val="99000"/>
              </a:lnSpc>
              <a:spcBef>
                <a:spcPts val="779"/>
              </a:spcBef>
              <a:tabLst>
                <a:tab pos="490855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功能是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分屏显示文件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的内容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UNIX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系统中</a:t>
            </a:r>
            <a:r>
              <a:rPr sz="3900" b="1" kern="0" spc="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分页命令家族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中的一员。能使用户在浏览文件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的时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候可以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一次一屏或一行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进行，这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在阅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读大文件时特别有用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。用法：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396240" algn="l" rtl="0" eaLnBrk="0">
              <a:lnSpc>
                <a:spcPct val="76000"/>
              </a:lnSpc>
              <a:spcBef>
                <a:spcPts val="1372"/>
              </a:spcBef>
              <a:tabLst>
                <a:tab pos="497840" algn="l"/>
              </a:tabLst>
            </a:pP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4400" b="1" kern="0" spc="-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4400" b="1" kern="0" spc="3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[-dflpcsu] -line</a:t>
            </a:r>
            <a:r>
              <a:rPr sz="44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endParaRPr sz="4400" dirty="0">
              <a:latin typeface="Arial"/>
              <a:ea typeface="Arial"/>
              <a:cs typeface="Arial"/>
            </a:endParaRPr>
          </a:p>
          <a:p>
            <a:pPr marL="502919" algn="l" rtl="0" eaLnBrk="0">
              <a:lnSpc>
                <a:spcPts val="6177"/>
              </a:lnSpc>
              <a:tabLst/>
            </a:pPr>
            <a:r>
              <a:rPr sz="44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[+linenum</a:t>
            </a:r>
            <a:r>
              <a:rPr sz="4400" b="1" kern="0" spc="4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 +/pattern] files</a:t>
            </a:r>
            <a:endParaRPr sz="4400" dirty="0">
              <a:latin typeface="Arial"/>
              <a:ea typeface="Arial"/>
              <a:cs typeface="Arial"/>
            </a:endParaRPr>
          </a:p>
        </p:txBody>
      </p:sp>
      <p:pic>
        <p:nvPicPr>
          <p:cNvPr id="336" name="picture 3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8922" y="4467362"/>
            <a:ext cx="383540" cy="372453"/>
          </a:xfrm>
          <a:prstGeom prst="rect">
            <a:avLst/>
          </a:prstGeom>
        </p:spPr>
      </p:pic>
      <p:pic>
        <p:nvPicPr>
          <p:cNvPr id="338" name="picture 3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68922" y="1406842"/>
            <a:ext cx="349250" cy="349250"/>
          </a:xfrm>
          <a:prstGeom prst="rect">
            <a:avLst/>
          </a:prstGeom>
        </p:spPr>
      </p:pic>
      <p:pic>
        <p:nvPicPr>
          <p:cNvPr id="340" name="picture 3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68922" y="797242"/>
            <a:ext cx="349250" cy="349250"/>
          </a:xfrm>
          <a:prstGeom prst="rect">
            <a:avLst/>
          </a:prstGeom>
        </p:spPr>
      </p:pic>
      <p:sp>
        <p:nvSpPr>
          <p:cNvPr id="342" name="textbox 342"/>
          <p:cNvSpPr/>
          <p:nvPr/>
        </p:nvSpPr>
        <p:spPr>
          <a:xfrm>
            <a:off x="88265" y="-44450"/>
            <a:ext cx="638175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-1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2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分屏显示文件内</a:t>
            </a:r>
            <a:r>
              <a:rPr sz="3500" kern="0" spc="-3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容（</a:t>
            </a:r>
            <a:r>
              <a:rPr sz="3500" kern="0" spc="-3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3500" b="1" kern="0" spc="-1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344" name="textbox 34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80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346" name="picture 3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" name="table 348"/>
          <p:cNvGraphicFramePr>
            <a:graphicFrameLocks noGrp="1"/>
          </p:cNvGraphicFramePr>
          <p:nvPr/>
        </p:nvGraphicFramePr>
        <p:xfrm>
          <a:off x="173037" y="614362"/>
          <a:ext cx="8869044" cy="5853429"/>
        </p:xfrm>
        <a:graphic>
          <a:graphicData uri="http://schemas.openxmlformats.org/drawingml/2006/table">
            <a:tbl>
              <a:tblPr/>
              <a:tblGrid>
                <a:gridCol w="1813560"/>
                <a:gridCol w="7055484"/>
              </a:tblGrid>
              <a:tr h="654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77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参</a:t>
                      </a:r>
                      <a:r>
                        <a:rPr sz="3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3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4068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意</a:t>
                      </a:r>
                      <a:r>
                        <a:rPr sz="3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32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义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964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3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+/pattern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7815" indent="-209550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从第一个</a:t>
                      </a:r>
                      <a:r>
                        <a:rPr sz="32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正规表达式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pattern</a:t>
                      </a:r>
                      <a:r>
                        <a:rPr sz="3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处开始显示</a:t>
                      </a:r>
                      <a:r>
                        <a:rPr sz="3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（参见第</a:t>
                      </a:r>
                      <a:r>
                        <a:rPr sz="3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sz="3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章）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53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6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3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+linenum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从第</a:t>
                      </a:r>
                      <a:r>
                        <a:rPr sz="3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linenum</a:t>
                      </a:r>
                      <a:r>
                        <a:rPr sz="3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</a:t>
                      </a:r>
                      <a:r>
                        <a:rPr sz="32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开始</a:t>
                      </a:r>
                      <a:r>
                        <a:rPr sz="3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53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5930" algn="l" rtl="0" eaLnBrk="0">
                        <a:lnSpc>
                          <a:spcPct val="6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3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-lines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3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指定</a:t>
                      </a:r>
                      <a:r>
                        <a:rPr sz="32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满屏行数为</a:t>
                      </a:r>
                      <a:r>
                        <a:rPr sz="32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lines</a:t>
                      </a:r>
                      <a:r>
                        <a:rPr sz="3200" b="1" kern="0" spc="-4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3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，默认时</a:t>
                      </a:r>
                      <a:r>
                        <a:rPr sz="3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为</a:t>
                      </a:r>
                      <a:r>
                        <a:rPr sz="3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</a:t>
                      </a:r>
                      <a:r>
                        <a:rPr sz="3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7869" algn="l" rtl="0" eaLnBrk="0">
                        <a:lnSpc>
                          <a:spcPct val="6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3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-d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994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32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屏幕底端的默认提示</a:t>
                      </a:r>
                      <a:r>
                        <a:rPr sz="3200" kern="0" spc="-9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2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。默认提示</a:t>
                      </a:r>
                      <a:r>
                        <a:rPr sz="3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为</a:t>
                      </a:r>
                      <a:r>
                        <a:rPr sz="3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3200" kern="0" spc="-4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3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71119" algn="l" rtl="0" eaLnBrk="0">
                        <a:lnSpc>
                          <a:spcPts val="4073"/>
                        </a:lnSpc>
                        <a:tabLst/>
                      </a:pPr>
                      <a:r>
                        <a:rPr sz="3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more—(##%)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4384" algn="l" rtl="0" eaLnBrk="0">
                        <a:lnSpc>
                          <a:spcPct val="6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3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-l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88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32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忽略</a:t>
                      </a:r>
                      <a:r>
                        <a:rPr sz="32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^L</a:t>
                      </a:r>
                      <a:r>
                        <a:rPr sz="3200" b="1" kern="0" spc="-6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3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（换页）</a:t>
                      </a:r>
                      <a:r>
                        <a:rPr sz="3200" kern="0" spc="-9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。默认时遇到</a:t>
                      </a:r>
                      <a:r>
                        <a:rPr sz="3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^L</a:t>
                      </a:r>
                      <a:r>
                        <a:rPr sz="3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时会</a:t>
                      </a:r>
                      <a:r>
                        <a:rPr sz="32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暂停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16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2159" algn="l" rtl="0" eaLnBrk="0">
                        <a:lnSpc>
                          <a:spcPts val="1895"/>
                        </a:lnSpc>
                        <a:tabLst/>
                      </a:pPr>
                      <a:r>
                        <a:rPr sz="3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-s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3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压缩多个空行为一行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0" name="textbox 35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81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352" name="textbox 352"/>
          <p:cNvSpPr/>
          <p:nvPr/>
        </p:nvSpPr>
        <p:spPr>
          <a:xfrm>
            <a:off x="88265" y="-44450"/>
            <a:ext cx="393001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4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参数与命令说明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354" name="picture 3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picture 3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graphicFrame>
        <p:nvGraphicFramePr>
          <p:cNvPr id="358" name="table 358"/>
          <p:cNvGraphicFramePr>
            <a:graphicFrameLocks noGrp="1"/>
          </p:cNvGraphicFramePr>
          <p:nvPr/>
        </p:nvGraphicFramePr>
        <p:xfrm>
          <a:off x="0" y="534987"/>
          <a:ext cx="9143365" cy="5976620"/>
        </p:xfrm>
        <a:graphic>
          <a:graphicData uri="http://schemas.openxmlformats.org/drawingml/2006/table">
            <a:tbl>
              <a:tblPr/>
              <a:tblGrid>
                <a:gridCol w="1618614"/>
                <a:gridCol w="3093085"/>
                <a:gridCol w="1430655"/>
                <a:gridCol w="3001010"/>
              </a:tblGrid>
              <a:tr h="7867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2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</a:t>
                      </a:r>
                      <a:r>
                        <a:rPr sz="3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32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令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39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3200" b="1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3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3200" b="1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11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2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</a:t>
                      </a:r>
                      <a:r>
                        <a:rPr sz="3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32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令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1860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3200" b="1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3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3200" b="1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2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1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039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3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Q/q/^C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2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32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退出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9879" algn="l" rtl="0" eaLnBrk="0">
                        <a:lnSpc>
                          <a:spcPct val="7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3200" b="1" kern="0" spc="-8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!cmd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45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3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执行</a:t>
                      </a:r>
                      <a:r>
                        <a:rPr sz="3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shell</a:t>
                      </a:r>
                      <a:r>
                        <a:rPr sz="3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2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8819" algn="l" rtl="0" eaLnBrk="0">
                        <a:lnSpc>
                          <a:spcPts val="442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3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=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9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显示当前行行号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9594" algn="l" rtl="0" eaLnBrk="0">
                        <a:lnSpc>
                          <a:spcPts val="1848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3100" b="1" kern="0" spc="-1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:n</a:t>
                      </a:r>
                      <a:endParaRPr sz="3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15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下一个文件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0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8615" algn="l" rtl="0" eaLnBrk="0">
                        <a:lnSpc>
                          <a:spcPct val="69000"/>
                        </a:lnSpc>
                        <a:tabLst/>
                      </a:pPr>
                      <a:r>
                        <a:rPr sz="32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#d/#b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57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9084" indent="-17272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3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向前</a:t>
                      </a:r>
                      <a:r>
                        <a:rPr sz="3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sz="3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后滚动</a:t>
                      </a:r>
                      <a:r>
                        <a:rPr sz="3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#</a:t>
                      </a:r>
                      <a:r>
                        <a:rPr sz="3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</a:t>
                      </a:r>
                      <a:r>
                        <a:rPr sz="3100" b="1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（</a:t>
                      </a:r>
                      <a:r>
                        <a:rPr sz="3100" b="1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#</a:t>
                      </a:r>
                      <a:r>
                        <a:rPr sz="3100" b="1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为数字）</a:t>
                      </a:r>
                      <a:endParaRPr sz="3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9594" algn="l" rtl="0" eaLnBrk="0">
                        <a:lnSpc>
                          <a:spcPts val="238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100" b="1" kern="0" spc="-1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:p</a:t>
                      </a:r>
                      <a:endParaRPr sz="3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3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上一个文件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6405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3200" b="1" kern="0" spc="-1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空格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64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32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向前翻一屏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4680" algn="l" rtl="0" eaLnBrk="0">
                        <a:lnSpc>
                          <a:spcPct val="7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32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:f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indent="7620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3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显示当前文件名</a:t>
                      </a:r>
                      <a:r>
                        <a:rPr sz="3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和行号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2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200" b="1" kern="0" spc="-2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回车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6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2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向前翻一行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3200" b="1" kern="0" spc="-1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^L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重显本屏内容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0390" algn="l" rtl="0" eaLnBrk="0">
                        <a:lnSpc>
                          <a:spcPct val="69000"/>
                        </a:lnSpc>
                        <a:tabLst/>
                      </a:pPr>
                      <a:r>
                        <a:rPr sz="32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?/h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710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3200" b="1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帮助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3415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900" b="1" kern="0" spc="10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3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重复上一个命令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0" name="textbox 360"/>
          <p:cNvSpPr/>
          <p:nvPr/>
        </p:nvSpPr>
        <p:spPr>
          <a:xfrm>
            <a:off x="105181" y="-44450"/>
            <a:ext cx="615060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命令的部分屏幕操作命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令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362" name="textbox 36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82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box 364"/>
          <p:cNvSpPr/>
          <p:nvPr/>
        </p:nvSpPr>
        <p:spPr>
          <a:xfrm>
            <a:off x="534034" y="797800"/>
            <a:ext cx="8027034" cy="4946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40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7840" indent="-14604" algn="l" rtl="0" eaLnBrk="0">
              <a:lnSpc>
                <a:spcPct val="93000"/>
              </a:lnSpc>
              <a:tabLst>
                <a:tab pos="680084" algn="l"/>
              </a:tabLst>
            </a:pP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53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53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53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passwd</a:t>
            </a:r>
            <a:r>
              <a:rPr sz="53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#</a:t>
            </a:r>
            <a:r>
              <a:rPr sz="53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分屏显示</a:t>
            </a:r>
            <a:r>
              <a:rPr sz="53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53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passwd</a:t>
            </a:r>
            <a:r>
              <a:rPr sz="53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53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内容</a:t>
            </a:r>
            <a:endParaRPr sz="5300" dirty="0">
              <a:latin typeface="SimSun"/>
              <a:ea typeface="SimSun"/>
              <a:cs typeface="SimSun"/>
            </a:endParaRPr>
          </a:p>
          <a:p>
            <a:pPr marL="548640" indent="-59055" algn="l" rtl="0" eaLnBrk="0">
              <a:lnSpc>
                <a:spcPct val="107000"/>
              </a:lnSpc>
              <a:spcBef>
                <a:spcPts val="1684"/>
              </a:spcBef>
              <a:tabLst/>
            </a:pPr>
            <a:r>
              <a:rPr sz="53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53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 -l /dev</a:t>
            </a:r>
            <a:r>
              <a:rPr sz="5300" b="1" kern="0" spc="4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3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5300" b="1" kern="0" spc="3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3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</a:t>
            </a:r>
            <a:r>
              <a:rPr sz="5300" b="1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      </a:t>
            </a:r>
            <a:r>
              <a:rPr sz="53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53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列</a:t>
            </a:r>
            <a:r>
              <a:rPr sz="53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出系统设备目录并</a:t>
            </a:r>
            <a:r>
              <a:rPr sz="53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通过</a:t>
            </a:r>
            <a:endParaRPr sz="5300" dirty="0">
              <a:latin typeface="SimSun"/>
              <a:ea typeface="SimSun"/>
              <a:cs typeface="SimSun"/>
            </a:endParaRPr>
          </a:p>
          <a:p>
            <a:pPr marL="505459" algn="l" rtl="0" eaLnBrk="0">
              <a:lnSpc>
                <a:spcPct val="85000"/>
              </a:lnSpc>
              <a:spcBef>
                <a:spcPts val="376"/>
              </a:spcBef>
              <a:tabLst/>
            </a:pP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53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分屏显示</a:t>
            </a:r>
            <a:endParaRPr sz="5300" dirty="0">
              <a:latin typeface="SimSun"/>
              <a:ea typeface="SimSun"/>
              <a:cs typeface="SimSun"/>
            </a:endParaRPr>
          </a:p>
        </p:txBody>
      </p:sp>
      <p:pic>
        <p:nvPicPr>
          <p:cNvPr id="366" name="picture 3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3515042"/>
            <a:ext cx="471169" cy="471170"/>
          </a:xfrm>
          <a:prstGeom prst="rect">
            <a:avLst/>
          </a:prstGeom>
        </p:spPr>
      </p:pic>
      <p:pic>
        <p:nvPicPr>
          <p:cNvPr id="368" name="picture 3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842962"/>
            <a:ext cx="471169" cy="471170"/>
          </a:xfrm>
          <a:prstGeom prst="rect">
            <a:avLst/>
          </a:prstGeom>
        </p:spPr>
      </p:pic>
      <p:sp>
        <p:nvSpPr>
          <p:cNvPr id="370" name="textbox 37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83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372" name="textbox 372"/>
          <p:cNvSpPr/>
          <p:nvPr/>
        </p:nvSpPr>
        <p:spPr>
          <a:xfrm>
            <a:off x="94208" y="-44450"/>
            <a:ext cx="255079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2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应用举例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374" name="picture 3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box 376"/>
          <p:cNvSpPr/>
          <p:nvPr/>
        </p:nvSpPr>
        <p:spPr>
          <a:xfrm>
            <a:off x="184785" y="699870"/>
            <a:ext cx="8862694" cy="5003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45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5140" indent="-123189" algn="l" rtl="0" eaLnBrk="0">
              <a:lnSpc>
                <a:spcPct val="97000"/>
              </a:lnSpc>
              <a:tabLst>
                <a:tab pos="499744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less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命令和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一样都是分页处理命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令。它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改进了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中的一些功能</a:t>
            </a:r>
            <a:r>
              <a:rPr sz="3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3900" kern="0" spc="1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并又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添加了许多其他特色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，例如，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83234" indent="3810" algn="l" rtl="0" eaLnBrk="0">
              <a:lnSpc>
                <a:spcPct val="97000"/>
              </a:lnSpc>
              <a:spcBef>
                <a:spcPts val="782"/>
              </a:spcBef>
              <a:tabLst/>
            </a:pPr>
            <a:r>
              <a:rPr sz="39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可以使用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PgUp</a:t>
            </a:r>
            <a:r>
              <a:rPr sz="3900" b="1" kern="0" spc="1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PgDn</a:t>
            </a:r>
            <a:r>
              <a:rPr sz="39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翻页，使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HOME</a:t>
            </a:r>
            <a:r>
              <a:rPr sz="39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END</a:t>
            </a:r>
            <a:r>
              <a:rPr sz="39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直接跳到文件开始或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结</a:t>
            </a: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尾等。</a:t>
            </a:r>
            <a:endParaRPr sz="3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8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2600" indent="-121285" algn="l" rtl="0" eaLnBrk="0">
              <a:lnSpc>
                <a:spcPct val="94000"/>
              </a:lnSpc>
              <a:tabLst/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通过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less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分屏显示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目录内容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的示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例如下：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pic>
        <p:nvPicPr>
          <p:cNvPr id="378" name="picture 3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4658042"/>
            <a:ext cx="349250" cy="349250"/>
          </a:xfrm>
          <a:prstGeom prst="rect">
            <a:avLst/>
          </a:prstGeom>
        </p:spPr>
      </p:pic>
      <p:pic>
        <p:nvPicPr>
          <p:cNvPr id="380" name="picture 3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797242"/>
            <a:ext cx="349250" cy="349250"/>
          </a:xfrm>
          <a:prstGeom prst="rect">
            <a:avLst/>
          </a:prstGeom>
        </p:spPr>
      </p:pic>
      <p:sp>
        <p:nvSpPr>
          <p:cNvPr id="382" name="textbox 382"/>
          <p:cNvSpPr/>
          <p:nvPr/>
        </p:nvSpPr>
        <p:spPr>
          <a:xfrm>
            <a:off x="80543" y="5883627"/>
            <a:ext cx="8985250" cy="957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6090" algn="l" rtl="0" eaLnBrk="0">
              <a:lnSpc>
                <a:spcPts val="5507"/>
              </a:lnSpc>
              <a:tabLst>
                <a:tab pos="603884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r>
              <a:rPr sz="3900" b="1" kern="0" spc="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-l /dev</a:t>
            </a:r>
            <a:r>
              <a:rPr sz="3900" b="1" kern="0" spc="3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3900" b="1" kern="0" spc="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less</a:t>
            </a:r>
            <a:endParaRPr sz="3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19"/>
              </a:spcBef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84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384" name="picture 3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6073685"/>
            <a:ext cx="349250" cy="336432"/>
          </a:xfrm>
          <a:prstGeom prst="rect">
            <a:avLst/>
          </a:prstGeom>
        </p:spPr>
      </p:pic>
      <p:sp>
        <p:nvSpPr>
          <p:cNvPr id="386" name="textbox 386"/>
          <p:cNvSpPr/>
          <p:nvPr/>
        </p:nvSpPr>
        <p:spPr>
          <a:xfrm>
            <a:off x="94208" y="-44450"/>
            <a:ext cx="5271134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3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使用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less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命令浏览文件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388" name="picture 3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box 390"/>
          <p:cNvSpPr/>
          <p:nvPr/>
        </p:nvSpPr>
        <p:spPr>
          <a:xfrm>
            <a:off x="184785" y="550874"/>
            <a:ext cx="8785225" cy="5623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9425" indent="-152400" algn="l" rtl="0" eaLnBrk="0">
              <a:lnSpc>
                <a:spcPct val="97000"/>
              </a:lnSpc>
              <a:tabLst/>
            </a:pPr>
            <a:r>
              <a:rPr sz="35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命令模式：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当进入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时，处在命令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模式。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在此模式下，可通过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命令对文件内容进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行处理，也可通过插入命令进入编辑模式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1330" indent="-154304" algn="l" rtl="0" eaLnBrk="0">
              <a:lnSpc>
                <a:spcPct val="97000"/>
              </a:lnSpc>
              <a:spcBef>
                <a:spcPts val="759"/>
              </a:spcBef>
              <a:tabLst>
                <a:tab pos="484505" algn="l"/>
              </a:tabLst>
            </a:pPr>
            <a:r>
              <a:rPr sz="35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编辑模式：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可在命令模式下通过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3500" b="1" kern="0" spc="-5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3500" b="1" kern="0" spc="-5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3500" kern="0" spc="8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3500" b="1" kern="0" spc="-5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3500" b="1" kern="0" spc="-5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等命令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进入编辑模式。也可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通过按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Esc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键返回命令模式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8315" indent="-161289" algn="l" rtl="0" eaLnBrk="0">
              <a:lnSpc>
                <a:spcPct val="97000"/>
              </a:lnSpc>
              <a:spcBef>
                <a:spcPts val="719"/>
              </a:spcBef>
              <a:tabLst>
                <a:tab pos="479425" algn="l"/>
              </a:tabLst>
            </a:pPr>
            <a:r>
              <a:rPr sz="35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命令项模式或叫底行模式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：在命令模式下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3500" kern="0" spc="10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用户输入冒号“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3500" b="1" kern="0" spc="-4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”后，光标会跳到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底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行，输入相关命令后可完成指定操作。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466090" algn="l" rtl="0" eaLnBrk="0">
              <a:lnSpc>
                <a:spcPct val="80000"/>
              </a:lnSpc>
              <a:spcBef>
                <a:spcPts val="4"/>
              </a:spcBef>
              <a:tabLst/>
            </a:pPr>
            <a:r>
              <a:rPr sz="4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</a:t>
            </a:r>
            <a:r>
              <a:rPr sz="4700" b="1" kern="0" spc="3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 options</a:t>
            </a:r>
            <a:r>
              <a:rPr sz="4700" b="1" kern="0" spc="1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4700" b="1" kern="0" spc="2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4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 fil</a:t>
            </a:r>
            <a:r>
              <a:rPr sz="47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sz="4700" b="1" kern="0" spc="1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7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endParaRPr sz="4700" dirty="0">
              <a:latin typeface="Arial"/>
              <a:ea typeface="Arial"/>
              <a:cs typeface="Arial"/>
            </a:endParaRPr>
          </a:p>
        </p:txBody>
      </p:sp>
      <p:pic>
        <p:nvPicPr>
          <p:cNvPr id="392" name="picture 3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5616575"/>
            <a:ext cx="419100" cy="419100"/>
          </a:xfrm>
          <a:prstGeom prst="rect">
            <a:avLst/>
          </a:prstGeom>
        </p:spPr>
      </p:pic>
      <p:pic>
        <p:nvPicPr>
          <p:cNvPr id="394" name="picture 3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7485" y="3931284"/>
            <a:ext cx="314325" cy="314325"/>
          </a:xfrm>
          <a:prstGeom prst="rect">
            <a:avLst/>
          </a:prstGeom>
        </p:spPr>
      </p:pic>
      <p:pic>
        <p:nvPicPr>
          <p:cNvPr id="396" name="picture 3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7485" y="2286000"/>
            <a:ext cx="314325" cy="314325"/>
          </a:xfrm>
          <a:prstGeom prst="rect">
            <a:avLst/>
          </a:prstGeom>
        </p:spPr>
      </p:pic>
      <p:pic>
        <p:nvPicPr>
          <p:cNvPr id="398" name="picture 3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7485" y="640079"/>
            <a:ext cx="314325" cy="314325"/>
          </a:xfrm>
          <a:prstGeom prst="rect">
            <a:avLst/>
          </a:prstGeom>
        </p:spPr>
      </p:pic>
      <p:sp>
        <p:nvSpPr>
          <p:cNvPr id="400" name="textbox 40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96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402" name="textbox 402"/>
          <p:cNvSpPr/>
          <p:nvPr/>
        </p:nvSpPr>
        <p:spPr>
          <a:xfrm>
            <a:off x="79121" y="-44450"/>
            <a:ext cx="3975734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</a:t>
            </a:r>
            <a:r>
              <a:rPr sz="3500" b="1" kern="0" spc="-2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有三种</a:t>
            </a:r>
            <a:r>
              <a:rPr sz="3500" kern="0" spc="-4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工</a:t>
            </a:r>
            <a:r>
              <a:rPr sz="3500" kern="0" spc="-4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作模式：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404" name="picture 4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picture 4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graphicFrame>
        <p:nvGraphicFramePr>
          <p:cNvPr id="408" name="table 408"/>
          <p:cNvGraphicFramePr>
            <a:graphicFrameLocks noGrp="1"/>
          </p:cNvGraphicFramePr>
          <p:nvPr/>
        </p:nvGraphicFramePr>
        <p:xfrm>
          <a:off x="0" y="469900"/>
          <a:ext cx="9143365" cy="6094730"/>
        </p:xfrm>
        <a:graphic>
          <a:graphicData uri="http://schemas.openxmlformats.org/drawingml/2006/table">
            <a:tbl>
              <a:tblPr/>
              <a:tblGrid>
                <a:gridCol w="1549400"/>
                <a:gridCol w="7593965"/>
              </a:tblGrid>
              <a:tr h="438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180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选项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8957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2700" kern="0" spc="-4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r>
                        <a:rPr sz="2700" kern="0" spc="-5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描</a:t>
                      </a:r>
                      <a:r>
                        <a:rPr sz="2700" kern="0" spc="-5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述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1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6715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7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[files]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被编辑的文件名。不提供时，打开一个无名文件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4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77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b="1" kern="0" spc="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+[#]</a:t>
                      </a:r>
                      <a:r>
                        <a:rPr sz="2700" b="1" kern="0" spc="1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85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indent="-952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进入</a:t>
                      </a: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</a:t>
                      </a:r>
                      <a:r>
                        <a:rPr sz="2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后光标直接定位到第</a:t>
                      </a:r>
                      <a:r>
                        <a:rPr sz="2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#</a:t>
                      </a:r>
                      <a:r>
                        <a:rPr sz="2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行首，若不指定</a:t>
                      </a:r>
                      <a:r>
                        <a:rPr sz="2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#</a:t>
                      </a:r>
                      <a:r>
                        <a:rPr sz="27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</a:t>
                      </a:r>
                      <a:r>
                        <a:rPr sz="2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则光标定位到</a:t>
                      </a:r>
                      <a:r>
                        <a:rPr sz="27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末行首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7004" algn="l" rtl="0" eaLnBrk="0">
                        <a:lnSpc>
                          <a:spcPct val="7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b="1" kern="0" spc="1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+/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patter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406400" algn="l" rtl="0" eaLnBrk="0">
                        <a:lnSpc>
                          <a:spcPct val="86000"/>
                        </a:lnSpc>
                        <a:spcBef>
                          <a:spcPts val="15"/>
                        </a:spcBef>
                        <a:tabLst/>
                      </a:pPr>
                      <a:r>
                        <a:rPr sz="27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sz="2700" b="1" kern="0" spc="1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9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从指定的模式匹配行行首处</a:t>
                      </a:r>
                      <a:r>
                        <a:rPr sz="2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开始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4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7194" algn="l" rtl="0" eaLnBrk="0">
                        <a:lnSpc>
                          <a:spcPct val="7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b="1" kern="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-r/-L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858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455" indent="381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7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列出当前目录内所有因</a:t>
                      </a: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</a:t>
                      </a:r>
                      <a:r>
                        <a:rPr sz="27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非正</a:t>
                      </a:r>
                      <a:r>
                        <a:rPr sz="2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常退出而残留的交</a:t>
                      </a:r>
                      <a:r>
                        <a:rPr sz="2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换文件，以便恢复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4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1194" algn="l" rtl="0" eaLnBrk="0">
                        <a:lnSpc>
                          <a:spcPts val="158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-r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4" algn="l" rtl="0" eaLnBrk="0">
                        <a:lnSpc>
                          <a:spcPct val="80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&lt;.*.</a:t>
                      </a: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swp</a:t>
                      </a:r>
                      <a:r>
                        <a:rPr sz="2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&gt;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从交换文件</a:t>
                      </a:r>
                      <a:r>
                        <a:rPr sz="2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.*.</a:t>
                      </a: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swp</a:t>
                      </a:r>
                      <a:r>
                        <a:rPr sz="2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中恢复文件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5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6395" algn="l" rtl="0" eaLnBrk="0">
                        <a:lnSpc>
                          <a:spcPct val="7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700" b="1" kern="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sz="2700" b="1" kern="0" spc="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从</a:t>
                      </a: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</a:t>
                      </a:r>
                      <a:r>
                        <a:rPr sz="2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崩溃或非正常退出中恢复文件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5630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27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-R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455" indent="36830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以只读方式编辑文件。使用此参数时，被</a:t>
                      </a:r>
                      <a:r>
                        <a:rPr sz="2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编辑的</a:t>
                      </a:r>
                      <a:r>
                        <a:rPr sz="2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文件不能回存，但可</a:t>
                      </a:r>
                      <a:r>
                        <a:rPr sz="2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以另存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0" name="textbox 41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97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412" name="textbox 412"/>
          <p:cNvSpPr/>
          <p:nvPr/>
        </p:nvSpPr>
        <p:spPr>
          <a:xfrm>
            <a:off x="112953" y="-44450"/>
            <a:ext cx="253237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4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参数说明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4" name="table 414"/>
          <p:cNvGraphicFramePr>
            <a:graphicFrameLocks noGrp="1"/>
          </p:cNvGraphicFramePr>
          <p:nvPr/>
        </p:nvGraphicFramePr>
        <p:xfrm>
          <a:off x="101600" y="614362"/>
          <a:ext cx="8940165" cy="5847079"/>
        </p:xfrm>
        <a:graphic>
          <a:graphicData uri="http://schemas.openxmlformats.org/drawingml/2006/table">
            <a:tbl>
              <a:tblPr/>
              <a:tblGrid>
                <a:gridCol w="1229994"/>
                <a:gridCol w="3045460"/>
                <a:gridCol w="1274445"/>
                <a:gridCol w="3390265"/>
              </a:tblGrid>
              <a:tr h="11296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462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5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34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功能描述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67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5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34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功能描述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33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0855" algn="l" rtl="0" eaLnBrk="0">
                        <a:lnSpc>
                          <a:spcPts val="251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44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indent="-3175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删除光标处的</a:t>
                      </a:r>
                      <a:r>
                        <a:rPr sz="3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字符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784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44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indent="-5080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删除光标前的字</a:t>
                      </a:r>
                      <a:r>
                        <a:rPr sz="3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符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33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4170" algn="l" rtl="0" eaLnBrk="0">
                        <a:lnSpc>
                          <a:spcPct val="7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4400" b="1" kern="0" spc="-1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d0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indent="-6350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从光标处删除</a:t>
                      </a:r>
                      <a:r>
                        <a:rPr sz="3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到行首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1959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44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710" indent="-1270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从光标处删除到</a:t>
                      </a:r>
                      <a:r>
                        <a:rPr sz="3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行末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33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8929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4400" b="1" kern="0" spc="-1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db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755" indent="12064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删除光标到本</a:t>
                      </a:r>
                      <a:r>
                        <a:rPr sz="3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word</a:t>
                      </a:r>
                      <a:r>
                        <a:rPr sz="3500" b="1" kern="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始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1625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4400" b="1" kern="0" spc="-1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dw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indent="-1270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删除光标到下一</a:t>
                      </a:r>
                      <a:r>
                        <a:rPr sz="3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个词首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74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1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8929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4400" b="1" kern="0" spc="-1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dd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189" indent="-38734" algn="l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删除光标所在</a:t>
                      </a:r>
                      <a:r>
                        <a:rPr sz="3500" b="1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的行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1129" algn="l" rtl="0" eaLnBrk="0">
                        <a:lnSpc>
                          <a:spcPts val="3079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44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#cm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03555" algn="l" rtl="0" eaLnBrk="0">
                        <a:lnSpc>
                          <a:spcPts val="6275"/>
                        </a:lnSpc>
                        <a:tabLst/>
                      </a:pPr>
                      <a:r>
                        <a:rPr sz="44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indent="190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重复执行命令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3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cmd</a:t>
                      </a:r>
                      <a:r>
                        <a:rPr sz="3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#</a:t>
                      </a:r>
                      <a:r>
                        <a:rPr sz="3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次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6" name="textbox 41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418" name="textbox 418"/>
          <p:cNvSpPr/>
          <p:nvPr/>
        </p:nvSpPr>
        <p:spPr>
          <a:xfrm>
            <a:off x="122071" y="-44450"/>
            <a:ext cx="298068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3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（</a:t>
            </a:r>
            <a:r>
              <a:rPr sz="3500" b="1" kern="0" spc="-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-3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4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3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删除命</a:t>
            </a:r>
            <a:r>
              <a:rPr sz="3500" b="1" kern="0" spc="-1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令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420" name="picture 4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2" name="table 422"/>
          <p:cNvGraphicFramePr>
            <a:graphicFrameLocks noGrp="1"/>
          </p:cNvGraphicFramePr>
          <p:nvPr/>
        </p:nvGraphicFramePr>
        <p:xfrm>
          <a:off x="15875" y="2559050"/>
          <a:ext cx="9048115" cy="3800475"/>
        </p:xfrm>
        <a:graphic>
          <a:graphicData uri="http://schemas.openxmlformats.org/drawingml/2006/table">
            <a:tbl>
              <a:tblPr/>
              <a:tblGrid>
                <a:gridCol w="1308735"/>
                <a:gridCol w="3215004"/>
                <a:gridCol w="1343025"/>
                <a:gridCol w="3181350"/>
              </a:tblGrid>
              <a:tr h="8623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319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340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功能描述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372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功能描述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265" algn="l" rtl="0" eaLnBrk="0">
                        <a:lnSpc>
                          <a:spcPct val="6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3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432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9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光标处插入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2294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3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372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3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行首插入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59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1815" algn="l" rtl="0" eaLnBrk="0">
                        <a:lnSpc>
                          <a:spcPts val="2322"/>
                        </a:lnSpc>
                        <a:tabLst/>
                      </a:pPr>
                      <a:r>
                        <a:rPr sz="3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432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9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光标后追加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3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ct val="69000"/>
                        </a:lnSpc>
                        <a:tabLst/>
                      </a:pPr>
                      <a:r>
                        <a:rPr sz="3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6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372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行末追加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7369" algn="l" rtl="0" eaLnBrk="0">
                        <a:lnSpc>
                          <a:spcPts val="2315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3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当前行后插入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118235" algn="l" rtl="0" eaLnBrk="0">
                        <a:lnSpc>
                          <a:spcPts val="4799"/>
                        </a:lnSpc>
                        <a:tabLst/>
                      </a:pPr>
                      <a:r>
                        <a:rPr sz="3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新行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3394" algn="l" rtl="0" eaLnBrk="0">
                        <a:lnSpc>
                          <a:spcPct val="7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2584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当前行前插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38835" algn="l" rtl="0" eaLnBrk="0">
                        <a:lnSpc>
                          <a:spcPts val="4799"/>
                        </a:lnSpc>
                        <a:tabLst/>
                      </a:pPr>
                      <a:r>
                        <a:rPr sz="39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入新行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4" name="textbox 424"/>
          <p:cNvSpPr/>
          <p:nvPr/>
        </p:nvSpPr>
        <p:spPr>
          <a:xfrm>
            <a:off x="184785" y="699870"/>
            <a:ext cx="8526144" cy="1831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1950" algn="l" rtl="0" eaLnBrk="0">
              <a:lnSpc>
                <a:spcPct val="85000"/>
              </a:lnSpc>
              <a:tabLst>
                <a:tab pos="480694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39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命令模式</a:t>
            </a:r>
            <a:r>
              <a:rPr sz="39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下，输入</a:t>
            </a:r>
            <a:r>
              <a:rPr sz="3900" b="1" u="sng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3900" b="1" u="sng" kern="0" spc="-5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u="sng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900" b="1" u="sng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3900" b="1" u="sng" kern="0" spc="-6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u="sng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900" b="1" u="sng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3900" b="1" u="sng" kern="0" spc="-6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u="sng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900" b="1" u="sng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3900" b="1" u="sng" kern="0" spc="-6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u="sng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900" b="1" u="sng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endParaRPr sz="3900" dirty="0">
              <a:latin typeface="Arial"/>
              <a:ea typeface="Arial"/>
              <a:cs typeface="Arial"/>
            </a:endParaRPr>
          </a:p>
          <a:p>
            <a:pPr marL="483234" indent="1905" algn="l" rtl="0" eaLnBrk="0">
              <a:lnSpc>
                <a:spcPct val="108000"/>
              </a:lnSpc>
              <a:spcBef>
                <a:spcPts val="17"/>
              </a:spcBef>
              <a:tabLst/>
            </a:pPr>
            <a:r>
              <a:rPr sz="3900" b="1" u="sng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900" b="1" u="sng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3900" b="1" u="sng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命令进入编辑模式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，编辑完毕后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通过</a:t>
            </a:r>
            <a:r>
              <a:rPr sz="3900" b="1" u="sng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按</a:t>
            </a:r>
            <a:r>
              <a:rPr sz="3900" b="1" u="sng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Esc</a:t>
            </a:r>
            <a:r>
              <a:rPr sz="3900" b="1" u="sng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键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返回命令模式。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pic>
        <p:nvPicPr>
          <p:cNvPr id="426" name="picture 4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797242"/>
            <a:ext cx="349250" cy="349250"/>
          </a:xfrm>
          <a:prstGeom prst="rect">
            <a:avLst/>
          </a:prstGeom>
        </p:spPr>
      </p:pic>
      <p:sp>
        <p:nvSpPr>
          <p:cNvPr id="428" name="textbox 42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99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430" name="textbox 430"/>
          <p:cNvSpPr/>
          <p:nvPr/>
        </p:nvSpPr>
        <p:spPr>
          <a:xfrm>
            <a:off x="122071" y="-44450"/>
            <a:ext cx="298068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2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（</a:t>
            </a:r>
            <a:r>
              <a:rPr sz="3500" b="1" kern="0" spc="-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-2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3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编辑模式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432" name="picture 4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4" name="table 434"/>
          <p:cNvGraphicFramePr>
            <a:graphicFrameLocks noGrp="1"/>
          </p:cNvGraphicFramePr>
          <p:nvPr/>
        </p:nvGraphicFramePr>
        <p:xfrm>
          <a:off x="101600" y="614362"/>
          <a:ext cx="9013190" cy="5634990"/>
        </p:xfrm>
        <a:graphic>
          <a:graphicData uri="http://schemas.openxmlformats.org/drawingml/2006/table">
            <a:tbl>
              <a:tblPr/>
              <a:tblGrid>
                <a:gridCol w="1493519"/>
                <a:gridCol w="3013075"/>
                <a:gridCol w="1220469"/>
                <a:gridCol w="3286125"/>
              </a:tblGrid>
              <a:tr h="10972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6704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35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536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5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3500" kern="0" spc="-5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5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7639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35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871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5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3500" kern="0" spc="-5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5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0195" algn="l" rtl="0" eaLnBrk="0">
                        <a:lnSpc>
                          <a:spcPct val="6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4400" b="1" kern="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cc/S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980" indent="12064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替换光标所在</a:t>
                      </a:r>
                      <a:r>
                        <a:rPr sz="3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4509" algn="l" rtl="0" eaLnBrk="0">
                        <a:lnSpc>
                          <a:spcPts val="260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44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indent="17779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替换光标处的</a:t>
                      </a:r>
                      <a:r>
                        <a:rPr sz="3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字符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57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0829" algn="l" rtl="0" eaLnBrk="0">
                        <a:lnSpc>
                          <a:spcPct val="7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4400" b="1" kern="0" spc="-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C/R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indent="-1270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修改当前行光</a:t>
                      </a:r>
                      <a:r>
                        <a:rPr sz="3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标后的部分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6730" algn="l" rtl="0" eaLnBrk="0">
                        <a:lnSpc>
                          <a:spcPts val="259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44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indent="17779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35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替换当前一个</a:t>
                      </a:r>
                      <a:r>
                        <a:rPr sz="3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字符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46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5134" algn="l" rtl="0" eaLnBrk="0">
                        <a:lnSpc>
                          <a:spcPts val="2605"/>
                        </a:lnSpc>
                        <a:tabLst/>
                      </a:pPr>
                      <a:r>
                        <a:rPr sz="4400" b="1" kern="0" spc="-9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cw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2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994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修改光标到一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个字的结尾部</a:t>
                      </a:r>
                      <a:r>
                        <a:rPr sz="3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2425" algn="l" rtl="0" eaLnBrk="0">
                        <a:lnSpc>
                          <a:spcPct val="6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4400" b="1" kern="0" spc="-9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cb</a:t>
                      </a:r>
                      <a:endParaRPr sz="4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2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994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修改光标到一</a:t>
                      </a:r>
                      <a:r>
                        <a:rPr sz="3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个字的开始部</a:t>
                      </a:r>
                      <a:r>
                        <a:rPr sz="3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6" name="textbox 43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101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438" name="textbox 438"/>
          <p:cNvSpPr/>
          <p:nvPr/>
        </p:nvSpPr>
        <p:spPr>
          <a:xfrm>
            <a:off x="122071" y="-44450"/>
            <a:ext cx="343852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2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（</a:t>
            </a:r>
            <a:r>
              <a:rPr sz="3500" b="1" kern="0" spc="-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500" b="1" kern="0" spc="-2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4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修改或替换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440" name="picture 4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picture 4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5872797"/>
          </a:xfrm>
          <a:prstGeom prst="rect">
            <a:avLst/>
          </a:prstGeom>
        </p:spPr>
      </p:pic>
      <p:sp>
        <p:nvSpPr>
          <p:cNvPr id="444" name="textbox 444"/>
          <p:cNvSpPr/>
          <p:nvPr/>
        </p:nvSpPr>
        <p:spPr>
          <a:xfrm>
            <a:off x="1367235" y="568566"/>
            <a:ext cx="3291204" cy="5798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2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indent="669925" algn="l" rtl="0" eaLnBrk="0">
              <a:lnSpc>
                <a:spcPct val="123000"/>
              </a:lnSpc>
              <a:tabLst/>
            </a:pPr>
            <a:r>
              <a:rPr sz="3200" b="1" kern="0" spc="5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功能描述</a:t>
            </a:r>
            <a:r>
              <a:rPr sz="3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定位至行首</a:t>
            </a:r>
            <a:endParaRPr sz="3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6000"/>
              </a:lnSpc>
              <a:spcBef>
                <a:spcPts val="961"/>
              </a:spcBef>
              <a:tabLst/>
            </a:pPr>
            <a:r>
              <a:rPr sz="3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定位至行末</a:t>
            </a:r>
            <a:endParaRPr sz="3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6000"/>
              </a:lnSpc>
              <a:spcBef>
                <a:spcPts val="967"/>
              </a:spcBef>
              <a:tabLst/>
            </a:pP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定位到第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#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行首</a:t>
            </a:r>
            <a:endParaRPr sz="3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6000"/>
              </a:lnSpc>
              <a:spcBef>
                <a:spcPts val="961"/>
              </a:spcBef>
              <a:tabLst/>
            </a:pP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定位到首行行首</a:t>
            </a:r>
            <a:endParaRPr sz="3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6000"/>
              </a:lnSpc>
              <a:spcBef>
                <a:spcPts val="970"/>
              </a:spcBef>
              <a:tabLst/>
            </a:pP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定位到末行行首</a:t>
            </a:r>
            <a:endParaRPr sz="3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0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indent="-3175" algn="l" rtl="0" eaLnBrk="0">
              <a:lnSpc>
                <a:spcPct val="93000"/>
              </a:lnSpc>
              <a:tabLst/>
            </a:pPr>
            <a:r>
              <a:rPr sz="3200" b="1" kern="0" spc="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光标移至</a:t>
            </a:r>
            <a:r>
              <a:rPr sz="3200" b="1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#%</a:t>
            </a:r>
            <a:r>
              <a:rPr sz="3200" b="1" kern="0" spc="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处行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首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sp>
        <p:nvSpPr>
          <p:cNvPr id="446" name="textbox 446"/>
          <p:cNvSpPr/>
          <p:nvPr/>
        </p:nvSpPr>
        <p:spPr>
          <a:xfrm>
            <a:off x="6010047" y="568566"/>
            <a:ext cx="3060064" cy="5822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7209" algn="l" rtl="0" eaLnBrk="0">
              <a:lnSpc>
                <a:spcPct val="86000"/>
              </a:lnSpc>
              <a:tabLst/>
            </a:pPr>
            <a:r>
              <a:rPr sz="3200" b="1" kern="0" spc="5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功能描述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34290" indent="-3175" algn="l" rtl="0" eaLnBrk="0">
              <a:lnSpc>
                <a:spcPct val="92000"/>
              </a:lnSpc>
              <a:spcBef>
                <a:spcPts val="519"/>
              </a:spcBef>
              <a:tabLst/>
            </a:pPr>
            <a:r>
              <a:rPr sz="32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光标移至本行下</a:t>
            </a:r>
            <a:r>
              <a:rPr sz="3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一字开始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12700" indent="18415" algn="l" rtl="0" eaLnBrk="0">
              <a:lnSpc>
                <a:spcPct val="93000"/>
              </a:lnSpc>
              <a:spcBef>
                <a:spcPts val="523"/>
              </a:spcBef>
              <a:tabLst/>
            </a:pPr>
            <a:r>
              <a:rPr sz="32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光标移至本行前</a:t>
            </a:r>
            <a:r>
              <a:rPr sz="3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当前字开始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53339" indent="-22225" algn="l" rtl="0" eaLnBrk="0">
              <a:lnSpc>
                <a:spcPct val="93000"/>
              </a:lnSpc>
              <a:spcBef>
                <a:spcPts val="553"/>
              </a:spcBef>
              <a:tabLst/>
            </a:pPr>
            <a:r>
              <a:rPr sz="32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光</a:t>
            </a:r>
            <a:r>
              <a:rPr sz="3200" kern="0" spc="-9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标</a:t>
            </a:r>
            <a:r>
              <a:rPr sz="3200" kern="0" spc="-9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移</a:t>
            </a:r>
            <a:r>
              <a:rPr sz="3200" kern="0" spc="-9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至</a:t>
            </a:r>
            <a:r>
              <a:rPr sz="3200" kern="0" spc="-8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下</a:t>
            </a:r>
            <a:r>
              <a:rPr sz="3200" kern="0" spc="-9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</a:t>
            </a:r>
            <a:r>
              <a:rPr sz="3200" kern="0" spc="-10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3200" b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当前字尾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37465" indent="-4444" algn="l" rtl="0" eaLnBrk="0">
              <a:lnSpc>
                <a:spcPct val="96000"/>
              </a:lnSpc>
              <a:spcBef>
                <a:spcPts val="646"/>
              </a:spcBef>
              <a:tabLst/>
            </a:pP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查找单括号对</a:t>
            </a:r>
            <a:r>
              <a:rPr sz="3200" kern="0" spc="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()</a:t>
            </a:r>
            <a:r>
              <a:rPr sz="32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定位到最外层</a:t>
            </a:r>
            <a:r>
              <a:rPr sz="3200" b="1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{}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{/}</a:t>
            </a:r>
            <a:endParaRPr sz="3200" dirty="0">
              <a:latin typeface="Times New Roman"/>
              <a:ea typeface="Times New Roman"/>
              <a:cs typeface="Times New Roman"/>
            </a:endParaRPr>
          </a:p>
          <a:p>
            <a:pPr marL="60960" indent="-23495" algn="l" rtl="0" eaLnBrk="0">
              <a:lnSpc>
                <a:spcPct val="94000"/>
              </a:lnSpc>
              <a:spcBef>
                <a:spcPts val="461"/>
              </a:spcBef>
              <a:tabLst/>
            </a:pPr>
            <a:r>
              <a:rPr sz="32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定位到当前层</a:t>
            </a:r>
            <a:r>
              <a:rPr sz="3200" b="1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{}</a:t>
            </a:r>
            <a:r>
              <a:rPr sz="3200" b="1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200" b="1" kern="0" spc="-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{/}</a:t>
            </a:r>
            <a:endParaRPr sz="3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48" name="textbox 448"/>
          <p:cNvSpPr/>
          <p:nvPr/>
        </p:nvSpPr>
        <p:spPr>
          <a:xfrm>
            <a:off x="247957" y="570472"/>
            <a:ext cx="938530" cy="5553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150" algn="l" rtl="0" eaLnBrk="0">
              <a:lnSpc>
                <a:spcPct val="86000"/>
              </a:lnSpc>
              <a:tabLst/>
            </a:pPr>
            <a:r>
              <a:rPr sz="32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321309" algn="l" rtl="0" eaLnBrk="0">
              <a:lnSpc>
                <a:spcPct val="70000"/>
              </a:lnSpc>
              <a:spcBef>
                <a:spcPts val="2436"/>
              </a:spcBef>
              <a:tabLst/>
            </a:pPr>
            <a:r>
              <a:rPr sz="4700" b="1" kern="0" spc="-1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endParaRPr sz="4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9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2579" algn="l" rtl="0" eaLnBrk="0">
              <a:lnSpc>
                <a:spcPct val="71000"/>
              </a:lnSpc>
              <a:spcBef>
                <a:spcPts val="1412"/>
              </a:spcBef>
              <a:tabLst/>
            </a:pPr>
            <a:r>
              <a:rPr sz="4700" b="1" kern="0" spc="-1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$</a:t>
            </a:r>
            <a:endParaRPr sz="4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spcBef>
                <a:spcPts val="968"/>
              </a:spcBef>
              <a:tabLst/>
            </a:pP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:#|#G</a:t>
            </a:r>
            <a:endParaRPr sz="3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77000"/>
              </a:lnSpc>
              <a:spcBef>
                <a:spcPts val="968"/>
              </a:spcBef>
              <a:tabLst/>
            </a:pP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:0|gg</a:t>
            </a:r>
            <a:endParaRPr sz="3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4300" algn="l" rtl="0" eaLnBrk="0">
              <a:lnSpc>
                <a:spcPct val="77000"/>
              </a:lnSpc>
              <a:spcBef>
                <a:spcPts val="961"/>
              </a:spcBef>
              <a:tabLst/>
            </a:pP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:$|G</a:t>
            </a:r>
            <a:endParaRPr sz="3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54939" algn="l" rtl="0" eaLnBrk="0">
              <a:lnSpc>
                <a:spcPct val="69000"/>
              </a:lnSpc>
              <a:spcBef>
                <a:spcPts val="5"/>
              </a:spcBef>
              <a:tabLst/>
            </a:pP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#%</a:t>
            </a:r>
            <a:endParaRPr sz="3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0" name="textbox 450"/>
          <p:cNvSpPr/>
          <p:nvPr/>
        </p:nvSpPr>
        <p:spPr>
          <a:xfrm>
            <a:off x="4927876" y="570472"/>
            <a:ext cx="826769" cy="5591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32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</a:t>
            </a:r>
            <a:endParaRPr sz="3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7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1135" algn="l" rtl="0" eaLnBrk="0">
              <a:lnSpc>
                <a:spcPts val="2703"/>
              </a:lnSpc>
              <a:spcBef>
                <a:spcPts val="1410"/>
              </a:spcBef>
              <a:tabLst/>
            </a:pPr>
            <a:r>
              <a:rPr sz="4700" b="1" kern="0" spc="1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</a:t>
            </a:r>
            <a:endParaRPr sz="4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9554" algn="l" rtl="0" eaLnBrk="0">
              <a:lnSpc>
                <a:spcPct val="69000"/>
              </a:lnSpc>
              <a:spcBef>
                <a:spcPts val="1410"/>
              </a:spcBef>
              <a:tabLst/>
            </a:pPr>
            <a:r>
              <a:rPr sz="4700" b="1" kern="0" spc="-2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</a:t>
            </a:r>
            <a:endParaRPr sz="4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8765" algn="l" rtl="0" eaLnBrk="0">
              <a:lnSpc>
                <a:spcPct val="68000"/>
              </a:lnSpc>
              <a:spcBef>
                <a:spcPts val="962"/>
              </a:spcBef>
              <a:tabLst/>
            </a:pP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endParaRPr sz="3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7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1140" algn="l" rtl="0" eaLnBrk="0">
              <a:lnSpc>
                <a:spcPct val="69000"/>
              </a:lnSpc>
              <a:spcBef>
                <a:spcPts val="970"/>
              </a:spcBef>
              <a:tabLst/>
            </a:pP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%</a:t>
            </a:r>
            <a:endParaRPr sz="3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7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50" algn="l" rtl="0" eaLnBrk="0">
              <a:lnSpc>
                <a:spcPct val="77000"/>
              </a:lnSpc>
              <a:spcBef>
                <a:spcPts val="960"/>
              </a:spcBef>
              <a:tabLst/>
            </a:pPr>
            <a:r>
              <a:rPr sz="3200" b="1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[[|]]</a:t>
            </a:r>
            <a:endParaRPr sz="3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6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8585" algn="l" rtl="0" eaLnBrk="0">
              <a:lnSpc>
                <a:spcPct val="77000"/>
              </a:lnSpc>
              <a:tabLst/>
            </a:pPr>
            <a:r>
              <a:rPr sz="3200" b="1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[{|]}</a:t>
            </a:r>
            <a:endParaRPr sz="3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2" name="textbox 45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102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454" name="textbox 454"/>
          <p:cNvSpPr/>
          <p:nvPr/>
        </p:nvSpPr>
        <p:spPr>
          <a:xfrm>
            <a:off x="122071" y="-44450"/>
            <a:ext cx="343852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（</a:t>
            </a: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4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搜索与定位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picture 4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graphicFrame>
        <p:nvGraphicFramePr>
          <p:cNvPr id="458" name="table 458"/>
          <p:cNvGraphicFramePr>
            <a:graphicFrameLocks noGrp="1"/>
          </p:cNvGraphicFramePr>
          <p:nvPr/>
        </p:nvGraphicFramePr>
        <p:xfrm>
          <a:off x="0" y="534987"/>
          <a:ext cx="9143365" cy="5852795"/>
        </p:xfrm>
        <a:graphic>
          <a:graphicData uri="http://schemas.openxmlformats.org/drawingml/2006/table">
            <a:tbl>
              <a:tblPr/>
              <a:tblGrid>
                <a:gridCol w="4211320"/>
                <a:gridCol w="4932045"/>
              </a:tblGrid>
              <a:tr h="7645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29410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3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5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2808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39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3900" kern="0" spc="-5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9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r>
                        <a:rPr sz="3900" kern="0" spc="-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9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描述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6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015" algn="l" rtl="0" eaLnBrk="0">
                        <a:lnSpc>
                          <a:spcPct val="7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900" b="1" kern="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:s/</a:t>
                      </a:r>
                      <a:r>
                        <a:rPr sz="39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1/</a:t>
                      </a:r>
                      <a:r>
                        <a:rPr sz="39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2/g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39" indent="-7620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3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将当前行的</a:t>
                      </a:r>
                      <a:r>
                        <a:rPr sz="3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sz="3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替换</a:t>
                      </a:r>
                      <a:r>
                        <a:rPr sz="39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成</a:t>
                      </a:r>
                      <a:r>
                        <a:rPr sz="3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1454" algn="l" rtl="0" eaLnBrk="0">
                        <a:lnSpc>
                          <a:spcPct val="7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900" b="1" kern="0" spc="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:n,</a:t>
                      </a:r>
                      <a:r>
                        <a:rPr sz="39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ms</a:t>
                      </a:r>
                      <a:r>
                        <a:rPr sz="3900" b="1" kern="0" spc="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sz="39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1/</a:t>
                      </a:r>
                      <a:r>
                        <a:rPr sz="39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2/g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</a:t>
                      </a:r>
                      <a:r>
                        <a:rPr sz="3900" kern="0" spc="-6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从</a:t>
                      </a:r>
                      <a:r>
                        <a:rPr sz="3900" kern="0" spc="-7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sz="3900" b="1" kern="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到</a:t>
                      </a:r>
                      <a:r>
                        <a:rPr sz="3900" kern="0" spc="-7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r>
                        <a:rPr sz="3900" b="1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</a:t>
                      </a:r>
                      <a:r>
                        <a:rPr sz="39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</a:t>
                      </a:r>
                      <a:r>
                        <a:rPr sz="3900" kern="0" spc="-4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的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8264" algn="l" rtl="0" eaLnBrk="0">
                        <a:lnSpc>
                          <a:spcPts val="5091"/>
                        </a:lnSpc>
                        <a:tabLst/>
                      </a:pPr>
                      <a:r>
                        <a:rPr sz="3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sz="39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替换为</a:t>
                      </a:r>
                      <a:r>
                        <a:rPr sz="3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7970" algn="l" rtl="0" eaLnBrk="0">
                        <a:lnSpc>
                          <a:spcPct val="7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:n,</a:t>
                      </a:r>
                      <a:r>
                        <a:rPr sz="3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mg</a:t>
                      </a:r>
                      <a:r>
                        <a:rPr sz="3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sz="3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1/s//</a:t>
                      </a:r>
                      <a:r>
                        <a:rPr sz="3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</a:t>
                      </a:r>
                      <a:r>
                        <a:rPr sz="3900" kern="0" spc="-6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从</a:t>
                      </a:r>
                      <a:r>
                        <a:rPr sz="3900" kern="0" spc="-7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sz="3900" b="1" kern="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到</a:t>
                      </a:r>
                      <a:r>
                        <a:rPr sz="3900" kern="0" spc="-7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r>
                        <a:rPr sz="3900" b="1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</a:t>
                      </a:r>
                      <a:r>
                        <a:rPr sz="39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</a:t>
                      </a:r>
                      <a:r>
                        <a:rPr sz="3900" kern="0" spc="-4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900" b="1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的</a:t>
                      </a:r>
                      <a:endParaRPr sz="3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619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10385" algn="l" rtl="0" eaLnBrk="0">
                        <a:lnSpc>
                          <a:spcPct val="7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3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2/g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sz="39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替换为</a:t>
                      </a:r>
                      <a:r>
                        <a:rPr sz="3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69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0045" algn="l" rtl="0" eaLnBrk="0">
                        <a:lnSpc>
                          <a:spcPct val="7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900" b="1" kern="0" spc="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:g/</a:t>
                      </a:r>
                      <a:r>
                        <a:rPr sz="39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1/s//</a:t>
                      </a:r>
                      <a:r>
                        <a:rPr sz="39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3900" b="1" kern="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/g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344" indent="-952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3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将全文中的</a:t>
                      </a:r>
                      <a:r>
                        <a:rPr sz="3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sz="3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替换</a:t>
                      </a:r>
                      <a:r>
                        <a:rPr sz="3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为</a:t>
                      </a:r>
                      <a:r>
                        <a:rPr sz="3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</a:t>
                      </a:r>
                      <a:r>
                        <a:rPr sz="3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3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60" name="textbox 46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104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462" name="textbox 462"/>
          <p:cNvSpPr/>
          <p:nvPr/>
        </p:nvSpPr>
        <p:spPr>
          <a:xfrm>
            <a:off x="122071" y="-44450"/>
            <a:ext cx="343852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（</a:t>
            </a: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4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搜索和替换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4" name="table 464"/>
          <p:cNvGraphicFramePr>
            <a:graphicFrameLocks noGrp="1"/>
          </p:cNvGraphicFramePr>
          <p:nvPr/>
        </p:nvGraphicFramePr>
        <p:xfrm>
          <a:off x="28575" y="614362"/>
          <a:ext cx="9114790" cy="5699760"/>
        </p:xfrm>
        <a:graphic>
          <a:graphicData uri="http://schemas.openxmlformats.org/drawingml/2006/table">
            <a:tbl>
              <a:tblPr/>
              <a:tblGrid>
                <a:gridCol w="3430270"/>
                <a:gridCol w="5684519"/>
              </a:tblGrid>
              <a:tr h="1041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508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5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3500" b="1" kern="0" spc="7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功能描述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33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4094" algn="l" rtl="0" eaLnBrk="0">
                        <a:lnSpc>
                          <a:spcPct val="7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35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:n1,n2d</a:t>
                      </a:r>
                      <a:endParaRPr sz="3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3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删除</a:t>
                      </a:r>
                      <a:r>
                        <a:rPr sz="3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n1</a:t>
                      </a:r>
                      <a:r>
                        <a:rPr sz="3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到</a:t>
                      </a:r>
                      <a:r>
                        <a:rPr sz="3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n2</a:t>
                      </a:r>
                      <a:r>
                        <a:rPr sz="3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行的内容</a:t>
                      </a:r>
                      <a:endParaRPr sz="3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33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9294" algn="l" rtl="0" eaLnBrk="0">
                        <a:lnSpc>
                          <a:spcPct val="7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3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:n1,n2</a:t>
                      </a:r>
                      <a:r>
                        <a:rPr sz="3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mn</a:t>
                      </a:r>
                      <a:r>
                        <a:rPr sz="3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3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n1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到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n2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行内容移动到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sz="3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3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33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3594" algn="l" rtl="0" eaLnBrk="0">
                        <a:lnSpc>
                          <a:spcPct val="7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3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:n1,n2</a:t>
                      </a:r>
                      <a:r>
                        <a:rPr sz="3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tn</a:t>
                      </a:r>
                      <a:r>
                        <a:rPr sz="3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3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n1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到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n2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行内容复制到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sz="35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3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8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3045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5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:n1,n2w[!]</a:t>
                      </a:r>
                      <a:r>
                        <a:rPr sz="3500" b="1" kern="0" spc="39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35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[file]</a:t>
                      </a:r>
                      <a:endParaRPr sz="3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n1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到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n2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行内容写入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sz="3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</a:t>
                      </a:r>
                      <a:r>
                        <a:rPr sz="35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]</a:t>
                      </a:r>
                      <a:endParaRPr sz="3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66" name="textbox 46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105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468" name="textbox 468"/>
          <p:cNvSpPr/>
          <p:nvPr/>
        </p:nvSpPr>
        <p:spPr>
          <a:xfrm>
            <a:off x="122071" y="-44450"/>
            <a:ext cx="343852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2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（</a:t>
            </a:r>
            <a:r>
              <a:rPr sz="3500" b="1" kern="0" spc="-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3500" b="1" kern="0" spc="-2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2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块</a:t>
            </a:r>
            <a:r>
              <a:rPr sz="3500" b="1" kern="0" spc="-2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操作命</a:t>
            </a:r>
            <a:r>
              <a:rPr sz="3500" b="1" kern="0" spc="-1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令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470" name="picture 4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textbox 472"/>
          <p:cNvSpPr/>
          <p:nvPr/>
        </p:nvSpPr>
        <p:spPr>
          <a:xfrm>
            <a:off x="40322" y="623899"/>
            <a:ext cx="8997950" cy="5750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59" rIns="0" bIns="0"/>
          <a:lstStyle/>
          <a:p>
            <a:pPr marL="282575" indent="43815" algn="l" rtl="0" eaLnBrk="0">
              <a:lnSpc>
                <a:spcPct val="99000"/>
              </a:lnSpc>
              <a:spcBef>
                <a:spcPts val="6"/>
              </a:spcBef>
              <a:tabLst>
                <a:tab pos="465455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默认时使用</a:t>
            </a:r>
            <a:r>
              <a:rPr sz="3500" b="1" u="sng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无名缓冲区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进行工作，比如</a:t>
            </a:r>
            <a:r>
              <a:rPr sz="35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3500" kern="0" spc="9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将文件的某些部分删除了，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但可以用</a:t>
            </a:r>
            <a:r>
              <a:rPr sz="3500" b="1" u="sng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3500" b="1" u="sng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</a:t>
            </a:r>
            <a:r>
              <a:rPr sz="3500" b="1" u="sng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令进行撤销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。文件内容的复制与移动都是通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过缓冲区进行的。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279400" indent="46990" algn="l" rtl="0" eaLnBrk="0">
              <a:lnSpc>
                <a:spcPct val="97000"/>
              </a:lnSpc>
              <a:spcBef>
                <a:spcPts val="1539"/>
              </a:spcBef>
              <a:tabLst>
                <a:tab pos="479425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对使用各种删除命令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删除的内容都被保留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在无名缓冲区中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，用户可以</a:t>
            </a:r>
            <a:r>
              <a:rPr sz="3500" b="1" u="sng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</a:t>
            </a:r>
            <a:r>
              <a:rPr sz="3500" b="1" u="sng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3500" b="1" u="sng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光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标后追加它们。比如：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741680" indent="-5080" algn="l" rtl="0" eaLnBrk="0">
              <a:lnSpc>
                <a:spcPct val="94000"/>
              </a:lnSpc>
              <a:spcBef>
                <a:spcPts val="1545"/>
              </a:spcBef>
              <a:tabLst/>
            </a:pP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命令串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xp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可以交换光标处及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其后两个字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符的位置；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739140" algn="l" rtl="0" eaLnBrk="0">
              <a:lnSpc>
                <a:spcPct val="90000"/>
              </a:lnSpc>
              <a:spcBef>
                <a:spcPts val="2"/>
              </a:spcBef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ddp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交换光标所在行及其下一行的位置。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474" name="picture 4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3542" y="5955665"/>
            <a:ext cx="314325" cy="314325"/>
          </a:xfrm>
          <a:prstGeom prst="rect">
            <a:avLst/>
          </a:prstGeom>
        </p:spPr>
      </p:pic>
      <p:pic>
        <p:nvPicPr>
          <p:cNvPr id="476" name="picture 4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3542" y="4756784"/>
            <a:ext cx="314325" cy="314325"/>
          </a:xfrm>
          <a:prstGeom prst="rect">
            <a:avLst/>
          </a:prstGeom>
        </p:spPr>
      </p:pic>
      <p:pic>
        <p:nvPicPr>
          <p:cNvPr id="478" name="picture 4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22" y="3008629"/>
            <a:ext cx="314325" cy="314325"/>
          </a:xfrm>
          <a:prstGeom prst="rect">
            <a:avLst/>
          </a:prstGeom>
        </p:spPr>
      </p:pic>
      <p:pic>
        <p:nvPicPr>
          <p:cNvPr id="480" name="picture 4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22" y="713104"/>
            <a:ext cx="314325" cy="314325"/>
          </a:xfrm>
          <a:prstGeom prst="rect">
            <a:avLst/>
          </a:prstGeom>
        </p:spPr>
      </p:pic>
      <p:sp>
        <p:nvSpPr>
          <p:cNvPr id="482" name="textbox 48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106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122071" y="-44450"/>
            <a:ext cx="343852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2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（</a:t>
            </a:r>
            <a:r>
              <a:rPr sz="3500" b="1" kern="0" spc="-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3500" b="1" kern="0" spc="-2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2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缓冲区操作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486" name="picture 4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8" name="table 488"/>
          <p:cNvGraphicFramePr>
            <a:graphicFrameLocks noGrp="1"/>
          </p:cNvGraphicFramePr>
          <p:nvPr/>
        </p:nvGraphicFramePr>
        <p:xfrm>
          <a:off x="101600" y="1982787"/>
          <a:ext cx="8940799" cy="4331335"/>
        </p:xfrm>
        <a:graphic>
          <a:graphicData uri="http://schemas.openxmlformats.org/drawingml/2006/table">
            <a:tbl>
              <a:tblPr/>
              <a:tblGrid>
                <a:gridCol w="1468755"/>
                <a:gridCol w="7472044"/>
              </a:tblGrid>
              <a:tr h="5422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15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0258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7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2700" kern="0" spc="-4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7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r>
                        <a:rPr sz="2700" kern="0" spc="-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7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描述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5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0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4175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Y/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yy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3989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将当前行放入无名缓冲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区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2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315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P/p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indent="90805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7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将无名缓冲区中的内容</a:t>
                      </a:r>
                      <a:r>
                        <a:rPr sz="27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粘贴到当前行的上</a:t>
                      </a:r>
                      <a:r>
                        <a:rPr sz="27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sz="27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下</a:t>
                      </a:r>
                      <a:r>
                        <a:rPr sz="27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方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1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27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300" b="1" kern="0" spc="11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"</a:t>
                      </a:r>
                      <a:endParaRPr sz="13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634365" algn="l" rtl="0" eaLnBrk="0">
                        <a:lnSpc>
                          <a:spcPts val="2082"/>
                        </a:lnSpc>
                        <a:spcBef>
                          <a:spcPts val="73"/>
                        </a:spcBef>
                        <a:tabLst/>
                      </a:pP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cyy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7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398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将当前行放入缓冲区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（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为任何小写字母）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1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085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27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"cd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8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3989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将当前行删除，内容放入缓冲区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38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939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2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"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cP</a:t>
                      </a:r>
                      <a:r>
                        <a:rPr sz="2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/"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cp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3989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将缓冲区</a:t>
                      </a: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中的内容粘贴到当前行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的上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下方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90" name="textbox 490"/>
          <p:cNvSpPr/>
          <p:nvPr/>
        </p:nvSpPr>
        <p:spPr>
          <a:xfrm>
            <a:off x="76835" y="699870"/>
            <a:ext cx="8750300" cy="1152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2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8315" indent="-22859" algn="l" rtl="0" eaLnBrk="0">
              <a:lnSpc>
                <a:spcPct val="94000"/>
              </a:lnSpc>
              <a:tabLst/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</a:t>
            </a: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还可使用</a:t>
            </a:r>
            <a:r>
              <a:rPr sz="3900" b="1" u="sng" kern="0" spc="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命名缓冲区</a:t>
            </a:r>
            <a:r>
              <a:rPr sz="3900" b="1" u="sng" kern="0" spc="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a-z</a:t>
            </a:r>
            <a:r>
              <a:rPr sz="3900" b="1" kern="0" spc="-5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，然后通过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缓冲区进行复制或粘贴等操作。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pic>
        <p:nvPicPr>
          <p:cNvPr id="492" name="picture 4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797242"/>
            <a:ext cx="349250" cy="349250"/>
          </a:xfrm>
          <a:prstGeom prst="rect">
            <a:avLst/>
          </a:prstGeom>
        </p:spPr>
      </p:pic>
      <p:sp>
        <p:nvSpPr>
          <p:cNvPr id="494" name="textbox 49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107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496" name="textbox 496"/>
          <p:cNvSpPr/>
          <p:nvPr/>
        </p:nvSpPr>
        <p:spPr>
          <a:xfrm>
            <a:off x="139014" y="-59054"/>
            <a:ext cx="3168014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缓冲区操作命令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498" name="picture 4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0" name="table 500"/>
          <p:cNvGraphicFramePr>
            <a:graphicFrameLocks noGrp="1"/>
          </p:cNvGraphicFramePr>
          <p:nvPr/>
        </p:nvGraphicFramePr>
        <p:xfrm>
          <a:off x="101600" y="614362"/>
          <a:ext cx="9042399" cy="5778500"/>
        </p:xfrm>
        <a:graphic>
          <a:graphicData uri="http://schemas.openxmlformats.org/drawingml/2006/table">
            <a:tbl>
              <a:tblPr/>
              <a:tblGrid>
                <a:gridCol w="1017905"/>
                <a:gridCol w="3362959"/>
                <a:gridCol w="1221740"/>
                <a:gridCol w="3439795"/>
              </a:tblGrid>
              <a:tr h="4775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0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429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0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9660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b="1" kern="0" spc="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功能描述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0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449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0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7760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b="1" kern="0" spc="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功能描述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4344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500" b="1" kern="0" spc="6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重复上次执行的命令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8005" algn="l" rtl="0" eaLnBrk="0">
                        <a:lnSpc>
                          <a:spcPts val="115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作废刚执行过的命令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8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964" algn="l" rtl="0" eaLnBrk="0">
                        <a:lnSpc>
                          <a:spcPts val="1791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3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:set</a:t>
                      </a:r>
                      <a:r>
                        <a:rPr sz="2300" b="1" kern="0" spc="1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3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8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设置行号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254" algn="l" rtl="0" eaLnBrk="0">
                        <a:lnSpc>
                          <a:spcPts val="1544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:set</a:t>
                      </a:r>
                      <a:r>
                        <a:rPr sz="2000" b="1" kern="0" spc="1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0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nonu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取消行号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18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784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2300" b="1" kern="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3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将下一行合并到当前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6100" algn="l" rtl="0" eaLnBrk="0">
                        <a:lnSpc>
                          <a:spcPts val="826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000" b="1" kern="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~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将光标处的字符大小写转换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91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6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6390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23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^G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45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显示当前编辑文件信息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ct val="7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b="1" kern="0" spc="-8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^L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69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刷新屏幕（屏幕乱时使用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）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8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1954" algn="l" rtl="0" eaLnBrk="0">
                        <a:lnSpc>
                          <a:spcPts val="13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-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:n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455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定位到下一文件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8475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2000" b="1" kern="0" spc="-1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:N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455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定位到上一文件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1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:r</a:t>
                      </a:r>
                      <a:r>
                        <a:rPr sz="2300" b="1" kern="0" spc="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3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69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读入文件到光标处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959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:!cmd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执行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shell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cmd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4809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3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:!!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重复上次执行的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shell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8445" algn="l" rtl="0" eaLnBrk="0">
                        <a:lnSpc>
                          <a:spcPct val="7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:r!cmd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indent="-635" algn="l" rtl="0" eaLnBrk="0">
                        <a:lnSpc>
                          <a:spcPct val="9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执行</a:t>
                      </a: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cmd</a:t>
                      </a:r>
                      <a:r>
                        <a:rPr sz="2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并将其输出追加到</a:t>
                      </a: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光</a:t>
                      </a:r>
                      <a:r>
                        <a:rPr sz="20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标处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6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8300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23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:e!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4" indent="-2540" algn="l" rtl="0" eaLnBrk="0">
                        <a:lnSpc>
                          <a:spcPct val="9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重新读入当前文件，作废以</a:t>
                      </a:r>
                      <a:r>
                        <a:rPr sz="2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前所有操作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4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2740" algn="l" rtl="0" eaLnBrk="0">
                        <a:lnSpc>
                          <a:spcPct val="69000"/>
                        </a:lnSpc>
                        <a:tabLst/>
                      </a:pPr>
                      <a:r>
                        <a:rPr sz="20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:e</a:t>
                      </a:r>
                      <a:r>
                        <a:rPr sz="2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0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739" indent="-63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放弃当前文件编辑，</a:t>
                      </a:r>
                      <a:r>
                        <a:rPr sz="2000" kern="0" spc="-5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0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</a:t>
                      </a: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</a:t>
                      </a:r>
                      <a:r>
                        <a:rPr sz="20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启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动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2" name="textbox 50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108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504" name="textbox 504"/>
          <p:cNvSpPr/>
          <p:nvPr/>
        </p:nvSpPr>
        <p:spPr>
          <a:xfrm>
            <a:off x="122071" y="-44450"/>
            <a:ext cx="298068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3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（</a:t>
            </a:r>
            <a:r>
              <a:rPr sz="3500" b="1" kern="0" spc="-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3500" b="1" kern="0" spc="-3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3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3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其他命</a:t>
            </a:r>
            <a:r>
              <a:rPr sz="3500" b="1" kern="0" spc="-1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令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506" name="picture 5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8" name="table 508"/>
          <p:cNvGraphicFramePr>
            <a:graphicFrameLocks noGrp="1"/>
          </p:cNvGraphicFramePr>
          <p:nvPr/>
        </p:nvGraphicFramePr>
        <p:xfrm>
          <a:off x="101600" y="614362"/>
          <a:ext cx="9013824" cy="5813425"/>
        </p:xfrm>
        <a:graphic>
          <a:graphicData uri="http://schemas.openxmlformats.org/drawingml/2006/table">
            <a:tbl>
              <a:tblPr/>
              <a:tblGrid>
                <a:gridCol w="1348739"/>
                <a:gridCol w="3157854"/>
                <a:gridCol w="1399540"/>
                <a:gridCol w="3107689"/>
              </a:tblGrid>
              <a:tr h="676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2104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930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7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2700" kern="0" spc="-4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7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r>
                        <a:rPr sz="2700" kern="0" spc="-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7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描述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4329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命令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35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7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2700" kern="0" spc="-4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7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r>
                        <a:rPr sz="2700" kern="0" spc="-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7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描述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4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065" algn="l" rtl="0" eaLnBrk="0">
                        <a:lnSpc>
                          <a:spcPts val="161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b="1" kern="0" spc="-8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:w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85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395" indent="-2857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7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保存文件，但不退</a:t>
                      </a:r>
                      <a:r>
                        <a:rPr sz="27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出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7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wq</a:t>
                      </a:r>
                      <a:r>
                        <a:rPr sz="27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[!]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9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7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保存退出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26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3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9434" algn="l" rtl="0" eaLnBrk="0">
                        <a:lnSpc>
                          <a:spcPts val="1610"/>
                        </a:lnSpc>
                        <a:tabLst/>
                      </a:pPr>
                      <a:r>
                        <a:rPr sz="2700" b="1" kern="0" spc="-9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:x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7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保存文件，且退出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1755" algn="l" rtl="0" eaLnBrk="0">
                        <a:lnSpc>
                          <a:spcPct val="92000"/>
                        </a:lnSpc>
                        <a:spcBef>
                          <a:spcPts val="15"/>
                        </a:spcBef>
                        <a:tabLst/>
                      </a:pPr>
                      <a:r>
                        <a:rPr sz="27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2235" algn="l" rtl="0" eaLnBrk="0">
                        <a:lnSpc>
                          <a:spcPct val="70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700" b="1" kern="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:w&gt;&gt;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4" indent="-254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27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将现行文件的内容</a:t>
                      </a:r>
                      <a:r>
                        <a:rPr sz="27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追加到文件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20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9275" algn="l" rtl="0" eaLnBrk="0">
                        <a:lnSpc>
                          <a:spcPts val="207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700" b="1" kern="0" spc="-9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:q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indent="-1079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7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退出（若文件已更</a:t>
                      </a:r>
                      <a:r>
                        <a:rPr sz="27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改，则不能退出）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:w</a:t>
                      </a:r>
                      <a:r>
                        <a:rPr sz="2700" b="1" kern="0" spc="1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2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39" indent="-12064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27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将现行文件的内容</a:t>
                      </a:r>
                      <a:r>
                        <a:rPr sz="27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写入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26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0219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2700" b="1" kern="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:q!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7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不保存强制退出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295" algn="l" rtl="0" eaLnBrk="0">
                        <a:lnSpc>
                          <a:spcPct val="70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7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:w!</a:t>
                      </a:r>
                      <a:r>
                        <a:rPr sz="2700" b="1" kern="0" spc="1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4" indent="-127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27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将现行文件内容写</a:t>
                      </a:r>
                      <a:r>
                        <a:rPr sz="27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入已存在的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file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8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5134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2700" b="1" kern="0" spc="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ZZ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保存文件且退出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7675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b="1" kern="0" spc="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ZQ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7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不保存退出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10" name="textbox 51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109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512" name="textbox 512"/>
          <p:cNvSpPr/>
          <p:nvPr/>
        </p:nvSpPr>
        <p:spPr>
          <a:xfrm>
            <a:off x="122071" y="-44450"/>
            <a:ext cx="343852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（</a:t>
            </a: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4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保存与退出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514" name="picture 5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textbox 516"/>
          <p:cNvSpPr/>
          <p:nvPr/>
        </p:nvSpPr>
        <p:spPr>
          <a:xfrm>
            <a:off x="256222" y="705396"/>
            <a:ext cx="8018144" cy="5755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6409" indent="-4444" algn="l" rtl="0" eaLnBrk="0">
              <a:lnSpc>
                <a:spcPct val="99000"/>
              </a:lnSpc>
              <a:spcBef>
                <a:spcPts val="1"/>
              </a:spcBef>
              <a:tabLst/>
            </a:pP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进程间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可以通过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信号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进行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，以实现进程间一定程序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控制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，用于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进程间信号通</a:t>
            </a:r>
            <a:r>
              <a:rPr sz="47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信的命令</a:t>
            </a:r>
            <a:r>
              <a:rPr sz="4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4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4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4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trap</a:t>
            </a:r>
            <a:r>
              <a:rPr sz="4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4700" dirty="0">
              <a:latin typeface="SimSun"/>
              <a:ea typeface="SimSun"/>
              <a:cs typeface="SimSun"/>
            </a:endParaRPr>
          </a:p>
          <a:p>
            <a:pPr marL="488950" indent="-1905" algn="l" rtl="0" eaLnBrk="0">
              <a:lnSpc>
                <a:spcPct val="98000"/>
              </a:lnSpc>
              <a:spcBef>
                <a:spcPts val="639"/>
              </a:spcBef>
              <a:tabLst/>
            </a:pPr>
            <a:r>
              <a:rPr sz="4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信号是</a:t>
            </a:r>
            <a:r>
              <a:rPr sz="4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4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</a:t>
            </a:r>
            <a:r>
              <a:rPr sz="47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为了响应某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些状况而产生的事件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。进程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收到信号后应该采取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相应的</a:t>
            </a:r>
            <a:r>
              <a:rPr sz="47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动作</a:t>
            </a:r>
            <a:endParaRPr sz="4700" dirty="0">
              <a:latin typeface="SimSun"/>
              <a:ea typeface="SimSun"/>
              <a:cs typeface="SimSun"/>
            </a:endParaRPr>
          </a:p>
        </p:txBody>
      </p:sp>
      <p:pic>
        <p:nvPicPr>
          <p:cNvPr id="518" name="picture 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8922" y="3749357"/>
            <a:ext cx="419100" cy="419100"/>
          </a:xfrm>
          <a:prstGeom prst="rect">
            <a:avLst/>
          </a:prstGeom>
        </p:spPr>
      </p:pic>
      <p:pic>
        <p:nvPicPr>
          <p:cNvPr id="520" name="picture 5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8922" y="823277"/>
            <a:ext cx="419100" cy="419100"/>
          </a:xfrm>
          <a:prstGeom prst="rect">
            <a:avLst/>
          </a:prstGeom>
        </p:spPr>
      </p:pic>
      <p:sp>
        <p:nvSpPr>
          <p:cNvPr id="522" name="textbox 52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114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524" name="textbox 524"/>
          <p:cNvSpPr/>
          <p:nvPr/>
        </p:nvSpPr>
        <p:spPr>
          <a:xfrm>
            <a:off x="112953" y="-44450"/>
            <a:ext cx="4821554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4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信号及默认处理方式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526" name="picture 5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textbox 52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115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530" name="textbox 530"/>
          <p:cNvSpPr/>
          <p:nvPr/>
        </p:nvSpPr>
        <p:spPr>
          <a:xfrm>
            <a:off x="723074" y="692797"/>
            <a:ext cx="8271509" cy="5996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09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8790" indent="-466090" algn="l" rtl="0" eaLnBrk="0">
              <a:lnSpc>
                <a:spcPct val="95000"/>
              </a:lnSpc>
              <a:tabLst/>
            </a:pP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在众多信号中</a:t>
            </a:r>
            <a:r>
              <a:rPr sz="35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有的是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硬件产生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5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有的</a:t>
            </a:r>
            <a:r>
              <a:rPr sz="3500" b="1" kern="0" spc="-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软</a:t>
            </a:r>
            <a:r>
              <a:rPr sz="3500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3500" b="1" kern="0" spc="-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生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1854200" algn="l" rtl="0" eaLnBrk="0">
              <a:lnSpc>
                <a:spcPct val="86000"/>
              </a:lnSpc>
              <a:spcBef>
                <a:spcPts val="708"/>
              </a:spcBef>
              <a:tabLst/>
            </a:pP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76884" indent="45719" algn="l" rtl="0" eaLnBrk="0">
              <a:lnSpc>
                <a:spcPct val="96000"/>
              </a:lnSpc>
              <a:spcBef>
                <a:spcPts val="597"/>
              </a:spcBef>
              <a:tabLst/>
            </a:pP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比如</a:t>
            </a:r>
            <a:r>
              <a:rPr sz="3500" kern="0" spc="5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可以产生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SIGINT</a:t>
            </a:r>
            <a:r>
              <a:rPr sz="3500" b="1" kern="0" spc="2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其值</a:t>
            </a:r>
            <a:r>
              <a:rPr sz="35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500" b="1" kern="0" spc="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35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</a:t>
            </a:r>
            <a:r>
              <a:rPr sz="3500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803275" algn="l" rtl="0" eaLnBrk="0">
              <a:lnSpc>
                <a:spcPct val="76000"/>
              </a:lnSpc>
              <a:spcBef>
                <a:spcPts val="1156"/>
              </a:spcBef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</a:t>
            </a:r>
            <a:endParaRPr sz="3500" dirty="0">
              <a:latin typeface="Arial"/>
              <a:ea typeface="Arial"/>
              <a:cs typeface="Arial"/>
            </a:endParaRPr>
          </a:p>
          <a:p>
            <a:pPr marL="2022475" algn="l" rtl="0" eaLnBrk="0">
              <a:lnSpc>
                <a:spcPct val="86000"/>
              </a:lnSpc>
              <a:spcBef>
                <a:spcPts val="681"/>
              </a:spcBef>
              <a:tabLst/>
            </a:pP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616584" algn="l" rtl="0" eaLnBrk="0">
              <a:lnSpc>
                <a:spcPct val="91000"/>
              </a:lnSpc>
              <a:spcBef>
                <a:spcPts val="34"/>
              </a:spcBef>
              <a:tabLst/>
            </a:pPr>
            <a:r>
              <a:rPr sz="3500" b="1" kern="0" spc="-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3500" b="1" kern="0" spc="-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endParaRPr sz="3500" dirty="0">
              <a:latin typeface="Arial"/>
              <a:ea typeface="Arial"/>
              <a:cs typeface="Arial"/>
            </a:endParaRPr>
          </a:p>
          <a:p>
            <a:pPr marL="664844" algn="l" rtl="0" eaLnBrk="0">
              <a:lnSpc>
                <a:spcPct val="74000"/>
              </a:lnSpc>
              <a:spcBef>
                <a:spcPts val="1652"/>
              </a:spcBef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3500" dirty="0">
              <a:latin typeface="Arial"/>
              <a:ea typeface="Arial"/>
              <a:cs typeface="Arial"/>
            </a:endParaRPr>
          </a:p>
          <a:p>
            <a:pPr marL="480694" algn="l" rtl="0" eaLnBrk="0">
              <a:lnSpc>
                <a:spcPct val="86000"/>
              </a:lnSpc>
              <a:spcBef>
                <a:spcPts val="714"/>
              </a:spcBef>
              <a:tabLst/>
            </a:pP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些</a:t>
            </a:r>
            <a:r>
              <a:rPr sz="3500" kern="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4541"/>
              </a:lnSpc>
              <a:tabLst/>
            </a:pP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trap</a:t>
            </a:r>
            <a:endParaRPr sz="3500" dirty="0">
              <a:latin typeface="Arial"/>
              <a:ea typeface="Arial"/>
              <a:cs typeface="Arial"/>
            </a:endParaRPr>
          </a:p>
        </p:txBody>
      </p:sp>
      <p:sp>
        <p:nvSpPr>
          <p:cNvPr id="532" name="textbox 532"/>
          <p:cNvSpPr/>
          <p:nvPr/>
        </p:nvSpPr>
        <p:spPr>
          <a:xfrm>
            <a:off x="159130" y="-59054"/>
            <a:ext cx="177418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常用信号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534" name="textbox 534"/>
          <p:cNvSpPr/>
          <p:nvPr/>
        </p:nvSpPr>
        <p:spPr>
          <a:xfrm>
            <a:off x="3010624" y="6476631"/>
            <a:ext cx="172720" cy="125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700" dirty="0">
              <a:latin typeface="SimSun"/>
              <a:ea typeface="SimSun"/>
              <a:cs typeface="SimSun"/>
            </a:endParaRPr>
          </a:p>
        </p:txBody>
      </p:sp>
      <p:pic>
        <p:nvPicPr>
          <p:cNvPr id="536" name="picture 5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56540"/>
            <a:ext cx="9144000" cy="6274434"/>
          </a:xfrm>
          <a:prstGeom prst="rect">
            <a:avLst/>
          </a:prstGeom>
        </p:spPr>
      </p:pic>
      <p:sp>
        <p:nvSpPr>
          <p:cNvPr id="538" name="textbox 538"/>
          <p:cNvSpPr/>
          <p:nvPr/>
        </p:nvSpPr>
        <p:spPr>
          <a:xfrm>
            <a:off x="24263" y="315479"/>
            <a:ext cx="9067165" cy="6009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6000"/>
              </a:lnSpc>
              <a:tabLst/>
            </a:pPr>
            <a:r>
              <a:rPr sz="2700" kern="0" spc="50" dirty="0">
                <a:solidFill>
                  <a:srgbClr val="444444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信号编号 信号名 含义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7145" algn="l" rtl="0" eaLnBrk="0">
              <a:lnSpc>
                <a:spcPts val="3809"/>
              </a:lnSpc>
              <a:spcBef>
                <a:spcPts val="593"/>
              </a:spcBef>
              <a:tabLst/>
            </a:pP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         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EXIT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程序退出时收到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该信息。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821939" algn="l" rtl="0" eaLnBrk="0">
              <a:lnSpc>
                <a:spcPct val="87000"/>
              </a:lnSpc>
              <a:spcBef>
                <a:spcPts val="520"/>
              </a:spcBef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挂掉电话线或终端连接的挂起信号，这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40640" algn="l" rtl="0" eaLnBrk="0">
              <a:lnSpc>
                <a:spcPct val="87000"/>
              </a:lnSpc>
              <a:spcBef>
                <a:spcPts val="541"/>
              </a:spcBef>
              <a:tabLst/>
            </a:pP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           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HUP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个信号也会造成某些进程在没有终止的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821939" algn="l" rtl="0" eaLnBrk="0">
              <a:lnSpc>
                <a:spcPct val="87000"/>
              </a:lnSpc>
              <a:spcBef>
                <a:spcPts val="541"/>
              </a:spcBef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情况下重新初始化。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819400" algn="l" rtl="0" eaLnBrk="0">
              <a:lnSpc>
                <a:spcPct val="87000"/>
              </a:lnSpc>
              <a:spcBef>
                <a:spcPts val="1106"/>
              </a:spcBef>
              <a:tabLst/>
            </a:pP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表示结束进程，但并不是强制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性的，常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87000"/>
              </a:lnSpc>
              <a:spcBef>
                <a:spcPts val="556"/>
              </a:spcBef>
              <a:tabLst/>
            </a:pP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     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用的</a:t>
            </a:r>
            <a:r>
              <a:rPr sz="2700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Ctrl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+C"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组合键发出就是一个</a:t>
            </a:r>
            <a:r>
              <a:rPr sz="2700" kern="0" spc="-3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endParaRPr sz="2700" dirty="0">
              <a:latin typeface="Arial"/>
              <a:ea typeface="Arial"/>
              <a:cs typeface="Arial"/>
            </a:endParaRPr>
          </a:p>
          <a:p>
            <a:pPr marL="2816860" algn="l" rtl="0" eaLnBrk="0">
              <a:lnSpc>
                <a:spcPct val="86000"/>
              </a:lnSpc>
              <a:spcBef>
                <a:spcPts val="561"/>
              </a:spcBef>
              <a:tabLst/>
            </a:pP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2700" kern="0" spc="3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的信号。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7145" algn="l" rtl="0" eaLnBrk="0">
              <a:lnSpc>
                <a:spcPts val="3809"/>
              </a:lnSpc>
              <a:spcBef>
                <a:spcPts val="565"/>
              </a:spcBef>
              <a:tabLst/>
            </a:pP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            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QUIT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退出。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7145" algn="l" rtl="0" eaLnBrk="0">
              <a:lnSpc>
                <a:spcPts val="3809"/>
              </a:lnSpc>
              <a:spcBef>
                <a:spcPts val="870"/>
              </a:spcBef>
              <a:tabLst/>
            </a:pPr>
            <a:r>
              <a:rPr sz="2700" kern="0" spc="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              </a:t>
            </a: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2700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700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杀死进程，即强制结束进程。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40640" algn="l" rtl="0" eaLnBrk="0">
              <a:lnSpc>
                <a:spcPct val="86000"/>
              </a:lnSpc>
              <a:spcBef>
                <a:spcPts val="1370"/>
              </a:spcBef>
              <a:tabLst/>
            </a:pP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SEGV</a:t>
            </a:r>
            <a:r>
              <a:rPr sz="2700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段错误。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09"/>
              </a:lnSpc>
              <a:spcBef>
                <a:spcPts val="1"/>
              </a:spcBef>
              <a:tabLst/>
            </a:pP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            TERM  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正常结束进程，是</a:t>
            </a:r>
            <a:r>
              <a:rPr sz="2700" kern="0" spc="-3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命令的默认信号。</a:t>
            </a:r>
            <a:endParaRPr sz="27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textbox 540"/>
          <p:cNvSpPr/>
          <p:nvPr/>
        </p:nvSpPr>
        <p:spPr>
          <a:xfrm>
            <a:off x="76835" y="695337"/>
            <a:ext cx="8858250" cy="5455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7025" algn="l" rtl="0" eaLnBrk="0">
              <a:lnSpc>
                <a:spcPct val="86000"/>
              </a:lnSpc>
              <a:tabLst>
                <a:tab pos="499109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）功能及用法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92125" indent="-165100" algn="l" rtl="0" eaLnBrk="0">
              <a:lnSpc>
                <a:spcPct val="97000"/>
              </a:lnSpc>
              <a:spcBef>
                <a:spcPts val="723"/>
              </a:spcBef>
              <a:tabLst>
                <a:tab pos="527684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向指定进程（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pid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）发送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一个特定的信号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signal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）。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默认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情况下，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发送终止信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号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TERM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（正常结束</a:t>
            </a:r>
            <a:r>
              <a:rPr sz="3500" b="1" kern="0" spc="1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500" b="1" kern="0" spc="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其值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8315" indent="-161289" algn="l" rtl="0" eaLnBrk="0">
              <a:lnSpc>
                <a:spcPct val="94000"/>
              </a:lnSpc>
              <a:spcBef>
                <a:spcPts val="725"/>
              </a:spcBef>
              <a:tabLst>
                <a:tab pos="484505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按照系统规定，当进程收到某信号后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，应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该采取相应动作，默认动作是结束执行。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6000"/>
              </a:lnSpc>
              <a:spcBef>
                <a:spcPts val="745"/>
              </a:spcBef>
              <a:tabLst>
                <a:tab pos="494030" algn="l"/>
              </a:tabLst>
            </a:pP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5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的用法为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1010285" indent="19684" algn="l" rtl="0" eaLnBrk="0">
              <a:lnSpc>
                <a:spcPct val="106000"/>
              </a:lnSpc>
              <a:spcBef>
                <a:spcPts val="72"/>
              </a:spcBef>
              <a:tabLst/>
            </a:pP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500" b="1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[-s signame</a:t>
            </a:r>
            <a:r>
              <a:rPr sz="3500" b="1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 -n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signum</a:t>
            </a:r>
            <a:r>
              <a:rPr sz="3500" b="1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35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signum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35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pid</a:t>
            </a:r>
            <a:r>
              <a:rPr sz="35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...</a:t>
            </a:r>
            <a:endParaRPr sz="3500" dirty="0">
              <a:latin typeface="Arial"/>
              <a:ea typeface="Arial"/>
              <a:cs typeface="Arial"/>
            </a:endParaRPr>
          </a:p>
          <a:p>
            <a:pPr marL="956310" algn="l" rtl="0" eaLnBrk="0">
              <a:lnSpc>
                <a:spcPct val="81000"/>
              </a:lnSpc>
              <a:spcBef>
                <a:spcPts val="850"/>
              </a:spcBef>
              <a:tabLst>
                <a:tab pos="1030605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5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-l</a:t>
            </a:r>
            <a:r>
              <a:rPr sz="35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[signame]</a:t>
            </a:r>
            <a:endParaRPr sz="3500" dirty="0">
              <a:latin typeface="Arial"/>
              <a:ea typeface="Arial"/>
              <a:cs typeface="Arial"/>
            </a:endParaRPr>
          </a:p>
        </p:txBody>
      </p:sp>
      <p:pic>
        <p:nvPicPr>
          <p:cNvPr id="542" name="picture 5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9454" y="5722302"/>
            <a:ext cx="314324" cy="314325"/>
          </a:xfrm>
          <a:prstGeom prst="rect">
            <a:avLst/>
          </a:prstGeom>
        </p:spPr>
      </p:pic>
      <p:pic>
        <p:nvPicPr>
          <p:cNvPr id="544" name="picture 5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9454" y="4625022"/>
            <a:ext cx="314324" cy="314325"/>
          </a:xfrm>
          <a:prstGeom prst="rect">
            <a:avLst/>
          </a:prstGeom>
        </p:spPr>
      </p:pic>
      <p:pic>
        <p:nvPicPr>
          <p:cNvPr id="546" name="picture 5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4076382"/>
            <a:ext cx="314325" cy="314325"/>
          </a:xfrm>
          <a:prstGeom prst="rect">
            <a:avLst/>
          </a:prstGeom>
        </p:spPr>
      </p:pic>
      <p:pic>
        <p:nvPicPr>
          <p:cNvPr id="548" name="picture 5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2978467"/>
            <a:ext cx="314325" cy="314325"/>
          </a:xfrm>
          <a:prstGeom prst="rect">
            <a:avLst/>
          </a:prstGeom>
        </p:spPr>
      </p:pic>
      <p:pic>
        <p:nvPicPr>
          <p:cNvPr id="550" name="picture 5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1333182"/>
            <a:ext cx="314325" cy="314325"/>
          </a:xfrm>
          <a:prstGeom prst="rect">
            <a:avLst/>
          </a:prstGeom>
        </p:spPr>
      </p:pic>
      <p:pic>
        <p:nvPicPr>
          <p:cNvPr id="552" name="picture 5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784542"/>
            <a:ext cx="314325" cy="314325"/>
          </a:xfrm>
          <a:prstGeom prst="rect">
            <a:avLst/>
          </a:prstGeom>
        </p:spPr>
      </p:pic>
      <p:sp>
        <p:nvSpPr>
          <p:cNvPr id="554" name="textbox 554"/>
          <p:cNvSpPr/>
          <p:nvPr/>
        </p:nvSpPr>
        <p:spPr>
          <a:xfrm>
            <a:off x="94208" y="-44450"/>
            <a:ext cx="497776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3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终止进程执行（</a:t>
            </a: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556" name="textbox 55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119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558" name="picture 5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textbox 560"/>
          <p:cNvSpPr/>
          <p:nvPr/>
        </p:nvSpPr>
        <p:spPr>
          <a:xfrm>
            <a:off x="111760" y="704037"/>
            <a:ext cx="8807450" cy="4917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1015" algn="l" rtl="0" eaLnBrk="0">
              <a:lnSpc>
                <a:spcPct val="88000"/>
              </a:lnSpc>
              <a:tabLst/>
            </a:pP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pid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4400" kern="0" spc="-7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进程编号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94665" algn="l" rtl="0" eaLnBrk="0">
              <a:lnSpc>
                <a:spcPct val="83000"/>
              </a:lnSpc>
              <a:spcBef>
                <a:spcPts val="651"/>
              </a:spcBef>
              <a:tabLst/>
            </a:pPr>
            <a:r>
              <a:rPr sz="4400" b="1" kern="0" spc="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-l</a:t>
            </a:r>
            <a:r>
              <a:rPr sz="4400" b="1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9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列出所有可用的信号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361950" algn="l" rtl="0" eaLnBrk="0">
              <a:lnSpc>
                <a:spcPct val="91000"/>
              </a:lnSpc>
              <a:spcBef>
                <a:spcPts val="855"/>
              </a:spcBef>
              <a:tabLst>
                <a:tab pos="491490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signame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signum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：列出指定信号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95300" indent="-133350" algn="l" rtl="0" eaLnBrk="0">
              <a:lnSpc>
                <a:spcPct val="100000"/>
              </a:lnSpc>
              <a:spcBef>
                <a:spcPts val="570"/>
              </a:spcBef>
              <a:tabLst>
                <a:tab pos="491490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signame</a:t>
            </a:r>
            <a:r>
              <a:rPr sz="3900" b="1" kern="0" spc="-5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signum</a:t>
            </a:r>
            <a:r>
              <a:rPr sz="3900" b="1" kern="0" spc="-6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：指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定发送的信号，可用的信号有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HUP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(1) 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(2)</a:t>
            </a:r>
            <a:r>
              <a:rPr sz="3900" b="1" kern="0" spc="-6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QUIT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(3)</a:t>
            </a:r>
            <a:r>
              <a:rPr sz="3900" b="1" kern="0" spc="-6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(9)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84505" indent="-10795" algn="l" rtl="0" eaLnBrk="0">
              <a:lnSpc>
                <a:spcPct val="97000"/>
              </a:lnSpc>
              <a:spcBef>
                <a:spcPts val="37"/>
              </a:spcBef>
              <a:tabLst/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TERM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(15)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等，另外还可是系统为用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户保留的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USR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USR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3900" dirty="0">
              <a:latin typeface="Arial"/>
              <a:ea typeface="Arial"/>
              <a:cs typeface="Arial"/>
            </a:endParaRPr>
          </a:p>
        </p:txBody>
      </p:sp>
      <p:pic>
        <p:nvPicPr>
          <p:cNvPr id="562" name="picture 5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745291"/>
            <a:ext cx="349250" cy="338234"/>
          </a:xfrm>
          <a:prstGeom prst="rect">
            <a:avLst/>
          </a:prstGeom>
        </p:spPr>
      </p:pic>
      <p:pic>
        <p:nvPicPr>
          <p:cNvPr id="564" name="picture 5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138362"/>
            <a:ext cx="349250" cy="349250"/>
          </a:xfrm>
          <a:prstGeom prst="rect">
            <a:avLst/>
          </a:prstGeom>
        </p:spPr>
      </p:pic>
      <p:pic>
        <p:nvPicPr>
          <p:cNvPr id="566" name="picture 5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1481137"/>
            <a:ext cx="383540" cy="384175"/>
          </a:xfrm>
          <a:prstGeom prst="rect">
            <a:avLst/>
          </a:prstGeom>
        </p:spPr>
      </p:pic>
      <p:pic>
        <p:nvPicPr>
          <p:cNvPr id="568" name="picture 5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810577"/>
            <a:ext cx="383540" cy="384175"/>
          </a:xfrm>
          <a:prstGeom prst="rect">
            <a:avLst/>
          </a:prstGeom>
        </p:spPr>
      </p:pic>
      <p:sp>
        <p:nvSpPr>
          <p:cNvPr id="570" name="textbox 57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572" name="textbox 572"/>
          <p:cNvSpPr/>
          <p:nvPr/>
        </p:nvSpPr>
        <p:spPr>
          <a:xfrm>
            <a:off x="88265" y="-44450"/>
            <a:ext cx="255651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4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参数说明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574" name="picture 5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textbox 576"/>
          <p:cNvSpPr/>
          <p:nvPr/>
        </p:nvSpPr>
        <p:spPr>
          <a:xfrm>
            <a:off x="76835" y="-44450"/>
            <a:ext cx="9080500" cy="6157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384" algn="l" rtl="0" eaLnBrk="0">
              <a:lnSpc>
                <a:spcPct val="89000"/>
              </a:lnSpc>
              <a:tabLst>
                <a:tab pos="9066530" algn="l"/>
              </a:tabLst>
            </a:pPr>
            <a:r>
              <a:rPr sz="3500" b="1" u="sng" kern="0" spc="-14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5</a:t>
            </a:r>
            <a:r>
              <a:rPr sz="3500" b="1" u="sng" kern="0" spc="-14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．</a:t>
            </a:r>
            <a:r>
              <a:rPr sz="3500" u="sng" kern="0" spc="-31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 </a:t>
            </a:r>
            <a:r>
              <a:rPr sz="3500" b="1" u="sng" kern="0" spc="-140" dirty="0">
                <a:solidFill>
                  <a:srgbClr val="FF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环</a:t>
            </a:r>
            <a:r>
              <a:rPr sz="3500" u="sng" kern="0" spc="-410" dirty="0">
                <a:solidFill>
                  <a:srgbClr val="FF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 </a:t>
            </a:r>
            <a:r>
              <a:rPr sz="3500" b="1" u="sng" kern="0" spc="-140" dirty="0">
                <a:solidFill>
                  <a:srgbClr val="FF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境变量的定义（</a:t>
            </a:r>
            <a:r>
              <a:rPr sz="3500" u="sng" kern="0" spc="-490" dirty="0">
                <a:solidFill>
                  <a:srgbClr val="FF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 </a:t>
            </a:r>
            <a:r>
              <a:rPr sz="3500" b="1" u="sng" kern="0" spc="-140" dirty="0">
                <a:solidFill>
                  <a:srgbClr val="FF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export</a:t>
            </a:r>
            <a:r>
              <a:rPr sz="3500" b="1" u="sng" kern="0" spc="-140" dirty="0">
                <a:solidFill>
                  <a:srgbClr val="FF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）</a:t>
            </a:r>
            <a:r>
              <a:rPr sz="3500" u="sng" kern="0" spc="0" dirty="0">
                <a:solidFill>
                  <a:srgbClr val="FF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	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327025" algn="l" rtl="0" eaLnBrk="0">
              <a:lnSpc>
                <a:spcPct val="90000"/>
              </a:lnSpc>
              <a:spcBef>
                <a:spcPts val="2114"/>
              </a:spcBef>
              <a:tabLst>
                <a:tab pos="478155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export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用于环境变量的定义、修改和撤销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525780" algn="l" rtl="0" eaLnBrk="0">
              <a:lnSpc>
                <a:spcPct val="86000"/>
              </a:lnSpc>
              <a:spcBef>
                <a:spcPts val="503"/>
              </a:spcBef>
              <a:tabLst/>
            </a:pP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。其用法为：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1000"/>
              </a:lnSpc>
              <a:spcBef>
                <a:spcPts val="1142"/>
              </a:spcBef>
              <a:tabLst>
                <a:tab pos="732155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export</a:t>
            </a:r>
            <a:r>
              <a:rPr sz="35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fn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35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name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[=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value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]]</a:t>
            </a:r>
            <a:r>
              <a:rPr sz="3500" b="1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...</a:t>
            </a:r>
            <a:endParaRPr sz="3500" dirty="0">
              <a:latin typeface="Arial"/>
              <a:ea typeface="Arial"/>
              <a:cs typeface="Arial"/>
            </a:endParaRPr>
          </a:p>
          <a:p>
            <a:pPr marL="327025" algn="l" rtl="0" eaLnBrk="0">
              <a:lnSpc>
                <a:spcPct val="78000"/>
              </a:lnSpc>
              <a:spcBef>
                <a:spcPts val="1029"/>
              </a:spcBef>
              <a:tabLst>
                <a:tab pos="732155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export</a:t>
            </a:r>
            <a:r>
              <a:rPr sz="35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-p</a:t>
            </a:r>
            <a:endParaRPr sz="3500" dirty="0">
              <a:latin typeface="Arial"/>
              <a:ea typeface="Arial"/>
              <a:cs typeface="Arial"/>
            </a:endParaRPr>
          </a:p>
          <a:p>
            <a:pPr marL="481330" indent="-154304" algn="l" rtl="0" eaLnBrk="0">
              <a:lnSpc>
                <a:spcPct val="94000"/>
              </a:lnSpc>
              <a:spcBef>
                <a:spcPts val="521"/>
              </a:spcBef>
              <a:tabLst/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种用法用于定义、修改或撤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销环境变</a:t>
            </a: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量。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6000"/>
              </a:lnSpc>
              <a:spcBef>
                <a:spcPts val="745"/>
              </a:spcBef>
              <a:tabLst>
                <a:tab pos="488950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-f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：用于指定一个函数；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6000"/>
              </a:lnSpc>
              <a:spcBef>
                <a:spcPts val="708"/>
              </a:spcBef>
              <a:tabLst>
                <a:tab pos="488950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-n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：用于撤销一个环境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变量。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92125" indent="-165100" algn="l" rtl="0" eaLnBrk="0">
              <a:lnSpc>
                <a:spcPct val="94000"/>
              </a:lnSpc>
              <a:spcBef>
                <a:spcPts val="709"/>
              </a:spcBef>
              <a:tabLst>
                <a:tab pos="481330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种用法用于显示当前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通过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export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定义的环境变量。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578" name="picture 5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5173662"/>
            <a:ext cx="314325" cy="314325"/>
          </a:xfrm>
          <a:prstGeom prst="rect">
            <a:avLst/>
          </a:prstGeom>
        </p:spPr>
      </p:pic>
      <p:pic>
        <p:nvPicPr>
          <p:cNvPr id="580" name="picture 5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4625022"/>
            <a:ext cx="314325" cy="314325"/>
          </a:xfrm>
          <a:prstGeom prst="rect">
            <a:avLst/>
          </a:prstGeom>
        </p:spPr>
      </p:pic>
      <p:pic>
        <p:nvPicPr>
          <p:cNvPr id="582" name="picture 5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4076382"/>
            <a:ext cx="314325" cy="314325"/>
          </a:xfrm>
          <a:prstGeom prst="rect">
            <a:avLst/>
          </a:prstGeom>
        </p:spPr>
      </p:pic>
      <p:pic>
        <p:nvPicPr>
          <p:cNvPr id="584" name="picture 5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2979102"/>
            <a:ext cx="314325" cy="314325"/>
          </a:xfrm>
          <a:prstGeom prst="rect">
            <a:avLst/>
          </a:prstGeom>
        </p:spPr>
      </p:pic>
      <p:pic>
        <p:nvPicPr>
          <p:cNvPr id="586" name="picture 5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2430462"/>
            <a:ext cx="314325" cy="314325"/>
          </a:xfrm>
          <a:prstGeom prst="rect">
            <a:avLst/>
          </a:prstGeom>
        </p:spPr>
      </p:pic>
      <p:pic>
        <p:nvPicPr>
          <p:cNvPr id="588" name="picture 5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1881822"/>
            <a:ext cx="314325" cy="314325"/>
          </a:xfrm>
          <a:prstGeom prst="rect">
            <a:avLst/>
          </a:prstGeom>
        </p:spPr>
      </p:pic>
      <p:pic>
        <p:nvPicPr>
          <p:cNvPr id="590" name="picture 5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784542"/>
            <a:ext cx="314325" cy="314325"/>
          </a:xfrm>
          <a:prstGeom prst="rect">
            <a:avLst/>
          </a:prstGeom>
        </p:spPr>
      </p:pic>
      <p:sp>
        <p:nvSpPr>
          <p:cNvPr id="592" name="textbox 59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130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textbox 594"/>
          <p:cNvSpPr/>
          <p:nvPr/>
        </p:nvSpPr>
        <p:spPr>
          <a:xfrm>
            <a:off x="91465" y="-44450"/>
            <a:ext cx="9065259" cy="5582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>
                <a:tab pos="9051925" algn="l"/>
              </a:tabLst>
            </a:pP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export</a:t>
            </a:r>
            <a:r>
              <a:rPr sz="3500" b="1" u="sng" kern="0" spc="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示例</a:t>
            </a:r>
            <a:r>
              <a:rPr sz="35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	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311784" algn="l" rtl="0" eaLnBrk="0">
              <a:lnSpc>
                <a:spcPct val="120000"/>
              </a:lnSpc>
              <a:spcBef>
                <a:spcPts val="26"/>
              </a:spcBef>
              <a:tabLst>
                <a:tab pos="499109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$ my_env1="MyEnv1"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#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定义局部变量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my_env1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$ export my_env1</a:t>
            </a:r>
            <a:r>
              <a:rPr sz="3200" b="1" kern="0" spc="5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#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将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my_env1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变为环境变量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97840" indent="-186054" algn="l" rtl="0" eaLnBrk="0">
              <a:lnSpc>
                <a:spcPct val="102000"/>
              </a:lnSpc>
              <a:spcBef>
                <a:spcPts val="27"/>
              </a:spcBef>
              <a:tabLst/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$ export my_env2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="MyEnv2" #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直接定义环境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my_env2</a:t>
            </a:r>
            <a:endParaRPr sz="3200" dirty="0">
              <a:latin typeface="Times New Roman"/>
              <a:ea typeface="Times New Roman"/>
              <a:cs typeface="Times New Roman"/>
            </a:endParaRPr>
          </a:p>
          <a:p>
            <a:pPr marL="311784" algn="l" rtl="0" eaLnBrk="0">
              <a:lnSpc>
                <a:spcPct val="90000"/>
              </a:lnSpc>
              <a:spcBef>
                <a:spcPts val="307"/>
              </a:spcBef>
              <a:tabLst>
                <a:tab pos="499109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$ env</a:t>
            </a:r>
            <a:r>
              <a:rPr sz="3200" b="1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| grep my_en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  #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显示新定义环境变量定义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98475" indent="-186689" algn="l" rtl="0" eaLnBrk="0">
              <a:lnSpc>
                <a:spcPct val="92000"/>
              </a:lnSpc>
              <a:spcBef>
                <a:spcPts val="390"/>
              </a:spcBef>
              <a:tabLst/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$ echo $my_env1 $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my_env2  #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显示新定义环境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变量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311784" algn="l" rtl="0" eaLnBrk="0">
              <a:lnSpc>
                <a:spcPct val="90000"/>
              </a:lnSpc>
              <a:spcBef>
                <a:spcPts val="610"/>
              </a:spcBef>
              <a:tabLst>
                <a:tab pos="499109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$ export -n my_env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  #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撤销对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my_env1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的定义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522605" indent="-210820" algn="l" rtl="0" eaLnBrk="0">
              <a:lnSpc>
                <a:spcPct val="95000"/>
              </a:lnSpc>
              <a:spcBef>
                <a:spcPts val="385"/>
              </a:spcBef>
              <a:tabLst>
                <a:tab pos="499109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$ env</a:t>
            </a:r>
            <a:r>
              <a:rPr sz="3200" b="1" kern="0" spc="3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| grep my_env #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显示新环境变量的定义</a:t>
            </a:r>
            <a:r>
              <a:rPr sz="3200" kern="0" spc="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只有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my_env2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了）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pic>
        <p:nvPicPr>
          <p:cNvPr id="596" name="picture 5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4672647"/>
            <a:ext cx="279400" cy="279400"/>
          </a:xfrm>
          <a:prstGeom prst="rect">
            <a:avLst/>
          </a:prstGeom>
        </p:spPr>
      </p:pic>
      <p:pic>
        <p:nvPicPr>
          <p:cNvPr id="598" name="picture 5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4184967"/>
            <a:ext cx="279400" cy="279400"/>
          </a:xfrm>
          <a:prstGeom prst="rect">
            <a:avLst/>
          </a:prstGeom>
        </p:spPr>
      </p:pic>
      <p:pic>
        <p:nvPicPr>
          <p:cNvPr id="600" name="picture 6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3209607"/>
            <a:ext cx="279400" cy="279400"/>
          </a:xfrm>
          <a:prstGeom prst="rect">
            <a:avLst/>
          </a:prstGeom>
        </p:spPr>
      </p:pic>
      <p:pic>
        <p:nvPicPr>
          <p:cNvPr id="602" name="picture 6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721927"/>
            <a:ext cx="279400" cy="279400"/>
          </a:xfrm>
          <a:prstGeom prst="rect">
            <a:avLst/>
          </a:prstGeom>
        </p:spPr>
      </p:pic>
      <p:pic>
        <p:nvPicPr>
          <p:cNvPr id="604" name="picture 6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1760330"/>
            <a:ext cx="279400" cy="274890"/>
          </a:xfrm>
          <a:prstGeom prst="rect">
            <a:avLst/>
          </a:prstGeom>
        </p:spPr>
      </p:pic>
      <p:pic>
        <p:nvPicPr>
          <p:cNvPr id="606" name="picture 6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1246271"/>
            <a:ext cx="279400" cy="276669"/>
          </a:xfrm>
          <a:prstGeom prst="rect">
            <a:avLst/>
          </a:prstGeom>
        </p:spPr>
      </p:pic>
      <p:pic>
        <p:nvPicPr>
          <p:cNvPr id="608" name="picture 6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763358"/>
            <a:ext cx="279400" cy="276668"/>
          </a:xfrm>
          <a:prstGeom prst="rect">
            <a:avLst/>
          </a:prstGeom>
        </p:spPr>
      </p:pic>
      <p:sp>
        <p:nvSpPr>
          <p:cNvPr id="610" name="textbox 61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131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picture 6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8997"/>
            <a:ext cx="9015939" cy="682757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picture 6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4040" y="225516"/>
            <a:ext cx="9104306" cy="645393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picture 6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sp>
        <p:nvSpPr>
          <p:cNvPr id="618" name="textbox 618"/>
          <p:cNvSpPr/>
          <p:nvPr/>
        </p:nvSpPr>
        <p:spPr>
          <a:xfrm>
            <a:off x="40322" y="538174"/>
            <a:ext cx="9025255" cy="6303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9584" indent="-163195" algn="l" rtl="0" eaLnBrk="0">
              <a:lnSpc>
                <a:spcPct val="98000"/>
              </a:lnSpc>
              <a:spcBef>
                <a:spcPts val="1"/>
              </a:spcBef>
              <a:tabLst>
                <a:tab pos="479425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UNIX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系统的</a:t>
            </a:r>
            <a:r>
              <a:rPr sz="3500" b="1" kern="0" spc="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管理与使用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</a:t>
            </a:r>
            <a:r>
              <a:rPr sz="3500" b="1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  <a:r>
              <a:rPr sz="3500" b="1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）为主体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的。</a:t>
            </a:r>
            <a:r>
              <a:rPr sz="3500" kern="0" spc="-15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“</a:t>
            </a:r>
            <a:r>
              <a:rPr sz="3500" kern="0" spc="-10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自然人</a:t>
            </a:r>
            <a:r>
              <a:rPr sz="3500" kern="0" spc="-1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</a:t>
            </a:r>
            <a:r>
              <a:rPr sz="3500" kern="0" spc="-9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使用系统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3500" kern="0" spc="10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必须以某个已</a:t>
            </a:r>
            <a:r>
              <a:rPr sz="3500" b="1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在系统中存在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500" b="1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用户身份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登录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，且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通过</a:t>
            </a:r>
            <a:r>
              <a:rPr sz="3500" b="1" u="sng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密码验证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后才能进入系统，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92125" algn="l" rtl="0" eaLnBrk="0">
              <a:lnSpc>
                <a:spcPct val="86000"/>
              </a:lnSpc>
              <a:spcBef>
                <a:spcPts val="711"/>
              </a:spcBef>
              <a:tabLst/>
            </a:pP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并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按</a:t>
            </a:r>
            <a:r>
              <a:rPr sz="3500" b="1" u="sng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权限使用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（安全性）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6000"/>
              </a:lnSpc>
              <a:spcBef>
                <a:spcPts val="722"/>
              </a:spcBef>
              <a:tabLst>
                <a:tab pos="490219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系统中有两类用户：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超级用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户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一般用户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79425" indent="46355" algn="l" rtl="0" eaLnBrk="0">
              <a:lnSpc>
                <a:spcPct val="95000"/>
              </a:lnSpc>
              <a:spcBef>
                <a:spcPts val="519"/>
              </a:spcBef>
              <a:tabLst/>
            </a:pP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。超级用户有</a:t>
            </a:r>
            <a:r>
              <a:rPr sz="3500" b="1" u="sng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至高无上的权力</a:t>
            </a:r>
            <a:r>
              <a:rPr sz="3500" b="1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700" b="1" i="1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责任最大</a:t>
            </a:r>
            <a:r>
              <a:rPr sz="3700" kern="0" spc="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700" b="1" i="1" kern="0" spc="-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3700" kern="0" spc="12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700" b="1" i="1" kern="0" spc="-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安全性要求最高</a:t>
            </a:r>
            <a:r>
              <a:rPr sz="35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可做</a:t>
            </a:r>
            <a:r>
              <a:rPr sz="3500" b="1" u="sng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任何操作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；一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般用户只能在</a:t>
            </a:r>
            <a:r>
              <a:rPr sz="3500" b="1" u="sng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给定权</a:t>
            </a:r>
            <a:r>
              <a:rPr sz="3500" b="1" u="sng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限范围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内进行工作。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92000"/>
              </a:lnSpc>
              <a:spcBef>
                <a:spcPts val="725"/>
              </a:spcBef>
              <a:tabLst>
                <a:tab pos="484505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用户又可分成不同的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组（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。同组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4505" algn="l" rtl="0" eaLnBrk="0">
              <a:lnSpc>
                <a:spcPct val="86000"/>
              </a:lnSpc>
              <a:spcBef>
                <a:spcPts val="443"/>
              </a:spcBef>
              <a:tabLst/>
            </a:pP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按规定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目的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享有某些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共同的权限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spcBef>
                <a:spcPts val="6"/>
              </a:spcBef>
              <a:tabLst/>
            </a:pP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9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620" name="picture 6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22" y="5565139"/>
            <a:ext cx="314325" cy="314325"/>
          </a:xfrm>
          <a:prstGeom prst="rect">
            <a:avLst/>
          </a:prstGeom>
        </p:spPr>
      </p:pic>
      <p:pic>
        <p:nvPicPr>
          <p:cNvPr id="622" name="picture 6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22" y="3369945"/>
            <a:ext cx="314325" cy="314325"/>
          </a:xfrm>
          <a:prstGeom prst="rect">
            <a:avLst/>
          </a:prstGeom>
        </p:spPr>
      </p:pic>
      <p:pic>
        <p:nvPicPr>
          <p:cNvPr id="624" name="picture 6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22" y="627379"/>
            <a:ext cx="314325" cy="314325"/>
          </a:xfrm>
          <a:prstGeom prst="rect">
            <a:avLst/>
          </a:prstGeom>
        </p:spPr>
      </p:pic>
      <p:sp>
        <p:nvSpPr>
          <p:cNvPr id="626" name="textbox 626"/>
          <p:cNvSpPr/>
          <p:nvPr/>
        </p:nvSpPr>
        <p:spPr>
          <a:xfrm>
            <a:off x="85521" y="-44450"/>
            <a:ext cx="657796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4.1 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UNIX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系统的用户和组与安全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textbox 628"/>
          <p:cNvSpPr/>
          <p:nvPr/>
        </p:nvSpPr>
        <p:spPr>
          <a:xfrm>
            <a:off x="184785" y="699870"/>
            <a:ext cx="8630919" cy="5422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45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5140" indent="-123189" algn="l" rtl="0" eaLnBrk="0">
              <a:lnSpc>
                <a:spcPct val="97000"/>
              </a:lnSpc>
              <a:tabLst>
                <a:tab pos="480694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UNIX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系统中每个用户都有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用户名（</a:t>
            </a:r>
            <a:r>
              <a:rPr sz="3900" kern="0" spc="-10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 name</a:t>
            </a:r>
            <a:r>
              <a:rPr sz="3900" b="1" kern="0" spc="2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），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系统还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给每个用户分配了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一个用户标识</a:t>
            </a:r>
            <a:r>
              <a:rPr sz="3900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87044" indent="10795" algn="l" rtl="0" eaLnBrk="0">
              <a:lnSpc>
                <a:spcPct val="97000"/>
              </a:lnSpc>
              <a:spcBef>
                <a:spcPts val="782"/>
              </a:spcBef>
              <a:tabLst/>
            </a:pP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3900" b="1" kern="0" spc="1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  <a:r>
              <a:rPr sz="3900" b="1" kern="0" spc="1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identification</a:t>
            </a:r>
            <a:r>
              <a:rPr sz="3900" b="1" kern="0" spc="1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900" b="1" kern="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3900" b="1" u="sng" kern="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u="sng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3900" b="1" u="sng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是系统辨识用户的唯一标识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，而</a:t>
            </a:r>
            <a:r>
              <a:rPr sz="39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用户名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则是用户的</a:t>
            </a:r>
            <a:r>
              <a:rPr sz="39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外部表示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80059" indent="-118745" algn="l" rtl="0" eaLnBrk="0">
              <a:lnSpc>
                <a:spcPct val="97000"/>
              </a:lnSpc>
              <a:spcBef>
                <a:spcPts val="802"/>
              </a:spcBef>
              <a:tabLst>
                <a:tab pos="487044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用户信息</a:t>
            </a:r>
            <a:r>
              <a:rPr sz="3900" b="1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存放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在文件</a:t>
            </a:r>
            <a:r>
              <a:rPr sz="3900" b="1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3900" b="1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passwd</a:t>
            </a:r>
            <a:r>
              <a:rPr sz="3900" b="1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900" b="1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</a:t>
            </a:r>
            <a:r>
              <a:rPr sz="3900" b="1" u="sng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对此文件的安全性要求是最高之一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中。用户标识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可用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来查询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pic>
        <p:nvPicPr>
          <p:cNvPr id="630" name="picture 6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4454842"/>
            <a:ext cx="349250" cy="349250"/>
          </a:xfrm>
          <a:prstGeom prst="rect">
            <a:avLst/>
          </a:prstGeom>
        </p:spPr>
      </p:pic>
      <p:pic>
        <p:nvPicPr>
          <p:cNvPr id="632" name="picture 6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797242"/>
            <a:ext cx="349250" cy="349250"/>
          </a:xfrm>
          <a:prstGeom prst="rect">
            <a:avLst/>
          </a:prstGeom>
        </p:spPr>
      </p:pic>
      <p:sp>
        <p:nvSpPr>
          <p:cNvPr id="634" name="textbox 634"/>
          <p:cNvSpPr/>
          <p:nvPr/>
        </p:nvSpPr>
        <p:spPr>
          <a:xfrm>
            <a:off x="80543" y="6510981"/>
            <a:ext cx="8985250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97"/>
              </a:lnSpc>
              <a:tabLst/>
            </a:pP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</a:t>
            </a:r>
            <a:r>
              <a:rPr sz="2600" b="1" kern="0" spc="-20" baseline="4862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x</a:t>
            </a:r>
            <a:r>
              <a:rPr sz="1700" b="1" kern="0" spc="-1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9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-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-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-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-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-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-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-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-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-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</a:t>
            </a:r>
            <a:r>
              <a:rPr sz="2700" kern="0" spc="-30" baseline="1209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-30" baseline="1209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2700" kern="0" spc="-30" baseline="1209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12097" dirty="0">
              <a:latin typeface="STXinwei"/>
              <a:ea typeface="STXinwei"/>
              <a:cs typeface="STXinwei"/>
            </a:endParaRPr>
          </a:p>
        </p:txBody>
      </p:sp>
      <p:pic>
        <p:nvPicPr>
          <p:cNvPr id="636" name="picture 6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pic>
        <p:nvPicPr>
          <p:cNvPr id="638" name="picture 6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9832" y="548640"/>
            <a:ext cx="8880347" cy="6193535"/>
          </a:xfrm>
          <a:prstGeom prst="rect">
            <a:avLst/>
          </a:prstGeom>
        </p:spPr>
      </p:pic>
      <p:sp>
        <p:nvSpPr>
          <p:cNvPr id="640" name="textbox 640"/>
          <p:cNvSpPr/>
          <p:nvPr/>
        </p:nvSpPr>
        <p:spPr>
          <a:xfrm>
            <a:off x="85521" y="-44450"/>
            <a:ext cx="334581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4.1.1</a:t>
            </a:r>
            <a:r>
              <a:rPr sz="3500" b="1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用户与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endParaRPr sz="3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642"/>
          <p:cNvSpPr/>
          <p:nvPr/>
        </p:nvSpPr>
        <p:spPr>
          <a:xfrm>
            <a:off x="76835" y="-44450"/>
            <a:ext cx="9080500" cy="6042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89000"/>
              </a:lnSpc>
              <a:tabLst>
                <a:tab pos="9066530" algn="l"/>
              </a:tabLst>
            </a:pPr>
            <a:r>
              <a:rPr sz="3500" b="1" u="sng" kern="0" spc="-1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4.1.2</a:t>
            </a:r>
            <a:r>
              <a:rPr sz="3500" b="1" u="sng" kern="0" spc="2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  </a:t>
            </a:r>
            <a:r>
              <a:rPr sz="3500" b="1" u="sng" kern="0" spc="-1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组与</a:t>
            </a: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gid</a:t>
            </a: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	</a:t>
            </a:r>
            <a:endParaRPr sz="3500" dirty="0">
              <a:latin typeface="Arial"/>
              <a:ea typeface="Arial"/>
              <a:cs typeface="Arial"/>
            </a:endParaRPr>
          </a:p>
          <a:p>
            <a:pPr marL="479425" indent="-187960" algn="l" rtl="0" eaLnBrk="0">
              <a:lnSpc>
                <a:spcPct val="97000"/>
              </a:lnSpc>
              <a:spcBef>
                <a:spcPts val="1984"/>
              </a:spcBef>
              <a:tabLst>
                <a:tab pos="487044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系统在</a:t>
            </a:r>
            <a:r>
              <a:rPr sz="3200" b="1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创建用户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时，将每个用户划归一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个组</a:t>
            </a:r>
            <a:r>
              <a:rPr sz="3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</a:t>
            </a:r>
            <a:r>
              <a:rPr sz="3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）。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每个组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都有一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</a:t>
            </a:r>
            <a:r>
              <a:rPr sz="32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组名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</a:t>
            </a:r>
            <a:r>
              <a:rPr sz="32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name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)</a:t>
            </a:r>
            <a:r>
              <a:rPr sz="3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一个组标识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gid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</a:t>
            </a:r>
            <a:r>
              <a:rPr sz="32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identifi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cation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76884" indent="-185420" algn="l" rtl="0" eaLnBrk="0">
              <a:lnSpc>
                <a:spcPct val="97000"/>
              </a:lnSpc>
              <a:spcBef>
                <a:spcPts val="342"/>
              </a:spcBef>
              <a:tabLst>
                <a:tab pos="485775" algn="l"/>
              </a:tabLst>
            </a:pPr>
            <a:r>
              <a:rPr sz="32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一个组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是具有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某种关联的用户集合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。比如，在</a:t>
            </a:r>
            <a:r>
              <a:rPr sz="3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某种业务方面，需要把操作某些数据文件或数</a:t>
            </a:r>
            <a:r>
              <a:rPr sz="32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据库的用户放在一个组中，以实现数据共享或</a:t>
            </a:r>
            <a:r>
              <a:rPr sz="32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共同操作。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一个组中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可以包含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多个用户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</a:t>
            </a:r>
            <a:r>
              <a:rPr sz="3200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</a:t>
            </a:r>
            <a:r>
              <a:rPr sz="32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参与不同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的组。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80059" indent="-188595" algn="l" rtl="0" eaLnBrk="0">
              <a:lnSpc>
                <a:spcPct val="94000"/>
              </a:lnSpc>
              <a:spcBef>
                <a:spcPts val="692"/>
              </a:spcBef>
              <a:tabLst>
                <a:tab pos="483869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组信息存放在文件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/etc/group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（此文件也需要较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高的安全性要求）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中，组标识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gid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也可用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</a:t>
            </a:r>
            <a:r>
              <a:rPr sz="3200" b="1" kern="0" spc="-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来查询</a:t>
            </a:r>
            <a:r>
              <a:rPr sz="3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pic>
        <p:nvPicPr>
          <p:cNvPr id="644" name="picture 6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4672647"/>
            <a:ext cx="279400" cy="279400"/>
          </a:xfrm>
          <a:prstGeom prst="rect">
            <a:avLst/>
          </a:prstGeom>
        </p:spPr>
      </p:pic>
      <p:pic>
        <p:nvPicPr>
          <p:cNvPr id="646" name="picture 6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2234247"/>
            <a:ext cx="279400" cy="279400"/>
          </a:xfrm>
          <a:prstGeom prst="rect">
            <a:avLst/>
          </a:prstGeom>
        </p:spPr>
      </p:pic>
      <p:pic>
        <p:nvPicPr>
          <p:cNvPr id="648" name="picture 6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771207"/>
            <a:ext cx="279400" cy="279400"/>
          </a:xfrm>
          <a:prstGeom prst="rect">
            <a:avLst/>
          </a:prstGeom>
        </p:spPr>
      </p:pic>
      <p:sp>
        <p:nvSpPr>
          <p:cNvPr id="650" name="textbox 65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9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textbox 652"/>
          <p:cNvSpPr/>
          <p:nvPr/>
        </p:nvSpPr>
        <p:spPr>
          <a:xfrm>
            <a:off x="-12700" y="4394"/>
            <a:ext cx="9169400" cy="6414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6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>
                <a:tab pos="110489" algn="l"/>
                <a:tab pos="9156700" algn="l"/>
              </a:tabLst>
            </a:pP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	</a:t>
            </a:r>
            <a:r>
              <a:rPr sz="3500" b="1" u="sng" kern="0" spc="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4.2.1  /</a:t>
            </a: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etc</a:t>
            </a:r>
            <a:r>
              <a:rPr sz="3500" b="1" u="sng" kern="0" spc="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/</a:t>
            </a: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passwd</a:t>
            </a: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	</a:t>
            </a:r>
            <a:endParaRPr sz="3500" dirty="0">
              <a:latin typeface="Arial"/>
              <a:ea typeface="Arial"/>
              <a:cs typeface="Arial"/>
            </a:endParaRPr>
          </a:p>
          <a:p>
            <a:pPr marL="546100" indent="-29844" algn="l" rtl="0" eaLnBrk="0">
              <a:lnSpc>
                <a:spcPct val="97000"/>
              </a:lnSpc>
              <a:spcBef>
                <a:spcPts val="926"/>
              </a:spcBef>
              <a:tabLst/>
            </a:pPr>
            <a:r>
              <a:rPr sz="39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39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passwd</a:t>
            </a:r>
            <a:r>
              <a:rPr sz="39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是系统用户数据库文件，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它包括系统内所有已经注册用户的信</a:t>
            </a:r>
            <a:r>
              <a:rPr sz="39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息。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14655" algn="l" rtl="0" eaLnBrk="0">
              <a:lnSpc>
                <a:spcPct val="87000"/>
              </a:lnSpc>
              <a:spcBef>
                <a:spcPts val="786"/>
              </a:spcBef>
              <a:tabLst>
                <a:tab pos="544194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该文件是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一个文本文件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，它的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每一行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540384" algn="l" rtl="0" eaLnBrk="0">
              <a:lnSpc>
                <a:spcPts val="3991"/>
              </a:lnSpc>
              <a:spcBef>
                <a:spcPts val="2667"/>
              </a:spcBef>
              <a:tabLst/>
            </a:pP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描述</a:t>
            </a:r>
            <a:r>
              <a:rPr sz="3900" b="1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一个用户的信息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，为由</a:t>
            </a:r>
            <a:r>
              <a:rPr sz="3900" kern="0" spc="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5900" b="1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5900" b="1" kern="0" spc="4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565784" algn="l" rtl="0" eaLnBrk="0">
              <a:lnSpc>
                <a:spcPts val="7200"/>
              </a:lnSpc>
              <a:tabLst/>
            </a:pPr>
            <a:r>
              <a:rPr sz="39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隔</a:t>
            </a:r>
            <a:r>
              <a:rPr sz="39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5900" b="1" kern="0" spc="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39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个字段</a:t>
            </a:r>
            <a:r>
              <a:rPr sz="39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。结构为：</a:t>
            </a:r>
            <a:endParaRPr sz="3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6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44194" indent="19050" algn="l" rtl="0" eaLnBrk="0">
              <a:lnSpc>
                <a:spcPct val="91000"/>
              </a:lnSpc>
              <a:tabLst/>
            </a:pP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username</a:t>
            </a:r>
            <a:r>
              <a:rPr sz="5300" b="1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:[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password</a:t>
            </a:r>
            <a:r>
              <a:rPr sz="5300" b="1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]: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5300" b="1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53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gid</a:t>
            </a:r>
            <a:r>
              <a:rPr sz="53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:[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comment</a:t>
            </a:r>
            <a:r>
              <a:rPr sz="53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]: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dir</a:t>
            </a:r>
            <a:r>
              <a:rPr sz="53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:[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53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endParaRPr sz="5300" dirty="0">
              <a:latin typeface="Arial"/>
              <a:ea typeface="Arial"/>
              <a:cs typeface="Arial"/>
            </a:endParaRPr>
          </a:p>
        </p:txBody>
      </p:sp>
      <p:pic>
        <p:nvPicPr>
          <p:cNvPr id="654" name="picture 6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022" y="2481579"/>
            <a:ext cx="349250" cy="349250"/>
          </a:xfrm>
          <a:prstGeom prst="rect">
            <a:avLst/>
          </a:prstGeom>
        </p:spPr>
      </p:pic>
      <p:pic>
        <p:nvPicPr>
          <p:cNvPr id="656" name="picture 6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022" y="652779"/>
            <a:ext cx="349250" cy="349250"/>
          </a:xfrm>
          <a:prstGeom prst="rect">
            <a:avLst/>
          </a:prstGeom>
        </p:spPr>
      </p:pic>
      <p:sp>
        <p:nvSpPr>
          <p:cNvPr id="658" name="textbox 65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9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660" name="textbox 660"/>
          <p:cNvSpPr/>
          <p:nvPr/>
        </p:nvSpPr>
        <p:spPr>
          <a:xfrm>
            <a:off x="6851205" y="3074415"/>
            <a:ext cx="1697354" cy="273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4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6525" algn="l" rtl="0" eaLnBrk="0">
              <a:lnSpc>
                <a:spcPct val="86000"/>
              </a:lnSpc>
              <a:tabLst/>
            </a:pPr>
            <a:r>
              <a:rPr sz="1900" b="1" kern="0" spc="12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“</a:t>
            </a:r>
            <a:r>
              <a:rPr sz="1900" kern="0" spc="4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900" b="1" kern="0" spc="32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</a:t>
            </a:r>
            <a:endParaRPr sz="19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textbox 662"/>
          <p:cNvSpPr/>
          <p:nvPr/>
        </p:nvSpPr>
        <p:spPr>
          <a:xfrm>
            <a:off x="76835" y="-44450"/>
            <a:ext cx="9080500" cy="63995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9066530" algn="l"/>
              </a:tabLst>
            </a:pPr>
            <a:r>
              <a:rPr sz="3500" b="1" u="sng" kern="0" spc="14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/</a:t>
            </a: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etc</a:t>
            </a:r>
            <a:r>
              <a:rPr sz="3500" b="1" u="sng" kern="0" spc="14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/</a:t>
            </a: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passwd</a:t>
            </a:r>
            <a:r>
              <a:rPr sz="3500" b="1" u="sng" kern="0" spc="14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结构说明</a:t>
            </a:r>
            <a:r>
              <a:rPr sz="35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	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590550" indent="-190500" algn="l" rtl="0" eaLnBrk="0">
              <a:lnSpc>
                <a:spcPct val="92000"/>
              </a:lnSpc>
              <a:spcBef>
                <a:spcPts val="879"/>
              </a:spcBef>
              <a:tabLst>
                <a:tab pos="599440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username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用户名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，必须以字符开始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，只能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用小写字母。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00050" algn="l" rtl="0" eaLnBrk="0">
              <a:lnSpc>
                <a:spcPct val="88000"/>
              </a:lnSpc>
              <a:spcBef>
                <a:spcPts val="656"/>
              </a:spcBef>
              <a:tabLst>
                <a:tab pos="598805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password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2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密</a:t>
            </a:r>
            <a:r>
              <a:rPr sz="3200" b="1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码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590550" indent="-190500" algn="l" rtl="0" eaLnBrk="0">
              <a:lnSpc>
                <a:spcPct val="92000"/>
              </a:lnSpc>
              <a:spcBef>
                <a:spcPts val="436"/>
              </a:spcBef>
              <a:tabLst>
                <a:tab pos="599440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用户标识号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。取值范围在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/etc/login.defs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文件中定义。一般用户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满足：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600709" algn="l" rtl="0" eaLnBrk="0">
              <a:lnSpc>
                <a:spcPct val="77000"/>
              </a:lnSpc>
              <a:spcBef>
                <a:spcPts val="1076"/>
              </a:spcBef>
              <a:tabLst/>
            </a:pP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UID_MIN≤uid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≤UID_MAX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00050" algn="l" rtl="0" eaLnBrk="0">
              <a:lnSpc>
                <a:spcPct val="89000"/>
              </a:lnSpc>
              <a:spcBef>
                <a:spcPts val="451"/>
              </a:spcBef>
              <a:tabLst>
                <a:tab pos="588009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gid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组标识号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。说明同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596900" indent="-196850" algn="l" rtl="0" eaLnBrk="0">
              <a:lnSpc>
                <a:spcPct val="92000"/>
              </a:lnSpc>
              <a:spcBef>
                <a:spcPts val="379"/>
              </a:spcBef>
              <a:tabLst>
                <a:tab pos="588009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comment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说明域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。可以为空，但不能包含冒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号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588009" indent="-188595" algn="l" rtl="0" eaLnBrk="0">
              <a:lnSpc>
                <a:spcPct val="92000"/>
              </a:lnSpc>
              <a:spcBef>
                <a:spcPts val="615"/>
              </a:spcBef>
              <a:tabLst>
                <a:tab pos="588009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dir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用户家目录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，即用户登录成功后所在的工</a:t>
            </a:r>
            <a:r>
              <a:rPr sz="3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作目录。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00050" algn="l" rtl="0" eaLnBrk="0">
              <a:lnSpc>
                <a:spcPct val="86000"/>
              </a:lnSpc>
              <a:spcBef>
                <a:spcPts val="651"/>
              </a:spcBef>
              <a:tabLst>
                <a:tab pos="580390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：用户</a:t>
            </a: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登录成功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后所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使用的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程序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pic>
        <p:nvPicPr>
          <p:cNvPr id="664" name="picture 6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5991225"/>
            <a:ext cx="279400" cy="279400"/>
          </a:xfrm>
          <a:prstGeom prst="rect">
            <a:avLst/>
          </a:prstGeom>
        </p:spPr>
      </p:pic>
      <p:pic>
        <p:nvPicPr>
          <p:cNvPr id="666" name="picture 6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5015864"/>
            <a:ext cx="279400" cy="279400"/>
          </a:xfrm>
          <a:prstGeom prst="rect">
            <a:avLst/>
          </a:prstGeom>
        </p:spPr>
      </p:pic>
      <p:pic>
        <p:nvPicPr>
          <p:cNvPr id="668" name="picture 6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4040504"/>
            <a:ext cx="279400" cy="279400"/>
          </a:xfrm>
          <a:prstGeom prst="rect">
            <a:avLst/>
          </a:prstGeom>
        </p:spPr>
      </p:pic>
      <p:pic>
        <p:nvPicPr>
          <p:cNvPr id="670" name="picture 6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3552825"/>
            <a:ext cx="279400" cy="279400"/>
          </a:xfrm>
          <a:prstGeom prst="rect">
            <a:avLst/>
          </a:prstGeom>
        </p:spPr>
      </p:pic>
      <p:pic>
        <p:nvPicPr>
          <p:cNvPr id="672" name="picture 6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2089784"/>
            <a:ext cx="279400" cy="279400"/>
          </a:xfrm>
          <a:prstGeom prst="rect">
            <a:avLst/>
          </a:prstGeom>
        </p:spPr>
      </p:pic>
      <p:pic>
        <p:nvPicPr>
          <p:cNvPr id="674" name="picture 6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1602105"/>
            <a:ext cx="279400" cy="279400"/>
          </a:xfrm>
          <a:prstGeom prst="rect">
            <a:avLst/>
          </a:prstGeom>
        </p:spPr>
      </p:pic>
      <p:pic>
        <p:nvPicPr>
          <p:cNvPr id="676" name="picture 6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626745"/>
            <a:ext cx="279400" cy="279400"/>
          </a:xfrm>
          <a:prstGeom prst="rect">
            <a:avLst/>
          </a:prstGeom>
        </p:spPr>
      </p:pic>
      <p:sp>
        <p:nvSpPr>
          <p:cNvPr id="678" name="textbox 67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9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textbox 680"/>
          <p:cNvSpPr/>
          <p:nvPr/>
        </p:nvSpPr>
        <p:spPr>
          <a:xfrm>
            <a:off x="111760" y="695337"/>
            <a:ext cx="8799194" cy="541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9425" indent="-152400" algn="l" rtl="0" eaLnBrk="0">
              <a:lnSpc>
                <a:spcPct val="97000"/>
              </a:lnSpc>
              <a:tabLst>
                <a:tab pos="473709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为用户登录成功后所使用的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序，也可是用户实用程序，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当为空时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，系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统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默认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6000"/>
              </a:lnSpc>
              <a:spcBef>
                <a:spcPts val="725"/>
              </a:spcBef>
              <a:tabLst>
                <a:tab pos="488315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一般说，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的值应该在</a:t>
            </a:r>
            <a:r>
              <a:rPr sz="3500" b="1" kern="0" spc="1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shells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存在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25780" algn="l" rtl="0" eaLnBrk="0">
              <a:lnSpc>
                <a:spcPct val="93000"/>
              </a:lnSpc>
              <a:spcBef>
                <a:spcPts val="214"/>
              </a:spcBef>
              <a:tabLst/>
            </a:pPr>
            <a:r>
              <a:rPr sz="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700" dirty="0">
              <a:latin typeface="SimSun"/>
              <a:ea typeface="SimSun"/>
              <a:cs typeface="SimSun"/>
            </a:endParaRPr>
          </a:p>
          <a:p>
            <a:pPr marL="485775" indent="-159385" algn="l" rtl="0" eaLnBrk="0">
              <a:lnSpc>
                <a:spcPct val="99000"/>
              </a:lnSpc>
              <a:spcBef>
                <a:spcPts val="1249"/>
              </a:spcBef>
              <a:tabLst>
                <a:tab pos="488315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如果想让用户登录后直接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执行某个程序，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usr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-5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，则可修改此项内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容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usr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79425" indent="-152400" algn="l" rtl="0" eaLnBrk="0">
              <a:lnSpc>
                <a:spcPct val="94000"/>
              </a:lnSpc>
              <a:spcBef>
                <a:spcPts val="476"/>
              </a:spcBef>
              <a:tabLst>
                <a:tab pos="482600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若此项设置为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一个不存在或不可执行的文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件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，则用户不能成功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登录。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682" name="picture 6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5173027"/>
            <a:ext cx="314325" cy="314325"/>
          </a:xfrm>
          <a:prstGeom prst="rect">
            <a:avLst/>
          </a:prstGeom>
        </p:spPr>
      </p:pic>
      <p:pic>
        <p:nvPicPr>
          <p:cNvPr id="684" name="picture 6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3527107"/>
            <a:ext cx="314325" cy="314325"/>
          </a:xfrm>
          <a:prstGeom prst="rect">
            <a:avLst/>
          </a:prstGeom>
        </p:spPr>
      </p:pic>
      <p:pic>
        <p:nvPicPr>
          <p:cNvPr id="686" name="picture 6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430462"/>
            <a:ext cx="314325" cy="314325"/>
          </a:xfrm>
          <a:prstGeom prst="rect">
            <a:avLst/>
          </a:prstGeom>
        </p:spPr>
      </p:pic>
      <p:pic>
        <p:nvPicPr>
          <p:cNvPr id="688" name="picture 6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784542"/>
            <a:ext cx="314325" cy="314325"/>
          </a:xfrm>
          <a:prstGeom prst="rect">
            <a:avLst/>
          </a:prstGeom>
        </p:spPr>
      </p:pic>
      <p:sp>
        <p:nvSpPr>
          <p:cNvPr id="690" name="textbox 69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9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692" name="textbox 692"/>
          <p:cNvSpPr/>
          <p:nvPr/>
        </p:nvSpPr>
        <p:spPr>
          <a:xfrm>
            <a:off x="151815" y="-44450"/>
            <a:ext cx="328040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关于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的说明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694" name="picture 6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textbox 696"/>
          <p:cNvSpPr/>
          <p:nvPr/>
        </p:nvSpPr>
        <p:spPr>
          <a:xfrm>
            <a:off x="76835" y="-44450"/>
            <a:ext cx="9080500" cy="6089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9066530" algn="l"/>
              </a:tabLst>
            </a:pPr>
            <a:r>
              <a:rPr sz="3500" b="1" u="sng" kern="0" spc="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/</a:t>
            </a: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etc</a:t>
            </a:r>
            <a:r>
              <a:rPr sz="3500" b="1" u="sng" kern="0" spc="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/</a:t>
            </a: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passwd</a:t>
            </a:r>
            <a:r>
              <a:rPr sz="3500" b="1" u="sng" kern="0" spc="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示例</a:t>
            </a:r>
            <a:r>
              <a:rPr sz="35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	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124460" algn="l" rtl="0" eaLnBrk="0">
              <a:lnSpc>
                <a:spcPts val="5783"/>
              </a:lnSpc>
              <a:tabLst/>
            </a:pP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以下为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passwd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文件中的部分内容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10489" algn="l" rtl="0" eaLnBrk="0">
              <a:lnSpc>
                <a:spcPct val="85000"/>
              </a:lnSpc>
              <a:spcBef>
                <a:spcPts val="579"/>
              </a:spcBef>
              <a:tabLst/>
            </a:pPr>
            <a:r>
              <a:rPr sz="39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396875" algn="l" rtl="0" eaLnBrk="0">
              <a:lnSpc>
                <a:spcPct val="75000"/>
              </a:lnSpc>
              <a:spcBef>
                <a:spcPts val="1298"/>
              </a:spcBef>
              <a:tabLst>
                <a:tab pos="531494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root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:x:0:0: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root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root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bash</a:t>
            </a:r>
            <a:endParaRPr sz="3900" dirty="0">
              <a:latin typeface="Arial"/>
              <a:ea typeface="Arial"/>
              <a:cs typeface="Arial"/>
            </a:endParaRPr>
          </a:p>
          <a:p>
            <a:pPr marL="396875" algn="l" rtl="0" eaLnBrk="0">
              <a:lnSpc>
                <a:spcPct val="82000"/>
              </a:lnSpc>
              <a:spcBef>
                <a:spcPts val="1282"/>
              </a:spcBef>
              <a:tabLst>
                <a:tab pos="531494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:x:1:1: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sbin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nologin</a:t>
            </a:r>
            <a:endParaRPr sz="3900" dirty="0">
              <a:latin typeface="Arial"/>
              <a:ea typeface="Arial"/>
              <a:cs typeface="Arial"/>
            </a:endParaRPr>
          </a:p>
          <a:p>
            <a:pPr marL="530859" indent="-134620" algn="l" rtl="0" eaLnBrk="0">
              <a:lnSpc>
                <a:spcPct val="97000"/>
              </a:lnSpc>
              <a:spcBef>
                <a:spcPts val="490"/>
              </a:spcBef>
              <a:tabLst>
                <a:tab pos="518159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第一行是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root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用户的信息，用户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名为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root</a:t>
            </a:r>
            <a:r>
              <a:rPr sz="3900" b="1" kern="0" spc="-6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gid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均为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3900" b="1" kern="0" spc="-6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，描述信息为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735965" algn="l" rtl="0" eaLnBrk="0">
              <a:lnSpc>
                <a:spcPct val="85000"/>
              </a:lnSpc>
              <a:spcBef>
                <a:spcPts val="547"/>
              </a:spcBef>
              <a:tabLst/>
            </a:pPr>
            <a:r>
              <a:rPr sz="39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“</a:t>
            </a:r>
            <a:r>
              <a:rPr sz="39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root</a:t>
            </a:r>
            <a:r>
              <a:rPr sz="3900" b="1" kern="0" spc="-5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”，家目录为</a:t>
            </a:r>
            <a:r>
              <a:rPr sz="39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root</a:t>
            </a:r>
            <a:r>
              <a:rPr sz="3900" b="1" kern="0" spc="-6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，使用</a:t>
            </a:r>
            <a:r>
              <a:rPr sz="39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endParaRPr sz="3900" dirty="0">
              <a:latin typeface="Arial"/>
              <a:ea typeface="Arial"/>
              <a:cs typeface="Arial"/>
            </a:endParaRPr>
          </a:p>
          <a:p>
            <a:pPr marL="523875" algn="l" rtl="0" eaLnBrk="0">
              <a:lnSpc>
                <a:spcPts val="4800"/>
              </a:lnSpc>
              <a:tabLst/>
            </a:pP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bash</a:t>
            </a: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396875" algn="l" rtl="0" eaLnBrk="0">
              <a:lnSpc>
                <a:spcPct val="87000"/>
              </a:lnSpc>
              <a:spcBef>
                <a:spcPts val="786"/>
              </a:spcBef>
              <a:tabLst>
                <a:tab pos="518159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第二行是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用户的信息。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pic>
        <p:nvPicPr>
          <p:cNvPr id="698" name="picture 6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5602604"/>
            <a:ext cx="349250" cy="349250"/>
          </a:xfrm>
          <a:prstGeom prst="rect">
            <a:avLst/>
          </a:prstGeom>
        </p:spPr>
      </p:pic>
      <p:pic>
        <p:nvPicPr>
          <p:cNvPr id="700" name="picture 7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3164204"/>
            <a:ext cx="349250" cy="349250"/>
          </a:xfrm>
          <a:prstGeom prst="rect">
            <a:avLst/>
          </a:prstGeom>
        </p:spPr>
      </p:pic>
      <p:pic>
        <p:nvPicPr>
          <p:cNvPr id="702" name="picture 7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554605"/>
            <a:ext cx="349250" cy="349250"/>
          </a:xfrm>
          <a:prstGeom prst="rect">
            <a:avLst/>
          </a:prstGeom>
        </p:spPr>
      </p:pic>
      <p:pic>
        <p:nvPicPr>
          <p:cNvPr id="704" name="picture 7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1945005"/>
            <a:ext cx="349250" cy="349250"/>
          </a:xfrm>
          <a:prstGeom prst="rect">
            <a:avLst/>
          </a:prstGeom>
        </p:spPr>
      </p:pic>
      <p:sp>
        <p:nvSpPr>
          <p:cNvPr id="706" name="textbox 70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picture 7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sp>
        <p:nvSpPr>
          <p:cNvPr id="710" name="textbox 710"/>
          <p:cNvSpPr/>
          <p:nvPr/>
        </p:nvSpPr>
        <p:spPr>
          <a:xfrm>
            <a:off x="-12700" y="4394"/>
            <a:ext cx="9169400" cy="6265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0489" algn="l" rtl="0" eaLnBrk="0">
              <a:lnSpc>
                <a:spcPct val="75000"/>
              </a:lnSpc>
              <a:tabLst/>
            </a:pP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4.2.2  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shadow</a:t>
            </a:r>
            <a:endParaRPr sz="3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653"/>
              </a:spcBef>
              <a:tabLst>
                <a:tab pos="65405" algn="l"/>
              </a:tabLst>
            </a:pP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4400" b="1" kern="0" spc="3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4400" b="1" kern="0" spc="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4400" b="1" kern="0" spc="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shadow</a:t>
            </a:r>
            <a:r>
              <a:rPr sz="44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44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影子密码</a:t>
            </a:r>
            <a:r>
              <a:rPr sz="44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文件。</a:t>
            </a:r>
            <a:r>
              <a:rPr sz="4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539750" indent="-90805" algn="l" rtl="0" eaLnBrk="0">
              <a:lnSpc>
                <a:spcPct val="94000"/>
              </a:lnSpc>
              <a:spcBef>
                <a:spcPts val="652"/>
              </a:spcBef>
              <a:tabLst>
                <a:tab pos="573405" algn="l"/>
              </a:tabLst>
            </a:pPr>
            <a:r>
              <a:rPr sz="4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4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44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当系统启用影子密码时，用</a:t>
            </a:r>
            <a:r>
              <a:rPr sz="44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于存放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系统内用户加密后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密码和用户登</a:t>
            </a:r>
            <a:r>
              <a:rPr sz="4400" b="1" kern="0" spc="-1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录控制信息（</a:t>
            </a:r>
            <a:r>
              <a:rPr sz="4400" kern="0" spc="-14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600" u="sng" kern="0" spc="-16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600" b="1" i="1" u="sng" kern="0" spc="-1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增加安全性的一个技</a:t>
            </a:r>
            <a:r>
              <a:rPr sz="4600" b="1" i="1" u="sng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巧</a:t>
            </a:r>
            <a:r>
              <a:rPr sz="44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44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44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其结构为</a:t>
            </a:r>
            <a:r>
              <a:rPr sz="44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518159" indent="-103504" algn="l" rtl="0" eaLnBrk="0">
              <a:lnSpc>
                <a:spcPct val="89000"/>
              </a:lnSpc>
              <a:spcBef>
                <a:spcPts val="1414"/>
              </a:spcBef>
              <a:tabLst>
                <a:tab pos="551180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username:password:lastchanged: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min</a:t>
            </a:r>
            <a:r>
              <a:rPr sz="39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max</a:t>
            </a:r>
            <a:r>
              <a:rPr sz="39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warn</a:t>
            </a:r>
            <a:r>
              <a:rPr sz="39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inactive</a:t>
            </a:r>
            <a:r>
              <a:rPr sz="39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expired</a:t>
            </a:r>
            <a:r>
              <a:rPr sz="39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 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endParaRPr sz="3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42290" algn="l" rtl="0" eaLnBrk="0">
              <a:lnSpc>
                <a:spcPct val="86000"/>
              </a:lnSpc>
              <a:tabLst/>
            </a:pP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用户一般情况下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不需要直接操作</a:t>
            </a:r>
            <a:endParaRPr sz="4400" dirty="0">
              <a:latin typeface="SimSun"/>
              <a:ea typeface="SimSun"/>
              <a:cs typeface="SimSun"/>
            </a:endParaRPr>
          </a:p>
        </p:txBody>
      </p:sp>
      <p:pic>
        <p:nvPicPr>
          <p:cNvPr id="712" name="picture 7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22" y="5775642"/>
            <a:ext cx="383540" cy="384175"/>
          </a:xfrm>
          <a:prstGeom prst="rect">
            <a:avLst/>
          </a:prstGeom>
        </p:spPr>
      </p:pic>
      <p:pic>
        <p:nvPicPr>
          <p:cNvPr id="714" name="picture 7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022" y="3934142"/>
            <a:ext cx="349250" cy="349250"/>
          </a:xfrm>
          <a:prstGeom prst="rect">
            <a:avLst/>
          </a:prstGeom>
        </p:spPr>
      </p:pic>
      <p:pic>
        <p:nvPicPr>
          <p:cNvPr id="716" name="picture 7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22" y="1264602"/>
            <a:ext cx="383540" cy="384175"/>
          </a:xfrm>
          <a:prstGeom prst="rect">
            <a:avLst/>
          </a:prstGeom>
        </p:spPr>
      </p:pic>
      <p:pic>
        <p:nvPicPr>
          <p:cNvPr id="718" name="picture 7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22" y="594677"/>
            <a:ext cx="383540" cy="384175"/>
          </a:xfrm>
          <a:prstGeom prst="rect">
            <a:avLst/>
          </a:prstGeom>
        </p:spPr>
      </p:pic>
      <p:sp>
        <p:nvSpPr>
          <p:cNvPr id="720" name="textbox 720"/>
          <p:cNvSpPr/>
          <p:nvPr/>
        </p:nvSpPr>
        <p:spPr>
          <a:xfrm>
            <a:off x="80543" y="6340297"/>
            <a:ext cx="8985250" cy="584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400"/>
              </a:lnSpc>
              <a:tabLst/>
            </a:pPr>
            <a:r>
              <a:rPr sz="2100" b="1" kern="0" spc="-30" baseline="197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2100" b="1" kern="0" spc="-30" baseline="197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</a:t>
            </a:r>
            <a:r>
              <a:rPr sz="1300" b="1" kern="0" spc="-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</a:t>
            </a:r>
            <a:r>
              <a:rPr sz="1300" b="1" kern="0" spc="-4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2100" b="1" kern="0" spc="-40" baseline="197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全</a:t>
            </a:r>
            <a:r>
              <a:rPr sz="3400" b="1" kern="0" spc="-4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2100" b="1" kern="0" spc="-480" baseline="197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》</a:t>
            </a:r>
            <a:r>
              <a:rPr sz="13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</a:t>
            </a:r>
            <a:r>
              <a:rPr sz="2100" b="1" kern="0" spc="-480" baseline="197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工</a:t>
            </a:r>
            <a:r>
              <a:rPr sz="13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13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100" b="1" kern="0" spc="-480" baseline="197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学</a:t>
            </a:r>
            <a:r>
              <a:rPr sz="13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</a:t>
            </a:r>
            <a:r>
              <a:rPr sz="1300" b="1" kern="0" spc="-4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软</a:t>
            </a:r>
            <a:r>
              <a:rPr sz="3400" b="1" kern="0" spc="-3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件</a:t>
            </a:r>
            <a:r>
              <a:rPr sz="1300" b="1" kern="0" spc="-12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</a:t>
            </a:r>
            <a:r>
              <a:rPr sz="3400" b="1" kern="0" spc="-12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2100" b="1" kern="0" spc="-1270" baseline="197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院</a:t>
            </a:r>
            <a:r>
              <a:rPr sz="1300" kern="0" spc="2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2100" b="1" kern="0" spc="240" baseline="197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2100" b="1" kern="0" spc="240" baseline="197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2100" b="1" kern="0" spc="240" baseline="197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2100" b="1" kern="0" spc="240" baseline="197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2100" b="1" kern="0" spc="240" baseline="197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300" b="1" kern="0" spc="24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240" baseline="197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300" kern="0" spc="2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2100" b="1" kern="0" spc="240" baseline="197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3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</a:t>
            </a:r>
            <a:r>
              <a:rPr sz="2100" kern="0" spc="230" baseline="27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100" b="1" kern="0" spc="230" baseline="2720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2100" kern="0" spc="230" baseline="27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100" baseline="272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722" name="picture 7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83803" y="6352997"/>
            <a:ext cx="533141" cy="505001"/>
          </a:xfrm>
          <a:prstGeom prst="rect">
            <a:avLst/>
          </a:prstGeom>
        </p:spPr>
      </p:pic>
      <p:pic>
        <p:nvPicPr>
          <p:cNvPr id="724" name="picture 7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249208" y="6538730"/>
            <a:ext cx="432442" cy="294822"/>
          </a:xfrm>
          <a:prstGeom prst="rect">
            <a:avLst/>
          </a:prstGeom>
        </p:spPr>
      </p:pic>
      <p:pic>
        <p:nvPicPr>
          <p:cNvPr id="726" name="picture 7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927718" y="6532576"/>
            <a:ext cx="337985" cy="307129"/>
          </a:xfrm>
          <a:prstGeom prst="rect">
            <a:avLst/>
          </a:prstGeom>
        </p:spPr>
      </p:pic>
      <p:pic>
        <p:nvPicPr>
          <p:cNvPr id="728" name="picture 7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691705" y="6426843"/>
            <a:ext cx="318318" cy="412863"/>
          </a:xfrm>
          <a:prstGeom prst="rect">
            <a:avLst/>
          </a:prstGeom>
        </p:spPr>
      </p:pic>
      <p:pic>
        <p:nvPicPr>
          <p:cNvPr id="730" name="picture 7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378393" y="6532576"/>
            <a:ext cx="304662" cy="307129"/>
          </a:xfrm>
          <a:prstGeom prst="rect">
            <a:avLst/>
          </a:prstGeom>
        </p:spPr>
      </p:pic>
      <p:pic>
        <p:nvPicPr>
          <p:cNvPr id="732" name="picture 7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630922" y="6532576"/>
            <a:ext cx="298178" cy="307129"/>
          </a:xfrm>
          <a:prstGeom prst="rect">
            <a:avLst/>
          </a:prstGeom>
        </p:spPr>
      </p:pic>
      <p:pic>
        <p:nvPicPr>
          <p:cNvPr id="734" name="picture 7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417967" y="6420130"/>
            <a:ext cx="201230" cy="419576"/>
          </a:xfrm>
          <a:prstGeom prst="rect">
            <a:avLst/>
          </a:prstGeom>
        </p:spPr>
      </p:pic>
      <p:pic>
        <p:nvPicPr>
          <p:cNvPr id="736" name="picture 73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176097" y="6532576"/>
            <a:ext cx="287549" cy="307129"/>
          </a:xfrm>
          <a:prstGeom prst="rect">
            <a:avLst/>
          </a:prstGeom>
        </p:spPr>
      </p:pic>
      <p:pic>
        <p:nvPicPr>
          <p:cNvPr id="738" name="picture 7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74813" y="6435235"/>
            <a:ext cx="181279" cy="404471"/>
          </a:xfrm>
          <a:prstGeom prst="rect">
            <a:avLst/>
          </a:prstGeom>
        </p:spPr>
      </p:pic>
      <p:pic>
        <p:nvPicPr>
          <p:cNvPr id="740" name="picture 74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73933" y="6532576"/>
            <a:ext cx="293143" cy="307129"/>
          </a:xfrm>
          <a:prstGeom prst="rect">
            <a:avLst/>
          </a:prstGeom>
        </p:spPr>
      </p:pic>
      <p:pic>
        <p:nvPicPr>
          <p:cNvPr id="742" name="picture 74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01091" y="6420130"/>
            <a:ext cx="159448" cy="41957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textbox 74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746" name="textbox 746"/>
          <p:cNvSpPr/>
          <p:nvPr/>
        </p:nvSpPr>
        <p:spPr>
          <a:xfrm>
            <a:off x="526097" y="557224"/>
            <a:ext cx="8522969" cy="6515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59" indent="321945" algn="l" rtl="0" eaLnBrk="0">
              <a:lnSpc>
                <a:spcPct val="94000"/>
              </a:lnSpc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username</a:t>
            </a:r>
            <a:r>
              <a:rPr sz="3500" b="1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5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35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passwd</a:t>
            </a:r>
            <a:r>
              <a:rPr sz="3500" b="1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内对应的用户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名。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3655" indent="323850" algn="l" rtl="0" eaLnBrk="0">
              <a:lnSpc>
                <a:spcPct val="94000"/>
              </a:lnSpc>
              <a:spcBef>
                <a:spcPts val="765"/>
              </a:spcBef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password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加密后的密码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。若为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空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表示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无密码，开头为“</a:t>
            </a:r>
            <a:r>
              <a:rPr sz="3500" b="1" kern="0" spc="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!!</a:t>
            </a:r>
            <a:r>
              <a:rPr sz="3500" b="1" kern="0" spc="-4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”时表示用户被上锁。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59409" algn="l" rtl="0" eaLnBrk="0">
              <a:lnSpc>
                <a:spcPct val="92000"/>
              </a:lnSpc>
              <a:spcBef>
                <a:spcPts val="705"/>
              </a:spcBef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lastchanged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500" b="1" kern="0" spc="1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最后修改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日期。从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259" algn="l" rtl="0" eaLnBrk="0">
              <a:lnSpc>
                <a:spcPct val="86000"/>
              </a:lnSpc>
              <a:spcBef>
                <a:spcPts val="476"/>
              </a:spcBef>
              <a:tabLst/>
            </a:pP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19700101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到上次修改密码的天数间隔。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54965" algn="l" rtl="0" eaLnBrk="0">
              <a:lnSpc>
                <a:spcPct val="86000"/>
              </a:lnSpc>
              <a:spcBef>
                <a:spcPts val="708"/>
              </a:spcBef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min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必须修改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密码的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剩余天数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3655" indent="320675" algn="l" rtl="0" eaLnBrk="0">
              <a:lnSpc>
                <a:spcPct val="94000"/>
              </a:lnSpc>
              <a:spcBef>
                <a:spcPts val="709"/>
              </a:spcBef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max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：密码的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最长有效天数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warn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：更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换前</a:t>
            </a:r>
            <a:r>
              <a:rPr sz="3500" b="1" kern="0" spc="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警告的天数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59409" algn="l" rtl="0" eaLnBrk="0">
              <a:lnSpc>
                <a:spcPct val="86000"/>
              </a:lnSpc>
              <a:spcBef>
                <a:spcPts val="731"/>
              </a:spcBef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inactive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：账号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被取消激活前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的天数。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64135" indent="276859" algn="l" rtl="0" eaLnBrk="0">
              <a:lnSpc>
                <a:spcPct val="94000"/>
              </a:lnSpc>
              <a:spcBef>
                <a:spcPts val="722"/>
              </a:spcBef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expired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：账号</a:t>
            </a:r>
            <a:r>
              <a:rPr sz="3500" b="1" kern="0" spc="1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不活跃的天数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resv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500" b="1" kern="0" spc="1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保</a:t>
            </a:r>
            <a:r>
              <a:rPr sz="3500" b="1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留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748" name="picture 7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8797" y="6132829"/>
            <a:ext cx="314325" cy="314325"/>
          </a:xfrm>
          <a:prstGeom prst="rect">
            <a:avLst/>
          </a:prstGeom>
        </p:spPr>
      </p:pic>
      <p:pic>
        <p:nvPicPr>
          <p:cNvPr id="750" name="picture 7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8797" y="5584189"/>
            <a:ext cx="314325" cy="314325"/>
          </a:xfrm>
          <a:prstGeom prst="rect">
            <a:avLst/>
          </a:prstGeom>
        </p:spPr>
      </p:pic>
      <p:pic>
        <p:nvPicPr>
          <p:cNvPr id="752" name="picture 7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8797" y="4486909"/>
            <a:ext cx="314325" cy="314325"/>
          </a:xfrm>
          <a:prstGeom prst="rect">
            <a:avLst/>
          </a:prstGeom>
        </p:spPr>
      </p:pic>
      <p:pic>
        <p:nvPicPr>
          <p:cNvPr id="754" name="picture 7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8797" y="3938269"/>
            <a:ext cx="314325" cy="314325"/>
          </a:xfrm>
          <a:prstGeom prst="rect">
            <a:avLst/>
          </a:prstGeom>
        </p:spPr>
      </p:pic>
      <p:pic>
        <p:nvPicPr>
          <p:cNvPr id="756" name="picture 7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8797" y="2840990"/>
            <a:ext cx="314325" cy="314325"/>
          </a:xfrm>
          <a:prstGeom prst="rect">
            <a:avLst/>
          </a:prstGeom>
        </p:spPr>
      </p:pic>
      <p:pic>
        <p:nvPicPr>
          <p:cNvPr id="758" name="picture 7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8797" y="1743709"/>
            <a:ext cx="314325" cy="314325"/>
          </a:xfrm>
          <a:prstGeom prst="rect">
            <a:avLst/>
          </a:prstGeom>
        </p:spPr>
      </p:pic>
      <p:pic>
        <p:nvPicPr>
          <p:cNvPr id="760" name="picture 7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8797" y="646429"/>
            <a:ext cx="314325" cy="314325"/>
          </a:xfrm>
          <a:prstGeom prst="rect">
            <a:avLst/>
          </a:prstGeom>
        </p:spPr>
      </p:pic>
      <p:sp>
        <p:nvSpPr>
          <p:cNvPr id="762" name="textbox 762"/>
          <p:cNvSpPr/>
          <p:nvPr/>
        </p:nvSpPr>
        <p:spPr>
          <a:xfrm>
            <a:off x="151815" y="-44450"/>
            <a:ext cx="485520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关于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shadow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的说明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764" name="picture 7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textbox 766"/>
          <p:cNvSpPr/>
          <p:nvPr/>
        </p:nvSpPr>
        <p:spPr>
          <a:xfrm>
            <a:off x="534034" y="705396"/>
            <a:ext cx="7820025" cy="3643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1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2125" algn="l" rtl="0" eaLnBrk="0">
              <a:lnSpc>
                <a:spcPct val="86000"/>
              </a:lnSpc>
              <a:tabLst/>
            </a:pPr>
            <a:r>
              <a:rPr sz="4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用于用户管理的命令有</a:t>
            </a:r>
            <a:endParaRPr sz="4700" dirty="0">
              <a:latin typeface="SimSun"/>
              <a:ea typeface="SimSun"/>
              <a:cs typeface="SimSun"/>
            </a:endParaRPr>
          </a:p>
          <a:p>
            <a:pPr marL="505459" algn="l" rtl="0" eaLnBrk="0">
              <a:lnSpc>
                <a:spcPct val="85000"/>
              </a:lnSpc>
              <a:spcBef>
                <a:spcPts val="923"/>
              </a:spcBef>
              <a:tabLst/>
            </a:pPr>
            <a:r>
              <a:rPr sz="4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useradd</a:t>
            </a:r>
            <a:r>
              <a:rPr sz="4700" b="1" kern="0" spc="-7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7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4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usermod</a:t>
            </a:r>
            <a:r>
              <a:rPr sz="47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endParaRPr sz="4700" dirty="0">
              <a:latin typeface="SimSun"/>
              <a:ea typeface="SimSun"/>
              <a:cs typeface="SimSun"/>
            </a:endParaRPr>
          </a:p>
          <a:p>
            <a:pPr marL="505459" algn="l" rtl="0" eaLnBrk="0">
              <a:lnSpc>
                <a:spcPct val="85000"/>
              </a:lnSpc>
              <a:spcBef>
                <a:spcPts val="966"/>
              </a:spcBef>
              <a:tabLst/>
            </a:pPr>
            <a:r>
              <a:rPr sz="4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userdel</a:t>
            </a:r>
            <a:r>
              <a:rPr sz="4700" b="1" kern="0" spc="-6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7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，它们分别用于用</a:t>
            </a:r>
            <a:endParaRPr sz="4700" dirty="0">
              <a:latin typeface="SimSun"/>
              <a:ea typeface="SimSun"/>
              <a:cs typeface="SimSun"/>
            </a:endParaRPr>
          </a:p>
          <a:p>
            <a:pPr marL="489584" algn="l" rtl="0" eaLnBrk="0">
              <a:lnSpc>
                <a:spcPct val="107000"/>
              </a:lnSpc>
              <a:spcBef>
                <a:spcPts val="77"/>
              </a:spcBef>
              <a:tabLst/>
            </a:pP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户创建、用户属性修改和用</a:t>
            </a:r>
            <a:r>
              <a:rPr sz="47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户删除。</a:t>
            </a:r>
            <a:endParaRPr sz="4700" dirty="0">
              <a:latin typeface="SimSun"/>
              <a:ea typeface="SimSun"/>
              <a:cs typeface="SimSun"/>
            </a:endParaRPr>
          </a:p>
        </p:txBody>
      </p:sp>
      <p:pic>
        <p:nvPicPr>
          <p:cNvPr id="768" name="picture 7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823277"/>
            <a:ext cx="419100" cy="419100"/>
          </a:xfrm>
          <a:prstGeom prst="rect">
            <a:avLst/>
          </a:prstGeom>
        </p:spPr>
      </p:pic>
      <p:sp>
        <p:nvSpPr>
          <p:cNvPr id="770" name="textbox 77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17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772" name="textbox 772"/>
          <p:cNvSpPr/>
          <p:nvPr/>
        </p:nvSpPr>
        <p:spPr>
          <a:xfrm>
            <a:off x="85521" y="-44450"/>
            <a:ext cx="365252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4.3</a:t>
            </a:r>
            <a:r>
              <a:rPr sz="3500" b="1" kern="0" spc="3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用户管理命令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774" name="picture 7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textbox 776"/>
          <p:cNvSpPr/>
          <p:nvPr/>
        </p:nvSpPr>
        <p:spPr>
          <a:xfrm>
            <a:off x="534034" y="699870"/>
            <a:ext cx="7681594" cy="4797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1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1950" algn="l" rtl="0" eaLnBrk="0">
              <a:lnSpc>
                <a:spcPct val="87000"/>
              </a:lnSpc>
              <a:tabLst>
                <a:tab pos="503555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900" b="1" kern="0" spc="-5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．功能与用法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85140" indent="-123189" algn="l" rtl="0" eaLnBrk="0">
              <a:lnSpc>
                <a:spcPct val="94000"/>
              </a:lnSpc>
              <a:spcBef>
                <a:spcPts val="725"/>
              </a:spcBef>
              <a:tabLst>
                <a:tab pos="480694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useradd</a:t>
            </a:r>
            <a:r>
              <a:rPr sz="39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的功能是创建新用</a:t>
            </a:r>
            <a:r>
              <a:rPr sz="39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户。用法为：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87044" indent="-125095" algn="l" rtl="0" eaLnBrk="0">
              <a:lnSpc>
                <a:spcPct val="94000"/>
              </a:lnSpc>
              <a:spcBef>
                <a:spcPts val="802"/>
              </a:spcBef>
              <a:tabLst>
                <a:tab pos="498475" algn="l"/>
              </a:tabLst>
            </a:pP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useradd</a:t>
            </a:r>
            <a:r>
              <a:rPr sz="3900" b="1" kern="0" spc="3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options</a:t>
            </a:r>
            <a:r>
              <a:rPr sz="3900" b="1" kern="0" spc="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3900" b="1" kern="0" spc="3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  <a:r>
              <a:rPr sz="3900" b="1" kern="0" spc="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9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9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添加</a:t>
            </a:r>
            <a:r>
              <a:rPr sz="39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361950" algn="l" rtl="0" eaLnBrk="0">
              <a:lnSpc>
                <a:spcPct val="87000"/>
              </a:lnSpc>
              <a:spcBef>
                <a:spcPts val="806"/>
              </a:spcBef>
              <a:tabLst>
                <a:tab pos="498475" algn="l"/>
              </a:tabLst>
            </a:pP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useradd</a:t>
            </a:r>
            <a:r>
              <a:rPr sz="39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-D</a:t>
            </a:r>
            <a:r>
              <a:rPr sz="3900" b="1" kern="0" spc="1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显示默认值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83234" indent="-121285" algn="l" rtl="0" eaLnBrk="0">
              <a:lnSpc>
                <a:spcPct val="94000"/>
              </a:lnSpc>
              <a:spcBef>
                <a:spcPts val="725"/>
              </a:spcBef>
              <a:tabLst>
                <a:tab pos="498475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useradd</a:t>
            </a: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-D</a:t>
            </a:r>
            <a:r>
              <a:rPr sz="3900" b="1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options</a:t>
            </a: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   #</a:t>
            </a:r>
            <a:r>
              <a:rPr sz="39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设置默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认值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pic>
        <p:nvPicPr>
          <p:cNvPr id="778" name="picture 7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4454842"/>
            <a:ext cx="349250" cy="349250"/>
          </a:xfrm>
          <a:prstGeom prst="rect">
            <a:avLst/>
          </a:prstGeom>
        </p:spPr>
      </p:pic>
      <p:pic>
        <p:nvPicPr>
          <p:cNvPr id="780" name="picture 7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3845242"/>
            <a:ext cx="349250" cy="349250"/>
          </a:xfrm>
          <a:prstGeom prst="rect">
            <a:avLst/>
          </a:prstGeom>
        </p:spPr>
      </p:pic>
      <p:pic>
        <p:nvPicPr>
          <p:cNvPr id="782" name="picture 7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2626042"/>
            <a:ext cx="349250" cy="349250"/>
          </a:xfrm>
          <a:prstGeom prst="rect">
            <a:avLst/>
          </a:prstGeom>
        </p:spPr>
      </p:pic>
      <p:pic>
        <p:nvPicPr>
          <p:cNvPr id="784" name="picture 7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1406842"/>
            <a:ext cx="349250" cy="349250"/>
          </a:xfrm>
          <a:prstGeom prst="rect">
            <a:avLst/>
          </a:prstGeom>
        </p:spPr>
      </p:pic>
      <p:pic>
        <p:nvPicPr>
          <p:cNvPr id="786" name="picture 7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734" y="797242"/>
            <a:ext cx="349250" cy="349250"/>
          </a:xfrm>
          <a:prstGeom prst="rect">
            <a:avLst/>
          </a:prstGeom>
        </p:spPr>
      </p:pic>
      <p:sp>
        <p:nvSpPr>
          <p:cNvPr id="788" name="textbox 788"/>
          <p:cNvSpPr/>
          <p:nvPr/>
        </p:nvSpPr>
        <p:spPr>
          <a:xfrm>
            <a:off x="85521" y="-44450"/>
            <a:ext cx="577151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4.3.1</a:t>
            </a:r>
            <a:r>
              <a:rPr sz="3500" b="1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500" b="1" kern="0" spc="-1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增加</a:t>
            </a:r>
            <a:r>
              <a:rPr sz="3500" kern="0" spc="-2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用户（</a:t>
            </a:r>
            <a:r>
              <a:rPr sz="3500" kern="0" spc="-3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useradd</a:t>
            </a:r>
            <a:r>
              <a:rPr sz="3500" b="1" kern="0" spc="-1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790" name="textbox 79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18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792" name="picture 7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textbox 79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796" name="textbox 796"/>
          <p:cNvSpPr/>
          <p:nvPr/>
        </p:nvSpPr>
        <p:spPr>
          <a:xfrm>
            <a:off x="88265" y="-44450"/>
            <a:ext cx="255651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5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参数说明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graphicFrame>
        <p:nvGraphicFramePr>
          <p:cNvPr id="798" name="table 798"/>
          <p:cNvGraphicFramePr>
            <a:graphicFrameLocks noGrp="1"/>
          </p:cNvGraphicFramePr>
          <p:nvPr/>
        </p:nvGraphicFramePr>
        <p:xfrm>
          <a:off x="0" y="398462"/>
          <a:ext cx="9143999" cy="6200775"/>
        </p:xfrm>
        <a:graphic>
          <a:graphicData uri="http://schemas.openxmlformats.org/drawingml/2006/table">
            <a:tbl>
              <a:tblPr/>
              <a:tblGrid>
                <a:gridCol w="1859279"/>
                <a:gridCol w="7284719"/>
              </a:tblGrid>
              <a:tr h="15113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39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39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10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6229" algn="l" rtl="0" eaLnBrk="0">
                        <a:lnSpc>
                          <a:spcPts val="1544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-c comment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用户注释信息。不含“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</a:t>
                      </a:r>
                      <a:r>
                        <a:rPr sz="2000" b="1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”和回车的长度小于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512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的字符串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93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400" b="1" kern="0" spc="1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4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r>
                        <a:rPr sz="2400" b="1" kern="0" spc="1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4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home</a:t>
                      </a:r>
                      <a:r>
                        <a:rPr sz="2400" b="1" kern="0" spc="1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_</a:t>
                      </a:r>
                      <a:r>
                        <a:rPr sz="24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</a:t>
                      </a:r>
                      <a:endParaRPr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" indent="-190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4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新用户家目录。默认时，以新用户为名在</a:t>
                      </a:r>
                      <a:r>
                        <a:rPr sz="24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home</a:t>
                      </a:r>
                      <a:r>
                        <a:rPr sz="24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下创</a:t>
                      </a:r>
                      <a:r>
                        <a:rPr sz="24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建</a:t>
                      </a:r>
                      <a:endParaRPr sz="2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3435" algn="l" rtl="0" eaLnBrk="0">
                        <a:lnSpc>
                          <a:spcPct val="6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-D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0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显示新创建用户时的参数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默认值（参见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/etc/login.defs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）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0" algn="l" rtl="0" eaLnBrk="0">
                        <a:lnSpc>
                          <a:spcPts val="1442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4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-e</a:t>
                      </a:r>
                      <a:endParaRPr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2560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24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expire</a:t>
                      </a:r>
                      <a:r>
                        <a:rPr sz="2400" b="1" kern="0" spc="3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_</a:t>
                      </a:r>
                      <a:r>
                        <a:rPr sz="24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date</a:t>
                      </a:r>
                      <a:endParaRPr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5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</a:t>
                      </a: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MM</a:t>
                      </a:r>
                      <a:r>
                        <a:rPr sz="24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DD</a:t>
                      </a:r>
                      <a:r>
                        <a:rPr sz="24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YYYY</a:t>
                      </a:r>
                      <a:r>
                        <a:rPr sz="24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格式设置账号到期日</a:t>
                      </a:r>
                      <a:endParaRPr sz="2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12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2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</a:t>
                      </a:r>
                      <a:r>
                        <a:rPr sz="2000" b="1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inactive</a:t>
                      </a:r>
                      <a:r>
                        <a:rPr sz="2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_</a:t>
                      </a: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days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indent="190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2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密码到期后，直到账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号永久停止使用时所经过的天数，默认为-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</a:t>
                      </a:r>
                      <a:r>
                        <a:rPr sz="2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表示不启用该选项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67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015" algn="l" rtl="0" eaLnBrk="0">
                        <a:lnSpc>
                          <a:spcPts val="1858"/>
                        </a:lnSpc>
                        <a:tabLst/>
                      </a:pPr>
                      <a:r>
                        <a:rPr sz="2400" b="1" kern="0" spc="1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4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sz="2400" b="1" kern="0" spc="1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4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group</a:t>
                      </a:r>
                      <a:endParaRPr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设置新用户所属的基本组</a:t>
                      </a:r>
                      <a:endParaRPr sz="2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" indent="-60960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b="1" kern="0" spc="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4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sz="2400" b="1" kern="0" spc="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4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group</a:t>
                      </a:r>
                      <a:r>
                        <a:rPr sz="2400" b="1" kern="0" spc="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sz="2400" b="1" kern="0" spc="-28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400" b="1" kern="0" spc="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</a:t>
                      </a:r>
                      <a:r>
                        <a:rPr sz="24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4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group2</a:t>
                      </a:r>
                      <a:r>
                        <a:rPr sz="2400" b="1" kern="0" spc="-2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4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</a:t>
                      </a:r>
                      <a:r>
                        <a:rPr sz="2400" kern="0" spc="-9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4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  <a:endParaRPr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indent="-4444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4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将新用户添加到由逗号分隔的组列表中，一个用户</a:t>
                      </a:r>
                      <a:r>
                        <a:rPr sz="24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可同时归属多个组</a:t>
                      </a:r>
                      <a:endParaRPr sz="2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2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5759" algn="l" rtl="0" eaLnBrk="0">
                        <a:lnSpc>
                          <a:spcPct val="7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-k skel_dir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indent="5080" algn="l" rtl="0" eaLnBrk="0">
                        <a:lnSpc>
                          <a:spcPct val="9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设置包含初始配置框架文件的目录，默认框架目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录为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/etc/skel</a:t>
                      </a:r>
                      <a:r>
                        <a:rPr sz="2000" b="1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。该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选项只能与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-m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一起使用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00" name="textbox 800"/>
          <p:cNvSpPr/>
          <p:nvPr/>
        </p:nvSpPr>
        <p:spPr>
          <a:xfrm>
            <a:off x="4640545" y="421550"/>
            <a:ext cx="1761489" cy="342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6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4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功</a:t>
            </a:r>
            <a:r>
              <a:rPr sz="2400" kern="0" spc="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能</a:t>
            </a: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描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述</a:t>
            </a:r>
            <a:endParaRPr sz="2400" dirty="0">
              <a:latin typeface="SimSun"/>
              <a:ea typeface="SimSun"/>
              <a:cs typeface="SimSun"/>
            </a:endParaRPr>
          </a:p>
        </p:txBody>
      </p:sp>
      <p:sp>
        <p:nvSpPr>
          <p:cNvPr id="802" name="textbox 802"/>
          <p:cNvSpPr/>
          <p:nvPr/>
        </p:nvSpPr>
        <p:spPr>
          <a:xfrm>
            <a:off x="540997" y="421550"/>
            <a:ext cx="810259" cy="342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6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选</a:t>
            </a:r>
            <a:r>
              <a:rPr sz="2400" kern="0" spc="2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项</a:t>
            </a:r>
            <a:endParaRPr sz="24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4" name="table 804"/>
          <p:cNvGraphicFramePr>
            <a:graphicFrameLocks noGrp="1"/>
          </p:cNvGraphicFramePr>
          <p:nvPr/>
        </p:nvGraphicFramePr>
        <p:xfrm>
          <a:off x="28575" y="614362"/>
          <a:ext cx="9086215" cy="5942329"/>
        </p:xfrm>
        <a:graphic>
          <a:graphicData uri="http://schemas.openxmlformats.org/drawingml/2006/table">
            <a:tbl>
              <a:tblPr/>
              <a:tblGrid>
                <a:gridCol w="1075689"/>
                <a:gridCol w="8010525"/>
              </a:tblGrid>
              <a:tr h="8597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265" algn="l" rtl="0" eaLnBrk="0">
                        <a:lnSpc>
                          <a:spcPts val="16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700" b="1" kern="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-m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4" indent="-127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创建用户家目录，并将框架目录的默认配置文件复</a:t>
                      </a:r>
                      <a:r>
                        <a:rPr sz="27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制到该目录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3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1945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2700" b="1" kern="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-M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创建新用户，但不创建用户家目录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20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159" algn="l" rtl="0" eaLnBrk="0">
                        <a:lnSpc>
                          <a:spcPts val="1607"/>
                        </a:lnSpc>
                        <a:tabLst/>
                      </a:pP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-n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关闭创建新用户时，创建同名组的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特性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10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1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1320" algn="l" rtl="0" eaLnBrk="0">
                        <a:lnSpc>
                          <a:spcPts val="1617"/>
                        </a:lnSpc>
                        <a:tabLst/>
                      </a:pP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-o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369" indent="-13334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允许使用</a:t>
                      </a:r>
                      <a:r>
                        <a:rPr sz="2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</a:t>
                      </a:r>
                      <a:r>
                        <a:rPr sz="2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uid</a:t>
                      </a:r>
                      <a:r>
                        <a:rPr sz="2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指定一个与已经存在用户相同的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uid</a:t>
                      </a:r>
                      <a:r>
                        <a:rPr sz="2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</a:t>
                      </a:r>
                      <a:r>
                        <a:rPr sz="27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即允许不同名的用户具有相同的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uid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3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ts val="1607"/>
                        </a:lnSpc>
                        <a:tabLst/>
                      </a:pP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-r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7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此为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Redhat</a:t>
                      </a:r>
                      <a:r>
                        <a:rPr sz="27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Linux</a:t>
                      </a:r>
                      <a:r>
                        <a:rPr sz="27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新增选项，用于创建系统用户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4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" algn="l" rtl="0" eaLnBrk="0">
                        <a:lnSpc>
                          <a:spcPct val="6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700" b="1" kern="0" spc="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</a:t>
                      </a:r>
                      <a:r>
                        <a:rPr sz="2700" b="1" kern="0" spc="1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shell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79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指定用户登录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shell</a:t>
                      </a:r>
                      <a:r>
                        <a:rPr sz="2700" b="1" kern="0" spc="-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，若不指定则采用系统默认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3970" algn="l" rtl="0" eaLnBrk="0">
                        <a:lnSpc>
                          <a:spcPct val="92000"/>
                        </a:lnSpc>
                        <a:spcBef>
                          <a:spcPts val="27"/>
                        </a:spcBef>
                        <a:tabLst/>
                      </a:pP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shell</a:t>
                      </a:r>
                      <a:r>
                        <a:rPr sz="27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:/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bin</a:t>
                      </a:r>
                      <a:r>
                        <a:rPr sz="27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bash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4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2700" b="1" kern="0" spc="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</a:t>
                      </a:r>
                      <a:r>
                        <a:rPr sz="2700" b="1" kern="0" spc="1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uid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" indent="698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为用户指定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uid</a:t>
                      </a:r>
                      <a:r>
                        <a:rPr sz="2700" b="1" kern="0" spc="-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。若不指定系统将自动分配一个。若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uid</a:t>
                      </a: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已经被使用，则必须与</a:t>
                      </a: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-o</a:t>
                      </a: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配合使用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06" name="textbox 80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808" name="textbox 808"/>
          <p:cNvSpPr/>
          <p:nvPr/>
        </p:nvSpPr>
        <p:spPr>
          <a:xfrm>
            <a:off x="88265" y="-44450"/>
            <a:ext cx="389064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-2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4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参数说明（续）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810" name="picture 8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textbox 812"/>
          <p:cNvSpPr/>
          <p:nvPr/>
        </p:nvSpPr>
        <p:spPr>
          <a:xfrm>
            <a:off x="90678" y="686637"/>
            <a:ext cx="8971280" cy="5120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9389" algn="l" rtl="0" eaLnBrk="0">
              <a:lnSpc>
                <a:spcPct val="87000"/>
              </a:lnSpc>
              <a:tabLst/>
            </a:pP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）若不带选项运行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useradd</a:t>
            </a:r>
            <a:r>
              <a:rPr sz="2700" b="1" kern="0" spc="-4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，则使用</a:t>
            </a:r>
            <a:r>
              <a:rPr sz="2700" b="1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默认方式</a:t>
            </a:r>
            <a:r>
              <a:rPr sz="2700" b="1" kern="0" spc="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创建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3495" algn="l" rtl="0" eaLnBrk="0">
              <a:lnSpc>
                <a:spcPct val="87000"/>
              </a:lnSpc>
              <a:spcBef>
                <a:spcPts val="541"/>
              </a:spcBef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newuser</a:t>
            </a:r>
            <a:r>
              <a:rPr sz="2700" b="1" kern="0" spc="-3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。若在创建用户时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没有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创建家目录，则为保证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3970" indent="9525" algn="l" rtl="0" eaLnBrk="0">
              <a:lnSpc>
                <a:spcPct val="95000"/>
              </a:lnSpc>
              <a:spcBef>
                <a:spcPts val="537"/>
              </a:spcBef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newuser</a:t>
            </a:r>
            <a:r>
              <a:rPr sz="27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创建后可以登录</a:t>
            </a:r>
            <a:r>
              <a:rPr sz="2700" b="1" kern="0" spc="1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还必须手工创建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newuser</a:t>
            </a:r>
            <a:r>
              <a:rPr sz="2700" b="1" kern="0" spc="1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的家目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录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并修改家目录归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属关系和存取权限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2700" indent="186689" algn="l" rtl="0" eaLnBrk="0">
              <a:lnSpc>
                <a:spcPct val="103000"/>
              </a:lnSpc>
              <a:spcBef>
                <a:spcPts val="559"/>
              </a:spcBef>
              <a:tabLst/>
            </a:pP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）创建用户时，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是否创建用户家目录，默认情况下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取</a:t>
            </a:r>
            <a:r>
              <a:rPr sz="2700" b="1" kern="0" spc="1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决于</a:t>
            </a:r>
            <a:r>
              <a:rPr sz="2700" b="1" kern="0" spc="1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2700" b="1" kern="0" spc="1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login</a:t>
            </a:r>
            <a:r>
              <a:rPr sz="2700" b="1" kern="0" spc="1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defs</a:t>
            </a:r>
            <a:r>
              <a:rPr sz="2700" b="1" kern="0" spc="1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中变量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CREATE</a:t>
            </a:r>
            <a:r>
              <a:rPr sz="2700" b="1" kern="0" spc="1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HOME</a:t>
            </a:r>
            <a:r>
              <a:rPr sz="2700" b="1" kern="0" spc="1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的值</a:t>
            </a:r>
            <a:r>
              <a:rPr sz="2700" b="1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但可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以使用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-m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强制创建，或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-M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强制不创建。不创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建用户家目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录也是常见的，</a:t>
            </a:r>
            <a:r>
              <a:rPr sz="27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当多个用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户共用一个家目录时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，只要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第一</a:t>
            </a:r>
            <a:r>
              <a:rPr sz="27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个用户创建时创建了家目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录就可以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，而以后用户直接使用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已经存在的目录。这时应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该注意目录的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存取权限问题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，必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要时可将这类用户放在一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个组中，但要求目录及内容能被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同组人按特定权限访问。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sp>
        <p:nvSpPr>
          <p:cNvPr id="814" name="textbox 81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21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816" name="textbox 816"/>
          <p:cNvSpPr/>
          <p:nvPr/>
        </p:nvSpPr>
        <p:spPr>
          <a:xfrm>
            <a:off x="94208" y="-44450"/>
            <a:ext cx="483997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1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关于创建用户的说明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818" name="picture 8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textbox 820"/>
          <p:cNvSpPr/>
          <p:nvPr/>
        </p:nvSpPr>
        <p:spPr>
          <a:xfrm>
            <a:off x="133576" y="699870"/>
            <a:ext cx="8785859" cy="5681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45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indent="262890" algn="l" rtl="0" eaLnBrk="0">
              <a:lnSpc>
                <a:spcPct val="97000"/>
              </a:lnSpc>
              <a:tabLst/>
            </a:pPr>
            <a:r>
              <a:rPr sz="39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9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9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）若</a:t>
            </a:r>
            <a:r>
              <a:rPr sz="39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未指定密码</a:t>
            </a:r>
            <a:r>
              <a:rPr sz="39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，则在一切准备好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后，还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必须经超级用户为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新建用户设置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修改密码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后才能正常登录和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使用。</a:t>
            </a:r>
            <a:endParaRPr sz="3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2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64795" algn="l" rtl="0" eaLnBrk="0">
              <a:lnSpc>
                <a:spcPct val="102000"/>
              </a:lnSpc>
              <a:tabLst/>
            </a:pPr>
            <a:r>
              <a:rPr sz="39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9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39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9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3900" b="1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默认</a:t>
            </a:r>
            <a:r>
              <a:rPr sz="39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，在创建新用户时，</a:t>
            </a:r>
            <a:r>
              <a:rPr sz="39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按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新用户名创建一个新组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，该组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为新用户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的归属组，或称为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基本组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。如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果想让新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建用户使用一个已经存在的组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，则可使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-g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参数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；如果同时还想让新建用户也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归属到其他组，则可以</a:t>
            </a:r>
            <a:r>
              <a:rPr sz="39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</a:t>
            </a:r>
            <a:r>
              <a:rPr sz="39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-G</a:t>
            </a:r>
            <a:r>
              <a:rPr sz="39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参数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sp>
        <p:nvSpPr>
          <p:cNvPr id="822" name="textbox 822"/>
          <p:cNvSpPr/>
          <p:nvPr/>
        </p:nvSpPr>
        <p:spPr>
          <a:xfrm>
            <a:off x="94208" y="-44450"/>
            <a:ext cx="6174104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500" b="1" kern="0" spc="-1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1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关于创建用户的说明（续</a:t>
            </a: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824" name="textbox 82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22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826" name="picture 8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textbox 828"/>
          <p:cNvSpPr/>
          <p:nvPr/>
        </p:nvSpPr>
        <p:spPr>
          <a:xfrm>
            <a:off x="203834" y="615200"/>
            <a:ext cx="8807450" cy="5925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3359" algn="l" rtl="0" eaLnBrk="0">
              <a:lnSpc>
                <a:spcPct val="87000"/>
              </a:lnSpc>
              <a:tabLst/>
            </a:pPr>
            <a:r>
              <a:rPr sz="2700" b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700" b="1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700" b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2700" kern="0" spc="-7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b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以默认方式创建用户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5875" algn="l" rtl="0" eaLnBrk="0">
              <a:lnSpc>
                <a:spcPct val="87000"/>
              </a:lnSpc>
              <a:spcBef>
                <a:spcPts val="541"/>
              </a:spcBef>
              <a:tabLst/>
            </a:pP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useradd</a:t>
            </a:r>
            <a:r>
              <a:rPr sz="2700" b="1" kern="0" spc="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2700" b="1" kern="0" spc="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 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以默认方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式创建用户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2700" indent="3175" algn="l" rtl="0" eaLnBrk="0">
              <a:lnSpc>
                <a:spcPct val="93000"/>
              </a:lnSpc>
              <a:spcBef>
                <a:spcPts val="875"/>
              </a:spcBef>
              <a:tabLst/>
            </a:pPr>
            <a:r>
              <a:rPr sz="27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grep</a:t>
            </a:r>
            <a:r>
              <a:rPr sz="2700" b="1" kern="0" spc="1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27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27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passwd</a:t>
            </a:r>
            <a:r>
              <a:rPr sz="27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27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</a:t>
            </a:r>
            <a:r>
              <a:rPr sz="27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27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shadow        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/etc/gshadow</a:t>
            </a:r>
            <a:endParaRPr sz="2700" dirty="0">
              <a:latin typeface="Arial"/>
              <a:ea typeface="Arial"/>
              <a:cs typeface="Arial"/>
            </a:endParaRPr>
          </a:p>
          <a:p>
            <a:pPr marL="31750" indent="-15875" algn="l" rtl="0" eaLnBrk="0">
              <a:lnSpc>
                <a:spcPct val="95000"/>
              </a:lnSpc>
              <a:spcBef>
                <a:spcPts val="357"/>
              </a:spcBef>
              <a:tabLst/>
            </a:pP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##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在文件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passwd</a:t>
            </a:r>
            <a:r>
              <a:rPr sz="2700" b="1" kern="0" spc="-4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</a:t>
            </a:r>
            <a:r>
              <a:rPr sz="2700" b="1" kern="0" spc="-4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shadow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中分别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添加了相应</a:t>
            </a:r>
            <a:r>
              <a:rPr sz="27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行：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460375" algn="l" rtl="0" eaLnBrk="0">
              <a:lnSpc>
                <a:spcPct val="81000"/>
              </a:lnSpc>
              <a:spcBef>
                <a:spcPts val="907"/>
              </a:spcBef>
              <a:tabLst/>
            </a:pPr>
            <a:r>
              <a:rPr sz="2700" b="1" kern="0" spc="1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2700" b="1" kern="0" spc="1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passwd</a:t>
            </a:r>
            <a:r>
              <a:rPr sz="2700" b="1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endParaRPr sz="27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ts val="2096"/>
              </a:lnSpc>
              <a:spcBef>
                <a:spcPts val="747"/>
              </a:spcBef>
              <a:tabLst/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:x:1000:1000::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home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1:/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bash</a:t>
            </a:r>
            <a:endParaRPr sz="2700" dirty="0">
              <a:latin typeface="Arial"/>
              <a:ea typeface="Arial"/>
              <a:cs typeface="Arial"/>
            </a:endParaRPr>
          </a:p>
          <a:p>
            <a:pPr marL="559434" algn="l" rtl="0" eaLnBrk="0">
              <a:lnSpc>
                <a:spcPts val="3913"/>
              </a:lnSpc>
              <a:tabLst/>
            </a:pP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:x:1000:</a:t>
            </a:r>
            <a:endParaRPr sz="2700" dirty="0">
              <a:latin typeface="Arial"/>
              <a:ea typeface="Arial"/>
              <a:cs typeface="Arial"/>
            </a:endParaRPr>
          </a:p>
          <a:p>
            <a:pPr marL="26034" indent="533400" algn="l" rtl="0" eaLnBrk="0">
              <a:lnSpc>
                <a:spcPct val="96000"/>
              </a:lnSpc>
              <a:spcBef>
                <a:spcPts val="292"/>
              </a:spcBef>
              <a:tabLst/>
            </a:pP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shadow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:!!:13563:0:99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999:7:::  #!!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表示上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锁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559434" algn="l" rtl="0" eaLnBrk="0">
              <a:lnSpc>
                <a:spcPct val="92000"/>
              </a:lnSpc>
              <a:spcBef>
                <a:spcPts val="587"/>
              </a:spcBef>
              <a:tabLst/>
            </a:pP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gshadow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1:!::     #!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表示未启用组密码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7940" indent="-12064" algn="l" rtl="0" eaLnBrk="0">
              <a:lnSpc>
                <a:spcPct val="96000"/>
              </a:lnSpc>
              <a:spcBef>
                <a:spcPts val="292"/>
              </a:spcBef>
              <a:tabLst/>
            </a:pP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##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“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!!</a:t>
            </a:r>
            <a:r>
              <a:rPr sz="2700" b="1" kern="0" spc="-3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”表示上锁状态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，说明此用户还没有被启用，只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有在超级用户为它修改密码或解锁后才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能被启用。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sp>
        <p:nvSpPr>
          <p:cNvPr id="830" name="textbox 83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23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832" name="textbox 832"/>
          <p:cNvSpPr/>
          <p:nvPr/>
        </p:nvSpPr>
        <p:spPr>
          <a:xfrm>
            <a:off x="85521" y="-44450"/>
            <a:ext cx="3475354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6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创</a:t>
            </a:r>
            <a:r>
              <a:rPr sz="3500" kern="0" spc="-3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建用户示例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834" name="picture 8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textbox 836"/>
          <p:cNvSpPr/>
          <p:nvPr/>
        </p:nvSpPr>
        <p:spPr>
          <a:xfrm>
            <a:off x="80949" y="695337"/>
            <a:ext cx="8886190" cy="3809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7334" algn="l" rtl="0" eaLnBrk="0">
              <a:lnSpc>
                <a:spcPct val="86000"/>
              </a:lnSpc>
              <a:tabLst/>
            </a:pP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）以非默认方式创建用户。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113664" indent="166370" algn="l" rtl="0" eaLnBrk="0">
              <a:lnSpc>
                <a:spcPct val="96000"/>
              </a:lnSpc>
              <a:spcBef>
                <a:spcPts val="561"/>
              </a:spcBef>
              <a:tabLst/>
            </a:pP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创建一个名为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的用户，且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为其创建家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usr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-5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，而非默认的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home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3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spcBef>
                <a:spcPts val="1157"/>
              </a:spcBef>
              <a:tabLst/>
            </a:pP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useradd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-d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usr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2 -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3500" dirty="0">
              <a:latin typeface="Arial"/>
              <a:ea typeface="Arial"/>
              <a:cs typeface="Arial"/>
            </a:endParaRPr>
          </a:p>
          <a:p>
            <a:pPr marL="63500" indent="203200" algn="l" rtl="0" eaLnBrk="0">
              <a:lnSpc>
                <a:spcPct val="94000"/>
              </a:lnSpc>
              <a:spcBef>
                <a:spcPts val="738"/>
              </a:spcBef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）创建用户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test3</a:t>
            </a:r>
            <a:r>
              <a:rPr sz="3500" b="1" kern="0" spc="-5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，让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其与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test1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使用相同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的家目录和相同的组（不用再创建家目录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spcBef>
                <a:spcPts val="6"/>
              </a:spcBef>
              <a:tabLst/>
            </a:pP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useradd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-d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home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1 -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2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3500" dirty="0">
              <a:latin typeface="Arial"/>
              <a:ea typeface="Arial"/>
              <a:cs typeface="Arial"/>
            </a:endParaRPr>
          </a:p>
        </p:txBody>
      </p:sp>
      <p:sp>
        <p:nvSpPr>
          <p:cNvPr id="838" name="textbox 83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24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840" name="textbox 840"/>
          <p:cNvSpPr/>
          <p:nvPr/>
        </p:nvSpPr>
        <p:spPr>
          <a:xfrm>
            <a:off x="95580" y="-59054"/>
            <a:ext cx="408685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2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创</a:t>
            </a:r>
            <a:r>
              <a:rPr sz="3500" kern="0" spc="-3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建用户示例（续）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842" name="picture 8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textbox 844"/>
          <p:cNvSpPr/>
          <p:nvPr/>
        </p:nvSpPr>
        <p:spPr>
          <a:xfrm>
            <a:off x="204572" y="699870"/>
            <a:ext cx="8782684" cy="2383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67334" algn="l" rtl="0" eaLnBrk="0">
              <a:lnSpc>
                <a:spcPct val="94000"/>
              </a:lnSpc>
              <a:tabLst/>
            </a:pPr>
            <a:r>
              <a:rPr sz="3900" b="1" kern="0" spc="-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900" b="1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sz="3900" b="1" kern="0" spc="-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）创建用户</a:t>
            </a:r>
            <a:r>
              <a:rPr sz="3900" b="1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test4</a:t>
            </a:r>
            <a:r>
              <a:rPr sz="3900" b="1" kern="0" spc="-6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900" b="1" kern="0" spc="-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，让其与</a:t>
            </a:r>
            <a:r>
              <a:rPr sz="3900" b="1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test1</a:t>
            </a:r>
            <a:r>
              <a:rPr sz="3900" b="1" kern="0" spc="-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具</a:t>
            </a:r>
            <a:r>
              <a:rPr sz="3900" b="1" kern="0" spc="-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相同的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UID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、家目录和组。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20369" algn="l" rtl="0" eaLnBrk="0">
              <a:lnSpc>
                <a:spcPct val="88000"/>
              </a:lnSpc>
              <a:spcBef>
                <a:spcPts val="1278"/>
              </a:spcBef>
              <a:tabLst/>
            </a:pPr>
            <a:r>
              <a:rPr sz="3700" b="1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#</a:t>
            </a:r>
            <a:r>
              <a:rPr sz="3700" b="1" kern="0" spc="-1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useradd</a:t>
            </a:r>
            <a:r>
              <a:rPr sz="3700" b="1" kern="0" spc="2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700" b="1" kern="0" spc="-1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-u </a:t>
            </a:r>
            <a:r>
              <a:rPr sz="3700" b="1" kern="0" spc="-1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、id</a:t>
            </a:r>
            <a:r>
              <a:rPr sz="3700" b="1" kern="0" spc="2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700" b="1" kern="0" spc="-1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-u test1、-o</a:t>
            </a:r>
            <a:r>
              <a:rPr sz="3700" b="1" kern="0" spc="2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700" b="1" kern="0" spc="-1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-g test1</a:t>
            </a:r>
            <a:endParaRPr sz="3700" dirty="0">
              <a:latin typeface="Microsoft YaHei"/>
              <a:ea typeface="Microsoft YaHei"/>
              <a:cs typeface="Microsoft YaHei"/>
            </a:endParaRPr>
          </a:p>
          <a:p>
            <a:pPr marL="20954" algn="l" rtl="0" eaLnBrk="0">
              <a:lnSpc>
                <a:spcPct val="81000"/>
              </a:lnSpc>
              <a:spcBef>
                <a:spcPts val="891"/>
              </a:spcBef>
              <a:tabLst/>
            </a:pPr>
            <a:r>
              <a:rPr sz="3800" b="1" kern="0" spc="-1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-d /home/test1 t</a:t>
            </a:r>
            <a:r>
              <a:rPr sz="3800" b="1" kern="0" spc="-1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est4</a:t>
            </a:r>
            <a:endParaRPr sz="3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6" name="textbox 84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Linux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2023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 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-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-10" baseline="5787" dirty="0">
                <a:solidFill>
                  <a:srgbClr val="3333C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25</a:t>
            </a:r>
            <a:r>
              <a:rPr sz="2700" kern="0" spc="-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848" name="textbox 848"/>
          <p:cNvSpPr/>
          <p:nvPr/>
        </p:nvSpPr>
        <p:spPr>
          <a:xfrm>
            <a:off x="95580" y="-59054"/>
            <a:ext cx="408685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2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创</a:t>
            </a:r>
            <a:r>
              <a:rPr sz="3500" kern="0" spc="-3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建用户示例（续）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850" name="picture 8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textbox 852"/>
          <p:cNvSpPr/>
          <p:nvPr/>
        </p:nvSpPr>
        <p:spPr>
          <a:xfrm>
            <a:off x="133577" y="700227"/>
            <a:ext cx="8698865" cy="535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8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3000"/>
              </a:lnSpc>
              <a:tabLst/>
            </a:pP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非默认模式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创建用户时，在创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12700" indent="6350" algn="l" rtl="0" eaLnBrk="0">
              <a:lnSpc>
                <a:spcPct val="106000"/>
              </a:lnSpc>
              <a:spcBef>
                <a:spcPts val="28"/>
              </a:spcBef>
              <a:tabLst/>
            </a:pP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建或建后使用时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可能会遇到一些问</a:t>
            </a:r>
            <a:r>
              <a:rPr sz="4400" b="1" kern="0" spc="-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题</a:t>
            </a:r>
            <a:r>
              <a:rPr sz="4400" b="1" kern="0" spc="-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83000"/>
              </a:lnSpc>
              <a:spcBef>
                <a:spcPts val="237"/>
              </a:spcBef>
              <a:tabLst/>
            </a:pP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例如，若指定的目录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新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用户不可访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19050" indent="55880" algn="l" rtl="0" eaLnBrk="0">
              <a:lnSpc>
                <a:spcPct val="102000"/>
              </a:lnSpc>
              <a:spcBef>
                <a:spcPts val="189"/>
              </a:spcBef>
              <a:tabLst/>
            </a:pPr>
            <a:r>
              <a:rPr sz="4400" b="1" kern="0" spc="-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问或没有创建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，则创建后</a:t>
            </a:r>
            <a:r>
              <a:rPr sz="4400" b="1" kern="0" spc="-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不能登录</a:t>
            </a:r>
            <a:r>
              <a:rPr sz="4400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；若指定的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不合适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，则可能会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建失败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。若指定的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组不合适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，也会</a:t>
            </a:r>
            <a:r>
              <a:rPr sz="44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导致</a:t>
            </a:r>
            <a:r>
              <a:rPr sz="44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创建失败</a:t>
            </a:r>
            <a:r>
              <a:rPr sz="44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4400" dirty="0">
              <a:latin typeface="SimSun"/>
              <a:ea typeface="SimSun"/>
              <a:cs typeface="SimSun"/>
            </a:endParaRPr>
          </a:p>
        </p:txBody>
      </p:sp>
      <p:sp>
        <p:nvSpPr>
          <p:cNvPr id="854" name="textbox 85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26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856" name="textbox 856"/>
          <p:cNvSpPr/>
          <p:nvPr/>
        </p:nvSpPr>
        <p:spPr>
          <a:xfrm>
            <a:off x="151815" y="-44450"/>
            <a:ext cx="401700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关于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useradd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的说明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858" name="picture 8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textbox 860"/>
          <p:cNvSpPr/>
          <p:nvPr/>
        </p:nvSpPr>
        <p:spPr>
          <a:xfrm>
            <a:off x="133095" y="705396"/>
            <a:ext cx="8571865" cy="5024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对于系统中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不再使用的用户账号</a:t>
            </a:r>
            <a:endParaRPr sz="4700" dirty="0">
              <a:latin typeface="SimSun"/>
              <a:ea typeface="SimSun"/>
              <a:cs typeface="SimSun"/>
            </a:endParaRPr>
          </a:p>
          <a:p>
            <a:pPr marL="12700" indent="52069" algn="l" rtl="0" eaLnBrk="0">
              <a:lnSpc>
                <a:spcPct val="106000"/>
              </a:lnSpc>
              <a:spcBef>
                <a:spcPts val="4"/>
              </a:spcBef>
              <a:tabLst/>
            </a:pPr>
            <a:r>
              <a:rPr sz="47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4700" kern="0" spc="1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7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应</a:t>
            </a:r>
            <a:r>
              <a:rPr sz="47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尽早删除</a:t>
            </a:r>
            <a:r>
              <a:rPr sz="47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它，因为</a:t>
            </a:r>
            <a:r>
              <a:rPr sz="47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多余用户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存在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安全隐患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。删除用户的</a:t>
            </a:r>
            <a:r>
              <a:rPr sz="47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命令是</a:t>
            </a:r>
            <a:r>
              <a:rPr sz="4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userdel</a:t>
            </a:r>
            <a:r>
              <a:rPr sz="4700" b="1" kern="0" spc="-6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7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。用法为：</a:t>
            </a:r>
            <a:endParaRPr sz="4700" dirty="0">
              <a:latin typeface="SimSun"/>
              <a:ea typeface="SimSun"/>
              <a:cs typeface="SimSun"/>
            </a:endParaRPr>
          </a:p>
          <a:p>
            <a:pPr marL="372109" algn="l" rtl="0" eaLnBrk="0">
              <a:lnSpc>
                <a:spcPct val="79000"/>
              </a:lnSpc>
              <a:spcBef>
                <a:spcPts val="980"/>
              </a:spcBef>
              <a:tabLst/>
            </a:pPr>
            <a:r>
              <a:rPr sz="47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userdel</a:t>
            </a:r>
            <a:r>
              <a:rPr sz="4700" b="1" kern="0" spc="4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7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[-r]</a:t>
            </a:r>
            <a:r>
              <a:rPr sz="4700" b="1" kern="0" spc="3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7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  <a:endParaRPr sz="4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98"/>
              </a:spcBef>
              <a:tabLst/>
            </a:pPr>
            <a:r>
              <a:rPr sz="4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选项</a:t>
            </a:r>
            <a:r>
              <a:rPr sz="47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-r</a:t>
            </a:r>
            <a:r>
              <a:rPr sz="4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用于在删除用户的同时，</a:t>
            </a:r>
            <a:r>
              <a:rPr sz="4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删除用户的</a:t>
            </a:r>
            <a:r>
              <a:rPr sz="4700" b="1" kern="0" spc="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家目录</a:t>
            </a:r>
            <a:r>
              <a:rPr sz="4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4700" dirty="0">
              <a:latin typeface="SimSun"/>
              <a:ea typeface="SimSun"/>
              <a:cs typeface="SimSun"/>
            </a:endParaRPr>
          </a:p>
        </p:txBody>
      </p:sp>
      <p:sp>
        <p:nvSpPr>
          <p:cNvPr id="862" name="textbox 862"/>
          <p:cNvSpPr/>
          <p:nvPr/>
        </p:nvSpPr>
        <p:spPr>
          <a:xfrm>
            <a:off x="85521" y="-44450"/>
            <a:ext cx="561911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4.3.2</a:t>
            </a:r>
            <a:r>
              <a:rPr sz="3500" b="1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500" b="1" kern="0" spc="-1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用户删除（</a:t>
            </a:r>
            <a:r>
              <a:rPr sz="3500" kern="0" spc="-3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serdel</a:t>
            </a: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864" name="textbox 86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866" name="picture 8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textbox 868"/>
          <p:cNvSpPr/>
          <p:nvPr/>
        </p:nvSpPr>
        <p:spPr>
          <a:xfrm>
            <a:off x="184785" y="686637"/>
            <a:ext cx="8801100" cy="5072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3359" algn="l" rtl="0" eaLnBrk="0">
              <a:lnSpc>
                <a:spcPct val="87000"/>
              </a:lnSpc>
              <a:tabLst/>
            </a:pP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）在某些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高安全级别的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UNIX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里，用户一旦被创建，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7940" indent="3810" algn="l" rtl="0" eaLnBrk="0">
              <a:lnSpc>
                <a:spcPct val="95000"/>
              </a:lnSpc>
              <a:spcBef>
                <a:spcPts val="537"/>
              </a:spcBef>
              <a:tabLst/>
            </a:pP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27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不能随便从系统中删除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的，用户的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27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也不能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被再重新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使用，但可以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通过过期或上锁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的办法将它闲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置起来。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9209" indent="184150" algn="l" rtl="0" eaLnBrk="0">
              <a:lnSpc>
                <a:spcPct val="95000"/>
              </a:lnSpc>
              <a:spcBef>
                <a:spcPts val="565"/>
              </a:spcBef>
              <a:tabLst/>
            </a:pP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）对于</a:t>
            </a:r>
            <a:r>
              <a:rPr sz="27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已经登录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的用户或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有属于该用户程序在运行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用户来说，删除可能失败。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13359" algn="l" rtl="0" eaLnBrk="0">
              <a:lnSpc>
                <a:spcPct val="91000"/>
              </a:lnSpc>
              <a:spcBef>
                <a:spcPts val="583"/>
              </a:spcBef>
              <a:tabLst/>
            </a:pP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）一般情况下，删除用户时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只删除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passwd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4765" indent="-12064" algn="l" rtl="0" eaLnBrk="0">
              <a:lnSpc>
                <a:spcPct val="99000"/>
              </a:lnSpc>
              <a:spcBef>
                <a:spcPts val="439"/>
              </a:spcBef>
              <a:tabLst/>
            </a:pPr>
            <a:r>
              <a:rPr sz="2700" b="1" kern="0" spc="1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2700" b="1" kern="0" spc="1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shadow</a:t>
            </a:r>
            <a:r>
              <a:rPr sz="2700" b="1" kern="0" spc="-4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2700" b="1" kern="0" spc="1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2700" b="1" kern="0" spc="1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</a:t>
            </a:r>
            <a:r>
              <a:rPr sz="2700" b="1" kern="0" spc="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及相关文</a:t>
            </a:r>
            <a:r>
              <a:rPr sz="27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件中与该用户相关的</a:t>
            </a:r>
            <a:r>
              <a:rPr sz="27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内容，而不删除用户的家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。因为用户家目录中可能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存放重要数据，对用户家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目录的删除应由用户或经用户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确认后由管理员来进行。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4765" indent="187960" algn="l" rtl="0" eaLnBrk="0">
              <a:lnSpc>
                <a:spcPct val="95000"/>
              </a:lnSpc>
              <a:spcBef>
                <a:spcPts val="565"/>
              </a:spcBef>
              <a:tabLst/>
            </a:pP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）若要在删除用户的同时删除用户家目录，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可使用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-r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选项。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sp>
        <p:nvSpPr>
          <p:cNvPr id="870" name="textbox 87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28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872" name="textbox 872"/>
          <p:cNvSpPr/>
          <p:nvPr/>
        </p:nvSpPr>
        <p:spPr>
          <a:xfrm>
            <a:off x="151815" y="-59054"/>
            <a:ext cx="407035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关于用户删除的说明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874" name="picture 8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textbox 876"/>
          <p:cNvSpPr/>
          <p:nvPr/>
        </p:nvSpPr>
        <p:spPr>
          <a:xfrm>
            <a:off x="131419" y="695337"/>
            <a:ext cx="8727440" cy="4869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1459" algn="l" rtl="0" eaLnBrk="0">
              <a:lnSpc>
                <a:spcPct val="86000"/>
              </a:lnSpc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）密码应该按规定</a:t>
            </a:r>
            <a:r>
              <a:rPr sz="35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定期或不定期修改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251459" algn="l" rtl="0" eaLnBrk="0">
              <a:lnSpc>
                <a:spcPct val="86000"/>
              </a:lnSpc>
              <a:spcBef>
                <a:spcPts val="708"/>
              </a:spcBef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）密码内</a:t>
            </a:r>
            <a:r>
              <a:rPr sz="35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不应包含完整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的单词、生日、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12700" indent="51435" algn="l" rtl="0" eaLnBrk="0">
              <a:lnSpc>
                <a:spcPct val="94000"/>
              </a:lnSpc>
              <a:spcBef>
                <a:spcPts val="709"/>
              </a:spcBef>
              <a:tabLst/>
            </a:pP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电话号码、姓名、用户名、组名、宠物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和地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址等信息。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251459" algn="l" rtl="0" eaLnBrk="0">
              <a:lnSpc>
                <a:spcPct val="86000"/>
              </a:lnSpc>
              <a:spcBef>
                <a:spcPts val="731"/>
              </a:spcBef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5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不同系统和用户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应该有</a:t>
            </a:r>
            <a:r>
              <a:rPr sz="35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不同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的密码。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251459" algn="l" rtl="0" eaLnBrk="0">
              <a:lnSpc>
                <a:spcPct val="86000"/>
              </a:lnSpc>
              <a:spcBef>
                <a:spcPts val="708"/>
              </a:spcBef>
              <a:tabLst/>
            </a:pP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）密码应</a:t>
            </a:r>
            <a:r>
              <a:rPr sz="35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易记且不要写在纸上</a:t>
            </a: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251459" algn="l" rtl="0" eaLnBrk="0">
              <a:lnSpc>
                <a:spcPct val="86000"/>
              </a:lnSpc>
              <a:spcBef>
                <a:spcPts val="722"/>
              </a:spcBef>
              <a:tabLst/>
            </a:pP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5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要保密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不要共用密码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17779" indent="233045" algn="l" rtl="0" eaLnBrk="0">
              <a:lnSpc>
                <a:spcPct val="94000"/>
              </a:lnSpc>
              <a:spcBef>
                <a:spcPts val="709"/>
              </a:spcBef>
              <a:tabLst/>
            </a:pP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）输入密码时</a:t>
            </a:r>
            <a:r>
              <a:rPr sz="35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不要让别人看见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也不要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窥视他人密码。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sp>
        <p:nvSpPr>
          <p:cNvPr id="878" name="textbox 87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37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880" name="textbox 880"/>
          <p:cNvSpPr/>
          <p:nvPr/>
        </p:nvSpPr>
        <p:spPr>
          <a:xfrm>
            <a:off x="155016" y="-59054"/>
            <a:ext cx="360934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几个安全注意事项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882" name="picture 8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884"/>
          <p:cNvSpPr/>
          <p:nvPr/>
        </p:nvSpPr>
        <p:spPr>
          <a:xfrm>
            <a:off x="256222" y="721804"/>
            <a:ext cx="8124825" cy="4556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8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9115" algn="l" rtl="0" eaLnBrk="0">
              <a:lnSpc>
                <a:spcPct val="85000"/>
              </a:lnSpc>
              <a:tabLst/>
            </a:pPr>
            <a:r>
              <a:rPr sz="5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whoami</a:t>
            </a:r>
            <a:r>
              <a:rPr sz="59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命令用于显示</a:t>
            </a:r>
            <a:endParaRPr sz="5900" dirty="0">
              <a:latin typeface="SimSun"/>
              <a:ea typeface="SimSun"/>
              <a:cs typeface="SimSun"/>
            </a:endParaRPr>
          </a:p>
          <a:p>
            <a:pPr marL="492759" indent="15240" algn="l" rtl="0" eaLnBrk="0">
              <a:lnSpc>
                <a:spcPct val="104000"/>
              </a:lnSpc>
              <a:spcBef>
                <a:spcPts val="236"/>
              </a:spcBef>
              <a:tabLst/>
            </a:pPr>
            <a:r>
              <a:rPr sz="59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与当前有效</a:t>
            </a:r>
            <a:r>
              <a:rPr sz="5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</a:t>
            </a:r>
            <a:r>
              <a:rPr sz="59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相关的用</a:t>
            </a:r>
            <a:r>
              <a:rPr sz="5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户名，也就是显示使用</a:t>
            </a:r>
            <a:r>
              <a:rPr sz="5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者自己的用户名，功能</a:t>
            </a:r>
            <a:r>
              <a:rPr sz="59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相当于</a:t>
            </a:r>
            <a:r>
              <a:rPr sz="59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</a:t>
            </a:r>
            <a:r>
              <a:rPr sz="5900" b="1" kern="0" spc="3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9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-un</a:t>
            </a:r>
            <a:r>
              <a:rPr sz="59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5900" dirty="0">
              <a:latin typeface="SimSun"/>
              <a:ea typeface="SimSun"/>
              <a:cs typeface="SimSun"/>
            </a:endParaRPr>
          </a:p>
        </p:txBody>
      </p:sp>
      <p:pic>
        <p:nvPicPr>
          <p:cNvPr id="886" name="picture 8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8922" y="862012"/>
            <a:ext cx="523875" cy="523875"/>
          </a:xfrm>
          <a:prstGeom prst="rect">
            <a:avLst/>
          </a:prstGeom>
        </p:spPr>
      </p:pic>
      <p:sp>
        <p:nvSpPr>
          <p:cNvPr id="888" name="textbox 888"/>
          <p:cNvSpPr/>
          <p:nvPr/>
        </p:nvSpPr>
        <p:spPr>
          <a:xfrm>
            <a:off x="85521" y="-44450"/>
            <a:ext cx="798449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4.7.3</a:t>
            </a:r>
            <a:r>
              <a:rPr sz="3500" b="1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显示使用者的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用户名（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whoami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890" name="textbox 89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49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892" name="picture 8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textbox 894"/>
          <p:cNvSpPr/>
          <p:nvPr/>
        </p:nvSpPr>
        <p:spPr>
          <a:xfrm>
            <a:off x="111760" y="623899"/>
            <a:ext cx="8862059" cy="569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7025" algn="l" rtl="0" eaLnBrk="0">
              <a:lnSpc>
                <a:spcPct val="86000"/>
              </a:lnSpc>
              <a:tabLst>
                <a:tab pos="499109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-5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．功能与用法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5775" indent="-159385" algn="l" rtl="0" eaLnBrk="0">
              <a:lnSpc>
                <a:spcPct val="98000"/>
              </a:lnSpc>
              <a:spcBef>
                <a:spcPts val="781"/>
              </a:spcBef>
              <a:tabLst>
                <a:tab pos="473709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的功能是在使用者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不退出系统的情况下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以其他新用户的身份工作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。当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不指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定任务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时，将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以新用户的身份启动一个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；当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指定任务时，则以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新用户的身份执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行任务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2600" indent="42544" algn="l" rtl="0" eaLnBrk="0">
              <a:lnSpc>
                <a:spcPct val="97000"/>
              </a:lnSpc>
              <a:spcBef>
                <a:spcPts val="739"/>
              </a:spcBef>
              <a:tabLst/>
            </a:pP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。在以新用户工作的过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程中，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有效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有效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gid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变为新用户的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gid</a:t>
            </a:r>
            <a:r>
              <a:rPr sz="3500" b="1" kern="0" spc="-4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。用法为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96240" algn="l" rtl="0" eaLnBrk="0">
              <a:lnSpc>
                <a:spcPct val="78000"/>
              </a:lnSpc>
              <a:spcBef>
                <a:spcPts val="1395"/>
              </a:spcBef>
              <a:tabLst>
                <a:tab pos="786130" algn="l"/>
              </a:tabLst>
            </a:pPr>
            <a:r>
              <a:rPr sz="44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44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  [options]</a:t>
            </a:r>
            <a:r>
              <a:rPr sz="4400" b="1" kern="0" spc="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[-]</a:t>
            </a:r>
            <a:r>
              <a:rPr sz="4400" b="1" kern="0" spc="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[newuser</a:t>
            </a:r>
            <a:endParaRPr sz="4400" dirty="0">
              <a:latin typeface="Arial"/>
              <a:ea typeface="Arial"/>
              <a:cs typeface="Arial"/>
            </a:endParaRPr>
          </a:p>
          <a:p>
            <a:pPr marL="502919" algn="l" rtl="0" eaLnBrk="0">
              <a:lnSpc>
                <a:spcPct val="79000"/>
              </a:lnSpc>
              <a:spcBef>
                <a:spcPts val="1174"/>
              </a:spcBef>
              <a:tabLst/>
            </a:pP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[args]]</a:t>
            </a:r>
            <a:endParaRPr sz="4400" dirty="0">
              <a:latin typeface="Arial"/>
              <a:ea typeface="Arial"/>
              <a:cs typeface="Arial"/>
            </a:endParaRPr>
          </a:p>
        </p:txBody>
      </p:sp>
      <p:pic>
        <p:nvPicPr>
          <p:cNvPr id="896" name="picture 8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5128259"/>
            <a:ext cx="383540" cy="384175"/>
          </a:xfrm>
          <a:prstGeom prst="rect">
            <a:avLst/>
          </a:prstGeom>
        </p:spPr>
      </p:pic>
      <p:pic>
        <p:nvPicPr>
          <p:cNvPr id="898" name="picture 8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1261745"/>
            <a:ext cx="314325" cy="314325"/>
          </a:xfrm>
          <a:prstGeom prst="rect">
            <a:avLst/>
          </a:prstGeom>
        </p:spPr>
      </p:pic>
      <p:pic>
        <p:nvPicPr>
          <p:cNvPr id="900" name="picture 9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713104"/>
            <a:ext cx="314325" cy="314325"/>
          </a:xfrm>
          <a:prstGeom prst="rect">
            <a:avLst/>
          </a:prstGeom>
        </p:spPr>
      </p:pic>
      <p:sp>
        <p:nvSpPr>
          <p:cNvPr id="902" name="textbox 902"/>
          <p:cNvSpPr/>
          <p:nvPr/>
        </p:nvSpPr>
        <p:spPr>
          <a:xfrm>
            <a:off x="83579" y="16383"/>
            <a:ext cx="7802244" cy="393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5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4.7.7  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不退出系统而将自己切换成其他用户（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2700" dirty="0">
              <a:latin typeface="STXinwei"/>
              <a:ea typeface="STXinwei"/>
              <a:cs typeface="STXinwei"/>
            </a:endParaRPr>
          </a:p>
        </p:txBody>
      </p:sp>
      <p:sp>
        <p:nvSpPr>
          <p:cNvPr id="904" name="textbox 90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54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906" name="picture 9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picture 9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graphicFrame>
        <p:nvGraphicFramePr>
          <p:cNvPr id="910" name="table 910"/>
          <p:cNvGraphicFramePr>
            <a:graphicFrameLocks noGrp="1"/>
          </p:cNvGraphicFramePr>
          <p:nvPr/>
        </p:nvGraphicFramePr>
        <p:xfrm>
          <a:off x="101600" y="534987"/>
          <a:ext cx="9013825" cy="5779769"/>
        </p:xfrm>
        <a:graphic>
          <a:graphicData uri="http://schemas.openxmlformats.org/drawingml/2006/table">
            <a:tbl>
              <a:tblPr/>
              <a:tblGrid>
                <a:gridCol w="2947035"/>
                <a:gridCol w="6066790"/>
              </a:tblGrid>
              <a:tr h="11658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1830" algn="l" rtl="0" eaLnBrk="0">
                        <a:lnSpc>
                          <a:spcPct val="8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32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选</a:t>
                      </a:r>
                      <a:r>
                        <a:rPr sz="3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32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项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2786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3200" b="1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32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200" b="1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r>
                        <a:rPr sz="32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200" b="1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描</a:t>
                      </a:r>
                      <a:r>
                        <a:rPr sz="3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200" b="1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述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18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1309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3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3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或</a:t>
                      </a:r>
                      <a:r>
                        <a:rPr sz="3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-l</a:t>
                      </a:r>
                      <a:r>
                        <a:rPr sz="3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或</a:t>
                      </a:r>
                      <a:r>
                        <a:rPr sz="3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--login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594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3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以新用户身份启动一个</a:t>
                      </a:r>
                      <a:r>
                        <a:rPr sz="3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</a:t>
                      </a:r>
                      <a:r>
                        <a:rPr sz="3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hell</a:t>
                      </a:r>
                      <a:r>
                        <a:rPr sz="3200" b="1" kern="0" spc="-4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3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，并</a:t>
                      </a:r>
                      <a:r>
                        <a:rPr sz="3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以新用户环境进行工</a:t>
                      </a:r>
                      <a:r>
                        <a:rPr sz="3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作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18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2755" algn="l" rtl="0" eaLnBrk="0">
                        <a:lnSpc>
                          <a:spcPct val="8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32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-c CMD</a:t>
                      </a:r>
                      <a:r>
                        <a:rPr sz="32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或</a:t>
                      </a:r>
                      <a:r>
                        <a:rPr sz="32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--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33019" algn="l" rtl="0" eaLnBrk="0">
                        <a:lnSpc>
                          <a:spcPts val="4429"/>
                        </a:lnSpc>
                        <a:tabLst/>
                      </a:pPr>
                      <a:r>
                        <a:rPr sz="32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command=CMD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indent="45084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3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以新用户身份和环境执行命令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3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CMD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18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4235" algn="l" rtl="0" eaLnBrk="0">
                        <a:lnSpc>
                          <a:spcPts val="239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3200" b="1" kern="0" spc="-1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-m</a:t>
                      </a:r>
                      <a:r>
                        <a:rPr sz="3200" b="1" kern="0" spc="-39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3200" b="1" kern="0" spc="-1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</a:t>
                      </a:r>
                      <a:r>
                        <a:rPr sz="3200" b="1" kern="0" spc="-1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-p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6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" indent="317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3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用户切换时，不重新设</a:t>
                      </a:r>
                      <a:r>
                        <a:rPr sz="3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置环境变</a:t>
                      </a:r>
                      <a:r>
                        <a:rPr sz="3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量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82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5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3444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32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-s</a:t>
                      </a:r>
                      <a:r>
                        <a:rPr sz="3200" b="1" kern="0" spc="1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32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shell</a:t>
                      </a:r>
                      <a:endParaRPr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切换时指定</a:t>
                      </a:r>
                      <a:r>
                        <a:rPr sz="3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shell</a:t>
                      </a:r>
                      <a:r>
                        <a:rPr sz="3200" b="1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3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。指定的</a:t>
                      </a:r>
                      <a:r>
                        <a:rPr sz="3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shell</a:t>
                      </a:r>
                      <a:r>
                        <a:rPr sz="3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要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3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在文件</a:t>
                      </a:r>
                      <a:r>
                        <a:rPr sz="3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/etc/shells</a:t>
                      </a:r>
                      <a:r>
                        <a:rPr sz="3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中有定义</a:t>
                      </a:r>
                      <a:endParaRPr sz="3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12" name="textbox 91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55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914" name="textbox 914"/>
          <p:cNvSpPr/>
          <p:nvPr/>
        </p:nvSpPr>
        <p:spPr>
          <a:xfrm>
            <a:off x="88265" y="-44450"/>
            <a:ext cx="255651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5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参数说明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textbox 916"/>
          <p:cNvSpPr/>
          <p:nvPr/>
        </p:nvSpPr>
        <p:spPr>
          <a:xfrm>
            <a:off x="97472" y="618732"/>
            <a:ext cx="9227184" cy="5321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21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69" indent="282575" algn="l" rtl="0" eaLnBrk="0">
              <a:lnSpc>
                <a:spcPct val="96000"/>
              </a:lnSpc>
              <a:tabLst/>
            </a:pP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若不指定用户名，则</a:t>
            </a:r>
            <a:r>
              <a:rPr sz="3200" b="1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默认为</a:t>
            </a:r>
            <a:r>
              <a:rPr sz="3200" b="1" kern="0" spc="-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root</a:t>
            </a:r>
            <a:r>
              <a:rPr sz="3200" b="1" kern="0" spc="-4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。当以新用户身</a:t>
            </a:r>
            <a:r>
              <a:rPr sz="32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份工作完毕后</a:t>
            </a:r>
            <a:r>
              <a:rPr sz="3200" b="1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，（</a:t>
            </a:r>
            <a:r>
              <a:rPr sz="32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以注销方式</a:t>
            </a:r>
            <a:r>
              <a:rPr sz="32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）变回到原</a:t>
            </a:r>
            <a:r>
              <a:rPr sz="32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来的自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己。</a:t>
            </a: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除非由</a:t>
            </a: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root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向其他用户切换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，都要进行密码</a:t>
            </a:r>
            <a:r>
              <a:rPr sz="3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验证。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29844" indent="323215" algn="l" rtl="0" eaLnBrk="0">
              <a:lnSpc>
                <a:spcPct val="92000"/>
              </a:lnSpc>
              <a:spcBef>
                <a:spcPts val="630"/>
              </a:spcBef>
              <a:tabLst/>
            </a:pP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</a:t>
            </a:r>
            <a:r>
              <a:rPr sz="32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newuser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方式切换用户，将使用原的环境，</a:t>
            </a:r>
            <a:r>
              <a:rPr sz="3200" b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而以</a:t>
            </a:r>
            <a:r>
              <a:rPr sz="3200" b="1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 </a:t>
            </a:r>
            <a:r>
              <a:rPr sz="3200" b="1" kern="0" spc="-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200" b="1" kern="0" spc="2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newuser</a:t>
            </a:r>
            <a:r>
              <a:rPr sz="3200" b="1" kern="0" spc="-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方式切换</a:t>
            </a:r>
            <a:r>
              <a:rPr sz="3200" b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，将使用新用户</a:t>
            </a:r>
            <a:r>
              <a:rPr sz="3200" b="1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环境。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31750" indent="282575" algn="l" rtl="0" eaLnBrk="0">
              <a:lnSpc>
                <a:spcPct val="92000"/>
              </a:lnSpc>
              <a:spcBef>
                <a:spcPts val="615"/>
              </a:spcBef>
              <a:tabLst/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如果要在批处理程序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内以另一个新用户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newuser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直接执行某程序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cmd</a:t>
            </a:r>
            <a:r>
              <a:rPr sz="3200" b="1" kern="0" spc="-4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，则可使用下列形式：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549275" algn="l" rtl="0" eaLnBrk="0">
              <a:lnSpc>
                <a:spcPct val="90000"/>
              </a:lnSpc>
              <a:spcBef>
                <a:spcPts val="633"/>
              </a:spcBef>
              <a:tabLst/>
            </a:pPr>
            <a:r>
              <a:rPr sz="3800" kern="0" spc="-20" dirty="0">
                <a:solidFill>
                  <a:srgbClr val="31234C">
                    <a:alpha val="100000"/>
                  </a:srgbClr>
                </a:solidFill>
                <a:latin typeface="Arial"/>
                <a:ea typeface="Arial"/>
                <a:cs typeface="Arial"/>
              </a:rPr>
              <a:t>$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 -</a:t>
            </a:r>
            <a:r>
              <a:rPr sz="32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newuser  -c</a:t>
            </a:r>
            <a:r>
              <a:rPr sz="3200" b="1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"cmd</a:t>
            </a:r>
            <a:r>
              <a:rPr sz="32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args" #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837564" algn="l" rtl="0" eaLnBrk="0">
              <a:lnSpc>
                <a:spcPct val="79000"/>
              </a:lnSpc>
              <a:spcBef>
                <a:spcPts val="176"/>
              </a:spcBef>
              <a:tabLst/>
            </a:pP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 -</a:t>
            </a:r>
            <a:r>
              <a:rPr sz="32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newuser  --command="cmd args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endParaRPr sz="3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368"/>
              </a:spcBef>
              <a:tabLst/>
            </a:pPr>
            <a:r>
              <a:rPr sz="3200" b="1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在系统启动期间，常以这种方法启动某服务程序。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pic>
        <p:nvPicPr>
          <p:cNvPr id="918" name="picture 9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0172" y="5576570"/>
            <a:ext cx="279400" cy="279400"/>
          </a:xfrm>
          <a:prstGeom prst="rect">
            <a:avLst/>
          </a:prstGeom>
        </p:spPr>
      </p:pic>
      <p:pic>
        <p:nvPicPr>
          <p:cNvPr id="920" name="picture 9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6747" y="5088890"/>
            <a:ext cx="279400" cy="279400"/>
          </a:xfrm>
          <a:prstGeom prst="rect">
            <a:avLst/>
          </a:prstGeom>
        </p:spPr>
      </p:pic>
      <p:pic>
        <p:nvPicPr>
          <p:cNvPr id="922" name="picture 9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0172" y="3625850"/>
            <a:ext cx="279400" cy="279400"/>
          </a:xfrm>
          <a:prstGeom prst="rect">
            <a:avLst/>
          </a:prstGeom>
        </p:spPr>
      </p:pic>
      <p:pic>
        <p:nvPicPr>
          <p:cNvPr id="924" name="picture 9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0172" y="2650490"/>
            <a:ext cx="279400" cy="279400"/>
          </a:xfrm>
          <a:prstGeom prst="rect">
            <a:avLst/>
          </a:prstGeom>
        </p:spPr>
      </p:pic>
      <p:pic>
        <p:nvPicPr>
          <p:cNvPr id="926" name="picture 9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0172" y="699770"/>
            <a:ext cx="279400" cy="279400"/>
          </a:xfrm>
          <a:prstGeom prst="rect">
            <a:avLst/>
          </a:prstGeom>
        </p:spPr>
      </p:pic>
      <p:sp>
        <p:nvSpPr>
          <p:cNvPr id="928" name="textbox 92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56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930" name="textbox 930"/>
          <p:cNvSpPr/>
          <p:nvPr/>
        </p:nvSpPr>
        <p:spPr>
          <a:xfrm>
            <a:off x="119811" y="-13792"/>
            <a:ext cx="897889" cy="411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3500" b="1" kern="0" spc="-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说明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932" name="picture 9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textbox 934"/>
          <p:cNvSpPr/>
          <p:nvPr/>
        </p:nvSpPr>
        <p:spPr>
          <a:xfrm>
            <a:off x="111760" y="704037"/>
            <a:ext cx="8811259" cy="408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1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6514" algn="l" rtl="0" eaLnBrk="0">
              <a:lnSpc>
                <a:spcPct val="86000"/>
              </a:lnSpc>
              <a:tabLst/>
            </a:pPr>
            <a:r>
              <a:rPr sz="4400" b="1" kern="0" spc="-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4400" b="1" kern="0" spc="-6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．功能及用法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38734" indent="140970" algn="l" rtl="0" eaLnBrk="0">
              <a:lnSpc>
                <a:spcPct val="91000"/>
              </a:lnSpc>
              <a:spcBef>
                <a:spcPts val="769"/>
              </a:spcBef>
              <a:tabLst/>
            </a:pP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sudo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也允许用户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以超级用户或其他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用户的身份执行命令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。其用法为：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396240" algn="l" rtl="0" eaLnBrk="0">
              <a:lnSpc>
                <a:spcPts val="5791"/>
              </a:lnSpc>
              <a:spcBef>
                <a:spcPts val="46"/>
              </a:spcBef>
              <a:tabLst>
                <a:tab pos="786130" algn="l"/>
              </a:tabLst>
            </a:pPr>
            <a:r>
              <a:rPr sz="44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sudo -h|-k|-l|-v|-V</a:t>
            </a:r>
            <a:endParaRPr sz="4400" dirty="0">
              <a:latin typeface="Arial"/>
              <a:ea typeface="Arial"/>
              <a:cs typeface="Arial"/>
            </a:endParaRPr>
          </a:p>
          <a:p>
            <a:pPr marL="485775" indent="-90169" algn="l" rtl="0" eaLnBrk="0">
              <a:lnSpc>
                <a:spcPct val="106000"/>
              </a:lnSpc>
              <a:spcBef>
                <a:spcPts val="9"/>
              </a:spcBef>
              <a:tabLst>
                <a:tab pos="786130" algn="l"/>
              </a:tabLst>
            </a:pPr>
            <a:r>
              <a:rPr sz="44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44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sudo</a:t>
            </a:r>
            <a:r>
              <a:rPr sz="4400" b="1" kern="0" spc="3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[-bH]|[-p str]</a:t>
            </a:r>
            <a:r>
              <a:rPr sz="4400" b="1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[-u</a:t>
            </a:r>
            <a:r>
              <a:rPr sz="4400" b="1" kern="0" spc="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user]</a:t>
            </a:r>
            <a:r>
              <a:rPr sz="4400" b="1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[-g</a:t>
            </a:r>
            <a:r>
              <a:rPr sz="44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group] {-s|cmd}</a:t>
            </a:r>
            <a:endParaRPr sz="4400" dirty="0">
              <a:latin typeface="Arial"/>
              <a:ea typeface="Arial"/>
              <a:cs typeface="Arial"/>
            </a:endParaRPr>
          </a:p>
        </p:txBody>
      </p:sp>
      <p:pic>
        <p:nvPicPr>
          <p:cNvPr id="936" name="picture 9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3548823"/>
            <a:ext cx="383540" cy="367201"/>
          </a:xfrm>
          <a:prstGeom prst="rect">
            <a:avLst/>
          </a:prstGeom>
        </p:spPr>
      </p:pic>
      <p:pic>
        <p:nvPicPr>
          <p:cNvPr id="938" name="picture 9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805736"/>
            <a:ext cx="383540" cy="352984"/>
          </a:xfrm>
          <a:prstGeom prst="rect">
            <a:avLst/>
          </a:prstGeom>
        </p:spPr>
      </p:pic>
      <p:sp>
        <p:nvSpPr>
          <p:cNvPr id="940" name="textbox 940"/>
          <p:cNvSpPr/>
          <p:nvPr/>
        </p:nvSpPr>
        <p:spPr>
          <a:xfrm>
            <a:off x="84568" y="-15747"/>
            <a:ext cx="7378065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32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4.7.8</a:t>
            </a:r>
            <a:r>
              <a:rPr sz="3200" b="1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200" b="1" kern="0" spc="-1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以</a:t>
            </a:r>
            <a:r>
              <a:rPr sz="3200" kern="0" spc="-4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200" b="1" kern="0" spc="-1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其他用户身</a:t>
            </a:r>
            <a:r>
              <a:rPr sz="3200" b="1" kern="0" spc="-1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份执行程序（</a:t>
            </a:r>
            <a:r>
              <a:rPr sz="32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sudo</a:t>
            </a:r>
            <a:r>
              <a:rPr sz="3200" b="1" kern="0" spc="-1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200" dirty="0">
              <a:latin typeface="STXinwei"/>
              <a:ea typeface="STXinwei"/>
              <a:cs typeface="STXinwei"/>
            </a:endParaRPr>
          </a:p>
        </p:txBody>
      </p:sp>
      <p:sp>
        <p:nvSpPr>
          <p:cNvPr id="942" name="textbox 94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58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944" name="picture 9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textbox 94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59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948" name="picture 9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graphicFrame>
        <p:nvGraphicFramePr>
          <p:cNvPr id="950" name="table 950"/>
          <p:cNvGraphicFramePr>
            <a:graphicFrameLocks noGrp="1"/>
          </p:cNvGraphicFramePr>
          <p:nvPr/>
        </p:nvGraphicFramePr>
        <p:xfrm>
          <a:off x="0" y="534987"/>
          <a:ext cx="9143365" cy="6144895"/>
        </p:xfrm>
        <a:graphic>
          <a:graphicData uri="http://schemas.openxmlformats.org/drawingml/2006/table">
            <a:tbl>
              <a:tblPr/>
              <a:tblGrid>
                <a:gridCol w="1069975"/>
                <a:gridCol w="3303270"/>
                <a:gridCol w="1198244"/>
                <a:gridCol w="3571875"/>
              </a:tblGrid>
              <a:tr h="6623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5445" algn="l" rtl="0" eaLnBrk="0">
                        <a:lnSpc>
                          <a:spcPct val="6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-b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0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7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后台执行命令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0215" algn="l" rtl="0" eaLnBrk="0">
                        <a:lnSpc>
                          <a:spcPct val="6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-h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帮助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4340" algn="l" rtl="0" eaLnBrk="0">
                        <a:lnSpc>
                          <a:spcPct val="6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7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-l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705" indent="-32384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列出自己使用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sudo</a:t>
                      </a:r>
                      <a:r>
                        <a:rPr sz="27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可</a:t>
                      </a:r>
                      <a:r>
                        <a:rPr sz="27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以执行的命令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65" algn="l" rtl="0" eaLnBrk="0">
                        <a:lnSpc>
                          <a:spcPct val="6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b="1" kern="0" spc="1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</a:t>
                      </a:r>
                      <a:r>
                        <a:rPr sz="2700" b="1" kern="0" spc="1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indent="5080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与-l配合，列-U所指</a:t>
                      </a:r>
                      <a:r>
                        <a:rPr sz="2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7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定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user</a:t>
                      </a:r>
                      <a:r>
                        <a:rPr sz="27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可以执行的命</a:t>
                      </a:r>
                      <a:r>
                        <a:rPr sz="2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7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令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5440" algn="l" rtl="0" eaLnBrk="0">
                        <a:lnSpc>
                          <a:spcPct val="6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700" b="1" kern="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-H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660" indent="-18542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7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重置环境变量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HOME </a:t>
                      </a:r>
                      <a:r>
                        <a:rPr sz="27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（默认不修改</a:t>
                      </a:r>
                      <a:r>
                        <a:rPr sz="27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HOME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-p</a:t>
                      </a:r>
                      <a:r>
                        <a:rPr sz="2700" b="1" kern="0" spc="1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更改密码提示符。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%u</a:t>
                      </a:r>
                      <a:r>
                        <a:rPr sz="27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为用户名，</a:t>
                      </a:r>
                      <a:r>
                        <a:rPr sz="27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%h</a:t>
                      </a:r>
                      <a:r>
                        <a:rPr sz="27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为主机</a:t>
                      </a:r>
                      <a:r>
                        <a:rPr sz="27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名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40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4" algn="l" rtl="0" eaLnBrk="0">
                        <a:lnSpc>
                          <a:spcPts val="1617"/>
                        </a:lnSpc>
                        <a:tabLst/>
                      </a:pPr>
                      <a:r>
                        <a:rPr sz="2700" b="1" kern="0" spc="9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</a:t>
                      </a:r>
                      <a:r>
                        <a:rPr sz="2700" b="1" kern="0" spc="1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79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指定用户名或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uid</a:t>
                      </a:r>
                      <a:r>
                        <a:rPr sz="2700" b="1" kern="0" spc="-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默认为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root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9740" algn="l" rtl="0" eaLnBrk="0">
                        <a:lnSpc>
                          <a:spcPts val="2082"/>
                        </a:lnSpc>
                        <a:tabLst/>
                      </a:pP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-g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ts val="2082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700" b="1" kern="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group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指定组名或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g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3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5445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2700" b="1" kern="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-k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indent="9525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强迫下次执行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sudo</a:t>
                      </a:r>
                      <a:r>
                        <a:rPr sz="27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时</a:t>
                      </a:r>
                      <a:r>
                        <a:rPr sz="27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输入密码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9740" algn="l" rtl="0" eaLnBrk="0">
                        <a:lnSpc>
                          <a:spcPts val="1570"/>
                        </a:lnSpc>
                        <a:tabLst/>
                      </a:pPr>
                      <a:r>
                        <a:rPr sz="27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-v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延长密码有效期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</a:t>
                      </a:r>
                      <a:r>
                        <a:rPr sz="27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钟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7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2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69000"/>
                        </a:lnSpc>
                        <a:tabLst/>
                      </a:pPr>
                      <a:r>
                        <a:rPr sz="2700" b="1" kern="0" spc="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cmd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7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7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指定将要执行的命令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9425" algn="l" rtl="0" eaLnBrk="0">
                        <a:lnSpc>
                          <a:spcPts val="1617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7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-s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执行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SHELL</a:t>
                      </a:r>
                      <a:r>
                        <a:rPr sz="27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指定的</a:t>
                      </a:r>
                      <a:endParaRPr sz="27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4604" algn="l" rtl="0" eaLnBrk="0">
                        <a:lnSpc>
                          <a:spcPct val="92000"/>
                        </a:lnSpc>
                        <a:spcBef>
                          <a:spcPts val="25"/>
                        </a:spcBef>
                        <a:tabLst/>
                      </a:pPr>
                      <a:r>
                        <a:rPr sz="27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shell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52" name="textbox 952"/>
          <p:cNvSpPr/>
          <p:nvPr/>
        </p:nvSpPr>
        <p:spPr>
          <a:xfrm>
            <a:off x="88265" y="-44450"/>
            <a:ext cx="301434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5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参数及说明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textbox 954"/>
          <p:cNvSpPr/>
          <p:nvPr/>
        </p:nvSpPr>
        <p:spPr>
          <a:xfrm>
            <a:off x="111760" y="742962"/>
            <a:ext cx="8843009" cy="5431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7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9425" indent="-15875" algn="l" rtl="0" eaLnBrk="0">
              <a:lnSpc>
                <a:spcPct val="98000"/>
              </a:lnSpc>
              <a:spcBef>
                <a:spcPts val="1"/>
              </a:spcBef>
              <a:tabLst/>
            </a:pPr>
            <a:r>
              <a:rPr sz="39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39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sudoers</a:t>
            </a:r>
            <a:r>
              <a:rPr sz="3500" b="1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sudo</a:t>
            </a:r>
            <a:r>
              <a:rPr sz="3500" b="1" kern="0" spc="1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的配置文件</a:t>
            </a:r>
            <a:r>
              <a:rPr sz="3500" b="1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能使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sudo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命令的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用户必须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在此文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件中定义。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系统还为此配置文件提供了一个专用的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编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辑命令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visudo</a:t>
            </a:r>
            <a:r>
              <a:rPr sz="3500" b="1" kern="0" spc="-4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，除了编辑修改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sudoers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件外，还可帮助使用者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检查配置文件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内容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的正确性。修改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sudoers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文件时请使用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518159" indent="-52705" algn="l" rtl="0" eaLnBrk="0">
              <a:lnSpc>
                <a:spcPct val="94000"/>
              </a:lnSpc>
              <a:spcBef>
                <a:spcPts val="745"/>
              </a:spcBef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visudo</a:t>
            </a:r>
            <a:r>
              <a:rPr sz="3500" b="1" kern="0" spc="-5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，但不同系统中使用的编辑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器不同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3500" kern="0" spc="1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-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Fedora</a:t>
            </a:r>
            <a:r>
              <a:rPr sz="3500" b="1" kern="0" spc="-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</a:t>
            </a:r>
            <a:r>
              <a:rPr sz="3500" b="1" kern="0" spc="-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</a:t>
            </a:r>
            <a:r>
              <a:rPr sz="35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4505" indent="-157479" algn="l" rtl="0" eaLnBrk="0">
              <a:lnSpc>
                <a:spcPct val="94000"/>
              </a:lnSpc>
              <a:spcBef>
                <a:spcPts val="725"/>
              </a:spcBef>
              <a:tabLst>
                <a:tab pos="482600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有关配置文件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sudoers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的更多说明请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参阅在线文档或其他文献。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956" name="picture 9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5234622"/>
            <a:ext cx="314325" cy="314325"/>
          </a:xfrm>
          <a:prstGeom prst="rect">
            <a:avLst/>
          </a:prstGeom>
        </p:spPr>
      </p:pic>
      <p:pic>
        <p:nvPicPr>
          <p:cNvPr id="958" name="picture 9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797242"/>
            <a:ext cx="349250" cy="349250"/>
          </a:xfrm>
          <a:prstGeom prst="rect">
            <a:avLst/>
          </a:prstGeom>
        </p:spPr>
      </p:pic>
      <p:sp>
        <p:nvSpPr>
          <p:cNvPr id="960" name="textbox 96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星期二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60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962" name="textbox 962"/>
          <p:cNvSpPr/>
          <p:nvPr/>
        </p:nvSpPr>
        <p:spPr>
          <a:xfrm>
            <a:off x="94208" y="-44450"/>
            <a:ext cx="432942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2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配</a:t>
            </a:r>
            <a:r>
              <a:rPr sz="3500" kern="0" spc="-4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置文件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sudoers</a:t>
            </a:r>
            <a:endParaRPr sz="3500" dirty="0">
              <a:latin typeface="Arial"/>
              <a:ea typeface="Arial"/>
              <a:cs typeface="Arial"/>
            </a:endParaRPr>
          </a:p>
        </p:txBody>
      </p:sp>
      <p:pic>
        <p:nvPicPr>
          <p:cNvPr id="964" name="picture 9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6" name="picture 9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sp>
        <p:nvSpPr>
          <p:cNvPr id="968" name="textbox 968"/>
          <p:cNvSpPr/>
          <p:nvPr/>
        </p:nvSpPr>
        <p:spPr>
          <a:xfrm>
            <a:off x="92837" y="-81915"/>
            <a:ext cx="9063990" cy="6527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89000"/>
              </a:lnSpc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5.1.1</a:t>
            </a:r>
            <a:r>
              <a:rPr sz="3500" b="1" kern="0" spc="3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三种权限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12700" algn="l" rtl="0" eaLnBrk="0">
              <a:lnSpc>
                <a:spcPct val="86000"/>
              </a:lnSpc>
              <a:spcBef>
                <a:spcPts val="658"/>
              </a:spcBef>
              <a:tabLst/>
            </a:pPr>
            <a:r>
              <a:rPr sz="35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普通权限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共有</a:t>
            </a:r>
            <a:r>
              <a:rPr sz="35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三种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35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</a:t>
            </a: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  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13970" indent="240665" algn="l" rtl="0" eaLnBrk="0">
              <a:lnSpc>
                <a:spcPct val="93000"/>
              </a:lnSpc>
              <a:spcBef>
                <a:spcPts val="826"/>
              </a:spcBef>
              <a:tabLst/>
            </a:pP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5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读权限（</a:t>
            </a:r>
            <a:r>
              <a:rPr sz="3500" kern="0" spc="-9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-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</a:t>
            </a:r>
            <a:r>
              <a:rPr sz="3500" b="1" kern="0" spc="-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5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指</a:t>
            </a:r>
            <a:r>
              <a:rPr sz="35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</a:t>
            </a:r>
            <a:r>
              <a:rPr sz="3500" b="1" kern="0" spc="-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户</a:t>
            </a: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对文件或目录</a:t>
            </a:r>
            <a:r>
              <a:rPr sz="3500" b="1" kern="0" spc="-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</a:t>
            </a:r>
            <a:r>
              <a:rPr sz="3500" b="1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看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权限。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21590" indent="233045" algn="l" rtl="0" eaLnBrk="0">
              <a:lnSpc>
                <a:spcPct val="98000"/>
              </a:lnSpc>
              <a:spcBef>
                <a:spcPts val="818"/>
              </a:spcBef>
              <a:tabLst/>
            </a:pP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</a:t>
            </a: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500" b="1" kern="0" spc="-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写权限（</a:t>
            </a:r>
            <a:r>
              <a:rPr sz="3500" kern="0" spc="-9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-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w</a:t>
            </a:r>
            <a:r>
              <a:rPr sz="3500" b="1" kern="0" spc="-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指</a:t>
            </a:r>
            <a:r>
              <a:rPr sz="3500" b="1" kern="0" spc="-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</a:t>
            </a: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对文件或目录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写权力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。若用户对某文件没有写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权限，则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不能修改它；若用户对某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目录没有写权限，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则不能在该目录内创建文件或子目录。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13970" indent="240665" algn="l" rtl="0" eaLnBrk="0">
              <a:lnSpc>
                <a:spcPct val="98000"/>
              </a:lnSpc>
              <a:spcBef>
                <a:spcPts val="818"/>
              </a:spcBef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执行权（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x</a:t>
            </a:r>
            <a:r>
              <a:rPr sz="3500" b="1" kern="0" spc="-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5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指用户对文件的执行权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或对目录的进入权限。若用户对某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没有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执行权则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不能执行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它；若用户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对某目录没有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执行权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则不能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进入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它。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sp>
        <p:nvSpPr>
          <p:cNvPr id="970" name="textbox 97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textbox 972"/>
          <p:cNvSpPr/>
          <p:nvPr/>
        </p:nvSpPr>
        <p:spPr>
          <a:xfrm>
            <a:off x="76835" y="713562"/>
            <a:ext cx="8894444" cy="5278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5140" indent="23495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UNIX/Linux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系统对文件操</a:t>
            </a:r>
            <a:r>
              <a:rPr sz="44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作的</a:t>
            </a:r>
            <a:r>
              <a:rPr sz="4400" b="1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三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种权限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只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对三类人分配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，分别是用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户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主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user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）、同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组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人</a:t>
            </a:r>
            <a:endParaRPr sz="44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100000"/>
              </a:lnSpc>
              <a:spcBef>
                <a:spcPts val="887"/>
              </a:spcBef>
              <a:tabLst/>
            </a:pPr>
            <a:r>
              <a:rPr sz="4400" b="1" kern="0" spc="-3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44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group</a:t>
            </a:r>
            <a:r>
              <a:rPr sz="44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44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g</a:t>
            </a:r>
            <a:r>
              <a:rPr sz="44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）和</a:t>
            </a:r>
            <a:r>
              <a:rPr sz="44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其他</a:t>
            </a:r>
            <a:r>
              <a:rPr sz="44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人（</a:t>
            </a:r>
            <a:r>
              <a:rPr sz="44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other</a:t>
            </a:r>
            <a:r>
              <a:rPr sz="4400" b="1" kern="0" spc="-34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487044" algn="l" rtl="0" eaLnBrk="0">
              <a:lnSpc>
                <a:spcPct val="83000"/>
              </a:lnSpc>
              <a:spcBef>
                <a:spcPts val="11"/>
              </a:spcBef>
              <a:tabLst/>
            </a:pPr>
            <a:r>
              <a:rPr sz="4400" b="1" kern="0" spc="-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o</a:t>
            </a:r>
            <a:r>
              <a:rPr sz="44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）。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489584" algn="l" rtl="0" eaLnBrk="0">
              <a:lnSpc>
                <a:spcPct val="86000"/>
              </a:lnSpc>
              <a:spcBef>
                <a:spcPts val="737"/>
              </a:spcBef>
              <a:tabLst/>
            </a:pPr>
            <a:r>
              <a:rPr sz="44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</a:t>
            </a:r>
            <a:r>
              <a:rPr sz="4400" b="1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主</a:t>
            </a:r>
            <a:r>
              <a:rPr sz="44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是文件的</a:t>
            </a:r>
            <a:r>
              <a:rPr sz="4400" b="1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拥有</a:t>
            </a:r>
            <a:r>
              <a:rPr sz="44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者；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396240" algn="l" rtl="0" eaLnBrk="0">
              <a:lnSpc>
                <a:spcPct val="86000"/>
              </a:lnSpc>
              <a:spcBef>
                <a:spcPts val="722"/>
              </a:spcBef>
              <a:tabLst>
                <a:tab pos="539750" algn="l"/>
              </a:tabLst>
            </a:pPr>
            <a:r>
              <a:rPr sz="4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同</a:t>
            </a:r>
            <a:r>
              <a:rPr sz="4400" b="1" kern="0" spc="-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组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人是与文件主</a:t>
            </a:r>
            <a:r>
              <a:rPr sz="4400" b="1" kern="0" spc="-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同组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的用户；</a:t>
            </a:r>
            <a:endParaRPr sz="44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86000"/>
              </a:lnSpc>
              <a:spcBef>
                <a:spcPts val="757"/>
              </a:spcBef>
              <a:tabLst/>
            </a:pP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其他人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是指除用户主和同组人以外</a:t>
            </a:r>
            <a:endParaRPr sz="4400" dirty="0">
              <a:latin typeface="SimSun"/>
              <a:ea typeface="SimSun"/>
              <a:cs typeface="SimSun"/>
            </a:endParaRPr>
          </a:p>
        </p:txBody>
      </p:sp>
      <p:pic>
        <p:nvPicPr>
          <p:cNvPr id="974" name="picture 9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5497512"/>
            <a:ext cx="383540" cy="384175"/>
          </a:xfrm>
          <a:prstGeom prst="rect">
            <a:avLst/>
          </a:prstGeom>
        </p:spPr>
      </p:pic>
      <p:pic>
        <p:nvPicPr>
          <p:cNvPr id="976" name="picture 9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4826952"/>
            <a:ext cx="383540" cy="384175"/>
          </a:xfrm>
          <a:prstGeom prst="rect">
            <a:avLst/>
          </a:prstGeom>
        </p:spPr>
      </p:pic>
      <p:pic>
        <p:nvPicPr>
          <p:cNvPr id="978" name="picture 9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4156392"/>
            <a:ext cx="383540" cy="384175"/>
          </a:xfrm>
          <a:prstGeom prst="rect">
            <a:avLst/>
          </a:prstGeom>
        </p:spPr>
      </p:pic>
      <p:pic>
        <p:nvPicPr>
          <p:cNvPr id="980" name="picture 9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803592"/>
            <a:ext cx="383540" cy="384175"/>
          </a:xfrm>
          <a:prstGeom prst="rect">
            <a:avLst/>
          </a:prstGeom>
        </p:spPr>
      </p:pic>
      <p:sp>
        <p:nvSpPr>
          <p:cNvPr id="982" name="textbox 982"/>
          <p:cNvSpPr/>
          <p:nvPr/>
        </p:nvSpPr>
        <p:spPr>
          <a:xfrm>
            <a:off x="80543" y="6058357"/>
            <a:ext cx="8985250" cy="782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1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7050" algn="l" rtl="0" eaLnBrk="0">
              <a:lnSpc>
                <a:spcPct val="79000"/>
              </a:lnSpc>
              <a:tabLst/>
            </a:pPr>
            <a:r>
              <a:rPr sz="44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的用户。</a:t>
            </a:r>
            <a:endParaRPr sz="44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85000"/>
              </a:lnSpc>
              <a:spcBef>
                <a:spcPts val="12"/>
              </a:spcBef>
              <a:tabLst/>
            </a:pP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984" name="textbox 984"/>
          <p:cNvSpPr/>
          <p:nvPr/>
        </p:nvSpPr>
        <p:spPr>
          <a:xfrm>
            <a:off x="105181" y="-81915"/>
            <a:ext cx="296354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5.1.2</a:t>
            </a:r>
            <a:r>
              <a:rPr sz="3500" b="1" kern="0" spc="3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三</a:t>
            </a:r>
            <a:r>
              <a:rPr sz="3500" kern="0" spc="-4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类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人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986" name="picture 9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textbox 988"/>
          <p:cNvSpPr/>
          <p:nvPr/>
        </p:nvSpPr>
        <p:spPr>
          <a:xfrm>
            <a:off x="45643" y="618921"/>
            <a:ext cx="9020175" cy="6355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7965" algn="l" rtl="0" eaLnBrk="0">
              <a:lnSpc>
                <a:spcPct val="87000"/>
              </a:lnSpc>
              <a:tabLst>
                <a:tab pos="49149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．权限的字符串表示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31115" indent="3175" algn="l" rtl="0" eaLnBrk="0">
              <a:lnSpc>
                <a:spcPct val="95000"/>
              </a:lnSpc>
              <a:spcBef>
                <a:spcPts val="436"/>
              </a:spcBef>
              <a:tabLst/>
            </a:pP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设命令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ls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-l -d 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dev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sda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dev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tty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boot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bin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bash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的输出中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有以下内容：</a:t>
            </a:r>
            <a:endParaRPr sz="2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8100" algn="l" rtl="0" eaLnBrk="0">
              <a:lnSpc>
                <a:spcPts val="3895"/>
              </a:lnSpc>
              <a:spcBef>
                <a:spcPts val="1953"/>
              </a:spcBef>
              <a:tabLst/>
            </a:pPr>
            <a:r>
              <a:rPr sz="6500" b="1" kern="0" spc="-3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-rwxr-xr-x</a:t>
            </a:r>
            <a:endParaRPr sz="6500" dirty="0">
              <a:latin typeface="Times New Roman"/>
              <a:ea typeface="Times New Roman"/>
              <a:cs typeface="Times New Roman"/>
            </a:endParaRPr>
          </a:p>
          <a:p>
            <a:pPr marL="50800" indent="346709" algn="l" rtl="0" eaLnBrk="0">
              <a:lnSpc>
                <a:spcPct val="84000"/>
              </a:lnSpc>
              <a:spcBef>
                <a:spcPts val="1269"/>
              </a:spcBef>
              <a:tabLst/>
            </a:pP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.  1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root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root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1086480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Sep</a:t>
            </a:r>
            <a:r>
              <a:rPr sz="2300" b="1" kern="0" spc="1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30</a:t>
            </a:r>
            <a:r>
              <a:rPr sz="2300" b="1" kern="0" spc="2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19:09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bin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bash  </a:t>
            </a:r>
            <a:r>
              <a:rPr sz="6500" b="1" kern="0" spc="-6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6500" b="1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r-xr-xr-x</a:t>
            </a:r>
            <a:endParaRPr sz="6500" dirty="0">
              <a:latin typeface="Times New Roman"/>
              <a:ea typeface="Times New Roman"/>
              <a:cs typeface="Times New Roman"/>
            </a:endParaRPr>
          </a:p>
          <a:p>
            <a:pPr marL="36830" indent="360679" algn="l" rtl="0" eaLnBrk="0">
              <a:lnSpc>
                <a:spcPct val="93000"/>
              </a:lnSpc>
              <a:spcBef>
                <a:spcPts val="1873"/>
              </a:spcBef>
              <a:tabLst/>
            </a:pP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.  6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root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root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3072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Oct</a:t>
            </a:r>
            <a:r>
              <a:rPr sz="2300" b="1" kern="0" spc="1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18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3:04  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boot         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Lrwxrwxrwx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.  1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root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root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    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Mar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</a:t>
            </a:r>
            <a:endParaRPr sz="2300" dirty="0">
              <a:latin typeface="Segoe Print"/>
              <a:ea typeface="Segoe Print"/>
              <a:cs typeface="Segoe Print"/>
            </a:endParaRPr>
          </a:p>
          <a:p>
            <a:pPr marL="26034" algn="l" rtl="0" eaLnBrk="0">
              <a:lnSpc>
                <a:spcPct val="86000"/>
              </a:lnSpc>
              <a:spcBef>
                <a:spcPts val="722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22:09/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dev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cdrom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-&gt;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sr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0</a:t>
            </a:r>
            <a:endParaRPr sz="2300" dirty="0">
              <a:latin typeface="Segoe Print"/>
              <a:ea typeface="Segoe Print"/>
              <a:cs typeface="Segoe Print"/>
            </a:endParaRPr>
          </a:p>
          <a:p>
            <a:pPr marL="12700" indent="22225" algn="l" rtl="0" eaLnBrk="0">
              <a:lnSpc>
                <a:spcPct val="97000"/>
              </a:lnSpc>
              <a:spcBef>
                <a:spcPts val="208"/>
              </a:spcBef>
              <a:tabLst/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brw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rw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----.  1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root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disk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8,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0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Mar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22: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09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      </a:t>
            </a:r>
            <a:r>
              <a:rPr sz="2300" b="1" kern="0" spc="2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dev</a:t>
            </a:r>
            <a:r>
              <a:rPr sz="2300" b="1" kern="0" spc="2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sda</a:t>
            </a:r>
            <a:endParaRPr sz="2300" dirty="0">
              <a:latin typeface="Segoe Print"/>
              <a:ea typeface="Segoe Print"/>
              <a:cs typeface="Segoe Print"/>
            </a:endParaRPr>
          </a:p>
          <a:p>
            <a:pPr marL="12700" indent="15875" algn="l" rtl="0" eaLnBrk="0">
              <a:lnSpc>
                <a:spcPct val="91000"/>
              </a:lnSpc>
              <a:spcBef>
                <a:spcPts val="970"/>
              </a:spcBef>
              <a:tabLst/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crw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rw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rw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-.  1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root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tty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 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5,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0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Mar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3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22:09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      </a:t>
            </a:r>
            <a:r>
              <a:rPr sz="2300" b="1" kern="0" spc="2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dev</a:t>
            </a:r>
            <a:r>
              <a:rPr sz="2300" b="1" kern="0" spc="2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tty</a:t>
            </a:r>
            <a:endParaRPr sz="2300" dirty="0">
              <a:latin typeface="Segoe Print"/>
              <a:ea typeface="Segoe Print"/>
              <a:cs typeface="Segoe Print"/>
            </a:endParaRPr>
          </a:p>
          <a:p>
            <a:pPr algn="r" rtl="0" eaLnBrk="0">
              <a:lnSpc>
                <a:spcPts val="2749"/>
              </a:lnSpc>
              <a:tabLst/>
            </a:pPr>
            <a:r>
              <a:rPr sz="1400" b="1" kern="0" spc="-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输</a:t>
            </a:r>
            <a:r>
              <a:rPr sz="1000" b="1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-220" baseline="57141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10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10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1700" b="1" kern="0" spc="-220" baseline="57141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</a:t>
            </a:r>
            <a:r>
              <a:rPr sz="10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</a:t>
            </a:r>
            <a:r>
              <a:rPr sz="1700" b="1" kern="0" spc="-220" baseline="57141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全</a:t>
            </a:r>
            <a:r>
              <a:rPr sz="2200" b="1" kern="0" spc="-220" baseline="-556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1700" b="1" kern="0" spc="-220" baseline="57141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》</a:t>
            </a:r>
            <a:r>
              <a:rPr sz="2200" b="1" kern="0" spc="-50" baseline="-556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</a:t>
            </a:r>
            <a:r>
              <a:rPr sz="1700" b="1" kern="0" spc="-50" baseline="57141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</a:t>
            </a:r>
            <a:r>
              <a:rPr sz="1000" kern="0" spc="-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</a:t>
            </a:r>
            <a:r>
              <a:rPr sz="1700" b="1" kern="0" spc="-50" baseline="57141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大</a:t>
            </a:r>
            <a:r>
              <a:rPr sz="1000" kern="0" spc="-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</a:t>
            </a:r>
            <a:r>
              <a:rPr sz="1700" b="1" kern="0" spc="-50" baseline="2343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学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权</a:t>
            </a:r>
            <a:r>
              <a:rPr sz="1700" b="1" kern="0" spc="-50" baseline="2343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软</a:t>
            </a:r>
            <a:r>
              <a:rPr sz="1000" kern="0" spc="-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1700" b="1" kern="0" spc="-50" baseline="57141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学</a:t>
            </a:r>
            <a:r>
              <a:rPr sz="2200" b="1" kern="0" spc="-50" baseline="-556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1000" b="1" kern="0" spc="-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院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除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</a:t>
            </a:r>
            <a:r>
              <a:rPr sz="1700" b="1" kern="0" spc="-50" baseline="57141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2200" b="1" kern="0" spc="-50" baseline="6272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</a:t>
            </a:r>
            <a:r>
              <a:rPr sz="1700" b="1" kern="0" spc="-50" baseline="811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700" b="1" kern="0" spc="-50" baseline="57141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1000" b="1" kern="0" spc="-6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r>
              <a:rPr sz="1000" b="1" kern="0" spc="-6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外</a:t>
            </a:r>
            <a:r>
              <a:rPr sz="1000" b="1" kern="0" spc="-6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</a:t>
            </a:r>
            <a:r>
              <a:rPr sz="2200" b="1" kern="0" spc="-60" baseline="-556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1700" b="1" kern="0" spc="-60" baseline="57141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期</a:t>
            </a:r>
            <a:r>
              <a:rPr sz="1000" kern="0" spc="-6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</a:t>
            </a:r>
            <a:r>
              <a:rPr sz="2200" b="1" kern="0" spc="270" baseline="3904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余为文</a:t>
            </a:r>
            <a:r>
              <a:rPr sz="1700" kern="0" spc="270" baseline="5053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200" b="1" kern="0" spc="270" baseline="-556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件</a:t>
            </a:r>
            <a:r>
              <a:rPr sz="1700" b="1" kern="0" spc="270" baseline="6939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1700" kern="0" spc="270" baseline="6939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1700" baseline="69397" dirty="0">
              <a:latin typeface="STXinwei"/>
              <a:ea typeface="STXinwei"/>
              <a:cs typeface="STXinwei"/>
            </a:endParaRPr>
          </a:p>
        </p:txBody>
      </p:sp>
      <p:pic>
        <p:nvPicPr>
          <p:cNvPr id="990" name="picture 9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443117" y="6689674"/>
            <a:ext cx="291693" cy="168325"/>
          </a:xfrm>
          <a:prstGeom prst="rect">
            <a:avLst/>
          </a:prstGeom>
        </p:spPr>
      </p:pic>
      <p:pic>
        <p:nvPicPr>
          <p:cNvPr id="992" name="picture 9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57365" y="6645835"/>
            <a:ext cx="310870" cy="212164"/>
          </a:xfrm>
          <a:prstGeom prst="rect">
            <a:avLst/>
          </a:prstGeom>
        </p:spPr>
      </p:pic>
      <p:pic>
        <p:nvPicPr>
          <p:cNvPr id="994" name="picture 9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70472" y="6666612"/>
            <a:ext cx="291693" cy="191387"/>
          </a:xfrm>
          <a:prstGeom prst="rect">
            <a:avLst/>
          </a:prstGeom>
        </p:spPr>
      </p:pic>
      <p:pic>
        <p:nvPicPr>
          <p:cNvPr id="996" name="picture 9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471922" y="6645835"/>
            <a:ext cx="288035" cy="174204"/>
          </a:xfrm>
          <a:prstGeom prst="rect">
            <a:avLst/>
          </a:prstGeom>
        </p:spPr>
      </p:pic>
      <p:pic>
        <p:nvPicPr>
          <p:cNvPr id="998" name="picture 9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134483" y="6645835"/>
            <a:ext cx="375386" cy="212164"/>
          </a:xfrm>
          <a:prstGeom prst="rect">
            <a:avLst/>
          </a:prstGeom>
        </p:spPr>
      </p:pic>
      <p:pic>
        <p:nvPicPr>
          <p:cNvPr id="1000" name="picture 100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268546" y="6631576"/>
            <a:ext cx="278562" cy="226423"/>
          </a:xfrm>
          <a:prstGeom prst="rect">
            <a:avLst/>
          </a:prstGeom>
        </p:spPr>
      </p:pic>
      <p:pic>
        <p:nvPicPr>
          <p:cNvPr id="1002" name="picture 10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631210" y="6645020"/>
            <a:ext cx="291693" cy="212979"/>
          </a:xfrm>
          <a:prstGeom prst="rect">
            <a:avLst/>
          </a:prstGeom>
        </p:spPr>
      </p:pic>
      <p:pic>
        <p:nvPicPr>
          <p:cNvPr id="1004" name="picture 100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333369" y="6631576"/>
            <a:ext cx="291719" cy="226423"/>
          </a:xfrm>
          <a:prstGeom prst="rect">
            <a:avLst/>
          </a:prstGeom>
        </p:spPr>
      </p:pic>
      <p:pic>
        <p:nvPicPr>
          <p:cNvPr id="1006" name="picture 100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004719" y="6660297"/>
            <a:ext cx="352399" cy="197702"/>
          </a:xfrm>
          <a:prstGeom prst="rect">
            <a:avLst/>
          </a:prstGeom>
        </p:spPr>
      </p:pic>
      <p:pic>
        <p:nvPicPr>
          <p:cNvPr id="1008" name="picture 100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781656" y="6676389"/>
            <a:ext cx="269392" cy="181610"/>
          </a:xfrm>
          <a:prstGeom prst="rect">
            <a:avLst/>
          </a:prstGeom>
        </p:spPr>
      </p:pic>
      <p:pic>
        <p:nvPicPr>
          <p:cNvPr id="1010" name="picture 10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2450846" y="6631576"/>
            <a:ext cx="303657" cy="226423"/>
          </a:xfrm>
          <a:prstGeom prst="rect">
            <a:avLst/>
          </a:prstGeom>
        </p:spPr>
      </p:pic>
      <p:pic>
        <p:nvPicPr>
          <p:cNvPr id="1012" name="picture 10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553921" y="6631576"/>
            <a:ext cx="286816" cy="226423"/>
          </a:xfrm>
          <a:prstGeom prst="rect">
            <a:avLst/>
          </a:prstGeom>
        </p:spPr>
      </p:pic>
      <p:pic>
        <p:nvPicPr>
          <p:cNvPr id="1014" name="picture 10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246632" y="6631576"/>
            <a:ext cx="312166" cy="211028"/>
          </a:xfrm>
          <a:prstGeom prst="rect">
            <a:avLst/>
          </a:prstGeom>
        </p:spPr>
      </p:pic>
      <p:pic>
        <p:nvPicPr>
          <p:cNvPr id="1016" name="picture 10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898982" y="6631576"/>
            <a:ext cx="309549" cy="226423"/>
          </a:xfrm>
          <a:prstGeom prst="rect">
            <a:avLst/>
          </a:prstGeom>
        </p:spPr>
      </p:pic>
      <p:pic>
        <p:nvPicPr>
          <p:cNvPr id="1018" name="picture 10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00735" y="6687185"/>
            <a:ext cx="301726" cy="170814"/>
          </a:xfrm>
          <a:prstGeom prst="rect">
            <a:avLst/>
          </a:prstGeom>
        </p:spPr>
      </p:pic>
      <p:pic>
        <p:nvPicPr>
          <p:cNvPr id="1020" name="picture 10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329691" y="6646446"/>
            <a:ext cx="266700" cy="211553"/>
          </a:xfrm>
          <a:prstGeom prst="rect">
            <a:avLst/>
          </a:prstGeom>
        </p:spPr>
      </p:pic>
      <p:pic>
        <p:nvPicPr>
          <p:cNvPr id="1022" name="picture 102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64135" y="673100"/>
            <a:ext cx="209550" cy="209550"/>
          </a:xfrm>
          <a:prstGeom prst="rect">
            <a:avLst/>
          </a:prstGeom>
        </p:spPr>
      </p:pic>
      <p:sp>
        <p:nvSpPr>
          <p:cNvPr id="1024" name="textbox 1024"/>
          <p:cNvSpPr/>
          <p:nvPr/>
        </p:nvSpPr>
        <p:spPr>
          <a:xfrm>
            <a:off x="105181" y="-81915"/>
            <a:ext cx="342137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5.1.3</a:t>
            </a:r>
            <a:r>
              <a:rPr sz="3500" b="1" kern="0" spc="1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权限控制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026" name="picture 10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extbox 1028"/>
          <p:cNvSpPr/>
          <p:nvPr/>
        </p:nvSpPr>
        <p:spPr>
          <a:xfrm>
            <a:off x="127762" y="708672"/>
            <a:ext cx="9006840" cy="6132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7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对某类用户的权限分配有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种：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255270" algn="l" rtl="0" eaLnBrk="0">
              <a:lnSpc>
                <a:spcPct val="86000"/>
              </a:lnSpc>
              <a:spcBef>
                <a:spcPts val="708"/>
              </a:spcBef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）读权限。对应位置为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，否则为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86000"/>
              </a:lnSpc>
              <a:spcBef>
                <a:spcPts val="708"/>
              </a:spcBef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）写权限。对应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写权限位置为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w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，否则为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8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0640" algn="l" rtl="0" eaLnBrk="0">
              <a:lnSpc>
                <a:spcPct val="88000"/>
              </a:lnSpc>
              <a:spcBef>
                <a:spcPts val="361"/>
              </a:spcBef>
              <a:tabLst/>
            </a:pPr>
            <a:r>
              <a:rPr sz="1200" b="1" kern="0" spc="5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1200" b="1" kern="0" spc="-1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1200" b="1" kern="0" spc="5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indent="242570" algn="l" rtl="0" eaLnBrk="0">
              <a:lnSpc>
                <a:spcPct val="97000"/>
              </a:lnSpc>
              <a:spcBef>
                <a:spcPts val="1232"/>
              </a:spcBef>
              <a:tabLst/>
            </a:pP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）执行权限。若用户对文件有执行权或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对目录有进入权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，则对应执行权限的位置为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x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否则为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86000"/>
              </a:lnSpc>
              <a:spcBef>
                <a:spcPts val="583"/>
              </a:spcBef>
              <a:tabLst/>
            </a:pP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权限按所有者、同组人和其他人从左到右的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58419" indent="-42544" algn="l" rtl="0" eaLnBrk="0">
              <a:lnSpc>
                <a:spcPct val="110000"/>
              </a:lnSpc>
              <a:spcBef>
                <a:spcPts val="10"/>
              </a:spcBef>
              <a:tabLst/>
            </a:pP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顺序排列。例如，若用户主的权限为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rwx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同组人的权限为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r-x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，其他人的权限为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---</a:t>
            </a:r>
            <a:r>
              <a:rPr sz="3500" b="1" kern="0" spc="-2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849630" algn="l" rtl="0" eaLnBrk="0">
              <a:lnSpc>
                <a:spcPts val="4884"/>
              </a:lnSpc>
              <a:spcBef>
                <a:spcPts val="239"/>
              </a:spcBef>
              <a:tabLst>
                <a:tab pos="912494" algn="l"/>
              </a:tabLst>
            </a:pPr>
            <a:r>
              <a:rPr sz="12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	</a:t>
            </a:r>
            <a:r>
              <a:rPr sz="2000" b="1" kern="0" spc="-390" baseline="-6165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2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000" b="1" kern="0" spc="-390" baseline="-6165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</a:t>
            </a:r>
            <a:r>
              <a:rPr sz="12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</a:t>
            </a:r>
            <a:r>
              <a:rPr sz="2000" b="1" kern="0" spc="-390" baseline="-6165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全</a:t>
            </a:r>
            <a:r>
              <a:rPr sz="4100" b="1" kern="0" spc="10" baseline="30024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限</a:t>
            </a:r>
            <a:r>
              <a:rPr sz="2000" b="1" kern="0" spc="-600" baseline="-6165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》</a:t>
            </a:r>
            <a:r>
              <a:rPr sz="2000" b="1" kern="0" spc="-600" baseline="4331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</a:t>
            </a:r>
            <a:r>
              <a:rPr sz="4100" b="1" kern="0" spc="-480" baseline="21131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2000" b="1" kern="0" spc="-670" baseline="4331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津</a:t>
            </a:r>
            <a:r>
              <a:rPr sz="1200" kern="0" spc="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</a:t>
            </a:r>
            <a:r>
              <a:rPr sz="1200" b="1" kern="0" spc="-6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业</a:t>
            </a:r>
            <a:r>
              <a:rPr sz="2600" b="1" kern="0" spc="-4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w</a:t>
            </a:r>
            <a:r>
              <a:rPr sz="1200" b="1" kern="0" spc="-5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大</a:t>
            </a:r>
            <a:r>
              <a:rPr sz="12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</a:t>
            </a:r>
            <a:r>
              <a:rPr sz="2000" b="1" kern="0" spc="-510" baseline="-6165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学</a:t>
            </a:r>
            <a:r>
              <a:rPr sz="4100" b="1" kern="0" spc="-1070" baseline="30024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2600" b="1" kern="0" spc="9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000" b="1" kern="0" spc="240" baseline="-6165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</a:t>
            </a:r>
            <a:r>
              <a:rPr sz="12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</a:t>
            </a:r>
            <a:r>
              <a:rPr sz="2000" b="1" kern="0" spc="240" baseline="-6165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1200" b="1" kern="0" spc="18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b="1" kern="0" spc="240" baseline="-6165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2000" b="1" kern="0" spc="240" baseline="-6165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2000" b="1" kern="0" spc="240" baseline="-6165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2000" b="1" kern="0" spc="240" baseline="-6165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2000" b="1" kern="0" spc="240" baseline="-6165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</a:t>
            </a:r>
            <a:r>
              <a:rPr sz="1200" b="1" kern="0" spc="2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240" baseline="-6165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200" kern="0" spc="2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2000" b="1" kern="0" spc="240" baseline="-6165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200" kern="0" spc="-1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2000" b="1" kern="0" spc="240" baseline="-6165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2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</a:t>
            </a:r>
            <a:r>
              <a:rPr sz="2000" kern="0" spc="240" baseline="4252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000" b="1" kern="0" spc="240" baseline="4252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2000" kern="0" spc="240" baseline="4252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000" baseline="4252" dirty="0">
              <a:latin typeface="STXinwei"/>
              <a:ea typeface="STXinwei"/>
              <a:cs typeface="STXinwei"/>
            </a:endParaRPr>
          </a:p>
        </p:txBody>
      </p:sp>
      <p:sp>
        <p:nvSpPr>
          <p:cNvPr id="1030" name="textbox 1030"/>
          <p:cNvSpPr/>
          <p:nvPr/>
        </p:nvSpPr>
        <p:spPr>
          <a:xfrm>
            <a:off x="5494020" y="6594602"/>
            <a:ext cx="147320" cy="218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032" name="textbox 1032"/>
          <p:cNvSpPr/>
          <p:nvPr/>
        </p:nvSpPr>
        <p:spPr>
          <a:xfrm>
            <a:off x="5533498" y="6489967"/>
            <a:ext cx="125095" cy="125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8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sp>
        <p:nvSpPr>
          <p:cNvPr id="1034" name="textbox 1034"/>
          <p:cNvSpPr/>
          <p:nvPr/>
        </p:nvSpPr>
        <p:spPr>
          <a:xfrm>
            <a:off x="4919217" y="6578600"/>
            <a:ext cx="467994" cy="26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700" b="1" kern="0" spc="-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院</a:t>
            </a:r>
            <a:r>
              <a:rPr sz="1700" kern="0" spc="1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-1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036" name="textbox 1036"/>
          <p:cNvSpPr/>
          <p:nvPr/>
        </p:nvSpPr>
        <p:spPr>
          <a:xfrm>
            <a:off x="4912699" y="6429159"/>
            <a:ext cx="565784" cy="77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3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"/>
              </a:lnSpc>
              <a:tabLst/>
            </a:pPr>
            <a:r>
              <a:rPr sz="3500" b="1" kern="0" spc="-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--</a:t>
            </a:r>
            <a:endParaRPr sz="3500" dirty="0">
              <a:latin typeface="Segoe Print"/>
              <a:ea typeface="Segoe Print"/>
              <a:cs typeface="Segoe Print"/>
            </a:endParaRPr>
          </a:p>
        </p:txBody>
      </p:sp>
      <p:pic>
        <p:nvPicPr>
          <p:cNvPr id="1038" name="picture 10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20599" y="6441859"/>
            <a:ext cx="318871" cy="386270"/>
          </a:xfrm>
          <a:prstGeom prst="rect">
            <a:avLst/>
          </a:prstGeom>
        </p:spPr>
      </p:pic>
      <p:pic>
        <p:nvPicPr>
          <p:cNvPr id="1040" name="picture 10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211761" y="6344018"/>
            <a:ext cx="302539" cy="446620"/>
          </a:xfrm>
          <a:prstGeom prst="rect">
            <a:avLst/>
          </a:prstGeom>
        </p:spPr>
      </p:pic>
      <p:pic>
        <p:nvPicPr>
          <p:cNvPr id="1042" name="picture 10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836580" y="6357277"/>
            <a:ext cx="244678" cy="434733"/>
          </a:xfrm>
          <a:prstGeom prst="rect">
            <a:avLst/>
          </a:prstGeom>
        </p:spPr>
      </p:pic>
      <p:pic>
        <p:nvPicPr>
          <p:cNvPr id="1044" name="picture 10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576916" y="6344018"/>
            <a:ext cx="251002" cy="484111"/>
          </a:xfrm>
          <a:prstGeom prst="rect">
            <a:avLst/>
          </a:prstGeom>
        </p:spPr>
      </p:pic>
      <p:pic>
        <p:nvPicPr>
          <p:cNvPr id="1046" name="picture 10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963518" y="6357277"/>
            <a:ext cx="280492" cy="411187"/>
          </a:xfrm>
          <a:prstGeom prst="rect">
            <a:avLst/>
          </a:prstGeom>
        </p:spPr>
      </p:pic>
      <p:pic>
        <p:nvPicPr>
          <p:cNvPr id="1048" name="picture 10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509013" y="6207773"/>
            <a:ext cx="441197" cy="620356"/>
          </a:xfrm>
          <a:prstGeom prst="rect">
            <a:avLst/>
          </a:prstGeom>
        </p:spPr>
      </p:pic>
      <p:pic>
        <p:nvPicPr>
          <p:cNvPr id="1050" name="picture 10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94943" y="6207773"/>
            <a:ext cx="401878" cy="586066"/>
          </a:xfrm>
          <a:prstGeom prst="rect">
            <a:avLst/>
          </a:prstGeom>
        </p:spPr>
      </p:pic>
      <p:pic>
        <p:nvPicPr>
          <p:cNvPr id="1052" name="picture 105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0105" y="6207773"/>
            <a:ext cx="500659" cy="568921"/>
          </a:xfrm>
          <a:prstGeom prst="rect">
            <a:avLst/>
          </a:prstGeom>
        </p:spPr>
      </p:pic>
      <p:pic>
        <p:nvPicPr>
          <p:cNvPr id="1054" name="picture 105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51434" y="6207773"/>
            <a:ext cx="430225" cy="620356"/>
          </a:xfrm>
          <a:prstGeom prst="rect">
            <a:avLst/>
          </a:prstGeom>
        </p:spPr>
      </p:pic>
      <p:sp>
        <p:nvSpPr>
          <p:cNvPr id="1056" name="textbox 1056"/>
          <p:cNvSpPr/>
          <p:nvPr/>
        </p:nvSpPr>
        <p:spPr>
          <a:xfrm>
            <a:off x="110667" y="-81915"/>
            <a:ext cx="444500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4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权限的字符串表示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058" name="picture 105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textbox 1060"/>
          <p:cNvSpPr/>
          <p:nvPr/>
        </p:nvSpPr>
        <p:spPr>
          <a:xfrm>
            <a:off x="124183" y="684732"/>
            <a:ext cx="8849994" cy="5318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66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在数字方式表示下，访问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权限可用一个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三位二进制数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表示。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9000"/>
              </a:lnSpc>
              <a:spcBef>
                <a:spcPts val="814"/>
              </a:spcBef>
              <a:tabLst/>
            </a:pP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若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具有某个权限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，则对应位为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，否则为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0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，这样某类用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户的权限就可表示为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三位二进制数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，其值为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不大于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7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的整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数，因此可作为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八进制数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2700" b="1" kern="0" spc="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例如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2700" kern="0" spc="-6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dev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的权限为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50165" algn="l" rtl="0" eaLnBrk="0">
              <a:lnSpc>
                <a:spcPts val="3420"/>
              </a:lnSpc>
              <a:spcBef>
                <a:spcPts val="2474"/>
              </a:spcBef>
              <a:tabLst/>
            </a:pP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rwxr</a:t>
            </a:r>
            <a:r>
              <a:rPr sz="5300" b="1" kern="0" spc="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xr</a:t>
            </a:r>
            <a:r>
              <a:rPr sz="5300" b="1" kern="0" spc="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-x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，它的主、组和其他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人的权限分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7779" algn="l" rtl="0" eaLnBrk="0">
              <a:lnSpc>
                <a:spcPts val="5504"/>
              </a:lnSpc>
              <a:tabLst/>
            </a:pP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别为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rwx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r-x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r-x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，表示为二进制数为</a:t>
            </a:r>
            <a:r>
              <a:rPr sz="44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111</a:t>
            </a:r>
            <a:r>
              <a:rPr sz="44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41275" algn="l" rtl="0" eaLnBrk="0">
              <a:lnSpc>
                <a:spcPct val="83000"/>
              </a:lnSpc>
              <a:spcBef>
                <a:spcPts val="1123"/>
              </a:spcBef>
              <a:tabLst/>
            </a:pPr>
            <a:r>
              <a:rPr sz="4400" b="1" kern="0" spc="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101</a:t>
            </a:r>
            <a:r>
              <a:rPr sz="44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4400" b="1" kern="0" spc="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101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，分别转换为八进制数则为</a:t>
            </a:r>
            <a:r>
              <a:rPr sz="4400" b="1" kern="0" spc="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7</a:t>
            </a:r>
            <a:r>
              <a:rPr sz="4400" b="1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4400" b="1" kern="0" spc="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</a:t>
            </a:r>
            <a:endParaRPr sz="4400" dirty="0">
              <a:latin typeface="Segoe Print"/>
              <a:ea typeface="Segoe Print"/>
              <a:cs typeface="Segoe Print"/>
            </a:endParaRPr>
          </a:p>
          <a:p>
            <a:pPr marL="24129" algn="l" rtl="0" eaLnBrk="0">
              <a:lnSpc>
                <a:spcPct val="96000"/>
              </a:lnSpc>
              <a:spcBef>
                <a:spcPts val="44"/>
              </a:spcBef>
              <a:tabLst/>
            </a:pPr>
            <a:r>
              <a:rPr sz="44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4400" b="1" kern="0" spc="9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。此时，可以说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dev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的权限为</a:t>
            </a:r>
            <a:r>
              <a:rPr sz="5900" b="1" kern="0" spc="9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75</a:t>
            </a:r>
            <a:r>
              <a:rPr sz="5900" b="1" kern="0" spc="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sp>
        <p:nvSpPr>
          <p:cNvPr id="1062" name="textbox 106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1064" name="textbox 1064"/>
          <p:cNvSpPr/>
          <p:nvPr/>
        </p:nvSpPr>
        <p:spPr>
          <a:xfrm>
            <a:off x="88265" y="-81915"/>
            <a:ext cx="400939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5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权限的数字表示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066" name="picture 10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textbox 1068"/>
          <p:cNvSpPr/>
          <p:nvPr/>
        </p:nvSpPr>
        <p:spPr>
          <a:xfrm>
            <a:off x="80543" y="715111"/>
            <a:ext cx="9203055" cy="6624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5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18159" indent="-125095" algn="l" rtl="0" eaLnBrk="0">
              <a:lnSpc>
                <a:spcPct val="96000"/>
              </a:lnSpc>
              <a:tabLst>
                <a:tab pos="512444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UNIX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Linux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系统中，当用户</a:t>
            </a:r>
            <a:r>
              <a:rPr sz="3900" b="1" kern="0" spc="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创建</a:t>
            </a:r>
            <a:r>
              <a:rPr sz="3900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文件或目录时，将为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它们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设置默认权</a:t>
            </a:r>
            <a:r>
              <a:rPr sz="39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-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限</a:t>
            </a:r>
            <a:r>
              <a:rPr sz="39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511809" indent="-118745" algn="l" rtl="0" eaLnBrk="0">
              <a:lnSpc>
                <a:spcPct val="95000"/>
              </a:lnSpc>
              <a:spcBef>
                <a:spcPts val="849"/>
              </a:spcBef>
              <a:tabLst>
                <a:tab pos="518159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文件或目录的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默认权限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由文件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权限掩</a:t>
            </a:r>
            <a:r>
              <a:rPr sz="3900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码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来控制，</a:t>
            </a:r>
            <a:r>
              <a:rPr sz="3900" b="1" u="sng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是权限的“补码</a:t>
            </a:r>
            <a:r>
              <a:rPr sz="3900" u="sng" kern="0" spc="-13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u="sng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</a:t>
            </a:r>
            <a:r>
              <a:rPr sz="3900" b="1" kern="0" spc="-29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511809" indent="-118745" algn="l" rtl="0" eaLnBrk="0">
              <a:lnSpc>
                <a:spcPct val="96000"/>
              </a:lnSpc>
              <a:spcBef>
                <a:spcPts val="783"/>
              </a:spcBef>
              <a:tabLst>
                <a:tab pos="520065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默认情况，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root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值为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0</a:t>
            </a:r>
            <a:r>
              <a:rPr sz="3900" b="1" kern="0" spc="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022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普通用户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值为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0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002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。首位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特殊位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393065" algn="l" rtl="0" eaLnBrk="0">
              <a:lnSpc>
                <a:spcPct val="86000"/>
              </a:lnSpc>
              <a:spcBef>
                <a:spcPts val="958"/>
              </a:spcBef>
              <a:tabLst>
                <a:tab pos="518159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文件创建掩码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的值同文件权限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23825" algn="l" rtl="0" eaLnBrk="0">
              <a:lnSpc>
                <a:spcPts val="4887"/>
              </a:lnSpc>
              <a:spcBef>
                <a:spcPts val="627"/>
              </a:spcBef>
              <a:tabLst/>
            </a:pPr>
            <a:r>
              <a:rPr sz="1800" b="1" kern="0" spc="-140" baseline="-3991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800" b="1" kern="0" spc="-140" baseline="-3991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</a:t>
            </a:r>
            <a:r>
              <a:rPr sz="11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</a:t>
            </a:r>
            <a:r>
              <a:rPr sz="1800" b="1" kern="0" spc="-140" baseline="-3991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全》</a:t>
            </a:r>
            <a:r>
              <a:rPr sz="4200" b="1" kern="0" spc="-140" baseline="2433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</a:t>
            </a:r>
            <a:r>
              <a:rPr sz="1800" b="1" kern="0" spc="-140" baseline="-3991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</a:t>
            </a:r>
            <a:r>
              <a:rPr sz="1100" b="1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津</a:t>
            </a:r>
            <a:r>
              <a:rPr sz="2700" b="1" kern="0" spc="-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</a:t>
            </a:r>
            <a:r>
              <a:rPr sz="1100" b="1" kern="0" spc="-1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工</a:t>
            </a:r>
            <a:r>
              <a:rPr sz="1100" b="1" kern="0" spc="-1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业</a:t>
            </a:r>
            <a:r>
              <a:rPr sz="2700" b="1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</a:t>
            </a:r>
            <a:r>
              <a:rPr sz="1100" b="1" kern="0" spc="-1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大学</a:t>
            </a:r>
            <a:r>
              <a:rPr sz="1100" kern="0" spc="-1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1800" b="1" kern="0" spc="-150" baseline="-3991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学</a:t>
            </a:r>
            <a:r>
              <a:rPr sz="11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</a:t>
            </a:r>
            <a:r>
              <a:rPr sz="1100" b="1" kern="0" spc="-15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2700" b="1" kern="0" spc="6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制</a:t>
            </a:r>
            <a:r>
              <a:rPr sz="1100" b="1" kern="0" spc="-4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100" b="1" kern="0" spc="-4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800" b="1" kern="0" spc="-410" baseline="-3991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1100" b="1" kern="0" spc="3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1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10" baseline="-3991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11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1800" b="1" kern="0" spc="-410" baseline="45203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期</a:t>
            </a:r>
            <a:r>
              <a:rPr sz="2700" b="1" kern="0" spc="4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符</a:t>
            </a:r>
            <a:r>
              <a:rPr sz="1800" b="1" kern="0" spc="-150" baseline="45203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4200" b="1" kern="0" spc="410" baseline="24333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号</a:t>
            </a:r>
            <a:r>
              <a:rPr sz="2700" kern="0" spc="6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800" b="1" kern="0" spc="410" baseline="469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1800" kern="0" spc="410" baseline="469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1800" baseline="4690" dirty="0">
              <a:latin typeface="STXinwei"/>
              <a:ea typeface="STXinwei"/>
              <a:cs typeface="STXinwei"/>
            </a:endParaRPr>
          </a:p>
          <a:p>
            <a:pPr marL="516255" algn="l" rtl="0" eaLnBrk="0">
              <a:lnSpc>
                <a:spcPct val="85000"/>
              </a:lnSpc>
              <a:spcBef>
                <a:spcPts val="31"/>
              </a:spcBef>
              <a:tabLst/>
            </a:pPr>
            <a:r>
              <a:rPr sz="39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方式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pic>
        <p:nvPicPr>
          <p:cNvPr id="1070" name="picture 10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245432" y="6196431"/>
            <a:ext cx="441914" cy="598812"/>
          </a:xfrm>
          <a:prstGeom prst="rect">
            <a:avLst/>
          </a:prstGeom>
        </p:spPr>
      </p:pic>
      <p:pic>
        <p:nvPicPr>
          <p:cNvPr id="1072" name="picture 10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1752" y="6196431"/>
            <a:ext cx="481489" cy="585162"/>
          </a:xfrm>
          <a:prstGeom prst="rect">
            <a:avLst/>
          </a:prstGeom>
        </p:spPr>
      </p:pic>
      <p:pic>
        <p:nvPicPr>
          <p:cNvPr id="1074" name="picture 10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55212" y="6196431"/>
            <a:ext cx="483518" cy="587857"/>
          </a:xfrm>
          <a:prstGeom prst="rect">
            <a:avLst/>
          </a:prstGeom>
        </p:spPr>
      </p:pic>
      <p:pic>
        <p:nvPicPr>
          <p:cNvPr id="1076" name="picture 10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054355" y="6196431"/>
            <a:ext cx="491636" cy="570113"/>
          </a:xfrm>
          <a:prstGeom prst="rect">
            <a:avLst/>
          </a:prstGeom>
        </p:spPr>
      </p:pic>
      <p:pic>
        <p:nvPicPr>
          <p:cNvPr id="1078" name="picture 10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554680" y="6196431"/>
            <a:ext cx="480771" cy="620649"/>
          </a:xfrm>
          <a:prstGeom prst="rect">
            <a:avLst/>
          </a:prstGeom>
        </p:spPr>
      </p:pic>
      <p:pic>
        <p:nvPicPr>
          <p:cNvPr id="1080" name="picture 10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043422" y="6196431"/>
            <a:ext cx="485934" cy="620649"/>
          </a:xfrm>
          <a:prstGeom prst="rect">
            <a:avLst/>
          </a:prstGeom>
        </p:spPr>
      </p:pic>
      <p:pic>
        <p:nvPicPr>
          <p:cNvPr id="1082" name="picture 108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643756" y="6196431"/>
            <a:ext cx="485548" cy="585162"/>
          </a:xfrm>
          <a:prstGeom prst="rect">
            <a:avLst/>
          </a:prstGeom>
        </p:spPr>
      </p:pic>
      <p:pic>
        <p:nvPicPr>
          <p:cNvPr id="1084" name="picture 108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544904" y="6506492"/>
            <a:ext cx="210311" cy="310588"/>
          </a:xfrm>
          <a:prstGeom prst="rect">
            <a:avLst/>
          </a:prstGeom>
        </p:spPr>
      </p:pic>
      <p:pic>
        <p:nvPicPr>
          <p:cNvPr id="1086" name="picture 108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12243" y="6196431"/>
            <a:ext cx="513737" cy="620649"/>
          </a:xfrm>
          <a:prstGeom prst="rect">
            <a:avLst/>
          </a:prstGeom>
        </p:spPr>
      </p:pic>
      <p:sp>
        <p:nvSpPr>
          <p:cNvPr id="1088" name="textbox 1088"/>
          <p:cNvSpPr/>
          <p:nvPr/>
        </p:nvSpPr>
        <p:spPr>
          <a:xfrm>
            <a:off x="527405" y="6571693"/>
            <a:ext cx="644525" cy="258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nux</a:t>
            </a:r>
            <a:r>
              <a:rPr sz="1700" b="1" kern="0" spc="1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endParaRPr sz="1700" dirty="0">
              <a:latin typeface="STXinwei"/>
              <a:ea typeface="STXinwei"/>
              <a:cs typeface="STXinwei"/>
            </a:endParaRPr>
          </a:p>
        </p:txBody>
      </p:sp>
      <p:sp>
        <p:nvSpPr>
          <p:cNvPr id="1090" name="textbox 1090"/>
          <p:cNvSpPr/>
          <p:nvPr/>
        </p:nvSpPr>
        <p:spPr>
          <a:xfrm>
            <a:off x="448741" y="6370665"/>
            <a:ext cx="505459" cy="290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84"/>
              </a:lnSpc>
              <a:tabLst/>
            </a:pPr>
            <a:r>
              <a:rPr sz="3900" b="1" kern="0" spc="-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pic>
        <p:nvPicPr>
          <p:cNvPr id="1092" name="picture 109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24460" y="5674042"/>
            <a:ext cx="349250" cy="349250"/>
          </a:xfrm>
          <a:prstGeom prst="rect">
            <a:avLst/>
          </a:prstGeom>
        </p:spPr>
      </p:pic>
      <p:pic>
        <p:nvPicPr>
          <p:cNvPr id="1094" name="picture 109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24460" y="3845242"/>
            <a:ext cx="349250" cy="349250"/>
          </a:xfrm>
          <a:prstGeom prst="rect">
            <a:avLst/>
          </a:prstGeom>
        </p:spPr>
      </p:pic>
      <p:pic>
        <p:nvPicPr>
          <p:cNvPr id="1096" name="picture 109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24460" y="2626042"/>
            <a:ext cx="349250" cy="349250"/>
          </a:xfrm>
          <a:prstGeom prst="rect">
            <a:avLst/>
          </a:prstGeom>
        </p:spPr>
      </p:pic>
      <p:pic>
        <p:nvPicPr>
          <p:cNvPr id="1098" name="picture 109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24460" y="797242"/>
            <a:ext cx="349250" cy="349250"/>
          </a:xfrm>
          <a:prstGeom prst="rect">
            <a:avLst/>
          </a:prstGeom>
        </p:spPr>
      </p:pic>
      <p:sp>
        <p:nvSpPr>
          <p:cNvPr id="1100" name="textbox 1100"/>
          <p:cNvSpPr/>
          <p:nvPr/>
        </p:nvSpPr>
        <p:spPr>
          <a:xfrm>
            <a:off x="105181" y="-93345"/>
            <a:ext cx="5344795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5.1.4</a:t>
            </a:r>
            <a:r>
              <a:rPr sz="3500" b="1" kern="0" spc="2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默认权限与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endParaRPr sz="3500" dirty="0">
              <a:latin typeface="Segoe Print"/>
              <a:ea typeface="Segoe Print"/>
              <a:cs typeface="Segoe Print"/>
            </a:endParaRPr>
          </a:p>
        </p:txBody>
      </p:sp>
      <p:pic>
        <p:nvPicPr>
          <p:cNvPr id="1102" name="picture 110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4" name="table 1104"/>
          <p:cNvGraphicFramePr>
            <a:graphicFrameLocks noGrp="1"/>
          </p:cNvGraphicFramePr>
          <p:nvPr/>
        </p:nvGraphicFramePr>
        <p:xfrm>
          <a:off x="28575" y="614362"/>
          <a:ext cx="9114790" cy="5773420"/>
        </p:xfrm>
        <a:graphic>
          <a:graphicData uri="http://schemas.openxmlformats.org/drawingml/2006/table">
            <a:tbl>
              <a:tblPr/>
              <a:tblGrid>
                <a:gridCol w="1169035"/>
                <a:gridCol w="4003675"/>
                <a:gridCol w="3942079"/>
              </a:tblGrid>
              <a:tr h="8293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096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root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944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5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普通用户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5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uma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97179" algn="l" rtl="0" eaLnBrk="0">
                        <a:lnSpc>
                          <a:spcPts val="6479"/>
                        </a:lnSpc>
                        <a:tabLst/>
                      </a:pPr>
                      <a:r>
                        <a:rPr sz="5300" b="1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sk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664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5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u=</a:t>
                      </a:r>
                      <a:r>
                        <a:rPr sz="5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rwx</a:t>
                      </a:r>
                      <a:r>
                        <a:rPr sz="5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,g=</a:t>
                      </a:r>
                      <a:r>
                        <a:rPr sz="5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rx</a:t>
                      </a:r>
                      <a:r>
                        <a:rPr sz="5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,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03529" algn="l" rtl="0" eaLnBrk="0">
                        <a:lnSpc>
                          <a:spcPts val="6479"/>
                        </a:lnSpc>
                        <a:tabLst/>
                      </a:pPr>
                      <a:r>
                        <a:rPr sz="53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o=rx</a:t>
                      </a:r>
                      <a:r>
                        <a:rPr sz="5300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53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/</a:t>
                      </a:r>
                      <a:r>
                        <a:rPr sz="5300" kern="0" spc="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5300" b="1" kern="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022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5300" b="1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u=rwx,g=rwx,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5440" algn="l" rtl="0" eaLnBrk="0">
                        <a:lnSpc>
                          <a:spcPts val="6479"/>
                        </a:lnSpc>
                        <a:tabLst/>
                      </a:pPr>
                      <a:r>
                        <a:rPr sz="53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o=rx</a:t>
                      </a:r>
                      <a:r>
                        <a:rPr sz="53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53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/</a:t>
                      </a:r>
                      <a:r>
                        <a:rPr sz="5300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5300" b="1" kern="0" spc="-1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002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2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4954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5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66700" algn="l" rtl="0" eaLnBrk="0">
                        <a:lnSpc>
                          <a:spcPct val="86000"/>
                        </a:lnSpc>
                        <a:spcBef>
                          <a:spcPts val="1068"/>
                        </a:spcBef>
                        <a:tabLst/>
                      </a:pPr>
                      <a:r>
                        <a:rPr sz="5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件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79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5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rw</a:t>
                      </a:r>
                      <a:r>
                        <a:rPr sz="5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-r--r--</a:t>
                      </a:r>
                      <a:r>
                        <a:rPr sz="53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5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/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514475" algn="l" rtl="0" eaLnBrk="0">
                        <a:lnSpc>
                          <a:spcPts val="6479"/>
                        </a:lnSpc>
                        <a:tabLst/>
                      </a:pPr>
                      <a:r>
                        <a:rPr sz="5300" b="1" kern="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644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755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5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rw</a:t>
                      </a:r>
                      <a:r>
                        <a:rPr sz="5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</a:t>
                      </a:r>
                      <a:r>
                        <a:rPr sz="5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rw</a:t>
                      </a:r>
                      <a:r>
                        <a:rPr sz="5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-r--</a:t>
                      </a:r>
                      <a:r>
                        <a:rPr sz="5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5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/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466850" algn="l" rtl="0" eaLnBrk="0">
                        <a:lnSpc>
                          <a:spcPts val="6479"/>
                        </a:lnSpc>
                        <a:tabLst/>
                      </a:pPr>
                      <a:r>
                        <a:rPr sz="5300" b="1" kern="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664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29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0684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目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72415" algn="l" rtl="0" eaLnBrk="0">
                        <a:lnSpc>
                          <a:spcPct val="85000"/>
                        </a:lnSpc>
                        <a:spcBef>
                          <a:spcPts val="1075"/>
                        </a:spcBef>
                        <a:tabLst/>
                      </a:pPr>
                      <a:r>
                        <a:rPr sz="5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录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79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rwxr</a:t>
                      </a:r>
                      <a:r>
                        <a:rPr sz="53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</a:t>
                      </a:r>
                      <a:r>
                        <a:rPr sz="5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xr</a:t>
                      </a:r>
                      <a:r>
                        <a:rPr sz="53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-x</a:t>
                      </a:r>
                      <a:r>
                        <a:rPr sz="53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53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/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525905" algn="l" rtl="0" eaLnBrk="0">
                        <a:lnSpc>
                          <a:spcPts val="6479"/>
                        </a:lnSpc>
                        <a:tabLst/>
                      </a:pPr>
                      <a:r>
                        <a:rPr sz="5300" b="1" kern="0" spc="-8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755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755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rwxrwxr</a:t>
                      </a:r>
                      <a:r>
                        <a:rPr sz="53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-x</a:t>
                      </a:r>
                      <a:r>
                        <a:rPr sz="53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53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/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478280" algn="l" rtl="0" eaLnBrk="0">
                        <a:lnSpc>
                          <a:spcPts val="6479"/>
                        </a:lnSpc>
                        <a:tabLst/>
                      </a:pPr>
                      <a:r>
                        <a:rPr sz="5300" b="1" kern="0" spc="-8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775</a:t>
                      </a:r>
                      <a:endParaRPr sz="5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06" name="textbox 1106"/>
          <p:cNvSpPr/>
          <p:nvPr/>
        </p:nvSpPr>
        <p:spPr>
          <a:xfrm>
            <a:off x="208102" y="-92709"/>
            <a:ext cx="6503034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、</a:t>
            </a:r>
            <a:r>
              <a:rPr sz="3500" kern="0" spc="-2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文件和</a:t>
            </a:r>
            <a:r>
              <a:rPr sz="3500" kern="0" spc="-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目</a:t>
            </a:r>
            <a:r>
              <a:rPr sz="3500" kern="0" spc="-3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录的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默认权限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1108" name="textbox 110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110" name="picture 1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textbox 1112"/>
          <p:cNvSpPr/>
          <p:nvPr/>
        </p:nvSpPr>
        <p:spPr>
          <a:xfrm>
            <a:off x="40322" y="708672"/>
            <a:ext cx="9025255" cy="6132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355" algn="l" rtl="0" eaLnBrk="0">
              <a:lnSpc>
                <a:spcPct val="86000"/>
              </a:lnSpc>
              <a:tabLst/>
            </a:pP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．功能及用法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6000"/>
              </a:lnSpc>
              <a:spcBef>
                <a:spcPts val="695"/>
              </a:spcBef>
              <a:tabLst>
                <a:tab pos="486409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500" b="1" kern="0" spc="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功能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3500" b="1" kern="0" spc="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设置或查询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的值。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6000"/>
              </a:lnSpc>
              <a:spcBef>
                <a:spcPts val="708"/>
              </a:spcBef>
              <a:tabLst>
                <a:tab pos="481330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创建文件时，系统将用</a:t>
            </a:r>
            <a:r>
              <a:rPr sz="3500" b="1" u="sng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八进制数</a:t>
            </a:r>
            <a:r>
              <a:rPr sz="3500" b="1" u="sng" kern="0" spc="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777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与文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0694" indent="-1270" algn="l" rtl="0" eaLnBrk="0">
              <a:lnSpc>
                <a:spcPct val="98000"/>
              </a:lnSpc>
              <a:spcBef>
                <a:spcPts val="486"/>
              </a:spcBef>
              <a:tabLst/>
            </a:pP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件创建掩码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的八进制数按位做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减法运算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所得的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三位八进制数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作为新文件的存取权</a:t>
            </a: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限。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spcBef>
                <a:spcPts val="4"/>
              </a:spcBef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114" name="picture 1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022" y="1881187"/>
            <a:ext cx="314325" cy="314325"/>
          </a:xfrm>
          <a:prstGeom prst="rect">
            <a:avLst/>
          </a:prstGeom>
        </p:spPr>
      </p:pic>
      <p:pic>
        <p:nvPicPr>
          <p:cNvPr id="1116" name="picture 1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022" y="1332547"/>
            <a:ext cx="314325" cy="314325"/>
          </a:xfrm>
          <a:prstGeom prst="rect">
            <a:avLst/>
          </a:prstGeom>
        </p:spPr>
      </p:pic>
      <p:sp>
        <p:nvSpPr>
          <p:cNvPr id="1118" name="textbox 1118"/>
          <p:cNvSpPr/>
          <p:nvPr/>
        </p:nvSpPr>
        <p:spPr>
          <a:xfrm>
            <a:off x="40322" y="4000512"/>
            <a:ext cx="9013190" cy="2677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9740" indent="-132714" algn="l" rtl="0" eaLnBrk="0">
              <a:lnSpc>
                <a:spcPct val="99000"/>
              </a:lnSpc>
              <a:spcBef>
                <a:spcPts val="1"/>
              </a:spcBef>
              <a:tabLst>
                <a:tab pos="482600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若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的值为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022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，则创建“文件</a:t>
            </a:r>
            <a:r>
              <a:rPr sz="3500" kern="0" spc="-1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”的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理论权限为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777-0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22=755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，即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rwxr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3500" b="1" kern="0" spc="-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xr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-x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。对于文件，不一定具有可执行的内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容，因此还要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去除各类用户的执行权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，故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一般文件的权限为</a:t>
            </a:r>
            <a:r>
              <a:rPr sz="3500" b="1" kern="0" spc="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644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，即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rw</a:t>
            </a:r>
            <a:r>
              <a:rPr sz="3500" b="1" kern="0" spc="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-r--r--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120" name="picture 1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022" y="4075747"/>
            <a:ext cx="314325" cy="314325"/>
          </a:xfrm>
          <a:prstGeom prst="rect">
            <a:avLst/>
          </a:prstGeom>
        </p:spPr>
      </p:pic>
      <p:sp>
        <p:nvSpPr>
          <p:cNvPr id="1122" name="textbox 1122"/>
          <p:cNvSpPr/>
          <p:nvPr/>
        </p:nvSpPr>
        <p:spPr>
          <a:xfrm>
            <a:off x="105181" y="-93345"/>
            <a:ext cx="7593330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5.2.1  </a:t>
            </a: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设置文件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创建掩码（</a:t>
            </a:r>
            <a:r>
              <a:rPr sz="3500" kern="0" spc="-4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124" name="picture 11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picture 11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sp>
        <p:nvSpPr>
          <p:cNvPr id="1128" name="textbox 1128"/>
          <p:cNvSpPr/>
          <p:nvPr/>
        </p:nvSpPr>
        <p:spPr>
          <a:xfrm>
            <a:off x="-12700" y="-93345"/>
            <a:ext cx="9169400" cy="6376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0175" algn="l" rtl="0" eaLnBrk="0">
              <a:lnSpc>
                <a:spcPct val="91000"/>
              </a:lnSpc>
              <a:tabLst/>
            </a:pP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5.2.1  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设置文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件创建掩码（</a:t>
            </a:r>
            <a:r>
              <a:rPr sz="3500" kern="0" spc="-4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254000" algn="l" rtl="0" eaLnBrk="0">
              <a:lnSpc>
                <a:spcPct val="86000"/>
              </a:lnSpc>
              <a:spcBef>
                <a:spcPts val="751"/>
              </a:spcBef>
              <a:tabLst>
                <a:tab pos="446405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的用法为：</a:t>
            </a:r>
            <a:r>
              <a:rPr sz="3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</a:t>
            </a:r>
            <a:r>
              <a:rPr sz="3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     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883919" algn="l" rtl="0" eaLnBrk="0">
              <a:lnSpc>
                <a:spcPct val="92000"/>
              </a:lnSpc>
              <a:spcBef>
                <a:spcPts val="651"/>
              </a:spcBef>
              <a:tabLst>
                <a:tab pos="982980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 [</a:t>
            </a:r>
            <a:r>
              <a:rPr sz="3200" b="1" kern="0" spc="2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-S ]</a:t>
            </a:r>
            <a:r>
              <a:rPr sz="32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[ new_umask ]</a:t>
            </a:r>
            <a:endParaRPr sz="3200" dirty="0">
              <a:latin typeface="Segoe Print"/>
              <a:ea typeface="Segoe Print"/>
              <a:cs typeface="Segoe Print"/>
            </a:endParaRPr>
          </a:p>
          <a:p>
            <a:pPr marL="254000" algn="l" rtl="0" eaLnBrk="0">
              <a:lnSpc>
                <a:spcPct val="86000"/>
              </a:lnSpc>
              <a:spcBef>
                <a:spcPts val="77"/>
              </a:spcBef>
              <a:tabLst>
                <a:tab pos="445134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可用参数如下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984250" indent="-100330" algn="l" rtl="0" eaLnBrk="0">
              <a:lnSpc>
                <a:spcPct val="90000"/>
              </a:lnSpc>
              <a:spcBef>
                <a:spcPts val="670"/>
              </a:spcBef>
              <a:tabLst>
                <a:tab pos="979169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new_umask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：将新值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new_umask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设置为当</a:t>
            </a:r>
            <a:r>
              <a:rPr sz="32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前掩码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883919" algn="l" rtl="0" eaLnBrk="0">
              <a:lnSpc>
                <a:spcPct val="86000"/>
              </a:lnSpc>
              <a:spcBef>
                <a:spcPts val="741"/>
              </a:spcBef>
              <a:tabLst>
                <a:tab pos="1002030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-S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：以</a:t>
            </a:r>
            <a:r>
              <a:rPr sz="32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符号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方式显示当前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值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883919" algn="l" rtl="0" eaLnBrk="0">
              <a:lnSpc>
                <a:spcPct val="86000"/>
              </a:lnSpc>
              <a:spcBef>
                <a:spcPts val="538"/>
              </a:spcBef>
              <a:tabLst>
                <a:tab pos="981710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无：显示当前文件创建掩码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的值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254000" algn="l" rtl="0" eaLnBrk="0">
              <a:lnSpc>
                <a:spcPct val="85000"/>
              </a:lnSpc>
              <a:spcBef>
                <a:spcPts val="446"/>
              </a:spcBef>
              <a:tabLst>
                <a:tab pos="443230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示例：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883919" algn="l" rtl="0" eaLnBrk="0">
              <a:lnSpc>
                <a:spcPct val="86000"/>
              </a:lnSpc>
              <a:spcBef>
                <a:spcPts val="655"/>
              </a:spcBef>
              <a:tabLst>
                <a:tab pos="969010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#umask      #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显示当前的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ask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值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883919" algn="l" rtl="0" eaLnBrk="0">
              <a:lnSpc>
                <a:spcPct val="86000"/>
              </a:lnSpc>
              <a:spcBef>
                <a:spcPts val="550"/>
              </a:spcBef>
              <a:tabLst>
                <a:tab pos="969010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#umask 0022</a:t>
            </a:r>
            <a:r>
              <a:rPr sz="3200" b="1" kern="0" spc="2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值为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0022</a:t>
            </a:r>
            <a:endParaRPr sz="3200" dirty="0">
              <a:latin typeface="Segoe Print"/>
              <a:ea typeface="Segoe Print"/>
              <a:cs typeface="Segoe Print"/>
            </a:endParaRPr>
          </a:p>
          <a:p>
            <a:pPr marL="982344" indent="-98425" algn="l" rtl="0" eaLnBrk="0">
              <a:lnSpc>
                <a:spcPct val="92000"/>
              </a:lnSpc>
              <a:spcBef>
                <a:spcPts val="516"/>
              </a:spcBef>
              <a:tabLst>
                <a:tab pos="969010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#umask u=rw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x,g=rx,o=</a:t>
            </a:r>
            <a:r>
              <a:rPr sz="3200" b="1" kern="0" spc="-3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umask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值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0027</a:t>
            </a:r>
            <a:endParaRPr sz="3200" dirty="0">
              <a:latin typeface="Segoe Print"/>
              <a:ea typeface="Segoe Print"/>
              <a:cs typeface="Segoe Print"/>
            </a:endParaRPr>
          </a:p>
        </p:txBody>
      </p:sp>
      <p:pic>
        <p:nvPicPr>
          <p:cNvPr id="1130" name="picture 11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2454" y="5431472"/>
            <a:ext cx="279399" cy="279400"/>
          </a:xfrm>
          <a:prstGeom prst="rect">
            <a:avLst/>
          </a:prstGeom>
        </p:spPr>
      </p:pic>
      <p:pic>
        <p:nvPicPr>
          <p:cNvPr id="1132" name="picture 11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2454" y="4943792"/>
            <a:ext cx="279399" cy="279400"/>
          </a:xfrm>
          <a:prstGeom prst="rect">
            <a:avLst/>
          </a:prstGeom>
        </p:spPr>
      </p:pic>
      <p:pic>
        <p:nvPicPr>
          <p:cNvPr id="1134" name="picture 1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2454" y="4456112"/>
            <a:ext cx="279399" cy="279400"/>
          </a:xfrm>
          <a:prstGeom prst="rect">
            <a:avLst/>
          </a:prstGeom>
        </p:spPr>
      </p:pic>
      <p:pic>
        <p:nvPicPr>
          <p:cNvPr id="1136" name="picture 11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3969067"/>
            <a:ext cx="241934" cy="279400"/>
          </a:xfrm>
          <a:prstGeom prst="rect">
            <a:avLst/>
          </a:prstGeom>
        </p:spPr>
      </p:pic>
      <p:pic>
        <p:nvPicPr>
          <p:cNvPr id="1138" name="picture 11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2454" y="3480752"/>
            <a:ext cx="279399" cy="279400"/>
          </a:xfrm>
          <a:prstGeom prst="rect">
            <a:avLst/>
          </a:prstGeom>
        </p:spPr>
      </p:pic>
      <p:pic>
        <p:nvPicPr>
          <p:cNvPr id="1140" name="picture 11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2454" y="2993072"/>
            <a:ext cx="279399" cy="279400"/>
          </a:xfrm>
          <a:prstGeom prst="rect">
            <a:avLst/>
          </a:prstGeom>
        </p:spPr>
      </p:pic>
      <p:pic>
        <p:nvPicPr>
          <p:cNvPr id="1142" name="picture 11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2454" y="2017712"/>
            <a:ext cx="279399" cy="279400"/>
          </a:xfrm>
          <a:prstGeom prst="rect">
            <a:avLst/>
          </a:prstGeom>
        </p:spPr>
      </p:pic>
      <p:pic>
        <p:nvPicPr>
          <p:cNvPr id="1144" name="picture 11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1530667"/>
            <a:ext cx="241934" cy="279400"/>
          </a:xfrm>
          <a:prstGeom prst="rect">
            <a:avLst/>
          </a:prstGeom>
        </p:spPr>
      </p:pic>
      <p:pic>
        <p:nvPicPr>
          <p:cNvPr id="1146" name="picture 11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2454" y="1042352"/>
            <a:ext cx="279399" cy="279400"/>
          </a:xfrm>
          <a:prstGeom prst="rect">
            <a:avLst/>
          </a:prstGeom>
        </p:spPr>
      </p:pic>
      <p:pic>
        <p:nvPicPr>
          <p:cNvPr id="1148" name="picture 11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54672"/>
            <a:ext cx="241934" cy="279400"/>
          </a:xfrm>
          <a:prstGeom prst="rect">
            <a:avLst/>
          </a:prstGeom>
        </p:spPr>
      </p:pic>
      <p:sp>
        <p:nvSpPr>
          <p:cNvPr id="1150" name="textbox 115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textbox 1152"/>
          <p:cNvSpPr/>
          <p:nvPr/>
        </p:nvSpPr>
        <p:spPr>
          <a:xfrm>
            <a:off x="80543" y="701599"/>
            <a:ext cx="8985250" cy="6139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3215" algn="l" rtl="0" eaLnBrk="0">
              <a:lnSpc>
                <a:spcPct val="86000"/>
              </a:lnSpc>
              <a:tabLst>
                <a:tab pos="524509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．功能及用法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514984" indent="-191770" algn="l" rtl="0" eaLnBrk="0">
              <a:lnSpc>
                <a:spcPct val="90000"/>
              </a:lnSpc>
              <a:spcBef>
                <a:spcPts val="553"/>
              </a:spcBef>
              <a:tabLst>
                <a:tab pos="508634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chmod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cha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nge mode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）的功能为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改变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或目录的</a:t>
            </a:r>
            <a:r>
              <a:rPr sz="3200" b="1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访问权限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520065" indent="-196850" algn="l" rtl="0" eaLnBrk="0">
              <a:lnSpc>
                <a:spcPct val="92000"/>
              </a:lnSpc>
              <a:spcBef>
                <a:spcPts val="615"/>
              </a:spcBef>
              <a:tabLst>
                <a:tab pos="508634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在设置或改变文件或目录权限时，可以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使用符</a:t>
            </a:r>
            <a:r>
              <a:rPr sz="3200" b="1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号方式或数字方式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323215" algn="l" rtl="0" eaLnBrk="0">
              <a:lnSpc>
                <a:spcPct val="86000"/>
              </a:lnSpc>
              <a:spcBef>
                <a:spcPts val="649"/>
              </a:spcBef>
              <a:tabLst>
                <a:tab pos="508634" algn="l"/>
              </a:tabLst>
            </a:pPr>
            <a:r>
              <a:rPr sz="32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超级用户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用户主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可以执行该命令。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323215" algn="l" rtl="0" eaLnBrk="0">
              <a:lnSpc>
                <a:spcPct val="86000"/>
              </a:lnSpc>
              <a:spcBef>
                <a:spcPts val="538"/>
              </a:spcBef>
              <a:tabLst>
                <a:tab pos="511809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其用法有以下</a:t>
            </a:r>
            <a:r>
              <a:rPr sz="32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两种形式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323215" algn="l" rtl="0" eaLnBrk="0">
              <a:lnSpc>
                <a:spcPct val="75000"/>
              </a:lnSpc>
              <a:spcBef>
                <a:spcPts val="616"/>
              </a:spcBef>
              <a:tabLst>
                <a:tab pos="724534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200" b="1" kern="0" spc="-2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3200" b="1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）符号方式：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512444" indent="-189229" algn="l" rtl="0" eaLnBrk="0">
              <a:lnSpc>
                <a:spcPct val="112000"/>
              </a:lnSpc>
              <a:spcBef>
                <a:spcPts val="62"/>
              </a:spcBef>
              <a:tabLst>
                <a:tab pos="508634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chmod [options] &lt;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a|u|g|o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&gt;</a:t>
            </a:r>
            <a:r>
              <a:rPr sz="3200" b="1" kern="0" spc="1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&lt;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+|-|=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&gt;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     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&lt;str_perm&gt;,… file</a:t>
            </a:r>
            <a:r>
              <a:rPr sz="3200" b="1" kern="0" spc="2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…</a:t>
            </a:r>
            <a:endParaRPr sz="3200" dirty="0">
              <a:latin typeface="Segoe Print"/>
              <a:ea typeface="Segoe Print"/>
              <a:cs typeface="Segoe Print"/>
            </a:endParaRPr>
          </a:p>
          <a:p>
            <a:pPr marL="323215" algn="l" rtl="0" eaLnBrk="0">
              <a:lnSpc>
                <a:spcPct val="85000"/>
              </a:lnSpc>
              <a:spcBef>
                <a:spcPts val="30"/>
              </a:spcBef>
              <a:tabLst>
                <a:tab pos="724534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200" b="1" kern="0" spc="-2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</a:t>
            </a:r>
            <a:r>
              <a:rPr sz="3200" b="1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）数值方式：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323215" algn="l" rtl="0" eaLnBrk="0">
              <a:lnSpc>
                <a:spcPts val="3865"/>
              </a:lnSpc>
              <a:spcBef>
                <a:spcPts val="527"/>
              </a:spcBef>
              <a:tabLst>
                <a:tab pos="508634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chmod [options] num_perm</a:t>
            </a:r>
            <a:r>
              <a:rPr sz="3200" b="1" kern="0" spc="1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fil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e</a:t>
            </a:r>
            <a:r>
              <a:rPr sz="3200" b="1" kern="0" spc="2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…</a:t>
            </a:r>
            <a:endParaRPr sz="3200" dirty="0">
              <a:latin typeface="Segoe Print"/>
              <a:ea typeface="Segoe Print"/>
              <a:cs typeface="Segoe Print"/>
            </a:endParaRPr>
          </a:p>
          <a:p>
            <a:pPr algn="r" rtl="0" eaLnBrk="0">
              <a:lnSpc>
                <a:spcPct val="97000"/>
              </a:lnSpc>
              <a:spcBef>
                <a:spcPts val="5"/>
              </a:spcBef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154" name="picture 1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6135052"/>
            <a:ext cx="279400" cy="279400"/>
          </a:xfrm>
          <a:prstGeom prst="rect">
            <a:avLst/>
          </a:prstGeom>
        </p:spPr>
      </p:pic>
      <p:pic>
        <p:nvPicPr>
          <p:cNvPr id="1156" name="picture 11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5648051"/>
            <a:ext cx="279400" cy="278858"/>
          </a:xfrm>
          <a:prstGeom prst="rect">
            <a:avLst/>
          </a:prstGeom>
        </p:spPr>
      </p:pic>
      <p:pic>
        <p:nvPicPr>
          <p:cNvPr id="1158" name="picture 1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4706401"/>
            <a:ext cx="279400" cy="268724"/>
          </a:xfrm>
          <a:prstGeom prst="rect">
            <a:avLst/>
          </a:prstGeom>
        </p:spPr>
      </p:pic>
      <p:pic>
        <p:nvPicPr>
          <p:cNvPr id="1160" name="picture 11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4178393"/>
            <a:ext cx="279400" cy="249911"/>
          </a:xfrm>
          <a:prstGeom prst="rect">
            <a:avLst/>
          </a:prstGeom>
        </p:spPr>
      </p:pic>
      <p:pic>
        <p:nvPicPr>
          <p:cNvPr id="1162" name="picture 11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3697287"/>
            <a:ext cx="279400" cy="279400"/>
          </a:xfrm>
          <a:prstGeom prst="rect">
            <a:avLst/>
          </a:prstGeom>
        </p:spPr>
      </p:pic>
      <p:pic>
        <p:nvPicPr>
          <p:cNvPr id="1164" name="picture 11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3209607"/>
            <a:ext cx="279400" cy="279400"/>
          </a:xfrm>
          <a:prstGeom prst="rect">
            <a:avLst/>
          </a:prstGeom>
        </p:spPr>
      </p:pic>
      <p:pic>
        <p:nvPicPr>
          <p:cNvPr id="1166" name="picture 11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234247"/>
            <a:ext cx="279400" cy="279400"/>
          </a:xfrm>
          <a:prstGeom prst="rect">
            <a:avLst/>
          </a:prstGeom>
        </p:spPr>
      </p:pic>
      <p:pic>
        <p:nvPicPr>
          <p:cNvPr id="1168" name="picture 11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1258252"/>
            <a:ext cx="279400" cy="279400"/>
          </a:xfrm>
          <a:prstGeom prst="rect">
            <a:avLst/>
          </a:prstGeom>
        </p:spPr>
      </p:pic>
      <p:pic>
        <p:nvPicPr>
          <p:cNvPr id="1170" name="picture 11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770572"/>
            <a:ext cx="279400" cy="279400"/>
          </a:xfrm>
          <a:prstGeom prst="rect">
            <a:avLst/>
          </a:prstGeom>
        </p:spPr>
      </p:pic>
      <p:sp>
        <p:nvSpPr>
          <p:cNvPr id="1172" name="textbox 1172"/>
          <p:cNvSpPr/>
          <p:nvPr/>
        </p:nvSpPr>
        <p:spPr>
          <a:xfrm>
            <a:off x="105181" y="-99289"/>
            <a:ext cx="7203440" cy="516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tabLst/>
            </a:pP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5.2.2</a:t>
            </a:r>
            <a:r>
              <a:rPr sz="3500" b="1" kern="0" spc="3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改变文件的权限（</a:t>
            </a:r>
            <a:r>
              <a:rPr sz="3500" kern="0" spc="-4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chmod</a:t>
            </a: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174" name="picture 11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textbox 1176"/>
          <p:cNvSpPr/>
          <p:nvPr/>
        </p:nvSpPr>
        <p:spPr>
          <a:xfrm>
            <a:off x="76835" y="6556374"/>
            <a:ext cx="8988425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127000" algn="l"/>
              </a:tabLst>
            </a:pP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	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   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1700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</a:t>
            </a:r>
            <a:r>
              <a:rPr sz="2700" kern="0" spc="-10" baseline="7716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-10" baseline="7716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17</a:t>
            </a:r>
            <a:r>
              <a:rPr sz="2700" kern="0" spc="-10" baseline="7716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7716" dirty="0">
              <a:latin typeface="STXinwei"/>
              <a:ea typeface="STXinwei"/>
              <a:cs typeface="STXinwei"/>
            </a:endParaRPr>
          </a:p>
        </p:txBody>
      </p:sp>
      <p:pic>
        <p:nvPicPr>
          <p:cNvPr id="1178" name="picture 11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959855" y="6607302"/>
            <a:ext cx="230428" cy="250697"/>
          </a:xfrm>
          <a:prstGeom prst="rect">
            <a:avLst/>
          </a:prstGeom>
        </p:spPr>
      </p:pic>
      <p:sp>
        <p:nvSpPr>
          <p:cNvPr id="1180" name="textbox 1180"/>
          <p:cNvSpPr/>
          <p:nvPr/>
        </p:nvSpPr>
        <p:spPr>
          <a:xfrm>
            <a:off x="76835" y="660223"/>
            <a:ext cx="8938259" cy="6526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1330" indent="-154304" algn="l" rtl="0" eaLnBrk="0">
              <a:lnSpc>
                <a:spcPct val="94000"/>
              </a:lnSpc>
              <a:tabLst>
                <a:tab pos="47053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chmod a+x my_p1</a:t>
            </a:r>
            <a:r>
              <a:rPr sz="4400" b="1" kern="0" spc="2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my_p2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所有用户对文件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my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_p1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my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_p2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增加执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行权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79425" indent="-152400" algn="l" rtl="0" eaLnBrk="0">
              <a:lnSpc>
                <a:spcPct val="94000"/>
              </a:lnSpc>
              <a:spcBef>
                <a:spcPts val="1062"/>
              </a:spcBef>
              <a:tabLst>
                <a:tab pos="47053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chmod u+rwx,go+rx myp</a:t>
            </a:r>
            <a:r>
              <a:rPr sz="4400" b="1" kern="0" spc="3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文件主增加所有权限，为组和其他人增加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读和执行权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4000"/>
              </a:lnSpc>
              <a:spcBef>
                <a:spcPts val="1049"/>
              </a:spcBef>
              <a:tabLst>
                <a:tab pos="47053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4400" b="1" kern="0" spc="-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chmod</a:t>
            </a:r>
            <a:r>
              <a:rPr sz="4400" b="1" kern="0" spc="4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4400" b="1" kern="0" spc="-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-R o-rw</a:t>
            </a:r>
            <a:r>
              <a:rPr sz="4400" b="1" kern="0" spc="-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x</a:t>
            </a:r>
            <a:endParaRPr sz="4400" dirty="0">
              <a:latin typeface="Segoe Print"/>
              <a:ea typeface="Segoe Print"/>
              <a:cs typeface="Segoe Print"/>
            </a:endParaRPr>
          </a:p>
          <a:p>
            <a:pPr marL="452755" algn="l" rtl="0" eaLnBrk="0">
              <a:lnSpc>
                <a:spcPct val="93000"/>
              </a:lnSpc>
              <a:spcBef>
                <a:spcPts val="1066"/>
              </a:spcBef>
              <a:tabLst/>
            </a:pPr>
            <a:r>
              <a:rPr sz="4400" b="1" kern="0" spc="9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tmp</a:t>
            </a:r>
            <a:r>
              <a:rPr sz="4400" b="1" kern="0" spc="9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/w123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递归去掉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2600" indent="-27940" algn="l" rtl="0" eaLnBrk="0">
              <a:lnSpc>
                <a:spcPct val="92000"/>
              </a:lnSpc>
              <a:spcBef>
                <a:spcPts val="12"/>
              </a:spcBef>
              <a:tabLst/>
            </a:pP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tmp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/w123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内目录和文件对其他人的所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有权限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70534" algn="l" rtl="0" eaLnBrk="0">
              <a:lnSpc>
                <a:spcPts val="4327"/>
              </a:lnSpc>
              <a:spcBef>
                <a:spcPts val="849"/>
              </a:spcBef>
              <a:tabLst/>
            </a:pP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chmod</a:t>
            </a:r>
            <a:r>
              <a:rPr sz="3500" b="1" kern="0" spc="6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777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tmp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    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将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tmp</a:t>
            </a:r>
            <a:endParaRPr sz="3500" dirty="0">
              <a:latin typeface="Segoe Print"/>
              <a:ea typeface="Segoe Print"/>
              <a:cs typeface="Segoe Print"/>
            </a:endParaRPr>
          </a:p>
        </p:txBody>
      </p:sp>
      <p:pic>
        <p:nvPicPr>
          <p:cNvPr id="1182" name="picture 11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4309109"/>
            <a:ext cx="314325" cy="314325"/>
          </a:xfrm>
          <a:prstGeom prst="rect">
            <a:avLst/>
          </a:prstGeom>
        </p:spPr>
      </p:pic>
      <p:pic>
        <p:nvPicPr>
          <p:cNvPr id="1184" name="picture 11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2541270"/>
            <a:ext cx="314325" cy="314325"/>
          </a:xfrm>
          <a:prstGeom prst="rect">
            <a:avLst/>
          </a:prstGeom>
        </p:spPr>
      </p:pic>
      <p:pic>
        <p:nvPicPr>
          <p:cNvPr id="1186" name="picture 11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773429"/>
            <a:ext cx="314325" cy="314325"/>
          </a:xfrm>
          <a:prstGeom prst="rect">
            <a:avLst/>
          </a:prstGeom>
        </p:spPr>
      </p:pic>
      <p:sp>
        <p:nvSpPr>
          <p:cNvPr id="1188" name="textbox 1188"/>
          <p:cNvSpPr/>
          <p:nvPr/>
        </p:nvSpPr>
        <p:spPr>
          <a:xfrm>
            <a:off x="102895" y="-81915"/>
            <a:ext cx="262127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4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使用示例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190" name="picture 11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textbox 1192"/>
          <p:cNvSpPr/>
          <p:nvPr/>
        </p:nvSpPr>
        <p:spPr>
          <a:xfrm>
            <a:off x="545442" y="570648"/>
            <a:ext cx="8342630" cy="5407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2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750" indent="-19684" algn="l" rtl="0" eaLnBrk="0">
              <a:lnSpc>
                <a:spcPct val="97000"/>
              </a:lnSpc>
              <a:tabLst/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chown</a:t>
            </a:r>
            <a:r>
              <a:rPr sz="3900" b="1" kern="0" spc="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change</a:t>
            </a:r>
            <a:r>
              <a:rPr sz="3900" b="1" kern="0" spc="1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owner</a:t>
            </a:r>
            <a:r>
              <a:rPr sz="3900" b="1" kern="0" spc="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）的功能是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改变文件所有者，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本质上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改变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</a:t>
            </a:r>
            <a:r>
              <a:rPr sz="39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900" b="1" kern="0" spc="-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uid</a:t>
            </a:r>
            <a:r>
              <a:rPr sz="39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4450" algn="l" rtl="0" eaLnBrk="0">
              <a:lnSpc>
                <a:spcPct val="86000"/>
              </a:lnSpc>
              <a:spcBef>
                <a:spcPts val="818"/>
              </a:spcBef>
              <a:tabLst/>
            </a:pP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只有超级用户有权使用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chown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6509" algn="l" rtl="0" eaLnBrk="0">
              <a:lnSpc>
                <a:spcPct val="87000"/>
              </a:lnSpc>
              <a:spcBef>
                <a:spcPts val="604"/>
              </a:spcBef>
              <a:tabLst/>
            </a:pP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其用法为：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8415" indent="-5714" algn="l" rtl="0" eaLnBrk="0">
              <a:lnSpc>
                <a:spcPct val="89000"/>
              </a:lnSpc>
              <a:spcBef>
                <a:spcPts val="1025"/>
              </a:spcBef>
              <a:tabLst/>
            </a:pP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chown</a:t>
            </a:r>
            <a:r>
              <a:rPr sz="39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[ 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options</a:t>
            </a:r>
            <a:r>
              <a:rPr sz="39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]</a:t>
            </a:r>
            <a:r>
              <a:rPr sz="3900" b="1" kern="0" spc="2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owner</a:t>
            </a:r>
            <a:r>
              <a:rPr sz="39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[: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group</a:t>
            </a:r>
            <a:r>
              <a:rPr sz="39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]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900" b="1" kern="0" spc="-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file</a:t>
            </a:r>
            <a:r>
              <a:rPr sz="3900" b="1" kern="0" spc="3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900" b="1" kern="0" spc="-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…</a:t>
            </a:r>
            <a:endParaRPr sz="3900" dirty="0">
              <a:latin typeface="Segoe Print"/>
              <a:ea typeface="Segoe Print"/>
              <a:cs typeface="Segoe Print"/>
            </a:endParaRPr>
          </a:p>
          <a:p>
            <a:pPr marL="12700" algn="l" rtl="0" eaLnBrk="0">
              <a:lnSpc>
                <a:spcPts val="4746"/>
              </a:lnSpc>
              <a:spcBef>
                <a:spcPts val="1122"/>
              </a:spcBef>
              <a:tabLst/>
            </a:pP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chown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[ 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options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]</a:t>
            </a:r>
            <a:r>
              <a:rPr sz="3900" b="1" kern="0" spc="4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: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group</a:t>
            </a:r>
            <a:r>
              <a:rPr sz="3900" b="1" kern="0" spc="2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file</a:t>
            </a:r>
            <a:r>
              <a:rPr sz="3900" b="1" kern="0" spc="3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…</a:t>
            </a:r>
            <a:endParaRPr sz="3900" dirty="0">
              <a:latin typeface="Segoe Print"/>
              <a:ea typeface="Segoe Print"/>
              <a:cs typeface="Segoe Print"/>
            </a:endParaRPr>
          </a:p>
          <a:p>
            <a:pPr marL="22225" algn="l" rtl="0" eaLnBrk="0">
              <a:lnSpc>
                <a:spcPct val="86000"/>
              </a:lnSpc>
              <a:spcBef>
                <a:spcPts val="16"/>
              </a:spcBef>
              <a:tabLst/>
            </a:pP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如果用户组被指定，则文件的所属组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sp>
        <p:nvSpPr>
          <p:cNvPr id="1194" name="textbox 1194"/>
          <p:cNvSpPr/>
          <p:nvPr/>
        </p:nvSpPr>
        <p:spPr>
          <a:xfrm>
            <a:off x="80543" y="6039268"/>
            <a:ext cx="8985250" cy="802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1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9584" algn="l" rtl="0" eaLnBrk="0">
              <a:lnSpc>
                <a:spcPct val="87000"/>
              </a:lnSpc>
              <a:tabLst/>
            </a:pP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也将被修改。</a:t>
            </a:r>
            <a:endParaRPr sz="39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97000"/>
              </a:lnSpc>
              <a:spcBef>
                <a:spcPts val="21"/>
              </a:spcBef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1196" name="textbox 1196"/>
          <p:cNvSpPr/>
          <p:nvPr/>
        </p:nvSpPr>
        <p:spPr>
          <a:xfrm>
            <a:off x="105181" y="-89230"/>
            <a:ext cx="7606665" cy="506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3500" b="1" kern="0" spc="-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5.2.3</a:t>
            </a:r>
            <a:r>
              <a:rPr sz="3500" b="1" kern="0" spc="3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3500" b="1" kern="0" spc="-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改变文件的所有者（</a:t>
            </a:r>
            <a:r>
              <a:rPr sz="3500" kern="0" spc="-4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chow</a:t>
            </a: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n</a:t>
            </a: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198" name="picture 11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pic>
        <p:nvPicPr>
          <p:cNvPr id="1200" name="picture 12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652779"/>
            <a:ext cx="349250" cy="349250"/>
          </a:xfrm>
          <a:prstGeom prst="rect">
            <a:avLst/>
          </a:prstGeom>
        </p:spPr>
      </p:pic>
      <p:pic>
        <p:nvPicPr>
          <p:cNvPr id="1202" name="picture 12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2481579"/>
            <a:ext cx="349250" cy="349250"/>
          </a:xfrm>
          <a:prstGeom prst="rect">
            <a:avLst/>
          </a:prstGeom>
        </p:spPr>
      </p:pic>
      <p:pic>
        <p:nvPicPr>
          <p:cNvPr id="1204" name="picture 12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3091179"/>
            <a:ext cx="349250" cy="349250"/>
          </a:xfrm>
          <a:prstGeom prst="rect">
            <a:avLst/>
          </a:prstGeom>
        </p:spPr>
      </p:pic>
      <p:pic>
        <p:nvPicPr>
          <p:cNvPr id="1206" name="picture 12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3700779"/>
            <a:ext cx="349250" cy="349250"/>
          </a:xfrm>
          <a:prstGeom prst="rect">
            <a:avLst/>
          </a:prstGeom>
        </p:spPr>
      </p:pic>
      <p:pic>
        <p:nvPicPr>
          <p:cNvPr id="1208" name="picture 12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4919979"/>
            <a:ext cx="349250" cy="349250"/>
          </a:xfrm>
          <a:prstGeom prst="rect">
            <a:avLst/>
          </a:prstGeom>
        </p:spPr>
      </p:pic>
      <p:pic>
        <p:nvPicPr>
          <p:cNvPr id="1210" name="picture 12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5529579"/>
            <a:ext cx="349250" cy="34925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textbox 121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1214" name="textbox 1214"/>
          <p:cNvSpPr/>
          <p:nvPr/>
        </p:nvSpPr>
        <p:spPr>
          <a:xfrm>
            <a:off x="76835" y="646237"/>
            <a:ext cx="8890634" cy="6049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22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9109" indent="-26669" algn="l" rtl="0" eaLnBrk="0">
              <a:lnSpc>
                <a:spcPct val="99000"/>
              </a:lnSpc>
              <a:tabLst/>
            </a:pP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chown root</a:t>
            </a:r>
            <a:r>
              <a:rPr sz="4400" b="1" kern="0" spc="2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my_files</a:t>
            </a:r>
            <a:r>
              <a:rPr sz="4400" b="1" kern="0" spc="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   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将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my_files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的所有者改为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root</a:t>
            </a:r>
            <a:endParaRPr sz="4400" dirty="0">
              <a:latin typeface="Segoe Print"/>
              <a:ea typeface="Segoe Print"/>
              <a:cs typeface="Segoe Print"/>
            </a:endParaRPr>
          </a:p>
          <a:p>
            <a:pPr marL="494030" indent="-21590" algn="l" rtl="0" eaLnBrk="0">
              <a:lnSpc>
                <a:spcPct val="99000"/>
              </a:lnSpc>
              <a:spcBef>
                <a:spcPts val="204"/>
              </a:spcBef>
              <a:tabLst/>
            </a:pP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chown zhang *.c</a:t>
            </a:r>
            <a:r>
              <a:rPr sz="4400" b="1" kern="0" spc="16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   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将当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前目录下所有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语言文件的所有者</a:t>
            </a:r>
            <a:r>
              <a:rPr sz="44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改为</a:t>
            </a:r>
            <a:r>
              <a:rPr sz="4400" b="1" kern="0" spc="-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zhang</a:t>
            </a:r>
            <a:endParaRPr sz="4400" dirty="0">
              <a:latin typeface="Segoe Print"/>
              <a:ea typeface="Segoe Print"/>
              <a:cs typeface="Segoe Print"/>
            </a:endParaRPr>
          </a:p>
          <a:p>
            <a:pPr marL="472440" algn="l" rtl="0" eaLnBrk="0">
              <a:lnSpc>
                <a:spcPct val="95000"/>
              </a:lnSpc>
              <a:spcBef>
                <a:spcPts val="308"/>
              </a:spcBef>
              <a:tabLst/>
            </a:pPr>
            <a:r>
              <a:rPr sz="4400" b="1" kern="0" spc="-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4400" b="1" kern="0" spc="-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chown</a:t>
            </a:r>
            <a:r>
              <a:rPr sz="4400" b="1" kern="0" spc="4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4400" b="1" kern="0" spc="-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-R gjshao</a:t>
            </a:r>
            <a:endParaRPr sz="4400" dirty="0">
              <a:latin typeface="Segoe Print"/>
              <a:ea typeface="Segoe Print"/>
              <a:cs typeface="Segoe Print"/>
            </a:endParaRPr>
          </a:p>
          <a:p>
            <a:pPr marL="452755" algn="l" rtl="0" eaLnBrk="0">
              <a:lnSpc>
                <a:spcPct val="100000"/>
              </a:lnSpc>
              <a:spcBef>
                <a:spcPts val="82"/>
              </a:spcBef>
              <a:tabLst/>
            </a:pPr>
            <a:r>
              <a:rPr sz="44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tmp</a:t>
            </a:r>
            <a:r>
              <a:rPr sz="44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mydir</a:t>
            </a:r>
            <a:r>
              <a:rPr sz="4400" b="1" kern="0" spc="4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4400" b="1" kern="0" spc="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44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递归将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429259" indent="23495" algn="l" rtl="0" eaLnBrk="0">
              <a:lnSpc>
                <a:spcPct val="98000"/>
              </a:lnSpc>
              <a:spcBef>
                <a:spcPts val="96"/>
              </a:spcBef>
              <a:tabLst/>
            </a:pPr>
            <a:r>
              <a:rPr sz="44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/tmp/mydir</a:t>
            </a:r>
            <a:r>
              <a:rPr sz="44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的所有者改为</a:t>
            </a:r>
            <a:r>
              <a:rPr sz="4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</a:t>
            </a:r>
            <a:r>
              <a:rPr sz="44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gjshao</a:t>
            </a:r>
            <a:endParaRPr sz="4400" dirty="0">
              <a:latin typeface="Segoe Print"/>
              <a:ea typeface="Segoe Print"/>
              <a:cs typeface="Segoe Print"/>
            </a:endParaRPr>
          </a:p>
        </p:txBody>
      </p:sp>
      <p:pic>
        <p:nvPicPr>
          <p:cNvPr id="1216" name="picture 12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4091304"/>
            <a:ext cx="383540" cy="384175"/>
          </a:xfrm>
          <a:prstGeom prst="rect">
            <a:avLst/>
          </a:prstGeom>
        </p:spPr>
      </p:pic>
      <p:pic>
        <p:nvPicPr>
          <p:cNvPr id="1218" name="picture 12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2079625"/>
            <a:ext cx="383540" cy="384175"/>
          </a:xfrm>
          <a:prstGeom prst="rect">
            <a:avLst/>
          </a:prstGeom>
        </p:spPr>
      </p:pic>
      <p:pic>
        <p:nvPicPr>
          <p:cNvPr id="1220" name="picture 12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738504"/>
            <a:ext cx="383540" cy="384175"/>
          </a:xfrm>
          <a:prstGeom prst="rect">
            <a:avLst/>
          </a:prstGeom>
        </p:spPr>
      </p:pic>
      <p:sp>
        <p:nvSpPr>
          <p:cNvPr id="1222" name="textbox 1222"/>
          <p:cNvSpPr/>
          <p:nvPr/>
        </p:nvSpPr>
        <p:spPr>
          <a:xfrm>
            <a:off x="102895" y="-81915"/>
            <a:ext cx="262127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4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使用示例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224" name="picture 12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textbox 1226"/>
          <p:cNvSpPr/>
          <p:nvPr/>
        </p:nvSpPr>
        <p:spPr>
          <a:xfrm>
            <a:off x="76835" y="628533"/>
            <a:ext cx="9136380" cy="5732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0" algn="l" rtl="0" eaLnBrk="0">
              <a:lnSpc>
                <a:spcPct val="99000"/>
              </a:lnSpc>
              <a:tabLst>
                <a:tab pos="478155" algn="l"/>
              </a:tabLst>
            </a:pP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-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SCSI</a:t>
            </a:r>
            <a:r>
              <a:rPr sz="3200" b="1" kern="0" spc="-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200" b="1" kern="0" spc="-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Small Computer </a:t>
            </a:r>
            <a:r>
              <a:rPr sz="3200" b="1" kern="0" spc="-6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System Interface</a:t>
            </a:r>
            <a:r>
              <a:rPr sz="32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83869" indent="-6350" algn="l" rtl="0" eaLnBrk="0">
              <a:lnSpc>
                <a:spcPct val="93000"/>
              </a:lnSpc>
              <a:spcBef>
                <a:spcPts val="111"/>
              </a:spcBef>
              <a:tabLst/>
            </a:pP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接口是小型计算机接口的简称，是一个多用途</a:t>
            </a:r>
            <a:r>
              <a:rPr sz="32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I/O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接口，除可接磁盘外，还可接磁带机、光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驱，扫描仪等设备。</a:t>
            </a:r>
            <a:endParaRPr sz="3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2100" algn="l" rtl="0" eaLnBrk="0">
              <a:lnSpc>
                <a:spcPct val="86000"/>
              </a:lnSpc>
              <a:spcBef>
                <a:spcPts val="967"/>
              </a:spcBef>
              <a:tabLst>
                <a:tab pos="478155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SCSI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存储设备的形式为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/dev/sdmn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，其中，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89584" algn="l" rtl="0" eaLnBrk="0">
              <a:lnSpc>
                <a:spcPct val="94000"/>
              </a:lnSpc>
              <a:spcBef>
                <a:spcPts val="502"/>
              </a:spcBef>
              <a:tabLst/>
            </a:pP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</a:t>
            </a:r>
            <a:r>
              <a:rPr sz="3200" b="1" kern="0" spc="-7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MS UI Gothic"/>
                <a:ea typeface="MS UI Gothic"/>
                <a:cs typeface="MS UI Gothic"/>
              </a:rPr>
              <a:t>∈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(a,b,c,d,…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)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为字符代表物理设备，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80059" algn="l" rtl="0" eaLnBrk="0">
              <a:lnSpc>
                <a:spcPct val="94000"/>
              </a:lnSpc>
              <a:spcBef>
                <a:spcPts val="237"/>
              </a:spcBef>
              <a:tabLst/>
            </a:pP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n</a:t>
            </a:r>
            <a:r>
              <a:rPr sz="3200" b="1" kern="0" spc="-7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MS UI Gothic"/>
                <a:ea typeface="MS UI Gothic"/>
                <a:cs typeface="MS UI Gothic"/>
              </a:rPr>
              <a:t>∈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(1,2,3,…)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为物理设备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n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上的逻辑分区编号。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76884" indent="-185420" algn="l" rtl="0" eaLnBrk="0">
              <a:lnSpc>
                <a:spcPct val="94000"/>
              </a:lnSpc>
              <a:spcBef>
                <a:spcPts val="1899"/>
              </a:spcBef>
              <a:tabLst/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SCSI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上硬盘设备的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命名方法与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IDE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硬盘设备的</a:t>
            </a:r>
            <a:r>
              <a:rPr sz="3200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命名方法相同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。例如，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dev/sda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/dev/sdb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分别为第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SCSI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硬盘，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/dev/sda1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55294" algn="l" rtl="0" eaLnBrk="0">
              <a:lnSpc>
                <a:spcPct val="86000"/>
              </a:lnSpc>
              <a:spcBef>
                <a:spcPts val="654"/>
              </a:spcBef>
              <a:tabLst/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/dev/sda2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分别代表第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SCSI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硬盘的第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</a:t>
            </a:r>
            <a:endParaRPr sz="3200" dirty="0">
              <a:latin typeface="Segoe Print"/>
              <a:ea typeface="Segoe Print"/>
              <a:cs typeface="Segoe Print"/>
            </a:endParaRPr>
          </a:p>
        </p:txBody>
      </p:sp>
      <p:pic>
        <p:nvPicPr>
          <p:cNvPr id="1228" name="picture 12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4519294"/>
            <a:ext cx="279400" cy="279400"/>
          </a:xfrm>
          <a:prstGeom prst="rect">
            <a:avLst/>
          </a:prstGeom>
        </p:spPr>
      </p:pic>
      <p:pic>
        <p:nvPicPr>
          <p:cNvPr id="1230" name="picture 12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2853055"/>
            <a:ext cx="279400" cy="279400"/>
          </a:xfrm>
          <a:prstGeom prst="rect">
            <a:avLst/>
          </a:prstGeom>
        </p:spPr>
      </p:pic>
      <p:pic>
        <p:nvPicPr>
          <p:cNvPr id="1232" name="picture 12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698255"/>
            <a:ext cx="279400" cy="275156"/>
          </a:xfrm>
          <a:prstGeom prst="rect">
            <a:avLst/>
          </a:prstGeom>
        </p:spPr>
      </p:pic>
      <p:sp>
        <p:nvSpPr>
          <p:cNvPr id="1234" name="textbox 1234"/>
          <p:cNvSpPr/>
          <p:nvPr/>
        </p:nvSpPr>
        <p:spPr>
          <a:xfrm>
            <a:off x="80543" y="6387707"/>
            <a:ext cx="8985250" cy="453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1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600" b="1" kern="0" spc="-1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600" b="1" kern="0" spc="-1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</a:t>
            </a:r>
            <a:r>
              <a:rPr sz="2500" b="1" kern="0" spc="-110" baseline="2083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3000" b="1" kern="0" spc="-7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</a:t>
            </a:r>
            <a:r>
              <a:rPr sz="2500" b="1" kern="0" spc="-940" baseline="2083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ux</a:t>
            </a:r>
            <a:r>
              <a:rPr sz="1600" b="1" kern="0" spc="-9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3000" b="1" kern="0" spc="-9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区</a:t>
            </a:r>
            <a:r>
              <a:rPr sz="1600" b="1" kern="0" spc="-9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</a:t>
            </a:r>
            <a:r>
              <a:rPr sz="3000" b="1" kern="0" spc="-2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安全》</a:t>
            </a:r>
            <a:r>
              <a:rPr sz="1600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6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600" kern="0" spc="-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600" kern="0" spc="-19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600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500" kern="0" spc="60" baseline="416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500" b="1" kern="0" spc="60" baseline="416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26</a:t>
            </a:r>
            <a:r>
              <a:rPr sz="2500" kern="0" spc="60" baseline="416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500" baseline="4167" dirty="0">
              <a:latin typeface="STXinwei"/>
              <a:ea typeface="STXinwei"/>
              <a:cs typeface="STXinwei"/>
            </a:endParaRPr>
          </a:p>
        </p:txBody>
      </p:sp>
      <p:sp>
        <p:nvSpPr>
          <p:cNvPr id="1236" name="textbox 1236"/>
          <p:cNvSpPr/>
          <p:nvPr/>
        </p:nvSpPr>
        <p:spPr>
          <a:xfrm>
            <a:off x="87010" y="-49403"/>
            <a:ext cx="3275965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200" kern="0" spc="-6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SCSI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存储设备</a:t>
            </a:r>
            <a:endParaRPr sz="32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238" name="picture 12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textbox 1240"/>
          <p:cNvSpPr/>
          <p:nvPr/>
        </p:nvSpPr>
        <p:spPr>
          <a:xfrm>
            <a:off x="76835" y="692797"/>
            <a:ext cx="9092565" cy="5449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16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4505" indent="-157479" algn="l" rtl="0" eaLnBrk="0">
              <a:lnSpc>
                <a:spcPct val="99000"/>
              </a:lnSpc>
              <a:tabLst>
                <a:tab pos="479425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欲使用已经存在的文件系统，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必须首先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安装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mount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进行安装，然后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才能使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用，使用完毕后要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用拆卸命令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umount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</a:t>
            </a:r>
            <a:r>
              <a:rPr sz="3500" b="1" kern="0" spc="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拆卸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79425" indent="-152400" algn="l" rtl="0" eaLnBrk="0">
              <a:lnSpc>
                <a:spcPct val="93000"/>
              </a:lnSpc>
              <a:spcBef>
                <a:spcPts val="829"/>
              </a:spcBef>
              <a:tabLst>
                <a:tab pos="488315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必须按“</a:t>
            </a:r>
            <a:r>
              <a:rPr sz="3500" b="1" kern="0" spc="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安装</a:t>
            </a:r>
            <a:r>
              <a:rPr sz="3500" b="1" kern="0" spc="6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→</a:t>
            </a:r>
            <a:r>
              <a:rPr sz="3500" b="1" kern="0" spc="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</a:t>
            </a:r>
            <a:r>
              <a:rPr sz="3500" b="1" kern="0" spc="6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→</a:t>
            </a:r>
            <a:r>
              <a:rPr sz="3500" b="1" kern="0" spc="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拆卸</a:t>
            </a:r>
            <a:r>
              <a:rPr sz="3500" kern="0" spc="-12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”顺序来进行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操作。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9584" indent="-163195" algn="l" rtl="0" eaLnBrk="0">
              <a:lnSpc>
                <a:spcPct val="94000"/>
              </a:lnSpc>
              <a:spcBef>
                <a:spcPts val="745"/>
              </a:spcBef>
              <a:tabLst>
                <a:tab pos="488315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如果不按规定操作而中途</a:t>
            </a:r>
            <a:r>
              <a:rPr sz="3500" b="1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把介质强行取出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则可能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造成存储介质上文件系统的损坏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4505" algn="l" rtl="0" eaLnBrk="0">
              <a:lnSpc>
                <a:spcPct val="86000"/>
              </a:lnSpc>
              <a:spcBef>
                <a:spcPts val="725"/>
              </a:spcBef>
              <a:tabLst/>
            </a:pPr>
            <a:r>
              <a:rPr sz="3500" b="1" kern="0" spc="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数据不完整或丢失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8000"/>
              </a:lnSpc>
              <a:spcBef>
                <a:spcPts val="838"/>
              </a:spcBef>
              <a:tabLst>
                <a:tab pos="490219" algn="l"/>
              </a:tabLst>
            </a:pPr>
            <a:r>
              <a:rPr sz="35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受损的文件系统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必须经过（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fsck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清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242" name="picture 12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5721667"/>
            <a:ext cx="314325" cy="314325"/>
          </a:xfrm>
          <a:prstGeom prst="rect">
            <a:avLst/>
          </a:prstGeom>
        </p:spPr>
      </p:pic>
      <p:pic>
        <p:nvPicPr>
          <p:cNvPr id="1244" name="picture 12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4075747"/>
            <a:ext cx="314325" cy="314325"/>
          </a:xfrm>
          <a:prstGeom prst="rect">
            <a:avLst/>
          </a:prstGeom>
        </p:spPr>
      </p:pic>
      <p:pic>
        <p:nvPicPr>
          <p:cNvPr id="1246" name="picture 12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2978467"/>
            <a:ext cx="314325" cy="314325"/>
          </a:xfrm>
          <a:prstGeom prst="rect">
            <a:avLst/>
          </a:prstGeom>
        </p:spPr>
      </p:pic>
      <p:pic>
        <p:nvPicPr>
          <p:cNvPr id="1248" name="picture 12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783907"/>
            <a:ext cx="314325" cy="314325"/>
          </a:xfrm>
          <a:prstGeom prst="rect">
            <a:avLst/>
          </a:prstGeom>
        </p:spPr>
      </p:pic>
      <p:sp>
        <p:nvSpPr>
          <p:cNvPr id="1250" name="textbox 125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1252" name="textbox 1252"/>
          <p:cNvSpPr/>
          <p:nvPr/>
        </p:nvSpPr>
        <p:spPr>
          <a:xfrm>
            <a:off x="551002" y="6179198"/>
            <a:ext cx="5899150" cy="482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6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理或修复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后才能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再继续使用</a:t>
            </a:r>
            <a:r>
              <a:rPr sz="3500" b="1" kern="0" spc="-2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sp>
        <p:nvSpPr>
          <p:cNvPr id="1254" name="textbox 1254"/>
          <p:cNvSpPr/>
          <p:nvPr/>
        </p:nvSpPr>
        <p:spPr>
          <a:xfrm>
            <a:off x="105181" y="-81915"/>
            <a:ext cx="4794884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5.3.4</a:t>
            </a:r>
            <a:r>
              <a:rPr sz="3500" b="1" kern="0" spc="3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文件系统的使用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256" name="picture 1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textbox 1258"/>
          <p:cNvSpPr/>
          <p:nvPr/>
        </p:nvSpPr>
        <p:spPr>
          <a:xfrm>
            <a:off x="76835" y="557136"/>
            <a:ext cx="9049384" cy="5783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8790" indent="-186689" algn="l" rtl="0" eaLnBrk="0">
              <a:lnSpc>
                <a:spcPct val="95000"/>
              </a:lnSpc>
              <a:tabLst>
                <a:tab pos="477519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UNIX/Linu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x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系统中，所有可以访问的文件或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文件系统都必须在文件系统的目录树上的某个目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录上。这个用于</a:t>
            </a:r>
            <a:r>
              <a:rPr sz="32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安装的位</a:t>
            </a:r>
            <a:r>
              <a:rPr sz="3200" b="1" kern="0" spc="-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置（</a:t>
            </a:r>
            <a:r>
              <a:rPr sz="3200" kern="0" spc="-3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</a:t>
            </a:r>
            <a:r>
              <a:rPr sz="32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）被称为</a:t>
            </a:r>
            <a:r>
              <a:rPr sz="3200" b="1" kern="0" spc="-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“安</a:t>
            </a:r>
            <a:r>
              <a:rPr sz="32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装点</a:t>
            </a:r>
            <a:r>
              <a:rPr sz="3200" kern="0" spc="-11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75615" indent="-183514" algn="l" rtl="0" eaLnBrk="0">
              <a:lnSpc>
                <a:spcPct val="95000"/>
              </a:lnSpc>
              <a:spcBef>
                <a:spcPts val="769"/>
              </a:spcBef>
              <a:tabLst>
                <a:tab pos="495934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UNIX/Linux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系统提供了一个可以被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广泛使用的</a:t>
            </a: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传统安装点</a:t>
            </a: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/mnt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。在系统中，图形界面自动安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装时所使用的安装点为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/m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edia/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/var/run/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等目录。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83234" indent="-191770" algn="l" rtl="0" eaLnBrk="0">
              <a:lnSpc>
                <a:spcPct val="96000"/>
              </a:lnSpc>
              <a:spcBef>
                <a:spcPts val="616"/>
              </a:spcBef>
              <a:tabLst>
                <a:tab pos="482600" algn="l"/>
              </a:tabLst>
            </a:pPr>
            <a:r>
              <a:rPr sz="32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早期要求安装点必须是空目录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，现在的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系统中可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以是非空目录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。但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有一个限制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，当在某一个非空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目录上安装外来文件系统后，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该目录中原来的内</a:t>
            </a:r>
            <a:r>
              <a:rPr sz="3200" b="1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容将暂时无法“看到</a:t>
            </a:r>
            <a:r>
              <a:rPr sz="3200" kern="0" spc="-11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”了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，直到安装的部分被拆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pic>
        <p:nvPicPr>
          <p:cNvPr id="1260" name="picture 12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4528184"/>
            <a:ext cx="279400" cy="279400"/>
          </a:xfrm>
          <a:prstGeom prst="rect">
            <a:avLst/>
          </a:prstGeom>
        </p:spPr>
      </p:pic>
      <p:pic>
        <p:nvPicPr>
          <p:cNvPr id="1262" name="picture 12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2576829"/>
            <a:ext cx="279400" cy="279400"/>
          </a:xfrm>
          <a:prstGeom prst="rect">
            <a:avLst/>
          </a:prstGeom>
        </p:spPr>
      </p:pic>
      <p:pic>
        <p:nvPicPr>
          <p:cNvPr id="1264" name="picture 12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626109"/>
            <a:ext cx="279400" cy="279400"/>
          </a:xfrm>
          <a:prstGeom prst="rect">
            <a:avLst/>
          </a:prstGeom>
        </p:spPr>
      </p:pic>
      <p:sp>
        <p:nvSpPr>
          <p:cNvPr id="1266" name="textbox 1266"/>
          <p:cNvSpPr/>
          <p:nvPr/>
        </p:nvSpPr>
        <p:spPr>
          <a:xfrm>
            <a:off x="80543" y="6395961"/>
            <a:ext cx="8985250" cy="445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tabLst/>
            </a:pPr>
            <a:r>
              <a:rPr sz="1600" b="1" kern="0" spc="-1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600" b="1" kern="0" spc="-1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</a:t>
            </a:r>
            <a:r>
              <a:rPr sz="1600" b="1" kern="0" spc="-1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3000" b="1" kern="0" spc="-7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卸</a:t>
            </a:r>
            <a:r>
              <a:rPr sz="1600" b="1" kern="0" spc="-97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ux</a:t>
            </a:r>
            <a:r>
              <a:rPr sz="3000" b="1" kern="0" spc="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掉</a:t>
            </a:r>
            <a:r>
              <a:rPr sz="1600" b="1" kern="0" spc="-149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系统</a:t>
            </a:r>
            <a:r>
              <a:rPr sz="3000" b="1" kern="0" spc="-2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与安全》</a:t>
            </a:r>
            <a:r>
              <a:rPr sz="1600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6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600" kern="0" spc="-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600" kern="0" spc="-19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600" b="1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600" kern="0" spc="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500" kern="0" spc="60" baseline="416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500" b="1" kern="0" spc="60" baseline="416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41</a:t>
            </a:r>
            <a:r>
              <a:rPr sz="2500" kern="0" spc="60" baseline="416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500" baseline="4167" dirty="0">
              <a:latin typeface="STXinwei"/>
              <a:ea typeface="STXinwei"/>
              <a:cs typeface="STXinwei"/>
            </a:endParaRPr>
          </a:p>
        </p:txBody>
      </p:sp>
      <p:sp>
        <p:nvSpPr>
          <p:cNvPr id="1268" name="textbox 1268"/>
          <p:cNvSpPr/>
          <p:nvPr/>
        </p:nvSpPr>
        <p:spPr>
          <a:xfrm>
            <a:off x="113411" y="-59054"/>
            <a:ext cx="273557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安装点及使用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270" name="picture 12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textbox 1272"/>
          <p:cNvSpPr/>
          <p:nvPr/>
        </p:nvSpPr>
        <p:spPr>
          <a:xfrm>
            <a:off x="80543" y="6168719"/>
            <a:ext cx="8985250" cy="676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8315" algn="l" rtl="0" eaLnBrk="0">
              <a:lnSpc>
                <a:spcPct val="79000"/>
              </a:lnSpc>
              <a:tabLst/>
            </a:pP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统以只读方式安装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85000"/>
              </a:lnSpc>
              <a:spcBef>
                <a:spcPts val="15"/>
              </a:spcBef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1274" name="textbox 1274"/>
          <p:cNvSpPr/>
          <p:nvPr/>
        </p:nvSpPr>
        <p:spPr>
          <a:xfrm>
            <a:off x="76835" y="686765"/>
            <a:ext cx="8930640" cy="6536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8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2125" indent="-165100" algn="l" rtl="0" eaLnBrk="0">
              <a:lnSpc>
                <a:spcPct val="89000"/>
              </a:lnSpc>
              <a:tabLst>
                <a:tab pos="47053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mount</a:t>
            </a:r>
            <a:r>
              <a:rPr sz="3900" b="1" kern="0" spc="1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列已安装的设备或文件系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统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8000"/>
              </a:lnSpc>
              <a:spcBef>
                <a:spcPts val="826"/>
              </a:spcBef>
              <a:tabLst>
                <a:tab pos="47053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1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mount</a:t>
            </a:r>
            <a:r>
              <a:rPr sz="35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-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</a:t>
            </a:r>
            <a:r>
              <a:rPr sz="35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vfat</a:t>
            </a:r>
            <a:r>
              <a:rPr sz="35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dev</a:t>
            </a:r>
            <a:r>
              <a:rPr sz="35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sda</a:t>
            </a:r>
            <a:r>
              <a:rPr sz="35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endParaRPr sz="3500" dirty="0">
              <a:latin typeface="Segoe Print"/>
              <a:ea typeface="Segoe Print"/>
              <a:cs typeface="Segoe Print"/>
            </a:endParaRPr>
          </a:p>
          <a:p>
            <a:pPr marL="478790" indent="-24129" algn="l" rtl="0" eaLnBrk="0">
              <a:lnSpc>
                <a:spcPct val="96000"/>
              </a:lnSpc>
              <a:spcBef>
                <a:spcPts val="500"/>
              </a:spcBef>
              <a:tabLst/>
            </a:pPr>
            <a:r>
              <a:rPr sz="3500" b="1" kern="0" spc="1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mnt</a:t>
            </a:r>
            <a:r>
              <a:rPr sz="3500" b="1" kern="0" spc="1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usb</a:t>
            </a:r>
            <a:r>
              <a:rPr sz="3500" b="1" kern="0" spc="1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将</a:t>
            </a:r>
            <a:r>
              <a:rPr sz="3500" b="1" kern="0" spc="1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</a:t>
            </a:r>
            <a:r>
              <a:rPr sz="35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盘上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vfat</a:t>
            </a:r>
            <a:r>
              <a:rPr sz="35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格式的系统安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装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mnt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usb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上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76884" indent="-150495" algn="l" rtl="0" eaLnBrk="0">
              <a:lnSpc>
                <a:spcPct val="96000"/>
              </a:lnSpc>
              <a:spcBef>
                <a:spcPts val="740"/>
              </a:spcBef>
              <a:tabLst>
                <a:tab pos="47053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1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mount</a:t>
            </a:r>
            <a:r>
              <a:rPr sz="35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-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</a:t>
            </a:r>
            <a:r>
              <a:rPr sz="35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vfat</a:t>
            </a:r>
            <a:r>
              <a:rPr sz="35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dev</a:t>
            </a:r>
            <a:r>
              <a:rPr sz="35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sdc</a:t>
            </a:r>
            <a:r>
              <a:rPr sz="35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mnt</a:t>
            </a:r>
            <a:r>
              <a:rPr sz="3500" b="1" kern="0" spc="1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fd</a:t>
            </a:r>
            <a:r>
              <a:rPr sz="3500" b="1" kern="0" spc="-7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1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将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盘上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vfat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格式的系统安装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mnt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fd</a:t>
            </a: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上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8000"/>
              </a:lnSpc>
              <a:spcBef>
                <a:spcPts val="826"/>
              </a:spcBef>
              <a:tabLst>
                <a:tab pos="47053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mount</a:t>
            </a:r>
            <a:r>
              <a:rPr sz="3500" b="1" kern="0" spc="1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-r -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</a:t>
            </a:r>
            <a:r>
              <a:rPr sz="3500" b="1" kern="0" spc="6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ext</a:t>
            </a:r>
            <a:r>
              <a:rPr sz="3500" b="1" kern="0" spc="1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dev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fd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0</a:t>
            </a:r>
            <a:endParaRPr sz="3500" dirty="0">
              <a:latin typeface="Segoe Print"/>
              <a:ea typeface="Segoe Print"/>
              <a:cs typeface="Segoe Print"/>
            </a:endParaRPr>
          </a:p>
          <a:p>
            <a:pPr marL="454659" algn="l" rtl="0" eaLnBrk="0">
              <a:lnSpc>
                <a:spcPct val="88000"/>
              </a:lnSpc>
              <a:spcBef>
                <a:spcPts val="652"/>
              </a:spcBef>
              <a:tabLst/>
            </a:pPr>
            <a:r>
              <a:rPr sz="3500" b="1" kern="0" spc="1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mnt</a:t>
            </a:r>
            <a:r>
              <a:rPr sz="3500" b="1" kern="0" spc="1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fd</a:t>
            </a:r>
            <a:r>
              <a:rPr sz="3500" b="1" kern="0" spc="8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将软盘上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ext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格式的文件系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spcBef>
                <a:spcPts val="1"/>
              </a:spcBef>
              <a:tabLst/>
            </a:pP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       </a:t>
            </a:r>
            <a:r>
              <a:rPr sz="3500" b="1" kern="0" spc="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 /d</a:t>
            </a:r>
            <a:r>
              <a:rPr sz="3500" b="1" kern="0" spc="4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3500" b="1" kern="0" spc="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5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      /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 </a:t>
            </a:r>
            <a:r>
              <a:rPr sz="3500" b="1" kern="0" spc="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</a:t>
            </a:r>
            <a:r>
              <a:rPr sz="3500" b="1" kern="0" spc="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56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</a:t>
            </a:r>
            <a:r>
              <a:rPr sz="3500" b="1" kern="0" spc="2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  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endParaRPr sz="3500" dirty="0">
              <a:latin typeface="Segoe Print"/>
              <a:ea typeface="Segoe Print"/>
              <a:cs typeface="Segoe Print"/>
            </a:endParaRPr>
          </a:p>
        </p:txBody>
      </p:sp>
      <p:pic>
        <p:nvPicPr>
          <p:cNvPr id="1276" name="picture 12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5162550"/>
            <a:ext cx="314325" cy="314325"/>
          </a:xfrm>
          <a:prstGeom prst="rect">
            <a:avLst/>
          </a:prstGeom>
        </p:spPr>
      </p:pic>
      <p:pic>
        <p:nvPicPr>
          <p:cNvPr id="1278" name="picture 12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3516629"/>
            <a:ext cx="314325" cy="314325"/>
          </a:xfrm>
          <a:prstGeom prst="rect">
            <a:avLst/>
          </a:prstGeom>
        </p:spPr>
      </p:pic>
      <p:pic>
        <p:nvPicPr>
          <p:cNvPr id="1280" name="picture 12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1870709"/>
            <a:ext cx="314325" cy="314325"/>
          </a:xfrm>
          <a:prstGeom prst="rect">
            <a:avLst/>
          </a:prstGeom>
        </p:spPr>
      </p:pic>
      <p:pic>
        <p:nvPicPr>
          <p:cNvPr id="1282" name="picture 12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742950"/>
            <a:ext cx="314325" cy="314325"/>
          </a:xfrm>
          <a:prstGeom prst="rect">
            <a:avLst/>
          </a:prstGeom>
        </p:spPr>
      </p:pic>
      <p:sp>
        <p:nvSpPr>
          <p:cNvPr id="1284" name="textbox 1284"/>
          <p:cNvSpPr/>
          <p:nvPr/>
        </p:nvSpPr>
        <p:spPr>
          <a:xfrm>
            <a:off x="102895" y="-81915"/>
            <a:ext cx="413004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4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mount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命令示例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286" name="picture 12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pic>
        <p:nvPicPr>
          <p:cNvPr id="1288" name="picture 12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90119" y="6808469"/>
            <a:ext cx="113157" cy="4953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textbox 1290"/>
          <p:cNvSpPr/>
          <p:nvPr/>
        </p:nvSpPr>
        <p:spPr>
          <a:xfrm>
            <a:off x="76835" y="637235"/>
            <a:ext cx="9114790" cy="5283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7025" algn="l" rtl="0" eaLnBrk="0">
              <a:lnSpc>
                <a:spcPct val="86000"/>
              </a:lnSpc>
              <a:tabLst>
                <a:tab pos="497205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．功能及用法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4505" indent="6985" algn="l" rtl="0" eaLnBrk="0">
              <a:lnSpc>
                <a:spcPct val="93000"/>
              </a:lnSpc>
              <a:spcBef>
                <a:spcPts val="788"/>
              </a:spcBef>
              <a:tabLst/>
            </a:pPr>
            <a:r>
              <a:rPr sz="47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find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命令用于</a:t>
            </a:r>
            <a:r>
              <a:rPr sz="4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文件的查找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，从而定位</a:t>
            </a: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文件在指定文件系统中</a:t>
            </a:r>
            <a:r>
              <a:rPr sz="35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的位置，其用法为：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92125" algn="l" rtl="0" eaLnBrk="0">
              <a:lnSpc>
                <a:spcPct val="96000"/>
              </a:lnSpc>
              <a:spcBef>
                <a:spcPts val="978"/>
              </a:spcBef>
              <a:tabLst/>
            </a:pPr>
            <a:r>
              <a:rPr sz="47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find</a:t>
            </a:r>
            <a:r>
              <a:rPr sz="47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[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path</a:t>
            </a:r>
            <a:r>
              <a:rPr sz="3500" b="1" kern="0" spc="2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...]</a:t>
            </a:r>
            <a:r>
              <a:rPr sz="3500" b="1" kern="0" spc="3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[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expression</a:t>
            </a:r>
            <a:r>
              <a:rPr sz="35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]</a:t>
            </a:r>
            <a:r>
              <a:rPr sz="3500" b="1" kern="0" spc="2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...</a:t>
            </a:r>
            <a:endParaRPr sz="3500" dirty="0">
              <a:latin typeface="Segoe Print"/>
              <a:ea typeface="Segoe Print"/>
              <a:cs typeface="Segoe Print"/>
            </a:endParaRPr>
          </a:p>
          <a:p>
            <a:pPr marL="479425" indent="-152400" algn="l" rtl="0" eaLnBrk="0">
              <a:lnSpc>
                <a:spcPct val="101000"/>
              </a:lnSpc>
              <a:spcBef>
                <a:spcPts val="252"/>
              </a:spcBef>
              <a:tabLst>
                <a:tab pos="484505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find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在文件查找过程中有很多指标供使用。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find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的所有参数中，位于命令名后第一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个选项前的参数为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查找位置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，若无则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默认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为当前目录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。如果也没有指定参数或查找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指标，则默认为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print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292" name="picture 12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3272789"/>
            <a:ext cx="314325" cy="314325"/>
          </a:xfrm>
          <a:prstGeom prst="rect">
            <a:avLst/>
          </a:prstGeom>
        </p:spPr>
      </p:pic>
      <p:pic>
        <p:nvPicPr>
          <p:cNvPr id="1294" name="picture 12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2580005"/>
            <a:ext cx="419100" cy="419100"/>
          </a:xfrm>
          <a:prstGeom prst="rect">
            <a:avLst/>
          </a:prstGeom>
        </p:spPr>
      </p:pic>
      <p:pic>
        <p:nvPicPr>
          <p:cNvPr id="1296" name="picture 12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1299845"/>
            <a:ext cx="419100" cy="419100"/>
          </a:xfrm>
          <a:prstGeom prst="rect">
            <a:avLst/>
          </a:prstGeom>
        </p:spPr>
      </p:pic>
      <p:pic>
        <p:nvPicPr>
          <p:cNvPr id="1298" name="picture 12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712470"/>
            <a:ext cx="314325" cy="314325"/>
          </a:xfrm>
          <a:prstGeom prst="rect">
            <a:avLst/>
          </a:prstGeom>
        </p:spPr>
      </p:pic>
      <p:sp>
        <p:nvSpPr>
          <p:cNvPr id="1300" name="textbox 1300"/>
          <p:cNvSpPr/>
          <p:nvPr/>
        </p:nvSpPr>
        <p:spPr>
          <a:xfrm>
            <a:off x="108291" y="-147661"/>
            <a:ext cx="7810500" cy="583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5.4.1</a:t>
            </a:r>
            <a:r>
              <a:rPr sz="3900" b="1" kern="0" spc="3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文件综合查找命令（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find</a:t>
            </a:r>
            <a:r>
              <a:rPr sz="3900" b="1" kern="0" spc="-22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900" dirty="0">
              <a:latin typeface="STXinwei"/>
              <a:ea typeface="STXinwei"/>
              <a:cs typeface="STXinwei"/>
            </a:endParaRPr>
          </a:p>
        </p:txBody>
      </p:sp>
      <p:sp>
        <p:nvSpPr>
          <p:cNvPr id="1302" name="textbox 130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304" name="picture 13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picture 13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589" y="39492"/>
            <a:ext cx="8813493" cy="6795199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textbox 1308"/>
          <p:cNvSpPr/>
          <p:nvPr/>
        </p:nvSpPr>
        <p:spPr>
          <a:xfrm>
            <a:off x="413943" y="677747"/>
            <a:ext cx="8670290" cy="4946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0" algn="l" rtl="0" eaLnBrk="0">
              <a:lnSpc>
                <a:spcPct val="86000"/>
              </a:lnSpc>
              <a:tabLst/>
            </a:pPr>
            <a:r>
              <a:rPr sz="23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300" b="1" kern="0" spc="-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</a:t>
            </a:r>
            <a:r>
              <a:rPr sz="23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查找并删除指定文件</a:t>
            </a:r>
            <a:r>
              <a:rPr sz="23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12700" indent="10160" algn="l" rtl="0" eaLnBrk="0">
              <a:lnSpc>
                <a:spcPct val="104000"/>
              </a:lnSpc>
              <a:spcBef>
                <a:spcPts val="682"/>
              </a:spcBef>
              <a:tabLst/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find</a:t>
            </a:r>
            <a:r>
              <a:rPr sz="2300" b="1" kern="0" spc="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/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tmp</a:t>
            </a:r>
            <a:r>
              <a:rPr sz="2300" b="1" kern="0" spc="3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name</a:t>
            </a:r>
            <a:r>
              <a:rPr sz="2300" b="1" kern="0" spc="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core</a:t>
            </a:r>
            <a:r>
              <a:rPr sz="2300" b="1" kern="0" spc="2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type</a:t>
            </a:r>
            <a:r>
              <a:rPr sz="2300" b="1" kern="0" spc="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</a:t>
            </a:r>
            <a:r>
              <a:rPr sz="2300" b="1" kern="0" spc="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-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exec</a:t>
            </a:r>
            <a:r>
              <a:rPr sz="2300" b="1" kern="0" spc="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rm</a:t>
            </a:r>
            <a:r>
              <a:rPr sz="2300" b="1" kern="0" spc="2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4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-f  ({}( \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;</a:t>
            </a:r>
            <a:r>
              <a:rPr sz="2300" b="1" kern="0" spc="4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tmp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内查找名为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core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的普通文件，并删除之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29844" indent="-6985" algn="l" rtl="0" eaLnBrk="0">
              <a:lnSpc>
                <a:spcPct val="95000"/>
              </a:lnSpc>
              <a:spcBef>
                <a:spcPts val="36"/>
              </a:spcBef>
              <a:tabLst/>
            </a:pP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find</a:t>
            </a:r>
            <a:r>
              <a:rPr sz="23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/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tmp</a:t>
            </a:r>
            <a:r>
              <a:rPr sz="2300" b="1" kern="0" spc="26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name</a:t>
            </a:r>
            <a:r>
              <a:rPr sz="23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core</a:t>
            </a:r>
            <a:r>
              <a:rPr sz="2300" b="1" kern="0" spc="2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type</a:t>
            </a:r>
            <a:r>
              <a:rPr sz="23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</a:t>
            </a:r>
            <a:r>
              <a:rPr sz="23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-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ok</a:t>
            </a:r>
            <a:r>
              <a:rPr sz="23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rm</a:t>
            </a:r>
            <a:r>
              <a:rPr sz="2300" b="1" kern="0" spc="2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-f  ({}( \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;    #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找普通文件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core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，并删除之，删除前确认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190500" algn="l" rtl="0" eaLnBrk="0">
              <a:lnSpc>
                <a:spcPct val="90000"/>
              </a:lnSpc>
              <a:spcBef>
                <a:spcPts val="492"/>
              </a:spcBef>
              <a:tabLst/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6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sbin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usr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sbin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可执行但不可读的文件。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2859" algn="l" rtl="0" eaLnBrk="0">
              <a:lnSpc>
                <a:spcPts val="2861"/>
              </a:lnSpc>
              <a:spcBef>
                <a:spcPts val="406"/>
              </a:spcBef>
              <a:tabLst/>
            </a:pPr>
            <a:r>
              <a:rPr sz="2300" b="1" kern="0" spc="1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find</a:t>
            </a:r>
            <a:r>
              <a:rPr sz="2300" b="1" kern="0" spc="1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/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sbin</a:t>
            </a:r>
            <a:r>
              <a:rPr sz="2300" b="1" kern="0" spc="1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/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usr</a:t>
            </a:r>
            <a:r>
              <a:rPr sz="2300" b="1" kern="0" spc="1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sbin</a:t>
            </a:r>
            <a:r>
              <a:rPr sz="2300" b="1" kern="0" spc="1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-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executable</a:t>
            </a:r>
            <a:r>
              <a:rPr sz="2300" b="1" kern="0" spc="1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\</a:t>
            </a:r>
            <a:r>
              <a:rPr sz="2300" b="1" kern="0" spc="16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! -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readable</a:t>
            </a:r>
            <a:r>
              <a:rPr sz="2300" b="1" kern="0" spc="2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16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print</a:t>
            </a:r>
            <a:endParaRPr sz="2300" dirty="0">
              <a:latin typeface="Segoe Print"/>
              <a:ea typeface="Segoe Print"/>
              <a:cs typeface="Segoe Print"/>
            </a:endParaRPr>
          </a:p>
          <a:p>
            <a:pPr marL="190500" algn="l" rtl="0" eaLnBrk="0">
              <a:lnSpc>
                <a:spcPct val="86000"/>
              </a:lnSpc>
              <a:spcBef>
                <a:spcPts val="21"/>
              </a:spcBef>
              <a:tabLst/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7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查找具有特殊属性的文件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，并将名字保存到文件中。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34290" indent="-1905" algn="l" rtl="0" eaLnBrk="0">
              <a:lnSpc>
                <a:spcPct val="100000"/>
              </a:lnSpc>
              <a:spcBef>
                <a:spcPts val="607"/>
              </a:spcBef>
              <a:tabLst/>
            </a:pP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find  </a:t>
            </a:r>
            <a:r>
              <a:rPr sz="2300" b="1" kern="0" spc="1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 \( -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perm</a:t>
            </a:r>
            <a:r>
              <a:rPr sz="2300" b="1" kern="0" spc="1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-4000</a:t>
            </a:r>
            <a:r>
              <a:rPr sz="2300" b="1" kern="0" spc="2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1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fprintf</a:t>
            </a:r>
            <a:r>
              <a:rPr sz="2300" b="1" kern="0" spc="-2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1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root</a:t>
            </a:r>
            <a:r>
              <a:rPr sz="2300" b="1" kern="0" spc="1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suid</a:t>
            </a:r>
            <a:r>
              <a:rPr sz="2300" b="1" kern="0" spc="1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.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txt</a:t>
            </a:r>
            <a:r>
              <a:rPr sz="2300" b="1" kern="0" spc="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1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"%m</a:t>
            </a:r>
            <a:r>
              <a:rPr sz="2300" b="1" kern="0" spc="1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1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%u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9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%p\n" \) , \\( -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size</a:t>
            </a:r>
            <a:r>
              <a:rPr sz="2300" b="1" kern="0" spc="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+100M</a:t>
            </a:r>
            <a:r>
              <a:rPr sz="2300" b="1" kern="0" spc="2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fprintf</a:t>
            </a:r>
            <a:r>
              <a:rPr sz="2300" b="1" kern="0" spc="-2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root</a:t>
            </a:r>
            <a:r>
              <a:rPr sz="2300" b="1" kern="0" spc="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big</a:t>
            </a:r>
            <a:r>
              <a:rPr sz="2300" b="1" kern="0" spc="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.</a:t>
            </a:r>
            <a:r>
              <a:rPr sz="23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txt</a:t>
            </a:r>
            <a:r>
              <a:rPr sz="2300" b="1" kern="0" spc="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"%-</a:t>
            </a:r>
            <a:endParaRPr sz="2300" dirty="0">
              <a:latin typeface="Segoe Print"/>
              <a:ea typeface="Segoe Print"/>
              <a:cs typeface="Segoe Print"/>
            </a:endParaRPr>
          </a:p>
          <a:p>
            <a:pPr marL="40640" algn="l" rtl="0" eaLnBrk="0">
              <a:lnSpc>
                <a:spcPct val="99000"/>
              </a:lnSpc>
              <a:spcBef>
                <a:spcPts val="384"/>
              </a:spcBef>
              <a:tabLst/>
            </a:pPr>
            <a:r>
              <a:rPr sz="2300" b="1" kern="0" spc="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10s</a:t>
            </a:r>
            <a:r>
              <a:rPr sz="2300" b="1" kern="0" spc="2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%p\n" \)</a:t>
            </a:r>
            <a:endParaRPr sz="2300" dirty="0">
              <a:latin typeface="Segoe Print"/>
              <a:ea typeface="Segoe Print"/>
              <a:cs typeface="Segoe Print"/>
            </a:endParaRPr>
          </a:p>
          <a:p>
            <a:pPr marL="30480" indent="-7620" algn="l" rtl="0" eaLnBrk="0">
              <a:lnSpc>
                <a:spcPct val="100000"/>
              </a:lnSpc>
              <a:spcBef>
                <a:spcPts val="2"/>
              </a:spcBef>
              <a:tabLst/>
            </a:pP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##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suid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属性文件保存到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root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suid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.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txt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，长度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&gt;=100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MB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者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保存到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root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big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.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txt</a:t>
            </a:r>
            <a:endParaRPr sz="2300" dirty="0">
              <a:latin typeface="Segoe Print"/>
              <a:ea typeface="Segoe Print"/>
              <a:cs typeface="Segoe Print"/>
            </a:endParaRPr>
          </a:p>
        </p:txBody>
      </p:sp>
      <p:sp>
        <p:nvSpPr>
          <p:cNvPr id="1310" name="textbox 1310"/>
          <p:cNvSpPr/>
          <p:nvPr/>
        </p:nvSpPr>
        <p:spPr>
          <a:xfrm>
            <a:off x="108291" y="-147661"/>
            <a:ext cx="7810500" cy="583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5.4.1</a:t>
            </a:r>
            <a:r>
              <a:rPr sz="3900" b="1" kern="0" spc="3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文件综合查找命令（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find</a:t>
            </a:r>
            <a:r>
              <a:rPr sz="3900" b="1" kern="0" spc="-22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900" dirty="0">
              <a:latin typeface="STXinwei"/>
              <a:ea typeface="STXinwei"/>
              <a:cs typeface="STXinwei"/>
            </a:endParaRPr>
          </a:p>
        </p:txBody>
      </p:sp>
      <p:sp>
        <p:nvSpPr>
          <p:cNvPr id="1312" name="textbox 131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314" name="picture 13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pic>
        <p:nvPicPr>
          <p:cNvPr id="1316" name="picture 13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775017"/>
            <a:ext cx="191135" cy="209550"/>
          </a:xfrm>
          <a:prstGeom prst="rect">
            <a:avLst/>
          </a:prstGeom>
        </p:spPr>
      </p:pic>
      <p:pic>
        <p:nvPicPr>
          <p:cNvPr id="1318" name="picture 13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171257"/>
            <a:ext cx="191135" cy="209550"/>
          </a:xfrm>
          <a:prstGeom prst="rect">
            <a:avLst/>
          </a:prstGeom>
        </p:spPr>
      </p:pic>
      <p:pic>
        <p:nvPicPr>
          <p:cNvPr id="1320" name="picture 13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902777"/>
            <a:ext cx="191135" cy="209550"/>
          </a:xfrm>
          <a:prstGeom prst="rect">
            <a:avLst/>
          </a:prstGeom>
        </p:spPr>
      </p:pic>
      <p:pic>
        <p:nvPicPr>
          <p:cNvPr id="1322" name="picture 13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2665412"/>
            <a:ext cx="191135" cy="209550"/>
          </a:xfrm>
          <a:prstGeom prst="rect">
            <a:avLst/>
          </a:prstGeom>
        </p:spPr>
      </p:pic>
      <p:pic>
        <p:nvPicPr>
          <p:cNvPr id="1324" name="picture 1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3061017"/>
            <a:ext cx="191135" cy="209550"/>
          </a:xfrm>
          <a:prstGeom prst="rect">
            <a:avLst/>
          </a:prstGeom>
        </p:spPr>
      </p:pic>
      <p:pic>
        <p:nvPicPr>
          <p:cNvPr id="1326" name="picture 13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3457257"/>
            <a:ext cx="191135" cy="209550"/>
          </a:xfrm>
          <a:prstGeom prst="rect">
            <a:avLst/>
          </a:prstGeom>
        </p:spPr>
      </p:pic>
      <p:pic>
        <p:nvPicPr>
          <p:cNvPr id="1328" name="picture 13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3853497"/>
            <a:ext cx="191135" cy="209550"/>
          </a:xfrm>
          <a:prstGeom prst="rect">
            <a:avLst/>
          </a:prstGeom>
        </p:spPr>
      </p:pic>
      <p:pic>
        <p:nvPicPr>
          <p:cNvPr id="1330" name="picture 13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4950777"/>
            <a:ext cx="19113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textbox 1332"/>
          <p:cNvSpPr/>
          <p:nvPr/>
        </p:nvSpPr>
        <p:spPr>
          <a:xfrm>
            <a:off x="539572" y="701599"/>
            <a:ext cx="8482330" cy="4739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86000"/>
              </a:lnSpc>
              <a:tabLst/>
            </a:pP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．功能及用法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14604" indent="14604" algn="l" rtl="0" eaLnBrk="0">
              <a:lnSpc>
                <a:spcPct val="90000"/>
              </a:lnSpc>
              <a:spcBef>
                <a:spcPts val="553"/>
              </a:spcBef>
              <a:tabLst/>
            </a:pP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ln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的功能是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链接管理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，可用于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创建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文件的</a:t>
            </a:r>
            <a:r>
              <a:rPr sz="32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硬链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接和符号链接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。其用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法为：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25400" algn="l" rtl="0" eaLnBrk="0">
              <a:lnSpc>
                <a:spcPct val="99000"/>
              </a:lnSpc>
              <a:spcBef>
                <a:spcPts val="735"/>
              </a:spcBef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ln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[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options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] ...</a:t>
            </a:r>
            <a:r>
              <a:rPr sz="2700" b="1" kern="0" spc="2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[-T]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target</a:t>
            </a: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link</a:t>
            </a:r>
            <a:r>
              <a:rPr sz="2700" b="1" kern="0" spc="-9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name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（格式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ln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[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options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]</a:t>
            </a:r>
            <a:r>
              <a:rPr sz="2700" b="1" kern="0" spc="2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...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target</a:t>
            </a:r>
            <a:r>
              <a:rPr sz="2700" b="1" kern="0" spc="1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 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（格式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29209" algn="l" rtl="0" eaLnBrk="0">
              <a:lnSpc>
                <a:spcPct val="99000"/>
              </a:lnSpc>
              <a:spcBef>
                <a:spcPts val="353"/>
              </a:spcBef>
              <a:tabLst/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ln [options] ... target</a:t>
            </a:r>
            <a:r>
              <a:rPr sz="3200" b="1" kern="0" spc="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...</a:t>
            </a:r>
            <a:r>
              <a:rPr sz="32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dir</a:t>
            </a:r>
            <a:r>
              <a:rPr sz="3200" b="1" kern="0" spc="1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（格式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ln [options] ...</a:t>
            </a:r>
            <a:r>
              <a:rPr sz="3200" b="1" kern="0" spc="3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-t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dir target...</a:t>
            </a:r>
            <a:r>
              <a:rPr sz="3200" b="1" kern="0" spc="-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（格式</a:t>
            </a:r>
            <a:r>
              <a:rPr sz="2300" b="1" kern="0" spc="-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4</a:t>
            </a:r>
            <a:r>
              <a:rPr sz="23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17145" indent="-4444" algn="l" rtl="0" eaLnBrk="0">
              <a:lnSpc>
                <a:spcPct val="99000"/>
              </a:lnSpc>
              <a:spcBef>
                <a:spcPts val="9"/>
              </a:spcBef>
              <a:tabLst/>
            </a:pP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第一种格式用于创建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一个指向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target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的链接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link</a:t>
            </a:r>
            <a:r>
              <a:rPr sz="2300" b="1" kern="0" spc="-8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name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，或在当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前目录创建一个指向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target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的同名链接；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100000"/>
              </a:lnSpc>
              <a:spcBef>
                <a:spcPts val="241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第二种格式用于在当前目录内容创建一个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target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同名的链接；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第三种和第四种格式用于在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dir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内创建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target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的同名链接。</a:t>
            </a:r>
            <a:endParaRPr sz="2300" dirty="0">
              <a:latin typeface="SimSun"/>
              <a:ea typeface="SimSun"/>
              <a:cs typeface="SimSun"/>
            </a:endParaRPr>
          </a:p>
        </p:txBody>
      </p:sp>
      <p:sp>
        <p:nvSpPr>
          <p:cNvPr id="1334" name="textbox 1334"/>
          <p:cNvSpPr/>
          <p:nvPr/>
        </p:nvSpPr>
        <p:spPr>
          <a:xfrm>
            <a:off x="105181" y="-99745"/>
            <a:ext cx="5645150" cy="516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6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tabLst/>
            </a:pP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5.4.2  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链接管理命令（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ln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1336" name="textbox 133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338" name="picture 13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pic>
        <p:nvPicPr>
          <p:cNvPr id="1340" name="picture 13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770572"/>
            <a:ext cx="279400" cy="279400"/>
          </a:xfrm>
          <a:prstGeom prst="rect">
            <a:avLst/>
          </a:prstGeom>
        </p:spPr>
      </p:pic>
      <p:pic>
        <p:nvPicPr>
          <p:cNvPr id="1342" name="picture 13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1258252"/>
            <a:ext cx="279400" cy="279400"/>
          </a:xfrm>
          <a:prstGeom prst="rect">
            <a:avLst/>
          </a:prstGeom>
        </p:spPr>
      </p:pic>
      <p:pic>
        <p:nvPicPr>
          <p:cNvPr id="1344" name="picture 13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3087052"/>
            <a:ext cx="279400" cy="279400"/>
          </a:xfrm>
          <a:prstGeom prst="rect">
            <a:avLst/>
          </a:prstGeom>
        </p:spPr>
      </p:pic>
      <p:pic>
        <p:nvPicPr>
          <p:cNvPr id="1346" name="picture 13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3574732"/>
            <a:ext cx="279400" cy="279400"/>
          </a:xfrm>
          <a:prstGeom prst="rect">
            <a:avLst/>
          </a:prstGeom>
        </p:spPr>
      </p:pic>
      <p:pic>
        <p:nvPicPr>
          <p:cNvPr id="1348" name="picture 13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9535" y="2220912"/>
            <a:ext cx="243840" cy="244475"/>
          </a:xfrm>
          <a:prstGeom prst="rect">
            <a:avLst/>
          </a:prstGeom>
        </p:spPr>
      </p:pic>
      <p:pic>
        <p:nvPicPr>
          <p:cNvPr id="1350" name="picture 13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9535" y="2647632"/>
            <a:ext cx="243840" cy="244475"/>
          </a:xfrm>
          <a:prstGeom prst="rect">
            <a:avLst/>
          </a:prstGeom>
        </p:spPr>
      </p:pic>
      <p:pic>
        <p:nvPicPr>
          <p:cNvPr id="1352" name="picture 13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9535" y="4036377"/>
            <a:ext cx="209550" cy="209550"/>
          </a:xfrm>
          <a:prstGeom prst="rect">
            <a:avLst/>
          </a:prstGeom>
        </p:spPr>
      </p:pic>
      <p:pic>
        <p:nvPicPr>
          <p:cNvPr id="1354" name="picture 13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9535" y="4767897"/>
            <a:ext cx="209550" cy="209550"/>
          </a:xfrm>
          <a:prstGeom prst="rect">
            <a:avLst/>
          </a:prstGeom>
        </p:spPr>
      </p:pic>
      <p:pic>
        <p:nvPicPr>
          <p:cNvPr id="1356" name="picture 13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9535" y="5133657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8" name="table 1358"/>
          <p:cNvGraphicFramePr>
            <a:graphicFrameLocks noGrp="1"/>
          </p:cNvGraphicFramePr>
          <p:nvPr/>
        </p:nvGraphicFramePr>
        <p:xfrm>
          <a:off x="28575" y="1046162"/>
          <a:ext cx="9114790" cy="2533015"/>
        </p:xfrm>
        <a:graphic>
          <a:graphicData uri="http://schemas.openxmlformats.org/drawingml/2006/table">
            <a:tbl>
              <a:tblPr/>
              <a:tblGrid>
                <a:gridCol w="887730"/>
                <a:gridCol w="3471545"/>
                <a:gridCol w="1158875"/>
                <a:gridCol w="3596640"/>
              </a:tblGrid>
              <a:tr h="4267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93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参数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855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23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参数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205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23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01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24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-f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4" indent="-1714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强行操作，删除已经存在</a:t>
                      </a:r>
                      <a:r>
                        <a:rPr sz="2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的同名文件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339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-i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indent="1397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当链接名已经存在时，交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互或提示用户是否删除它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01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7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3534" algn="l" rtl="0" eaLnBrk="0">
                        <a:lnSpc>
                          <a:spcPts val="1363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-s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indent="-63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创建符号链接，若不指定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此选项则创建硬链接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0850" algn="l" rtl="0" eaLnBrk="0">
                        <a:lnSpc>
                          <a:spcPct val="6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-b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indent="8254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启用备份。文件重名时，</a:t>
                      </a:r>
                      <a:r>
                        <a:rPr sz="23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name</a:t>
                      </a:r>
                      <a:r>
                        <a:rPr sz="23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备份为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name</a:t>
                      </a:r>
                      <a:r>
                        <a:rPr sz="23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~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79" algn="l" rtl="0" eaLnBrk="0">
                        <a:lnSpc>
                          <a:spcPct val="7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3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23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指定目标目录为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ct val="7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3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sz="23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target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9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指定目标文件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target</a:t>
                      </a:r>
                      <a:endParaRPr sz="23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60" name="textbox 1360"/>
          <p:cNvSpPr/>
          <p:nvPr/>
        </p:nvSpPr>
        <p:spPr>
          <a:xfrm>
            <a:off x="111760" y="3660470"/>
            <a:ext cx="8508365" cy="268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7025" algn="l" rtl="0" eaLnBrk="0">
              <a:lnSpc>
                <a:spcPct val="86000"/>
              </a:lnSpc>
              <a:tabLst>
                <a:tab pos="48958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．文件的链接示例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568325" indent="-241300" algn="l" rtl="0" eaLnBrk="0">
              <a:lnSpc>
                <a:spcPct val="99000"/>
              </a:lnSpc>
              <a:spcBef>
                <a:spcPts val="676"/>
              </a:spcBef>
              <a:tabLst>
                <a:tab pos="47053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ln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-s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tmp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myf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my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_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link</a:t>
            </a:r>
            <a:r>
              <a:rPr sz="3500" b="1" kern="0" spc="13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在当前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目录内建立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tmp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myf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的符号链接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92759" algn="l" rtl="0" eaLnBrk="0">
              <a:lnSpc>
                <a:spcPct val="98000"/>
              </a:lnSpc>
              <a:spcBef>
                <a:spcPts val="430"/>
              </a:spcBef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my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_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link</a:t>
            </a:r>
            <a:endParaRPr sz="3500" dirty="0">
              <a:latin typeface="Segoe Print"/>
              <a:ea typeface="Segoe Print"/>
              <a:cs typeface="Segoe Print"/>
            </a:endParaRPr>
          </a:p>
          <a:p>
            <a:pPr marL="327025" algn="l" rtl="0" eaLnBrk="0">
              <a:lnSpc>
                <a:spcPct val="89000"/>
              </a:lnSpc>
              <a:spcBef>
                <a:spcPts val="90"/>
              </a:spcBef>
              <a:tabLst>
                <a:tab pos="47053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ln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bin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ls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usr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bin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/l</a:t>
            </a:r>
            <a:r>
              <a:rPr sz="3500" b="1" kern="0" spc="2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 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在目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录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362" name="picture 13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5930265"/>
            <a:ext cx="314325" cy="314325"/>
          </a:xfrm>
          <a:prstGeom prst="rect">
            <a:avLst/>
          </a:prstGeom>
        </p:spPr>
      </p:pic>
      <p:pic>
        <p:nvPicPr>
          <p:cNvPr id="1364" name="picture 13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4284345"/>
            <a:ext cx="314325" cy="314325"/>
          </a:xfrm>
          <a:prstGeom prst="rect">
            <a:avLst/>
          </a:prstGeom>
        </p:spPr>
      </p:pic>
      <p:pic>
        <p:nvPicPr>
          <p:cNvPr id="1366" name="picture 13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3735704"/>
            <a:ext cx="314325" cy="314325"/>
          </a:xfrm>
          <a:prstGeom prst="rect">
            <a:avLst/>
          </a:prstGeom>
        </p:spPr>
      </p:pic>
      <p:sp>
        <p:nvSpPr>
          <p:cNvPr id="1368" name="textbox 1368"/>
          <p:cNvSpPr/>
          <p:nvPr/>
        </p:nvSpPr>
        <p:spPr>
          <a:xfrm>
            <a:off x="80543" y="6398183"/>
            <a:ext cx="8985250" cy="487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596"/>
              </a:lnSpc>
              <a:tabLst/>
            </a:pPr>
            <a:r>
              <a:rPr sz="1800" b="1" kern="0" spc="-90" baseline="22382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800" b="1" kern="0" spc="-90" baseline="22382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</a:t>
            </a:r>
            <a:r>
              <a:rPr sz="1100" b="1" kern="0" spc="-9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2400" b="1" kern="0" spc="-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1100" b="1" kern="0" spc="-9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ux</a:t>
            </a:r>
            <a:r>
              <a:rPr sz="2400" b="1" kern="0" spc="-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u</a:t>
            </a:r>
            <a:r>
              <a:rPr sz="1100" b="1" kern="0" spc="-9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2400" b="1" kern="0" spc="-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</a:t>
            </a:r>
            <a:r>
              <a:rPr sz="1800" b="1" kern="0" spc="-100" baseline="22382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</a:t>
            </a:r>
            <a:r>
              <a:rPr sz="2400" b="1" kern="0" spc="1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r</a:t>
            </a:r>
            <a:r>
              <a:rPr sz="1100" b="1" kern="0" spc="-69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</a:t>
            </a:r>
            <a:r>
              <a:rPr sz="24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1100" b="1" kern="0" spc="-1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安</a:t>
            </a:r>
            <a:r>
              <a:rPr sz="11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</a:t>
            </a:r>
            <a:r>
              <a:rPr sz="2400" b="1" kern="0" spc="-1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n</a:t>
            </a:r>
            <a:r>
              <a:rPr sz="1800" b="1" kern="0" spc="-110" baseline="22382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</a:t>
            </a:r>
            <a:r>
              <a:rPr sz="1100" kern="0" spc="-1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</a:t>
            </a:r>
            <a:r>
              <a:rPr sz="1800" b="1" kern="0" spc="-110" baseline="22382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工</a:t>
            </a:r>
            <a:r>
              <a:rPr sz="11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</a:t>
            </a:r>
            <a:r>
              <a:rPr sz="1100" b="1" kern="0" spc="-1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大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/</a:t>
            </a:r>
            <a:r>
              <a:rPr sz="1100" b="1" kern="0" spc="-6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学</a:t>
            </a:r>
            <a:r>
              <a:rPr sz="11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</a:t>
            </a:r>
            <a:r>
              <a:rPr sz="2400" b="1" kern="0" spc="-1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n</a:t>
            </a:r>
            <a:r>
              <a:rPr sz="1100" b="1" kern="0" spc="-7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软</a:t>
            </a:r>
            <a:r>
              <a:rPr sz="11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</a:t>
            </a:r>
            <a:r>
              <a:rPr sz="2400" b="1" kern="0" spc="-4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s</a:t>
            </a:r>
            <a:r>
              <a:rPr sz="1100" b="1" kern="0" spc="-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院</a:t>
            </a: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</a:t>
            </a:r>
            <a:r>
              <a:rPr sz="1100" b="1" kern="0" spc="-7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100" b="1" kern="0" spc="-7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建</a:t>
            </a:r>
            <a:r>
              <a:rPr sz="1800" b="1" kern="0" spc="-70" baseline="22382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23</a:t>
            </a:r>
            <a:r>
              <a:rPr sz="1800" b="1" kern="0" spc="-70" baseline="22382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100" kern="0" spc="-7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</a:t>
            </a:r>
            <a:r>
              <a:rPr sz="11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</a:t>
            </a:r>
            <a:r>
              <a:rPr sz="1800" b="1" kern="0" spc="-80" baseline="22382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1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</a:t>
            </a:r>
            <a:r>
              <a:rPr sz="1100" b="1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硬</a:t>
            </a:r>
            <a:r>
              <a:rPr sz="1100" b="1" kern="0" spc="-5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2400" b="1" kern="0" spc="5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链</a:t>
            </a:r>
            <a:r>
              <a:rPr sz="1800" b="1" kern="0" spc="-1190" baseline="1080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2400" b="1" kern="0" spc="5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接</a:t>
            </a:r>
            <a:r>
              <a:rPr sz="2400" b="1" kern="0" spc="54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</a:t>
            </a:r>
            <a:r>
              <a:rPr sz="1800" kern="0" spc="540" baseline="3395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1800" b="1" kern="0" spc="540" baseline="3395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64</a:t>
            </a:r>
            <a:r>
              <a:rPr sz="1800" kern="0" spc="540" baseline="3395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1800" baseline="3395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370" name="picture 13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34397" y="6416369"/>
            <a:ext cx="439369" cy="441630"/>
          </a:xfrm>
          <a:prstGeom prst="rect">
            <a:avLst/>
          </a:prstGeom>
        </p:spPr>
      </p:pic>
      <p:pic>
        <p:nvPicPr>
          <p:cNvPr id="1372" name="picture 13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32138" y="6587819"/>
            <a:ext cx="432053" cy="188875"/>
          </a:xfrm>
          <a:prstGeom prst="rect">
            <a:avLst/>
          </a:prstGeom>
        </p:spPr>
      </p:pic>
      <p:pic>
        <p:nvPicPr>
          <p:cNvPr id="1374" name="picture 13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662777" y="6425513"/>
            <a:ext cx="213918" cy="402616"/>
          </a:xfrm>
          <a:prstGeom prst="rect">
            <a:avLst/>
          </a:prstGeom>
        </p:spPr>
      </p:pic>
      <p:pic>
        <p:nvPicPr>
          <p:cNvPr id="1376" name="picture 13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359373" y="6450202"/>
            <a:ext cx="288087" cy="388162"/>
          </a:xfrm>
          <a:prstGeom prst="rect">
            <a:avLst/>
          </a:prstGeom>
        </p:spPr>
      </p:pic>
      <p:pic>
        <p:nvPicPr>
          <p:cNvPr id="1378" name="picture 13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956748" y="6441973"/>
            <a:ext cx="228117" cy="386157"/>
          </a:xfrm>
          <a:prstGeom prst="rect">
            <a:avLst/>
          </a:prstGeom>
        </p:spPr>
      </p:pic>
      <p:pic>
        <p:nvPicPr>
          <p:cNvPr id="1380" name="picture 138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690403" y="6410883"/>
            <a:ext cx="265227" cy="400964"/>
          </a:xfrm>
          <a:prstGeom prst="rect">
            <a:avLst/>
          </a:prstGeom>
        </p:spPr>
      </p:pic>
      <p:pic>
        <p:nvPicPr>
          <p:cNvPr id="1382" name="picture 138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941357" y="6416369"/>
            <a:ext cx="433882" cy="441630"/>
          </a:xfrm>
          <a:prstGeom prst="rect">
            <a:avLst/>
          </a:prstGeom>
        </p:spPr>
      </p:pic>
      <p:pic>
        <p:nvPicPr>
          <p:cNvPr id="1384" name="picture 138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591141" y="6416369"/>
            <a:ext cx="384048" cy="441630"/>
          </a:xfrm>
          <a:prstGeom prst="rect">
            <a:avLst/>
          </a:prstGeom>
        </p:spPr>
      </p:pic>
      <p:pic>
        <p:nvPicPr>
          <p:cNvPr id="1386" name="picture 138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167178" y="6441973"/>
            <a:ext cx="126161" cy="386157"/>
          </a:xfrm>
          <a:prstGeom prst="rect">
            <a:avLst/>
          </a:prstGeom>
        </p:spPr>
      </p:pic>
      <p:pic>
        <p:nvPicPr>
          <p:cNvPr id="1388" name="picture 138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904466" y="6410883"/>
            <a:ext cx="248361" cy="400964"/>
          </a:xfrm>
          <a:prstGeom prst="rect">
            <a:avLst/>
          </a:prstGeom>
        </p:spPr>
      </p:pic>
      <p:sp>
        <p:nvSpPr>
          <p:cNvPr id="1390" name="textbox 1390"/>
          <p:cNvSpPr/>
          <p:nvPr/>
        </p:nvSpPr>
        <p:spPr>
          <a:xfrm>
            <a:off x="105181" y="-99745"/>
            <a:ext cx="5645150" cy="516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6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tabLst/>
            </a:pP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5.4.2  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链接管理命令（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ln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392" name="picture 139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sp>
        <p:nvSpPr>
          <p:cNvPr id="1394" name="textbox 1394"/>
          <p:cNvSpPr/>
          <p:nvPr/>
        </p:nvSpPr>
        <p:spPr>
          <a:xfrm>
            <a:off x="111760" y="533196"/>
            <a:ext cx="3145789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0" algn="l" rtl="0" eaLnBrk="0">
              <a:lnSpc>
                <a:spcPct val="87000"/>
              </a:lnSpc>
              <a:tabLst>
                <a:tab pos="470534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．部分参数及说明</a:t>
            </a:r>
            <a:endParaRPr sz="2300" dirty="0">
              <a:latin typeface="SimSun"/>
              <a:ea typeface="SimSun"/>
              <a:cs typeface="SimSun"/>
            </a:endParaRPr>
          </a:p>
        </p:txBody>
      </p:sp>
      <p:pic>
        <p:nvPicPr>
          <p:cNvPr id="1396" name="picture 139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24460" y="587375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textbox 1398"/>
          <p:cNvSpPr/>
          <p:nvPr/>
        </p:nvSpPr>
        <p:spPr>
          <a:xfrm>
            <a:off x="579952" y="648475"/>
            <a:ext cx="8440419" cy="4588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1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194" algn="l" rtl="0" eaLnBrk="0">
              <a:lnSpc>
                <a:spcPct val="86000"/>
              </a:lnSpc>
              <a:tabLst/>
            </a:pPr>
            <a:r>
              <a:rPr sz="4400" b="1" kern="0" spc="-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44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．功能及用法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19050" indent="-6350" algn="l" rtl="0" eaLnBrk="0">
              <a:lnSpc>
                <a:spcPct val="94000"/>
              </a:lnSpc>
              <a:spcBef>
                <a:spcPts val="644"/>
              </a:spcBef>
              <a:tabLst/>
            </a:pP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df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的功能是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按指定格式显示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已安装文件系统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情况。其用</a:t>
            </a:r>
            <a:r>
              <a:rPr sz="44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法为：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1018"/>
              </a:spcBef>
              <a:tabLst/>
            </a:pP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df [ options ] [</a:t>
            </a:r>
            <a:r>
              <a:rPr sz="4400" b="1" kern="0" spc="13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filesyst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em ]</a:t>
            </a:r>
            <a:endParaRPr sz="4400" dirty="0">
              <a:latin typeface="Segoe Print"/>
              <a:ea typeface="Segoe Print"/>
              <a:cs typeface="Segoe Print"/>
            </a:endParaRPr>
          </a:p>
          <a:p>
            <a:pPr marL="19050" algn="l" rtl="0" eaLnBrk="0">
              <a:lnSpc>
                <a:spcPct val="90000"/>
              </a:lnSpc>
              <a:spcBef>
                <a:spcPts val="93"/>
              </a:spcBef>
              <a:tabLst/>
            </a:pP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若不指定文件系统，则显示系统所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有已安装文件系统的使用情况。</a:t>
            </a:r>
            <a:endParaRPr sz="4400" dirty="0">
              <a:latin typeface="SimSun"/>
              <a:ea typeface="SimSun"/>
              <a:cs typeface="SimSun"/>
            </a:endParaRPr>
          </a:p>
        </p:txBody>
      </p:sp>
      <p:sp>
        <p:nvSpPr>
          <p:cNvPr id="1400" name="textbox 1400"/>
          <p:cNvSpPr/>
          <p:nvPr/>
        </p:nvSpPr>
        <p:spPr>
          <a:xfrm>
            <a:off x="98842" y="-34554"/>
            <a:ext cx="7988300" cy="415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5.4.3  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磁盘空间和文件系统的使用情况统计（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df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2700" dirty="0">
              <a:latin typeface="STXinwei"/>
              <a:ea typeface="STXinwei"/>
              <a:cs typeface="STXinwei"/>
            </a:endParaRPr>
          </a:p>
        </p:txBody>
      </p:sp>
      <p:sp>
        <p:nvSpPr>
          <p:cNvPr id="1402" name="textbox 140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404" name="picture 14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pic>
        <p:nvPicPr>
          <p:cNvPr id="1406" name="picture 14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738504"/>
            <a:ext cx="383540" cy="384175"/>
          </a:xfrm>
          <a:prstGeom prst="rect">
            <a:avLst/>
          </a:prstGeom>
        </p:spPr>
      </p:pic>
      <p:pic>
        <p:nvPicPr>
          <p:cNvPr id="1408" name="picture 14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1409065"/>
            <a:ext cx="383540" cy="384175"/>
          </a:xfrm>
          <a:prstGeom prst="rect">
            <a:avLst/>
          </a:prstGeom>
        </p:spPr>
      </p:pic>
      <p:pic>
        <p:nvPicPr>
          <p:cNvPr id="1410" name="picture 14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3420745"/>
            <a:ext cx="383540" cy="384175"/>
          </a:xfrm>
          <a:prstGeom prst="rect">
            <a:avLst/>
          </a:prstGeom>
        </p:spPr>
      </p:pic>
      <p:pic>
        <p:nvPicPr>
          <p:cNvPr id="1412" name="picture 14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4091304"/>
            <a:ext cx="383540" cy="384175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4" name="table 1414"/>
          <p:cNvGraphicFramePr>
            <a:graphicFrameLocks noGrp="1"/>
          </p:cNvGraphicFramePr>
          <p:nvPr/>
        </p:nvGraphicFramePr>
        <p:xfrm>
          <a:off x="28575" y="974725"/>
          <a:ext cx="9115424" cy="2903220"/>
        </p:xfrm>
        <a:graphic>
          <a:graphicData uri="http://schemas.openxmlformats.org/drawingml/2006/table">
            <a:tbl>
              <a:tblPr/>
              <a:tblGrid>
                <a:gridCol w="1146175"/>
                <a:gridCol w="3375025"/>
                <a:gridCol w="948055"/>
                <a:gridCol w="3646169"/>
              </a:tblGrid>
              <a:tr h="7264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384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参数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029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23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161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参数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2618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23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4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8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6244" algn="l" rtl="0" eaLnBrk="0">
                        <a:lnSpc>
                          <a:spcPts val="1594"/>
                        </a:lnSpc>
                        <a:tabLst/>
                      </a:pP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-a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895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显示所有文件系统信息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33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27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-i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832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inode</a:t>
                      </a:r>
                      <a:r>
                        <a:rPr sz="23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使用情况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4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9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3995" algn="l" rtl="0" eaLnBrk="0">
                        <a:lnSpc>
                          <a:spcPct val="69000"/>
                        </a:lnSpc>
                        <a:tabLst/>
                      </a:pP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-B</a:t>
                      </a:r>
                      <a:r>
                        <a:rPr sz="27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sz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1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422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指定显示单位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6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7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-k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791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</a:t>
                      </a: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为单位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8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3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6719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-h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5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按人类易读方式显示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4009" algn="l" rtl="0" eaLnBrk="0">
                        <a:lnSpc>
                          <a:spcPts val="157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-v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542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以百分比方式显示相关信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694814" algn="l" rtl="0" eaLnBrk="0">
                        <a:lnSpc>
                          <a:spcPct val="87000"/>
                        </a:lnSpc>
                        <a:spcBef>
                          <a:spcPts val="479"/>
                        </a:spcBef>
                        <a:tabLst/>
                      </a:pPr>
                      <a:r>
                        <a:rPr sz="23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息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16" name="textbox 1416"/>
          <p:cNvSpPr/>
          <p:nvPr/>
        </p:nvSpPr>
        <p:spPr>
          <a:xfrm>
            <a:off x="111760" y="3929074"/>
            <a:ext cx="8265794" cy="1593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6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7025" algn="l" rtl="0" eaLnBrk="0">
              <a:lnSpc>
                <a:spcPct val="86000"/>
              </a:lnSpc>
              <a:tabLst>
                <a:tab pos="48958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3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．示例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8000"/>
              </a:lnSpc>
              <a:spcBef>
                <a:spcPts val="729"/>
              </a:spcBef>
              <a:tabLst>
                <a:tab pos="47053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df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-v</a:t>
            </a:r>
            <a:r>
              <a:rPr sz="3500" b="1" kern="0" spc="39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 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显示文件系统的使用情况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8000"/>
              </a:lnSpc>
              <a:spcBef>
                <a:spcPts val="624"/>
              </a:spcBef>
              <a:tabLst>
                <a:tab pos="47053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df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-i    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#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显示系统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i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节点的使用情况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418" name="picture 14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5101589"/>
            <a:ext cx="314325" cy="314325"/>
          </a:xfrm>
          <a:prstGeom prst="rect">
            <a:avLst/>
          </a:prstGeom>
        </p:spPr>
      </p:pic>
      <p:pic>
        <p:nvPicPr>
          <p:cNvPr id="1420" name="picture 14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4552950"/>
            <a:ext cx="314325" cy="314325"/>
          </a:xfrm>
          <a:prstGeom prst="rect">
            <a:avLst/>
          </a:prstGeom>
        </p:spPr>
      </p:pic>
      <p:pic>
        <p:nvPicPr>
          <p:cNvPr id="1422" name="picture 14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4004309"/>
            <a:ext cx="314325" cy="314325"/>
          </a:xfrm>
          <a:prstGeom prst="rect">
            <a:avLst/>
          </a:prstGeom>
        </p:spPr>
      </p:pic>
      <p:sp>
        <p:nvSpPr>
          <p:cNvPr id="1424" name="textbox 1424"/>
          <p:cNvSpPr/>
          <p:nvPr/>
        </p:nvSpPr>
        <p:spPr>
          <a:xfrm>
            <a:off x="98842" y="-34554"/>
            <a:ext cx="7988300" cy="415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5.4.3  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磁盘空间和文件系统的使用情况统计（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df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2700" dirty="0">
              <a:latin typeface="STXinwei"/>
              <a:ea typeface="STXinwei"/>
              <a:cs typeface="STXinwei"/>
            </a:endParaRPr>
          </a:p>
        </p:txBody>
      </p:sp>
      <p:sp>
        <p:nvSpPr>
          <p:cNvPr id="1426" name="textbox 142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1428" name="textbox 1428"/>
          <p:cNvSpPr/>
          <p:nvPr/>
        </p:nvSpPr>
        <p:spPr>
          <a:xfrm>
            <a:off x="111760" y="618921"/>
            <a:ext cx="2533650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0" algn="l" rtl="0" eaLnBrk="0">
              <a:lnSpc>
                <a:spcPct val="87000"/>
              </a:lnSpc>
              <a:tabLst>
                <a:tab pos="470534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．参数及说明</a:t>
            </a:r>
            <a:endParaRPr sz="2300" dirty="0">
              <a:latin typeface="SimSun"/>
              <a:ea typeface="SimSun"/>
              <a:cs typeface="SimSun"/>
            </a:endParaRPr>
          </a:p>
        </p:txBody>
      </p:sp>
      <p:pic>
        <p:nvPicPr>
          <p:cNvPr id="1430" name="picture 14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673100"/>
            <a:ext cx="209550" cy="209550"/>
          </a:xfrm>
          <a:prstGeom prst="rect">
            <a:avLst/>
          </a:prstGeom>
        </p:spPr>
      </p:pic>
      <p:pic>
        <p:nvPicPr>
          <p:cNvPr id="1432" name="picture 14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4" name="table 1434"/>
          <p:cNvGraphicFramePr>
            <a:graphicFrameLocks noGrp="1"/>
          </p:cNvGraphicFramePr>
          <p:nvPr/>
        </p:nvGraphicFramePr>
        <p:xfrm>
          <a:off x="28575" y="3206750"/>
          <a:ext cx="9086215" cy="3180715"/>
        </p:xfrm>
        <a:graphic>
          <a:graphicData uri="http://schemas.openxmlformats.org/drawingml/2006/table">
            <a:tbl>
              <a:tblPr/>
              <a:tblGrid>
                <a:gridCol w="935989"/>
                <a:gridCol w="3118485"/>
                <a:gridCol w="988060"/>
                <a:gridCol w="4043679"/>
              </a:tblGrid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2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07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参数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2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202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23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2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92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参数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2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2240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23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7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1470" algn="l" rtl="0" eaLnBrk="0">
                        <a:lnSpc>
                          <a:spcPts val="1594"/>
                        </a:lnSpc>
                        <a:tabLst/>
                      </a:pP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-a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显示所有文件系统信息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4804" algn="l" rtl="0" eaLnBrk="0">
                        <a:lnSpc>
                          <a:spcPct val="6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-h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5955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按人类易读方式显示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7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1309" algn="l" rtl="0" eaLnBrk="0">
                        <a:lnSpc>
                          <a:spcPct val="6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-b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6434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以字节为单位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4804" algn="l" rtl="0" eaLnBrk="0">
                        <a:lnSpc>
                          <a:spcPct val="6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7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-k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413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</a:t>
                      </a: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为单位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585" algn="l" rtl="0" eaLnBrk="0">
                        <a:lnSpc>
                          <a:spcPct val="6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-B</a:t>
                      </a:r>
                      <a:r>
                        <a:rPr sz="27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sz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5955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指定显示单位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015" algn="l" rtl="0" eaLnBrk="0">
                        <a:lnSpc>
                          <a:spcPts val="1617"/>
                        </a:lnSpc>
                        <a:tabLst/>
                      </a:pP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-s</a:t>
                      </a:r>
                      <a:endParaRPr sz="2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734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3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仅显示指定项目的毛总数，也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112519" algn="l" rtl="0" eaLnBrk="0">
                        <a:lnSpc>
                          <a:spcPct val="87000"/>
                        </a:lnSpc>
                        <a:spcBef>
                          <a:spcPts val="479"/>
                        </a:spcBef>
                        <a:tabLst/>
                      </a:pP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包括其子目录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36" name="textbox 1436"/>
          <p:cNvSpPr/>
          <p:nvPr/>
        </p:nvSpPr>
        <p:spPr>
          <a:xfrm>
            <a:off x="111760" y="697432"/>
            <a:ext cx="8789034" cy="25139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7000"/>
              </a:lnSpc>
              <a:tabLst>
                <a:tab pos="489584" algn="l"/>
              </a:tabLst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1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．功能及用法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478790" indent="-222250" algn="l" rtl="0" eaLnBrk="0">
              <a:lnSpc>
                <a:spcPct val="93000"/>
              </a:lnSpc>
              <a:spcBef>
                <a:spcPts val="582"/>
              </a:spcBef>
              <a:tabLst>
                <a:tab pos="474344" algn="l"/>
              </a:tabLst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du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的功能是按指定单位统计文件或目录的大小。其用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法为：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56540" algn="l" rtl="0" eaLnBrk="0">
              <a:lnSpc>
                <a:spcPts val="3300"/>
              </a:lnSpc>
              <a:spcBef>
                <a:spcPts val="726"/>
              </a:spcBef>
              <a:tabLst>
                <a:tab pos="474344" algn="l"/>
              </a:tabLst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du</a:t>
            </a:r>
            <a:r>
              <a:rPr sz="2700" b="1" kern="0" spc="15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[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options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]</a:t>
            </a:r>
            <a:r>
              <a:rPr sz="2700" b="1" kern="0" spc="28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[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names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]</a:t>
            </a:r>
            <a:endParaRPr sz="2700" dirty="0">
              <a:latin typeface="Segoe Print"/>
              <a:ea typeface="Segoe Print"/>
              <a:cs typeface="Segoe Print"/>
            </a:endParaRPr>
          </a:p>
          <a:p>
            <a:pPr marL="256540" algn="l" rtl="0" eaLnBrk="0">
              <a:lnSpc>
                <a:spcPct val="86000"/>
              </a:lnSpc>
              <a:spcBef>
                <a:spcPts val="8"/>
              </a:spcBef>
              <a:tabLst>
                <a:tab pos="47879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若不指定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names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，则使用当前目录。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56540" algn="l" rtl="0" eaLnBrk="0">
              <a:lnSpc>
                <a:spcPct val="86000"/>
              </a:lnSpc>
              <a:spcBef>
                <a:spcPts val="574"/>
              </a:spcBef>
              <a:tabLst>
                <a:tab pos="471805" algn="l"/>
              </a:tabLst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	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2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．参数及说明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pic>
        <p:nvPicPr>
          <p:cNvPr id="1438" name="picture 14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891472"/>
            <a:ext cx="243840" cy="244475"/>
          </a:xfrm>
          <a:prstGeom prst="rect">
            <a:avLst/>
          </a:prstGeom>
        </p:spPr>
      </p:pic>
      <p:pic>
        <p:nvPicPr>
          <p:cNvPr id="1440" name="picture 14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464752"/>
            <a:ext cx="243840" cy="244475"/>
          </a:xfrm>
          <a:prstGeom prst="rect">
            <a:avLst/>
          </a:prstGeom>
        </p:spPr>
      </p:pic>
      <p:pic>
        <p:nvPicPr>
          <p:cNvPr id="1442" name="picture 14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038032"/>
            <a:ext cx="243840" cy="244475"/>
          </a:xfrm>
          <a:prstGeom prst="rect">
            <a:avLst/>
          </a:prstGeom>
        </p:spPr>
      </p:pic>
      <p:pic>
        <p:nvPicPr>
          <p:cNvPr id="1444" name="picture 1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1184592"/>
            <a:ext cx="243840" cy="244475"/>
          </a:xfrm>
          <a:prstGeom prst="rect">
            <a:avLst/>
          </a:prstGeom>
        </p:spPr>
      </p:pic>
      <p:pic>
        <p:nvPicPr>
          <p:cNvPr id="1446" name="picture 14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757872"/>
            <a:ext cx="243840" cy="244475"/>
          </a:xfrm>
          <a:prstGeom prst="rect">
            <a:avLst/>
          </a:prstGeom>
        </p:spPr>
      </p:pic>
      <p:sp>
        <p:nvSpPr>
          <p:cNvPr id="1448" name="textbox 1448"/>
          <p:cNvSpPr/>
          <p:nvPr/>
        </p:nvSpPr>
        <p:spPr>
          <a:xfrm>
            <a:off x="102071" y="-64870"/>
            <a:ext cx="7595869" cy="462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3200" b="1" kern="0" spc="-1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5.4.4</a:t>
            </a:r>
            <a:r>
              <a:rPr sz="3200" b="1" kern="0" spc="45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  </a:t>
            </a:r>
            <a:r>
              <a:rPr sz="3200" b="1" kern="0" spc="-1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目</a:t>
            </a:r>
            <a:r>
              <a:rPr sz="3200" kern="0" spc="-3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200" b="1" kern="0" spc="-1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录使用磁盘空间情况统计（</a:t>
            </a:r>
            <a:r>
              <a:rPr sz="3200" b="1" kern="0" spc="-170" dirty="0">
                <a:solidFill>
                  <a:srgbClr val="000000">
                    <a:alpha val="100000"/>
                  </a:srgbClr>
                </a:solidFill>
                <a:latin typeface="Segoe Print"/>
                <a:ea typeface="Segoe Print"/>
                <a:cs typeface="Segoe Print"/>
              </a:rPr>
              <a:t>du</a:t>
            </a:r>
            <a:r>
              <a:rPr sz="3200" b="1" kern="0" spc="-1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200" dirty="0">
              <a:latin typeface="STXinwei"/>
              <a:ea typeface="STXinwei"/>
              <a:cs typeface="STXinwei"/>
            </a:endParaRPr>
          </a:p>
        </p:txBody>
      </p:sp>
      <p:sp>
        <p:nvSpPr>
          <p:cNvPr id="1450" name="textbox 145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kern="0" spc="-8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星期</a:t>
            </a:r>
            <a:r>
              <a:rPr sz="1700" kern="0" spc="-2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一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</a:t>
            </a:r>
            <a:r>
              <a:rPr sz="2700" kern="0" spc="1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452" name="picture 14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textbox 1454"/>
          <p:cNvSpPr/>
          <p:nvPr/>
        </p:nvSpPr>
        <p:spPr>
          <a:xfrm>
            <a:off x="80543" y="700227"/>
            <a:ext cx="8985250" cy="6143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5889" algn="l" rtl="0" eaLnBrk="0">
              <a:lnSpc>
                <a:spcPct val="83000"/>
              </a:lnSpc>
              <a:tabLst/>
            </a:pP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程序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是一个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存储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在介质上的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，既具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135889" indent="4444" algn="l" rtl="0" eaLnBrk="0">
              <a:lnSpc>
                <a:spcPct val="99000"/>
              </a:lnSpc>
              <a:spcBef>
                <a:spcPts val="187"/>
              </a:spcBef>
              <a:tabLst/>
            </a:pP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可执行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的属性，又具有执行的内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容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是一个程序的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动态执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行过程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。程序的执行要完成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某种特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定的功能，过程表现为对某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个或某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些数据的加工和处理。进程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突出了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一个程序动态的执行过程，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而一个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程序存储在介质上的文件或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数据是</a:t>
            </a:r>
            <a:r>
              <a:rPr sz="44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一种静态信息。</a:t>
            </a:r>
            <a:endParaRPr sz="44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85000"/>
              </a:lnSpc>
              <a:spcBef>
                <a:spcPts val="4"/>
              </a:spcBef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1456" name="textbox 1456"/>
          <p:cNvSpPr/>
          <p:nvPr/>
        </p:nvSpPr>
        <p:spPr>
          <a:xfrm>
            <a:off x="96037" y="-44450"/>
            <a:ext cx="631190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6.1.1 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程序</a:t>
            </a:r>
            <a:r>
              <a:rPr sz="3500" kern="0" spc="-3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、</a:t>
            </a:r>
            <a:r>
              <a:rPr sz="3500" kern="0" spc="-2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进程</a:t>
            </a:r>
            <a:r>
              <a:rPr sz="3500" kern="0" spc="-3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、</a:t>
            </a:r>
            <a:r>
              <a:rPr sz="3500" kern="0" spc="-3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作业和任务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458" name="picture 14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textbox 1460"/>
          <p:cNvSpPr/>
          <p:nvPr/>
        </p:nvSpPr>
        <p:spPr>
          <a:xfrm>
            <a:off x="202127" y="700227"/>
            <a:ext cx="8426450" cy="535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8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3000"/>
              </a:lnSpc>
              <a:tabLst/>
            </a:pP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多任务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多用户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系统中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具有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12700" indent="17779" algn="l" rtl="0" eaLnBrk="0">
              <a:lnSpc>
                <a:spcPct val="101000"/>
              </a:lnSpc>
              <a:spcBef>
                <a:spcPts val="243"/>
              </a:spcBef>
              <a:tabLst/>
            </a:pP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并发和并行特征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。在一个系统内</a:t>
            </a:r>
            <a:r>
              <a:rPr sz="44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部</a:t>
            </a:r>
            <a:r>
              <a:rPr sz="4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400" b="1" kern="0" spc="-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4400" kern="0" spc="16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400" b="1" kern="0" spc="-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同时可以运行很多进程</a:t>
            </a:r>
            <a:r>
              <a:rPr sz="4400" b="1" kern="0" spc="-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，甚至可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以让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同一个程序多次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同时运行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，但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它们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对应不同的进程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，在系统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内有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不同的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进程标识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，也就是说不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同的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进程可以执行同一个程序，但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可能</a:t>
            </a:r>
            <a:r>
              <a:rPr sz="4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使该程序所处理的数据集有所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不同</a:t>
            </a:r>
            <a:endParaRPr sz="4400" dirty="0">
              <a:latin typeface="SimSun"/>
              <a:ea typeface="SimSun"/>
              <a:cs typeface="SimSun"/>
            </a:endParaRPr>
          </a:p>
        </p:txBody>
      </p:sp>
      <p:sp>
        <p:nvSpPr>
          <p:cNvPr id="1462" name="textbox 1462"/>
          <p:cNvSpPr/>
          <p:nvPr/>
        </p:nvSpPr>
        <p:spPr>
          <a:xfrm>
            <a:off x="80543" y="6425543"/>
            <a:ext cx="8985250" cy="415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3039" algn="l" rtl="0" eaLnBrk="0">
              <a:lnSpc>
                <a:spcPct val="89000"/>
              </a:lnSpc>
              <a:tabLst/>
            </a:pP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97000"/>
              </a:lnSpc>
              <a:spcBef>
                <a:spcPts val="71"/>
              </a:spcBef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1464" name="textbox 1464"/>
          <p:cNvSpPr/>
          <p:nvPr/>
        </p:nvSpPr>
        <p:spPr>
          <a:xfrm>
            <a:off x="96037" y="-37465"/>
            <a:ext cx="631190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6.1.1 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程序</a:t>
            </a:r>
            <a:r>
              <a:rPr sz="3500" kern="0" spc="-3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、</a:t>
            </a:r>
            <a:r>
              <a:rPr sz="3500" kern="0" spc="-2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进程</a:t>
            </a:r>
            <a:r>
              <a:rPr sz="3500" kern="0" spc="-3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、</a:t>
            </a:r>
            <a:r>
              <a:rPr sz="3500" kern="0" spc="-3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作业和任务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466" name="picture 14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textbox 1468"/>
          <p:cNvSpPr/>
          <p:nvPr/>
        </p:nvSpPr>
        <p:spPr>
          <a:xfrm>
            <a:off x="98170" y="705396"/>
            <a:ext cx="8571865" cy="5104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5000"/>
              </a:lnSpc>
              <a:tabLst/>
            </a:pP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作业或任务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是用户需要计算机完</a:t>
            </a:r>
            <a:endParaRPr sz="4700" dirty="0">
              <a:latin typeface="SimSun"/>
              <a:ea typeface="SimSun"/>
              <a:cs typeface="SimSun"/>
            </a:endParaRPr>
          </a:p>
          <a:p>
            <a:pPr marL="12700" indent="6985" algn="l" rtl="0" eaLnBrk="0">
              <a:lnSpc>
                <a:spcPct val="104000"/>
              </a:lnSpc>
              <a:spcBef>
                <a:spcPts val="2"/>
              </a:spcBef>
              <a:tabLst/>
            </a:pP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成某项任务时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要求计算机所做工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作的集合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一个作业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可能需要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几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个程序联合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完成。当用户向计算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机提交了一个在指定时间执行或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重复执行的工作，就可以认为向</a:t>
            </a:r>
            <a:r>
              <a:rPr sz="4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计算机提交了作业或任务。</a:t>
            </a:r>
            <a:endParaRPr sz="4700" dirty="0">
              <a:latin typeface="SimSun"/>
              <a:ea typeface="SimSun"/>
              <a:cs typeface="SimSun"/>
            </a:endParaRPr>
          </a:p>
        </p:txBody>
      </p:sp>
      <p:sp>
        <p:nvSpPr>
          <p:cNvPr id="1470" name="textbox 1470"/>
          <p:cNvSpPr/>
          <p:nvPr/>
        </p:nvSpPr>
        <p:spPr>
          <a:xfrm>
            <a:off x="96037" y="-37465"/>
            <a:ext cx="631190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6.1.1 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程序</a:t>
            </a:r>
            <a:r>
              <a:rPr sz="3500" kern="0" spc="-3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、</a:t>
            </a:r>
            <a:r>
              <a:rPr sz="3500" kern="0" spc="-2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进程</a:t>
            </a:r>
            <a:r>
              <a:rPr sz="3500" kern="0" spc="-3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、</a:t>
            </a:r>
            <a:r>
              <a:rPr sz="3500" kern="0" spc="-3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作业和任务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1472" name="textbox 147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474" name="picture 14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textbox 1476"/>
          <p:cNvSpPr/>
          <p:nvPr/>
        </p:nvSpPr>
        <p:spPr>
          <a:xfrm>
            <a:off x="76835" y="695337"/>
            <a:ext cx="8979534" cy="5132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5775" indent="-159385" algn="l" rtl="0" eaLnBrk="0">
              <a:lnSpc>
                <a:spcPct val="94000"/>
              </a:lnSpc>
              <a:tabLst>
                <a:tab pos="482600" algn="l"/>
              </a:tabLst>
            </a:pP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0#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进程与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1#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UNIX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系统中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两个</a:t>
            </a:r>
            <a:r>
              <a:rPr sz="3500" b="1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最重要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的进程。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2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6884" indent="-150495" algn="l" rtl="0" eaLnBrk="0">
              <a:lnSpc>
                <a:spcPct val="102000"/>
              </a:lnSpc>
              <a:tabLst>
                <a:tab pos="479425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UNIX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系统中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0#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进程是唯一只在核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心态下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执行的进程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。它的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功能有三点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调度分配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处理机；负责进程交换；初始化时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创建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1#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进程。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系统中，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0#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进程在创建出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1#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进程后变成了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空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闲进程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Idler</a:t>
            </a:r>
            <a:r>
              <a:rPr sz="3500" b="1" kern="0" spc="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），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当系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统中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没有其他进程就绪时它才运行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，而它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原来的功能被分散在几个内核进程中。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478" name="picture 14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2085022"/>
            <a:ext cx="314325" cy="314325"/>
          </a:xfrm>
          <a:prstGeom prst="rect">
            <a:avLst/>
          </a:prstGeom>
        </p:spPr>
      </p:pic>
      <p:pic>
        <p:nvPicPr>
          <p:cNvPr id="1480" name="picture 14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784542"/>
            <a:ext cx="314325" cy="314325"/>
          </a:xfrm>
          <a:prstGeom prst="rect">
            <a:avLst/>
          </a:prstGeom>
        </p:spPr>
      </p:pic>
      <p:sp>
        <p:nvSpPr>
          <p:cNvPr id="1482" name="textbox 148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2700" kern="0" spc="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1484" name="textbox 1484"/>
          <p:cNvSpPr/>
          <p:nvPr/>
        </p:nvSpPr>
        <p:spPr>
          <a:xfrm>
            <a:off x="96037" y="-44450"/>
            <a:ext cx="458089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6.1.3  0#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进程与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1#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进程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486" name="picture 14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textbox 1488"/>
          <p:cNvSpPr/>
          <p:nvPr/>
        </p:nvSpPr>
        <p:spPr>
          <a:xfrm>
            <a:off x="76835" y="695337"/>
            <a:ext cx="8738869" cy="4933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7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9425" indent="-152400" algn="l" rtl="0" eaLnBrk="0">
              <a:lnSpc>
                <a:spcPct val="102000"/>
              </a:lnSpc>
              <a:tabLst>
                <a:tab pos="499109" algn="l"/>
              </a:tabLst>
            </a:pP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1#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init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systemd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）进程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是系统启动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时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创建的创建进程的进程。它的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主要作用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根据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启动配置文件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内容初始化系统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创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建系统运行所需的进程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。在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中，还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要根据运行级别触发运行级别初始化事件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3500" kern="0" spc="10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执行相应的脚本程序</a:t>
            </a:r>
            <a:r>
              <a:rPr sz="35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进行初始化。</a:t>
            </a:r>
            <a:r>
              <a:rPr sz="3500" b="1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初始化完成后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1#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进程变成了回收进程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专门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领养没有父进程的孤儿进程或回收状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态为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ZOMBIE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的僵尸进程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490" name="picture 14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784542"/>
            <a:ext cx="314325" cy="314325"/>
          </a:xfrm>
          <a:prstGeom prst="rect">
            <a:avLst/>
          </a:prstGeom>
        </p:spPr>
      </p:pic>
      <p:sp>
        <p:nvSpPr>
          <p:cNvPr id="1492" name="textbox 149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  <p:sp>
        <p:nvSpPr>
          <p:cNvPr id="1494" name="textbox 1494"/>
          <p:cNvSpPr/>
          <p:nvPr/>
        </p:nvSpPr>
        <p:spPr>
          <a:xfrm>
            <a:off x="96037" y="-37465"/>
            <a:ext cx="458089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6.1.3  0#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进程与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1#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进程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496" name="picture 14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textbox 1498"/>
          <p:cNvSpPr/>
          <p:nvPr/>
        </p:nvSpPr>
        <p:spPr>
          <a:xfrm>
            <a:off x="76835" y="695337"/>
            <a:ext cx="8836025" cy="4897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7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9425" indent="-152400" algn="l" rtl="0" eaLnBrk="0">
              <a:lnSpc>
                <a:spcPct val="102000"/>
              </a:lnSpc>
              <a:tabLst>
                <a:tab pos="486409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从进程创建关系来看，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0#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进程创建了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1#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，它是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1#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进程的父进程。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1#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进程在系统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启动过程中创建了系统所需要的其他进程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3500" kern="0" spc="10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这些被创建的进程是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1#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进程的子进程，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而子进程又可创建属于自己的子进程，因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此系统中除了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0#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进程外，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1#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进程是其他所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有进程的祖先进程。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2600" indent="-155575" algn="l" rtl="0" eaLnBrk="0">
              <a:lnSpc>
                <a:spcPct val="97000"/>
              </a:lnSpc>
              <a:spcBef>
                <a:spcPts val="230"/>
              </a:spcBef>
              <a:tabLst>
                <a:tab pos="498475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系统的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进程之间的家族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关系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可用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令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pstree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来查看。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500" name="picture 15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4625022"/>
            <a:ext cx="314325" cy="314325"/>
          </a:xfrm>
          <a:prstGeom prst="rect">
            <a:avLst/>
          </a:prstGeom>
        </p:spPr>
      </p:pic>
      <p:pic>
        <p:nvPicPr>
          <p:cNvPr id="1502" name="picture 15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784542"/>
            <a:ext cx="314325" cy="314325"/>
          </a:xfrm>
          <a:prstGeom prst="rect">
            <a:avLst/>
          </a:prstGeom>
        </p:spPr>
      </p:pic>
      <p:sp>
        <p:nvSpPr>
          <p:cNvPr id="1504" name="textbox 150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  <p:sp>
        <p:nvSpPr>
          <p:cNvPr id="1506" name="textbox 1506"/>
          <p:cNvSpPr/>
          <p:nvPr/>
        </p:nvSpPr>
        <p:spPr>
          <a:xfrm>
            <a:off x="96037" y="-37465"/>
            <a:ext cx="458089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6.1.3  0#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进程与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1#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进程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508" name="picture 15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textbox 1510"/>
          <p:cNvSpPr/>
          <p:nvPr/>
        </p:nvSpPr>
        <p:spPr>
          <a:xfrm>
            <a:off x="76835" y="-44450"/>
            <a:ext cx="9080500" cy="6449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89000"/>
              </a:lnSpc>
              <a:tabLst>
                <a:tab pos="9066530" algn="l"/>
              </a:tabLst>
            </a:pPr>
            <a:r>
              <a:rPr sz="3500" b="1" u="sng" kern="0" spc="-10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6.1.4</a:t>
            </a:r>
            <a:r>
              <a:rPr sz="3500" b="1" u="sng" kern="0" spc="28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  </a:t>
            </a:r>
            <a:r>
              <a:rPr sz="3500" b="1" u="sng" kern="0" spc="-10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进程状态及查</a:t>
            </a:r>
            <a:r>
              <a:rPr sz="3500" b="1" u="sng" kern="0" spc="-11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询（</a:t>
            </a:r>
            <a:r>
              <a:rPr sz="3500" b="1" u="sng" kern="0" spc="-11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ps</a:t>
            </a:r>
            <a:r>
              <a:rPr sz="3500" b="1" u="sng" kern="0" spc="-11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）</a:t>
            </a:r>
            <a:r>
              <a:rPr sz="35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	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48259" algn="l" rtl="0" eaLnBrk="0">
              <a:lnSpc>
                <a:spcPct val="86000"/>
              </a:lnSpc>
              <a:spcBef>
                <a:spcPts val="2096"/>
              </a:spcBef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-5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．功能与用法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1330" indent="-154304" algn="l" rtl="0" eaLnBrk="0">
              <a:lnSpc>
                <a:spcPct val="99000"/>
              </a:lnSpc>
              <a:spcBef>
                <a:spcPts val="1056"/>
              </a:spcBef>
              <a:tabLst>
                <a:tab pos="494030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功能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显示进程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状态和信息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，给出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当前正在运行进程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信息的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快照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，可以</a:t>
            </a:r>
            <a:r>
              <a:rPr sz="3500" b="1" kern="0" spc="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配合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500" b="1" kern="0" spc="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结束系统中失控或不必要的进程</a:t>
            </a:r>
            <a:r>
              <a:rPr sz="35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支持多种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UNIX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系统格式的个性化显示方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式，其用法为：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7025" algn="l" rtl="0" eaLnBrk="0">
              <a:lnSpc>
                <a:spcPct val="80000"/>
              </a:lnSpc>
              <a:spcBef>
                <a:spcPts val="1052"/>
              </a:spcBef>
              <a:tabLst>
                <a:tab pos="494030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</a:t>
            </a:r>
            <a:r>
              <a:rPr sz="3500" b="1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options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endParaRPr sz="3500" dirty="0">
              <a:latin typeface="Arial"/>
              <a:ea typeface="Arial"/>
              <a:cs typeface="Arial"/>
            </a:endParaRPr>
          </a:p>
          <a:p>
            <a:pPr marL="24129" algn="l" rtl="0" eaLnBrk="0">
              <a:lnSpc>
                <a:spcPct val="86000"/>
              </a:lnSpc>
              <a:spcBef>
                <a:spcPts val="2101"/>
              </a:spcBef>
              <a:tabLst/>
            </a:pP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-4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．参数描述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2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7025" algn="l" rtl="0" eaLnBrk="0">
              <a:lnSpc>
                <a:spcPct val="90000"/>
              </a:lnSpc>
              <a:tabLst>
                <a:tab pos="494030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命令的参数繁多，部分参数如下表所示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512" name="picture 1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5986462"/>
            <a:ext cx="314325" cy="314325"/>
          </a:xfrm>
          <a:prstGeom prst="rect">
            <a:avLst/>
          </a:prstGeom>
        </p:spPr>
      </p:pic>
      <p:pic>
        <p:nvPicPr>
          <p:cNvPr id="1514" name="picture 15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4482782"/>
            <a:ext cx="314325" cy="314325"/>
          </a:xfrm>
          <a:prstGeom prst="rect">
            <a:avLst/>
          </a:prstGeom>
        </p:spPr>
      </p:pic>
      <p:pic>
        <p:nvPicPr>
          <p:cNvPr id="1516" name="picture 15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1536382"/>
            <a:ext cx="314325" cy="314325"/>
          </a:xfrm>
          <a:prstGeom prst="rect">
            <a:avLst/>
          </a:prstGeom>
        </p:spPr>
      </p:pic>
      <p:sp>
        <p:nvSpPr>
          <p:cNvPr id="1518" name="textbox 1518"/>
          <p:cNvSpPr/>
          <p:nvPr/>
        </p:nvSpPr>
        <p:spPr>
          <a:xfrm>
            <a:off x="80543" y="6556374"/>
            <a:ext cx="8985250" cy="306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213"/>
              </a:lnSpc>
              <a:tabLst/>
            </a:pP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</a:t>
            </a:r>
            <a:r>
              <a:rPr sz="2600" b="1" kern="0" spc="-20" baseline="-13779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ux</a:t>
            </a:r>
            <a:r>
              <a:rPr sz="1700" b="1" kern="0" spc="-11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19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</a:t>
            </a:r>
            <a:r>
              <a:rPr sz="1700" b="1" kern="0" spc="-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业大学软件学院</a:t>
            </a:r>
            <a:r>
              <a:rPr sz="1700" kern="0" spc="-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       </a:t>
            </a:r>
            <a:r>
              <a:rPr sz="2700" kern="0" spc="-30" baseline="15669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-30" baseline="15669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2700" kern="0" spc="-30" baseline="15669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15669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textbox 152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13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  <p:pic>
        <p:nvPicPr>
          <p:cNvPr id="1522" name="picture 15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414020"/>
            <a:ext cx="9109075" cy="12700"/>
          </a:xfrm>
          <a:prstGeom prst="rect">
            <a:avLst/>
          </a:prstGeom>
        </p:spPr>
      </p:pic>
      <p:graphicFrame>
        <p:nvGraphicFramePr>
          <p:cNvPr id="1524" name="table 1524"/>
          <p:cNvGraphicFramePr>
            <a:graphicFrameLocks noGrp="1"/>
          </p:cNvGraphicFramePr>
          <p:nvPr/>
        </p:nvGraphicFramePr>
        <p:xfrm>
          <a:off x="0" y="98425"/>
          <a:ext cx="9143365" cy="6477634"/>
        </p:xfrm>
        <a:graphic>
          <a:graphicData uri="http://schemas.openxmlformats.org/drawingml/2006/table">
            <a:tbl>
              <a:tblPr/>
              <a:tblGrid>
                <a:gridCol w="1206500"/>
                <a:gridCol w="2977514"/>
                <a:gridCol w="900430"/>
                <a:gridCol w="4058920"/>
              </a:tblGrid>
              <a:tr h="450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2425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参</a:t>
                      </a:r>
                      <a:r>
                        <a:rPr sz="15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8380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15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r>
                        <a:rPr sz="15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说</a:t>
                      </a:r>
                      <a:r>
                        <a:rPr sz="1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明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025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参</a:t>
                      </a:r>
                      <a:r>
                        <a:rPr sz="15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32255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15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r>
                        <a:rPr sz="15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说</a:t>
                      </a:r>
                      <a:r>
                        <a:rPr sz="1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明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2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003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-A</a:t>
                      </a:r>
                      <a:r>
                        <a:rPr sz="1700" kern="0" spc="-2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</a:t>
                      </a:r>
                      <a:r>
                        <a:rPr sz="17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5775" algn="l" rtl="0" eaLnBrk="0">
                        <a:lnSpc>
                          <a:spcPct val="8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显示系统内的所有进程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6395" algn="l" rtl="0" eaLnBrk="0">
                        <a:lnSpc>
                          <a:spcPts val="998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-a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5815" algn="l" rtl="0" eaLnBrk="0">
                        <a:lnSpc>
                          <a:spcPct val="8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显示所有与终端相关的进程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62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7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7369" algn="l" rtl="0" eaLnBrk="0">
                        <a:lnSpc>
                          <a:spcPts val="1143"/>
                        </a:lnSpc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4175" algn="l" rtl="0" eaLnBrk="0">
                        <a:lnSpc>
                          <a:spcPct val="8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显示当前终端的所有进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程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2109" algn="l" rtl="0" eaLnBrk="0">
                        <a:lnSpc>
                          <a:spcPts val="998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-c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52219" algn="l" rtl="0" eaLnBrk="0">
                        <a:lnSpc>
                          <a:spcPct val="8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CLS</a:t>
                      </a:r>
                      <a:r>
                        <a:rPr sz="15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和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PRI</a:t>
                      </a:r>
                      <a:r>
                        <a:rPr sz="15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栏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62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4990" algn="l" rtl="0" eaLnBrk="0">
                        <a:lnSpc>
                          <a:spcPts val="1143"/>
                        </a:lnSpc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4" algn="l" rtl="0" eaLnBrk="0">
                        <a:lnSpc>
                          <a:spcPct val="8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列出进程名，但不包含路径名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" algn="l" rtl="0" eaLnBrk="0">
                        <a:lnSpc>
                          <a:spcPct val="8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-C</a:t>
                      </a:r>
                      <a:r>
                        <a:rPr sz="15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pname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3700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显示进程名为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pname</a:t>
                      </a: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的同名进程信息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634" algn="l" rtl="0" eaLnBrk="0">
                        <a:lnSpc>
                          <a:spcPts val="2453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-d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显示所有进程（但不包括会话组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94130" algn="l" rtl="0" eaLnBrk="0">
                        <a:lnSpc>
                          <a:spcPct val="89000"/>
                        </a:lnSpc>
                        <a:spcBef>
                          <a:spcPts val="318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长）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1320" algn="l" rtl="0" eaLnBrk="0">
                        <a:lnSpc>
                          <a:spcPts val="998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01700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在命令名后显示环境变量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0384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-f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显示带有路径的进程名和进程参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396364" algn="l" rtl="0" eaLnBrk="0">
                        <a:lnSpc>
                          <a:spcPct val="89000"/>
                        </a:lnSpc>
                        <a:spcBef>
                          <a:spcPts val="318"/>
                        </a:spcBef>
                        <a:tabLst/>
                      </a:pP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3544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2409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ASCII</a:t>
                      </a: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字符显示树状结构的进程间关系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267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7834" indent="-285750" algn="l" rtl="0" eaLnBrk="0">
                        <a:lnSpc>
                          <a:spcPct val="104000"/>
                        </a:lnSpc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  <a:r>
                        <a:rPr sz="17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-g/-G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gid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8284" algn="l" rtl="0" eaLnBrk="0">
                        <a:lnSpc>
                          <a:spcPts val="2173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显示与进程组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gid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相关的信息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669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1511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不显示标题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-H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显示树状结构以表示进程间的关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398905" algn="l" rtl="0" eaLnBrk="0">
                        <a:lnSpc>
                          <a:spcPct val="89000"/>
                        </a:lnSpc>
                        <a:spcBef>
                          <a:spcPts val="318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系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0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1309" algn="l" rtl="0" eaLnBrk="0">
                        <a:lnSpc>
                          <a:spcPts val="2173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-j,</a:t>
                      </a: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994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以作业控制方式显示进程信息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9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7834" algn="l" rtl="0" eaLnBrk="0">
                        <a:lnSpc>
                          <a:spcPct val="7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-l,</a:t>
                      </a:r>
                      <a:r>
                        <a:rPr sz="1700" kern="0" spc="1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355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以长格式显示进程信息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3814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显示标题栏信息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7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66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显示除执行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ps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终端以外的所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有进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394460" algn="l" rtl="0" eaLnBrk="0">
                        <a:lnSpc>
                          <a:spcPct val="89000"/>
                        </a:lnSpc>
                        <a:spcBef>
                          <a:spcPts val="216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程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ts val="217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p/-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15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pids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0614" algn="l" rtl="0" eaLnBrk="0">
                        <a:lnSpc>
                          <a:spcPct val="8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显示指定进程的信息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8630" algn="l" rtl="0" eaLnBrk="0">
                        <a:lnSpc>
                          <a:spcPts val="245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T/r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85" algn="l" rtl="0" eaLnBrk="0">
                        <a:lnSpc>
                          <a:spcPts val="217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只显示本终端所有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正在执行程序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9389" algn="l" rtl="0" eaLnBrk="0">
                        <a:lnSpc>
                          <a:spcPts val="217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t/-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tty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960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tty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相关进程信息，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于显示当前终端进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714500" algn="l" rtl="0" eaLnBrk="0">
                        <a:lnSpc>
                          <a:spcPct val="89000"/>
                        </a:lnSpc>
                        <a:spcBef>
                          <a:spcPts val="198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程信息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7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u,</a:t>
                      </a: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U/-U</a:t>
                      </a:r>
                      <a:r>
                        <a:rPr sz="17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uid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884" algn="l" rtl="0" eaLnBrk="0">
                        <a:lnSpc>
                          <a:spcPts val="217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显示与用户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uid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相关的信息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2590" algn="l" rtl="0" eaLnBrk="0">
                        <a:lnSpc>
                          <a:spcPts val="97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994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以虚拟内存方式显示进程状态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7369" algn="l" rtl="0" eaLnBrk="0">
                        <a:lnSpc>
                          <a:spcPts val="110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显示所有进程信息，不区分终端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285" algn="l" rtl="0" eaLnBrk="0">
                        <a:lnSpc>
                          <a:spcPts val="2173"/>
                        </a:lnSpc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Z/-Z/-M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1190" algn="l" rtl="0" eaLnBrk="0">
                        <a:lnSpc>
                          <a:spcPct val="8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显示进程与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SELinux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相关的信息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textbox 1526"/>
          <p:cNvSpPr/>
          <p:nvPr/>
        </p:nvSpPr>
        <p:spPr>
          <a:xfrm>
            <a:off x="96037" y="-44450"/>
            <a:ext cx="9060815" cy="5828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9047480" algn="l"/>
              </a:tabLst>
            </a:pPr>
            <a:r>
              <a:rPr sz="3500" b="1" u="sng" kern="0" spc="-10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6.1.4</a:t>
            </a:r>
            <a:r>
              <a:rPr sz="3500" b="1" u="sng" kern="0" spc="28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  </a:t>
            </a:r>
            <a:r>
              <a:rPr sz="3500" b="1" u="sng" kern="0" spc="-10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进程状态及查</a:t>
            </a:r>
            <a:r>
              <a:rPr sz="3500" b="1" u="sng" kern="0" spc="-11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询（</a:t>
            </a:r>
            <a:r>
              <a:rPr sz="3500" b="1" u="sng" kern="0" spc="-11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ps</a:t>
            </a:r>
            <a:r>
              <a:rPr sz="3500" b="1" u="sng" kern="0" spc="-11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）</a:t>
            </a:r>
            <a:r>
              <a:rPr sz="35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	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307340" algn="l" rtl="0" eaLnBrk="0">
              <a:lnSpc>
                <a:spcPct val="86000"/>
              </a:lnSpc>
              <a:spcBef>
                <a:spcPts val="2053"/>
              </a:spcBef>
              <a:tabLst>
                <a:tab pos="494665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200" b="1" kern="0" spc="-4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．使用示例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307340" algn="l" rtl="0" eaLnBrk="0">
              <a:lnSpc>
                <a:spcPct val="75000"/>
              </a:lnSpc>
              <a:spcBef>
                <a:spcPts val="1221"/>
              </a:spcBef>
              <a:tabLst>
                <a:tab pos="482600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 -el    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长格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式显示所有进程的信息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504190" indent="-196850" algn="l" rtl="0" eaLnBrk="0">
              <a:lnSpc>
                <a:spcPct val="99000"/>
              </a:lnSpc>
              <a:spcBef>
                <a:spcPts val="78"/>
              </a:spcBef>
              <a:tabLst>
                <a:tab pos="482600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44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 -Af |</a:t>
            </a:r>
            <a:r>
              <a:rPr sz="4400" b="1" kern="0" spc="2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4400" b="1" kern="0" spc="3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带命令及参数显示系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统中的所有进程信息，并分屏显示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527684" indent="-220345" algn="l" rtl="0" eaLnBrk="0">
              <a:lnSpc>
                <a:spcPct val="88000"/>
              </a:lnSpc>
              <a:spcBef>
                <a:spcPts val="1331"/>
              </a:spcBef>
              <a:tabLst>
                <a:tab pos="482600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 -t /dev/tty1    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查询与终端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tty1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相关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的进程信息。可简略为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 -t</a:t>
            </a:r>
            <a:r>
              <a:rPr sz="3200" b="1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 -t tty1</a:t>
            </a:r>
            <a:endParaRPr sz="3200" dirty="0">
              <a:latin typeface="Arial"/>
              <a:ea typeface="Arial"/>
              <a:cs typeface="Arial"/>
            </a:endParaRPr>
          </a:p>
          <a:p>
            <a:pPr marL="537209" indent="-229870" algn="l" rtl="0" eaLnBrk="0">
              <a:lnSpc>
                <a:spcPct val="86000"/>
              </a:lnSpc>
              <a:spcBef>
                <a:spcPts val="1056"/>
              </a:spcBef>
              <a:tabLst>
                <a:tab pos="482600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44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 -f -u gjshao</a:t>
            </a:r>
            <a:r>
              <a:rPr sz="4400" b="1" kern="0" spc="1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询与用户（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gjshao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3200" b="1" kern="0" spc="-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)</a:t>
            </a:r>
            <a:r>
              <a:rPr sz="3200" kern="0" spc="3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相关的信息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307340" algn="l" rtl="0" eaLnBrk="0">
              <a:lnSpc>
                <a:spcPct val="89000"/>
              </a:lnSpc>
              <a:spcBef>
                <a:spcPts val="644"/>
              </a:spcBef>
              <a:tabLst>
                <a:tab pos="482600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 -axj</a:t>
            </a:r>
            <a:r>
              <a:rPr sz="3200" b="1" kern="0" spc="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查询整个系统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内的进程信息情况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pic>
        <p:nvPicPr>
          <p:cNvPr id="1528" name="picture 15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5404167"/>
            <a:ext cx="279400" cy="279400"/>
          </a:xfrm>
          <a:prstGeom prst="rect">
            <a:avLst/>
          </a:prstGeom>
        </p:spPr>
      </p:pic>
      <p:pic>
        <p:nvPicPr>
          <p:cNvPr id="1530" name="picture 15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4337367"/>
            <a:ext cx="279400" cy="279400"/>
          </a:xfrm>
          <a:prstGeom prst="rect">
            <a:avLst/>
          </a:prstGeom>
        </p:spPr>
      </p:pic>
      <p:pic>
        <p:nvPicPr>
          <p:cNvPr id="1532" name="picture 15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3179127"/>
            <a:ext cx="279400" cy="279400"/>
          </a:xfrm>
          <a:prstGeom prst="rect">
            <a:avLst/>
          </a:prstGeom>
        </p:spPr>
      </p:pic>
      <p:pic>
        <p:nvPicPr>
          <p:cNvPr id="1534" name="picture 15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032337"/>
            <a:ext cx="279400" cy="275905"/>
          </a:xfrm>
          <a:prstGeom prst="rect">
            <a:avLst/>
          </a:prstGeom>
        </p:spPr>
      </p:pic>
      <p:pic>
        <p:nvPicPr>
          <p:cNvPr id="1536" name="picture 15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1348283"/>
            <a:ext cx="279400" cy="271474"/>
          </a:xfrm>
          <a:prstGeom prst="rect">
            <a:avLst/>
          </a:prstGeom>
        </p:spPr>
      </p:pic>
      <p:pic>
        <p:nvPicPr>
          <p:cNvPr id="1538" name="picture 15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771207"/>
            <a:ext cx="279400" cy="279400"/>
          </a:xfrm>
          <a:prstGeom prst="rect">
            <a:avLst/>
          </a:prstGeom>
        </p:spPr>
      </p:pic>
      <p:sp>
        <p:nvSpPr>
          <p:cNvPr id="1540" name="textbox 154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14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2" name="table 1542"/>
          <p:cNvGraphicFramePr>
            <a:graphicFrameLocks noGrp="1"/>
          </p:cNvGraphicFramePr>
          <p:nvPr/>
        </p:nvGraphicFramePr>
        <p:xfrm>
          <a:off x="28575" y="1584325"/>
          <a:ext cx="9086850" cy="4803140"/>
        </p:xfrm>
        <a:graphic>
          <a:graphicData uri="http://schemas.openxmlformats.org/drawingml/2006/table">
            <a:tbl>
              <a:tblPr/>
              <a:tblGrid>
                <a:gridCol w="947419"/>
                <a:gridCol w="8139430"/>
              </a:tblGrid>
              <a:tr h="4584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4790" algn="l" rtl="0" eaLnBrk="0">
                        <a:lnSpc>
                          <a:spcPct val="8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状</a:t>
                      </a:r>
                      <a:r>
                        <a:rPr sz="1500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态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60470" algn="l" rtl="0" eaLnBrk="0">
                        <a:lnSpc>
                          <a:spcPct val="8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说</a:t>
                      </a:r>
                      <a:r>
                        <a:rPr sz="1500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明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9100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ts val="2173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Running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Runable</a:t>
                      </a:r>
                      <a:r>
                        <a:rPr sz="15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，进程在执行中或在就绪</a:t>
                      </a: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队列排队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7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8465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" algn="l" rtl="0" eaLnBrk="0">
                        <a:lnSpc>
                          <a:spcPts val="2173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Delaying</a:t>
                      </a:r>
                      <a:r>
                        <a:rPr sz="15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，非中断性睡眠，通常是因为等待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I/O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783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Sleep</a:t>
                      </a:r>
                      <a:r>
                        <a:rPr sz="15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，正在睡眠，等待事件发生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9100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4" algn="l" rtl="0" eaLnBrk="0">
                        <a:lnSpc>
                          <a:spcPts val="2173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Traced</a:t>
                      </a:r>
                      <a:r>
                        <a:rPr sz="15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</a:t>
                      </a:r>
                      <a:r>
                        <a:rPr sz="15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stopped</a:t>
                      </a:r>
                      <a:r>
                        <a:rPr sz="15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，被跟踪或停止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846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Z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" algn="l" rtl="0" eaLnBrk="0">
                        <a:lnSpc>
                          <a:spcPts val="2173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Zombie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Defunction</a:t>
                      </a:r>
                      <a:r>
                        <a:rPr sz="15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，僵尸状态。进程已经终止，但父</a:t>
                      </a: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进程没有对它的结束做适当处理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904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" algn="l" rtl="0" eaLnBrk="0">
                        <a:lnSpc>
                          <a:spcPts val="2173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Wait</a:t>
                      </a:r>
                      <a:r>
                        <a:rPr sz="15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，无内存页面（被换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出</a:t>
                      </a:r>
                      <a:r>
                        <a:rPr sz="1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）</a:t>
                      </a:r>
                      <a:r>
                        <a:rPr sz="1500" kern="0" spc="-5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（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kernel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2.6.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xx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后不再使用）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7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846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低优先级进程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497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4" algn="l" rtl="0" eaLnBrk="0">
                        <a:lnSpc>
                          <a:spcPts val="2173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Locked</a:t>
                      </a:r>
                      <a:r>
                        <a:rPr sz="15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，页面被锁进内存（用于实时控制或用户控制的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/O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）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4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7990" algn="l" rtl="0" eaLnBrk="0">
                        <a:lnSpc>
                          <a:spcPts val="108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&lt;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高优先级进程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44" name="textbox 1544"/>
          <p:cNvSpPr/>
          <p:nvPr/>
        </p:nvSpPr>
        <p:spPr>
          <a:xfrm>
            <a:off x="184785" y="610666"/>
            <a:ext cx="5986779" cy="916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0" algn="l" rtl="0" eaLnBrk="0">
              <a:lnSpc>
                <a:spcPct val="87000"/>
              </a:lnSpc>
              <a:tabLst>
                <a:tab pos="46926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2300" b="1" kern="0" spc="-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．进程的状态</a:t>
            </a:r>
            <a:endParaRPr sz="2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22250" algn="l" rtl="0" eaLnBrk="0">
              <a:lnSpc>
                <a:spcPct val="92000"/>
              </a:lnSpc>
              <a:spcBef>
                <a:spcPts val="6"/>
              </a:spcBef>
              <a:tabLst>
                <a:tab pos="473709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输出信息中的状态标志如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下表所示。</a:t>
            </a:r>
            <a:endParaRPr sz="2300" dirty="0">
              <a:latin typeface="SimSun"/>
              <a:ea typeface="SimSun"/>
              <a:cs typeface="SimSun"/>
            </a:endParaRPr>
          </a:p>
        </p:txBody>
      </p:sp>
      <p:pic>
        <p:nvPicPr>
          <p:cNvPr id="1546" name="picture 15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1242695"/>
            <a:ext cx="209550" cy="209550"/>
          </a:xfrm>
          <a:prstGeom prst="rect">
            <a:avLst/>
          </a:prstGeom>
        </p:spPr>
      </p:pic>
      <p:pic>
        <p:nvPicPr>
          <p:cNvPr id="1548" name="picture 15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673734"/>
            <a:ext cx="209550" cy="209550"/>
          </a:xfrm>
          <a:prstGeom prst="rect">
            <a:avLst/>
          </a:prstGeom>
        </p:spPr>
      </p:pic>
      <p:sp>
        <p:nvSpPr>
          <p:cNvPr id="1550" name="textbox 1550"/>
          <p:cNvSpPr/>
          <p:nvPr/>
        </p:nvSpPr>
        <p:spPr>
          <a:xfrm>
            <a:off x="96037" y="-37465"/>
            <a:ext cx="589025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6.1.4</a:t>
            </a:r>
            <a:r>
              <a:rPr sz="3500" b="1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500" b="1" kern="0" spc="-1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进程状态及查</a:t>
            </a:r>
            <a:r>
              <a:rPr sz="3500" b="1" kern="0" spc="-1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询（</a:t>
            </a:r>
            <a:r>
              <a:rPr sz="3500" b="1" kern="0" spc="-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</a:t>
            </a:r>
            <a:r>
              <a:rPr sz="3500" b="1" kern="0" spc="-1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1552" name="textbox 155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  <p:pic>
        <p:nvPicPr>
          <p:cNvPr id="1554" name="picture 15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textbox 1556"/>
          <p:cNvSpPr/>
          <p:nvPr/>
        </p:nvSpPr>
        <p:spPr>
          <a:xfrm>
            <a:off x="111760" y="695337"/>
            <a:ext cx="8924925" cy="5133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7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7025" algn="l" rtl="0" eaLnBrk="0">
              <a:lnSpc>
                <a:spcPct val="86000"/>
              </a:lnSpc>
              <a:tabLst>
                <a:tab pos="499109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-5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．前台进程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2600" indent="-155575" algn="l" rtl="0" eaLnBrk="0">
              <a:lnSpc>
                <a:spcPct val="94000"/>
              </a:lnSpc>
              <a:spcBef>
                <a:spcPts val="1050"/>
              </a:spcBef>
              <a:tabLst>
                <a:tab pos="488315" algn="l"/>
              </a:tabLst>
            </a:pPr>
            <a:r>
              <a:rPr sz="35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1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前台进程</a:t>
            </a:r>
            <a:r>
              <a:rPr sz="3500" b="1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foreground</a:t>
            </a:r>
            <a:r>
              <a:rPr sz="35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</a:t>
            </a:r>
            <a:r>
              <a:rPr sz="3500" b="1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）是指</a:t>
            </a:r>
            <a:r>
              <a:rPr sz="3500" b="1" kern="0" spc="1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户直接控制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用于完成某个任务的进程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79425" indent="37465" algn="l" rtl="0" eaLnBrk="0">
              <a:lnSpc>
                <a:spcPct val="102000"/>
              </a:lnSpc>
              <a:spcBef>
                <a:spcPts val="703"/>
              </a:spcBef>
              <a:tabLst/>
            </a:pP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因此也叫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终端交互式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。它从标准输入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读数据，向标准输出写数据，将错误信息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输出到标准错误，也可以是用户直接交互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控制的完成某种功能的程序，如文字加工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与处理、游戏、浏览器和不同行业的各种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应用程序等。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558" name="picture 15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1536382"/>
            <a:ext cx="314325" cy="314325"/>
          </a:xfrm>
          <a:prstGeom prst="rect">
            <a:avLst/>
          </a:prstGeom>
        </p:spPr>
      </p:pic>
      <p:pic>
        <p:nvPicPr>
          <p:cNvPr id="1560" name="picture 15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784542"/>
            <a:ext cx="314325" cy="314325"/>
          </a:xfrm>
          <a:prstGeom prst="rect">
            <a:avLst/>
          </a:prstGeom>
        </p:spPr>
      </p:pic>
      <p:sp>
        <p:nvSpPr>
          <p:cNvPr id="1562" name="textbox 1562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16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  <p:sp>
        <p:nvSpPr>
          <p:cNvPr id="1564" name="textbox 1564"/>
          <p:cNvSpPr/>
          <p:nvPr/>
        </p:nvSpPr>
        <p:spPr>
          <a:xfrm>
            <a:off x="96037" y="-44450"/>
            <a:ext cx="3107054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6.1.5</a:t>
            </a:r>
            <a:r>
              <a:rPr sz="3500" b="1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三</a:t>
            </a:r>
            <a:r>
              <a:rPr sz="3500" kern="0" spc="-4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类进程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566" name="picture 15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8" name="picture 15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  <p:sp>
        <p:nvSpPr>
          <p:cNvPr id="1570" name="textbox 1570"/>
          <p:cNvSpPr/>
          <p:nvPr/>
        </p:nvSpPr>
        <p:spPr>
          <a:xfrm>
            <a:off x="54610" y="544524"/>
            <a:ext cx="8738869" cy="5966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7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7025" algn="l" rtl="0" eaLnBrk="0">
              <a:lnSpc>
                <a:spcPct val="86000"/>
              </a:lnSpc>
              <a:tabLst>
                <a:tab pos="474980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-4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．后台进程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79425" indent="-152400" algn="l" rtl="0" eaLnBrk="0">
              <a:lnSpc>
                <a:spcPct val="102000"/>
              </a:lnSpc>
              <a:spcBef>
                <a:spcPts val="714"/>
              </a:spcBef>
              <a:tabLst>
                <a:tab pos="484505" algn="l"/>
              </a:tabLst>
            </a:pPr>
            <a:r>
              <a:rPr sz="35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1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后台进程</a:t>
            </a:r>
            <a:r>
              <a:rPr sz="3500" b="1" kern="0" spc="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background</a:t>
            </a:r>
            <a:r>
              <a:rPr sz="3500" b="1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</a:t>
            </a:r>
            <a:r>
              <a:rPr sz="3500" b="1" kern="0" spc="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）是指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在系统后台运行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的进程。在一个系统中可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能运行着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很多一般用户不知道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也不关心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的进程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，如系统本身用于管理和控制的进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程、各种服务器进程等。前台进程也可放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在后台运行，但这时要用到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I/O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重定向。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79425" indent="-152400" algn="l" rtl="0" eaLnBrk="0">
              <a:lnSpc>
                <a:spcPct val="98000"/>
              </a:lnSpc>
              <a:spcBef>
                <a:spcPts val="299"/>
              </a:spcBef>
              <a:tabLst>
                <a:tab pos="495300" algn="l"/>
              </a:tabLst>
            </a:pPr>
            <a:r>
              <a:rPr sz="35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1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守候进程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daemon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）也叫</a:t>
            </a:r>
            <a:r>
              <a:rPr sz="3500" b="1" kern="0" spc="1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服务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器或精灵进程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，它是后台进程的一种，该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类进程永久不停地运行着，以等待其他进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程提出服务请求而为它们提供服务。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572" name="picture 15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310" y="4474209"/>
            <a:ext cx="314325" cy="314325"/>
          </a:xfrm>
          <a:prstGeom prst="rect">
            <a:avLst/>
          </a:prstGeom>
        </p:spPr>
      </p:pic>
      <p:pic>
        <p:nvPicPr>
          <p:cNvPr id="1574" name="picture 15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310" y="1182370"/>
            <a:ext cx="314325" cy="314325"/>
          </a:xfrm>
          <a:prstGeom prst="rect">
            <a:avLst/>
          </a:prstGeom>
        </p:spPr>
      </p:pic>
      <p:pic>
        <p:nvPicPr>
          <p:cNvPr id="1576" name="picture 15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310" y="633729"/>
            <a:ext cx="314325" cy="314325"/>
          </a:xfrm>
          <a:prstGeom prst="rect">
            <a:avLst/>
          </a:prstGeom>
        </p:spPr>
      </p:pic>
      <p:sp>
        <p:nvSpPr>
          <p:cNvPr id="1578" name="textbox 157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17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  <p:sp>
        <p:nvSpPr>
          <p:cNvPr id="1580" name="textbox 1580"/>
          <p:cNvSpPr/>
          <p:nvPr/>
        </p:nvSpPr>
        <p:spPr>
          <a:xfrm>
            <a:off x="96037" y="-44450"/>
            <a:ext cx="2980054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6.1.5</a:t>
            </a:r>
            <a:r>
              <a:rPr sz="3500" b="1" kern="0" spc="6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三</a:t>
            </a:r>
            <a:r>
              <a:rPr sz="3500" kern="0" spc="-4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类进程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textbox 1582"/>
          <p:cNvSpPr/>
          <p:nvPr/>
        </p:nvSpPr>
        <p:spPr>
          <a:xfrm>
            <a:off x="91122" y="628433"/>
            <a:ext cx="8778875" cy="5612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1950" algn="l" rtl="0" eaLnBrk="0">
              <a:lnSpc>
                <a:spcPct val="86000"/>
              </a:lnSpc>
              <a:tabLst>
                <a:tab pos="482600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900" b="1" kern="0" spc="-4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．批处理进程</a:t>
            </a:r>
            <a:endParaRPr sz="3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2600" indent="-121285" algn="l" rtl="0" eaLnBrk="0">
              <a:lnSpc>
                <a:spcPct val="98000"/>
              </a:lnSpc>
              <a:spcBef>
                <a:spcPts val="1170"/>
              </a:spcBef>
              <a:tabLst>
                <a:tab pos="480694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批处理进程（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batch</a:t>
            </a:r>
            <a:r>
              <a:rPr sz="39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</a:t>
            </a:r>
            <a:r>
              <a:rPr sz="39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）是用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户按照某种意图将一批作业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和任务通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过编程的方法提交给系统，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让系统在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某个合适的时间来调度和执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行的进程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93394" indent="39369" algn="l" rtl="0" eaLnBrk="0">
              <a:lnSpc>
                <a:spcPct val="99000"/>
              </a:lnSpc>
              <a:spcBef>
                <a:spcPts val="689"/>
              </a:spcBef>
              <a:tabLst/>
            </a:pP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。批处理进程是通过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9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编程等方法</a:t>
            </a:r>
            <a:r>
              <a:rPr sz="3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3900" kern="0" spc="1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将所要处理的工作规划好，之后由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系统启动并依次执行的进程。事实上</a:t>
            </a:r>
            <a:r>
              <a:rPr sz="39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3900" kern="0" spc="1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是在某个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shell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的控制下解释执行的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pic>
        <p:nvPicPr>
          <p:cNvPr id="1584" name="picture 15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3822" y="1538605"/>
            <a:ext cx="349250" cy="349250"/>
          </a:xfrm>
          <a:prstGeom prst="rect">
            <a:avLst/>
          </a:prstGeom>
        </p:spPr>
      </p:pic>
      <p:pic>
        <p:nvPicPr>
          <p:cNvPr id="1586" name="picture 15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3822" y="725804"/>
            <a:ext cx="349250" cy="349250"/>
          </a:xfrm>
          <a:prstGeom prst="rect">
            <a:avLst/>
          </a:prstGeom>
        </p:spPr>
      </p:pic>
      <p:sp>
        <p:nvSpPr>
          <p:cNvPr id="1588" name="textbox 158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</a:t>
            </a: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ux</a:t>
            </a: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-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  </a:t>
            </a:r>
            <a:r>
              <a:rPr sz="1700" kern="0" spc="-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</a:t>
            </a:r>
            <a:r>
              <a:rPr sz="2700" kern="0" spc="-3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-3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18</a:t>
            </a:r>
            <a:r>
              <a:rPr sz="2700" kern="0" spc="-3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  <p:sp>
        <p:nvSpPr>
          <p:cNvPr id="1590" name="textbox 1590"/>
          <p:cNvSpPr/>
          <p:nvPr/>
        </p:nvSpPr>
        <p:spPr>
          <a:xfrm>
            <a:off x="96037" y="-37465"/>
            <a:ext cx="3107054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6.1.5</a:t>
            </a:r>
            <a:r>
              <a:rPr sz="3500" b="1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三</a:t>
            </a:r>
            <a:r>
              <a:rPr sz="3500" kern="0" spc="-4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类进程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592" name="picture 15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textbox 1594"/>
          <p:cNvSpPr/>
          <p:nvPr/>
        </p:nvSpPr>
        <p:spPr>
          <a:xfrm>
            <a:off x="-12700" y="-45084"/>
            <a:ext cx="9169400" cy="6098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232"/>
              </a:lnSpc>
              <a:spcBef>
                <a:spcPts val="2"/>
              </a:spcBef>
              <a:tabLst>
                <a:tab pos="84455" algn="l"/>
                <a:tab pos="9156700" algn="l"/>
              </a:tabLst>
            </a:pPr>
            <a:r>
              <a:rPr sz="3400" b="1" strike="sngStrike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4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5400" b="1" kern="0" spc="-810" baseline="5670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5400" b="1" strike="sngStrike" kern="0" spc="-810" baseline="-14678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录</a:t>
            </a:r>
            <a:r>
              <a:rPr sz="5400" b="1" kern="0" spc="-810" baseline="5670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.1</a:t>
            </a:r>
            <a:r>
              <a:rPr sz="5400" b="1" strike="sngStrike" kern="0" spc="-810" baseline="-14678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的</a:t>
            </a:r>
            <a:r>
              <a:rPr sz="3400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</a:t>
            </a:r>
            <a:r>
              <a:rPr sz="5400" b="1" kern="0" spc="-810" baseline="56701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的</a:t>
            </a:r>
            <a:r>
              <a:rPr sz="5400" b="1" kern="0" spc="0" baseline="5670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setuid</a:t>
            </a:r>
            <a:r>
              <a:rPr sz="3400" b="1" strike="sngStrike" kern="0" spc="-4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400" b="1" kern="0" spc="70" baseline="56701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、</a:t>
            </a:r>
            <a:r>
              <a:rPr sz="5400" b="1" kern="0" spc="0" baseline="5670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setgid</a:t>
            </a:r>
            <a:r>
              <a:rPr sz="5400" b="1" kern="0" spc="70" baseline="56701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权限和</a:t>
            </a:r>
            <a:r>
              <a:rPr sz="3400" strike="sngStrike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	</a:t>
            </a:r>
            <a:endParaRPr sz="3400" dirty="0">
              <a:latin typeface="STXinwei"/>
              <a:ea typeface="STXinwei"/>
              <a:cs typeface="STXinwei"/>
            </a:endParaRPr>
          </a:p>
          <a:p>
            <a:pPr marL="241934" algn="l" rtl="0" eaLnBrk="0">
              <a:lnSpc>
                <a:spcPct val="89000"/>
              </a:lnSpc>
              <a:spcBef>
                <a:spcPts val="573"/>
              </a:spcBef>
              <a:tabLst/>
            </a:pP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200" b="1" kern="0" spc="-3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suid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sgid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权限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241934" algn="l" rtl="0" eaLnBrk="0">
              <a:lnSpc>
                <a:spcPct val="86000"/>
              </a:lnSpc>
              <a:spcBef>
                <a:spcPts val="428"/>
              </a:spcBef>
              <a:tabLst/>
            </a:pPr>
            <a:r>
              <a:rPr sz="32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2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）概念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88950" algn="l" rtl="0" eaLnBrk="0">
              <a:lnSpc>
                <a:spcPct val="87000"/>
              </a:lnSpc>
              <a:spcBef>
                <a:spcPts val="561"/>
              </a:spcBef>
              <a:tabLst>
                <a:tab pos="675005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对于</a:t>
            </a:r>
            <a:r>
              <a:rPr sz="39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可执行文件</a:t>
            </a:r>
            <a:r>
              <a:rPr sz="32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，有些文件还有</a:t>
            </a:r>
            <a:r>
              <a:rPr sz="39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另外两个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684530" algn="l" rtl="0" eaLnBrk="0">
              <a:lnSpc>
                <a:spcPct val="86000"/>
              </a:lnSpc>
              <a:spcBef>
                <a:spcPts val="760"/>
              </a:spcBef>
              <a:tabLst/>
            </a:pPr>
            <a:r>
              <a:rPr sz="32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与</a:t>
            </a:r>
            <a:r>
              <a:rPr sz="39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执行有关</a:t>
            </a:r>
            <a:r>
              <a:rPr sz="32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9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属性</a:t>
            </a:r>
            <a:r>
              <a:rPr sz="32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40055" algn="l" rtl="0" eaLnBrk="0">
              <a:lnSpc>
                <a:spcPct val="86000"/>
              </a:lnSpc>
              <a:spcBef>
                <a:spcPts val="709"/>
              </a:spcBef>
              <a:tabLst/>
            </a:pP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）设置</a:t>
            </a:r>
            <a:r>
              <a:rPr sz="3200" b="1" kern="0" spc="-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</a:t>
            </a:r>
            <a:r>
              <a:rPr sz="3200" b="1" kern="0" spc="-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</a:t>
            </a:r>
            <a:r>
              <a:rPr sz="3200" b="1" kern="0" spc="-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权限</a:t>
            </a: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setuid/suid</a:t>
            </a: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40055" algn="l" rtl="0" eaLnBrk="0">
              <a:lnSpc>
                <a:spcPct val="89000"/>
              </a:lnSpc>
              <a:spcBef>
                <a:spcPts val="545"/>
              </a:spcBef>
              <a:tabLst/>
            </a:pP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）设置</a:t>
            </a:r>
            <a:r>
              <a:rPr sz="3200" b="1" kern="0" spc="-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组</a:t>
            </a:r>
            <a:r>
              <a:rPr sz="3200" b="1" kern="0" spc="-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</a:t>
            </a:r>
            <a:r>
              <a:rPr sz="3200" b="1" kern="0" spc="-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权限</a:t>
            </a: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2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setgid/sgid</a:t>
            </a:r>
            <a:r>
              <a:rPr sz="3200" b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678180" indent="-188595" algn="l" rtl="0" eaLnBrk="0">
              <a:lnSpc>
                <a:spcPct val="94000"/>
              </a:lnSpc>
              <a:spcBef>
                <a:spcPts val="471"/>
              </a:spcBef>
              <a:tabLst>
                <a:tab pos="702309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当一个程序具有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suid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属性时，它</a:t>
            </a:r>
            <a:r>
              <a:rPr sz="3200" b="1" kern="0" spc="-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执行时的</a:t>
            </a:r>
            <a:r>
              <a:rPr sz="3200" b="1" kern="0" spc="-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  </a:t>
            </a: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有效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）将是该程序所有者的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3200" b="1" kern="0" spc="-5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，记为</a:t>
            </a:r>
            <a:r>
              <a:rPr sz="3200" b="1" kern="0" spc="-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euid</a:t>
            </a: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3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3200" kern="0" spc="8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而执行者原来的</a:t>
            </a:r>
            <a:r>
              <a:rPr sz="32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称为</a:t>
            </a:r>
            <a:r>
              <a:rPr sz="32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真实</a:t>
            </a:r>
            <a:r>
              <a:rPr sz="3200" b="1" kern="0" spc="-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uid</a:t>
            </a:r>
            <a:r>
              <a:rPr sz="3200" b="1" kern="0" spc="-5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，记为</a:t>
            </a:r>
            <a:r>
              <a:rPr sz="3200" b="1" kern="0" spc="-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ruid</a:t>
            </a:r>
            <a:endParaRPr sz="3200" dirty="0">
              <a:latin typeface="Arial"/>
              <a:ea typeface="Arial"/>
              <a:cs typeface="Arial"/>
            </a:endParaRPr>
          </a:p>
          <a:p>
            <a:pPr marL="716280" algn="l" rtl="0" eaLnBrk="0">
              <a:lnSpc>
                <a:spcPct val="86000"/>
              </a:lnSpc>
              <a:spcBef>
                <a:spcPts val="621"/>
              </a:spcBef>
              <a:tabLst/>
            </a:pP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。此时，程序的执行者具有程序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所有者的权限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pic>
        <p:nvPicPr>
          <p:cNvPr id="1596" name="picture 15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4228464"/>
            <a:ext cx="279400" cy="279400"/>
          </a:xfrm>
          <a:prstGeom prst="rect">
            <a:avLst/>
          </a:prstGeom>
        </p:spPr>
      </p:pic>
      <p:pic>
        <p:nvPicPr>
          <p:cNvPr id="1598" name="picture 15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2094865"/>
            <a:ext cx="279400" cy="279400"/>
          </a:xfrm>
          <a:prstGeom prst="rect">
            <a:avLst/>
          </a:prstGeom>
        </p:spPr>
      </p:pic>
      <p:sp>
        <p:nvSpPr>
          <p:cNvPr id="1600" name="textbox 1600"/>
          <p:cNvSpPr/>
          <p:nvPr/>
        </p:nvSpPr>
        <p:spPr>
          <a:xfrm>
            <a:off x="1424343" y="431800"/>
            <a:ext cx="222567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500" b="1" strike="sngStrike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3500" b="1" strike="sngStrike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r>
              <a:rPr sz="3500" b="1" strike="sngStrike" kern="0" spc="1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属性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1602" name="textbox 1602"/>
          <p:cNvSpPr/>
          <p:nvPr/>
        </p:nvSpPr>
        <p:spPr>
          <a:xfrm>
            <a:off x="1454734" y="-45084"/>
            <a:ext cx="226377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可执行文件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604" name="picture 16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2224" y="0"/>
            <a:ext cx="437997" cy="852322"/>
          </a:xfrm>
          <a:prstGeom prst="rect">
            <a:avLst/>
          </a:prstGeom>
        </p:spPr>
      </p:pic>
      <p:sp>
        <p:nvSpPr>
          <p:cNvPr id="1606" name="textbox 160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textbox 1608"/>
          <p:cNvSpPr/>
          <p:nvPr/>
        </p:nvSpPr>
        <p:spPr>
          <a:xfrm>
            <a:off x="61112" y="27940"/>
            <a:ext cx="9095740" cy="5886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1920" indent="-109220" algn="l" rtl="0" eaLnBrk="0">
              <a:lnSpc>
                <a:spcPct val="89000"/>
              </a:lnSpc>
              <a:tabLst>
                <a:tab pos="9082405" algn="l"/>
              </a:tabLst>
            </a:pPr>
            <a:r>
              <a:rPr sz="3500" b="1" u="sng" kern="0" spc="5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6.3.1  </a:t>
            </a:r>
            <a:r>
              <a:rPr sz="3500" b="1" u="sng" kern="0" spc="5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可执行文件的</a:t>
            </a: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setuid</a:t>
            </a:r>
            <a:r>
              <a:rPr sz="3500" b="1" u="sng" kern="0" spc="-45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 </a:t>
            </a:r>
            <a:r>
              <a:rPr sz="3500" b="1" u="sng" kern="0" spc="5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、</a:t>
            </a:r>
            <a:r>
              <a:rPr sz="3500" u="sng" kern="0" spc="-70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 </a:t>
            </a: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setgid</a:t>
            </a:r>
            <a:r>
              <a:rPr sz="3500" b="1" u="sng" kern="0" spc="5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权限和</a:t>
            </a:r>
            <a:r>
              <a:rPr sz="35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	</a:t>
            </a: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目</a:t>
            </a:r>
            <a:r>
              <a:rPr sz="3500" kern="0" spc="-3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录的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sticky</a:t>
            </a:r>
            <a:r>
              <a:rPr sz="3500" b="1" kern="0" spc="-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属性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558800" indent="-144779" algn="l" rtl="0" eaLnBrk="0">
              <a:lnSpc>
                <a:spcPct val="97000"/>
              </a:lnSpc>
              <a:spcBef>
                <a:spcPts val="982"/>
              </a:spcBef>
              <a:tabLst>
                <a:tab pos="567055" algn="l"/>
              </a:tabLst>
            </a:pP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当一个程序具有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sgid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属性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时，它执行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时的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gid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（有效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gid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）将是该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程序的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533400" indent="2540" algn="l" rtl="0" eaLnBrk="0">
              <a:lnSpc>
                <a:spcPct val="98000"/>
              </a:lnSpc>
              <a:spcBef>
                <a:spcPts val="560"/>
              </a:spcBef>
              <a:tabLst/>
            </a:pP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gid</a:t>
            </a:r>
            <a:r>
              <a:rPr sz="3900" b="1" kern="0" spc="-5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，记为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egid</a:t>
            </a:r>
            <a:r>
              <a:rPr sz="3900" b="1" kern="0" spc="-5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，而执行者原来的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gid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称为真实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gid</a:t>
            </a:r>
            <a:r>
              <a:rPr sz="3900" b="1" kern="0" spc="-6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，记为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rgid</a:t>
            </a:r>
            <a:r>
              <a:rPr sz="3900" b="1" kern="0" spc="-5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。此时，程</a:t>
            </a:r>
            <a:r>
              <a:rPr sz="39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序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的执行者具有程序所有者所在组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的权</a:t>
            </a:r>
            <a:r>
              <a:rPr sz="39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限。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537209" indent="-123189" algn="l" rtl="0" eaLnBrk="0">
              <a:lnSpc>
                <a:spcPct val="94000"/>
              </a:lnSpc>
              <a:spcBef>
                <a:spcPts val="802"/>
              </a:spcBef>
              <a:tabLst>
                <a:tab pos="527050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suid</a:t>
            </a:r>
            <a:r>
              <a:rPr sz="39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sgid</a:t>
            </a:r>
            <a:r>
              <a:rPr sz="39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属性</a:t>
            </a:r>
            <a:r>
              <a:rPr sz="3900" b="1" u="sng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只对</a:t>
            </a:r>
            <a:r>
              <a:rPr sz="3900" b="1" u="sng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二进制</a:t>
            </a:r>
            <a:r>
              <a:rPr sz="3900" b="1" u="sng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可执行文件</a:t>
            </a:r>
            <a:r>
              <a:rPr sz="3900" b="1" u="sng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有效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，而对可执行的</a:t>
            </a:r>
            <a:r>
              <a:rPr sz="39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脚本文件无效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pic>
        <p:nvPicPr>
          <p:cNvPr id="1610" name="picture 16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6047" y="4859654"/>
            <a:ext cx="349250" cy="349250"/>
          </a:xfrm>
          <a:prstGeom prst="rect">
            <a:avLst/>
          </a:prstGeom>
        </p:spPr>
      </p:pic>
      <p:pic>
        <p:nvPicPr>
          <p:cNvPr id="1612" name="picture 16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6047" y="1202054"/>
            <a:ext cx="349250" cy="349250"/>
          </a:xfrm>
          <a:prstGeom prst="rect">
            <a:avLst/>
          </a:prstGeom>
        </p:spPr>
      </p:pic>
      <p:sp>
        <p:nvSpPr>
          <p:cNvPr id="1614" name="textbox 161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textbox 1616"/>
          <p:cNvSpPr/>
          <p:nvPr/>
        </p:nvSpPr>
        <p:spPr>
          <a:xfrm>
            <a:off x="111760" y="563169"/>
            <a:ext cx="8685530" cy="5824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2570" algn="l" rtl="0" eaLnBrk="0">
              <a:lnSpc>
                <a:spcPct val="86000"/>
              </a:lnSpc>
              <a:tabLst/>
            </a:pPr>
            <a:r>
              <a:rPr sz="3200" b="1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200" b="1" kern="0" spc="-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200" b="1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200" b="1" kern="0" spc="-2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字符方式</a:t>
            </a:r>
            <a:r>
              <a:rPr sz="3200" b="1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492759" indent="-201295" algn="l" rtl="0" eaLnBrk="0">
              <a:lnSpc>
                <a:spcPct val="92000"/>
              </a:lnSpc>
              <a:spcBef>
                <a:spcPts val="504"/>
              </a:spcBef>
              <a:tabLst>
                <a:tab pos="466725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chmod</a:t>
            </a:r>
            <a:r>
              <a:rPr sz="3200" b="1" kern="0" spc="2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u+s myp1   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myp1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suid</a:t>
            </a:r>
            <a:r>
              <a:rPr sz="3200" b="1" kern="0" spc="-4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。修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改后的权限为</a:t>
            </a:r>
            <a:r>
              <a:rPr sz="3200" b="1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rwsr-xr-x</a:t>
            </a:r>
            <a:endParaRPr sz="3200" dirty="0">
              <a:latin typeface="Arial"/>
              <a:ea typeface="Arial"/>
              <a:cs typeface="Arial"/>
            </a:endParaRPr>
          </a:p>
          <a:p>
            <a:pPr marL="492759" indent="-201295" algn="l" rtl="0" eaLnBrk="0">
              <a:lnSpc>
                <a:spcPct val="92000"/>
              </a:lnSpc>
              <a:spcBef>
                <a:spcPts val="615"/>
              </a:spcBef>
              <a:tabLst>
                <a:tab pos="466725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chmod g+s myp2</a:t>
            </a:r>
            <a:r>
              <a:rPr sz="32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myp2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sgid</a:t>
            </a:r>
            <a:r>
              <a:rPr sz="3200" b="1" kern="0" spc="-4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。修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改后的权限为</a:t>
            </a:r>
            <a:r>
              <a:rPr sz="3200" b="1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rwxrwsr-x</a:t>
            </a:r>
            <a:endParaRPr sz="3200" dirty="0">
              <a:latin typeface="Arial"/>
              <a:ea typeface="Arial"/>
              <a:cs typeface="Arial"/>
            </a:endParaRPr>
          </a:p>
          <a:p>
            <a:pPr marL="472440" indent="-180339" algn="l" rtl="0" eaLnBrk="0">
              <a:lnSpc>
                <a:spcPct val="95000"/>
              </a:lnSpc>
              <a:spcBef>
                <a:spcPts val="606"/>
              </a:spcBef>
              <a:tabLst>
                <a:tab pos="466725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chmod</a:t>
            </a:r>
            <a:r>
              <a:rPr sz="3200" b="1" kern="0" spc="2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ug+s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myp3     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myp3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同时设置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suid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sgid</a:t>
            </a:r>
            <a:r>
              <a:rPr sz="3200" b="1" kern="0" spc="-4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。修改后的权限为</a:t>
            </a:r>
            <a:r>
              <a:rPr sz="3200" b="1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rwsrwsr</a:t>
            </a:r>
            <a:r>
              <a:rPr sz="3200" b="1" kern="0" spc="-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wx</a:t>
            </a:r>
            <a:endParaRPr sz="3200" dirty="0">
              <a:latin typeface="Arial"/>
              <a:ea typeface="Arial"/>
              <a:cs typeface="Arial"/>
            </a:endParaRPr>
          </a:p>
          <a:p>
            <a:pPr marL="242570" algn="l" rtl="0" eaLnBrk="0">
              <a:lnSpc>
                <a:spcPct val="86000"/>
              </a:lnSpc>
              <a:spcBef>
                <a:spcPts val="428"/>
              </a:spcBef>
              <a:tabLst/>
            </a:pPr>
            <a:r>
              <a:rPr sz="3200" b="1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200" b="1" kern="0" spc="-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200" b="1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200" b="1" kern="0" spc="-2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数字方法</a:t>
            </a:r>
            <a:r>
              <a:rPr sz="3200" b="1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292100" algn="l" rtl="0" eaLnBrk="0">
              <a:lnSpc>
                <a:spcPct val="89000"/>
              </a:lnSpc>
              <a:spcBef>
                <a:spcPts val="533"/>
              </a:spcBef>
              <a:tabLst>
                <a:tab pos="466725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chmod 4755 myp1</a:t>
            </a:r>
            <a:r>
              <a:rPr sz="32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p1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suid</a:t>
            </a:r>
            <a:endParaRPr sz="3200" dirty="0">
              <a:latin typeface="Arial"/>
              <a:ea typeface="Arial"/>
              <a:cs typeface="Arial"/>
            </a:endParaRPr>
          </a:p>
          <a:p>
            <a:pPr marL="292100" algn="l" rtl="0" eaLnBrk="0">
              <a:lnSpc>
                <a:spcPct val="89000"/>
              </a:lnSpc>
              <a:spcBef>
                <a:spcPts val="423"/>
              </a:spcBef>
              <a:tabLst>
                <a:tab pos="466725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chmod 2775 myp2</a:t>
            </a:r>
            <a:r>
              <a:rPr sz="32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p2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sgid</a:t>
            </a:r>
            <a:endParaRPr sz="3200" dirty="0">
              <a:latin typeface="Arial"/>
              <a:ea typeface="Arial"/>
              <a:cs typeface="Arial"/>
            </a:endParaRPr>
          </a:p>
          <a:p>
            <a:pPr marL="472440" indent="-180339" algn="l" rtl="0" eaLnBrk="0">
              <a:lnSpc>
                <a:spcPct val="95000"/>
              </a:lnSpc>
              <a:spcBef>
                <a:spcPts val="385"/>
              </a:spcBef>
              <a:tabLst>
                <a:tab pos="466725" algn="l"/>
              </a:tabLst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chmod 6777 myp3      </a:t>
            </a:r>
            <a:r>
              <a:rPr sz="3200" b="1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myp3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同时设置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suid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sgid</a:t>
            </a:r>
            <a:endParaRPr sz="3200" dirty="0">
              <a:latin typeface="Arial"/>
              <a:ea typeface="Arial"/>
              <a:cs typeface="Arial"/>
            </a:endParaRPr>
          </a:p>
        </p:txBody>
      </p:sp>
      <p:pic>
        <p:nvPicPr>
          <p:cNvPr id="1618" name="picture 16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5521007"/>
            <a:ext cx="279400" cy="279400"/>
          </a:xfrm>
          <a:prstGeom prst="rect">
            <a:avLst/>
          </a:prstGeom>
        </p:spPr>
      </p:pic>
      <p:pic>
        <p:nvPicPr>
          <p:cNvPr id="1620" name="picture 16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5033327"/>
            <a:ext cx="279400" cy="279400"/>
          </a:xfrm>
          <a:prstGeom prst="rect">
            <a:avLst/>
          </a:prstGeom>
        </p:spPr>
      </p:pic>
      <p:pic>
        <p:nvPicPr>
          <p:cNvPr id="1622" name="picture 16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4545647"/>
            <a:ext cx="279400" cy="279400"/>
          </a:xfrm>
          <a:prstGeom prst="rect">
            <a:avLst/>
          </a:prstGeom>
        </p:spPr>
      </p:pic>
      <p:pic>
        <p:nvPicPr>
          <p:cNvPr id="1624" name="picture 16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3082607"/>
            <a:ext cx="279400" cy="279400"/>
          </a:xfrm>
          <a:prstGeom prst="rect">
            <a:avLst/>
          </a:prstGeom>
        </p:spPr>
      </p:pic>
      <p:pic>
        <p:nvPicPr>
          <p:cNvPr id="1626" name="picture 16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107247"/>
            <a:ext cx="279400" cy="279400"/>
          </a:xfrm>
          <a:prstGeom prst="rect">
            <a:avLst/>
          </a:prstGeom>
        </p:spPr>
      </p:pic>
      <p:pic>
        <p:nvPicPr>
          <p:cNvPr id="1628" name="picture 16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1131887"/>
            <a:ext cx="279400" cy="279400"/>
          </a:xfrm>
          <a:prstGeom prst="rect">
            <a:avLst/>
          </a:prstGeom>
        </p:spPr>
      </p:pic>
      <p:sp>
        <p:nvSpPr>
          <p:cNvPr id="1630" name="textbox 163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34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  <p:pic>
        <p:nvPicPr>
          <p:cNvPr id="1632" name="picture 16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textbox 1634"/>
          <p:cNvSpPr/>
          <p:nvPr/>
        </p:nvSpPr>
        <p:spPr>
          <a:xfrm>
            <a:off x="-12700" y="91376"/>
            <a:ext cx="9169400" cy="539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>
                <a:tab pos="118110" algn="l"/>
                <a:tab pos="9156700" algn="l"/>
              </a:tabLst>
            </a:pP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	</a:t>
            </a:r>
            <a:r>
              <a:rPr sz="3500" b="1" u="sng" kern="0" spc="5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6.3.1  </a:t>
            </a:r>
            <a:r>
              <a:rPr sz="2300" b="1" u="sng" kern="0" spc="5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可执行文件的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setuid</a:t>
            </a:r>
            <a:r>
              <a:rPr sz="2300" b="1" u="sng" kern="0" spc="-29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 </a:t>
            </a:r>
            <a:r>
              <a:rPr sz="2300" b="1" u="sng" kern="0" spc="5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、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setgid</a:t>
            </a:r>
            <a:r>
              <a:rPr sz="2300" b="1" u="sng" kern="0" spc="5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权限和</a:t>
            </a:r>
            <a:r>
              <a:rPr sz="2300" u="sng" kern="0" spc="5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 </a:t>
            </a:r>
            <a:r>
              <a:rPr sz="2300" b="1" u="sng" kern="0" spc="4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目</a:t>
            </a:r>
            <a:r>
              <a:rPr sz="2300" u="sng" kern="0" spc="-25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 </a:t>
            </a:r>
            <a:r>
              <a:rPr sz="2300" b="1" u="sng" kern="0" spc="4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录的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sticky</a:t>
            </a:r>
            <a:r>
              <a:rPr sz="2300" b="1" u="sng" kern="0" spc="4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属性</a:t>
            </a:r>
            <a:r>
              <a:rPr sz="23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	</a:t>
            </a:r>
            <a:endParaRPr sz="2300" dirty="0">
              <a:latin typeface="STXinwei"/>
              <a:ea typeface="STXinwei"/>
              <a:cs typeface="STXinwei"/>
            </a:endParaRPr>
          </a:p>
          <a:p>
            <a:pPr marL="77469" algn="l" rtl="0" eaLnBrk="0">
              <a:lnSpc>
                <a:spcPct val="89000"/>
              </a:lnSpc>
              <a:spcBef>
                <a:spcPts val="1526"/>
              </a:spcBef>
              <a:tabLst/>
            </a:pP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200" b="1" kern="0" spc="-4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</a:t>
            </a:r>
            <a:r>
              <a:rPr sz="3200" b="1" kern="0" spc="-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sticky</a:t>
            </a:r>
            <a:r>
              <a:rPr sz="32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位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99060" algn="l" rtl="0" eaLnBrk="0">
              <a:lnSpc>
                <a:spcPct val="86000"/>
              </a:lnSpc>
              <a:spcBef>
                <a:spcPts val="2028"/>
              </a:spcBef>
              <a:tabLst/>
            </a:pPr>
            <a:r>
              <a:rPr sz="32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2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）概念</a:t>
            </a:r>
            <a:endParaRPr sz="3200" dirty="0">
              <a:latin typeface="SimSun"/>
              <a:ea typeface="SimSun"/>
              <a:cs typeface="SimSun"/>
            </a:endParaRPr>
          </a:p>
          <a:p>
            <a:pPr marL="527050" indent="4444" algn="l" rtl="0" eaLnBrk="0">
              <a:lnSpc>
                <a:spcPct val="101000"/>
              </a:lnSpc>
              <a:spcBef>
                <a:spcPts val="2252"/>
              </a:spcBef>
              <a:tabLst/>
            </a:pPr>
            <a:r>
              <a:rPr sz="4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sticky</a:t>
            </a:r>
            <a:r>
              <a:rPr sz="4700" b="1" kern="0" spc="1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权限只能运用于目录上</a:t>
            </a:r>
            <a:r>
              <a:rPr sz="32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含义是该目录下所有的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文件和子目录只能由所</a:t>
            </a: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属者删除，即使其的权限是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777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或者其他。假如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本来在该位上有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x,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则这些特别标志</a:t>
            </a:r>
            <a:r>
              <a:rPr sz="3200" kern="0" spc="-5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(suid, sgid,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sticky)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显示为小写字母</a:t>
            </a:r>
            <a:r>
              <a:rPr sz="3200" kern="0" spc="-5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(s, s,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t).</a:t>
            </a:r>
            <a:endParaRPr sz="3200" dirty="0">
              <a:latin typeface="Arial"/>
              <a:ea typeface="Arial"/>
              <a:cs typeface="Arial"/>
            </a:endParaRPr>
          </a:p>
          <a:p>
            <a:pPr marL="346075" algn="l" rtl="0" eaLnBrk="0">
              <a:lnSpc>
                <a:spcPts val="4586"/>
              </a:lnSpc>
              <a:spcBef>
                <a:spcPts val="759"/>
              </a:spcBef>
              <a:tabLst>
                <a:tab pos="659130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否则</a:t>
            </a:r>
            <a:r>
              <a:rPr sz="32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32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显示为大写字母</a:t>
            </a:r>
            <a:r>
              <a:rPr sz="3200" kern="0" spc="-5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(S, S, 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T)</a:t>
            </a:r>
            <a:r>
              <a:rPr sz="3200" b="1" kern="0" spc="4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3200" kern="0" spc="-7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200" dirty="0">
              <a:latin typeface="SimSun"/>
              <a:ea typeface="SimSun"/>
              <a:cs typeface="SimSun"/>
            </a:endParaRPr>
          </a:p>
        </p:txBody>
      </p:sp>
      <p:pic>
        <p:nvPicPr>
          <p:cNvPr id="1636" name="picture 16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610" y="5038407"/>
            <a:ext cx="279400" cy="279400"/>
          </a:xfrm>
          <a:prstGeom prst="rect">
            <a:avLst/>
          </a:prstGeom>
        </p:spPr>
      </p:pic>
      <p:pic>
        <p:nvPicPr>
          <p:cNvPr id="1638" name="picture 16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610" y="2205037"/>
            <a:ext cx="419100" cy="419100"/>
          </a:xfrm>
          <a:prstGeom prst="rect">
            <a:avLst/>
          </a:prstGeom>
        </p:spPr>
      </p:pic>
      <p:sp>
        <p:nvSpPr>
          <p:cNvPr id="1640" name="textbox 164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35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textbox 1642"/>
          <p:cNvSpPr/>
          <p:nvPr/>
        </p:nvSpPr>
        <p:spPr>
          <a:xfrm>
            <a:off x="184785" y="695337"/>
            <a:ext cx="8738869" cy="4551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4505" indent="-157479" algn="l" rtl="0" eaLnBrk="0">
              <a:lnSpc>
                <a:spcPct val="97000"/>
              </a:lnSpc>
              <a:tabLst>
                <a:tab pos="509905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当一个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目录具有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sticky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权限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时，它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内部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只能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被它的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所有者或超级用户删除、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更名或移动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。当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一个可执行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文件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具有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2600" indent="-8889" algn="l" rtl="0" eaLnBrk="0">
              <a:lnSpc>
                <a:spcPct val="97000"/>
              </a:lnSpc>
              <a:spcBef>
                <a:spcPts val="739"/>
              </a:spcBef>
              <a:tabLst/>
            </a:pP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sticky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权限时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，在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早期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的系统中，程序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执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行时的正文段映像将被锁在交换区中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，可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使得程序装入更快速。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8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3550" indent="-136525" algn="l" rtl="0" eaLnBrk="0">
              <a:lnSpc>
                <a:spcPct val="97000"/>
              </a:lnSpc>
              <a:tabLst>
                <a:tab pos="488315" algn="l"/>
              </a:tabLst>
            </a:pPr>
            <a:r>
              <a:rPr sz="35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设置粘着位的目录有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tmp</a:t>
            </a:r>
            <a:r>
              <a:rPr sz="3500" b="1" kern="0" spc="-5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usr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tmp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5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500" b="1" kern="0" spc="2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var</a:t>
            </a:r>
            <a:r>
              <a:rPr sz="3500" b="1" kern="0" spc="2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spool</a:t>
            </a:r>
            <a:r>
              <a:rPr sz="3500" b="1" kern="0" spc="2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uucppublic</a:t>
            </a:r>
            <a:r>
              <a:rPr sz="3500" b="1" kern="0" spc="2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等</a:t>
            </a:r>
            <a:r>
              <a:rPr sz="3500" b="1" kern="0" spc="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644" name="picture 16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4279582"/>
            <a:ext cx="314325" cy="314325"/>
          </a:xfrm>
          <a:prstGeom prst="rect">
            <a:avLst/>
          </a:prstGeom>
        </p:spPr>
      </p:pic>
      <p:pic>
        <p:nvPicPr>
          <p:cNvPr id="1646" name="picture 16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784542"/>
            <a:ext cx="314325" cy="314325"/>
          </a:xfrm>
          <a:prstGeom prst="rect">
            <a:avLst/>
          </a:prstGeom>
        </p:spPr>
      </p:pic>
      <p:sp>
        <p:nvSpPr>
          <p:cNvPr id="1648" name="textbox 1648"/>
          <p:cNvSpPr/>
          <p:nvPr/>
        </p:nvSpPr>
        <p:spPr>
          <a:xfrm>
            <a:off x="96037" y="-63246"/>
            <a:ext cx="8515984" cy="431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6.3.1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可执行文件的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setuid</a:t>
            </a:r>
            <a:r>
              <a:rPr sz="2300" b="1" kern="0" spc="-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、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setgid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权限和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目</a:t>
            </a:r>
            <a:r>
              <a:rPr sz="2300" kern="0" spc="-2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录的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sticky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属性</a:t>
            </a:r>
            <a:endParaRPr sz="2300" dirty="0">
              <a:latin typeface="STXinwei"/>
              <a:ea typeface="STXinwei"/>
              <a:cs typeface="STXinwei"/>
            </a:endParaRPr>
          </a:p>
        </p:txBody>
      </p:sp>
      <p:sp>
        <p:nvSpPr>
          <p:cNvPr id="1650" name="textbox 165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36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  <p:pic>
        <p:nvPicPr>
          <p:cNvPr id="1652" name="picture 16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textbox 1654"/>
          <p:cNvSpPr/>
          <p:nvPr/>
        </p:nvSpPr>
        <p:spPr>
          <a:xfrm>
            <a:off x="-12700" y="-45084"/>
            <a:ext cx="9169400" cy="6136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232"/>
              </a:lnSpc>
              <a:spcBef>
                <a:spcPts val="2"/>
              </a:spcBef>
              <a:tabLst>
                <a:tab pos="67310" algn="l"/>
                <a:tab pos="9156700" algn="l"/>
              </a:tabLst>
            </a:pPr>
            <a:r>
              <a:rPr sz="3400" b="1" strike="sngStrike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400" b="1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5400" b="1" kern="0" spc="-810" baseline="5670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5400" b="1" strike="sngStrike" kern="0" spc="-810" baseline="-14678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录</a:t>
            </a:r>
            <a:r>
              <a:rPr sz="5400" b="1" kern="0" spc="-810" baseline="5670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.1</a:t>
            </a:r>
            <a:r>
              <a:rPr sz="5400" b="1" strike="sngStrike" kern="0" spc="-810" baseline="-14678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的</a:t>
            </a:r>
            <a:r>
              <a:rPr sz="3400" kern="0" spc="4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</a:t>
            </a:r>
            <a:r>
              <a:rPr sz="5400" b="1" kern="0" spc="-810" baseline="56701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的</a:t>
            </a:r>
            <a:r>
              <a:rPr sz="5400" b="1" kern="0" spc="0" baseline="5670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setuid</a:t>
            </a:r>
            <a:r>
              <a:rPr sz="3400" b="1" strike="sngStrike" kern="0" spc="-4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400" b="1" kern="0" spc="70" baseline="56701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、</a:t>
            </a:r>
            <a:r>
              <a:rPr sz="5400" b="1" kern="0" spc="0" baseline="5670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setgid</a:t>
            </a:r>
            <a:r>
              <a:rPr sz="5400" b="1" kern="0" spc="70" baseline="56701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权限和</a:t>
            </a:r>
            <a:r>
              <a:rPr sz="3400" strike="sngStrike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	</a:t>
            </a:r>
            <a:endParaRPr sz="3400" dirty="0">
              <a:latin typeface="STXinwei"/>
              <a:ea typeface="STXinwei"/>
              <a:cs typeface="STXinwei"/>
            </a:endParaRPr>
          </a:p>
          <a:p>
            <a:pPr marL="415925" algn="l" rtl="0" eaLnBrk="0">
              <a:lnSpc>
                <a:spcPct val="86000"/>
              </a:lnSpc>
              <a:spcBef>
                <a:spcPts val="1746"/>
              </a:spcBef>
              <a:tabLst>
                <a:tab pos="564515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）管理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568325" indent="-152400" algn="l" rtl="0" eaLnBrk="0">
              <a:lnSpc>
                <a:spcPct val="101000"/>
              </a:lnSpc>
              <a:spcBef>
                <a:spcPts val="2249"/>
              </a:spcBef>
              <a:tabLst>
                <a:tab pos="56324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sticky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位的属性值为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</a:t>
            </a:r>
            <a:r>
              <a:rPr sz="3500" b="1" kern="0" spc="-5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，可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通过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chmod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命令设置。设有目录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mydir</a:t>
            </a:r>
            <a:r>
              <a:rPr sz="35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和文件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myfile 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的权限为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755</a:t>
            </a:r>
            <a:r>
              <a:rPr sz="3500" b="1" kern="0" spc="-5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，则可通过以下方法来设置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它的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sticky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位。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570230" indent="-154304" algn="l" rtl="0" eaLnBrk="0">
              <a:lnSpc>
                <a:spcPct val="94000"/>
              </a:lnSpc>
              <a:spcBef>
                <a:spcPts val="1993"/>
              </a:spcBef>
              <a:tabLst>
                <a:tab pos="55689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chmod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+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mydir</a:t>
            </a:r>
            <a:r>
              <a:rPr sz="3500" b="1" kern="0" spc="2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myfile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字符方式。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修改后的权限为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1755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rwxr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xr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-t</a:t>
            </a:r>
            <a:endParaRPr sz="3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15925" algn="l" rtl="0" eaLnBrk="0">
              <a:lnSpc>
                <a:spcPct val="92000"/>
              </a:lnSpc>
              <a:spcBef>
                <a:spcPts val="1"/>
              </a:spcBef>
              <a:tabLst>
                <a:tab pos="556894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chmod</a:t>
            </a:r>
            <a:r>
              <a:rPr sz="3500" b="1" kern="0" spc="3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1755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mydir</a:t>
            </a:r>
            <a:r>
              <a:rPr sz="3500" b="1" kern="0" spc="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myfile</a:t>
            </a:r>
            <a:r>
              <a:rPr sz="3500" b="1" kern="0" spc="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数字方式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656" name="picture 16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5666422"/>
            <a:ext cx="314325" cy="314325"/>
          </a:xfrm>
          <a:prstGeom prst="rect">
            <a:avLst/>
          </a:prstGeom>
        </p:spPr>
      </p:pic>
      <p:pic>
        <p:nvPicPr>
          <p:cNvPr id="1658" name="picture 16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4365942"/>
            <a:ext cx="314325" cy="314325"/>
          </a:xfrm>
          <a:prstGeom prst="rect">
            <a:avLst/>
          </a:prstGeom>
        </p:spPr>
      </p:pic>
      <p:pic>
        <p:nvPicPr>
          <p:cNvPr id="1660" name="picture 16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1968182"/>
            <a:ext cx="314325" cy="314325"/>
          </a:xfrm>
          <a:prstGeom prst="rect">
            <a:avLst/>
          </a:prstGeom>
        </p:spPr>
      </p:pic>
      <p:pic>
        <p:nvPicPr>
          <p:cNvPr id="1662" name="picture 16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1216342"/>
            <a:ext cx="314325" cy="314325"/>
          </a:xfrm>
          <a:prstGeom prst="rect">
            <a:avLst/>
          </a:prstGeom>
        </p:spPr>
      </p:pic>
      <p:sp>
        <p:nvSpPr>
          <p:cNvPr id="1664" name="textbox 1664"/>
          <p:cNvSpPr/>
          <p:nvPr/>
        </p:nvSpPr>
        <p:spPr>
          <a:xfrm>
            <a:off x="1406880" y="431800"/>
            <a:ext cx="222567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500" b="1" strike="sngStrike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3500" b="1" strike="sngStrike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r>
              <a:rPr sz="3500" b="1" strike="sngStrike" kern="0" spc="1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属性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1666" name="textbox 1666"/>
          <p:cNvSpPr/>
          <p:nvPr/>
        </p:nvSpPr>
        <p:spPr>
          <a:xfrm>
            <a:off x="1437589" y="-45084"/>
            <a:ext cx="226377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可执行文件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668" name="picture 16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762" y="0"/>
            <a:ext cx="437997" cy="852322"/>
          </a:xfrm>
          <a:prstGeom prst="rect">
            <a:avLst/>
          </a:prstGeom>
        </p:spPr>
      </p:pic>
      <p:sp>
        <p:nvSpPr>
          <p:cNvPr id="1670" name="textbox 167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37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textbox 1672"/>
          <p:cNvSpPr/>
          <p:nvPr/>
        </p:nvSpPr>
        <p:spPr>
          <a:xfrm>
            <a:off x="76835" y="645044"/>
            <a:ext cx="8774430" cy="586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0534" indent="-214629" algn="l" rtl="0" eaLnBrk="0">
              <a:lnSpc>
                <a:spcPct val="98000"/>
              </a:lnSpc>
              <a:tabLst>
                <a:tab pos="480059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用户可以</a:t>
            </a:r>
            <a:r>
              <a:rPr sz="27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find</a:t>
            </a:r>
            <a:r>
              <a:rPr sz="27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命令查找系统</a:t>
            </a:r>
            <a:r>
              <a:rPr sz="27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具有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suid</a:t>
            </a:r>
            <a:r>
              <a:rPr sz="2700" b="1" kern="0" spc="-4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sgid</a:t>
            </a:r>
            <a:r>
              <a:rPr sz="27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sticky</a:t>
            </a:r>
            <a:r>
              <a:rPr sz="27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权限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的文件，方法如下：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480059" indent="-223520" algn="l" rtl="0" eaLnBrk="0">
              <a:lnSpc>
                <a:spcPct val="95000"/>
              </a:lnSpc>
              <a:spcBef>
                <a:spcPts val="1557"/>
              </a:spcBef>
              <a:tabLst>
                <a:tab pos="467359" algn="l"/>
              </a:tabLst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find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 -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perm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/1000 -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print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仅查找具有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sticky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的位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者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480059" indent="-223520" algn="l" rtl="0" eaLnBrk="0">
              <a:lnSpc>
                <a:spcPct val="95000"/>
              </a:lnSpc>
              <a:spcBef>
                <a:spcPts val="1765"/>
              </a:spcBef>
              <a:tabLst>
                <a:tab pos="467359" algn="l"/>
              </a:tabLst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find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 -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perm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/2000 -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print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仅查找具有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sgid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的权限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者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480059" indent="-223520" algn="l" rtl="0" eaLnBrk="0">
              <a:lnSpc>
                <a:spcPct val="95000"/>
              </a:lnSpc>
              <a:spcBef>
                <a:spcPts val="1765"/>
              </a:spcBef>
              <a:tabLst>
                <a:tab pos="467359" algn="l"/>
              </a:tabLst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find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 -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perm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/4000 -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print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仅查找具有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suid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的权限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者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505459" indent="-249554" algn="l" rtl="0" eaLnBrk="0">
              <a:lnSpc>
                <a:spcPct val="95000"/>
              </a:lnSpc>
              <a:spcBef>
                <a:spcPts val="1765"/>
              </a:spcBef>
              <a:tabLst>
                <a:tab pos="467359" algn="l"/>
              </a:tabLst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find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 -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perm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/6000 -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print</a:t>
            </a:r>
            <a:r>
              <a:rPr sz="2700" b="1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仅查找具有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suid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sgid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的权限者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0534" indent="-214629" algn="l" rtl="0" eaLnBrk="0">
              <a:lnSpc>
                <a:spcPct val="98000"/>
              </a:lnSpc>
              <a:tabLst>
                <a:tab pos="467359" algn="l"/>
              </a:tabLst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find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 -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perm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/7000 -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print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查找具有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suid</a:t>
            </a:r>
            <a:r>
              <a:rPr sz="2700" b="1" kern="0" spc="-4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sgid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sticky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的权限者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pic>
        <p:nvPicPr>
          <p:cNvPr id="1674" name="picture 16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5745479"/>
            <a:ext cx="243840" cy="244475"/>
          </a:xfrm>
          <a:prstGeom prst="rect">
            <a:avLst/>
          </a:prstGeom>
        </p:spPr>
      </p:pic>
      <p:pic>
        <p:nvPicPr>
          <p:cNvPr id="1676" name="picture 16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4739639"/>
            <a:ext cx="243840" cy="244475"/>
          </a:xfrm>
          <a:prstGeom prst="rect">
            <a:avLst/>
          </a:prstGeom>
        </p:spPr>
      </p:pic>
      <p:pic>
        <p:nvPicPr>
          <p:cNvPr id="1678" name="picture 16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3733800"/>
            <a:ext cx="243840" cy="244475"/>
          </a:xfrm>
          <a:prstGeom prst="rect">
            <a:avLst/>
          </a:prstGeom>
        </p:spPr>
      </p:pic>
      <p:pic>
        <p:nvPicPr>
          <p:cNvPr id="1680" name="picture 16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2727959"/>
            <a:ext cx="243840" cy="244475"/>
          </a:xfrm>
          <a:prstGeom prst="rect">
            <a:avLst/>
          </a:prstGeom>
        </p:spPr>
      </p:pic>
      <p:pic>
        <p:nvPicPr>
          <p:cNvPr id="1682" name="picture 16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1722120"/>
            <a:ext cx="243840" cy="244475"/>
          </a:xfrm>
          <a:prstGeom prst="rect">
            <a:avLst/>
          </a:prstGeom>
        </p:spPr>
      </p:pic>
      <p:pic>
        <p:nvPicPr>
          <p:cNvPr id="1684" name="picture 16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716279"/>
            <a:ext cx="243840" cy="244475"/>
          </a:xfrm>
          <a:prstGeom prst="rect">
            <a:avLst/>
          </a:prstGeom>
        </p:spPr>
      </p:pic>
      <p:sp>
        <p:nvSpPr>
          <p:cNvPr id="1686" name="textbox 168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38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  <p:sp>
        <p:nvSpPr>
          <p:cNvPr id="1688" name="textbox 1688"/>
          <p:cNvSpPr/>
          <p:nvPr/>
        </p:nvSpPr>
        <p:spPr>
          <a:xfrm>
            <a:off x="90323" y="65925"/>
            <a:ext cx="1279525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7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2700" b="1" kern="0" spc="-3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．查找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pic>
        <p:nvPicPr>
          <p:cNvPr id="1690" name="picture 16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textbox 1692"/>
          <p:cNvSpPr/>
          <p:nvPr/>
        </p:nvSpPr>
        <p:spPr>
          <a:xfrm>
            <a:off x="184785" y="695337"/>
            <a:ext cx="8279765" cy="4726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465" indent="10795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-4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．按名称向进程发信号或终止进程的执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行（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killall</a:t>
            </a:r>
            <a:r>
              <a:rPr sz="35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259" algn="l" rtl="0" eaLnBrk="0">
              <a:lnSpc>
                <a:spcPct val="86000"/>
              </a:lnSpc>
              <a:spcBef>
                <a:spcPts val="1053"/>
              </a:spcBef>
              <a:tabLst/>
            </a:pP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）功能及用法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1330" indent="-154304" algn="l" rtl="0" eaLnBrk="0">
              <a:lnSpc>
                <a:spcPct val="94000"/>
              </a:lnSpc>
              <a:spcBef>
                <a:spcPts val="1061"/>
              </a:spcBef>
              <a:tabLst>
                <a:tab pos="494030" algn="l"/>
              </a:tabLst>
            </a:pP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用于向指定进程或进程组发送指定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信号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，如果未指定信号，则默认发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送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77519" indent="-4444" algn="l" rtl="0" eaLnBrk="0">
              <a:lnSpc>
                <a:spcPct val="97000"/>
              </a:lnSpc>
              <a:spcBef>
                <a:spcPts val="739"/>
              </a:spcBef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TERM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）。若接收者收到信号，而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没有对信号捕获并进行特殊处理，则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它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将被终止运行，也就是被杀掉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了。</a:t>
            </a:r>
            <a:endParaRPr sz="3500" dirty="0">
              <a:latin typeface="SimSun"/>
              <a:ea typeface="SimSun"/>
              <a:cs typeface="SimSun"/>
            </a:endParaRPr>
          </a:p>
        </p:txBody>
      </p:sp>
      <p:pic>
        <p:nvPicPr>
          <p:cNvPr id="1694" name="picture 16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2836862"/>
            <a:ext cx="314325" cy="314325"/>
          </a:xfrm>
          <a:prstGeom prst="rect">
            <a:avLst/>
          </a:prstGeom>
        </p:spPr>
      </p:pic>
      <p:sp>
        <p:nvSpPr>
          <p:cNvPr id="1696" name="textbox 1696"/>
          <p:cNvSpPr/>
          <p:nvPr/>
        </p:nvSpPr>
        <p:spPr>
          <a:xfrm>
            <a:off x="96037" y="-44450"/>
            <a:ext cx="539622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6.3.2</a:t>
            </a:r>
            <a:r>
              <a:rPr sz="3500" b="1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进程管理</a:t>
            </a:r>
            <a:r>
              <a:rPr sz="3500" kern="0" spc="-3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调度命令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1698" name="textbox 1698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40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  <p:pic>
        <p:nvPicPr>
          <p:cNvPr id="1700" name="picture 17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textbox 1702"/>
          <p:cNvSpPr/>
          <p:nvPr/>
        </p:nvSpPr>
        <p:spPr>
          <a:xfrm>
            <a:off x="111760" y="695337"/>
            <a:ext cx="8845550" cy="5553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8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5775" indent="-159385" algn="l" rtl="0" eaLnBrk="0">
              <a:lnSpc>
                <a:spcPct val="102000"/>
              </a:lnSpc>
              <a:tabLst>
                <a:tab pos="494030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killall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另一个用来向指定进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程发信号或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终止进程的命令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，它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不像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使用进程的</a:t>
            </a:r>
            <a:r>
              <a:rPr sz="3500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PID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作为操作对象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，而是</a:t>
            </a:r>
            <a:r>
              <a:rPr sz="35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用进程名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。由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于在系统中</a:t>
            </a:r>
            <a:r>
              <a:rPr sz="35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可能有多个同名进程同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时运行</a:t>
            </a:r>
            <a:r>
              <a:rPr sz="3500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3500" kern="0" spc="13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因此使用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killall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终止进程时可能会有</a:t>
            </a:r>
            <a:r>
              <a:rPr sz="3500" b="1" kern="0" spc="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扩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大化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的问题。其用法为：</a:t>
            </a:r>
            <a:endParaRPr sz="3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1000"/>
              </a:lnSpc>
              <a:spcBef>
                <a:spcPts val="816"/>
              </a:spcBef>
              <a:tabLst>
                <a:tab pos="487044" algn="l"/>
              </a:tabLst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killall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[-e]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[-g]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[-i]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[-q]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[-v]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[-w]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V]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[-s sig]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[--]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name</a:t>
            </a:r>
            <a:endParaRPr sz="2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8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97840" algn="l" rtl="0" eaLnBrk="0">
              <a:lnSpc>
                <a:spcPts val="388"/>
              </a:lnSpc>
              <a:spcBef>
                <a:spcPts val="98"/>
              </a:spcBef>
              <a:tabLst/>
            </a:pPr>
            <a:r>
              <a:rPr sz="300" b="1" kern="0" spc="2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…</a:t>
            </a:r>
            <a:endParaRPr sz="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73000"/>
              </a:lnSpc>
              <a:spcBef>
                <a:spcPts val="817"/>
              </a:spcBef>
              <a:tabLst>
                <a:tab pos="487044" algn="l"/>
              </a:tabLst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killall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-l</a:t>
            </a:r>
            <a:endParaRPr sz="2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6000"/>
              </a:lnSpc>
              <a:spcBef>
                <a:spcPts val="4"/>
              </a:spcBef>
              <a:tabLst>
                <a:tab pos="487044" algn="l"/>
              </a:tabLst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killall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发送的信号可以是信号名或值。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pic>
        <p:nvPicPr>
          <p:cNvPr id="1704" name="picture 17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5939472"/>
            <a:ext cx="243840" cy="244475"/>
          </a:xfrm>
          <a:prstGeom prst="rect">
            <a:avLst/>
          </a:prstGeom>
        </p:spPr>
      </p:pic>
      <p:pic>
        <p:nvPicPr>
          <p:cNvPr id="1706" name="picture 17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5309552"/>
            <a:ext cx="243840" cy="244475"/>
          </a:xfrm>
          <a:prstGeom prst="rect">
            <a:avLst/>
          </a:prstGeom>
        </p:spPr>
      </p:pic>
      <p:pic>
        <p:nvPicPr>
          <p:cNvPr id="1708" name="picture 17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4252912"/>
            <a:ext cx="243840" cy="244475"/>
          </a:xfrm>
          <a:prstGeom prst="rect">
            <a:avLst/>
          </a:prstGeom>
        </p:spPr>
      </p:pic>
      <p:pic>
        <p:nvPicPr>
          <p:cNvPr id="1710" name="picture 17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784542"/>
            <a:ext cx="314325" cy="314325"/>
          </a:xfrm>
          <a:prstGeom prst="rect">
            <a:avLst/>
          </a:prstGeom>
        </p:spPr>
      </p:pic>
      <p:sp>
        <p:nvSpPr>
          <p:cNvPr id="1712" name="textbox 1712"/>
          <p:cNvSpPr/>
          <p:nvPr/>
        </p:nvSpPr>
        <p:spPr>
          <a:xfrm>
            <a:off x="96037" y="-44450"/>
            <a:ext cx="539622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6.3.2</a:t>
            </a:r>
            <a:r>
              <a:rPr sz="3500" b="1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进程管理</a:t>
            </a:r>
            <a:r>
              <a:rPr sz="3500" kern="0" spc="-3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</a:t>
            </a: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调度命令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1714" name="textbox 171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天津工业大学软件学院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41</a:t>
            </a:r>
            <a:r>
              <a:rPr sz="2700" kern="0" spc="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  <p:pic>
        <p:nvPicPr>
          <p:cNvPr id="1716" name="picture 17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textbox 1718"/>
          <p:cNvSpPr/>
          <p:nvPr/>
        </p:nvSpPr>
        <p:spPr>
          <a:xfrm>
            <a:off x="80543" y="705396"/>
            <a:ext cx="8985250" cy="6136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62305" indent="-4444" algn="l" rtl="0" eaLnBrk="0">
              <a:lnSpc>
                <a:spcPct val="99000"/>
              </a:lnSpc>
              <a:spcBef>
                <a:spcPts val="1"/>
              </a:spcBef>
              <a:tabLst/>
            </a:pP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进程间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可以通过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信号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进行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</a:t>
            </a:r>
            <a:r>
              <a:rPr sz="4700" kern="0" spc="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，以实现进程间一定程序</a:t>
            </a:r>
            <a:r>
              <a:rPr sz="4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控制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，用于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进程间信号通</a:t>
            </a:r>
            <a:r>
              <a:rPr sz="47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7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信的命令</a:t>
            </a:r>
            <a:r>
              <a:rPr sz="4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4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4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4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trap</a:t>
            </a:r>
            <a:r>
              <a:rPr sz="4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4700" dirty="0">
              <a:latin typeface="SimSun"/>
              <a:ea typeface="SimSun"/>
              <a:cs typeface="SimSun"/>
            </a:endParaRPr>
          </a:p>
          <a:p>
            <a:pPr marL="664844" indent="-1905" algn="l" rtl="0" eaLnBrk="0">
              <a:lnSpc>
                <a:spcPct val="98000"/>
              </a:lnSpc>
              <a:spcBef>
                <a:spcPts val="639"/>
              </a:spcBef>
              <a:tabLst/>
            </a:pPr>
            <a:r>
              <a:rPr sz="4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信号是</a:t>
            </a:r>
            <a:r>
              <a:rPr sz="4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4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</a:t>
            </a:r>
            <a:r>
              <a:rPr sz="47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为了响应某</a:t>
            </a:r>
            <a:r>
              <a:rPr sz="47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些状况而产生的事件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。进程</a:t>
            </a:r>
            <a:r>
              <a:rPr sz="47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7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收到信号后应该采取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相应的</a:t>
            </a:r>
            <a:r>
              <a:rPr sz="47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7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动作</a:t>
            </a:r>
            <a:endParaRPr sz="4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spcBef>
                <a:spcPts val="4"/>
              </a:spcBef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114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720" name="picture 17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8922" y="3749357"/>
            <a:ext cx="419100" cy="419100"/>
          </a:xfrm>
          <a:prstGeom prst="rect">
            <a:avLst/>
          </a:prstGeom>
        </p:spPr>
      </p:pic>
      <p:pic>
        <p:nvPicPr>
          <p:cNvPr id="1722" name="picture 17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8922" y="823277"/>
            <a:ext cx="419100" cy="419100"/>
          </a:xfrm>
          <a:prstGeom prst="rect">
            <a:avLst/>
          </a:prstGeom>
        </p:spPr>
      </p:pic>
      <p:sp>
        <p:nvSpPr>
          <p:cNvPr id="1724" name="textbox 1724"/>
          <p:cNvSpPr/>
          <p:nvPr/>
        </p:nvSpPr>
        <p:spPr>
          <a:xfrm>
            <a:off x="112953" y="-44450"/>
            <a:ext cx="4821554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4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2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信号及默认处理方式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726" name="picture 17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textbox 1728"/>
          <p:cNvSpPr/>
          <p:nvPr/>
        </p:nvSpPr>
        <p:spPr>
          <a:xfrm>
            <a:off x="159130" y="-59054"/>
            <a:ext cx="1774189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-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常用信号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1730" name="textbox 173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115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1732" name="textbox 1732"/>
          <p:cNvSpPr/>
          <p:nvPr/>
        </p:nvSpPr>
        <p:spPr>
          <a:xfrm>
            <a:off x="723074" y="692797"/>
            <a:ext cx="8271509" cy="5996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09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8790" indent="-466090" algn="l" rtl="0" eaLnBrk="0">
              <a:lnSpc>
                <a:spcPct val="95000"/>
              </a:lnSpc>
              <a:tabLst/>
            </a:pP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在众多信号中</a:t>
            </a:r>
            <a:r>
              <a:rPr sz="35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有的是</a:t>
            </a:r>
            <a:r>
              <a:rPr sz="3500" b="1" kern="0" spc="8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硬件产生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35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有的</a:t>
            </a:r>
            <a:r>
              <a:rPr sz="3500" b="1" kern="0" spc="-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软</a:t>
            </a:r>
            <a:r>
              <a:rPr sz="3500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3500" b="1" kern="0" spc="-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生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1854200" algn="l" rtl="0" eaLnBrk="0">
              <a:lnSpc>
                <a:spcPct val="86000"/>
              </a:lnSpc>
              <a:spcBef>
                <a:spcPts val="708"/>
              </a:spcBef>
              <a:tabLst/>
            </a:pP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76884" indent="45719" algn="l" rtl="0" eaLnBrk="0">
              <a:lnSpc>
                <a:spcPct val="96000"/>
              </a:lnSpc>
              <a:spcBef>
                <a:spcPts val="597"/>
              </a:spcBef>
              <a:tabLst/>
            </a:pP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比如</a:t>
            </a:r>
            <a:r>
              <a:rPr sz="3500" kern="0" spc="5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500" b="1" kern="0" spc="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可以产生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SIGINT</a:t>
            </a:r>
            <a:r>
              <a:rPr sz="3500" b="1" kern="0" spc="2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其值</a:t>
            </a:r>
            <a:r>
              <a:rPr sz="35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500" b="1" kern="0" spc="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3500" b="1" kern="0" spc="-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</a:t>
            </a:r>
            <a:r>
              <a:rPr sz="3500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35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803275" algn="l" rtl="0" eaLnBrk="0">
              <a:lnSpc>
                <a:spcPct val="76000"/>
              </a:lnSpc>
              <a:spcBef>
                <a:spcPts val="1156"/>
              </a:spcBef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</a:t>
            </a:r>
            <a:endParaRPr sz="3500" dirty="0">
              <a:latin typeface="Arial"/>
              <a:ea typeface="Arial"/>
              <a:cs typeface="Arial"/>
            </a:endParaRPr>
          </a:p>
          <a:p>
            <a:pPr marL="2022475" algn="l" rtl="0" eaLnBrk="0">
              <a:lnSpc>
                <a:spcPct val="86000"/>
              </a:lnSpc>
              <a:spcBef>
                <a:spcPts val="681"/>
              </a:spcBef>
              <a:tabLst/>
            </a:pPr>
            <a:r>
              <a:rPr sz="35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616584" algn="l" rtl="0" eaLnBrk="0">
              <a:lnSpc>
                <a:spcPct val="91000"/>
              </a:lnSpc>
              <a:spcBef>
                <a:spcPts val="34"/>
              </a:spcBef>
              <a:tabLst/>
            </a:pPr>
            <a:r>
              <a:rPr sz="3500" b="1" kern="0" spc="-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3500" b="1" kern="0" spc="-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endParaRPr sz="3500" dirty="0">
              <a:latin typeface="Arial"/>
              <a:ea typeface="Arial"/>
              <a:cs typeface="Arial"/>
            </a:endParaRPr>
          </a:p>
          <a:p>
            <a:pPr marL="664844" algn="l" rtl="0" eaLnBrk="0">
              <a:lnSpc>
                <a:spcPct val="74000"/>
              </a:lnSpc>
              <a:spcBef>
                <a:spcPts val="1652"/>
              </a:spcBef>
              <a:tabLst/>
            </a:pPr>
            <a:r>
              <a:rPr sz="3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3500" dirty="0">
              <a:latin typeface="Arial"/>
              <a:ea typeface="Arial"/>
              <a:cs typeface="Arial"/>
            </a:endParaRPr>
          </a:p>
          <a:p>
            <a:pPr marL="480694" algn="l" rtl="0" eaLnBrk="0">
              <a:lnSpc>
                <a:spcPct val="86000"/>
              </a:lnSpc>
              <a:spcBef>
                <a:spcPts val="714"/>
              </a:spcBef>
              <a:tabLst/>
            </a:pP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些</a:t>
            </a:r>
            <a:r>
              <a:rPr sz="3500" kern="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35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4541"/>
              </a:lnSpc>
              <a:tabLst/>
            </a:pP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trap</a:t>
            </a:r>
            <a:endParaRPr sz="3500" dirty="0">
              <a:latin typeface="Arial"/>
              <a:ea typeface="Arial"/>
              <a:cs typeface="Arial"/>
            </a:endParaRPr>
          </a:p>
        </p:txBody>
      </p:sp>
      <p:sp>
        <p:nvSpPr>
          <p:cNvPr id="1734" name="textbox 1734"/>
          <p:cNvSpPr/>
          <p:nvPr/>
        </p:nvSpPr>
        <p:spPr>
          <a:xfrm>
            <a:off x="3010624" y="6476631"/>
            <a:ext cx="172720" cy="125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700" dirty="0">
              <a:latin typeface="SimSun"/>
              <a:ea typeface="SimSun"/>
              <a:cs typeface="SimSun"/>
            </a:endParaRPr>
          </a:p>
        </p:txBody>
      </p:sp>
      <p:pic>
        <p:nvPicPr>
          <p:cNvPr id="1736" name="picture 17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56540"/>
            <a:ext cx="9144000" cy="6274434"/>
          </a:xfrm>
          <a:prstGeom prst="rect">
            <a:avLst/>
          </a:prstGeom>
        </p:spPr>
      </p:pic>
      <p:sp>
        <p:nvSpPr>
          <p:cNvPr id="1738" name="textbox 1738"/>
          <p:cNvSpPr/>
          <p:nvPr/>
        </p:nvSpPr>
        <p:spPr>
          <a:xfrm>
            <a:off x="24263" y="315479"/>
            <a:ext cx="9067165" cy="6009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6000"/>
              </a:lnSpc>
              <a:tabLst/>
            </a:pPr>
            <a:r>
              <a:rPr sz="2700" kern="0" spc="50" dirty="0">
                <a:solidFill>
                  <a:srgbClr val="444444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信号编号 信号名 含义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7145" algn="l" rtl="0" eaLnBrk="0">
              <a:lnSpc>
                <a:spcPts val="3809"/>
              </a:lnSpc>
              <a:spcBef>
                <a:spcPts val="593"/>
              </a:spcBef>
              <a:tabLst/>
            </a:pP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         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EXIT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程序退出时收到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该信息。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821939" algn="l" rtl="0" eaLnBrk="0">
              <a:lnSpc>
                <a:spcPct val="87000"/>
              </a:lnSpc>
              <a:spcBef>
                <a:spcPts val="520"/>
              </a:spcBef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挂掉电话线或终端连接的挂起信号，这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40640" algn="l" rtl="0" eaLnBrk="0">
              <a:lnSpc>
                <a:spcPct val="87000"/>
              </a:lnSpc>
              <a:spcBef>
                <a:spcPts val="541"/>
              </a:spcBef>
              <a:tabLst/>
            </a:pP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           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HUP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个信号也会造成某些进程在没有终止的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821939" algn="l" rtl="0" eaLnBrk="0">
              <a:lnSpc>
                <a:spcPct val="87000"/>
              </a:lnSpc>
              <a:spcBef>
                <a:spcPts val="541"/>
              </a:spcBef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情况下重新初始化。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819400" algn="l" rtl="0" eaLnBrk="0">
              <a:lnSpc>
                <a:spcPct val="87000"/>
              </a:lnSpc>
              <a:spcBef>
                <a:spcPts val="1106"/>
              </a:spcBef>
              <a:tabLst/>
            </a:pP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表示结束进程，但并不是强制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性的，常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87000"/>
              </a:lnSpc>
              <a:spcBef>
                <a:spcPts val="556"/>
              </a:spcBef>
              <a:tabLst/>
            </a:pP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     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用的</a:t>
            </a:r>
            <a:r>
              <a:rPr sz="2700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Ctrl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+C"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组合键发出就是一个</a:t>
            </a:r>
            <a:r>
              <a:rPr sz="2700" kern="0" spc="-3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endParaRPr sz="2700" dirty="0">
              <a:latin typeface="Arial"/>
              <a:ea typeface="Arial"/>
              <a:cs typeface="Arial"/>
            </a:endParaRPr>
          </a:p>
          <a:p>
            <a:pPr marL="2816860" algn="l" rtl="0" eaLnBrk="0">
              <a:lnSpc>
                <a:spcPct val="86000"/>
              </a:lnSpc>
              <a:spcBef>
                <a:spcPts val="561"/>
              </a:spcBef>
              <a:tabLst/>
            </a:pP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2700" kern="0" spc="3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的信号。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7145" algn="l" rtl="0" eaLnBrk="0">
              <a:lnSpc>
                <a:spcPts val="3809"/>
              </a:lnSpc>
              <a:spcBef>
                <a:spcPts val="565"/>
              </a:spcBef>
              <a:tabLst/>
            </a:pP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            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QUIT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退出。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7145" algn="l" rtl="0" eaLnBrk="0">
              <a:lnSpc>
                <a:spcPts val="3809"/>
              </a:lnSpc>
              <a:spcBef>
                <a:spcPts val="870"/>
              </a:spcBef>
              <a:tabLst/>
            </a:pPr>
            <a:r>
              <a:rPr sz="2700" kern="0" spc="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              </a:t>
            </a:r>
            <a:r>
              <a:rPr sz="27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2700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700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杀死进程，即强制结束进程。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40640" algn="l" rtl="0" eaLnBrk="0">
              <a:lnSpc>
                <a:spcPct val="86000"/>
              </a:lnSpc>
              <a:spcBef>
                <a:spcPts val="1370"/>
              </a:spcBef>
              <a:tabLst/>
            </a:pP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SEGV</a:t>
            </a:r>
            <a:r>
              <a:rPr sz="2700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段错误。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09"/>
              </a:lnSpc>
              <a:spcBef>
                <a:spcPts val="1"/>
              </a:spcBef>
              <a:tabLst/>
            </a:pP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            TERM  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正常结束进程，是</a:t>
            </a:r>
            <a:r>
              <a:rPr sz="2700" kern="0" spc="-3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命令的默认信号。</a:t>
            </a:r>
            <a:endParaRPr sz="27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textbox 1740"/>
          <p:cNvSpPr/>
          <p:nvPr/>
        </p:nvSpPr>
        <p:spPr>
          <a:xfrm>
            <a:off x="76835" y="695337"/>
            <a:ext cx="8858250" cy="5455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7025" algn="l" rtl="0" eaLnBrk="0">
              <a:lnSpc>
                <a:spcPct val="86000"/>
              </a:lnSpc>
              <a:tabLst>
                <a:tab pos="499109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）功能及用法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92125" indent="-165100" algn="l" rtl="0" eaLnBrk="0">
              <a:lnSpc>
                <a:spcPct val="97000"/>
              </a:lnSpc>
              <a:spcBef>
                <a:spcPts val="723"/>
              </a:spcBef>
              <a:tabLst>
                <a:tab pos="527684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向指定进程（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pid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）发送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一个特定的信号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signal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）。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默认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情况下，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500" b="1" kern="0" spc="1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发送终止信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号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TERM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（正常结束</a:t>
            </a:r>
            <a:r>
              <a:rPr sz="3500" b="1" kern="0" spc="1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3500" b="1" kern="0" spc="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其值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</a:t>
            </a:r>
            <a:r>
              <a:rPr sz="35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35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488315" indent="-161289" algn="l" rtl="0" eaLnBrk="0">
              <a:lnSpc>
                <a:spcPct val="94000"/>
              </a:lnSpc>
              <a:spcBef>
                <a:spcPts val="725"/>
              </a:spcBef>
              <a:tabLst>
                <a:tab pos="484505" algn="l"/>
              </a:tabLst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35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按照系统规定，当进程收到某信号后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，应</a:t>
            </a:r>
            <a:r>
              <a:rPr sz="35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该采取相应动作，默认动作是结束执行。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86000"/>
              </a:lnSpc>
              <a:spcBef>
                <a:spcPts val="745"/>
              </a:spcBef>
              <a:tabLst>
                <a:tab pos="494030" algn="l"/>
              </a:tabLst>
            </a:pP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500" b="1" kern="0" spc="4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的用法为</a:t>
            </a:r>
            <a:r>
              <a:rPr sz="35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endParaRPr sz="3500" dirty="0">
              <a:latin typeface="SimSun"/>
              <a:ea typeface="SimSun"/>
              <a:cs typeface="SimSun"/>
            </a:endParaRPr>
          </a:p>
          <a:p>
            <a:pPr marL="1010285" indent="19684" algn="l" rtl="0" eaLnBrk="0">
              <a:lnSpc>
                <a:spcPct val="106000"/>
              </a:lnSpc>
              <a:spcBef>
                <a:spcPts val="72"/>
              </a:spcBef>
              <a:tabLst/>
            </a:pP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500" b="1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[-s signame</a:t>
            </a:r>
            <a:r>
              <a:rPr sz="3500" b="1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 -n</a:t>
            </a: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signum</a:t>
            </a:r>
            <a:r>
              <a:rPr sz="3500" b="1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35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signum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35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pid</a:t>
            </a:r>
            <a:r>
              <a:rPr sz="35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...</a:t>
            </a:r>
            <a:endParaRPr sz="3500" dirty="0">
              <a:latin typeface="Arial"/>
              <a:ea typeface="Arial"/>
              <a:cs typeface="Arial"/>
            </a:endParaRPr>
          </a:p>
          <a:p>
            <a:pPr marL="956310" algn="l" rtl="0" eaLnBrk="0">
              <a:lnSpc>
                <a:spcPct val="81000"/>
              </a:lnSpc>
              <a:spcBef>
                <a:spcPts val="850"/>
              </a:spcBef>
              <a:tabLst>
                <a:tab pos="1030605" algn="l"/>
              </a:tabLst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5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-l</a:t>
            </a:r>
            <a:r>
              <a:rPr sz="3500" b="1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[signame]</a:t>
            </a:r>
            <a:endParaRPr sz="3500" dirty="0">
              <a:latin typeface="Arial"/>
              <a:ea typeface="Arial"/>
              <a:cs typeface="Arial"/>
            </a:endParaRPr>
          </a:p>
        </p:txBody>
      </p:sp>
      <p:pic>
        <p:nvPicPr>
          <p:cNvPr id="1742" name="picture 17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9454" y="5722302"/>
            <a:ext cx="314324" cy="314325"/>
          </a:xfrm>
          <a:prstGeom prst="rect">
            <a:avLst/>
          </a:prstGeom>
        </p:spPr>
      </p:pic>
      <p:pic>
        <p:nvPicPr>
          <p:cNvPr id="1744" name="picture 17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9454" y="4625022"/>
            <a:ext cx="314324" cy="314325"/>
          </a:xfrm>
          <a:prstGeom prst="rect">
            <a:avLst/>
          </a:prstGeom>
        </p:spPr>
      </p:pic>
      <p:pic>
        <p:nvPicPr>
          <p:cNvPr id="1746" name="picture 17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4076382"/>
            <a:ext cx="314325" cy="314325"/>
          </a:xfrm>
          <a:prstGeom prst="rect">
            <a:avLst/>
          </a:prstGeom>
        </p:spPr>
      </p:pic>
      <p:pic>
        <p:nvPicPr>
          <p:cNvPr id="1748" name="picture 17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2978467"/>
            <a:ext cx="314325" cy="314325"/>
          </a:xfrm>
          <a:prstGeom prst="rect">
            <a:avLst/>
          </a:prstGeom>
        </p:spPr>
      </p:pic>
      <p:pic>
        <p:nvPicPr>
          <p:cNvPr id="1750" name="picture 17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1333182"/>
            <a:ext cx="314325" cy="314325"/>
          </a:xfrm>
          <a:prstGeom prst="rect">
            <a:avLst/>
          </a:prstGeom>
        </p:spPr>
      </p:pic>
      <p:pic>
        <p:nvPicPr>
          <p:cNvPr id="1752" name="picture 17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535" y="784542"/>
            <a:ext cx="314325" cy="314325"/>
          </a:xfrm>
          <a:prstGeom prst="rect">
            <a:avLst/>
          </a:prstGeom>
        </p:spPr>
      </p:pic>
      <p:sp>
        <p:nvSpPr>
          <p:cNvPr id="1754" name="textbox 1754"/>
          <p:cNvSpPr/>
          <p:nvPr/>
        </p:nvSpPr>
        <p:spPr>
          <a:xfrm>
            <a:off x="94208" y="-44450"/>
            <a:ext cx="4977765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．</a:t>
            </a:r>
            <a:r>
              <a:rPr sz="3500" kern="0" spc="-30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终止进程执行（</a:t>
            </a: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500" b="1" kern="0" spc="-13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sp>
        <p:nvSpPr>
          <p:cNvPr id="1756" name="textbox 175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119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pic>
        <p:nvPicPr>
          <p:cNvPr id="1758" name="picture 17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textbox 1760"/>
          <p:cNvSpPr/>
          <p:nvPr/>
        </p:nvSpPr>
        <p:spPr>
          <a:xfrm>
            <a:off x="111760" y="704037"/>
            <a:ext cx="8807450" cy="4917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1015" algn="l" rtl="0" eaLnBrk="0">
              <a:lnSpc>
                <a:spcPct val="88000"/>
              </a:lnSpc>
              <a:tabLst/>
            </a:pP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pid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4400" kern="0" spc="-7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9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进程编号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94665" algn="l" rtl="0" eaLnBrk="0">
              <a:lnSpc>
                <a:spcPct val="83000"/>
              </a:lnSpc>
              <a:spcBef>
                <a:spcPts val="651"/>
              </a:spcBef>
              <a:tabLst/>
            </a:pPr>
            <a:r>
              <a:rPr sz="4400" b="1" kern="0" spc="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-l</a:t>
            </a:r>
            <a:r>
              <a:rPr sz="4400" b="1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39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列出所有可用的信号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361950" algn="l" rtl="0" eaLnBrk="0">
              <a:lnSpc>
                <a:spcPct val="91000"/>
              </a:lnSpc>
              <a:spcBef>
                <a:spcPts val="855"/>
              </a:spcBef>
              <a:tabLst>
                <a:tab pos="491490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signame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signum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：列出指定信号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95300" indent="-133350" algn="l" rtl="0" eaLnBrk="0">
              <a:lnSpc>
                <a:spcPct val="100000"/>
              </a:lnSpc>
              <a:spcBef>
                <a:spcPts val="570"/>
              </a:spcBef>
              <a:tabLst>
                <a:tab pos="491490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signame</a:t>
            </a:r>
            <a:r>
              <a:rPr sz="3900" b="1" kern="0" spc="-5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signum</a:t>
            </a:r>
            <a:r>
              <a:rPr sz="3900" b="1" kern="0" spc="-6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</a:t>
            </a: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：指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定发送的信号，可用的信号有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HUP</a:t>
            </a:r>
            <a:r>
              <a:rPr sz="39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(1) 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(2)</a:t>
            </a:r>
            <a:r>
              <a:rPr sz="3900" b="1" kern="0" spc="-6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QUIT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(3)</a:t>
            </a:r>
            <a:r>
              <a:rPr sz="3900" b="1" kern="0" spc="-6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KILL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(9)</a:t>
            </a:r>
            <a:r>
              <a:rPr sz="39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484505" indent="-10795" algn="l" rtl="0" eaLnBrk="0">
              <a:lnSpc>
                <a:spcPct val="97000"/>
              </a:lnSpc>
              <a:spcBef>
                <a:spcPts val="37"/>
              </a:spcBef>
              <a:tabLst/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TERM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(15)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等，另外还可是系统为用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户保留的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USR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USR</a:t>
            </a:r>
            <a:r>
              <a:rPr sz="39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3900" dirty="0">
              <a:latin typeface="Arial"/>
              <a:ea typeface="Arial"/>
              <a:cs typeface="Arial"/>
            </a:endParaRPr>
          </a:p>
        </p:txBody>
      </p:sp>
      <p:pic>
        <p:nvPicPr>
          <p:cNvPr id="1762" name="picture 17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745291"/>
            <a:ext cx="349250" cy="338234"/>
          </a:xfrm>
          <a:prstGeom prst="rect">
            <a:avLst/>
          </a:prstGeom>
        </p:spPr>
      </p:pic>
      <p:pic>
        <p:nvPicPr>
          <p:cNvPr id="1764" name="picture 17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460" y="2138362"/>
            <a:ext cx="349250" cy="349250"/>
          </a:xfrm>
          <a:prstGeom prst="rect">
            <a:avLst/>
          </a:prstGeom>
        </p:spPr>
      </p:pic>
      <p:pic>
        <p:nvPicPr>
          <p:cNvPr id="1766" name="picture 17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1481137"/>
            <a:ext cx="383540" cy="384175"/>
          </a:xfrm>
          <a:prstGeom prst="rect">
            <a:avLst/>
          </a:prstGeom>
        </p:spPr>
      </p:pic>
      <p:pic>
        <p:nvPicPr>
          <p:cNvPr id="1768" name="picture 17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460" y="810577"/>
            <a:ext cx="383540" cy="384175"/>
          </a:xfrm>
          <a:prstGeom prst="rect">
            <a:avLst/>
          </a:prstGeom>
        </p:spPr>
      </p:pic>
      <p:sp>
        <p:nvSpPr>
          <p:cNvPr id="1770" name="textbox 177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3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年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月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27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日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时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分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20" baseline="5787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</a:t>
            </a:r>
            <a:r>
              <a:rPr sz="2700" kern="0" spc="20" baseline="5787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5787" dirty="0">
              <a:latin typeface="STXinwei"/>
              <a:ea typeface="STXinwei"/>
              <a:cs typeface="STXinwei"/>
            </a:endParaRPr>
          </a:p>
        </p:txBody>
      </p:sp>
      <p:sp>
        <p:nvSpPr>
          <p:cNvPr id="1772" name="textbox 1772"/>
          <p:cNvSpPr/>
          <p:nvPr/>
        </p:nvSpPr>
        <p:spPr>
          <a:xfrm>
            <a:off x="88265" y="-44450"/>
            <a:ext cx="2556510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r>
              <a:rPr sz="3500" kern="0" spc="-47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3500" b="1" kern="0" spc="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参数说明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774" name="picture 17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textbox 1776"/>
          <p:cNvSpPr/>
          <p:nvPr/>
        </p:nvSpPr>
        <p:spPr>
          <a:xfrm>
            <a:off x="80543" y="1113357"/>
            <a:ext cx="8985250" cy="5727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03879" algn="l" rtl="0" eaLnBrk="0">
              <a:lnSpc>
                <a:spcPct val="92000"/>
              </a:lnSpc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ping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命令常用参数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spcBef>
                <a:spcPts val="1"/>
              </a:spcBef>
              <a:tabLst/>
            </a:pPr>
            <a:r>
              <a:rPr sz="1700" b="1" kern="0" spc="-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kern="0" spc="-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</a:t>
            </a:r>
            <a:r>
              <a:rPr sz="1700" b="1" kern="0" spc="-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</a:t>
            </a:r>
            <a:r>
              <a:rPr sz="1700" b="1" kern="0" spc="-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与安</a:t>
            </a:r>
            <a:r>
              <a:rPr sz="1700" kern="0" spc="-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</a:t>
            </a:r>
            <a:r>
              <a:rPr sz="1700" b="1" kern="0" spc="-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》</a:t>
            </a:r>
            <a:r>
              <a:rPr sz="1700" kern="0" spc="-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</a:t>
            </a:r>
            <a:r>
              <a:rPr sz="1700" b="1" kern="0" spc="-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津</a:t>
            </a:r>
            <a:r>
              <a:rPr sz="1700" kern="0" spc="-4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</a:t>
            </a:r>
            <a:r>
              <a:rPr sz="1700" kern="0" spc="-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</a:t>
            </a:r>
            <a:r>
              <a:rPr sz="1700" b="1" kern="0" spc="-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学</a:t>
            </a:r>
            <a:r>
              <a:rPr sz="1700" kern="0" spc="-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</a:t>
            </a:r>
            <a:r>
              <a:rPr sz="1700" b="1" kern="0" spc="-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学</a:t>
            </a:r>
            <a:r>
              <a:rPr sz="1700" kern="0" spc="-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</a:t>
            </a:r>
            <a:r>
              <a:rPr sz="1700" b="1" kern="0" spc="-5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件学院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</a:t>
            </a:r>
            <a:r>
              <a:rPr sz="2700" kern="0" spc="-5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-5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18</a:t>
            </a:r>
            <a:r>
              <a:rPr sz="2700" kern="0" spc="-5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  <p:sp>
        <p:nvSpPr>
          <p:cNvPr id="1778" name="textbox 1778"/>
          <p:cNvSpPr/>
          <p:nvPr/>
        </p:nvSpPr>
        <p:spPr>
          <a:xfrm>
            <a:off x="325577" y="6593688"/>
            <a:ext cx="4119245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6000"/>
              </a:lnSpc>
              <a:tabLst/>
            </a:pP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    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</a:t>
            </a:r>
            <a:r>
              <a:rPr sz="1700" kern="0" spc="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</a:t>
            </a:r>
            <a:r>
              <a:rPr sz="1700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全</a:t>
            </a:r>
            <a:r>
              <a:rPr sz="1700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</a:t>
            </a:r>
            <a:r>
              <a:rPr sz="1700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工业大</a:t>
            </a:r>
            <a:r>
              <a:rPr sz="1700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大</a:t>
            </a:r>
            <a:r>
              <a:rPr sz="1700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</a:t>
            </a:r>
            <a:r>
              <a:rPr sz="1700" b="1" kern="0" spc="-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软</a:t>
            </a:r>
            <a:endParaRPr sz="1700" dirty="0">
              <a:latin typeface="STXinwei"/>
              <a:ea typeface="STXinwei"/>
              <a:cs typeface="STXinwei"/>
            </a:endParaRPr>
          </a:p>
        </p:txBody>
      </p:sp>
      <p:sp>
        <p:nvSpPr>
          <p:cNvPr id="1780" name="rect 1780"/>
          <p:cNvSpPr/>
          <p:nvPr/>
        </p:nvSpPr>
        <p:spPr>
          <a:xfrm>
            <a:off x="35051" y="1484376"/>
            <a:ext cx="9073895" cy="5143500"/>
          </a:xfrm>
          <a:prstGeom prst="rect">
            <a:avLst/>
          </a:prstGeom>
          <a:solidFill>
            <a:srgbClr val="E7F6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782" name="table 1782"/>
          <p:cNvGraphicFramePr>
            <a:graphicFrameLocks noGrp="1"/>
          </p:cNvGraphicFramePr>
          <p:nvPr/>
        </p:nvGraphicFramePr>
        <p:xfrm>
          <a:off x="28575" y="1477962"/>
          <a:ext cx="9086215" cy="5156200"/>
        </p:xfrm>
        <a:graphic>
          <a:graphicData uri="http://schemas.openxmlformats.org/drawingml/2006/table">
            <a:tbl>
              <a:tblPr/>
              <a:tblGrid>
                <a:gridCol w="1871345"/>
                <a:gridCol w="7214869"/>
              </a:tblGrid>
              <a:tr h="609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4344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选</a:t>
                      </a:r>
                      <a:r>
                        <a:rPr sz="2300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项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82264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3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功</a:t>
                      </a:r>
                      <a:r>
                        <a:rPr sz="23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3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</a:t>
                      </a:r>
                      <a:r>
                        <a:rPr sz="2300" kern="0" spc="-3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3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描</a:t>
                      </a:r>
                      <a:r>
                        <a:rPr sz="2300" kern="0" spc="-3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3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述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3220" algn="l" rtl="0" eaLnBrk="0">
                        <a:lnSpc>
                          <a:spcPct val="72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3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  <a:r>
                        <a:rPr sz="23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count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indent="635" algn="l" rtl="0" eaLnBrk="0">
                        <a:lnSpc>
                          <a:spcPct val="10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指定发送包的次数为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count</a:t>
                      </a:r>
                      <a:r>
                        <a:rPr sz="2300" b="1" kern="0" spc="-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。默认为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无限次，可用</a:t>
                      </a:r>
                      <a:r>
                        <a:rPr sz="2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Ctrl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_C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终止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4075" algn="l" rtl="0" eaLnBrk="0">
                        <a:lnSpc>
                          <a:spcPct val="7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-f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8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45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极限检测，每秒钟发送相当于网络处理能力的数据包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23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interval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8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45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指定收发信息的间隔秒数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1530" algn="l" rtl="0" eaLnBrk="0">
                        <a:lnSpc>
                          <a:spcPct val="6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-q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8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不显示指令执行过程，开头和结尾的相关信息除外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438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3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-R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8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记录路由过程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2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785" algn="l" rtl="0" eaLnBrk="0">
                        <a:lnSpc>
                          <a:spcPts val="1528"/>
                        </a:lnSpc>
                        <a:tabLst/>
                      </a:pPr>
                      <a:r>
                        <a:rPr sz="23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-s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2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packetsize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设置数据包的大小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276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TTL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将“存活时间</a:t>
                      </a:r>
                      <a:r>
                        <a:rPr sz="2300" kern="0" spc="-7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”字段设置成数值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TTL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的大小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84" name="textbox 1784"/>
          <p:cNvSpPr/>
          <p:nvPr/>
        </p:nvSpPr>
        <p:spPr>
          <a:xfrm>
            <a:off x="184785" y="684732"/>
            <a:ext cx="8290559" cy="407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6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93000"/>
              </a:lnSpc>
              <a:tabLst>
                <a:tab pos="487680" algn="l"/>
              </a:tabLst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ping</a:t>
            </a:r>
            <a:r>
              <a:rPr sz="2700" b="1" kern="0" spc="1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命令的用法为</a:t>
            </a:r>
            <a:r>
              <a:rPr sz="2700" b="1" kern="0" spc="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ping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options</a:t>
            </a:r>
            <a:r>
              <a:rPr sz="27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hostname</a:t>
            </a:r>
            <a:r>
              <a:rPr sz="27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endParaRPr sz="2700" dirty="0">
              <a:latin typeface="Arial"/>
              <a:ea typeface="Arial"/>
              <a:cs typeface="Arial"/>
            </a:endParaRPr>
          </a:p>
        </p:txBody>
      </p:sp>
      <p:pic>
        <p:nvPicPr>
          <p:cNvPr id="1786" name="picture 17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485" y="757872"/>
            <a:ext cx="243840" cy="244475"/>
          </a:xfrm>
          <a:prstGeom prst="rect">
            <a:avLst/>
          </a:prstGeom>
        </p:spPr>
      </p:pic>
      <p:pic>
        <p:nvPicPr>
          <p:cNvPr id="1788" name="picture 17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204" y="620268"/>
            <a:ext cx="8692896" cy="5903975"/>
          </a:xfrm>
          <a:prstGeom prst="rect">
            <a:avLst/>
          </a:prstGeom>
        </p:spPr>
      </p:pic>
      <p:sp>
        <p:nvSpPr>
          <p:cNvPr id="1790" name="textbox 1790"/>
          <p:cNvSpPr/>
          <p:nvPr/>
        </p:nvSpPr>
        <p:spPr>
          <a:xfrm>
            <a:off x="91465" y="-44450"/>
            <a:ext cx="6326504" cy="499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35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9.2.1</a:t>
            </a:r>
            <a:r>
              <a:rPr sz="3500" b="1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500" b="1" kern="0" spc="-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测试网络</a:t>
            </a:r>
            <a:r>
              <a:rPr sz="3500" b="1" kern="0" spc="-80" dirty="0">
                <a:solidFill>
                  <a:srgbClr val="FF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是否通</a:t>
            </a:r>
            <a:r>
              <a:rPr sz="3500" b="1" kern="0" spc="-8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（</a:t>
            </a:r>
            <a:r>
              <a:rPr sz="35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pin</a:t>
            </a:r>
            <a:r>
              <a:rPr sz="3500" b="1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3500" b="1" kern="0" spc="-90" dirty="0">
                <a:solidFill>
                  <a:srgbClr val="000000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）</a:t>
            </a:r>
            <a:endParaRPr sz="3500" dirty="0">
              <a:latin typeface="STXinwei"/>
              <a:ea typeface="STXinwei"/>
              <a:cs typeface="STXinwei"/>
            </a:endParaRPr>
          </a:p>
        </p:txBody>
      </p:sp>
      <p:pic>
        <p:nvPicPr>
          <p:cNvPr id="1792" name="picture 17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534987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textbox 1794"/>
          <p:cNvSpPr/>
          <p:nvPr/>
        </p:nvSpPr>
        <p:spPr>
          <a:xfrm>
            <a:off x="-12700" y="-44450"/>
            <a:ext cx="9169400" cy="6885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116839" algn="l"/>
                <a:tab pos="9156700" algn="l"/>
              </a:tabLst>
            </a:pP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	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9.2.5</a:t>
            </a:r>
            <a:r>
              <a:rPr sz="3500" b="1" u="sng" kern="0" spc="38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  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网</a:t>
            </a:r>
            <a:r>
              <a:rPr sz="3500" u="sng" kern="0" spc="-33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 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络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IP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管理（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ip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）</a:t>
            </a:r>
            <a:r>
              <a:rPr sz="35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	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581025" indent="11429" algn="l" rtl="0" eaLnBrk="0">
              <a:lnSpc>
                <a:spcPct val="97000"/>
              </a:lnSpc>
              <a:spcBef>
                <a:spcPts val="1604"/>
              </a:spcBef>
              <a:tabLst/>
            </a:pP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一个强大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网络配置工</a:t>
            </a:r>
            <a:r>
              <a:rPr sz="4400" b="1" kern="0" spc="-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具</a:t>
            </a:r>
            <a:r>
              <a:rPr sz="44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，它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能够代替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一些传统的网络管理工具</a:t>
            </a:r>
            <a:r>
              <a:rPr sz="44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4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,</a:t>
            </a:r>
            <a:r>
              <a:rPr sz="4400" kern="0" spc="1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4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</a:t>
            </a:r>
            <a:r>
              <a:rPr sz="44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ifconfig</a:t>
            </a:r>
            <a:r>
              <a:rPr sz="44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44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route</a:t>
            </a:r>
            <a:r>
              <a:rPr sz="44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等，</a:t>
            </a:r>
            <a:r>
              <a:rPr sz="4400" b="1" kern="0" spc="-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使用权限</a:t>
            </a:r>
            <a:r>
              <a:rPr sz="44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为超级用户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4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来自软件包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593090" algn="l" rtl="0" eaLnBrk="0">
              <a:lnSpc>
                <a:spcPct val="92000"/>
              </a:lnSpc>
              <a:spcBef>
                <a:spcPts val="569"/>
              </a:spcBef>
              <a:tabLst/>
            </a:pP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iproute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（红帽）</a:t>
            </a:r>
            <a:r>
              <a:rPr sz="44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</a:t>
            </a:r>
            <a:r>
              <a:rPr sz="44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iproute2  </a:t>
            </a:r>
            <a:r>
              <a:rPr sz="44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</a:t>
            </a:r>
            <a:r>
              <a:rPr sz="4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Ubuntu</a:t>
            </a:r>
            <a:r>
              <a:rPr sz="44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），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其用法为</a:t>
            </a:r>
            <a:r>
              <a:rPr sz="44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142239" algn="l" rtl="0" eaLnBrk="0">
              <a:lnSpc>
                <a:spcPts val="6303"/>
              </a:lnSpc>
              <a:spcBef>
                <a:spcPts val="46"/>
              </a:spcBef>
              <a:tabLst/>
            </a:pP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4400" b="1" kern="0" spc="3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[options] object {cmd</a:t>
            </a:r>
            <a:r>
              <a:rPr sz="4400" b="1" kern="0" spc="3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4400" b="1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help}</a:t>
            </a:r>
            <a:endParaRPr sz="4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16534" algn="l" rtl="0" eaLnBrk="0">
              <a:lnSpc>
                <a:spcPct val="97000"/>
              </a:lnSpc>
              <a:spcBef>
                <a:spcPts val="1"/>
              </a:spcBef>
              <a:tabLst/>
            </a:pP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</a:t>
            </a:r>
            <a:r>
              <a:rPr sz="2700" kern="0" spc="1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2700" kern="0" spc="1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  <p:pic>
        <p:nvPicPr>
          <p:cNvPr id="1796" name="picture 17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739140"/>
            <a:ext cx="383540" cy="384175"/>
          </a:xfrm>
          <a:prstGeom prst="rect">
            <a:avLst/>
          </a:prstGeom>
        </p:spPr>
      </p:pic>
      <p:pic>
        <p:nvPicPr>
          <p:cNvPr id="1798" name="picture 17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480" y="548639"/>
            <a:ext cx="9078467" cy="5832348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textbox 1800"/>
          <p:cNvSpPr/>
          <p:nvPr/>
        </p:nvSpPr>
        <p:spPr>
          <a:xfrm>
            <a:off x="-12700" y="13969"/>
            <a:ext cx="9169400" cy="5695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367665" algn="l"/>
                <a:tab pos="9156700" algn="l"/>
              </a:tabLst>
            </a:pP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	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9.2.5</a:t>
            </a:r>
            <a:r>
              <a:rPr sz="3500" b="1" u="sng" kern="0" spc="38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  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网</a:t>
            </a:r>
            <a:r>
              <a:rPr sz="3500" u="sng" kern="0" spc="-33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 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络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IP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管理（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ip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）</a:t>
            </a:r>
            <a:r>
              <a:rPr sz="35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	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346075" algn="l" rtl="0" eaLnBrk="0">
              <a:lnSpc>
                <a:spcPct val="87000"/>
              </a:lnSpc>
              <a:spcBef>
                <a:spcPts val="1166"/>
              </a:spcBef>
              <a:tabLst>
                <a:tab pos="581025" algn="l"/>
              </a:tabLst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700" b="1" kern="0" spc="-3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接口设备相关设置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600709" indent="-255270" algn="l" rtl="0" eaLnBrk="0">
              <a:lnSpc>
                <a:spcPct val="95000"/>
              </a:lnSpc>
              <a:spcBef>
                <a:spcPts val="537"/>
              </a:spcBef>
              <a:tabLst>
                <a:tab pos="578484" algn="l"/>
              </a:tabLst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2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link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可以设置与设备有关的参数，包括启动或关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闭某个网络接口，语法如下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503680" algn="l" rtl="0" eaLnBrk="0">
              <a:lnSpc>
                <a:spcPct val="89000"/>
              </a:lnSpc>
              <a:spcBef>
                <a:spcPts val="587"/>
              </a:spcBef>
              <a:tabLst/>
            </a:pP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2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[-s]</a:t>
            </a:r>
            <a:r>
              <a:rPr sz="2700" b="1" kern="0" spc="2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link</a:t>
            </a:r>
            <a:r>
              <a:rPr sz="2700" b="1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show</a:t>
            </a:r>
            <a:r>
              <a:rPr sz="2700" b="1" kern="0" spc="3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查看设备相关信息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17475" indent="-12064" algn="l" rtl="0" eaLnBrk="0">
              <a:lnSpc>
                <a:spcPct val="108000"/>
              </a:lnSpc>
              <a:spcBef>
                <a:spcPts val="11"/>
              </a:spcBef>
              <a:tabLst/>
            </a:pP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link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set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device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up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down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name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address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 #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按指定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动作设置设备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27635" algn="l" rtl="0" eaLnBrk="0">
              <a:lnSpc>
                <a:spcPct val="91000"/>
              </a:lnSpc>
              <a:spcBef>
                <a:spcPts val="184"/>
              </a:spcBef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link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命令使用示例如下：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05410" algn="l" rtl="0" eaLnBrk="0">
              <a:lnSpc>
                <a:spcPct val="91000"/>
              </a:lnSpc>
              <a:spcBef>
                <a:spcPts val="412"/>
              </a:spcBef>
              <a:tabLst/>
            </a:pP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-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link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show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显示本机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接口的信息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05410" algn="l" rtl="0" eaLnBrk="0">
              <a:lnSpc>
                <a:spcPct val="91000"/>
              </a:lnSpc>
              <a:spcBef>
                <a:spcPts val="412"/>
              </a:spcBef>
              <a:tabLst/>
            </a:pP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link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set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up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#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启动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本机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接口设备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05410" algn="l" rtl="0" eaLnBrk="0">
              <a:lnSpc>
                <a:spcPct val="91000"/>
              </a:lnSpc>
              <a:spcBef>
                <a:spcPts val="412"/>
              </a:spcBef>
              <a:tabLst/>
            </a:pP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link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set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name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#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修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改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网卡名称为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v0</a:t>
            </a:r>
            <a:endParaRPr sz="2700" dirty="0">
              <a:latin typeface="Arial"/>
              <a:ea typeface="Arial"/>
              <a:cs typeface="Arial"/>
            </a:endParaRPr>
          </a:p>
          <a:p>
            <a:pPr marL="115570" indent="-10160" algn="l" rtl="0" eaLnBrk="0">
              <a:lnSpc>
                <a:spcPct val="95000"/>
              </a:lnSpc>
              <a:spcBef>
                <a:spcPts val="393"/>
              </a:spcBef>
              <a:tabLst/>
            </a:pP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link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set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address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52:54:00: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fb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:77:9e</a:t>
            </a:r>
            <a:r>
              <a:rPr sz="2700" b="1" kern="0" spc="-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修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改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地址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pic>
        <p:nvPicPr>
          <p:cNvPr id="1802" name="picture 18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1135379"/>
            <a:ext cx="243840" cy="244475"/>
          </a:xfrm>
          <a:prstGeom prst="rect">
            <a:avLst/>
          </a:prstGeom>
        </p:spPr>
      </p:pic>
      <p:pic>
        <p:nvPicPr>
          <p:cNvPr id="1804" name="picture 18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708659"/>
            <a:ext cx="243840" cy="244475"/>
          </a:xfrm>
          <a:prstGeom prst="rect">
            <a:avLst/>
          </a:prstGeom>
        </p:spPr>
      </p:pic>
      <p:sp>
        <p:nvSpPr>
          <p:cNvPr id="1806" name="textbox 1806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</a:t>
            </a:r>
            <a:r>
              <a:rPr sz="2700" kern="0" spc="1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32</a:t>
            </a:r>
            <a:r>
              <a:rPr sz="2700" kern="0" spc="1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textbox 1808"/>
          <p:cNvSpPr/>
          <p:nvPr/>
        </p:nvSpPr>
        <p:spPr>
          <a:xfrm>
            <a:off x="-12700" y="2857"/>
            <a:ext cx="9169400" cy="5678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367665" algn="l"/>
                <a:tab pos="9156700" algn="l"/>
              </a:tabLst>
            </a:pP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	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9.2.5</a:t>
            </a:r>
            <a:r>
              <a:rPr sz="3500" b="1" u="sng" kern="0" spc="38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  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网</a:t>
            </a:r>
            <a:r>
              <a:rPr sz="3500" u="sng" kern="0" spc="-33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 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络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IP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管理（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ip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）</a:t>
            </a:r>
            <a:r>
              <a:rPr sz="35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	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346075" algn="l" rtl="0" eaLnBrk="0">
              <a:lnSpc>
                <a:spcPct val="87000"/>
              </a:lnSpc>
              <a:spcBef>
                <a:spcPts val="1028"/>
              </a:spcBef>
              <a:tabLst>
                <a:tab pos="561340" algn="l"/>
              </a:tabLst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2700" b="1" kern="0" spc="-3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．为</a:t>
            </a:r>
            <a:r>
              <a:rPr sz="2700" b="1" kern="0" spc="5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接口分配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地址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21285" indent="5714" algn="l" rtl="0" eaLnBrk="0">
              <a:lnSpc>
                <a:spcPct val="95000"/>
              </a:lnSpc>
              <a:spcBef>
                <a:spcPts val="537"/>
              </a:spcBef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addr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address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命令可用于</a:t>
            </a:r>
            <a:r>
              <a:rPr sz="2700" b="1" kern="0" spc="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将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1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地址分配给接口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，语法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如下：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2032000" algn="l" rtl="0" eaLnBrk="0">
              <a:lnSpc>
                <a:spcPct val="89000"/>
              </a:lnSpc>
              <a:spcBef>
                <a:spcPts val="580"/>
              </a:spcBef>
              <a:tabLst/>
            </a:pP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1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address</a:t>
            </a:r>
            <a:r>
              <a:rPr sz="2700" b="1" kern="0" spc="1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show</a:t>
            </a:r>
            <a:r>
              <a:rPr sz="2700" b="1" kern="0" spc="5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查看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参数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15570" indent="-10160" algn="l" rtl="0" eaLnBrk="0">
              <a:lnSpc>
                <a:spcPct val="108000"/>
              </a:lnSpc>
              <a:spcBef>
                <a:spcPts val="8"/>
              </a:spcBef>
              <a:tabLst/>
            </a:pP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1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address</a:t>
            </a:r>
            <a:r>
              <a:rPr sz="2700" b="1" kern="0" spc="2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1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</a:t>
            </a:r>
            <a:r>
              <a:rPr sz="2700" b="1" kern="0" spc="1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del</a:t>
            </a:r>
            <a:r>
              <a:rPr sz="2700" b="1" kern="0" spc="1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address</a:t>
            </a:r>
            <a:r>
              <a:rPr sz="2700" b="1" kern="0" spc="1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</a:t>
            </a:r>
            <a:r>
              <a:rPr sz="2700" b="1" kern="0" spc="2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ifname</a:t>
            </a:r>
            <a:r>
              <a:rPr sz="2700" b="1" kern="0" spc="1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设置与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相关各项参数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27635" algn="l" rtl="0" eaLnBrk="0">
              <a:lnSpc>
                <a:spcPct val="91000"/>
              </a:lnSpc>
              <a:spcBef>
                <a:spcPts val="195"/>
              </a:spcBef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addr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命令使用示例如下：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05410" algn="l" rtl="0" eaLnBrk="0">
              <a:lnSpc>
                <a:spcPct val="91000"/>
              </a:lnSpc>
              <a:spcBef>
                <a:spcPts val="412"/>
              </a:spcBef>
              <a:tabLst/>
            </a:pP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address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show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显示本机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参数</a:t>
            </a:r>
            <a:endParaRPr sz="2700" dirty="0">
              <a:latin typeface="SimSun"/>
              <a:ea typeface="SimSun"/>
              <a:cs typeface="SimSun"/>
            </a:endParaRPr>
          </a:p>
          <a:p>
            <a:pPr marL="114300" indent="-8889" algn="l" rtl="0" eaLnBrk="0">
              <a:lnSpc>
                <a:spcPct val="95000"/>
              </a:lnSpc>
              <a:spcBef>
                <a:spcPts val="408"/>
              </a:spcBef>
              <a:tabLst/>
            </a:pP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address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</a:t>
            </a:r>
            <a:r>
              <a:rPr sz="2700" b="1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192.168.1.200/24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#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添加虚拟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接口并分配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endParaRPr sz="2700" dirty="0">
              <a:latin typeface="Arial"/>
              <a:ea typeface="Arial"/>
              <a:cs typeface="Arial"/>
            </a:endParaRPr>
          </a:p>
          <a:p>
            <a:pPr marL="118745" indent="-13334" algn="l" rtl="0" eaLnBrk="0">
              <a:lnSpc>
                <a:spcPct val="95000"/>
              </a:lnSpc>
              <a:spcBef>
                <a:spcPts val="550"/>
              </a:spcBef>
              <a:tabLst/>
            </a:pP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address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del</a:t>
            </a:r>
            <a:r>
              <a:rPr sz="2700" b="1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192.168.1.200/2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#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删除刚刚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添加的接口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pic>
        <p:nvPicPr>
          <p:cNvPr id="1810" name="picture 18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535" y="680084"/>
            <a:ext cx="243840" cy="244475"/>
          </a:xfrm>
          <a:prstGeom prst="rect">
            <a:avLst/>
          </a:prstGeom>
        </p:spPr>
      </p:pic>
      <p:pic>
        <p:nvPicPr>
          <p:cNvPr id="1812" name="picture 18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43" y="620267"/>
            <a:ext cx="9099804" cy="5760720"/>
          </a:xfrm>
          <a:prstGeom prst="rect">
            <a:avLst/>
          </a:prstGeom>
        </p:spPr>
      </p:pic>
      <p:sp>
        <p:nvSpPr>
          <p:cNvPr id="1814" name="textbox 1814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</a:t>
            </a:r>
            <a:r>
              <a:rPr sz="2700" kern="0" spc="1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33</a:t>
            </a:r>
            <a:r>
              <a:rPr sz="2700" kern="0" spc="1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textbox 1816"/>
          <p:cNvSpPr/>
          <p:nvPr/>
        </p:nvSpPr>
        <p:spPr>
          <a:xfrm>
            <a:off x="-12700" y="-44450"/>
            <a:ext cx="9169400" cy="6150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116839" algn="l"/>
                <a:tab pos="9156700" algn="l"/>
              </a:tabLst>
            </a:pPr>
            <a:r>
              <a:rPr sz="3500" b="1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	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9.2.5</a:t>
            </a:r>
            <a:r>
              <a:rPr sz="3500" b="1" u="sng" kern="0" spc="38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  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网</a:t>
            </a:r>
            <a:r>
              <a:rPr sz="3500" u="sng" kern="0" spc="-33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 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络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IP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管理（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Arial"/>
                <a:ea typeface="Arial"/>
                <a:cs typeface="Arial"/>
              </a:rPr>
              <a:t>ip</a:t>
            </a:r>
            <a:r>
              <a:rPr sz="3500" b="1" u="sng" kern="0" spc="-1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）</a:t>
            </a:r>
            <a:r>
              <a:rPr sz="35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3333CC"/>
                  </a:solidFill>
                </a:uFill>
                <a:latin typeface="STXinwei"/>
                <a:ea typeface="STXinwei"/>
                <a:cs typeface="STXinwei"/>
              </a:rPr>
              <a:t>	</a:t>
            </a:r>
            <a:endParaRPr sz="3500" dirty="0">
              <a:latin typeface="STXinwei"/>
              <a:ea typeface="STXinwei"/>
              <a:cs typeface="STXinwei"/>
            </a:endParaRPr>
          </a:p>
          <a:p>
            <a:pPr marL="465455" algn="l" rtl="0" eaLnBrk="0">
              <a:lnSpc>
                <a:spcPct val="86000"/>
              </a:lnSpc>
              <a:spcBef>
                <a:spcPts val="1562"/>
              </a:spcBef>
              <a:tabLst>
                <a:tab pos="586105" algn="l"/>
              </a:tabLst>
            </a:pP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9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3900" b="1" kern="0" spc="-5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．设置路由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34620" indent="9525" algn="l" rtl="0" eaLnBrk="0">
              <a:lnSpc>
                <a:spcPct val="99000"/>
              </a:lnSpc>
              <a:spcBef>
                <a:spcPts val="699"/>
              </a:spcBef>
              <a:tabLst/>
            </a:pP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如果需要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静态路由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，可以通过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3900" b="1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route   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将路由添加到路由表中，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并使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route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del</a:t>
            </a:r>
            <a:r>
              <a:rPr sz="3900" b="1" kern="0" spc="10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命令移除</a:t>
            </a:r>
            <a:r>
              <a:rPr sz="3900" b="1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。语法如</a:t>
            </a:r>
            <a:r>
              <a:rPr sz="39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下：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57479" indent="-36830" algn="l" rtl="0" eaLnBrk="0">
              <a:lnSpc>
                <a:spcPct val="94000"/>
              </a:lnSpc>
              <a:spcBef>
                <a:spcPts val="559"/>
              </a:spcBef>
              <a:tabLst/>
            </a:pPr>
            <a:r>
              <a:rPr sz="39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39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route</a:t>
            </a:r>
            <a:r>
              <a:rPr sz="39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show</a:t>
            </a:r>
            <a:r>
              <a:rPr sz="39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39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9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查看当前路由设置信</a:t>
            </a:r>
            <a:r>
              <a:rPr sz="39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息</a:t>
            </a:r>
            <a:endParaRPr sz="3900" dirty="0">
              <a:latin typeface="SimSun"/>
              <a:ea typeface="SimSun"/>
              <a:cs typeface="SimSun"/>
            </a:endParaRPr>
          </a:p>
          <a:p>
            <a:pPr marL="120650" algn="l" rtl="0" eaLnBrk="0">
              <a:lnSpc>
                <a:spcPct val="78000"/>
              </a:lnSpc>
              <a:spcBef>
                <a:spcPts val="1295"/>
              </a:spcBef>
              <a:tabLst/>
            </a:pPr>
            <a:r>
              <a:rPr sz="39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#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3900" b="1" kern="0" spc="2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route</a:t>
            </a:r>
            <a:endParaRPr sz="3900" dirty="0">
              <a:latin typeface="Arial"/>
              <a:ea typeface="Arial"/>
              <a:cs typeface="Arial"/>
            </a:endParaRPr>
          </a:p>
          <a:p>
            <a:pPr marL="137160" indent="14604" algn="l" rtl="0" eaLnBrk="0">
              <a:lnSpc>
                <a:spcPct val="107000"/>
              </a:lnSpc>
              <a:spcBef>
                <a:spcPts val="1"/>
              </a:spcBef>
              <a:tabLst/>
            </a:pPr>
            <a:r>
              <a:rPr sz="3900" b="1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</a:t>
            </a:r>
            <a:r>
              <a:rPr sz="3900" b="1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del</a:t>
            </a:r>
            <a:r>
              <a:rPr sz="3900" b="1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change</a:t>
            </a:r>
            <a:r>
              <a:rPr sz="3900" b="1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append</a:t>
            </a:r>
            <a:r>
              <a:rPr sz="3900" b="1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replace</a:t>
            </a:r>
            <a:r>
              <a:rPr sz="3900" b="1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destination</a:t>
            </a:r>
            <a:r>
              <a:rPr sz="39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39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address</a:t>
            </a:r>
            <a:r>
              <a:rPr sz="3900" b="1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#</a:t>
            </a:r>
            <a:r>
              <a:rPr sz="3900" b="1" kern="0" spc="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设置路由</a:t>
            </a:r>
            <a:endParaRPr sz="3900" dirty="0">
              <a:latin typeface="SimSun"/>
              <a:ea typeface="SimSun"/>
              <a:cs typeface="SimSun"/>
            </a:endParaRPr>
          </a:p>
        </p:txBody>
      </p:sp>
      <p:pic>
        <p:nvPicPr>
          <p:cNvPr id="1818" name="picture 18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3822" y="725804"/>
            <a:ext cx="349250" cy="349250"/>
          </a:xfrm>
          <a:prstGeom prst="rect">
            <a:avLst/>
          </a:prstGeom>
        </p:spPr>
      </p:pic>
      <p:sp>
        <p:nvSpPr>
          <p:cNvPr id="1820" name="textbox 1820"/>
          <p:cNvSpPr/>
          <p:nvPr/>
        </p:nvSpPr>
        <p:spPr>
          <a:xfrm>
            <a:off x="80543" y="6556374"/>
            <a:ext cx="8985250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《</a:t>
            </a:r>
            <a:r>
              <a:rPr sz="1700" b="1" kern="0" spc="0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Linux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系</a:t>
            </a:r>
            <a:r>
              <a:rPr sz="1700" kern="0" spc="-20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统与安全》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</a:t>
            </a:r>
            <a:r>
              <a:rPr sz="1700" b="1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天津工业大学大学软件学院</a:t>
            </a:r>
            <a:r>
              <a:rPr sz="1700" kern="0" spc="2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</a:t>
            </a:r>
            <a:r>
              <a:rPr sz="1700" kern="0" spc="10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                                                  </a:t>
            </a:r>
            <a:r>
              <a:rPr sz="2700" kern="0" spc="1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第</a:t>
            </a:r>
            <a:r>
              <a:rPr sz="2700" b="1" kern="0" spc="10" baseline="3858" dirty="0">
                <a:solidFill>
                  <a:srgbClr val="3333CC">
                    <a:alpha val="100000"/>
                  </a:srgbClr>
                </a:solidFill>
                <a:latin typeface="Arial"/>
                <a:ea typeface="Arial"/>
                <a:cs typeface="Arial"/>
              </a:rPr>
              <a:t>34</a:t>
            </a:r>
            <a:r>
              <a:rPr sz="2700" kern="0" spc="10" baseline="3858" dirty="0">
                <a:solidFill>
                  <a:srgbClr val="3333CC">
                    <a:alpha val="100000"/>
                  </a:srgbClr>
                </a:solidFill>
                <a:latin typeface="STXinwei"/>
                <a:ea typeface="STXinwei"/>
                <a:cs typeface="STXinwei"/>
              </a:rPr>
              <a:t>页</a:t>
            </a:r>
            <a:endParaRPr sz="2700" baseline="3858" dirty="0">
              <a:latin typeface="STXinwei"/>
              <a:ea typeface="STXinwei"/>
              <a:cs typeface="STXinw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WPS PDF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2025-12-27T18:32:06Z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2025-12-27T18:32:58</vt:filetime>
  </property>
</Properties>
</file>