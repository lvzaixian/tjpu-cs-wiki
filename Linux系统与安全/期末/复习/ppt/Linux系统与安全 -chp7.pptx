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0" r:id="rId2"/>
  </p:sldMasterIdLst>
  <p:notesMasterIdLst>
    <p:notesMasterId r:id="rId47"/>
  </p:notesMasterIdLst>
  <p:sldIdLst>
    <p:sldId id="256" r:id="rId3"/>
    <p:sldId id="257"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86" r:id="rId19"/>
    <p:sldId id="287"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3" r:id="rId36"/>
    <p:sldId id="304" r:id="rId37"/>
    <p:sldId id="305" r:id="rId38"/>
    <p:sldId id="306" r:id="rId39"/>
    <p:sldId id="307" r:id="rId40"/>
    <p:sldId id="308" r:id="rId41"/>
    <p:sldId id="309" r:id="rId42"/>
    <p:sldId id="310" r:id="rId43"/>
    <p:sldId id="311" r:id="rId44"/>
    <p:sldId id="312" r:id="rId45"/>
    <p:sldId id="324" r:id="rId46"/>
  </p:sldIdLst>
  <p:sldSz cx="9144000" cy="6858000" type="screen4x3"/>
  <p:notesSz cx="6858000" cy="9144000"/>
  <p:defaultTextStyle>
    <a:defPPr>
      <a:defRPr lang="en-GB"/>
    </a:defPPr>
    <a:lvl1pPr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1pPr>
    <a:lvl2pPr marL="4572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2pPr>
    <a:lvl3pPr marL="9144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3pPr>
    <a:lvl4pPr marL="13716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4pPr>
    <a:lvl5pPr marL="1828800" algn="l" rtl="0" eaLnBrk="0" fontAlgn="base" hangingPunct="0">
      <a:spcBef>
        <a:spcPct val="0"/>
      </a:spcBef>
      <a:spcAft>
        <a:spcPct val="0"/>
      </a:spcAft>
      <a:defRPr sz="2800" b="1" kern="1200">
        <a:solidFill>
          <a:srgbClr val="000000"/>
        </a:solidFill>
        <a:latin typeface="AR PL SungtiL GB" charset="0"/>
        <a:ea typeface="宋体" panose="02010600030101010101" pitchFamily="2" charset="-122"/>
        <a:cs typeface="+mn-cs"/>
      </a:defRPr>
    </a:lvl5pPr>
    <a:lvl6pPr marL="2286000" algn="l" defTabSz="914400" rtl="0" eaLnBrk="1" latinLnBrk="0" hangingPunct="1">
      <a:defRPr sz="2800" b="1" kern="1200">
        <a:solidFill>
          <a:srgbClr val="000000"/>
        </a:solidFill>
        <a:latin typeface="AR PL SungtiL GB" charset="0"/>
        <a:ea typeface="宋体" panose="02010600030101010101" pitchFamily="2" charset="-122"/>
        <a:cs typeface="+mn-cs"/>
      </a:defRPr>
    </a:lvl6pPr>
    <a:lvl7pPr marL="2743200" algn="l" defTabSz="914400" rtl="0" eaLnBrk="1" latinLnBrk="0" hangingPunct="1">
      <a:defRPr sz="2800" b="1" kern="1200">
        <a:solidFill>
          <a:srgbClr val="000000"/>
        </a:solidFill>
        <a:latin typeface="AR PL SungtiL GB" charset="0"/>
        <a:ea typeface="宋体" panose="02010600030101010101" pitchFamily="2" charset="-122"/>
        <a:cs typeface="+mn-cs"/>
      </a:defRPr>
    </a:lvl7pPr>
    <a:lvl8pPr marL="3200400" algn="l" defTabSz="914400" rtl="0" eaLnBrk="1" latinLnBrk="0" hangingPunct="1">
      <a:defRPr sz="2800" b="1" kern="1200">
        <a:solidFill>
          <a:srgbClr val="000000"/>
        </a:solidFill>
        <a:latin typeface="AR PL SungtiL GB" charset="0"/>
        <a:ea typeface="宋体" panose="02010600030101010101" pitchFamily="2" charset="-122"/>
        <a:cs typeface="+mn-cs"/>
      </a:defRPr>
    </a:lvl8pPr>
    <a:lvl9pPr marL="3657600" algn="l" defTabSz="914400" rtl="0" eaLnBrk="1" latinLnBrk="0" hangingPunct="1">
      <a:defRPr sz="2800" b="1" kern="1200">
        <a:solidFill>
          <a:srgbClr val="000000"/>
        </a:solidFill>
        <a:latin typeface="AR PL SungtiL GB"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00"/>
    <a:srgbClr val="00FF00"/>
    <a:srgbClr val="DDDDDD"/>
    <a:srgbClr val="C0C0C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2" autoAdjust="0"/>
    <p:restoredTop sz="94660" autoAdjust="0"/>
  </p:normalViewPr>
  <p:slideViewPr>
    <p:cSldViewPr>
      <p:cViewPr varScale="1">
        <p:scale>
          <a:sx n="110" d="100"/>
          <a:sy n="110" d="100"/>
        </p:scale>
        <p:origin x="924" y="78"/>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117" d="100"/>
          <a:sy n="117" d="100"/>
        </p:scale>
        <p:origin x="5112"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AutoShape 1">
            <a:extLst>
              <a:ext uri="{FF2B5EF4-FFF2-40B4-BE49-F238E27FC236}">
                <a16:creationId xmlns:a16="http://schemas.microsoft.com/office/drawing/2014/main" id="{CB6CC0A9-9C2B-4053-9BA3-3357EA6ED5D1}"/>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099" name="AutoShape 2">
            <a:extLst>
              <a:ext uri="{FF2B5EF4-FFF2-40B4-BE49-F238E27FC236}">
                <a16:creationId xmlns:a16="http://schemas.microsoft.com/office/drawing/2014/main" id="{C76AC505-196E-31A7-4FC7-6F87C867949A}"/>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0" name="AutoShape 3">
            <a:extLst>
              <a:ext uri="{FF2B5EF4-FFF2-40B4-BE49-F238E27FC236}">
                <a16:creationId xmlns:a16="http://schemas.microsoft.com/office/drawing/2014/main" id="{667CC075-E61B-0BE4-10DE-F640698C156F}"/>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1" name="AutoShape 4">
            <a:extLst>
              <a:ext uri="{FF2B5EF4-FFF2-40B4-BE49-F238E27FC236}">
                <a16:creationId xmlns:a16="http://schemas.microsoft.com/office/drawing/2014/main" id="{3DEABBF0-CC47-96D2-7C6E-1392BFF29F9D}"/>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2" name="AutoShape 5">
            <a:extLst>
              <a:ext uri="{FF2B5EF4-FFF2-40B4-BE49-F238E27FC236}">
                <a16:creationId xmlns:a16="http://schemas.microsoft.com/office/drawing/2014/main" id="{66200F5C-889C-D144-7B65-0FF170BB039B}"/>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3" name="AutoShape 6">
            <a:extLst>
              <a:ext uri="{FF2B5EF4-FFF2-40B4-BE49-F238E27FC236}">
                <a16:creationId xmlns:a16="http://schemas.microsoft.com/office/drawing/2014/main" id="{AC82964D-00C9-41CD-F095-448500B58703}"/>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4" name="AutoShape 7">
            <a:extLst>
              <a:ext uri="{FF2B5EF4-FFF2-40B4-BE49-F238E27FC236}">
                <a16:creationId xmlns:a16="http://schemas.microsoft.com/office/drawing/2014/main" id="{2241E3AD-DB6B-785F-0973-0C15BF1C2E36}"/>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5" name="AutoShape 8">
            <a:extLst>
              <a:ext uri="{FF2B5EF4-FFF2-40B4-BE49-F238E27FC236}">
                <a16:creationId xmlns:a16="http://schemas.microsoft.com/office/drawing/2014/main" id="{CC2C6AC4-5A48-7BB6-4722-CF86B8DEE432}"/>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6" name="AutoShape 9">
            <a:extLst>
              <a:ext uri="{FF2B5EF4-FFF2-40B4-BE49-F238E27FC236}">
                <a16:creationId xmlns:a16="http://schemas.microsoft.com/office/drawing/2014/main" id="{D41CE205-803C-D1A9-C2F4-E284B477D0DC}"/>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7" name="AutoShape 10">
            <a:extLst>
              <a:ext uri="{FF2B5EF4-FFF2-40B4-BE49-F238E27FC236}">
                <a16:creationId xmlns:a16="http://schemas.microsoft.com/office/drawing/2014/main" id="{54E06665-721C-6E4F-BE7A-82E95C01271E}"/>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8" name="AutoShape 11">
            <a:extLst>
              <a:ext uri="{FF2B5EF4-FFF2-40B4-BE49-F238E27FC236}">
                <a16:creationId xmlns:a16="http://schemas.microsoft.com/office/drawing/2014/main" id="{A6320B1A-D455-9006-73FE-40BB7764CD70}"/>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09" name="AutoShape 12">
            <a:extLst>
              <a:ext uri="{FF2B5EF4-FFF2-40B4-BE49-F238E27FC236}">
                <a16:creationId xmlns:a16="http://schemas.microsoft.com/office/drawing/2014/main" id="{00080FD4-DC15-E508-5C0F-78BE8875131B}"/>
              </a:ext>
            </a:extLst>
          </p:cNvPr>
          <p:cNvSpPr>
            <a:spLocks noChangeArrowheads="1"/>
          </p:cNvSpPr>
          <p:nvPr/>
        </p:nvSpPr>
        <p:spPr bwMode="auto">
          <a:xfrm>
            <a:off x="0" y="0"/>
            <a:ext cx="6858000" cy="9144000"/>
          </a:xfrm>
          <a:prstGeom prst="roundRect">
            <a:avLst>
              <a:gd name="adj" fmla="val 23"/>
            </a:avLst>
          </a:prstGeom>
          <a:solidFill>
            <a:srgbClr val="FFFFFF"/>
          </a:solidFill>
          <a:ln>
            <a:noFill/>
          </a:ln>
        </p:spPr>
        <p:txBody>
          <a:bodyPr wrap="none" anchor="ct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defRPr/>
            </a:pPr>
            <a:endParaRPr lang="zh-CN" altLang="en-US"/>
          </a:p>
        </p:txBody>
      </p:sp>
      <p:sp>
        <p:nvSpPr>
          <p:cNvPr id="4110" name="Rectangle 13">
            <a:extLst>
              <a:ext uri="{FF2B5EF4-FFF2-40B4-BE49-F238E27FC236}">
                <a16:creationId xmlns:a16="http://schemas.microsoft.com/office/drawing/2014/main" id="{002765A5-8966-979B-10A5-1B6CD003AC21}"/>
              </a:ext>
            </a:extLst>
          </p:cNvPr>
          <p:cNvSpPr>
            <a:spLocks noGrp="1" noRot="1" noChangeAspect="1" noChangeArrowheads="1" noTextEdit="1"/>
          </p:cNvSpPr>
          <p:nvPr>
            <p:ph type="sldImg"/>
          </p:nvPr>
        </p:nvSpPr>
        <p:spPr bwMode="auto">
          <a:xfrm>
            <a:off x="0" y="303213"/>
            <a:ext cx="1588" cy="5834062"/>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62" name="Rectangle 14">
            <a:extLst>
              <a:ext uri="{FF2B5EF4-FFF2-40B4-BE49-F238E27FC236}">
                <a16:creationId xmlns:a16="http://schemas.microsoft.com/office/drawing/2014/main" id="{48BF9166-4415-ED2E-9FA8-2AFCD6F5385E}"/>
              </a:ext>
            </a:extLst>
          </p:cNvPr>
          <p:cNvSpPr txBox="1">
            <a:spLocks noGrp="1" noChangeArrowheads="1"/>
          </p:cNvSpPr>
          <p:nvPr>
            <p:ph type="body" idx="1"/>
          </p:nvPr>
        </p:nvSpPr>
        <p:spPr bwMode="auto">
          <a:xfrm>
            <a:off x="503238" y="4316413"/>
            <a:ext cx="5856287" cy="4059237"/>
          </a:xfrm>
          <a:prstGeom prst="rect">
            <a:avLst/>
          </a:prstGeom>
          <a:noFill/>
          <a:ln>
            <a:noFill/>
          </a:ln>
        </p:spPr>
        <p:txBody>
          <a:bodyPr vert="horz" wrap="square" lIns="0" tIns="0" rIns="0" bIns="0" numCol="1" anchor="t" anchorCtr="0" compatLnSpc="1">
            <a:prstTxWarp prst="textNoShape">
              <a:avLst/>
            </a:prstTxWarp>
          </a:bodyPr>
          <a:lstStyle/>
          <a:p>
            <a:pPr lvl="0"/>
            <a:endParaRPr lang="zh-CN" altLang="en-US" noProof="0"/>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1">
            <a:extLst>
              <a:ext uri="{FF2B5EF4-FFF2-40B4-BE49-F238E27FC236}">
                <a16:creationId xmlns:a16="http://schemas.microsoft.com/office/drawing/2014/main" id="{3E1DAA2B-E4B7-251B-5B30-61C6CE4CED50}"/>
              </a:ext>
            </a:extLst>
          </p:cNvPr>
          <p:cNvSpPr>
            <a:spLocks noGrp="1" noRot="1" noChangeAspect="1" noChangeArrowheads="1" noTextEdit="1"/>
          </p:cNvSpPr>
          <p:nvPr>
            <p:ph type="sldImg"/>
          </p:nvPr>
        </p:nvSpPr>
        <p:spPr>
          <a:xfrm>
            <a:off x="0" y="303213"/>
            <a:ext cx="1588" cy="1587"/>
          </a:xfrm>
          <a:ln/>
        </p:spPr>
      </p:sp>
      <p:sp>
        <p:nvSpPr>
          <p:cNvPr id="6147" name="Rectangle 2">
            <a:extLst>
              <a:ext uri="{FF2B5EF4-FFF2-40B4-BE49-F238E27FC236}">
                <a16:creationId xmlns:a16="http://schemas.microsoft.com/office/drawing/2014/main" id="{2CE57335-F778-9344-3972-393D1295CAEF}"/>
              </a:ext>
            </a:extLst>
          </p:cNvPr>
          <p:cNvSpPr txBox="1">
            <a:spLocks noGrp="1" noChangeArrowheads="1"/>
          </p:cNvSpPr>
          <p:nvPr>
            <p:ph type="body" idx="1"/>
          </p:nvPr>
        </p:nvSpPr>
        <p:spPr>
          <a:xfrm>
            <a:off x="503238" y="4316413"/>
            <a:ext cx="5856287" cy="406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E8464414-B858-26D6-7ACF-183BE71B0CDC}"/>
              </a:ext>
            </a:extLst>
          </p:cNvPr>
          <p:cNvSpPr>
            <a:spLocks noChangeArrowheads="1"/>
          </p:cNvSpPr>
          <p:nvPr/>
        </p:nvSpPr>
        <p:spPr bwMode="auto">
          <a:xfrm>
            <a:off x="0" y="6518275"/>
            <a:ext cx="9144000" cy="339725"/>
          </a:xfrm>
          <a:prstGeom prst="rect">
            <a:avLst/>
          </a:prstGeom>
          <a:noFill/>
          <a:ln>
            <a:noFill/>
          </a:ln>
          <a:effectLst/>
        </p:spPr>
        <p:txBody>
          <a:bodyP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spcBef>
                <a:spcPct val="0"/>
              </a:spcBef>
              <a:spcAft>
                <a:spcPct val="0"/>
              </a:spcAft>
              <a:buClrTx/>
              <a:buFontTx/>
              <a:buNone/>
              <a:defRPr/>
            </a:pPr>
            <a:r>
              <a:rPr lang="en-US" altLang="zh-CN" sz="1800" dirty="0">
                <a:solidFill>
                  <a:schemeClr val="accent2"/>
                </a:solidFill>
                <a:latin typeface="Arial" panose="020B0604020202020204" pitchFamily="34" charset="0"/>
                <a:ea typeface="华文新魏" panose="02010800040101010101" pitchFamily="2" charset="-122"/>
              </a:rPr>
              <a:t>《Linux</a:t>
            </a:r>
            <a:r>
              <a:rPr lang="zh-CN" altLang="en-US" sz="1800" dirty="0">
                <a:solidFill>
                  <a:schemeClr val="accent2"/>
                </a:solidFill>
                <a:latin typeface="Arial" panose="020B0604020202020204" pitchFamily="34" charset="0"/>
                <a:ea typeface="华文新魏" panose="02010800040101010101" pitchFamily="2" charset="-122"/>
              </a:rPr>
              <a:t>系统与安全</a:t>
            </a:r>
            <a:r>
              <a:rPr lang="en-US" altLang="zh-CN" sz="1800" dirty="0">
                <a:solidFill>
                  <a:schemeClr val="accent2"/>
                </a:solidFill>
                <a:latin typeface="Arial" panose="020B0604020202020204" pitchFamily="34" charset="0"/>
                <a:ea typeface="华文新魏" panose="02010800040101010101" pitchFamily="2" charset="-122"/>
              </a:rPr>
              <a:t>》 </a:t>
            </a:r>
            <a:r>
              <a:rPr lang="zh-CN" altLang="en-US" sz="1800" dirty="0">
                <a:solidFill>
                  <a:schemeClr val="accent2"/>
                </a:solidFill>
                <a:latin typeface="Arial" panose="020B0604020202020204" pitchFamily="34" charset="0"/>
                <a:ea typeface="华文新魏" panose="02010800040101010101" pitchFamily="2" charset="-122"/>
              </a:rPr>
              <a:t>天津工业大学大学软件学院 </a:t>
            </a:r>
            <a:endParaRPr lang="en-US" altLang="zh-CN" sz="1800" dirty="0">
              <a:solidFill>
                <a:schemeClr val="accent2"/>
              </a:solidFill>
              <a:latin typeface="Arial" panose="020B0604020202020204" pitchFamily="34" charset="0"/>
              <a:ea typeface="华文新魏" panose="02010800040101010101" pitchFamily="2" charset="-122"/>
            </a:endParaRPr>
          </a:p>
        </p:txBody>
      </p:sp>
      <p:sp>
        <p:nvSpPr>
          <p:cNvPr id="3" name="Rectangle 9">
            <a:extLst>
              <a:ext uri="{FF2B5EF4-FFF2-40B4-BE49-F238E27FC236}">
                <a16:creationId xmlns:a16="http://schemas.microsoft.com/office/drawing/2014/main" id="{C5ABE92B-66CD-BDF1-BD3A-FA8EFC130157}"/>
              </a:ext>
            </a:extLst>
          </p:cNvPr>
          <p:cNvSpPr>
            <a:spLocks noChangeArrowheads="1"/>
          </p:cNvSpPr>
          <p:nvPr/>
        </p:nvSpPr>
        <p:spPr bwMode="auto">
          <a:xfrm>
            <a:off x="7413625" y="6496050"/>
            <a:ext cx="1730375" cy="347663"/>
          </a:xfrm>
          <a:prstGeom prst="rect">
            <a:avLst/>
          </a:prstGeom>
          <a:noFill/>
          <a:ln>
            <a:noFill/>
          </a:ln>
          <a:effectLst/>
        </p:spPr>
        <p:txBody>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pPr algn="r" eaLnBrk="1" hangingPunct="1">
              <a:defRPr/>
            </a:pPr>
            <a:r>
              <a:rPr lang="zh-CN" altLang="en-US" sz="1800" b="0">
                <a:solidFill>
                  <a:schemeClr val="accent2"/>
                </a:solidFill>
                <a:latin typeface="Arial" panose="020B0604020202020204" pitchFamily="34" charset="0"/>
                <a:ea typeface="华文新魏" panose="02010800040101010101" pitchFamily="2" charset="-122"/>
              </a:rPr>
              <a:t>第</a:t>
            </a:r>
            <a:fld id="{59032E91-13AA-4DC8-8EC9-A92990ADB693}" type="slidenum">
              <a:rPr lang="zh-CN" altLang="en-US" sz="1800" smtClean="0">
                <a:solidFill>
                  <a:schemeClr val="accent2"/>
                </a:solidFill>
                <a:latin typeface="Arial" panose="020B0604020202020204" pitchFamily="34" charset="0"/>
                <a:ea typeface="华文新魏" panose="02010800040101010101" pitchFamily="2" charset="-122"/>
              </a:rPr>
              <a:pPr algn="r" eaLnBrk="1" hangingPunct="1">
                <a:defRPr/>
              </a:pPr>
              <a:t>‹#›</a:t>
            </a:fld>
            <a:r>
              <a:rPr lang="zh-CN" altLang="en-US" sz="1800" b="0">
                <a:solidFill>
                  <a:schemeClr val="accent2"/>
                </a:solidFill>
                <a:latin typeface="Arial" panose="020B0604020202020204" pitchFamily="34" charset="0"/>
                <a:ea typeface="华文新魏" panose="02010800040101010101" pitchFamily="2" charset="-122"/>
              </a:rPr>
              <a:t>页</a:t>
            </a:r>
          </a:p>
        </p:txBody>
      </p:sp>
      <p:sp>
        <p:nvSpPr>
          <p:cNvPr id="265218" name="Rectangle 2"/>
          <p:cNvSpPr>
            <a:spLocks noGrp="1" noChangeArrowheads="1"/>
          </p:cNvSpPr>
          <p:nvPr>
            <p:ph type="ctrTitle"/>
          </p:nvPr>
        </p:nvSpPr>
        <p:spPr>
          <a:xfrm>
            <a:off x="685800" y="2130425"/>
            <a:ext cx="7772400" cy="1470025"/>
          </a:xfrm>
        </p:spPr>
        <p:txBody>
          <a:bodyPr/>
          <a:lstStyle>
            <a:lvl1pPr>
              <a:lnSpc>
                <a:spcPct val="100000"/>
              </a:lnSpc>
              <a:buFont typeface="Times New Roman" panose="02020603050405020304" pitchFamily="18" charset="0"/>
              <a:buNone/>
              <a:defRPr sz="4400" b="0">
                <a:latin typeface="Times New Roman" panose="02020603050405020304" pitchFamily="18" charset="0"/>
              </a:defRPr>
            </a:lvl1pPr>
          </a:lstStyle>
          <a:p>
            <a:pPr lvl="0"/>
            <a:r>
              <a:rPr lang="zh-CN" altLang="en-US" noProof="0"/>
              <a:t>单击此处编辑母版标题样式</a:t>
            </a:r>
          </a:p>
        </p:txBody>
      </p:sp>
      <p:sp>
        <p:nvSpPr>
          <p:cNvPr id="265219" name="Rectangle 3"/>
          <p:cNvSpPr>
            <a:spLocks noGrp="1" noChangeArrowheads="1"/>
          </p:cNvSpPr>
          <p:nvPr>
            <p:ph type="subTitle" idx="1"/>
          </p:nvPr>
        </p:nvSpPr>
        <p:spPr>
          <a:xfrm>
            <a:off x="1371600" y="3886200"/>
            <a:ext cx="6400800" cy="1752600"/>
          </a:xfrm>
        </p:spPr>
        <p:txBody>
          <a:bodyPr/>
          <a:lstStyle>
            <a:lvl1pPr marL="342900" indent="-342900">
              <a:spcBef>
                <a:spcPct val="20000"/>
              </a:spcBef>
              <a:buFont typeface="Times New Roman" panose="02020603050405020304" pitchFamily="18" charset="0"/>
              <a:buBlip>
                <a:blip r:embed="rId2"/>
              </a:buBlip>
              <a:defRPr b="0">
                <a:latin typeface="Times New Roman" panose="02020603050405020304" pitchFamily="18" charset="0"/>
              </a:defRPr>
            </a:lvl1pPr>
          </a:lstStyle>
          <a:p>
            <a:pPr lvl="0"/>
            <a:r>
              <a:rPr lang="zh-CN" altLang="en-US" noProof="0"/>
              <a:t>单击此处编辑母版副标题样式</a:t>
            </a:r>
          </a:p>
        </p:txBody>
      </p:sp>
    </p:spTree>
    <p:extLst>
      <p:ext uri="{BB962C8B-B14F-4D97-AF65-F5344CB8AC3E}">
        <p14:creationId xmlns:p14="http://schemas.microsoft.com/office/powerpoint/2010/main" val="12847955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266103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72634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extLst>
      <p:ext uri="{BB962C8B-B14F-4D97-AF65-F5344CB8AC3E}">
        <p14:creationId xmlns:p14="http://schemas.microsoft.com/office/powerpoint/2010/main" val="13582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620713"/>
            <a:ext cx="4027488"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7088" y="620713"/>
            <a:ext cx="4029075"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90052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98151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961506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0881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2668537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extLst>
      <p:ext uri="{BB962C8B-B14F-4D97-AF65-F5344CB8AC3E}">
        <p14:creationId xmlns:p14="http://schemas.microsoft.com/office/powerpoint/2010/main" val="825099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43001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0"/>
            <a:ext cx="2286000" cy="63817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0" y="0"/>
            <a:ext cx="6705600" cy="63817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0321089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9144000" cy="47625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620713"/>
            <a:ext cx="4027488"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37088" y="620713"/>
            <a:ext cx="4029075" cy="57610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73908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2FC5F2FB-432B-253A-BA4A-8FA8C7CAE1B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1BBC0B04-8CEE-55A3-7C15-8A08B053690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49160EB-45F9-D23B-7390-61C31A1478EF}"/>
              </a:ext>
            </a:extLst>
          </p:cNvPr>
          <p:cNvSpPr>
            <a:spLocks noGrp="1" noChangeArrowheads="1"/>
          </p:cNvSpPr>
          <p:nvPr>
            <p:ph type="sldNum" sz="quarter" idx="12"/>
          </p:nvPr>
        </p:nvSpPr>
        <p:spPr>
          <a:ln/>
        </p:spPr>
        <p:txBody>
          <a:bodyPr/>
          <a:lstStyle>
            <a:lvl1pPr>
              <a:defRPr/>
            </a:lvl1pPr>
          </a:lstStyle>
          <a:p>
            <a:pPr>
              <a:defRPr/>
            </a:pPr>
            <a:fld id="{75B90822-7A15-4316-AEDC-369452B26035}" type="slidenum">
              <a:rPr lang="zh-CN" altLang="en-US"/>
              <a:pPr>
                <a:defRPr/>
              </a:pPr>
              <a:t>‹#›</a:t>
            </a:fld>
            <a:endParaRPr lang="en-US" altLang="zh-CN"/>
          </a:p>
        </p:txBody>
      </p:sp>
    </p:spTree>
    <p:extLst>
      <p:ext uri="{BB962C8B-B14F-4D97-AF65-F5344CB8AC3E}">
        <p14:creationId xmlns:p14="http://schemas.microsoft.com/office/powerpoint/2010/main" val="1189295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7252F65-AE15-047B-DA7B-FC0BC8F94EA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DBDC2EDF-E76F-36B4-D32A-8266C131829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7CA9B9E6-CB97-FC9F-38C1-C8A44DBBDB2F}"/>
              </a:ext>
            </a:extLst>
          </p:cNvPr>
          <p:cNvSpPr>
            <a:spLocks noGrp="1" noChangeArrowheads="1"/>
          </p:cNvSpPr>
          <p:nvPr>
            <p:ph type="sldNum" sz="quarter" idx="12"/>
          </p:nvPr>
        </p:nvSpPr>
        <p:spPr>
          <a:ln/>
        </p:spPr>
        <p:txBody>
          <a:bodyPr/>
          <a:lstStyle>
            <a:lvl1pPr>
              <a:defRPr/>
            </a:lvl1pPr>
          </a:lstStyle>
          <a:p>
            <a:pPr>
              <a:defRPr/>
            </a:pPr>
            <a:fld id="{138903B5-2997-47FC-8235-8E38531DD509}" type="slidenum">
              <a:rPr lang="zh-CN" altLang="en-US"/>
              <a:pPr>
                <a:defRPr/>
              </a:pPr>
              <a:t>‹#›</a:t>
            </a:fld>
            <a:endParaRPr lang="en-US" altLang="zh-CN"/>
          </a:p>
        </p:txBody>
      </p:sp>
    </p:spTree>
    <p:extLst>
      <p:ext uri="{BB962C8B-B14F-4D97-AF65-F5344CB8AC3E}">
        <p14:creationId xmlns:p14="http://schemas.microsoft.com/office/powerpoint/2010/main" val="2654471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A0D65687-5225-EB6D-FF56-8E8ED0446B3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EB8D6A8-6B82-6EFD-2579-4B702C8465C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B804D3D-F3B2-F7C2-5380-8418FA6D2979}"/>
              </a:ext>
            </a:extLst>
          </p:cNvPr>
          <p:cNvSpPr>
            <a:spLocks noGrp="1" noChangeArrowheads="1"/>
          </p:cNvSpPr>
          <p:nvPr>
            <p:ph type="sldNum" sz="quarter" idx="12"/>
          </p:nvPr>
        </p:nvSpPr>
        <p:spPr>
          <a:ln/>
        </p:spPr>
        <p:txBody>
          <a:bodyPr/>
          <a:lstStyle>
            <a:lvl1pPr>
              <a:defRPr/>
            </a:lvl1pPr>
          </a:lstStyle>
          <a:p>
            <a:pPr>
              <a:defRPr/>
            </a:pPr>
            <a:fld id="{20029C6A-20D5-40BA-89FD-3511B82B708A}" type="slidenum">
              <a:rPr lang="zh-CN" altLang="en-US"/>
              <a:pPr>
                <a:defRPr/>
              </a:pPr>
              <a:t>‹#›</a:t>
            </a:fld>
            <a:endParaRPr lang="en-US" altLang="zh-CN"/>
          </a:p>
        </p:txBody>
      </p:sp>
    </p:spTree>
    <p:extLst>
      <p:ext uri="{BB962C8B-B14F-4D97-AF65-F5344CB8AC3E}">
        <p14:creationId xmlns:p14="http://schemas.microsoft.com/office/powerpoint/2010/main" val="29150711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414F1E84-678A-E784-E31D-A7365F35EA7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28796465-2F4E-1F09-47BF-55E9B95FB4C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4AF4D4AC-3DBE-41CB-DF03-3F1798E8589D}"/>
              </a:ext>
            </a:extLst>
          </p:cNvPr>
          <p:cNvSpPr>
            <a:spLocks noGrp="1" noChangeArrowheads="1"/>
          </p:cNvSpPr>
          <p:nvPr>
            <p:ph type="sldNum" sz="quarter" idx="12"/>
          </p:nvPr>
        </p:nvSpPr>
        <p:spPr>
          <a:ln/>
        </p:spPr>
        <p:txBody>
          <a:bodyPr/>
          <a:lstStyle>
            <a:lvl1pPr>
              <a:defRPr/>
            </a:lvl1pPr>
          </a:lstStyle>
          <a:p>
            <a:pPr>
              <a:defRPr/>
            </a:pPr>
            <a:fld id="{EF7981B0-3FDA-4E0E-BCF2-F67DBA7E2527}" type="slidenum">
              <a:rPr lang="zh-CN" altLang="en-US"/>
              <a:pPr>
                <a:defRPr/>
              </a:pPr>
              <a:t>‹#›</a:t>
            </a:fld>
            <a:endParaRPr lang="en-US" altLang="zh-CN"/>
          </a:p>
        </p:txBody>
      </p:sp>
    </p:spTree>
    <p:extLst>
      <p:ext uri="{BB962C8B-B14F-4D97-AF65-F5344CB8AC3E}">
        <p14:creationId xmlns:p14="http://schemas.microsoft.com/office/powerpoint/2010/main" val="41409953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EB3098E7-DF78-18AF-D820-9C6168FBBCF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A853B1F4-8EDF-F32C-D1DD-098EAB52C3A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20B18FBB-A431-A7D0-0969-5EF78C252D7F}"/>
              </a:ext>
            </a:extLst>
          </p:cNvPr>
          <p:cNvSpPr>
            <a:spLocks noGrp="1" noChangeArrowheads="1"/>
          </p:cNvSpPr>
          <p:nvPr>
            <p:ph type="sldNum" sz="quarter" idx="12"/>
          </p:nvPr>
        </p:nvSpPr>
        <p:spPr>
          <a:ln/>
        </p:spPr>
        <p:txBody>
          <a:bodyPr/>
          <a:lstStyle>
            <a:lvl1pPr>
              <a:defRPr/>
            </a:lvl1pPr>
          </a:lstStyle>
          <a:p>
            <a:pPr>
              <a:defRPr/>
            </a:pPr>
            <a:fld id="{EC85D0AD-0001-4869-90A8-BBECAA1B13C2}" type="slidenum">
              <a:rPr lang="zh-CN" altLang="en-US"/>
              <a:pPr>
                <a:defRPr/>
              </a:pPr>
              <a:t>‹#›</a:t>
            </a:fld>
            <a:endParaRPr lang="en-US" altLang="zh-CN"/>
          </a:p>
        </p:txBody>
      </p:sp>
    </p:spTree>
    <p:extLst>
      <p:ext uri="{BB962C8B-B14F-4D97-AF65-F5344CB8AC3E}">
        <p14:creationId xmlns:p14="http://schemas.microsoft.com/office/powerpoint/2010/main" val="39098242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7E1A6583-46B4-6E4E-4859-8E7EEAC0833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6AC95C23-1D94-F2FE-6B65-11A5815CB04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A30D3E44-16EB-2B28-9631-182B7FD6F7FF}"/>
              </a:ext>
            </a:extLst>
          </p:cNvPr>
          <p:cNvSpPr>
            <a:spLocks noGrp="1" noChangeArrowheads="1"/>
          </p:cNvSpPr>
          <p:nvPr>
            <p:ph type="sldNum" sz="quarter" idx="12"/>
          </p:nvPr>
        </p:nvSpPr>
        <p:spPr>
          <a:ln/>
        </p:spPr>
        <p:txBody>
          <a:bodyPr/>
          <a:lstStyle>
            <a:lvl1pPr>
              <a:defRPr/>
            </a:lvl1pPr>
          </a:lstStyle>
          <a:p>
            <a:pPr>
              <a:defRPr/>
            </a:pPr>
            <a:fld id="{8B9005D6-38D6-47BF-A299-D0FA1DFF739B}" type="slidenum">
              <a:rPr lang="zh-CN" altLang="en-US"/>
              <a:pPr>
                <a:defRPr/>
              </a:pPr>
              <a:t>‹#›</a:t>
            </a:fld>
            <a:endParaRPr lang="en-US" altLang="zh-CN"/>
          </a:p>
        </p:txBody>
      </p:sp>
    </p:spTree>
    <p:extLst>
      <p:ext uri="{BB962C8B-B14F-4D97-AF65-F5344CB8AC3E}">
        <p14:creationId xmlns:p14="http://schemas.microsoft.com/office/powerpoint/2010/main" val="4636201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667305C-A3A6-A787-50F3-13D9A3AEC0E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71ABA4A3-66CB-DC21-8C81-AFAB7DD1F87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636FA4D2-3A47-51FD-50C3-90CF6ABE0807}"/>
              </a:ext>
            </a:extLst>
          </p:cNvPr>
          <p:cNvSpPr>
            <a:spLocks noGrp="1" noChangeArrowheads="1"/>
          </p:cNvSpPr>
          <p:nvPr>
            <p:ph type="sldNum" sz="quarter" idx="12"/>
          </p:nvPr>
        </p:nvSpPr>
        <p:spPr>
          <a:ln/>
        </p:spPr>
        <p:txBody>
          <a:bodyPr/>
          <a:lstStyle>
            <a:lvl1pPr>
              <a:defRPr/>
            </a:lvl1pPr>
          </a:lstStyle>
          <a:p>
            <a:pPr>
              <a:defRPr/>
            </a:pPr>
            <a:fld id="{2B3427A9-FF39-4345-BE6B-0770D713A4F6}" type="slidenum">
              <a:rPr lang="zh-CN" altLang="en-US"/>
              <a:pPr>
                <a:defRPr/>
              </a:pPr>
              <a:t>‹#›</a:t>
            </a:fld>
            <a:endParaRPr lang="en-US" altLang="zh-CN"/>
          </a:p>
        </p:txBody>
      </p:sp>
    </p:spTree>
    <p:extLst>
      <p:ext uri="{BB962C8B-B14F-4D97-AF65-F5344CB8AC3E}">
        <p14:creationId xmlns:p14="http://schemas.microsoft.com/office/powerpoint/2010/main" val="934252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F80F25ED-3449-ABDE-6001-556A22E9D40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895CF98E-F085-27A9-70D8-839512C8CAA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92A67E8-7F8D-4022-CC8D-2F001BCC8D49}"/>
              </a:ext>
            </a:extLst>
          </p:cNvPr>
          <p:cNvSpPr>
            <a:spLocks noGrp="1" noChangeArrowheads="1"/>
          </p:cNvSpPr>
          <p:nvPr>
            <p:ph type="sldNum" sz="quarter" idx="12"/>
          </p:nvPr>
        </p:nvSpPr>
        <p:spPr>
          <a:ln/>
        </p:spPr>
        <p:txBody>
          <a:bodyPr/>
          <a:lstStyle>
            <a:lvl1pPr>
              <a:defRPr/>
            </a:lvl1pPr>
          </a:lstStyle>
          <a:p>
            <a:pPr>
              <a:defRPr/>
            </a:pPr>
            <a:fld id="{D2B75E2A-0067-45AE-A8C5-7AEACDA635CA}" type="slidenum">
              <a:rPr lang="zh-CN" altLang="en-US"/>
              <a:pPr>
                <a:defRPr/>
              </a:pPr>
              <a:t>‹#›</a:t>
            </a:fld>
            <a:endParaRPr lang="en-US" altLang="zh-CN"/>
          </a:p>
        </p:txBody>
      </p:sp>
    </p:spTree>
    <p:extLst>
      <p:ext uri="{BB962C8B-B14F-4D97-AF65-F5344CB8AC3E}">
        <p14:creationId xmlns:p14="http://schemas.microsoft.com/office/powerpoint/2010/main" val="17941933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A8EC4F59-C9BC-6E95-67E1-86B96233326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94122278-8F25-E3B7-7599-270D1A0B4A3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7B319FB8-FD96-6D54-B89A-D9D65460A6E8}"/>
              </a:ext>
            </a:extLst>
          </p:cNvPr>
          <p:cNvSpPr>
            <a:spLocks noGrp="1" noChangeArrowheads="1"/>
          </p:cNvSpPr>
          <p:nvPr>
            <p:ph type="sldNum" sz="quarter" idx="12"/>
          </p:nvPr>
        </p:nvSpPr>
        <p:spPr>
          <a:ln/>
        </p:spPr>
        <p:txBody>
          <a:bodyPr/>
          <a:lstStyle>
            <a:lvl1pPr>
              <a:defRPr/>
            </a:lvl1pPr>
          </a:lstStyle>
          <a:p>
            <a:pPr>
              <a:defRPr/>
            </a:pPr>
            <a:fld id="{16E6D803-4E2C-4875-AFDD-7A8010F69CFF}" type="slidenum">
              <a:rPr lang="zh-CN" altLang="en-US"/>
              <a:pPr>
                <a:defRPr/>
              </a:pPr>
              <a:t>‹#›</a:t>
            </a:fld>
            <a:endParaRPr lang="en-US" altLang="zh-CN"/>
          </a:p>
        </p:txBody>
      </p:sp>
    </p:spTree>
    <p:extLst>
      <p:ext uri="{BB962C8B-B14F-4D97-AF65-F5344CB8AC3E}">
        <p14:creationId xmlns:p14="http://schemas.microsoft.com/office/powerpoint/2010/main" val="6047857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3FFAF13-2808-636E-89C2-FA65F4757D3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3DE0FA5-4692-D401-A003-1EAFFF717CF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192DEA5-6975-8C22-6346-1CF73585AEFC}"/>
              </a:ext>
            </a:extLst>
          </p:cNvPr>
          <p:cNvSpPr>
            <a:spLocks noGrp="1" noChangeArrowheads="1"/>
          </p:cNvSpPr>
          <p:nvPr>
            <p:ph type="sldNum" sz="quarter" idx="12"/>
          </p:nvPr>
        </p:nvSpPr>
        <p:spPr>
          <a:ln/>
        </p:spPr>
        <p:txBody>
          <a:bodyPr/>
          <a:lstStyle>
            <a:lvl1pPr>
              <a:defRPr/>
            </a:lvl1pPr>
          </a:lstStyle>
          <a:p>
            <a:pPr>
              <a:defRPr/>
            </a:pPr>
            <a:fld id="{E10E38C4-FDB3-4A6A-B30B-AB390C2AAB6B}" type="slidenum">
              <a:rPr lang="zh-CN" altLang="en-US"/>
              <a:pPr>
                <a:defRPr/>
              </a:pPr>
              <a:t>‹#›</a:t>
            </a:fld>
            <a:endParaRPr lang="en-US" altLang="zh-CN"/>
          </a:p>
        </p:txBody>
      </p:sp>
    </p:spTree>
    <p:extLst>
      <p:ext uri="{BB962C8B-B14F-4D97-AF65-F5344CB8AC3E}">
        <p14:creationId xmlns:p14="http://schemas.microsoft.com/office/powerpoint/2010/main" val="22873269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6B59428-AE2C-F894-D1A8-4F7EB06A196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7F21A04-F1A5-37EC-7C4A-B900420A28A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47A835E-D89F-CF5D-7DDE-9DF264942D0D}"/>
              </a:ext>
            </a:extLst>
          </p:cNvPr>
          <p:cNvSpPr>
            <a:spLocks noGrp="1" noChangeArrowheads="1"/>
          </p:cNvSpPr>
          <p:nvPr>
            <p:ph type="sldNum" sz="quarter" idx="12"/>
          </p:nvPr>
        </p:nvSpPr>
        <p:spPr>
          <a:ln/>
        </p:spPr>
        <p:txBody>
          <a:bodyPr/>
          <a:lstStyle>
            <a:lvl1pPr>
              <a:defRPr/>
            </a:lvl1pPr>
          </a:lstStyle>
          <a:p>
            <a:pPr>
              <a:defRPr/>
            </a:pPr>
            <a:fld id="{01B5388E-B2F0-424F-826B-2F74C908C6E1}" type="slidenum">
              <a:rPr lang="zh-CN" altLang="en-US"/>
              <a:pPr>
                <a:defRPr/>
              </a:pPr>
              <a:t>‹#›</a:t>
            </a:fld>
            <a:endParaRPr lang="en-US" altLang="zh-CN"/>
          </a:p>
        </p:txBody>
      </p:sp>
    </p:spTree>
    <p:extLst>
      <p:ext uri="{BB962C8B-B14F-4D97-AF65-F5344CB8AC3E}">
        <p14:creationId xmlns:p14="http://schemas.microsoft.com/office/powerpoint/2010/main" val="129319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3649DE6-6145-F8B1-7426-3AC0470E1E08}"/>
              </a:ext>
            </a:extLst>
          </p:cNvPr>
          <p:cNvSpPr>
            <a:spLocks noGrp="1" noChangeArrowheads="1"/>
          </p:cNvSpPr>
          <p:nvPr>
            <p:ph type="title"/>
          </p:nvPr>
        </p:nvSpPr>
        <p:spPr bwMode="auto">
          <a:xfrm>
            <a:off x="0" y="0"/>
            <a:ext cx="9144000"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ctr" anchorCtr="0" compatLnSpc="1">
            <a:prstTxWarp prst="textNoShape">
              <a:avLst/>
            </a:prstTxWarp>
          </a:bodyPr>
          <a:lstStyle/>
          <a:p>
            <a:pPr lvl="0"/>
            <a:r>
              <a:rPr lang="zh-CN" altLang="en-GB"/>
              <a:t>请您按击鼠标，编辑标题文的格式。</a:t>
            </a:r>
          </a:p>
        </p:txBody>
      </p:sp>
      <p:sp>
        <p:nvSpPr>
          <p:cNvPr id="1027" name="Rectangle 3">
            <a:extLst>
              <a:ext uri="{FF2B5EF4-FFF2-40B4-BE49-F238E27FC236}">
                <a16:creationId xmlns:a16="http://schemas.microsoft.com/office/drawing/2014/main" id="{4DF219F0-31A9-D006-A8BB-E4EA6971B9AE}"/>
              </a:ext>
            </a:extLst>
          </p:cNvPr>
          <p:cNvSpPr>
            <a:spLocks noGrp="1" noChangeArrowheads="1"/>
          </p:cNvSpPr>
          <p:nvPr>
            <p:ph type="body" idx="1"/>
          </p:nvPr>
        </p:nvSpPr>
        <p:spPr bwMode="auto">
          <a:xfrm>
            <a:off x="457200" y="620713"/>
            <a:ext cx="8208963" cy="5761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anchor="t" anchorCtr="0" compatLnSpc="1">
            <a:prstTxWarp prst="textNoShape">
              <a:avLst/>
            </a:prstTxWarp>
          </a:bodyPr>
          <a:lstStyle/>
          <a:p>
            <a:pPr lvl="0"/>
            <a:r>
              <a:rPr lang="zh-CN" altLang="en-GB"/>
              <a:t>请您按击鼠标，编辑大纲正文格式。</a:t>
            </a:r>
          </a:p>
          <a:p>
            <a:pPr lvl="1"/>
            <a:r>
              <a:rPr lang="zh-CN" altLang="en-GB"/>
              <a:t>第二个大纲级</a:t>
            </a:r>
          </a:p>
          <a:p>
            <a:pPr lvl="2"/>
            <a:r>
              <a:rPr lang="zh-CN" altLang="en-GB"/>
              <a:t>第三个大纲级</a:t>
            </a:r>
          </a:p>
          <a:p>
            <a:pPr lvl="3"/>
            <a:r>
              <a:rPr lang="zh-CN" altLang="en-GB"/>
              <a:t>第四个大纲级</a:t>
            </a:r>
          </a:p>
        </p:txBody>
      </p:sp>
      <p:sp>
        <p:nvSpPr>
          <p:cNvPr id="1028" name="Rectangle 5">
            <a:extLst>
              <a:ext uri="{FF2B5EF4-FFF2-40B4-BE49-F238E27FC236}">
                <a16:creationId xmlns:a16="http://schemas.microsoft.com/office/drawing/2014/main" id="{32616E5E-EB2C-2DAF-CBA5-ECCF1867E487}"/>
              </a:ext>
            </a:extLst>
          </p:cNvPr>
          <p:cNvSpPr>
            <a:spLocks noChangeArrowheads="1"/>
          </p:cNvSpPr>
          <p:nvPr/>
        </p:nvSpPr>
        <p:spPr bwMode="auto">
          <a:xfrm>
            <a:off x="0" y="6518275"/>
            <a:ext cx="9144000" cy="339725"/>
          </a:xfrm>
          <a:prstGeom prst="rect">
            <a:avLst/>
          </a:prstGeom>
          <a:noFill/>
          <a:ln>
            <a:noFill/>
          </a:ln>
          <a:effectLst/>
        </p:spPr>
        <p:txBody>
          <a:bodyPr/>
          <a:lstStyle>
            <a:lvl1pPr>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1pPr>
            <a:lvl2pPr marL="742950" indent="-28575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2pPr>
            <a:lvl3pPr marL="11430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3pPr>
            <a:lvl4pPr marL="16002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4pPr>
            <a:lvl5pPr marL="2057400" indent="-22860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5pPr>
            <a:lvl6pPr marL="25146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6pPr>
            <a:lvl7pPr marL="29718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7pPr>
            <a:lvl8pPr marL="34290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8pPr>
            <a:lvl9pPr marL="3886200" indent="-228600" eaLnBrk="0" fontAlgn="base" hangingPunct="0">
              <a:spcBef>
                <a:spcPts val="800"/>
              </a:spcBef>
              <a:spcAft>
                <a:spcPts val="800"/>
              </a:spcAft>
              <a:buClr>
                <a:srgbClr val="000000"/>
              </a:buClr>
              <a:buFont typeface="Arial" panose="020B0604020202020204" pitchFamily="34" charset="0"/>
              <a:buChar char="–"/>
              <a:defRPr sz="2800" b="1">
                <a:solidFill>
                  <a:srgbClr val="000000"/>
                </a:solidFill>
                <a:latin typeface="AR PL SungtiL GB" charset="0"/>
                <a:ea typeface="宋体" panose="02010600030101010101" pitchFamily="2" charset="-122"/>
              </a:defRPr>
            </a:lvl9pPr>
          </a:lstStyle>
          <a:p>
            <a:pPr eaLnBrk="1" hangingPunct="1">
              <a:spcBef>
                <a:spcPct val="0"/>
              </a:spcBef>
              <a:spcAft>
                <a:spcPct val="0"/>
              </a:spcAft>
              <a:buClrTx/>
              <a:buFontTx/>
              <a:buNone/>
              <a:defRPr/>
            </a:pPr>
            <a:r>
              <a:rPr lang="en-US" altLang="zh-CN" sz="1800" dirty="0">
                <a:solidFill>
                  <a:schemeClr val="accent2"/>
                </a:solidFill>
                <a:latin typeface="Arial" panose="020B0604020202020204" pitchFamily="34" charset="0"/>
                <a:ea typeface="华文新魏" panose="02010800040101010101" pitchFamily="2" charset="-122"/>
              </a:rPr>
              <a:t>《Linux</a:t>
            </a:r>
            <a:r>
              <a:rPr lang="zh-CN" altLang="en-US" sz="1800" dirty="0">
                <a:solidFill>
                  <a:schemeClr val="accent2"/>
                </a:solidFill>
                <a:latin typeface="Arial" panose="020B0604020202020204" pitchFamily="34" charset="0"/>
                <a:ea typeface="华文新魏" panose="02010800040101010101" pitchFamily="2" charset="-122"/>
              </a:rPr>
              <a:t>系统与安全</a:t>
            </a:r>
            <a:r>
              <a:rPr lang="en-US" altLang="zh-CN" sz="1800" dirty="0">
                <a:solidFill>
                  <a:schemeClr val="accent2"/>
                </a:solidFill>
                <a:latin typeface="Arial" panose="020B0604020202020204" pitchFamily="34" charset="0"/>
                <a:ea typeface="华文新魏" panose="02010800040101010101" pitchFamily="2" charset="-122"/>
              </a:rPr>
              <a:t>》 </a:t>
            </a:r>
            <a:r>
              <a:rPr lang="zh-CN" altLang="en-US" sz="1800" dirty="0">
                <a:solidFill>
                  <a:schemeClr val="accent2"/>
                </a:solidFill>
                <a:latin typeface="Arial" panose="020B0604020202020204" pitchFamily="34" charset="0"/>
                <a:ea typeface="华文新魏" panose="02010800040101010101" pitchFamily="2" charset="-122"/>
              </a:rPr>
              <a:t>天津工业大学大学软件学院 </a:t>
            </a:r>
            <a:endParaRPr lang="en-US" altLang="zh-CN" sz="1800" dirty="0">
              <a:solidFill>
                <a:schemeClr val="accent2"/>
              </a:solidFill>
              <a:latin typeface="Arial" panose="020B0604020202020204" pitchFamily="34" charset="0"/>
              <a:ea typeface="华文新魏" panose="02010800040101010101" pitchFamily="2" charset="-122"/>
            </a:endParaRPr>
          </a:p>
        </p:txBody>
      </p:sp>
      <p:sp>
        <p:nvSpPr>
          <p:cNvPr id="1029" name="Rectangle 6">
            <a:extLst>
              <a:ext uri="{FF2B5EF4-FFF2-40B4-BE49-F238E27FC236}">
                <a16:creationId xmlns:a16="http://schemas.microsoft.com/office/drawing/2014/main" id="{F8FB28D2-C50A-FD65-9A56-E17EAD97ADD0}"/>
              </a:ext>
            </a:extLst>
          </p:cNvPr>
          <p:cNvSpPr>
            <a:spLocks noChangeArrowheads="1"/>
          </p:cNvSpPr>
          <p:nvPr/>
        </p:nvSpPr>
        <p:spPr bwMode="auto">
          <a:xfrm>
            <a:off x="7413625" y="6496050"/>
            <a:ext cx="1730375" cy="347663"/>
          </a:xfrm>
          <a:prstGeom prst="rect">
            <a:avLst/>
          </a:prstGeom>
          <a:noFill/>
          <a:ln>
            <a:noFill/>
          </a:ln>
          <a:effectLst/>
        </p:spPr>
        <p:txBody>
          <a:bodyPr/>
          <a:lstStyle>
            <a:lvl1pPr>
              <a:defRPr sz="2800" b="1">
                <a:solidFill>
                  <a:srgbClr val="000000"/>
                </a:solidFill>
                <a:latin typeface="AR PL SungtiL GB" charset="0"/>
                <a:ea typeface="宋体" panose="02010600030101010101" pitchFamily="2" charset="-122"/>
              </a:defRPr>
            </a:lvl1pPr>
            <a:lvl2pPr marL="742950" indent="-285750">
              <a:defRPr sz="2800" b="1">
                <a:solidFill>
                  <a:srgbClr val="000000"/>
                </a:solidFill>
                <a:latin typeface="AR PL SungtiL GB" charset="0"/>
                <a:ea typeface="宋体" panose="02010600030101010101" pitchFamily="2" charset="-122"/>
              </a:defRPr>
            </a:lvl2pPr>
            <a:lvl3pPr marL="1143000" indent="-228600">
              <a:defRPr sz="2800" b="1">
                <a:solidFill>
                  <a:srgbClr val="000000"/>
                </a:solidFill>
                <a:latin typeface="AR PL SungtiL GB" charset="0"/>
                <a:ea typeface="宋体" panose="02010600030101010101" pitchFamily="2" charset="-122"/>
              </a:defRPr>
            </a:lvl3pPr>
            <a:lvl4pPr marL="1600200" indent="-228600">
              <a:defRPr sz="2800" b="1">
                <a:solidFill>
                  <a:srgbClr val="000000"/>
                </a:solidFill>
                <a:latin typeface="AR PL SungtiL GB" charset="0"/>
                <a:ea typeface="宋体" panose="02010600030101010101" pitchFamily="2" charset="-122"/>
              </a:defRPr>
            </a:lvl4pPr>
            <a:lvl5pPr marL="2057400" indent="-228600">
              <a:defRPr sz="2800" b="1">
                <a:solidFill>
                  <a:srgbClr val="000000"/>
                </a:solidFill>
                <a:latin typeface="AR PL SungtiL GB" charset="0"/>
                <a:ea typeface="宋体" panose="02010600030101010101" pitchFamily="2" charset="-122"/>
              </a:defRPr>
            </a:lvl5pPr>
            <a:lvl6pPr marL="25146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6pPr>
            <a:lvl7pPr marL="29718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7pPr>
            <a:lvl8pPr marL="34290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8pPr>
            <a:lvl9pPr marL="3886200" indent="-228600" eaLnBrk="0" fontAlgn="base" hangingPunct="0">
              <a:spcBef>
                <a:spcPct val="0"/>
              </a:spcBef>
              <a:spcAft>
                <a:spcPct val="0"/>
              </a:spcAft>
              <a:defRPr sz="2800" b="1">
                <a:solidFill>
                  <a:srgbClr val="000000"/>
                </a:solidFill>
                <a:latin typeface="AR PL SungtiL GB" charset="0"/>
                <a:ea typeface="宋体" panose="02010600030101010101" pitchFamily="2" charset="-122"/>
              </a:defRPr>
            </a:lvl9pPr>
          </a:lstStyle>
          <a:p>
            <a:pPr algn="r" eaLnBrk="1" hangingPunct="1">
              <a:defRPr/>
            </a:pPr>
            <a:r>
              <a:rPr lang="zh-CN" altLang="en-US" sz="1800" b="0">
                <a:solidFill>
                  <a:schemeClr val="accent2"/>
                </a:solidFill>
                <a:latin typeface="Arial" panose="020B0604020202020204" pitchFamily="34" charset="0"/>
                <a:ea typeface="华文新魏" panose="02010800040101010101" pitchFamily="2" charset="-122"/>
              </a:rPr>
              <a:t>第</a:t>
            </a:r>
            <a:fld id="{1B3697EA-9D6F-48D1-A211-09E565F836A6}" type="slidenum">
              <a:rPr lang="zh-CN" altLang="en-US" sz="1800" smtClean="0">
                <a:solidFill>
                  <a:schemeClr val="accent2"/>
                </a:solidFill>
                <a:latin typeface="Arial" panose="020B0604020202020204" pitchFamily="34" charset="0"/>
                <a:ea typeface="华文新魏" panose="02010800040101010101" pitchFamily="2" charset="-122"/>
              </a:rPr>
              <a:pPr algn="r" eaLnBrk="1" hangingPunct="1">
                <a:defRPr/>
              </a:pPr>
              <a:t>‹#›</a:t>
            </a:fld>
            <a:r>
              <a:rPr lang="zh-CN" altLang="en-US" sz="1800" b="0">
                <a:solidFill>
                  <a:schemeClr val="accent2"/>
                </a:solidFill>
                <a:latin typeface="Arial" panose="020B0604020202020204" pitchFamily="34" charset="0"/>
                <a:ea typeface="华文新魏" panose="02010800040101010101" pitchFamily="2" charset="-122"/>
              </a:rPr>
              <a:t>页</a:t>
            </a:r>
          </a:p>
        </p:txBody>
      </p:sp>
      <p:sp>
        <p:nvSpPr>
          <p:cNvPr id="1030" name="Line 7">
            <a:extLst>
              <a:ext uri="{FF2B5EF4-FFF2-40B4-BE49-F238E27FC236}">
                <a16:creationId xmlns:a16="http://schemas.microsoft.com/office/drawing/2014/main" id="{5669071B-9E9F-8C5E-7CD6-F4DC9F862536}"/>
              </a:ext>
            </a:extLst>
          </p:cNvPr>
          <p:cNvSpPr>
            <a:spLocks noChangeShapeType="1"/>
          </p:cNvSpPr>
          <p:nvPr/>
        </p:nvSpPr>
        <p:spPr bwMode="auto">
          <a:xfrm>
            <a:off x="0" y="549275"/>
            <a:ext cx="9144000"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4148" r:id="rId1"/>
    <p:sldLayoutId id="2147484125" r:id="rId2"/>
    <p:sldLayoutId id="2147484126" r:id="rId3"/>
    <p:sldLayoutId id="2147484127" r:id="rId4"/>
    <p:sldLayoutId id="2147484128" r:id="rId5"/>
    <p:sldLayoutId id="2147484129" r:id="rId6"/>
    <p:sldLayoutId id="2147484130" r:id="rId7"/>
    <p:sldLayoutId id="2147484131" r:id="rId8"/>
    <p:sldLayoutId id="2147484132" r:id="rId9"/>
    <p:sldLayoutId id="2147484133" r:id="rId10"/>
    <p:sldLayoutId id="2147484134" r:id="rId11"/>
    <p:sldLayoutId id="2147484135" r:id="rId12"/>
    <p:sldLayoutId id="2147484136" r:id="rId13"/>
  </p:sldLayoutIdLst>
  <p:txStyles>
    <p:titleStyle>
      <a:lvl1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kern="1200">
          <a:solidFill>
            <a:srgbClr val="000000"/>
          </a:solidFill>
          <a:latin typeface="+mj-lt"/>
          <a:ea typeface="+mj-ea"/>
          <a:cs typeface="+mj-cs"/>
        </a:defRPr>
      </a:lvl1pPr>
      <a:lvl2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2pPr>
      <a:lvl3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3pPr>
      <a:lvl4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4pPr>
      <a:lvl5pPr algn="l" defTabSz="449263" rtl="0" eaLnBrk="0" fontAlgn="base" hangingPunct="0">
        <a:lnSpc>
          <a:spcPct val="87000"/>
        </a:lnSpc>
        <a:spcBef>
          <a:spcPct val="0"/>
        </a:spcBef>
        <a:spcAft>
          <a:spcPct val="0"/>
        </a:spcAft>
        <a:buClr>
          <a:srgbClr val="000000"/>
        </a:buClr>
        <a:buSzPct val="100000"/>
        <a:buFont typeface="Arial" panose="020B0604020202020204" pitchFamily="34" charset="0"/>
        <a:defRPr sz="3600" b="1">
          <a:solidFill>
            <a:srgbClr val="000000"/>
          </a:solidFill>
          <a:latin typeface="AR PL SungtiL GB" charset="0"/>
          <a:ea typeface="华文新魏" panose="02010800040101010101" pitchFamily="2" charset="-122"/>
        </a:defRPr>
      </a:lvl5pPr>
      <a:lvl6pPr marL="4572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6pPr>
      <a:lvl7pPr marL="9144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7pPr>
      <a:lvl8pPr marL="13716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8pPr>
      <a:lvl9pPr marL="1828800" algn="l" defTabSz="449263" rtl="0" fontAlgn="base">
        <a:spcBef>
          <a:spcPct val="0"/>
        </a:spcBef>
        <a:spcAft>
          <a:spcPct val="0"/>
        </a:spcAft>
        <a:buClr>
          <a:srgbClr val="000000"/>
        </a:buClr>
        <a:buSzPct val="100000"/>
        <a:buFont typeface="Arial" panose="020B0604020202020204" pitchFamily="34" charset="0"/>
        <a:defRPr sz="4400">
          <a:solidFill>
            <a:srgbClr val="000000"/>
          </a:solidFill>
          <a:latin typeface="Times New Roman" panose="02020603050405020304" pitchFamily="18" charset="0"/>
          <a:ea typeface="宋体" panose="02010600030101010101" pitchFamily="2" charset="-122"/>
        </a:defRPr>
      </a:lvl9pPr>
    </p:titleStyle>
    <p:bodyStyle>
      <a:lvl1pPr marL="450850" indent="-450850" algn="l" defTabSz="449263" rtl="0" eaLnBrk="0" fontAlgn="base" hangingPunct="0">
        <a:spcBef>
          <a:spcPts val="800"/>
        </a:spcBef>
        <a:spcAft>
          <a:spcPts val="800"/>
        </a:spcAft>
        <a:buClr>
          <a:srgbClr val="000000"/>
        </a:buClr>
        <a:buFont typeface="Arial" panose="020B0604020202020204" pitchFamily="34" charset="0"/>
        <a:buBlip>
          <a:blip r:embed="rId16"/>
        </a:buBlip>
        <a:defRPr sz="2800" b="1" kern="1200">
          <a:solidFill>
            <a:srgbClr val="000000"/>
          </a:solidFill>
          <a:latin typeface="+mn-lt"/>
          <a:ea typeface="+mn-ea"/>
          <a:cs typeface="+mn-cs"/>
        </a:defRPr>
      </a:lvl1pPr>
      <a:lvl2pPr marL="987425" indent="-357188" algn="l" defTabSz="449263" rtl="0" eaLnBrk="0" fontAlgn="base" hangingPunct="0">
        <a:spcBef>
          <a:spcPts val="800"/>
        </a:spcBef>
        <a:spcAft>
          <a:spcPts val="800"/>
        </a:spcAft>
        <a:buClr>
          <a:srgbClr val="000000"/>
        </a:buClr>
        <a:buFont typeface="Arial" panose="020B0604020202020204" pitchFamily="34" charset="0"/>
        <a:buBlip>
          <a:blip r:embed="rId17"/>
        </a:buBlip>
        <a:defRPr sz="2400" b="1" kern="1200">
          <a:solidFill>
            <a:srgbClr val="000000"/>
          </a:solidFill>
          <a:latin typeface="+mn-lt"/>
          <a:ea typeface="+mn-ea"/>
          <a:cs typeface="+mn-cs"/>
        </a:defRPr>
      </a:lvl2pPr>
      <a:lvl3pPr marL="1609725" indent="-357188" algn="l" defTabSz="449263" rtl="0" eaLnBrk="0" fontAlgn="base" hangingPunct="0">
        <a:spcBef>
          <a:spcPts val="800"/>
        </a:spcBef>
        <a:spcAft>
          <a:spcPts val="800"/>
        </a:spcAft>
        <a:buClr>
          <a:srgbClr val="000000"/>
        </a:buClr>
        <a:buSzPct val="125000"/>
        <a:buFont typeface="Arial" panose="020B0604020202020204" pitchFamily="34" charset="0"/>
        <a:buBlip>
          <a:blip r:embed="rId18"/>
        </a:buBlip>
        <a:defRPr sz="2000" b="1" kern="1200">
          <a:solidFill>
            <a:srgbClr val="000000"/>
          </a:solidFill>
          <a:latin typeface="+mn-lt"/>
          <a:ea typeface="+mn-ea"/>
          <a:cs typeface="+mn-cs"/>
        </a:defRPr>
      </a:lvl3pPr>
      <a:lvl4pPr marL="2157413" indent="-368300" algn="l" defTabSz="449263" rtl="0" eaLnBrk="0" fontAlgn="base" hangingPunct="0">
        <a:spcBef>
          <a:spcPts val="800"/>
        </a:spcBef>
        <a:spcAft>
          <a:spcPts val="800"/>
        </a:spcAft>
        <a:buClr>
          <a:srgbClr val="000000"/>
        </a:buClr>
        <a:buSzPct val="100000"/>
        <a:buFont typeface="Arial" panose="020B0604020202020204" pitchFamily="34" charset="0"/>
        <a:buBlip>
          <a:blip r:embed="rId19"/>
        </a:buBlip>
        <a:defRPr sz="2000" b="1" kern="1200">
          <a:solidFill>
            <a:srgbClr val="000000"/>
          </a:solidFill>
          <a:latin typeface="Arial" panose="020B0604020202020204" pitchFamily="34" charset="0"/>
          <a:ea typeface="+mn-ea"/>
          <a:cs typeface="+mn-cs"/>
        </a:defRPr>
      </a:lvl4pPr>
      <a:lvl5pPr marL="2565400" indent="-228600" algn="l" defTabSz="449263" rtl="0" eaLnBrk="0" fontAlgn="base" hangingPunct="0">
        <a:spcBef>
          <a:spcPts val="338"/>
        </a:spcBef>
        <a:spcAft>
          <a:spcPct val="0"/>
        </a:spcAft>
        <a:buClr>
          <a:srgbClr val="000000"/>
        </a:buClr>
        <a:buSzPct val="100000"/>
        <a:buFont typeface="Arial" panose="020B0604020202020204" pitchFamily="34" charset="0"/>
        <a:buChar char="»"/>
        <a:defRPr sz="2000" b="1" kern="1200">
          <a:solidFill>
            <a:srgbClr val="000000"/>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38EA3171-9DC9-73B0-EF86-5F212E361865}"/>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a:extLst>
              <a:ext uri="{FF2B5EF4-FFF2-40B4-BE49-F238E27FC236}">
                <a16:creationId xmlns:a16="http://schemas.microsoft.com/office/drawing/2014/main" id="{35CE6DDB-0DCE-31D3-D1F0-CAB51A8753DC}"/>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14372" name="Rectangle 4">
            <a:extLst>
              <a:ext uri="{FF2B5EF4-FFF2-40B4-BE49-F238E27FC236}">
                <a16:creationId xmlns:a16="http://schemas.microsoft.com/office/drawing/2014/main" id="{6699EC00-F005-B997-2FBC-6971F90E711F}"/>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0" hangingPunct="0">
              <a:spcBef>
                <a:spcPct val="0"/>
              </a:spcBef>
              <a:spcAft>
                <a:spcPct val="0"/>
              </a:spcAft>
              <a:buClrTx/>
              <a:buFontTx/>
              <a:buNone/>
              <a:defRPr sz="1400" b="0">
                <a:solidFill>
                  <a:schemeClr val="tx1"/>
                </a:solidFill>
                <a:latin typeface="Times New Roman" panose="02020603050405020304" pitchFamily="18" charset="0"/>
              </a:defRPr>
            </a:lvl1pPr>
          </a:lstStyle>
          <a:p>
            <a:pPr>
              <a:defRPr/>
            </a:pPr>
            <a:endParaRPr lang="en-US" altLang="zh-CN"/>
          </a:p>
        </p:txBody>
      </p:sp>
      <p:sp>
        <p:nvSpPr>
          <p:cNvPr id="314373" name="Rectangle 5">
            <a:extLst>
              <a:ext uri="{FF2B5EF4-FFF2-40B4-BE49-F238E27FC236}">
                <a16:creationId xmlns:a16="http://schemas.microsoft.com/office/drawing/2014/main" id="{D6A0BB6C-BC2C-0205-EE37-FC54EC762DD3}"/>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0" hangingPunct="0">
              <a:spcBef>
                <a:spcPct val="0"/>
              </a:spcBef>
              <a:spcAft>
                <a:spcPct val="0"/>
              </a:spcAft>
              <a:buClrTx/>
              <a:buFontTx/>
              <a:buNone/>
              <a:defRPr sz="1400" b="0">
                <a:solidFill>
                  <a:schemeClr val="tx1"/>
                </a:solidFill>
                <a:latin typeface="Times New Roman" panose="02020603050405020304" pitchFamily="18" charset="0"/>
              </a:defRPr>
            </a:lvl1pPr>
          </a:lstStyle>
          <a:p>
            <a:pPr>
              <a:defRPr/>
            </a:pPr>
            <a:endParaRPr lang="en-US" altLang="zh-CN"/>
          </a:p>
        </p:txBody>
      </p:sp>
      <p:sp>
        <p:nvSpPr>
          <p:cNvPr id="314374" name="Rectangle 6">
            <a:extLst>
              <a:ext uri="{FF2B5EF4-FFF2-40B4-BE49-F238E27FC236}">
                <a16:creationId xmlns:a16="http://schemas.microsoft.com/office/drawing/2014/main" id="{EA91385D-444F-BAFF-9622-2FD59BCC8375}"/>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b="0" smtClean="0">
                <a:solidFill>
                  <a:schemeClr val="tx1"/>
                </a:solidFill>
                <a:latin typeface="Times New Roman" panose="02020603050405020304" pitchFamily="18" charset="0"/>
              </a:defRPr>
            </a:lvl1pPr>
          </a:lstStyle>
          <a:p>
            <a:pPr>
              <a:defRPr/>
            </a:pPr>
            <a:fld id="{E1454082-23AE-47C3-BAFB-F72A086A2792}"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4137" r:id="rId1"/>
    <p:sldLayoutId id="2147484138" r:id="rId2"/>
    <p:sldLayoutId id="2147484139" r:id="rId3"/>
    <p:sldLayoutId id="2147484140" r:id="rId4"/>
    <p:sldLayoutId id="2147484141" r:id="rId5"/>
    <p:sldLayoutId id="2147484142" r:id="rId6"/>
    <p:sldLayoutId id="2147484143" r:id="rId7"/>
    <p:sldLayoutId id="2147484144" r:id="rId8"/>
    <p:sldLayoutId id="2147484145" r:id="rId9"/>
    <p:sldLayoutId id="2147484146" r:id="rId10"/>
    <p:sldLayoutId id="2147484147"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8" name="Rectangle 6">
            <a:extLst>
              <a:ext uri="{FF2B5EF4-FFF2-40B4-BE49-F238E27FC236}">
                <a16:creationId xmlns:a16="http://schemas.microsoft.com/office/drawing/2014/main" id="{E0D03979-7367-4860-6AA5-ACDF80D943CB}"/>
              </a:ext>
            </a:extLst>
          </p:cNvPr>
          <p:cNvSpPr>
            <a:spLocks noGrp="1" noChangeArrowheads="1"/>
          </p:cNvSpPr>
          <p:nvPr>
            <p:ph type="subTitle" idx="1"/>
          </p:nvPr>
        </p:nvSpPr>
        <p:spPr>
          <a:xfrm>
            <a:off x="684213" y="3716338"/>
            <a:ext cx="7848600" cy="2592387"/>
          </a:xfrm>
        </p:spPr>
        <p:txBody>
          <a:bodyPr/>
          <a:lstStyle/>
          <a:p>
            <a:pPr algn="ctr" eaLnBrk="1" hangingPunct="1">
              <a:buFont typeface="Times New Roman" panose="02020603050405020304" pitchFamily="18" charset="0"/>
              <a:buNone/>
              <a:defRPr/>
            </a:pPr>
            <a:r>
              <a:rPr lang="zh-CN" altLang="en-US" b="1" dirty="0">
                <a:effectLst>
                  <a:outerShdw blurRad="38100" dist="38100" dir="2700000" algn="tl">
                    <a:srgbClr val="C0C0C0"/>
                  </a:outerShdw>
                </a:effectLst>
                <a:latin typeface="华文新魏" panose="02010800040101010101" pitchFamily="2" charset="-122"/>
                <a:ea typeface="华文新魏" panose="02010800040101010101" pitchFamily="2" charset="-122"/>
              </a:rPr>
              <a:t>天津工业大学计算机科学与技术学院</a:t>
            </a:r>
          </a:p>
          <a:p>
            <a:pPr algn="ctr" eaLnBrk="1" hangingPunct="1">
              <a:buFont typeface="Times New Roman" panose="02020603050405020304" pitchFamily="18" charset="0"/>
              <a:buNone/>
              <a:defRPr/>
            </a:pPr>
            <a:r>
              <a:rPr lang="zh-CN" altLang="en-US" b="1" dirty="0">
                <a:effectLst>
                  <a:outerShdw blurRad="38100" dist="38100" dir="2700000" algn="tl">
                    <a:srgbClr val="C0C0C0"/>
                  </a:outerShdw>
                </a:effectLst>
                <a:latin typeface="华文新魏" panose="02010800040101010101" pitchFamily="2" charset="-122"/>
                <a:ea typeface="华文新魏" panose="02010800040101010101" pitchFamily="2" charset="-122"/>
              </a:rPr>
              <a:t>张桂玲  </a:t>
            </a:r>
            <a:endParaRPr lang="en-US" altLang="zh-CN" b="1" dirty="0">
              <a:effectLst>
                <a:outerShdw blurRad="38100" dist="38100" dir="2700000" algn="tl">
                  <a:srgbClr val="C0C0C0"/>
                </a:outerShdw>
              </a:effectLst>
              <a:latin typeface="华文新魏" panose="02010800040101010101" pitchFamily="2" charset="-122"/>
              <a:ea typeface="华文新魏" panose="02010800040101010101" pitchFamily="2" charset="-122"/>
            </a:endParaRPr>
          </a:p>
          <a:p>
            <a:pPr algn="ctr" eaLnBrk="1" hangingPunct="1">
              <a:buFont typeface="Times New Roman" panose="02020603050405020304" pitchFamily="18" charset="0"/>
              <a:buNone/>
              <a:defRPr/>
            </a:pPr>
            <a:r>
              <a:rPr lang="en-US" altLang="zh-CN" b="1" dirty="0">
                <a:effectLst>
                  <a:outerShdw blurRad="38100" dist="38100" dir="2700000" algn="tl">
                    <a:srgbClr val="C0C0C0"/>
                  </a:outerShdw>
                </a:effectLst>
                <a:latin typeface="华文新魏" panose="02010800040101010101" pitchFamily="2" charset="-122"/>
                <a:ea typeface="华文新魏" panose="02010800040101010101" pitchFamily="2" charset="-122"/>
              </a:rPr>
              <a:t>Email:gui_ling_zhang@163.com</a:t>
            </a:r>
          </a:p>
          <a:p>
            <a:pPr algn="ctr" eaLnBrk="1" hangingPunct="1">
              <a:buFont typeface="Times New Roman" panose="02020603050405020304" pitchFamily="18" charset="0"/>
              <a:buNone/>
              <a:defRPr/>
            </a:pPr>
            <a:r>
              <a:rPr lang="en-US" altLang="zh-CN" b="1">
                <a:effectLst>
                  <a:outerShdw blurRad="38100" dist="38100" dir="2700000" algn="tl">
                    <a:srgbClr val="C0C0C0"/>
                  </a:outerShdw>
                </a:effectLst>
                <a:latin typeface="华文新魏" panose="02010800040101010101" pitchFamily="2" charset="-122"/>
                <a:ea typeface="华文新魏" panose="02010800040101010101" pitchFamily="2" charset="-122"/>
              </a:rPr>
              <a:t>2023.8</a:t>
            </a:r>
            <a:endParaRPr lang="en-US" altLang="zh-CN" b="1" dirty="0">
              <a:effectLst>
                <a:outerShdw blurRad="38100" dist="38100" dir="2700000" algn="tl">
                  <a:srgbClr val="C0C0C0"/>
                </a:outerShdw>
              </a:effectLst>
              <a:latin typeface="华文新魏" panose="02010800040101010101" pitchFamily="2" charset="-122"/>
              <a:ea typeface="华文新魏" panose="02010800040101010101" pitchFamily="2" charset="-122"/>
            </a:endParaRPr>
          </a:p>
        </p:txBody>
      </p:sp>
      <p:sp>
        <p:nvSpPr>
          <p:cNvPr id="3079" name="Rectangle 7" descr="花束">
            <a:extLst>
              <a:ext uri="{FF2B5EF4-FFF2-40B4-BE49-F238E27FC236}">
                <a16:creationId xmlns:a16="http://schemas.microsoft.com/office/drawing/2014/main" id="{73142505-A993-46AD-A596-3D6688BE08AB}"/>
              </a:ext>
            </a:extLst>
          </p:cNvPr>
          <p:cNvSpPr>
            <a:spLocks noChangeArrowheads="1"/>
          </p:cNvSpPr>
          <p:nvPr/>
        </p:nvSpPr>
        <p:spPr bwMode="auto">
          <a:xfrm>
            <a:off x="900113" y="1196975"/>
            <a:ext cx="7632700" cy="1584325"/>
          </a:xfrm>
          <a:prstGeom prst="rect">
            <a:avLst/>
          </a:prstGeom>
          <a:blipFill dpi="0" rotWithShape="1">
            <a:blip r:embed="rId3"/>
            <a:srcRect/>
            <a:tile tx="0" ty="0" sx="100000" sy="100000" flip="none" algn="tl"/>
          </a:blipFill>
          <a:ln w="9525">
            <a:solidFill>
              <a:schemeClr val="tx1"/>
            </a:solidFill>
            <a:miter lim="800000"/>
            <a:headEnd/>
            <a:tailEnd/>
          </a:ln>
          <a:effectLst/>
        </p:spPr>
        <p:txBody>
          <a:bodyPr anchor="ctr"/>
          <a:lstStyle>
            <a:lvl1pPr defTabSz="449263">
              <a:spcBef>
                <a:spcPts val="800"/>
              </a:spcBef>
              <a:spcAft>
                <a:spcPts val="800"/>
              </a:spcAft>
              <a:buClr>
                <a:srgbClr val="000000"/>
              </a:buClr>
              <a:buFont typeface="Arial" panose="020B0604020202020204" pitchFamily="34" charset="0"/>
              <a:buBlip>
                <a:blip r:embed="rId4"/>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5"/>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6"/>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7"/>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Font typeface="Times New Roman" panose="02020603050405020304" pitchFamily="18" charset="0"/>
              <a:buNone/>
              <a:defRPr/>
            </a:pPr>
            <a:r>
              <a:rPr lang="en-US" altLang="zh-CN" sz="6000">
                <a:effectLst>
                  <a:outerShdw blurRad="38100" dist="38100" dir="2700000" algn="tl">
                    <a:srgbClr val="C0C0C0"/>
                  </a:outerShdw>
                </a:effectLst>
                <a:latin typeface="华文新魏" panose="02010800040101010101" pitchFamily="2" charset="-122"/>
                <a:ea typeface="华文新魏" panose="02010800040101010101" pitchFamily="2" charset="-122"/>
              </a:rPr>
              <a:t>Linux</a:t>
            </a:r>
            <a:r>
              <a:rPr lang="zh-CN" altLang="en-US" sz="6000">
                <a:effectLst>
                  <a:outerShdw blurRad="38100" dist="38100" dir="2700000" algn="tl">
                    <a:srgbClr val="C0C0C0"/>
                  </a:outerShdw>
                </a:effectLst>
                <a:latin typeface="华文新魏" panose="02010800040101010101" pitchFamily="2" charset="-122"/>
                <a:ea typeface="华文新魏" panose="02010800040101010101" pitchFamily="2" charset="-122"/>
              </a:rPr>
              <a:t>系统</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标题 1">
            <a:extLst>
              <a:ext uri="{FF2B5EF4-FFF2-40B4-BE49-F238E27FC236}">
                <a16:creationId xmlns:a16="http://schemas.microsoft.com/office/drawing/2014/main" id="{01DA857F-989F-F0CB-B70F-249A956546D9}"/>
              </a:ext>
            </a:extLst>
          </p:cNvPr>
          <p:cNvSpPr txBox="1">
            <a:spLocks/>
          </p:cNvSpPr>
          <p:nvPr/>
        </p:nvSpPr>
        <p:spPr bwMode="auto">
          <a:xfrm>
            <a:off x="107950" y="-100013"/>
            <a:ext cx="8713788" cy="7207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pPr>
              <a:lnSpc>
                <a:spcPct val="87000"/>
              </a:lnSpc>
              <a:spcBef>
                <a:spcPct val="0"/>
              </a:spcBef>
              <a:spcAft>
                <a:spcPct val="0"/>
              </a:spcAft>
              <a:buFont typeface="Arial" panose="020B0604020202020204" pitchFamily="34" charset="0"/>
              <a:buNone/>
            </a:pPr>
            <a:r>
              <a:rPr lang="zh-CN" altLang="zh-CN" sz="3600">
                <a:ea typeface="华文新魏" panose="02010800040101010101" pitchFamily="2" charset="-122"/>
              </a:rPr>
              <a:t>第</a:t>
            </a:r>
            <a:r>
              <a:rPr lang="en-US" altLang="zh-CN" sz="3600">
                <a:ea typeface="华文新魏" panose="02010800040101010101" pitchFamily="2" charset="-122"/>
              </a:rPr>
              <a:t>7</a:t>
            </a:r>
            <a:r>
              <a:rPr lang="zh-CN" altLang="en-US" sz="3600" b="0">
                <a:ea typeface="华文新魏" panose="02010800040101010101" pitchFamily="2" charset="-122"/>
              </a:rPr>
              <a:t>（</a:t>
            </a:r>
            <a:r>
              <a:rPr lang="en-US" altLang="zh-CN" sz="3600" b="0">
                <a:ea typeface="华文新魏" panose="02010800040101010101" pitchFamily="2" charset="-122"/>
              </a:rPr>
              <a:t>9</a:t>
            </a:r>
            <a:r>
              <a:rPr lang="zh-CN" altLang="en-US" sz="3600" b="0">
                <a:ea typeface="华文新魏" panose="02010800040101010101" pitchFamily="2" charset="-122"/>
              </a:rPr>
              <a:t>）</a:t>
            </a:r>
            <a:r>
              <a:rPr lang="zh-CN" altLang="zh-CN" sz="3600">
                <a:ea typeface="华文新魏" panose="02010800040101010101" pitchFamily="2" charset="-122"/>
              </a:rPr>
              <a:t>章</a:t>
            </a:r>
            <a:r>
              <a:rPr lang="en-US" altLang="zh-CN" sz="3600">
                <a:ea typeface="华文新魏" panose="02010800040101010101" pitchFamily="2" charset="-122"/>
              </a:rPr>
              <a:t>  </a:t>
            </a:r>
            <a:r>
              <a:rPr lang="zh-CN" altLang="zh-CN" sz="3600">
                <a:ea typeface="华文新魏" panose="02010800040101010101" pitchFamily="2" charset="-122"/>
              </a:rPr>
              <a:t>网络配置、管理与基本应用</a:t>
            </a:r>
            <a:endParaRPr lang="zh-CN" altLang="en-US" sz="3600">
              <a:ea typeface="华文新魏" panose="02010800040101010101" pitchFamily="2" charset="-122"/>
            </a:endParaRPr>
          </a:p>
        </p:txBody>
      </p:sp>
      <p:sp>
        <p:nvSpPr>
          <p:cNvPr id="7171" name="文本占位符 9220">
            <a:extLst>
              <a:ext uri="{FF2B5EF4-FFF2-40B4-BE49-F238E27FC236}">
                <a16:creationId xmlns:a16="http://schemas.microsoft.com/office/drawing/2014/main" id="{5926EFC6-1173-D74C-C18A-11A3427FA5A9}"/>
              </a:ext>
            </a:extLst>
          </p:cNvPr>
          <p:cNvSpPr txBox="1">
            <a:spLocks/>
          </p:cNvSpPr>
          <p:nvPr/>
        </p:nvSpPr>
        <p:spPr bwMode="auto">
          <a:xfrm>
            <a:off x="325438" y="1125538"/>
            <a:ext cx="8891587" cy="47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0850" indent="-450850" defTabSz="449263">
              <a:spcBef>
                <a:spcPts val="800"/>
              </a:spcBef>
              <a:spcAft>
                <a:spcPts val="800"/>
              </a:spcAft>
              <a:buClr>
                <a:srgbClr val="000000"/>
              </a:buClr>
              <a:buFont typeface="Arial" panose="020B0604020202020204" pitchFamily="34" charset="0"/>
              <a:buBlip>
                <a:blip r:embed="rId2"/>
              </a:buBlip>
              <a:defRPr sz="2800" b="1">
                <a:solidFill>
                  <a:srgbClr val="000000"/>
                </a:solidFill>
                <a:latin typeface="AR PL SungtiL GB" charset="0"/>
                <a:ea typeface="宋体" panose="02010600030101010101" pitchFamily="2" charset="-122"/>
              </a:defRPr>
            </a:lvl1pPr>
            <a:lvl2pPr marL="987425" indent="-357188" defTabSz="449263">
              <a:spcBef>
                <a:spcPts val="800"/>
              </a:spcBef>
              <a:spcAft>
                <a:spcPts val="800"/>
              </a:spcAft>
              <a:buClr>
                <a:srgbClr val="000000"/>
              </a:buClr>
              <a:buFont typeface="Arial" panose="020B0604020202020204" pitchFamily="34" charset="0"/>
              <a:buBlip>
                <a:blip r:embed="rId3"/>
              </a:buBlip>
              <a:defRPr sz="2400" b="1">
                <a:solidFill>
                  <a:srgbClr val="000000"/>
                </a:solidFill>
                <a:latin typeface="AR PL SungtiL GB" charset="0"/>
                <a:ea typeface="宋体" panose="02010600030101010101" pitchFamily="2" charset="-122"/>
              </a:defRPr>
            </a:lvl2pPr>
            <a:lvl3pPr marL="1609725" indent="-357188" defTabSz="449263">
              <a:spcBef>
                <a:spcPts val="800"/>
              </a:spcBef>
              <a:spcAft>
                <a:spcPts val="800"/>
              </a:spcAft>
              <a:buClr>
                <a:srgbClr val="000000"/>
              </a:buClr>
              <a:buSzPct val="125000"/>
              <a:buFont typeface="Arial" panose="020B0604020202020204" pitchFamily="34" charset="0"/>
              <a:buBlip>
                <a:blip r:embed="rId4"/>
              </a:buBlip>
              <a:defRPr sz="2000" b="1">
                <a:solidFill>
                  <a:srgbClr val="000000"/>
                </a:solidFill>
                <a:latin typeface="AR PL SungtiL GB" charset="0"/>
                <a:ea typeface="宋体" panose="02010600030101010101" pitchFamily="2" charset="-122"/>
              </a:defRPr>
            </a:lvl3pPr>
            <a:lvl4pPr marL="2157413" indent="-368300" defTabSz="449263">
              <a:spcBef>
                <a:spcPts val="800"/>
              </a:spcBef>
              <a:spcAft>
                <a:spcPts val="800"/>
              </a:spcAft>
              <a:buClr>
                <a:srgbClr val="000000"/>
              </a:buClr>
              <a:buSzPct val="100000"/>
              <a:buFont typeface="Arial" panose="020B0604020202020204" pitchFamily="34" charset="0"/>
              <a:buBlip>
                <a:blip r:embed="rId5"/>
              </a:buBlip>
              <a:defRPr sz="2000" b="1">
                <a:solidFill>
                  <a:srgbClr val="000000"/>
                </a:solidFill>
                <a:latin typeface="Arial" panose="020B0604020202020204" pitchFamily="34" charset="0"/>
                <a:ea typeface="宋体" panose="02010600030101010101" pitchFamily="2" charset="-122"/>
              </a:defRPr>
            </a:lvl4pPr>
            <a:lvl5pPr marL="2565400" indent="-228600" defTabSz="449263">
              <a:spcBef>
                <a:spcPts val="338"/>
              </a:spcBef>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5pPr>
            <a:lvl6pPr marL="30226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6pPr>
            <a:lvl7pPr marL="34798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7pPr>
            <a:lvl8pPr marL="39370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8pPr>
            <a:lvl9pPr marL="4394200" indent="-228600" defTabSz="449263" eaLnBrk="0" fontAlgn="base" hangingPunct="0">
              <a:spcBef>
                <a:spcPts val="338"/>
              </a:spcBef>
              <a:spcAft>
                <a:spcPct val="0"/>
              </a:spcAft>
              <a:buClr>
                <a:srgbClr val="000000"/>
              </a:buClr>
              <a:buSzPct val="100000"/>
              <a:buFont typeface="Arial" panose="020B0604020202020204" pitchFamily="34" charset="0"/>
              <a:buChar char="»"/>
              <a:defRPr sz="2000" b="1">
                <a:solidFill>
                  <a:srgbClr val="000000"/>
                </a:solidFill>
                <a:latin typeface="Arial" panose="020B0604020202020204" pitchFamily="34" charset="0"/>
                <a:ea typeface="宋体" panose="02010600030101010101" pitchFamily="2" charset="-122"/>
              </a:defRPr>
            </a:lvl9pPr>
          </a:lstStyle>
          <a:p>
            <a:r>
              <a:rPr lang="en-US" altLang="zh-CN" sz="5400"/>
              <a:t>9.1 TCP/IP</a:t>
            </a:r>
            <a:r>
              <a:rPr lang="zh-CN" altLang="zh-CN" sz="5400"/>
              <a:t>基础知识</a:t>
            </a:r>
            <a:endParaRPr lang="en-US" altLang="zh-CN" sz="5400"/>
          </a:p>
          <a:p>
            <a:r>
              <a:rPr lang="en-US" altLang="zh-CN" sz="5400"/>
              <a:t>9.2</a:t>
            </a:r>
            <a:r>
              <a:rPr lang="zh-CN" altLang="zh-CN" sz="5400"/>
              <a:t>网络管理命令</a:t>
            </a:r>
            <a:endParaRPr lang="en-US" altLang="zh-CN" sz="5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标题 1">
            <a:extLst>
              <a:ext uri="{FF2B5EF4-FFF2-40B4-BE49-F238E27FC236}">
                <a16:creationId xmlns:a16="http://schemas.microsoft.com/office/drawing/2014/main" id="{AB485F72-FCC1-FC93-F2F9-4E49E5030CB4}"/>
              </a:ext>
            </a:extLst>
          </p:cNvPr>
          <p:cNvSpPr>
            <a:spLocks noGrp="1" noChangeArrowheads="1"/>
          </p:cNvSpPr>
          <p:nvPr>
            <p:ph type="title"/>
          </p:nvPr>
        </p:nvSpPr>
        <p:spPr/>
        <p:txBody>
          <a:bodyPr/>
          <a:lstStyle/>
          <a:p>
            <a:r>
              <a:rPr lang="en-US" altLang="zh-CN"/>
              <a:t>9.1 TCP/IP</a:t>
            </a:r>
            <a:r>
              <a:rPr lang="zh-CN" altLang="zh-CN"/>
              <a:t>基础知识</a:t>
            </a:r>
            <a:endParaRPr lang="zh-CN" altLang="en-US"/>
          </a:p>
        </p:txBody>
      </p:sp>
      <p:sp>
        <p:nvSpPr>
          <p:cNvPr id="8195" name="内容占位符 2">
            <a:extLst>
              <a:ext uri="{FF2B5EF4-FFF2-40B4-BE49-F238E27FC236}">
                <a16:creationId xmlns:a16="http://schemas.microsoft.com/office/drawing/2014/main" id="{4FFE3FE2-6683-33AE-46CC-3EF8BEBF2FA2}"/>
              </a:ext>
            </a:extLst>
          </p:cNvPr>
          <p:cNvSpPr>
            <a:spLocks noGrp="1" noChangeArrowheads="1"/>
          </p:cNvSpPr>
          <p:nvPr>
            <p:ph idx="1"/>
          </p:nvPr>
        </p:nvSpPr>
        <p:spPr>
          <a:xfrm>
            <a:off x="107950" y="620713"/>
            <a:ext cx="9036050" cy="5761037"/>
          </a:xfrm>
        </p:spPr>
        <p:txBody>
          <a:bodyPr/>
          <a:lstStyle/>
          <a:p>
            <a:r>
              <a:rPr lang="en-US" altLang="zh-CN" sz="5400"/>
              <a:t>9.1.1 IP</a:t>
            </a:r>
            <a:r>
              <a:rPr lang="zh-CN" altLang="zh-CN" sz="5400"/>
              <a:t>地址</a:t>
            </a:r>
            <a:endParaRPr lang="en-US" altLang="zh-CN" sz="5400"/>
          </a:p>
          <a:p>
            <a:r>
              <a:rPr lang="en-US" altLang="zh-CN" sz="5400"/>
              <a:t>9.1.2 </a:t>
            </a:r>
            <a:r>
              <a:rPr lang="zh-CN" altLang="zh-CN" sz="5400"/>
              <a:t>端口及服务</a:t>
            </a:r>
            <a:endParaRPr lang="en-US" altLang="zh-CN" sz="5400"/>
          </a:p>
          <a:p>
            <a:r>
              <a:rPr lang="en-US" altLang="zh-CN" sz="5400"/>
              <a:t>9.1.3 </a:t>
            </a:r>
            <a:r>
              <a:rPr lang="zh-CN" altLang="zh-CN" sz="5400"/>
              <a:t>物理地址与逻辑地址</a:t>
            </a:r>
            <a:endParaRPr lang="en-US" altLang="zh-CN" sz="5400"/>
          </a:p>
          <a:p>
            <a:r>
              <a:rPr lang="en-US" altLang="zh-CN" sz="5400"/>
              <a:t>9.1.4 </a:t>
            </a:r>
            <a:r>
              <a:rPr lang="zh-CN" altLang="zh-CN" sz="5400"/>
              <a:t>主机名及设置</a:t>
            </a:r>
            <a:endParaRPr lang="en-US" altLang="zh-CN" sz="5400"/>
          </a:p>
          <a:p>
            <a:r>
              <a:rPr lang="en-US" altLang="zh-CN" sz="5400"/>
              <a:t>9.1.5 </a:t>
            </a:r>
            <a:r>
              <a:rPr lang="zh-CN" altLang="zh-CN" sz="5400"/>
              <a:t>网卡命名方案</a:t>
            </a:r>
            <a:endParaRPr lang="zh-CN" altLang="en-US" sz="5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标题 1">
            <a:extLst>
              <a:ext uri="{FF2B5EF4-FFF2-40B4-BE49-F238E27FC236}">
                <a16:creationId xmlns:a16="http://schemas.microsoft.com/office/drawing/2014/main" id="{B02A84A6-0202-9FB3-333E-01B9B564A68D}"/>
              </a:ext>
            </a:extLst>
          </p:cNvPr>
          <p:cNvSpPr>
            <a:spLocks noGrp="1" noChangeArrowheads="1"/>
          </p:cNvSpPr>
          <p:nvPr>
            <p:ph type="title"/>
          </p:nvPr>
        </p:nvSpPr>
        <p:spPr/>
        <p:txBody>
          <a:bodyPr/>
          <a:lstStyle/>
          <a:p>
            <a:r>
              <a:rPr lang="en-US" altLang="zh-CN"/>
              <a:t>9.1.1  IP</a:t>
            </a:r>
            <a:r>
              <a:rPr lang="zh-CN" altLang="zh-CN"/>
              <a:t>地址</a:t>
            </a:r>
            <a:endParaRPr lang="zh-CN" altLang="en-US"/>
          </a:p>
        </p:txBody>
      </p:sp>
      <p:sp>
        <p:nvSpPr>
          <p:cNvPr id="1048588" name="内容占位符 2">
            <a:extLst>
              <a:ext uri="{FF2B5EF4-FFF2-40B4-BE49-F238E27FC236}">
                <a16:creationId xmlns:a16="http://schemas.microsoft.com/office/drawing/2014/main" id="{AEC66D99-8FD3-9872-A254-B58462CE4656}"/>
              </a:ext>
            </a:extLst>
          </p:cNvPr>
          <p:cNvSpPr>
            <a:spLocks noGrp="1"/>
          </p:cNvSpPr>
          <p:nvPr>
            <p:ph idx="1"/>
          </p:nvPr>
        </p:nvSpPr>
        <p:spPr>
          <a:xfrm>
            <a:off x="28575" y="581025"/>
            <a:ext cx="6559550" cy="5800725"/>
          </a:xfrm>
        </p:spPr>
        <p:txBody>
          <a:bodyPr/>
          <a:lstStyle/>
          <a:p>
            <a:pPr>
              <a:spcBef>
                <a:spcPts val="0"/>
              </a:spcBef>
              <a:spcAft>
                <a:spcPts val="0"/>
              </a:spcAft>
              <a:defRPr/>
            </a:pPr>
            <a:r>
              <a:rPr lang="en-US" altLang="zh-CN" sz="3600" dirty="0"/>
              <a:t>1</a:t>
            </a:r>
            <a:r>
              <a:rPr lang="zh-CN" altLang="zh-CN" sz="3600" dirty="0"/>
              <a:t>．</a:t>
            </a:r>
            <a:r>
              <a:rPr lang="en-US" altLang="zh-CN" sz="3600" dirty="0">
                <a:solidFill>
                  <a:srgbClr val="FF0000"/>
                </a:solidFill>
              </a:rPr>
              <a:t>IP</a:t>
            </a:r>
            <a:r>
              <a:rPr lang="zh-CN" altLang="zh-CN" sz="3600" dirty="0">
                <a:solidFill>
                  <a:srgbClr val="FF0000"/>
                </a:solidFill>
              </a:rPr>
              <a:t>地址</a:t>
            </a:r>
            <a:r>
              <a:rPr lang="en-US" altLang="zh-CN" sz="3600" dirty="0">
                <a:solidFill>
                  <a:srgbClr val="FF0000"/>
                </a:solidFill>
              </a:rPr>
              <a:t>(Internet Protocol Address)</a:t>
            </a:r>
            <a:r>
              <a:rPr lang="zh-CN" altLang="en-US" sz="3600" dirty="0">
                <a:solidFill>
                  <a:srgbClr val="FF0000"/>
                </a:solidFill>
              </a:rPr>
              <a:t>，又译为网际协议地址</a:t>
            </a:r>
            <a:r>
              <a:rPr lang="zh-CN" altLang="zh-CN" sz="3600" dirty="0">
                <a:solidFill>
                  <a:srgbClr val="FF0000"/>
                </a:solidFill>
              </a:rPr>
              <a:t>格式</a:t>
            </a:r>
            <a:endParaRPr lang="en-US" altLang="zh-CN" sz="3600" dirty="0">
              <a:solidFill>
                <a:srgbClr val="FF0000"/>
              </a:solidFill>
            </a:endParaRPr>
          </a:p>
          <a:p>
            <a:pPr marL="0" indent="0">
              <a:spcBef>
                <a:spcPts val="0"/>
              </a:spcBef>
              <a:spcAft>
                <a:spcPts val="0"/>
              </a:spcAft>
              <a:buFont typeface="Arial" panose="020B0604020202020204" pitchFamily="34" charset="0"/>
              <a:buNone/>
              <a:defRPr/>
            </a:pPr>
            <a:r>
              <a:rPr lang="zh-CN" altLang="zh-CN" sz="3600" dirty="0"/>
              <a:t>每个</a:t>
            </a:r>
            <a:r>
              <a:rPr lang="en-US" altLang="zh-CN" sz="3600" dirty="0"/>
              <a:t>IP</a:t>
            </a:r>
            <a:r>
              <a:rPr lang="zh-CN" altLang="zh-CN" sz="3600" dirty="0"/>
              <a:t>地址都分为</a:t>
            </a:r>
            <a:r>
              <a:rPr lang="zh-CN" altLang="zh-CN" sz="3600" dirty="0">
                <a:solidFill>
                  <a:srgbClr val="FF0000"/>
                </a:solidFill>
              </a:rPr>
              <a:t>网络号和主机号两部分</a:t>
            </a:r>
            <a:r>
              <a:rPr lang="zh-CN" altLang="en-US" sz="3600" dirty="0"/>
              <a:t>，</a:t>
            </a:r>
            <a:r>
              <a:rPr lang="zh-CN" altLang="zh-CN" sz="3600" dirty="0"/>
              <a:t>由于一个</a:t>
            </a:r>
            <a:r>
              <a:rPr lang="en-US" altLang="zh-CN" sz="3600" dirty="0"/>
              <a:t>IP</a:t>
            </a:r>
            <a:r>
              <a:rPr lang="zh-CN" altLang="zh-CN" sz="3600" dirty="0"/>
              <a:t>地址由</a:t>
            </a:r>
            <a:r>
              <a:rPr lang="en-US" altLang="zh-CN" sz="3600" dirty="0">
                <a:solidFill>
                  <a:srgbClr val="FF0000"/>
                </a:solidFill>
              </a:rPr>
              <a:t>32</a:t>
            </a:r>
            <a:r>
              <a:rPr lang="zh-CN" altLang="zh-CN" sz="3600" dirty="0">
                <a:solidFill>
                  <a:srgbClr val="FF0000"/>
                </a:solidFill>
              </a:rPr>
              <a:t>位</a:t>
            </a:r>
            <a:r>
              <a:rPr lang="zh-CN" altLang="zh-CN" sz="3600" dirty="0"/>
              <a:t>二进制数构成</a:t>
            </a:r>
            <a:r>
              <a:rPr lang="zh-CN" altLang="en-US" sz="3600" dirty="0"/>
              <a:t>，</a:t>
            </a:r>
            <a:r>
              <a:rPr lang="zh-CN" altLang="zh-CN" sz="3600" dirty="0"/>
              <a:t>将它</a:t>
            </a:r>
            <a:r>
              <a:rPr lang="zh-CN" altLang="zh-CN" sz="3600" dirty="0">
                <a:solidFill>
                  <a:srgbClr val="FF0000"/>
                </a:solidFill>
              </a:rPr>
              <a:t>分成</a:t>
            </a:r>
            <a:r>
              <a:rPr lang="en-US" altLang="zh-CN" sz="3600" dirty="0">
                <a:solidFill>
                  <a:srgbClr val="FF0000"/>
                </a:solidFill>
              </a:rPr>
              <a:t>4</a:t>
            </a:r>
            <a:r>
              <a:rPr lang="zh-CN" altLang="zh-CN" sz="3600" dirty="0">
                <a:solidFill>
                  <a:srgbClr val="FF0000"/>
                </a:solidFill>
              </a:rPr>
              <a:t>组</a:t>
            </a:r>
            <a:r>
              <a:rPr lang="zh-CN" altLang="zh-CN" sz="3600" dirty="0"/>
              <a:t>，每组</a:t>
            </a:r>
            <a:r>
              <a:rPr lang="en-US" altLang="zh-CN" sz="3600" dirty="0">
                <a:solidFill>
                  <a:srgbClr val="FF0000"/>
                </a:solidFill>
              </a:rPr>
              <a:t>8</a:t>
            </a:r>
            <a:r>
              <a:rPr lang="zh-CN" altLang="zh-CN" sz="3600" dirty="0">
                <a:solidFill>
                  <a:srgbClr val="FF0000"/>
                </a:solidFill>
              </a:rPr>
              <a:t>位</a:t>
            </a:r>
            <a:r>
              <a:rPr lang="zh-CN" altLang="zh-CN" sz="3600" dirty="0"/>
              <a:t>，各组都</a:t>
            </a:r>
            <a:r>
              <a:rPr lang="zh-CN" altLang="zh-CN" sz="3600" dirty="0">
                <a:solidFill>
                  <a:srgbClr val="FF0000"/>
                </a:solidFill>
              </a:rPr>
              <a:t>以十进制</a:t>
            </a:r>
            <a:r>
              <a:rPr lang="zh-CN" altLang="zh-CN" sz="3600" dirty="0"/>
              <a:t>表示，并用</a:t>
            </a:r>
            <a:r>
              <a:rPr lang="zh-CN" altLang="zh-CN" sz="3600" dirty="0">
                <a:solidFill>
                  <a:srgbClr val="FF0000"/>
                </a:solidFill>
              </a:rPr>
              <a:t>圆点分开</a:t>
            </a:r>
            <a:r>
              <a:rPr lang="zh-CN" altLang="zh-CN" sz="3600" dirty="0"/>
              <a:t>，这种表示方法称为“</a:t>
            </a:r>
            <a:r>
              <a:rPr lang="zh-CN" altLang="zh-CN" sz="3600" dirty="0">
                <a:solidFill>
                  <a:srgbClr val="FF0000"/>
                </a:solidFill>
              </a:rPr>
              <a:t>点分十进制表示法</a:t>
            </a:r>
            <a:r>
              <a:rPr lang="zh-CN" altLang="zh-CN" sz="3600" dirty="0"/>
              <a:t>”</a:t>
            </a:r>
            <a:r>
              <a:rPr lang="zh-CN" altLang="en-US" sz="3600" dirty="0"/>
              <a:t>。</a:t>
            </a:r>
          </a:p>
        </p:txBody>
      </p:sp>
      <p:pic>
        <p:nvPicPr>
          <p:cNvPr id="2097153" name="Picture 2" descr="9t1">
            <a:extLst>
              <a:ext uri="{FF2B5EF4-FFF2-40B4-BE49-F238E27FC236}">
                <a16:creationId xmlns:a16="http://schemas.microsoft.com/office/drawing/2014/main" id="{1E228572-A30D-027D-48CE-EEF9AB0EB3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63" y="615950"/>
            <a:ext cx="9007475" cy="572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2097153"/>
                                        </p:tgtEl>
                                        <p:attrNameLst>
                                          <p:attrName>style.visibility</p:attrName>
                                        </p:attrNameLst>
                                      </p:cBhvr>
                                      <p:to>
                                        <p:strVal val="visible"/>
                                      </p:to>
                                    </p:set>
                                    <p:animEffect transition="in" filter="barn(inVertical)">
                                      <p:cBhvr>
                                        <p:cTn id="7" dur="500"/>
                                        <p:tgtEl>
                                          <p:spTgt spid="2097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标题 1">
            <a:extLst>
              <a:ext uri="{FF2B5EF4-FFF2-40B4-BE49-F238E27FC236}">
                <a16:creationId xmlns:a16="http://schemas.microsoft.com/office/drawing/2014/main" id="{C3613DE3-5443-21BC-D119-858F43459C6E}"/>
              </a:ext>
            </a:extLst>
          </p:cNvPr>
          <p:cNvSpPr>
            <a:spLocks noGrp="1" noChangeArrowheads="1"/>
          </p:cNvSpPr>
          <p:nvPr>
            <p:ph type="title"/>
          </p:nvPr>
        </p:nvSpPr>
        <p:spPr/>
        <p:txBody>
          <a:bodyPr/>
          <a:lstStyle/>
          <a:p>
            <a:r>
              <a:rPr lang="en-US" altLang="zh-CN"/>
              <a:t>9.1.1  IP</a:t>
            </a:r>
            <a:r>
              <a:rPr lang="zh-CN" altLang="zh-CN"/>
              <a:t>地址</a:t>
            </a:r>
            <a:endParaRPr lang="zh-CN" altLang="en-US"/>
          </a:p>
        </p:txBody>
      </p:sp>
      <p:sp>
        <p:nvSpPr>
          <p:cNvPr id="1048590" name="内容占位符 2">
            <a:extLst>
              <a:ext uri="{FF2B5EF4-FFF2-40B4-BE49-F238E27FC236}">
                <a16:creationId xmlns:a16="http://schemas.microsoft.com/office/drawing/2014/main" id="{7E95400C-3890-388E-5E2A-4201E9416964}"/>
              </a:ext>
            </a:extLst>
          </p:cNvPr>
          <p:cNvSpPr>
            <a:spLocks noGrp="1"/>
          </p:cNvSpPr>
          <p:nvPr>
            <p:ph idx="1"/>
          </p:nvPr>
        </p:nvSpPr>
        <p:spPr>
          <a:xfrm>
            <a:off x="34925" y="476250"/>
            <a:ext cx="9001125" cy="5976938"/>
          </a:xfrm>
        </p:spPr>
        <p:txBody>
          <a:bodyPr/>
          <a:lstStyle/>
          <a:p>
            <a:pPr>
              <a:spcBef>
                <a:spcPts val="0"/>
              </a:spcBef>
              <a:spcAft>
                <a:spcPts val="0"/>
              </a:spcAft>
              <a:defRPr/>
            </a:pPr>
            <a:r>
              <a:rPr lang="en-US" altLang="zh-CN" sz="4800" dirty="0"/>
              <a:t>2</a:t>
            </a:r>
            <a:r>
              <a:rPr lang="zh-CN" altLang="zh-CN" sz="4800" dirty="0"/>
              <a:t>．</a:t>
            </a:r>
            <a:r>
              <a:rPr lang="en-US" altLang="zh-CN" sz="4800" dirty="0"/>
              <a:t>IP</a:t>
            </a:r>
            <a:r>
              <a:rPr lang="zh-CN" altLang="zh-CN" sz="4800" dirty="0"/>
              <a:t>地址的分类</a:t>
            </a:r>
            <a:endParaRPr lang="en-US" altLang="zh-CN" sz="4800" dirty="0"/>
          </a:p>
          <a:p>
            <a:pPr marL="0" indent="0">
              <a:spcBef>
                <a:spcPts val="0"/>
              </a:spcBef>
              <a:spcAft>
                <a:spcPts val="0"/>
              </a:spcAft>
              <a:buFont typeface="Arial" panose="020B0604020202020204" pitchFamily="34" charset="0"/>
              <a:buNone/>
              <a:defRPr/>
            </a:pPr>
            <a:r>
              <a:rPr lang="en-US" altLang="zh-CN" sz="4800" dirty="0"/>
              <a:t>IP</a:t>
            </a:r>
            <a:r>
              <a:rPr lang="zh-CN" altLang="zh-CN" sz="4800" dirty="0"/>
              <a:t>地址分为</a:t>
            </a:r>
            <a:r>
              <a:rPr lang="zh-CN" altLang="zh-CN" sz="4800" dirty="0">
                <a:solidFill>
                  <a:srgbClr val="FF0000"/>
                </a:solidFill>
              </a:rPr>
              <a:t>五类</a:t>
            </a:r>
            <a:r>
              <a:rPr lang="zh-CN" altLang="zh-CN" sz="4800" dirty="0"/>
              <a:t>：</a:t>
            </a:r>
            <a:r>
              <a:rPr lang="en-US" altLang="zh-CN" sz="4800" dirty="0"/>
              <a:t>A</a:t>
            </a:r>
            <a:r>
              <a:rPr lang="zh-CN" altLang="zh-CN" sz="4800" dirty="0"/>
              <a:t>类、</a:t>
            </a:r>
            <a:r>
              <a:rPr lang="en-US" altLang="zh-CN" sz="4800" dirty="0"/>
              <a:t>B</a:t>
            </a:r>
            <a:r>
              <a:rPr lang="zh-CN" altLang="zh-CN" sz="4800" dirty="0"/>
              <a:t>类、</a:t>
            </a:r>
            <a:r>
              <a:rPr lang="en-US" altLang="zh-CN" sz="4800" dirty="0"/>
              <a:t>C</a:t>
            </a:r>
            <a:r>
              <a:rPr lang="zh-CN" altLang="zh-CN" sz="4800" dirty="0"/>
              <a:t>类、</a:t>
            </a:r>
            <a:r>
              <a:rPr lang="en-US" altLang="zh-CN" sz="4800" dirty="0"/>
              <a:t>D</a:t>
            </a:r>
            <a:r>
              <a:rPr lang="zh-CN" altLang="zh-CN" sz="4800" dirty="0"/>
              <a:t>类、</a:t>
            </a:r>
            <a:r>
              <a:rPr lang="en-US" altLang="zh-CN" sz="4800" dirty="0"/>
              <a:t>E</a:t>
            </a:r>
            <a:r>
              <a:rPr lang="zh-CN" altLang="zh-CN" sz="4800" dirty="0"/>
              <a:t>类，其中</a:t>
            </a:r>
            <a:r>
              <a:rPr lang="en-US" altLang="zh-CN" sz="4800" dirty="0">
                <a:solidFill>
                  <a:srgbClr val="FF0000"/>
                </a:solidFill>
              </a:rPr>
              <a:t>A</a:t>
            </a:r>
            <a:r>
              <a:rPr lang="zh-CN" altLang="zh-CN" sz="4800" dirty="0">
                <a:solidFill>
                  <a:srgbClr val="FF0000"/>
                </a:solidFill>
              </a:rPr>
              <a:t>类、</a:t>
            </a:r>
            <a:r>
              <a:rPr lang="en-US" altLang="zh-CN" sz="4800" dirty="0">
                <a:solidFill>
                  <a:srgbClr val="FF0000"/>
                </a:solidFill>
              </a:rPr>
              <a:t>B</a:t>
            </a:r>
            <a:r>
              <a:rPr lang="zh-CN" altLang="zh-CN" sz="4800" dirty="0">
                <a:solidFill>
                  <a:srgbClr val="FF0000"/>
                </a:solidFill>
              </a:rPr>
              <a:t>类和</a:t>
            </a:r>
            <a:r>
              <a:rPr lang="en-US" altLang="zh-CN" sz="4800" dirty="0">
                <a:solidFill>
                  <a:srgbClr val="FF0000"/>
                </a:solidFill>
              </a:rPr>
              <a:t>C</a:t>
            </a:r>
            <a:r>
              <a:rPr lang="zh-CN" altLang="zh-CN" sz="4800" dirty="0">
                <a:solidFill>
                  <a:srgbClr val="FF0000"/>
                </a:solidFill>
              </a:rPr>
              <a:t>类</a:t>
            </a:r>
            <a:r>
              <a:rPr lang="zh-CN" altLang="zh-CN" sz="4800" dirty="0"/>
              <a:t>为</a:t>
            </a:r>
            <a:r>
              <a:rPr lang="zh-CN" altLang="zh-CN" sz="4800" dirty="0">
                <a:solidFill>
                  <a:srgbClr val="FF0000"/>
                </a:solidFill>
              </a:rPr>
              <a:t>基本类</a:t>
            </a:r>
            <a:r>
              <a:rPr lang="zh-CN" altLang="zh-CN" sz="4800" dirty="0"/>
              <a:t>，</a:t>
            </a:r>
            <a:r>
              <a:rPr lang="en-US" altLang="zh-CN" sz="4800" dirty="0"/>
              <a:t>D</a:t>
            </a:r>
            <a:r>
              <a:rPr lang="zh-CN" altLang="zh-CN" sz="4800" dirty="0"/>
              <a:t>类用于</a:t>
            </a:r>
            <a:r>
              <a:rPr lang="zh-CN" altLang="zh-CN" sz="4800" dirty="0">
                <a:solidFill>
                  <a:srgbClr val="FF0000"/>
                </a:solidFill>
              </a:rPr>
              <a:t>多播</a:t>
            </a:r>
            <a:r>
              <a:rPr lang="zh-CN" altLang="zh-CN" sz="4800" dirty="0"/>
              <a:t>，</a:t>
            </a:r>
            <a:r>
              <a:rPr lang="en-US" altLang="zh-CN" sz="4800" dirty="0"/>
              <a:t>E</a:t>
            </a:r>
            <a:r>
              <a:rPr lang="zh-CN" altLang="zh-CN" sz="4800" dirty="0"/>
              <a:t>类属于</a:t>
            </a:r>
            <a:r>
              <a:rPr lang="zh-CN" altLang="zh-CN" sz="4800" dirty="0">
                <a:solidFill>
                  <a:srgbClr val="FF0000"/>
                </a:solidFill>
              </a:rPr>
              <a:t>保留类</a:t>
            </a:r>
            <a:r>
              <a:rPr lang="zh-CN" altLang="zh-CN" sz="4800" dirty="0"/>
              <a:t>。若要</a:t>
            </a:r>
            <a:r>
              <a:rPr lang="zh-CN" altLang="zh-CN" sz="4800" dirty="0">
                <a:solidFill>
                  <a:srgbClr val="FF0000"/>
                </a:solidFill>
              </a:rPr>
              <a:t>区分一个</a:t>
            </a:r>
            <a:r>
              <a:rPr lang="en-US" altLang="zh-CN" sz="4800" dirty="0">
                <a:solidFill>
                  <a:srgbClr val="FF0000"/>
                </a:solidFill>
              </a:rPr>
              <a:t>IP</a:t>
            </a:r>
            <a:r>
              <a:rPr lang="zh-CN" altLang="zh-CN" sz="4800" dirty="0">
                <a:solidFill>
                  <a:srgbClr val="FF0000"/>
                </a:solidFill>
              </a:rPr>
              <a:t>地址</a:t>
            </a:r>
            <a:r>
              <a:rPr lang="zh-CN" altLang="zh-CN" sz="4800" dirty="0"/>
              <a:t>所属的</a:t>
            </a:r>
            <a:r>
              <a:rPr lang="zh-CN" altLang="zh-CN" sz="4800" dirty="0">
                <a:solidFill>
                  <a:srgbClr val="FF0000"/>
                </a:solidFill>
              </a:rPr>
              <a:t>类别</a:t>
            </a:r>
            <a:r>
              <a:rPr lang="zh-CN" altLang="zh-CN" sz="4800" dirty="0"/>
              <a:t>，只需要</a:t>
            </a:r>
            <a:r>
              <a:rPr lang="zh-CN" altLang="zh-CN" sz="4800" dirty="0">
                <a:solidFill>
                  <a:srgbClr val="FF0000"/>
                </a:solidFill>
              </a:rPr>
              <a:t>看它的第一个十进制整数</a:t>
            </a:r>
            <a:r>
              <a:rPr lang="zh-CN" altLang="zh-CN" sz="4800" dirty="0"/>
              <a:t>。</a:t>
            </a:r>
            <a:endParaRPr lang="zh-CN" altLang="en-US" sz="4800" dirty="0"/>
          </a:p>
        </p:txBody>
      </p:sp>
      <p:pic>
        <p:nvPicPr>
          <p:cNvPr id="10244" name="Picture 2" descr="9t2">
            <a:extLst>
              <a:ext uri="{FF2B5EF4-FFF2-40B4-BE49-F238E27FC236}">
                <a16:creationId xmlns:a16="http://schemas.microsoft.com/office/drawing/2014/main" id="{ADBD5AFB-61F5-BB14-457F-62AF4F0072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563" y="533400"/>
            <a:ext cx="9032875" cy="586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childTnLst>
                                    <p:set>
                                      <p:cBhvr>
                                        <p:cTn id="6" dur="1" fill="hold">
                                          <p:stCondLst>
                                            <p:cond delay="0"/>
                                          </p:stCondLst>
                                        </p:cTn>
                                        <p:tgtEl>
                                          <p:spTgt spid="10244"/>
                                        </p:tgtEl>
                                        <p:attrNameLst>
                                          <p:attrName>style.visibility</p:attrName>
                                        </p:attrNameLst>
                                      </p:cBhvr>
                                      <p:to>
                                        <p:strVal val="visible"/>
                                      </p:to>
                                    </p:set>
                                    <p:anim calcmode="lin" valueType="num">
                                      <p:cBhvr>
                                        <p:cTn id="7" dur="1000" fill="hold"/>
                                        <p:tgtEl>
                                          <p:spTgt spid="10244"/>
                                        </p:tgtEl>
                                        <p:attrNameLst>
                                          <p:attrName>ppt_w</p:attrName>
                                        </p:attrNameLst>
                                      </p:cBhvr>
                                      <p:tavLst>
                                        <p:tav tm="0">
                                          <p:val>
                                            <p:fltVal val="0"/>
                                          </p:val>
                                        </p:tav>
                                        <p:tav tm="100000">
                                          <p:val>
                                            <p:strVal val="#ppt_w"/>
                                          </p:val>
                                        </p:tav>
                                      </p:tavLst>
                                    </p:anim>
                                    <p:anim calcmode="lin" valueType="num">
                                      <p:cBhvr>
                                        <p:cTn id="8" dur="1000" fill="hold"/>
                                        <p:tgtEl>
                                          <p:spTgt spid="10244"/>
                                        </p:tgtEl>
                                        <p:attrNameLst>
                                          <p:attrName>ppt_h</p:attrName>
                                        </p:attrNameLst>
                                      </p:cBhvr>
                                      <p:tavLst>
                                        <p:tav tm="0">
                                          <p:val>
                                            <p:fltVal val="0"/>
                                          </p:val>
                                        </p:tav>
                                        <p:tav tm="100000">
                                          <p:val>
                                            <p:strVal val="#ppt_h"/>
                                          </p:val>
                                        </p:tav>
                                      </p:tavLst>
                                    </p:anim>
                                    <p:anim calcmode="lin" valueType="num">
                                      <p:cBhvr>
                                        <p:cTn id="9" dur="1000" fill="hold"/>
                                        <p:tgtEl>
                                          <p:spTgt spid="10244"/>
                                        </p:tgtEl>
                                        <p:attrNameLst>
                                          <p:attrName>style.rotation</p:attrName>
                                        </p:attrNameLst>
                                      </p:cBhvr>
                                      <p:tavLst>
                                        <p:tav tm="0">
                                          <p:val>
                                            <p:fltVal val="90"/>
                                          </p:val>
                                        </p:tav>
                                        <p:tav tm="100000">
                                          <p:val>
                                            <p:fltVal val="0"/>
                                          </p:val>
                                        </p:tav>
                                      </p:tavLst>
                                    </p:anim>
                                    <p:animEffect transition="in" filter="fade">
                                      <p:cBhvr>
                                        <p:cTn id="10" dur="1000"/>
                                        <p:tgtEl>
                                          <p:spTgt spid="10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标题 1">
            <a:extLst>
              <a:ext uri="{FF2B5EF4-FFF2-40B4-BE49-F238E27FC236}">
                <a16:creationId xmlns:a16="http://schemas.microsoft.com/office/drawing/2014/main" id="{47320287-1E92-C33A-0543-6A0C35BAF25F}"/>
              </a:ext>
            </a:extLst>
          </p:cNvPr>
          <p:cNvSpPr>
            <a:spLocks noGrp="1" noChangeArrowheads="1"/>
          </p:cNvSpPr>
          <p:nvPr>
            <p:ph type="title"/>
          </p:nvPr>
        </p:nvSpPr>
        <p:spPr/>
        <p:txBody>
          <a:bodyPr/>
          <a:lstStyle/>
          <a:p>
            <a:r>
              <a:rPr lang="en-US" altLang="zh-CN"/>
              <a:t>9.1.1  IP</a:t>
            </a:r>
            <a:r>
              <a:rPr lang="zh-CN" altLang="zh-CN"/>
              <a:t>地址</a:t>
            </a:r>
            <a:endParaRPr lang="zh-CN" altLang="en-US"/>
          </a:p>
        </p:txBody>
      </p:sp>
      <p:sp>
        <p:nvSpPr>
          <p:cNvPr id="1048592" name="内容占位符 2">
            <a:extLst>
              <a:ext uri="{FF2B5EF4-FFF2-40B4-BE49-F238E27FC236}">
                <a16:creationId xmlns:a16="http://schemas.microsoft.com/office/drawing/2014/main" id="{4ACB2F3A-0C1E-C449-B53A-5406D822A021}"/>
              </a:ext>
            </a:extLst>
          </p:cNvPr>
          <p:cNvSpPr>
            <a:spLocks noGrp="1"/>
          </p:cNvSpPr>
          <p:nvPr>
            <p:ph idx="1"/>
          </p:nvPr>
        </p:nvSpPr>
        <p:spPr>
          <a:xfrm>
            <a:off x="-36513" y="404813"/>
            <a:ext cx="9288463" cy="5903912"/>
          </a:xfrm>
        </p:spPr>
        <p:txBody>
          <a:bodyPr/>
          <a:lstStyle/>
          <a:p>
            <a:pPr>
              <a:lnSpc>
                <a:spcPct val="150000"/>
              </a:lnSpc>
              <a:spcBef>
                <a:spcPts val="0"/>
              </a:spcBef>
              <a:spcAft>
                <a:spcPts val="0"/>
              </a:spcAft>
              <a:defRPr/>
            </a:pPr>
            <a:r>
              <a:rPr lang="en-US" altLang="zh-CN" sz="3200" dirty="0"/>
              <a:t>2</a:t>
            </a:r>
            <a:r>
              <a:rPr lang="zh-CN" altLang="zh-CN" sz="3200" dirty="0"/>
              <a:t>．</a:t>
            </a:r>
            <a:r>
              <a:rPr lang="en-US" altLang="zh-CN" sz="3200" dirty="0"/>
              <a:t>IP</a:t>
            </a:r>
            <a:r>
              <a:rPr lang="zh-CN" altLang="zh-CN" sz="3200" dirty="0"/>
              <a:t>地址的分类</a:t>
            </a:r>
            <a:endParaRPr lang="en-US" altLang="zh-CN" sz="3200" dirty="0"/>
          </a:p>
          <a:p>
            <a:pPr marL="0" indent="0">
              <a:lnSpc>
                <a:spcPct val="150000"/>
              </a:lnSpc>
              <a:spcBef>
                <a:spcPts val="0"/>
              </a:spcBef>
              <a:spcAft>
                <a:spcPts val="0"/>
              </a:spcAft>
              <a:buFont typeface="Arial" panose="020B0604020202020204" pitchFamily="34" charset="0"/>
              <a:buNone/>
              <a:defRPr/>
            </a:pPr>
            <a:r>
              <a:rPr lang="zh-CN" altLang="zh-CN" sz="3200" dirty="0"/>
              <a:t>除了上面三种类型的</a:t>
            </a:r>
            <a:r>
              <a:rPr lang="en-US" altLang="zh-CN" sz="3200" dirty="0"/>
              <a:t>IP</a:t>
            </a:r>
            <a:r>
              <a:rPr lang="zh-CN" altLang="zh-CN" sz="3200" dirty="0"/>
              <a:t>地址外，还有</a:t>
            </a:r>
            <a:r>
              <a:rPr lang="zh-CN" altLang="zh-CN" sz="3200" dirty="0">
                <a:solidFill>
                  <a:srgbClr val="FF0000"/>
                </a:solidFill>
              </a:rPr>
              <a:t>几种特殊类型</a:t>
            </a:r>
            <a:r>
              <a:rPr lang="zh-CN" altLang="zh-CN" sz="3200" dirty="0"/>
              <a:t>的</a:t>
            </a:r>
            <a:r>
              <a:rPr lang="en-US" altLang="zh-CN" sz="3200" dirty="0"/>
              <a:t>IP</a:t>
            </a:r>
            <a:r>
              <a:rPr lang="zh-CN" altLang="zh-CN" sz="3200" dirty="0"/>
              <a:t>地址</a:t>
            </a:r>
            <a:endParaRPr lang="en-US" altLang="zh-CN" sz="3200" dirty="0"/>
          </a:p>
          <a:p>
            <a:pPr marL="0" indent="0">
              <a:lnSpc>
                <a:spcPct val="150000"/>
              </a:lnSpc>
              <a:spcBef>
                <a:spcPts val="0"/>
              </a:spcBef>
              <a:spcAft>
                <a:spcPts val="0"/>
              </a:spcAft>
              <a:buFont typeface="Arial" panose="020B0604020202020204" pitchFamily="34" charset="0"/>
              <a:buNone/>
              <a:defRPr/>
            </a:pPr>
            <a:r>
              <a:rPr lang="en-US" altLang="zh-CN" sz="3200" dirty="0"/>
              <a:t>1</a:t>
            </a:r>
            <a:r>
              <a:rPr lang="zh-CN" altLang="zh-CN" sz="3200" dirty="0"/>
              <a:t>）</a:t>
            </a:r>
            <a:r>
              <a:rPr lang="zh-CN" altLang="zh-CN" sz="3200" dirty="0">
                <a:solidFill>
                  <a:srgbClr val="FF0000"/>
                </a:solidFill>
              </a:rPr>
              <a:t>私有</a:t>
            </a:r>
            <a:r>
              <a:rPr lang="zh-CN" altLang="zh-CN" sz="3200" dirty="0"/>
              <a:t>地址</a:t>
            </a:r>
          </a:p>
          <a:p>
            <a:pPr marL="0" indent="0">
              <a:lnSpc>
                <a:spcPct val="150000"/>
              </a:lnSpc>
              <a:spcBef>
                <a:spcPts val="0"/>
              </a:spcBef>
              <a:spcAft>
                <a:spcPts val="0"/>
              </a:spcAft>
              <a:buFont typeface="Arial" panose="020B0604020202020204" pitchFamily="34" charset="0"/>
              <a:buNone/>
              <a:defRPr/>
            </a:pPr>
            <a:r>
              <a:rPr lang="en-US" altLang="zh-CN" sz="3200" dirty="0"/>
              <a:t>2</a:t>
            </a:r>
            <a:r>
              <a:rPr lang="zh-CN" altLang="zh-CN" sz="3200" dirty="0"/>
              <a:t>）网络号为</a:t>
            </a:r>
            <a:r>
              <a:rPr lang="en-US" altLang="zh-CN" sz="3200" dirty="0">
                <a:solidFill>
                  <a:srgbClr val="FF0000"/>
                </a:solidFill>
              </a:rPr>
              <a:t>127</a:t>
            </a:r>
            <a:r>
              <a:rPr lang="zh-CN" altLang="zh-CN" sz="3200" dirty="0">
                <a:solidFill>
                  <a:srgbClr val="FF0000"/>
                </a:solidFill>
              </a:rPr>
              <a:t>的地址</a:t>
            </a:r>
            <a:r>
              <a:rPr lang="zh-CN" altLang="zh-CN" sz="3200" dirty="0"/>
              <a:t>保留为内部回送地址</a:t>
            </a:r>
          </a:p>
          <a:p>
            <a:pPr marL="0" indent="0">
              <a:lnSpc>
                <a:spcPct val="150000"/>
              </a:lnSpc>
              <a:spcBef>
                <a:spcPts val="0"/>
              </a:spcBef>
              <a:spcAft>
                <a:spcPts val="0"/>
              </a:spcAft>
              <a:buFont typeface="Arial" panose="020B0604020202020204" pitchFamily="34" charset="0"/>
              <a:buNone/>
              <a:defRPr/>
            </a:pPr>
            <a:r>
              <a:rPr lang="en-US" altLang="zh-CN" sz="3200" dirty="0"/>
              <a:t>3</a:t>
            </a:r>
            <a:r>
              <a:rPr lang="zh-CN" altLang="zh-CN" sz="3200" dirty="0"/>
              <a:t>）主机号全</a:t>
            </a:r>
            <a:r>
              <a:rPr lang="zh-CN" altLang="zh-CN" sz="3200" dirty="0">
                <a:solidFill>
                  <a:srgbClr val="FF0000"/>
                </a:solidFill>
              </a:rPr>
              <a:t>为</a:t>
            </a:r>
            <a:r>
              <a:rPr lang="en-US" altLang="zh-CN" sz="3200" dirty="0">
                <a:solidFill>
                  <a:srgbClr val="FF0000"/>
                </a:solidFill>
              </a:rPr>
              <a:t>1</a:t>
            </a:r>
            <a:r>
              <a:rPr lang="zh-CN" altLang="zh-CN" sz="3200" dirty="0">
                <a:solidFill>
                  <a:srgbClr val="FF0000"/>
                </a:solidFill>
              </a:rPr>
              <a:t>的</a:t>
            </a:r>
            <a:r>
              <a:rPr lang="en-US" altLang="zh-CN" sz="3200" dirty="0">
                <a:solidFill>
                  <a:srgbClr val="FF0000"/>
                </a:solidFill>
              </a:rPr>
              <a:t>IP</a:t>
            </a:r>
            <a:r>
              <a:rPr lang="zh-CN" altLang="zh-CN" sz="3200" dirty="0">
                <a:solidFill>
                  <a:srgbClr val="FF0000"/>
                </a:solidFill>
              </a:rPr>
              <a:t>地址</a:t>
            </a:r>
            <a:r>
              <a:rPr lang="zh-CN" altLang="zh-CN" sz="3200" dirty="0"/>
              <a:t>表示一个网络的</a:t>
            </a:r>
            <a:r>
              <a:rPr lang="zh-CN" altLang="zh-CN" sz="3200" dirty="0">
                <a:solidFill>
                  <a:srgbClr val="FF0000"/>
                </a:solidFill>
              </a:rPr>
              <a:t>广播</a:t>
            </a:r>
            <a:r>
              <a:rPr lang="zh-CN" altLang="zh-CN" sz="3200" dirty="0"/>
              <a:t>地址</a:t>
            </a:r>
          </a:p>
          <a:p>
            <a:pPr marL="0" indent="0">
              <a:lnSpc>
                <a:spcPct val="150000"/>
              </a:lnSpc>
              <a:spcBef>
                <a:spcPts val="0"/>
              </a:spcBef>
              <a:spcAft>
                <a:spcPts val="0"/>
              </a:spcAft>
              <a:buFont typeface="Arial" panose="020B0604020202020204" pitchFamily="34" charset="0"/>
              <a:buNone/>
              <a:defRPr/>
            </a:pPr>
            <a:r>
              <a:rPr lang="en-US" altLang="zh-CN" sz="3200" dirty="0"/>
              <a:t>4</a:t>
            </a:r>
            <a:r>
              <a:rPr lang="zh-CN" altLang="zh-CN" sz="3200" dirty="0"/>
              <a:t>）主机号</a:t>
            </a:r>
            <a:r>
              <a:rPr lang="zh-CN" altLang="zh-CN" sz="3200" dirty="0">
                <a:solidFill>
                  <a:srgbClr val="FF0000"/>
                </a:solidFill>
              </a:rPr>
              <a:t>全为</a:t>
            </a:r>
            <a:r>
              <a:rPr lang="en-US" altLang="zh-CN" sz="3200" dirty="0">
                <a:solidFill>
                  <a:srgbClr val="FF0000"/>
                </a:solidFill>
              </a:rPr>
              <a:t>0</a:t>
            </a:r>
            <a:r>
              <a:rPr lang="zh-CN" altLang="zh-CN" sz="3200" dirty="0">
                <a:solidFill>
                  <a:srgbClr val="FF0000"/>
                </a:solidFill>
              </a:rPr>
              <a:t>的地址</a:t>
            </a:r>
            <a:r>
              <a:rPr lang="zh-CN" altLang="zh-CN" sz="3200" dirty="0"/>
              <a:t>标识</a:t>
            </a:r>
            <a:r>
              <a:rPr lang="zh-CN" altLang="zh-CN" sz="3200" dirty="0">
                <a:solidFill>
                  <a:srgbClr val="FF0000"/>
                </a:solidFill>
              </a:rPr>
              <a:t>一个网络</a:t>
            </a:r>
          </a:p>
          <a:p>
            <a:pPr marL="0" indent="0">
              <a:lnSpc>
                <a:spcPct val="150000"/>
              </a:lnSpc>
              <a:buFont typeface="Arial" panose="020B0604020202020204" pitchFamily="34" charset="0"/>
              <a:buNone/>
              <a:defRPr/>
            </a:pP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DFE077AD-ECD1-C14F-1550-1DB2D0BA94B4}"/>
              </a:ext>
            </a:extLst>
          </p:cNvPr>
          <p:cNvSpPr>
            <a:spLocks noGrp="1" noChangeArrowheads="1"/>
          </p:cNvSpPr>
          <p:nvPr>
            <p:ph type="title"/>
          </p:nvPr>
        </p:nvSpPr>
        <p:spPr/>
        <p:txBody>
          <a:bodyPr/>
          <a:lstStyle/>
          <a:p>
            <a:r>
              <a:rPr lang="en-US" altLang="zh-CN"/>
              <a:t>9.1.1  IP</a:t>
            </a:r>
            <a:r>
              <a:rPr lang="zh-CN" altLang="zh-CN"/>
              <a:t>地址</a:t>
            </a:r>
            <a:endParaRPr lang="zh-CN" altLang="en-US"/>
          </a:p>
        </p:txBody>
      </p:sp>
      <p:sp>
        <p:nvSpPr>
          <p:cNvPr id="1048594" name="内容占位符 2">
            <a:extLst>
              <a:ext uri="{FF2B5EF4-FFF2-40B4-BE49-F238E27FC236}">
                <a16:creationId xmlns:a16="http://schemas.microsoft.com/office/drawing/2014/main" id="{2964075E-AEBD-A962-1E32-0797A8DA1B01}"/>
              </a:ext>
            </a:extLst>
          </p:cNvPr>
          <p:cNvSpPr>
            <a:spLocks noGrp="1"/>
          </p:cNvSpPr>
          <p:nvPr>
            <p:ph idx="1"/>
          </p:nvPr>
        </p:nvSpPr>
        <p:spPr>
          <a:xfrm>
            <a:off x="0" y="620713"/>
            <a:ext cx="9109075" cy="5832475"/>
          </a:xfrm>
        </p:spPr>
        <p:txBody>
          <a:bodyPr/>
          <a:lstStyle/>
          <a:p>
            <a:pPr>
              <a:spcBef>
                <a:spcPts val="0"/>
              </a:spcBef>
              <a:spcAft>
                <a:spcPts val="0"/>
              </a:spcAft>
              <a:defRPr/>
            </a:pPr>
            <a:r>
              <a:rPr lang="en-US" altLang="zh-CN" sz="4400" dirty="0"/>
              <a:t>3</a:t>
            </a:r>
            <a:r>
              <a:rPr lang="zh-CN" altLang="zh-CN" sz="4400" dirty="0"/>
              <a:t>．子网掩码</a:t>
            </a:r>
          </a:p>
          <a:p>
            <a:pPr marL="0" indent="0" fontAlgn="ctr">
              <a:spcBef>
                <a:spcPts val="0"/>
              </a:spcBef>
              <a:spcAft>
                <a:spcPts val="0"/>
              </a:spcAft>
              <a:buFont typeface="Arial" panose="020B0604020202020204" pitchFamily="34" charset="0"/>
              <a:buNone/>
              <a:defRPr/>
            </a:pPr>
            <a:r>
              <a:rPr lang="zh-CN" altLang="zh-CN" sz="4400" dirty="0">
                <a:solidFill>
                  <a:srgbClr val="FF0000"/>
                </a:solidFill>
              </a:rPr>
              <a:t>子网掩码</a:t>
            </a:r>
            <a:r>
              <a:rPr lang="zh-CN" altLang="zh-CN" sz="4400" dirty="0"/>
              <a:t>可以</a:t>
            </a:r>
            <a:r>
              <a:rPr lang="zh-CN" altLang="zh-CN" sz="4400" dirty="0">
                <a:solidFill>
                  <a:srgbClr val="FF0000"/>
                </a:solidFill>
              </a:rPr>
              <a:t>用来区分</a:t>
            </a:r>
            <a:r>
              <a:rPr lang="zh-CN" altLang="zh-CN" sz="4400" dirty="0"/>
              <a:t>一个</a:t>
            </a:r>
            <a:r>
              <a:rPr lang="en-US" altLang="zh-CN" sz="4400" dirty="0"/>
              <a:t>IP</a:t>
            </a:r>
            <a:r>
              <a:rPr lang="zh-CN" altLang="zh-CN" sz="4400" dirty="0"/>
              <a:t>地址的</a:t>
            </a:r>
            <a:r>
              <a:rPr lang="zh-CN" altLang="zh-CN" sz="4400" dirty="0">
                <a:solidFill>
                  <a:srgbClr val="FF0000"/>
                </a:solidFill>
              </a:rPr>
              <a:t>网络号</a:t>
            </a:r>
            <a:r>
              <a:rPr lang="zh-CN" altLang="zh-CN" sz="4400" dirty="0"/>
              <a:t>和</a:t>
            </a:r>
            <a:r>
              <a:rPr lang="zh-CN" altLang="zh-CN" sz="4400" dirty="0">
                <a:solidFill>
                  <a:srgbClr val="FF0000"/>
                </a:solidFill>
              </a:rPr>
              <a:t>主机号</a:t>
            </a:r>
            <a:r>
              <a:rPr lang="zh-CN" altLang="zh-CN" sz="4400" dirty="0"/>
              <a:t>各占</a:t>
            </a:r>
            <a:r>
              <a:rPr lang="zh-CN" altLang="zh-CN" sz="4400" dirty="0">
                <a:solidFill>
                  <a:srgbClr val="FF0000"/>
                </a:solidFill>
              </a:rPr>
              <a:t>多少位</a:t>
            </a:r>
            <a:r>
              <a:rPr lang="zh-CN" altLang="zh-CN" sz="4400" dirty="0"/>
              <a:t>。</a:t>
            </a:r>
            <a:r>
              <a:rPr lang="en-US" altLang="zh-CN" sz="4400" dirty="0"/>
              <a:t>A</a:t>
            </a:r>
            <a:r>
              <a:rPr lang="zh-CN" altLang="zh-CN" sz="4400" dirty="0"/>
              <a:t>、</a:t>
            </a:r>
            <a:r>
              <a:rPr lang="en-US" altLang="zh-CN" sz="4400" dirty="0"/>
              <a:t>B</a:t>
            </a:r>
            <a:r>
              <a:rPr lang="zh-CN" altLang="zh-CN" sz="4400" dirty="0"/>
              <a:t>、</a:t>
            </a:r>
            <a:r>
              <a:rPr lang="en-US" altLang="zh-CN" sz="4400" dirty="0"/>
              <a:t>C</a:t>
            </a:r>
            <a:r>
              <a:rPr lang="zh-CN" altLang="zh-CN" sz="4400" dirty="0"/>
              <a:t>类</a:t>
            </a:r>
            <a:r>
              <a:rPr lang="en-US" altLang="zh-CN" sz="4400" dirty="0"/>
              <a:t>IP</a:t>
            </a:r>
            <a:r>
              <a:rPr lang="zh-CN" altLang="zh-CN" sz="4400" dirty="0"/>
              <a:t>地址的标准子网掩码分别为：</a:t>
            </a:r>
          </a:p>
          <a:p>
            <a:pPr marL="0" indent="0" fontAlgn="ctr">
              <a:spcBef>
                <a:spcPts val="0"/>
              </a:spcBef>
              <a:spcAft>
                <a:spcPts val="0"/>
              </a:spcAft>
              <a:buFont typeface="Arial" panose="020B0604020202020204" pitchFamily="34" charset="0"/>
              <a:buNone/>
              <a:defRPr/>
            </a:pPr>
            <a:r>
              <a:rPr lang="en-US" altLang="zh-CN" sz="4400" dirty="0"/>
              <a:t>A</a:t>
            </a:r>
            <a:r>
              <a:rPr lang="zh-CN" altLang="zh-CN" sz="4400" dirty="0"/>
              <a:t>类—</a:t>
            </a:r>
            <a:r>
              <a:rPr lang="en-US" altLang="zh-CN" sz="4400" dirty="0"/>
              <a:t>255.0.0.0</a:t>
            </a:r>
            <a:endParaRPr lang="zh-CN" altLang="zh-CN" sz="4400" dirty="0"/>
          </a:p>
          <a:p>
            <a:pPr marL="0" indent="0" fontAlgn="ctr">
              <a:spcBef>
                <a:spcPts val="0"/>
              </a:spcBef>
              <a:spcAft>
                <a:spcPts val="0"/>
              </a:spcAft>
              <a:buFont typeface="Arial" panose="020B0604020202020204" pitchFamily="34" charset="0"/>
              <a:buNone/>
              <a:defRPr/>
            </a:pPr>
            <a:r>
              <a:rPr lang="en-US" altLang="zh-CN" sz="4400" dirty="0"/>
              <a:t>B</a:t>
            </a:r>
            <a:r>
              <a:rPr lang="zh-CN" altLang="zh-CN" sz="4400" dirty="0"/>
              <a:t>类—</a:t>
            </a:r>
            <a:r>
              <a:rPr lang="en-US" altLang="zh-CN" sz="4400" dirty="0"/>
              <a:t>255.255.0.0</a:t>
            </a:r>
            <a:endParaRPr lang="zh-CN" altLang="zh-CN" sz="4400" dirty="0"/>
          </a:p>
          <a:p>
            <a:pPr marL="0" indent="0">
              <a:spcBef>
                <a:spcPts val="0"/>
              </a:spcBef>
              <a:spcAft>
                <a:spcPts val="0"/>
              </a:spcAft>
              <a:buFont typeface="Arial" panose="020B0604020202020204" pitchFamily="34" charset="0"/>
              <a:buNone/>
              <a:defRPr/>
            </a:pPr>
            <a:r>
              <a:rPr lang="en-US" altLang="zh-CN" sz="4400" dirty="0"/>
              <a:t>C</a:t>
            </a:r>
            <a:r>
              <a:rPr lang="zh-CN" altLang="zh-CN" sz="4400" dirty="0"/>
              <a:t>类—</a:t>
            </a:r>
            <a:r>
              <a:rPr lang="en-US" altLang="zh-CN" sz="4400" dirty="0"/>
              <a:t>255.255.255.0</a:t>
            </a:r>
            <a:endParaRPr lang="zh-CN" altLang="en-US" sz="4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0562642D-37E6-C22D-6347-D089C43EC02A}"/>
              </a:ext>
            </a:extLst>
          </p:cNvPr>
          <p:cNvSpPr>
            <a:spLocks noGrp="1" noChangeArrowheads="1"/>
          </p:cNvSpPr>
          <p:nvPr>
            <p:ph type="title"/>
          </p:nvPr>
        </p:nvSpPr>
        <p:spPr/>
        <p:txBody>
          <a:bodyPr/>
          <a:lstStyle/>
          <a:p>
            <a:r>
              <a:rPr lang="en-US" altLang="zh-CN"/>
              <a:t>9.1.2  </a:t>
            </a:r>
            <a:r>
              <a:rPr lang="zh-CN" altLang="zh-CN"/>
              <a:t>端口及服务</a:t>
            </a:r>
            <a:endParaRPr lang="zh-CN" altLang="en-US"/>
          </a:p>
        </p:txBody>
      </p:sp>
      <p:sp>
        <p:nvSpPr>
          <p:cNvPr id="1048596" name="内容占位符 2">
            <a:extLst>
              <a:ext uri="{FF2B5EF4-FFF2-40B4-BE49-F238E27FC236}">
                <a16:creationId xmlns:a16="http://schemas.microsoft.com/office/drawing/2014/main" id="{95CA4EFD-6EC7-F62C-C0D9-494369370FEA}"/>
              </a:ext>
            </a:extLst>
          </p:cNvPr>
          <p:cNvSpPr>
            <a:spLocks noGrp="1"/>
          </p:cNvSpPr>
          <p:nvPr>
            <p:ph idx="1"/>
          </p:nvPr>
        </p:nvSpPr>
        <p:spPr>
          <a:xfrm>
            <a:off x="7938" y="549275"/>
            <a:ext cx="9136062" cy="5759450"/>
          </a:xfrm>
        </p:spPr>
        <p:txBody>
          <a:bodyPr/>
          <a:lstStyle/>
          <a:p>
            <a:pPr>
              <a:spcBef>
                <a:spcPts val="0"/>
              </a:spcBef>
              <a:spcAft>
                <a:spcPts val="0"/>
              </a:spcAft>
              <a:defRPr/>
            </a:pPr>
            <a:r>
              <a:rPr lang="en-US" altLang="zh-CN" sz="4000" dirty="0"/>
              <a:t>1</a:t>
            </a:r>
            <a:r>
              <a:rPr lang="zh-CN" altLang="zh-CN" sz="4000" dirty="0"/>
              <a:t>．端口</a:t>
            </a:r>
            <a:endParaRPr lang="en-US" altLang="zh-CN" sz="4000" dirty="0"/>
          </a:p>
          <a:p>
            <a:pPr marL="0" indent="0" fontAlgn="ctr">
              <a:spcBef>
                <a:spcPts val="0"/>
              </a:spcBef>
              <a:spcAft>
                <a:spcPts val="0"/>
              </a:spcAft>
              <a:buFont typeface="Arial" panose="020B0604020202020204" pitchFamily="34" charset="0"/>
              <a:buNone/>
              <a:defRPr/>
            </a:pPr>
            <a:r>
              <a:rPr lang="zh-CN" altLang="zh-CN" sz="4000" dirty="0"/>
              <a:t>一个</a:t>
            </a:r>
            <a:r>
              <a:rPr lang="zh-CN" altLang="zh-CN" sz="4000" dirty="0">
                <a:solidFill>
                  <a:srgbClr val="FF0000"/>
                </a:solidFill>
              </a:rPr>
              <a:t>进程和另一个进程</a:t>
            </a:r>
            <a:r>
              <a:rPr lang="zh-CN" altLang="zh-CN" sz="4000" dirty="0"/>
              <a:t>进行</a:t>
            </a:r>
            <a:r>
              <a:rPr lang="zh-CN" altLang="zh-CN" sz="4000" dirty="0">
                <a:solidFill>
                  <a:srgbClr val="FF0000"/>
                </a:solidFill>
              </a:rPr>
              <a:t>通信</a:t>
            </a:r>
            <a:r>
              <a:rPr lang="zh-CN" altLang="zh-CN" sz="4000" dirty="0"/>
              <a:t>时，需要以某种方式</a:t>
            </a:r>
            <a:r>
              <a:rPr lang="zh-CN" altLang="zh-CN" sz="4000" dirty="0">
                <a:solidFill>
                  <a:srgbClr val="FF0000"/>
                </a:solidFill>
              </a:rPr>
              <a:t>标识自己</a:t>
            </a:r>
            <a:r>
              <a:rPr lang="zh-CN" altLang="zh-CN" sz="4000" dirty="0"/>
              <a:t>。对此，</a:t>
            </a:r>
            <a:r>
              <a:rPr lang="en-US" altLang="zh-CN" sz="4000" dirty="0"/>
              <a:t>TCP/IP</a:t>
            </a:r>
            <a:r>
              <a:rPr lang="zh-CN" altLang="zh-CN" sz="4000" dirty="0"/>
              <a:t>用一个被称作</a:t>
            </a:r>
            <a:r>
              <a:rPr lang="zh-CN" altLang="zh-CN" sz="4000" dirty="0">
                <a:solidFill>
                  <a:srgbClr val="FF0000"/>
                </a:solidFill>
              </a:rPr>
              <a:t>端口（</a:t>
            </a:r>
            <a:r>
              <a:rPr lang="en-US" altLang="zh-CN" sz="4000" dirty="0">
                <a:solidFill>
                  <a:srgbClr val="FF0000"/>
                </a:solidFill>
              </a:rPr>
              <a:t>Port</a:t>
            </a:r>
            <a:r>
              <a:rPr lang="zh-CN" altLang="zh-CN" sz="4000" dirty="0">
                <a:solidFill>
                  <a:srgbClr val="FF0000"/>
                </a:solidFill>
              </a:rPr>
              <a:t>）</a:t>
            </a:r>
            <a:r>
              <a:rPr lang="zh-CN" altLang="zh-CN" sz="4000" dirty="0"/>
              <a:t>的</a:t>
            </a:r>
            <a:r>
              <a:rPr lang="zh-CN" altLang="zh-CN" sz="4000" dirty="0">
                <a:solidFill>
                  <a:srgbClr val="FF0000"/>
                </a:solidFill>
              </a:rPr>
              <a:t>逻辑结构</a:t>
            </a:r>
            <a:r>
              <a:rPr lang="zh-CN" altLang="zh-CN" sz="4000" dirty="0"/>
              <a:t>来实现。</a:t>
            </a:r>
          </a:p>
          <a:p>
            <a:pPr marL="0" indent="0">
              <a:spcBef>
                <a:spcPts val="0"/>
              </a:spcBef>
              <a:spcAft>
                <a:spcPts val="0"/>
              </a:spcAft>
              <a:buFont typeface="Arial" panose="020B0604020202020204" pitchFamily="34" charset="0"/>
              <a:buNone/>
              <a:defRPr/>
            </a:pPr>
            <a:r>
              <a:rPr lang="zh-CN" altLang="zh-CN" sz="4000" dirty="0"/>
              <a:t>一个</a:t>
            </a:r>
            <a:r>
              <a:rPr lang="zh-CN" altLang="zh-CN" sz="4000" dirty="0">
                <a:solidFill>
                  <a:srgbClr val="FF0000"/>
                </a:solidFill>
              </a:rPr>
              <a:t>端口号</a:t>
            </a:r>
            <a:r>
              <a:rPr lang="zh-CN" altLang="zh-CN" sz="4000" dirty="0"/>
              <a:t>是一个</a:t>
            </a:r>
            <a:r>
              <a:rPr lang="en-US" altLang="zh-CN" sz="4000" dirty="0">
                <a:solidFill>
                  <a:srgbClr val="FF0000"/>
                </a:solidFill>
              </a:rPr>
              <a:t>16</a:t>
            </a:r>
            <a:r>
              <a:rPr lang="zh-CN" altLang="zh-CN" sz="4000" dirty="0">
                <a:solidFill>
                  <a:srgbClr val="FF0000"/>
                </a:solidFill>
              </a:rPr>
              <a:t>位</a:t>
            </a:r>
            <a:r>
              <a:rPr lang="zh-CN" altLang="zh-CN" sz="4000" dirty="0"/>
              <a:t>的数字，它</a:t>
            </a:r>
            <a:r>
              <a:rPr lang="zh-CN" altLang="zh-CN" sz="4000" dirty="0">
                <a:solidFill>
                  <a:srgbClr val="FF0000"/>
                </a:solidFill>
              </a:rPr>
              <a:t>唯一地标识</a:t>
            </a:r>
            <a:r>
              <a:rPr lang="zh-CN" altLang="zh-CN" sz="4000" dirty="0"/>
              <a:t>一个</a:t>
            </a:r>
            <a:r>
              <a:rPr lang="zh-CN" altLang="zh-CN" sz="4000" dirty="0">
                <a:solidFill>
                  <a:srgbClr val="FF0000"/>
                </a:solidFill>
              </a:rPr>
              <a:t>进程</a:t>
            </a:r>
            <a:r>
              <a:rPr lang="zh-CN" altLang="zh-CN" sz="4000" dirty="0"/>
              <a:t>。每个</a:t>
            </a:r>
            <a:r>
              <a:rPr lang="en-US" altLang="zh-CN" sz="4000" dirty="0">
                <a:solidFill>
                  <a:srgbClr val="FF0000"/>
                </a:solidFill>
              </a:rPr>
              <a:t>TCP</a:t>
            </a:r>
            <a:r>
              <a:rPr lang="zh-CN" altLang="zh-CN" sz="4000" dirty="0">
                <a:solidFill>
                  <a:srgbClr val="FF0000"/>
                </a:solidFill>
              </a:rPr>
              <a:t>或</a:t>
            </a:r>
            <a:r>
              <a:rPr lang="en-US" altLang="zh-CN" sz="4000" dirty="0">
                <a:solidFill>
                  <a:srgbClr val="FF0000"/>
                </a:solidFill>
              </a:rPr>
              <a:t>UDP</a:t>
            </a:r>
            <a:r>
              <a:rPr lang="zh-CN" altLang="zh-CN" sz="4000" dirty="0">
                <a:solidFill>
                  <a:srgbClr val="FF0000"/>
                </a:solidFill>
              </a:rPr>
              <a:t>分组</a:t>
            </a:r>
            <a:r>
              <a:rPr lang="zh-CN" altLang="zh-CN" sz="4000" dirty="0"/>
              <a:t>头都包含</a:t>
            </a:r>
            <a:r>
              <a:rPr lang="zh-CN" altLang="zh-CN" sz="4000" dirty="0">
                <a:solidFill>
                  <a:srgbClr val="FF0000"/>
                </a:solidFill>
              </a:rPr>
              <a:t>源</a:t>
            </a:r>
            <a:r>
              <a:rPr lang="zh-CN" altLang="zh-CN" sz="4000" dirty="0"/>
              <a:t>和</a:t>
            </a:r>
            <a:r>
              <a:rPr lang="zh-CN" altLang="zh-CN" sz="4000" dirty="0">
                <a:solidFill>
                  <a:srgbClr val="FF0000"/>
                </a:solidFill>
              </a:rPr>
              <a:t>目的端口</a:t>
            </a:r>
            <a:r>
              <a:rPr lang="zh-CN" altLang="zh-CN" sz="4000" dirty="0"/>
              <a:t>号。</a:t>
            </a:r>
            <a:endParaRPr lang="zh-CN" alt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44638B3E-40D1-A7DC-BC07-F3C16127114D}"/>
              </a:ext>
            </a:extLst>
          </p:cNvPr>
          <p:cNvSpPr>
            <a:spLocks noGrp="1" noChangeArrowheads="1"/>
          </p:cNvSpPr>
          <p:nvPr>
            <p:ph type="title"/>
          </p:nvPr>
        </p:nvSpPr>
        <p:spPr/>
        <p:txBody>
          <a:bodyPr/>
          <a:lstStyle/>
          <a:p>
            <a:r>
              <a:rPr lang="en-US" altLang="zh-CN"/>
              <a:t>9.1.2  </a:t>
            </a:r>
            <a:r>
              <a:rPr lang="zh-CN" altLang="zh-CN"/>
              <a:t>端口及服务</a:t>
            </a:r>
            <a:endParaRPr lang="zh-CN" altLang="en-US"/>
          </a:p>
        </p:txBody>
      </p:sp>
      <p:sp>
        <p:nvSpPr>
          <p:cNvPr id="1048598" name="内容占位符 2">
            <a:extLst>
              <a:ext uri="{FF2B5EF4-FFF2-40B4-BE49-F238E27FC236}">
                <a16:creationId xmlns:a16="http://schemas.microsoft.com/office/drawing/2014/main" id="{849FC7D5-2F92-35B9-44AF-34604882968A}"/>
              </a:ext>
            </a:extLst>
          </p:cNvPr>
          <p:cNvSpPr>
            <a:spLocks noGrp="1"/>
          </p:cNvSpPr>
          <p:nvPr>
            <p:ph idx="1"/>
          </p:nvPr>
        </p:nvSpPr>
        <p:spPr>
          <a:xfrm>
            <a:off x="20638" y="549275"/>
            <a:ext cx="9123362" cy="5832475"/>
          </a:xfrm>
        </p:spPr>
        <p:txBody>
          <a:bodyPr/>
          <a:lstStyle/>
          <a:p>
            <a:pPr>
              <a:spcBef>
                <a:spcPts val="0"/>
              </a:spcBef>
              <a:spcAft>
                <a:spcPts val="0"/>
              </a:spcAft>
              <a:defRPr/>
            </a:pPr>
            <a:r>
              <a:rPr lang="en-US" altLang="zh-CN" sz="4400" dirty="0"/>
              <a:t>2</a:t>
            </a:r>
            <a:r>
              <a:rPr lang="zh-CN" altLang="zh-CN" sz="4400" dirty="0"/>
              <a:t>．服务</a:t>
            </a:r>
            <a:endParaRPr lang="en-US" altLang="zh-CN" sz="4400" dirty="0"/>
          </a:p>
          <a:p>
            <a:pPr marL="0" indent="0">
              <a:spcBef>
                <a:spcPts val="0"/>
              </a:spcBef>
              <a:spcAft>
                <a:spcPts val="0"/>
              </a:spcAft>
              <a:buFont typeface="Arial" panose="020B0604020202020204" pitchFamily="34" charset="0"/>
              <a:buNone/>
              <a:defRPr/>
            </a:pPr>
            <a:r>
              <a:rPr lang="zh-CN" altLang="zh-CN" sz="4400" dirty="0">
                <a:solidFill>
                  <a:srgbClr val="FF0000"/>
                </a:solidFill>
              </a:rPr>
              <a:t>服务</a:t>
            </a:r>
            <a:r>
              <a:rPr lang="zh-CN" altLang="zh-CN" sz="4400" dirty="0"/>
              <a:t>是</a:t>
            </a:r>
            <a:r>
              <a:rPr lang="zh-CN" altLang="zh-CN" sz="4400" dirty="0">
                <a:solidFill>
                  <a:srgbClr val="FF0000"/>
                </a:solidFill>
              </a:rPr>
              <a:t>协议和端口</a:t>
            </a:r>
            <a:r>
              <a:rPr lang="zh-CN" altLang="zh-CN" sz="4400" dirty="0"/>
              <a:t>的</a:t>
            </a:r>
            <a:r>
              <a:rPr lang="zh-CN" altLang="zh-CN" sz="4400" dirty="0">
                <a:solidFill>
                  <a:srgbClr val="FF0000"/>
                </a:solidFill>
              </a:rPr>
              <a:t>组合</a:t>
            </a:r>
            <a:r>
              <a:rPr lang="zh-CN" altLang="zh-CN" sz="4400" dirty="0"/>
              <a:t>。</a:t>
            </a:r>
            <a:r>
              <a:rPr lang="en-US" altLang="zh-CN" sz="4400" dirty="0"/>
              <a:t>Linux</a:t>
            </a:r>
            <a:r>
              <a:rPr lang="zh-CN" altLang="zh-CN" sz="4400" dirty="0"/>
              <a:t>作为一个网络操作系统最主要的功能就是</a:t>
            </a:r>
            <a:r>
              <a:rPr lang="zh-CN" altLang="zh-CN" sz="4400" dirty="0">
                <a:solidFill>
                  <a:srgbClr val="FF0000"/>
                </a:solidFill>
              </a:rPr>
              <a:t>提供</a:t>
            </a:r>
            <a:r>
              <a:rPr lang="zh-CN" altLang="zh-CN" sz="4400" dirty="0"/>
              <a:t>各种</a:t>
            </a:r>
            <a:r>
              <a:rPr lang="zh-CN" altLang="zh-CN" sz="4400" dirty="0">
                <a:solidFill>
                  <a:srgbClr val="FF0000"/>
                </a:solidFill>
              </a:rPr>
              <a:t>网络服务</a:t>
            </a:r>
            <a:r>
              <a:rPr lang="zh-CN" altLang="zh-CN" sz="4400" dirty="0"/>
              <a:t>。各种服务被定义在文件</a:t>
            </a:r>
            <a:r>
              <a:rPr lang="en-US" altLang="zh-CN" sz="4400" dirty="0">
                <a:solidFill>
                  <a:srgbClr val="FF0000"/>
                </a:solidFill>
              </a:rPr>
              <a:t>/</a:t>
            </a:r>
            <a:r>
              <a:rPr lang="en-US" altLang="zh-CN" sz="4400" dirty="0" err="1">
                <a:solidFill>
                  <a:srgbClr val="FF0000"/>
                </a:solidFill>
              </a:rPr>
              <a:t>etc</a:t>
            </a:r>
            <a:r>
              <a:rPr lang="en-US" altLang="zh-CN" sz="4400" dirty="0">
                <a:solidFill>
                  <a:srgbClr val="FF0000"/>
                </a:solidFill>
              </a:rPr>
              <a:t>/services</a:t>
            </a:r>
            <a:r>
              <a:rPr lang="zh-CN" altLang="zh-CN" sz="4400" dirty="0"/>
              <a:t>中，此文件规定了</a:t>
            </a:r>
            <a:r>
              <a:rPr lang="zh-CN" altLang="zh-CN" sz="4400" dirty="0">
                <a:solidFill>
                  <a:srgbClr val="FF0000"/>
                </a:solidFill>
              </a:rPr>
              <a:t>服务和端口</a:t>
            </a:r>
            <a:r>
              <a:rPr lang="zh-CN" altLang="zh-CN" sz="4400" dirty="0"/>
              <a:t>与</a:t>
            </a:r>
            <a:r>
              <a:rPr lang="zh-CN" altLang="zh-CN" sz="4400" dirty="0">
                <a:solidFill>
                  <a:srgbClr val="FF0000"/>
                </a:solidFill>
              </a:rPr>
              <a:t>通信协议</a:t>
            </a:r>
            <a:r>
              <a:rPr lang="zh-CN" altLang="zh-CN" sz="4400" dirty="0"/>
              <a:t>的对应关系。</a:t>
            </a:r>
            <a:endParaRPr lang="zh-CN" altLang="en-US" sz="4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标题 1">
            <a:extLst>
              <a:ext uri="{FF2B5EF4-FFF2-40B4-BE49-F238E27FC236}">
                <a16:creationId xmlns:a16="http://schemas.microsoft.com/office/drawing/2014/main" id="{B245E15D-48D5-3F69-7DA7-697F89D390BF}"/>
              </a:ext>
            </a:extLst>
          </p:cNvPr>
          <p:cNvSpPr>
            <a:spLocks noGrp="1" noChangeArrowheads="1"/>
          </p:cNvSpPr>
          <p:nvPr>
            <p:ph type="title"/>
          </p:nvPr>
        </p:nvSpPr>
        <p:spPr/>
        <p:txBody>
          <a:bodyPr/>
          <a:lstStyle/>
          <a:p>
            <a:r>
              <a:rPr lang="en-US" altLang="zh-CN"/>
              <a:t>9.1.3  </a:t>
            </a:r>
            <a:r>
              <a:rPr lang="zh-CN" altLang="zh-CN"/>
              <a:t>物理地址与逻辑地址</a:t>
            </a:r>
            <a:endParaRPr lang="zh-CN" altLang="en-US"/>
          </a:p>
        </p:txBody>
      </p:sp>
      <p:sp>
        <p:nvSpPr>
          <p:cNvPr id="1048600" name="内容占位符 2">
            <a:extLst>
              <a:ext uri="{FF2B5EF4-FFF2-40B4-BE49-F238E27FC236}">
                <a16:creationId xmlns:a16="http://schemas.microsoft.com/office/drawing/2014/main" id="{0B2EECAD-3072-754D-BCB6-7DC1A47FD9BA}"/>
              </a:ext>
            </a:extLst>
          </p:cNvPr>
          <p:cNvSpPr>
            <a:spLocks noGrp="1"/>
          </p:cNvSpPr>
          <p:nvPr>
            <p:ph idx="1"/>
          </p:nvPr>
        </p:nvSpPr>
        <p:spPr>
          <a:xfrm>
            <a:off x="34925" y="549275"/>
            <a:ext cx="9074150" cy="5759450"/>
          </a:xfrm>
        </p:spPr>
        <p:txBody>
          <a:bodyPr/>
          <a:lstStyle/>
          <a:p>
            <a:pPr>
              <a:spcBef>
                <a:spcPts val="0"/>
              </a:spcBef>
              <a:spcAft>
                <a:spcPts val="0"/>
              </a:spcAft>
              <a:defRPr/>
            </a:pPr>
            <a:r>
              <a:rPr lang="en-US" altLang="zh-CN" sz="4400" dirty="0"/>
              <a:t>1</a:t>
            </a:r>
            <a:r>
              <a:rPr lang="zh-CN" altLang="zh-CN" sz="4400" dirty="0"/>
              <a:t>．物理地址</a:t>
            </a:r>
            <a:endParaRPr lang="en-US" altLang="zh-CN" sz="4400" dirty="0"/>
          </a:p>
          <a:p>
            <a:pPr marL="0" indent="0">
              <a:spcBef>
                <a:spcPts val="0"/>
              </a:spcBef>
              <a:spcAft>
                <a:spcPts val="0"/>
              </a:spcAft>
              <a:buFont typeface="Arial" panose="020B0604020202020204" pitchFamily="34" charset="0"/>
              <a:buNone/>
              <a:defRPr/>
            </a:pPr>
            <a:r>
              <a:rPr lang="zh-CN" altLang="zh-CN" sz="4400" dirty="0">
                <a:solidFill>
                  <a:srgbClr val="FF0000"/>
                </a:solidFill>
              </a:rPr>
              <a:t>物理地址</a:t>
            </a:r>
            <a:r>
              <a:rPr lang="zh-CN" altLang="zh-CN" sz="4400" dirty="0"/>
              <a:t>（</a:t>
            </a:r>
            <a:r>
              <a:rPr lang="en-US" altLang="zh-CN" sz="4400" dirty="0">
                <a:solidFill>
                  <a:srgbClr val="FF0000"/>
                </a:solidFill>
              </a:rPr>
              <a:t>MAC</a:t>
            </a:r>
            <a:r>
              <a:rPr lang="zh-CN" altLang="zh-CN" sz="4400" dirty="0"/>
              <a:t>地址）一般位于</a:t>
            </a:r>
            <a:r>
              <a:rPr lang="zh-CN" altLang="zh-CN" sz="4400" dirty="0">
                <a:solidFill>
                  <a:srgbClr val="FF0000"/>
                </a:solidFill>
              </a:rPr>
              <a:t>网卡中</a:t>
            </a:r>
            <a:r>
              <a:rPr lang="zh-CN" altLang="zh-CN" sz="4400" dirty="0"/>
              <a:t>，一个网卡具有全球唯一的</a:t>
            </a:r>
            <a:r>
              <a:rPr lang="en-US" altLang="zh-CN" sz="4400" dirty="0"/>
              <a:t>MAC</a:t>
            </a:r>
            <a:r>
              <a:rPr lang="zh-CN" altLang="zh-CN" sz="4400" dirty="0"/>
              <a:t>地址，用于标识网络设备，控制对网络介质的访问。例如，网络设备要访问传输电缆（网线，位于物理层），必须具备一个</a:t>
            </a:r>
            <a:r>
              <a:rPr lang="en-US" altLang="zh-CN" sz="4400" dirty="0"/>
              <a:t>MAC</a:t>
            </a:r>
            <a:r>
              <a:rPr lang="zh-CN" altLang="zh-CN" sz="4400" dirty="0"/>
              <a:t>地址，发送的数据要到达目的地，必须知道目的地的</a:t>
            </a:r>
            <a:r>
              <a:rPr lang="en-US" altLang="zh-CN" sz="4400" dirty="0"/>
              <a:t>MAC</a:t>
            </a:r>
            <a:r>
              <a:rPr lang="zh-CN" altLang="zh-CN" sz="4400" dirty="0"/>
              <a:t>地址。</a:t>
            </a:r>
            <a:endParaRPr lang="zh-CN" altLang="en-US" sz="4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标题 1">
            <a:extLst>
              <a:ext uri="{FF2B5EF4-FFF2-40B4-BE49-F238E27FC236}">
                <a16:creationId xmlns:a16="http://schemas.microsoft.com/office/drawing/2014/main" id="{BBBBE04A-B5D5-B5F1-983D-38FA339A1C58}"/>
              </a:ext>
            </a:extLst>
          </p:cNvPr>
          <p:cNvSpPr>
            <a:spLocks noGrp="1" noChangeArrowheads="1"/>
          </p:cNvSpPr>
          <p:nvPr>
            <p:ph type="title"/>
          </p:nvPr>
        </p:nvSpPr>
        <p:spPr/>
        <p:txBody>
          <a:bodyPr/>
          <a:lstStyle/>
          <a:p>
            <a:r>
              <a:rPr lang="en-US" altLang="zh-CN"/>
              <a:t>9.1.3  </a:t>
            </a:r>
            <a:r>
              <a:rPr lang="zh-CN" altLang="zh-CN"/>
              <a:t>物理地址与逻辑地址</a:t>
            </a:r>
            <a:endParaRPr lang="zh-CN" altLang="en-US"/>
          </a:p>
        </p:txBody>
      </p:sp>
      <p:sp>
        <p:nvSpPr>
          <p:cNvPr id="1048602" name="内容占位符 2">
            <a:extLst>
              <a:ext uri="{FF2B5EF4-FFF2-40B4-BE49-F238E27FC236}">
                <a16:creationId xmlns:a16="http://schemas.microsoft.com/office/drawing/2014/main" id="{BB4C3C98-DE50-E65D-8374-9F5CD2F98BB5}"/>
              </a:ext>
            </a:extLst>
          </p:cNvPr>
          <p:cNvSpPr>
            <a:spLocks noGrp="1"/>
          </p:cNvSpPr>
          <p:nvPr>
            <p:ph idx="1"/>
          </p:nvPr>
        </p:nvSpPr>
        <p:spPr>
          <a:xfrm>
            <a:off x="107950" y="620713"/>
            <a:ext cx="9001125" cy="5688012"/>
          </a:xfrm>
        </p:spPr>
        <p:txBody>
          <a:bodyPr/>
          <a:lstStyle/>
          <a:p>
            <a:pPr>
              <a:spcBef>
                <a:spcPts val="0"/>
              </a:spcBef>
              <a:spcAft>
                <a:spcPts val="0"/>
              </a:spcAft>
              <a:defRPr/>
            </a:pPr>
            <a:r>
              <a:rPr lang="en-US" altLang="zh-CN" sz="4800" dirty="0"/>
              <a:t>2</a:t>
            </a:r>
            <a:r>
              <a:rPr lang="zh-CN" altLang="zh-CN" sz="4800" dirty="0"/>
              <a:t>．逻辑地址</a:t>
            </a:r>
            <a:endParaRPr lang="en-US" altLang="zh-CN" sz="4800" dirty="0"/>
          </a:p>
          <a:p>
            <a:pPr marL="0" indent="0">
              <a:spcBef>
                <a:spcPts val="0"/>
              </a:spcBef>
              <a:spcAft>
                <a:spcPts val="0"/>
              </a:spcAft>
              <a:buFont typeface="Arial" panose="020B0604020202020204" pitchFamily="34" charset="0"/>
              <a:buNone/>
              <a:defRPr/>
            </a:pPr>
            <a:r>
              <a:rPr lang="zh-CN" altLang="zh-CN" sz="4800" dirty="0">
                <a:solidFill>
                  <a:srgbClr val="FF0000"/>
                </a:solidFill>
              </a:rPr>
              <a:t>逻辑地址</a:t>
            </a:r>
            <a:r>
              <a:rPr lang="zh-CN" altLang="zh-CN" sz="4800" dirty="0"/>
              <a:t>（</a:t>
            </a:r>
            <a:r>
              <a:rPr lang="zh-CN" altLang="zh-CN" sz="4800" dirty="0">
                <a:solidFill>
                  <a:srgbClr val="FF0000"/>
                </a:solidFill>
              </a:rPr>
              <a:t>网络地址</a:t>
            </a:r>
            <a:r>
              <a:rPr lang="zh-CN" altLang="zh-CN" sz="4800" dirty="0"/>
              <a:t>）即</a:t>
            </a:r>
            <a:r>
              <a:rPr lang="en-US" altLang="zh-CN" sz="4800" dirty="0">
                <a:solidFill>
                  <a:srgbClr val="FF0000"/>
                </a:solidFill>
              </a:rPr>
              <a:t>IP</a:t>
            </a:r>
            <a:r>
              <a:rPr lang="zh-CN" altLang="zh-CN" sz="4800" dirty="0">
                <a:solidFill>
                  <a:srgbClr val="FF0000"/>
                </a:solidFill>
              </a:rPr>
              <a:t>地址</a:t>
            </a:r>
            <a:r>
              <a:rPr lang="zh-CN" altLang="zh-CN" sz="4800" dirty="0"/>
              <a:t>或网络地址。</a:t>
            </a:r>
            <a:r>
              <a:rPr lang="en-US" altLang="zh-CN" sz="4800" dirty="0">
                <a:solidFill>
                  <a:srgbClr val="FF0000"/>
                </a:solidFill>
              </a:rPr>
              <a:t>IPv4</a:t>
            </a:r>
            <a:r>
              <a:rPr lang="zh-CN" altLang="zh-CN" sz="4800" dirty="0"/>
              <a:t>使用</a:t>
            </a:r>
            <a:r>
              <a:rPr lang="en-US" altLang="zh-CN" sz="4800" dirty="0">
                <a:solidFill>
                  <a:srgbClr val="FF0000"/>
                </a:solidFill>
              </a:rPr>
              <a:t>32</a:t>
            </a:r>
            <a:r>
              <a:rPr lang="zh-CN" altLang="zh-CN" sz="4800" dirty="0">
                <a:solidFill>
                  <a:srgbClr val="FF0000"/>
                </a:solidFill>
              </a:rPr>
              <a:t>位</a:t>
            </a:r>
            <a:r>
              <a:rPr lang="zh-CN" altLang="zh-CN" sz="4800" dirty="0"/>
              <a:t>二进制来表示网络地址，称为</a:t>
            </a:r>
            <a:r>
              <a:rPr lang="en-US" altLang="zh-CN" sz="4800" dirty="0"/>
              <a:t>IP</a:t>
            </a:r>
            <a:r>
              <a:rPr lang="zh-CN" altLang="zh-CN" sz="4800" dirty="0"/>
              <a:t>地址或逻辑地址。逻辑地址用于网络层上对目的主机的寻址。</a:t>
            </a:r>
            <a:endParaRPr lang="zh-CN" altLang="en-US" sz="4800" dirty="0"/>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B4D472B2-B13C-C69D-1655-F3BBC7DDB748}"/>
              </a:ext>
            </a:extLst>
          </p:cNvPr>
          <p:cNvSpPr>
            <a:spLocks noGrp="1" noChangeArrowheads="1"/>
          </p:cNvSpPr>
          <p:nvPr>
            <p:ph type="title"/>
          </p:nvPr>
        </p:nvSpPr>
        <p:spPr/>
        <p:txBody>
          <a:bodyPr/>
          <a:lstStyle/>
          <a:p>
            <a:r>
              <a:rPr lang="en-US" altLang="zh-CN"/>
              <a:t>9.1.4  </a:t>
            </a:r>
            <a:r>
              <a:rPr lang="zh-CN" altLang="zh-CN"/>
              <a:t>主机名及设置</a:t>
            </a:r>
            <a:endParaRPr lang="zh-CN" altLang="en-US"/>
          </a:p>
        </p:txBody>
      </p:sp>
      <p:sp>
        <p:nvSpPr>
          <p:cNvPr id="1048604" name="内容占位符 2">
            <a:extLst>
              <a:ext uri="{FF2B5EF4-FFF2-40B4-BE49-F238E27FC236}">
                <a16:creationId xmlns:a16="http://schemas.microsoft.com/office/drawing/2014/main" id="{52BACFCE-219A-01A3-9E29-319CC61F07AD}"/>
              </a:ext>
            </a:extLst>
          </p:cNvPr>
          <p:cNvSpPr>
            <a:spLocks noGrp="1"/>
          </p:cNvSpPr>
          <p:nvPr>
            <p:ph idx="1"/>
          </p:nvPr>
        </p:nvSpPr>
        <p:spPr>
          <a:xfrm>
            <a:off x="0" y="620713"/>
            <a:ext cx="9144000" cy="5832475"/>
          </a:xfrm>
        </p:spPr>
        <p:txBody>
          <a:bodyPr/>
          <a:lstStyle/>
          <a:p>
            <a:pPr>
              <a:spcBef>
                <a:spcPts val="0"/>
              </a:spcBef>
              <a:spcAft>
                <a:spcPts val="0"/>
              </a:spcAft>
              <a:defRPr/>
            </a:pPr>
            <a:r>
              <a:rPr lang="en-US" altLang="zh-CN" sz="4400" dirty="0"/>
              <a:t>1</a:t>
            </a:r>
            <a:r>
              <a:rPr lang="zh-CN" altLang="zh-CN" sz="4400" dirty="0"/>
              <a:t>．</a:t>
            </a:r>
            <a:r>
              <a:rPr lang="en-US" altLang="zh-CN" sz="4400" dirty="0"/>
              <a:t>hostname</a:t>
            </a:r>
            <a:endParaRPr lang="zh-CN" altLang="zh-CN" sz="4400" dirty="0"/>
          </a:p>
          <a:p>
            <a:pPr marL="0" indent="0" fontAlgn="ctr">
              <a:spcBef>
                <a:spcPts val="0"/>
              </a:spcBef>
              <a:spcAft>
                <a:spcPts val="0"/>
              </a:spcAft>
              <a:buFont typeface="Arial" panose="020B0604020202020204" pitchFamily="34" charset="0"/>
              <a:buNone/>
              <a:defRPr/>
            </a:pPr>
            <a:r>
              <a:rPr lang="en-US" altLang="zh-CN" sz="4400" dirty="0">
                <a:solidFill>
                  <a:srgbClr val="FF0000"/>
                </a:solidFill>
              </a:rPr>
              <a:t>hostname</a:t>
            </a:r>
            <a:r>
              <a:rPr lang="zh-CN" altLang="zh-CN" sz="4400" dirty="0"/>
              <a:t>功能是</a:t>
            </a:r>
            <a:r>
              <a:rPr lang="zh-CN" altLang="zh-CN" sz="4400" dirty="0">
                <a:solidFill>
                  <a:srgbClr val="FF0000"/>
                </a:solidFill>
              </a:rPr>
              <a:t>显示和临时设置</a:t>
            </a:r>
            <a:r>
              <a:rPr lang="zh-CN" altLang="zh-CN" sz="4400" dirty="0"/>
              <a:t>主机名，其语法为：</a:t>
            </a:r>
            <a:r>
              <a:rPr lang="en-US" altLang="zh-CN" sz="4400" dirty="0"/>
              <a:t> </a:t>
            </a:r>
            <a:endParaRPr lang="zh-CN" altLang="zh-CN" sz="4400" dirty="0"/>
          </a:p>
          <a:p>
            <a:pPr marL="0" indent="0">
              <a:spcBef>
                <a:spcPts val="0"/>
              </a:spcBef>
              <a:spcAft>
                <a:spcPts val="0"/>
              </a:spcAft>
              <a:buFont typeface="Arial" panose="020B0604020202020204" pitchFamily="34" charset="0"/>
              <a:buNone/>
              <a:defRPr/>
            </a:pPr>
            <a:r>
              <a:rPr lang="en-US" altLang="zh-CN" sz="4400" dirty="0"/>
              <a:t>hostname </a:t>
            </a:r>
            <a:r>
              <a:rPr lang="en-US" altLang="zh-CN" sz="4400" u="sng" dirty="0">
                <a:solidFill>
                  <a:srgbClr val="00B050"/>
                </a:solidFill>
              </a:rPr>
              <a:t>[-v]</a:t>
            </a:r>
            <a:r>
              <a:rPr lang="en-US" altLang="zh-CN" sz="4400" dirty="0"/>
              <a:t> {name|-F file}		#</a:t>
            </a:r>
            <a:r>
              <a:rPr lang="zh-CN" altLang="zh-CN" sz="4400" dirty="0"/>
              <a:t>（从文件</a:t>
            </a:r>
            <a:r>
              <a:rPr lang="en-US" altLang="zh-CN" sz="4400" dirty="0"/>
              <a:t>file</a:t>
            </a:r>
            <a:r>
              <a:rPr lang="zh-CN" altLang="zh-CN" sz="4400" dirty="0"/>
              <a:t>中）设置主机名</a:t>
            </a:r>
          </a:p>
          <a:p>
            <a:pPr marL="0" indent="0">
              <a:spcBef>
                <a:spcPts val="0"/>
              </a:spcBef>
              <a:spcAft>
                <a:spcPts val="0"/>
              </a:spcAft>
              <a:buFont typeface="Arial" panose="020B0604020202020204" pitchFamily="34" charset="0"/>
              <a:buNone/>
              <a:defRPr/>
            </a:pPr>
            <a:r>
              <a:rPr lang="en-US" altLang="zh-CN" sz="4400" dirty="0"/>
              <a:t>hostname </a:t>
            </a:r>
            <a:r>
              <a:rPr lang="en-US" altLang="zh-CN" sz="4400" dirty="0">
                <a:solidFill>
                  <a:srgbClr val="00B050"/>
                </a:solidFill>
              </a:rPr>
              <a:t>[-v]</a:t>
            </a:r>
            <a:r>
              <a:rPr lang="en-US" altLang="zh-CN" sz="4400" dirty="0"/>
              <a:t> [-d|-f|-s|-a|-</a:t>
            </a:r>
            <a:r>
              <a:rPr lang="en-US" altLang="zh-CN" sz="4400" dirty="0" err="1"/>
              <a:t>i</a:t>
            </a:r>
            <a:r>
              <a:rPr lang="en-US" altLang="zh-CN" sz="4400" dirty="0"/>
              <a:t>|-y|-n]	#</a:t>
            </a:r>
            <a:r>
              <a:rPr lang="zh-CN" altLang="zh-CN" sz="4400" dirty="0"/>
              <a:t>按指定格式显示</a:t>
            </a:r>
          </a:p>
          <a:p>
            <a:pPr marL="0" indent="0">
              <a:spcBef>
                <a:spcPts val="0"/>
              </a:spcBef>
              <a:spcAft>
                <a:spcPts val="0"/>
              </a:spcAft>
              <a:buFont typeface="Arial" panose="020B0604020202020204" pitchFamily="34" charset="0"/>
              <a:buNone/>
              <a:defRPr/>
            </a:pPr>
            <a:endParaRPr lang="zh-CN" altLang="en-US" sz="4400" dirty="0"/>
          </a:p>
        </p:txBody>
      </p:sp>
      <p:pic>
        <p:nvPicPr>
          <p:cNvPr id="3" name="图片 2">
            <a:extLst>
              <a:ext uri="{FF2B5EF4-FFF2-40B4-BE49-F238E27FC236}">
                <a16:creationId xmlns:a16="http://schemas.microsoft.com/office/drawing/2014/main" id="{19CACE2D-1A39-A68E-873E-C040C52DFF8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950" y="455613"/>
            <a:ext cx="9144000" cy="592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标题 1">
            <a:extLst>
              <a:ext uri="{FF2B5EF4-FFF2-40B4-BE49-F238E27FC236}">
                <a16:creationId xmlns:a16="http://schemas.microsoft.com/office/drawing/2014/main" id="{10F2DAE0-AEA1-D999-E61B-6F1C5BCFD261}"/>
              </a:ext>
            </a:extLst>
          </p:cNvPr>
          <p:cNvSpPr>
            <a:spLocks noGrp="1" noChangeArrowheads="1"/>
          </p:cNvSpPr>
          <p:nvPr>
            <p:ph type="title"/>
          </p:nvPr>
        </p:nvSpPr>
        <p:spPr/>
        <p:txBody>
          <a:bodyPr/>
          <a:lstStyle/>
          <a:p>
            <a:r>
              <a:rPr lang="en-US" altLang="zh-CN"/>
              <a:t>9.1.4  </a:t>
            </a:r>
            <a:r>
              <a:rPr lang="zh-CN" altLang="zh-CN"/>
              <a:t>主机名及设置</a:t>
            </a:r>
            <a:endParaRPr lang="zh-CN" altLang="en-US"/>
          </a:p>
        </p:txBody>
      </p:sp>
      <p:sp>
        <p:nvSpPr>
          <p:cNvPr id="1048606" name="内容占位符 2">
            <a:extLst>
              <a:ext uri="{FF2B5EF4-FFF2-40B4-BE49-F238E27FC236}">
                <a16:creationId xmlns:a16="http://schemas.microsoft.com/office/drawing/2014/main" id="{FF9A10E1-92EE-257A-41A7-D15C95348583}"/>
              </a:ext>
            </a:extLst>
          </p:cNvPr>
          <p:cNvSpPr>
            <a:spLocks noGrp="1"/>
          </p:cNvSpPr>
          <p:nvPr>
            <p:ph idx="1"/>
          </p:nvPr>
        </p:nvSpPr>
        <p:spPr>
          <a:xfrm>
            <a:off x="0" y="549275"/>
            <a:ext cx="9144000" cy="5903913"/>
          </a:xfrm>
        </p:spPr>
        <p:txBody>
          <a:bodyPr/>
          <a:lstStyle/>
          <a:p>
            <a:pPr marL="0" indent="0">
              <a:spcBef>
                <a:spcPts val="0"/>
              </a:spcBef>
              <a:spcAft>
                <a:spcPts val="0"/>
              </a:spcAft>
              <a:buFont typeface="Arial" panose="020B0604020202020204" pitchFamily="34" charset="0"/>
              <a:buNone/>
              <a:defRPr/>
            </a:pPr>
            <a:r>
              <a:rPr lang="en-US" altLang="zh-CN" sz="3600" dirty="0"/>
              <a:t>2</a:t>
            </a:r>
            <a:r>
              <a:rPr lang="zh-CN" altLang="zh-CN" sz="3600" dirty="0"/>
              <a:t>．</a:t>
            </a:r>
            <a:r>
              <a:rPr lang="en-US" altLang="zh-CN" sz="3600" dirty="0" err="1"/>
              <a:t>Hostnamectl</a:t>
            </a:r>
            <a:endParaRPr lang="en-US" altLang="zh-CN" sz="3600" dirty="0"/>
          </a:p>
          <a:p>
            <a:pPr marL="0" indent="0" fontAlgn="ctr">
              <a:spcBef>
                <a:spcPts val="0"/>
              </a:spcBef>
              <a:spcAft>
                <a:spcPts val="0"/>
              </a:spcAft>
              <a:buFont typeface="Arial" panose="020B0604020202020204" pitchFamily="34" charset="0"/>
              <a:buNone/>
              <a:defRPr/>
            </a:pPr>
            <a:r>
              <a:rPr lang="en-US" altLang="zh-CN" sz="3600" dirty="0" err="1">
                <a:solidFill>
                  <a:srgbClr val="FF0000"/>
                </a:solidFill>
              </a:rPr>
              <a:t>hostnamectl</a:t>
            </a:r>
            <a:r>
              <a:rPr lang="zh-CN" altLang="zh-CN" sz="3600" dirty="0"/>
              <a:t>用于</a:t>
            </a:r>
            <a:r>
              <a:rPr lang="zh-CN" altLang="zh-CN" sz="3600" dirty="0">
                <a:solidFill>
                  <a:srgbClr val="FF0000"/>
                </a:solidFill>
              </a:rPr>
              <a:t>查询和设置</a:t>
            </a:r>
            <a:r>
              <a:rPr lang="zh-CN" altLang="zh-CN" sz="3600" dirty="0"/>
              <a:t>主机名，其用法为：</a:t>
            </a:r>
          </a:p>
          <a:p>
            <a:pPr marL="0" indent="0">
              <a:spcBef>
                <a:spcPts val="0"/>
              </a:spcBef>
              <a:spcAft>
                <a:spcPts val="0"/>
              </a:spcAft>
              <a:buFont typeface="Arial" panose="020B0604020202020204" pitchFamily="34" charset="0"/>
              <a:buNone/>
              <a:defRPr/>
            </a:pPr>
            <a:r>
              <a:rPr lang="en-US" altLang="zh-CN" sz="3600" dirty="0" err="1"/>
              <a:t>hostnamectl</a:t>
            </a:r>
            <a:r>
              <a:rPr lang="en-US" altLang="zh-CN" sz="3600" dirty="0"/>
              <a:t> [options] {</a:t>
            </a:r>
            <a:r>
              <a:rPr lang="en-US" altLang="zh-CN" sz="3600" dirty="0" err="1"/>
              <a:t>cmd</a:t>
            </a:r>
            <a:r>
              <a:rPr lang="en-US" altLang="zh-CN" sz="3600" dirty="0"/>
              <a:t>}</a:t>
            </a:r>
          </a:p>
          <a:p>
            <a:pPr fontAlgn="ctr">
              <a:spcBef>
                <a:spcPts val="0"/>
              </a:spcBef>
              <a:spcAft>
                <a:spcPts val="0"/>
              </a:spcAft>
              <a:defRPr/>
            </a:pPr>
            <a:r>
              <a:rPr lang="zh-CN" altLang="zh-CN" sz="3600" dirty="0"/>
              <a:t>设置主机名的示例如下：</a:t>
            </a:r>
          </a:p>
          <a:p>
            <a:pPr marL="0" indent="0">
              <a:spcBef>
                <a:spcPts val="0"/>
              </a:spcBef>
              <a:spcAft>
                <a:spcPts val="0"/>
              </a:spcAft>
              <a:buFont typeface="Arial" panose="020B0604020202020204" pitchFamily="34" charset="0"/>
              <a:buNone/>
              <a:defRPr/>
            </a:pPr>
            <a:r>
              <a:rPr lang="en-US" altLang="zh-CN" sz="3600" dirty="0"/>
              <a:t>#</a:t>
            </a:r>
            <a:r>
              <a:rPr lang="en-US" altLang="zh-CN" sz="3600" dirty="0" err="1"/>
              <a:t>hostnamectl</a:t>
            </a:r>
            <a:r>
              <a:rPr lang="en-US" altLang="zh-CN" sz="3600" dirty="0"/>
              <a:t>			#</a:t>
            </a:r>
            <a:r>
              <a:rPr lang="zh-CN" altLang="zh-CN" sz="3600" dirty="0"/>
              <a:t>显示当前主机设置信息</a:t>
            </a:r>
          </a:p>
          <a:p>
            <a:pPr marL="0" indent="0">
              <a:spcBef>
                <a:spcPts val="0"/>
              </a:spcBef>
              <a:spcAft>
                <a:spcPts val="0"/>
              </a:spcAft>
              <a:buFont typeface="Arial" panose="020B0604020202020204" pitchFamily="34" charset="0"/>
              <a:buNone/>
              <a:defRPr/>
            </a:pPr>
            <a:r>
              <a:rPr lang="en-US" altLang="zh-CN" sz="3600" dirty="0"/>
              <a:t>#</a:t>
            </a:r>
            <a:r>
              <a:rPr lang="en-US" altLang="zh-CN" sz="3600" dirty="0" err="1"/>
              <a:t>hostnamectl</a:t>
            </a:r>
            <a:r>
              <a:rPr lang="en-US" altLang="zh-CN" sz="3600" dirty="0"/>
              <a:t> set-hostname </a:t>
            </a:r>
            <a:r>
              <a:rPr lang="en-US" altLang="zh-CN" sz="3600" dirty="0" err="1"/>
              <a:t>linux.for.lerning</a:t>
            </a:r>
            <a:r>
              <a:rPr lang="en-US" altLang="zh-CN" sz="3600" dirty="0"/>
              <a:t>	#</a:t>
            </a:r>
            <a:r>
              <a:rPr lang="zh-CN" altLang="zh-CN" sz="3600" dirty="0"/>
              <a:t>同时设置临时和永久主机名</a:t>
            </a:r>
            <a:endParaRPr lang="zh-CN" altLang="en-US" sz="3600" dirty="0"/>
          </a:p>
        </p:txBody>
      </p:sp>
      <p:pic>
        <p:nvPicPr>
          <p:cNvPr id="18436" name="图片 1">
            <a:extLst>
              <a:ext uri="{FF2B5EF4-FFF2-40B4-BE49-F238E27FC236}">
                <a16:creationId xmlns:a16="http://schemas.microsoft.com/office/drawing/2014/main" id="{425AEF2C-6FC8-7AEC-B090-64A0366AED7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925" y="549275"/>
            <a:ext cx="9012238"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标题 1">
            <a:extLst>
              <a:ext uri="{FF2B5EF4-FFF2-40B4-BE49-F238E27FC236}">
                <a16:creationId xmlns:a16="http://schemas.microsoft.com/office/drawing/2014/main" id="{09CABFC1-FDB9-F731-612C-D40B6A7BA07E}"/>
              </a:ext>
            </a:extLst>
          </p:cNvPr>
          <p:cNvSpPr>
            <a:spLocks noGrp="1" noChangeArrowheads="1"/>
          </p:cNvSpPr>
          <p:nvPr>
            <p:ph type="title"/>
          </p:nvPr>
        </p:nvSpPr>
        <p:spPr/>
        <p:txBody>
          <a:bodyPr/>
          <a:lstStyle/>
          <a:p>
            <a:r>
              <a:rPr lang="en-US" altLang="zh-CN"/>
              <a:t>9.1.5  </a:t>
            </a:r>
            <a:r>
              <a:rPr lang="zh-CN" altLang="zh-CN"/>
              <a:t>网卡命名方案</a:t>
            </a:r>
            <a:endParaRPr lang="zh-CN" altLang="en-US"/>
          </a:p>
        </p:txBody>
      </p:sp>
      <p:sp>
        <p:nvSpPr>
          <p:cNvPr id="1048608" name="内容占位符 2">
            <a:extLst>
              <a:ext uri="{FF2B5EF4-FFF2-40B4-BE49-F238E27FC236}">
                <a16:creationId xmlns:a16="http://schemas.microsoft.com/office/drawing/2014/main" id="{41CBFC20-47D1-0F75-C4E8-78D9896573F6}"/>
              </a:ext>
            </a:extLst>
          </p:cNvPr>
          <p:cNvSpPr>
            <a:spLocks noGrp="1"/>
          </p:cNvSpPr>
          <p:nvPr>
            <p:ph idx="1"/>
          </p:nvPr>
        </p:nvSpPr>
        <p:spPr>
          <a:xfrm>
            <a:off x="0" y="476250"/>
            <a:ext cx="9144000" cy="5943600"/>
          </a:xfrm>
        </p:spPr>
        <p:txBody>
          <a:bodyPr/>
          <a:lstStyle/>
          <a:p>
            <a:pPr>
              <a:spcBef>
                <a:spcPts val="0"/>
              </a:spcBef>
              <a:spcAft>
                <a:spcPts val="0"/>
              </a:spcAft>
              <a:defRPr/>
            </a:pPr>
            <a:r>
              <a:rPr lang="en-US" altLang="zh-CN" sz="5400" dirty="0"/>
              <a:t>1</a:t>
            </a:r>
            <a:r>
              <a:rPr lang="zh-CN" altLang="zh-CN" sz="5400" dirty="0"/>
              <a:t>．网卡名字的</a:t>
            </a:r>
            <a:r>
              <a:rPr lang="zh-CN" altLang="zh-CN" sz="5400" dirty="0">
                <a:solidFill>
                  <a:srgbClr val="FF0000"/>
                </a:solidFill>
              </a:rPr>
              <a:t>前</a:t>
            </a:r>
            <a:r>
              <a:rPr lang="en-US" altLang="zh-CN" sz="5400" dirty="0">
                <a:solidFill>
                  <a:srgbClr val="FF0000"/>
                </a:solidFill>
              </a:rPr>
              <a:t>2</a:t>
            </a:r>
            <a:r>
              <a:rPr lang="zh-CN" altLang="zh-CN" sz="5400" dirty="0">
                <a:solidFill>
                  <a:srgbClr val="FF0000"/>
                </a:solidFill>
              </a:rPr>
              <a:t>个字符</a:t>
            </a:r>
          </a:p>
          <a:p>
            <a:pPr marL="0" indent="0" fontAlgn="ctr">
              <a:spcBef>
                <a:spcPts val="0"/>
              </a:spcBef>
              <a:spcAft>
                <a:spcPts val="0"/>
              </a:spcAft>
              <a:buFont typeface="Arial" panose="020B0604020202020204" pitchFamily="34" charset="0"/>
              <a:buNone/>
              <a:defRPr/>
            </a:pPr>
            <a:r>
              <a:rPr lang="zh-CN" altLang="zh-CN" sz="5400" dirty="0"/>
              <a:t>对于网卡的命名，前</a:t>
            </a:r>
            <a:r>
              <a:rPr lang="en-US" altLang="zh-CN" sz="5400" dirty="0"/>
              <a:t>2</a:t>
            </a:r>
            <a:r>
              <a:rPr lang="zh-CN" altLang="zh-CN" sz="5400" dirty="0"/>
              <a:t>个字符采用</a:t>
            </a:r>
            <a:r>
              <a:rPr lang="zh-CN" altLang="zh-CN" sz="5400" dirty="0">
                <a:solidFill>
                  <a:srgbClr val="FF0000"/>
                </a:solidFill>
              </a:rPr>
              <a:t>以下方法</a:t>
            </a:r>
            <a:r>
              <a:rPr lang="zh-CN" altLang="zh-CN" sz="5400" dirty="0"/>
              <a:t>： </a:t>
            </a:r>
          </a:p>
          <a:p>
            <a:pPr marL="0" indent="0" fontAlgn="ctr">
              <a:spcBef>
                <a:spcPts val="0"/>
              </a:spcBef>
              <a:spcAft>
                <a:spcPts val="0"/>
              </a:spcAft>
              <a:buFont typeface="Arial" panose="020B0604020202020204" pitchFamily="34" charset="0"/>
              <a:buNone/>
              <a:defRPr/>
            </a:pPr>
            <a:r>
              <a:rPr lang="en-US" altLang="zh-CN" sz="5400" dirty="0">
                <a:sym typeface="Wingdings"/>
              </a:rPr>
              <a:t></a:t>
            </a:r>
            <a:r>
              <a:rPr lang="en-US" altLang="zh-CN" sz="5400" dirty="0"/>
              <a:t>  en</a:t>
            </a:r>
            <a:r>
              <a:rPr lang="zh-CN" altLang="zh-CN" sz="5400" dirty="0"/>
              <a:t>：</a:t>
            </a:r>
            <a:r>
              <a:rPr lang="zh-CN" altLang="zh-CN" sz="5400" dirty="0">
                <a:solidFill>
                  <a:srgbClr val="FF0000"/>
                </a:solidFill>
              </a:rPr>
              <a:t>以太网</a:t>
            </a:r>
            <a:r>
              <a:rPr lang="zh-CN" altLang="zh-CN" sz="5400" dirty="0"/>
              <a:t>（</a:t>
            </a:r>
            <a:r>
              <a:rPr lang="en-US" altLang="zh-CN" sz="5400" dirty="0"/>
              <a:t>Ethernet</a:t>
            </a:r>
            <a:r>
              <a:rPr lang="zh-CN" altLang="zh-CN" sz="5400" dirty="0"/>
              <a:t>）</a:t>
            </a:r>
          </a:p>
          <a:p>
            <a:pPr marL="0" indent="0" fontAlgn="ctr">
              <a:spcBef>
                <a:spcPts val="0"/>
              </a:spcBef>
              <a:spcAft>
                <a:spcPts val="0"/>
              </a:spcAft>
              <a:buFont typeface="Arial" panose="020B0604020202020204" pitchFamily="34" charset="0"/>
              <a:buNone/>
              <a:defRPr/>
            </a:pPr>
            <a:r>
              <a:rPr lang="en-US" altLang="zh-CN" sz="5400" dirty="0">
                <a:sym typeface="Wingdings"/>
              </a:rPr>
              <a:t></a:t>
            </a:r>
            <a:r>
              <a:rPr lang="en-US" altLang="zh-CN" sz="5400" dirty="0"/>
              <a:t>  </a:t>
            </a:r>
            <a:r>
              <a:rPr lang="en-US" altLang="zh-CN" sz="5400" dirty="0" err="1"/>
              <a:t>wl</a:t>
            </a:r>
            <a:r>
              <a:rPr lang="zh-CN" altLang="zh-CN" sz="5400" dirty="0"/>
              <a:t>：</a:t>
            </a:r>
            <a:r>
              <a:rPr lang="zh-CN" altLang="zh-CN" sz="5400" dirty="0">
                <a:solidFill>
                  <a:srgbClr val="FF0000"/>
                </a:solidFill>
              </a:rPr>
              <a:t>无线局域网</a:t>
            </a:r>
            <a:r>
              <a:rPr lang="zh-CN" altLang="zh-CN" sz="5400" dirty="0"/>
              <a:t>（</a:t>
            </a:r>
            <a:r>
              <a:rPr lang="en-US" altLang="zh-CN" sz="5400" dirty="0"/>
              <a:t>WLAN</a:t>
            </a:r>
            <a:r>
              <a:rPr lang="zh-CN" altLang="zh-CN" sz="5400" dirty="0"/>
              <a:t>）</a:t>
            </a:r>
          </a:p>
          <a:p>
            <a:pPr marL="0" indent="0">
              <a:spcBef>
                <a:spcPts val="0"/>
              </a:spcBef>
              <a:spcAft>
                <a:spcPts val="0"/>
              </a:spcAft>
              <a:buFont typeface="Arial" panose="020B0604020202020204" pitchFamily="34" charset="0"/>
              <a:buNone/>
              <a:defRPr/>
            </a:pPr>
            <a:r>
              <a:rPr lang="en-US" altLang="zh-CN" sz="5400" dirty="0">
                <a:sym typeface="Wingdings"/>
              </a:rPr>
              <a:t></a:t>
            </a:r>
            <a:r>
              <a:rPr lang="en-US" altLang="zh-CN" sz="5400" dirty="0"/>
              <a:t>  </a:t>
            </a:r>
            <a:r>
              <a:rPr lang="en-US" altLang="zh-CN" sz="5400" dirty="0" err="1"/>
              <a:t>ww</a:t>
            </a:r>
            <a:r>
              <a:rPr lang="zh-CN" altLang="zh-CN" sz="5400" dirty="0"/>
              <a:t>：</a:t>
            </a:r>
            <a:r>
              <a:rPr lang="zh-CN" altLang="zh-CN" sz="5400" dirty="0">
                <a:solidFill>
                  <a:srgbClr val="FF0000"/>
                </a:solidFill>
              </a:rPr>
              <a:t>无线广域网</a:t>
            </a:r>
            <a:r>
              <a:rPr lang="zh-CN" altLang="zh-CN" sz="5400" dirty="0"/>
              <a:t>（</a:t>
            </a:r>
            <a:r>
              <a:rPr lang="en-US" altLang="zh-CN" sz="5400" dirty="0"/>
              <a:t>WWAN</a:t>
            </a:r>
            <a:r>
              <a:rPr lang="zh-CN" altLang="zh-CN" sz="5400" dirty="0"/>
              <a:t>）</a:t>
            </a:r>
            <a:endParaRPr lang="zh-CN" altLang="en-US" sz="5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标题 1">
            <a:extLst>
              <a:ext uri="{FF2B5EF4-FFF2-40B4-BE49-F238E27FC236}">
                <a16:creationId xmlns:a16="http://schemas.microsoft.com/office/drawing/2014/main" id="{25A67A85-AA2A-1909-3D28-7BEBBA1D63C0}"/>
              </a:ext>
            </a:extLst>
          </p:cNvPr>
          <p:cNvSpPr>
            <a:spLocks noGrp="1" noChangeArrowheads="1"/>
          </p:cNvSpPr>
          <p:nvPr>
            <p:ph type="title"/>
          </p:nvPr>
        </p:nvSpPr>
        <p:spPr/>
        <p:txBody>
          <a:bodyPr/>
          <a:lstStyle/>
          <a:p>
            <a:r>
              <a:rPr lang="en-US" altLang="zh-CN"/>
              <a:t>9.1.5  </a:t>
            </a:r>
            <a:r>
              <a:rPr lang="zh-CN" altLang="zh-CN"/>
              <a:t>网卡命名方案</a:t>
            </a:r>
            <a:endParaRPr lang="zh-CN" altLang="en-US"/>
          </a:p>
        </p:txBody>
      </p:sp>
      <p:sp>
        <p:nvSpPr>
          <p:cNvPr id="1048610" name="内容占位符 2">
            <a:extLst>
              <a:ext uri="{FF2B5EF4-FFF2-40B4-BE49-F238E27FC236}">
                <a16:creationId xmlns:a16="http://schemas.microsoft.com/office/drawing/2014/main" id="{F6F2B481-78FC-F4B5-8922-4AA723EC9602}"/>
              </a:ext>
            </a:extLst>
          </p:cNvPr>
          <p:cNvSpPr>
            <a:spLocks noGrp="1"/>
          </p:cNvSpPr>
          <p:nvPr>
            <p:ph idx="1"/>
          </p:nvPr>
        </p:nvSpPr>
        <p:spPr>
          <a:xfrm>
            <a:off x="-34925" y="496888"/>
            <a:ext cx="9253538" cy="6265862"/>
          </a:xfrm>
        </p:spPr>
        <p:txBody>
          <a:bodyPr/>
          <a:lstStyle/>
          <a:p>
            <a:pPr>
              <a:spcBef>
                <a:spcPts val="0"/>
              </a:spcBef>
              <a:spcAft>
                <a:spcPts val="0"/>
              </a:spcAft>
              <a:defRPr/>
            </a:pPr>
            <a:r>
              <a:rPr lang="en-US" altLang="zh-CN" sz="3200" dirty="0"/>
              <a:t>2</a:t>
            </a:r>
            <a:r>
              <a:rPr lang="zh-CN" altLang="zh-CN" sz="3200" dirty="0"/>
              <a:t>．网卡名字的</a:t>
            </a:r>
            <a:r>
              <a:rPr lang="zh-CN" altLang="zh-CN" sz="3200" dirty="0">
                <a:solidFill>
                  <a:srgbClr val="FF0000"/>
                </a:solidFill>
              </a:rPr>
              <a:t>第</a:t>
            </a:r>
            <a:r>
              <a:rPr lang="en-US" altLang="zh-CN" sz="3200" dirty="0">
                <a:solidFill>
                  <a:srgbClr val="FF0000"/>
                </a:solidFill>
              </a:rPr>
              <a:t>3</a:t>
            </a:r>
            <a:r>
              <a:rPr lang="zh-CN" altLang="zh-CN" sz="3200" dirty="0">
                <a:solidFill>
                  <a:srgbClr val="FF0000"/>
                </a:solidFill>
              </a:rPr>
              <a:t>个及以后字符</a:t>
            </a:r>
          </a:p>
          <a:p>
            <a:pPr marL="0" indent="0" fontAlgn="ctr">
              <a:spcBef>
                <a:spcPts val="0"/>
              </a:spcBef>
              <a:spcAft>
                <a:spcPts val="0"/>
              </a:spcAft>
              <a:buFont typeface="Arial" panose="020B0604020202020204" pitchFamily="34" charset="0"/>
              <a:buNone/>
              <a:defRPr/>
            </a:pPr>
            <a:r>
              <a:rPr lang="zh-CN" altLang="zh-CN" sz="3200" dirty="0"/>
              <a:t>根据设备类型不同，网卡名字的第</a:t>
            </a:r>
            <a:r>
              <a:rPr lang="en-US" altLang="zh-CN" sz="3200" dirty="0"/>
              <a:t>3</a:t>
            </a:r>
            <a:r>
              <a:rPr lang="zh-CN" altLang="zh-CN" sz="3200" dirty="0"/>
              <a:t>个及以后字符选择</a:t>
            </a:r>
            <a:endParaRPr lang="en-US" altLang="zh-CN" sz="3200" dirty="0"/>
          </a:p>
          <a:p>
            <a:pPr marL="0" indent="0" fontAlgn="ctr">
              <a:spcBef>
                <a:spcPts val="0"/>
              </a:spcBef>
              <a:spcAft>
                <a:spcPts val="0"/>
              </a:spcAft>
              <a:buFont typeface="Arial" panose="020B0604020202020204" pitchFamily="34" charset="0"/>
              <a:buNone/>
              <a:defRPr/>
            </a:pPr>
            <a:r>
              <a:rPr lang="en-US" altLang="zh-CN" sz="3200" dirty="0">
                <a:sym typeface="Wingdings"/>
              </a:rPr>
              <a:t></a:t>
            </a:r>
            <a:r>
              <a:rPr lang="en-US" altLang="zh-CN" sz="3200" dirty="0"/>
              <a:t>  o&lt;index&gt;</a:t>
            </a:r>
            <a:r>
              <a:rPr lang="zh-CN" altLang="zh-CN" sz="3200" dirty="0"/>
              <a:t>：</a:t>
            </a:r>
            <a:r>
              <a:rPr lang="zh-CN" altLang="zh-CN" sz="3200" dirty="0">
                <a:solidFill>
                  <a:srgbClr val="FF0000"/>
                </a:solidFill>
              </a:rPr>
              <a:t>内置</a:t>
            </a:r>
            <a:r>
              <a:rPr lang="zh-CN" altLang="zh-CN" sz="3200" dirty="0"/>
              <a:t>网卡时，</a:t>
            </a:r>
            <a:r>
              <a:rPr lang="en-US" altLang="zh-CN" sz="3200" dirty="0">
                <a:solidFill>
                  <a:srgbClr val="FF0000"/>
                </a:solidFill>
              </a:rPr>
              <a:t>index</a:t>
            </a:r>
            <a:r>
              <a:rPr lang="zh-CN" altLang="zh-CN" sz="3200" dirty="0"/>
              <a:t>为内置网卡</a:t>
            </a:r>
            <a:r>
              <a:rPr lang="zh-CN" altLang="zh-CN" sz="3200" dirty="0">
                <a:solidFill>
                  <a:srgbClr val="FF0000"/>
                </a:solidFill>
              </a:rPr>
              <a:t>设备编号</a:t>
            </a:r>
            <a:r>
              <a:rPr lang="zh-CN" altLang="zh-CN" sz="3200" dirty="0"/>
              <a:t>。</a:t>
            </a:r>
          </a:p>
          <a:p>
            <a:pPr marL="0" indent="0" fontAlgn="ctr">
              <a:spcBef>
                <a:spcPts val="0"/>
              </a:spcBef>
              <a:spcAft>
                <a:spcPts val="0"/>
              </a:spcAft>
              <a:buFont typeface="Arial" panose="020B0604020202020204" pitchFamily="34" charset="0"/>
              <a:buNone/>
              <a:defRPr/>
            </a:pPr>
            <a:r>
              <a:rPr lang="en-US" altLang="zh-CN" sz="3200" dirty="0">
                <a:sym typeface="Wingdings"/>
              </a:rPr>
              <a:t></a:t>
            </a:r>
            <a:r>
              <a:rPr lang="en-US" altLang="zh-CN" sz="3200" dirty="0"/>
              <a:t>  s&lt;slot&gt;</a:t>
            </a:r>
            <a:r>
              <a:rPr lang="zh-CN" altLang="zh-CN" sz="3200" dirty="0"/>
              <a:t>：</a:t>
            </a:r>
            <a:r>
              <a:rPr lang="zh-CN" altLang="zh-CN" sz="3200" dirty="0">
                <a:solidFill>
                  <a:srgbClr val="FF0000"/>
                </a:solidFill>
              </a:rPr>
              <a:t>外置</a:t>
            </a:r>
            <a:r>
              <a:rPr lang="zh-CN" altLang="zh-CN" sz="3200" dirty="0"/>
              <a:t>网卡时，</a:t>
            </a:r>
            <a:r>
              <a:rPr lang="en-US" altLang="zh-CN" sz="3200" dirty="0"/>
              <a:t>slot</a:t>
            </a:r>
            <a:r>
              <a:rPr lang="zh-CN" altLang="zh-CN" sz="3200" dirty="0"/>
              <a:t>为</a:t>
            </a:r>
            <a:r>
              <a:rPr lang="zh-CN" altLang="zh-CN" sz="3200" dirty="0">
                <a:solidFill>
                  <a:srgbClr val="FF0000"/>
                </a:solidFill>
              </a:rPr>
              <a:t>热插拔口编号</a:t>
            </a:r>
          </a:p>
          <a:p>
            <a:pPr marL="0" indent="0" fontAlgn="ctr">
              <a:spcBef>
                <a:spcPts val="0"/>
              </a:spcBef>
              <a:spcAft>
                <a:spcPts val="0"/>
              </a:spcAft>
              <a:buFont typeface="Arial" panose="020B0604020202020204" pitchFamily="34" charset="0"/>
              <a:buNone/>
              <a:defRPr/>
            </a:pPr>
            <a:r>
              <a:rPr lang="en-US" altLang="zh-CN" sz="3200" dirty="0">
                <a:sym typeface="Wingdings"/>
              </a:rPr>
              <a:t></a:t>
            </a:r>
            <a:r>
              <a:rPr lang="en-US" altLang="zh-CN" sz="3200" dirty="0"/>
              <a:t>  x&lt;MAC&gt;</a:t>
            </a:r>
            <a:r>
              <a:rPr lang="zh-CN" altLang="zh-CN" sz="3200" dirty="0"/>
              <a:t>：</a:t>
            </a:r>
            <a:r>
              <a:rPr lang="zh-CN" altLang="zh-CN" sz="3200" dirty="0">
                <a:solidFill>
                  <a:srgbClr val="FF0000"/>
                </a:solidFill>
              </a:rPr>
              <a:t>网卡的</a:t>
            </a:r>
            <a:r>
              <a:rPr lang="en-US" altLang="zh-CN" sz="3200" dirty="0">
                <a:solidFill>
                  <a:srgbClr val="FF0000"/>
                </a:solidFill>
              </a:rPr>
              <a:t>MAC</a:t>
            </a:r>
            <a:r>
              <a:rPr lang="zh-CN" altLang="zh-CN" sz="3200" dirty="0">
                <a:solidFill>
                  <a:srgbClr val="FF0000"/>
                </a:solidFill>
              </a:rPr>
              <a:t>地址</a:t>
            </a:r>
            <a:r>
              <a:rPr lang="zh-CN" altLang="zh-CN" sz="3200" dirty="0"/>
              <a:t>。</a:t>
            </a:r>
          </a:p>
          <a:p>
            <a:pPr marL="0" indent="0" fontAlgn="ctr">
              <a:spcBef>
                <a:spcPts val="0"/>
              </a:spcBef>
              <a:spcAft>
                <a:spcPts val="0"/>
              </a:spcAft>
              <a:buFont typeface="Arial" panose="020B0604020202020204" pitchFamily="34" charset="0"/>
              <a:buNone/>
              <a:defRPr/>
            </a:pPr>
            <a:r>
              <a:rPr lang="en-US" altLang="zh-CN" sz="3200" dirty="0">
                <a:sym typeface="Wingdings"/>
              </a:rPr>
              <a:t></a:t>
            </a:r>
            <a:r>
              <a:rPr lang="en-US" altLang="zh-CN" sz="3200" dirty="0"/>
              <a:t>  p&lt;bus&gt;s&lt;slot&gt;</a:t>
            </a:r>
            <a:r>
              <a:rPr lang="zh-CN" altLang="zh-CN" sz="3200" dirty="0"/>
              <a:t>：</a:t>
            </a:r>
            <a:r>
              <a:rPr lang="en-US" altLang="zh-CN" sz="3200" dirty="0"/>
              <a:t>PCI</a:t>
            </a:r>
            <a:r>
              <a:rPr lang="zh-CN" altLang="zh-CN" sz="3200" dirty="0"/>
              <a:t>几何位置。</a:t>
            </a:r>
          </a:p>
          <a:p>
            <a:pPr marL="0" indent="0" fontAlgn="ctr">
              <a:spcBef>
                <a:spcPts val="0"/>
              </a:spcBef>
              <a:spcAft>
                <a:spcPts val="0"/>
              </a:spcAft>
              <a:buFont typeface="Arial" panose="020B0604020202020204" pitchFamily="34" charset="0"/>
              <a:buNone/>
              <a:defRPr/>
            </a:pPr>
            <a:r>
              <a:rPr lang="en-US" altLang="zh-CN" sz="3200" dirty="0">
                <a:sym typeface="Wingdings"/>
              </a:rPr>
              <a:t></a:t>
            </a:r>
            <a:r>
              <a:rPr lang="en-US" altLang="zh-CN" sz="3200" dirty="0"/>
              <a:t>  p&lt;bus&gt;s&lt;slot&gt;[f&lt;fun&gt;][d&lt;</a:t>
            </a:r>
            <a:r>
              <a:rPr lang="en-US" altLang="zh-CN" sz="3200" dirty="0" err="1"/>
              <a:t>devid</a:t>
            </a:r>
            <a:r>
              <a:rPr lang="en-US" altLang="zh-CN" sz="3200" dirty="0"/>
              <a:t>&gt;]</a:t>
            </a:r>
            <a:r>
              <a:rPr lang="zh-CN" altLang="zh-CN" sz="3200" dirty="0"/>
              <a:t>：网卡</a:t>
            </a:r>
            <a:r>
              <a:rPr lang="en-US" altLang="zh-CN" sz="3200" dirty="0"/>
              <a:t>PCI</a:t>
            </a:r>
            <a:r>
              <a:rPr lang="zh-CN" altLang="zh-CN" sz="3200" dirty="0"/>
              <a:t>插口位置。</a:t>
            </a:r>
          </a:p>
          <a:p>
            <a:pPr marL="0" indent="0">
              <a:lnSpc>
                <a:spcPts val="3300"/>
              </a:lnSpc>
              <a:buFont typeface="Arial" panose="020B0604020202020204" pitchFamily="34" charset="0"/>
              <a:buNone/>
              <a:defRPr/>
            </a:pPr>
            <a:r>
              <a:rPr lang="en-US" altLang="zh-CN" dirty="0">
                <a:sym typeface="Wingdings"/>
              </a:rPr>
              <a:t></a:t>
            </a:r>
            <a:r>
              <a:rPr lang="en-US" altLang="zh-CN" dirty="0"/>
              <a:t>  p&lt;bus&gt;s&lt;slot&gt;[f&lt;fun&gt;][u&lt;port&gt;][..][c&lt;</a:t>
            </a:r>
            <a:r>
              <a:rPr lang="en-US" altLang="zh-CN" dirty="0" err="1"/>
              <a:t>config</a:t>
            </a:r>
            <a:r>
              <a:rPr lang="en-US" altLang="zh-CN" dirty="0"/>
              <a:t>&gt;][</a:t>
            </a:r>
            <a:r>
              <a:rPr lang="en-US" altLang="zh-CN" dirty="0" err="1"/>
              <a:t>i</a:t>
            </a:r>
            <a:r>
              <a:rPr lang="en-US" altLang="zh-CN" dirty="0"/>
              <a:t>&lt;if&gt;]</a:t>
            </a:r>
            <a:r>
              <a:rPr lang="zh-CN" altLang="zh-CN" dirty="0"/>
              <a:t>：</a:t>
            </a:r>
            <a:r>
              <a:rPr lang="en-US" altLang="zh-CN" dirty="0"/>
              <a:t>USB</a:t>
            </a:r>
            <a:r>
              <a:rPr lang="zh-CN" altLang="zh-CN" dirty="0"/>
              <a:t>端口号链。</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标题 1">
            <a:extLst>
              <a:ext uri="{FF2B5EF4-FFF2-40B4-BE49-F238E27FC236}">
                <a16:creationId xmlns:a16="http://schemas.microsoft.com/office/drawing/2014/main" id="{FB4DC43B-3E1A-133F-3FC3-AEABC434B218}"/>
              </a:ext>
            </a:extLst>
          </p:cNvPr>
          <p:cNvSpPr>
            <a:spLocks noGrp="1" noChangeArrowheads="1"/>
          </p:cNvSpPr>
          <p:nvPr>
            <p:ph type="title"/>
          </p:nvPr>
        </p:nvSpPr>
        <p:spPr/>
        <p:txBody>
          <a:bodyPr/>
          <a:lstStyle/>
          <a:p>
            <a:r>
              <a:rPr lang="en-US" altLang="zh-CN"/>
              <a:t>9.1.5  </a:t>
            </a:r>
            <a:r>
              <a:rPr lang="zh-CN" altLang="zh-CN"/>
              <a:t>网卡命名方案</a:t>
            </a:r>
            <a:endParaRPr lang="zh-CN" altLang="en-US"/>
          </a:p>
        </p:txBody>
      </p:sp>
      <p:sp>
        <p:nvSpPr>
          <p:cNvPr id="1048612" name="内容占位符 2">
            <a:extLst>
              <a:ext uri="{FF2B5EF4-FFF2-40B4-BE49-F238E27FC236}">
                <a16:creationId xmlns:a16="http://schemas.microsoft.com/office/drawing/2014/main" id="{91489375-A5B5-9A76-4CD6-2564FEA80702}"/>
              </a:ext>
            </a:extLst>
          </p:cNvPr>
          <p:cNvSpPr>
            <a:spLocks noGrp="1"/>
          </p:cNvSpPr>
          <p:nvPr>
            <p:ph idx="1"/>
          </p:nvPr>
        </p:nvSpPr>
        <p:spPr>
          <a:xfrm>
            <a:off x="0" y="620713"/>
            <a:ext cx="9144000" cy="5616575"/>
          </a:xfrm>
        </p:spPr>
        <p:txBody>
          <a:bodyPr/>
          <a:lstStyle/>
          <a:p>
            <a:pPr>
              <a:lnSpc>
                <a:spcPts val="3300"/>
              </a:lnSpc>
              <a:spcBef>
                <a:spcPts val="0"/>
              </a:spcBef>
              <a:spcAft>
                <a:spcPts val="0"/>
              </a:spcAft>
              <a:defRPr/>
            </a:pPr>
            <a:r>
              <a:rPr lang="en-US" altLang="zh-CN" dirty="0"/>
              <a:t>3</a:t>
            </a:r>
            <a:r>
              <a:rPr lang="zh-CN" altLang="zh-CN" dirty="0"/>
              <a:t>．</a:t>
            </a:r>
            <a:r>
              <a:rPr lang="zh-CN" altLang="zh-CN" dirty="0">
                <a:solidFill>
                  <a:srgbClr val="FF0000"/>
                </a:solidFill>
              </a:rPr>
              <a:t>网卡命名方案</a:t>
            </a:r>
          </a:p>
          <a:p>
            <a:pPr marL="0" indent="0" fontAlgn="ctr">
              <a:lnSpc>
                <a:spcPts val="3300"/>
              </a:lnSpc>
              <a:spcBef>
                <a:spcPts val="0"/>
              </a:spcBef>
              <a:spcAft>
                <a:spcPts val="0"/>
              </a:spcAft>
              <a:buFont typeface="Arial" panose="020B0604020202020204" pitchFamily="34" charset="0"/>
              <a:buNone/>
              <a:defRPr/>
            </a:pPr>
            <a:r>
              <a:rPr lang="zh-CN" altLang="zh-CN" dirty="0">
                <a:solidFill>
                  <a:srgbClr val="FF0000"/>
                </a:solidFill>
              </a:rPr>
              <a:t>方案</a:t>
            </a:r>
            <a:r>
              <a:rPr lang="en-US" altLang="zh-CN" dirty="0">
                <a:solidFill>
                  <a:srgbClr val="FF0000"/>
                </a:solidFill>
              </a:rPr>
              <a:t>1  </a:t>
            </a:r>
            <a:r>
              <a:rPr lang="zh-CN" altLang="zh-CN" dirty="0"/>
              <a:t>对于</a:t>
            </a:r>
            <a:r>
              <a:rPr lang="zh-CN" altLang="zh-CN" dirty="0">
                <a:solidFill>
                  <a:srgbClr val="FF0000"/>
                </a:solidFill>
              </a:rPr>
              <a:t>内置网卡</a:t>
            </a:r>
            <a:r>
              <a:rPr lang="zh-CN" altLang="zh-CN" dirty="0"/>
              <a:t>，</a:t>
            </a:r>
            <a:r>
              <a:rPr lang="zh-CN" altLang="zh-CN" dirty="0">
                <a:solidFill>
                  <a:srgbClr val="FF0000"/>
                </a:solidFill>
              </a:rPr>
              <a:t>结合硬件或者</a:t>
            </a:r>
            <a:r>
              <a:rPr lang="en-US" altLang="zh-CN" dirty="0">
                <a:solidFill>
                  <a:srgbClr val="FF0000"/>
                </a:solidFill>
              </a:rPr>
              <a:t>BIOS</a:t>
            </a:r>
            <a:r>
              <a:rPr lang="zh-CN" altLang="zh-CN" dirty="0"/>
              <a:t>为设备提供索引号命名，如</a:t>
            </a:r>
            <a:r>
              <a:rPr lang="en-US" altLang="zh-CN" dirty="0" err="1"/>
              <a:t>enoN</a:t>
            </a:r>
            <a:r>
              <a:rPr lang="zh-CN" altLang="zh-CN" dirty="0"/>
              <a:t>。如果硬件和</a:t>
            </a:r>
            <a:r>
              <a:rPr lang="en-US" altLang="zh-CN" dirty="0"/>
              <a:t>BIOS</a:t>
            </a:r>
            <a:r>
              <a:rPr lang="zh-CN" altLang="zh-CN" dirty="0"/>
              <a:t>信息可用，则用此方案，否则使用方案</a:t>
            </a:r>
            <a:r>
              <a:rPr lang="en-US" altLang="zh-CN" dirty="0"/>
              <a:t>2</a:t>
            </a:r>
            <a:r>
              <a:rPr lang="zh-CN" altLang="zh-CN" dirty="0"/>
              <a:t>。</a:t>
            </a:r>
          </a:p>
          <a:p>
            <a:pPr marL="0" indent="0" fontAlgn="ctr">
              <a:lnSpc>
                <a:spcPts val="3300"/>
              </a:lnSpc>
              <a:spcBef>
                <a:spcPts val="0"/>
              </a:spcBef>
              <a:spcAft>
                <a:spcPts val="0"/>
              </a:spcAft>
              <a:buFont typeface="Arial" panose="020B0604020202020204" pitchFamily="34" charset="0"/>
              <a:buNone/>
              <a:defRPr/>
            </a:pPr>
            <a:r>
              <a:rPr lang="zh-CN" altLang="zh-CN" dirty="0">
                <a:solidFill>
                  <a:srgbClr val="FF0000"/>
                </a:solidFill>
              </a:rPr>
              <a:t>方案</a:t>
            </a:r>
            <a:r>
              <a:rPr lang="en-US" altLang="zh-CN" dirty="0">
                <a:solidFill>
                  <a:srgbClr val="FF0000"/>
                </a:solidFill>
              </a:rPr>
              <a:t>2</a:t>
            </a:r>
            <a:r>
              <a:rPr lang="en-US" altLang="zh-CN" dirty="0"/>
              <a:t>  </a:t>
            </a:r>
            <a:r>
              <a:rPr lang="zh-CN" altLang="zh-CN" dirty="0"/>
              <a:t>对于</a:t>
            </a:r>
            <a:r>
              <a:rPr lang="zh-CN" altLang="zh-CN" dirty="0">
                <a:solidFill>
                  <a:srgbClr val="FF0000"/>
                </a:solidFill>
              </a:rPr>
              <a:t>非内置网卡</a:t>
            </a:r>
            <a:r>
              <a:rPr lang="zh-CN" altLang="zh-CN" dirty="0"/>
              <a:t>，结合硬件或者</a:t>
            </a:r>
            <a:r>
              <a:rPr lang="en-US" altLang="zh-CN" dirty="0"/>
              <a:t>BIOS</a:t>
            </a:r>
            <a:r>
              <a:rPr lang="zh-CN" altLang="zh-CN" dirty="0"/>
              <a:t>提供的</a:t>
            </a:r>
            <a:r>
              <a:rPr lang="en-US" altLang="zh-CN" dirty="0"/>
              <a:t>PCI</a:t>
            </a:r>
            <a:r>
              <a:rPr lang="zh-CN" altLang="zh-CN" dirty="0"/>
              <a:t>热插拔插槽索引号命名，如</a:t>
            </a:r>
            <a:r>
              <a:rPr lang="en-US" altLang="zh-CN" dirty="0" err="1"/>
              <a:t>ensN</a:t>
            </a:r>
            <a:r>
              <a:rPr lang="zh-CN" altLang="zh-CN" dirty="0"/>
              <a:t>。如果硬件和</a:t>
            </a:r>
            <a:r>
              <a:rPr lang="en-US" altLang="zh-CN" dirty="0"/>
              <a:t>BIOS</a:t>
            </a:r>
            <a:r>
              <a:rPr lang="zh-CN" altLang="zh-CN" dirty="0"/>
              <a:t>信息可用，则使用此方案，否则使用方案</a:t>
            </a:r>
            <a:r>
              <a:rPr lang="en-US" altLang="zh-CN" dirty="0"/>
              <a:t>3</a:t>
            </a:r>
            <a:r>
              <a:rPr lang="zh-CN" altLang="zh-CN" dirty="0"/>
              <a:t>。</a:t>
            </a:r>
          </a:p>
          <a:p>
            <a:pPr marL="0" indent="0" fontAlgn="ctr">
              <a:lnSpc>
                <a:spcPts val="3300"/>
              </a:lnSpc>
              <a:spcBef>
                <a:spcPts val="0"/>
              </a:spcBef>
              <a:spcAft>
                <a:spcPts val="0"/>
              </a:spcAft>
              <a:buFont typeface="Arial" panose="020B0604020202020204" pitchFamily="34" charset="0"/>
              <a:buNone/>
              <a:defRPr/>
            </a:pPr>
            <a:r>
              <a:rPr lang="zh-CN" altLang="zh-CN" dirty="0">
                <a:solidFill>
                  <a:srgbClr val="FF0000"/>
                </a:solidFill>
              </a:rPr>
              <a:t>方案</a:t>
            </a:r>
            <a:r>
              <a:rPr lang="en-US" altLang="zh-CN" dirty="0">
                <a:solidFill>
                  <a:srgbClr val="FF0000"/>
                </a:solidFill>
              </a:rPr>
              <a:t>3  </a:t>
            </a:r>
            <a:r>
              <a:rPr lang="zh-CN" altLang="zh-CN" dirty="0"/>
              <a:t>结合</a:t>
            </a:r>
            <a:r>
              <a:rPr lang="zh-CN" altLang="zh-CN" dirty="0">
                <a:solidFill>
                  <a:srgbClr val="FF0000"/>
                </a:solidFill>
              </a:rPr>
              <a:t>硬件连接器物理位置</a:t>
            </a:r>
            <a:r>
              <a:rPr lang="zh-CN" altLang="zh-CN" dirty="0"/>
              <a:t>的名称，如</a:t>
            </a:r>
            <a:r>
              <a:rPr lang="en-US" altLang="zh-CN" dirty="0" err="1"/>
              <a:t>enpMsN</a:t>
            </a:r>
            <a:r>
              <a:rPr lang="zh-CN" altLang="zh-CN" dirty="0"/>
              <a:t>。如果可用，使用此方案，否则使用方案</a:t>
            </a:r>
            <a:r>
              <a:rPr lang="en-US" altLang="zh-CN" dirty="0"/>
              <a:t>5</a:t>
            </a:r>
            <a:r>
              <a:rPr lang="zh-CN" altLang="zh-CN" dirty="0"/>
              <a:t>。</a:t>
            </a:r>
          </a:p>
          <a:p>
            <a:pPr marL="0" indent="0" fontAlgn="ctr">
              <a:lnSpc>
                <a:spcPts val="3300"/>
              </a:lnSpc>
              <a:spcBef>
                <a:spcPts val="0"/>
              </a:spcBef>
              <a:spcAft>
                <a:spcPts val="0"/>
              </a:spcAft>
              <a:buFont typeface="Arial" panose="020B0604020202020204" pitchFamily="34" charset="0"/>
              <a:buNone/>
              <a:defRPr/>
            </a:pPr>
            <a:r>
              <a:rPr lang="zh-CN" altLang="zh-CN" dirty="0">
                <a:solidFill>
                  <a:srgbClr val="FF0000"/>
                </a:solidFill>
              </a:rPr>
              <a:t>方案</a:t>
            </a:r>
            <a:r>
              <a:rPr lang="en-US" altLang="zh-CN" dirty="0">
                <a:solidFill>
                  <a:srgbClr val="FF0000"/>
                </a:solidFill>
              </a:rPr>
              <a:t>4  </a:t>
            </a:r>
            <a:r>
              <a:rPr lang="zh-CN" altLang="zh-CN" dirty="0"/>
              <a:t>使用</a:t>
            </a:r>
            <a:r>
              <a:rPr lang="zh-CN" altLang="zh-CN" dirty="0">
                <a:solidFill>
                  <a:srgbClr val="FF0000"/>
                </a:solidFill>
              </a:rPr>
              <a:t>接口</a:t>
            </a:r>
            <a:r>
              <a:rPr lang="en-US" altLang="zh-CN" dirty="0">
                <a:solidFill>
                  <a:srgbClr val="FF0000"/>
                </a:solidFill>
              </a:rPr>
              <a:t>MAC</a:t>
            </a:r>
            <a:r>
              <a:rPr lang="zh-CN" altLang="zh-CN" dirty="0">
                <a:solidFill>
                  <a:srgbClr val="FF0000"/>
                </a:solidFill>
              </a:rPr>
              <a:t>地址</a:t>
            </a:r>
            <a:r>
              <a:rPr lang="zh-CN" altLang="zh-CN" dirty="0"/>
              <a:t>命名，比如</a:t>
            </a:r>
            <a:r>
              <a:rPr lang="en-US" altLang="zh-CN" dirty="0"/>
              <a:t>enx78e7d1ea46da</a:t>
            </a:r>
            <a:r>
              <a:rPr lang="zh-CN" altLang="zh-CN" dirty="0"/>
              <a:t>。默认情况下不使用此方案，除非用户选择。</a:t>
            </a:r>
          </a:p>
          <a:p>
            <a:pPr marL="0" indent="0">
              <a:lnSpc>
                <a:spcPts val="3300"/>
              </a:lnSpc>
              <a:buFont typeface="Arial" panose="020B0604020202020204" pitchFamily="34" charset="0"/>
              <a:buNone/>
              <a:defRPr/>
            </a:pPr>
            <a:r>
              <a:rPr lang="zh-CN" altLang="zh-CN" dirty="0">
                <a:solidFill>
                  <a:srgbClr val="FF0000"/>
                </a:solidFill>
              </a:rPr>
              <a:t>方案</a:t>
            </a:r>
            <a:r>
              <a:rPr lang="en-US" altLang="zh-CN" dirty="0">
                <a:solidFill>
                  <a:srgbClr val="FF0000"/>
                </a:solidFill>
              </a:rPr>
              <a:t>5  </a:t>
            </a:r>
            <a:r>
              <a:rPr lang="zh-CN" altLang="zh-CN" dirty="0">
                <a:solidFill>
                  <a:srgbClr val="FF0000"/>
                </a:solidFill>
              </a:rPr>
              <a:t>传统命名方案</a:t>
            </a:r>
            <a:r>
              <a:rPr lang="zh-CN" altLang="zh-CN" dirty="0"/>
              <a:t>，如</a:t>
            </a:r>
            <a:r>
              <a:rPr lang="en-US" altLang="zh-CN" dirty="0" err="1"/>
              <a:t>ethN</a:t>
            </a:r>
            <a:r>
              <a:rPr lang="zh-CN" altLang="zh-CN" dirty="0"/>
              <a:t>，其他命名方案失败时，采用此方案。</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233CF8C8-B3B2-6664-9B57-C5E80E60F525}"/>
              </a:ext>
            </a:extLst>
          </p:cNvPr>
          <p:cNvSpPr>
            <a:spLocks noGrp="1" noChangeArrowheads="1"/>
          </p:cNvSpPr>
          <p:nvPr>
            <p:ph type="title"/>
          </p:nvPr>
        </p:nvSpPr>
        <p:spPr/>
        <p:txBody>
          <a:bodyPr/>
          <a:lstStyle/>
          <a:p>
            <a:r>
              <a:rPr lang="en-US" altLang="zh-CN"/>
              <a:t>9.2  </a:t>
            </a:r>
            <a:r>
              <a:rPr lang="zh-CN" altLang="zh-CN"/>
              <a:t>网络管理命令</a:t>
            </a:r>
            <a:endParaRPr lang="zh-CN" altLang="en-US"/>
          </a:p>
        </p:txBody>
      </p:sp>
      <p:sp>
        <p:nvSpPr>
          <p:cNvPr id="22531" name="内容占位符 2">
            <a:extLst>
              <a:ext uri="{FF2B5EF4-FFF2-40B4-BE49-F238E27FC236}">
                <a16:creationId xmlns:a16="http://schemas.microsoft.com/office/drawing/2014/main" id="{53D143C2-0B08-7F35-DF95-E5CB82BFC41D}"/>
              </a:ext>
            </a:extLst>
          </p:cNvPr>
          <p:cNvSpPr>
            <a:spLocks noGrp="1" noChangeArrowheads="1"/>
          </p:cNvSpPr>
          <p:nvPr>
            <p:ph idx="1"/>
          </p:nvPr>
        </p:nvSpPr>
        <p:spPr>
          <a:xfrm>
            <a:off x="34925" y="620713"/>
            <a:ext cx="9109075" cy="5761037"/>
          </a:xfrm>
        </p:spPr>
        <p:txBody>
          <a:bodyPr/>
          <a:lstStyle/>
          <a:p>
            <a:pPr>
              <a:spcBef>
                <a:spcPts val="600"/>
              </a:spcBef>
              <a:spcAft>
                <a:spcPct val="0"/>
              </a:spcAft>
            </a:pPr>
            <a:r>
              <a:rPr lang="en-US" altLang="zh-CN" sz="3200"/>
              <a:t>9.2.1 </a:t>
            </a:r>
            <a:r>
              <a:rPr lang="zh-CN" altLang="zh-CN" sz="3200"/>
              <a:t>测试网络是否通（</a:t>
            </a:r>
            <a:r>
              <a:rPr lang="en-US" altLang="zh-CN" sz="3200"/>
              <a:t>ping</a:t>
            </a:r>
            <a:r>
              <a:rPr lang="zh-CN" altLang="zh-CN" sz="3200"/>
              <a:t>）</a:t>
            </a:r>
            <a:endParaRPr lang="en-US" altLang="zh-CN" sz="3200"/>
          </a:p>
          <a:p>
            <a:pPr>
              <a:spcBef>
                <a:spcPts val="600"/>
              </a:spcBef>
              <a:spcAft>
                <a:spcPct val="0"/>
              </a:spcAft>
            </a:pPr>
            <a:r>
              <a:rPr lang="en-US" altLang="zh-CN" sz="3200"/>
              <a:t>9.2.2 </a:t>
            </a:r>
            <a:r>
              <a:rPr lang="zh-CN" altLang="zh-CN" sz="3200"/>
              <a:t>检查网络状态（</a:t>
            </a:r>
            <a:r>
              <a:rPr lang="en-US" altLang="zh-CN" sz="3200"/>
              <a:t>netstat</a:t>
            </a:r>
            <a:r>
              <a:rPr lang="zh-CN" altLang="zh-CN" sz="3200"/>
              <a:t>）</a:t>
            </a:r>
            <a:endParaRPr lang="en-US" altLang="zh-CN" sz="3200"/>
          </a:p>
          <a:p>
            <a:pPr>
              <a:spcBef>
                <a:spcPts val="600"/>
              </a:spcBef>
              <a:spcAft>
                <a:spcPct val="0"/>
              </a:spcAft>
            </a:pPr>
            <a:r>
              <a:rPr lang="en-US" altLang="zh-CN" sz="3200"/>
              <a:t>9.2.3 </a:t>
            </a:r>
            <a:r>
              <a:rPr lang="zh-CN" altLang="zh-CN" sz="3200"/>
              <a:t>地址解析协议缓存中的项目管理（</a:t>
            </a:r>
            <a:r>
              <a:rPr lang="en-US" altLang="zh-CN" sz="3200"/>
              <a:t>arp</a:t>
            </a:r>
            <a:r>
              <a:rPr lang="zh-CN" altLang="zh-CN" sz="3200"/>
              <a:t>）</a:t>
            </a:r>
            <a:endParaRPr lang="en-US" altLang="zh-CN" sz="3200"/>
          </a:p>
          <a:p>
            <a:pPr>
              <a:spcBef>
                <a:spcPts val="600"/>
              </a:spcBef>
              <a:spcAft>
                <a:spcPct val="0"/>
              </a:spcAft>
            </a:pPr>
            <a:r>
              <a:rPr lang="en-US" altLang="zh-CN" sz="3200"/>
              <a:t>9.2.4 </a:t>
            </a:r>
            <a:r>
              <a:rPr lang="zh-CN" altLang="zh-CN" sz="3200"/>
              <a:t>网络接口配置（</a:t>
            </a:r>
            <a:r>
              <a:rPr lang="en-US" altLang="zh-CN" sz="3200"/>
              <a:t>ifconfig</a:t>
            </a:r>
            <a:r>
              <a:rPr lang="zh-CN" altLang="zh-CN" sz="3200"/>
              <a:t>）</a:t>
            </a:r>
            <a:endParaRPr lang="en-US" altLang="zh-CN" sz="3200"/>
          </a:p>
          <a:p>
            <a:pPr>
              <a:spcBef>
                <a:spcPts val="600"/>
              </a:spcBef>
              <a:spcAft>
                <a:spcPct val="0"/>
              </a:spcAft>
            </a:pPr>
            <a:r>
              <a:rPr lang="en-US" altLang="zh-CN" sz="3200"/>
              <a:t>9.2.5 </a:t>
            </a:r>
            <a:r>
              <a:rPr lang="zh-CN" altLang="zh-CN" sz="3200"/>
              <a:t>网络</a:t>
            </a:r>
            <a:r>
              <a:rPr lang="en-US" altLang="zh-CN" sz="3200"/>
              <a:t>IP</a:t>
            </a:r>
            <a:r>
              <a:rPr lang="zh-CN" altLang="zh-CN" sz="3200"/>
              <a:t>管理（</a:t>
            </a:r>
            <a:r>
              <a:rPr lang="en-US" altLang="zh-CN" sz="3200"/>
              <a:t>ip</a:t>
            </a:r>
            <a:r>
              <a:rPr lang="zh-CN" altLang="zh-CN" sz="3200"/>
              <a:t>）</a:t>
            </a:r>
          </a:p>
          <a:p>
            <a:pPr>
              <a:spcBef>
                <a:spcPts val="600"/>
              </a:spcBef>
              <a:spcAft>
                <a:spcPct val="0"/>
              </a:spcAft>
            </a:pPr>
            <a:r>
              <a:rPr lang="en-US" altLang="zh-CN" sz="3200"/>
              <a:t>9.2.6 </a:t>
            </a:r>
            <a:r>
              <a:rPr lang="zh-CN" altLang="zh-CN" sz="3200"/>
              <a:t>网络接口的启用与停止（</a:t>
            </a:r>
            <a:r>
              <a:rPr lang="en-US" altLang="zh-CN" sz="3200"/>
              <a:t>ifup/ifdown</a:t>
            </a:r>
            <a:r>
              <a:rPr lang="zh-CN" altLang="zh-CN" sz="3200"/>
              <a:t>）</a:t>
            </a:r>
          </a:p>
          <a:p>
            <a:pPr>
              <a:spcBef>
                <a:spcPts val="600"/>
              </a:spcBef>
              <a:spcAft>
                <a:spcPct val="0"/>
              </a:spcAft>
            </a:pPr>
            <a:r>
              <a:rPr lang="en-US" altLang="zh-CN" sz="3200"/>
              <a:t>9.2.7 </a:t>
            </a:r>
            <a:r>
              <a:rPr lang="zh-CN" altLang="zh-CN" sz="3200"/>
              <a:t>路由表维护（</a:t>
            </a:r>
            <a:r>
              <a:rPr lang="en-US" altLang="zh-CN" sz="3200"/>
              <a:t>route</a:t>
            </a:r>
            <a:r>
              <a:rPr lang="zh-CN" altLang="zh-CN" sz="3200"/>
              <a:t>）</a:t>
            </a:r>
          </a:p>
          <a:p>
            <a:pPr>
              <a:spcBef>
                <a:spcPts val="600"/>
              </a:spcBef>
              <a:spcAft>
                <a:spcPct val="0"/>
              </a:spcAft>
            </a:pPr>
            <a:r>
              <a:rPr lang="en-US" altLang="zh-CN" sz="3200"/>
              <a:t>9.2.8 </a:t>
            </a:r>
            <a:r>
              <a:rPr lang="zh-CN" altLang="zh-CN" sz="3200"/>
              <a:t>主机及地址查询（</a:t>
            </a:r>
            <a:r>
              <a:rPr lang="en-US" altLang="zh-CN" sz="3200"/>
              <a:t>nslookup/host</a:t>
            </a:r>
            <a:r>
              <a:rPr lang="zh-CN" altLang="zh-CN" sz="3200"/>
              <a:t>）</a:t>
            </a:r>
          </a:p>
          <a:p>
            <a:pPr>
              <a:spcBef>
                <a:spcPts val="600"/>
              </a:spcBef>
              <a:spcAft>
                <a:spcPct val="0"/>
              </a:spcAft>
            </a:pPr>
            <a:r>
              <a:rPr lang="en-US" altLang="zh-CN" sz="3200"/>
              <a:t>9.2.9 </a:t>
            </a:r>
            <a:r>
              <a:rPr lang="zh-CN" altLang="zh-CN" sz="3200"/>
              <a:t>网络路由跟踪（</a:t>
            </a:r>
            <a:r>
              <a:rPr lang="en-US" altLang="zh-CN" sz="3200"/>
              <a:t>traceroute</a:t>
            </a:r>
            <a:r>
              <a:rPr lang="zh-CN" altLang="zh-CN" sz="320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42046C54-EA20-DEE4-0646-174754DB11A3}"/>
              </a:ext>
            </a:extLst>
          </p:cNvPr>
          <p:cNvSpPr>
            <a:spLocks noGrp="1" noChangeArrowheads="1"/>
          </p:cNvSpPr>
          <p:nvPr>
            <p:ph type="title"/>
          </p:nvPr>
        </p:nvSpPr>
        <p:spPr/>
        <p:txBody>
          <a:bodyPr/>
          <a:lstStyle/>
          <a:p>
            <a:r>
              <a:rPr lang="en-US" altLang="zh-CN"/>
              <a:t>9.2.1  </a:t>
            </a:r>
            <a:r>
              <a:rPr lang="zh-CN" altLang="zh-CN"/>
              <a:t>测试网络</a:t>
            </a:r>
            <a:r>
              <a:rPr lang="zh-CN" altLang="zh-CN">
                <a:solidFill>
                  <a:srgbClr val="FF0000"/>
                </a:solidFill>
              </a:rPr>
              <a:t>是否通</a:t>
            </a:r>
            <a:r>
              <a:rPr lang="zh-CN" altLang="zh-CN"/>
              <a:t>（</a:t>
            </a:r>
            <a:r>
              <a:rPr lang="en-US" altLang="zh-CN"/>
              <a:t>ping</a:t>
            </a:r>
            <a:r>
              <a:rPr lang="zh-CN" altLang="zh-CN"/>
              <a:t>）</a:t>
            </a:r>
            <a:endParaRPr lang="zh-CN" altLang="en-US"/>
          </a:p>
        </p:txBody>
      </p:sp>
      <p:sp>
        <p:nvSpPr>
          <p:cNvPr id="1048640" name="内容占位符 2">
            <a:extLst>
              <a:ext uri="{FF2B5EF4-FFF2-40B4-BE49-F238E27FC236}">
                <a16:creationId xmlns:a16="http://schemas.microsoft.com/office/drawing/2014/main" id="{69E8B80E-858D-310E-76DF-CA58228DAEEF}"/>
              </a:ext>
            </a:extLst>
          </p:cNvPr>
          <p:cNvSpPr>
            <a:spLocks noGrp="1"/>
          </p:cNvSpPr>
          <p:nvPr>
            <p:ph idx="1"/>
          </p:nvPr>
        </p:nvSpPr>
        <p:spPr>
          <a:xfrm>
            <a:off x="107950" y="620713"/>
            <a:ext cx="9001125" cy="1008062"/>
          </a:xfrm>
        </p:spPr>
        <p:txBody>
          <a:bodyPr/>
          <a:lstStyle/>
          <a:p>
            <a:pPr fontAlgn="ctr">
              <a:spcBef>
                <a:spcPts val="0"/>
              </a:spcBef>
              <a:spcAft>
                <a:spcPts val="0"/>
              </a:spcAft>
              <a:defRPr/>
            </a:pPr>
            <a:r>
              <a:rPr lang="en-US" altLang="zh-CN" dirty="0">
                <a:solidFill>
                  <a:srgbClr val="FF0000"/>
                </a:solidFill>
              </a:rPr>
              <a:t>ping</a:t>
            </a:r>
            <a:r>
              <a:rPr lang="zh-CN" altLang="zh-CN" dirty="0">
                <a:solidFill>
                  <a:srgbClr val="FF0000"/>
                </a:solidFill>
              </a:rPr>
              <a:t>命令的用法为</a:t>
            </a:r>
            <a:r>
              <a:rPr lang="zh-CN" altLang="zh-CN" dirty="0"/>
              <a:t>：</a:t>
            </a:r>
            <a:r>
              <a:rPr lang="en-US" altLang="zh-CN" dirty="0"/>
              <a:t>ping [options] hostname/</a:t>
            </a:r>
            <a:r>
              <a:rPr lang="en-US" altLang="zh-CN" dirty="0" err="1"/>
              <a:t>ip</a:t>
            </a:r>
            <a:endParaRPr lang="en-US" altLang="zh-CN" dirty="0"/>
          </a:p>
          <a:p>
            <a:pPr marL="0" indent="0" algn="ctr">
              <a:spcBef>
                <a:spcPts val="0"/>
              </a:spcBef>
              <a:spcAft>
                <a:spcPts val="0"/>
              </a:spcAft>
              <a:buFont typeface="Arial" panose="020B0604020202020204" pitchFamily="34" charset="0"/>
              <a:buNone/>
              <a:defRPr/>
            </a:pPr>
            <a:r>
              <a:rPr lang="en-US" altLang="zh-CN" dirty="0"/>
              <a:t>ping</a:t>
            </a:r>
            <a:r>
              <a:rPr lang="zh-CN" altLang="zh-CN" dirty="0"/>
              <a:t>命令常用参数</a:t>
            </a:r>
            <a:endParaRPr lang="zh-CN" altLang="en-US" dirty="0"/>
          </a:p>
        </p:txBody>
      </p:sp>
      <p:graphicFrame>
        <p:nvGraphicFramePr>
          <p:cNvPr id="4194305" name="表格 3">
            <a:extLst>
              <a:ext uri="{FF2B5EF4-FFF2-40B4-BE49-F238E27FC236}">
                <a16:creationId xmlns:a16="http://schemas.microsoft.com/office/drawing/2014/main" id="{BAF98A29-FDAC-3673-241E-BB4EB29574BC}"/>
              </a:ext>
            </a:extLst>
          </p:cNvPr>
          <p:cNvGraphicFramePr>
            <a:graphicFrameLocks noGrp="1"/>
          </p:cNvGraphicFramePr>
          <p:nvPr/>
        </p:nvGraphicFramePr>
        <p:xfrm>
          <a:off x="34925" y="1484313"/>
          <a:ext cx="9074150" cy="5143500"/>
        </p:xfrm>
        <a:graphic>
          <a:graphicData uri="http://schemas.openxmlformats.org/drawingml/2006/table">
            <a:tbl>
              <a:tblPr>
                <a:tableStyleId>{5C22544A-7EE6-4342-B048-85BDC9FD1C3A}</a:tableStyleId>
              </a:tblPr>
              <a:tblGrid>
                <a:gridCol w="1865713">
                  <a:extLst>
                    <a:ext uri="{9D8B030D-6E8A-4147-A177-3AD203B41FA5}">
                      <a16:colId xmlns:a16="http://schemas.microsoft.com/office/drawing/2014/main" val="20000"/>
                    </a:ext>
                  </a:extLst>
                </a:gridCol>
                <a:gridCol w="7208437">
                  <a:extLst>
                    <a:ext uri="{9D8B030D-6E8A-4147-A177-3AD203B41FA5}">
                      <a16:colId xmlns:a16="http://schemas.microsoft.com/office/drawing/2014/main" val="20001"/>
                    </a:ext>
                  </a:extLst>
                </a:gridCol>
              </a:tblGrid>
              <a:tr h="603196">
                <a:tc>
                  <a:txBody>
                    <a:bodyPr/>
                    <a:lstStyle/>
                    <a:p>
                      <a:pPr algn="ctr">
                        <a:lnSpc>
                          <a:spcPts val="3000"/>
                        </a:lnSpc>
                        <a:spcAft>
                          <a:spcPts val="0"/>
                        </a:spcAft>
                      </a:pPr>
                      <a:r>
                        <a:rPr lang="zh-CN" sz="2400" b="1" kern="100" dirty="0">
                          <a:effectLst/>
                        </a:rPr>
                        <a:t>选</a:t>
                      </a:r>
                      <a:r>
                        <a:rPr lang="en-US" sz="2400" b="1" kern="100" dirty="0">
                          <a:effectLst/>
                        </a:rPr>
                        <a:t>    </a:t>
                      </a:r>
                      <a:r>
                        <a:rPr lang="zh-CN" sz="2400" b="1" kern="100" dirty="0">
                          <a:effectLst/>
                        </a:rPr>
                        <a:t>项</a:t>
                      </a:r>
                      <a:endParaRPr lang="zh-CN" sz="2400" b="1" kern="100" dirty="0">
                        <a:effectLst/>
                        <a:latin typeface="Times New Roman"/>
                        <a:ea typeface="宋体"/>
                      </a:endParaRPr>
                    </a:p>
                  </a:txBody>
                  <a:tcPr marL="68583" marR="68583" marT="0" marB="0" anchor="ctr"/>
                </a:tc>
                <a:tc>
                  <a:txBody>
                    <a:bodyPr/>
                    <a:lstStyle/>
                    <a:p>
                      <a:pPr algn="ctr">
                        <a:lnSpc>
                          <a:spcPts val="3000"/>
                        </a:lnSpc>
                        <a:spcAft>
                          <a:spcPts val="0"/>
                        </a:spcAft>
                      </a:pPr>
                      <a:r>
                        <a:rPr lang="zh-CN" sz="2400" b="1" kern="100">
                          <a:effectLst/>
                        </a:rPr>
                        <a:t>功 能 描 述</a:t>
                      </a:r>
                      <a:endParaRPr lang="zh-CN" sz="2400" b="1" kern="100">
                        <a:effectLst/>
                        <a:latin typeface="Times New Roman"/>
                        <a:ea typeface="宋体"/>
                      </a:endParaRPr>
                    </a:p>
                  </a:txBody>
                  <a:tcPr marL="68583" marR="68583" marT="0" marB="0" anchor="ctr"/>
                </a:tc>
                <a:extLst>
                  <a:ext uri="{0D108BD9-81ED-4DB2-BD59-A6C34878D82A}">
                    <a16:rowId xmlns:a16="http://schemas.microsoft.com/office/drawing/2014/main" val="10000"/>
                  </a:ext>
                </a:extLst>
              </a:tr>
              <a:tr h="762163">
                <a:tc>
                  <a:txBody>
                    <a:bodyPr/>
                    <a:lstStyle/>
                    <a:p>
                      <a:pPr algn="ctr">
                        <a:lnSpc>
                          <a:spcPts val="3000"/>
                        </a:lnSpc>
                        <a:spcAft>
                          <a:spcPts val="0"/>
                        </a:spcAft>
                      </a:pPr>
                      <a:r>
                        <a:rPr lang="en-US" sz="2400" b="1" kern="100">
                          <a:effectLst/>
                        </a:rPr>
                        <a:t>-c count</a:t>
                      </a:r>
                      <a:endParaRPr lang="zh-CN" sz="2400" b="1" kern="100">
                        <a:effectLst/>
                        <a:latin typeface="Times New Roman"/>
                        <a:ea typeface="宋体"/>
                      </a:endParaRPr>
                    </a:p>
                  </a:txBody>
                  <a:tcPr marL="68583" marR="68583" marT="0" marB="0" anchor="ctr"/>
                </a:tc>
                <a:tc>
                  <a:txBody>
                    <a:bodyPr/>
                    <a:lstStyle/>
                    <a:p>
                      <a:pPr algn="l">
                        <a:lnSpc>
                          <a:spcPts val="3000"/>
                        </a:lnSpc>
                        <a:spcAft>
                          <a:spcPts val="0"/>
                        </a:spcAft>
                      </a:pPr>
                      <a:r>
                        <a:rPr lang="zh-CN" sz="2400" b="1" kern="100" dirty="0">
                          <a:effectLst/>
                        </a:rPr>
                        <a:t>指定发送包的次数为</a:t>
                      </a:r>
                      <a:r>
                        <a:rPr lang="en-US" sz="2400" b="1" kern="100" dirty="0">
                          <a:effectLst/>
                        </a:rPr>
                        <a:t>count</a:t>
                      </a:r>
                      <a:r>
                        <a:rPr lang="zh-CN" sz="2400" b="1" kern="100" dirty="0">
                          <a:effectLst/>
                        </a:rPr>
                        <a:t>。默认为无限次，可用</a:t>
                      </a:r>
                      <a:r>
                        <a:rPr lang="en-US" sz="2400" b="1" kern="100" dirty="0" err="1">
                          <a:effectLst/>
                        </a:rPr>
                        <a:t>Ctrl_C</a:t>
                      </a:r>
                      <a:r>
                        <a:rPr lang="zh-CN" sz="2400" b="1" kern="100" dirty="0">
                          <a:effectLst/>
                        </a:rPr>
                        <a:t>终止</a:t>
                      </a:r>
                      <a:endParaRPr lang="zh-CN" sz="2400" b="1" kern="100" dirty="0">
                        <a:effectLst/>
                        <a:latin typeface="Times New Roman"/>
                        <a:ea typeface="宋体"/>
                      </a:endParaRPr>
                    </a:p>
                  </a:txBody>
                  <a:tcPr marL="68583" marR="68583" marT="0" marB="0" anchor="ctr"/>
                </a:tc>
                <a:extLst>
                  <a:ext uri="{0D108BD9-81ED-4DB2-BD59-A6C34878D82A}">
                    <a16:rowId xmlns:a16="http://schemas.microsoft.com/office/drawing/2014/main" val="10001"/>
                  </a:ext>
                </a:extLst>
              </a:tr>
              <a:tr h="603196">
                <a:tc>
                  <a:txBody>
                    <a:bodyPr/>
                    <a:lstStyle/>
                    <a:p>
                      <a:pPr algn="ctr">
                        <a:lnSpc>
                          <a:spcPts val="3000"/>
                        </a:lnSpc>
                        <a:spcAft>
                          <a:spcPts val="0"/>
                        </a:spcAft>
                      </a:pPr>
                      <a:r>
                        <a:rPr lang="en-US" sz="2400" b="1" kern="100">
                          <a:effectLst/>
                        </a:rPr>
                        <a:t>-f</a:t>
                      </a:r>
                      <a:endParaRPr lang="zh-CN" sz="2400" b="1" kern="100">
                        <a:effectLst/>
                        <a:latin typeface="Times New Roman"/>
                        <a:ea typeface="宋体"/>
                      </a:endParaRPr>
                    </a:p>
                  </a:txBody>
                  <a:tcPr marL="68583" marR="68583" marT="0" marB="0" anchor="ctr"/>
                </a:tc>
                <a:tc>
                  <a:txBody>
                    <a:bodyPr/>
                    <a:lstStyle/>
                    <a:p>
                      <a:pPr algn="l">
                        <a:lnSpc>
                          <a:spcPts val="3000"/>
                        </a:lnSpc>
                        <a:spcAft>
                          <a:spcPts val="0"/>
                        </a:spcAft>
                      </a:pPr>
                      <a:r>
                        <a:rPr lang="zh-CN" sz="2400" b="1" kern="100">
                          <a:effectLst/>
                        </a:rPr>
                        <a:t>极限检测，每秒钟发送相当于网络处理能力的数据包</a:t>
                      </a:r>
                      <a:endParaRPr lang="zh-CN" sz="2400" b="1" kern="100">
                        <a:effectLst/>
                        <a:latin typeface="Times New Roman"/>
                        <a:ea typeface="宋体"/>
                      </a:endParaRPr>
                    </a:p>
                  </a:txBody>
                  <a:tcPr marL="68583" marR="68583" marT="0" marB="0" anchor="ctr"/>
                </a:tc>
                <a:extLst>
                  <a:ext uri="{0D108BD9-81ED-4DB2-BD59-A6C34878D82A}">
                    <a16:rowId xmlns:a16="http://schemas.microsoft.com/office/drawing/2014/main" val="10002"/>
                  </a:ext>
                </a:extLst>
              </a:tr>
              <a:tr h="603196">
                <a:tc>
                  <a:txBody>
                    <a:bodyPr/>
                    <a:lstStyle/>
                    <a:p>
                      <a:pPr algn="ctr">
                        <a:lnSpc>
                          <a:spcPts val="3000"/>
                        </a:lnSpc>
                        <a:spcAft>
                          <a:spcPts val="0"/>
                        </a:spcAft>
                      </a:pPr>
                      <a:r>
                        <a:rPr lang="en-US" sz="2400" b="1" kern="100">
                          <a:effectLst/>
                        </a:rPr>
                        <a:t>-i interval</a:t>
                      </a:r>
                      <a:endParaRPr lang="zh-CN" sz="2400" b="1" kern="100">
                        <a:effectLst/>
                        <a:latin typeface="Times New Roman"/>
                        <a:ea typeface="宋体"/>
                      </a:endParaRPr>
                    </a:p>
                  </a:txBody>
                  <a:tcPr marL="68583" marR="68583" marT="0" marB="0" anchor="ctr"/>
                </a:tc>
                <a:tc>
                  <a:txBody>
                    <a:bodyPr/>
                    <a:lstStyle/>
                    <a:p>
                      <a:pPr algn="l">
                        <a:lnSpc>
                          <a:spcPts val="3000"/>
                        </a:lnSpc>
                        <a:spcAft>
                          <a:spcPts val="0"/>
                        </a:spcAft>
                      </a:pPr>
                      <a:r>
                        <a:rPr lang="zh-CN" sz="2400" b="1" kern="100">
                          <a:effectLst/>
                        </a:rPr>
                        <a:t>指定收发信息的间隔秒数</a:t>
                      </a:r>
                      <a:endParaRPr lang="zh-CN" sz="2400" b="1" kern="100">
                        <a:effectLst/>
                        <a:latin typeface="Times New Roman"/>
                        <a:ea typeface="宋体"/>
                      </a:endParaRPr>
                    </a:p>
                  </a:txBody>
                  <a:tcPr marL="68583" marR="68583" marT="0" marB="0" anchor="ctr"/>
                </a:tc>
                <a:extLst>
                  <a:ext uri="{0D108BD9-81ED-4DB2-BD59-A6C34878D82A}">
                    <a16:rowId xmlns:a16="http://schemas.microsoft.com/office/drawing/2014/main" val="10003"/>
                  </a:ext>
                </a:extLst>
              </a:tr>
              <a:tr h="603196">
                <a:tc>
                  <a:txBody>
                    <a:bodyPr/>
                    <a:lstStyle/>
                    <a:p>
                      <a:pPr algn="ctr">
                        <a:lnSpc>
                          <a:spcPts val="3000"/>
                        </a:lnSpc>
                        <a:spcAft>
                          <a:spcPts val="0"/>
                        </a:spcAft>
                      </a:pPr>
                      <a:r>
                        <a:rPr lang="en-US" sz="2400" b="1" kern="100">
                          <a:effectLst/>
                        </a:rPr>
                        <a:t>-q</a:t>
                      </a:r>
                      <a:endParaRPr lang="zh-CN" sz="2400" b="1" kern="100">
                        <a:effectLst/>
                        <a:latin typeface="Times New Roman"/>
                        <a:ea typeface="宋体"/>
                      </a:endParaRPr>
                    </a:p>
                  </a:txBody>
                  <a:tcPr marL="68583" marR="68583" marT="0" marB="0" anchor="ctr"/>
                </a:tc>
                <a:tc>
                  <a:txBody>
                    <a:bodyPr/>
                    <a:lstStyle/>
                    <a:p>
                      <a:pPr algn="l">
                        <a:lnSpc>
                          <a:spcPts val="3000"/>
                        </a:lnSpc>
                        <a:spcAft>
                          <a:spcPts val="0"/>
                        </a:spcAft>
                      </a:pPr>
                      <a:r>
                        <a:rPr lang="zh-CN" sz="2400" b="1" kern="100">
                          <a:effectLst/>
                        </a:rPr>
                        <a:t>不显示指令执行过程，开头和结尾的相关信息除外</a:t>
                      </a:r>
                      <a:endParaRPr lang="zh-CN" sz="2400" b="1" kern="100">
                        <a:effectLst/>
                        <a:latin typeface="Times New Roman"/>
                        <a:ea typeface="宋体"/>
                      </a:endParaRPr>
                    </a:p>
                  </a:txBody>
                  <a:tcPr marL="68583" marR="68583" marT="0" marB="0" anchor="ctr"/>
                </a:tc>
                <a:extLst>
                  <a:ext uri="{0D108BD9-81ED-4DB2-BD59-A6C34878D82A}">
                    <a16:rowId xmlns:a16="http://schemas.microsoft.com/office/drawing/2014/main" val="10004"/>
                  </a:ext>
                </a:extLst>
              </a:tr>
              <a:tr h="603196">
                <a:tc>
                  <a:txBody>
                    <a:bodyPr/>
                    <a:lstStyle/>
                    <a:p>
                      <a:pPr algn="ctr">
                        <a:lnSpc>
                          <a:spcPts val="3000"/>
                        </a:lnSpc>
                        <a:spcAft>
                          <a:spcPts val="0"/>
                        </a:spcAft>
                      </a:pPr>
                      <a:r>
                        <a:rPr lang="en-US" sz="2400" b="1" kern="100">
                          <a:effectLst/>
                        </a:rPr>
                        <a:t>-R</a:t>
                      </a:r>
                      <a:endParaRPr lang="zh-CN" sz="2400" b="1" kern="100">
                        <a:effectLst/>
                        <a:latin typeface="Times New Roman"/>
                        <a:ea typeface="宋体"/>
                      </a:endParaRPr>
                    </a:p>
                  </a:txBody>
                  <a:tcPr marL="68583" marR="68583" marT="0" marB="0" anchor="ctr"/>
                </a:tc>
                <a:tc>
                  <a:txBody>
                    <a:bodyPr/>
                    <a:lstStyle/>
                    <a:p>
                      <a:pPr algn="l">
                        <a:lnSpc>
                          <a:spcPts val="3000"/>
                        </a:lnSpc>
                        <a:spcAft>
                          <a:spcPts val="0"/>
                        </a:spcAft>
                      </a:pPr>
                      <a:r>
                        <a:rPr lang="zh-CN" sz="2400" b="1" kern="100">
                          <a:effectLst/>
                        </a:rPr>
                        <a:t>记录路由过程</a:t>
                      </a:r>
                      <a:endParaRPr lang="zh-CN" sz="2400" b="1" kern="100">
                        <a:effectLst/>
                        <a:latin typeface="Times New Roman"/>
                        <a:ea typeface="宋体"/>
                      </a:endParaRPr>
                    </a:p>
                  </a:txBody>
                  <a:tcPr marL="68583" marR="68583" marT="0" marB="0" anchor="ctr"/>
                </a:tc>
                <a:extLst>
                  <a:ext uri="{0D108BD9-81ED-4DB2-BD59-A6C34878D82A}">
                    <a16:rowId xmlns:a16="http://schemas.microsoft.com/office/drawing/2014/main" val="10005"/>
                  </a:ext>
                </a:extLst>
              </a:tr>
              <a:tr h="762163">
                <a:tc>
                  <a:txBody>
                    <a:bodyPr/>
                    <a:lstStyle/>
                    <a:p>
                      <a:pPr algn="ctr">
                        <a:lnSpc>
                          <a:spcPts val="3000"/>
                        </a:lnSpc>
                        <a:spcAft>
                          <a:spcPts val="0"/>
                        </a:spcAft>
                      </a:pPr>
                      <a:r>
                        <a:rPr lang="en-US" sz="2400" b="1" kern="100">
                          <a:effectLst/>
                        </a:rPr>
                        <a:t>-s packetsize</a:t>
                      </a:r>
                      <a:endParaRPr lang="zh-CN" sz="2400" b="1" kern="100">
                        <a:effectLst/>
                        <a:latin typeface="Times New Roman"/>
                        <a:ea typeface="宋体"/>
                      </a:endParaRPr>
                    </a:p>
                  </a:txBody>
                  <a:tcPr marL="68583" marR="68583" marT="0" marB="0" anchor="ctr"/>
                </a:tc>
                <a:tc>
                  <a:txBody>
                    <a:bodyPr/>
                    <a:lstStyle/>
                    <a:p>
                      <a:pPr algn="l">
                        <a:lnSpc>
                          <a:spcPts val="3000"/>
                        </a:lnSpc>
                        <a:spcAft>
                          <a:spcPts val="0"/>
                        </a:spcAft>
                      </a:pPr>
                      <a:r>
                        <a:rPr lang="zh-CN" sz="2400" b="1" kern="100" dirty="0">
                          <a:effectLst/>
                        </a:rPr>
                        <a:t>设置数据包的大小</a:t>
                      </a:r>
                      <a:endParaRPr lang="zh-CN" sz="2400" b="1" kern="100" dirty="0">
                        <a:effectLst/>
                        <a:latin typeface="Times New Roman"/>
                        <a:ea typeface="宋体"/>
                      </a:endParaRPr>
                    </a:p>
                  </a:txBody>
                  <a:tcPr marL="68583" marR="68583" marT="0" marB="0" anchor="ctr"/>
                </a:tc>
                <a:extLst>
                  <a:ext uri="{0D108BD9-81ED-4DB2-BD59-A6C34878D82A}">
                    <a16:rowId xmlns:a16="http://schemas.microsoft.com/office/drawing/2014/main" val="10006"/>
                  </a:ext>
                </a:extLst>
              </a:tr>
              <a:tr h="603196">
                <a:tc>
                  <a:txBody>
                    <a:bodyPr/>
                    <a:lstStyle/>
                    <a:p>
                      <a:pPr algn="ctr">
                        <a:lnSpc>
                          <a:spcPts val="3000"/>
                        </a:lnSpc>
                        <a:spcAft>
                          <a:spcPts val="0"/>
                        </a:spcAft>
                      </a:pPr>
                      <a:r>
                        <a:rPr lang="en-US" sz="2400" b="1" kern="100" dirty="0">
                          <a:effectLst/>
                        </a:rPr>
                        <a:t>-t TTL</a:t>
                      </a:r>
                      <a:endParaRPr lang="zh-CN" sz="2400" b="1" kern="100" dirty="0">
                        <a:effectLst/>
                        <a:latin typeface="Times New Roman"/>
                        <a:ea typeface="宋体"/>
                      </a:endParaRPr>
                    </a:p>
                  </a:txBody>
                  <a:tcPr marL="68583" marR="68583" marT="0" marB="0" anchor="ctr"/>
                </a:tc>
                <a:tc>
                  <a:txBody>
                    <a:bodyPr/>
                    <a:lstStyle/>
                    <a:p>
                      <a:pPr algn="l">
                        <a:lnSpc>
                          <a:spcPts val="3000"/>
                        </a:lnSpc>
                        <a:spcAft>
                          <a:spcPts val="0"/>
                        </a:spcAft>
                      </a:pPr>
                      <a:r>
                        <a:rPr lang="zh-CN" sz="2400" b="1" kern="100" dirty="0">
                          <a:effectLst/>
                        </a:rPr>
                        <a:t>将“存活时间”字段设置成数值</a:t>
                      </a:r>
                      <a:r>
                        <a:rPr lang="en-US" sz="2400" b="1" kern="100" dirty="0">
                          <a:effectLst/>
                        </a:rPr>
                        <a:t>TTL</a:t>
                      </a:r>
                      <a:r>
                        <a:rPr lang="zh-CN" sz="2400" b="1" kern="100" dirty="0">
                          <a:effectLst/>
                        </a:rPr>
                        <a:t>的大小</a:t>
                      </a:r>
                      <a:endParaRPr lang="zh-CN" sz="2400" b="1" kern="100" dirty="0">
                        <a:effectLst/>
                        <a:latin typeface="Times New Roman"/>
                        <a:ea typeface="宋体"/>
                      </a:endParaRPr>
                    </a:p>
                  </a:txBody>
                  <a:tcPr marL="68583" marR="68583" marT="0" marB="0" anchor="ctr"/>
                </a:tc>
                <a:extLst>
                  <a:ext uri="{0D108BD9-81ED-4DB2-BD59-A6C34878D82A}">
                    <a16:rowId xmlns:a16="http://schemas.microsoft.com/office/drawing/2014/main" val="10007"/>
                  </a:ext>
                </a:extLst>
              </a:tr>
            </a:tbl>
          </a:graphicData>
        </a:graphic>
      </p:graphicFrame>
      <p:pic>
        <p:nvPicPr>
          <p:cNvPr id="2" name="图片 1">
            <a:extLst>
              <a:ext uri="{FF2B5EF4-FFF2-40B4-BE49-F238E27FC236}">
                <a16:creationId xmlns:a16="http://schemas.microsoft.com/office/drawing/2014/main" id="{0A2CD431-4B1B-6065-CF88-4F36EEAC90C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950" y="620713"/>
            <a:ext cx="8693150" cy="590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F7D3984D-6F7A-7E7F-C580-ADCFE2DDC132}"/>
              </a:ext>
            </a:extLst>
          </p:cNvPr>
          <p:cNvSpPr>
            <a:spLocks noGrp="1" noChangeArrowheads="1"/>
          </p:cNvSpPr>
          <p:nvPr>
            <p:ph type="title"/>
          </p:nvPr>
        </p:nvSpPr>
        <p:spPr/>
        <p:txBody>
          <a:bodyPr/>
          <a:lstStyle/>
          <a:p>
            <a:r>
              <a:rPr lang="en-US" altLang="zh-CN"/>
              <a:t>9.2.2  </a:t>
            </a:r>
            <a:r>
              <a:rPr lang="zh-CN" altLang="zh-CN"/>
              <a:t>检查网络</a:t>
            </a:r>
            <a:r>
              <a:rPr lang="zh-CN" altLang="zh-CN">
                <a:solidFill>
                  <a:srgbClr val="FF0000"/>
                </a:solidFill>
              </a:rPr>
              <a:t>状态</a:t>
            </a:r>
            <a:r>
              <a:rPr lang="zh-CN" altLang="zh-CN"/>
              <a:t>（</a:t>
            </a:r>
            <a:r>
              <a:rPr lang="en-US" altLang="zh-CN"/>
              <a:t>netstat</a:t>
            </a:r>
            <a:r>
              <a:rPr lang="zh-CN" altLang="zh-CN"/>
              <a:t>）</a:t>
            </a:r>
            <a:endParaRPr lang="zh-CN" altLang="en-US"/>
          </a:p>
        </p:txBody>
      </p:sp>
      <p:sp>
        <p:nvSpPr>
          <p:cNvPr id="24579" name="内容占位符 2">
            <a:extLst>
              <a:ext uri="{FF2B5EF4-FFF2-40B4-BE49-F238E27FC236}">
                <a16:creationId xmlns:a16="http://schemas.microsoft.com/office/drawing/2014/main" id="{7A59AAEA-A250-DDCC-693B-288E2B9133B0}"/>
              </a:ext>
            </a:extLst>
          </p:cNvPr>
          <p:cNvSpPr>
            <a:spLocks noGrp="1" noChangeArrowheads="1"/>
          </p:cNvSpPr>
          <p:nvPr>
            <p:ph idx="1"/>
          </p:nvPr>
        </p:nvSpPr>
        <p:spPr>
          <a:xfrm>
            <a:off x="23813" y="549275"/>
            <a:ext cx="9120187" cy="5832475"/>
          </a:xfrm>
        </p:spPr>
        <p:txBody>
          <a:bodyPr/>
          <a:lstStyle/>
          <a:p>
            <a:pPr marL="0" indent="0" fontAlgn="ctr">
              <a:spcBef>
                <a:spcPct val="0"/>
              </a:spcBef>
              <a:spcAft>
                <a:spcPct val="0"/>
              </a:spcAft>
              <a:buFont typeface="Arial" panose="020B0604020202020204" pitchFamily="34" charset="0"/>
              <a:buNone/>
            </a:pPr>
            <a:r>
              <a:rPr lang="en-US" altLang="zh-CN" sz="4000"/>
              <a:t>netstat</a:t>
            </a:r>
            <a:r>
              <a:rPr lang="zh-CN" altLang="zh-CN" sz="4000"/>
              <a:t>主要用于</a:t>
            </a:r>
            <a:r>
              <a:rPr lang="zh-CN" altLang="zh-CN" sz="4000">
                <a:solidFill>
                  <a:srgbClr val="FF0000"/>
                </a:solidFill>
              </a:rPr>
              <a:t>显示</a:t>
            </a:r>
            <a:r>
              <a:rPr lang="zh-CN" altLang="zh-CN" sz="4000"/>
              <a:t>系统</a:t>
            </a:r>
            <a:r>
              <a:rPr lang="zh-CN" altLang="zh-CN" sz="4000">
                <a:solidFill>
                  <a:srgbClr val="FF0000"/>
                </a:solidFill>
              </a:rPr>
              <a:t>网络信息</a:t>
            </a:r>
            <a:r>
              <a:rPr lang="zh-CN" altLang="zh-CN" sz="4000"/>
              <a:t>，包括</a:t>
            </a:r>
            <a:r>
              <a:rPr lang="zh-CN" altLang="zh-CN" sz="4000">
                <a:solidFill>
                  <a:srgbClr val="FF0000"/>
                </a:solidFill>
              </a:rPr>
              <a:t>网络连接</a:t>
            </a:r>
            <a:r>
              <a:rPr lang="zh-CN" altLang="zh-CN" sz="4000"/>
              <a:t>、</a:t>
            </a:r>
            <a:r>
              <a:rPr lang="zh-CN" altLang="zh-CN" sz="4000">
                <a:solidFill>
                  <a:srgbClr val="FF0000"/>
                </a:solidFill>
              </a:rPr>
              <a:t>路由表</a:t>
            </a:r>
            <a:r>
              <a:rPr lang="zh-CN" altLang="zh-CN" sz="4000"/>
              <a:t>和</a:t>
            </a:r>
            <a:r>
              <a:rPr lang="zh-CN" altLang="zh-CN" sz="4000">
                <a:solidFill>
                  <a:srgbClr val="FF0000"/>
                </a:solidFill>
              </a:rPr>
              <a:t>网络接口</a:t>
            </a:r>
            <a:r>
              <a:rPr lang="zh-CN" altLang="zh-CN" sz="4000"/>
              <a:t>通信统计信息等。通过这些信息可以知道开启的端口、正在为哪些用户服务以及服务的状态等，其用法为：</a:t>
            </a:r>
          </a:p>
          <a:p>
            <a:pPr marL="0" indent="0">
              <a:spcBef>
                <a:spcPct val="0"/>
              </a:spcBef>
              <a:spcAft>
                <a:spcPct val="0"/>
              </a:spcAft>
              <a:buFont typeface="Arial" panose="020B0604020202020204" pitchFamily="34" charset="0"/>
              <a:buNone/>
            </a:pPr>
            <a:r>
              <a:rPr lang="en-US" altLang="zh-CN" sz="4000"/>
              <a:t>netstat [-veenNcCF] [&lt;Af&gt;] -r</a:t>
            </a:r>
            <a:endParaRPr lang="zh-CN" altLang="zh-CN" sz="4000"/>
          </a:p>
          <a:p>
            <a:pPr marL="0" indent="0">
              <a:spcBef>
                <a:spcPct val="0"/>
              </a:spcBef>
              <a:spcAft>
                <a:spcPct val="0"/>
              </a:spcAft>
              <a:buFont typeface="Arial" panose="020B0604020202020204" pitchFamily="34" charset="0"/>
              <a:buNone/>
            </a:pPr>
            <a:r>
              <a:rPr lang="en-US" altLang="zh-CN" sz="4000"/>
              <a:t>netstat [-vnNcaeol] [&lt;Socket&gt; ...]</a:t>
            </a:r>
            <a:endParaRPr lang="zh-CN" altLang="zh-CN" sz="4000"/>
          </a:p>
          <a:p>
            <a:pPr marL="0" indent="0">
              <a:spcBef>
                <a:spcPct val="0"/>
              </a:spcBef>
              <a:spcAft>
                <a:spcPct val="0"/>
              </a:spcAft>
              <a:buFont typeface="Arial" panose="020B0604020202020204" pitchFamily="34" charset="0"/>
              <a:buNone/>
            </a:pPr>
            <a:r>
              <a:rPr lang="en-US" altLang="zh-CN" sz="4000"/>
              <a:t>netstat { [-veenNac] -i | [-cnNe] -M | -s } [delay]</a:t>
            </a:r>
            <a:endParaRPr lang="zh-CN" altLang="en-US" sz="4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FC6D690E-490A-E024-3CE1-8129C1D7C938}"/>
              </a:ext>
            </a:extLst>
          </p:cNvPr>
          <p:cNvSpPr>
            <a:spLocks noGrp="1" noChangeArrowheads="1"/>
          </p:cNvSpPr>
          <p:nvPr>
            <p:ph type="title"/>
          </p:nvPr>
        </p:nvSpPr>
        <p:spPr>
          <a:xfrm>
            <a:off x="-34925" y="44450"/>
            <a:ext cx="9144000" cy="476250"/>
          </a:xfrm>
        </p:spPr>
        <p:txBody>
          <a:bodyPr/>
          <a:lstStyle/>
          <a:p>
            <a:r>
              <a:rPr lang="en-US" altLang="zh-CN"/>
              <a:t>9.2.2  </a:t>
            </a:r>
            <a:r>
              <a:rPr lang="zh-CN" altLang="zh-CN"/>
              <a:t>检查网络状态（</a:t>
            </a:r>
            <a:r>
              <a:rPr lang="en-US" altLang="zh-CN"/>
              <a:t>netstat</a:t>
            </a:r>
            <a:r>
              <a:rPr lang="zh-CN" altLang="zh-CN"/>
              <a:t>）</a:t>
            </a:r>
            <a:endParaRPr lang="zh-CN" altLang="en-US"/>
          </a:p>
        </p:txBody>
      </p:sp>
      <p:sp>
        <p:nvSpPr>
          <p:cNvPr id="25603" name="内容占位符 2">
            <a:extLst>
              <a:ext uri="{FF2B5EF4-FFF2-40B4-BE49-F238E27FC236}">
                <a16:creationId xmlns:a16="http://schemas.microsoft.com/office/drawing/2014/main" id="{6F069471-8B6C-17FA-2ACF-2528C1B7CF19}"/>
              </a:ext>
            </a:extLst>
          </p:cNvPr>
          <p:cNvSpPr>
            <a:spLocks noGrp="1" noChangeArrowheads="1"/>
          </p:cNvSpPr>
          <p:nvPr>
            <p:ph idx="1"/>
          </p:nvPr>
        </p:nvSpPr>
        <p:spPr>
          <a:xfrm>
            <a:off x="53975" y="533400"/>
            <a:ext cx="9072563" cy="433388"/>
          </a:xfrm>
        </p:spPr>
        <p:txBody>
          <a:bodyPr/>
          <a:lstStyle/>
          <a:p>
            <a:pPr fontAlgn="ctr"/>
            <a:r>
              <a:rPr lang="en-US" altLang="zh-CN"/>
              <a:t>netstat</a:t>
            </a:r>
            <a:r>
              <a:rPr lang="zh-CN" altLang="zh-CN"/>
              <a:t>命令常用参数</a:t>
            </a:r>
            <a:endParaRPr lang="en-US" altLang="zh-CN"/>
          </a:p>
          <a:p>
            <a:pPr fontAlgn="ctr"/>
            <a:endParaRPr lang="zh-CN" altLang="en-US"/>
          </a:p>
        </p:txBody>
      </p:sp>
      <p:graphicFrame>
        <p:nvGraphicFramePr>
          <p:cNvPr id="4194306" name="表格 3">
            <a:extLst>
              <a:ext uri="{FF2B5EF4-FFF2-40B4-BE49-F238E27FC236}">
                <a16:creationId xmlns:a16="http://schemas.microsoft.com/office/drawing/2014/main" id="{FBA30B3C-B7EE-95EE-C937-A759B7482ECE}"/>
              </a:ext>
            </a:extLst>
          </p:cNvPr>
          <p:cNvGraphicFramePr>
            <a:graphicFrameLocks noGrp="1"/>
          </p:cNvGraphicFramePr>
          <p:nvPr/>
        </p:nvGraphicFramePr>
        <p:xfrm>
          <a:off x="-107950" y="1052513"/>
          <a:ext cx="9251950" cy="5821362"/>
        </p:xfrm>
        <a:graphic>
          <a:graphicData uri="http://schemas.openxmlformats.org/drawingml/2006/table">
            <a:tbl>
              <a:tblPr>
                <a:tableStyleId>{5C22544A-7EE6-4342-B048-85BDC9FD1C3A}</a:tableStyleId>
              </a:tblPr>
              <a:tblGrid>
                <a:gridCol w="2220468">
                  <a:extLst>
                    <a:ext uri="{9D8B030D-6E8A-4147-A177-3AD203B41FA5}">
                      <a16:colId xmlns:a16="http://schemas.microsoft.com/office/drawing/2014/main" val="20000"/>
                    </a:ext>
                  </a:extLst>
                </a:gridCol>
                <a:gridCol w="7031482">
                  <a:extLst>
                    <a:ext uri="{9D8B030D-6E8A-4147-A177-3AD203B41FA5}">
                      <a16:colId xmlns:a16="http://schemas.microsoft.com/office/drawing/2014/main" val="20001"/>
                    </a:ext>
                  </a:extLst>
                </a:gridCol>
              </a:tblGrid>
              <a:tr h="592117">
                <a:tc>
                  <a:txBody>
                    <a:bodyPr/>
                    <a:lstStyle/>
                    <a:p>
                      <a:pPr algn="ctr">
                        <a:lnSpc>
                          <a:spcPts val="3300"/>
                        </a:lnSpc>
                        <a:spcAft>
                          <a:spcPts val="0"/>
                        </a:spcAft>
                      </a:pPr>
                      <a:r>
                        <a:rPr lang="zh-CN" sz="2800" b="1" kern="100" dirty="0">
                          <a:effectLst/>
                        </a:rPr>
                        <a:t>选</a:t>
                      </a:r>
                      <a:r>
                        <a:rPr lang="en-US" sz="2800" b="1" kern="100" dirty="0">
                          <a:effectLst/>
                        </a:rPr>
                        <a:t>    </a:t>
                      </a:r>
                      <a:r>
                        <a:rPr lang="zh-CN" sz="2800" b="1" kern="100" dirty="0">
                          <a:effectLst/>
                        </a:rPr>
                        <a:t>项</a:t>
                      </a:r>
                      <a:endParaRPr lang="zh-CN" sz="2800" b="1" kern="100" dirty="0">
                        <a:effectLst/>
                        <a:latin typeface="Times New Roman"/>
                        <a:ea typeface="宋体"/>
                      </a:endParaRPr>
                    </a:p>
                  </a:txBody>
                  <a:tcPr marL="68577" marR="68577" marT="0" marB="0" anchor="ctr"/>
                </a:tc>
                <a:tc>
                  <a:txBody>
                    <a:bodyPr/>
                    <a:lstStyle/>
                    <a:p>
                      <a:pPr algn="ctr">
                        <a:lnSpc>
                          <a:spcPts val="3300"/>
                        </a:lnSpc>
                        <a:spcAft>
                          <a:spcPts val="0"/>
                        </a:spcAft>
                      </a:pPr>
                      <a:r>
                        <a:rPr lang="zh-CN" sz="2800" b="1" kern="100" dirty="0">
                          <a:effectLst/>
                        </a:rPr>
                        <a:t>功 能 描 述</a:t>
                      </a:r>
                      <a:endParaRPr lang="zh-CN" sz="2800" b="1" kern="100" dirty="0">
                        <a:effectLst/>
                        <a:latin typeface="Times New Roman"/>
                        <a:ea typeface="宋体"/>
                      </a:endParaRPr>
                    </a:p>
                  </a:txBody>
                  <a:tcPr marL="68577" marR="68577" marT="0" marB="0" anchor="ctr"/>
                </a:tc>
                <a:extLst>
                  <a:ext uri="{0D108BD9-81ED-4DB2-BD59-A6C34878D82A}">
                    <a16:rowId xmlns:a16="http://schemas.microsoft.com/office/drawing/2014/main" val="10000"/>
                  </a:ext>
                </a:extLst>
              </a:tr>
              <a:tr h="592117">
                <a:tc>
                  <a:txBody>
                    <a:bodyPr/>
                    <a:lstStyle/>
                    <a:p>
                      <a:pPr algn="ctr">
                        <a:lnSpc>
                          <a:spcPts val="3300"/>
                        </a:lnSpc>
                        <a:spcAft>
                          <a:spcPts val="0"/>
                        </a:spcAft>
                      </a:pPr>
                      <a:r>
                        <a:rPr lang="en-US" sz="2800" b="1" kern="100">
                          <a:effectLst/>
                        </a:rPr>
                        <a:t>-a</a:t>
                      </a:r>
                      <a:endParaRPr lang="zh-CN" sz="2800" b="1" kern="100">
                        <a:effectLst/>
                        <a:latin typeface="Times New Roman"/>
                        <a:ea typeface="宋体"/>
                      </a:endParaRPr>
                    </a:p>
                  </a:txBody>
                  <a:tcPr marL="68577" marR="68577" marT="0" marB="0" anchor="ctr"/>
                </a:tc>
                <a:tc>
                  <a:txBody>
                    <a:bodyPr/>
                    <a:lstStyle/>
                    <a:p>
                      <a:pPr algn="l">
                        <a:lnSpc>
                          <a:spcPts val="3300"/>
                        </a:lnSpc>
                        <a:spcAft>
                          <a:spcPts val="0"/>
                        </a:spcAft>
                      </a:pPr>
                      <a:r>
                        <a:rPr lang="zh-CN" sz="2800" b="1" kern="100" dirty="0">
                          <a:effectLst/>
                        </a:rPr>
                        <a:t>显示所有</a:t>
                      </a:r>
                      <a:r>
                        <a:rPr lang="en-US" sz="2800" b="1" kern="100" dirty="0">
                          <a:effectLst/>
                        </a:rPr>
                        <a:t>socket</a:t>
                      </a:r>
                      <a:endParaRPr lang="zh-CN" sz="2800" b="1" kern="100" dirty="0">
                        <a:effectLst/>
                        <a:latin typeface="Times New Roman"/>
                        <a:ea typeface="宋体"/>
                      </a:endParaRPr>
                    </a:p>
                  </a:txBody>
                  <a:tcPr marL="68577" marR="68577" marT="0" marB="0" anchor="ctr"/>
                </a:tc>
                <a:extLst>
                  <a:ext uri="{0D108BD9-81ED-4DB2-BD59-A6C34878D82A}">
                    <a16:rowId xmlns:a16="http://schemas.microsoft.com/office/drawing/2014/main" val="10001"/>
                  </a:ext>
                </a:extLst>
              </a:tr>
              <a:tr h="838273">
                <a:tc>
                  <a:txBody>
                    <a:bodyPr/>
                    <a:lstStyle/>
                    <a:p>
                      <a:pPr algn="ctr">
                        <a:lnSpc>
                          <a:spcPts val="3300"/>
                        </a:lnSpc>
                        <a:spcAft>
                          <a:spcPts val="0"/>
                        </a:spcAft>
                      </a:pPr>
                      <a:r>
                        <a:rPr lang="en-US" sz="2800" b="1" kern="100">
                          <a:effectLst/>
                        </a:rPr>
                        <a:t>-A addr_family</a:t>
                      </a:r>
                      <a:endParaRPr lang="zh-CN" sz="2800" b="1" kern="100">
                        <a:effectLst/>
                        <a:latin typeface="Times New Roman"/>
                        <a:ea typeface="宋体"/>
                      </a:endParaRPr>
                    </a:p>
                  </a:txBody>
                  <a:tcPr marL="68577" marR="68577" marT="0" marB="0" anchor="ctr"/>
                </a:tc>
                <a:tc>
                  <a:txBody>
                    <a:bodyPr/>
                    <a:lstStyle/>
                    <a:p>
                      <a:pPr algn="l">
                        <a:lnSpc>
                          <a:spcPts val="3300"/>
                        </a:lnSpc>
                        <a:spcAft>
                          <a:spcPts val="0"/>
                        </a:spcAft>
                      </a:pPr>
                      <a:r>
                        <a:rPr lang="zh-CN" sz="2800" b="1" kern="100" dirty="0">
                          <a:effectLst/>
                        </a:rPr>
                        <a:t>显示地址组信息，</a:t>
                      </a:r>
                      <a:r>
                        <a:rPr lang="en-US" sz="2800" b="1" kern="100" dirty="0" err="1">
                          <a:effectLst/>
                        </a:rPr>
                        <a:t>addr_family</a:t>
                      </a:r>
                      <a:r>
                        <a:rPr lang="zh-CN" sz="2800" b="1" kern="100" dirty="0">
                          <a:effectLst/>
                        </a:rPr>
                        <a:t>可选值为</a:t>
                      </a:r>
                      <a:r>
                        <a:rPr lang="en-US" sz="2800" b="1" kern="100" dirty="0" err="1">
                          <a:effectLst/>
                        </a:rPr>
                        <a:t>inet</a:t>
                      </a:r>
                      <a:r>
                        <a:rPr lang="zh-CN" sz="2800" b="1" kern="100" dirty="0">
                          <a:effectLst/>
                        </a:rPr>
                        <a:t>，</a:t>
                      </a:r>
                      <a:r>
                        <a:rPr lang="en-US" sz="2800" b="1" kern="100" dirty="0" err="1">
                          <a:effectLst/>
                        </a:rPr>
                        <a:t>unix</a:t>
                      </a:r>
                      <a:r>
                        <a:rPr lang="zh-CN" sz="2800" b="1" kern="100" dirty="0">
                          <a:effectLst/>
                        </a:rPr>
                        <a:t>和</a:t>
                      </a:r>
                      <a:r>
                        <a:rPr lang="en-US" sz="2800" b="1" kern="100" dirty="0" err="1">
                          <a:effectLst/>
                        </a:rPr>
                        <a:t>ddp</a:t>
                      </a:r>
                      <a:r>
                        <a:rPr lang="zh-CN" sz="2800" b="1" kern="100" dirty="0">
                          <a:effectLst/>
                        </a:rPr>
                        <a:t>等</a:t>
                      </a:r>
                      <a:endParaRPr lang="zh-CN" sz="2800" b="1" kern="100" dirty="0">
                        <a:effectLst/>
                        <a:latin typeface="Times New Roman"/>
                        <a:ea typeface="宋体"/>
                      </a:endParaRPr>
                    </a:p>
                  </a:txBody>
                  <a:tcPr marL="68577" marR="68577" marT="0" marB="0" anchor="ctr"/>
                </a:tc>
                <a:extLst>
                  <a:ext uri="{0D108BD9-81ED-4DB2-BD59-A6C34878D82A}">
                    <a16:rowId xmlns:a16="http://schemas.microsoft.com/office/drawing/2014/main" val="10002"/>
                  </a:ext>
                </a:extLst>
              </a:tr>
              <a:tr h="592117">
                <a:tc>
                  <a:txBody>
                    <a:bodyPr/>
                    <a:lstStyle/>
                    <a:p>
                      <a:pPr algn="ctr">
                        <a:lnSpc>
                          <a:spcPts val="3300"/>
                        </a:lnSpc>
                        <a:spcAft>
                          <a:spcPts val="0"/>
                        </a:spcAft>
                      </a:pPr>
                      <a:r>
                        <a:rPr lang="en-US" sz="2800" b="1" kern="100">
                          <a:effectLst/>
                        </a:rPr>
                        <a:t>-i</a:t>
                      </a:r>
                      <a:endParaRPr lang="zh-CN" sz="2800" b="1" kern="100">
                        <a:effectLst/>
                        <a:latin typeface="Times New Roman"/>
                        <a:ea typeface="宋体"/>
                      </a:endParaRPr>
                    </a:p>
                  </a:txBody>
                  <a:tcPr marL="68577" marR="68577" marT="0" marB="0" anchor="ctr"/>
                </a:tc>
                <a:tc>
                  <a:txBody>
                    <a:bodyPr/>
                    <a:lstStyle/>
                    <a:p>
                      <a:pPr algn="l">
                        <a:lnSpc>
                          <a:spcPts val="3300"/>
                        </a:lnSpc>
                        <a:spcAft>
                          <a:spcPts val="0"/>
                        </a:spcAft>
                      </a:pPr>
                      <a:r>
                        <a:rPr lang="zh-CN" sz="2800" b="1" kern="100" dirty="0">
                          <a:effectLst/>
                        </a:rPr>
                        <a:t>显示所有网络接口信息</a:t>
                      </a:r>
                      <a:endParaRPr lang="zh-CN" sz="2800" b="1" kern="100" dirty="0">
                        <a:effectLst/>
                        <a:latin typeface="Times New Roman"/>
                        <a:ea typeface="宋体"/>
                      </a:endParaRPr>
                    </a:p>
                  </a:txBody>
                  <a:tcPr marL="68577" marR="68577" marT="0" marB="0" anchor="ctr"/>
                </a:tc>
                <a:extLst>
                  <a:ext uri="{0D108BD9-81ED-4DB2-BD59-A6C34878D82A}">
                    <a16:rowId xmlns:a16="http://schemas.microsoft.com/office/drawing/2014/main" val="10003"/>
                  </a:ext>
                </a:extLst>
              </a:tr>
              <a:tr h="838273">
                <a:tc>
                  <a:txBody>
                    <a:bodyPr/>
                    <a:lstStyle/>
                    <a:p>
                      <a:pPr algn="ctr">
                        <a:lnSpc>
                          <a:spcPts val="3300"/>
                        </a:lnSpc>
                        <a:spcAft>
                          <a:spcPts val="0"/>
                        </a:spcAft>
                      </a:pPr>
                      <a:r>
                        <a:rPr lang="en-US" sz="2800" b="1" kern="100">
                          <a:effectLst/>
                        </a:rPr>
                        <a:t>-n/-N</a:t>
                      </a:r>
                      <a:endParaRPr lang="zh-CN" sz="2800" b="1" kern="100">
                        <a:effectLst/>
                        <a:latin typeface="Times New Roman"/>
                        <a:ea typeface="宋体"/>
                      </a:endParaRPr>
                    </a:p>
                  </a:txBody>
                  <a:tcPr marL="68577" marR="68577" marT="0" marB="0" anchor="ctr"/>
                </a:tc>
                <a:tc>
                  <a:txBody>
                    <a:bodyPr/>
                    <a:lstStyle/>
                    <a:p>
                      <a:pPr algn="l">
                        <a:lnSpc>
                          <a:spcPts val="3300"/>
                        </a:lnSpc>
                        <a:spcAft>
                          <a:spcPts val="0"/>
                        </a:spcAft>
                      </a:pPr>
                      <a:r>
                        <a:rPr lang="zh-CN" sz="2800" b="1" kern="100" dirty="0">
                          <a:effectLst/>
                        </a:rPr>
                        <a:t>直接使用数字</a:t>
                      </a:r>
                      <a:r>
                        <a:rPr lang="en-US" sz="2800" b="1" kern="100" dirty="0">
                          <a:effectLst/>
                        </a:rPr>
                        <a:t>/</a:t>
                      </a:r>
                      <a:r>
                        <a:rPr lang="zh-CN" sz="2800" b="1" kern="100" dirty="0">
                          <a:effectLst/>
                        </a:rPr>
                        <a:t>符号方式，显示网络连接信息</a:t>
                      </a:r>
                      <a:endParaRPr lang="zh-CN" sz="2800" b="1" kern="100" dirty="0">
                        <a:effectLst/>
                        <a:latin typeface="Times New Roman"/>
                        <a:ea typeface="宋体"/>
                      </a:endParaRPr>
                    </a:p>
                  </a:txBody>
                  <a:tcPr marL="68577" marR="68577" marT="0" marB="0" anchor="ctr"/>
                </a:tc>
                <a:extLst>
                  <a:ext uri="{0D108BD9-81ED-4DB2-BD59-A6C34878D82A}">
                    <a16:rowId xmlns:a16="http://schemas.microsoft.com/office/drawing/2014/main" val="10004"/>
                  </a:ext>
                </a:extLst>
              </a:tr>
              <a:tr h="592117">
                <a:tc>
                  <a:txBody>
                    <a:bodyPr/>
                    <a:lstStyle/>
                    <a:p>
                      <a:pPr algn="ctr">
                        <a:lnSpc>
                          <a:spcPts val="3300"/>
                        </a:lnSpc>
                        <a:spcAft>
                          <a:spcPts val="0"/>
                        </a:spcAft>
                      </a:pPr>
                      <a:r>
                        <a:rPr lang="en-US" sz="2800" b="1" kern="100">
                          <a:effectLst/>
                        </a:rPr>
                        <a:t>-r</a:t>
                      </a:r>
                      <a:endParaRPr lang="zh-CN" sz="2800" b="1" kern="100">
                        <a:effectLst/>
                        <a:latin typeface="Times New Roman"/>
                        <a:ea typeface="宋体"/>
                      </a:endParaRPr>
                    </a:p>
                  </a:txBody>
                  <a:tcPr marL="68577" marR="68577" marT="0" marB="0" anchor="ctr"/>
                </a:tc>
                <a:tc>
                  <a:txBody>
                    <a:bodyPr/>
                    <a:lstStyle/>
                    <a:p>
                      <a:pPr algn="l">
                        <a:lnSpc>
                          <a:spcPts val="3300"/>
                        </a:lnSpc>
                        <a:spcAft>
                          <a:spcPts val="0"/>
                        </a:spcAft>
                      </a:pPr>
                      <a:r>
                        <a:rPr lang="zh-CN" sz="2800" b="1" kern="100" dirty="0">
                          <a:effectLst/>
                        </a:rPr>
                        <a:t>显示核心路由表，格式同“</a:t>
                      </a:r>
                      <a:r>
                        <a:rPr lang="en-US" sz="2800" b="1" kern="100" dirty="0">
                          <a:effectLst/>
                        </a:rPr>
                        <a:t>route -e</a:t>
                      </a:r>
                      <a:r>
                        <a:rPr lang="zh-CN" sz="2800" b="1" kern="100" dirty="0">
                          <a:effectLst/>
                        </a:rPr>
                        <a:t>”</a:t>
                      </a:r>
                      <a:endParaRPr lang="zh-CN" sz="2800" b="1" kern="100" dirty="0">
                        <a:effectLst/>
                        <a:latin typeface="Times New Roman"/>
                        <a:ea typeface="宋体"/>
                      </a:endParaRPr>
                    </a:p>
                  </a:txBody>
                  <a:tcPr marL="68577" marR="68577" marT="0" marB="0" anchor="ctr"/>
                </a:tc>
                <a:extLst>
                  <a:ext uri="{0D108BD9-81ED-4DB2-BD59-A6C34878D82A}">
                    <a16:rowId xmlns:a16="http://schemas.microsoft.com/office/drawing/2014/main" val="10005"/>
                  </a:ext>
                </a:extLst>
              </a:tr>
              <a:tr h="592117">
                <a:tc>
                  <a:txBody>
                    <a:bodyPr/>
                    <a:lstStyle/>
                    <a:p>
                      <a:pPr algn="ctr">
                        <a:lnSpc>
                          <a:spcPts val="3300"/>
                        </a:lnSpc>
                        <a:spcAft>
                          <a:spcPts val="0"/>
                        </a:spcAft>
                      </a:pPr>
                      <a:r>
                        <a:rPr lang="en-US" sz="2800" b="1" kern="100">
                          <a:effectLst/>
                        </a:rPr>
                        <a:t>-s</a:t>
                      </a:r>
                      <a:endParaRPr lang="zh-CN" sz="2800" b="1" kern="100">
                        <a:effectLst/>
                        <a:latin typeface="Times New Roman"/>
                        <a:ea typeface="宋体"/>
                      </a:endParaRPr>
                    </a:p>
                  </a:txBody>
                  <a:tcPr marL="68577" marR="68577" marT="0" marB="0" anchor="ctr"/>
                </a:tc>
                <a:tc>
                  <a:txBody>
                    <a:bodyPr/>
                    <a:lstStyle/>
                    <a:p>
                      <a:pPr algn="l">
                        <a:lnSpc>
                          <a:spcPts val="3300"/>
                        </a:lnSpc>
                        <a:spcAft>
                          <a:spcPts val="0"/>
                        </a:spcAft>
                      </a:pPr>
                      <a:r>
                        <a:rPr lang="zh-CN" sz="2800" b="1" kern="100" dirty="0">
                          <a:effectLst/>
                        </a:rPr>
                        <a:t>协议通信总量统计</a:t>
                      </a:r>
                      <a:endParaRPr lang="zh-CN" sz="2800" b="1" kern="100" dirty="0">
                        <a:effectLst/>
                        <a:latin typeface="Times New Roman"/>
                        <a:ea typeface="宋体"/>
                      </a:endParaRPr>
                    </a:p>
                  </a:txBody>
                  <a:tcPr marL="68577" marR="68577" marT="0" marB="0" anchor="ctr"/>
                </a:tc>
                <a:extLst>
                  <a:ext uri="{0D108BD9-81ED-4DB2-BD59-A6C34878D82A}">
                    <a16:rowId xmlns:a16="http://schemas.microsoft.com/office/drawing/2014/main" val="10006"/>
                  </a:ext>
                </a:extLst>
              </a:tr>
              <a:tr h="592117">
                <a:tc>
                  <a:txBody>
                    <a:bodyPr/>
                    <a:lstStyle/>
                    <a:p>
                      <a:pPr algn="ctr">
                        <a:lnSpc>
                          <a:spcPts val="3300"/>
                        </a:lnSpc>
                        <a:spcAft>
                          <a:spcPts val="0"/>
                        </a:spcAft>
                      </a:pPr>
                      <a:r>
                        <a:rPr lang="en-US" sz="2800" b="1" kern="100">
                          <a:effectLst/>
                        </a:rPr>
                        <a:t>-t</a:t>
                      </a:r>
                      <a:endParaRPr lang="zh-CN" sz="2800" b="1" kern="100">
                        <a:effectLst/>
                        <a:latin typeface="Times New Roman"/>
                        <a:ea typeface="宋体"/>
                      </a:endParaRPr>
                    </a:p>
                  </a:txBody>
                  <a:tcPr marL="68577" marR="68577" marT="0" marB="0" anchor="ctr"/>
                </a:tc>
                <a:tc>
                  <a:txBody>
                    <a:bodyPr/>
                    <a:lstStyle/>
                    <a:p>
                      <a:pPr algn="l">
                        <a:lnSpc>
                          <a:spcPts val="3300"/>
                        </a:lnSpc>
                        <a:spcAft>
                          <a:spcPts val="0"/>
                        </a:spcAft>
                      </a:pPr>
                      <a:r>
                        <a:rPr lang="zh-CN" sz="2800" b="1" kern="100" dirty="0">
                          <a:effectLst/>
                        </a:rPr>
                        <a:t>显示</a:t>
                      </a:r>
                      <a:r>
                        <a:rPr lang="en-US" sz="2800" b="1" kern="100" dirty="0">
                          <a:effectLst/>
                        </a:rPr>
                        <a:t>TCP</a:t>
                      </a:r>
                      <a:r>
                        <a:rPr lang="zh-CN" sz="2800" b="1" kern="100" dirty="0">
                          <a:effectLst/>
                        </a:rPr>
                        <a:t>协议的连接情况</a:t>
                      </a:r>
                      <a:endParaRPr lang="zh-CN" sz="2800" b="1" kern="100" dirty="0">
                        <a:effectLst/>
                        <a:latin typeface="Times New Roman"/>
                        <a:ea typeface="宋体"/>
                      </a:endParaRPr>
                    </a:p>
                  </a:txBody>
                  <a:tcPr marL="68577" marR="68577" marT="0" marB="0" anchor="ctr"/>
                </a:tc>
                <a:extLst>
                  <a:ext uri="{0D108BD9-81ED-4DB2-BD59-A6C34878D82A}">
                    <a16:rowId xmlns:a16="http://schemas.microsoft.com/office/drawing/2014/main" val="10007"/>
                  </a:ext>
                </a:extLst>
              </a:tr>
              <a:tr h="592117">
                <a:tc>
                  <a:txBody>
                    <a:bodyPr/>
                    <a:lstStyle/>
                    <a:p>
                      <a:pPr algn="ctr">
                        <a:lnSpc>
                          <a:spcPts val="3300"/>
                        </a:lnSpc>
                        <a:spcAft>
                          <a:spcPts val="0"/>
                        </a:spcAft>
                      </a:pPr>
                      <a:r>
                        <a:rPr lang="en-US" sz="2800" b="1" kern="100">
                          <a:effectLst/>
                        </a:rPr>
                        <a:t>-u</a:t>
                      </a:r>
                      <a:endParaRPr lang="zh-CN" sz="2800" b="1" kern="100">
                        <a:effectLst/>
                        <a:latin typeface="Times New Roman"/>
                        <a:ea typeface="宋体"/>
                      </a:endParaRPr>
                    </a:p>
                  </a:txBody>
                  <a:tcPr marL="68577" marR="68577" marT="0" marB="0" anchor="ctr"/>
                </a:tc>
                <a:tc>
                  <a:txBody>
                    <a:bodyPr/>
                    <a:lstStyle/>
                    <a:p>
                      <a:pPr algn="l">
                        <a:lnSpc>
                          <a:spcPts val="3300"/>
                        </a:lnSpc>
                        <a:spcAft>
                          <a:spcPts val="0"/>
                        </a:spcAft>
                      </a:pPr>
                      <a:r>
                        <a:rPr lang="zh-CN" sz="2800" b="1" kern="100" dirty="0">
                          <a:effectLst/>
                        </a:rPr>
                        <a:t>显示</a:t>
                      </a:r>
                      <a:r>
                        <a:rPr lang="en-US" sz="2800" b="1" kern="100" dirty="0">
                          <a:effectLst/>
                        </a:rPr>
                        <a:t>UDP</a:t>
                      </a:r>
                      <a:r>
                        <a:rPr lang="zh-CN" sz="2800" b="1" kern="100" dirty="0">
                          <a:effectLst/>
                        </a:rPr>
                        <a:t>协议的连接情况</a:t>
                      </a:r>
                      <a:endParaRPr lang="zh-CN" sz="2800" b="1" kern="100" dirty="0">
                        <a:effectLst/>
                        <a:latin typeface="Times New Roman"/>
                        <a:ea typeface="宋体"/>
                      </a:endParaRPr>
                    </a:p>
                  </a:txBody>
                  <a:tcPr marL="68577" marR="68577" marT="0" marB="0" anchor="ct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F5579E06-8286-A4B3-31BB-6B1275DE3290}"/>
              </a:ext>
            </a:extLst>
          </p:cNvPr>
          <p:cNvSpPr>
            <a:spLocks noGrp="1" noChangeArrowheads="1"/>
          </p:cNvSpPr>
          <p:nvPr>
            <p:ph type="title"/>
          </p:nvPr>
        </p:nvSpPr>
        <p:spPr/>
        <p:txBody>
          <a:bodyPr/>
          <a:lstStyle/>
          <a:p>
            <a:r>
              <a:rPr lang="en-US" altLang="zh-CN"/>
              <a:t>9.2.2  </a:t>
            </a:r>
            <a:r>
              <a:rPr lang="zh-CN" altLang="zh-CN"/>
              <a:t>检查网络状态（</a:t>
            </a:r>
            <a:r>
              <a:rPr lang="en-US" altLang="zh-CN"/>
              <a:t>netstat</a:t>
            </a:r>
            <a:r>
              <a:rPr lang="zh-CN" altLang="zh-CN"/>
              <a:t>）</a:t>
            </a:r>
            <a:endParaRPr lang="zh-CN" altLang="en-US"/>
          </a:p>
        </p:txBody>
      </p:sp>
      <p:sp>
        <p:nvSpPr>
          <p:cNvPr id="26627" name="内容占位符 2">
            <a:extLst>
              <a:ext uri="{FF2B5EF4-FFF2-40B4-BE49-F238E27FC236}">
                <a16:creationId xmlns:a16="http://schemas.microsoft.com/office/drawing/2014/main" id="{5BC1BA86-EBD1-CDBB-7BC5-E909A5A46134}"/>
              </a:ext>
            </a:extLst>
          </p:cNvPr>
          <p:cNvSpPr>
            <a:spLocks noGrp="1" noChangeArrowheads="1"/>
          </p:cNvSpPr>
          <p:nvPr>
            <p:ph idx="1"/>
          </p:nvPr>
        </p:nvSpPr>
        <p:spPr>
          <a:xfrm>
            <a:off x="0" y="549275"/>
            <a:ext cx="9144000" cy="5759450"/>
          </a:xfrm>
        </p:spPr>
        <p:txBody>
          <a:bodyPr/>
          <a:lstStyle/>
          <a:p>
            <a:pPr marL="0" indent="0" fontAlgn="ctr">
              <a:spcBef>
                <a:spcPct val="0"/>
              </a:spcBef>
              <a:spcAft>
                <a:spcPct val="0"/>
              </a:spcAft>
              <a:buFont typeface="Arial" panose="020B0604020202020204" pitchFamily="34" charset="0"/>
              <a:buNone/>
            </a:pPr>
            <a:r>
              <a:rPr lang="en-US" altLang="zh-CN" sz="4800"/>
              <a:t>1</a:t>
            </a:r>
            <a:r>
              <a:rPr lang="zh-CN" altLang="zh-CN" sz="4800"/>
              <a:t>．显示处于监听状态的</a:t>
            </a:r>
            <a:r>
              <a:rPr lang="zh-CN" altLang="zh-CN" sz="4800">
                <a:solidFill>
                  <a:srgbClr val="FF0000"/>
                </a:solidFill>
              </a:rPr>
              <a:t>所有端口</a:t>
            </a:r>
            <a:endParaRPr lang="en-US" altLang="zh-CN" sz="4800">
              <a:solidFill>
                <a:srgbClr val="FF0000"/>
              </a:solidFill>
            </a:endParaRPr>
          </a:p>
          <a:p>
            <a:pPr marL="0" indent="0" fontAlgn="ctr">
              <a:spcBef>
                <a:spcPct val="0"/>
              </a:spcBef>
              <a:spcAft>
                <a:spcPct val="0"/>
              </a:spcAft>
              <a:buFont typeface="Arial" panose="020B0604020202020204" pitchFamily="34" charset="0"/>
              <a:buNone/>
            </a:pPr>
            <a:r>
              <a:rPr lang="zh-CN" altLang="zh-CN" sz="4800"/>
              <a:t>如果要显示所有</a:t>
            </a:r>
            <a:r>
              <a:rPr lang="zh-CN" altLang="zh-CN" sz="4800">
                <a:solidFill>
                  <a:srgbClr val="FF0000"/>
                </a:solidFill>
              </a:rPr>
              <a:t>处于监听状态</a:t>
            </a:r>
            <a:r>
              <a:rPr lang="zh-CN" altLang="zh-CN" sz="4800"/>
              <a:t>的端口，可使用</a:t>
            </a:r>
            <a:r>
              <a:rPr lang="en-US" altLang="zh-CN" sz="4800"/>
              <a:t>-a</a:t>
            </a:r>
            <a:r>
              <a:rPr lang="zh-CN" altLang="zh-CN" sz="4800"/>
              <a:t>参数。本示例显示系统内所有</a:t>
            </a:r>
            <a:r>
              <a:rPr lang="en-US" altLang="zh-CN" sz="4800"/>
              <a:t>tcp</a:t>
            </a:r>
            <a:r>
              <a:rPr lang="zh-CN" altLang="zh-CN" sz="4800"/>
              <a:t>端口的状态信息</a:t>
            </a:r>
            <a:endParaRPr lang="en-US" altLang="zh-CN" sz="4800"/>
          </a:p>
          <a:p>
            <a:pPr marL="0" indent="0" fontAlgn="ctr">
              <a:spcBef>
                <a:spcPct val="0"/>
              </a:spcBef>
              <a:spcAft>
                <a:spcPct val="0"/>
              </a:spcAft>
              <a:buFont typeface="Arial" panose="020B0604020202020204" pitchFamily="34" charset="0"/>
              <a:buNone/>
            </a:pPr>
            <a:endParaRPr lang="zh-CN" altLang="zh-CN" sz="4800"/>
          </a:p>
          <a:p>
            <a:pPr marL="0" indent="0" algn="ctr">
              <a:spcBef>
                <a:spcPct val="0"/>
              </a:spcBef>
              <a:spcAft>
                <a:spcPct val="0"/>
              </a:spcAft>
              <a:buFont typeface="Arial" panose="020B0604020202020204" pitchFamily="34" charset="0"/>
              <a:buNone/>
            </a:pPr>
            <a:r>
              <a:rPr lang="en-US" altLang="zh-CN" sz="4800"/>
              <a:t>#netstat –ia	#</a:t>
            </a:r>
            <a:r>
              <a:rPr lang="zh-CN" altLang="zh-CN" sz="4800"/>
              <a:t>显示所有</a:t>
            </a:r>
            <a:r>
              <a:rPr lang="en-US" altLang="zh-CN" sz="4800"/>
              <a:t>TCP</a:t>
            </a:r>
            <a:r>
              <a:rPr lang="zh-CN" altLang="zh-CN" sz="4800"/>
              <a:t>端口</a:t>
            </a:r>
            <a:endParaRPr lang="zh-CN" altLang="en-US" sz="4800"/>
          </a:p>
        </p:txBody>
      </p:sp>
      <p:pic>
        <p:nvPicPr>
          <p:cNvPr id="2" name="图片 1">
            <a:extLst>
              <a:ext uri="{FF2B5EF4-FFF2-40B4-BE49-F238E27FC236}">
                <a16:creationId xmlns:a16="http://schemas.microsoft.com/office/drawing/2014/main" id="{F324899D-36FD-D4C5-F477-4BE4DA19692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0338" y="549275"/>
            <a:ext cx="8823325" cy="561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0DE28268-3635-F157-39B9-DDBDAC77B959}"/>
              </a:ext>
            </a:extLst>
          </p:cNvPr>
          <p:cNvSpPr>
            <a:spLocks noGrp="1" noChangeArrowheads="1"/>
          </p:cNvSpPr>
          <p:nvPr>
            <p:ph type="title"/>
          </p:nvPr>
        </p:nvSpPr>
        <p:spPr/>
        <p:txBody>
          <a:bodyPr/>
          <a:lstStyle/>
          <a:p>
            <a:r>
              <a:rPr lang="en-US" altLang="zh-CN"/>
              <a:t>9.2.2  </a:t>
            </a:r>
            <a:r>
              <a:rPr lang="zh-CN" altLang="zh-CN"/>
              <a:t>检查网络状态（</a:t>
            </a:r>
            <a:r>
              <a:rPr lang="en-US" altLang="zh-CN"/>
              <a:t>netstat</a:t>
            </a:r>
            <a:r>
              <a:rPr lang="zh-CN" altLang="zh-CN"/>
              <a:t>）</a:t>
            </a:r>
            <a:endParaRPr lang="zh-CN" altLang="en-US"/>
          </a:p>
        </p:txBody>
      </p:sp>
      <p:sp>
        <p:nvSpPr>
          <p:cNvPr id="1048648" name="内容占位符 2">
            <a:extLst>
              <a:ext uri="{FF2B5EF4-FFF2-40B4-BE49-F238E27FC236}">
                <a16:creationId xmlns:a16="http://schemas.microsoft.com/office/drawing/2014/main" id="{86E55936-1A40-6DD8-DAF5-0148EACA4725}"/>
              </a:ext>
            </a:extLst>
          </p:cNvPr>
          <p:cNvSpPr>
            <a:spLocks noGrp="1"/>
          </p:cNvSpPr>
          <p:nvPr>
            <p:ph idx="1"/>
          </p:nvPr>
        </p:nvSpPr>
        <p:spPr>
          <a:xfrm>
            <a:off x="34925" y="620713"/>
            <a:ext cx="9074150" cy="5761037"/>
          </a:xfrm>
        </p:spPr>
        <p:txBody>
          <a:bodyPr/>
          <a:lstStyle/>
          <a:p>
            <a:pPr fontAlgn="ctr">
              <a:spcBef>
                <a:spcPts val="0"/>
              </a:spcBef>
              <a:spcAft>
                <a:spcPts val="0"/>
              </a:spcAft>
              <a:defRPr/>
            </a:pPr>
            <a:r>
              <a:rPr lang="en-US" altLang="zh-CN" sz="4400" dirty="0"/>
              <a:t>2</a:t>
            </a:r>
            <a:r>
              <a:rPr lang="zh-CN" altLang="zh-CN" sz="4400" dirty="0"/>
              <a:t>．显示网络接口使用的统计信息</a:t>
            </a:r>
            <a:endParaRPr lang="en-US" altLang="zh-CN" sz="4400" dirty="0"/>
          </a:p>
          <a:p>
            <a:pPr marL="0" indent="0" fontAlgn="ctr">
              <a:spcBef>
                <a:spcPts val="0"/>
              </a:spcBef>
              <a:spcAft>
                <a:spcPts val="0"/>
              </a:spcAft>
              <a:buFont typeface="Arial" panose="020B0604020202020204" pitchFamily="34" charset="0"/>
              <a:buNone/>
              <a:defRPr/>
            </a:pPr>
            <a:r>
              <a:rPr lang="zh-CN" altLang="zh-CN" sz="4400" dirty="0"/>
              <a:t>使用</a:t>
            </a:r>
            <a:r>
              <a:rPr lang="en-US" altLang="zh-CN" sz="4400" dirty="0"/>
              <a:t>−</a:t>
            </a:r>
            <a:r>
              <a:rPr lang="en-US" altLang="zh-CN" sz="4400" dirty="0" err="1"/>
              <a:t>i</a:t>
            </a:r>
            <a:r>
              <a:rPr lang="zh-CN" altLang="zh-CN" sz="4400" dirty="0"/>
              <a:t>选项执行</a:t>
            </a:r>
            <a:r>
              <a:rPr lang="en-US" altLang="zh-CN" sz="4400" dirty="0" err="1"/>
              <a:t>netstat</a:t>
            </a:r>
            <a:r>
              <a:rPr lang="zh-CN" altLang="zh-CN" sz="4400" dirty="0"/>
              <a:t>可以</a:t>
            </a:r>
            <a:r>
              <a:rPr lang="zh-CN" altLang="zh-CN" sz="4400" dirty="0">
                <a:solidFill>
                  <a:srgbClr val="FF0000"/>
                </a:solidFill>
              </a:rPr>
              <a:t>显示所有已配置接口</a:t>
            </a:r>
            <a:r>
              <a:rPr lang="zh-CN" altLang="zh-CN" sz="4400" dirty="0"/>
              <a:t>的一些有用的统计信息，使用该参数，可以很容易检查连接的状态以及连接是否“正常”。因此，这是一个用于检测和排除网络故障的非常有用的措施。</a:t>
            </a:r>
          </a:p>
          <a:p>
            <a:pPr marL="0" indent="0" algn="ctr">
              <a:spcBef>
                <a:spcPts val="0"/>
              </a:spcBef>
              <a:spcAft>
                <a:spcPts val="0"/>
              </a:spcAft>
              <a:buFont typeface="Arial" panose="020B0604020202020204" pitchFamily="34" charset="0"/>
              <a:buNone/>
              <a:defRPr/>
            </a:pPr>
            <a:r>
              <a:rPr lang="en-US" altLang="zh-CN" sz="4400" dirty="0"/>
              <a:t>#</a:t>
            </a:r>
            <a:r>
              <a:rPr lang="en-US" altLang="zh-CN" sz="4400" dirty="0" err="1"/>
              <a:t>netstat</a:t>
            </a:r>
            <a:r>
              <a:rPr lang="en-US" altLang="zh-CN" sz="4400" dirty="0"/>
              <a:t> -</a:t>
            </a:r>
            <a:r>
              <a:rPr lang="en-US" altLang="zh-CN" sz="4400" dirty="0" err="1"/>
              <a:t>i</a:t>
            </a:r>
            <a:endParaRPr lang="zh-CN" altLang="en-US" sz="4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B6DD5057-9AC5-0684-6580-C6033AAC6926}"/>
              </a:ext>
            </a:extLst>
          </p:cNvPr>
          <p:cNvSpPr>
            <a:spLocks noGrp="1" noChangeArrowheads="1"/>
          </p:cNvSpPr>
          <p:nvPr>
            <p:ph type="title"/>
          </p:nvPr>
        </p:nvSpPr>
        <p:spPr/>
        <p:txBody>
          <a:bodyPr/>
          <a:lstStyle/>
          <a:p>
            <a:r>
              <a:rPr lang="en-US" altLang="zh-CN"/>
              <a:t>9.2.2  </a:t>
            </a:r>
            <a:r>
              <a:rPr lang="zh-CN" altLang="zh-CN"/>
              <a:t>检查网络状态（</a:t>
            </a:r>
            <a:r>
              <a:rPr lang="en-US" altLang="zh-CN"/>
              <a:t>netstat</a:t>
            </a:r>
            <a:r>
              <a:rPr lang="zh-CN" altLang="zh-CN"/>
              <a:t>）</a:t>
            </a:r>
            <a:endParaRPr lang="zh-CN" altLang="en-US"/>
          </a:p>
        </p:txBody>
      </p:sp>
      <p:sp>
        <p:nvSpPr>
          <p:cNvPr id="1048650" name="内容占位符 2">
            <a:extLst>
              <a:ext uri="{FF2B5EF4-FFF2-40B4-BE49-F238E27FC236}">
                <a16:creationId xmlns:a16="http://schemas.microsoft.com/office/drawing/2014/main" id="{111973AB-AB06-83DF-7D96-DA585BE82D85}"/>
              </a:ext>
            </a:extLst>
          </p:cNvPr>
          <p:cNvSpPr>
            <a:spLocks noGrp="1"/>
          </p:cNvSpPr>
          <p:nvPr>
            <p:ph idx="1"/>
          </p:nvPr>
        </p:nvSpPr>
        <p:spPr>
          <a:xfrm>
            <a:off x="0" y="549275"/>
            <a:ext cx="9144000" cy="5832475"/>
          </a:xfrm>
        </p:spPr>
        <p:txBody>
          <a:bodyPr/>
          <a:lstStyle/>
          <a:p>
            <a:pPr>
              <a:spcBef>
                <a:spcPts val="0"/>
              </a:spcBef>
              <a:spcAft>
                <a:spcPts val="0"/>
              </a:spcAft>
              <a:defRPr/>
            </a:pPr>
            <a:r>
              <a:rPr lang="en-US" altLang="zh-CN" sz="3600" dirty="0"/>
              <a:t>3</a:t>
            </a:r>
            <a:r>
              <a:rPr lang="zh-CN" altLang="zh-CN" sz="3600" dirty="0"/>
              <a:t>．显示路由表</a:t>
            </a:r>
            <a:endParaRPr lang="en-US" altLang="zh-CN" sz="3600" dirty="0"/>
          </a:p>
          <a:p>
            <a:pPr marL="0" indent="0" algn="ctr">
              <a:spcBef>
                <a:spcPts val="0"/>
              </a:spcBef>
              <a:spcAft>
                <a:spcPts val="0"/>
              </a:spcAft>
              <a:buFont typeface="Arial" panose="020B0604020202020204" pitchFamily="34" charset="0"/>
              <a:buNone/>
              <a:defRPr/>
            </a:pPr>
            <a:r>
              <a:rPr lang="en-US" altLang="zh-CN" sz="3600" dirty="0"/>
              <a:t>#</a:t>
            </a:r>
            <a:r>
              <a:rPr lang="en-US" altLang="zh-CN" sz="3600" dirty="0" err="1"/>
              <a:t>netstat</a:t>
            </a:r>
            <a:r>
              <a:rPr lang="en-US" altLang="zh-CN" sz="3600" dirty="0"/>
              <a:t> -nr	#</a:t>
            </a:r>
            <a:r>
              <a:rPr lang="zh-CN" altLang="zh-CN" sz="3600" dirty="0"/>
              <a:t>带参数</a:t>
            </a:r>
            <a:r>
              <a:rPr lang="en-US" altLang="zh-CN" sz="3600" dirty="0"/>
              <a:t>-r</a:t>
            </a:r>
            <a:r>
              <a:rPr lang="zh-CN" altLang="zh-CN" sz="3600" dirty="0"/>
              <a:t>运行</a:t>
            </a:r>
            <a:r>
              <a:rPr lang="en-US" altLang="zh-CN" sz="3600" dirty="0" err="1"/>
              <a:t>netstat</a:t>
            </a:r>
            <a:r>
              <a:rPr lang="zh-CN" altLang="zh-CN" sz="3600" dirty="0"/>
              <a:t>将显示内核路由表</a:t>
            </a:r>
            <a:endParaRPr lang="en-US" altLang="zh-CN" sz="3600" dirty="0"/>
          </a:p>
          <a:p>
            <a:pPr marL="0" indent="0">
              <a:spcBef>
                <a:spcPts val="0"/>
              </a:spcBef>
              <a:spcAft>
                <a:spcPts val="0"/>
              </a:spcAft>
              <a:buFont typeface="Arial" panose="020B0604020202020204" pitchFamily="34" charset="0"/>
              <a:buNone/>
              <a:defRPr/>
            </a:pPr>
            <a:r>
              <a:rPr lang="zh-CN" altLang="zh-CN" sz="3600" dirty="0"/>
              <a:t>在</a:t>
            </a:r>
            <a:r>
              <a:rPr lang="en-US" altLang="zh-CN" sz="3600" dirty="0" err="1"/>
              <a:t>netstat</a:t>
            </a:r>
            <a:r>
              <a:rPr lang="zh-CN" altLang="zh-CN" sz="3600" dirty="0"/>
              <a:t>输出结果中，第一列为目的地址，第二列是路由条目所指的网关，如果没有使用网关，就会出现一个星号（</a:t>
            </a:r>
            <a:r>
              <a:rPr lang="en-US" altLang="zh-CN" sz="3600" dirty="0"/>
              <a:t>*</a:t>
            </a:r>
            <a:r>
              <a:rPr lang="zh-CN" altLang="zh-CN" sz="3600" dirty="0"/>
              <a:t>）或者</a:t>
            </a:r>
            <a:r>
              <a:rPr lang="en-US" altLang="zh-CN" sz="3600" dirty="0"/>
              <a:t>0.0.0.0</a:t>
            </a:r>
            <a:r>
              <a:rPr lang="zh-CN" altLang="zh-CN" sz="3600" dirty="0"/>
              <a:t>；第三列为掩码；第四列显示了不同的状态标记；</a:t>
            </a:r>
            <a:r>
              <a:rPr lang="en-US" altLang="zh-CN" sz="3600" dirty="0" err="1"/>
              <a:t>Iface</a:t>
            </a:r>
            <a:r>
              <a:rPr lang="zh-CN" altLang="zh-CN" sz="3600" dirty="0"/>
              <a:t>栏表示该连接所用的物理网卡，如</a:t>
            </a:r>
            <a:r>
              <a:rPr lang="en-US" altLang="zh-CN" sz="3600" dirty="0"/>
              <a:t>eth0</a:t>
            </a:r>
            <a:r>
              <a:rPr lang="zh-CN" altLang="zh-CN" sz="3600" dirty="0"/>
              <a:t>，</a:t>
            </a:r>
            <a:r>
              <a:rPr lang="en-US" altLang="zh-CN" sz="3600" dirty="0"/>
              <a:t>eth1</a:t>
            </a:r>
            <a:r>
              <a:rPr lang="zh-CN" altLang="zh-CN" sz="3600" dirty="0"/>
              <a:t>，</a:t>
            </a:r>
            <a:r>
              <a:rPr lang="en-US" altLang="zh-CN" sz="3600" dirty="0"/>
              <a:t>lo</a:t>
            </a:r>
            <a:r>
              <a:rPr lang="zh-CN" altLang="zh-CN" sz="3600" dirty="0"/>
              <a:t>等。</a:t>
            </a:r>
          </a:p>
        </p:txBody>
      </p:sp>
      <p:pic>
        <p:nvPicPr>
          <p:cNvPr id="2" name="图片 1">
            <a:extLst>
              <a:ext uri="{FF2B5EF4-FFF2-40B4-BE49-F238E27FC236}">
                <a16:creationId xmlns:a16="http://schemas.microsoft.com/office/drawing/2014/main" id="{029CC035-4A42-3822-9409-E3DB0A7A17F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950" y="692150"/>
            <a:ext cx="9036050" cy="561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B2C360A1-ED93-3B0A-421B-4A7E9E532FC8}"/>
              </a:ext>
            </a:extLst>
          </p:cNvPr>
          <p:cNvSpPr>
            <a:spLocks noGrp="1" noChangeArrowheads="1"/>
          </p:cNvSpPr>
          <p:nvPr>
            <p:ph type="title"/>
          </p:nvPr>
        </p:nvSpPr>
        <p:spPr>
          <a:xfrm>
            <a:off x="22225" y="25400"/>
            <a:ext cx="9013825" cy="523875"/>
          </a:xfrm>
        </p:spPr>
        <p:txBody>
          <a:bodyPr/>
          <a:lstStyle/>
          <a:p>
            <a:r>
              <a:rPr lang="en-US" altLang="zh-CN" sz="3200"/>
              <a:t>9.2.3  </a:t>
            </a:r>
            <a:r>
              <a:rPr lang="zh-CN" altLang="zh-CN" sz="3200"/>
              <a:t>地址解析协议缓存中的项目管理（</a:t>
            </a:r>
            <a:r>
              <a:rPr lang="en-US" altLang="zh-CN" sz="3200"/>
              <a:t>arp</a:t>
            </a:r>
            <a:r>
              <a:rPr lang="zh-CN" altLang="zh-CN" sz="3200"/>
              <a:t>）</a:t>
            </a:r>
            <a:endParaRPr lang="zh-CN" altLang="en-US" sz="3200"/>
          </a:p>
        </p:txBody>
      </p:sp>
      <p:sp>
        <p:nvSpPr>
          <p:cNvPr id="1048652" name="内容占位符 2">
            <a:extLst>
              <a:ext uri="{FF2B5EF4-FFF2-40B4-BE49-F238E27FC236}">
                <a16:creationId xmlns:a16="http://schemas.microsoft.com/office/drawing/2014/main" id="{6CDF766D-3D9A-DB72-33EC-2CCEABF28ADD}"/>
              </a:ext>
            </a:extLst>
          </p:cNvPr>
          <p:cNvSpPr>
            <a:spLocks noGrp="1"/>
          </p:cNvSpPr>
          <p:nvPr>
            <p:ph idx="1"/>
          </p:nvPr>
        </p:nvSpPr>
        <p:spPr>
          <a:xfrm>
            <a:off x="22225" y="581025"/>
            <a:ext cx="9121775" cy="5727700"/>
          </a:xfrm>
        </p:spPr>
        <p:txBody>
          <a:bodyPr/>
          <a:lstStyle/>
          <a:p>
            <a:pPr fontAlgn="ctr">
              <a:spcBef>
                <a:spcPts val="0"/>
              </a:spcBef>
              <a:spcAft>
                <a:spcPts val="0"/>
              </a:spcAft>
              <a:defRPr/>
            </a:pPr>
            <a:r>
              <a:rPr lang="en-US" altLang="zh-CN" sz="4000" dirty="0" err="1"/>
              <a:t>arp</a:t>
            </a:r>
            <a:r>
              <a:rPr lang="zh-CN" altLang="zh-CN" sz="4000" dirty="0"/>
              <a:t>用于管理</a:t>
            </a:r>
            <a:r>
              <a:rPr lang="zh-CN" altLang="zh-CN" sz="4000" dirty="0">
                <a:solidFill>
                  <a:srgbClr val="FF0000"/>
                </a:solidFill>
              </a:rPr>
              <a:t>内核缓存</a:t>
            </a:r>
            <a:r>
              <a:rPr lang="zh-CN" altLang="zh-CN" sz="4000" dirty="0"/>
              <a:t>的内容。</a:t>
            </a:r>
            <a:r>
              <a:rPr lang="en-US" altLang="zh-CN" sz="4000" dirty="0"/>
              <a:t>ARP</a:t>
            </a:r>
            <a:r>
              <a:rPr lang="zh-CN" altLang="zh-CN" sz="4000" dirty="0"/>
              <a:t>缓存中包含</a:t>
            </a:r>
            <a:r>
              <a:rPr lang="zh-CN" altLang="zh-CN" sz="4000" dirty="0">
                <a:solidFill>
                  <a:srgbClr val="FF0000"/>
                </a:solidFill>
              </a:rPr>
              <a:t>一个或多个表</a:t>
            </a:r>
            <a:r>
              <a:rPr lang="zh-CN" altLang="zh-CN" sz="4000" dirty="0"/>
              <a:t>，它们用于</a:t>
            </a:r>
            <a:r>
              <a:rPr lang="zh-CN" altLang="zh-CN" sz="4000" dirty="0">
                <a:solidFill>
                  <a:srgbClr val="FF0000"/>
                </a:solidFill>
              </a:rPr>
              <a:t>存储</a:t>
            </a:r>
            <a:r>
              <a:rPr lang="en-US" altLang="zh-CN" sz="4000" dirty="0">
                <a:solidFill>
                  <a:srgbClr val="FF0000"/>
                </a:solidFill>
              </a:rPr>
              <a:t>IP</a:t>
            </a:r>
            <a:r>
              <a:rPr lang="zh-CN" altLang="zh-CN" sz="4000" dirty="0">
                <a:solidFill>
                  <a:srgbClr val="FF0000"/>
                </a:solidFill>
              </a:rPr>
              <a:t>地址</a:t>
            </a:r>
            <a:r>
              <a:rPr lang="zh-CN" altLang="zh-CN" sz="4000" dirty="0"/>
              <a:t>及其经过</a:t>
            </a:r>
            <a:r>
              <a:rPr lang="zh-CN" altLang="zh-CN" sz="4000" dirty="0">
                <a:solidFill>
                  <a:srgbClr val="FF0000"/>
                </a:solidFill>
              </a:rPr>
              <a:t>解析的物理地址</a:t>
            </a:r>
            <a:r>
              <a:rPr lang="zh-CN" altLang="zh-CN" sz="4000" dirty="0"/>
              <a:t>，其语法为：</a:t>
            </a:r>
            <a:r>
              <a:rPr lang="en-US" altLang="zh-CN" sz="4000" dirty="0"/>
              <a:t> </a:t>
            </a:r>
            <a:endParaRPr lang="zh-CN" altLang="zh-CN" sz="4000" dirty="0"/>
          </a:p>
          <a:p>
            <a:pPr marL="0" indent="0" algn="ctr">
              <a:spcBef>
                <a:spcPts val="0"/>
              </a:spcBef>
              <a:spcAft>
                <a:spcPts val="0"/>
              </a:spcAft>
              <a:buFont typeface="Arial" panose="020B0604020202020204" pitchFamily="34" charset="0"/>
              <a:buNone/>
              <a:defRPr/>
            </a:pPr>
            <a:r>
              <a:rPr lang="en-US" altLang="zh-CN" sz="4000" dirty="0" err="1"/>
              <a:t>arp</a:t>
            </a:r>
            <a:r>
              <a:rPr lang="en-US" altLang="zh-CN" sz="4000" dirty="0"/>
              <a:t> [-v] [-t </a:t>
            </a:r>
            <a:r>
              <a:rPr lang="en-US" altLang="zh-CN" sz="4000" dirty="0" err="1"/>
              <a:t>hwtype</a:t>
            </a:r>
            <a:r>
              <a:rPr lang="en-US" altLang="zh-CN" sz="4000" dirty="0"/>
              <a:t>] -a [hostname]</a:t>
            </a:r>
            <a:endParaRPr lang="zh-CN" altLang="zh-CN" sz="4000" dirty="0"/>
          </a:p>
          <a:p>
            <a:pPr marL="0" indent="0" algn="ctr">
              <a:spcBef>
                <a:spcPts val="0"/>
              </a:spcBef>
              <a:spcAft>
                <a:spcPts val="0"/>
              </a:spcAft>
              <a:buFont typeface="Arial" panose="020B0604020202020204" pitchFamily="34" charset="0"/>
              <a:buNone/>
              <a:defRPr/>
            </a:pPr>
            <a:r>
              <a:rPr lang="en-US" altLang="zh-CN" sz="4000" dirty="0" err="1"/>
              <a:t>arp</a:t>
            </a:r>
            <a:r>
              <a:rPr lang="en-US" altLang="zh-CN" sz="4000" dirty="0"/>
              <a:t> [-v] [-t </a:t>
            </a:r>
            <a:r>
              <a:rPr lang="en-US" altLang="zh-CN" sz="4000" dirty="0" err="1"/>
              <a:t>hwtype</a:t>
            </a:r>
            <a:r>
              <a:rPr lang="en-US" altLang="zh-CN" sz="4000" dirty="0"/>
              <a:t>] -s hostname </a:t>
            </a:r>
            <a:r>
              <a:rPr lang="en-US" altLang="zh-CN" sz="4000" dirty="0" err="1"/>
              <a:t>hwaddr</a:t>
            </a:r>
            <a:endParaRPr lang="zh-CN" altLang="zh-CN" sz="4000" dirty="0"/>
          </a:p>
          <a:p>
            <a:pPr marL="0" indent="0" algn="ctr">
              <a:spcBef>
                <a:spcPts val="0"/>
              </a:spcBef>
              <a:spcAft>
                <a:spcPts val="0"/>
              </a:spcAft>
              <a:buFont typeface="Arial" panose="020B0604020202020204" pitchFamily="34" charset="0"/>
              <a:buNone/>
              <a:defRPr/>
            </a:pPr>
            <a:r>
              <a:rPr lang="en-US" altLang="zh-CN" sz="4000" dirty="0" err="1"/>
              <a:t>arp</a:t>
            </a:r>
            <a:r>
              <a:rPr lang="en-US" altLang="zh-CN" sz="4000" dirty="0"/>
              <a:t> [-v] -d hostname [hostname...]</a:t>
            </a:r>
            <a:endParaRPr lang="zh-CN" alt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2F119958-7374-3250-B222-14F67BCC5B88}"/>
              </a:ext>
            </a:extLst>
          </p:cNvPr>
          <p:cNvSpPr>
            <a:spLocks noGrp="1" noChangeArrowheads="1"/>
          </p:cNvSpPr>
          <p:nvPr>
            <p:ph type="title"/>
          </p:nvPr>
        </p:nvSpPr>
        <p:spPr>
          <a:xfrm>
            <a:off x="107950" y="-100013"/>
            <a:ext cx="8964613" cy="731838"/>
          </a:xfrm>
        </p:spPr>
        <p:txBody>
          <a:bodyPr/>
          <a:lstStyle/>
          <a:p>
            <a:r>
              <a:rPr lang="en-US" altLang="zh-CN" sz="3200"/>
              <a:t>9.2.3  </a:t>
            </a:r>
            <a:r>
              <a:rPr lang="zh-CN" altLang="zh-CN" sz="3200"/>
              <a:t>地址解析协议缓存中的项目管理（</a:t>
            </a:r>
            <a:r>
              <a:rPr lang="en-US" altLang="zh-CN" sz="3200"/>
              <a:t>arp</a:t>
            </a:r>
            <a:r>
              <a:rPr lang="zh-CN" altLang="zh-CN" sz="3200"/>
              <a:t>）</a:t>
            </a:r>
            <a:endParaRPr lang="zh-CN" altLang="en-US" sz="3200"/>
          </a:p>
        </p:txBody>
      </p:sp>
      <p:sp>
        <p:nvSpPr>
          <p:cNvPr id="30723" name="内容占位符 2">
            <a:extLst>
              <a:ext uri="{FF2B5EF4-FFF2-40B4-BE49-F238E27FC236}">
                <a16:creationId xmlns:a16="http://schemas.microsoft.com/office/drawing/2014/main" id="{0D46BAD6-07F8-5BC1-DC58-A5D6528D442E}"/>
              </a:ext>
            </a:extLst>
          </p:cNvPr>
          <p:cNvSpPr>
            <a:spLocks noGrp="1" noChangeArrowheads="1"/>
          </p:cNvSpPr>
          <p:nvPr>
            <p:ph idx="1"/>
          </p:nvPr>
        </p:nvSpPr>
        <p:spPr>
          <a:xfrm>
            <a:off x="6350" y="631825"/>
            <a:ext cx="8958263" cy="493713"/>
          </a:xfrm>
        </p:spPr>
        <p:txBody>
          <a:bodyPr/>
          <a:lstStyle/>
          <a:p>
            <a:pPr fontAlgn="ctr"/>
            <a:r>
              <a:rPr lang="zh-CN" altLang="zh-CN"/>
              <a:t> </a:t>
            </a:r>
            <a:r>
              <a:rPr lang="en-US" altLang="zh-CN"/>
              <a:t>arp</a:t>
            </a:r>
            <a:r>
              <a:rPr lang="zh-CN" altLang="zh-CN"/>
              <a:t>命令常用参数</a:t>
            </a:r>
            <a:endParaRPr lang="en-US" altLang="zh-CN"/>
          </a:p>
          <a:p>
            <a:pPr fontAlgn="ctr"/>
            <a:endParaRPr lang="zh-CN" altLang="en-US"/>
          </a:p>
        </p:txBody>
      </p:sp>
      <p:graphicFrame>
        <p:nvGraphicFramePr>
          <p:cNvPr id="4194307" name="表格 3">
            <a:extLst>
              <a:ext uri="{FF2B5EF4-FFF2-40B4-BE49-F238E27FC236}">
                <a16:creationId xmlns:a16="http://schemas.microsoft.com/office/drawing/2014/main" id="{8D57058F-E613-729E-5E23-CD0DC7CD6C7E}"/>
              </a:ext>
            </a:extLst>
          </p:cNvPr>
          <p:cNvGraphicFramePr>
            <a:graphicFrameLocks noGrp="1"/>
          </p:cNvGraphicFramePr>
          <p:nvPr/>
        </p:nvGraphicFramePr>
        <p:xfrm>
          <a:off x="107950" y="1196975"/>
          <a:ext cx="8964613" cy="5456238"/>
        </p:xfrm>
        <a:graphic>
          <a:graphicData uri="http://schemas.openxmlformats.org/drawingml/2006/table">
            <a:tbl>
              <a:tblPr>
                <a:tableStyleId>{5C22544A-7EE6-4342-B048-85BDC9FD1C3A}</a:tableStyleId>
              </a:tblPr>
              <a:tblGrid>
                <a:gridCol w="2592324">
                  <a:extLst>
                    <a:ext uri="{9D8B030D-6E8A-4147-A177-3AD203B41FA5}">
                      <a16:colId xmlns:a16="http://schemas.microsoft.com/office/drawing/2014/main" val="20000"/>
                    </a:ext>
                  </a:extLst>
                </a:gridCol>
                <a:gridCol w="6372289">
                  <a:extLst>
                    <a:ext uri="{9D8B030D-6E8A-4147-A177-3AD203B41FA5}">
                      <a16:colId xmlns:a16="http://schemas.microsoft.com/office/drawing/2014/main" val="20001"/>
                    </a:ext>
                  </a:extLst>
                </a:gridCol>
              </a:tblGrid>
              <a:tr h="565529">
                <a:tc>
                  <a:txBody>
                    <a:bodyPr/>
                    <a:lstStyle/>
                    <a:p>
                      <a:pPr algn="ctr">
                        <a:lnSpc>
                          <a:spcPts val="3300"/>
                        </a:lnSpc>
                        <a:spcAft>
                          <a:spcPts val="0"/>
                        </a:spcAft>
                      </a:pPr>
                      <a:r>
                        <a:rPr lang="zh-CN" sz="2400" b="1" kern="100" dirty="0">
                          <a:effectLst/>
                        </a:rPr>
                        <a:t>参 数 名 称</a:t>
                      </a:r>
                      <a:endParaRPr lang="zh-CN" sz="2400" b="1" kern="100" dirty="0">
                        <a:effectLst/>
                        <a:latin typeface="Times New Roman"/>
                        <a:ea typeface="宋体"/>
                      </a:endParaRPr>
                    </a:p>
                  </a:txBody>
                  <a:tcPr marL="68581" marR="68581" marT="0" marB="0" anchor="ctr"/>
                </a:tc>
                <a:tc>
                  <a:txBody>
                    <a:bodyPr/>
                    <a:lstStyle/>
                    <a:p>
                      <a:pPr algn="ctr">
                        <a:lnSpc>
                          <a:spcPts val="3300"/>
                        </a:lnSpc>
                        <a:spcAft>
                          <a:spcPts val="0"/>
                        </a:spcAft>
                      </a:pPr>
                      <a:r>
                        <a:rPr lang="zh-CN" sz="2400" b="1" kern="100" dirty="0">
                          <a:effectLst/>
                        </a:rPr>
                        <a:t>说</a:t>
                      </a:r>
                      <a:r>
                        <a:rPr lang="en-US" sz="2400" b="1" kern="100" dirty="0">
                          <a:effectLst/>
                        </a:rPr>
                        <a:t>    </a:t>
                      </a:r>
                      <a:r>
                        <a:rPr lang="zh-CN" sz="2400" b="1" kern="100" dirty="0">
                          <a:effectLst/>
                        </a:rPr>
                        <a:t>明</a:t>
                      </a:r>
                      <a:endParaRPr lang="zh-CN" sz="2400" b="1" kern="100" dirty="0">
                        <a:effectLst/>
                        <a:latin typeface="Times New Roman"/>
                        <a:ea typeface="宋体"/>
                      </a:endParaRPr>
                    </a:p>
                  </a:txBody>
                  <a:tcPr marL="68581" marR="68581" marT="0" marB="0" anchor="ctr"/>
                </a:tc>
                <a:extLst>
                  <a:ext uri="{0D108BD9-81ED-4DB2-BD59-A6C34878D82A}">
                    <a16:rowId xmlns:a16="http://schemas.microsoft.com/office/drawing/2014/main" val="10000"/>
                  </a:ext>
                </a:extLst>
              </a:tr>
              <a:tr h="565529">
                <a:tc>
                  <a:txBody>
                    <a:bodyPr/>
                    <a:lstStyle/>
                    <a:p>
                      <a:pPr algn="ctr">
                        <a:lnSpc>
                          <a:spcPts val="3300"/>
                        </a:lnSpc>
                        <a:spcAft>
                          <a:spcPts val="0"/>
                        </a:spcAft>
                      </a:pPr>
                      <a:r>
                        <a:rPr lang="en-US" sz="2800" b="1" kern="100" dirty="0">
                          <a:solidFill>
                            <a:srgbClr val="FF0000"/>
                          </a:solidFill>
                          <a:effectLst/>
                        </a:rPr>
                        <a:t>-a [hostname]</a:t>
                      </a:r>
                      <a:endParaRPr lang="zh-CN" sz="2800" b="1" kern="100" dirty="0">
                        <a:solidFill>
                          <a:srgbClr val="FF0000"/>
                        </a:solidFill>
                        <a:effectLst/>
                        <a:latin typeface="Times New Roman"/>
                        <a:ea typeface="宋体"/>
                      </a:endParaRPr>
                    </a:p>
                  </a:txBody>
                  <a:tcPr marL="68581" marR="68581" marT="0" marB="0" anchor="ctr"/>
                </a:tc>
                <a:tc>
                  <a:txBody>
                    <a:bodyPr/>
                    <a:lstStyle/>
                    <a:p>
                      <a:pPr algn="l">
                        <a:lnSpc>
                          <a:spcPts val="3300"/>
                        </a:lnSpc>
                        <a:spcAft>
                          <a:spcPts val="0"/>
                        </a:spcAft>
                      </a:pPr>
                      <a:r>
                        <a:rPr lang="zh-CN" sz="2400" b="1" kern="100" dirty="0">
                          <a:effectLst/>
                        </a:rPr>
                        <a:t>显示指定主机上所有接口的当前</a:t>
                      </a:r>
                      <a:r>
                        <a:rPr lang="en-US" sz="2400" b="1" kern="100" dirty="0">
                          <a:effectLst/>
                        </a:rPr>
                        <a:t>ARP</a:t>
                      </a:r>
                      <a:r>
                        <a:rPr lang="zh-CN" sz="2400" b="1" kern="100" dirty="0">
                          <a:effectLst/>
                        </a:rPr>
                        <a:t>缓存表</a:t>
                      </a:r>
                      <a:endParaRPr lang="zh-CN" sz="2400" b="1" kern="100" dirty="0">
                        <a:effectLst/>
                        <a:latin typeface="Times New Roman"/>
                        <a:ea typeface="宋体"/>
                      </a:endParaRPr>
                    </a:p>
                  </a:txBody>
                  <a:tcPr marL="68581" marR="68581" marT="0" marB="0" anchor="ctr"/>
                </a:tc>
                <a:extLst>
                  <a:ext uri="{0D108BD9-81ED-4DB2-BD59-A6C34878D82A}">
                    <a16:rowId xmlns:a16="http://schemas.microsoft.com/office/drawing/2014/main" val="10001"/>
                  </a:ext>
                </a:extLst>
              </a:tr>
              <a:tr h="565529">
                <a:tc>
                  <a:txBody>
                    <a:bodyPr/>
                    <a:lstStyle/>
                    <a:p>
                      <a:pPr algn="ctr">
                        <a:lnSpc>
                          <a:spcPts val="3300"/>
                        </a:lnSpc>
                        <a:spcAft>
                          <a:spcPts val="0"/>
                        </a:spcAft>
                      </a:pPr>
                      <a:r>
                        <a:rPr lang="en-US" sz="4000" b="1" kern="100" dirty="0">
                          <a:solidFill>
                            <a:srgbClr val="FF0000"/>
                          </a:solidFill>
                          <a:effectLst/>
                        </a:rPr>
                        <a:t>-e</a:t>
                      </a:r>
                      <a:endParaRPr lang="zh-CN" sz="4000" b="1" kern="100" dirty="0">
                        <a:solidFill>
                          <a:srgbClr val="FF0000"/>
                        </a:solidFill>
                        <a:effectLst/>
                        <a:latin typeface="Times New Roman"/>
                        <a:ea typeface="宋体"/>
                      </a:endParaRPr>
                    </a:p>
                  </a:txBody>
                  <a:tcPr marL="68581" marR="68581" marT="0" marB="0" anchor="ctr"/>
                </a:tc>
                <a:tc>
                  <a:txBody>
                    <a:bodyPr/>
                    <a:lstStyle/>
                    <a:p>
                      <a:pPr algn="l">
                        <a:lnSpc>
                          <a:spcPts val="3300"/>
                        </a:lnSpc>
                        <a:spcAft>
                          <a:spcPts val="0"/>
                        </a:spcAft>
                      </a:pPr>
                      <a:r>
                        <a:rPr lang="zh-CN" sz="2400" b="1" kern="100" dirty="0">
                          <a:effectLst/>
                        </a:rPr>
                        <a:t>以默认（</a:t>
                      </a:r>
                      <a:r>
                        <a:rPr lang="en-US" sz="2400" b="1" kern="100" dirty="0">
                          <a:effectLst/>
                        </a:rPr>
                        <a:t>Linux</a:t>
                      </a:r>
                      <a:r>
                        <a:rPr lang="zh-CN" sz="2400" b="1" kern="100" dirty="0">
                          <a:effectLst/>
                        </a:rPr>
                        <a:t>）格式显示</a:t>
                      </a:r>
                      <a:r>
                        <a:rPr lang="en-US" sz="2400" b="1" kern="100" dirty="0">
                          <a:effectLst/>
                        </a:rPr>
                        <a:t>ARP</a:t>
                      </a:r>
                      <a:r>
                        <a:rPr lang="zh-CN" sz="2400" b="1" kern="100" dirty="0">
                          <a:effectLst/>
                        </a:rPr>
                        <a:t>信息</a:t>
                      </a:r>
                      <a:endParaRPr lang="zh-CN" sz="2400" b="1" kern="100" dirty="0">
                        <a:effectLst/>
                        <a:latin typeface="Times New Roman"/>
                        <a:ea typeface="宋体"/>
                      </a:endParaRPr>
                    </a:p>
                  </a:txBody>
                  <a:tcPr marL="68581" marR="68581" marT="0" marB="0" anchor="ctr"/>
                </a:tc>
                <a:extLst>
                  <a:ext uri="{0D108BD9-81ED-4DB2-BD59-A6C34878D82A}">
                    <a16:rowId xmlns:a16="http://schemas.microsoft.com/office/drawing/2014/main" val="10002"/>
                  </a:ext>
                </a:extLst>
              </a:tr>
              <a:tr h="565529">
                <a:tc>
                  <a:txBody>
                    <a:bodyPr/>
                    <a:lstStyle/>
                    <a:p>
                      <a:pPr algn="ctr">
                        <a:lnSpc>
                          <a:spcPts val="3300"/>
                        </a:lnSpc>
                        <a:spcAft>
                          <a:spcPts val="0"/>
                        </a:spcAft>
                      </a:pPr>
                      <a:r>
                        <a:rPr lang="en-US" sz="3200" b="1" kern="100" dirty="0">
                          <a:solidFill>
                            <a:srgbClr val="FF0000"/>
                          </a:solidFill>
                          <a:effectLst/>
                        </a:rPr>
                        <a:t>-d hostname</a:t>
                      </a:r>
                      <a:endParaRPr lang="zh-CN" sz="3200" b="1" kern="100" dirty="0">
                        <a:solidFill>
                          <a:srgbClr val="FF0000"/>
                        </a:solidFill>
                        <a:effectLst/>
                        <a:latin typeface="Times New Roman"/>
                        <a:ea typeface="宋体"/>
                      </a:endParaRPr>
                    </a:p>
                  </a:txBody>
                  <a:tcPr marL="68581" marR="68581" marT="0" marB="0" anchor="ctr"/>
                </a:tc>
                <a:tc>
                  <a:txBody>
                    <a:bodyPr/>
                    <a:lstStyle/>
                    <a:p>
                      <a:pPr algn="l">
                        <a:lnSpc>
                          <a:spcPts val="3300"/>
                        </a:lnSpc>
                        <a:spcAft>
                          <a:spcPts val="0"/>
                        </a:spcAft>
                      </a:pPr>
                      <a:r>
                        <a:rPr lang="zh-CN" sz="2400" b="1" kern="100" dirty="0">
                          <a:effectLst/>
                        </a:rPr>
                        <a:t>删除与给定主机相关的所有</a:t>
                      </a:r>
                      <a:r>
                        <a:rPr lang="en-US" sz="2400" b="1" kern="100" dirty="0">
                          <a:effectLst/>
                        </a:rPr>
                        <a:t>ARP</a:t>
                      </a:r>
                      <a:r>
                        <a:rPr lang="zh-CN" sz="2400" b="1" kern="100" dirty="0">
                          <a:effectLst/>
                        </a:rPr>
                        <a:t>信息</a:t>
                      </a:r>
                      <a:endParaRPr lang="zh-CN" sz="2400" b="1" kern="100" dirty="0">
                        <a:effectLst/>
                        <a:latin typeface="Times New Roman"/>
                        <a:ea typeface="宋体"/>
                      </a:endParaRPr>
                    </a:p>
                  </a:txBody>
                  <a:tcPr marL="68581" marR="68581" marT="0" marB="0" anchor="ctr"/>
                </a:tc>
                <a:extLst>
                  <a:ext uri="{0D108BD9-81ED-4DB2-BD59-A6C34878D82A}">
                    <a16:rowId xmlns:a16="http://schemas.microsoft.com/office/drawing/2014/main" val="10003"/>
                  </a:ext>
                </a:extLst>
              </a:tr>
              <a:tr h="565529">
                <a:tc>
                  <a:txBody>
                    <a:bodyPr/>
                    <a:lstStyle/>
                    <a:p>
                      <a:pPr algn="ctr">
                        <a:lnSpc>
                          <a:spcPts val="3300"/>
                        </a:lnSpc>
                        <a:spcAft>
                          <a:spcPts val="0"/>
                        </a:spcAft>
                      </a:pPr>
                      <a:r>
                        <a:rPr lang="en-US" sz="3600" b="1" kern="100" dirty="0">
                          <a:solidFill>
                            <a:srgbClr val="FF0000"/>
                          </a:solidFill>
                          <a:effectLst/>
                        </a:rPr>
                        <a:t>-</a:t>
                      </a:r>
                      <a:r>
                        <a:rPr lang="en-US" sz="3600" b="1" kern="100" dirty="0" err="1">
                          <a:solidFill>
                            <a:srgbClr val="FF0000"/>
                          </a:solidFill>
                          <a:effectLst/>
                        </a:rPr>
                        <a:t>i</a:t>
                      </a:r>
                      <a:r>
                        <a:rPr lang="en-US" sz="3600" b="1" kern="100" dirty="0">
                          <a:solidFill>
                            <a:srgbClr val="FF0000"/>
                          </a:solidFill>
                          <a:effectLst/>
                        </a:rPr>
                        <a:t> if</a:t>
                      </a:r>
                      <a:endParaRPr lang="zh-CN" sz="3600" b="1" kern="100" dirty="0">
                        <a:solidFill>
                          <a:srgbClr val="FF0000"/>
                        </a:solidFill>
                        <a:effectLst/>
                        <a:latin typeface="Times New Roman"/>
                        <a:ea typeface="宋体"/>
                      </a:endParaRPr>
                    </a:p>
                  </a:txBody>
                  <a:tcPr marL="68581" marR="68581" marT="0" marB="0" anchor="ctr"/>
                </a:tc>
                <a:tc>
                  <a:txBody>
                    <a:bodyPr/>
                    <a:lstStyle/>
                    <a:p>
                      <a:pPr algn="l">
                        <a:lnSpc>
                          <a:spcPts val="3300"/>
                        </a:lnSpc>
                        <a:spcAft>
                          <a:spcPts val="0"/>
                        </a:spcAft>
                      </a:pPr>
                      <a:r>
                        <a:rPr lang="zh-CN" sz="2400" b="1" kern="100" dirty="0">
                          <a:effectLst/>
                        </a:rPr>
                        <a:t>显示指定网络接口的</a:t>
                      </a:r>
                      <a:r>
                        <a:rPr lang="en-US" sz="2400" b="1" kern="100" dirty="0">
                          <a:effectLst/>
                        </a:rPr>
                        <a:t>ARP</a:t>
                      </a:r>
                      <a:r>
                        <a:rPr lang="zh-CN" sz="2400" b="1" kern="100" dirty="0">
                          <a:effectLst/>
                        </a:rPr>
                        <a:t>信息</a:t>
                      </a:r>
                      <a:endParaRPr lang="zh-CN" sz="2400" b="1" kern="100" dirty="0">
                        <a:effectLst/>
                        <a:latin typeface="Times New Roman"/>
                        <a:ea typeface="宋体"/>
                      </a:endParaRPr>
                    </a:p>
                  </a:txBody>
                  <a:tcPr marL="68581" marR="68581" marT="0" marB="0" anchor="ctr"/>
                </a:tc>
                <a:extLst>
                  <a:ext uri="{0D108BD9-81ED-4DB2-BD59-A6C34878D82A}">
                    <a16:rowId xmlns:a16="http://schemas.microsoft.com/office/drawing/2014/main" val="10004"/>
                  </a:ext>
                </a:extLst>
              </a:tr>
              <a:tr h="565529">
                <a:tc>
                  <a:txBody>
                    <a:bodyPr/>
                    <a:lstStyle/>
                    <a:p>
                      <a:pPr algn="ctr">
                        <a:lnSpc>
                          <a:spcPts val="3300"/>
                        </a:lnSpc>
                        <a:spcAft>
                          <a:spcPts val="0"/>
                        </a:spcAft>
                      </a:pPr>
                      <a:r>
                        <a:rPr lang="en-US" sz="3200" b="1" kern="100" dirty="0">
                          <a:solidFill>
                            <a:srgbClr val="FF0000"/>
                          </a:solidFill>
                          <a:effectLst/>
                        </a:rPr>
                        <a:t>-n/-N</a:t>
                      </a:r>
                      <a:endParaRPr lang="zh-CN" sz="3200" b="1" kern="100" dirty="0">
                        <a:solidFill>
                          <a:srgbClr val="FF0000"/>
                        </a:solidFill>
                        <a:effectLst/>
                        <a:latin typeface="Times New Roman"/>
                        <a:ea typeface="宋体"/>
                      </a:endParaRPr>
                    </a:p>
                  </a:txBody>
                  <a:tcPr marL="68581" marR="68581" marT="0" marB="0" anchor="ctr"/>
                </a:tc>
                <a:tc>
                  <a:txBody>
                    <a:bodyPr/>
                    <a:lstStyle/>
                    <a:p>
                      <a:pPr algn="l">
                        <a:lnSpc>
                          <a:spcPts val="3300"/>
                        </a:lnSpc>
                        <a:spcAft>
                          <a:spcPts val="0"/>
                        </a:spcAft>
                      </a:pPr>
                      <a:r>
                        <a:rPr lang="zh-CN" sz="2400" b="1" kern="100" dirty="0">
                          <a:effectLst/>
                        </a:rPr>
                        <a:t>以</a:t>
                      </a:r>
                      <a:r>
                        <a:rPr lang="en-US" sz="2400" b="1" kern="100" dirty="0">
                          <a:effectLst/>
                        </a:rPr>
                        <a:t>IP</a:t>
                      </a:r>
                      <a:r>
                        <a:rPr lang="zh-CN" sz="2400" b="1" kern="100" dirty="0">
                          <a:effectLst/>
                        </a:rPr>
                        <a:t>地址</a:t>
                      </a:r>
                      <a:r>
                        <a:rPr lang="en-US" sz="2400" b="1" kern="100" dirty="0">
                          <a:effectLst/>
                        </a:rPr>
                        <a:t>/</a:t>
                      </a:r>
                      <a:r>
                        <a:rPr lang="zh-CN" sz="2400" b="1" kern="100" dirty="0">
                          <a:effectLst/>
                        </a:rPr>
                        <a:t>主机名方式显示信息，默认为</a:t>
                      </a:r>
                      <a:r>
                        <a:rPr lang="en-US" sz="2400" b="1" kern="100" dirty="0">
                          <a:effectLst/>
                        </a:rPr>
                        <a:t>-N</a:t>
                      </a:r>
                      <a:endParaRPr lang="zh-CN" sz="2400" b="1" kern="100" dirty="0">
                        <a:effectLst/>
                        <a:latin typeface="Times New Roman"/>
                        <a:ea typeface="宋体"/>
                      </a:endParaRPr>
                    </a:p>
                  </a:txBody>
                  <a:tcPr marL="68581" marR="68581" marT="0" marB="0" anchor="ctr"/>
                </a:tc>
                <a:extLst>
                  <a:ext uri="{0D108BD9-81ED-4DB2-BD59-A6C34878D82A}">
                    <a16:rowId xmlns:a16="http://schemas.microsoft.com/office/drawing/2014/main" val="10005"/>
                  </a:ext>
                </a:extLst>
              </a:tr>
              <a:tr h="1224863">
                <a:tc>
                  <a:txBody>
                    <a:bodyPr/>
                    <a:lstStyle/>
                    <a:p>
                      <a:pPr algn="ctr">
                        <a:lnSpc>
                          <a:spcPts val="3300"/>
                        </a:lnSpc>
                        <a:spcAft>
                          <a:spcPts val="0"/>
                        </a:spcAft>
                      </a:pPr>
                      <a:r>
                        <a:rPr lang="en-US" sz="2400" b="1" kern="100">
                          <a:effectLst/>
                        </a:rPr>
                        <a:t>-s hostname hwaddr</a:t>
                      </a:r>
                      <a:endParaRPr lang="zh-CN" sz="2400" b="1" kern="100">
                        <a:effectLst/>
                        <a:latin typeface="Times New Roman"/>
                        <a:ea typeface="宋体"/>
                      </a:endParaRPr>
                    </a:p>
                  </a:txBody>
                  <a:tcPr marL="68581" marR="68581" marT="0" marB="0" anchor="ctr"/>
                </a:tc>
                <a:tc>
                  <a:txBody>
                    <a:bodyPr/>
                    <a:lstStyle/>
                    <a:p>
                      <a:pPr algn="l">
                        <a:lnSpc>
                          <a:spcPts val="3300"/>
                        </a:lnSpc>
                        <a:spcAft>
                          <a:spcPts val="0"/>
                        </a:spcAft>
                      </a:pPr>
                      <a:r>
                        <a:rPr lang="zh-CN" sz="2400" b="1" kern="100" dirty="0">
                          <a:effectLst/>
                        </a:rPr>
                        <a:t>将</a:t>
                      </a:r>
                      <a:r>
                        <a:rPr lang="en-US" sz="2400" b="1" kern="100" dirty="0">
                          <a:effectLst/>
                        </a:rPr>
                        <a:t>hostname </a:t>
                      </a:r>
                      <a:r>
                        <a:rPr lang="en-US" sz="2400" b="1" kern="100" dirty="0" err="1">
                          <a:effectLst/>
                        </a:rPr>
                        <a:t>arp</a:t>
                      </a:r>
                      <a:r>
                        <a:rPr lang="zh-CN" sz="2400" b="1" kern="100" dirty="0">
                          <a:effectLst/>
                        </a:rPr>
                        <a:t>地址加入</a:t>
                      </a:r>
                      <a:r>
                        <a:rPr lang="en-US" sz="2400" b="1" kern="100" dirty="0">
                          <a:effectLst/>
                        </a:rPr>
                        <a:t>ARP</a:t>
                      </a:r>
                      <a:r>
                        <a:rPr lang="zh-CN" sz="2400" b="1" kern="100" dirty="0">
                          <a:effectLst/>
                        </a:rPr>
                        <a:t>表中。</a:t>
                      </a:r>
                      <a:r>
                        <a:rPr lang="en-US" sz="2400" b="1" kern="100" dirty="0" err="1">
                          <a:effectLst/>
                        </a:rPr>
                        <a:t>hwaddr</a:t>
                      </a:r>
                      <a:r>
                        <a:rPr lang="zh-CN" sz="2400" b="1" kern="100" dirty="0">
                          <a:effectLst/>
                        </a:rPr>
                        <a:t>参数指定硬件地址，默认时指的是以太网地址</a:t>
                      </a:r>
                      <a:endParaRPr lang="zh-CN" sz="2400" b="1" kern="100" dirty="0">
                        <a:effectLst/>
                        <a:latin typeface="Times New Roman"/>
                        <a:ea typeface="宋体"/>
                      </a:endParaRPr>
                    </a:p>
                  </a:txBody>
                  <a:tcPr marL="68581" marR="68581" marT="0" marB="0" anchor="ctr"/>
                </a:tc>
                <a:extLst>
                  <a:ext uri="{0D108BD9-81ED-4DB2-BD59-A6C34878D82A}">
                    <a16:rowId xmlns:a16="http://schemas.microsoft.com/office/drawing/2014/main" val="10006"/>
                  </a:ext>
                </a:extLst>
              </a:tr>
              <a:tr h="838200">
                <a:tc>
                  <a:txBody>
                    <a:bodyPr/>
                    <a:lstStyle/>
                    <a:p>
                      <a:pPr algn="ctr">
                        <a:lnSpc>
                          <a:spcPts val="3300"/>
                        </a:lnSpc>
                        <a:spcAft>
                          <a:spcPts val="0"/>
                        </a:spcAft>
                      </a:pPr>
                      <a:r>
                        <a:rPr lang="en-US" sz="2400" b="1" kern="100" dirty="0">
                          <a:effectLst/>
                        </a:rPr>
                        <a:t>-t </a:t>
                      </a:r>
                      <a:r>
                        <a:rPr lang="en-US" sz="2400" b="1" kern="100" dirty="0" err="1">
                          <a:effectLst/>
                        </a:rPr>
                        <a:t>hwtype</a:t>
                      </a:r>
                      <a:endParaRPr lang="zh-CN" sz="2400" b="1" kern="100" dirty="0">
                        <a:effectLst/>
                        <a:latin typeface="Times New Roman"/>
                        <a:ea typeface="宋体"/>
                      </a:endParaRPr>
                    </a:p>
                  </a:txBody>
                  <a:tcPr marL="68581" marR="68581" marT="0" marB="0" anchor="ctr"/>
                </a:tc>
                <a:tc>
                  <a:txBody>
                    <a:bodyPr/>
                    <a:lstStyle/>
                    <a:p>
                      <a:pPr algn="l">
                        <a:lnSpc>
                          <a:spcPts val="3300"/>
                        </a:lnSpc>
                        <a:spcAft>
                          <a:spcPts val="0"/>
                        </a:spcAft>
                      </a:pPr>
                      <a:r>
                        <a:rPr lang="zh-CN" sz="2400" b="1" kern="100" dirty="0">
                          <a:effectLst/>
                        </a:rPr>
                        <a:t>限制显示信息为指定的硬件类型，可以是</a:t>
                      </a:r>
                      <a:r>
                        <a:rPr lang="en-US" sz="2400" b="1" kern="100" dirty="0">
                          <a:effectLst/>
                        </a:rPr>
                        <a:t>ether</a:t>
                      </a:r>
                      <a:r>
                        <a:rPr lang="zh-CN" sz="2400" b="1" kern="100" dirty="0">
                          <a:effectLst/>
                        </a:rPr>
                        <a:t>、</a:t>
                      </a:r>
                      <a:r>
                        <a:rPr lang="en-US" sz="2400" b="1" kern="100" dirty="0">
                          <a:effectLst/>
                        </a:rPr>
                        <a:t>ax25</a:t>
                      </a:r>
                      <a:r>
                        <a:rPr lang="zh-CN" sz="2400" b="1" kern="100" dirty="0">
                          <a:effectLst/>
                        </a:rPr>
                        <a:t>等</a:t>
                      </a:r>
                      <a:endParaRPr lang="zh-CN" sz="2400" b="1" kern="100" dirty="0">
                        <a:effectLst/>
                        <a:latin typeface="Times New Roman"/>
                        <a:ea typeface="宋体"/>
                      </a:endParaRPr>
                    </a:p>
                  </a:txBody>
                  <a:tcPr marL="68581" marR="68581" marT="0" marB="0" anchor="ctr"/>
                </a:tc>
                <a:extLst>
                  <a:ext uri="{0D108BD9-81ED-4DB2-BD59-A6C34878D82A}">
                    <a16:rowId xmlns:a16="http://schemas.microsoft.com/office/drawing/2014/main" val="10007"/>
                  </a:ext>
                </a:extLst>
              </a:tr>
            </a:tbl>
          </a:graphicData>
        </a:graphic>
      </p:graphicFrame>
      <p:pic>
        <p:nvPicPr>
          <p:cNvPr id="2" name="图片 1">
            <a:extLst>
              <a:ext uri="{FF2B5EF4-FFF2-40B4-BE49-F238E27FC236}">
                <a16:creationId xmlns:a16="http://schemas.microsoft.com/office/drawing/2014/main" id="{966C5510-300E-ED20-7D71-2FCBA8B0047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5888" y="631825"/>
            <a:ext cx="9004300" cy="574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6A0427D5-21D9-5807-DD43-9A1AC77F3ABB}"/>
              </a:ext>
            </a:extLst>
          </p:cNvPr>
          <p:cNvSpPr>
            <a:spLocks noGrp="1" noChangeArrowheads="1"/>
          </p:cNvSpPr>
          <p:nvPr>
            <p:ph type="title"/>
          </p:nvPr>
        </p:nvSpPr>
        <p:spPr/>
        <p:txBody>
          <a:bodyPr/>
          <a:lstStyle/>
          <a:p>
            <a:r>
              <a:rPr lang="en-US" altLang="zh-CN"/>
              <a:t>9.2.4  </a:t>
            </a:r>
            <a:r>
              <a:rPr lang="zh-CN" altLang="zh-CN"/>
              <a:t>网络接口配置（</a:t>
            </a:r>
            <a:r>
              <a:rPr lang="en-US" altLang="zh-CN"/>
              <a:t>ifconfig</a:t>
            </a:r>
            <a:r>
              <a:rPr lang="zh-CN" altLang="zh-CN"/>
              <a:t>）</a:t>
            </a:r>
            <a:endParaRPr lang="zh-CN" altLang="en-US"/>
          </a:p>
        </p:txBody>
      </p:sp>
      <p:sp>
        <p:nvSpPr>
          <p:cNvPr id="1048656" name="内容占位符 2">
            <a:extLst>
              <a:ext uri="{FF2B5EF4-FFF2-40B4-BE49-F238E27FC236}">
                <a16:creationId xmlns:a16="http://schemas.microsoft.com/office/drawing/2014/main" id="{B045205E-1AE5-165C-1AB1-C3507B953B14}"/>
              </a:ext>
            </a:extLst>
          </p:cNvPr>
          <p:cNvSpPr>
            <a:spLocks noGrp="1"/>
          </p:cNvSpPr>
          <p:nvPr>
            <p:ph idx="1"/>
          </p:nvPr>
        </p:nvSpPr>
        <p:spPr>
          <a:xfrm>
            <a:off x="34925" y="620713"/>
            <a:ext cx="8713788" cy="5267325"/>
          </a:xfrm>
        </p:spPr>
        <p:txBody>
          <a:bodyPr/>
          <a:lstStyle/>
          <a:p>
            <a:pPr fontAlgn="ctr">
              <a:spcBef>
                <a:spcPts val="0"/>
              </a:spcBef>
              <a:spcAft>
                <a:spcPts val="0"/>
              </a:spcAft>
              <a:defRPr/>
            </a:pPr>
            <a:r>
              <a:rPr lang="en-US" altLang="zh-CN" sz="4800" dirty="0" err="1"/>
              <a:t>ifconfig</a:t>
            </a:r>
            <a:r>
              <a:rPr lang="zh-CN" altLang="zh-CN" sz="4800" dirty="0"/>
              <a:t>的功能是</a:t>
            </a:r>
            <a:r>
              <a:rPr lang="zh-CN" altLang="zh-CN" sz="4800" dirty="0">
                <a:solidFill>
                  <a:srgbClr val="FF0000"/>
                </a:solidFill>
              </a:rPr>
              <a:t>管理网络接口</a:t>
            </a:r>
            <a:r>
              <a:rPr lang="zh-CN" altLang="zh-CN" sz="4800" dirty="0"/>
              <a:t>，用于</a:t>
            </a:r>
            <a:r>
              <a:rPr lang="zh-CN" altLang="zh-CN" sz="4800" dirty="0">
                <a:solidFill>
                  <a:srgbClr val="FF0000"/>
                </a:solidFill>
              </a:rPr>
              <a:t>查看、配置、启用或禁用网络接口</a:t>
            </a:r>
            <a:r>
              <a:rPr lang="zh-CN" altLang="zh-CN" sz="4800" dirty="0"/>
              <a:t>，其用法为：</a:t>
            </a:r>
          </a:p>
          <a:p>
            <a:pPr marL="0" indent="0">
              <a:spcBef>
                <a:spcPts val="0"/>
              </a:spcBef>
              <a:spcAft>
                <a:spcPts val="0"/>
              </a:spcAft>
              <a:buFont typeface="Arial" panose="020B0604020202020204" pitchFamily="34" charset="0"/>
              <a:buNone/>
              <a:defRPr/>
            </a:pPr>
            <a:r>
              <a:rPr lang="en-US" altLang="zh-CN" sz="4800" dirty="0" err="1"/>
              <a:t>ifconfig</a:t>
            </a:r>
            <a:r>
              <a:rPr lang="en-US" altLang="zh-CN" sz="4800" dirty="0"/>
              <a:t> [interface]</a:t>
            </a:r>
            <a:endParaRPr lang="zh-CN" altLang="zh-CN" sz="4800" dirty="0"/>
          </a:p>
          <a:p>
            <a:pPr marL="0" indent="0">
              <a:spcBef>
                <a:spcPts val="0"/>
              </a:spcBef>
              <a:spcAft>
                <a:spcPts val="0"/>
              </a:spcAft>
              <a:buFont typeface="Arial" panose="020B0604020202020204" pitchFamily="34" charset="0"/>
              <a:buNone/>
              <a:defRPr/>
            </a:pPr>
            <a:r>
              <a:rPr lang="en-US" altLang="zh-CN" sz="4800" dirty="0" err="1"/>
              <a:t>ifconfig</a:t>
            </a:r>
            <a:r>
              <a:rPr lang="en-US" altLang="zh-CN" sz="4800" dirty="0"/>
              <a:t> interface [</a:t>
            </a:r>
            <a:r>
              <a:rPr lang="en-US" altLang="zh-CN" sz="4800" dirty="0" err="1"/>
              <a:t>aftype</a:t>
            </a:r>
            <a:r>
              <a:rPr lang="en-US" altLang="zh-CN" sz="4800" dirty="0"/>
              <a:t>] options | address …</a:t>
            </a:r>
            <a:endParaRPr lang="zh-CN" altLang="en-US" sz="4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标题 1">
            <a:extLst>
              <a:ext uri="{FF2B5EF4-FFF2-40B4-BE49-F238E27FC236}">
                <a16:creationId xmlns:a16="http://schemas.microsoft.com/office/drawing/2014/main" id="{3086C031-D90C-D3BB-1737-04698E379978}"/>
              </a:ext>
            </a:extLst>
          </p:cNvPr>
          <p:cNvSpPr>
            <a:spLocks noGrp="1" noChangeArrowheads="1"/>
          </p:cNvSpPr>
          <p:nvPr>
            <p:ph type="title"/>
          </p:nvPr>
        </p:nvSpPr>
        <p:spPr>
          <a:xfrm>
            <a:off x="0" y="44450"/>
            <a:ext cx="9109075" cy="504825"/>
          </a:xfrm>
        </p:spPr>
        <p:txBody>
          <a:bodyPr/>
          <a:lstStyle/>
          <a:p>
            <a:r>
              <a:rPr lang="en-US" altLang="zh-CN"/>
              <a:t>9.2.4  </a:t>
            </a:r>
            <a:r>
              <a:rPr lang="zh-CN" altLang="zh-CN"/>
              <a:t>网络接口配置（</a:t>
            </a:r>
            <a:r>
              <a:rPr lang="en-US" altLang="zh-CN"/>
              <a:t>ifconfig</a:t>
            </a:r>
            <a:r>
              <a:rPr lang="zh-CN" altLang="zh-CN"/>
              <a:t>）</a:t>
            </a:r>
            <a:endParaRPr lang="zh-CN" altLang="en-US"/>
          </a:p>
        </p:txBody>
      </p:sp>
      <p:sp>
        <p:nvSpPr>
          <p:cNvPr id="32771" name="内容占位符 2">
            <a:extLst>
              <a:ext uri="{FF2B5EF4-FFF2-40B4-BE49-F238E27FC236}">
                <a16:creationId xmlns:a16="http://schemas.microsoft.com/office/drawing/2014/main" id="{0B1B0447-4327-CD04-EA99-C01E6F971E0C}"/>
              </a:ext>
            </a:extLst>
          </p:cNvPr>
          <p:cNvSpPr>
            <a:spLocks noGrp="1" noChangeArrowheads="1"/>
          </p:cNvSpPr>
          <p:nvPr>
            <p:ph idx="1"/>
          </p:nvPr>
        </p:nvSpPr>
        <p:spPr>
          <a:xfrm>
            <a:off x="0" y="571500"/>
            <a:ext cx="8893175" cy="433388"/>
          </a:xfrm>
        </p:spPr>
        <p:txBody>
          <a:bodyPr/>
          <a:lstStyle/>
          <a:p>
            <a:pPr fontAlgn="ctr"/>
            <a:r>
              <a:rPr lang="en-US" altLang="zh-CN"/>
              <a:t>ifconfig</a:t>
            </a:r>
            <a:r>
              <a:rPr lang="zh-CN" altLang="zh-CN"/>
              <a:t>命令的主要参数</a:t>
            </a:r>
            <a:endParaRPr lang="en-US" altLang="zh-CN"/>
          </a:p>
          <a:p>
            <a:pPr fontAlgn="ctr"/>
            <a:endParaRPr lang="zh-CN" altLang="en-US"/>
          </a:p>
        </p:txBody>
      </p:sp>
      <p:graphicFrame>
        <p:nvGraphicFramePr>
          <p:cNvPr id="4194308" name="表格 3">
            <a:extLst>
              <a:ext uri="{FF2B5EF4-FFF2-40B4-BE49-F238E27FC236}">
                <a16:creationId xmlns:a16="http://schemas.microsoft.com/office/drawing/2014/main" id="{25BA3A18-3C68-EDC5-E3C4-4093C305D360}"/>
              </a:ext>
            </a:extLst>
          </p:cNvPr>
          <p:cNvGraphicFramePr>
            <a:graphicFrameLocks noGrp="1"/>
          </p:cNvGraphicFramePr>
          <p:nvPr/>
        </p:nvGraphicFramePr>
        <p:xfrm>
          <a:off x="73025" y="1004888"/>
          <a:ext cx="9036050" cy="5840412"/>
        </p:xfrm>
        <a:graphic>
          <a:graphicData uri="http://schemas.openxmlformats.org/drawingml/2006/table">
            <a:tbl>
              <a:tblPr>
                <a:tableStyleId>{5C22544A-7EE6-4342-B048-85BDC9FD1C3A}</a:tableStyleId>
              </a:tblPr>
              <a:tblGrid>
                <a:gridCol w="2337615">
                  <a:extLst>
                    <a:ext uri="{9D8B030D-6E8A-4147-A177-3AD203B41FA5}">
                      <a16:colId xmlns:a16="http://schemas.microsoft.com/office/drawing/2014/main" val="20000"/>
                    </a:ext>
                  </a:extLst>
                </a:gridCol>
                <a:gridCol w="6698435">
                  <a:extLst>
                    <a:ext uri="{9D8B030D-6E8A-4147-A177-3AD203B41FA5}">
                      <a16:colId xmlns:a16="http://schemas.microsoft.com/office/drawing/2014/main" val="20001"/>
                    </a:ext>
                  </a:extLst>
                </a:gridCol>
              </a:tblGrid>
              <a:tr h="277993">
                <a:tc>
                  <a:txBody>
                    <a:bodyPr/>
                    <a:lstStyle/>
                    <a:p>
                      <a:pPr algn="ctr">
                        <a:lnSpc>
                          <a:spcPts val="2200"/>
                        </a:lnSpc>
                        <a:spcAft>
                          <a:spcPts val="0"/>
                        </a:spcAft>
                      </a:pPr>
                      <a:r>
                        <a:rPr lang="zh-CN" sz="1700" b="1" kern="100" dirty="0">
                          <a:effectLst/>
                        </a:rPr>
                        <a:t>字 段 名 称</a:t>
                      </a:r>
                      <a:endParaRPr lang="zh-CN" sz="1700" b="1" kern="100" dirty="0">
                        <a:effectLst/>
                        <a:latin typeface="Times New Roman"/>
                        <a:ea typeface="宋体"/>
                      </a:endParaRPr>
                    </a:p>
                  </a:txBody>
                  <a:tcPr marL="68582" marR="68582" marT="0" marB="0" anchor="ctr"/>
                </a:tc>
                <a:tc>
                  <a:txBody>
                    <a:bodyPr/>
                    <a:lstStyle/>
                    <a:p>
                      <a:pPr algn="ctr">
                        <a:lnSpc>
                          <a:spcPts val="2200"/>
                        </a:lnSpc>
                        <a:spcAft>
                          <a:spcPts val="0"/>
                        </a:spcAft>
                      </a:pPr>
                      <a:r>
                        <a:rPr lang="zh-CN" sz="1700" b="1" kern="100" dirty="0">
                          <a:effectLst/>
                        </a:rPr>
                        <a:t>说</a:t>
                      </a:r>
                      <a:r>
                        <a:rPr lang="en-US" sz="1700" b="1" kern="100" dirty="0">
                          <a:effectLst/>
                        </a:rPr>
                        <a:t>    </a:t>
                      </a:r>
                      <a:r>
                        <a:rPr lang="zh-CN" sz="1700" b="1" kern="100" dirty="0">
                          <a:effectLst/>
                        </a:rPr>
                        <a:t>明</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0"/>
                  </a:ext>
                </a:extLst>
              </a:tr>
              <a:tr h="278135">
                <a:tc>
                  <a:txBody>
                    <a:bodyPr/>
                    <a:lstStyle/>
                    <a:p>
                      <a:pPr algn="ctr">
                        <a:lnSpc>
                          <a:spcPts val="2200"/>
                        </a:lnSpc>
                        <a:spcAft>
                          <a:spcPts val="0"/>
                        </a:spcAft>
                      </a:pPr>
                      <a:r>
                        <a:rPr lang="en-US" sz="1700" b="1" kern="100">
                          <a:effectLst/>
                        </a:rPr>
                        <a:t>add addr/prefixlen</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设置网卡上的</a:t>
                      </a:r>
                      <a:r>
                        <a:rPr lang="en-US" sz="1700" b="1" kern="100" dirty="0">
                          <a:effectLst/>
                        </a:rPr>
                        <a:t>IPv6</a:t>
                      </a:r>
                      <a:r>
                        <a:rPr lang="zh-CN" sz="1700" b="1" kern="100" dirty="0">
                          <a:effectLst/>
                        </a:rPr>
                        <a:t>地址</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1"/>
                  </a:ext>
                </a:extLst>
              </a:tr>
              <a:tr h="278135">
                <a:tc>
                  <a:txBody>
                    <a:bodyPr/>
                    <a:lstStyle/>
                    <a:p>
                      <a:pPr algn="ctr">
                        <a:lnSpc>
                          <a:spcPts val="2200"/>
                        </a:lnSpc>
                        <a:spcAft>
                          <a:spcPts val="0"/>
                        </a:spcAft>
                      </a:pPr>
                      <a:r>
                        <a:rPr lang="en-US" sz="1700" b="1" kern="100">
                          <a:effectLst/>
                        </a:rPr>
                        <a:t>[-]arp</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a:effectLst/>
                        </a:rPr>
                        <a:t>停用或应用</a:t>
                      </a:r>
                      <a:r>
                        <a:rPr lang="en-US" sz="1700" b="1" kern="100">
                          <a:effectLst/>
                        </a:rPr>
                        <a:t>ARP</a:t>
                      </a:r>
                      <a:r>
                        <a:rPr lang="zh-CN" sz="1700" b="1" kern="100">
                          <a:effectLst/>
                        </a:rPr>
                        <a:t>（地址解析协议）功能</a:t>
                      </a:r>
                      <a:endParaRPr lang="zh-CN" sz="1700" b="1" kern="100">
                        <a:effectLst/>
                        <a:latin typeface="Times New Roman"/>
                        <a:ea typeface="宋体"/>
                      </a:endParaRPr>
                    </a:p>
                  </a:txBody>
                  <a:tcPr marL="68582" marR="68582" marT="0" marB="0" anchor="ctr"/>
                </a:tc>
                <a:extLst>
                  <a:ext uri="{0D108BD9-81ED-4DB2-BD59-A6C34878D82A}">
                    <a16:rowId xmlns:a16="http://schemas.microsoft.com/office/drawing/2014/main" val="10002"/>
                  </a:ext>
                </a:extLst>
              </a:tr>
              <a:tr h="278135">
                <a:tc>
                  <a:txBody>
                    <a:bodyPr/>
                    <a:lstStyle/>
                    <a:p>
                      <a:pPr algn="ctr">
                        <a:lnSpc>
                          <a:spcPts val="2200"/>
                        </a:lnSpc>
                        <a:spcAft>
                          <a:spcPts val="0"/>
                        </a:spcAft>
                      </a:pPr>
                      <a:r>
                        <a:rPr lang="en-US" sz="1700" b="1" kern="100">
                          <a:effectLst/>
                        </a:rPr>
                        <a:t>del addr/prefixlen</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删除网卡上的</a:t>
                      </a:r>
                      <a:r>
                        <a:rPr lang="en-US" sz="1700" b="1" kern="100" dirty="0">
                          <a:effectLst/>
                        </a:rPr>
                        <a:t>IPv6</a:t>
                      </a:r>
                      <a:r>
                        <a:rPr lang="zh-CN" sz="1700" b="1" kern="100" dirty="0">
                          <a:effectLst/>
                        </a:rPr>
                        <a:t>地址</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3"/>
                  </a:ext>
                </a:extLst>
              </a:tr>
              <a:tr h="278135">
                <a:tc>
                  <a:txBody>
                    <a:bodyPr/>
                    <a:lstStyle/>
                    <a:p>
                      <a:pPr algn="ctr">
                        <a:lnSpc>
                          <a:spcPts val="2200"/>
                        </a:lnSpc>
                        <a:spcAft>
                          <a:spcPts val="0"/>
                        </a:spcAft>
                      </a:pPr>
                      <a:r>
                        <a:rPr lang="en-US" sz="1700" b="1" kern="100">
                          <a:effectLst/>
                        </a:rPr>
                        <a:t>down</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关闭指定的网络接口</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4"/>
                  </a:ext>
                </a:extLst>
              </a:tr>
              <a:tr h="555987">
                <a:tc>
                  <a:txBody>
                    <a:bodyPr/>
                    <a:lstStyle/>
                    <a:p>
                      <a:pPr algn="ctr">
                        <a:lnSpc>
                          <a:spcPts val="2200"/>
                        </a:lnSpc>
                        <a:spcAft>
                          <a:spcPts val="0"/>
                        </a:spcAft>
                      </a:pPr>
                      <a:r>
                        <a:rPr lang="en-US" sz="1700" b="1" kern="100">
                          <a:effectLst/>
                        </a:rPr>
                        <a:t>hw class address</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设置指定接口设备的</a:t>
                      </a:r>
                      <a:r>
                        <a:rPr lang="en-US" sz="1700" b="1" kern="100" dirty="0">
                          <a:effectLst/>
                        </a:rPr>
                        <a:t>MAC</a:t>
                      </a:r>
                      <a:r>
                        <a:rPr lang="zh-CN" sz="1700" b="1" kern="100" dirty="0">
                          <a:effectLst/>
                        </a:rPr>
                        <a:t>地址，目前支持的硬件类型有</a:t>
                      </a:r>
                      <a:r>
                        <a:rPr lang="en-US" sz="1700" b="1" kern="100" dirty="0">
                          <a:effectLst/>
                        </a:rPr>
                        <a:t>ether</a:t>
                      </a:r>
                      <a:r>
                        <a:rPr lang="zh-CN" sz="1700" b="1" kern="100" dirty="0">
                          <a:effectLst/>
                        </a:rPr>
                        <a:t>，</a:t>
                      </a:r>
                      <a:r>
                        <a:rPr lang="en-US" sz="1700" b="1" kern="100" dirty="0">
                          <a:effectLst/>
                        </a:rPr>
                        <a:t>ax25</a:t>
                      </a:r>
                      <a:r>
                        <a:rPr lang="zh-CN" sz="1700" b="1" kern="100" dirty="0">
                          <a:effectLst/>
                        </a:rPr>
                        <a:t>等</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5"/>
                  </a:ext>
                </a:extLst>
              </a:tr>
              <a:tr h="278135">
                <a:tc>
                  <a:txBody>
                    <a:bodyPr/>
                    <a:lstStyle/>
                    <a:p>
                      <a:pPr algn="ctr">
                        <a:lnSpc>
                          <a:spcPts val="2200"/>
                        </a:lnSpc>
                        <a:spcAft>
                          <a:spcPts val="0"/>
                        </a:spcAft>
                      </a:pPr>
                      <a:r>
                        <a:rPr lang="en-US" sz="1700" b="1" kern="100">
                          <a:effectLst/>
                        </a:rPr>
                        <a:t>io_addr addr</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设置网卡的</a:t>
                      </a:r>
                      <a:r>
                        <a:rPr lang="en-US" sz="1700" b="1" kern="100" dirty="0">
                          <a:effectLst/>
                        </a:rPr>
                        <a:t>I/O</a:t>
                      </a:r>
                      <a:r>
                        <a:rPr lang="zh-CN" sz="1700" b="1" kern="100" dirty="0">
                          <a:effectLst/>
                        </a:rPr>
                        <a:t>地址</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6"/>
                  </a:ext>
                </a:extLst>
              </a:tr>
              <a:tr h="278135">
                <a:tc>
                  <a:txBody>
                    <a:bodyPr/>
                    <a:lstStyle/>
                    <a:p>
                      <a:pPr algn="ctr">
                        <a:lnSpc>
                          <a:spcPts val="2200"/>
                        </a:lnSpc>
                        <a:spcAft>
                          <a:spcPts val="0"/>
                        </a:spcAft>
                      </a:pPr>
                      <a:r>
                        <a:rPr lang="en-US" sz="1700" b="1" kern="100">
                          <a:effectLst/>
                        </a:rPr>
                        <a:t>irq addr</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设置指定接口设备使用的中断行</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7"/>
                  </a:ext>
                </a:extLst>
              </a:tr>
              <a:tr h="278135">
                <a:tc>
                  <a:txBody>
                    <a:bodyPr/>
                    <a:lstStyle/>
                    <a:p>
                      <a:pPr algn="ctr">
                        <a:lnSpc>
                          <a:spcPts val="2200"/>
                        </a:lnSpc>
                        <a:spcAft>
                          <a:spcPts val="0"/>
                        </a:spcAft>
                      </a:pPr>
                      <a:r>
                        <a:rPr lang="en-US" sz="1700" b="1" kern="100">
                          <a:effectLst/>
                        </a:rPr>
                        <a:t>media type</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设置网络设备所使用的介质</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8"/>
                  </a:ext>
                </a:extLst>
              </a:tr>
              <a:tr h="278135">
                <a:tc>
                  <a:txBody>
                    <a:bodyPr/>
                    <a:lstStyle/>
                    <a:p>
                      <a:pPr algn="ctr">
                        <a:lnSpc>
                          <a:spcPts val="2200"/>
                        </a:lnSpc>
                        <a:spcAft>
                          <a:spcPts val="0"/>
                        </a:spcAft>
                      </a:pPr>
                      <a:r>
                        <a:rPr lang="en-US" sz="1700" b="1" kern="100">
                          <a:effectLst/>
                        </a:rPr>
                        <a:t>mem_start addr</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设置网卡在主存储器所占用的起始地址</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09"/>
                  </a:ext>
                </a:extLst>
              </a:tr>
              <a:tr h="278135">
                <a:tc>
                  <a:txBody>
                    <a:bodyPr/>
                    <a:lstStyle/>
                    <a:p>
                      <a:pPr algn="ctr">
                        <a:lnSpc>
                          <a:spcPts val="2200"/>
                        </a:lnSpc>
                        <a:spcAft>
                          <a:spcPts val="0"/>
                        </a:spcAft>
                      </a:pPr>
                      <a:r>
                        <a:rPr lang="en-US" sz="1700" b="1" kern="100">
                          <a:effectLst/>
                        </a:rPr>
                        <a:t>metric N</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设置数据包转送的次数</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0"/>
                  </a:ext>
                </a:extLst>
              </a:tr>
              <a:tr h="278135">
                <a:tc>
                  <a:txBody>
                    <a:bodyPr/>
                    <a:lstStyle/>
                    <a:p>
                      <a:pPr algn="ctr">
                        <a:lnSpc>
                          <a:spcPts val="2200"/>
                        </a:lnSpc>
                        <a:spcAft>
                          <a:spcPts val="0"/>
                        </a:spcAft>
                      </a:pPr>
                      <a:r>
                        <a:rPr lang="en-US" sz="1700" b="1" kern="100">
                          <a:effectLst/>
                        </a:rPr>
                        <a:t>mtu N</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设置网卡的最大传输单位</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1"/>
                  </a:ext>
                </a:extLst>
              </a:tr>
              <a:tr h="278135">
                <a:tc>
                  <a:txBody>
                    <a:bodyPr/>
                    <a:lstStyle/>
                    <a:p>
                      <a:pPr algn="ctr">
                        <a:lnSpc>
                          <a:spcPts val="2200"/>
                        </a:lnSpc>
                        <a:spcAft>
                          <a:spcPts val="0"/>
                        </a:spcAft>
                      </a:pPr>
                      <a:r>
                        <a:rPr lang="en-US" sz="1700" b="1" kern="100">
                          <a:effectLst/>
                        </a:rPr>
                        <a:t>netmask addr</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设置接口的子网掩码</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2"/>
                  </a:ext>
                </a:extLst>
              </a:tr>
              <a:tr h="278135">
                <a:tc>
                  <a:txBody>
                    <a:bodyPr/>
                    <a:lstStyle/>
                    <a:p>
                      <a:pPr algn="ctr">
                        <a:lnSpc>
                          <a:spcPts val="2200"/>
                        </a:lnSpc>
                        <a:spcAft>
                          <a:spcPts val="0"/>
                        </a:spcAft>
                      </a:pPr>
                      <a:r>
                        <a:rPr lang="en-US" sz="1700" b="1" kern="100">
                          <a:effectLst/>
                        </a:rPr>
                        <a:t>interface</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网络设备名，如</a:t>
                      </a:r>
                      <a:r>
                        <a:rPr lang="en-US" sz="1700" b="1" kern="100" dirty="0">
                          <a:effectLst/>
                        </a:rPr>
                        <a:t>eth0</a:t>
                      </a:r>
                      <a:r>
                        <a:rPr lang="zh-CN" sz="1700" b="1" kern="100" dirty="0">
                          <a:effectLst/>
                        </a:rPr>
                        <a:t>就表示本机的第一块网卡</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3"/>
                  </a:ext>
                </a:extLst>
              </a:tr>
              <a:tr h="278135">
                <a:tc>
                  <a:txBody>
                    <a:bodyPr/>
                    <a:lstStyle/>
                    <a:p>
                      <a:pPr algn="ctr">
                        <a:lnSpc>
                          <a:spcPts val="2200"/>
                        </a:lnSpc>
                        <a:spcAft>
                          <a:spcPts val="0"/>
                        </a:spcAft>
                      </a:pPr>
                      <a:r>
                        <a:rPr lang="en-US" sz="1700" b="1" kern="100">
                          <a:effectLst/>
                        </a:rPr>
                        <a:t>tunnel aa.bb.cc.dd</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en-US" sz="1700" b="1" kern="100" dirty="0">
                          <a:effectLst/>
                        </a:rPr>
                        <a:t>IPv4</a:t>
                      </a:r>
                      <a:r>
                        <a:rPr lang="zh-CN" sz="1700" b="1" kern="100" dirty="0">
                          <a:effectLst/>
                        </a:rPr>
                        <a:t>和</a:t>
                      </a:r>
                      <a:r>
                        <a:rPr lang="en-US" sz="1700" b="1" kern="100" dirty="0">
                          <a:effectLst/>
                        </a:rPr>
                        <a:t>IPv6</a:t>
                      </a:r>
                      <a:r>
                        <a:rPr lang="zh-CN" sz="1700" b="1" kern="100" dirty="0">
                          <a:effectLst/>
                        </a:rPr>
                        <a:t>间的隧道通信地址</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4"/>
                  </a:ext>
                </a:extLst>
              </a:tr>
              <a:tr h="278135">
                <a:tc>
                  <a:txBody>
                    <a:bodyPr/>
                    <a:lstStyle/>
                    <a:p>
                      <a:pPr algn="ctr">
                        <a:lnSpc>
                          <a:spcPts val="2200"/>
                        </a:lnSpc>
                        <a:spcAft>
                          <a:spcPts val="0"/>
                        </a:spcAft>
                      </a:pPr>
                      <a:r>
                        <a:rPr lang="en-US" sz="1700" b="1" kern="100">
                          <a:effectLst/>
                        </a:rPr>
                        <a:t>up</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激活指定的网络接口卡</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5"/>
                  </a:ext>
                </a:extLst>
              </a:tr>
              <a:tr h="278135">
                <a:tc>
                  <a:txBody>
                    <a:bodyPr/>
                    <a:lstStyle/>
                    <a:p>
                      <a:pPr algn="ctr">
                        <a:lnSpc>
                          <a:spcPts val="2200"/>
                        </a:lnSpc>
                        <a:spcAft>
                          <a:spcPts val="0"/>
                        </a:spcAft>
                      </a:pPr>
                      <a:r>
                        <a:rPr lang="en-US" sz="1700" b="1" kern="100">
                          <a:effectLst/>
                        </a:rPr>
                        <a:t>[-]allmulti</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是否接收</a:t>
                      </a:r>
                      <a:r>
                        <a:rPr lang="en-US" sz="1700" b="1" kern="100" dirty="0">
                          <a:effectLst/>
                        </a:rPr>
                        <a:t>multicast</a:t>
                      </a:r>
                      <a:r>
                        <a:rPr lang="zh-CN" sz="1700" b="1" kern="100" dirty="0">
                          <a:effectLst/>
                        </a:rPr>
                        <a:t>的数据包，加负号</a:t>
                      </a:r>
                      <a:r>
                        <a:rPr lang="en-US" sz="1700" b="1" kern="100" dirty="0">
                          <a:effectLst/>
                        </a:rPr>
                        <a:t>-</a:t>
                      </a:r>
                      <a:r>
                        <a:rPr lang="zh-CN" sz="1700" b="1" kern="100" dirty="0">
                          <a:effectLst/>
                        </a:rPr>
                        <a:t>表示接收</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6"/>
                  </a:ext>
                </a:extLst>
              </a:tr>
              <a:tr h="278135">
                <a:tc>
                  <a:txBody>
                    <a:bodyPr/>
                    <a:lstStyle/>
                    <a:p>
                      <a:pPr algn="ctr">
                        <a:lnSpc>
                          <a:spcPts val="2200"/>
                        </a:lnSpc>
                        <a:spcAft>
                          <a:spcPts val="0"/>
                        </a:spcAft>
                      </a:pPr>
                      <a:r>
                        <a:rPr lang="en-US" sz="1700" b="1" kern="100">
                          <a:effectLst/>
                        </a:rPr>
                        <a:t>[-]broadcast [addr]</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将送往指定地址的数据包视为广播数据包</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7"/>
                  </a:ext>
                </a:extLst>
              </a:tr>
              <a:tr h="278135">
                <a:tc>
                  <a:txBody>
                    <a:bodyPr/>
                    <a:lstStyle/>
                    <a:p>
                      <a:pPr algn="ctr">
                        <a:lnSpc>
                          <a:spcPts val="2200"/>
                        </a:lnSpc>
                        <a:spcAft>
                          <a:spcPts val="0"/>
                        </a:spcAft>
                      </a:pPr>
                      <a:r>
                        <a:rPr lang="en-US" sz="1700" b="1" kern="100">
                          <a:effectLst/>
                        </a:rPr>
                        <a:t>[-]pointopoint [addr]</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启用点对点方式，和指定的地址建立直接连接</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8"/>
                  </a:ext>
                </a:extLst>
              </a:tr>
              <a:tr h="278135">
                <a:tc>
                  <a:txBody>
                    <a:bodyPr/>
                    <a:lstStyle/>
                    <a:p>
                      <a:pPr algn="ctr">
                        <a:lnSpc>
                          <a:spcPts val="2200"/>
                        </a:lnSpc>
                        <a:spcAft>
                          <a:spcPts val="0"/>
                        </a:spcAft>
                      </a:pPr>
                      <a:r>
                        <a:rPr lang="en-US" sz="1700" b="1" kern="100">
                          <a:effectLst/>
                        </a:rPr>
                        <a:t>[-]promisc</a:t>
                      </a:r>
                      <a:endParaRPr lang="zh-CN" sz="1700" b="1" kern="100">
                        <a:effectLst/>
                        <a:latin typeface="Times New Roman"/>
                        <a:ea typeface="宋体"/>
                      </a:endParaRPr>
                    </a:p>
                  </a:txBody>
                  <a:tcPr marL="68582" marR="68582" marT="0" marB="0" anchor="ctr"/>
                </a:tc>
                <a:tc>
                  <a:txBody>
                    <a:bodyPr/>
                    <a:lstStyle/>
                    <a:p>
                      <a:pPr algn="l">
                        <a:lnSpc>
                          <a:spcPts val="2200"/>
                        </a:lnSpc>
                        <a:spcAft>
                          <a:spcPts val="0"/>
                        </a:spcAft>
                      </a:pPr>
                      <a:r>
                        <a:rPr lang="zh-CN" sz="1700" b="1" kern="100" dirty="0">
                          <a:effectLst/>
                        </a:rPr>
                        <a:t>是否应用网卡上的</a:t>
                      </a:r>
                      <a:r>
                        <a:rPr lang="en-US" sz="1700" b="1" kern="100" dirty="0">
                          <a:effectLst/>
                        </a:rPr>
                        <a:t>promiscuous</a:t>
                      </a:r>
                      <a:r>
                        <a:rPr lang="zh-CN" sz="1700" b="1" kern="100" dirty="0">
                          <a:effectLst/>
                        </a:rPr>
                        <a:t>，加负号表示不应用</a:t>
                      </a:r>
                      <a:endParaRPr lang="zh-CN" sz="1700" b="1" kern="100" dirty="0">
                        <a:effectLst/>
                        <a:latin typeface="Times New Roman"/>
                        <a:ea typeface="宋体"/>
                      </a:endParaRPr>
                    </a:p>
                  </a:txBody>
                  <a:tcPr marL="68582" marR="68582" marT="0" marB="0" anchor="ctr"/>
                </a:tc>
                <a:extLst>
                  <a:ext uri="{0D108BD9-81ED-4DB2-BD59-A6C34878D82A}">
                    <a16:rowId xmlns:a16="http://schemas.microsoft.com/office/drawing/2014/main" val="10019"/>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标题 1">
            <a:extLst>
              <a:ext uri="{FF2B5EF4-FFF2-40B4-BE49-F238E27FC236}">
                <a16:creationId xmlns:a16="http://schemas.microsoft.com/office/drawing/2014/main" id="{C601BFDF-7E9E-853E-7381-1E893F683423}"/>
              </a:ext>
            </a:extLst>
          </p:cNvPr>
          <p:cNvSpPr>
            <a:spLocks noGrp="1" noChangeArrowheads="1"/>
          </p:cNvSpPr>
          <p:nvPr>
            <p:ph type="title"/>
          </p:nvPr>
        </p:nvSpPr>
        <p:spPr/>
        <p:txBody>
          <a:bodyPr/>
          <a:lstStyle/>
          <a:p>
            <a:r>
              <a:rPr lang="en-US" altLang="zh-CN"/>
              <a:t>9.2.4  </a:t>
            </a:r>
            <a:r>
              <a:rPr lang="zh-CN" altLang="zh-CN"/>
              <a:t>网络接口配置（</a:t>
            </a:r>
            <a:r>
              <a:rPr lang="en-US" altLang="zh-CN"/>
              <a:t>ifconfig</a:t>
            </a:r>
            <a:r>
              <a:rPr lang="zh-CN" altLang="zh-CN"/>
              <a:t>）</a:t>
            </a:r>
            <a:endParaRPr lang="zh-CN" altLang="en-US"/>
          </a:p>
        </p:txBody>
      </p:sp>
      <p:sp>
        <p:nvSpPr>
          <p:cNvPr id="1048660" name="内容占位符 2">
            <a:extLst>
              <a:ext uri="{FF2B5EF4-FFF2-40B4-BE49-F238E27FC236}">
                <a16:creationId xmlns:a16="http://schemas.microsoft.com/office/drawing/2014/main" id="{35126497-2CBA-664C-84F2-E2A5D32D94D1}"/>
              </a:ext>
            </a:extLst>
          </p:cNvPr>
          <p:cNvSpPr>
            <a:spLocks noGrp="1"/>
          </p:cNvSpPr>
          <p:nvPr>
            <p:ph idx="1"/>
          </p:nvPr>
        </p:nvSpPr>
        <p:spPr>
          <a:xfrm>
            <a:off x="0" y="620713"/>
            <a:ext cx="9036050" cy="5761037"/>
          </a:xfrm>
        </p:spPr>
        <p:txBody>
          <a:bodyPr/>
          <a:lstStyle/>
          <a:p>
            <a:pPr>
              <a:spcBef>
                <a:spcPts val="0"/>
              </a:spcBef>
              <a:spcAft>
                <a:spcPts val="0"/>
              </a:spcAft>
              <a:defRPr/>
            </a:pPr>
            <a:r>
              <a:rPr lang="en-US" altLang="zh-CN" sz="4400" dirty="0"/>
              <a:t>1</a:t>
            </a:r>
            <a:r>
              <a:rPr lang="zh-CN" altLang="zh-CN" sz="4400" dirty="0"/>
              <a:t>．显示网卡的配置信息</a:t>
            </a:r>
          </a:p>
          <a:p>
            <a:pPr marL="0" indent="0">
              <a:spcBef>
                <a:spcPts val="0"/>
              </a:spcBef>
              <a:spcAft>
                <a:spcPts val="0"/>
              </a:spcAft>
              <a:buFont typeface="Arial" panose="020B0604020202020204" pitchFamily="34" charset="0"/>
              <a:buNone/>
              <a:defRPr/>
            </a:pPr>
            <a:r>
              <a:rPr lang="en-US" altLang="zh-CN" sz="4400" dirty="0"/>
              <a:t>#</a:t>
            </a:r>
            <a:r>
              <a:rPr lang="en-US" altLang="zh-CN" sz="4400" dirty="0" err="1">
                <a:solidFill>
                  <a:srgbClr val="FF0000"/>
                </a:solidFill>
              </a:rPr>
              <a:t>ifconfig</a:t>
            </a:r>
            <a:r>
              <a:rPr lang="en-US" altLang="zh-CN" sz="4400" dirty="0">
                <a:solidFill>
                  <a:srgbClr val="FF0000"/>
                </a:solidFill>
              </a:rPr>
              <a:t>	</a:t>
            </a:r>
            <a:r>
              <a:rPr lang="en-US" altLang="zh-CN" sz="4400" dirty="0"/>
              <a:t>	#</a:t>
            </a:r>
            <a:r>
              <a:rPr lang="zh-CN" altLang="zh-CN" sz="4400" dirty="0"/>
              <a:t>运行</a:t>
            </a:r>
            <a:r>
              <a:rPr lang="en-US" altLang="zh-CN" sz="4400" dirty="0" err="1"/>
              <a:t>ifconfig</a:t>
            </a:r>
            <a:r>
              <a:rPr lang="zh-CN" altLang="zh-CN" sz="4400" dirty="0"/>
              <a:t>显示所有网卡的配置信息</a:t>
            </a:r>
          </a:p>
          <a:p>
            <a:pPr marL="0" indent="0">
              <a:spcBef>
                <a:spcPts val="0"/>
              </a:spcBef>
              <a:spcAft>
                <a:spcPts val="0"/>
              </a:spcAft>
              <a:buFont typeface="Arial" panose="020B0604020202020204" pitchFamily="34" charset="0"/>
              <a:buNone/>
              <a:defRPr/>
            </a:pPr>
            <a:r>
              <a:rPr lang="en-US" altLang="zh-CN" sz="4400" dirty="0"/>
              <a:t>#</a:t>
            </a:r>
            <a:r>
              <a:rPr lang="en-US" altLang="zh-CN" sz="4400" dirty="0" err="1">
                <a:solidFill>
                  <a:srgbClr val="FF0000"/>
                </a:solidFill>
              </a:rPr>
              <a:t>ifconfig</a:t>
            </a:r>
            <a:r>
              <a:rPr lang="en-US" altLang="zh-CN" sz="4400" dirty="0">
                <a:solidFill>
                  <a:srgbClr val="FF0000"/>
                </a:solidFill>
              </a:rPr>
              <a:t> eth0</a:t>
            </a:r>
            <a:r>
              <a:rPr lang="en-US" altLang="zh-CN" sz="4400" dirty="0"/>
              <a:t>		#</a:t>
            </a:r>
            <a:r>
              <a:rPr lang="zh-CN" altLang="zh-CN" sz="4400" dirty="0"/>
              <a:t>显示指定网络接口</a:t>
            </a:r>
            <a:r>
              <a:rPr lang="en-US" altLang="zh-CN" sz="4400" dirty="0"/>
              <a:t>eth0</a:t>
            </a:r>
            <a:r>
              <a:rPr lang="zh-CN" altLang="zh-CN" sz="4400" dirty="0"/>
              <a:t>信息</a:t>
            </a:r>
          </a:p>
          <a:p>
            <a:pPr marL="0" indent="0">
              <a:spcBef>
                <a:spcPts val="0"/>
              </a:spcBef>
              <a:spcAft>
                <a:spcPts val="0"/>
              </a:spcAft>
              <a:buFont typeface="Arial" panose="020B0604020202020204" pitchFamily="34" charset="0"/>
              <a:buNone/>
              <a:defRPr/>
            </a:pPr>
            <a:r>
              <a:rPr lang="en-US" altLang="zh-CN" sz="4400" dirty="0"/>
              <a:t>#</a:t>
            </a:r>
            <a:r>
              <a:rPr lang="en-US" altLang="zh-CN" sz="4400" dirty="0" err="1">
                <a:solidFill>
                  <a:srgbClr val="FF0000"/>
                </a:solidFill>
              </a:rPr>
              <a:t>ifconfig</a:t>
            </a:r>
            <a:r>
              <a:rPr lang="en-US" altLang="zh-CN" sz="4400" dirty="0">
                <a:solidFill>
                  <a:srgbClr val="FF0000"/>
                </a:solidFill>
              </a:rPr>
              <a:t> eth0:1</a:t>
            </a:r>
            <a:r>
              <a:rPr lang="en-US" altLang="zh-CN" sz="4400" dirty="0"/>
              <a:t>	#</a:t>
            </a:r>
            <a:r>
              <a:rPr lang="zh-CN" altLang="zh-CN" sz="4400" dirty="0"/>
              <a:t>显示指定网络接口</a:t>
            </a:r>
            <a:r>
              <a:rPr lang="en-US" altLang="zh-CN" sz="4400" dirty="0"/>
              <a:t>eth0:1</a:t>
            </a:r>
            <a:r>
              <a:rPr lang="zh-CN" altLang="zh-CN" sz="4400" dirty="0"/>
              <a:t>信息</a:t>
            </a:r>
            <a:endParaRPr lang="zh-CN" altLang="en-US" sz="4400" dirty="0"/>
          </a:p>
        </p:txBody>
      </p:sp>
      <p:pic>
        <p:nvPicPr>
          <p:cNvPr id="2" name="图片 1">
            <a:extLst>
              <a:ext uri="{FF2B5EF4-FFF2-40B4-BE49-F238E27FC236}">
                <a16:creationId xmlns:a16="http://schemas.microsoft.com/office/drawing/2014/main" id="{74E392D3-3A4B-4CD2-84D9-9ECB25E7129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525" y="503238"/>
            <a:ext cx="9001125" cy="58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标题 1">
            <a:extLst>
              <a:ext uri="{FF2B5EF4-FFF2-40B4-BE49-F238E27FC236}">
                <a16:creationId xmlns:a16="http://schemas.microsoft.com/office/drawing/2014/main" id="{30E5D9A7-35AF-CD80-36F5-AD80C8B11D24}"/>
              </a:ext>
            </a:extLst>
          </p:cNvPr>
          <p:cNvSpPr>
            <a:spLocks noGrp="1" noChangeArrowheads="1"/>
          </p:cNvSpPr>
          <p:nvPr>
            <p:ph type="title"/>
          </p:nvPr>
        </p:nvSpPr>
        <p:spPr/>
        <p:txBody>
          <a:bodyPr/>
          <a:lstStyle/>
          <a:p>
            <a:r>
              <a:rPr lang="en-US" altLang="zh-CN"/>
              <a:t>9.2.4  </a:t>
            </a:r>
            <a:r>
              <a:rPr lang="zh-CN" altLang="zh-CN"/>
              <a:t>网络接口配置（</a:t>
            </a:r>
            <a:r>
              <a:rPr lang="en-US" altLang="zh-CN"/>
              <a:t>ifconfig</a:t>
            </a:r>
            <a:r>
              <a:rPr lang="zh-CN" altLang="zh-CN"/>
              <a:t>）</a:t>
            </a:r>
            <a:endParaRPr lang="zh-CN" altLang="en-US"/>
          </a:p>
        </p:txBody>
      </p:sp>
      <p:sp>
        <p:nvSpPr>
          <p:cNvPr id="1048662" name="内容占位符 2">
            <a:extLst>
              <a:ext uri="{FF2B5EF4-FFF2-40B4-BE49-F238E27FC236}">
                <a16:creationId xmlns:a16="http://schemas.microsoft.com/office/drawing/2014/main" id="{23BEE02E-3761-61E8-D2C0-9B6092B2D747}"/>
              </a:ext>
            </a:extLst>
          </p:cNvPr>
          <p:cNvSpPr>
            <a:spLocks noGrp="1"/>
          </p:cNvSpPr>
          <p:nvPr>
            <p:ph idx="1"/>
          </p:nvPr>
        </p:nvSpPr>
        <p:spPr>
          <a:xfrm>
            <a:off x="34925" y="620713"/>
            <a:ext cx="9109075" cy="5688012"/>
          </a:xfrm>
        </p:spPr>
        <p:txBody>
          <a:bodyPr/>
          <a:lstStyle/>
          <a:p>
            <a:pPr>
              <a:spcBef>
                <a:spcPts val="0"/>
              </a:spcBef>
              <a:spcAft>
                <a:spcPts val="0"/>
              </a:spcAft>
              <a:defRPr/>
            </a:pPr>
            <a:r>
              <a:rPr lang="en-US" altLang="zh-CN" sz="4400" dirty="0"/>
              <a:t>2</a:t>
            </a:r>
            <a:r>
              <a:rPr lang="zh-CN" altLang="zh-CN" sz="4400" dirty="0"/>
              <a:t>．</a:t>
            </a:r>
            <a:r>
              <a:rPr lang="zh-CN" altLang="zh-CN" sz="4400" dirty="0">
                <a:solidFill>
                  <a:srgbClr val="FF0000"/>
                </a:solidFill>
              </a:rPr>
              <a:t>启动或停用网卡</a:t>
            </a:r>
          </a:p>
          <a:p>
            <a:pPr marL="0" indent="0" fontAlgn="ctr">
              <a:spcBef>
                <a:spcPts val="0"/>
              </a:spcBef>
              <a:spcAft>
                <a:spcPts val="0"/>
              </a:spcAft>
              <a:buFont typeface="Arial" panose="020B0604020202020204" pitchFamily="34" charset="0"/>
              <a:buNone/>
              <a:defRPr/>
            </a:pPr>
            <a:r>
              <a:rPr lang="zh-CN" altLang="zh-CN" sz="4400" dirty="0"/>
              <a:t>若要停用某网卡，可以指定网卡名称，并使用“</a:t>
            </a:r>
            <a:r>
              <a:rPr lang="en-US" altLang="zh-CN" sz="4400" dirty="0"/>
              <a:t>down</a:t>
            </a:r>
            <a:r>
              <a:rPr lang="zh-CN" altLang="zh-CN" sz="4400" dirty="0"/>
              <a:t>”参数，要重新启动网卡，则需使用“</a:t>
            </a:r>
            <a:r>
              <a:rPr lang="en-US" altLang="zh-CN" sz="4400" dirty="0"/>
              <a:t>up</a:t>
            </a:r>
            <a:r>
              <a:rPr lang="zh-CN" altLang="zh-CN" sz="4400" dirty="0"/>
              <a:t>”参数。</a:t>
            </a:r>
          </a:p>
          <a:p>
            <a:pPr marL="0" indent="0">
              <a:spcBef>
                <a:spcPts val="0"/>
              </a:spcBef>
              <a:spcAft>
                <a:spcPts val="0"/>
              </a:spcAft>
              <a:buFont typeface="Arial" panose="020B0604020202020204" pitchFamily="34" charset="0"/>
              <a:buNone/>
              <a:defRPr/>
            </a:pPr>
            <a:r>
              <a:rPr lang="en-US" altLang="zh-CN" sz="4400" dirty="0"/>
              <a:t>#</a:t>
            </a:r>
            <a:r>
              <a:rPr lang="en-US" altLang="zh-CN" sz="4400" dirty="0" err="1"/>
              <a:t>ifconfig</a:t>
            </a:r>
            <a:r>
              <a:rPr lang="en-US" altLang="zh-CN" sz="4400" dirty="0"/>
              <a:t> eth0 down		#</a:t>
            </a:r>
            <a:r>
              <a:rPr lang="zh-CN" altLang="zh-CN" sz="4400" dirty="0"/>
              <a:t>停用</a:t>
            </a:r>
            <a:r>
              <a:rPr lang="en-US" altLang="zh-CN" sz="4400" dirty="0"/>
              <a:t>eth0</a:t>
            </a:r>
            <a:r>
              <a:rPr lang="zh-CN" altLang="zh-CN" sz="4400" dirty="0"/>
              <a:t>网卡</a:t>
            </a:r>
          </a:p>
          <a:p>
            <a:pPr marL="0" indent="0">
              <a:spcBef>
                <a:spcPts val="0"/>
              </a:spcBef>
              <a:spcAft>
                <a:spcPts val="0"/>
              </a:spcAft>
              <a:buFont typeface="Arial" panose="020B0604020202020204" pitchFamily="34" charset="0"/>
              <a:buNone/>
              <a:defRPr/>
            </a:pPr>
            <a:r>
              <a:rPr lang="en-US" altLang="zh-CN" sz="4400" dirty="0"/>
              <a:t>#</a:t>
            </a:r>
            <a:r>
              <a:rPr lang="en-US" altLang="zh-CN" sz="4400" dirty="0" err="1"/>
              <a:t>ifconfig</a:t>
            </a:r>
            <a:r>
              <a:rPr lang="en-US" altLang="zh-CN" sz="4400" dirty="0"/>
              <a:t> eth0 up			#</a:t>
            </a:r>
            <a:r>
              <a:rPr lang="zh-CN" altLang="zh-CN" sz="4400" dirty="0"/>
              <a:t>应用</a:t>
            </a:r>
            <a:r>
              <a:rPr lang="en-US" altLang="zh-CN" sz="4400" dirty="0"/>
              <a:t>eth0</a:t>
            </a:r>
            <a:r>
              <a:rPr lang="zh-CN" altLang="zh-CN" sz="4400" dirty="0"/>
              <a:t>网卡</a:t>
            </a:r>
          </a:p>
          <a:p>
            <a:pPr>
              <a:lnSpc>
                <a:spcPct val="150000"/>
              </a:lnSpc>
              <a:defRPr/>
            </a:pP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36AF03B4-E313-F0A9-3731-367C4EBCA6F0}"/>
              </a:ext>
            </a:extLst>
          </p:cNvPr>
          <p:cNvSpPr>
            <a:spLocks noGrp="1" noChangeArrowheads="1"/>
          </p:cNvSpPr>
          <p:nvPr>
            <p:ph type="title"/>
          </p:nvPr>
        </p:nvSpPr>
        <p:spPr/>
        <p:txBody>
          <a:bodyPr/>
          <a:lstStyle/>
          <a:p>
            <a:r>
              <a:rPr lang="en-US" altLang="zh-CN"/>
              <a:t>9.2.4  </a:t>
            </a:r>
            <a:r>
              <a:rPr lang="zh-CN" altLang="zh-CN"/>
              <a:t>网络接口配置（</a:t>
            </a:r>
            <a:r>
              <a:rPr lang="en-US" altLang="zh-CN"/>
              <a:t>ifconfig</a:t>
            </a:r>
            <a:r>
              <a:rPr lang="zh-CN" altLang="zh-CN"/>
              <a:t>）</a:t>
            </a:r>
            <a:endParaRPr lang="zh-CN" altLang="en-US"/>
          </a:p>
        </p:txBody>
      </p:sp>
      <p:sp>
        <p:nvSpPr>
          <p:cNvPr id="1048664" name="内容占位符 2">
            <a:extLst>
              <a:ext uri="{FF2B5EF4-FFF2-40B4-BE49-F238E27FC236}">
                <a16:creationId xmlns:a16="http://schemas.microsoft.com/office/drawing/2014/main" id="{721D835F-1727-B975-43E9-D40883AC6504}"/>
              </a:ext>
            </a:extLst>
          </p:cNvPr>
          <p:cNvSpPr>
            <a:spLocks noGrp="1"/>
          </p:cNvSpPr>
          <p:nvPr>
            <p:ph idx="1"/>
          </p:nvPr>
        </p:nvSpPr>
        <p:spPr>
          <a:xfrm>
            <a:off x="31750" y="549275"/>
            <a:ext cx="9004300" cy="5832475"/>
          </a:xfrm>
        </p:spPr>
        <p:txBody>
          <a:bodyPr/>
          <a:lstStyle/>
          <a:p>
            <a:pPr>
              <a:spcBef>
                <a:spcPts val="0"/>
              </a:spcBef>
              <a:spcAft>
                <a:spcPts val="0"/>
              </a:spcAft>
              <a:defRPr/>
            </a:pPr>
            <a:r>
              <a:rPr lang="en-US" altLang="zh-CN" dirty="0"/>
              <a:t>3</a:t>
            </a:r>
            <a:r>
              <a:rPr lang="zh-CN" altLang="zh-CN" dirty="0"/>
              <a:t>．设置网卡配置</a:t>
            </a:r>
          </a:p>
          <a:p>
            <a:pPr marL="0" indent="0" fontAlgn="ctr">
              <a:spcBef>
                <a:spcPts val="0"/>
              </a:spcBef>
              <a:spcAft>
                <a:spcPts val="0"/>
              </a:spcAft>
              <a:buFont typeface="Arial" panose="020B0604020202020204" pitchFamily="34" charset="0"/>
              <a:buNone/>
              <a:defRPr/>
            </a:pPr>
            <a:r>
              <a:rPr lang="zh-CN" altLang="zh-CN" dirty="0"/>
              <a:t>（</a:t>
            </a:r>
            <a:r>
              <a:rPr lang="en-US" altLang="zh-CN" dirty="0"/>
              <a:t>1</a:t>
            </a:r>
            <a:r>
              <a:rPr lang="zh-CN" altLang="zh-CN" dirty="0"/>
              <a:t>）</a:t>
            </a:r>
            <a:r>
              <a:rPr lang="zh-CN" altLang="zh-CN" dirty="0">
                <a:solidFill>
                  <a:srgbClr val="FF0000"/>
                </a:solidFill>
              </a:rPr>
              <a:t>修改网卡设置</a:t>
            </a:r>
          </a:p>
          <a:p>
            <a:pPr marL="0" indent="0">
              <a:spcBef>
                <a:spcPts val="0"/>
              </a:spcBef>
              <a:spcAft>
                <a:spcPts val="0"/>
              </a:spcAft>
              <a:buFont typeface="Arial" panose="020B0604020202020204" pitchFamily="34" charset="0"/>
              <a:buNone/>
              <a:defRPr/>
            </a:pPr>
            <a:r>
              <a:rPr lang="en-US" altLang="zh-CN" dirty="0"/>
              <a:t>##</a:t>
            </a:r>
            <a:r>
              <a:rPr lang="zh-CN" altLang="zh-CN" dirty="0"/>
              <a:t>把</a:t>
            </a:r>
            <a:r>
              <a:rPr lang="en-US" altLang="zh-CN" dirty="0"/>
              <a:t>eth0</a:t>
            </a:r>
            <a:r>
              <a:rPr lang="zh-CN" altLang="zh-CN" dirty="0"/>
              <a:t>网卡的</a:t>
            </a:r>
            <a:r>
              <a:rPr lang="en-US" altLang="zh-CN" dirty="0"/>
              <a:t>IP</a:t>
            </a:r>
            <a:r>
              <a:rPr lang="zh-CN" altLang="zh-CN" dirty="0"/>
              <a:t>地址和子网掩码分别改变为</a:t>
            </a:r>
            <a:r>
              <a:rPr lang="en-US" altLang="zh-CN" dirty="0"/>
              <a:t>202.196.233.5</a:t>
            </a:r>
            <a:r>
              <a:rPr lang="zh-CN" altLang="zh-CN" dirty="0"/>
              <a:t>和</a:t>
            </a:r>
            <a:r>
              <a:rPr lang="en-US" altLang="zh-CN" dirty="0"/>
              <a:t>255.255.255.0</a:t>
            </a:r>
            <a:r>
              <a:rPr lang="zh-CN" altLang="zh-CN" dirty="0"/>
              <a:t>。</a:t>
            </a:r>
          </a:p>
          <a:p>
            <a:pPr marL="0" indent="0">
              <a:spcBef>
                <a:spcPts val="0"/>
              </a:spcBef>
              <a:spcAft>
                <a:spcPts val="0"/>
              </a:spcAft>
              <a:buFont typeface="Arial" panose="020B0604020202020204" pitchFamily="34" charset="0"/>
              <a:buNone/>
              <a:defRPr/>
            </a:pPr>
            <a:r>
              <a:rPr lang="en-US" altLang="zh-CN" dirty="0"/>
              <a:t>#</a:t>
            </a:r>
            <a:r>
              <a:rPr lang="en-US" altLang="zh-CN" dirty="0" err="1"/>
              <a:t>ifconfig</a:t>
            </a:r>
            <a:r>
              <a:rPr lang="en-US" altLang="zh-CN" dirty="0"/>
              <a:t> eth0 202.196.233.5 </a:t>
            </a:r>
            <a:r>
              <a:rPr lang="en-US" altLang="zh-CN" dirty="0" err="1"/>
              <a:t>netmask</a:t>
            </a:r>
            <a:r>
              <a:rPr lang="en-US" altLang="zh-CN" dirty="0"/>
              <a:t> 255.255.255.0</a:t>
            </a:r>
            <a:endParaRPr lang="zh-CN" altLang="zh-CN" dirty="0"/>
          </a:p>
          <a:p>
            <a:pPr marL="0" indent="0" fontAlgn="ctr">
              <a:spcBef>
                <a:spcPts val="0"/>
              </a:spcBef>
              <a:spcAft>
                <a:spcPts val="0"/>
              </a:spcAft>
              <a:buFont typeface="Arial" panose="020B0604020202020204" pitchFamily="34" charset="0"/>
              <a:buNone/>
              <a:defRPr/>
            </a:pPr>
            <a:r>
              <a:rPr lang="zh-CN" altLang="zh-CN" dirty="0"/>
              <a:t>（</a:t>
            </a:r>
            <a:r>
              <a:rPr lang="en-US" altLang="zh-CN" dirty="0"/>
              <a:t>2</a:t>
            </a:r>
            <a:r>
              <a:rPr lang="zh-CN" altLang="zh-CN" dirty="0"/>
              <a:t>）</a:t>
            </a:r>
            <a:r>
              <a:rPr lang="zh-CN" altLang="zh-CN" dirty="0">
                <a:solidFill>
                  <a:srgbClr val="FF0000"/>
                </a:solidFill>
              </a:rPr>
              <a:t>在指定网卡上增加一个</a:t>
            </a:r>
            <a:r>
              <a:rPr lang="en-US" altLang="zh-CN" dirty="0">
                <a:solidFill>
                  <a:srgbClr val="FF0000"/>
                </a:solidFill>
              </a:rPr>
              <a:t>IP</a:t>
            </a:r>
            <a:r>
              <a:rPr lang="zh-CN" altLang="zh-CN" dirty="0">
                <a:solidFill>
                  <a:srgbClr val="FF0000"/>
                </a:solidFill>
              </a:rPr>
              <a:t>地址</a:t>
            </a:r>
            <a:r>
              <a:rPr lang="en-US" altLang="zh-CN" dirty="0"/>
              <a:t> </a:t>
            </a:r>
            <a:endParaRPr lang="zh-CN" altLang="zh-CN" dirty="0"/>
          </a:p>
          <a:p>
            <a:pPr marL="0" indent="0">
              <a:spcBef>
                <a:spcPts val="0"/>
              </a:spcBef>
              <a:spcAft>
                <a:spcPts val="0"/>
              </a:spcAft>
              <a:buFont typeface="Arial" panose="020B0604020202020204" pitchFamily="34" charset="0"/>
              <a:buNone/>
              <a:defRPr/>
            </a:pPr>
            <a:r>
              <a:rPr lang="en-US" altLang="zh-CN" dirty="0"/>
              <a:t>##</a:t>
            </a:r>
            <a:r>
              <a:rPr lang="zh-CN" altLang="zh-CN" dirty="0"/>
              <a:t>在指定网卡</a:t>
            </a:r>
            <a:r>
              <a:rPr lang="en-US" altLang="zh-CN" dirty="0"/>
              <a:t>eth0</a:t>
            </a:r>
            <a:r>
              <a:rPr lang="zh-CN" altLang="zh-CN" dirty="0"/>
              <a:t>上增加一个地址</a:t>
            </a:r>
            <a:r>
              <a:rPr lang="en-US" altLang="zh-CN" dirty="0"/>
              <a:t>202.196.235.0</a:t>
            </a:r>
            <a:r>
              <a:rPr lang="zh-CN" altLang="zh-CN" dirty="0"/>
              <a:t>网络掩码为</a:t>
            </a:r>
            <a:r>
              <a:rPr lang="en-US" altLang="zh-CN" dirty="0"/>
              <a:t>255.255.255.0</a:t>
            </a:r>
            <a:endParaRPr lang="zh-CN" altLang="zh-CN" dirty="0"/>
          </a:p>
          <a:p>
            <a:pPr marL="0" indent="0">
              <a:spcBef>
                <a:spcPts val="0"/>
              </a:spcBef>
              <a:spcAft>
                <a:spcPts val="0"/>
              </a:spcAft>
              <a:buFont typeface="Arial" panose="020B0604020202020204" pitchFamily="34" charset="0"/>
              <a:buNone/>
              <a:defRPr/>
            </a:pPr>
            <a:r>
              <a:rPr lang="en-US" altLang="zh-CN" dirty="0"/>
              <a:t>#</a:t>
            </a:r>
            <a:r>
              <a:rPr lang="en-US" altLang="zh-CN" dirty="0" err="1"/>
              <a:t>ifconfig</a:t>
            </a:r>
            <a:r>
              <a:rPr lang="en-US" altLang="zh-CN" dirty="0"/>
              <a:t> eth0:1 202.196.235.0 up</a:t>
            </a:r>
            <a:endParaRPr lang="zh-CN" altLang="zh-CN" dirty="0"/>
          </a:p>
          <a:p>
            <a:pPr marL="0" indent="0">
              <a:spcBef>
                <a:spcPts val="0"/>
              </a:spcBef>
              <a:spcAft>
                <a:spcPts val="0"/>
              </a:spcAft>
              <a:buFont typeface="Arial" panose="020B0604020202020204" pitchFamily="34" charset="0"/>
              <a:buNone/>
              <a:defRPr/>
            </a:pPr>
            <a:r>
              <a:rPr lang="en-US" altLang="zh-CN" dirty="0"/>
              <a:t>##</a:t>
            </a:r>
            <a:r>
              <a:rPr lang="zh-CN" altLang="zh-CN" dirty="0"/>
              <a:t>在指定网卡</a:t>
            </a:r>
            <a:r>
              <a:rPr lang="en-US" altLang="zh-CN" dirty="0"/>
              <a:t>eth0</a:t>
            </a:r>
            <a:r>
              <a:rPr lang="zh-CN" altLang="zh-CN" dirty="0"/>
              <a:t>上增加一个网络为地址</a:t>
            </a:r>
            <a:r>
              <a:rPr lang="en-US" altLang="zh-CN" dirty="0"/>
              <a:t>202.196.238.0</a:t>
            </a:r>
            <a:r>
              <a:rPr lang="zh-CN" altLang="zh-CN" dirty="0"/>
              <a:t>，网络掩码长度为</a:t>
            </a:r>
            <a:r>
              <a:rPr lang="en-US" altLang="zh-CN" dirty="0"/>
              <a:t>26</a:t>
            </a:r>
            <a:r>
              <a:rPr lang="zh-CN" altLang="zh-CN" dirty="0"/>
              <a:t>位的网络</a:t>
            </a:r>
            <a:endParaRPr lang="en-US" altLang="zh-CN" dirty="0"/>
          </a:p>
          <a:p>
            <a:pPr marL="0" indent="0">
              <a:spcBef>
                <a:spcPts val="0"/>
              </a:spcBef>
              <a:spcAft>
                <a:spcPts val="0"/>
              </a:spcAft>
              <a:buFont typeface="Arial" panose="020B0604020202020204" pitchFamily="34" charset="0"/>
              <a:buNone/>
              <a:defRPr/>
            </a:pPr>
            <a:r>
              <a:rPr lang="en-US" altLang="zh-CN" dirty="0"/>
              <a:t>#</a:t>
            </a:r>
            <a:r>
              <a:rPr lang="en-US" altLang="zh-CN" dirty="0" err="1"/>
              <a:t>ifconfig</a:t>
            </a:r>
            <a:r>
              <a:rPr lang="en-US" altLang="zh-CN" dirty="0"/>
              <a:t> eth0:2 202.196.238.0/26 up</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标题 1">
            <a:extLst>
              <a:ext uri="{FF2B5EF4-FFF2-40B4-BE49-F238E27FC236}">
                <a16:creationId xmlns:a16="http://schemas.microsoft.com/office/drawing/2014/main" id="{0241F1B9-B381-5156-109F-903CAAEE3CF0}"/>
              </a:ext>
            </a:extLst>
          </p:cNvPr>
          <p:cNvSpPr>
            <a:spLocks noGrp="1" noChangeArrowheads="1"/>
          </p:cNvSpPr>
          <p:nvPr>
            <p:ph type="title"/>
          </p:nvPr>
        </p:nvSpPr>
        <p:spPr/>
        <p:txBody>
          <a:bodyPr/>
          <a:lstStyle/>
          <a:p>
            <a:r>
              <a:rPr lang="en-US" altLang="zh-CN"/>
              <a:t>9.2.5  </a:t>
            </a:r>
            <a:r>
              <a:rPr lang="zh-CN" altLang="zh-CN"/>
              <a:t>网络</a:t>
            </a:r>
            <a:r>
              <a:rPr lang="en-US" altLang="zh-CN"/>
              <a:t>IP</a:t>
            </a:r>
            <a:r>
              <a:rPr lang="zh-CN" altLang="zh-CN"/>
              <a:t>管理（</a:t>
            </a:r>
            <a:r>
              <a:rPr lang="en-US" altLang="zh-CN"/>
              <a:t>ip</a:t>
            </a:r>
            <a:r>
              <a:rPr lang="zh-CN" altLang="zh-CN"/>
              <a:t>）</a:t>
            </a:r>
            <a:endParaRPr lang="zh-CN" altLang="en-US"/>
          </a:p>
        </p:txBody>
      </p:sp>
      <p:sp>
        <p:nvSpPr>
          <p:cNvPr id="1048666" name="内容占位符 2">
            <a:extLst>
              <a:ext uri="{FF2B5EF4-FFF2-40B4-BE49-F238E27FC236}">
                <a16:creationId xmlns:a16="http://schemas.microsoft.com/office/drawing/2014/main" id="{30939071-3873-F2F4-7F50-02A840D9E804}"/>
              </a:ext>
            </a:extLst>
          </p:cNvPr>
          <p:cNvSpPr>
            <a:spLocks noGrp="1"/>
          </p:cNvSpPr>
          <p:nvPr>
            <p:ph idx="1"/>
          </p:nvPr>
        </p:nvSpPr>
        <p:spPr>
          <a:xfrm>
            <a:off x="0" y="549275"/>
            <a:ext cx="9109075" cy="5832475"/>
          </a:xfrm>
        </p:spPr>
        <p:txBody>
          <a:bodyPr/>
          <a:lstStyle/>
          <a:p>
            <a:pPr fontAlgn="ctr">
              <a:spcBef>
                <a:spcPts val="0"/>
              </a:spcBef>
              <a:spcAft>
                <a:spcPts val="0"/>
              </a:spcAft>
              <a:defRPr/>
            </a:pPr>
            <a:r>
              <a:rPr lang="en-US" altLang="zh-CN" sz="4400" dirty="0" err="1"/>
              <a:t>ip</a:t>
            </a:r>
            <a:r>
              <a:rPr lang="zh-CN" altLang="zh-CN" sz="4400" dirty="0"/>
              <a:t>是</a:t>
            </a:r>
            <a:r>
              <a:rPr lang="zh-CN" altLang="zh-CN" sz="4400" dirty="0">
                <a:solidFill>
                  <a:srgbClr val="FF0000"/>
                </a:solidFill>
              </a:rPr>
              <a:t>一个强大</a:t>
            </a:r>
            <a:r>
              <a:rPr lang="zh-CN" altLang="zh-CN" sz="4400" dirty="0"/>
              <a:t>的</a:t>
            </a:r>
            <a:r>
              <a:rPr lang="zh-CN" altLang="zh-CN" sz="4400" dirty="0">
                <a:solidFill>
                  <a:srgbClr val="FF0000"/>
                </a:solidFill>
              </a:rPr>
              <a:t>网络配置工具</a:t>
            </a:r>
            <a:r>
              <a:rPr lang="zh-CN" altLang="zh-CN" sz="4400" dirty="0"/>
              <a:t>，它</a:t>
            </a:r>
            <a:r>
              <a:rPr lang="zh-CN" altLang="zh-CN" sz="4400" dirty="0">
                <a:solidFill>
                  <a:srgbClr val="FF0000"/>
                </a:solidFill>
              </a:rPr>
              <a:t>能够代替</a:t>
            </a:r>
            <a:r>
              <a:rPr lang="zh-CN" altLang="zh-CN" sz="4400" dirty="0"/>
              <a:t>一些传统的网络管理工具，如</a:t>
            </a:r>
            <a:r>
              <a:rPr lang="en-US" altLang="zh-CN" sz="4400" dirty="0" err="1"/>
              <a:t>ifconfig</a:t>
            </a:r>
            <a:r>
              <a:rPr lang="zh-CN" altLang="zh-CN" sz="4400" dirty="0"/>
              <a:t>、</a:t>
            </a:r>
            <a:r>
              <a:rPr lang="en-US" altLang="zh-CN" sz="4400" dirty="0"/>
              <a:t>route</a:t>
            </a:r>
            <a:r>
              <a:rPr lang="zh-CN" altLang="zh-CN" sz="4400" dirty="0"/>
              <a:t>等，</a:t>
            </a:r>
            <a:r>
              <a:rPr lang="zh-CN" altLang="zh-CN" sz="4400" dirty="0">
                <a:solidFill>
                  <a:srgbClr val="FF0000"/>
                </a:solidFill>
              </a:rPr>
              <a:t>使用权限为超级用户</a:t>
            </a:r>
            <a:r>
              <a:rPr lang="zh-CN" altLang="zh-CN" sz="4400" dirty="0"/>
              <a:t>。</a:t>
            </a:r>
            <a:r>
              <a:rPr lang="en-US" altLang="zh-CN" sz="4400" dirty="0" err="1"/>
              <a:t>ip</a:t>
            </a:r>
            <a:r>
              <a:rPr lang="zh-CN" altLang="zh-CN" sz="4400" dirty="0"/>
              <a:t>来自软件包</a:t>
            </a:r>
            <a:r>
              <a:rPr lang="en-US" altLang="zh-CN" sz="4400" dirty="0" err="1"/>
              <a:t>iproute</a:t>
            </a:r>
            <a:r>
              <a:rPr lang="zh-CN" altLang="zh-CN" sz="4400" dirty="0"/>
              <a:t>（红帽）或</a:t>
            </a:r>
            <a:r>
              <a:rPr lang="en-US" altLang="zh-CN" sz="4400" dirty="0"/>
              <a:t>iproute2</a:t>
            </a:r>
            <a:r>
              <a:rPr lang="zh-CN" altLang="zh-CN" sz="4400" dirty="0"/>
              <a:t>（</a:t>
            </a:r>
            <a:r>
              <a:rPr lang="en-US" altLang="zh-CN" sz="4400" dirty="0"/>
              <a:t>Ubuntu</a:t>
            </a:r>
            <a:r>
              <a:rPr lang="zh-CN" altLang="zh-CN" sz="4400" dirty="0"/>
              <a:t>），其用法为：</a:t>
            </a:r>
          </a:p>
          <a:p>
            <a:pPr marL="0" indent="0">
              <a:spcBef>
                <a:spcPts val="0"/>
              </a:spcBef>
              <a:spcAft>
                <a:spcPts val="0"/>
              </a:spcAft>
              <a:buFont typeface="Arial" panose="020B0604020202020204" pitchFamily="34" charset="0"/>
              <a:buNone/>
              <a:defRPr/>
            </a:pPr>
            <a:r>
              <a:rPr lang="en-US" altLang="zh-CN" sz="4400" dirty="0" err="1"/>
              <a:t>ip</a:t>
            </a:r>
            <a:r>
              <a:rPr lang="en-US" altLang="zh-CN" sz="4400" dirty="0"/>
              <a:t> [options] object {</a:t>
            </a:r>
            <a:r>
              <a:rPr lang="en-US" altLang="zh-CN" sz="4400" dirty="0" err="1"/>
              <a:t>cmd</a:t>
            </a:r>
            <a:r>
              <a:rPr lang="en-US" altLang="zh-CN" sz="4400" dirty="0"/>
              <a:t> | help}</a:t>
            </a:r>
            <a:endParaRPr lang="zh-CN" altLang="en-US" sz="4400" dirty="0"/>
          </a:p>
        </p:txBody>
      </p:sp>
      <p:pic>
        <p:nvPicPr>
          <p:cNvPr id="2" name="图片 1">
            <a:extLst>
              <a:ext uri="{FF2B5EF4-FFF2-40B4-BE49-F238E27FC236}">
                <a16:creationId xmlns:a16="http://schemas.microsoft.com/office/drawing/2014/main" id="{F9B0A569-C67E-E18C-5A38-C75A21ABCF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163" y="549275"/>
            <a:ext cx="9078912" cy="58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标题 1">
            <a:extLst>
              <a:ext uri="{FF2B5EF4-FFF2-40B4-BE49-F238E27FC236}">
                <a16:creationId xmlns:a16="http://schemas.microsoft.com/office/drawing/2014/main" id="{201F5507-D838-23D4-A682-BABE8D976DA5}"/>
              </a:ext>
            </a:extLst>
          </p:cNvPr>
          <p:cNvSpPr>
            <a:spLocks noGrp="1" noChangeArrowheads="1"/>
          </p:cNvSpPr>
          <p:nvPr>
            <p:ph type="title"/>
          </p:nvPr>
        </p:nvSpPr>
        <p:spPr>
          <a:xfrm>
            <a:off x="250825" y="44450"/>
            <a:ext cx="8207375" cy="504825"/>
          </a:xfrm>
        </p:spPr>
        <p:txBody>
          <a:bodyPr/>
          <a:lstStyle/>
          <a:p>
            <a:r>
              <a:rPr lang="en-US" altLang="zh-CN"/>
              <a:t>9.2.5  </a:t>
            </a:r>
            <a:r>
              <a:rPr lang="zh-CN" altLang="zh-CN"/>
              <a:t>网络</a:t>
            </a:r>
            <a:r>
              <a:rPr lang="en-US" altLang="zh-CN"/>
              <a:t>IP</a:t>
            </a:r>
            <a:r>
              <a:rPr lang="zh-CN" altLang="zh-CN"/>
              <a:t>管理（</a:t>
            </a:r>
            <a:r>
              <a:rPr lang="en-US" altLang="zh-CN"/>
              <a:t>ip</a:t>
            </a:r>
            <a:r>
              <a:rPr lang="zh-CN" altLang="zh-CN"/>
              <a:t>）</a:t>
            </a:r>
            <a:endParaRPr lang="zh-CN" altLang="en-US"/>
          </a:p>
        </p:txBody>
      </p:sp>
      <p:sp>
        <p:nvSpPr>
          <p:cNvPr id="1048668" name="内容占位符 2">
            <a:extLst>
              <a:ext uri="{FF2B5EF4-FFF2-40B4-BE49-F238E27FC236}">
                <a16:creationId xmlns:a16="http://schemas.microsoft.com/office/drawing/2014/main" id="{E45B2CF7-7C9C-A395-A3D0-D9C1A724C4E1}"/>
              </a:ext>
            </a:extLst>
          </p:cNvPr>
          <p:cNvSpPr>
            <a:spLocks noGrp="1"/>
          </p:cNvSpPr>
          <p:nvPr>
            <p:ph idx="1"/>
          </p:nvPr>
        </p:nvSpPr>
        <p:spPr>
          <a:xfrm>
            <a:off x="0" y="571500"/>
            <a:ext cx="9180513" cy="5881688"/>
          </a:xfrm>
        </p:spPr>
        <p:txBody>
          <a:bodyPr/>
          <a:lstStyle/>
          <a:p>
            <a:pPr>
              <a:spcBef>
                <a:spcPts val="0"/>
              </a:spcBef>
              <a:spcAft>
                <a:spcPts val="0"/>
              </a:spcAft>
              <a:defRPr/>
            </a:pPr>
            <a:r>
              <a:rPr lang="en-US" altLang="zh-CN" dirty="0"/>
              <a:t>1</a:t>
            </a:r>
            <a:r>
              <a:rPr lang="zh-CN" altLang="zh-CN" dirty="0"/>
              <a:t>．</a:t>
            </a:r>
            <a:r>
              <a:rPr lang="zh-CN" altLang="zh-CN" dirty="0">
                <a:solidFill>
                  <a:srgbClr val="FF0000"/>
                </a:solidFill>
              </a:rPr>
              <a:t>接口设备相关设置</a:t>
            </a:r>
          </a:p>
          <a:p>
            <a:pPr fontAlgn="ctr">
              <a:spcBef>
                <a:spcPts val="0"/>
              </a:spcBef>
              <a:spcAft>
                <a:spcPts val="0"/>
              </a:spcAft>
              <a:defRPr/>
            </a:pPr>
            <a:r>
              <a:rPr lang="en-US" altLang="zh-CN" dirty="0" err="1">
                <a:solidFill>
                  <a:srgbClr val="FF0000"/>
                </a:solidFill>
              </a:rPr>
              <a:t>ip</a:t>
            </a:r>
            <a:r>
              <a:rPr lang="en-US" altLang="zh-CN" dirty="0">
                <a:solidFill>
                  <a:srgbClr val="FF0000"/>
                </a:solidFill>
              </a:rPr>
              <a:t> link</a:t>
            </a:r>
            <a:r>
              <a:rPr lang="zh-CN" altLang="zh-CN" dirty="0">
                <a:solidFill>
                  <a:srgbClr val="FF0000"/>
                </a:solidFill>
              </a:rPr>
              <a:t>命令</a:t>
            </a:r>
            <a:r>
              <a:rPr lang="zh-CN" altLang="zh-CN" dirty="0"/>
              <a:t>可以设置与设备有关的参数，包括启动或关闭某个网络接口，语法如下：</a:t>
            </a:r>
          </a:p>
          <a:p>
            <a:pPr marL="0" indent="0" algn="ctr">
              <a:spcBef>
                <a:spcPts val="0"/>
              </a:spcBef>
              <a:spcAft>
                <a:spcPts val="0"/>
              </a:spcAft>
              <a:buFont typeface="Arial" panose="020B0604020202020204" pitchFamily="34" charset="0"/>
              <a:buNone/>
              <a:defRPr/>
            </a:pPr>
            <a:r>
              <a:rPr lang="en-US" altLang="zh-CN" dirty="0"/>
              <a:t>#</a:t>
            </a:r>
            <a:r>
              <a:rPr lang="en-US" altLang="zh-CN" dirty="0" err="1">
                <a:solidFill>
                  <a:srgbClr val="FF0000"/>
                </a:solidFill>
              </a:rPr>
              <a:t>ip</a:t>
            </a:r>
            <a:r>
              <a:rPr lang="en-US" altLang="zh-CN" dirty="0">
                <a:solidFill>
                  <a:srgbClr val="FF0000"/>
                </a:solidFill>
              </a:rPr>
              <a:t> [-s] link show </a:t>
            </a:r>
            <a:r>
              <a:rPr lang="en-US" altLang="zh-CN" dirty="0"/>
              <a:t>	#</a:t>
            </a:r>
            <a:r>
              <a:rPr lang="zh-CN" altLang="zh-CN" dirty="0"/>
              <a:t>查看设备相关信息</a:t>
            </a:r>
          </a:p>
          <a:p>
            <a:pPr marL="0" indent="0">
              <a:spcBef>
                <a:spcPts val="0"/>
              </a:spcBef>
              <a:spcAft>
                <a:spcPts val="0"/>
              </a:spcAft>
              <a:buFont typeface="Arial" panose="020B0604020202020204" pitchFamily="34" charset="0"/>
              <a:buNone/>
              <a:defRPr/>
            </a:pPr>
            <a:r>
              <a:rPr lang="en-US" altLang="zh-CN" dirty="0"/>
              <a:t>#</a:t>
            </a:r>
            <a:r>
              <a:rPr lang="en-US" altLang="zh-CN" dirty="0" err="1"/>
              <a:t>ip</a:t>
            </a:r>
            <a:r>
              <a:rPr lang="en-US" altLang="zh-CN" dirty="0"/>
              <a:t> link set [device] [</a:t>
            </a:r>
            <a:r>
              <a:rPr lang="en-US" altLang="zh-CN" dirty="0" err="1"/>
              <a:t>up|down|name|address</a:t>
            </a:r>
            <a:r>
              <a:rPr lang="en-US" altLang="zh-CN" dirty="0"/>
              <a:t>] #</a:t>
            </a:r>
            <a:r>
              <a:rPr lang="zh-CN" altLang="zh-CN" dirty="0"/>
              <a:t>按指定动作设置设备</a:t>
            </a:r>
            <a:r>
              <a:rPr lang="en-US" altLang="zh-CN" dirty="0"/>
              <a:t> </a:t>
            </a:r>
            <a:endParaRPr lang="zh-CN" altLang="zh-CN" dirty="0"/>
          </a:p>
          <a:p>
            <a:pPr marL="0" indent="0" fontAlgn="ctr">
              <a:spcBef>
                <a:spcPts val="0"/>
              </a:spcBef>
              <a:spcAft>
                <a:spcPts val="0"/>
              </a:spcAft>
              <a:buFont typeface="Arial" panose="020B0604020202020204" pitchFamily="34" charset="0"/>
              <a:buNone/>
              <a:defRPr/>
            </a:pPr>
            <a:r>
              <a:rPr lang="en-US" altLang="zh-CN" dirty="0" err="1"/>
              <a:t>ip</a:t>
            </a:r>
            <a:r>
              <a:rPr lang="en-US" altLang="zh-CN" dirty="0"/>
              <a:t> link</a:t>
            </a:r>
            <a:r>
              <a:rPr lang="zh-CN" altLang="zh-CN" dirty="0"/>
              <a:t>命令使用示例如下：</a:t>
            </a:r>
            <a:br>
              <a:rPr lang="en-US" altLang="zh-CN" dirty="0"/>
            </a:br>
            <a:r>
              <a:rPr lang="en-US" altLang="zh-CN" dirty="0"/>
              <a:t>#</a:t>
            </a:r>
            <a:r>
              <a:rPr lang="en-US" altLang="zh-CN" dirty="0" err="1"/>
              <a:t>ip</a:t>
            </a:r>
            <a:r>
              <a:rPr lang="en-US" altLang="zh-CN" dirty="0"/>
              <a:t> -s link show eth0 	#</a:t>
            </a:r>
            <a:r>
              <a:rPr lang="zh-CN" altLang="zh-CN" dirty="0"/>
              <a:t>显示本机</a:t>
            </a:r>
            <a:r>
              <a:rPr lang="en-US" altLang="zh-CN" dirty="0"/>
              <a:t>eth0</a:t>
            </a:r>
            <a:r>
              <a:rPr lang="zh-CN" altLang="zh-CN" dirty="0"/>
              <a:t>接口的信息</a:t>
            </a:r>
          </a:p>
          <a:p>
            <a:pPr marL="0" indent="0">
              <a:spcBef>
                <a:spcPts val="0"/>
              </a:spcBef>
              <a:spcAft>
                <a:spcPts val="0"/>
              </a:spcAft>
              <a:buFont typeface="Arial" panose="020B0604020202020204" pitchFamily="34" charset="0"/>
              <a:buNone/>
              <a:defRPr/>
            </a:pPr>
            <a:r>
              <a:rPr lang="en-US" altLang="zh-CN" dirty="0"/>
              <a:t>#</a:t>
            </a:r>
            <a:r>
              <a:rPr lang="en-US" altLang="zh-CN" dirty="0" err="1"/>
              <a:t>ip</a:t>
            </a:r>
            <a:r>
              <a:rPr lang="en-US" altLang="zh-CN" dirty="0"/>
              <a:t> link set eth0 up 	#</a:t>
            </a:r>
            <a:r>
              <a:rPr lang="zh-CN" altLang="zh-CN" dirty="0"/>
              <a:t>启动本机</a:t>
            </a:r>
            <a:r>
              <a:rPr lang="en-US" altLang="zh-CN" dirty="0"/>
              <a:t>eth0</a:t>
            </a:r>
            <a:r>
              <a:rPr lang="zh-CN" altLang="zh-CN" dirty="0"/>
              <a:t>接口设备</a:t>
            </a:r>
          </a:p>
          <a:p>
            <a:pPr marL="0" indent="0">
              <a:spcBef>
                <a:spcPts val="0"/>
              </a:spcBef>
              <a:spcAft>
                <a:spcPts val="0"/>
              </a:spcAft>
              <a:buFont typeface="Arial" panose="020B0604020202020204" pitchFamily="34" charset="0"/>
              <a:buNone/>
              <a:defRPr/>
            </a:pPr>
            <a:r>
              <a:rPr lang="en-US" altLang="zh-CN" dirty="0"/>
              <a:t>#</a:t>
            </a:r>
            <a:r>
              <a:rPr lang="en-US" altLang="zh-CN" dirty="0" err="1"/>
              <a:t>ip</a:t>
            </a:r>
            <a:r>
              <a:rPr lang="en-US" altLang="zh-CN" dirty="0"/>
              <a:t> link set eth0 name v0 	#</a:t>
            </a:r>
            <a:r>
              <a:rPr lang="zh-CN" altLang="zh-CN" dirty="0"/>
              <a:t>修改</a:t>
            </a:r>
            <a:r>
              <a:rPr lang="en-US" altLang="zh-CN" dirty="0"/>
              <a:t>eth0</a:t>
            </a:r>
            <a:r>
              <a:rPr lang="zh-CN" altLang="zh-CN" dirty="0"/>
              <a:t>网卡名称为</a:t>
            </a:r>
            <a:r>
              <a:rPr lang="en-US" altLang="zh-CN" dirty="0"/>
              <a:t>v0</a:t>
            </a:r>
            <a:endParaRPr lang="zh-CN" altLang="zh-CN" dirty="0"/>
          </a:p>
          <a:p>
            <a:pPr marL="0" indent="0">
              <a:spcBef>
                <a:spcPts val="0"/>
              </a:spcBef>
              <a:spcAft>
                <a:spcPts val="0"/>
              </a:spcAft>
              <a:buFont typeface="Arial" panose="020B0604020202020204" pitchFamily="34" charset="0"/>
              <a:buNone/>
              <a:defRPr/>
            </a:pPr>
            <a:r>
              <a:rPr lang="en-US" altLang="zh-CN" dirty="0"/>
              <a:t>#</a:t>
            </a:r>
            <a:r>
              <a:rPr lang="en-US" altLang="zh-CN" dirty="0" err="1"/>
              <a:t>ip</a:t>
            </a:r>
            <a:r>
              <a:rPr lang="en-US" altLang="zh-CN" dirty="0"/>
              <a:t> link set eth0 address 52:54:00:fb:77:9e	#</a:t>
            </a:r>
            <a:r>
              <a:rPr lang="zh-CN" altLang="zh-CN" dirty="0"/>
              <a:t>修改</a:t>
            </a:r>
            <a:r>
              <a:rPr lang="en-US" altLang="zh-CN" dirty="0"/>
              <a:t>MAC</a:t>
            </a:r>
            <a:r>
              <a:rPr lang="zh-CN" altLang="zh-CN" dirty="0"/>
              <a:t>地址</a:t>
            </a:r>
          </a:p>
          <a:p>
            <a:pPr>
              <a:lnSpc>
                <a:spcPts val="3300"/>
              </a:lnSpc>
              <a:defRPr/>
            </a:pP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133086DD-70E3-0A49-84DF-514B5D112E54}"/>
              </a:ext>
            </a:extLst>
          </p:cNvPr>
          <p:cNvSpPr>
            <a:spLocks noGrp="1" noChangeArrowheads="1"/>
          </p:cNvSpPr>
          <p:nvPr>
            <p:ph type="title"/>
          </p:nvPr>
        </p:nvSpPr>
        <p:spPr>
          <a:xfrm>
            <a:off x="250825" y="33338"/>
            <a:ext cx="7772400" cy="504825"/>
          </a:xfrm>
        </p:spPr>
        <p:txBody>
          <a:bodyPr/>
          <a:lstStyle/>
          <a:p>
            <a:r>
              <a:rPr lang="en-US" altLang="zh-CN"/>
              <a:t>9.2.5  </a:t>
            </a:r>
            <a:r>
              <a:rPr lang="zh-CN" altLang="zh-CN"/>
              <a:t>网络</a:t>
            </a:r>
            <a:r>
              <a:rPr lang="en-US" altLang="zh-CN"/>
              <a:t>IP</a:t>
            </a:r>
            <a:r>
              <a:rPr lang="zh-CN" altLang="zh-CN"/>
              <a:t>管理（</a:t>
            </a:r>
            <a:r>
              <a:rPr lang="en-US" altLang="zh-CN"/>
              <a:t>ip</a:t>
            </a:r>
            <a:r>
              <a:rPr lang="zh-CN" altLang="zh-CN"/>
              <a:t>）</a:t>
            </a:r>
            <a:endParaRPr lang="zh-CN" altLang="en-US"/>
          </a:p>
        </p:txBody>
      </p:sp>
      <p:sp>
        <p:nvSpPr>
          <p:cNvPr id="1048670" name="内容占位符 2">
            <a:extLst>
              <a:ext uri="{FF2B5EF4-FFF2-40B4-BE49-F238E27FC236}">
                <a16:creationId xmlns:a16="http://schemas.microsoft.com/office/drawing/2014/main" id="{DE131828-3C07-8478-CCF1-4323CCE5F781}"/>
              </a:ext>
            </a:extLst>
          </p:cNvPr>
          <p:cNvSpPr>
            <a:spLocks noGrp="1"/>
          </p:cNvSpPr>
          <p:nvPr>
            <p:ph idx="1"/>
          </p:nvPr>
        </p:nvSpPr>
        <p:spPr>
          <a:xfrm>
            <a:off x="0" y="542925"/>
            <a:ext cx="9144000" cy="5910263"/>
          </a:xfrm>
        </p:spPr>
        <p:txBody>
          <a:bodyPr/>
          <a:lstStyle/>
          <a:p>
            <a:pPr>
              <a:spcBef>
                <a:spcPts val="0"/>
              </a:spcBef>
              <a:spcAft>
                <a:spcPts val="0"/>
              </a:spcAft>
              <a:defRPr/>
            </a:pPr>
            <a:r>
              <a:rPr lang="en-US" altLang="zh-CN" dirty="0"/>
              <a:t>2</a:t>
            </a:r>
            <a:r>
              <a:rPr lang="zh-CN" altLang="zh-CN" dirty="0"/>
              <a:t>．为</a:t>
            </a:r>
            <a:r>
              <a:rPr lang="zh-CN" altLang="zh-CN" dirty="0">
                <a:solidFill>
                  <a:srgbClr val="FF0000"/>
                </a:solidFill>
              </a:rPr>
              <a:t>接口分配</a:t>
            </a:r>
            <a:r>
              <a:rPr lang="en-US" altLang="zh-CN" dirty="0">
                <a:solidFill>
                  <a:srgbClr val="FF0000"/>
                </a:solidFill>
              </a:rPr>
              <a:t>IP</a:t>
            </a:r>
            <a:r>
              <a:rPr lang="zh-CN" altLang="zh-CN" dirty="0"/>
              <a:t>地址</a:t>
            </a:r>
          </a:p>
          <a:p>
            <a:pPr marL="0" indent="0" fontAlgn="ctr">
              <a:spcBef>
                <a:spcPts val="0"/>
              </a:spcBef>
              <a:spcAft>
                <a:spcPts val="0"/>
              </a:spcAft>
              <a:buFont typeface="Arial" panose="020B0604020202020204" pitchFamily="34" charset="0"/>
              <a:buNone/>
              <a:defRPr/>
            </a:pPr>
            <a:r>
              <a:rPr lang="en-US" altLang="zh-CN" dirty="0" err="1"/>
              <a:t>ip</a:t>
            </a:r>
            <a:r>
              <a:rPr lang="en-US" altLang="zh-CN" dirty="0"/>
              <a:t> </a:t>
            </a:r>
            <a:r>
              <a:rPr lang="en-US" altLang="zh-CN" dirty="0" err="1"/>
              <a:t>addr</a:t>
            </a:r>
            <a:r>
              <a:rPr lang="en-US" altLang="zh-CN" dirty="0"/>
              <a:t>/address</a:t>
            </a:r>
            <a:r>
              <a:rPr lang="zh-CN" altLang="zh-CN" dirty="0"/>
              <a:t>命令可用于</a:t>
            </a:r>
            <a:r>
              <a:rPr lang="zh-CN" altLang="zh-CN" dirty="0">
                <a:solidFill>
                  <a:srgbClr val="FF0000"/>
                </a:solidFill>
              </a:rPr>
              <a:t>将</a:t>
            </a:r>
            <a:r>
              <a:rPr lang="en-US" altLang="zh-CN" dirty="0">
                <a:solidFill>
                  <a:srgbClr val="FF0000"/>
                </a:solidFill>
              </a:rPr>
              <a:t>IP</a:t>
            </a:r>
            <a:r>
              <a:rPr lang="zh-CN" altLang="zh-CN" dirty="0">
                <a:solidFill>
                  <a:srgbClr val="FF0000"/>
                </a:solidFill>
              </a:rPr>
              <a:t>地址分配给接口</a:t>
            </a:r>
            <a:r>
              <a:rPr lang="zh-CN" altLang="zh-CN" dirty="0"/>
              <a:t>，语法如下：</a:t>
            </a:r>
          </a:p>
          <a:p>
            <a:pPr marL="0" indent="0" algn="ctr">
              <a:spcBef>
                <a:spcPts val="0"/>
              </a:spcBef>
              <a:spcAft>
                <a:spcPts val="0"/>
              </a:spcAft>
              <a:buFont typeface="Arial" panose="020B0604020202020204" pitchFamily="34" charset="0"/>
              <a:buNone/>
              <a:defRPr/>
            </a:pPr>
            <a:r>
              <a:rPr lang="en-US" altLang="zh-CN" dirty="0"/>
              <a:t>#</a:t>
            </a:r>
            <a:r>
              <a:rPr lang="en-US" altLang="zh-CN" dirty="0" err="1">
                <a:solidFill>
                  <a:srgbClr val="FF0000"/>
                </a:solidFill>
              </a:rPr>
              <a:t>ip</a:t>
            </a:r>
            <a:r>
              <a:rPr lang="en-US" altLang="zh-CN" dirty="0">
                <a:solidFill>
                  <a:srgbClr val="FF0000"/>
                </a:solidFill>
              </a:rPr>
              <a:t> address show </a:t>
            </a:r>
            <a:r>
              <a:rPr lang="en-US" altLang="zh-CN" dirty="0"/>
              <a:t>	#</a:t>
            </a:r>
            <a:r>
              <a:rPr lang="zh-CN" altLang="zh-CN" dirty="0"/>
              <a:t>查看</a:t>
            </a:r>
            <a:r>
              <a:rPr lang="en-US" altLang="zh-CN" dirty="0"/>
              <a:t>IP</a:t>
            </a:r>
            <a:r>
              <a:rPr lang="zh-CN" altLang="zh-CN" dirty="0"/>
              <a:t>参数</a:t>
            </a:r>
          </a:p>
          <a:p>
            <a:pPr marL="0" indent="0">
              <a:spcBef>
                <a:spcPts val="0"/>
              </a:spcBef>
              <a:spcAft>
                <a:spcPts val="0"/>
              </a:spcAft>
              <a:buFont typeface="Arial" panose="020B0604020202020204" pitchFamily="34" charset="0"/>
              <a:buNone/>
              <a:defRPr/>
            </a:pPr>
            <a:r>
              <a:rPr lang="en-US" altLang="zh-CN" dirty="0"/>
              <a:t>#</a:t>
            </a:r>
            <a:r>
              <a:rPr lang="en-US" altLang="zh-CN" dirty="0" err="1">
                <a:solidFill>
                  <a:srgbClr val="FF0000"/>
                </a:solidFill>
              </a:rPr>
              <a:t>ip</a:t>
            </a:r>
            <a:r>
              <a:rPr lang="en-US" altLang="zh-CN" dirty="0">
                <a:solidFill>
                  <a:srgbClr val="FF0000"/>
                </a:solidFill>
              </a:rPr>
              <a:t> address [</a:t>
            </a:r>
            <a:r>
              <a:rPr lang="en-US" altLang="zh-CN" dirty="0" err="1">
                <a:solidFill>
                  <a:srgbClr val="FF0000"/>
                </a:solidFill>
              </a:rPr>
              <a:t>add|del</a:t>
            </a:r>
            <a:r>
              <a:rPr lang="en-US" altLang="zh-CN" dirty="0">
                <a:solidFill>
                  <a:srgbClr val="FF0000"/>
                </a:solidFill>
              </a:rPr>
              <a:t>] address </a:t>
            </a:r>
            <a:r>
              <a:rPr lang="en-US" altLang="zh-CN" dirty="0" err="1">
                <a:solidFill>
                  <a:srgbClr val="FF0000"/>
                </a:solidFill>
              </a:rPr>
              <a:t>dev</a:t>
            </a:r>
            <a:r>
              <a:rPr lang="en-US" altLang="zh-CN" dirty="0">
                <a:solidFill>
                  <a:srgbClr val="FF0000"/>
                </a:solidFill>
              </a:rPr>
              <a:t> </a:t>
            </a:r>
            <a:r>
              <a:rPr lang="en-US" altLang="zh-CN" dirty="0" err="1">
                <a:solidFill>
                  <a:srgbClr val="FF0000"/>
                </a:solidFill>
              </a:rPr>
              <a:t>ifname</a:t>
            </a:r>
            <a:r>
              <a:rPr lang="en-US" altLang="zh-CN" dirty="0"/>
              <a:t> 	#</a:t>
            </a:r>
            <a:r>
              <a:rPr lang="zh-CN" altLang="zh-CN" dirty="0"/>
              <a:t>设置与</a:t>
            </a:r>
            <a:r>
              <a:rPr lang="en-US" altLang="zh-CN" dirty="0"/>
              <a:t>IP</a:t>
            </a:r>
            <a:r>
              <a:rPr lang="zh-CN" altLang="zh-CN" dirty="0"/>
              <a:t>相关各项参数</a:t>
            </a:r>
            <a:r>
              <a:rPr lang="en-US" altLang="zh-CN" dirty="0"/>
              <a:t> </a:t>
            </a:r>
            <a:endParaRPr lang="zh-CN" altLang="zh-CN" dirty="0"/>
          </a:p>
          <a:p>
            <a:pPr marL="0" indent="0" fontAlgn="ctr">
              <a:spcBef>
                <a:spcPts val="0"/>
              </a:spcBef>
              <a:spcAft>
                <a:spcPts val="0"/>
              </a:spcAft>
              <a:buFont typeface="Arial" panose="020B0604020202020204" pitchFamily="34" charset="0"/>
              <a:buNone/>
              <a:defRPr/>
            </a:pPr>
            <a:r>
              <a:rPr lang="en-US" altLang="zh-CN" dirty="0" err="1"/>
              <a:t>ip</a:t>
            </a:r>
            <a:r>
              <a:rPr lang="en-US" altLang="zh-CN" dirty="0"/>
              <a:t> </a:t>
            </a:r>
            <a:r>
              <a:rPr lang="en-US" altLang="zh-CN" dirty="0" err="1"/>
              <a:t>addr</a:t>
            </a:r>
            <a:r>
              <a:rPr lang="zh-CN" altLang="zh-CN" dirty="0"/>
              <a:t>命令使用示例如下：</a:t>
            </a:r>
            <a:r>
              <a:rPr lang="en-US" altLang="zh-CN" dirty="0"/>
              <a:t> </a:t>
            </a:r>
            <a:endParaRPr lang="zh-CN" altLang="zh-CN" dirty="0"/>
          </a:p>
          <a:p>
            <a:pPr marL="0" indent="0">
              <a:spcBef>
                <a:spcPts val="0"/>
              </a:spcBef>
              <a:spcAft>
                <a:spcPts val="0"/>
              </a:spcAft>
              <a:buFont typeface="Arial" panose="020B0604020202020204" pitchFamily="34" charset="0"/>
              <a:buNone/>
              <a:defRPr/>
            </a:pPr>
            <a:r>
              <a:rPr lang="en-US" altLang="zh-CN" dirty="0"/>
              <a:t>#</a:t>
            </a:r>
            <a:r>
              <a:rPr lang="en-US" altLang="zh-CN" dirty="0" err="1"/>
              <a:t>ip</a:t>
            </a:r>
            <a:r>
              <a:rPr lang="en-US" altLang="zh-CN" dirty="0"/>
              <a:t> address show eth0 	#</a:t>
            </a:r>
            <a:r>
              <a:rPr lang="zh-CN" altLang="zh-CN" dirty="0"/>
              <a:t>显示本机</a:t>
            </a:r>
            <a:r>
              <a:rPr lang="en-US" altLang="zh-CN" dirty="0"/>
              <a:t>eth0</a:t>
            </a:r>
            <a:r>
              <a:rPr lang="zh-CN" altLang="zh-CN" dirty="0"/>
              <a:t>的</a:t>
            </a:r>
            <a:r>
              <a:rPr lang="en-US" altLang="zh-CN" dirty="0"/>
              <a:t>IP</a:t>
            </a:r>
            <a:r>
              <a:rPr lang="zh-CN" altLang="zh-CN" dirty="0"/>
              <a:t>参数</a:t>
            </a:r>
          </a:p>
          <a:p>
            <a:pPr marL="0" indent="0">
              <a:spcBef>
                <a:spcPts val="0"/>
              </a:spcBef>
              <a:spcAft>
                <a:spcPts val="0"/>
              </a:spcAft>
              <a:buFont typeface="Arial" panose="020B0604020202020204" pitchFamily="34" charset="0"/>
              <a:buNone/>
              <a:defRPr/>
            </a:pPr>
            <a:r>
              <a:rPr lang="en-US" altLang="zh-CN" dirty="0"/>
              <a:t>#</a:t>
            </a:r>
            <a:r>
              <a:rPr lang="en-US" altLang="zh-CN" dirty="0" err="1"/>
              <a:t>ip</a:t>
            </a:r>
            <a:r>
              <a:rPr lang="en-US" altLang="zh-CN" dirty="0"/>
              <a:t> address add 192.168.1.200/24 </a:t>
            </a:r>
            <a:r>
              <a:rPr lang="en-US" altLang="zh-CN" dirty="0" err="1"/>
              <a:t>dev</a:t>
            </a:r>
            <a:r>
              <a:rPr lang="en-US" altLang="zh-CN" dirty="0"/>
              <a:t> eth1 #</a:t>
            </a:r>
            <a:r>
              <a:rPr lang="zh-CN" altLang="zh-CN" dirty="0"/>
              <a:t>添加虚拟接口并分配</a:t>
            </a:r>
            <a:r>
              <a:rPr lang="en-US" altLang="zh-CN" dirty="0"/>
              <a:t>IP</a:t>
            </a:r>
            <a:endParaRPr lang="zh-CN" altLang="zh-CN" dirty="0"/>
          </a:p>
          <a:p>
            <a:pPr marL="0" indent="0">
              <a:spcBef>
                <a:spcPts val="0"/>
              </a:spcBef>
              <a:spcAft>
                <a:spcPts val="0"/>
              </a:spcAft>
              <a:buFont typeface="Arial" panose="020B0604020202020204" pitchFamily="34" charset="0"/>
              <a:buNone/>
              <a:defRPr/>
            </a:pPr>
            <a:r>
              <a:rPr lang="en-US" altLang="zh-CN" dirty="0"/>
              <a:t>#</a:t>
            </a:r>
            <a:r>
              <a:rPr lang="en-US" altLang="zh-CN" dirty="0" err="1"/>
              <a:t>ip</a:t>
            </a:r>
            <a:r>
              <a:rPr lang="en-US" altLang="zh-CN" dirty="0"/>
              <a:t> address del 192.168.1.200/24 </a:t>
            </a:r>
            <a:r>
              <a:rPr lang="en-US" altLang="zh-CN" dirty="0" err="1"/>
              <a:t>dev</a:t>
            </a:r>
            <a:r>
              <a:rPr lang="en-US" altLang="zh-CN" dirty="0"/>
              <a:t> eth1 #</a:t>
            </a:r>
            <a:r>
              <a:rPr lang="zh-CN" altLang="zh-CN" dirty="0"/>
              <a:t>删除刚刚添加的接口</a:t>
            </a:r>
            <a:endParaRPr lang="zh-CN" altLang="en-US" dirty="0"/>
          </a:p>
        </p:txBody>
      </p:sp>
      <p:pic>
        <p:nvPicPr>
          <p:cNvPr id="2" name="图片 1">
            <a:extLst>
              <a:ext uri="{FF2B5EF4-FFF2-40B4-BE49-F238E27FC236}">
                <a16:creationId xmlns:a16="http://schemas.microsoft.com/office/drawing/2014/main" id="{F34A4DBF-7028-BEB7-FFB9-195D6EDE476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525" y="620713"/>
            <a:ext cx="9099550" cy="576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标题 1">
            <a:extLst>
              <a:ext uri="{FF2B5EF4-FFF2-40B4-BE49-F238E27FC236}">
                <a16:creationId xmlns:a16="http://schemas.microsoft.com/office/drawing/2014/main" id="{F95D905A-ADE9-4280-CC94-44B33688ECFB}"/>
              </a:ext>
            </a:extLst>
          </p:cNvPr>
          <p:cNvSpPr>
            <a:spLocks noGrp="1" noChangeArrowheads="1"/>
          </p:cNvSpPr>
          <p:nvPr>
            <p:ph type="title"/>
          </p:nvPr>
        </p:nvSpPr>
        <p:spPr/>
        <p:txBody>
          <a:bodyPr/>
          <a:lstStyle/>
          <a:p>
            <a:r>
              <a:rPr lang="en-US" altLang="zh-CN"/>
              <a:t>9.2.5  </a:t>
            </a:r>
            <a:r>
              <a:rPr lang="zh-CN" altLang="zh-CN"/>
              <a:t>网络</a:t>
            </a:r>
            <a:r>
              <a:rPr lang="en-US" altLang="zh-CN"/>
              <a:t>IP</a:t>
            </a:r>
            <a:r>
              <a:rPr lang="zh-CN" altLang="zh-CN"/>
              <a:t>管理（</a:t>
            </a:r>
            <a:r>
              <a:rPr lang="en-US" altLang="zh-CN"/>
              <a:t>ip</a:t>
            </a:r>
            <a:r>
              <a:rPr lang="zh-CN" altLang="zh-CN"/>
              <a:t>）</a:t>
            </a:r>
            <a:endParaRPr lang="zh-CN" altLang="en-US"/>
          </a:p>
        </p:txBody>
      </p:sp>
      <p:sp>
        <p:nvSpPr>
          <p:cNvPr id="1048672" name="内容占位符 2">
            <a:extLst>
              <a:ext uri="{FF2B5EF4-FFF2-40B4-BE49-F238E27FC236}">
                <a16:creationId xmlns:a16="http://schemas.microsoft.com/office/drawing/2014/main" id="{26401313-71BB-375C-530A-2A05D7355083}"/>
              </a:ext>
            </a:extLst>
          </p:cNvPr>
          <p:cNvSpPr>
            <a:spLocks noGrp="1"/>
          </p:cNvSpPr>
          <p:nvPr>
            <p:ph idx="1"/>
          </p:nvPr>
        </p:nvSpPr>
        <p:spPr>
          <a:xfrm>
            <a:off x="14288" y="549275"/>
            <a:ext cx="9129712" cy="5832475"/>
          </a:xfrm>
        </p:spPr>
        <p:txBody>
          <a:bodyPr/>
          <a:lstStyle/>
          <a:p>
            <a:pPr>
              <a:spcBef>
                <a:spcPts val="0"/>
              </a:spcBef>
              <a:spcAft>
                <a:spcPts val="0"/>
              </a:spcAft>
              <a:defRPr/>
            </a:pPr>
            <a:r>
              <a:rPr lang="en-US" altLang="zh-CN" sz="4000" dirty="0"/>
              <a:t>3</a:t>
            </a:r>
            <a:r>
              <a:rPr lang="zh-CN" altLang="zh-CN" sz="4000" dirty="0"/>
              <a:t>．设置路由</a:t>
            </a:r>
          </a:p>
          <a:p>
            <a:pPr marL="0" indent="0" fontAlgn="ctr">
              <a:spcBef>
                <a:spcPts val="0"/>
              </a:spcBef>
              <a:spcAft>
                <a:spcPts val="0"/>
              </a:spcAft>
              <a:buFont typeface="Arial" panose="020B0604020202020204" pitchFamily="34" charset="0"/>
              <a:buNone/>
              <a:defRPr/>
            </a:pPr>
            <a:r>
              <a:rPr lang="zh-CN" altLang="zh-CN" sz="4000" dirty="0"/>
              <a:t>如果需要</a:t>
            </a:r>
            <a:r>
              <a:rPr lang="zh-CN" altLang="zh-CN" sz="4000" dirty="0">
                <a:solidFill>
                  <a:srgbClr val="FF0000"/>
                </a:solidFill>
              </a:rPr>
              <a:t>静态路由</a:t>
            </a:r>
            <a:r>
              <a:rPr lang="zh-CN" altLang="zh-CN" sz="4000" dirty="0"/>
              <a:t>，可以通过</a:t>
            </a:r>
            <a:r>
              <a:rPr lang="en-US" altLang="zh-CN" sz="4000" dirty="0" err="1">
                <a:solidFill>
                  <a:srgbClr val="FF0000"/>
                </a:solidFill>
              </a:rPr>
              <a:t>ip</a:t>
            </a:r>
            <a:r>
              <a:rPr lang="en-US" altLang="zh-CN" sz="4000" dirty="0">
                <a:solidFill>
                  <a:srgbClr val="FF0000"/>
                </a:solidFill>
              </a:rPr>
              <a:t> route add</a:t>
            </a:r>
            <a:r>
              <a:rPr lang="zh-CN" altLang="zh-CN" sz="4000" dirty="0">
                <a:solidFill>
                  <a:srgbClr val="FF0000"/>
                </a:solidFill>
              </a:rPr>
              <a:t>命令</a:t>
            </a:r>
            <a:r>
              <a:rPr lang="zh-CN" altLang="zh-CN" sz="4000" dirty="0"/>
              <a:t>将路由添加到路由表中，并使用</a:t>
            </a:r>
            <a:r>
              <a:rPr lang="en-US" altLang="zh-CN" sz="4000" dirty="0" err="1">
                <a:solidFill>
                  <a:srgbClr val="FF0000"/>
                </a:solidFill>
              </a:rPr>
              <a:t>ip</a:t>
            </a:r>
            <a:r>
              <a:rPr lang="en-US" altLang="zh-CN" sz="4000" dirty="0">
                <a:solidFill>
                  <a:srgbClr val="FF0000"/>
                </a:solidFill>
              </a:rPr>
              <a:t> route del</a:t>
            </a:r>
            <a:r>
              <a:rPr lang="zh-CN" altLang="zh-CN" sz="4000" dirty="0">
                <a:solidFill>
                  <a:srgbClr val="FF0000"/>
                </a:solidFill>
              </a:rPr>
              <a:t>命令移除</a:t>
            </a:r>
            <a:r>
              <a:rPr lang="zh-CN" altLang="zh-CN" sz="4000" dirty="0"/>
              <a:t>。语法如下：</a:t>
            </a:r>
            <a:r>
              <a:rPr lang="en-US" altLang="zh-CN" sz="4000" dirty="0"/>
              <a:t> </a:t>
            </a:r>
            <a:endParaRPr lang="zh-CN" altLang="zh-CN" sz="4000" dirty="0"/>
          </a:p>
          <a:p>
            <a:pPr marL="0" indent="0">
              <a:spcBef>
                <a:spcPts val="0"/>
              </a:spcBef>
              <a:spcAft>
                <a:spcPts val="0"/>
              </a:spcAft>
              <a:buFont typeface="Arial" panose="020B0604020202020204" pitchFamily="34" charset="0"/>
              <a:buNone/>
              <a:defRPr/>
            </a:pPr>
            <a:r>
              <a:rPr lang="en-US" altLang="zh-CN" sz="4000" dirty="0"/>
              <a:t>#</a:t>
            </a:r>
            <a:r>
              <a:rPr lang="en-US" altLang="zh-CN" sz="4000" dirty="0" err="1"/>
              <a:t>ip</a:t>
            </a:r>
            <a:r>
              <a:rPr lang="en-US" altLang="zh-CN" sz="4000" dirty="0"/>
              <a:t> route show 	#</a:t>
            </a:r>
            <a:r>
              <a:rPr lang="zh-CN" altLang="zh-CN" sz="4000" dirty="0"/>
              <a:t>查看当前路由设置信息</a:t>
            </a:r>
          </a:p>
          <a:p>
            <a:pPr marL="0" indent="0">
              <a:spcBef>
                <a:spcPts val="0"/>
              </a:spcBef>
              <a:spcAft>
                <a:spcPts val="0"/>
              </a:spcAft>
              <a:buFont typeface="Arial" panose="020B0604020202020204" pitchFamily="34" charset="0"/>
              <a:buNone/>
              <a:defRPr/>
            </a:pPr>
            <a:r>
              <a:rPr lang="en-US" altLang="zh-CN" sz="4000" dirty="0"/>
              <a:t>#</a:t>
            </a:r>
            <a:r>
              <a:rPr lang="en-US" altLang="zh-CN" sz="4000" dirty="0" err="1">
                <a:solidFill>
                  <a:srgbClr val="FF0000"/>
                </a:solidFill>
              </a:rPr>
              <a:t>ip</a:t>
            </a:r>
            <a:r>
              <a:rPr lang="en-US" altLang="zh-CN" sz="4000" dirty="0">
                <a:solidFill>
                  <a:srgbClr val="FF0000"/>
                </a:solidFill>
              </a:rPr>
              <a:t> route </a:t>
            </a:r>
            <a:r>
              <a:rPr lang="en-US" altLang="zh-CN" sz="4000" dirty="0"/>
              <a:t>[</a:t>
            </a:r>
            <a:r>
              <a:rPr lang="en-US" altLang="zh-CN" sz="4000" dirty="0" err="1"/>
              <a:t>add|del|change|append|replace</a:t>
            </a:r>
            <a:r>
              <a:rPr lang="en-US" altLang="zh-CN" sz="4000" dirty="0"/>
              <a:t>] destination-address #</a:t>
            </a:r>
            <a:r>
              <a:rPr lang="zh-CN" altLang="zh-CN" sz="4000" dirty="0"/>
              <a:t>设置路由</a:t>
            </a:r>
            <a:endParaRPr lang="zh-CN" altLang="en-US" sz="4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A0BD44AF-19DF-7FF5-28EA-01EDAF3366B1}"/>
              </a:ext>
            </a:extLst>
          </p:cNvPr>
          <p:cNvSpPr>
            <a:spLocks noGrp="1" noChangeArrowheads="1"/>
          </p:cNvSpPr>
          <p:nvPr>
            <p:ph type="title"/>
          </p:nvPr>
        </p:nvSpPr>
        <p:spPr>
          <a:xfrm>
            <a:off x="-4763" y="0"/>
            <a:ext cx="8928101" cy="658813"/>
          </a:xfrm>
        </p:spPr>
        <p:txBody>
          <a:bodyPr/>
          <a:lstStyle/>
          <a:p>
            <a:r>
              <a:rPr lang="en-US" altLang="zh-CN" sz="3200"/>
              <a:t>9.2.6  </a:t>
            </a:r>
            <a:r>
              <a:rPr lang="zh-CN" altLang="zh-CN" sz="3200"/>
              <a:t>网络接口的启用与停止（</a:t>
            </a:r>
            <a:r>
              <a:rPr lang="en-US" altLang="zh-CN" sz="3200"/>
              <a:t>ifup/ifdown</a:t>
            </a:r>
            <a:r>
              <a:rPr lang="zh-CN" altLang="zh-CN" sz="3200"/>
              <a:t>）</a:t>
            </a:r>
            <a:endParaRPr lang="zh-CN" altLang="en-US" sz="3200"/>
          </a:p>
        </p:txBody>
      </p:sp>
      <p:sp>
        <p:nvSpPr>
          <p:cNvPr id="40963" name="内容占位符 2">
            <a:extLst>
              <a:ext uri="{FF2B5EF4-FFF2-40B4-BE49-F238E27FC236}">
                <a16:creationId xmlns:a16="http://schemas.microsoft.com/office/drawing/2014/main" id="{29DAF41C-E878-E23B-5EF9-CEF487AFC02A}"/>
              </a:ext>
            </a:extLst>
          </p:cNvPr>
          <p:cNvSpPr>
            <a:spLocks noGrp="1" noChangeArrowheads="1"/>
          </p:cNvSpPr>
          <p:nvPr>
            <p:ph idx="1"/>
          </p:nvPr>
        </p:nvSpPr>
        <p:spPr>
          <a:xfrm>
            <a:off x="0" y="549275"/>
            <a:ext cx="9144000" cy="5759450"/>
          </a:xfrm>
        </p:spPr>
        <p:txBody>
          <a:bodyPr/>
          <a:lstStyle/>
          <a:p>
            <a:pPr fontAlgn="ctr">
              <a:spcBef>
                <a:spcPct val="0"/>
              </a:spcBef>
              <a:spcAft>
                <a:spcPct val="0"/>
              </a:spcAft>
            </a:pPr>
            <a:r>
              <a:rPr lang="en-US" altLang="zh-CN" sz="4000">
                <a:solidFill>
                  <a:srgbClr val="FF0000"/>
                </a:solidFill>
              </a:rPr>
              <a:t>ifup</a:t>
            </a:r>
            <a:r>
              <a:rPr lang="zh-CN" altLang="zh-CN" sz="4000">
                <a:solidFill>
                  <a:srgbClr val="FF0000"/>
                </a:solidFill>
              </a:rPr>
              <a:t>、</a:t>
            </a:r>
            <a:r>
              <a:rPr lang="en-US" altLang="zh-CN" sz="4000">
                <a:solidFill>
                  <a:srgbClr val="FF0000"/>
                </a:solidFill>
              </a:rPr>
              <a:t>ifdown</a:t>
            </a:r>
            <a:r>
              <a:rPr lang="zh-CN" altLang="zh-CN" sz="4000">
                <a:solidFill>
                  <a:srgbClr val="FF0000"/>
                </a:solidFill>
              </a:rPr>
              <a:t>与</a:t>
            </a:r>
            <a:r>
              <a:rPr lang="en-US" altLang="zh-CN" sz="4000">
                <a:solidFill>
                  <a:srgbClr val="FF0000"/>
                </a:solidFill>
              </a:rPr>
              <a:t>ifconfig</a:t>
            </a:r>
            <a:r>
              <a:rPr lang="zh-CN" altLang="zh-CN" sz="4000"/>
              <a:t>一起位于</a:t>
            </a:r>
            <a:r>
              <a:rPr lang="zh-CN" altLang="zh-CN" sz="4000">
                <a:solidFill>
                  <a:srgbClr val="FF0000"/>
                </a:solidFill>
              </a:rPr>
              <a:t>目录</a:t>
            </a:r>
            <a:r>
              <a:rPr lang="en-US" altLang="zh-CN" sz="4000">
                <a:solidFill>
                  <a:srgbClr val="FF0000"/>
                </a:solidFill>
              </a:rPr>
              <a:t>/sbin</a:t>
            </a:r>
            <a:r>
              <a:rPr lang="zh-CN" altLang="zh-CN" sz="4000"/>
              <a:t>内，是两个用于网络接口管理的脚本程序，在执行过程中</a:t>
            </a:r>
            <a:r>
              <a:rPr lang="zh-CN" altLang="zh-CN" sz="4000">
                <a:solidFill>
                  <a:srgbClr val="FF0000"/>
                </a:solidFill>
              </a:rPr>
              <a:t>都要执行位于</a:t>
            </a:r>
            <a:r>
              <a:rPr lang="en-US" altLang="zh-CN" sz="4000">
                <a:solidFill>
                  <a:srgbClr val="FF0000"/>
                </a:solidFill>
              </a:rPr>
              <a:t>/etc/sysconfig</a:t>
            </a:r>
            <a:r>
              <a:rPr lang="zh-CN" altLang="zh-CN" sz="4000">
                <a:solidFill>
                  <a:srgbClr val="FF0000"/>
                </a:solidFill>
              </a:rPr>
              <a:t>目录中的相关脚本程序</a:t>
            </a:r>
            <a:r>
              <a:rPr lang="zh-CN" altLang="zh-CN" sz="4000"/>
              <a:t>，它们的直接作用是</a:t>
            </a:r>
            <a:r>
              <a:rPr lang="zh-CN" altLang="zh-CN" sz="4000">
                <a:solidFill>
                  <a:srgbClr val="FF0000"/>
                </a:solidFill>
              </a:rPr>
              <a:t>启用和停用网卡</a:t>
            </a:r>
            <a:r>
              <a:rPr lang="zh-CN" altLang="zh-CN" sz="4000"/>
              <a:t>。比如：</a:t>
            </a:r>
          </a:p>
          <a:p>
            <a:pPr>
              <a:spcBef>
                <a:spcPct val="0"/>
              </a:spcBef>
              <a:spcAft>
                <a:spcPct val="0"/>
              </a:spcAft>
            </a:pPr>
            <a:r>
              <a:rPr lang="en-US" altLang="zh-CN" sz="4000"/>
              <a:t>#</a:t>
            </a:r>
            <a:r>
              <a:rPr lang="en-US" altLang="zh-CN" sz="4000">
                <a:solidFill>
                  <a:srgbClr val="FF0000"/>
                </a:solidFill>
              </a:rPr>
              <a:t>ifup eth1	</a:t>
            </a:r>
            <a:r>
              <a:rPr lang="en-US" altLang="zh-CN" sz="4000"/>
              <a:t>				#</a:t>
            </a:r>
            <a:r>
              <a:rPr lang="zh-CN" altLang="zh-CN" sz="4000"/>
              <a:t>启用网卡</a:t>
            </a:r>
            <a:r>
              <a:rPr lang="en-US" altLang="zh-CN" sz="4000"/>
              <a:t>eth1</a:t>
            </a:r>
            <a:endParaRPr lang="zh-CN" altLang="zh-CN" sz="4000"/>
          </a:p>
          <a:p>
            <a:pPr>
              <a:spcBef>
                <a:spcPct val="0"/>
              </a:spcBef>
              <a:spcAft>
                <a:spcPct val="0"/>
              </a:spcAft>
            </a:pPr>
            <a:r>
              <a:rPr lang="en-US" altLang="zh-CN" sz="4000"/>
              <a:t>#</a:t>
            </a:r>
            <a:r>
              <a:rPr lang="en-US" altLang="zh-CN" sz="4000">
                <a:solidFill>
                  <a:srgbClr val="FF0000"/>
                </a:solidFill>
              </a:rPr>
              <a:t>ifdown eth1</a:t>
            </a:r>
            <a:r>
              <a:rPr lang="en-US" altLang="zh-CN" sz="4000"/>
              <a:t>				#</a:t>
            </a:r>
            <a:r>
              <a:rPr lang="zh-CN" altLang="zh-CN" sz="4000"/>
              <a:t>禁用网卡</a:t>
            </a:r>
            <a:r>
              <a:rPr lang="en-US" altLang="zh-CN" sz="4000"/>
              <a:t>eth1</a:t>
            </a:r>
            <a:endParaRPr lang="zh-CN" altLang="en-US" sz="4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93EAF01F-60B7-9D3A-8B09-7C4625FB1855}"/>
              </a:ext>
            </a:extLst>
          </p:cNvPr>
          <p:cNvSpPr>
            <a:spLocks noGrp="1" noChangeArrowheads="1"/>
          </p:cNvSpPr>
          <p:nvPr>
            <p:ph type="title"/>
          </p:nvPr>
        </p:nvSpPr>
        <p:spPr/>
        <p:txBody>
          <a:bodyPr/>
          <a:lstStyle/>
          <a:p>
            <a:r>
              <a:rPr lang="en-US" altLang="zh-CN"/>
              <a:t>9.2.7  </a:t>
            </a:r>
            <a:r>
              <a:rPr lang="zh-CN" altLang="zh-CN"/>
              <a:t>路由表维护（</a:t>
            </a:r>
            <a:r>
              <a:rPr lang="en-US" altLang="zh-CN"/>
              <a:t>route</a:t>
            </a:r>
            <a:r>
              <a:rPr lang="zh-CN" altLang="zh-CN"/>
              <a:t>）</a:t>
            </a:r>
            <a:endParaRPr lang="zh-CN" altLang="en-US"/>
          </a:p>
        </p:txBody>
      </p:sp>
      <p:sp>
        <p:nvSpPr>
          <p:cNvPr id="1048676" name="内容占位符 2">
            <a:extLst>
              <a:ext uri="{FF2B5EF4-FFF2-40B4-BE49-F238E27FC236}">
                <a16:creationId xmlns:a16="http://schemas.microsoft.com/office/drawing/2014/main" id="{391FFB82-CC7C-0E91-26B6-CCC0E4C577E7}"/>
              </a:ext>
            </a:extLst>
          </p:cNvPr>
          <p:cNvSpPr>
            <a:spLocks noGrp="1"/>
          </p:cNvSpPr>
          <p:nvPr>
            <p:ph idx="1"/>
          </p:nvPr>
        </p:nvSpPr>
        <p:spPr>
          <a:xfrm>
            <a:off x="34925" y="549275"/>
            <a:ext cx="9109075" cy="5832475"/>
          </a:xfrm>
        </p:spPr>
        <p:txBody>
          <a:bodyPr/>
          <a:lstStyle/>
          <a:p>
            <a:pPr fontAlgn="ctr">
              <a:spcBef>
                <a:spcPts val="0"/>
              </a:spcBef>
              <a:spcAft>
                <a:spcPts val="0"/>
              </a:spcAft>
              <a:defRPr/>
            </a:pPr>
            <a:r>
              <a:rPr lang="en-US" altLang="zh-CN" sz="3600" dirty="0">
                <a:solidFill>
                  <a:srgbClr val="FF0000"/>
                </a:solidFill>
              </a:rPr>
              <a:t>route</a:t>
            </a:r>
            <a:r>
              <a:rPr lang="zh-CN" altLang="zh-CN" sz="3600" dirty="0">
                <a:solidFill>
                  <a:srgbClr val="FF0000"/>
                </a:solidFill>
              </a:rPr>
              <a:t>命令</a:t>
            </a:r>
            <a:r>
              <a:rPr lang="zh-CN" altLang="zh-CN" sz="3600" dirty="0"/>
              <a:t>主要功能是</a:t>
            </a:r>
            <a:r>
              <a:rPr lang="zh-CN" altLang="zh-CN" sz="3600" dirty="0">
                <a:solidFill>
                  <a:srgbClr val="FF0000"/>
                </a:solidFill>
              </a:rPr>
              <a:t>管理</a:t>
            </a:r>
            <a:r>
              <a:rPr lang="en-US" altLang="zh-CN" sz="3600" dirty="0">
                <a:solidFill>
                  <a:srgbClr val="FF0000"/>
                </a:solidFill>
              </a:rPr>
              <a:t>Linux</a:t>
            </a:r>
            <a:r>
              <a:rPr lang="zh-CN" altLang="zh-CN" sz="3600" dirty="0">
                <a:solidFill>
                  <a:srgbClr val="FF0000"/>
                </a:solidFill>
              </a:rPr>
              <a:t>系统内核中的路由表</a:t>
            </a:r>
            <a:r>
              <a:rPr lang="zh-CN" altLang="zh-CN" sz="3600" dirty="0"/>
              <a:t>。它</a:t>
            </a:r>
            <a:r>
              <a:rPr lang="zh-CN" altLang="zh-CN" sz="3600" dirty="0">
                <a:solidFill>
                  <a:srgbClr val="FF0000"/>
                </a:solidFill>
              </a:rPr>
              <a:t>最大的用途</a:t>
            </a:r>
            <a:r>
              <a:rPr lang="zh-CN" altLang="zh-CN" sz="3600" dirty="0"/>
              <a:t>就是用来</a:t>
            </a:r>
            <a:r>
              <a:rPr lang="zh-CN" altLang="zh-CN" sz="3600" dirty="0">
                <a:solidFill>
                  <a:srgbClr val="FF0000"/>
                </a:solidFill>
              </a:rPr>
              <a:t>设定静态</a:t>
            </a:r>
            <a:r>
              <a:rPr lang="zh-CN" altLang="zh-CN" sz="3600" dirty="0"/>
              <a:t>的路由表项，通常是在系统用</a:t>
            </a:r>
            <a:r>
              <a:rPr lang="en-US" altLang="zh-CN" sz="3600" dirty="0" err="1"/>
              <a:t>ifconfig</a:t>
            </a:r>
            <a:r>
              <a:rPr lang="zh-CN" altLang="zh-CN" sz="3600" dirty="0"/>
              <a:t>配置网络接口（如网卡等）后，用它来</a:t>
            </a:r>
            <a:r>
              <a:rPr lang="zh-CN" altLang="zh-CN" sz="3600" dirty="0">
                <a:solidFill>
                  <a:srgbClr val="FF0000"/>
                </a:solidFill>
              </a:rPr>
              <a:t>增加、删除或修改路由</a:t>
            </a:r>
            <a:r>
              <a:rPr lang="zh-CN" altLang="zh-CN" sz="3600" dirty="0"/>
              <a:t>等，其用法为：</a:t>
            </a:r>
            <a:endParaRPr lang="en-US" altLang="zh-CN" sz="3600" dirty="0"/>
          </a:p>
          <a:p>
            <a:pPr marL="0" indent="0" fontAlgn="ctr">
              <a:spcBef>
                <a:spcPts val="0"/>
              </a:spcBef>
              <a:spcAft>
                <a:spcPts val="0"/>
              </a:spcAft>
              <a:buFont typeface="Arial" panose="020B0604020202020204" pitchFamily="34" charset="0"/>
              <a:buNone/>
              <a:defRPr/>
            </a:pPr>
            <a:r>
              <a:rPr lang="en-US" altLang="zh-CN" sz="3600" dirty="0"/>
              <a:t>route [-add][-net|-host] </a:t>
            </a:r>
            <a:r>
              <a:rPr lang="en-US" altLang="zh-CN" sz="3600" dirty="0" err="1"/>
              <a:t>targetaddress</a:t>
            </a:r>
            <a:r>
              <a:rPr lang="en-US" altLang="zh-CN" sz="3600" dirty="0"/>
              <a:t> [-</a:t>
            </a:r>
            <a:r>
              <a:rPr lang="en-US" altLang="zh-CN" sz="3600" dirty="0" err="1"/>
              <a:t>netmask</a:t>
            </a:r>
            <a:r>
              <a:rPr lang="en-US" altLang="zh-CN" sz="3600" dirty="0"/>
              <a:t> Nm]</a:t>
            </a:r>
          </a:p>
          <a:p>
            <a:pPr marL="0" indent="0" fontAlgn="ctr">
              <a:spcBef>
                <a:spcPts val="0"/>
              </a:spcBef>
              <a:spcAft>
                <a:spcPts val="0"/>
              </a:spcAft>
              <a:buFont typeface="Arial" panose="020B0604020202020204" pitchFamily="34" charset="0"/>
              <a:buNone/>
              <a:defRPr/>
            </a:pPr>
            <a:r>
              <a:rPr lang="en-US" altLang="zh-CN" sz="3600" dirty="0"/>
              <a:t>route [-del][-net|-host] </a:t>
            </a:r>
            <a:r>
              <a:rPr lang="en-US" altLang="zh-CN" sz="3600" dirty="0" err="1"/>
              <a:t>targetaddress</a:t>
            </a:r>
            <a:r>
              <a:rPr lang="en-US" altLang="zh-CN" sz="3600" dirty="0"/>
              <a:t> [</a:t>
            </a:r>
            <a:r>
              <a:rPr lang="en-US" altLang="zh-CN" sz="3600" dirty="0" err="1"/>
              <a:t>gw</a:t>
            </a:r>
            <a:r>
              <a:rPr lang="en-US" altLang="zh-CN" sz="3600" dirty="0"/>
              <a:t> </a:t>
            </a:r>
            <a:r>
              <a:rPr lang="en-US" altLang="zh-CN" sz="3600" dirty="0" err="1"/>
              <a:t>Gw</a:t>
            </a:r>
            <a:r>
              <a:rPr lang="en-US" altLang="zh-CN" sz="3600" dirty="0"/>
              <a:t>] [-</a:t>
            </a:r>
            <a:r>
              <a:rPr lang="en-US" altLang="zh-CN" sz="3600" dirty="0" err="1"/>
              <a:t>netmask</a:t>
            </a:r>
            <a:r>
              <a:rPr lang="en-US" altLang="zh-CN" sz="3600" dirty="0"/>
              <a:t> Nm]</a:t>
            </a:r>
            <a:endParaRPr lang="zh-CN" altLang="en-US" sz="3600" dirty="0"/>
          </a:p>
        </p:txBody>
      </p:sp>
      <p:pic>
        <p:nvPicPr>
          <p:cNvPr id="2" name="图片 1">
            <a:extLst>
              <a:ext uri="{FF2B5EF4-FFF2-40B4-BE49-F238E27FC236}">
                <a16:creationId xmlns:a16="http://schemas.microsoft.com/office/drawing/2014/main" id="{76F7B5A5-898D-6B71-0696-2C35320E07E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950" y="692150"/>
            <a:ext cx="8856663" cy="568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标题 1">
            <a:extLst>
              <a:ext uri="{FF2B5EF4-FFF2-40B4-BE49-F238E27FC236}">
                <a16:creationId xmlns:a16="http://schemas.microsoft.com/office/drawing/2014/main" id="{369D6AB7-9FEA-A3FE-956A-E825B873D6DE}"/>
              </a:ext>
            </a:extLst>
          </p:cNvPr>
          <p:cNvSpPr>
            <a:spLocks noGrp="1" noChangeArrowheads="1"/>
          </p:cNvSpPr>
          <p:nvPr>
            <p:ph type="title"/>
          </p:nvPr>
        </p:nvSpPr>
        <p:spPr>
          <a:xfrm>
            <a:off x="179388" y="44450"/>
            <a:ext cx="7772400" cy="431800"/>
          </a:xfrm>
        </p:spPr>
        <p:txBody>
          <a:bodyPr/>
          <a:lstStyle/>
          <a:p>
            <a:r>
              <a:rPr lang="en-US" altLang="zh-CN"/>
              <a:t>9.2.7  </a:t>
            </a:r>
            <a:r>
              <a:rPr lang="zh-CN" altLang="zh-CN"/>
              <a:t>路由表维护（</a:t>
            </a:r>
            <a:r>
              <a:rPr lang="en-US" altLang="zh-CN"/>
              <a:t>route</a:t>
            </a:r>
            <a:r>
              <a:rPr lang="zh-CN" altLang="zh-CN"/>
              <a:t>）</a:t>
            </a:r>
            <a:endParaRPr lang="zh-CN" altLang="en-US"/>
          </a:p>
        </p:txBody>
      </p:sp>
      <p:sp>
        <p:nvSpPr>
          <p:cNvPr id="43011" name="内容占位符 2">
            <a:extLst>
              <a:ext uri="{FF2B5EF4-FFF2-40B4-BE49-F238E27FC236}">
                <a16:creationId xmlns:a16="http://schemas.microsoft.com/office/drawing/2014/main" id="{ABAA2D73-78C1-0AC3-4E34-765472046A76}"/>
              </a:ext>
            </a:extLst>
          </p:cNvPr>
          <p:cNvSpPr>
            <a:spLocks noGrp="1" noChangeArrowheads="1"/>
          </p:cNvSpPr>
          <p:nvPr>
            <p:ph idx="1"/>
          </p:nvPr>
        </p:nvSpPr>
        <p:spPr>
          <a:xfrm>
            <a:off x="17463" y="620713"/>
            <a:ext cx="7772400" cy="576262"/>
          </a:xfrm>
        </p:spPr>
        <p:txBody>
          <a:bodyPr/>
          <a:lstStyle/>
          <a:p>
            <a:r>
              <a:rPr lang="en-US" altLang="zh-CN"/>
              <a:t>route</a:t>
            </a:r>
            <a:r>
              <a:rPr lang="zh-CN" altLang="zh-CN"/>
              <a:t>命令主要参数及说明</a:t>
            </a:r>
            <a:endParaRPr lang="en-US" altLang="zh-CN"/>
          </a:p>
          <a:p>
            <a:endParaRPr lang="zh-CN" altLang="en-US"/>
          </a:p>
        </p:txBody>
      </p:sp>
      <p:graphicFrame>
        <p:nvGraphicFramePr>
          <p:cNvPr id="4194309" name="表格 3">
            <a:extLst>
              <a:ext uri="{FF2B5EF4-FFF2-40B4-BE49-F238E27FC236}">
                <a16:creationId xmlns:a16="http://schemas.microsoft.com/office/drawing/2014/main" id="{11CF0478-2331-BF1E-4AD7-DE14D9A46967}"/>
              </a:ext>
            </a:extLst>
          </p:cNvPr>
          <p:cNvGraphicFramePr>
            <a:graphicFrameLocks noGrp="1"/>
          </p:cNvGraphicFramePr>
          <p:nvPr/>
        </p:nvGraphicFramePr>
        <p:xfrm>
          <a:off x="31750" y="1125538"/>
          <a:ext cx="9112250" cy="5616575"/>
        </p:xfrm>
        <a:graphic>
          <a:graphicData uri="http://schemas.openxmlformats.org/drawingml/2006/table">
            <a:tbl>
              <a:tblPr>
                <a:tableStyleId>{5C22544A-7EE6-4342-B048-85BDC9FD1C3A}</a:tableStyleId>
              </a:tblPr>
              <a:tblGrid>
                <a:gridCol w="1227906">
                  <a:extLst>
                    <a:ext uri="{9D8B030D-6E8A-4147-A177-3AD203B41FA5}">
                      <a16:colId xmlns:a16="http://schemas.microsoft.com/office/drawing/2014/main" val="20000"/>
                    </a:ext>
                  </a:extLst>
                </a:gridCol>
                <a:gridCol w="7884344">
                  <a:extLst>
                    <a:ext uri="{9D8B030D-6E8A-4147-A177-3AD203B41FA5}">
                      <a16:colId xmlns:a16="http://schemas.microsoft.com/office/drawing/2014/main" val="20001"/>
                    </a:ext>
                  </a:extLst>
                </a:gridCol>
              </a:tblGrid>
              <a:tr h="477584">
                <a:tc>
                  <a:txBody>
                    <a:bodyPr/>
                    <a:lstStyle/>
                    <a:p>
                      <a:pPr algn="ctr">
                        <a:lnSpc>
                          <a:spcPts val="3300"/>
                        </a:lnSpc>
                        <a:spcAft>
                          <a:spcPts val="0"/>
                        </a:spcAft>
                      </a:pPr>
                      <a:r>
                        <a:rPr lang="zh-CN" sz="2000" b="1" kern="100" dirty="0">
                          <a:effectLst/>
                        </a:rPr>
                        <a:t>参数名称</a:t>
                      </a:r>
                      <a:endParaRPr lang="zh-CN" sz="2000" b="1" kern="100" dirty="0">
                        <a:effectLst/>
                        <a:latin typeface="Times New Roman"/>
                        <a:ea typeface="宋体"/>
                      </a:endParaRPr>
                    </a:p>
                  </a:txBody>
                  <a:tcPr marL="68575" marR="68575" marT="0" marB="0" anchor="ctr"/>
                </a:tc>
                <a:tc>
                  <a:txBody>
                    <a:bodyPr/>
                    <a:lstStyle/>
                    <a:p>
                      <a:pPr algn="ctr">
                        <a:lnSpc>
                          <a:spcPts val="3300"/>
                        </a:lnSpc>
                        <a:spcAft>
                          <a:spcPts val="0"/>
                        </a:spcAft>
                      </a:pPr>
                      <a:r>
                        <a:rPr lang="zh-CN" sz="2000" b="1" kern="100" dirty="0">
                          <a:effectLst/>
                        </a:rPr>
                        <a:t>说</a:t>
                      </a:r>
                      <a:r>
                        <a:rPr lang="en-US" sz="2000" b="1" kern="100" dirty="0">
                          <a:effectLst/>
                        </a:rPr>
                        <a:t>    </a:t>
                      </a:r>
                      <a:r>
                        <a:rPr lang="zh-CN" sz="2000" b="1" kern="100" dirty="0">
                          <a:effectLst/>
                        </a:rPr>
                        <a:t>明</a:t>
                      </a:r>
                      <a:endParaRPr lang="zh-CN" sz="2000" b="1" kern="100" dirty="0">
                        <a:effectLst/>
                        <a:latin typeface="Times New Roman"/>
                        <a:ea typeface="宋体"/>
                      </a:endParaRPr>
                    </a:p>
                  </a:txBody>
                  <a:tcPr marL="68575" marR="68575" marT="0" marB="0" anchor="ctr"/>
                </a:tc>
                <a:extLst>
                  <a:ext uri="{0D108BD9-81ED-4DB2-BD59-A6C34878D82A}">
                    <a16:rowId xmlns:a16="http://schemas.microsoft.com/office/drawing/2014/main" val="10000"/>
                  </a:ext>
                </a:extLst>
              </a:tr>
              <a:tr h="477584">
                <a:tc>
                  <a:txBody>
                    <a:bodyPr/>
                    <a:lstStyle/>
                    <a:p>
                      <a:pPr algn="ctr">
                        <a:lnSpc>
                          <a:spcPts val="3300"/>
                        </a:lnSpc>
                        <a:spcAft>
                          <a:spcPts val="0"/>
                        </a:spcAft>
                      </a:pPr>
                      <a:r>
                        <a:rPr lang="en-US" sz="2000" b="1" kern="100">
                          <a:effectLst/>
                        </a:rPr>
                        <a:t>-n</a:t>
                      </a:r>
                      <a:endParaRPr lang="zh-CN" sz="2000" b="1" kern="100">
                        <a:effectLst/>
                        <a:latin typeface="Times New Roman"/>
                        <a:ea typeface="宋体"/>
                      </a:endParaRPr>
                    </a:p>
                  </a:txBody>
                  <a:tcPr marL="68575" marR="68575" marT="0" marB="0" anchor="ctr"/>
                </a:tc>
                <a:tc>
                  <a:txBody>
                    <a:bodyPr/>
                    <a:lstStyle/>
                    <a:p>
                      <a:pPr algn="l">
                        <a:lnSpc>
                          <a:spcPts val="3300"/>
                        </a:lnSpc>
                        <a:spcAft>
                          <a:spcPts val="0"/>
                        </a:spcAft>
                      </a:pPr>
                      <a:r>
                        <a:rPr lang="zh-CN" sz="2000" b="1" kern="100" dirty="0">
                          <a:effectLst/>
                        </a:rPr>
                        <a:t>使用数字地址形式代替解释主机名形式来显示地址</a:t>
                      </a:r>
                      <a:endParaRPr lang="zh-CN" sz="2000" b="1" kern="100" dirty="0">
                        <a:effectLst/>
                        <a:latin typeface="Times New Roman"/>
                        <a:ea typeface="宋体"/>
                      </a:endParaRPr>
                    </a:p>
                  </a:txBody>
                  <a:tcPr marL="68575" marR="68575" marT="0" marB="0" anchor="ctr"/>
                </a:tc>
                <a:extLst>
                  <a:ext uri="{0D108BD9-81ED-4DB2-BD59-A6C34878D82A}">
                    <a16:rowId xmlns:a16="http://schemas.microsoft.com/office/drawing/2014/main" val="10001"/>
                  </a:ext>
                </a:extLst>
              </a:tr>
              <a:tr h="477584">
                <a:tc>
                  <a:txBody>
                    <a:bodyPr/>
                    <a:lstStyle/>
                    <a:p>
                      <a:pPr algn="ctr">
                        <a:lnSpc>
                          <a:spcPts val="3300"/>
                        </a:lnSpc>
                        <a:spcAft>
                          <a:spcPts val="0"/>
                        </a:spcAft>
                      </a:pPr>
                      <a:r>
                        <a:rPr lang="en-US" sz="2000" b="1" kern="100">
                          <a:effectLst/>
                        </a:rPr>
                        <a:t>-e</a:t>
                      </a:r>
                      <a:endParaRPr lang="zh-CN" sz="2000" b="1" kern="100">
                        <a:effectLst/>
                        <a:latin typeface="Times New Roman"/>
                        <a:ea typeface="宋体"/>
                      </a:endParaRPr>
                    </a:p>
                  </a:txBody>
                  <a:tcPr marL="68575" marR="68575" marT="0" marB="0" anchor="ctr"/>
                </a:tc>
                <a:tc>
                  <a:txBody>
                    <a:bodyPr/>
                    <a:lstStyle/>
                    <a:p>
                      <a:pPr algn="l">
                        <a:lnSpc>
                          <a:spcPts val="3300"/>
                        </a:lnSpc>
                        <a:spcAft>
                          <a:spcPts val="0"/>
                        </a:spcAft>
                      </a:pPr>
                      <a:r>
                        <a:rPr lang="zh-CN" sz="2000" b="1" kern="100">
                          <a:effectLst/>
                        </a:rPr>
                        <a:t>将产生包括选路表所有参数在内的大量信息</a:t>
                      </a:r>
                      <a:endParaRPr lang="zh-CN" sz="2000" b="1" kern="100">
                        <a:effectLst/>
                        <a:latin typeface="Times New Roman"/>
                        <a:ea typeface="宋体"/>
                      </a:endParaRPr>
                    </a:p>
                  </a:txBody>
                  <a:tcPr marL="68575" marR="68575" marT="0" marB="0" anchor="ctr"/>
                </a:tc>
                <a:extLst>
                  <a:ext uri="{0D108BD9-81ED-4DB2-BD59-A6C34878D82A}">
                    <a16:rowId xmlns:a16="http://schemas.microsoft.com/office/drawing/2014/main" val="10002"/>
                  </a:ext>
                </a:extLst>
              </a:tr>
              <a:tr h="477584">
                <a:tc>
                  <a:txBody>
                    <a:bodyPr/>
                    <a:lstStyle/>
                    <a:p>
                      <a:pPr algn="ctr">
                        <a:lnSpc>
                          <a:spcPts val="3300"/>
                        </a:lnSpc>
                        <a:spcAft>
                          <a:spcPts val="0"/>
                        </a:spcAft>
                      </a:pPr>
                      <a:r>
                        <a:rPr lang="en-US" sz="3200" b="1" kern="100" dirty="0">
                          <a:solidFill>
                            <a:srgbClr val="FF0000"/>
                          </a:solidFill>
                          <a:effectLst/>
                        </a:rPr>
                        <a:t>add</a:t>
                      </a:r>
                      <a:endParaRPr lang="zh-CN" sz="3200" b="1" kern="100" dirty="0">
                        <a:solidFill>
                          <a:srgbClr val="FF0000"/>
                        </a:solidFill>
                        <a:effectLst/>
                        <a:latin typeface="Times New Roman"/>
                        <a:ea typeface="宋体"/>
                      </a:endParaRPr>
                    </a:p>
                  </a:txBody>
                  <a:tcPr marL="68575" marR="68575" marT="0" marB="0" anchor="ctr"/>
                </a:tc>
                <a:tc>
                  <a:txBody>
                    <a:bodyPr/>
                    <a:lstStyle/>
                    <a:p>
                      <a:pPr algn="l">
                        <a:lnSpc>
                          <a:spcPts val="3300"/>
                        </a:lnSpc>
                        <a:spcAft>
                          <a:spcPts val="0"/>
                        </a:spcAft>
                      </a:pPr>
                      <a:r>
                        <a:rPr lang="zh-CN" sz="2000" b="1" kern="100">
                          <a:effectLst/>
                        </a:rPr>
                        <a:t>添加一条路由</a:t>
                      </a:r>
                      <a:endParaRPr lang="zh-CN" sz="2000" b="1" kern="100">
                        <a:effectLst/>
                        <a:latin typeface="Times New Roman"/>
                        <a:ea typeface="宋体"/>
                      </a:endParaRPr>
                    </a:p>
                  </a:txBody>
                  <a:tcPr marL="68575" marR="68575" marT="0" marB="0" anchor="ctr"/>
                </a:tc>
                <a:extLst>
                  <a:ext uri="{0D108BD9-81ED-4DB2-BD59-A6C34878D82A}">
                    <a16:rowId xmlns:a16="http://schemas.microsoft.com/office/drawing/2014/main" val="10003"/>
                  </a:ext>
                </a:extLst>
              </a:tr>
              <a:tr h="477584">
                <a:tc>
                  <a:txBody>
                    <a:bodyPr/>
                    <a:lstStyle/>
                    <a:p>
                      <a:pPr marL="0" algn="ctr" defTabSz="914400" rtl="0" eaLnBrk="1" latinLnBrk="0" hangingPunct="1">
                        <a:lnSpc>
                          <a:spcPts val="3300"/>
                        </a:lnSpc>
                        <a:spcAft>
                          <a:spcPts val="0"/>
                        </a:spcAft>
                      </a:pPr>
                      <a:r>
                        <a:rPr lang="en-US" sz="3200" b="1" kern="100" dirty="0">
                          <a:solidFill>
                            <a:srgbClr val="FF0000"/>
                          </a:solidFill>
                          <a:effectLst/>
                          <a:latin typeface="+mn-lt"/>
                          <a:ea typeface="+mn-ea"/>
                          <a:cs typeface="+mn-cs"/>
                        </a:rPr>
                        <a:t>del</a:t>
                      </a:r>
                      <a:endParaRPr lang="zh-CN" sz="3200" b="1" kern="100" dirty="0">
                        <a:solidFill>
                          <a:srgbClr val="FF0000"/>
                        </a:solidFill>
                        <a:effectLst/>
                        <a:latin typeface="+mn-lt"/>
                        <a:ea typeface="+mn-ea"/>
                        <a:cs typeface="+mn-cs"/>
                      </a:endParaRPr>
                    </a:p>
                  </a:txBody>
                  <a:tcPr marL="68575" marR="68575" marT="0" marB="0" anchor="ctr"/>
                </a:tc>
                <a:tc>
                  <a:txBody>
                    <a:bodyPr/>
                    <a:lstStyle/>
                    <a:p>
                      <a:pPr algn="l">
                        <a:lnSpc>
                          <a:spcPts val="3300"/>
                        </a:lnSpc>
                        <a:spcAft>
                          <a:spcPts val="0"/>
                        </a:spcAft>
                      </a:pPr>
                      <a:r>
                        <a:rPr lang="zh-CN" sz="2000" b="1" kern="100">
                          <a:effectLst/>
                        </a:rPr>
                        <a:t>删除一条路由</a:t>
                      </a:r>
                      <a:endParaRPr lang="zh-CN" sz="2000" b="1" kern="100">
                        <a:effectLst/>
                        <a:latin typeface="Times New Roman"/>
                        <a:ea typeface="宋体"/>
                      </a:endParaRPr>
                    </a:p>
                  </a:txBody>
                  <a:tcPr marL="68575" marR="68575" marT="0" marB="0" anchor="ctr"/>
                </a:tc>
                <a:extLst>
                  <a:ext uri="{0D108BD9-81ED-4DB2-BD59-A6C34878D82A}">
                    <a16:rowId xmlns:a16="http://schemas.microsoft.com/office/drawing/2014/main" val="10004"/>
                  </a:ext>
                </a:extLst>
              </a:tr>
              <a:tr h="477584">
                <a:tc>
                  <a:txBody>
                    <a:bodyPr/>
                    <a:lstStyle/>
                    <a:p>
                      <a:pPr marL="0" algn="ctr" defTabSz="914400" rtl="0" eaLnBrk="1" latinLnBrk="0" hangingPunct="1">
                        <a:lnSpc>
                          <a:spcPts val="3300"/>
                        </a:lnSpc>
                        <a:spcAft>
                          <a:spcPts val="0"/>
                        </a:spcAft>
                      </a:pPr>
                      <a:r>
                        <a:rPr lang="en-US" sz="3200" b="1" kern="100" dirty="0">
                          <a:solidFill>
                            <a:srgbClr val="FF0000"/>
                          </a:solidFill>
                          <a:effectLst/>
                          <a:latin typeface="+mn-lt"/>
                          <a:ea typeface="+mn-ea"/>
                          <a:cs typeface="+mn-cs"/>
                        </a:rPr>
                        <a:t>dev</a:t>
                      </a:r>
                      <a:endParaRPr lang="zh-CN" sz="3200" b="1" kern="100" dirty="0">
                        <a:solidFill>
                          <a:srgbClr val="FF0000"/>
                        </a:solidFill>
                        <a:effectLst/>
                        <a:latin typeface="+mn-lt"/>
                        <a:ea typeface="+mn-ea"/>
                        <a:cs typeface="+mn-cs"/>
                      </a:endParaRPr>
                    </a:p>
                  </a:txBody>
                  <a:tcPr marL="68575" marR="68575" marT="0" marB="0" anchor="ctr"/>
                </a:tc>
                <a:tc>
                  <a:txBody>
                    <a:bodyPr/>
                    <a:lstStyle/>
                    <a:p>
                      <a:pPr algn="l">
                        <a:lnSpc>
                          <a:spcPts val="3300"/>
                        </a:lnSpc>
                        <a:spcAft>
                          <a:spcPts val="0"/>
                        </a:spcAft>
                      </a:pPr>
                      <a:r>
                        <a:rPr lang="zh-CN" sz="2000" b="1" kern="100">
                          <a:effectLst/>
                        </a:rPr>
                        <a:t>强制路由与指定的设备关联，否则内核自己会试图检测相应的设备</a:t>
                      </a:r>
                      <a:endParaRPr lang="zh-CN" sz="2000" b="1" kern="100">
                        <a:effectLst/>
                        <a:latin typeface="Times New Roman"/>
                        <a:ea typeface="宋体"/>
                      </a:endParaRPr>
                    </a:p>
                  </a:txBody>
                  <a:tcPr marL="68575" marR="68575" marT="0" marB="0" anchor="ctr"/>
                </a:tc>
                <a:extLst>
                  <a:ext uri="{0D108BD9-81ED-4DB2-BD59-A6C34878D82A}">
                    <a16:rowId xmlns:a16="http://schemas.microsoft.com/office/drawing/2014/main" val="10005"/>
                  </a:ext>
                </a:extLst>
              </a:tr>
              <a:tr h="477584">
                <a:tc>
                  <a:txBody>
                    <a:bodyPr/>
                    <a:lstStyle/>
                    <a:p>
                      <a:pPr algn="ctr">
                        <a:lnSpc>
                          <a:spcPts val="3300"/>
                        </a:lnSpc>
                        <a:spcAft>
                          <a:spcPts val="0"/>
                        </a:spcAft>
                      </a:pPr>
                      <a:r>
                        <a:rPr lang="en-US" sz="2000" b="1" kern="100" dirty="0">
                          <a:effectLst/>
                        </a:rPr>
                        <a:t>target</a:t>
                      </a:r>
                      <a:endParaRPr lang="zh-CN" sz="2000" b="1" kern="100" dirty="0">
                        <a:effectLst/>
                        <a:latin typeface="Times New Roman"/>
                        <a:ea typeface="宋体"/>
                      </a:endParaRPr>
                    </a:p>
                  </a:txBody>
                  <a:tcPr marL="68575" marR="68575" marT="0" marB="0" anchor="ctr"/>
                </a:tc>
                <a:tc>
                  <a:txBody>
                    <a:bodyPr/>
                    <a:lstStyle/>
                    <a:p>
                      <a:pPr algn="l">
                        <a:lnSpc>
                          <a:spcPts val="3300"/>
                        </a:lnSpc>
                        <a:spcAft>
                          <a:spcPts val="0"/>
                        </a:spcAft>
                      </a:pPr>
                      <a:r>
                        <a:rPr lang="zh-CN" sz="2000" b="1" kern="100">
                          <a:effectLst/>
                        </a:rPr>
                        <a:t>配置目的网段或者主机</a:t>
                      </a:r>
                      <a:endParaRPr lang="zh-CN" sz="2000" b="1" kern="100">
                        <a:effectLst/>
                        <a:latin typeface="Times New Roman"/>
                        <a:ea typeface="宋体"/>
                      </a:endParaRPr>
                    </a:p>
                  </a:txBody>
                  <a:tcPr marL="68575" marR="68575" marT="0" marB="0" anchor="ctr"/>
                </a:tc>
                <a:extLst>
                  <a:ext uri="{0D108BD9-81ED-4DB2-BD59-A6C34878D82A}">
                    <a16:rowId xmlns:a16="http://schemas.microsoft.com/office/drawing/2014/main" val="10006"/>
                  </a:ext>
                </a:extLst>
              </a:tr>
              <a:tr h="477584">
                <a:tc>
                  <a:txBody>
                    <a:bodyPr/>
                    <a:lstStyle/>
                    <a:p>
                      <a:pPr marL="0" algn="ctr" defTabSz="914400" rtl="0" eaLnBrk="1" latinLnBrk="0" hangingPunct="1">
                        <a:lnSpc>
                          <a:spcPts val="3300"/>
                        </a:lnSpc>
                        <a:spcAft>
                          <a:spcPts val="0"/>
                        </a:spcAft>
                      </a:pPr>
                      <a:r>
                        <a:rPr lang="en-US" sz="3200" b="1" kern="100" dirty="0">
                          <a:solidFill>
                            <a:srgbClr val="FF0000"/>
                          </a:solidFill>
                          <a:effectLst/>
                          <a:latin typeface="+mn-lt"/>
                          <a:ea typeface="+mn-ea"/>
                          <a:cs typeface="+mn-cs"/>
                        </a:rPr>
                        <a:t>-net</a:t>
                      </a:r>
                      <a:endParaRPr lang="zh-CN" sz="3200" b="1" kern="100" dirty="0">
                        <a:solidFill>
                          <a:srgbClr val="FF0000"/>
                        </a:solidFill>
                        <a:effectLst/>
                        <a:latin typeface="+mn-lt"/>
                        <a:ea typeface="+mn-ea"/>
                        <a:cs typeface="+mn-cs"/>
                      </a:endParaRPr>
                    </a:p>
                  </a:txBody>
                  <a:tcPr marL="68575" marR="68575" marT="0" marB="0" anchor="ctr"/>
                </a:tc>
                <a:tc>
                  <a:txBody>
                    <a:bodyPr/>
                    <a:lstStyle/>
                    <a:p>
                      <a:pPr algn="l">
                        <a:lnSpc>
                          <a:spcPts val="3300"/>
                        </a:lnSpc>
                        <a:spcAft>
                          <a:spcPts val="0"/>
                        </a:spcAft>
                      </a:pPr>
                      <a:r>
                        <a:rPr lang="zh-CN" sz="2000" b="1" kern="100">
                          <a:effectLst/>
                        </a:rPr>
                        <a:t>路由到达的是一个网络</a:t>
                      </a:r>
                      <a:endParaRPr lang="zh-CN" sz="2000" b="1" kern="100">
                        <a:effectLst/>
                        <a:latin typeface="Times New Roman"/>
                        <a:ea typeface="宋体"/>
                      </a:endParaRPr>
                    </a:p>
                  </a:txBody>
                  <a:tcPr marL="68575" marR="68575" marT="0" marB="0" anchor="ctr"/>
                </a:tc>
                <a:extLst>
                  <a:ext uri="{0D108BD9-81ED-4DB2-BD59-A6C34878D82A}">
                    <a16:rowId xmlns:a16="http://schemas.microsoft.com/office/drawing/2014/main" val="10007"/>
                  </a:ext>
                </a:extLst>
              </a:tr>
              <a:tr h="477584">
                <a:tc>
                  <a:txBody>
                    <a:bodyPr/>
                    <a:lstStyle/>
                    <a:p>
                      <a:pPr marL="0" algn="ctr" defTabSz="914400" rtl="0" eaLnBrk="1" latinLnBrk="0" hangingPunct="1">
                        <a:lnSpc>
                          <a:spcPts val="3300"/>
                        </a:lnSpc>
                        <a:spcAft>
                          <a:spcPts val="0"/>
                        </a:spcAft>
                      </a:pPr>
                      <a:r>
                        <a:rPr lang="en-US" sz="3200" b="1" kern="100" dirty="0">
                          <a:solidFill>
                            <a:srgbClr val="FF0000"/>
                          </a:solidFill>
                          <a:effectLst/>
                          <a:latin typeface="+mn-lt"/>
                          <a:ea typeface="+mn-ea"/>
                          <a:cs typeface="+mn-cs"/>
                        </a:rPr>
                        <a:t>-host</a:t>
                      </a:r>
                      <a:endParaRPr lang="zh-CN" sz="3200" b="1" kern="100" dirty="0">
                        <a:solidFill>
                          <a:srgbClr val="FF0000"/>
                        </a:solidFill>
                        <a:effectLst/>
                        <a:latin typeface="+mn-lt"/>
                        <a:ea typeface="+mn-ea"/>
                        <a:cs typeface="+mn-cs"/>
                      </a:endParaRPr>
                    </a:p>
                  </a:txBody>
                  <a:tcPr marL="68575" marR="68575" marT="0" marB="0" anchor="ctr"/>
                </a:tc>
                <a:tc>
                  <a:txBody>
                    <a:bodyPr/>
                    <a:lstStyle/>
                    <a:p>
                      <a:pPr algn="l">
                        <a:lnSpc>
                          <a:spcPts val="3300"/>
                        </a:lnSpc>
                        <a:spcAft>
                          <a:spcPts val="0"/>
                        </a:spcAft>
                      </a:pPr>
                      <a:r>
                        <a:rPr lang="zh-CN" sz="2000" b="1" kern="100">
                          <a:effectLst/>
                        </a:rPr>
                        <a:t>路由到达的是一台主机</a:t>
                      </a:r>
                      <a:endParaRPr lang="zh-CN" sz="2000" b="1" kern="100">
                        <a:effectLst/>
                        <a:latin typeface="Times New Roman"/>
                        <a:ea typeface="宋体"/>
                      </a:endParaRPr>
                    </a:p>
                  </a:txBody>
                  <a:tcPr marL="68575" marR="68575" marT="0" marB="0" anchor="ctr"/>
                </a:tc>
                <a:extLst>
                  <a:ext uri="{0D108BD9-81ED-4DB2-BD59-A6C34878D82A}">
                    <a16:rowId xmlns:a16="http://schemas.microsoft.com/office/drawing/2014/main" val="10008"/>
                  </a:ext>
                </a:extLst>
              </a:tr>
              <a:tr h="840732">
                <a:tc>
                  <a:txBody>
                    <a:bodyPr/>
                    <a:lstStyle/>
                    <a:p>
                      <a:pPr marL="0" algn="ctr" defTabSz="914400" rtl="0" eaLnBrk="1" latinLnBrk="0" hangingPunct="1">
                        <a:lnSpc>
                          <a:spcPts val="3300"/>
                        </a:lnSpc>
                        <a:spcAft>
                          <a:spcPts val="0"/>
                        </a:spcAft>
                      </a:pPr>
                      <a:r>
                        <a:rPr lang="en-US" sz="3200" b="1" kern="100" dirty="0">
                          <a:solidFill>
                            <a:srgbClr val="FF0000"/>
                          </a:solidFill>
                          <a:effectLst/>
                          <a:latin typeface="+mn-lt"/>
                          <a:ea typeface="+mn-ea"/>
                          <a:cs typeface="+mn-cs"/>
                        </a:rPr>
                        <a:t>netmask</a:t>
                      </a:r>
                      <a:endParaRPr lang="zh-CN" sz="3200" b="1" kern="100" dirty="0">
                        <a:solidFill>
                          <a:srgbClr val="FF0000"/>
                        </a:solidFill>
                        <a:effectLst/>
                        <a:latin typeface="+mn-lt"/>
                        <a:ea typeface="+mn-ea"/>
                        <a:cs typeface="+mn-cs"/>
                      </a:endParaRPr>
                    </a:p>
                  </a:txBody>
                  <a:tcPr marL="68575" marR="68575" marT="0" marB="0" anchor="ctr"/>
                </a:tc>
                <a:tc>
                  <a:txBody>
                    <a:bodyPr/>
                    <a:lstStyle/>
                    <a:p>
                      <a:pPr algn="l">
                        <a:lnSpc>
                          <a:spcPts val="3300"/>
                        </a:lnSpc>
                        <a:spcAft>
                          <a:spcPts val="0"/>
                        </a:spcAft>
                      </a:pPr>
                      <a:r>
                        <a:rPr lang="zh-CN" sz="2000" b="1" kern="100">
                          <a:effectLst/>
                        </a:rPr>
                        <a:t>为添加的路由指定网络掩码</a:t>
                      </a:r>
                      <a:endParaRPr lang="zh-CN" sz="2000" b="1" kern="100">
                        <a:effectLst/>
                        <a:latin typeface="Times New Roman"/>
                        <a:ea typeface="宋体"/>
                      </a:endParaRPr>
                    </a:p>
                  </a:txBody>
                  <a:tcPr marL="68575" marR="68575" marT="0" marB="0" anchor="ctr"/>
                </a:tc>
                <a:extLst>
                  <a:ext uri="{0D108BD9-81ED-4DB2-BD59-A6C34878D82A}">
                    <a16:rowId xmlns:a16="http://schemas.microsoft.com/office/drawing/2014/main" val="10009"/>
                  </a:ext>
                </a:extLst>
              </a:tr>
              <a:tr h="477584">
                <a:tc>
                  <a:txBody>
                    <a:bodyPr/>
                    <a:lstStyle/>
                    <a:p>
                      <a:pPr algn="ctr">
                        <a:lnSpc>
                          <a:spcPts val="3300"/>
                        </a:lnSpc>
                        <a:spcAft>
                          <a:spcPts val="0"/>
                        </a:spcAft>
                      </a:pPr>
                      <a:r>
                        <a:rPr lang="en-US" sz="2000" b="1" kern="100">
                          <a:effectLst/>
                        </a:rPr>
                        <a:t>gw</a:t>
                      </a:r>
                      <a:endParaRPr lang="zh-CN" sz="2000" b="1" kern="100">
                        <a:effectLst/>
                        <a:latin typeface="Times New Roman"/>
                        <a:ea typeface="宋体"/>
                      </a:endParaRPr>
                    </a:p>
                  </a:txBody>
                  <a:tcPr marL="68575" marR="68575" marT="0" marB="0" anchor="ctr"/>
                </a:tc>
                <a:tc>
                  <a:txBody>
                    <a:bodyPr/>
                    <a:lstStyle/>
                    <a:p>
                      <a:pPr algn="l">
                        <a:lnSpc>
                          <a:spcPts val="3300"/>
                        </a:lnSpc>
                        <a:spcAft>
                          <a:spcPts val="0"/>
                        </a:spcAft>
                      </a:pPr>
                      <a:r>
                        <a:rPr lang="zh-CN" sz="2000" b="1" kern="100" dirty="0">
                          <a:effectLst/>
                        </a:rPr>
                        <a:t>指定路由的网关</a:t>
                      </a:r>
                      <a:endParaRPr lang="zh-CN" sz="2000" b="1" kern="100" dirty="0">
                        <a:effectLst/>
                        <a:latin typeface="Times New Roman"/>
                        <a:ea typeface="宋体"/>
                      </a:endParaRPr>
                    </a:p>
                  </a:txBody>
                  <a:tcPr marL="68575" marR="68575" marT="0" marB="0" anchor="ctr"/>
                </a:tc>
                <a:extLst>
                  <a:ext uri="{0D108BD9-81ED-4DB2-BD59-A6C34878D82A}">
                    <a16:rowId xmlns:a16="http://schemas.microsoft.com/office/drawing/2014/main" val="10010"/>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C64DAAD4-26F2-9829-B246-AB45375D8801}"/>
              </a:ext>
            </a:extLst>
          </p:cNvPr>
          <p:cNvSpPr>
            <a:spLocks noGrp="1" noChangeArrowheads="1"/>
          </p:cNvSpPr>
          <p:nvPr>
            <p:ph type="title"/>
          </p:nvPr>
        </p:nvSpPr>
        <p:spPr/>
        <p:txBody>
          <a:bodyPr/>
          <a:lstStyle/>
          <a:p>
            <a:r>
              <a:rPr lang="en-US" altLang="zh-CN"/>
              <a:t>9.2.7  </a:t>
            </a:r>
            <a:r>
              <a:rPr lang="zh-CN" altLang="zh-CN"/>
              <a:t>路由表维护（</a:t>
            </a:r>
            <a:r>
              <a:rPr lang="en-US" altLang="zh-CN"/>
              <a:t>route</a:t>
            </a:r>
            <a:r>
              <a:rPr lang="zh-CN" altLang="zh-CN"/>
              <a:t>）</a:t>
            </a:r>
            <a:endParaRPr lang="zh-CN" altLang="en-US"/>
          </a:p>
        </p:txBody>
      </p:sp>
      <p:sp>
        <p:nvSpPr>
          <p:cNvPr id="1048680" name="内容占位符 2">
            <a:extLst>
              <a:ext uri="{FF2B5EF4-FFF2-40B4-BE49-F238E27FC236}">
                <a16:creationId xmlns:a16="http://schemas.microsoft.com/office/drawing/2014/main" id="{118B13FC-E3DA-490E-0F0B-CAFD6E770ACC}"/>
              </a:ext>
            </a:extLst>
          </p:cNvPr>
          <p:cNvSpPr>
            <a:spLocks noGrp="1"/>
          </p:cNvSpPr>
          <p:nvPr>
            <p:ph idx="1"/>
          </p:nvPr>
        </p:nvSpPr>
        <p:spPr>
          <a:xfrm>
            <a:off x="12700" y="620713"/>
            <a:ext cx="9131300" cy="5761037"/>
          </a:xfrm>
        </p:spPr>
        <p:txBody>
          <a:bodyPr/>
          <a:lstStyle/>
          <a:p>
            <a:pPr>
              <a:spcBef>
                <a:spcPts val="0"/>
              </a:spcBef>
              <a:spcAft>
                <a:spcPts val="0"/>
              </a:spcAft>
              <a:defRPr/>
            </a:pPr>
            <a:r>
              <a:rPr lang="en-US" altLang="zh-CN" sz="4400" dirty="0"/>
              <a:t>1</a:t>
            </a:r>
            <a:r>
              <a:rPr lang="zh-CN" altLang="zh-CN" sz="4400" dirty="0"/>
              <a:t>．监视路由表内容</a:t>
            </a:r>
          </a:p>
          <a:p>
            <a:pPr marL="0" indent="0" algn="ctr">
              <a:spcBef>
                <a:spcPts val="0"/>
              </a:spcBef>
              <a:spcAft>
                <a:spcPts val="0"/>
              </a:spcAft>
              <a:buFont typeface="Arial" panose="020B0604020202020204" pitchFamily="34" charset="0"/>
              <a:buNone/>
              <a:defRPr/>
            </a:pPr>
            <a:r>
              <a:rPr lang="en-US" altLang="zh-CN" sz="4400" dirty="0"/>
              <a:t>#route</a:t>
            </a:r>
            <a:endParaRPr lang="zh-CN" altLang="zh-CN" sz="4400" dirty="0"/>
          </a:p>
          <a:p>
            <a:pPr marL="0" indent="0">
              <a:spcBef>
                <a:spcPts val="0"/>
              </a:spcBef>
              <a:spcAft>
                <a:spcPts val="0"/>
              </a:spcAft>
              <a:buFont typeface="Arial" panose="020B0604020202020204" pitchFamily="34" charset="0"/>
              <a:buNone/>
              <a:defRPr/>
            </a:pPr>
            <a:r>
              <a:rPr lang="zh-CN" altLang="zh-CN" sz="4400" dirty="0"/>
              <a:t>前两项是通过接口</a:t>
            </a:r>
            <a:r>
              <a:rPr lang="en-US" altLang="zh-CN" sz="4400" dirty="0"/>
              <a:t>eth0</a:t>
            </a:r>
            <a:r>
              <a:rPr lang="zh-CN" altLang="zh-CN" sz="4400" dirty="0"/>
              <a:t>到网络的路由。第三项是到</a:t>
            </a:r>
            <a:r>
              <a:rPr lang="en-US" altLang="zh-CN" sz="4400" dirty="0" err="1"/>
              <a:t>localhost</a:t>
            </a:r>
            <a:r>
              <a:rPr lang="zh-CN" altLang="zh-CN" sz="4400" dirty="0"/>
              <a:t>的回送路由。它们都设置了</a:t>
            </a:r>
            <a:r>
              <a:rPr lang="en-US" altLang="zh-CN" sz="4400" dirty="0"/>
              <a:t>U</a:t>
            </a:r>
            <a:r>
              <a:rPr lang="zh-CN" altLang="zh-CN" sz="4400" dirty="0"/>
              <a:t>（启动）标志，这表示准备使用它们，但它们都未设置</a:t>
            </a:r>
            <a:r>
              <a:rPr lang="en-US" altLang="zh-CN" sz="4400" dirty="0"/>
              <a:t>G</a:t>
            </a:r>
            <a:r>
              <a:rPr lang="zh-CN" altLang="zh-CN" sz="4400" dirty="0"/>
              <a:t>（网关）标志，这是因为这两个路由都是通过本地接口。</a:t>
            </a:r>
            <a:endParaRPr lang="zh-CN" altLang="en-US" sz="4400" dirty="0"/>
          </a:p>
        </p:txBody>
      </p:sp>
      <p:pic>
        <p:nvPicPr>
          <p:cNvPr id="2" name="图片 1">
            <a:extLst>
              <a:ext uri="{FF2B5EF4-FFF2-40B4-BE49-F238E27FC236}">
                <a16:creationId xmlns:a16="http://schemas.microsoft.com/office/drawing/2014/main" id="{DAAEE97D-0A4E-60FD-0F6D-F6DB95892E1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950" y="620713"/>
            <a:ext cx="9001125" cy="561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8" name="标题 1">
            <a:extLst>
              <a:ext uri="{FF2B5EF4-FFF2-40B4-BE49-F238E27FC236}">
                <a16:creationId xmlns:a16="http://schemas.microsoft.com/office/drawing/2014/main" id="{35BE3D7C-62A7-A502-CBF1-98E1305F5E88}"/>
              </a:ext>
            </a:extLst>
          </p:cNvPr>
          <p:cNvSpPr>
            <a:spLocks noGrp="1" noChangeArrowheads="1"/>
          </p:cNvSpPr>
          <p:nvPr>
            <p:ph type="title"/>
          </p:nvPr>
        </p:nvSpPr>
        <p:spPr>
          <a:xfrm>
            <a:off x="250825" y="44450"/>
            <a:ext cx="7772400" cy="504825"/>
          </a:xfrm>
        </p:spPr>
        <p:txBody>
          <a:bodyPr/>
          <a:lstStyle/>
          <a:p>
            <a:r>
              <a:rPr lang="en-US" altLang="zh-CN"/>
              <a:t>9.2.7  </a:t>
            </a:r>
            <a:r>
              <a:rPr lang="zh-CN" altLang="zh-CN"/>
              <a:t>路由表维护（</a:t>
            </a:r>
            <a:r>
              <a:rPr lang="en-US" altLang="zh-CN"/>
              <a:t>route</a:t>
            </a:r>
            <a:r>
              <a:rPr lang="zh-CN" altLang="zh-CN"/>
              <a:t>）</a:t>
            </a:r>
            <a:endParaRPr lang="zh-CN" altLang="en-US"/>
          </a:p>
        </p:txBody>
      </p:sp>
      <p:sp>
        <p:nvSpPr>
          <p:cNvPr id="1048682" name="内容占位符 2">
            <a:extLst>
              <a:ext uri="{FF2B5EF4-FFF2-40B4-BE49-F238E27FC236}">
                <a16:creationId xmlns:a16="http://schemas.microsoft.com/office/drawing/2014/main" id="{12EA796A-A455-26C3-574E-82FEED856B11}"/>
              </a:ext>
            </a:extLst>
          </p:cNvPr>
          <p:cNvSpPr>
            <a:spLocks noGrp="1"/>
          </p:cNvSpPr>
          <p:nvPr>
            <p:ph idx="1"/>
          </p:nvPr>
        </p:nvSpPr>
        <p:spPr>
          <a:xfrm>
            <a:off x="0" y="554038"/>
            <a:ext cx="9109075" cy="5899150"/>
          </a:xfrm>
        </p:spPr>
        <p:txBody>
          <a:bodyPr/>
          <a:lstStyle/>
          <a:p>
            <a:pPr>
              <a:spcBef>
                <a:spcPts val="0"/>
              </a:spcBef>
              <a:spcAft>
                <a:spcPts val="0"/>
              </a:spcAft>
              <a:defRPr/>
            </a:pPr>
            <a:r>
              <a:rPr lang="en-US" altLang="zh-CN" dirty="0"/>
              <a:t>2</a:t>
            </a:r>
            <a:r>
              <a:rPr lang="zh-CN" altLang="zh-CN" dirty="0"/>
              <a:t>．添加路由记录</a:t>
            </a:r>
          </a:p>
          <a:p>
            <a:pPr fontAlgn="ctr">
              <a:spcBef>
                <a:spcPts val="0"/>
              </a:spcBef>
              <a:spcAft>
                <a:spcPts val="0"/>
              </a:spcAft>
              <a:defRPr/>
            </a:pPr>
            <a:r>
              <a:rPr lang="zh-CN" altLang="zh-CN" dirty="0"/>
              <a:t>通过</a:t>
            </a:r>
            <a:r>
              <a:rPr lang="en-US" altLang="zh-CN" dirty="0"/>
              <a:t>eth0</a:t>
            </a:r>
            <a:r>
              <a:rPr lang="zh-CN" altLang="zh-CN" dirty="0"/>
              <a:t>增加一条到网络</a:t>
            </a:r>
            <a:r>
              <a:rPr lang="en-US" altLang="zh-CN" dirty="0"/>
              <a:t>218.196.240.0/24</a:t>
            </a:r>
            <a:r>
              <a:rPr lang="zh-CN" altLang="zh-CN" dirty="0"/>
              <a:t>的网络。</a:t>
            </a:r>
          </a:p>
          <a:p>
            <a:pPr marL="0" indent="0">
              <a:spcBef>
                <a:spcPts val="0"/>
              </a:spcBef>
              <a:spcAft>
                <a:spcPts val="0"/>
              </a:spcAft>
              <a:buFont typeface="Arial" panose="020B0604020202020204" pitchFamily="34" charset="0"/>
              <a:buNone/>
              <a:defRPr/>
            </a:pPr>
            <a:r>
              <a:rPr lang="en-US" altLang="zh-CN" dirty="0"/>
              <a:t>#route add -net 218.196.240.0 </a:t>
            </a:r>
            <a:r>
              <a:rPr lang="en-US" altLang="zh-CN" dirty="0" err="1"/>
              <a:t>netmask</a:t>
            </a:r>
            <a:r>
              <a:rPr lang="en-US" altLang="zh-CN" dirty="0"/>
              <a:t> 255.255.255.0 </a:t>
            </a:r>
            <a:r>
              <a:rPr lang="en-US" altLang="zh-CN" dirty="0" err="1"/>
              <a:t>dev</a:t>
            </a:r>
            <a:r>
              <a:rPr lang="en-US" altLang="zh-CN" dirty="0"/>
              <a:t> eth0</a:t>
            </a:r>
            <a:endParaRPr lang="zh-CN" altLang="zh-CN" dirty="0"/>
          </a:p>
          <a:p>
            <a:pPr marL="0" indent="0">
              <a:spcBef>
                <a:spcPts val="0"/>
              </a:spcBef>
              <a:spcAft>
                <a:spcPts val="0"/>
              </a:spcAft>
              <a:buFont typeface="Arial" panose="020B0604020202020204" pitchFamily="34" charset="0"/>
              <a:buNone/>
              <a:defRPr/>
            </a:pPr>
            <a:r>
              <a:rPr lang="en-US" altLang="zh-CN" dirty="0"/>
              <a:t>#route				#</a:t>
            </a:r>
            <a:r>
              <a:rPr lang="zh-CN" altLang="zh-CN" dirty="0"/>
              <a:t>查看路由表信息</a:t>
            </a:r>
          </a:p>
          <a:p>
            <a:pPr marL="0" indent="0">
              <a:spcBef>
                <a:spcPts val="0"/>
              </a:spcBef>
              <a:spcAft>
                <a:spcPts val="0"/>
              </a:spcAft>
              <a:buFont typeface="Arial" panose="020B0604020202020204" pitchFamily="34" charset="0"/>
              <a:buNone/>
              <a:defRPr/>
            </a:pPr>
            <a:r>
              <a:rPr lang="en-US" altLang="zh-CN" sz="2000" dirty="0"/>
              <a:t>Kernel IP routing table</a:t>
            </a:r>
            <a:endParaRPr lang="zh-CN" altLang="zh-CN" sz="2000" dirty="0"/>
          </a:p>
          <a:p>
            <a:pPr marL="0" indent="0">
              <a:spcBef>
                <a:spcPts val="0"/>
              </a:spcBef>
              <a:spcAft>
                <a:spcPts val="0"/>
              </a:spcAft>
              <a:buFont typeface="Arial" panose="020B0604020202020204" pitchFamily="34" charset="0"/>
              <a:buNone/>
              <a:defRPr/>
            </a:pPr>
            <a:r>
              <a:rPr lang="en-US" altLang="zh-CN" sz="2000" dirty="0"/>
              <a:t>Destination   Gateway     </a:t>
            </a:r>
            <a:r>
              <a:rPr lang="en-US" altLang="zh-CN" sz="2000" dirty="0" err="1"/>
              <a:t>Genmask</a:t>
            </a:r>
            <a:r>
              <a:rPr lang="en-US" altLang="zh-CN" sz="2000" dirty="0"/>
              <a:t>     Flags Metric Ref    Use </a:t>
            </a:r>
            <a:r>
              <a:rPr lang="en-US" altLang="zh-CN" sz="2000" dirty="0" err="1"/>
              <a:t>Iface</a:t>
            </a:r>
            <a:endParaRPr lang="zh-CN" altLang="zh-CN" sz="2000" dirty="0"/>
          </a:p>
          <a:p>
            <a:pPr marL="0" indent="0">
              <a:spcBef>
                <a:spcPts val="0"/>
              </a:spcBef>
              <a:spcAft>
                <a:spcPts val="0"/>
              </a:spcAft>
              <a:buFont typeface="Arial" panose="020B0604020202020204" pitchFamily="34" charset="0"/>
              <a:buNone/>
              <a:defRPr/>
            </a:pPr>
            <a:r>
              <a:rPr lang="es-ES_tradnl" altLang="zh-CN" sz="2000" dirty="0"/>
              <a:t>202.196.233.0   *      255.255.255.0      U    0     0      0 eth0</a:t>
            </a:r>
            <a:endParaRPr lang="zh-CN" altLang="zh-CN" sz="2000" dirty="0"/>
          </a:p>
          <a:p>
            <a:pPr marL="0" indent="0">
              <a:spcBef>
                <a:spcPts val="0"/>
              </a:spcBef>
              <a:spcAft>
                <a:spcPts val="0"/>
              </a:spcAft>
              <a:buFont typeface="Arial" panose="020B0604020202020204" pitchFamily="34" charset="0"/>
              <a:buNone/>
              <a:defRPr/>
            </a:pPr>
            <a:r>
              <a:rPr lang="es-ES_tradnl" altLang="zh-CN" sz="2000" dirty="0"/>
              <a:t>218.196.240.0   *      255.255.255.0      U    0     0      0 eth0</a:t>
            </a:r>
            <a:endParaRPr lang="zh-CN" altLang="zh-CN" sz="2000" dirty="0"/>
          </a:p>
          <a:p>
            <a:pPr marL="0" indent="0">
              <a:spcBef>
                <a:spcPts val="0"/>
              </a:spcBef>
              <a:spcAft>
                <a:spcPts val="0"/>
              </a:spcAft>
              <a:buFont typeface="Arial" panose="020B0604020202020204" pitchFamily="34" charset="0"/>
              <a:buNone/>
              <a:defRPr/>
            </a:pPr>
            <a:r>
              <a:rPr lang="es-ES_tradnl" altLang="zh-CN" sz="2000" dirty="0"/>
              <a:t>169.254.0.0     *      255.255.0.0        U    0     0      0 eth0</a:t>
            </a:r>
            <a:endParaRPr lang="zh-CN" altLang="zh-CN" sz="2000" dirty="0"/>
          </a:p>
          <a:p>
            <a:pPr marL="0" indent="0">
              <a:spcBef>
                <a:spcPts val="0"/>
              </a:spcBef>
              <a:spcAft>
                <a:spcPts val="0"/>
              </a:spcAft>
              <a:buFont typeface="Arial" panose="020B0604020202020204" pitchFamily="34" charset="0"/>
              <a:buNone/>
              <a:defRPr/>
            </a:pPr>
            <a:r>
              <a:rPr lang="es-ES_tradnl" altLang="zh-CN" sz="2000" dirty="0"/>
              <a:t>127.0.0.0       *      255.0.0.0          U    0     0      0 lo</a:t>
            </a:r>
            <a:endParaRPr lang="zh-CN" altLang="zh-CN" sz="2000" dirty="0"/>
          </a:p>
          <a:p>
            <a:pPr marL="0" indent="0">
              <a:spcBef>
                <a:spcPts val="0"/>
              </a:spcBef>
              <a:spcAft>
                <a:spcPts val="0"/>
              </a:spcAft>
              <a:buFont typeface="Arial" panose="020B0604020202020204" pitchFamily="34" charset="0"/>
              <a:buNone/>
              <a:defRPr/>
            </a:pPr>
            <a:r>
              <a:rPr lang="es-ES_tradnl" altLang="zh-CN" sz="2000" dirty="0"/>
              <a:t>default 202.196.233.254  0.0.0.0          UG   0     0      0 eth0</a:t>
            </a:r>
            <a:endParaRPr lang="zh-CN" alt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E5C1CD99-680E-A1EC-772E-BC43A8BDD0A7}"/>
              </a:ext>
            </a:extLst>
          </p:cNvPr>
          <p:cNvSpPr>
            <a:spLocks noGrp="1" noChangeArrowheads="1"/>
          </p:cNvSpPr>
          <p:nvPr>
            <p:ph type="title"/>
          </p:nvPr>
        </p:nvSpPr>
        <p:spPr/>
        <p:txBody>
          <a:bodyPr/>
          <a:lstStyle/>
          <a:p>
            <a:r>
              <a:rPr lang="en-US" altLang="zh-CN"/>
              <a:t>9.2.7  </a:t>
            </a:r>
            <a:r>
              <a:rPr lang="zh-CN" altLang="zh-CN"/>
              <a:t>路由表维护（</a:t>
            </a:r>
            <a:r>
              <a:rPr lang="en-US" altLang="zh-CN"/>
              <a:t>route</a:t>
            </a:r>
            <a:r>
              <a:rPr lang="zh-CN" altLang="zh-CN"/>
              <a:t>）</a:t>
            </a:r>
            <a:endParaRPr lang="zh-CN" altLang="en-US"/>
          </a:p>
        </p:txBody>
      </p:sp>
      <p:sp>
        <p:nvSpPr>
          <p:cNvPr id="1048684" name="内容占位符 2">
            <a:extLst>
              <a:ext uri="{FF2B5EF4-FFF2-40B4-BE49-F238E27FC236}">
                <a16:creationId xmlns:a16="http://schemas.microsoft.com/office/drawing/2014/main" id="{E48C0434-5245-DEC5-2BEE-3CC0FE4C20BE}"/>
              </a:ext>
            </a:extLst>
          </p:cNvPr>
          <p:cNvSpPr>
            <a:spLocks noGrp="1"/>
          </p:cNvSpPr>
          <p:nvPr>
            <p:ph idx="1"/>
          </p:nvPr>
        </p:nvSpPr>
        <p:spPr>
          <a:xfrm>
            <a:off x="0" y="549275"/>
            <a:ext cx="9144000" cy="5759450"/>
          </a:xfrm>
        </p:spPr>
        <p:txBody>
          <a:bodyPr/>
          <a:lstStyle/>
          <a:p>
            <a:pPr>
              <a:spcBef>
                <a:spcPts val="0"/>
              </a:spcBef>
              <a:spcAft>
                <a:spcPts val="0"/>
              </a:spcAft>
              <a:defRPr/>
            </a:pPr>
            <a:r>
              <a:rPr lang="en-US" altLang="zh-CN" sz="4400" dirty="0"/>
              <a:t>3</a:t>
            </a:r>
            <a:r>
              <a:rPr lang="zh-CN" altLang="zh-CN" sz="4400" dirty="0"/>
              <a:t>．删除路由记录</a:t>
            </a:r>
          </a:p>
          <a:p>
            <a:pPr marL="0" indent="0" fontAlgn="ctr">
              <a:spcBef>
                <a:spcPts val="0"/>
              </a:spcBef>
              <a:spcAft>
                <a:spcPts val="0"/>
              </a:spcAft>
              <a:buFont typeface="Arial" panose="020B0604020202020204" pitchFamily="34" charset="0"/>
              <a:buNone/>
              <a:defRPr/>
            </a:pPr>
            <a:r>
              <a:rPr lang="zh-CN" altLang="zh-CN" sz="4400" dirty="0"/>
              <a:t>删除刚增加的路由信息。若要从路由表中删除某个路由记录，需要使用“</a:t>
            </a:r>
            <a:r>
              <a:rPr lang="en-US" altLang="zh-CN" sz="4400" dirty="0"/>
              <a:t>del</a:t>
            </a:r>
            <a:r>
              <a:rPr lang="zh-CN" altLang="zh-CN" sz="4400" dirty="0"/>
              <a:t>”参数。</a:t>
            </a:r>
          </a:p>
          <a:p>
            <a:pPr marL="0" indent="0">
              <a:spcBef>
                <a:spcPts val="0"/>
              </a:spcBef>
              <a:spcAft>
                <a:spcPts val="0"/>
              </a:spcAft>
              <a:buFont typeface="Arial" panose="020B0604020202020204" pitchFamily="34" charset="0"/>
              <a:buNone/>
              <a:defRPr/>
            </a:pPr>
            <a:r>
              <a:rPr lang="en-US" altLang="zh-CN" sz="4400" dirty="0"/>
              <a:t>#</a:t>
            </a:r>
            <a:r>
              <a:rPr lang="en-US" altLang="zh-CN" sz="4400" dirty="0">
                <a:solidFill>
                  <a:srgbClr val="FF0000"/>
                </a:solidFill>
              </a:rPr>
              <a:t>route del -net 218.196.240.0 </a:t>
            </a:r>
            <a:r>
              <a:rPr lang="en-US" altLang="zh-CN" sz="4400" dirty="0" err="1">
                <a:solidFill>
                  <a:srgbClr val="FF0000"/>
                </a:solidFill>
              </a:rPr>
              <a:t>netmask</a:t>
            </a:r>
            <a:r>
              <a:rPr lang="en-US" altLang="zh-CN" sz="4400" dirty="0">
                <a:solidFill>
                  <a:srgbClr val="FF0000"/>
                </a:solidFill>
              </a:rPr>
              <a:t> 255.255.255.0 </a:t>
            </a:r>
            <a:r>
              <a:rPr lang="en-US" altLang="zh-CN" sz="4400" dirty="0" err="1">
                <a:solidFill>
                  <a:srgbClr val="FF0000"/>
                </a:solidFill>
              </a:rPr>
              <a:t>dev</a:t>
            </a:r>
            <a:r>
              <a:rPr lang="en-US" altLang="zh-CN" sz="4400" dirty="0">
                <a:solidFill>
                  <a:srgbClr val="FF0000"/>
                </a:solidFill>
              </a:rPr>
              <a:t> eth0</a:t>
            </a:r>
            <a:endParaRPr lang="zh-CN" altLang="en-US" sz="4400" dirty="0">
              <a:solidFill>
                <a:srgbClr val="FF000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标题 1">
            <a:extLst>
              <a:ext uri="{FF2B5EF4-FFF2-40B4-BE49-F238E27FC236}">
                <a16:creationId xmlns:a16="http://schemas.microsoft.com/office/drawing/2014/main" id="{32D96703-6FE2-D84E-9FAA-23C0FC59EAEC}"/>
              </a:ext>
            </a:extLst>
          </p:cNvPr>
          <p:cNvSpPr>
            <a:spLocks noGrp="1" noChangeArrowheads="1"/>
          </p:cNvSpPr>
          <p:nvPr>
            <p:ph type="title"/>
          </p:nvPr>
        </p:nvSpPr>
        <p:spPr/>
        <p:txBody>
          <a:bodyPr/>
          <a:lstStyle/>
          <a:p>
            <a:r>
              <a:rPr lang="en-US" altLang="zh-CN"/>
              <a:t>9.2.8  </a:t>
            </a:r>
            <a:r>
              <a:rPr lang="zh-CN" altLang="zh-CN"/>
              <a:t>主机及地址查询（</a:t>
            </a:r>
            <a:r>
              <a:rPr lang="en-US" altLang="zh-CN"/>
              <a:t>nslookup/host</a:t>
            </a:r>
            <a:r>
              <a:rPr lang="zh-CN" altLang="zh-CN"/>
              <a:t>）</a:t>
            </a:r>
            <a:endParaRPr lang="zh-CN" altLang="en-US"/>
          </a:p>
        </p:txBody>
      </p:sp>
      <p:sp>
        <p:nvSpPr>
          <p:cNvPr id="47107" name="内容占位符 2">
            <a:extLst>
              <a:ext uri="{FF2B5EF4-FFF2-40B4-BE49-F238E27FC236}">
                <a16:creationId xmlns:a16="http://schemas.microsoft.com/office/drawing/2014/main" id="{7B30A53A-4F31-4D5C-4E58-B04B9C3FDE1A}"/>
              </a:ext>
            </a:extLst>
          </p:cNvPr>
          <p:cNvSpPr>
            <a:spLocks noGrp="1" noChangeArrowheads="1"/>
          </p:cNvSpPr>
          <p:nvPr>
            <p:ph idx="1"/>
          </p:nvPr>
        </p:nvSpPr>
        <p:spPr>
          <a:xfrm>
            <a:off x="0" y="549275"/>
            <a:ext cx="9144000" cy="5832475"/>
          </a:xfrm>
        </p:spPr>
        <p:txBody>
          <a:bodyPr/>
          <a:lstStyle/>
          <a:p>
            <a:pPr fontAlgn="ctr">
              <a:spcBef>
                <a:spcPct val="0"/>
              </a:spcBef>
              <a:spcAft>
                <a:spcPct val="0"/>
              </a:spcAft>
            </a:pPr>
            <a:r>
              <a:rPr lang="en-US" altLang="zh-CN" sz="4800">
                <a:solidFill>
                  <a:srgbClr val="FF0000"/>
                </a:solidFill>
              </a:rPr>
              <a:t>nslookup</a:t>
            </a:r>
            <a:r>
              <a:rPr lang="zh-CN" altLang="zh-CN" sz="4800">
                <a:solidFill>
                  <a:srgbClr val="FF0000"/>
                </a:solidFill>
              </a:rPr>
              <a:t>和</a:t>
            </a:r>
            <a:r>
              <a:rPr lang="en-US" altLang="zh-CN" sz="4800">
                <a:solidFill>
                  <a:srgbClr val="FF0000"/>
                </a:solidFill>
              </a:rPr>
              <a:t>host</a:t>
            </a:r>
            <a:r>
              <a:rPr lang="zh-CN" altLang="zh-CN" sz="4800"/>
              <a:t>命令的功能是</a:t>
            </a:r>
            <a:r>
              <a:rPr lang="zh-CN" altLang="zh-CN" sz="4800">
                <a:solidFill>
                  <a:srgbClr val="FF0000"/>
                </a:solidFill>
              </a:rPr>
              <a:t>查询一台网络主机的</a:t>
            </a:r>
            <a:r>
              <a:rPr lang="en-US" altLang="zh-CN" sz="4800">
                <a:solidFill>
                  <a:srgbClr val="FF0000"/>
                </a:solidFill>
              </a:rPr>
              <a:t>IP</a:t>
            </a:r>
            <a:r>
              <a:rPr lang="zh-CN" altLang="zh-CN" sz="4800">
                <a:solidFill>
                  <a:srgbClr val="FF0000"/>
                </a:solidFill>
              </a:rPr>
              <a:t>地址或其对应的域名</a:t>
            </a:r>
            <a:r>
              <a:rPr lang="zh-CN" altLang="zh-CN" sz="4800"/>
              <a:t>，通常需要一台域名服务器来提供服务，其用法为：</a:t>
            </a:r>
          </a:p>
          <a:p>
            <a:pPr>
              <a:spcBef>
                <a:spcPct val="0"/>
              </a:spcBef>
              <a:spcAft>
                <a:spcPct val="0"/>
              </a:spcAft>
            </a:pPr>
            <a:r>
              <a:rPr lang="en-US" altLang="zh-CN" sz="4800"/>
              <a:t>nslookup [</a:t>
            </a:r>
            <a:r>
              <a:rPr lang="zh-CN" altLang="zh-CN" sz="4800"/>
              <a:t>域名</a:t>
            </a:r>
            <a:r>
              <a:rPr lang="en-US" altLang="zh-CN" sz="4800"/>
              <a:t>/IP</a:t>
            </a:r>
            <a:r>
              <a:rPr lang="zh-CN" altLang="zh-CN" sz="4800"/>
              <a:t>地址</a:t>
            </a:r>
            <a:r>
              <a:rPr lang="en-US" altLang="zh-CN" sz="4800"/>
              <a:t>]</a:t>
            </a:r>
            <a:endParaRPr lang="zh-CN" altLang="zh-CN" sz="4800"/>
          </a:p>
          <a:p>
            <a:pPr>
              <a:spcBef>
                <a:spcPct val="0"/>
              </a:spcBef>
              <a:spcAft>
                <a:spcPct val="0"/>
              </a:spcAft>
            </a:pPr>
            <a:r>
              <a:rPr lang="en-US" altLang="zh-CN" sz="4800"/>
              <a:t>host [</a:t>
            </a:r>
            <a:r>
              <a:rPr lang="zh-CN" altLang="zh-CN" sz="4800"/>
              <a:t>域名</a:t>
            </a:r>
            <a:r>
              <a:rPr lang="en-US" altLang="zh-CN" sz="4800"/>
              <a:t>/IP</a:t>
            </a:r>
            <a:r>
              <a:rPr lang="zh-CN" altLang="zh-CN" sz="4800"/>
              <a:t>地址</a:t>
            </a:r>
            <a:r>
              <a:rPr lang="en-US" altLang="zh-CN" sz="4800"/>
              <a:t>]</a:t>
            </a:r>
            <a:endParaRPr lang="zh-CN" altLang="zh-CN" sz="4800"/>
          </a:p>
          <a:p>
            <a:pPr>
              <a:lnSpc>
                <a:spcPct val="150000"/>
              </a:lnSpc>
            </a:pP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D059D357-1741-44B0-09B5-F221AE843E7D}"/>
              </a:ext>
            </a:extLst>
          </p:cNvPr>
          <p:cNvSpPr>
            <a:spLocks noGrp="1" noChangeArrowheads="1"/>
          </p:cNvSpPr>
          <p:nvPr>
            <p:ph type="title"/>
          </p:nvPr>
        </p:nvSpPr>
        <p:spPr/>
        <p:txBody>
          <a:bodyPr/>
          <a:lstStyle/>
          <a:p>
            <a:r>
              <a:rPr lang="en-US" altLang="zh-CN"/>
              <a:t>9.2.8  </a:t>
            </a:r>
            <a:r>
              <a:rPr lang="zh-CN" altLang="zh-CN"/>
              <a:t>主机及地址查询（</a:t>
            </a:r>
            <a:r>
              <a:rPr lang="en-US" altLang="zh-CN"/>
              <a:t>nslookup/host</a:t>
            </a:r>
            <a:r>
              <a:rPr lang="zh-CN" altLang="zh-CN"/>
              <a:t>）</a:t>
            </a:r>
            <a:endParaRPr lang="zh-CN" altLang="en-US"/>
          </a:p>
        </p:txBody>
      </p:sp>
      <p:sp>
        <p:nvSpPr>
          <p:cNvPr id="1048688" name="内容占位符 2">
            <a:extLst>
              <a:ext uri="{FF2B5EF4-FFF2-40B4-BE49-F238E27FC236}">
                <a16:creationId xmlns:a16="http://schemas.microsoft.com/office/drawing/2014/main" id="{271D37B2-1BA0-B3AD-5CE2-A4BD7284244D}"/>
              </a:ext>
            </a:extLst>
          </p:cNvPr>
          <p:cNvSpPr>
            <a:spLocks noGrp="1"/>
          </p:cNvSpPr>
          <p:nvPr>
            <p:ph idx="1"/>
          </p:nvPr>
        </p:nvSpPr>
        <p:spPr>
          <a:xfrm>
            <a:off x="0" y="549275"/>
            <a:ext cx="9144000" cy="5759450"/>
          </a:xfrm>
        </p:spPr>
        <p:txBody>
          <a:bodyPr/>
          <a:lstStyle/>
          <a:p>
            <a:pPr fontAlgn="ctr">
              <a:spcBef>
                <a:spcPts val="0"/>
              </a:spcBef>
              <a:spcAft>
                <a:spcPts val="0"/>
              </a:spcAft>
              <a:defRPr/>
            </a:pPr>
            <a:r>
              <a:rPr lang="en-US" altLang="zh-CN" sz="3600" dirty="0"/>
              <a:t>host</a:t>
            </a:r>
            <a:r>
              <a:rPr lang="zh-CN" altLang="zh-CN" sz="3600" dirty="0"/>
              <a:t>的应用示例如下：</a:t>
            </a:r>
          </a:p>
          <a:p>
            <a:pPr marL="0" indent="0">
              <a:spcBef>
                <a:spcPts val="0"/>
              </a:spcBef>
              <a:spcAft>
                <a:spcPts val="0"/>
              </a:spcAft>
              <a:buFont typeface="Arial" panose="020B0604020202020204" pitchFamily="34" charset="0"/>
              <a:buNone/>
              <a:defRPr/>
            </a:pPr>
            <a:r>
              <a:rPr lang="en-US" altLang="zh-CN" sz="3600" dirty="0"/>
              <a:t>#</a:t>
            </a:r>
            <a:r>
              <a:rPr lang="en-US" altLang="zh-CN" sz="3600" dirty="0">
                <a:solidFill>
                  <a:srgbClr val="FF0000"/>
                </a:solidFill>
              </a:rPr>
              <a:t>host hncj.edu.cn	</a:t>
            </a:r>
            <a:r>
              <a:rPr lang="en-US" altLang="zh-CN" sz="3600" dirty="0"/>
              <a:t>	#</a:t>
            </a:r>
            <a:r>
              <a:rPr lang="zh-CN" altLang="zh-CN" sz="3600" dirty="0"/>
              <a:t>正向解析</a:t>
            </a:r>
          </a:p>
          <a:p>
            <a:pPr marL="0" indent="0">
              <a:spcBef>
                <a:spcPts val="0"/>
              </a:spcBef>
              <a:spcAft>
                <a:spcPts val="0"/>
              </a:spcAft>
              <a:buFont typeface="Arial" panose="020B0604020202020204" pitchFamily="34" charset="0"/>
              <a:buNone/>
              <a:defRPr/>
            </a:pPr>
            <a:r>
              <a:rPr lang="en-US" altLang="zh-CN" sz="3600" dirty="0"/>
              <a:t>#</a:t>
            </a:r>
            <a:r>
              <a:rPr lang="en-US" altLang="zh-CN" sz="3600" dirty="0">
                <a:solidFill>
                  <a:srgbClr val="FF0000"/>
                </a:solidFill>
              </a:rPr>
              <a:t>host -a www.163.com</a:t>
            </a:r>
            <a:endParaRPr lang="zh-CN" altLang="zh-CN" sz="3600" dirty="0">
              <a:solidFill>
                <a:srgbClr val="FF0000"/>
              </a:solidFill>
            </a:endParaRPr>
          </a:p>
          <a:p>
            <a:pPr marL="0" indent="0">
              <a:spcBef>
                <a:spcPts val="0"/>
              </a:spcBef>
              <a:spcAft>
                <a:spcPts val="0"/>
              </a:spcAft>
              <a:buFont typeface="Arial" panose="020B0604020202020204" pitchFamily="34" charset="0"/>
              <a:buNone/>
              <a:defRPr/>
            </a:pPr>
            <a:r>
              <a:rPr lang="en-US" altLang="zh-CN" sz="3600" dirty="0"/>
              <a:t>#</a:t>
            </a:r>
            <a:r>
              <a:rPr lang="en-US" altLang="zh-CN" sz="3600" dirty="0">
                <a:solidFill>
                  <a:srgbClr val="FF0000"/>
                </a:solidFill>
              </a:rPr>
              <a:t>host 222.138.255.18</a:t>
            </a:r>
            <a:r>
              <a:rPr lang="en-US" altLang="zh-CN" sz="3600" dirty="0"/>
              <a:t>		#</a:t>
            </a:r>
            <a:r>
              <a:rPr lang="zh-CN" altLang="zh-CN" sz="3600" dirty="0"/>
              <a:t>逆向解析</a:t>
            </a:r>
          </a:p>
          <a:p>
            <a:pPr marL="0" indent="0" fontAlgn="ctr">
              <a:spcBef>
                <a:spcPts val="0"/>
              </a:spcBef>
              <a:spcAft>
                <a:spcPts val="0"/>
              </a:spcAft>
              <a:buFont typeface="Arial" panose="020B0604020202020204" pitchFamily="34" charset="0"/>
              <a:buNone/>
              <a:defRPr/>
            </a:pPr>
            <a:r>
              <a:rPr lang="en-US" altLang="zh-CN" sz="3600" dirty="0" err="1"/>
              <a:t>nslookup</a:t>
            </a:r>
            <a:r>
              <a:rPr lang="en-US" altLang="zh-CN" sz="3600" dirty="0"/>
              <a:t>/host</a:t>
            </a:r>
            <a:r>
              <a:rPr lang="zh-CN" altLang="zh-CN" sz="3600" dirty="0"/>
              <a:t>使用示例如下：</a:t>
            </a:r>
            <a:r>
              <a:rPr lang="en-US" altLang="zh-CN" sz="3600" dirty="0"/>
              <a:t> </a:t>
            </a:r>
            <a:endParaRPr lang="zh-CN" altLang="zh-CN" sz="3600" dirty="0"/>
          </a:p>
          <a:p>
            <a:pPr marL="0" indent="0">
              <a:spcBef>
                <a:spcPts val="0"/>
              </a:spcBef>
              <a:spcAft>
                <a:spcPts val="0"/>
              </a:spcAft>
              <a:buFont typeface="Arial" panose="020B0604020202020204" pitchFamily="34" charset="0"/>
              <a:buNone/>
              <a:defRPr/>
            </a:pPr>
            <a:r>
              <a:rPr lang="en-US" altLang="zh-CN" sz="3600" dirty="0"/>
              <a:t>#</a:t>
            </a:r>
            <a:r>
              <a:rPr lang="en-US" altLang="zh-CN" sz="3600" dirty="0" err="1"/>
              <a:t>nslookup</a:t>
            </a:r>
            <a:r>
              <a:rPr lang="en-US" altLang="zh-CN" sz="3600" dirty="0"/>
              <a:t> www.hncj.edu.cn	</a:t>
            </a:r>
          </a:p>
          <a:p>
            <a:pPr marL="0" indent="0">
              <a:spcBef>
                <a:spcPts val="0"/>
              </a:spcBef>
              <a:spcAft>
                <a:spcPts val="0"/>
              </a:spcAft>
              <a:buFont typeface="Arial" panose="020B0604020202020204" pitchFamily="34" charset="0"/>
              <a:buNone/>
              <a:defRPr/>
            </a:pPr>
            <a:r>
              <a:rPr lang="en-US" altLang="zh-CN" sz="3600" dirty="0"/>
              <a:t>                  #</a:t>
            </a:r>
            <a:r>
              <a:rPr lang="zh-CN" altLang="zh-CN" sz="3600" dirty="0"/>
              <a:t>直接查询：</a:t>
            </a:r>
            <a:r>
              <a:rPr lang="zh-CN" altLang="zh-CN" sz="3600" dirty="0">
                <a:solidFill>
                  <a:srgbClr val="FF0000"/>
                </a:solidFill>
              </a:rPr>
              <a:t>正向</a:t>
            </a:r>
          </a:p>
          <a:p>
            <a:pPr marL="0" indent="0">
              <a:spcBef>
                <a:spcPts val="0"/>
              </a:spcBef>
              <a:spcAft>
                <a:spcPts val="0"/>
              </a:spcAft>
              <a:buFont typeface="Arial" panose="020B0604020202020204" pitchFamily="34" charset="0"/>
              <a:buNone/>
              <a:defRPr/>
            </a:pPr>
            <a:r>
              <a:rPr lang="en-US" altLang="zh-CN" sz="3600" dirty="0"/>
              <a:t>#</a:t>
            </a:r>
            <a:r>
              <a:rPr lang="en-US" altLang="zh-CN" sz="3600" dirty="0" err="1"/>
              <a:t>nslookup</a:t>
            </a:r>
            <a:r>
              <a:rPr lang="en-US" altLang="zh-CN" sz="3600" dirty="0"/>
              <a:t> 202.196.233.254	</a:t>
            </a:r>
          </a:p>
          <a:p>
            <a:pPr marL="0" indent="0">
              <a:spcBef>
                <a:spcPts val="0"/>
              </a:spcBef>
              <a:spcAft>
                <a:spcPts val="0"/>
              </a:spcAft>
              <a:buFont typeface="Arial" panose="020B0604020202020204" pitchFamily="34" charset="0"/>
              <a:buNone/>
              <a:defRPr/>
            </a:pPr>
            <a:r>
              <a:rPr lang="en-US" altLang="zh-CN" sz="3600" dirty="0"/>
              <a:t>                   #</a:t>
            </a:r>
            <a:r>
              <a:rPr lang="zh-CN" altLang="zh-CN" sz="3600" dirty="0"/>
              <a:t>直接查询：</a:t>
            </a:r>
            <a:r>
              <a:rPr lang="zh-CN" altLang="zh-CN" sz="3600" dirty="0">
                <a:solidFill>
                  <a:srgbClr val="FF0000"/>
                </a:solidFill>
              </a:rPr>
              <a:t>逆向</a:t>
            </a:r>
          </a:p>
          <a:p>
            <a:pPr marL="0" indent="0">
              <a:spcBef>
                <a:spcPts val="0"/>
              </a:spcBef>
              <a:spcAft>
                <a:spcPts val="0"/>
              </a:spcAft>
              <a:buFont typeface="Arial" panose="020B0604020202020204" pitchFamily="34" charset="0"/>
              <a:buNone/>
              <a:defRPr/>
            </a:pPr>
            <a:r>
              <a:rPr lang="en-US" altLang="zh-CN" sz="3600" dirty="0"/>
              <a:t>#</a:t>
            </a:r>
            <a:r>
              <a:rPr lang="en-US" altLang="zh-CN" sz="3600" dirty="0" err="1"/>
              <a:t>nslookup</a:t>
            </a:r>
            <a:r>
              <a:rPr lang="en-US" altLang="zh-CN" sz="3600" dirty="0"/>
              <a:t>			#</a:t>
            </a:r>
            <a:r>
              <a:rPr lang="zh-CN" altLang="zh-CN" sz="3600" dirty="0"/>
              <a:t>进入</a:t>
            </a:r>
            <a:r>
              <a:rPr lang="en-US" altLang="zh-CN" sz="3600" dirty="0" err="1"/>
              <a:t>nslookup</a:t>
            </a:r>
            <a:r>
              <a:rPr lang="zh-CN" altLang="zh-CN" sz="3600" dirty="0"/>
              <a:t>交互界面</a:t>
            </a:r>
            <a:endParaRPr lang="zh-CN" altLang="en-US" sz="3600" dirty="0"/>
          </a:p>
        </p:txBody>
      </p:sp>
      <p:pic>
        <p:nvPicPr>
          <p:cNvPr id="2" name="图片 1">
            <a:extLst>
              <a:ext uri="{FF2B5EF4-FFF2-40B4-BE49-F238E27FC236}">
                <a16:creationId xmlns:a16="http://schemas.microsoft.com/office/drawing/2014/main" id="{38DFF44D-12EA-E3A7-57A2-9536AFD964A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7950" y="620713"/>
            <a:ext cx="89281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A0AACADB-E4FD-8D2A-0C54-AD262AD0888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338" y="2636838"/>
            <a:ext cx="9002712"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fltVal val="0"/>
                                          </p:val>
                                        </p:tav>
                                        <p:tav tm="100000">
                                          <p:val>
                                            <p:strVal val="#ppt_w"/>
                                          </p:val>
                                        </p:tav>
                                      </p:tavLst>
                                    </p:anim>
                                    <p:anim calcmode="lin" valueType="num">
                                      <p:cBhvr>
                                        <p:cTn id="13" dur="1000" fill="hold"/>
                                        <p:tgtEl>
                                          <p:spTgt spid="3"/>
                                        </p:tgtEl>
                                        <p:attrNameLst>
                                          <p:attrName>ppt_h</p:attrName>
                                        </p:attrNameLst>
                                      </p:cBhvr>
                                      <p:tavLst>
                                        <p:tav tm="0">
                                          <p:val>
                                            <p:fltVal val="0"/>
                                          </p:val>
                                        </p:tav>
                                        <p:tav tm="100000">
                                          <p:val>
                                            <p:strVal val="#ppt_h"/>
                                          </p:val>
                                        </p:tav>
                                      </p:tavLst>
                                    </p:anim>
                                    <p:anim calcmode="lin" valueType="num">
                                      <p:cBhvr>
                                        <p:cTn id="14" dur="1000" fill="hold"/>
                                        <p:tgtEl>
                                          <p:spTgt spid="3"/>
                                        </p:tgtEl>
                                        <p:attrNameLst>
                                          <p:attrName>style.rotation</p:attrName>
                                        </p:attrNameLst>
                                      </p:cBhvr>
                                      <p:tavLst>
                                        <p:tav tm="0">
                                          <p:val>
                                            <p:fltVal val="90"/>
                                          </p:val>
                                        </p:tav>
                                        <p:tav tm="100000">
                                          <p:val>
                                            <p:fltVal val="0"/>
                                          </p:val>
                                        </p:tav>
                                      </p:tavLst>
                                    </p:anim>
                                    <p:animEffect transition="in" filter="fade">
                                      <p:cBhvr>
                                        <p:cTn id="15"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标题 1">
            <a:extLst>
              <a:ext uri="{FF2B5EF4-FFF2-40B4-BE49-F238E27FC236}">
                <a16:creationId xmlns:a16="http://schemas.microsoft.com/office/drawing/2014/main" id="{38733F1D-9470-AB19-84B5-AA0BE05CD2F8}"/>
              </a:ext>
            </a:extLst>
          </p:cNvPr>
          <p:cNvSpPr>
            <a:spLocks noGrp="1" noChangeArrowheads="1"/>
          </p:cNvSpPr>
          <p:nvPr>
            <p:ph type="title"/>
          </p:nvPr>
        </p:nvSpPr>
        <p:spPr>
          <a:xfrm>
            <a:off x="179388" y="44450"/>
            <a:ext cx="8134350" cy="504825"/>
          </a:xfrm>
        </p:spPr>
        <p:txBody>
          <a:bodyPr/>
          <a:lstStyle/>
          <a:p>
            <a:r>
              <a:rPr lang="en-US" altLang="zh-CN"/>
              <a:t>9.2.9  </a:t>
            </a:r>
            <a:r>
              <a:rPr lang="zh-CN" altLang="zh-CN"/>
              <a:t>网络路由跟踪（</a:t>
            </a:r>
            <a:r>
              <a:rPr lang="en-US" altLang="zh-CN"/>
              <a:t>traceroute</a:t>
            </a:r>
            <a:r>
              <a:rPr lang="zh-CN" altLang="zh-CN"/>
              <a:t>）</a:t>
            </a:r>
            <a:endParaRPr lang="zh-CN" altLang="en-US"/>
          </a:p>
        </p:txBody>
      </p:sp>
      <p:sp>
        <p:nvSpPr>
          <p:cNvPr id="49155" name="内容占位符 2">
            <a:extLst>
              <a:ext uri="{FF2B5EF4-FFF2-40B4-BE49-F238E27FC236}">
                <a16:creationId xmlns:a16="http://schemas.microsoft.com/office/drawing/2014/main" id="{2ED78D22-3BBF-2710-D6D0-460EE98C2338}"/>
              </a:ext>
            </a:extLst>
          </p:cNvPr>
          <p:cNvSpPr>
            <a:spLocks noGrp="1" noChangeArrowheads="1"/>
          </p:cNvSpPr>
          <p:nvPr>
            <p:ph idx="1"/>
          </p:nvPr>
        </p:nvSpPr>
        <p:spPr>
          <a:xfrm>
            <a:off x="34925" y="581025"/>
            <a:ext cx="9109075" cy="5800725"/>
          </a:xfrm>
        </p:spPr>
        <p:txBody>
          <a:bodyPr/>
          <a:lstStyle/>
          <a:p>
            <a:pPr fontAlgn="ctr">
              <a:spcBef>
                <a:spcPct val="0"/>
              </a:spcBef>
              <a:spcAft>
                <a:spcPct val="0"/>
              </a:spcAft>
            </a:pPr>
            <a:r>
              <a:rPr lang="en-US" altLang="zh-CN" sz="3600">
                <a:solidFill>
                  <a:srgbClr val="FF0000"/>
                </a:solidFill>
              </a:rPr>
              <a:t>traceroute</a:t>
            </a:r>
            <a:r>
              <a:rPr lang="zh-CN" altLang="zh-CN" sz="3600"/>
              <a:t>是一个</a:t>
            </a:r>
            <a:r>
              <a:rPr lang="zh-CN" altLang="zh-CN" sz="3600">
                <a:solidFill>
                  <a:srgbClr val="FF0000"/>
                </a:solidFill>
              </a:rPr>
              <a:t>通用的</a:t>
            </a:r>
            <a:r>
              <a:rPr lang="en-US" altLang="zh-CN" sz="3600">
                <a:solidFill>
                  <a:srgbClr val="FF0000"/>
                </a:solidFill>
              </a:rPr>
              <a:t>TCP/IP</a:t>
            </a:r>
            <a:r>
              <a:rPr lang="zh-CN" altLang="zh-CN" sz="3600">
                <a:solidFill>
                  <a:srgbClr val="FF0000"/>
                </a:solidFill>
              </a:rPr>
              <a:t>工具</a:t>
            </a:r>
            <a:r>
              <a:rPr lang="zh-CN" altLang="zh-CN" sz="3600"/>
              <a:t>，它能</a:t>
            </a:r>
            <a:r>
              <a:rPr lang="zh-CN" altLang="zh-CN" sz="3600">
                <a:solidFill>
                  <a:srgbClr val="FF0000"/>
                </a:solidFill>
              </a:rPr>
              <a:t>显示数据包从本地机到达目标机时经过的所有路由器</a:t>
            </a:r>
            <a:r>
              <a:rPr lang="zh-CN" altLang="zh-CN" sz="3600"/>
              <a:t>。由于</a:t>
            </a:r>
            <a:r>
              <a:rPr lang="en-US" altLang="zh-CN" sz="3600"/>
              <a:t>traceroute</a:t>
            </a:r>
            <a:r>
              <a:rPr lang="zh-CN" altLang="zh-CN" sz="3600"/>
              <a:t>会人为地给网络造成一些通信负担，所有它主要被系统或网络管理员作为一个简单而有效的网络手工查错工具使用，普通用户最好少用。尽管如此，</a:t>
            </a:r>
            <a:r>
              <a:rPr lang="en-US" altLang="zh-CN" sz="3600">
                <a:solidFill>
                  <a:srgbClr val="FF0000"/>
                </a:solidFill>
              </a:rPr>
              <a:t>traceroute</a:t>
            </a:r>
            <a:r>
              <a:rPr lang="zh-CN" altLang="zh-CN" sz="3600">
                <a:solidFill>
                  <a:srgbClr val="FF0000"/>
                </a:solidFill>
              </a:rPr>
              <a:t>对于用户了解</a:t>
            </a:r>
            <a:r>
              <a:rPr lang="en-US" altLang="zh-CN" sz="3600">
                <a:solidFill>
                  <a:srgbClr val="FF0000"/>
                </a:solidFill>
              </a:rPr>
              <a:t>Internet</a:t>
            </a:r>
            <a:r>
              <a:rPr lang="zh-CN" altLang="zh-CN" sz="3600">
                <a:solidFill>
                  <a:srgbClr val="FF0000"/>
                </a:solidFill>
              </a:rPr>
              <a:t>的结构，了解自身的网络故障会有很大帮助，</a:t>
            </a:r>
            <a:r>
              <a:rPr lang="zh-CN" altLang="zh-CN" sz="3600"/>
              <a:t>其基本用法为</a:t>
            </a:r>
            <a:r>
              <a:rPr lang="en-US" altLang="zh-CN" sz="3600"/>
              <a:t> </a:t>
            </a:r>
            <a:endParaRPr lang="zh-CN" altLang="zh-CN" sz="3600"/>
          </a:p>
          <a:p>
            <a:pPr>
              <a:spcBef>
                <a:spcPct val="0"/>
              </a:spcBef>
              <a:spcAft>
                <a:spcPct val="0"/>
              </a:spcAft>
            </a:pPr>
            <a:r>
              <a:rPr lang="en-US" altLang="zh-CN" sz="3600"/>
              <a:t>traceroute [</a:t>
            </a:r>
            <a:r>
              <a:rPr lang="zh-CN" altLang="zh-CN" sz="3600"/>
              <a:t>域名</a:t>
            </a:r>
            <a:r>
              <a:rPr lang="en-US" altLang="zh-CN" sz="3600"/>
              <a:t>/IP</a:t>
            </a:r>
            <a:r>
              <a:rPr lang="zh-CN" altLang="zh-CN" sz="3600"/>
              <a:t>地址</a:t>
            </a:r>
            <a:r>
              <a:rPr lang="en-US" altLang="zh-CN" sz="3600"/>
              <a:t>]</a:t>
            </a:r>
            <a:endParaRPr lang="zh-CN" altLang="zh-CN" sz="3600"/>
          </a:p>
          <a:p>
            <a:pPr>
              <a:lnSpc>
                <a:spcPct val="150000"/>
              </a:lnSpc>
            </a:pPr>
            <a:endParaRPr lang="zh-CN" altLang="en-US"/>
          </a:p>
        </p:txBody>
      </p:sp>
      <p:pic>
        <p:nvPicPr>
          <p:cNvPr id="49156" name="图片 1">
            <a:extLst>
              <a:ext uri="{FF2B5EF4-FFF2-40B4-BE49-F238E27FC236}">
                <a16:creationId xmlns:a16="http://schemas.microsoft.com/office/drawing/2014/main" id="{2D57F9A2-E871-A8B8-D045-08C5F886E25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925" y="581025"/>
            <a:ext cx="9074150" cy="572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内容占位符 2">
            <a:extLst>
              <a:ext uri="{FF2B5EF4-FFF2-40B4-BE49-F238E27FC236}">
                <a16:creationId xmlns:a16="http://schemas.microsoft.com/office/drawing/2014/main" id="{775046EC-69F1-C04B-96B4-B87CF99AB767}"/>
              </a:ext>
            </a:extLst>
          </p:cNvPr>
          <p:cNvSpPr>
            <a:spLocks noGrp="1" noChangeArrowheads="1"/>
          </p:cNvSpPr>
          <p:nvPr>
            <p:ph idx="1"/>
          </p:nvPr>
        </p:nvSpPr>
        <p:spPr/>
        <p:txBody>
          <a:bodyPr/>
          <a:lstStyle/>
          <a:p>
            <a:r>
              <a:rPr lang="zh-CN" altLang="en-US"/>
              <a:t>作业 课后习题</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AR PL SungtiL GB"/>
        <a:ea typeface="华文新魏"/>
        <a:cs typeface=""/>
      </a:majorFont>
      <a:minorFont>
        <a:latin typeface="AR PL SungtiL GB"/>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987425" marR="0" indent="-357188" algn="l" defTabSz="449263" rtl="0" eaLnBrk="1" fontAlgn="base" latinLnBrk="0" hangingPunct="1">
          <a:lnSpc>
            <a:spcPct val="100000"/>
          </a:lnSpc>
          <a:spcBef>
            <a:spcPts val="800"/>
          </a:spcBef>
          <a:spcAft>
            <a:spcPts val="800"/>
          </a:spcAft>
          <a:buClr>
            <a:srgbClr val="000000"/>
          </a:buClr>
          <a:buSzTx/>
          <a:buFont typeface="Arial" panose="020B0604020202020204" pitchFamily="34" charset="0"/>
          <a:buBlip>
            <a:blip xmlns:r="http://schemas.openxmlformats.org/officeDocument/2006/relationships" r:embed="rId1"/>
          </a:buBlip>
          <a:tabLst/>
          <a:defRPr kumimoji="0" lang="en-GB" sz="2800" b="1" i="0" u="none" strike="noStrike" cap="none" normalizeH="0" baseline="0" smtClean="0">
            <a:ln>
              <a:noFill/>
            </a:ln>
            <a:solidFill>
              <a:srgbClr val="000000"/>
            </a:solidFill>
            <a:effectLst/>
            <a:latin typeface="AR PL SungtiL GB" charset="0"/>
            <a:ea typeface="宋体" panose="02010600030101010101"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themeOverride>
</file>

<file path=docProps/app.xml><?xml version="1.0" encoding="utf-8"?>
<Properties xmlns="http://schemas.openxmlformats.org/officeDocument/2006/extended-properties" xmlns:vt="http://schemas.openxmlformats.org/officeDocument/2006/docPropsVTypes">
  <TotalTime>3966</TotalTime>
  <Words>4974</Words>
  <Application>Microsoft Office PowerPoint</Application>
  <PresentationFormat>全屏显示(4:3)</PresentationFormat>
  <Paragraphs>333</Paragraphs>
  <Slides>44</Slides>
  <Notes>1</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44</vt:i4>
      </vt:variant>
    </vt:vector>
  </HeadingPairs>
  <TitlesOfParts>
    <vt:vector size="51" baseType="lpstr">
      <vt:lpstr>AR PL SungtiL GB</vt:lpstr>
      <vt:lpstr>华文新魏</vt:lpstr>
      <vt:lpstr>Arial</vt:lpstr>
      <vt:lpstr>Times New Roman</vt:lpstr>
      <vt:lpstr>Wingdings</vt:lpstr>
      <vt:lpstr>默认设计模板</vt:lpstr>
      <vt:lpstr>自定义设计方案</vt:lpstr>
      <vt:lpstr>PowerPoint 演示文稿</vt:lpstr>
      <vt:lpstr>PowerPoint 演示文稿</vt:lpstr>
      <vt:lpstr>9.1 TCP/IP基础知识</vt:lpstr>
      <vt:lpstr>9.1.1  IP地址</vt:lpstr>
      <vt:lpstr>9.1.1  IP地址</vt:lpstr>
      <vt:lpstr>9.1.1  IP地址</vt:lpstr>
      <vt:lpstr>9.1.1  IP地址</vt:lpstr>
      <vt:lpstr>9.1.2  端口及服务</vt:lpstr>
      <vt:lpstr>9.1.2  端口及服务</vt:lpstr>
      <vt:lpstr>9.1.3  物理地址与逻辑地址</vt:lpstr>
      <vt:lpstr>9.1.3  物理地址与逻辑地址</vt:lpstr>
      <vt:lpstr>9.1.4  主机名及设置</vt:lpstr>
      <vt:lpstr>9.1.4  主机名及设置</vt:lpstr>
      <vt:lpstr>9.1.5  网卡命名方案</vt:lpstr>
      <vt:lpstr>9.1.5  网卡命名方案</vt:lpstr>
      <vt:lpstr>9.1.5  网卡命名方案</vt:lpstr>
      <vt:lpstr>9.2  网络管理命令</vt:lpstr>
      <vt:lpstr>9.2.1  测试网络是否通（ping）</vt:lpstr>
      <vt:lpstr>9.2.2  检查网络状态（netstat）</vt:lpstr>
      <vt:lpstr>9.2.2  检查网络状态（netstat）</vt:lpstr>
      <vt:lpstr>9.2.2  检查网络状态（netstat）</vt:lpstr>
      <vt:lpstr>9.2.2  检查网络状态（netstat）</vt:lpstr>
      <vt:lpstr>9.2.2  检查网络状态（netstat）</vt:lpstr>
      <vt:lpstr>9.2.3  地址解析协议缓存中的项目管理（arp）</vt:lpstr>
      <vt:lpstr>9.2.3  地址解析协议缓存中的项目管理（arp）</vt:lpstr>
      <vt:lpstr>9.2.4  网络接口配置（ifconfig）</vt:lpstr>
      <vt:lpstr>9.2.4  网络接口配置（ifconfig）</vt:lpstr>
      <vt:lpstr>9.2.4  网络接口配置（ifconfig）</vt:lpstr>
      <vt:lpstr>9.2.4  网络接口配置（ifconfig）</vt:lpstr>
      <vt:lpstr>9.2.4  网络接口配置（ifconfig）</vt:lpstr>
      <vt:lpstr>9.2.5  网络IP管理（ip）</vt:lpstr>
      <vt:lpstr>9.2.5  网络IP管理（ip）</vt:lpstr>
      <vt:lpstr>9.2.5  网络IP管理（ip）</vt:lpstr>
      <vt:lpstr>9.2.5  网络IP管理（ip）</vt:lpstr>
      <vt:lpstr>9.2.6  网络接口的启用与停止（ifup/ifdown）</vt:lpstr>
      <vt:lpstr>9.2.7  路由表维护（route）</vt:lpstr>
      <vt:lpstr>9.2.7  路由表维护（route）</vt:lpstr>
      <vt:lpstr>9.2.7  路由表维护（route）</vt:lpstr>
      <vt:lpstr>9.2.7  路由表维护（route）</vt:lpstr>
      <vt:lpstr>9.2.7  路由表维护（route）</vt:lpstr>
      <vt:lpstr>9.2.8  主机及地址查询（nslookup/host）</vt:lpstr>
      <vt:lpstr>9.2.8  主机及地址查询（nslookup/host）</vt:lpstr>
      <vt:lpstr>9.2.9  网络路由跟踪（traceroute）</vt:lpstr>
      <vt:lpstr>PowerPoint 演示文稿</vt:lpstr>
    </vt:vector>
  </TitlesOfParts>
  <Company>黑龙江大学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Linux操作系统</dc:title>
  <dc:creator>青巴图</dc:creator>
  <cp:lastModifiedBy>yude bai</cp:lastModifiedBy>
  <cp:revision>338</cp:revision>
  <dcterms:modified xsi:type="dcterms:W3CDTF">2025-08-11T09:58:56Z</dcterms:modified>
</cp:coreProperties>
</file>