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68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9" r:id="rId44"/>
    <p:sldId id="310" r:id="rId45"/>
    <p:sldId id="333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6" r:id="rId60"/>
    <p:sldId id="327" r:id="rId61"/>
    <p:sldId id="328" r:id="rId62"/>
    <p:sldId id="329" r:id="rId63"/>
    <p:sldId id="330" r:id="rId64"/>
    <p:sldId id="331" r:id="rId65"/>
    <p:sldId id="332" r:id="rId66"/>
    <p:sldId id="334" r:id="rId6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DDDDDD"/>
    <a:srgbClr val="C0C0C0"/>
    <a:srgbClr val="969696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 autoAdjust="0"/>
  </p:normalViewPr>
  <p:slideViewPr>
    <p:cSldViewPr>
      <p:cViewPr varScale="1">
        <p:scale>
          <a:sx n="110" d="100"/>
          <a:sy n="110" d="100"/>
        </p:scale>
        <p:origin x="1644" y="7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:a16="http://schemas.microsoft.com/office/drawing/2014/main" id="{C10EA4F6-2155-30B7-9206-56A85B849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099" name="AutoShape 2">
            <a:extLst>
              <a:ext uri="{FF2B5EF4-FFF2-40B4-BE49-F238E27FC236}">
                <a16:creationId xmlns:a16="http://schemas.microsoft.com/office/drawing/2014/main" id="{7B15CEA9-8BCB-8F68-1BB7-5D75EBAA7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0" name="AutoShape 3">
            <a:extLst>
              <a:ext uri="{FF2B5EF4-FFF2-40B4-BE49-F238E27FC236}">
                <a16:creationId xmlns:a16="http://schemas.microsoft.com/office/drawing/2014/main" id="{80753832-834A-06BF-35FB-D56442EE3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1" name="AutoShape 4">
            <a:extLst>
              <a:ext uri="{FF2B5EF4-FFF2-40B4-BE49-F238E27FC236}">
                <a16:creationId xmlns:a16="http://schemas.microsoft.com/office/drawing/2014/main" id="{D3ECAAF7-6831-EDE7-4DD7-FB602F1C1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2" name="AutoShape 5">
            <a:extLst>
              <a:ext uri="{FF2B5EF4-FFF2-40B4-BE49-F238E27FC236}">
                <a16:creationId xmlns:a16="http://schemas.microsoft.com/office/drawing/2014/main" id="{2D7B80FB-E2FC-6D98-8447-EBE82B61A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3" name="AutoShape 6">
            <a:extLst>
              <a:ext uri="{FF2B5EF4-FFF2-40B4-BE49-F238E27FC236}">
                <a16:creationId xmlns:a16="http://schemas.microsoft.com/office/drawing/2014/main" id="{D0D9CDB8-8050-C654-1D8D-9D1F21AAD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4" name="AutoShape 7">
            <a:extLst>
              <a:ext uri="{FF2B5EF4-FFF2-40B4-BE49-F238E27FC236}">
                <a16:creationId xmlns:a16="http://schemas.microsoft.com/office/drawing/2014/main" id="{1365014E-1DF8-B793-A582-9C5ED408E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5" name="AutoShape 8">
            <a:extLst>
              <a:ext uri="{FF2B5EF4-FFF2-40B4-BE49-F238E27FC236}">
                <a16:creationId xmlns:a16="http://schemas.microsoft.com/office/drawing/2014/main" id="{CF0CC419-A562-A5C1-2D73-F0338FACD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6" name="AutoShape 9">
            <a:extLst>
              <a:ext uri="{FF2B5EF4-FFF2-40B4-BE49-F238E27FC236}">
                <a16:creationId xmlns:a16="http://schemas.microsoft.com/office/drawing/2014/main" id="{FB6269D8-0323-E4F4-C295-67B64AAD5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7" name="AutoShape 10">
            <a:extLst>
              <a:ext uri="{FF2B5EF4-FFF2-40B4-BE49-F238E27FC236}">
                <a16:creationId xmlns:a16="http://schemas.microsoft.com/office/drawing/2014/main" id="{13E1A66D-D8EF-C45C-4642-9FDE97532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8" name="AutoShape 11">
            <a:extLst>
              <a:ext uri="{FF2B5EF4-FFF2-40B4-BE49-F238E27FC236}">
                <a16:creationId xmlns:a16="http://schemas.microsoft.com/office/drawing/2014/main" id="{67C39A58-FA87-8059-6C31-FD2B214E4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9" name="AutoShape 12">
            <a:extLst>
              <a:ext uri="{FF2B5EF4-FFF2-40B4-BE49-F238E27FC236}">
                <a16:creationId xmlns:a16="http://schemas.microsoft.com/office/drawing/2014/main" id="{6C71469E-9A6B-AC82-0802-2FDACA616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10" name="Rectangle 13">
            <a:extLst>
              <a:ext uri="{FF2B5EF4-FFF2-40B4-BE49-F238E27FC236}">
                <a16:creationId xmlns:a16="http://schemas.microsoft.com/office/drawing/2014/main" id="{FF030B98-1B4D-DE2B-60E9-8A91A237D70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 bwMode="auto">
          <a:xfrm>
            <a:off x="0" y="303213"/>
            <a:ext cx="1588" cy="58340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CA978B03-BAA4-EC40-FBFD-E0A87587672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51241A6B-D405-71A5-6610-104334D6270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0" y="303213"/>
            <a:ext cx="1588" cy="1587"/>
          </a:xfrm>
          <a:ln/>
        </p:spPr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ED349243-12C5-3244-A770-51A6A944FAE7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68CD0D25-EA74-7238-9081-C6C8836C4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8275"/>
            <a:ext cx="9144000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《Linux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系统与安全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》 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天津工业大学大学软件学院  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2023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年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10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月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10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日星期二</a:t>
            </a:r>
            <a:endParaRPr lang="en-US" altLang="zh-CN" sz="1800" dirty="0">
              <a:solidFill>
                <a:schemeClr val="accent2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CEA15E7D-3027-E124-1ACD-7C03C45EA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25" y="6496050"/>
            <a:ext cx="1730375" cy="3476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第</a:t>
            </a:r>
            <a:fld id="{10BEBD56-C200-4C03-B5BF-7172AAA3C5E1}" type="slidenum">
              <a:rPr lang="zh-CN" altLang="en-US" sz="1800" smtClean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pPr algn="r" eaLnBrk="1" hangingPunct="1">
                <a:defRPr/>
              </a:pPr>
              <a:t>‹#›</a:t>
            </a:fld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页</a:t>
            </a:r>
          </a:p>
        </p:txBody>
      </p:sp>
      <p:sp>
        <p:nvSpPr>
          <p:cNvPr id="265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lnSpc>
                <a:spcPct val="100000"/>
              </a:lnSpc>
              <a:buFont typeface="Times New Roman" panose="02020603050405020304" pitchFamily="18" charset="0"/>
              <a:buNone/>
              <a:defRPr sz="4400" b="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342900" indent="-342900">
              <a:spcBef>
                <a:spcPct val="20000"/>
              </a:spcBef>
              <a:buFont typeface="Times New Roman" panose="02020603050405020304" pitchFamily="18" charset="0"/>
              <a:buBlip>
                <a:blip r:embed="rId2"/>
              </a:buBlip>
              <a:defRPr b="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31690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9354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2519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645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620713"/>
            <a:ext cx="4027488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7088" y="620713"/>
            <a:ext cx="4029075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43707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0586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423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00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15401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4345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69592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381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381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97223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620713"/>
            <a:ext cx="4027488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7088" y="620713"/>
            <a:ext cx="4029075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5921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AC92A1-38CD-AAFE-70B5-59DC9E62A7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0AC584-DFE2-DA3A-FB99-FFC98C2929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DD1863-623B-59A7-ECA8-959169B21A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2FD5D-BE66-4D24-8797-EC8F638F82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3666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C8CCCB-C71F-20B5-4D7E-DCC26E0389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7ADEFB-1785-684C-3A4E-768ECEF791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E1C2EF-737B-1185-9CB0-EA2FEB396F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CBC3E-F123-4968-B1A1-2879613F374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9990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255D44-43DA-8668-996C-AFC99F5C44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FF2F98-EC56-CB83-0E29-6BE7272C35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F3BE98-AB88-B7BC-3F53-CB6BF7B8CC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3AE1A1-AA49-4F10-A780-58EDF05FDE3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1912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ED59EC-5355-1323-E820-34CEBE15E4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351A50-57E2-E5F4-AE07-49A3E92769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064920-96CD-DA42-553B-D691E672EF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55B8D0-B3B3-4AEE-9DAF-6FB3CC7444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69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4ED49E-75C4-823D-8570-0F6B5C274D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9FA35F4-A553-8DF0-F113-7AAD0A72F4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B709B79-5B9F-7C4B-E035-EB8148B21A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7AD48-D079-4C36-B7EF-3F0013357C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13744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5FEC720-15EC-BE1D-46A8-111D3E9DE6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24597B-32C0-CA3C-D52D-CB674323AE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D3F88C8-3BDC-0FB2-1DCF-EC1EE8503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55080-4A7C-4D60-A3D0-F79CEE9A3D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48310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DE099D2-F57B-E54A-1448-B497F4AA7E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CFD763D-94D6-BC8F-A367-3FEAC3FA78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8429248-776E-C6A7-A4AC-ED0FCA0717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916E8-635E-4068-9C43-32014D4E70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79784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0DE5A-D145-7006-7792-3F6A70DAD5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822D3E-1B11-43C5-76F9-349B569B4A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486D16-5E58-18FE-D66E-DE3B9AC47D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9F7D2-BF76-45F6-96F6-36F34C2E285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26803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2608B-3059-0B12-AE19-C217AA32A9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DE9981-2FF7-6FB8-A2E0-90870D8503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77D03A-E83C-1166-CEAB-D5B5D39BFF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85FBD-DDE2-4383-9F46-0A90E68E87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00216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D5B0DE-7D3A-5B89-79BB-A4688A6E7D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176CB5-5264-12C2-9AEE-EAF377B9C3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3B2DB6-14FB-AFB3-9C45-5FEBE375D6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E0C69-9C05-4A4F-B479-C4C8501FD8C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5264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8991E4-0B41-853A-CA9A-53F1FD7631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76A2E7-E316-95ED-2F2E-11A3B76CEB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3E1926-04C0-3A51-7529-DD10C0AA6F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2FB15-7A0A-49AB-A8F4-A85FD23BAC1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752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2D218EF-1FA3-D16F-E3EE-9D613F86A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请您按击鼠标，编辑标题文的格式。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AA10F7-880A-3ECE-9450-AA5FD21E8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620713"/>
            <a:ext cx="8208963" cy="576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请您按击鼠标，编辑大纲正文格式。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第三个大纲级</a:t>
            </a:r>
          </a:p>
          <a:p>
            <a:pPr lvl="3"/>
            <a:r>
              <a:rPr lang="zh-CN" altLang="en-GB"/>
              <a:t>第四个大纲级</a:t>
            </a:r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9EBC75F2-A561-14C9-9A71-CDF2A24B7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8275"/>
            <a:ext cx="9144000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《Linux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系统与安全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》 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天津工业大学大学软件学院 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2023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年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10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月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10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日星期二</a:t>
            </a:r>
            <a:endParaRPr lang="en-US" altLang="zh-CN" sz="1800" dirty="0">
              <a:solidFill>
                <a:schemeClr val="accent2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C4E5FB9-030B-DEDE-A2DD-186B68E06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25" y="6496050"/>
            <a:ext cx="1730375" cy="3476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第</a:t>
            </a:r>
            <a:fld id="{E719A5B0-1B34-4D10-A43D-E70AC403162D}" type="slidenum">
              <a:rPr lang="zh-CN" altLang="en-US" sz="1800" smtClean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pPr algn="r" eaLnBrk="1" hangingPunct="1">
                <a:defRPr/>
              </a:pPr>
              <a:t>‹#›</a:t>
            </a:fld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页</a:t>
            </a:r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68EF4FB6-34DB-78CD-4B58-6CA13F68C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549275"/>
            <a:ext cx="9144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7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84" r:id="rId11"/>
    <p:sldLayoutId id="2147483985" r:id="rId12"/>
    <p:sldLayoutId id="2147483986" r:id="rId13"/>
  </p:sldLayoutIdLst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2pPr>
      <a:lvl3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3pPr>
      <a:lvl4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4pPr>
      <a:lvl5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450850" indent="-450850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Font typeface="Arial" panose="020B0604020202020204" pitchFamily="34" charset="0"/>
        <a:buBlip>
          <a:blip r:embed="rId16"/>
        </a:buBlip>
        <a:defRPr sz="2800" b="1" kern="1200">
          <a:solidFill>
            <a:srgbClr val="000000"/>
          </a:solidFill>
          <a:latin typeface="+mn-lt"/>
          <a:ea typeface="+mn-ea"/>
          <a:cs typeface="+mn-cs"/>
        </a:defRPr>
      </a:lvl1pPr>
      <a:lvl2pPr marL="987425" indent="-357188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Font typeface="Arial" panose="020B0604020202020204" pitchFamily="34" charset="0"/>
        <a:buBlip>
          <a:blip r:embed="rId17"/>
        </a:buBlip>
        <a:defRPr sz="2400" b="1" kern="1200">
          <a:solidFill>
            <a:srgbClr val="000000"/>
          </a:solidFill>
          <a:latin typeface="+mn-lt"/>
          <a:ea typeface="+mn-ea"/>
          <a:cs typeface="+mn-cs"/>
        </a:defRPr>
      </a:lvl2pPr>
      <a:lvl3pPr marL="1609725" indent="-357188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SzPct val="125000"/>
        <a:buFont typeface="Arial" panose="020B0604020202020204" pitchFamily="34" charset="0"/>
        <a:buBlip>
          <a:blip r:embed="rId18"/>
        </a:buBlip>
        <a:defRPr sz="2000" b="1" kern="1200">
          <a:solidFill>
            <a:srgbClr val="000000"/>
          </a:solidFill>
          <a:latin typeface="+mn-lt"/>
          <a:ea typeface="+mn-ea"/>
          <a:cs typeface="+mn-cs"/>
        </a:defRPr>
      </a:lvl3pPr>
      <a:lvl4pPr marL="2157413" indent="-368300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SzPct val="100000"/>
        <a:buFont typeface="Arial" panose="020B0604020202020204" pitchFamily="34" charset="0"/>
        <a:buBlip>
          <a:blip r:embed="rId19"/>
        </a:buBlip>
        <a:defRPr sz="2000" b="1" kern="120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4pPr>
      <a:lvl5pPr marL="2565400" indent="-228600" algn="l" defTabSz="449263" rtl="0" eaLnBrk="0" fontAlgn="base" hangingPunct="0">
        <a:spcBef>
          <a:spcPts val="338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»"/>
        <a:defRPr sz="2000" b="1" kern="120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80C339D-F4D1-5917-88DF-008A1BFF1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DAE6761-4B9A-DF6F-0273-52A6CE0BC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14372" name="Rectangle 4">
            <a:extLst>
              <a:ext uri="{FF2B5EF4-FFF2-40B4-BE49-F238E27FC236}">
                <a16:creationId xmlns:a16="http://schemas.microsoft.com/office/drawing/2014/main" id="{3036C620-2B1B-A7BA-2000-18EB6EBF4EF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4373" name="Rectangle 5">
            <a:extLst>
              <a:ext uri="{FF2B5EF4-FFF2-40B4-BE49-F238E27FC236}">
                <a16:creationId xmlns:a16="http://schemas.microsoft.com/office/drawing/2014/main" id="{E58A138C-5D23-255D-7E43-C081E382EB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4374" name="Rectangle 6">
            <a:extLst>
              <a:ext uri="{FF2B5EF4-FFF2-40B4-BE49-F238E27FC236}">
                <a16:creationId xmlns:a16="http://schemas.microsoft.com/office/drawing/2014/main" id="{9C611B9F-A7A1-54BA-5DFE-B2714726496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8871CF2-1980-48C2-9B47-46B307BE43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5640F92A-51DD-CC12-82EB-79A29BD4FEC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4213" y="3716338"/>
            <a:ext cx="7848600" cy="2592387"/>
          </a:xfrm>
        </p:spPr>
        <p:txBody>
          <a:bodyPr/>
          <a:lstStyle/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天津工业大学软件学院</a:t>
            </a:r>
          </a:p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张桂玲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2025.8</a:t>
            </a:r>
          </a:p>
        </p:txBody>
      </p:sp>
      <p:sp>
        <p:nvSpPr>
          <p:cNvPr id="3079" name="Rectangle 7" descr="花束">
            <a:extLst>
              <a:ext uri="{FF2B5EF4-FFF2-40B4-BE49-F238E27FC236}">
                <a16:creationId xmlns:a16="http://schemas.microsoft.com/office/drawing/2014/main" id="{23E8E712-C6DE-7DE2-0E0D-093DB568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196975"/>
            <a:ext cx="7632700" cy="158432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>
            <a:lvl1pPr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4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5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6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7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buNone/>
              <a:defRPr/>
            </a:pPr>
            <a:r>
              <a:rPr lang="en-US" altLang="zh-CN" sz="6000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Linux</a:t>
            </a:r>
            <a:r>
              <a:rPr lang="zh-CN" altLang="en-US" sz="600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系统与安全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5128">
            <a:extLst>
              <a:ext uri="{FF2B5EF4-FFF2-40B4-BE49-F238E27FC236}">
                <a16:creationId xmlns:a16="http://schemas.microsoft.com/office/drawing/2014/main" id="{D51DD460-036E-CA99-49EC-A0517A44E3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第4章用户、组和密码及安全管理</a:t>
            </a:r>
          </a:p>
        </p:txBody>
      </p:sp>
      <p:sp>
        <p:nvSpPr>
          <p:cNvPr id="7171" name="文本占位符 5129">
            <a:extLst>
              <a:ext uri="{FF2B5EF4-FFF2-40B4-BE49-F238E27FC236}">
                <a16:creationId xmlns:a16="http://schemas.microsoft.com/office/drawing/2014/main" id="{51EE5B38-0664-DEB1-5BC7-1148C7BF82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20713"/>
            <a:ext cx="9109075" cy="5761037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/>
              <a:t>4.1  </a:t>
            </a:r>
            <a:r>
              <a:rPr lang="en-US" altLang="zh-CN" sz="4400"/>
              <a:t>Linux</a:t>
            </a:r>
            <a:r>
              <a:rPr lang="zh-CN" altLang="en-US" sz="4400"/>
              <a:t>系统的用户和组与安全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/>
              <a:t>4.2  与用户和组管理相关的文件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/>
              <a:t>4.3  用户安全管理命令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/>
              <a:t>4.4  组安全管理命令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/>
              <a:t>4.5  密码的安全与管理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/>
              <a:t>4.</a:t>
            </a:r>
            <a:r>
              <a:rPr lang="en-US" altLang="zh-CN" sz="4400"/>
              <a:t>6</a:t>
            </a:r>
            <a:r>
              <a:rPr lang="zh-CN" altLang="en-US" sz="4400"/>
              <a:t> 与用户身份和位置相关的其他命令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10FA8CD3-F692-CC1E-D015-65EFE892E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4.1  UNIX系统的用户和组与安全</a:t>
            </a:r>
            <a:endParaRPr lang="zh-CN" altLang="en-US"/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4AB55D26-DCE2-5C70-A51A-0F91C3FD8C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36513" y="463550"/>
            <a:ext cx="9144001" cy="576103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对UNIX/Linux系统的</a:t>
            </a:r>
            <a:r>
              <a:rPr lang="zh-CN" altLang="en-US" sz="3600">
                <a:solidFill>
                  <a:srgbClr val="FF0000"/>
                </a:solidFill>
              </a:rPr>
              <a:t>管理与使用</a:t>
            </a:r>
            <a:r>
              <a:rPr lang="zh-CN" altLang="en-US" sz="3600"/>
              <a:t>是以</a:t>
            </a:r>
            <a:r>
              <a:rPr lang="zh-CN" altLang="en-US" sz="3600">
                <a:solidFill>
                  <a:srgbClr val="FF0000"/>
                </a:solidFill>
              </a:rPr>
              <a:t>用户（user）为主体</a:t>
            </a:r>
            <a:r>
              <a:rPr lang="zh-CN" altLang="en-US" sz="3600"/>
              <a:t>的。“自然人” 使用系统，必须以某个已</a:t>
            </a:r>
            <a:r>
              <a:rPr lang="zh-CN" altLang="en-US" sz="3600">
                <a:solidFill>
                  <a:srgbClr val="FF0000"/>
                </a:solidFill>
              </a:rPr>
              <a:t>在系统中存在</a:t>
            </a:r>
            <a:r>
              <a:rPr lang="zh-CN" altLang="en-US" sz="3600"/>
              <a:t>的</a:t>
            </a:r>
            <a:r>
              <a:rPr lang="zh-CN" altLang="en-US" sz="3600">
                <a:solidFill>
                  <a:srgbClr val="FF0000"/>
                </a:solidFill>
              </a:rPr>
              <a:t>用户身份登录</a:t>
            </a:r>
            <a:r>
              <a:rPr lang="zh-CN" altLang="en-US" sz="3600"/>
              <a:t>，且</a:t>
            </a:r>
            <a:r>
              <a:rPr lang="zh-CN" altLang="en-US" sz="3600">
                <a:solidFill>
                  <a:srgbClr val="FF0000"/>
                </a:solidFill>
              </a:rPr>
              <a:t>通过</a:t>
            </a:r>
            <a:r>
              <a:rPr lang="zh-CN" altLang="en-US" sz="3600" u="sng">
                <a:solidFill>
                  <a:srgbClr val="FF0000"/>
                </a:solidFill>
              </a:rPr>
              <a:t>密码验证</a:t>
            </a:r>
            <a:r>
              <a:rPr lang="zh-CN" altLang="en-US" sz="3600"/>
              <a:t>后才能进入系统，并</a:t>
            </a:r>
            <a:r>
              <a:rPr lang="zh-CN" altLang="en-US" sz="3600">
                <a:solidFill>
                  <a:srgbClr val="FF0000"/>
                </a:solidFill>
              </a:rPr>
              <a:t>按</a:t>
            </a:r>
            <a:r>
              <a:rPr lang="zh-CN" altLang="en-US" sz="3600" u="sng">
                <a:solidFill>
                  <a:srgbClr val="FF0000"/>
                </a:solidFill>
              </a:rPr>
              <a:t>权限使用</a:t>
            </a:r>
            <a:r>
              <a:rPr lang="zh-CN" altLang="en-US" sz="3600">
                <a:solidFill>
                  <a:srgbClr val="FF0000"/>
                </a:solidFill>
              </a:rPr>
              <a:t>（安全性）</a:t>
            </a:r>
            <a:r>
              <a:rPr lang="zh-CN" altLang="en-US" sz="3600"/>
              <a:t>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系统中有两类用户：</a:t>
            </a:r>
            <a:r>
              <a:rPr lang="zh-CN" altLang="en-US" sz="3600">
                <a:solidFill>
                  <a:srgbClr val="FF0000"/>
                </a:solidFill>
              </a:rPr>
              <a:t>超级用户</a:t>
            </a:r>
            <a:r>
              <a:rPr lang="zh-CN" altLang="en-US" sz="3600"/>
              <a:t>和</a:t>
            </a:r>
            <a:r>
              <a:rPr lang="zh-CN" altLang="en-US" sz="3600">
                <a:solidFill>
                  <a:srgbClr val="FF0000"/>
                </a:solidFill>
              </a:rPr>
              <a:t>一般用户</a:t>
            </a:r>
            <a:r>
              <a:rPr lang="zh-CN" altLang="en-US" sz="3600"/>
              <a:t>。超级用户有</a:t>
            </a:r>
            <a:r>
              <a:rPr lang="zh-CN" altLang="en-US" sz="3600" u="sng">
                <a:solidFill>
                  <a:srgbClr val="FF0000"/>
                </a:solidFill>
              </a:rPr>
              <a:t>至高无上的权力</a:t>
            </a:r>
            <a:r>
              <a:rPr lang="zh-CN" altLang="en-US" sz="3600">
                <a:solidFill>
                  <a:srgbClr val="FF0000"/>
                </a:solidFill>
              </a:rPr>
              <a:t>（</a:t>
            </a:r>
            <a:r>
              <a:rPr lang="zh-CN" altLang="en-US" sz="3600" i="1">
                <a:solidFill>
                  <a:srgbClr val="FF0000"/>
                </a:solidFill>
              </a:rPr>
              <a:t>责任最大，安全性要求最高</a:t>
            </a:r>
            <a:r>
              <a:rPr lang="zh-CN" altLang="en-US" sz="3600">
                <a:solidFill>
                  <a:srgbClr val="FF0000"/>
                </a:solidFill>
              </a:rPr>
              <a:t>）</a:t>
            </a:r>
            <a:r>
              <a:rPr lang="zh-CN" altLang="en-US" sz="3600"/>
              <a:t>，可做</a:t>
            </a:r>
            <a:r>
              <a:rPr lang="zh-CN" altLang="en-US" sz="3600" u="sng"/>
              <a:t>任何操作</a:t>
            </a:r>
            <a:r>
              <a:rPr lang="zh-CN" altLang="en-US" sz="3600"/>
              <a:t>；一般用户只能在</a:t>
            </a:r>
            <a:r>
              <a:rPr lang="zh-CN" altLang="en-US" sz="3600" u="sng"/>
              <a:t>给定权限范围</a:t>
            </a:r>
            <a:r>
              <a:rPr lang="zh-CN" altLang="en-US" sz="3600"/>
              <a:t>内进行工作。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用户又可分成不同的</a:t>
            </a:r>
            <a:r>
              <a:rPr lang="zh-CN" altLang="en-US" sz="3600">
                <a:solidFill>
                  <a:srgbClr val="FF0000"/>
                </a:solidFill>
              </a:rPr>
              <a:t>组（group）</a:t>
            </a:r>
            <a:r>
              <a:rPr lang="zh-CN" altLang="en-US" sz="3600"/>
              <a:t>。同组用户</a:t>
            </a:r>
            <a:r>
              <a:rPr lang="zh-CN" altLang="en-US" sz="3600">
                <a:solidFill>
                  <a:srgbClr val="FF0000"/>
                </a:solidFill>
              </a:rPr>
              <a:t>按规定</a:t>
            </a:r>
            <a:r>
              <a:rPr lang="zh-CN" altLang="en-US" sz="3600"/>
              <a:t>和</a:t>
            </a:r>
            <a:r>
              <a:rPr lang="zh-CN" altLang="en-US" sz="3600">
                <a:solidFill>
                  <a:srgbClr val="FF0000"/>
                </a:solidFill>
              </a:rPr>
              <a:t>目的</a:t>
            </a:r>
            <a:r>
              <a:rPr lang="zh-CN" altLang="en-US" sz="3600"/>
              <a:t>享有某些</a:t>
            </a:r>
            <a:r>
              <a:rPr lang="zh-CN" altLang="en-US" sz="3600">
                <a:solidFill>
                  <a:srgbClr val="FF0000"/>
                </a:solidFill>
              </a:rPr>
              <a:t>共同的权限</a:t>
            </a:r>
            <a:r>
              <a:rPr lang="zh-CN" altLang="en-US" sz="360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6A262E32-EA58-549B-329F-893FD1B5A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4.1.1  用户与uid</a:t>
            </a: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1FF4F14F-F2BE-15AA-0FC2-9180D49424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856663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在UNIX/Linux系统中每个用户都有一个</a:t>
            </a:r>
            <a:r>
              <a:rPr lang="zh-CN" altLang="en-US" sz="4000">
                <a:solidFill>
                  <a:srgbClr val="FF0000"/>
                </a:solidFill>
              </a:rPr>
              <a:t>用户名（user name），</a:t>
            </a:r>
            <a:r>
              <a:rPr lang="zh-CN" altLang="en-US" sz="4000"/>
              <a:t>系统还给每个用户分配了</a:t>
            </a:r>
            <a:r>
              <a:rPr lang="zh-CN" altLang="en-US" sz="4000">
                <a:solidFill>
                  <a:srgbClr val="FF0000"/>
                </a:solidFill>
              </a:rPr>
              <a:t>一个用户标识（uid：user identification）</a:t>
            </a:r>
            <a:r>
              <a:rPr lang="zh-CN" altLang="en-US" sz="4000"/>
              <a:t>。</a:t>
            </a:r>
            <a:r>
              <a:rPr lang="zh-CN" altLang="en-US" sz="4000" u="sng"/>
              <a:t>用户uid是系统辨识用户的唯一标识</a:t>
            </a:r>
            <a:r>
              <a:rPr lang="zh-CN" altLang="en-US" sz="4000"/>
              <a:t>，而</a:t>
            </a:r>
            <a:r>
              <a:rPr lang="zh-CN" altLang="en-US" sz="4000">
                <a:solidFill>
                  <a:srgbClr val="FF0000"/>
                </a:solidFill>
              </a:rPr>
              <a:t>用户名</a:t>
            </a:r>
            <a:r>
              <a:rPr lang="zh-CN" altLang="en-US" sz="4000"/>
              <a:t>则是用户的</a:t>
            </a:r>
            <a:r>
              <a:rPr lang="zh-CN" altLang="en-US" sz="4000">
                <a:solidFill>
                  <a:srgbClr val="FF0000"/>
                </a:solidFill>
              </a:rPr>
              <a:t>外部表示</a:t>
            </a:r>
            <a:r>
              <a:rPr lang="zh-CN" altLang="en-US" sz="4000"/>
              <a:t>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用户信息</a:t>
            </a:r>
            <a:r>
              <a:rPr lang="zh-CN" altLang="en-US" sz="4000">
                <a:solidFill>
                  <a:srgbClr val="FF0000"/>
                </a:solidFill>
              </a:rPr>
              <a:t>存放</a:t>
            </a:r>
            <a:r>
              <a:rPr lang="zh-CN" altLang="en-US" sz="4000"/>
              <a:t>在文件</a:t>
            </a:r>
            <a:r>
              <a:rPr lang="zh-CN" altLang="en-US" sz="4000">
                <a:solidFill>
                  <a:srgbClr val="FF0000"/>
                </a:solidFill>
              </a:rPr>
              <a:t>/etc/passwd（</a:t>
            </a:r>
            <a:r>
              <a:rPr lang="zh-CN" altLang="en-US" sz="4000" u="sng">
                <a:solidFill>
                  <a:srgbClr val="FF0000"/>
                </a:solidFill>
              </a:rPr>
              <a:t>对此文件的安全性要求是最高之一</a:t>
            </a:r>
            <a:r>
              <a:rPr lang="zh-CN" altLang="en-US" sz="4000">
                <a:solidFill>
                  <a:srgbClr val="FF0000"/>
                </a:solidFill>
              </a:rPr>
              <a:t>）</a:t>
            </a:r>
            <a:r>
              <a:rPr lang="zh-CN" altLang="en-US" sz="4000"/>
              <a:t>中。用户标识uid可用</a:t>
            </a:r>
            <a:r>
              <a:rPr lang="zh-CN" altLang="en-US" sz="4000">
                <a:solidFill>
                  <a:srgbClr val="FF0000"/>
                </a:solidFill>
              </a:rPr>
              <a:t>命令id来查询</a:t>
            </a:r>
            <a:r>
              <a:rPr lang="zh-CN" altLang="en-US" sz="4000"/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296337-5527-2CC1-C5BF-183D81C39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549275"/>
            <a:ext cx="8880475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7A08C482-2C41-682C-A3E5-C46380A22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4.1.2  组与gid</a:t>
            </a:r>
            <a:endParaRPr lang="zh-CN" altLang="en-US"/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473D315A-1681-2262-9197-92DF119768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系统在</a:t>
            </a:r>
            <a:r>
              <a:rPr lang="zh-CN" altLang="en-US" sz="3200">
                <a:solidFill>
                  <a:srgbClr val="FF0000"/>
                </a:solidFill>
              </a:rPr>
              <a:t>创建用户</a:t>
            </a:r>
            <a:r>
              <a:rPr lang="zh-CN" altLang="en-US" sz="3200"/>
              <a:t>时，将每个用户划归一个组（group）。</a:t>
            </a:r>
            <a:r>
              <a:rPr lang="zh-CN" altLang="en-US" sz="3200">
                <a:solidFill>
                  <a:srgbClr val="FF0000"/>
                </a:solidFill>
              </a:rPr>
              <a:t>每个组</a:t>
            </a:r>
            <a:r>
              <a:rPr lang="zh-CN" altLang="en-US" sz="3200"/>
              <a:t>都有一个</a:t>
            </a:r>
            <a:r>
              <a:rPr lang="zh-CN" altLang="en-US" sz="3200">
                <a:solidFill>
                  <a:srgbClr val="FF0000"/>
                </a:solidFill>
              </a:rPr>
              <a:t>组名</a:t>
            </a:r>
            <a:r>
              <a:rPr lang="zh-CN" altLang="en-US" sz="3200"/>
              <a:t>（group name）和</a:t>
            </a:r>
            <a:r>
              <a:rPr lang="zh-CN" altLang="en-US" sz="3200">
                <a:solidFill>
                  <a:srgbClr val="FF0000"/>
                </a:solidFill>
              </a:rPr>
              <a:t>一个组标识</a:t>
            </a:r>
            <a:r>
              <a:rPr lang="zh-CN" altLang="en-US" sz="3200"/>
              <a:t>（gid：group identification）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rgbClr val="FF0000"/>
                </a:solidFill>
              </a:rPr>
              <a:t>一个组</a:t>
            </a:r>
            <a:r>
              <a:rPr lang="zh-CN" altLang="en-US" sz="3200"/>
              <a:t>是具有</a:t>
            </a:r>
            <a:r>
              <a:rPr lang="zh-CN" altLang="en-US" sz="3200">
                <a:solidFill>
                  <a:srgbClr val="FF0000"/>
                </a:solidFill>
              </a:rPr>
              <a:t>某种关联的用户集合</a:t>
            </a:r>
            <a:r>
              <a:rPr lang="zh-CN" altLang="en-US" sz="3200"/>
              <a:t>。比如，在某种业务方面，需要把操作某些数据文件或数据库的用户放在一个组中，以实现数据共享或共同操作。</a:t>
            </a:r>
            <a:r>
              <a:rPr lang="zh-CN" altLang="en-US" sz="3200">
                <a:solidFill>
                  <a:srgbClr val="FF0000"/>
                </a:solidFill>
              </a:rPr>
              <a:t>一个组中</a:t>
            </a:r>
            <a:r>
              <a:rPr lang="zh-CN" altLang="en-US" sz="3200"/>
              <a:t>可以包含</a:t>
            </a:r>
            <a:r>
              <a:rPr lang="zh-CN" altLang="en-US" sz="3200">
                <a:solidFill>
                  <a:srgbClr val="FF0000"/>
                </a:solidFill>
              </a:rPr>
              <a:t>多个用户</a:t>
            </a:r>
            <a:r>
              <a:rPr lang="zh-CN" altLang="en-US" sz="3200"/>
              <a:t>，</a:t>
            </a:r>
            <a:r>
              <a:rPr lang="zh-CN" altLang="en-US" sz="3200">
                <a:solidFill>
                  <a:srgbClr val="FF0000"/>
                </a:solidFill>
              </a:rPr>
              <a:t>一个用户</a:t>
            </a:r>
            <a:r>
              <a:rPr lang="zh-CN" altLang="en-US" sz="3200"/>
              <a:t>可</a:t>
            </a:r>
            <a:r>
              <a:rPr lang="zh-CN" altLang="en-US" sz="3200">
                <a:solidFill>
                  <a:srgbClr val="FF0000"/>
                </a:solidFill>
              </a:rPr>
              <a:t>参与不同</a:t>
            </a:r>
            <a:r>
              <a:rPr lang="zh-CN" altLang="en-US" sz="3200"/>
              <a:t>的组。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组信息存放在文件</a:t>
            </a:r>
            <a:r>
              <a:rPr lang="zh-CN" altLang="en-US" sz="3200">
                <a:solidFill>
                  <a:srgbClr val="FF0000"/>
                </a:solidFill>
              </a:rPr>
              <a:t>/etc/group（此文件也需要较高的安全性要求）</a:t>
            </a:r>
            <a:r>
              <a:rPr lang="zh-CN" altLang="en-US" sz="3200"/>
              <a:t>中，组标识gid也可用</a:t>
            </a:r>
            <a:r>
              <a:rPr lang="zh-CN" altLang="en-US" sz="3200">
                <a:solidFill>
                  <a:srgbClr val="FF0000"/>
                </a:solidFill>
              </a:rPr>
              <a:t>命令id来查询</a:t>
            </a:r>
            <a:r>
              <a:rPr lang="zh-CN" altLang="en-US" sz="3200"/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B8FCA2FF-1CCE-C384-D33C-773EE62FC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4.2  与用户和组管理相关的文件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4ECDBEE9-1AB4-E996-C46C-5213546C0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620713"/>
            <a:ext cx="9001125" cy="5761037"/>
          </a:xfrm>
        </p:spPr>
        <p:txBody>
          <a:bodyPr/>
          <a:lstStyle/>
          <a:p>
            <a:pPr>
              <a:defRPr/>
            </a:pPr>
            <a:r>
              <a:rPr lang="zh-CN" altLang="en-US" sz="4800" dirty="0"/>
              <a:t>与用户管理</a:t>
            </a:r>
            <a:r>
              <a:rPr lang="zh-CN" altLang="en-US" sz="4800" dirty="0">
                <a:solidFill>
                  <a:srgbClr val="FF0000"/>
                </a:solidFill>
              </a:rPr>
              <a:t>相关文件</a:t>
            </a:r>
            <a:r>
              <a:rPr lang="zh-CN" altLang="en-US" sz="4800" dirty="0"/>
              <a:t>：</a:t>
            </a:r>
            <a:endParaRPr lang="en-US" altLang="zh-CN" sz="4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4800" dirty="0"/>
              <a:t>（</a:t>
            </a:r>
            <a:r>
              <a:rPr lang="zh-CN" altLang="en-US" sz="4800" dirty="0">
                <a:solidFill>
                  <a:srgbClr val="FF0000"/>
                </a:solidFill>
              </a:rPr>
              <a:t>与</a:t>
            </a:r>
            <a:r>
              <a:rPr lang="en-US" altLang="zh-CN" sz="4800" dirty="0">
                <a:solidFill>
                  <a:srgbClr val="FF0000"/>
                </a:solidFill>
              </a:rPr>
              <a:t>Linux</a:t>
            </a:r>
            <a:r>
              <a:rPr lang="zh-CN" altLang="en-US" sz="4800" dirty="0">
                <a:solidFill>
                  <a:srgbClr val="FF0000"/>
                </a:solidFill>
              </a:rPr>
              <a:t>系统安全密切相关的文件</a:t>
            </a:r>
            <a:r>
              <a:rPr lang="zh-CN" altLang="en-US" sz="4800" dirty="0"/>
              <a:t>）/etc/passwd、/etc/shadow、/etc/group、/etc/login.defs、/etc/ default/useradd等，用于对用户设置和登录项目进行控制。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5BC23052-B5DD-1E74-9E30-A5BBDAF45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4.2.1  /etc/passwd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F590AE51-03D9-D3E7-7927-6BB756D309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36513" y="476250"/>
            <a:ext cx="9288463" cy="59055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/etc/passwd是系统用户数据库文件，它包括系统内所有已经注册用户的信息。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该文件是</a:t>
            </a:r>
            <a:r>
              <a:rPr lang="zh-CN" altLang="en-US" sz="4000">
                <a:solidFill>
                  <a:srgbClr val="FF0000"/>
                </a:solidFill>
              </a:rPr>
              <a:t>一个文本文件</a:t>
            </a:r>
            <a:r>
              <a:rPr lang="zh-CN" altLang="en-US" sz="4000"/>
              <a:t>，它的</a:t>
            </a:r>
            <a:r>
              <a:rPr lang="zh-CN" altLang="en-US" sz="4000">
                <a:solidFill>
                  <a:srgbClr val="FF0000"/>
                </a:solidFill>
              </a:rPr>
              <a:t>每一行</a:t>
            </a:r>
            <a:r>
              <a:rPr lang="zh-CN" altLang="en-US" sz="4000"/>
              <a:t>描述</a:t>
            </a:r>
            <a:r>
              <a:rPr lang="zh-CN" altLang="en-US" sz="4000">
                <a:solidFill>
                  <a:srgbClr val="FF0000"/>
                </a:solidFill>
              </a:rPr>
              <a:t>一个用户的信息</a:t>
            </a:r>
            <a:r>
              <a:rPr lang="zh-CN" altLang="en-US" sz="4000"/>
              <a:t>，为由</a:t>
            </a:r>
            <a:r>
              <a:rPr lang="zh-CN" altLang="en-US" sz="6000">
                <a:solidFill>
                  <a:srgbClr val="FF0000"/>
                </a:solidFill>
              </a:rPr>
              <a:t>“:”</a:t>
            </a:r>
            <a:r>
              <a:rPr lang="zh-CN" altLang="en-US" sz="4000"/>
              <a:t>分隔</a:t>
            </a:r>
            <a:r>
              <a:rPr lang="zh-CN" altLang="en-US" sz="4000">
                <a:solidFill>
                  <a:srgbClr val="FF0000"/>
                </a:solidFill>
              </a:rPr>
              <a:t>的</a:t>
            </a:r>
            <a:r>
              <a:rPr lang="zh-CN" altLang="en-US" sz="6000">
                <a:solidFill>
                  <a:srgbClr val="FF0000"/>
                </a:solidFill>
              </a:rPr>
              <a:t>7</a:t>
            </a:r>
            <a:r>
              <a:rPr lang="zh-CN" altLang="en-US" sz="4000">
                <a:solidFill>
                  <a:srgbClr val="FF0000"/>
                </a:solidFill>
              </a:rPr>
              <a:t>个字段</a:t>
            </a:r>
            <a:r>
              <a:rPr lang="zh-CN" altLang="en-US" sz="4000"/>
              <a:t>。结构为：</a:t>
            </a:r>
            <a:r>
              <a:rPr lang="zh-CN" altLang="en-US" sz="5400"/>
              <a:t>username:[password]:uid:gid:[comment]:dir:[shell]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3700BCCD-C63B-E626-7349-E8A006F61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/etc/passwd结构说明</a:t>
            </a:r>
            <a:endParaRPr lang="zh-CN" altLang="en-US"/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id="{85FEDA92-3A86-DEDF-97D0-F5DEB5D1C9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476250"/>
            <a:ext cx="9036050" cy="590550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username：</a:t>
            </a:r>
            <a:r>
              <a:rPr lang="zh-CN" altLang="en-US" sz="3200">
                <a:solidFill>
                  <a:srgbClr val="FF0000"/>
                </a:solidFill>
              </a:rPr>
              <a:t>用户名</a:t>
            </a:r>
            <a:r>
              <a:rPr lang="zh-CN" altLang="en-US" sz="3200"/>
              <a:t>，必须以字符开始，只能用小写字母。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password：</a:t>
            </a:r>
            <a:r>
              <a:rPr lang="zh-CN" altLang="en-US" sz="3200">
                <a:solidFill>
                  <a:srgbClr val="FF0000"/>
                </a:solidFill>
              </a:rPr>
              <a:t>密码</a:t>
            </a:r>
            <a:r>
              <a:rPr lang="zh-CN" altLang="en-US" sz="3200"/>
              <a:t>。</a:t>
            </a:r>
            <a:endParaRPr lang="en-US" altLang="zh-CN" sz="32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uid：</a:t>
            </a:r>
            <a:r>
              <a:rPr lang="zh-CN" altLang="en-US" sz="3200">
                <a:solidFill>
                  <a:srgbClr val="FF0000"/>
                </a:solidFill>
              </a:rPr>
              <a:t>用户标识号</a:t>
            </a:r>
            <a:r>
              <a:rPr lang="zh-CN" altLang="en-US" sz="3200"/>
              <a:t>。取值范围在/etc/login.defs文件中定义。一般用户uid满足：UID_MIN≤uid≤UID_MAX。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gid：</a:t>
            </a:r>
            <a:r>
              <a:rPr lang="zh-CN" altLang="en-US" sz="3200">
                <a:solidFill>
                  <a:srgbClr val="FF0000"/>
                </a:solidFill>
              </a:rPr>
              <a:t>组标识号</a:t>
            </a:r>
            <a:r>
              <a:rPr lang="zh-CN" altLang="en-US" sz="3200"/>
              <a:t>。说明同uid。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comment：</a:t>
            </a:r>
            <a:r>
              <a:rPr lang="zh-CN" altLang="en-US" sz="3200">
                <a:solidFill>
                  <a:srgbClr val="FF0000"/>
                </a:solidFill>
              </a:rPr>
              <a:t>说明域</a:t>
            </a:r>
            <a:r>
              <a:rPr lang="zh-CN" altLang="en-US" sz="3200"/>
              <a:t>。可以为空，但不能包含冒号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dir：</a:t>
            </a:r>
            <a:r>
              <a:rPr lang="zh-CN" altLang="en-US" sz="3200">
                <a:solidFill>
                  <a:srgbClr val="FF0000"/>
                </a:solidFill>
              </a:rPr>
              <a:t>用户家目录</a:t>
            </a:r>
            <a:r>
              <a:rPr lang="zh-CN" altLang="en-US" sz="3200"/>
              <a:t>，即用户登录成功后所在的工作目录。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shell：用户</a:t>
            </a:r>
            <a:r>
              <a:rPr lang="zh-CN" altLang="en-US" sz="3200">
                <a:solidFill>
                  <a:srgbClr val="FF0000"/>
                </a:solidFill>
              </a:rPr>
              <a:t>登录成功</a:t>
            </a:r>
            <a:r>
              <a:rPr lang="zh-CN" altLang="en-US" sz="3200"/>
              <a:t>后所使用的</a:t>
            </a:r>
            <a:r>
              <a:rPr lang="zh-CN" altLang="en-US" sz="3200">
                <a:solidFill>
                  <a:srgbClr val="FF0000"/>
                </a:solidFill>
              </a:rPr>
              <a:t>shell程序</a:t>
            </a:r>
            <a:r>
              <a:rPr lang="zh-CN" altLang="en-US" sz="3200"/>
              <a:t>。</a:t>
            </a:r>
            <a:endParaRPr lang="en-US" altLang="zh-CN"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F53871DE-3FDD-FF4E-F614-D33A6C101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</a:t>
            </a:r>
            <a:r>
              <a:rPr lang="zh-CN" altLang="en-US">
                <a:sym typeface="+mn-ea"/>
              </a:rPr>
              <a:t>shell的说明</a:t>
            </a:r>
            <a:endParaRPr lang="zh-CN" altLang="en-US"/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EE0AFB54-6B58-F168-837B-BC2F60A348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109075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ym typeface="+mn-ea"/>
              </a:rPr>
              <a:t>shell为用户登录成功后所使用的shell程序，也可是用户实用程序，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当为空时</a:t>
            </a:r>
            <a:r>
              <a:rPr lang="zh-CN" altLang="en-US" sz="3600">
                <a:sym typeface="+mn-ea"/>
              </a:rPr>
              <a:t>，系统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默认/bin/sh</a:t>
            </a:r>
            <a:r>
              <a:rPr lang="zh-CN" altLang="en-US" sz="3600">
                <a:sym typeface="+mn-ea"/>
              </a:rPr>
              <a:t>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ym typeface="+mn-ea"/>
              </a:rPr>
              <a:t>一般说，shell的值应该在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/etc/shells</a:t>
            </a:r>
            <a:r>
              <a:rPr lang="zh-CN" altLang="en-US" sz="3600">
                <a:sym typeface="+mn-ea"/>
              </a:rPr>
              <a:t>存在。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ym typeface="+mn-ea"/>
              </a:rPr>
              <a:t>如果想让用户登录后直接执行某个程序，如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/usr/bin/my_shell</a:t>
            </a:r>
            <a:r>
              <a:rPr lang="zh-CN" altLang="en-US" sz="3600">
                <a:sym typeface="+mn-ea"/>
              </a:rPr>
              <a:t>，则可修改此项内容为/usr/bin/my_shell。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ym typeface="+mn-ea"/>
              </a:rPr>
              <a:t>若此项设置为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一个不存在或不可执行的文件</a:t>
            </a:r>
            <a:r>
              <a:rPr lang="zh-CN" altLang="en-US" sz="3600">
                <a:sym typeface="+mn-ea"/>
              </a:rPr>
              <a:t>，则用户不能成功登录。</a:t>
            </a:r>
            <a:endParaRPr lang="zh-CN" altLang="en-US"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2CA50FED-F64A-6D65-09FA-05905CEF6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/etc/passwd示例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0F488-7843-9B97-383C-9FB6C487A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549275"/>
            <a:ext cx="9074150" cy="5832475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/>
              <a:t>以下为/etc/passwd文件中的部分内容：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root:x:0:0:root:/root:/bin/bash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bin:x:1:1:bin:/bin:/sbin/nologin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第一行是root用户的信息，用户名为root，uid和gid均为0，描述信息为“root”，家目录为/root，使用shell为/bin/bash。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第二行是bin用户的信息。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>
            <a:extLst>
              <a:ext uri="{FF2B5EF4-FFF2-40B4-BE49-F238E27FC236}">
                <a16:creationId xmlns:a16="http://schemas.microsoft.com/office/drawing/2014/main" id="{5FF4424F-5CDF-0FA7-C863-98494D1E3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4.2.2  /etc/shadow</a:t>
            </a:r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F5E3EB09-9C44-F00F-7B3B-E49C51D9DC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36513" y="404813"/>
            <a:ext cx="9109076" cy="59769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>
                <a:solidFill>
                  <a:srgbClr val="FF0000"/>
                </a:solidFill>
              </a:rPr>
              <a:t>/etc/shadow</a:t>
            </a:r>
            <a:r>
              <a:rPr lang="zh-CN" altLang="en-US" sz="4400"/>
              <a:t>是</a:t>
            </a:r>
            <a:r>
              <a:rPr lang="zh-CN" altLang="en-US" sz="4400">
                <a:solidFill>
                  <a:srgbClr val="FF0000"/>
                </a:solidFill>
              </a:rPr>
              <a:t>影子密码</a:t>
            </a:r>
            <a:r>
              <a:rPr lang="zh-CN" altLang="en-US" sz="4400"/>
              <a:t>文件。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/>
              <a:t>当系统启用影子密码时，用于存放</a:t>
            </a:r>
            <a:r>
              <a:rPr lang="zh-CN" altLang="en-US" sz="4400">
                <a:solidFill>
                  <a:srgbClr val="FF0000"/>
                </a:solidFill>
              </a:rPr>
              <a:t>系统内用户加密后</a:t>
            </a:r>
            <a:r>
              <a:rPr lang="zh-CN" altLang="en-US" sz="4400"/>
              <a:t>的</a:t>
            </a:r>
            <a:r>
              <a:rPr lang="zh-CN" altLang="en-US" sz="4400">
                <a:solidFill>
                  <a:srgbClr val="FF0000"/>
                </a:solidFill>
              </a:rPr>
              <a:t>密码和用户登录控制信息（</a:t>
            </a:r>
            <a:r>
              <a:rPr lang="zh-CN" altLang="en-US" sz="4400" i="1" u="sng">
                <a:solidFill>
                  <a:srgbClr val="FF0000"/>
                </a:solidFill>
              </a:rPr>
              <a:t>增加安全性的一个技巧</a:t>
            </a:r>
            <a:r>
              <a:rPr lang="zh-CN" altLang="en-US" sz="4400">
                <a:solidFill>
                  <a:srgbClr val="FF0000"/>
                </a:solidFill>
              </a:rPr>
              <a:t>）</a:t>
            </a:r>
            <a:r>
              <a:rPr lang="zh-CN" altLang="en-US" sz="4400"/>
              <a:t>。</a:t>
            </a:r>
            <a:r>
              <a:rPr lang="zh-CN" altLang="en-US" sz="4400">
                <a:solidFill>
                  <a:srgbClr val="FF0000"/>
                </a:solidFill>
              </a:rPr>
              <a:t>其结构为</a:t>
            </a:r>
            <a:r>
              <a:rPr lang="zh-CN" altLang="en-US" sz="4400"/>
              <a:t>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username:password:lastchanged:min:max:warn:inactive:expired:resv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/>
              <a:t>用户一般情况下</a:t>
            </a:r>
            <a:r>
              <a:rPr lang="zh-CN" altLang="en-US" sz="4400">
                <a:solidFill>
                  <a:srgbClr val="FF0000"/>
                </a:solidFill>
              </a:rPr>
              <a:t>不需要直接操作</a:t>
            </a:r>
            <a:r>
              <a:rPr lang="zh-CN" altLang="en-US" sz="4400"/>
              <a:t>/etc/shadow文件。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>
            <a:extLst>
              <a:ext uri="{FF2B5EF4-FFF2-40B4-BE49-F238E27FC236}">
                <a16:creationId xmlns:a16="http://schemas.microsoft.com/office/drawing/2014/main" id="{95D0B9A0-A864-8BE9-2F59-C4A928757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关于/etc/shadow的说明</a:t>
            </a:r>
            <a:endParaRPr lang="zh-CN" altLang="en-US"/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8F37D2C9-4B79-5D67-200E-A55219EE4A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588" y="482600"/>
            <a:ext cx="9144001" cy="6121400"/>
          </a:xfrm>
        </p:spPr>
        <p:txBody>
          <a:bodyPr/>
          <a:lstStyle/>
          <a:p>
            <a:pPr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username：</a:t>
            </a:r>
            <a:r>
              <a:rPr lang="en-US" altLang="zh-CN" sz="3600"/>
              <a:t>/etc/</a:t>
            </a:r>
            <a:r>
              <a:rPr lang="zh-CN" altLang="en-US" sz="3600">
                <a:solidFill>
                  <a:srgbClr val="FF0000"/>
                </a:solidFill>
              </a:rPr>
              <a:t>passwd</a:t>
            </a:r>
            <a:r>
              <a:rPr lang="zh-CN" altLang="en-US" sz="3600"/>
              <a:t>内对应的用户名。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password：</a:t>
            </a:r>
            <a:r>
              <a:rPr lang="zh-CN" altLang="en-US" sz="3600">
                <a:solidFill>
                  <a:srgbClr val="FF0000"/>
                </a:solidFill>
              </a:rPr>
              <a:t>加密后的密码</a:t>
            </a:r>
            <a:r>
              <a:rPr lang="zh-CN" altLang="en-US" sz="3600"/>
              <a:t>。若为</a:t>
            </a:r>
            <a:r>
              <a:rPr lang="zh-CN" altLang="en-US" sz="3600">
                <a:solidFill>
                  <a:srgbClr val="FF0000"/>
                </a:solidFill>
              </a:rPr>
              <a:t>空</a:t>
            </a:r>
            <a:r>
              <a:rPr lang="zh-CN" altLang="en-US" sz="3600"/>
              <a:t>表示无密码，开头为“</a:t>
            </a:r>
            <a:r>
              <a:rPr lang="zh-CN" altLang="en-US" sz="3600">
                <a:solidFill>
                  <a:srgbClr val="FF0000"/>
                </a:solidFill>
              </a:rPr>
              <a:t>!!</a:t>
            </a:r>
            <a:r>
              <a:rPr lang="zh-CN" altLang="en-US" sz="3600"/>
              <a:t>”时表示用户被上锁。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lastchanged：</a:t>
            </a:r>
            <a:r>
              <a:rPr lang="zh-CN" altLang="en-US" sz="3600">
                <a:solidFill>
                  <a:srgbClr val="FF0000"/>
                </a:solidFill>
              </a:rPr>
              <a:t>最后修改</a:t>
            </a:r>
            <a:r>
              <a:rPr lang="zh-CN" altLang="en-US" sz="3600"/>
              <a:t>日期。从19700101到上次修改密码的天数间隔。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min：</a:t>
            </a:r>
            <a:r>
              <a:rPr lang="zh-CN" altLang="en-US" sz="3600">
                <a:solidFill>
                  <a:srgbClr val="FF0000"/>
                </a:solidFill>
              </a:rPr>
              <a:t>必须修改</a:t>
            </a:r>
            <a:r>
              <a:rPr lang="zh-CN" altLang="en-US" sz="3600"/>
              <a:t>密码的</a:t>
            </a:r>
            <a:r>
              <a:rPr lang="zh-CN" altLang="en-US" sz="3600">
                <a:solidFill>
                  <a:srgbClr val="FF0000"/>
                </a:solidFill>
              </a:rPr>
              <a:t>剩余天数</a:t>
            </a:r>
            <a:r>
              <a:rPr lang="zh-CN" altLang="en-US" sz="3600"/>
              <a:t>。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max：密码的</a:t>
            </a:r>
            <a:r>
              <a:rPr lang="zh-CN" altLang="en-US" sz="3600">
                <a:solidFill>
                  <a:srgbClr val="FF0000"/>
                </a:solidFill>
              </a:rPr>
              <a:t>最长有效天数</a:t>
            </a:r>
            <a:r>
              <a:rPr lang="zh-CN" altLang="en-US" sz="3600"/>
              <a:t>。warn：更换前</a:t>
            </a:r>
            <a:r>
              <a:rPr lang="zh-CN" altLang="en-US" sz="3600">
                <a:solidFill>
                  <a:srgbClr val="FF0000"/>
                </a:solidFill>
              </a:rPr>
              <a:t>警告的天数</a:t>
            </a:r>
            <a:r>
              <a:rPr lang="zh-CN" altLang="en-US" sz="3600"/>
              <a:t>。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inactive：账号</a:t>
            </a:r>
            <a:r>
              <a:rPr lang="zh-CN" altLang="en-US" sz="3600">
                <a:solidFill>
                  <a:srgbClr val="FF0000"/>
                </a:solidFill>
              </a:rPr>
              <a:t>被取消激活前</a:t>
            </a:r>
            <a:r>
              <a:rPr lang="zh-CN" altLang="en-US" sz="3600"/>
              <a:t>的天数。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expired：账号</a:t>
            </a:r>
            <a:r>
              <a:rPr lang="zh-CN" altLang="en-US" sz="3600">
                <a:solidFill>
                  <a:srgbClr val="FF0000"/>
                </a:solidFill>
              </a:rPr>
              <a:t>不活跃的天数</a:t>
            </a:r>
            <a:r>
              <a:rPr lang="zh-CN" altLang="en-US" sz="3600"/>
              <a:t>。resv：</a:t>
            </a:r>
            <a:r>
              <a:rPr lang="zh-CN" altLang="en-US" sz="3600">
                <a:solidFill>
                  <a:srgbClr val="FF0000"/>
                </a:solidFill>
              </a:rPr>
              <a:t>保留</a:t>
            </a:r>
            <a:r>
              <a:rPr lang="zh-CN" altLang="en-US" sz="3600"/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01DBE130-3C71-C254-5DFA-13554B62F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4.2.3  /etc/group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0B8BD9-D255-E495-18F3-1A631B1E0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/etc/group是</a:t>
            </a:r>
            <a:r>
              <a:rPr lang="zh-CN" altLang="en-US" sz="4000" dirty="0">
                <a:solidFill>
                  <a:srgbClr val="FF0000"/>
                </a:solidFill>
              </a:rPr>
              <a:t>组定义文件</a:t>
            </a:r>
            <a:r>
              <a:rPr lang="zh-CN" altLang="en-US" sz="4000" dirty="0"/>
              <a:t>。它是一个</a:t>
            </a:r>
            <a:r>
              <a:rPr lang="zh-CN" altLang="en-US" sz="4000" dirty="0">
                <a:solidFill>
                  <a:srgbClr val="FF0000"/>
                </a:solidFill>
              </a:rPr>
              <a:t>文本</a:t>
            </a:r>
            <a:r>
              <a:rPr lang="zh-CN" altLang="en-US" sz="4000" dirty="0"/>
              <a:t>文件，</a:t>
            </a:r>
            <a:r>
              <a:rPr lang="zh-CN" altLang="en-US" sz="4000" dirty="0">
                <a:solidFill>
                  <a:srgbClr val="FF0000"/>
                </a:solidFill>
              </a:rPr>
              <a:t>每行</a:t>
            </a:r>
            <a:r>
              <a:rPr lang="zh-CN" altLang="en-US" sz="4000" dirty="0"/>
              <a:t>描述</a:t>
            </a:r>
            <a:r>
              <a:rPr lang="zh-CN" altLang="en-US" sz="4000" dirty="0">
                <a:solidFill>
                  <a:srgbClr val="FF0000"/>
                </a:solidFill>
              </a:rPr>
              <a:t>一个组</a:t>
            </a:r>
            <a:r>
              <a:rPr lang="zh-CN" altLang="en-US" sz="4000" dirty="0"/>
              <a:t>。结构：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/>
              <a:t>  groupname:password:gid:userlist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groupname：组名。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password：组密码。可用gpasswd设置此密码，并由newgrp等命令使用。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gid：组标识号。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userlist：</a:t>
            </a:r>
            <a:r>
              <a:rPr lang="zh-CN" altLang="en-US" sz="4000" dirty="0">
                <a:solidFill>
                  <a:srgbClr val="FF0000"/>
                </a:solidFill>
              </a:rPr>
              <a:t>组成员</a:t>
            </a:r>
            <a:r>
              <a:rPr lang="zh-CN" altLang="en-US" sz="4000" dirty="0"/>
              <a:t>，为</a:t>
            </a:r>
            <a:r>
              <a:rPr lang="zh-CN" altLang="en-US" sz="4000" dirty="0">
                <a:solidFill>
                  <a:srgbClr val="FF0000"/>
                </a:solidFill>
              </a:rPr>
              <a:t>以逗号分隔</a:t>
            </a:r>
            <a:r>
              <a:rPr lang="zh-CN" altLang="en-US" sz="4000" dirty="0"/>
              <a:t>的用户名。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365A4A63-74C3-D5E7-4487-5F88552CC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/etc/group示例及说明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73F88-7C51-484B-07C8-65353836C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8" y="633413"/>
            <a:ext cx="8869362" cy="574833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以下是/etc/group文件的一行：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/>
              <a:t>  </a:t>
            </a:r>
            <a:r>
              <a:rPr lang="zh-CN" altLang="en-US" sz="5400" dirty="0">
                <a:solidFill>
                  <a:srgbClr val="FF0000"/>
                </a:solidFill>
              </a:rPr>
              <a:t>bin:x:1:root,bin,deamon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说明：组名为bin，gid为1。组员有root、bin和deamon。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每当</a:t>
            </a:r>
            <a:r>
              <a:rPr lang="zh-CN" altLang="en-US" sz="4000" dirty="0">
                <a:solidFill>
                  <a:srgbClr val="FF0000"/>
                </a:solidFill>
              </a:rPr>
              <a:t>按默认方式新创建一个用户时</a:t>
            </a:r>
            <a:r>
              <a:rPr lang="zh-CN" altLang="en-US" sz="4000" dirty="0"/>
              <a:t>，就创建</a:t>
            </a:r>
            <a:r>
              <a:rPr lang="zh-CN" altLang="en-US" sz="4000" dirty="0">
                <a:solidFill>
                  <a:srgbClr val="FF0000"/>
                </a:solidFill>
              </a:rPr>
              <a:t>一个与用户同名的组</a:t>
            </a:r>
            <a:r>
              <a:rPr lang="zh-CN" altLang="en-US" sz="4000" dirty="0"/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D2D6E065-6E27-5E9A-D62A-A49D6D2B19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396413" cy="476250"/>
          </a:xfrm>
        </p:spPr>
        <p:txBody>
          <a:bodyPr/>
          <a:lstStyle/>
          <a:p>
            <a:r>
              <a:rPr lang="zh-CN" altLang="en-US"/>
              <a:t>4.2.4  /etc/login.defs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4438A-2113-379E-5824-396D96AD0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09588"/>
            <a:ext cx="9109075" cy="576103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login.defs</a:t>
            </a:r>
            <a:r>
              <a:rPr lang="zh-CN" altLang="en-US" dirty="0"/>
              <a:t>文件（</a:t>
            </a:r>
            <a:r>
              <a:rPr lang="zh-CN" altLang="en-US" i="1" u="sng" dirty="0">
                <a:solidFill>
                  <a:srgbClr val="FF0000"/>
                </a:solidFill>
              </a:rPr>
              <a:t>增加安全性的措施</a:t>
            </a:r>
            <a:r>
              <a:rPr lang="zh-CN" altLang="en-US" dirty="0"/>
              <a:t>）定义了与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/password</a:t>
            </a:r>
            <a:r>
              <a:rPr lang="zh-CN" altLang="en-US" dirty="0"/>
              <a:t>和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/shadow</a:t>
            </a:r>
            <a:r>
              <a:rPr lang="zh-CN" altLang="en-US" dirty="0"/>
              <a:t>配套的用户限制设定。</a:t>
            </a:r>
            <a:endParaRPr lang="en-US" altLang="zh-CN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MAIL_DIR	/var/spool/mail	#mail目录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PASS_MAX_DAYS</a:t>
            </a:r>
            <a:r>
              <a:rPr lang="zh-CN" altLang="en-US" dirty="0"/>
              <a:t>	99999 #密码可用的最大天数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PASS_MIN_DAYS</a:t>
            </a:r>
            <a:r>
              <a:rPr lang="zh-CN" altLang="en-US" dirty="0"/>
              <a:t>	0	#两次修改密码之间的最小天数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PASS_MIN_LEN</a:t>
            </a:r>
            <a:r>
              <a:rPr lang="zh-CN" altLang="en-US" dirty="0"/>
              <a:t>	5	#密码最小长度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PASS_WARN_AGE</a:t>
            </a:r>
            <a:r>
              <a:rPr lang="zh-CN" altLang="en-US" dirty="0"/>
              <a:t>	7	#密码到期前给出警告的天数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UID_MIN</a:t>
            </a:r>
            <a:r>
              <a:rPr lang="zh-CN" altLang="en-US" dirty="0"/>
              <a:t>	1000		#UID的最小值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UID_MAX</a:t>
            </a:r>
            <a:r>
              <a:rPr lang="zh-CN" altLang="en-US" dirty="0"/>
              <a:t>	60000	#UID的最大值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GID_MIN</a:t>
            </a:r>
            <a:r>
              <a:rPr lang="zh-CN" altLang="en-US" dirty="0"/>
              <a:t>	 1000		#GID的最小值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GID_MAX</a:t>
            </a:r>
            <a:r>
              <a:rPr lang="zh-CN" altLang="en-US" dirty="0"/>
              <a:t>	60000	#GID的最大值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CREATE_HOME</a:t>
            </a:r>
            <a:r>
              <a:rPr lang="zh-CN" altLang="en-US" dirty="0"/>
              <a:t>	yes	#在创建用户时，默认创建家目录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40C78BE3-8EF3-04F1-51EB-E734E841A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</a:t>
            </a:r>
            <a:r>
              <a:rPr lang="zh-CN" altLang="en-US">
                <a:sym typeface="+mn-ea"/>
              </a:rPr>
              <a:t>/etc/login.defs的说明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8493C-6C45-8653-CE60-B933CA6D8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549275"/>
            <a:ext cx="9036050" cy="576103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文件内容有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   CREATE_HOME		  yes	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说明在创建用户时默认将创建家目录。若其值为no则默认不创建，尽管已经指定了家目录。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但在Ubuntu中，此文件中没有包含此行，意味着   CREATE_HOME</a:t>
            </a:r>
            <a:r>
              <a:rPr lang="zh-CN" altLang="en-US" sz="4000" dirty="0">
                <a:sym typeface="+mn-ea"/>
              </a:rPr>
              <a:t>		  </a:t>
            </a:r>
            <a:r>
              <a:rPr lang="zh-CN" altLang="en-US" sz="4000" dirty="0"/>
              <a:t>no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/>
              <a:t>因此，在</a:t>
            </a:r>
            <a:r>
              <a:rPr lang="zh-CN" altLang="en-US" sz="4000" dirty="0">
                <a:sym typeface="+mn-ea"/>
              </a:rPr>
              <a:t>Ubuntu</a:t>
            </a:r>
            <a:r>
              <a:rPr lang="zh-CN" altLang="en-US" sz="4000" dirty="0"/>
              <a:t>下，创建用户时默认不为其创建家目录。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FCC0E099-2C19-339D-17BA-17D20ED19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4.3  用户管理命令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5D316A13-9B90-7341-9271-E8C1D64582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800"/>
              <a:t>用于用户管理的命令有</a:t>
            </a:r>
            <a:r>
              <a:rPr lang="zh-CN" altLang="en-US" sz="4800">
                <a:solidFill>
                  <a:srgbClr val="FF0000"/>
                </a:solidFill>
              </a:rPr>
              <a:t>useradd、usermod和userdel</a:t>
            </a:r>
            <a:r>
              <a:rPr lang="zh-CN" altLang="en-US" sz="4800"/>
              <a:t>，它们分别用于用户创建、用户属性修改和用户删除。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D9C0E78E-8110-8946-0D80-D4A57494E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4.3.1  增加用户（useradd）</a:t>
            </a:r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82AA204B-617A-D48A-4063-DD60263E59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1．功能与用法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命令useradd的功能是创建新用户。用法为：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olidFill>
                  <a:srgbClr val="FF0000"/>
                </a:solidFill>
              </a:rPr>
              <a:t>useradd [options] user</a:t>
            </a:r>
            <a:r>
              <a:rPr lang="zh-CN" altLang="en-US" sz="4000"/>
              <a:t>	#添加用户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olidFill>
                  <a:srgbClr val="FF0000"/>
                </a:solidFill>
              </a:rPr>
              <a:t>useradd -D	</a:t>
            </a:r>
            <a:r>
              <a:rPr lang="zh-CN" altLang="en-US" sz="4000"/>
              <a:t>		#显示默认值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useradd -D [options]	#设置默认值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97811ADE-625D-C8D8-B925-35E57CE80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2．参数说明</a:t>
            </a:r>
          </a:p>
        </p:txBody>
      </p:sp>
      <p:graphicFrame>
        <p:nvGraphicFramePr>
          <p:cNvPr id="4" name="表格 -1">
            <a:extLst>
              <a:ext uri="{FF2B5EF4-FFF2-40B4-BE49-F238E27FC236}">
                <a16:creationId xmlns:a16="http://schemas.microsoft.com/office/drawing/2014/main" id="{4235B068-75DD-A8AE-830D-E41699A5C423}"/>
              </a:ext>
            </a:extLst>
          </p:cNvPr>
          <p:cNvGraphicFramePr>
            <a:graphicFrameLocks noGrp="1"/>
          </p:cNvGraphicFramePr>
          <p:nvPr/>
        </p:nvGraphicFramePr>
        <p:xfrm>
          <a:off x="23813" y="404813"/>
          <a:ext cx="9144000" cy="6188075"/>
        </p:xfrm>
        <a:graphic>
          <a:graphicData uri="http://schemas.openxmlformats.org/drawingml/2006/table">
            <a:tbl>
              <a:tblPr/>
              <a:tblGrid>
                <a:gridCol w="1835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09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选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述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61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-c comment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用户注释信息。不含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”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和回车的长度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小于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的字符串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-d </a:t>
                      </a:r>
                      <a:r>
                        <a:rPr kumimoji="0" lang="en-US" altLang="zh-CN" sz="2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home_dir</a:t>
                      </a:r>
                      <a:endParaRPr kumimoji="0" lang="en-US" altLang="zh-CN" sz="25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新用户家目录。默认时，以新用户为名在</a:t>
                      </a: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/home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下创建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61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-D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显示新创建用户时的参数默认值（参见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 PL SungtiL GB" charset="0"/>
                          <a:ea typeface="宋体" panose="02010600030101010101" pitchFamily="2" charset="-122"/>
                          <a:sym typeface="+mn-ea"/>
                        </a:rPr>
                        <a:t>/etc/login.defs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-e </a:t>
                      </a:r>
                      <a:r>
                        <a:rPr kumimoji="0" lang="en-US" altLang="zh-CN" sz="2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expire_date</a:t>
                      </a:r>
                      <a:endParaRPr kumimoji="0" lang="en-US" altLang="zh-CN" sz="25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MM/DD/YYYY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格式设置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账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号到期日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919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-f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inactive_days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密码到期后，直到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账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号永久停止使用时所经过的天数，默认为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，表示不启用该选项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663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-g group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设置新用户所属的基本组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200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-G group1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group2</a:t>
                      </a: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zh-CN" altLang="en-US" sz="25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将新用户添加到由逗号分隔的组列表中，一个用户可同时归属多个组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8177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-k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skel_dir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设置包含初始配置框架文件的目录，默认框架目录为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etc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skel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。该选项只能与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-m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一起使用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7EE124C4-BF35-D669-8630-650CCCD97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2．参数说明（续）</a:t>
            </a:r>
            <a:endParaRPr lang="zh-CN" altLang="en-US"/>
          </a:p>
        </p:txBody>
      </p:sp>
      <p:graphicFrame>
        <p:nvGraphicFramePr>
          <p:cNvPr id="4" name="表格 -1">
            <a:extLst>
              <a:ext uri="{FF2B5EF4-FFF2-40B4-BE49-F238E27FC236}">
                <a16:creationId xmlns:a16="http://schemas.microsoft.com/office/drawing/2014/main" id="{288B106F-E45E-92BD-4A8C-954721C7F454}"/>
              </a:ext>
            </a:extLst>
          </p:cNvPr>
          <p:cNvGraphicFramePr>
            <a:graphicFrameLocks noGrp="1"/>
          </p:cNvGraphicFramePr>
          <p:nvPr/>
        </p:nvGraphicFramePr>
        <p:xfrm>
          <a:off x="34925" y="620713"/>
          <a:ext cx="9074150" cy="5929312"/>
        </p:xfrm>
        <a:graphic>
          <a:graphicData uri="http://schemas.openxmlformats.org/drawingml/2006/table">
            <a:tbl>
              <a:tblPr/>
              <a:tblGrid>
                <a:gridCol w="106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4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34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-m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创建用户家目录，并将框架目录的默认配置文件复制到该目录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746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-M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创建新用户，但不创建用户家目录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75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-n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关闭创建新用户时，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创建同名组的特性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054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-o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允许使用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-u uid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指定一个与已经存在用户相同的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uid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即允许不同名的用户具有相同的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uid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75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-r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此为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Redhat Linux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新增选项，用于创建系统用户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7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-s shell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指定用户登录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shell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，若不指定则采用系统默认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shell:/bin/bash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1054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-u 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uid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为用户指定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uid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。若不指定系统将自动分配一个。若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uid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已经被使用，则必须与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-o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配合使用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>
            <a:extLst>
              <a:ext uri="{FF2B5EF4-FFF2-40B4-BE49-F238E27FC236}">
                <a16:creationId xmlns:a16="http://schemas.microsoft.com/office/drawing/2014/main" id="{60E1B706-A4AE-3165-B6DC-06B340B3D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3．关于创建用户的说明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25C48EB3-7D70-B6D1-D8D0-1CCC8BA522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/>
              <a:t>（1）若不带选项运行useradd，则使用</a:t>
            </a:r>
            <a:r>
              <a:rPr lang="zh-CN" altLang="en-US">
                <a:solidFill>
                  <a:srgbClr val="FF0000"/>
                </a:solidFill>
              </a:rPr>
              <a:t>默认方式创建</a:t>
            </a:r>
            <a:r>
              <a:rPr lang="zh-CN" altLang="en-US"/>
              <a:t>newuser。若在创建用户时</a:t>
            </a:r>
            <a:r>
              <a:rPr lang="zh-CN" altLang="en-US">
                <a:solidFill>
                  <a:srgbClr val="FF0000"/>
                </a:solidFill>
              </a:rPr>
              <a:t>没有</a:t>
            </a:r>
            <a:r>
              <a:rPr lang="zh-CN" altLang="en-US"/>
              <a:t>创建家目录，则为保证newuser创建后可以登录</a:t>
            </a:r>
            <a:r>
              <a:rPr lang="zh-CN" altLang="en-US">
                <a:solidFill>
                  <a:srgbClr val="FF0000"/>
                </a:solidFill>
              </a:rPr>
              <a:t>还必须手工创建newuser的家目录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00"/>
                </a:solidFill>
              </a:rPr>
              <a:t>并修改家目录归属关系和存取权限</a:t>
            </a:r>
            <a:r>
              <a:rPr lang="zh-CN" altLang="en-US"/>
              <a:t>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/>
              <a:t>（2）创建用户时，是否创建用户家目录，默认情况下</a:t>
            </a:r>
            <a:r>
              <a:rPr lang="zh-CN" altLang="en-US">
                <a:solidFill>
                  <a:srgbClr val="FF0000"/>
                </a:solidFill>
              </a:rPr>
              <a:t>取决于/etc/login.defs中变量CREATE_HOME的值</a:t>
            </a:r>
            <a:r>
              <a:rPr lang="zh-CN" altLang="en-US"/>
              <a:t>，但可以</a:t>
            </a:r>
            <a:r>
              <a:rPr lang="zh-CN" altLang="en-US">
                <a:sym typeface="+mn-ea"/>
              </a:rPr>
              <a:t>使用</a:t>
            </a:r>
            <a:r>
              <a:rPr lang="zh-CN" altLang="en-US"/>
              <a:t>-m强制创建，或-M强制不创建。不创建用户家目录也是常见的，</a:t>
            </a:r>
            <a:r>
              <a:rPr lang="zh-CN" altLang="en-US">
                <a:solidFill>
                  <a:srgbClr val="FF0000"/>
                </a:solidFill>
              </a:rPr>
              <a:t>当多个用户共用一个家目录时</a:t>
            </a:r>
            <a:r>
              <a:rPr lang="zh-CN" altLang="en-US"/>
              <a:t>，只要</a:t>
            </a:r>
            <a:r>
              <a:rPr lang="zh-CN" altLang="en-US">
                <a:solidFill>
                  <a:srgbClr val="FF0000"/>
                </a:solidFill>
              </a:rPr>
              <a:t>第一个用户创建时创建了家目录就可以</a:t>
            </a:r>
            <a:r>
              <a:rPr lang="zh-CN" altLang="en-US"/>
              <a:t>，而以后用户直接使用已经存在的目录。这时应该注意目录的</a:t>
            </a:r>
            <a:r>
              <a:rPr lang="zh-CN" altLang="en-US">
                <a:solidFill>
                  <a:srgbClr val="FF0000"/>
                </a:solidFill>
              </a:rPr>
              <a:t>存取权限问题</a:t>
            </a:r>
            <a:r>
              <a:rPr lang="zh-CN" altLang="en-US"/>
              <a:t>，必要时可将这类用户放在一个组中，但要求目录及内容能被同组人按特定权限访问。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9FEF60D7-4B2C-694C-D04F-28DE01051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3．关于创建用户的说明（续）</a:t>
            </a:r>
            <a:endParaRPr lang="en-US" altLang="zh-CN"/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930DD835-83C7-C6AF-CA03-87286163FA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074150" cy="57610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altLang="en-US" sz="4000"/>
              <a:t>（3）若</a:t>
            </a:r>
            <a:r>
              <a:rPr lang="zh-CN" altLang="en-US" sz="4000">
                <a:solidFill>
                  <a:srgbClr val="FF0000"/>
                </a:solidFill>
              </a:rPr>
              <a:t>未指定密码</a:t>
            </a:r>
            <a:r>
              <a:rPr lang="zh-CN" altLang="en-US" sz="4000"/>
              <a:t>，则在一切准备好后，还</a:t>
            </a:r>
            <a:r>
              <a:rPr lang="zh-CN" altLang="en-US" sz="4000">
                <a:solidFill>
                  <a:srgbClr val="FF0000"/>
                </a:solidFill>
              </a:rPr>
              <a:t>必须经超级用户为新建用户设置</a:t>
            </a:r>
            <a:r>
              <a:rPr lang="zh-CN" altLang="en-US" sz="4000"/>
              <a:t>或</a:t>
            </a:r>
            <a:r>
              <a:rPr lang="zh-CN" altLang="en-US" sz="4000">
                <a:solidFill>
                  <a:srgbClr val="FF0000"/>
                </a:solidFill>
              </a:rPr>
              <a:t>修改密码</a:t>
            </a:r>
            <a:r>
              <a:rPr lang="zh-CN" altLang="en-US" sz="4000"/>
              <a:t>后才能正常登录和使用。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4000"/>
              <a:t>（4）Linux</a:t>
            </a:r>
            <a:r>
              <a:rPr lang="zh-CN" altLang="en-US" sz="4000">
                <a:solidFill>
                  <a:srgbClr val="FF0000"/>
                </a:solidFill>
              </a:rPr>
              <a:t>默认</a:t>
            </a:r>
            <a:r>
              <a:rPr lang="zh-CN" altLang="en-US" sz="4000"/>
              <a:t>，在创建新用户时，按</a:t>
            </a:r>
            <a:r>
              <a:rPr lang="zh-CN" altLang="en-US" sz="4000">
                <a:solidFill>
                  <a:srgbClr val="FF0000"/>
                </a:solidFill>
              </a:rPr>
              <a:t>新用户名创建一个新组</a:t>
            </a:r>
            <a:r>
              <a:rPr lang="zh-CN" altLang="en-US" sz="4000"/>
              <a:t>，该组为新用户的归属组，或称为</a:t>
            </a:r>
            <a:r>
              <a:rPr lang="zh-CN" altLang="en-US" sz="4000">
                <a:solidFill>
                  <a:srgbClr val="FF0000"/>
                </a:solidFill>
              </a:rPr>
              <a:t>基本组</a:t>
            </a:r>
            <a:r>
              <a:rPr lang="zh-CN" altLang="en-US" sz="4000"/>
              <a:t>。如果想让新建用户使用一个已经存在的组，则可使用</a:t>
            </a:r>
            <a:r>
              <a:rPr lang="zh-CN" altLang="en-US" sz="4000">
                <a:solidFill>
                  <a:srgbClr val="FF0000"/>
                </a:solidFill>
              </a:rPr>
              <a:t>-g参数</a:t>
            </a:r>
            <a:r>
              <a:rPr lang="zh-CN" altLang="en-US" sz="4000"/>
              <a:t>；如果同时还想让新建用户也归属到其他组，则可以</a:t>
            </a:r>
            <a:r>
              <a:rPr lang="zh-CN" altLang="en-US" sz="4000">
                <a:solidFill>
                  <a:srgbClr val="FF0000"/>
                </a:solidFill>
              </a:rPr>
              <a:t>使用-G参数</a:t>
            </a:r>
            <a:r>
              <a:rPr lang="zh-CN" altLang="en-US" sz="4000"/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19C88F31-B187-E26E-AC35-4E9D6D74B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4．创建用户示例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7799DE12-9343-7C20-B142-7C4B5E7D1E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323850" y="549275"/>
            <a:ext cx="9467850" cy="5832475"/>
          </a:xfrm>
        </p:spPr>
        <p:txBody>
          <a:bodyPr/>
          <a:lstStyle/>
          <a:p>
            <a:pPr indent="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/>
              <a:t>（1）以默认方式创建用户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/>
              <a:t>#</a:t>
            </a:r>
            <a:r>
              <a:rPr lang="zh-CN" altLang="en-US">
                <a:solidFill>
                  <a:srgbClr val="FF0000"/>
                </a:solidFill>
              </a:rPr>
              <a:t>useradd test1</a:t>
            </a:r>
            <a:r>
              <a:rPr lang="zh-CN" altLang="en-US"/>
              <a:t>	#以默认方式创建用户test1。</a:t>
            </a:r>
            <a:endParaRPr lang="en-US" altLang="zh-CN"/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/>
              <a:t>#</a:t>
            </a:r>
            <a:r>
              <a:rPr lang="zh-CN" altLang="en-US">
                <a:solidFill>
                  <a:srgbClr val="FF0000"/>
                </a:solidFill>
              </a:rPr>
              <a:t>grep</a:t>
            </a:r>
            <a:r>
              <a:rPr lang="zh-CN" altLang="en-US"/>
              <a:t> test1 /etc/passwd /etc/group /etc/shadow /etc/gshadow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/>
              <a:t>##在文件passwd、group、shadow中分别添加了相应行：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/>
              <a:t>	</a:t>
            </a:r>
            <a:r>
              <a:rPr lang="zh-CN" altLang="en-US">
                <a:solidFill>
                  <a:srgbClr val="FF0000"/>
                </a:solidFill>
              </a:rPr>
              <a:t>/etc/passwd</a:t>
            </a:r>
            <a:r>
              <a:rPr lang="zh-CN" altLang="en-US"/>
              <a:t>: </a:t>
            </a:r>
            <a:r>
              <a:rPr lang="zh-CN" altLang="en-US">
                <a:solidFill>
                  <a:srgbClr val="FF0000"/>
                </a:solidFill>
              </a:rPr>
              <a:t>test1</a:t>
            </a:r>
            <a:r>
              <a:rPr lang="zh-CN" altLang="en-US"/>
              <a:t>:x:1000:1000::/home/test1:/bin/bash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/>
              <a:t>	</a:t>
            </a:r>
            <a:r>
              <a:rPr lang="zh-CN" altLang="en-US"/>
              <a:t> </a:t>
            </a:r>
            <a:r>
              <a:rPr lang="zh-CN" altLang="en-US">
                <a:solidFill>
                  <a:srgbClr val="FF0000"/>
                </a:solidFill>
              </a:rPr>
              <a:t>/etc/group: test1</a:t>
            </a:r>
            <a:r>
              <a:rPr lang="zh-CN" altLang="en-US"/>
              <a:t>:x:1000: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/>
              <a:t>	</a:t>
            </a:r>
            <a:r>
              <a:rPr lang="zh-CN" altLang="en-US">
                <a:solidFill>
                  <a:srgbClr val="FF0000"/>
                </a:solidFill>
              </a:rPr>
              <a:t> /etc/shadow</a:t>
            </a:r>
            <a:r>
              <a:rPr lang="zh-CN" altLang="en-US"/>
              <a:t>:</a:t>
            </a:r>
            <a:r>
              <a:rPr lang="zh-CN" altLang="en-US">
                <a:solidFill>
                  <a:srgbClr val="FF0000"/>
                </a:solidFill>
              </a:rPr>
              <a:t>test1</a:t>
            </a:r>
            <a:r>
              <a:rPr lang="zh-CN" altLang="en-US"/>
              <a:t>:!!:13563:0:99999:7:::  #!!表示上锁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/>
              <a:t>	</a:t>
            </a:r>
            <a:r>
              <a:rPr lang="zh-CN" altLang="en-US"/>
              <a:t> </a:t>
            </a:r>
            <a:r>
              <a:rPr lang="zh-CN" altLang="en-US">
                <a:solidFill>
                  <a:srgbClr val="FF0000"/>
                </a:solidFill>
              </a:rPr>
              <a:t>/etc/gshadow</a:t>
            </a:r>
            <a:r>
              <a:rPr lang="zh-CN" altLang="en-US"/>
              <a:t>:	test1:!::  	#!表示未启用组密码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/>
              <a:t>##</a:t>
            </a:r>
            <a:r>
              <a:rPr lang="zh-CN" altLang="en-US">
                <a:solidFill>
                  <a:srgbClr val="FF0000"/>
                </a:solidFill>
              </a:rPr>
              <a:t>“!!”表示上锁状态</a:t>
            </a:r>
            <a:r>
              <a:rPr lang="zh-CN" altLang="en-US"/>
              <a:t>，说明此用户还没有被启用，只有在超级用户为它修改密码或解锁后才能被启用。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D8D9D76A-2806-A637-0065-7EB58AA3A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创建用户示例（续）</a:t>
            </a:r>
            <a:endParaRPr lang="en-US" altLang="zh-CN">
              <a:sym typeface="+mn-ea"/>
            </a:endParaRP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750CE2E0-1FAA-B3FF-85B8-AA92D88DB9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/>
              <a:t>（2）以非默认方式创建用户。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/>
              <a:t>  创建一个名为test2的用户，且为其创建家目录/usr/test2，而非默认的/home/test2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/>
              <a:t>#</a:t>
            </a:r>
            <a:r>
              <a:rPr lang="zh-CN" altLang="en-US" sz="3600">
                <a:solidFill>
                  <a:srgbClr val="FF0000"/>
                </a:solidFill>
              </a:rPr>
              <a:t>useradd </a:t>
            </a:r>
            <a:r>
              <a:rPr lang="en-US" altLang="zh-CN" sz="3600">
                <a:solidFill>
                  <a:srgbClr val="FF0000"/>
                </a:solidFill>
              </a:rPr>
              <a:t>-</a:t>
            </a:r>
            <a:r>
              <a:rPr lang="zh-CN" altLang="en-US" sz="3600">
                <a:solidFill>
                  <a:srgbClr val="FF0000"/>
                </a:solidFill>
              </a:rPr>
              <a:t>d /usr/test2 </a:t>
            </a:r>
            <a:r>
              <a:rPr lang="en-US" altLang="zh-CN" sz="3600">
                <a:solidFill>
                  <a:srgbClr val="FF0000"/>
                </a:solidFill>
              </a:rPr>
              <a:t>-</a:t>
            </a:r>
            <a:r>
              <a:rPr lang="zh-CN" altLang="en-US" sz="3600">
                <a:solidFill>
                  <a:srgbClr val="FF0000"/>
                </a:solidFill>
              </a:rPr>
              <a:t>m test2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/>
              <a:t>（3）创建用户test3，让其与test1使用相同的家目录和相同的组（</a:t>
            </a:r>
            <a:r>
              <a:rPr lang="zh-CN" altLang="en-US" sz="3600">
                <a:sym typeface="+mn-ea"/>
              </a:rPr>
              <a:t>不用再创建家目录</a:t>
            </a:r>
            <a:r>
              <a:rPr lang="zh-CN" altLang="en-US" sz="3600"/>
              <a:t>）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/>
              <a:t>#</a:t>
            </a:r>
            <a:r>
              <a:rPr lang="zh-CN" altLang="en-US" sz="3600">
                <a:solidFill>
                  <a:srgbClr val="FF0000"/>
                </a:solidFill>
              </a:rPr>
              <a:t>useradd -d /home/test1 -g test1 -M test3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89DB515F-4A76-15B2-D312-EEC673E83A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创建用户示例（续）</a:t>
            </a:r>
            <a:endParaRPr lang="en-US" altLang="zh-CN">
              <a:sym typeface="+mn-ea"/>
            </a:endParaRP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ED2D25E4-EA4D-DB4C-19C1-31701B2E87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9001125" cy="576103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000"/>
              <a:t>（4）创建用户test4，让其与test1具有相同的UID、家目录和组。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000"/>
              <a:t>   #</a:t>
            </a:r>
            <a:r>
              <a:rPr lang="zh-CN" altLang="en-US" sz="4000">
                <a:solidFill>
                  <a:srgbClr val="FF0000"/>
                </a:solidFill>
              </a:rPr>
              <a:t>useradd -u `id -u test1` -o -g test1 -d /home/test1 test4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D5146B33-CA84-4780-28CB-9329D0F0B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</a:t>
            </a:r>
            <a:r>
              <a:rPr lang="en-US" altLang="zh-CN"/>
              <a:t>useradd</a:t>
            </a:r>
            <a:r>
              <a:rPr lang="zh-CN" altLang="en-US"/>
              <a:t>的说明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630F27DF-F762-B910-0EEA-F893588A7F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001125" cy="576103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/>
              <a:t>使用</a:t>
            </a:r>
            <a:r>
              <a:rPr lang="zh-CN" altLang="en-US" sz="4400">
                <a:solidFill>
                  <a:srgbClr val="FF0000"/>
                </a:solidFill>
              </a:rPr>
              <a:t>非默认模式</a:t>
            </a:r>
            <a:r>
              <a:rPr lang="zh-CN" altLang="en-US" sz="4400"/>
              <a:t>创建用户时，在创建或建后使用时</a:t>
            </a:r>
            <a:r>
              <a:rPr lang="zh-CN" altLang="en-US" sz="4400">
                <a:solidFill>
                  <a:srgbClr val="FF0000"/>
                </a:solidFill>
              </a:rPr>
              <a:t>可能会遇到一些问题</a:t>
            </a:r>
            <a:r>
              <a:rPr lang="zh-CN" altLang="en-US" sz="4400"/>
              <a:t>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400"/>
              <a:t>例如，若指定的目录</a:t>
            </a:r>
            <a:r>
              <a:rPr lang="zh-CN" altLang="en-US" sz="4400">
                <a:solidFill>
                  <a:srgbClr val="FF0000"/>
                </a:solidFill>
              </a:rPr>
              <a:t>新用户不可访问或没有创建</a:t>
            </a:r>
            <a:r>
              <a:rPr lang="zh-CN" altLang="en-US" sz="4400"/>
              <a:t>，则创建后</a:t>
            </a:r>
            <a:r>
              <a:rPr lang="zh-CN" altLang="en-US" sz="4400">
                <a:solidFill>
                  <a:srgbClr val="FF0000"/>
                </a:solidFill>
              </a:rPr>
              <a:t>不能登录</a:t>
            </a:r>
            <a:r>
              <a:rPr lang="zh-CN" altLang="en-US" sz="4400"/>
              <a:t>；若指定的</a:t>
            </a:r>
            <a:r>
              <a:rPr lang="zh-CN" altLang="en-US" sz="4400">
                <a:solidFill>
                  <a:srgbClr val="FF0000"/>
                </a:solidFill>
              </a:rPr>
              <a:t>uid不合适</a:t>
            </a:r>
            <a:r>
              <a:rPr lang="zh-CN" altLang="en-US" sz="4400"/>
              <a:t>，则可能会</a:t>
            </a:r>
            <a:r>
              <a:rPr lang="zh-CN" altLang="en-US" sz="4400">
                <a:solidFill>
                  <a:srgbClr val="FF0000"/>
                </a:solidFill>
              </a:rPr>
              <a:t>创建失败</a:t>
            </a:r>
            <a:r>
              <a:rPr lang="zh-CN" altLang="en-US" sz="4400"/>
              <a:t>。若指定的</a:t>
            </a:r>
            <a:r>
              <a:rPr lang="zh-CN" altLang="en-US" sz="4400">
                <a:solidFill>
                  <a:srgbClr val="FF0000"/>
                </a:solidFill>
              </a:rPr>
              <a:t>组不合适</a:t>
            </a:r>
            <a:r>
              <a:rPr lang="zh-CN" altLang="en-US" sz="4400"/>
              <a:t>，也会导致</a:t>
            </a:r>
            <a:r>
              <a:rPr lang="zh-CN" altLang="en-US" sz="4400">
                <a:solidFill>
                  <a:srgbClr val="FF0000"/>
                </a:solidFill>
              </a:rPr>
              <a:t>创建失败</a:t>
            </a:r>
            <a:r>
              <a:rPr lang="zh-CN" altLang="en-US" sz="4400"/>
              <a:t>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D54BCB4D-497B-392E-8852-20A93A427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4.3.2  用户删除（userdel）</a:t>
            </a:r>
          </a:p>
        </p:txBody>
      </p:sp>
      <p:sp>
        <p:nvSpPr>
          <p:cNvPr id="32771" name="内容占位符 2">
            <a:extLst>
              <a:ext uri="{FF2B5EF4-FFF2-40B4-BE49-F238E27FC236}">
                <a16:creationId xmlns:a16="http://schemas.microsoft.com/office/drawing/2014/main" id="{21CE06A8-7A09-0790-1561-66615E1B95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074150" cy="576103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800"/>
              <a:t>对于系统中</a:t>
            </a:r>
            <a:r>
              <a:rPr lang="zh-CN" altLang="en-US" sz="4800">
                <a:solidFill>
                  <a:srgbClr val="FF0000"/>
                </a:solidFill>
              </a:rPr>
              <a:t>不再使用的用户账号</a:t>
            </a:r>
            <a:r>
              <a:rPr lang="zh-CN" altLang="en-US" sz="4800"/>
              <a:t>，应</a:t>
            </a:r>
            <a:r>
              <a:rPr lang="zh-CN" altLang="en-US" sz="4800">
                <a:solidFill>
                  <a:srgbClr val="FF0000"/>
                </a:solidFill>
              </a:rPr>
              <a:t>尽早删除</a:t>
            </a:r>
            <a:r>
              <a:rPr lang="zh-CN" altLang="en-US" sz="4800"/>
              <a:t>它，因为</a:t>
            </a:r>
            <a:r>
              <a:rPr lang="zh-CN" altLang="en-US" sz="4800">
                <a:solidFill>
                  <a:srgbClr val="FF0000"/>
                </a:solidFill>
              </a:rPr>
              <a:t>多余用户</a:t>
            </a:r>
            <a:r>
              <a:rPr lang="zh-CN" altLang="en-US" sz="4800"/>
              <a:t>的</a:t>
            </a:r>
            <a:r>
              <a:rPr lang="zh-CN" altLang="en-US" sz="4800">
                <a:solidFill>
                  <a:srgbClr val="FF0000"/>
                </a:solidFill>
              </a:rPr>
              <a:t>存在</a:t>
            </a:r>
            <a:r>
              <a:rPr lang="zh-CN" altLang="en-US" sz="4800"/>
              <a:t>是</a:t>
            </a:r>
            <a:r>
              <a:rPr lang="zh-CN" altLang="en-US" sz="4800">
                <a:solidFill>
                  <a:srgbClr val="FF0000"/>
                </a:solidFill>
              </a:rPr>
              <a:t>安全隐患</a:t>
            </a:r>
            <a:r>
              <a:rPr lang="zh-CN" altLang="en-US" sz="4800"/>
              <a:t>。删除用户的命令是userdel。用法为：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800"/>
              <a:t>  userdel [-r] user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800"/>
              <a:t>选项</a:t>
            </a:r>
            <a:r>
              <a:rPr lang="zh-CN" altLang="en-US" sz="4800">
                <a:solidFill>
                  <a:srgbClr val="FF0000"/>
                </a:solidFill>
              </a:rPr>
              <a:t>-r</a:t>
            </a:r>
            <a:r>
              <a:rPr lang="zh-CN" altLang="en-US" sz="4800"/>
              <a:t>用于在删除用户的同时，删除用户的</a:t>
            </a:r>
            <a:r>
              <a:rPr lang="zh-CN" altLang="en-US" sz="4800">
                <a:solidFill>
                  <a:srgbClr val="FF0000"/>
                </a:solidFill>
              </a:rPr>
              <a:t>家目录</a:t>
            </a:r>
            <a:r>
              <a:rPr lang="zh-CN" altLang="en-US" sz="4800"/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71AAEB83-693F-35A3-1481-218A963E12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关于用户删除的说明</a:t>
            </a:r>
            <a:endParaRPr lang="zh-CN" altLang="en-US"/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4F683C45-3974-4AFF-5528-C12E00FF53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9036050" cy="576103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/>
              <a:t>（1）在某些</a:t>
            </a:r>
            <a:r>
              <a:rPr lang="zh-CN" altLang="en-US">
                <a:solidFill>
                  <a:srgbClr val="FF0000"/>
                </a:solidFill>
              </a:rPr>
              <a:t>高安全级别的UNIX</a:t>
            </a:r>
            <a:r>
              <a:rPr lang="zh-CN" altLang="en-US"/>
              <a:t>里，用户一旦被创建，是</a:t>
            </a:r>
            <a:r>
              <a:rPr lang="zh-CN" altLang="en-US">
                <a:solidFill>
                  <a:srgbClr val="FF0000"/>
                </a:solidFill>
              </a:rPr>
              <a:t>不能随便从系统中删除</a:t>
            </a:r>
            <a:r>
              <a:rPr lang="zh-CN" altLang="en-US"/>
              <a:t>的，用户的</a:t>
            </a:r>
            <a:r>
              <a:rPr lang="zh-CN" altLang="en-US">
                <a:solidFill>
                  <a:srgbClr val="FF0000"/>
                </a:solidFill>
              </a:rPr>
              <a:t>uid也不能被再重新</a:t>
            </a:r>
            <a:r>
              <a:rPr lang="zh-CN" altLang="en-US"/>
              <a:t>使用，但可以</a:t>
            </a:r>
            <a:r>
              <a:rPr lang="zh-CN" altLang="en-US">
                <a:solidFill>
                  <a:srgbClr val="FF0000"/>
                </a:solidFill>
              </a:rPr>
              <a:t>通过过期或上锁</a:t>
            </a:r>
            <a:r>
              <a:rPr lang="zh-CN" altLang="en-US"/>
              <a:t>的办法将它闲置起来。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/>
              <a:t>（2）对于</a:t>
            </a:r>
            <a:r>
              <a:rPr lang="zh-CN" altLang="en-US">
                <a:solidFill>
                  <a:srgbClr val="FF0000"/>
                </a:solidFill>
              </a:rPr>
              <a:t>已经登录</a:t>
            </a:r>
            <a:r>
              <a:rPr lang="zh-CN" altLang="en-US"/>
              <a:t>的用户或</a:t>
            </a:r>
            <a:r>
              <a:rPr lang="zh-CN" altLang="en-US">
                <a:solidFill>
                  <a:srgbClr val="FF0000"/>
                </a:solidFill>
              </a:rPr>
              <a:t>有属于该用户程序在运行</a:t>
            </a:r>
            <a:r>
              <a:rPr lang="zh-CN" altLang="en-US"/>
              <a:t>的用户来说，删除可能失败。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/>
              <a:t>（3）一般情况下，删除用户时</a:t>
            </a:r>
            <a:r>
              <a:rPr lang="zh-CN" altLang="en-US">
                <a:solidFill>
                  <a:srgbClr val="FF0000"/>
                </a:solidFill>
              </a:rPr>
              <a:t>只删除/etc/passwd，/etc/shadow，/etc/group及相关文件中与该用户相关的内容，而不删除用户的家目录</a:t>
            </a:r>
            <a:r>
              <a:rPr lang="zh-CN" altLang="en-US"/>
              <a:t>。因为用户家目录中可能存放重要数据，对用户家目录的删除应由用户或经用户确认后由管理员来进行。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/>
              <a:t>（4）若要在删除用户的同时删除用户家目录，</a:t>
            </a:r>
            <a:r>
              <a:rPr lang="zh-CN" altLang="en-US">
                <a:solidFill>
                  <a:srgbClr val="FF0000"/>
                </a:solidFill>
              </a:rPr>
              <a:t>可使用-r</a:t>
            </a:r>
            <a:r>
              <a:rPr lang="zh-CN" altLang="en-US"/>
              <a:t>选项。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79B740EF-1E3D-6353-3112-91C75176B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4.3.3  用户修改（usermod）</a:t>
            </a:r>
          </a:p>
        </p:txBody>
      </p:sp>
      <p:sp>
        <p:nvSpPr>
          <p:cNvPr id="37891" name="内容占位符 2">
            <a:extLst>
              <a:ext uri="{FF2B5EF4-FFF2-40B4-BE49-F238E27FC236}">
                <a16:creationId xmlns:a16="http://schemas.microsoft.com/office/drawing/2014/main" id="{CA294181-C775-129F-879B-91512931D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620713"/>
            <a:ext cx="9109075" cy="576103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/>
              <a:t>当用户被创建之后，它的</a:t>
            </a:r>
            <a:r>
              <a:rPr lang="zh-CN" altLang="en-US" sz="3600" dirty="0">
                <a:solidFill>
                  <a:srgbClr val="FF0000"/>
                </a:solidFill>
              </a:rPr>
              <a:t>属性</a:t>
            </a:r>
            <a:r>
              <a:rPr lang="zh-CN" altLang="en-US" sz="3600" dirty="0"/>
              <a:t>可通过命令usermod来</a:t>
            </a:r>
            <a:r>
              <a:rPr lang="zh-CN" altLang="en-US" sz="3600" dirty="0">
                <a:solidFill>
                  <a:srgbClr val="FF0000"/>
                </a:solidFill>
              </a:rPr>
              <a:t>修改</a:t>
            </a:r>
            <a:r>
              <a:rPr lang="zh-CN" altLang="en-US" sz="3600" dirty="0"/>
              <a:t>。用法为：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600" dirty="0"/>
              <a:t>  usermod [options] [-l newname] [-L|-U] user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/>
              <a:t>usermod的</a:t>
            </a:r>
            <a:r>
              <a:rPr lang="zh-CN" altLang="en-US" sz="3600" dirty="0">
                <a:solidFill>
                  <a:srgbClr val="FF0000"/>
                </a:solidFill>
              </a:rPr>
              <a:t>多数选项与useradd的选项相同且意义相同</a:t>
            </a:r>
            <a:r>
              <a:rPr lang="zh-CN" altLang="en-US" sz="3600" dirty="0"/>
              <a:t>（参见表4-1）。</a:t>
            </a:r>
            <a:r>
              <a:rPr lang="zh-CN" altLang="en-US" sz="3600" dirty="0">
                <a:solidFill>
                  <a:srgbClr val="FF0000"/>
                </a:solidFill>
              </a:rPr>
              <a:t>增加</a:t>
            </a:r>
            <a:r>
              <a:rPr lang="zh-CN" altLang="en-US" sz="3600" dirty="0"/>
              <a:t>的选项有：-l newname </a:t>
            </a:r>
            <a:r>
              <a:rPr lang="en-US" altLang="zh-CN" sz="3600" dirty="0"/>
              <a:t>name</a:t>
            </a:r>
            <a:r>
              <a:rPr lang="zh-CN" altLang="en-US" sz="3600" dirty="0"/>
              <a:t>：</a:t>
            </a:r>
            <a:r>
              <a:rPr lang="zh-CN" altLang="en-US" sz="3600" dirty="0">
                <a:solidFill>
                  <a:srgbClr val="FF0000"/>
                </a:solidFill>
              </a:rPr>
              <a:t>设置用户新名字</a:t>
            </a:r>
            <a:r>
              <a:rPr lang="zh-CN" altLang="en-US" sz="3600" dirty="0"/>
              <a:t>，将用户名由原来的name变为newname。-L：将</a:t>
            </a:r>
            <a:r>
              <a:rPr lang="zh-CN" altLang="en-US" sz="3600" dirty="0">
                <a:solidFill>
                  <a:srgbClr val="FF0000"/>
                </a:solidFill>
              </a:rPr>
              <a:t>用户密码上锁</a:t>
            </a:r>
            <a:r>
              <a:rPr lang="zh-CN" altLang="en-US" sz="3600" dirty="0"/>
              <a:t>。-U：将</a:t>
            </a:r>
            <a:r>
              <a:rPr lang="zh-CN" altLang="en-US" sz="3600" dirty="0">
                <a:solidFill>
                  <a:srgbClr val="FF0000"/>
                </a:solidFill>
              </a:rPr>
              <a:t>用户密码解锁</a:t>
            </a:r>
            <a:r>
              <a:rPr lang="zh-CN" altLang="en-US" sz="3600" dirty="0"/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B8BA0646-8597-B215-8CD6-A66F706BF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4.4  组管理命令</a:t>
            </a:r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0B08A921-12EE-D73C-12DB-7AD389E5E7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6000"/>
              <a:t>用于组管理的命令有</a:t>
            </a:r>
            <a:r>
              <a:rPr lang="zh-CN" altLang="en-US" sz="6000">
                <a:solidFill>
                  <a:srgbClr val="FF0000"/>
                </a:solidFill>
              </a:rPr>
              <a:t>groupadd</a:t>
            </a:r>
            <a:r>
              <a:rPr lang="zh-CN" altLang="en-US" sz="6000"/>
              <a:t>、</a:t>
            </a:r>
            <a:r>
              <a:rPr lang="zh-CN" altLang="en-US" sz="6000">
                <a:solidFill>
                  <a:srgbClr val="FF0000"/>
                </a:solidFill>
              </a:rPr>
              <a:t>groupmod</a:t>
            </a:r>
            <a:r>
              <a:rPr lang="zh-CN" altLang="en-US" sz="6000"/>
              <a:t>和</a:t>
            </a:r>
            <a:r>
              <a:rPr lang="zh-CN" altLang="en-US" sz="6000">
                <a:solidFill>
                  <a:srgbClr val="FF0000"/>
                </a:solidFill>
              </a:rPr>
              <a:t>groupdel</a:t>
            </a:r>
            <a:r>
              <a:rPr lang="zh-CN" altLang="en-US" sz="6000"/>
              <a:t>，它们分别用于组的创建、修改和删除。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710AF1B3-64F4-43C0-A44B-61626CA13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4.4.1  组创建（groupadd）</a:t>
            </a: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99D05C3C-E9B5-D430-18B7-87FEB0BF8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620713"/>
            <a:ext cx="9109075" cy="576103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/>
              <a:t>1．功能及用法  功能是</a:t>
            </a:r>
            <a:r>
              <a:rPr lang="zh-CN" altLang="en-US" sz="3200" dirty="0">
                <a:solidFill>
                  <a:srgbClr val="FF0000"/>
                </a:solidFill>
              </a:rPr>
              <a:t>创建新组</a:t>
            </a:r>
            <a:r>
              <a:rPr lang="zh-CN" altLang="en-US" sz="3200" dirty="0"/>
              <a:t>，其</a:t>
            </a:r>
            <a:r>
              <a:rPr lang="zh-CN" altLang="en-US" sz="3200" dirty="0">
                <a:solidFill>
                  <a:srgbClr val="FF0000"/>
                </a:solidFill>
              </a:rPr>
              <a:t>用法</a:t>
            </a:r>
            <a:r>
              <a:rPr lang="zh-CN" altLang="en-US" sz="3200" dirty="0"/>
              <a:t>为：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  groupadd [-g gid [-o]] [-r] [-f] group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/>
              <a:t>2．参数与说明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-f：当指定组已经存在时，不报告错误而直接成功返回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-g gid</a:t>
            </a:r>
            <a:r>
              <a:rPr lang="zh-CN" altLang="en-US" sz="3200" dirty="0"/>
              <a:t>：	指定新创建组gid</a:t>
            </a:r>
            <a:r>
              <a:rPr lang="en-US" altLang="zh-CN" sz="3200" dirty="0"/>
              <a:t>(</a:t>
            </a:r>
            <a:r>
              <a:rPr lang="zh-CN" altLang="en-US" sz="3200" dirty="0"/>
              <a:t>GID_MIN≤gid≤GID_MAX</a:t>
            </a:r>
            <a:r>
              <a:rPr lang="en-US" altLang="zh-CN" sz="3200" dirty="0"/>
              <a:t>)</a:t>
            </a:r>
            <a:endParaRPr lang="zh-CN" altLang="en-US" sz="32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-o：允许使用-g gid指定一个与已经存在组相同的gid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-r</a:t>
            </a:r>
            <a:r>
              <a:rPr lang="zh-CN" altLang="en-US" sz="3200" dirty="0"/>
              <a:t>：创建系统组（0≤gid&lt;GID_MIN）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>
            <a:extLst>
              <a:ext uri="{FF2B5EF4-FFF2-40B4-BE49-F238E27FC236}">
                <a16:creationId xmlns:a16="http://schemas.microsoft.com/office/drawing/2014/main" id="{F600036E-5AAE-848E-A5D9-2967E30CA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关于组创建的说明</a:t>
            </a:r>
          </a:p>
        </p:txBody>
      </p:sp>
      <p:sp>
        <p:nvSpPr>
          <p:cNvPr id="37891" name="内容占位符 2">
            <a:extLst>
              <a:ext uri="{FF2B5EF4-FFF2-40B4-BE49-F238E27FC236}">
                <a16:creationId xmlns:a16="http://schemas.microsoft.com/office/drawing/2014/main" id="{BF74ED44-AA3C-6E89-AE22-E4EE82F72C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109075" cy="5761037"/>
          </a:xfrm>
        </p:spPr>
        <p:txBody>
          <a:bodyPr/>
          <a:lstStyle/>
          <a:p>
            <a:r>
              <a:rPr lang="zh-CN" altLang="en-US" sz="3600">
                <a:sym typeface="+mn-ea"/>
              </a:rPr>
              <a:t>Linux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默认</a:t>
            </a:r>
            <a:r>
              <a:rPr lang="zh-CN" altLang="en-US" sz="3600">
                <a:sym typeface="+mn-ea"/>
              </a:rPr>
              <a:t>，在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创建用户</a:t>
            </a:r>
            <a:r>
              <a:rPr lang="zh-CN" altLang="en-US" sz="3600">
                <a:sym typeface="+mn-ea"/>
              </a:rPr>
              <a:t>时创建一个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与用户名同名的组</a:t>
            </a:r>
            <a:r>
              <a:rPr lang="zh-CN" altLang="en-US" sz="3600">
                <a:sym typeface="+mn-ea"/>
              </a:rPr>
              <a:t>，如果想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改变这种默认</a:t>
            </a:r>
            <a:r>
              <a:rPr lang="zh-CN" altLang="en-US" sz="3600">
                <a:sym typeface="+mn-ea"/>
              </a:rPr>
              <a:t>，使新用户所在的组为某个已经存在的组，则可以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在创建用户时使用-g group指定一个已经存在的组</a:t>
            </a:r>
            <a:r>
              <a:rPr lang="zh-CN" altLang="en-US" sz="3600">
                <a:sym typeface="+mn-ea"/>
              </a:rPr>
              <a:t>。一个已经存在的组可能是由useradd在创建用户时自动创建的，也可能是使用groupadd创建的。</a:t>
            </a:r>
          </a:p>
          <a:p>
            <a:r>
              <a:rPr lang="zh-CN" altLang="en-US" sz="3600"/>
              <a:t>当一个用户需要一个还不存在的指定组时，</a:t>
            </a:r>
            <a:r>
              <a:rPr lang="zh-CN" altLang="en-US" sz="3600">
                <a:solidFill>
                  <a:srgbClr val="FF0000"/>
                </a:solidFill>
              </a:rPr>
              <a:t>可在创建用户前使用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groupadd创建之</a:t>
            </a:r>
            <a:r>
              <a:rPr lang="zh-CN" altLang="en-US" sz="3600">
                <a:sym typeface="+mn-ea"/>
              </a:rPr>
              <a:t>。</a:t>
            </a:r>
            <a:endParaRPr lang="en-US" altLang="zh-CN" sz="3600"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>
            <a:extLst>
              <a:ext uri="{FF2B5EF4-FFF2-40B4-BE49-F238E27FC236}">
                <a16:creationId xmlns:a16="http://schemas.microsoft.com/office/drawing/2014/main" id="{DBF3C777-DFB5-8FD8-64BE-C80CEFD150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4.4.2  组删除（groupdel）</a:t>
            </a:r>
            <a:endParaRPr lang="zh-CN" altLang="en-US"/>
          </a:p>
        </p:txBody>
      </p:sp>
      <p:sp>
        <p:nvSpPr>
          <p:cNvPr id="38915" name="内容占位符 2">
            <a:extLst>
              <a:ext uri="{FF2B5EF4-FFF2-40B4-BE49-F238E27FC236}">
                <a16:creationId xmlns:a16="http://schemas.microsoft.com/office/drawing/2014/main" id="{2A551B1E-52DC-CAB4-4763-67E569F600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03605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用于</a:t>
            </a:r>
            <a:r>
              <a:rPr lang="zh-CN" altLang="en-US" sz="4000">
                <a:solidFill>
                  <a:srgbClr val="FF0000"/>
                </a:solidFill>
              </a:rPr>
              <a:t>删除</a:t>
            </a:r>
            <a:r>
              <a:rPr lang="zh-CN" altLang="en-US" sz="4000"/>
              <a:t>系统中</a:t>
            </a:r>
            <a:r>
              <a:rPr lang="zh-CN" altLang="en-US" sz="4000">
                <a:solidFill>
                  <a:srgbClr val="FF0000"/>
                </a:solidFill>
              </a:rPr>
              <a:t>已经存在的组</a:t>
            </a:r>
            <a:r>
              <a:rPr lang="zh-CN" altLang="en-US" sz="4000"/>
              <a:t>，其用法为：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olidFill>
                  <a:srgbClr val="FF0000"/>
                </a:solidFill>
              </a:rPr>
              <a:t>   groupdel group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说明：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groupdel</a:t>
            </a:r>
            <a:r>
              <a:rPr lang="zh-CN" altLang="en-US" sz="4000">
                <a:solidFill>
                  <a:srgbClr val="FF0000"/>
                </a:solidFill>
              </a:rPr>
              <a:t>不能删除</a:t>
            </a:r>
            <a:r>
              <a:rPr lang="zh-CN" altLang="en-US" sz="4000"/>
              <a:t>系统中仍然存在的</a:t>
            </a:r>
            <a:r>
              <a:rPr lang="zh-CN" altLang="en-US" sz="4000">
                <a:solidFill>
                  <a:srgbClr val="FF0000"/>
                </a:solidFill>
              </a:rPr>
              <a:t>用户</a:t>
            </a:r>
            <a:r>
              <a:rPr lang="zh-CN" altLang="en-US" sz="4000"/>
              <a:t>的</a:t>
            </a:r>
            <a:r>
              <a:rPr lang="zh-CN" altLang="en-US" sz="4000">
                <a:solidFill>
                  <a:srgbClr val="FF0000"/>
                </a:solidFill>
              </a:rPr>
              <a:t>基本组</a:t>
            </a:r>
            <a:r>
              <a:rPr lang="zh-CN" altLang="en-US" sz="4000"/>
              <a:t>，也就是说只有先删除用户，才能删除它所拥有的基本组。在有的系统中，如果</a:t>
            </a:r>
            <a:r>
              <a:rPr lang="zh-CN" altLang="en-US" sz="4000">
                <a:solidFill>
                  <a:srgbClr val="FF0000"/>
                </a:solidFill>
              </a:rPr>
              <a:t>组内成员不空</a:t>
            </a:r>
            <a:r>
              <a:rPr lang="zh-CN" altLang="en-US" sz="4000"/>
              <a:t>，也不能被删除。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>
            <a:extLst>
              <a:ext uri="{FF2B5EF4-FFF2-40B4-BE49-F238E27FC236}">
                <a16:creationId xmlns:a16="http://schemas.microsoft.com/office/drawing/2014/main" id="{773DF815-D79F-0E10-5648-0967D3906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4.4.3  组修改（groupmod）</a:t>
            </a: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C1F19C9C-E549-4404-5DFF-099EC2B2DF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07415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groupmod用于</a:t>
            </a:r>
            <a:r>
              <a:rPr lang="zh-CN" altLang="en-US" sz="3600">
                <a:solidFill>
                  <a:srgbClr val="FF0000"/>
                </a:solidFill>
              </a:rPr>
              <a:t>修改</a:t>
            </a:r>
            <a:r>
              <a:rPr lang="zh-CN" altLang="en-US" sz="3600"/>
              <a:t>系统中</a:t>
            </a:r>
            <a:r>
              <a:rPr lang="zh-CN" altLang="en-US" sz="3600">
                <a:solidFill>
                  <a:srgbClr val="FF0000"/>
                </a:solidFill>
              </a:rPr>
              <a:t>已经存在组的属性</a:t>
            </a:r>
            <a:r>
              <a:rPr lang="zh-CN" altLang="en-US" sz="3600"/>
              <a:t>。用法为：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800"/>
              <a:t>  groupmod [-g gid [-o]] [-n newgroup] group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olidFill>
                  <a:srgbClr val="FF0000"/>
                </a:solidFill>
              </a:rPr>
              <a:t>-n </a:t>
            </a:r>
            <a:r>
              <a:rPr lang="zh-CN" altLang="en-US" sz="3600">
                <a:solidFill>
                  <a:srgbClr val="FF0000"/>
                </a:solidFill>
                <a:sym typeface="+mn-ea"/>
              </a:rPr>
              <a:t>newgroup</a:t>
            </a:r>
            <a:r>
              <a:rPr lang="zh-CN" altLang="en-US" sz="3600">
                <a:sym typeface="+mn-ea"/>
              </a:rPr>
              <a:t>：用于组更名</a:t>
            </a:r>
            <a:r>
              <a:rPr lang="zh-CN" altLang="en-US" sz="3600"/>
              <a:t>，将组group更名为newgroup。当使用</a:t>
            </a:r>
            <a:r>
              <a:rPr lang="zh-CN" altLang="en-US" sz="3600">
                <a:solidFill>
                  <a:srgbClr val="FF0000"/>
                </a:solidFill>
              </a:rPr>
              <a:t>-g gid</a:t>
            </a:r>
            <a:r>
              <a:rPr lang="zh-CN" altLang="en-US" sz="3600"/>
              <a:t>时，用于更改组的gid，若指定的gid已经被使用，则必须使用-o告诉groupmod这是一个旧组号，或一个已存在的组。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>
            <a:extLst>
              <a:ext uri="{FF2B5EF4-FFF2-40B4-BE49-F238E27FC236}">
                <a16:creationId xmlns:a16="http://schemas.microsoft.com/office/drawing/2014/main" id="{2BE367C8-3DA2-B5CA-4614-191F6D529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4.5  密码安全与管理</a:t>
            </a:r>
          </a:p>
        </p:txBody>
      </p:sp>
      <p:sp>
        <p:nvSpPr>
          <p:cNvPr id="40963" name="内容占位符 2">
            <a:extLst>
              <a:ext uri="{FF2B5EF4-FFF2-40B4-BE49-F238E27FC236}">
                <a16:creationId xmlns:a16="http://schemas.microsoft.com/office/drawing/2014/main" id="{8D8C8687-47C2-0AB5-328F-78C73F3682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928100" cy="576103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6000"/>
              <a:t>4.5.1 密码安全管理综述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6000"/>
              <a:t>4.5.2 密码管理命令（passwd）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6000"/>
              <a:t>4.5.3  密码管理示例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>
            <a:extLst>
              <a:ext uri="{FF2B5EF4-FFF2-40B4-BE49-F238E27FC236}">
                <a16:creationId xmlns:a16="http://schemas.microsoft.com/office/drawing/2014/main" id="{D3026957-436F-260C-57EA-72434C0DC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4.5.1  密码安全管理综述</a:t>
            </a:r>
            <a:endParaRPr lang="zh-CN" altLang="en-US"/>
          </a:p>
        </p:txBody>
      </p:sp>
      <p:sp>
        <p:nvSpPr>
          <p:cNvPr id="41987" name="内容占位符 2">
            <a:extLst>
              <a:ext uri="{FF2B5EF4-FFF2-40B4-BE49-F238E27FC236}">
                <a16:creationId xmlns:a16="http://schemas.microsoft.com/office/drawing/2014/main" id="{DC558D90-2AF2-1618-4A12-E77585A5D2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324975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UNIX/Linux系统的</a:t>
            </a:r>
            <a:r>
              <a:rPr lang="zh-CN" altLang="en-US" sz="3200">
                <a:solidFill>
                  <a:srgbClr val="FF0000"/>
                </a:solidFill>
              </a:rPr>
              <a:t>标准安全级别为C2级</a:t>
            </a:r>
            <a:r>
              <a:rPr lang="en-US" altLang="zh-CN" sz="3200">
                <a:solidFill>
                  <a:srgbClr val="FF0000"/>
                </a:solidFill>
              </a:rPr>
              <a:t>(</a:t>
            </a:r>
            <a:r>
              <a:rPr lang="en-US" altLang="zh-CN" sz="3200" u="sng"/>
              <a:t>TCSEC</a:t>
            </a:r>
            <a:r>
              <a:rPr lang="zh-CN" altLang="en-US" sz="3200" u="sng"/>
              <a:t>标准</a:t>
            </a:r>
            <a:r>
              <a:rPr lang="en-US" altLang="zh-CN" sz="3200" b="0"/>
              <a:t>)</a:t>
            </a:r>
            <a:r>
              <a:rPr lang="zh-CN" altLang="en-US" sz="3200"/>
              <a:t>，具有</a:t>
            </a:r>
            <a:r>
              <a:rPr lang="zh-CN" altLang="en-US" sz="3200" u="sng">
                <a:solidFill>
                  <a:srgbClr val="FF0000"/>
                </a:solidFill>
              </a:rPr>
              <a:t>用户身份认证</a:t>
            </a:r>
            <a:r>
              <a:rPr lang="zh-CN" altLang="en-US" sz="3200" u="sng"/>
              <a:t>、</a:t>
            </a:r>
            <a:r>
              <a:rPr lang="zh-CN" altLang="en-US" sz="3200" u="sng">
                <a:solidFill>
                  <a:srgbClr val="FF0000"/>
                </a:solidFill>
              </a:rPr>
              <a:t>访问控制和操作的可靠性</a:t>
            </a:r>
            <a:r>
              <a:rPr lang="zh-CN" altLang="en-US" sz="3200"/>
              <a:t>等特点。</a:t>
            </a:r>
            <a:r>
              <a:rPr lang="zh-CN" altLang="en-US" sz="3200">
                <a:solidFill>
                  <a:srgbClr val="FF0000"/>
                </a:solidFill>
              </a:rPr>
              <a:t>密码管理是实现</a:t>
            </a:r>
            <a:r>
              <a:rPr lang="zh-CN" altLang="en-US" sz="3200" i="1" u="sng">
                <a:solidFill>
                  <a:srgbClr val="FF0000"/>
                </a:solidFill>
              </a:rPr>
              <a:t>身份认证</a:t>
            </a:r>
            <a:r>
              <a:rPr lang="zh-CN" altLang="en-US" sz="3200">
                <a:solidFill>
                  <a:srgbClr val="FF0000"/>
                </a:solidFill>
              </a:rPr>
              <a:t>的基础。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可用于</a:t>
            </a:r>
            <a:r>
              <a:rPr lang="zh-CN" altLang="en-US" sz="3200">
                <a:solidFill>
                  <a:srgbClr val="FF0000"/>
                </a:solidFill>
              </a:rPr>
              <a:t>密码的字符是广泛</a:t>
            </a:r>
            <a:r>
              <a:rPr lang="zh-CN" altLang="en-US" sz="3200"/>
              <a:t>的，视不同系统而定。一般来说，</a:t>
            </a:r>
            <a:r>
              <a:rPr lang="zh-CN" altLang="en-US" sz="3200">
                <a:solidFill>
                  <a:srgbClr val="FF0000"/>
                </a:solidFill>
              </a:rPr>
              <a:t>可以使用大小写字母、数字、标点符号</a:t>
            </a:r>
            <a:r>
              <a:rPr lang="zh-CN" altLang="en-US" sz="3200"/>
              <a:t>等，有的系统甚至可以使用光标键和功能键等。密码的长度也视具体系统或安全级而定。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 i="1" u="sng">
                <a:solidFill>
                  <a:srgbClr val="FF0000"/>
                </a:solidFill>
                <a:sym typeface="+mn-ea"/>
              </a:rPr>
              <a:t>系统的安全与方便是矛盾的</a:t>
            </a:r>
            <a:r>
              <a:rPr lang="zh-CN" altLang="en-US" sz="3200">
                <a:sym typeface="+mn-ea"/>
              </a:rPr>
              <a:t>，</a:t>
            </a:r>
            <a:r>
              <a:rPr lang="zh-CN" altLang="en-US" sz="3200" i="1">
                <a:sym typeface="+mn-ea"/>
              </a:rPr>
              <a:t>不能因方便而忽略安全问题，也不能因过于强调安全而影响正常使用，应该在安全和方便之间找到平衡点或进行取舍</a:t>
            </a:r>
            <a:r>
              <a:rPr lang="zh-CN" altLang="en-US" sz="3200">
                <a:sym typeface="+mn-ea"/>
              </a:rPr>
              <a:t>。</a:t>
            </a:r>
            <a:endParaRPr lang="zh-CN" altLang="en-US" sz="3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>
            <a:extLst>
              <a:ext uri="{FF2B5EF4-FFF2-40B4-BE49-F238E27FC236}">
                <a16:creationId xmlns:a16="http://schemas.microsoft.com/office/drawing/2014/main" id="{DB439097-5663-C598-B776-24F9BEF52E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几个安全</a:t>
            </a:r>
            <a:r>
              <a:rPr lang="zh-CN" altLang="en-US">
                <a:sym typeface="+mn-ea"/>
              </a:rPr>
              <a:t>注意事项</a:t>
            </a:r>
            <a:endParaRPr lang="zh-CN" altLang="en-US"/>
          </a:p>
        </p:txBody>
      </p:sp>
      <p:sp>
        <p:nvSpPr>
          <p:cNvPr id="43011" name="内容占位符 2">
            <a:extLst>
              <a:ext uri="{FF2B5EF4-FFF2-40B4-BE49-F238E27FC236}">
                <a16:creationId xmlns:a16="http://schemas.microsoft.com/office/drawing/2014/main" id="{4C8F2B57-E9AB-6D15-A2F6-E1C7C85211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001125" cy="5761037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/>
              <a:t>（1）密码应该按规定</a:t>
            </a:r>
            <a:r>
              <a:rPr lang="zh-CN" altLang="en-US" sz="3600">
                <a:solidFill>
                  <a:srgbClr val="FF0000"/>
                </a:solidFill>
              </a:rPr>
              <a:t>定期或不定期修改</a:t>
            </a:r>
            <a:r>
              <a:rPr lang="zh-CN" altLang="en-US" sz="3600"/>
              <a:t>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/>
              <a:t>（2）密码内</a:t>
            </a:r>
            <a:r>
              <a:rPr lang="zh-CN" altLang="en-US" sz="3600">
                <a:solidFill>
                  <a:srgbClr val="FF0000"/>
                </a:solidFill>
              </a:rPr>
              <a:t>不应包含完整</a:t>
            </a:r>
            <a:r>
              <a:rPr lang="zh-CN" altLang="en-US" sz="3600"/>
              <a:t>的单词、生日、电话号码、姓名、用户名、组名、宠物和地址等信息。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/>
              <a:t>（3）</a:t>
            </a:r>
            <a:r>
              <a:rPr lang="zh-CN" altLang="en-US" sz="3600">
                <a:solidFill>
                  <a:srgbClr val="FF0000"/>
                </a:solidFill>
              </a:rPr>
              <a:t>不同系统和用户</a:t>
            </a:r>
            <a:r>
              <a:rPr lang="zh-CN" altLang="en-US" sz="3600"/>
              <a:t>应该有</a:t>
            </a:r>
            <a:r>
              <a:rPr lang="zh-CN" altLang="en-US" sz="3600">
                <a:solidFill>
                  <a:srgbClr val="FF0000"/>
                </a:solidFill>
              </a:rPr>
              <a:t>不同</a:t>
            </a:r>
            <a:r>
              <a:rPr lang="zh-CN" altLang="en-US" sz="3600"/>
              <a:t>的密码。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/>
              <a:t>（4）密码应</a:t>
            </a:r>
            <a:r>
              <a:rPr lang="zh-CN" altLang="en-US" sz="3600">
                <a:solidFill>
                  <a:srgbClr val="FF0000"/>
                </a:solidFill>
              </a:rPr>
              <a:t>易记且不要写在纸上</a:t>
            </a:r>
            <a:r>
              <a:rPr lang="zh-CN" altLang="en-US" sz="3600"/>
              <a:t>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/>
              <a:t>（5）</a:t>
            </a:r>
            <a:r>
              <a:rPr lang="zh-CN" altLang="en-US" sz="3600">
                <a:solidFill>
                  <a:srgbClr val="FF0000"/>
                </a:solidFill>
              </a:rPr>
              <a:t>要保密</a:t>
            </a:r>
            <a:r>
              <a:rPr lang="zh-CN" altLang="en-US" sz="3600"/>
              <a:t>，</a:t>
            </a:r>
            <a:r>
              <a:rPr lang="zh-CN" altLang="en-US" sz="3600">
                <a:solidFill>
                  <a:srgbClr val="FF0000"/>
                </a:solidFill>
              </a:rPr>
              <a:t>不要共用密码</a:t>
            </a:r>
            <a:r>
              <a:rPr lang="zh-CN" altLang="en-US" sz="3600"/>
              <a:t>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3600"/>
              <a:t>（6）输入密码时</a:t>
            </a:r>
            <a:r>
              <a:rPr lang="zh-CN" altLang="en-US" sz="3600">
                <a:solidFill>
                  <a:srgbClr val="FF0000"/>
                </a:solidFill>
              </a:rPr>
              <a:t>不要让别人看见</a:t>
            </a:r>
            <a:r>
              <a:rPr lang="zh-CN" altLang="en-US" sz="3600"/>
              <a:t>，也不要窥视他人密码。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>
            <a:extLst>
              <a:ext uri="{FF2B5EF4-FFF2-40B4-BE49-F238E27FC236}">
                <a16:creationId xmlns:a16="http://schemas.microsoft.com/office/drawing/2014/main" id="{9951789B-D273-568E-F588-C58941262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4.5.2  密码管理命令（passwd）</a:t>
            </a:r>
          </a:p>
        </p:txBody>
      </p:sp>
      <p:sp>
        <p:nvSpPr>
          <p:cNvPr id="47107" name="内容占位符 2">
            <a:extLst>
              <a:ext uri="{FF2B5EF4-FFF2-40B4-BE49-F238E27FC236}">
                <a16:creationId xmlns:a16="http://schemas.microsoft.com/office/drawing/2014/main" id="{04AC8FE0-26C0-2E3E-D417-1CA64FB21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713"/>
            <a:ext cx="9109075" cy="576103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/>
              <a:t>1．功能与用法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olidFill>
                  <a:srgbClr val="FF0000"/>
                </a:solidFill>
              </a:rPr>
              <a:t>passwd</a:t>
            </a:r>
            <a:r>
              <a:rPr lang="zh-CN" altLang="en-US" sz="4000" dirty="0"/>
              <a:t>的功能是</a:t>
            </a:r>
            <a:r>
              <a:rPr lang="zh-CN" altLang="en-US" sz="4000" dirty="0">
                <a:solidFill>
                  <a:srgbClr val="FF0000"/>
                </a:solidFill>
              </a:rPr>
              <a:t>密码管理</a:t>
            </a:r>
            <a:r>
              <a:rPr lang="zh-CN" altLang="en-US" sz="4000" dirty="0"/>
              <a:t>，包括</a:t>
            </a:r>
            <a:r>
              <a:rPr lang="zh-CN" altLang="en-US" sz="4000" dirty="0">
                <a:solidFill>
                  <a:srgbClr val="FF0000"/>
                </a:solidFill>
              </a:rPr>
              <a:t>改变</a:t>
            </a:r>
            <a:r>
              <a:rPr lang="zh-CN" altLang="en-US" sz="4000" dirty="0"/>
              <a:t>或</a:t>
            </a:r>
            <a:r>
              <a:rPr lang="zh-CN" altLang="en-US" sz="4000" dirty="0">
                <a:solidFill>
                  <a:srgbClr val="FF0000"/>
                </a:solidFill>
              </a:rPr>
              <a:t>删除</a:t>
            </a:r>
            <a:r>
              <a:rPr lang="zh-CN" altLang="en-US" sz="4000" dirty="0"/>
              <a:t>用户密码，为</a:t>
            </a:r>
            <a:r>
              <a:rPr lang="zh-CN" altLang="en-US" sz="4000" dirty="0">
                <a:solidFill>
                  <a:srgbClr val="FF0000"/>
                </a:solidFill>
              </a:rPr>
              <a:t>用户上锁</a:t>
            </a:r>
            <a:r>
              <a:rPr lang="zh-CN" altLang="en-US" sz="4000" dirty="0"/>
              <a:t>或</a:t>
            </a:r>
            <a:r>
              <a:rPr lang="zh-CN" altLang="en-US" sz="4000" dirty="0">
                <a:solidFill>
                  <a:srgbClr val="FF0000"/>
                </a:solidFill>
              </a:rPr>
              <a:t>解锁</a:t>
            </a:r>
            <a:r>
              <a:rPr lang="zh-CN" altLang="en-US" sz="4000" dirty="0"/>
              <a:t>，</a:t>
            </a:r>
            <a:r>
              <a:rPr lang="zh-CN" altLang="en-US" sz="4000" dirty="0">
                <a:solidFill>
                  <a:srgbClr val="FF0000"/>
                </a:solidFill>
              </a:rPr>
              <a:t>改变或显示</a:t>
            </a:r>
            <a:r>
              <a:rPr lang="zh-CN" altLang="en-US" sz="4000" dirty="0"/>
              <a:t>用户的</a:t>
            </a:r>
            <a:r>
              <a:rPr lang="zh-CN" altLang="en-US" sz="4000" dirty="0">
                <a:solidFill>
                  <a:srgbClr val="FF0000"/>
                </a:solidFill>
              </a:rPr>
              <a:t>密码属性</a:t>
            </a:r>
            <a:r>
              <a:rPr lang="zh-CN" altLang="en-US" sz="4000" dirty="0"/>
              <a:t>等。其用法为：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passwd [-k] [-l] [-u [-f]] [-d] [-n mindays] [-x maxdays] [-w warndays][-i inactivedays] [-S] [username]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8C420528-93EE-E6E3-5FC7-CEF1F0885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2．参数说明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37AAE46-14A9-6B0C-918A-965123AA584F}"/>
              </a:ext>
            </a:extLst>
          </p:cNvPr>
          <p:cNvGraphicFramePr>
            <a:graphicFrameLocks noGrp="1"/>
          </p:cNvGraphicFramePr>
          <p:nvPr/>
        </p:nvGraphicFramePr>
        <p:xfrm>
          <a:off x="0" y="549275"/>
          <a:ext cx="9144000" cy="5759450"/>
        </p:xfrm>
        <a:graphic>
          <a:graphicData uri="http://schemas.openxmlformats.org/drawingml/2006/table">
            <a:tbl>
              <a:tblPr/>
              <a:tblGrid>
                <a:gridCol w="211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3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884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选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述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6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-d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删除指定用户密码。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6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inactivedays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设置用户密码不活动的天数，只有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root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可以使用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6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-k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告诉系统用户更改密码应在密码到期前进行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6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-l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对指定用户上锁，只有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root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可以使用此选项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9145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-n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mindays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设置用户密码的最短有效期，即允许更改前的天数，只有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root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可使用此选项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6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-S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报告指定用户的密码状态信息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96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-u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解锁一个被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-l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上锁的用户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96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-w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warndays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设置用户密码到期前提前警告的天数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96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-x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maxdays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设置用户密码的最长有效期，即需要更改的天数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>
            <a:extLst>
              <a:ext uri="{FF2B5EF4-FFF2-40B4-BE49-F238E27FC236}">
                <a16:creationId xmlns:a16="http://schemas.microsoft.com/office/drawing/2014/main" id="{973E16B5-ADA1-A97F-B79F-D625AF76A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</a:t>
            </a:r>
            <a:r>
              <a:rPr lang="en-US" altLang="zh-CN"/>
              <a:t>passwd</a:t>
            </a:r>
            <a:r>
              <a:rPr lang="zh-CN" altLang="en-US"/>
              <a:t>的说明</a:t>
            </a:r>
          </a:p>
        </p:txBody>
      </p:sp>
      <p:sp>
        <p:nvSpPr>
          <p:cNvPr id="46083" name="内容占位符 2">
            <a:extLst>
              <a:ext uri="{FF2B5EF4-FFF2-40B4-BE49-F238E27FC236}">
                <a16:creationId xmlns:a16="http://schemas.microsoft.com/office/drawing/2014/main" id="{BE66631B-5CF0-21E3-8B0D-00B9E028BC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903605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olidFill>
                  <a:srgbClr val="FF0000"/>
                </a:solidFill>
              </a:rPr>
              <a:t>除root用户外</a:t>
            </a:r>
            <a:r>
              <a:rPr lang="zh-CN" altLang="en-US" sz="4000"/>
              <a:t>，修改密码时，系统将提示用户</a:t>
            </a:r>
            <a:r>
              <a:rPr lang="zh-CN" altLang="en-US" sz="4000">
                <a:solidFill>
                  <a:srgbClr val="FF0000"/>
                </a:solidFill>
              </a:rPr>
              <a:t>先输入旧密码</a:t>
            </a:r>
            <a:r>
              <a:rPr lang="zh-CN" altLang="en-US" sz="4000"/>
              <a:t>；密码在到期前是有效的，若在有限时间内没有设置或修改密码，</a:t>
            </a:r>
            <a:r>
              <a:rPr lang="zh-CN" altLang="en-US" sz="4000">
                <a:solidFill>
                  <a:srgbClr val="FF0000"/>
                </a:solidFill>
              </a:rPr>
              <a:t>则到期后的下一次必须修改密码</a:t>
            </a:r>
            <a:r>
              <a:rPr lang="zh-CN" altLang="en-US" sz="4000"/>
              <a:t>；一个用户可被上锁，上锁后的用户一经退出将不能再登录；</a:t>
            </a:r>
            <a:r>
              <a:rPr lang="zh-CN" altLang="en-US" sz="4000">
                <a:solidFill>
                  <a:srgbClr val="FF0000"/>
                </a:solidFill>
              </a:rPr>
              <a:t>只有root能够上锁或解锁一个用户</a:t>
            </a:r>
            <a:r>
              <a:rPr lang="zh-CN" altLang="en-US" sz="4000"/>
              <a:t>；尽管密码可以被删除或置空，但不推荐这样做。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>
            <a:extLst>
              <a:ext uri="{FF2B5EF4-FFF2-40B4-BE49-F238E27FC236}">
                <a16:creationId xmlns:a16="http://schemas.microsoft.com/office/drawing/2014/main" id="{02382B77-6C1F-AA7B-C587-EF14D3124F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4.5.3  密码管理示例</a:t>
            </a:r>
          </a:p>
        </p:txBody>
      </p:sp>
      <p:sp>
        <p:nvSpPr>
          <p:cNvPr id="47107" name="内容占位符 2">
            <a:extLst>
              <a:ext uri="{FF2B5EF4-FFF2-40B4-BE49-F238E27FC236}">
                <a16:creationId xmlns:a16="http://schemas.microsoft.com/office/drawing/2014/main" id="{C28020D9-E991-4F21-7D40-0B25154E88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09075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3600"/>
              <a:t>$ </a:t>
            </a:r>
            <a:r>
              <a:rPr lang="zh-CN" altLang="en-US" sz="3600">
                <a:solidFill>
                  <a:srgbClr val="FF0000"/>
                </a:solidFill>
              </a:rPr>
              <a:t>passwd</a:t>
            </a:r>
            <a:r>
              <a:rPr lang="zh-CN" altLang="en-US" sz="3600"/>
              <a:t>	 </a:t>
            </a:r>
            <a:r>
              <a:rPr lang="en-US" altLang="zh-CN" sz="3600"/>
              <a:t>	</a:t>
            </a:r>
            <a:r>
              <a:rPr lang="zh-CN" altLang="en-US" sz="3600"/>
              <a:t>#为用户自己修改密码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#</a:t>
            </a:r>
            <a:r>
              <a:rPr lang="zh-CN" altLang="en-US" sz="3600">
                <a:solidFill>
                  <a:srgbClr val="FF0000"/>
                </a:solidFill>
              </a:rPr>
              <a:t>passwd test1 </a:t>
            </a:r>
            <a:r>
              <a:rPr lang="en-US" altLang="zh-CN" sz="3600"/>
              <a:t>	</a:t>
            </a:r>
            <a:r>
              <a:rPr lang="zh-CN" altLang="en-US" sz="3600"/>
              <a:t>#为用户test1修改密码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#</a:t>
            </a:r>
            <a:r>
              <a:rPr lang="zh-CN" altLang="en-US" sz="3600">
                <a:solidFill>
                  <a:srgbClr val="FF0000"/>
                </a:solidFill>
              </a:rPr>
              <a:t>passwd -d test1</a:t>
            </a:r>
            <a:r>
              <a:rPr lang="zh-CN" altLang="en-US" sz="3600"/>
              <a:t>#为用户test1删除密码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#</a:t>
            </a:r>
            <a:r>
              <a:rPr lang="zh-CN" altLang="en-US" sz="3600">
                <a:solidFill>
                  <a:srgbClr val="FF0000"/>
                </a:solidFill>
              </a:rPr>
              <a:t>passwd -l user </a:t>
            </a:r>
            <a:r>
              <a:rPr lang="zh-CN" altLang="en-US" sz="3600"/>
              <a:t>	#对用户user上锁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#</a:t>
            </a:r>
            <a:r>
              <a:rPr lang="zh-CN" altLang="en-US" sz="3600">
                <a:solidFill>
                  <a:srgbClr val="FF0000"/>
                </a:solidFill>
              </a:rPr>
              <a:t>usermod -L user </a:t>
            </a:r>
            <a:r>
              <a:rPr lang="zh-CN" altLang="en-US" sz="3600"/>
              <a:t>#同上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#</a:t>
            </a:r>
            <a:r>
              <a:rPr lang="zh-CN" altLang="en-US" sz="3600">
                <a:solidFill>
                  <a:srgbClr val="FF0000"/>
                </a:solidFill>
              </a:rPr>
              <a:t>passwd -u user </a:t>
            </a:r>
            <a:r>
              <a:rPr lang="zh-CN" altLang="en-US" sz="3600"/>
              <a:t>	#对用户user解锁</a:t>
            </a:r>
            <a:endParaRPr lang="en-US" altLang="zh-CN" sz="36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#</a:t>
            </a:r>
            <a:r>
              <a:rPr lang="zh-CN" altLang="en-US" sz="3600">
                <a:solidFill>
                  <a:srgbClr val="FF0000"/>
                </a:solidFill>
              </a:rPr>
              <a:t>usermod -U user </a:t>
            </a:r>
            <a:r>
              <a:rPr lang="zh-CN" altLang="en-US" sz="3600"/>
              <a:t>#同上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#</a:t>
            </a:r>
            <a:r>
              <a:rPr lang="zh-CN" altLang="en-US" sz="3600">
                <a:solidFill>
                  <a:srgbClr val="FF0000"/>
                </a:solidFill>
              </a:rPr>
              <a:t>passwd -x 2 test2 </a:t>
            </a:r>
            <a:r>
              <a:rPr lang="zh-CN" altLang="en-US" sz="3600"/>
              <a:t>#设置test2的密码最长有效期为2天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>
            <a:extLst>
              <a:ext uri="{FF2B5EF4-FFF2-40B4-BE49-F238E27FC236}">
                <a16:creationId xmlns:a16="http://schemas.microsoft.com/office/drawing/2014/main" id="{8FF5E42C-DDE3-4499-4C6B-945FC91D6E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4.7  与用户身份和位置相关的其他命令</a:t>
            </a:r>
          </a:p>
        </p:txBody>
      </p:sp>
      <p:sp>
        <p:nvSpPr>
          <p:cNvPr id="48131" name="内容占位符 2">
            <a:extLst>
              <a:ext uri="{FF2B5EF4-FFF2-40B4-BE49-F238E27FC236}">
                <a16:creationId xmlns:a16="http://schemas.microsoft.com/office/drawing/2014/main" id="{51320704-B1C0-4A7A-6B48-4C266E34E8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109075" cy="5688012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z="3600"/>
              <a:t>1</a:t>
            </a:r>
            <a:r>
              <a:rPr lang="en-US" altLang="zh-CN" sz="3600"/>
              <a:t>.</a:t>
            </a:r>
            <a:r>
              <a:rPr lang="zh-CN" altLang="en-US" sz="3600">
                <a:solidFill>
                  <a:srgbClr val="FF0000"/>
                </a:solidFill>
              </a:rPr>
              <a:t>显示</a:t>
            </a:r>
            <a:r>
              <a:rPr lang="zh-CN" altLang="en-US" sz="3600"/>
              <a:t>与用户和</a:t>
            </a:r>
            <a:r>
              <a:rPr lang="zh-CN" altLang="en-US" sz="3600">
                <a:solidFill>
                  <a:srgbClr val="FF0000"/>
                </a:solidFill>
              </a:rPr>
              <a:t>组相关</a:t>
            </a:r>
            <a:r>
              <a:rPr lang="zh-CN" altLang="en-US" sz="3600"/>
              <a:t>的身份信息（id）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z="3600"/>
              <a:t>2</a:t>
            </a:r>
            <a:r>
              <a:rPr lang="en-US" altLang="zh-CN" sz="3600"/>
              <a:t>.</a:t>
            </a:r>
            <a:r>
              <a:rPr lang="zh-CN" altLang="en-US" sz="3600">
                <a:solidFill>
                  <a:srgbClr val="FF0000"/>
                </a:solidFill>
              </a:rPr>
              <a:t>显示</a:t>
            </a:r>
            <a:r>
              <a:rPr lang="zh-CN" altLang="en-US" sz="3600"/>
              <a:t>已</a:t>
            </a:r>
            <a:r>
              <a:rPr lang="zh-CN" altLang="en-US" sz="3600">
                <a:solidFill>
                  <a:srgbClr val="FF0000"/>
                </a:solidFill>
              </a:rPr>
              <a:t>登录用户</a:t>
            </a:r>
            <a:r>
              <a:rPr lang="zh-CN" altLang="en-US" sz="3600"/>
              <a:t>的信息（who）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z="3600"/>
              <a:t>3</a:t>
            </a:r>
            <a:r>
              <a:rPr lang="en-US" altLang="zh-CN" sz="3600"/>
              <a:t>.</a:t>
            </a:r>
            <a:r>
              <a:rPr lang="zh-CN" altLang="en-US" sz="3600">
                <a:solidFill>
                  <a:srgbClr val="FF0000"/>
                </a:solidFill>
              </a:rPr>
              <a:t>显示</a:t>
            </a:r>
            <a:r>
              <a:rPr lang="zh-CN" altLang="en-US" sz="3600"/>
              <a:t>使用者的</a:t>
            </a:r>
            <a:r>
              <a:rPr lang="zh-CN" altLang="en-US" sz="3600">
                <a:solidFill>
                  <a:srgbClr val="FF0000"/>
                </a:solidFill>
              </a:rPr>
              <a:t>用户名</a:t>
            </a:r>
            <a:r>
              <a:rPr lang="zh-CN" altLang="en-US" sz="3600"/>
              <a:t>（whoami）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z="3600"/>
              <a:t>4</a:t>
            </a:r>
            <a:r>
              <a:rPr lang="en-US" altLang="zh-CN" sz="3600"/>
              <a:t>.</a:t>
            </a:r>
            <a:r>
              <a:rPr lang="zh-CN" altLang="en-US" sz="3600">
                <a:solidFill>
                  <a:srgbClr val="FF0000"/>
                </a:solidFill>
              </a:rPr>
              <a:t>向</a:t>
            </a:r>
            <a:r>
              <a:rPr lang="zh-CN" altLang="en-US" sz="3600"/>
              <a:t>系统中的</a:t>
            </a:r>
            <a:r>
              <a:rPr lang="zh-CN" altLang="en-US" sz="3600">
                <a:solidFill>
                  <a:srgbClr val="FF0000"/>
                </a:solidFill>
              </a:rPr>
              <a:t>指定用户发信息</a:t>
            </a:r>
            <a:r>
              <a:rPr lang="zh-CN" altLang="en-US" sz="3600"/>
              <a:t>（write）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z="3600"/>
              <a:t>5</a:t>
            </a:r>
            <a:r>
              <a:rPr lang="en-US" altLang="zh-CN" sz="3600"/>
              <a:t>.</a:t>
            </a:r>
            <a:r>
              <a:rPr lang="zh-CN" altLang="en-US" sz="3600">
                <a:solidFill>
                  <a:srgbClr val="FF0000"/>
                </a:solidFill>
              </a:rPr>
              <a:t>向</a:t>
            </a:r>
            <a:r>
              <a:rPr lang="zh-CN" altLang="en-US" sz="3600"/>
              <a:t>系统中已登录的</a:t>
            </a:r>
            <a:r>
              <a:rPr lang="zh-CN" altLang="en-US" sz="3600">
                <a:solidFill>
                  <a:srgbClr val="FF0000"/>
                </a:solidFill>
              </a:rPr>
              <a:t>所有用户发信息</a:t>
            </a:r>
            <a:r>
              <a:rPr lang="en-US" altLang="zh-CN" sz="3600"/>
              <a:t>(</a:t>
            </a:r>
            <a:r>
              <a:rPr lang="zh-CN" altLang="en-US" sz="3600"/>
              <a:t>wall</a:t>
            </a:r>
            <a:r>
              <a:rPr lang="en-US" altLang="zh-CN" sz="3600"/>
              <a:t>)</a:t>
            </a:r>
            <a:endParaRPr lang="zh-CN" altLang="en-US" sz="3600"/>
          </a:p>
          <a:p>
            <a:pPr marL="0" inden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z="3600"/>
              <a:t>6</a:t>
            </a:r>
            <a:r>
              <a:rPr lang="en-US" altLang="zh-CN" sz="3600"/>
              <a:t>.</a:t>
            </a:r>
            <a:r>
              <a:rPr lang="zh-CN" altLang="en-US" sz="3600">
                <a:solidFill>
                  <a:srgbClr val="FF0000"/>
                </a:solidFill>
              </a:rPr>
              <a:t>确定用户</a:t>
            </a:r>
            <a:r>
              <a:rPr lang="zh-CN" altLang="en-US" sz="3600"/>
              <a:t>所使用的</a:t>
            </a:r>
            <a:r>
              <a:rPr lang="zh-CN" altLang="en-US" sz="3600">
                <a:solidFill>
                  <a:srgbClr val="FF0000"/>
                </a:solidFill>
              </a:rPr>
              <a:t>终端设备</a:t>
            </a:r>
            <a:r>
              <a:rPr lang="zh-CN" altLang="en-US" sz="3600"/>
              <a:t>（tty）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z="3600"/>
              <a:t>7</a:t>
            </a:r>
            <a:r>
              <a:rPr lang="en-US" altLang="zh-CN" sz="3600"/>
              <a:t>.</a:t>
            </a:r>
            <a:r>
              <a:rPr lang="zh-CN" altLang="en-US" sz="3600"/>
              <a:t>不退出系统而将自己</a:t>
            </a:r>
            <a:r>
              <a:rPr lang="zh-CN" altLang="en-US" sz="3600">
                <a:solidFill>
                  <a:srgbClr val="FF0000"/>
                </a:solidFill>
              </a:rPr>
              <a:t>切换成其他用户</a:t>
            </a:r>
            <a:r>
              <a:rPr lang="en-US" altLang="zh-CN" sz="3600"/>
              <a:t>(</a:t>
            </a:r>
            <a:r>
              <a:rPr lang="zh-CN" altLang="en-US" sz="3600"/>
              <a:t>su</a:t>
            </a:r>
            <a:r>
              <a:rPr lang="en-US" altLang="zh-CN" sz="3600"/>
              <a:t>)</a:t>
            </a:r>
            <a:endParaRPr lang="zh-CN" altLang="en-US" sz="3600"/>
          </a:p>
          <a:p>
            <a:pPr marL="0" inden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z="3600"/>
              <a:t>8</a:t>
            </a:r>
            <a:r>
              <a:rPr lang="en-US" altLang="zh-CN" sz="3600"/>
              <a:t>.</a:t>
            </a:r>
            <a:r>
              <a:rPr lang="zh-CN" altLang="en-US" sz="3600">
                <a:solidFill>
                  <a:srgbClr val="FF0000"/>
                </a:solidFill>
              </a:rPr>
              <a:t>以其他用户身份</a:t>
            </a:r>
            <a:r>
              <a:rPr lang="zh-CN" altLang="en-US" sz="3600"/>
              <a:t>执行程序（sudo）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AFBC457A-A032-8843-4AC6-F2CFE913D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788" y="-171450"/>
            <a:ext cx="8604250" cy="863600"/>
          </a:xfrm>
        </p:spPr>
        <p:txBody>
          <a:bodyPr/>
          <a:lstStyle/>
          <a:p>
            <a:r>
              <a:rPr lang="zh-CN" altLang="en-US">
                <a:sym typeface="+mn-ea"/>
              </a:rPr>
              <a:t>1  显示与用户和组相关的信息（id）</a:t>
            </a:r>
            <a:endParaRPr lang="zh-CN" altLang="en-US"/>
          </a:p>
        </p:txBody>
      </p:sp>
      <p:sp>
        <p:nvSpPr>
          <p:cNvPr id="49155" name="内容占位符 2">
            <a:extLst>
              <a:ext uri="{FF2B5EF4-FFF2-40B4-BE49-F238E27FC236}">
                <a16:creationId xmlns:a16="http://schemas.microsoft.com/office/drawing/2014/main" id="{B3A4C4D5-D9DC-B669-A0EC-EB550124FF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950" y="620713"/>
            <a:ext cx="8928100" cy="2879725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1．功能与用法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id命令用于显示用户的uid、gid及相关信息。其用法为：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  id [options] [username]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2．参数说明</a:t>
            </a:r>
          </a:p>
          <a:p>
            <a:endParaRPr lang="zh-CN" altLang="en-US" sz="2000"/>
          </a:p>
        </p:txBody>
      </p:sp>
      <p:graphicFrame>
        <p:nvGraphicFramePr>
          <p:cNvPr id="4" name="表格 -1">
            <a:extLst>
              <a:ext uri="{FF2B5EF4-FFF2-40B4-BE49-F238E27FC236}">
                <a16:creationId xmlns:a16="http://schemas.microsoft.com/office/drawing/2014/main" id="{3B970AE4-DD86-E848-D98E-9FA1DB084AAA}"/>
              </a:ext>
            </a:extLst>
          </p:cNvPr>
          <p:cNvGraphicFramePr>
            <a:graphicFrameLocks noGrp="1"/>
          </p:cNvGraphicFramePr>
          <p:nvPr/>
        </p:nvGraphicFramePr>
        <p:xfrm>
          <a:off x="77788" y="3509963"/>
          <a:ext cx="9036050" cy="2682875"/>
        </p:xfrm>
        <a:graphic>
          <a:graphicData uri="http://schemas.openxmlformats.org/drawingml/2006/table">
            <a:tbl>
              <a:tblPr/>
              <a:tblGrid>
                <a:gridCol w="864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8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917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选项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述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选项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述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-a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显示相关的所有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信息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-n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以名字方式显示信息，与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-u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-g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-G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配合使用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-g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显示用户有效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gid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-r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显示真实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uid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gid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，与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-u,-g,-G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配合使用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917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-G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显示用户所归属的其他组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-u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显示有效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uid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，而非真实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uid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64D2F77F-31F9-81DD-2A3D-8CCE7ABB6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DC86C0-FE55-A6BB-AA7F-0FD596277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6513" y="620713"/>
            <a:ext cx="9288463" cy="576103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在</a:t>
            </a:r>
            <a:r>
              <a:rPr lang="en-US" altLang="zh-CN" dirty="0"/>
              <a:t>Unix</a:t>
            </a:r>
            <a:r>
              <a:rPr lang="zh-CN" altLang="en-US" dirty="0"/>
              <a:t>进程中涉及</a:t>
            </a:r>
            <a:r>
              <a:rPr lang="zh-CN" altLang="en-US" dirty="0">
                <a:solidFill>
                  <a:srgbClr val="FF0000"/>
                </a:solidFill>
              </a:rPr>
              <a:t>多个用户</a:t>
            </a:r>
            <a:r>
              <a:rPr lang="en-US" altLang="zh-CN" dirty="0">
                <a:solidFill>
                  <a:srgbClr val="FF0000"/>
                </a:solidFill>
              </a:rPr>
              <a:t>ID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用户组</a:t>
            </a:r>
            <a:r>
              <a:rPr lang="en-US" altLang="zh-CN" dirty="0">
                <a:solidFill>
                  <a:srgbClr val="FF0000"/>
                </a:solidFill>
              </a:rPr>
              <a:t>ID</a:t>
            </a:r>
            <a:r>
              <a:rPr lang="zh-CN" altLang="en-US" dirty="0"/>
              <a:t>，包括如下：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、实际用户</a:t>
            </a:r>
            <a:r>
              <a:rPr lang="en-US" altLang="zh-CN" dirty="0">
                <a:solidFill>
                  <a:srgbClr val="FF0000"/>
                </a:solidFill>
              </a:rPr>
              <a:t>ID</a:t>
            </a:r>
            <a:r>
              <a:rPr lang="zh-CN" altLang="en-US" dirty="0">
                <a:solidFill>
                  <a:srgbClr val="FF0000"/>
                </a:solidFill>
              </a:rPr>
              <a:t>和实际用户组</a:t>
            </a:r>
            <a:r>
              <a:rPr lang="en-US" altLang="zh-CN" dirty="0">
                <a:solidFill>
                  <a:srgbClr val="FF0000"/>
                </a:solidFill>
              </a:rPr>
              <a:t>ID</a:t>
            </a:r>
            <a:r>
              <a:rPr lang="zh-CN" altLang="en-US" dirty="0"/>
              <a:t>：</a:t>
            </a:r>
            <a:r>
              <a:rPr lang="zh-CN" altLang="en-US" u="sng" dirty="0"/>
              <a:t>标识我是谁</a:t>
            </a:r>
            <a:r>
              <a:rPr lang="zh-CN" altLang="en-US" dirty="0"/>
              <a:t>。也就是登录用户的</a:t>
            </a:r>
            <a:r>
              <a:rPr lang="en-US" altLang="zh-CN" dirty="0" err="1"/>
              <a:t>uid</a:t>
            </a:r>
            <a:r>
              <a:rPr lang="zh-CN" altLang="en-US" dirty="0"/>
              <a:t>和</a:t>
            </a:r>
            <a:r>
              <a:rPr lang="en-US" altLang="zh-CN" dirty="0" err="1"/>
              <a:t>gid</a:t>
            </a:r>
            <a:r>
              <a:rPr lang="zh-CN" altLang="en-US" dirty="0"/>
              <a:t>，比如我的</a:t>
            </a:r>
            <a:r>
              <a:rPr lang="en-US" altLang="zh-CN" dirty="0"/>
              <a:t>Linux</a:t>
            </a:r>
            <a:r>
              <a:rPr lang="zh-CN" altLang="en-US" dirty="0"/>
              <a:t>以</a:t>
            </a:r>
            <a:r>
              <a:rPr lang="en-US" altLang="zh-CN" dirty="0" err="1"/>
              <a:t>simon</a:t>
            </a:r>
            <a:r>
              <a:rPr lang="zh-CN" altLang="en-US" dirty="0"/>
              <a:t>登录，在</a:t>
            </a:r>
            <a:r>
              <a:rPr lang="en-US" altLang="zh-CN" dirty="0"/>
              <a:t>Linux</a:t>
            </a:r>
            <a:r>
              <a:rPr lang="zh-CN" altLang="en-US" dirty="0"/>
              <a:t>运行的所有的命令的实际用户</a:t>
            </a:r>
            <a:r>
              <a:rPr lang="en-US" altLang="zh-CN" dirty="0"/>
              <a:t>ID</a:t>
            </a:r>
            <a:r>
              <a:rPr lang="zh-CN" altLang="en-US" dirty="0"/>
              <a:t>都是</a:t>
            </a:r>
            <a:r>
              <a:rPr lang="en-US" altLang="zh-CN" dirty="0" err="1"/>
              <a:t>simon</a:t>
            </a:r>
            <a:r>
              <a:rPr lang="zh-CN" altLang="en-US" dirty="0"/>
              <a:t>的</a:t>
            </a:r>
            <a:r>
              <a:rPr lang="en-US" altLang="zh-CN" dirty="0" err="1"/>
              <a:t>uid</a:t>
            </a:r>
            <a:r>
              <a:rPr lang="zh-CN" altLang="en-US" dirty="0"/>
              <a:t>，实际用户组</a:t>
            </a:r>
            <a:r>
              <a:rPr lang="en-US" altLang="zh-CN" dirty="0"/>
              <a:t>ID</a:t>
            </a:r>
            <a:r>
              <a:rPr lang="zh-CN" altLang="en-US" dirty="0"/>
              <a:t>都是</a:t>
            </a:r>
            <a:r>
              <a:rPr lang="en-US" altLang="zh-CN" dirty="0" err="1"/>
              <a:t>simon</a:t>
            </a:r>
            <a:r>
              <a:rPr lang="zh-CN" altLang="en-US" dirty="0"/>
              <a:t>的</a:t>
            </a:r>
            <a:r>
              <a:rPr lang="en-US" altLang="zh-CN" dirty="0" err="1"/>
              <a:t>gid</a:t>
            </a:r>
            <a:r>
              <a:rPr lang="zh-CN" altLang="en-US" dirty="0"/>
              <a:t>（可以用</a:t>
            </a:r>
            <a:r>
              <a:rPr lang="en-US" altLang="zh-CN" dirty="0"/>
              <a:t>id</a:t>
            </a:r>
            <a:r>
              <a:rPr lang="zh-CN" altLang="en-US" dirty="0"/>
              <a:t>命令查看）</a:t>
            </a:r>
            <a:endParaRPr lang="en-US" altLang="zh-CN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、有效用户</a:t>
            </a:r>
            <a:r>
              <a:rPr lang="en-US" altLang="zh-CN" dirty="0">
                <a:solidFill>
                  <a:srgbClr val="FF0000"/>
                </a:solidFill>
              </a:rPr>
              <a:t>ID</a:t>
            </a:r>
            <a:r>
              <a:rPr lang="zh-CN" altLang="en-US" dirty="0">
                <a:solidFill>
                  <a:srgbClr val="FF0000"/>
                </a:solidFill>
              </a:rPr>
              <a:t>和有效用户组</a:t>
            </a:r>
            <a:r>
              <a:rPr lang="en-US" altLang="zh-CN" dirty="0">
                <a:solidFill>
                  <a:srgbClr val="FF0000"/>
                </a:solidFill>
              </a:rPr>
              <a:t>ID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进程用来</a:t>
            </a:r>
            <a:r>
              <a:rPr lang="zh-CN" altLang="en-US" dirty="0">
                <a:solidFill>
                  <a:srgbClr val="FF0000"/>
                </a:solidFill>
              </a:rPr>
              <a:t>决定我们对资源的访问权限</a:t>
            </a:r>
            <a:r>
              <a:rPr lang="zh-CN" altLang="en-US" dirty="0"/>
              <a:t>。一般情况下，有效用户</a:t>
            </a:r>
            <a:r>
              <a:rPr lang="en-US" altLang="zh-CN" dirty="0"/>
              <a:t>ID</a:t>
            </a:r>
            <a:r>
              <a:rPr lang="zh-CN" altLang="en-US" dirty="0"/>
              <a:t>等于实际用户</a:t>
            </a:r>
            <a:r>
              <a:rPr lang="en-US" altLang="zh-CN" dirty="0"/>
              <a:t>ID</a:t>
            </a:r>
            <a:r>
              <a:rPr lang="zh-CN" altLang="en-US" dirty="0"/>
              <a:t>，有效用户组</a:t>
            </a:r>
            <a:r>
              <a:rPr lang="en-US" altLang="zh-CN" dirty="0"/>
              <a:t>ID</a:t>
            </a:r>
            <a:r>
              <a:rPr lang="zh-CN" altLang="en-US" dirty="0"/>
              <a:t>等于实际用户组</a:t>
            </a:r>
            <a:r>
              <a:rPr lang="en-US" altLang="zh-CN" dirty="0"/>
              <a:t>ID</a:t>
            </a:r>
            <a:r>
              <a:rPr lang="zh-CN" altLang="en-US" dirty="0"/>
              <a:t>。当设置</a:t>
            </a:r>
            <a:r>
              <a:rPr lang="en-US" altLang="zh-CN" dirty="0"/>
              <a:t>-</a:t>
            </a:r>
            <a:r>
              <a:rPr lang="zh-CN" altLang="en-US" dirty="0"/>
              <a:t>用户</a:t>
            </a:r>
            <a:r>
              <a:rPr lang="en-US" altLang="zh-CN" dirty="0"/>
              <a:t>-ID</a:t>
            </a:r>
            <a:r>
              <a:rPr lang="zh-CN" altLang="en-US" dirty="0"/>
              <a:t>（</a:t>
            </a:r>
            <a:r>
              <a:rPr lang="en-US" altLang="zh-CN" dirty="0"/>
              <a:t>SUID</a:t>
            </a:r>
            <a:r>
              <a:rPr lang="zh-CN" altLang="en-US" dirty="0"/>
              <a:t>）位设置，则有效用户</a:t>
            </a:r>
            <a:r>
              <a:rPr lang="en-US" altLang="zh-CN" dirty="0"/>
              <a:t>ID</a:t>
            </a:r>
            <a:r>
              <a:rPr lang="zh-CN" altLang="en-US" dirty="0"/>
              <a:t>等于文件的所有者的</a:t>
            </a:r>
            <a:r>
              <a:rPr lang="en-US" altLang="zh-CN" dirty="0" err="1"/>
              <a:t>uid</a:t>
            </a:r>
            <a:r>
              <a:rPr lang="zh-CN" altLang="en-US" dirty="0"/>
              <a:t>，而不是实际用户</a:t>
            </a:r>
            <a:r>
              <a:rPr lang="en-US" altLang="zh-CN" dirty="0"/>
              <a:t>ID</a:t>
            </a:r>
            <a:r>
              <a:rPr lang="zh-CN" altLang="en-US" dirty="0"/>
              <a:t>；同样，如果设置了设置</a:t>
            </a:r>
            <a:r>
              <a:rPr lang="en-US" altLang="zh-CN" dirty="0"/>
              <a:t>-</a:t>
            </a:r>
            <a:r>
              <a:rPr lang="zh-CN" altLang="en-US" dirty="0"/>
              <a:t>用户组</a:t>
            </a:r>
            <a:r>
              <a:rPr lang="en-US" altLang="zh-CN" dirty="0"/>
              <a:t>-ID</a:t>
            </a:r>
            <a:r>
              <a:rPr lang="zh-CN" altLang="en-US" dirty="0"/>
              <a:t>（</a:t>
            </a:r>
            <a:r>
              <a:rPr lang="en-US" altLang="zh-CN" dirty="0"/>
              <a:t>SGID</a:t>
            </a:r>
            <a:r>
              <a:rPr lang="zh-CN" altLang="en-US" dirty="0"/>
              <a:t>）位，则有效用户组</a:t>
            </a:r>
            <a:r>
              <a:rPr lang="en-US" altLang="zh-CN" dirty="0"/>
              <a:t>ID</a:t>
            </a:r>
            <a:r>
              <a:rPr lang="zh-CN" altLang="en-US" dirty="0"/>
              <a:t>等于文件所有者的</a:t>
            </a:r>
            <a:r>
              <a:rPr lang="en-US" altLang="zh-CN" dirty="0" err="1"/>
              <a:t>gid</a:t>
            </a:r>
            <a:r>
              <a:rPr lang="zh-CN" altLang="en-US" dirty="0"/>
              <a:t>，而不是实际用户组</a:t>
            </a:r>
            <a:r>
              <a:rPr lang="en-US" altLang="zh-CN" dirty="0"/>
              <a:t>ID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>
            <a:extLst>
              <a:ext uri="{FF2B5EF4-FFF2-40B4-BE49-F238E27FC236}">
                <a16:creationId xmlns:a16="http://schemas.microsoft.com/office/drawing/2014/main" id="{0F8F6A87-AAC2-4024-5388-9945D4DD8A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3．id使用示例</a:t>
            </a:r>
            <a:endParaRPr lang="zh-CN" altLang="en-US"/>
          </a:p>
        </p:txBody>
      </p:sp>
      <p:sp>
        <p:nvSpPr>
          <p:cNvPr id="51203" name="内容占位符 2">
            <a:extLst>
              <a:ext uri="{FF2B5EF4-FFF2-40B4-BE49-F238E27FC236}">
                <a16:creationId xmlns:a16="http://schemas.microsoft.com/office/drawing/2014/main" id="{FF3EA54A-40FC-E01A-8A66-CB71ACE797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4800"/>
              <a:t>#id -G </a:t>
            </a:r>
            <a:r>
              <a:rPr lang="en-US" altLang="zh-CN" sz="4800"/>
              <a:t>-</a:t>
            </a:r>
            <a:r>
              <a:rPr lang="zh-CN" altLang="en-US" sz="4800"/>
              <a:t>n	#以组名方式显示自己的gid信息</a:t>
            </a:r>
          </a:p>
          <a:p>
            <a:r>
              <a:rPr lang="zh-CN" altLang="en-US" sz="4800"/>
              <a:t>#id ftp		#显示指定用户(ftp)的id信息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>
            <a:extLst>
              <a:ext uri="{FF2B5EF4-FFF2-40B4-BE49-F238E27FC236}">
                <a16:creationId xmlns:a16="http://schemas.microsoft.com/office/drawing/2014/main" id="{5349AF19-A94E-964F-8F73-BDAA7E843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4.7.2  显示已登录用户的信息（who）</a:t>
            </a:r>
          </a:p>
        </p:txBody>
      </p:sp>
      <p:sp>
        <p:nvSpPr>
          <p:cNvPr id="62467" name="内容占位符 2">
            <a:extLst>
              <a:ext uri="{FF2B5EF4-FFF2-40B4-BE49-F238E27FC236}">
                <a16:creationId xmlns:a16="http://schemas.microsoft.com/office/drawing/2014/main" id="{596FC255-0778-F98A-8C07-1985F155C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620713"/>
            <a:ext cx="9145588" cy="576103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/>
              <a:t>1．功能与用法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who命令用于显示系统中已登录用户的信息。其用法为：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  who arg1 arg2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  who [options] [FILE]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当以第</a:t>
            </a:r>
            <a:r>
              <a:rPr lang="en-US" altLang="zh-CN" sz="4000" dirty="0"/>
              <a:t>1</a:t>
            </a:r>
            <a:r>
              <a:rPr lang="zh-CN" altLang="en-US" sz="4000" dirty="0"/>
              <a:t>种格式使用who命令时，相当于who am i，总是显示使用者的信息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ym typeface="+mn-ea"/>
              </a:rPr>
              <a:t>对于第</a:t>
            </a:r>
            <a:r>
              <a:rPr lang="en-US" altLang="zh-CN" sz="4000" dirty="0">
                <a:sym typeface="+mn-ea"/>
              </a:rPr>
              <a:t>2</a:t>
            </a:r>
            <a:r>
              <a:rPr lang="zh-CN" altLang="en-US" sz="4000" dirty="0">
                <a:sym typeface="+mn-ea"/>
              </a:rPr>
              <a:t>格式，一般</a:t>
            </a:r>
            <a:r>
              <a:rPr lang="zh-CN" altLang="en-US" sz="4000" dirty="0"/>
              <a:t>不指定FILE文件，让</a:t>
            </a:r>
            <a:r>
              <a:rPr lang="en-US" altLang="zh-CN" sz="4000" dirty="0"/>
              <a:t>who</a:t>
            </a:r>
            <a:r>
              <a:rPr lang="zh-CN" altLang="en-US" sz="4000" dirty="0"/>
              <a:t>使用默认。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>
            <a:extLst>
              <a:ext uri="{FF2B5EF4-FFF2-40B4-BE49-F238E27FC236}">
                <a16:creationId xmlns:a16="http://schemas.microsoft.com/office/drawing/2014/main" id="{2E401341-5B77-100A-49E7-392456F46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2．参数说明</a:t>
            </a:r>
          </a:p>
        </p:txBody>
      </p:sp>
      <p:graphicFrame>
        <p:nvGraphicFramePr>
          <p:cNvPr id="4" name="表格 -1">
            <a:extLst>
              <a:ext uri="{FF2B5EF4-FFF2-40B4-BE49-F238E27FC236}">
                <a16:creationId xmlns:a16="http://schemas.microsoft.com/office/drawing/2014/main" id="{C986211F-E4D4-08C9-018E-B2C7EE0D637C}"/>
              </a:ext>
            </a:extLst>
          </p:cNvPr>
          <p:cNvGraphicFramePr>
            <a:graphicFrameLocks noGrp="1"/>
          </p:cNvGraphicFramePr>
          <p:nvPr/>
        </p:nvGraphicFramePr>
        <p:xfrm>
          <a:off x="34925" y="549275"/>
          <a:ext cx="9074150" cy="5765800"/>
        </p:xfrm>
        <a:graphic>
          <a:graphicData uri="http://schemas.openxmlformats.org/drawingml/2006/table">
            <a:tbl>
              <a:tblPr/>
              <a:tblGrid>
                <a:gridCol w="1194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7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73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302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选 项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述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选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述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39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-a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显示所有信息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-p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显示由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init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派生的活动进程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39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-b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显示系统最后一次启动时间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-q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显示已登录的所有用户名和用户数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39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-d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显示僵尸进程信息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-r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显示系统的当前运行级别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2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-H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显示标题头信息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-s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以默认格式显示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39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-t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显示系统时钟最后一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修改时间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-T, -w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显示用户的状态信息：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3439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-m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只显示与所使用终端相关的信息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-u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显示用户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>
            <a:extLst>
              <a:ext uri="{FF2B5EF4-FFF2-40B4-BE49-F238E27FC236}">
                <a16:creationId xmlns:a16="http://schemas.microsoft.com/office/drawing/2014/main" id="{14A7C14B-FFF8-B478-57C5-337849E9B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3．示例</a:t>
            </a:r>
          </a:p>
        </p:txBody>
      </p:sp>
      <p:sp>
        <p:nvSpPr>
          <p:cNvPr id="64515" name="内容占位符 2">
            <a:extLst>
              <a:ext uri="{FF2B5EF4-FFF2-40B4-BE49-F238E27FC236}">
                <a16:creationId xmlns:a16="http://schemas.microsoft.com/office/drawing/2014/main" id="{A1F61B02-8388-7FB7-587C-164E88116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620713"/>
            <a:ext cx="9075738" cy="576103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>
                <a:sym typeface="+mn-ea"/>
              </a:rPr>
              <a:t>#显示所有正在系统中工作的用户信息</a:t>
            </a:r>
            <a:endParaRPr lang="zh-CN" altLang="en-US" sz="40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# </a:t>
            </a:r>
            <a:r>
              <a:rPr lang="zh-CN" altLang="en-US" sz="4000" dirty="0">
                <a:solidFill>
                  <a:srgbClr val="FF0000"/>
                </a:solidFill>
              </a:rPr>
              <a:t>who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4000" dirty="0">
                <a:sym typeface="+mn-ea"/>
              </a:rPr>
              <a:t>#</a:t>
            </a:r>
            <a:r>
              <a:rPr lang="zh-CN" altLang="en-US" sz="4000" dirty="0">
                <a:sym typeface="+mn-ea"/>
              </a:rPr>
              <a:t>#显示所有正在系统中工作的用户信息，并显示标题</a:t>
            </a:r>
            <a:endParaRPr lang="zh-CN" altLang="en-US" sz="4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/>
              <a:t>#</a:t>
            </a:r>
            <a:r>
              <a:rPr lang="zh-CN" altLang="en-US" sz="4000" dirty="0">
                <a:solidFill>
                  <a:srgbClr val="FF0000"/>
                </a:solidFill>
              </a:rPr>
              <a:t>who -H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#</a:t>
            </a:r>
            <a:r>
              <a:rPr lang="zh-CN" altLang="en-US" sz="4000" dirty="0">
                <a:solidFill>
                  <a:srgbClr val="FF0000"/>
                </a:solidFill>
              </a:rPr>
              <a:t>who am i	</a:t>
            </a:r>
            <a:r>
              <a:rPr lang="zh-CN" altLang="en-US" sz="4000" dirty="0"/>
              <a:t>#显示操作者自己的信息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#</a:t>
            </a:r>
            <a:r>
              <a:rPr lang="zh-CN" altLang="en-US" sz="4000" dirty="0">
                <a:solidFill>
                  <a:srgbClr val="FF0000"/>
                </a:solidFill>
              </a:rPr>
              <a:t>who -r	</a:t>
            </a:r>
            <a:r>
              <a:rPr lang="zh-CN" altLang="en-US" sz="4000" dirty="0"/>
              <a:t>	#显示系统当前的运行级别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>
            <a:extLst>
              <a:ext uri="{FF2B5EF4-FFF2-40B4-BE49-F238E27FC236}">
                <a16:creationId xmlns:a16="http://schemas.microsoft.com/office/drawing/2014/main" id="{2B068525-EEC9-7FCA-4927-D9C510971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4.7.3  显示使用者的用户名（whoami）</a:t>
            </a:r>
          </a:p>
        </p:txBody>
      </p:sp>
      <p:sp>
        <p:nvSpPr>
          <p:cNvPr id="55299" name="内容占位符 2">
            <a:extLst>
              <a:ext uri="{FF2B5EF4-FFF2-40B4-BE49-F238E27FC236}">
                <a16:creationId xmlns:a16="http://schemas.microsoft.com/office/drawing/2014/main" id="{A6E7D7FF-B025-3882-EF5A-02A4ADBCF6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620713"/>
            <a:ext cx="8856662" cy="5761037"/>
          </a:xfrm>
        </p:spPr>
        <p:txBody>
          <a:bodyPr/>
          <a:lstStyle/>
          <a:p>
            <a:r>
              <a:rPr lang="zh-CN" altLang="en-US" sz="6000">
                <a:solidFill>
                  <a:srgbClr val="FF0000"/>
                </a:solidFill>
              </a:rPr>
              <a:t>whoami</a:t>
            </a:r>
            <a:r>
              <a:rPr lang="zh-CN" altLang="en-US" sz="6000"/>
              <a:t>命令用于显示与当前有效id相关的用户名，也就是显示使用者自己的用户名，功能相当于id -un。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>
            <a:extLst>
              <a:ext uri="{FF2B5EF4-FFF2-40B4-BE49-F238E27FC236}">
                <a16:creationId xmlns:a16="http://schemas.microsoft.com/office/drawing/2014/main" id="{1A161AEF-A012-8BDF-3106-B63C32C8C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4.7.4  向系统中的指定用户发信息（write）</a:t>
            </a:r>
          </a:p>
        </p:txBody>
      </p:sp>
      <p:sp>
        <p:nvSpPr>
          <p:cNvPr id="66563" name="内容占位符 2">
            <a:extLst>
              <a:ext uri="{FF2B5EF4-FFF2-40B4-BE49-F238E27FC236}">
                <a16:creationId xmlns:a16="http://schemas.microsoft.com/office/drawing/2014/main" id="{E677EBF5-60A3-E2D0-4502-60C16EF56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write用于向系统中的指定用户发送指定信息。其用法为：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200" dirty="0"/>
              <a:t>    </a:t>
            </a:r>
            <a:r>
              <a:rPr lang="zh-CN" altLang="en-US" sz="5400" dirty="0">
                <a:solidFill>
                  <a:srgbClr val="FF0000"/>
                </a:solidFill>
              </a:rPr>
              <a:t>write user [ttyname]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user为系统中的用户名，ttyname为用户所使用的终端设备名。当向系统中同名（多处同时登录）用户之一发信息时，需要指定终端名。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/>
              <a:t>若使用输入重定向，则从输入文件中读取信息，发送完毕后结束；否则从终端键盘逐行读取，直到用户输入^D结束工作。如果对方也使用write向自己发信息，则两者可以“聊天”。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>
            <a:extLst>
              <a:ext uri="{FF2B5EF4-FFF2-40B4-BE49-F238E27FC236}">
                <a16:creationId xmlns:a16="http://schemas.microsoft.com/office/drawing/2014/main" id="{B22916CC-1BC8-DD84-AE62-87EA4A074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4.7.5  向系统中已登录的所有用户发信息（wall）</a:t>
            </a:r>
          </a:p>
        </p:txBody>
      </p:sp>
      <p:sp>
        <p:nvSpPr>
          <p:cNvPr id="67587" name="内容占位符 2">
            <a:extLst>
              <a:ext uri="{FF2B5EF4-FFF2-40B4-BE49-F238E27FC236}">
                <a16:creationId xmlns:a16="http://schemas.microsoft.com/office/drawing/2014/main" id="{5D6C3821-F861-F37A-F269-F4DF4428A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455613"/>
            <a:ext cx="9109075" cy="6069012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rgbClr val="FF0000"/>
                </a:solidFill>
              </a:rPr>
              <a:t>wall</a:t>
            </a:r>
            <a:r>
              <a:rPr lang="zh-CN" altLang="en-US" sz="3600" dirty="0"/>
              <a:t>（write to all）功能是向登录到系统中工作的所有用户</a:t>
            </a:r>
            <a:r>
              <a:rPr lang="zh-CN" altLang="en-US" sz="3600" dirty="0">
                <a:solidFill>
                  <a:srgbClr val="FF0000"/>
                </a:solidFill>
              </a:rPr>
              <a:t>发送广播</a:t>
            </a:r>
            <a:r>
              <a:rPr lang="zh-CN" altLang="en-US" sz="3600" dirty="0"/>
              <a:t>信息，所发信息将被显示在每个用户的终端上。用法为：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3600" dirty="0"/>
              <a:t>      wall [file]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/>
              <a:t>file为事先准备好的文件。当不带参数运行时，wall将使用标准输入，用户在输入完毕时应按^D结束。</a:t>
            </a:r>
            <a:endParaRPr lang="en-US" altLang="zh-CN" sz="3600" dirty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/>
              <a:t>系统允许发送的信息最多为20行，长行将被截断。当用户使用已经准备好的文件内容作为信息发送时，可以</a:t>
            </a:r>
            <a:r>
              <a:rPr lang="zh-CN" altLang="en-US" sz="3600" dirty="0">
                <a:solidFill>
                  <a:srgbClr val="FF0000"/>
                </a:solidFill>
              </a:rPr>
              <a:t>使用输入重定向</a:t>
            </a:r>
            <a:r>
              <a:rPr lang="zh-CN" altLang="en-US" sz="3600" dirty="0"/>
              <a:t>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>
            <a:extLst>
              <a:ext uri="{FF2B5EF4-FFF2-40B4-BE49-F238E27FC236}">
                <a16:creationId xmlns:a16="http://schemas.microsoft.com/office/drawing/2014/main" id="{4962D16C-A5C5-65A6-785C-C500604AD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</a:t>
            </a:r>
            <a:r>
              <a:rPr lang="en-US" altLang="zh-CN"/>
              <a:t>wall</a:t>
            </a:r>
            <a:r>
              <a:rPr lang="zh-CN" altLang="en-US"/>
              <a:t>的说明</a:t>
            </a:r>
          </a:p>
        </p:txBody>
      </p:sp>
      <p:sp>
        <p:nvSpPr>
          <p:cNvPr id="58371" name="内容占位符 2">
            <a:extLst>
              <a:ext uri="{FF2B5EF4-FFF2-40B4-BE49-F238E27FC236}">
                <a16:creationId xmlns:a16="http://schemas.microsoft.com/office/drawing/2014/main" id="{E4FA80FA-A110-18EC-2D93-7A300AE3AE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036050" cy="5761037"/>
          </a:xfrm>
        </p:spPr>
        <p:txBody>
          <a:bodyPr/>
          <a:lstStyle/>
          <a:p>
            <a:r>
              <a:rPr lang="zh-CN" altLang="en-US" sz="3200"/>
              <a:t>wall的工作可能会</a:t>
            </a:r>
            <a:r>
              <a:rPr lang="zh-CN" altLang="en-US" sz="3200">
                <a:solidFill>
                  <a:srgbClr val="FF0000"/>
                </a:solidFill>
              </a:rPr>
              <a:t>受终端接收信息状态的影响</a:t>
            </a:r>
            <a:r>
              <a:rPr lang="zh-CN" altLang="en-US" sz="3200"/>
              <a:t>（参见mesg命令），</a:t>
            </a:r>
            <a:r>
              <a:rPr lang="zh-CN" altLang="en-US" sz="3200">
                <a:solidFill>
                  <a:srgbClr val="FF0000"/>
                </a:solidFill>
              </a:rPr>
              <a:t>接收信息被禁止的用户</a:t>
            </a:r>
            <a:r>
              <a:rPr lang="zh-CN" altLang="en-US" sz="3200"/>
              <a:t>终端将</a:t>
            </a:r>
            <a:r>
              <a:rPr lang="zh-CN" altLang="en-US" sz="3200">
                <a:solidFill>
                  <a:srgbClr val="FF0000"/>
                </a:solidFill>
              </a:rPr>
              <a:t>不能收到广播</a:t>
            </a:r>
            <a:r>
              <a:rPr lang="zh-CN" altLang="en-US" sz="3200"/>
              <a:t>信息。但是不论如何，</a:t>
            </a:r>
            <a:r>
              <a:rPr lang="zh-CN" altLang="en-US" sz="3200">
                <a:solidFill>
                  <a:srgbClr val="FF0000"/>
                </a:solidFill>
              </a:rPr>
              <a:t>当超级用户或管理员用户使用wall时</a:t>
            </a:r>
            <a:r>
              <a:rPr lang="zh-CN" altLang="en-US" sz="3200"/>
              <a:t>，每个终端都将收到广播信息，同名用户也可以收到同名用户发送的信息。</a:t>
            </a:r>
          </a:p>
          <a:p>
            <a:r>
              <a:rPr lang="zh-CN" altLang="en-US" sz="3200"/>
              <a:t>wall的广播信息</a:t>
            </a:r>
            <a:r>
              <a:rPr lang="zh-CN" altLang="en-US" sz="3200">
                <a:solidFill>
                  <a:srgbClr val="FF0000"/>
                </a:solidFill>
              </a:rPr>
              <a:t>可能会扰乱接收者的工作屏幕</a:t>
            </a:r>
            <a:r>
              <a:rPr lang="zh-CN" altLang="en-US" sz="3200"/>
              <a:t>。当接收的</a:t>
            </a:r>
            <a:r>
              <a:rPr lang="zh-CN" altLang="en-US" sz="3200">
                <a:solidFill>
                  <a:srgbClr val="FF0000"/>
                </a:solidFill>
              </a:rPr>
              <a:t>终端正处在透明打印时</a:t>
            </a:r>
            <a:r>
              <a:rPr lang="zh-CN" altLang="en-US" sz="3200"/>
              <a:t>，收到广播信息将会送到终端打印机而造成真正的干扰。其他类型的广播或向指定终端的重定向输出信息也会造成类似干扰，请使用时小心。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>
            <a:extLst>
              <a:ext uri="{FF2B5EF4-FFF2-40B4-BE49-F238E27FC236}">
                <a16:creationId xmlns:a16="http://schemas.microsoft.com/office/drawing/2014/main" id="{FF202697-2B85-CE94-0A86-3E1FFC1F1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4.7.6  确定用户所使用的终端设备（tty）</a:t>
            </a:r>
            <a:endParaRPr lang="zh-CN" altLang="en-US"/>
          </a:p>
        </p:txBody>
      </p:sp>
      <p:sp>
        <p:nvSpPr>
          <p:cNvPr id="69635" name="内容占位符 2">
            <a:extLst>
              <a:ext uri="{FF2B5EF4-FFF2-40B4-BE49-F238E27FC236}">
                <a16:creationId xmlns:a16="http://schemas.microsoft.com/office/drawing/2014/main" id="{10726F7A-05C9-44EE-90B2-E4CC163F4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620713"/>
            <a:ext cx="9036050" cy="576103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tty用于显示命令自己使用的终端设备，以确定使用位置。其用法为：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/>
              <a:t>      </a:t>
            </a:r>
            <a:r>
              <a:rPr lang="zh-CN" altLang="en-US" sz="4800" dirty="0">
                <a:solidFill>
                  <a:srgbClr val="FF0000"/>
                </a:solidFill>
              </a:rPr>
              <a:t>tty  [-s]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若不使用选项-s，则在命令所用终端上显示所用的终端名。当使用-s时，</a:t>
            </a:r>
            <a:r>
              <a:rPr lang="zh-CN" altLang="en-US" sz="4000" dirty="0">
                <a:solidFill>
                  <a:srgbClr val="FF0000"/>
                </a:solidFill>
              </a:rPr>
              <a:t>什么也不输出</a:t>
            </a:r>
            <a:r>
              <a:rPr lang="zh-CN" altLang="en-US" sz="4000" dirty="0"/>
              <a:t>，</a:t>
            </a:r>
            <a:r>
              <a:rPr lang="zh-CN" altLang="en-US" sz="4000" dirty="0">
                <a:solidFill>
                  <a:srgbClr val="FF0000"/>
                </a:solidFill>
              </a:rPr>
              <a:t>只返回状态</a:t>
            </a:r>
            <a:r>
              <a:rPr lang="zh-CN" altLang="en-US" sz="4000" dirty="0"/>
              <a:t>。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/>
              <a:t>状态</a:t>
            </a:r>
            <a:r>
              <a:rPr lang="zh-CN" altLang="en-US" sz="4000" dirty="0">
                <a:solidFill>
                  <a:srgbClr val="FF0000"/>
                </a:solidFill>
              </a:rPr>
              <a:t>为0时</a:t>
            </a:r>
            <a:r>
              <a:rPr lang="zh-CN" altLang="en-US" sz="4000" dirty="0"/>
              <a:t>，表示命令是在终端上运行的，</a:t>
            </a:r>
            <a:r>
              <a:rPr lang="zh-CN" altLang="en-US" sz="4000" dirty="0">
                <a:solidFill>
                  <a:srgbClr val="FF0000"/>
                </a:solidFill>
              </a:rPr>
              <a:t>否则</a:t>
            </a:r>
            <a:r>
              <a:rPr lang="zh-CN" altLang="en-US" sz="4000" dirty="0"/>
              <a:t>表示是在后台等非终端环境下运行的。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>
            <a:extLst>
              <a:ext uri="{FF2B5EF4-FFF2-40B4-BE49-F238E27FC236}">
                <a16:creationId xmlns:a16="http://schemas.microsoft.com/office/drawing/2014/main" id="{3C3DA07A-B6A4-4FCD-2C42-61097AD8B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4.7.7  不退出系统而将自己切换成其他用户（su）</a:t>
            </a:r>
          </a:p>
        </p:txBody>
      </p:sp>
      <p:sp>
        <p:nvSpPr>
          <p:cNvPr id="60419" name="内容占位符 2">
            <a:extLst>
              <a:ext uri="{FF2B5EF4-FFF2-40B4-BE49-F238E27FC236}">
                <a16:creationId xmlns:a16="http://schemas.microsoft.com/office/drawing/2014/main" id="{92C8302E-F752-7847-FD03-5290DF2479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549275"/>
            <a:ext cx="9109075" cy="576103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1．功能与用法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su的功能是在使用者</a:t>
            </a:r>
            <a:r>
              <a:rPr lang="zh-CN" altLang="en-US" sz="3600">
                <a:solidFill>
                  <a:srgbClr val="FF0000"/>
                </a:solidFill>
              </a:rPr>
              <a:t>不退出系统的情况下以其他新用户的身份工作</a:t>
            </a:r>
            <a:r>
              <a:rPr lang="zh-CN" altLang="en-US" sz="3600"/>
              <a:t>。当</a:t>
            </a:r>
            <a:r>
              <a:rPr lang="zh-CN" altLang="en-US" sz="3600">
                <a:solidFill>
                  <a:srgbClr val="FF0000"/>
                </a:solidFill>
              </a:rPr>
              <a:t>不指定任务</a:t>
            </a:r>
            <a:r>
              <a:rPr lang="zh-CN" altLang="en-US" sz="3600"/>
              <a:t>时，将</a:t>
            </a:r>
            <a:r>
              <a:rPr lang="zh-CN" altLang="en-US" sz="3600">
                <a:solidFill>
                  <a:srgbClr val="FF0000"/>
                </a:solidFill>
              </a:rPr>
              <a:t>以新用户的身份启动一个shell</a:t>
            </a:r>
            <a:r>
              <a:rPr lang="zh-CN" altLang="en-US" sz="3600"/>
              <a:t>；当指定任务时，则以</a:t>
            </a:r>
            <a:r>
              <a:rPr lang="zh-CN" altLang="en-US" sz="3600">
                <a:solidFill>
                  <a:srgbClr val="FF0000"/>
                </a:solidFill>
              </a:rPr>
              <a:t>新用户的身份执行任务</a:t>
            </a:r>
            <a:r>
              <a:rPr lang="zh-CN" altLang="en-US" sz="3600"/>
              <a:t>。在以新用户工作的过程中，</a:t>
            </a:r>
            <a:r>
              <a:rPr lang="zh-CN" altLang="en-US" sz="3600">
                <a:solidFill>
                  <a:srgbClr val="FF0000"/>
                </a:solidFill>
              </a:rPr>
              <a:t>有效uid和有效gid变为新用户的uid和gid</a:t>
            </a:r>
            <a:r>
              <a:rPr lang="zh-CN" altLang="en-US" sz="3600"/>
              <a:t>。用法为：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400"/>
              <a:t>  su  [options] [-] [newuser [args]]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F24D2DB9-B776-A6CE-6725-2AEE30FB8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2．参数说明</a:t>
            </a:r>
          </a:p>
        </p:txBody>
      </p:sp>
      <p:graphicFrame>
        <p:nvGraphicFramePr>
          <p:cNvPr id="4" name="表格 -1">
            <a:extLst>
              <a:ext uri="{FF2B5EF4-FFF2-40B4-BE49-F238E27FC236}">
                <a16:creationId xmlns:a16="http://schemas.microsoft.com/office/drawing/2014/main" id="{D81D5D2F-2AB8-C652-EDB2-7BB1311E2A02}"/>
              </a:ext>
            </a:extLst>
          </p:cNvPr>
          <p:cNvGraphicFramePr>
            <a:graphicFrameLocks noGrp="1"/>
          </p:cNvGraphicFramePr>
          <p:nvPr/>
        </p:nvGraphicFramePr>
        <p:xfrm>
          <a:off x="107950" y="549275"/>
          <a:ext cx="9001125" cy="5759450"/>
        </p:xfrm>
        <a:graphic>
          <a:graphicData uri="http://schemas.openxmlformats.org/drawingml/2006/table">
            <a:tbl>
              <a:tblPr/>
              <a:tblGrid>
                <a:gridCol w="2940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189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选</a:t>
                      </a: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</a:t>
                      </a: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能</a:t>
                      </a: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</a:t>
                      </a: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述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189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-l</a:t>
                      </a: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--login</a:t>
                      </a:r>
                      <a:endParaRPr kumimoji="0" lang="zh-CN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以新用户身份启动一个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shell</a:t>
                      </a: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，并以新用户环境进行工作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189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-c CMD</a:t>
                      </a: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--command=CMD</a:t>
                      </a: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以新用户身份和环境执行命令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CMD</a:t>
                      </a:r>
                      <a:endParaRPr kumimoji="0" lang="zh-CN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189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-m</a:t>
                      </a: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-p</a:t>
                      </a:r>
                      <a:endParaRPr kumimoji="0" lang="zh-CN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用户切换时，不重新设置环境变量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1890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-s shell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切换时指定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shell</a:t>
                      </a: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。指定的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shell</a:t>
                      </a: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要在文件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zh-CN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etc</a:t>
                      </a: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/shells</a:t>
                      </a: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中有定义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:a16="http://schemas.microsoft.com/office/drawing/2014/main" id="{E982BCF5-4DEE-D779-EABC-6B27153AE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说明</a:t>
            </a:r>
          </a:p>
        </p:txBody>
      </p:sp>
      <p:sp>
        <p:nvSpPr>
          <p:cNvPr id="62467" name="内容占位符 2">
            <a:extLst>
              <a:ext uri="{FF2B5EF4-FFF2-40B4-BE49-F238E27FC236}">
                <a16:creationId xmlns:a16="http://schemas.microsoft.com/office/drawing/2014/main" id="{42724D2D-6EC4-5278-DFEC-2BBAA13752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430213" y="549275"/>
            <a:ext cx="9577388" cy="5832475"/>
          </a:xfrm>
        </p:spPr>
        <p:txBody>
          <a:bodyPr/>
          <a:lstStyle/>
          <a:p>
            <a:pPr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若不指定用户名，则</a:t>
            </a:r>
            <a:r>
              <a:rPr lang="zh-CN" altLang="en-US" sz="3200">
                <a:solidFill>
                  <a:srgbClr val="FF0000"/>
                </a:solidFill>
              </a:rPr>
              <a:t>默认为root</a:t>
            </a:r>
            <a:r>
              <a:rPr lang="zh-CN" altLang="en-US" sz="3200"/>
              <a:t>。当以新用户身份工作完毕后，（</a:t>
            </a:r>
            <a:r>
              <a:rPr lang="zh-CN" altLang="en-US" sz="3200">
                <a:solidFill>
                  <a:srgbClr val="FF0000"/>
                </a:solidFill>
              </a:rPr>
              <a:t>以注销方式</a:t>
            </a:r>
            <a:r>
              <a:rPr lang="zh-CN" altLang="en-US" sz="3200"/>
              <a:t>）变回到原来的自己。</a:t>
            </a:r>
            <a:r>
              <a:rPr lang="zh-CN" altLang="en-US" sz="3200">
                <a:solidFill>
                  <a:srgbClr val="FF0000"/>
                </a:solidFill>
              </a:rPr>
              <a:t>除非由root向其他用户切换</a:t>
            </a:r>
            <a:r>
              <a:rPr lang="zh-CN" altLang="en-US" sz="3200"/>
              <a:t>，都要进行密码验证。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以su newuser方式切换用户，将使用原的环境，而以su </a:t>
            </a:r>
            <a:r>
              <a:rPr lang="zh-CN" altLang="en-US" sz="3200">
                <a:solidFill>
                  <a:srgbClr val="FF0000"/>
                </a:solidFill>
              </a:rPr>
              <a:t>- newuser方式切换</a:t>
            </a:r>
            <a:r>
              <a:rPr lang="zh-CN" altLang="en-US" sz="3200"/>
              <a:t>，将使用新用户环境。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如果要在批处理程序内以另一个新用户newuser直接执行某程序cmd，则可使用下列形式：</a:t>
            </a:r>
          </a:p>
          <a:p>
            <a:pPr lvl="1"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su - newuser  -c "cmd args"	</a:t>
            </a:r>
            <a:r>
              <a:rPr lang="en-US" altLang="zh-CN" sz="3200"/>
              <a:t>#</a:t>
            </a:r>
            <a:r>
              <a:rPr lang="zh-CN" altLang="en-US" sz="3200"/>
              <a:t>或</a:t>
            </a:r>
          </a:p>
          <a:p>
            <a:pPr lvl="1"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su - newuser  --command="cmd args"</a:t>
            </a:r>
          </a:p>
          <a:p>
            <a:pPr indent="0" eaLnBrk="1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在系统启动期间，常以这种方法启动某服务程序。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>
            <a:extLst>
              <a:ext uri="{FF2B5EF4-FFF2-40B4-BE49-F238E27FC236}">
                <a16:creationId xmlns:a16="http://schemas.microsoft.com/office/drawing/2014/main" id="{A12A5027-65CA-B70F-0439-FD6745BE7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3．应用示例</a:t>
            </a:r>
            <a:endParaRPr lang="zh-CN" altLang="en-US"/>
          </a:p>
        </p:txBody>
      </p:sp>
      <p:sp>
        <p:nvSpPr>
          <p:cNvPr id="73731" name="内容占位符 2">
            <a:extLst>
              <a:ext uri="{FF2B5EF4-FFF2-40B4-BE49-F238E27FC236}">
                <a16:creationId xmlns:a16="http://schemas.microsoft.com/office/drawing/2014/main" id="{A0307BA7-BF8B-1A16-DCAF-03B9E5E2E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713"/>
            <a:ext cx="9144000" cy="576103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>
                <a:sym typeface="+mn-ea"/>
              </a:rPr>
              <a:t>（</a:t>
            </a:r>
            <a:r>
              <a:rPr lang="en-US" altLang="zh-CN" sz="4000" dirty="0">
                <a:sym typeface="+mn-ea"/>
              </a:rPr>
              <a:t>1</a:t>
            </a:r>
            <a:r>
              <a:rPr lang="zh-CN" altLang="en-US" sz="4000" dirty="0">
                <a:sym typeface="+mn-ea"/>
              </a:rPr>
              <a:t>）切换到newuser后使用原环境工作</a:t>
            </a:r>
            <a:endParaRPr lang="zh-CN" altLang="en-US" sz="4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/>
              <a:t>     </a:t>
            </a:r>
            <a:r>
              <a:rPr lang="zh-CN" altLang="en-US" sz="4400" dirty="0">
                <a:solidFill>
                  <a:srgbClr val="FF0000"/>
                </a:solidFill>
              </a:rPr>
              <a:t>#su newuser	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/>
              <a:t>（</a:t>
            </a:r>
            <a:r>
              <a:rPr lang="en-US" altLang="zh-CN" sz="4000" dirty="0"/>
              <a:t>2</a:t>
            </a:r>
            <a:r>
              <a:rPr lang="zh-CN" altLang="en-US" sz="4000" dirty="0"/>
              <a:t>）su - newuser #切换到用户newuser后使用新用户环境工作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000" dirty="0"/>
              <a:t>##</a:t>
            </a:r>
            <a:r>
              <a:rPr lang="zh-CN" altLang="en-US" sz="4000" dirty="0">
                <a:sym typeface="+mn-ea"/>
              </a:rPr>
              <a:t>切换到newuser后使用新环境工作</a:t>
            </a:r>
            <a:endParaRPr lang="zh-CN" altLang="en-US" sz="4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000" dirty="0">
                <a:sym typeface="+mn-ea"/>
              </a:rPr>
              <a:t>     </a:t>
            </a:r>
            <a:r>
              <a:rPr lang="zh-CN" altLang="en-US" sz="4400" dirty="0">
                <a:solidFill>
                  <a:srgbClr val="FF0000"/>
                </a:solidFill>
                <a:sym typeface="+mn-ea"/>
              </a:rPr>
              <a:t>#su </a:t>
            </a:r>
            <a:r>
              <a:rPr lang="en-US" altLang="zh-CN" sz="4400" dirty="0">
                <a:solidFill>
                  <a:srgbClr val="FF0000"/>
                </a:solidFill>
                <a:sym typeface="+mn-ea"/>
              </a:rPr>
              <a:t>- </a:t>
            </a:r>
            <a:r>
              <a:rPr lang="zh-CN" altLang="en-US" sz="4400" dirty="0">
                <a:solidFill>
                  <a:srgbClr val="FF0000"/>
                </a:solidFill>
                <a:sym typeface="+mn-ea"/>
              </a:rPr>
              <a:t>newuser	</a:t>
            </a:r>
            <a:endParaRPr lang="zh-CN" altLang="en-US" sz="44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dirty="0">
                <a:sym typeface="+mn-ea"/>
              </a:rPr>
              <a:t>#</a:t>
            </a:r>
            <a:r>
              <a:rPr lang="en-US" altLang="zh-CN" sz="4000" dirty="0">
                <a:sym typeface="+mn-ea"/>
              </a:rPr>
              <a:t>#</a:t>
            </a:r>
            <a:r>
              <a:rPr lang="zh-CN" altLang="en-US" sz="4000" dirty="0">
                <a:sym typeface="+mn-ea"/>
              </a:rPr>
              <a:t>以newuser身份执行"command args"</a:t>
            </a:r>
            <a:endParaRPr lang="zh-CN" altLang="en-US" sz="4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400" dirty="0">
                <a:solidFill>
                  <a:srgbClr val="FF0000"/>
                </a:solidFill>
              </a:rPr>
              <a:t>#su - newuser -c "command args"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D070DAC1-0A06-862B-1CDA-F55DEA43FA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4.7.8  以其他用户身份执行程序（sudo）</a:t>
            </a:r>
          </a:p>
        </p:txBody>
      </p:sp>
      <p:sp>
        <p:nvSpPr>
          <p:cNvPr id="76803" name="内容占位符 2">
            <a:extLst>
              <a:ext uri="{FF2B5EF4-FFF2-40B4-BE49-F238E27FC236}">
                <a16:creationId xmlns:a16="http://schemas.microsoft.com/office/drawing/2014/main" id="{952CE705-7741-AC8C-5B13-B94C86C5D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620713"/>
            <a:ext cx="9109075" cy="576103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400" dirty="0"/>
              <a:t>1．功能及用法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4400" dirty="0"/>
              <a:t> sudo也允许用户</a:t>
            </a:r>
            <a:r>
              <a:rPr lang="zh-CN" altLang="en-US" sz="4400" dirty="0">
                <a:solidFill>
                  <a:srgbClr val="FF0000"/>
                </a:solidFill>
              </a:rPr>
              <a:t>以超级用户或其他用户的身份执行命令</a:t>
            </a:r>
            <a:r>
              <a:rPr lang="zh-CN" altLang="en-US" sz="4400" dirty="0"/>
              <a:t>。其用法为：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/>
              <a:t>  sudo -h|-k|-l|-v|-V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dirty="0"/>
              <a:t>  sudo [-bH]|[-p str] [-u user] [-g group] {-s|cmd}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A731D509-9784-4286-3516-4E4B00CEB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2．参数及说明</a:t>
            </a:r>
          </a:p>
        </p:txBody>
      </p:sp>
      <p:graphicFrame>
        <p:nvGraphicFramePr>
          <p:cNvPr id="4" name="表格 -1">
            <a:extLst>
              <a:ext uri="{FF2B5EF4-FFF2-40B4-BE49-F238E27FC236}">
                <a16:creationId xmlns:a16="http://schemas.microsoft.com/office/drawing/2014/main" id="{116AFB84-754B-9030-34E9-31501B5D8842}"/>
              </a:ext>
            </a:extLst>
          </p:cNvPr>
          <p:cNvGraphicFramePr>
            <a:graphicFrameLocks noGrp="1"/>
          </p:cNvGraphicFramePr>
          <p:nvPr/>
        </p:nvGraphicFramePr>
        <p:xfrm>
          <a:off x="0" y="549275"/>
          <a:ext cx="9144000" cy="6124575"/>
        </p:xfrm>
        <a:graphic>
          <a:graphicData uri="http://schemas.openxmlformats.org/drawingml/2006/table">
            <a:tbl>
              <a:tblPr/>
              <a:tblGrid>
                <a:gridCol w="1069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3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2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046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-b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后台执行命令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-h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帮助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-l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列出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自己使用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可以执行的命令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-U user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-l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配合，列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-U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所指定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user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可以执行的命令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1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-H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重置环境变量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HOME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（默认不修改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HOME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-p 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更改密码提示符。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%u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用户名，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%h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为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主机名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0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-u user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指定用户名或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uid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默认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root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-g group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指定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名或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078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-k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强迫下次执行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时输入密码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-v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延长密码有效期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分钟</a:t>
                      </a: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8052"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cmd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指定将要执行的命令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-s</a:t>
                      </a: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4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defRPr sz="2000"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25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 PL SungtiL GB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ts val="8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ts val="338"/>
                        </a:spcBef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ts val="338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Arial" panose="020B0604020202020204" pitchFamily="34" charset="0"/>
                        <a:defRPr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执行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SHELL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指定的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shell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63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>
            <a:extLst>
              <a:ext uri="{FF2B5EF4-FFF2-40B4-BE49-F238E27FC236}">
                <a16:creationId xmlns:a16="http://schemas.microsoft.com/office/drawing/2014/main" id="{696B04B1-613D-14FC-2FB3-8DC0C3C9F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3．配置文件sudoers</a:t>
            </a:r>
          </a:p>
        </p:txBody>
      </p:sp>
      <p:sp>
        <p:nvSpPr>
          <p:cNvPr id="66563" name="内容占位符 2">
            <a:extLst>
              <a:ext uri="{FF2B5EF4-FFF2-40B4-BE49-F238E27FC236}">
                <a16:creationId xmlns:a16="http://schemas.microsoft.com/office/drawing/2014/main" id="{41CFEEF6-8B1E-4DCA-E4EA-E71DEBDE73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109075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/>
              <a:t>/etc/sudoers</a:t>
            </a:r>
            <a:r>
              <a:rPr lang="zh-CN" altLang="en-US" sz="3600"/>
              <a:t>是</a:t>
            </a:r>
            <a:r>
              <a:rPr lang="zh-CN" altLang="en-US" sz="3600">
                <a:solidFill>
                  <a:srgbClr val="FF0000"/>
                </a:solidFill>
              </a:rPr>
              <a:t>sudo的配置文件</a:t>
            </a:r>
            <a:r>
              <a:rPr lang="zh-CN" altLang="en-US" sz="3600"/>
              <a:t>，能使用sudo命令的</a:t>
            </a:r>
            <a:r>
              <a:rPr lang="zh-CN" altLang="en-US" sz="3600">
                <a:solidFill>
                  <a:srgbClr val="FF0000"/>
                </a:solidFill>
              </a:rPr>
              <a:t>用户必须</a:t>
            </a:r>
            <a:r>
              <a:rPr lang="zh-CN" altLang="en-US" sz="3600"/>
              <a:t>在此文件中定义。系统还为此配置文件提供了一个专用的</a:t>
            </a:r>
            <a:r>
              <a:rPr lang="zh-CN" altLang="en-US" sz="3600">
                <a:solidFill>
                  <a:srgbClr val="FF0000"/>
                </a:solidFill>
              </a:rPr>
              <a:t>编辑命令visudo</a:t>
            </a:r>
            <a:r>
              <a:rPr lang="zh-CN" altLang="en-US" sz="3600"/>
              <a:t>，除了编辑修改sudoers文件外，还可帮助使用者</a:t>
            </a:r>
            <a:r>
              <a:rPr lang="zh-CN" altLang="en-US" sz="3600">
                <a:solidFill>
                  <a:srgbClr val="FF0000"/>
                </a:solidFill>
              </a:rPr>
              <a:t>检查配置文件</a:t>
            </a:r>
            <a:r>
              <a:rPr lang="zh-CN" altLang="en-US" sz="3600"/>
              <a:t>内容的正确性。修改sudoers文件时请使用visudo，但不同系统中使用的编辑器不同，</a:t>
            </a:r>
            <a:r>
              <a:rPr lang="zh-CN" altLang="en-US" sz="3600">
                <a:solidFill>
                  <a:srgbClr val="FF0000"/>
                </a:solidFill>
              </a:rPr>
              <a:t>Fedora使用vi</a:t>
            </a:r>
            <a:r>
              <a:rPr lang="zh-CN" altLang="en-US" sz="3600"/>
              <a:t>。</a:t>
            </a:r>
            <a:endParaRPr lang="en-US" altLang="zh-CN" sz="36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有关配置文件</a:t>
            </a:r>
            <a:r>
              <a:rPr lang="zh-CN" altLang="en-US" sz="3600">
                <a:solidFill>
                  <a:srgbClr val="FF0000"/>
                </a:solidFill>
              </a:rPr>
              <a:t>/etc/sudoers</a:t>
            </a:r>
            <a:r>
              <a:rPr lang="zh-CN" altLang="en-US" sz="3600"/>
              <a:t>的更多说明请参阅在线文档或其他文献。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>
            <a:extLst>
              <a:ext uri="{FF2B5EF4-FFF2-40B4-BE49-F238E27FC236}">
                <a16:creationId xmlns:a16="http://schemas.microsoft.com/office/drawing/2014/main" id="{2EB795E8-9A85-693F-A3EF-CD9940A41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sudoers结构</a:t>
            </a:r>
          </a:p>
        </p:txBody>
      </p:sp>
      <p:sp>
        <p:nvSpPr>
          <p:cNvPr id="67587" name="内容占位符 2">
            <a:extLst>
              <a:ext uri="{FF2B5EF4-FFF2-40B4-BE49-F238E27FC236}">
                <a16:creationId xmlns:a16="http://schemas.microsoft.com/office/drawing/2014/main" id="{CF7F314B-9FE4-7125-4F28-54AF2392FB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549275"/>
            <a:ext cx="9109075" cy="5761038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USERs  HOSTs=(RUNASs)  COMMANDs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 #意为：哪些人  在哪里=(以什么身份)  干什么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rgbClr val="FF0000"/>
                </a:solidFill>
              </a:rPr>
              <a:t>简单示例：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root  ALL=(ALL)  ALL	#root可在任何位置以任何人的身份做任何事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%sudo  ALL=(ALL)  ALL 	#sudo组中的用户可在任何位置以任何人的身份做任何事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%wheel  ALL=(ALL) ALL #wheel组中的用户可在任何位置以任何人的身份做任何事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/>
              <a:t>zh3  ALL=(ALL)  /sbin/shutdown #zh3可在任何位置以任何人的身份执行/sbin/shutdown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>
            <a:extLst>
              <a:ext uri="{FF2B5EF4-FFF2-40B4-BE49-F238E27FC236}">
                <a16:creationId xmlns:a16="http://schemas.microsoft.com/office/drawing/2014/main" id="{27C90016-41EC-E227-B152-3A038616FD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4．示例</a:t>
            </a:r>
          </a:p>
        </p:txBody>
      </p:sp>
      <p:sp>
        <p:nvSpPr>
          <p:cNvPr id="68611" name="内容占位符 2">
            <a:extLst>
              <a:ext uri="{FF2B5EF4-FFF2-40B4-BE49-F238E27FC236}">
                <a16:creationId xmlns:a16="http://schemas.microsoft.com/office/drawing/2014/main" id="{BE5FE2EC-8356-86C5-107B-3D36EAEB4E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549275"/>
            <a:ext cx="9109075" cy="590391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/>
              <a:t>（1）</a:t>
            </a:r>
            <a:r>
              <a:rPr lang="zh-CN" altLang="en-US" sz="2400">
                <a:solidFill>
                  <a:srgbClr val="FF0000"/>
                </a:solidFill>
              </a:rPr>
              <a:t>检查用户是否可以使用sudo执行的命令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/>
              <a:t>$ sudo -l	#首次执行时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/>
              <a:t>    We trust you have received the usual lecture from the local System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/>
              <a:t>    Administrator. It usually boils down to these three things: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/>
              <a:t>        #1) Respect the privacy of others.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/>
              <a:t>        #2) Think before you type.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/>
              <a:t>        #3) With great power comes great responsibility.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/>
              <a:t>    [sudo] password：******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/>
              <a:t>    Sory,user test may not run sudo on localhost. #或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/>
              <a:t>    test is not in the sudoers file. This incident will be reported.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/>
              <a:t>再次运行$ sudo -l，则直接报错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>
            <a:extLst>
              <a:ext uri="{FF2B5EF4-FFF2-40B4-BE49-F238E27FC236}">
                <a16:creationId xmlns:a16="http://schemas.microsoft.com/office/drawing/2014/main" id="{E6CDF215-764E-4361-1F6F-11F8715FD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4．示例（续）</a:t>
            </a:r>
            <a:endParaRPr lang="zh-CN" altLang="en-US"/>
          </a:p>
        </p:txBody>
      </p:sp>
      <p:sp>
        <p:nvSpPr>
          <p:cNvPr id="69635" name="内容占位符 2">
            <a:extLst>
              <a:ext uri="{FF2B5EF4-FFF2-40B4-BE49-F238E27FC236}">
                <a16:creationId xmlns:a16="http://schemas.microsoft.com/office/drawing/2014/main" id="{CCBF2CB7-423B-3965-3250-7E4B2F169E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20713"/>
            <a:ext cx="9036050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（2）以root或管理员身份修改sudoers，使其能做任何事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#visudo		#在sudoers最后增加如下行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  test  ALL=(ALL) ALL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#注意：这样，test的权限就太大了，也可以按以下方式处理。</a:t>
            </a:r>
            <a:r>
              <a:rPr lang="zh-CN" altLang="en-US" sz="3600">
                <a:sym typeface="+mn-ea"/>
              </a:rPr>
              <a:t>将test添加到相关组</a:t>
            </a:r>
            <a:endParaRPr lang="zh-CN" altLang="en-US" sz="36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/>
              <a:t>#usermod  -G wheel test  </a:t>
            </a:r>
            <a:r>
              <a:rPr lang="en-US" altLang="zh-CN" sz="3600"/>
              <a:t># </a:t>
            </a:r>
            <a:r>
              <a:rPr lang="zh-CN" altLang="en-US" sz="3600"/>
              <a:t>红帽</a:t>
            </a:r>
            <a:endParaRPr lang="en-US" altLang="zh-CN" sz="36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ym typeface="+mn-ea"/>
              </a:rPr>
              <a:t>#usermod  -G </a:t>
            </a:r>
            <a:r>
              <a:rPr lang="en-US" altLang="zh-CN" sz="3600">
                <a:sym typeface="+mn-ea"/>
              </a:rPr>
              <a:t>sudo</a:t>
            </a:r>
            <a:r>
              <a:rPr lang="zh-CN" altLang="en-US" sz="3600">
                <a:sym typeface="+mn-ea"/>
              </a:rPr>
              <a:t> test  </a:t>
            </a:r>
            <a:r>
              <a:rPr lang="en-US" altLang="zh-CN" sz="3600">
                <a:sym typeface="+mn-ea"/>
              </a:rPr>
              <a:t># Ubuntu</a:t>
            </a:r>
            <a:endParaRPr lang="en-US" altLang="zh-CN" sz="3600"/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ym typeface="+mn-ea"/>
              </a:rPr>
              <a:t>#usermod  -G </a:t>
            </a:r>
            <a:r>
              <a:rPr lang="en-US" altLang="zh-CN" sz="3600">
                <a:sym typeface="+mn-ea"/>
              </a:rPr>
              <a:t>admin test</a:t>
            </a:r>
            <a:r>
              <a:rPr lang="zh-CN" altLang="en-US" sz="3600">
                <a:sym typeface="+mn-ea"/>
              </a:rPr>
              <a:t>  </a:t>
            </a:r>
            <a:r>
              <a:rPr lang="en-US" altLang="zh-CN" sz="3600">
                <a:sym typeface="+mn-ea"/>
              </a:rPr>
              <a:t># Ubuntu</a:t>
            </a:r>
            <a:endParaRPr lang="zh-CN" altLang="en-US" sz="36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>
            <a:extLst>
              <a:ext uri="{FF2B5EF4-FFF2-40B4-BE49-F238E27FC236}">
                <a16:creationId xmlns:a16="http://schemas.microsoft.com/office/drawing/2014/main" id="{1A6FBFBB-894D-17CC-1F1E-1A4EF496D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4．示例（续）</a:t>
            </a:r>
            <a:endParaRPr lang="zh-CN" altLang="en-US"/>
          </a:p>
        </p:txBody>
      </p:sp>
      <p:sp>
        <p:nvSpPr>
          <p:cNvPr id="70659" name="内容占位符 2">
            <a:extLst>
              <a:ext uri="{FF2B5EF4-FFF2-40B4-BE49-F238E27FC236}">
                <a16:creationId xmlns:a16="http://schemas.microsoft.com/office/drawing/2014/main" id="{372C0D30-8FCC-53BD-1FCC-BBD1F5C05E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" y="620713"/>
            <a:ext cx="9109075" cy="5761037"/>
          </a:xfrm>
        </p:spPr>
        <p:txBody>
          <a:bodyPr/>
          <a:lstStyle/>
          <a:p>
            <a:r>
              <a:rPr lang="zh-CN" altLang="en-US" sz="3600"/>
              <a:t>（3）再次检查用户可以使用sudo执行的命令。</a:t>
            </a:r>
          </a:p>
          <a:p>
            <a:r>
              <a:rPr lang="zh-CN" altLang="en-US" sz="3600"/>
              <a:t>$ sudo -l	#第3次执行时</a:t>
            </a:r>
          </a:p>
          <a:p>
            <a:r>
              <a:rPr lang="zh-CN" altLang="en-US" sz="3600"/>
              <a:t>    User test may run the following commands on ******:</a:t>
            </a:r>
          </a:p>
          <a:p>
            <a:r>
              <a:rPr lang="zh-CN" altLang="en-US" sz="3600"/>
              <a:t>     (ALL) ALL #说明test用户可以以任何身份做任何事</a:t>
            </a:r>
          </a:p>
          <a:p>
            <a:r>
              <a:rPr lang="zh-CN" altLang="en-US" sz="3600"/>
              <a:t>之后，</a:t>
            </a:r>
            <a:r>
              <a:rPr lang="zh-CN" altLang="en-US" sz="3600">
                <a:sym typeface="+mn-ea"/>
              </a:rPr>
              <a:t>test用户就可以使用</a:t>
            </a:r>
            <a:r>
              <a:rPr lang="en-US" altLang="zh-CN" sz="3600">
                <a:sym typeface="+mn-ea"/>
              </a:rPr>
              <a:t>sudo</a:t>
            </a:r>
            <a:r>
              <a:rPr lang="zh-CN" altLang="en-US" sz="3600">
                <a:sym typeface="+mn-ea"/>
              </a:rPr>
              <a:t>干任何事了。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>
            <a:extLst>
              <a:ext uri="{FF2B5EF4-FFF2-40B4-BE49-F238E27FC236}">
                <a16:creationId xmlns:a16="http://schemas.microsoft.com/office/drawing/2014/main" id="{2D4E49C7-0243-2B7A-D314-91A7CE386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作业</a:t>
            </a:r>
          </a:p>
        </p:txBody>
      </p:sp>
      <p:sp>
        <p:nvSpPr>
          <p:cNvPr id="71683" name="内容占位符 2">
            <a:extLst>
              <a:ext uri="{FF2B5EF4-FFF2-40B4-BE49-F238E27FC236}">
                <a16:creationId xmlns:a16="http://schemas.microsoft.com/office/drawing/2014/main" id="{93134735-F594-5751-FC5C-0D20120C45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620713"/>
            <a:ext cx="8415338" cy="5761037"/>
          </a:xfrm>
        </p:spPr>
        <p:txBody>
          <a:bodyPr/>
          <a:lstStyle/>
          <a:p>
            <a:r>
              <a:rPr lang="zh-CN" altLang="en-US"/>
              <a:t>第四章课后习题（与讲过内容有关的）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AR PL SungtiL GB"/>
        <a:ea typeface="华文新魏"/>
        <a:cs typeface=""/>
      </a:majorFont>
      <a:minorFont>
        <a:latin typeface="AR PL SungtiL GB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3199</TotalTime>
  <Words>11211</Words>
  <Application>Microsoft Office PowerPoint</Application>
  <PresentationFormat>全屏显示(4:3)</PresentationFormat>
  <Paragraphs>445</Paragraphs>
  <Slides>65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65</vt:i4>
      </vt:variant>
    </vt:vector>
  </HeadingPairs>
  <TitlesOfParts>
    <vt:vector size="73" baseType="lpstr">
      <vt:lpstr>AR PL SungtiL GB</vt:lpstr>
      <vt:lpstr>宋体</vt:lpstr>
      <vt:lpstr>Arial</vt:lpstr>
      <vt:lpstr>华文新魏</vt:lpstr>
      <vt:lpstr>Times New Roman</vt:lpstr>
      <vt:lpstr>+mn-ea</vt:lpstr>
      <vt:lpstr>默认设计模板</vt:lpstr>
      <vt:lpstr>自定义设计方案</vt:lpstr>
      <vt:lpstr>PowerPoint 演示文稿</vt:lpstr>
      <vt:lpstr>第4章用户、组和密码及安全管理</vt:lpstr>
      <vt:lpstr>4.1  UNIX系统的用户和组与安全</vt:lpstr>
      <vt:lpstr>4.1.1  用户与uid</vt:lpstr>
      <vt:lpstr>4.1.2  组与gid</vt:lpstr>
      <vt:lpstr>4.2  与用户和组管理相关的文件</vt:lpstr>
      <vt:lpstr>4.2.1  /etc/passwd</vt:lpstr>
      <vt:lpstr>/etc/passwd结构说明</vt:lpstr>
      <vt:lpstr>关于shell的说明</vt:lpstr>
      <vt:lpstr>/etc/passwd示例</vt:lpstr>
      <vt:lpstr>4.2.2  /etc/shadow</vt:lpstr>
      <vt:lpstr>关于/etc/shadow的说明</vt:lpstr>
      <vt:lpstr>4.2.3  /etc/group</vt:lpstr>
      <vt:lpstr>/etc/group示例及说明</vt:lpstr>
      <vt:lpstr>4.2.4  /etc/login.defs</vt:lpstr>
      <vt:lpstr>关于/etc/login.defs的说明</vt:lpstr>
      <vt:lpstr>4.3  用户管理命令</vt:lpstr>
      <vt:lpstr>4.3.1  增加用户（useradd）</vt:lpstr>
      <vt:lpstr>2．参数说明</vt:lpstr>
      <vt:lpstr>2．参数说明（续）</vt:lpstr>
      <vt:lpstr>3．关于创建用户的说明</vt:lpstr>
      <vt:lpstr>3．关于创建用户的说明（续）</vt:lpstr>
      <vt:lpstr>4．创建用户示例</vt:lpstr>
      <vt:lpstr>创建用户示例（续）</vt:lpstr>
      <vt:lpstr>创建用户示例（续）</vt:lpstr>
      <vt:lpstr>关于useradd的说明</vt:lpstr>
      <vt:lpstr>4.3.2  用户删除（userdel）</vt:lpstr>
      <vt:lpstr>关于用户删除的说明</vt:lpstr>
      <vt:lpstr>4.3.3  用户修改（usermod）</vt:lpstr>
      <vt:lpstr>4.4  组管理命令</vt:lpstr>
      <vt:lpstr>4.4.1  组创建（groupadd）</vt:lpstr>
      <vt:lpstr>关于组创建的说明</vt:lpstr>
      <vt:lpstr>4.4.2  组删除（groupdel）</vt:lpstr>
      <vt:lpstr>4.4.3  组修改（groupmod）</vt:lpstr>
      <vt:lpstr>4.5  密码安全与管理</vt:lpstr>
      <vt:lpstr>4.5.1  密码安全管理综述</vt:lpstr>
      <vt:lpstr>几个安全注意事项</vt:lpstr>
      <vt:lpstr>4.5.2  密码管理命令（passwd）</vt:lpstr>
      <vt:lpstr>2．参数说明</vt:lpstr>
      <vt:lpstr>关于passwd的说明</vt:lpstr>
      <vt:lpstr>4.5.3  密码管理示例</vt:lpstr>
      <vt:lpstr>4.7  与用户身份和位置相关的其他命令</vt:lpstr>
      <vt:lpstr>1  显示与用户和组相关的信息（id）</vt:lpstr>
      <vt:lpstr>PowerPoint 演示文稿</vt:lpstr>
      <vt:lpstr>3．id使用示例</vt:lpstr>
      <vt:lpstr>4.7.2  显示已登录用户的信息（who）</vt:lpstr>
      <vt:lpstr>2．参数说明</vt:lpstr>
      <vt:lpstr>3．示例</vt:lpstr>
      <vt:lpstr>4.7.3  显示使用者的用户名（whoami）</vt:lpstr>
      <vt:lpstr>4.7.4  向系统中的指定用户发信息（write）</vt:lpstr>
      <vt:lpstr>4.7.5  向系统中已登录的所有用户发信息（wall）</vt:lpstr>
      <vt:lpstr>关于wall的说明</vt:lpstr>
      <vt:lpstr>4.7.6  确定用户所使用的终端设备（tty）</vt:lpstr>
      <vt:lpstr>4.7.7  不退出系统而将自己切换成其他用户（su）</vt:lpstr>
      <vt:lpstr>2．参数说明</vt:lpstr>
      <vt:lpstr>说明</vt:lpstr>
      <vt:lpstr>3．应用示例</vt:lpstr>
      <vt:lpstr>4.7.8  以其他用户身份执行程序（sudo）</vt:lpstr>
      <vt:lpstr>2．参数及说明</vt:lpstr>
      <vt:lpstr>3．配置文件sudoers</vt:lpstr>
      <vt:lpstr>sudoers结构</vt:lpstr>
      <vt:lpstr>4．示例</vt:lpstr>
      <vt:lpstr>4．示例（续）</vt:lpstr>
      <vt:lpstr>4．示例（续）</vt:lpstr>
      <vt:lpstr>作业</vt:lpstr>
    </vt:vector>
  </TitlesOfParts>
  <Company>黑龙江大学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Linux操作系统</dc:title>
  <dc:creator>青巴图</dc:creator>
  <cp:lastModifiedBy>yude bai</cp:lastModifiedBy>
  <cp:revision>236</cp:revision>
  <dcterms:modified xsi:type="dcterms:W3CDTF">2025-08-11T09:56:52Z</dcterms:modified>
</cp:coreProperties>
</file>