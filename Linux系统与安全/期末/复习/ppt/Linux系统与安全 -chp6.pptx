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51"/>
  </p:notesMasterIdLst>
  <p:handoutMasterIdLst>
    <p:handoutMasterId r:id="rId52"/>
  </p:handoutMasterIdLst>
  <p:sldIdLst>
    <p:sldId id="256" r:id="rId3"/>
    <p:sldId id="259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76" r:id="rId45"/>
    <p:sldId id="381" r:id="rId46"/>
    <p:sldId id="382" r:id="rId47"/>
    <p:sldId id="383" r:id="rId48"/>
    <p:sldId id="384" r:id="rId49"/>
    <p:sldId id="385" r:id="rId50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00FF00"/>
    <a:srgbClr val="DDDDDD"/>
    <a:srgbClr val="C0C0C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 autoAdjust="0"/>
  </p:normalViewPr>
  <p:slideViewPr>
    <p:cSldViewPr>
      <p:cViewPr varScale="1">
        <p:scale>
          <a:sx n="110" d="100"/>
          <a:sy n="110" d="100"/>
        </p:scale>
        <p:origin x="924" y="7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2935" y="31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F073031-F275-3DC1-8176-7174CD0818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207BD4-6E9F-6B92-5092-A6C55FBE8C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22A5D3B-8D58-4D6B-8E1C-DEC481B7A651}" type="datetimeFigureOut">
              <a:rPr lang="zh-CN" altLang="en-US"/>
              <a:pPr>
                <a:defRPr/>
              </a:pPr>
              <a:t>2025/8/11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0DB35E-DFC3-A562-6301-513B56F5E9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C65730-09D7-A25A-3ABE-6C3D315316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E7E10C6-3C85-44A1-AB7A-EA0DDE9EA47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:a16="http://schemas.microsoft.com/office/drawing/2014/main" id="{92613B1D-2278-21EB-675B-DDE44095C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099" name="AutoShape 2">
            <a:extLst>
              <a:ext uri="{FF2B5EF4-FFF2-40B4-BE49-F238E27FC236}">
                <a16:creationId xmlns:a16="http://schemas.microsoft.com/office/drawing/2014/main" id="{01B516BC-BFE3-C591-C36E-8B955ADE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0" name="AutoShape 3">
            <a:extLst>
              <a:ext uri="{FF2B5EF4-FFF2-40B4-BE49-F238E27FC236}">
                <a16:creationId xmlns:a16="http://schemas.microsoft.com/office/drawing/2014/main" id="{276D148D-7B5B-8D7A-949B-144B0A75C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1" name="AutoShape 4">
            <a:extLst>
              <a:ext uri="{FF2B5EF4-FFF2-40B4-BE49-F238E27FC236}">
                <a16:creationId xmlns:a16="http://schemas.microsoft.com/office/drawing/2014/main" id="{4EDC922C-A14B-99BA-74F3-2A0C723BB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2" name="AutoShape 5">
            <a:extLst>
              <a:ext uri="{FF2B5EF4-FFF2-40B4-BE49-F238E27FC236}">
                <a16:creationId xmlns:a16="http://schemas.microsoft.com/office/drawing/2014/main" id="{377EF116-4C74-AAE9-8629-E46E98689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3" name="AutoShape 6">
            <a:extLst>
              <a:ext uri="{FF2B5EF4-FFF2-40B4-BE49-F238E27FC236}">
                <a16:creationId xmlns:a16="http://schemas.microsoft.com/office/drawing/2014/main" id="{139CE242-D56E-B08F-3E59-E20A7CC7B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4" name="AutoShape 7">
            <a:extLst>
              <a:ext uri="{FF2B5EF4-FFF2-40B4-BE49-F238E27FC236}">
                <a16:creationId xmlns:a16="http://schemas.microsoft.com/office/drawing/2014/main" id="{3650F518-6449-865E-4CBD-525652A5C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5" name="AutoShape 8">
            <a:extLst>
              <a:ext uri="{FF2B5EF4-FFF2-40B4-BE49-F238E27FC236}">
                <a16:creationId xmlns:a16="http://schemas.microsoft.com/office/drawing/2014/main" id="{572BF713-9DB6-C2E1-B7F3-A36BE450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6" name="AutoShape 9">
            <a:extLst>
              <a:ext uri="{FF2B5EF4-FFF2-40B4-BE49-F238E27FC236}">
                <a16:creationId xmlns:a16="http://schemas.microsoft.com/office/drawing/2014/main" id="{57EAA85E-0F4E-A517-5DAC-11FCC3E42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7" name="AutoShape 10">
            <a:extLst>
              <a:ext uri="{FF2B5EF4-FFF2-40B4-BE49-F238E27FC236}">
                <a16:creationId xmlns:a16="http://schemas.microsoft.com/office/drawing/2014/main" id="{129CB407-0564-A0AA-705E-4221032EE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8" name="AutoShape 11">
            <a:extLst>
              <a:ext uri="{FF2B5EF4-FFF2-40B4-BE49-F238E27FC236}">
                <a16:creationId xmlns:a16="http://schemas.microsoft.com/office/drawing/2014/main" id="{90C8FCB2-23CD-BAF3-122C-B52E78193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9" name="AutoShape 12">
            <a:extLst>
              <a:ext uri="{FF2B5EF4-FFF2-40B4-BE49-F238E27FC236}">
                <a16:creationId xmlns:a16="http://schemas.microsoft.com/office/drawing/2014/main" id="{631C02AF-9CA7-9278-55E1-F670489C5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10" name="Rectangle 13">
            <a:extLst>
              <a:ext uri="{FF2B5EF4-FFF2-40B4-BE49-F238E27FC236}">
                <a16:creationId xmlns:a16="http://schemas.microsoft.com/office/drawing/2014/main" id="{C56F41B6-2F3B-1789-DC22-9FAC44607D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03213"/>
            <a:ext cx="1588" cy="58340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03154EDC-0405-43CD-E8BA-BE8F0A75B6F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96C24235-D021-A70A-9605-E696CF07A1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03213"/>
            <a:ext cx="1588" cy="1587"/>
          </a:xfrm>
          <a:ln/>
        </p:spPr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03AD509-F5A8-E32C-0E96-0D8AC12C859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DB3DF73D-97BE-6612-1346-772B7F460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8275"/>
            <a:ext cx="9144000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《Linux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系统与安全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》 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天津工业大学软件学院  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 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9C12197-BD80-03C6-6993-3AAF5B34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25" y="6496050"/>
            <a:ext cx="1730375" cy="3476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第</a:t>
            </a:r>
            <a:fld id="{A39170EC-14D8-4A42-A868-9EE9E64E1EC0}" type="slidenum">
              <a:rPr lang="zh-CN" altLang="en-US" sz="1800" smtClean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pPr algn="r" eaLnBrk="1" hangingPunct="1">
                <a:defRPr/>
              </a:pPr>
              <a:t>‹#›</a:t>
            </a:fld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页</a:t>
            </a:r>
          </a:p>
        </p:txBody>
      </p:sp>
      <p:sp>
        <p:nvSpPr>
          <p:cNvPr id="265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lnSpc>
                <a:spcPct val="100000"/>
              </a:lnSpc>
              <a:buFont typeface="Times New Roman" panose="02020603050405020304" pitchFamily="18" charset="0"/>
              <a:buNone/>
              <a:defRPr sz="4400" b="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342900" indent="-342900">
              <a:spcBef>
                <a:spcPct val="20000"/>
              </a:spcBef>
              <a:buFont typeface="Times New Roman" panose="02020603050405020304" pitchFamily="18" charset="0"/>
              <a:buBlip>
                <a:blip r:embed="rId2"/>
              </a:buBlip>
              <a:defRPr b="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67984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3635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3666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49195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620713"/>
            <a:ext cx="4027488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7088" y="620713"/>
            <a:ext cx="4029075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24914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0006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2804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30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50698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01537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20699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381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381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19179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620713"/>
            <a:ext cx="4027488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7088" y="620713"/>
            <a:ext cx="4029075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27301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08458E-5539-976C-EF26-BC8A660AD4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AC01D3-6AA5-EC8F-9726-7C92D67799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70AF84-4AC1-5DA3-670F-923E11764E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88496-7C23-400A-BAAD-C13E301A34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6705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454D71-9858-0155-841E-F6D274D504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56F0F5-2357-0F45-B490-9611B313F5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9FA1E3-BD8D-9454-9F98-EF2B10BBB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8C2BF-1E59-4A8C-AC20-27E4A37A24C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019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6E0160-AF48-8891-7CA0-D4BADBCE41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1D1C17-01AB-994D-F169-80D45D17D1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ADBF5A-B14A-F80E-A134-553E9131C5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D3A09-1A1E-490D-BC6B-D273213611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4975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2668B5-D06F-3019-2064-3C111BD752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2F8728-2774-FC1C-BAB2-FCD8CDA1C5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BBF47E-D2D1-F719-39B3-4225FE09C5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49824-487B-4906-A57F-6098809AE63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60856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29B1B1A-53FF-13CB-EF84-8DC94CB862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AA9EB44-ACD0-8001-EFF4-9CCB04E6CC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433E8D5-02D7-9D8D-1548-207F577636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0DDC51-3CA4-4898-B04A-D64A24A0BE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4319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DA5F2E6-986F-D4CE-418C-1C81A15DCB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1B8D718-45C0-13C7-8CDA-3B80BD57BD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B20564-D360-DBEB-56D7-7513FA6877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364B8-E5E6-484E-A5C1-C77BA8F0F3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479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ABD6A41-2CB2-29C4-919A-43D25FBBE6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947E1C7-B7F4-21DA-E68C-29FEDD8828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3E79E5F-F314-F614-218B-939F52F1E1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49409-371D-4505-993E-4AF70D5582F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90882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A20D52-2169-2BAA-3804-445D6DCEDC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CD524-9C83-1615-EFB0-5D49C42A75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DA9C9D-6141-270C-9CD3-1C7E4D4AB8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11BA4-829B-460D-A54D-D4216133AB9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6597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9952C1-DD0D-41A6-B9F3-8556D99791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6F3CCA-9FB4-17BB-13EC-B257B17F9F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460A3F-6ADF-AC7C-FC67-2D34655206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A2A36-7E76-4136-ABA2-EFBE49158D9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6699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EEAEDC-D040-B89C-3DCD-471D36C849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5AA651-B622-B192-A240-513F3F8F06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335814-6EDB-3964-0103-E821655AC6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C2999-3063-4D5F-8532-428CCFF61B7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36388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18FDA0-FD3F-85D2-22BA-7DC0D943ED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034710-36CC-D07F-C4C7-0C08EB1AE0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32AF64-A836-5FC7-686B-156D006357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469AD-928F-48C8-8634-0F1DAD5E7BF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1139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688DB56-F10D-1057-C99D-381931E2DB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请您按击鼠标，编辑标题文的格式。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E3D3F22-4F8A-C7AB-5F9F-2E86789E74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620713"/>
            <a:ext cx="8208963" cy="576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请您按击鼠标，编辑大纲正文格式。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第三个大纲级</a:t>
            </a:r>
          </a:p>
          <a:p>
            <a:pPr lvl="3"/>
            <a:r>
              <a:rPr lang="zh-CN" altLang="en-GB"/>
              <a:t>第四个大纲级</a:t>
            </a:r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193E5EBC-C80E-6546-D158-BF26353D7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8275"/>
            <a:ext cx="9144000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《Linux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系统与安全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》 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天津工业大学软件学院</a:t>
            </a:r>
            <a:endParaRPr lang="en-US" altLang="zh-CN" sz="1800" dirty="0">
              <a:solidFill>
                <a:schemeClr val="accent2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FE60C873-BD1A-191B-C085-10537F310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25" y="6496050"/>
            <a:ext cx="1730375" cy="3476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第</a:t>
            </a:r>
            <a:fld id="{9B3D28AD-F7C1-4C50-9270-E3B9490514E5}" type="slidenum">
              <a:rPr lang="zh-CN" altLang="en-US" sz="1800" smtClean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pPr algn="r" eaLnBrk="1" hangingPunct="1">
                <a:defRPr/>
              </a:pPr>
              <a:t>‹#›</a:t>
            </a:fld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页</a:t>
            </a:r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315673D6-8F52-11EB-E3AC-C710C43D99B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549275"/>
            <a:ext cx="9144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3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  <p:sldLayoutId id="2147484111" r:id="rId13"/>
  </p:sldLayoutIdLst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2pPr>
      <a:lvl3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3pPr>
      <a:lvl4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4pPr>
      <a:lvl5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450850" indent="-450850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Font typeface="Arial" panose="020B0604020202020204" pitchFamily="34" charset="0"/>
        <a:buBlip>
          <a:blip r:embed="rId16"/>
        </a:buBlip>
        <a:defRPr sz="2800" b="1" kern="1200">
          <a:solidFill>
            <a:srgbClr val="000000"/>
          </a:solidFill>
          <a:latin typeface="+mn-lt"/>
          <a:ea typeface="+mn-ea"/>
          <a:cs typeface="+mn-cs"/>
        </a:defRPr>
      </a:lvl1pPr>
      <a:lvl2pPr marL="987425" indent="-357188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Font typeface="Arial" panose="020B0604020202020204" pitchFamily="34" charset="0"/>
        <a:buBlip>
          <a:blip r:embed="rId17"/>
        </a:buBlip>
        <a:defRPr sz="2400" b="1" kern="1200">
          <a:solidFill>
            <a:srgbClr val="000000"/>
          </a:solidFill>
          <a:latin typeface="+mn-lt"/>
          <a:ea typeface="+mn-ea"/>
          <a:cs typeface="+mn-cs"/>
        </a:defRPr>
      </a:lvl2pPr>
      <a:lvl3pPr marL="1609725" indent="-357188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SzPct val="125000"/>
        <a:buFont typeface="Arial" panose="020B0604020202020204" pitchFamily="34" charset="0"/>
        <a:buBlip>
          <a:blip r:embed="rId18"/>
        </a:buBlip>
        <a:defRPr sz="2000" b="1" kern="1200">
          <a:solidFill>
            <a:srgbClr val="000000"/>
          </a:solidFill>
          <a:latin typeface="+mn-lt"/>
          <a:ea typeface="+mn-ea"/>
          <a:cs typeface="+mn-cs"/>
        </a:defRPr>
      </a:lvl3pPr>
      <a:lvl4pPr marL="2157413" indent="-368300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SzPct val="100000"/>
        <a:buFont typeface="Arial" panose="020B0604020202020204" pitchFamily="34" charset="0"/>
        <a:buBlip>
          <a:blip r:embed="rId19"/>
        </a:buBlip>
        <a:defRPr sz="2000" b="1" kern="120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4pPr>
      <a:lvl5pPr marL="2565400" indent="-228600" algn="l" defTabSz="449263" rtl="0" eaLnBrk="0" fontAlgn="base" hangingPunct="0">
        <a:spcBef>
          <a:spcPts val="338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»"/>
        <a:defRPr sz="2000" b="1" kern="120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74EA4B0-9A28-0E4E-9E81-662756FA1B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E9D23CE-7734-EA0D-766B-9159139D7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14372" name="Rectangle 4">
            <a:extLst>
              <a:ext uri="{FF2B5EF4-FFF2-40B4-BE49-F238E27FC236}">
                <a16:creationId xmlns:a16="http://schemas.microsoft.com/office/drawing/2014/main" id="{FD31C4F5-5237-6880-8DDC-C208F998296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4373" name="Rectangle 5">
            <a:extLst>
              <a:ext uri="{FF2B5EF4-FFF2-40B4-BE49-F238E27FC236}">
                <a16:creationId xmlns:a16="http://schemas.microsoft.com/office/drawing/2014/main" id="{1461DC15-603A-7CC6-E5EB-D128514706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4374" name="Rectangle 6">
            <a:extLst>
              <a:ext uri="{FF2B5EF4-FFF2-40B4-BE49-F238E27FC236}">
                <a16:creationId xmlns:a16="http://schemas.microsoft.com/office/drawing/2014/main" id="{F04D9104-FE52-0A60-ECB2-AE2C1EDD0F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163FDF6-42FE-4F4C-B2D4-C3D27A02E54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5" r:id="rId4"/>
    <p:sldLayoutId id="2147484116" r:id="rId5"/>
    <p:sldLayoutId id="2147484117" r:id="rId6"/>
    <p:sldLayoutId id="2147484118" r:id="rId7"/>
    <p:sldLayoutId id="2147484119" r:id="rId8"/>
    <p:sldLayoutId id="2147484120" r:id="rId9"/>
    <p:sldLayoutId id="2147484121" r:id="rId10"/>
    <p:sldLayoutId id="214748412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9D0AFB56-C01F-704D-B83C-6D52C26069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4213" y="3716338"/>
            <a:ext cx="7848600" cy="2592387"/>
          </a:xfrm>
        </p:spPr>
        <p:txBody>
          <a:bodyPr/>
          <a:lstStyle/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天津工业大学软件学院</a:t>
            </a:r>
          </a:p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张桂玲  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Email:gui_ling_zhang@163.com</a:t>
            </a:r>
          </a:p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2023.8</a:t>
            </a:r>
          </a:p>
        </p:txBody>
      </p:sp>
      <p:sp>
        <p:nvSpPr>
          <p:cNvPr id="3079" name="Rectangle 7" descr="花束">
            <a:extLst>
              <a:ext uri="{FF2B5EF4-FFF2-40B4-BE49-F238E27FC236}">
                <a16:creationId xmlns:a16="http://schemas.microsoft.com/office/drawing/2014/main" id="{5707DFF4-649B-6B79-51E5-3FECD92C7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196975"/>
            <a:ext cx="7632700" cy="158432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>
            <a:lvl1pPr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4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5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6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7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buNone/>
              <a:defRPr/>
            </a:pPr>
            <a:r>
              <a:rPr lang="en-US" altLang="zh-CN" sz="60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Linux</a:t>
            </a:r>
            <a:r>
              <a:rPr lang="zh-CN" altLang="en-US" sz="60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系统与安全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3B735AC4-4330-A663-4231-4CA0EAE98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第6章</a:t>
            </a:r>
            <a:r>
              <a:rPr lang="en-US" altLang="zh-CN"/>
              <a:t>    </a:t>
            </a:r>
            <a:r>
              <a:rPr lang="zh-CN" altLang="en-US"/>
              <a:t>进程及安全管理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6206A24C-D9EB-EEB2-2DA4-F3056F75D4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549275"/>
            <a:ext cx="9180513" cy="5832475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5400">
                <a:sym typeface="+mn-ea"/>
              </a:rPr>
              <a:t>6.1 程序和进程的概念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5400"/>
              <a:t>6.2 登录shell的启动与定制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5400"/>
              <a:t>6.</a:t>
            </a:r>
            <a:r>
              <a:rPr lang="en-US" altLang="zh-CN" sz="5400"/>
              <a:t>3</a:t>
            </a:r>
            <a:r>
              <a:rPr lang="zh-CN" altLang="en-US" sz="5400"/>
              <a:t> 进程安全管理与调度命令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2901AA18-8449-FA0D-EB2A-4C66942A5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6.1  程序和进程的概念</a:t>
            </a:r>
            <a:endParaRPr lang="zh-CN" altLang="en-US"/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652CA9AD-309C-8A82-9449-4B8B4C5F2F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36513" y="620713"/>
            <a:ext cx="9180513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800"/>
              <a:t>6.1.1 </a:t>
            </a:r>
            <a:r>
              <a:rPr lang="zh-CN" altLang="zh-CN" sz="4800"/>
              <a:t>程序、进程、作业和任务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4800"/>
              <a:t>6.1.2  调度策略与优先级计算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4800"/>
              <a:t>6.1.3  Linux操作系统的启动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4800"/>
              <a:t>6.1.4  0#进程与1#进程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4800"/>
              <a:t>6.1.5  进程状态及查询（ps）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4800"/>
              <a:t>6.1.6  三类进程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BDBC01B6-7048-AAC5-3597-0214CEEB6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6.1.1  程序、进程、作业和任务</a:t>
            </a:r>
            <a:endParaRPr lang="zh-CN" altLang="en-US"/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0B246690-4697-FBEC-2017-F5C0F3FED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620713"/>
            <a:ext cx="9001125" cy="57610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zh-CN" sz="4400" dirty="0">
                <a:solidFill>
                  <a:srgbClr val="FF0000"/>
                </a:solidFill>
              </a:rPr>
              <a:t>程序</a:t>
            </a:r>
            <a:r>
              <a:rPr lang="zh-CN" altLang="zh-CN" sz="4400" dirty="0"/>
              <a:t>是一个</a:t>
            </a:r>
            <a:r>
              <a:rPr lang="zh-CN" altLang="zh-CN" sz="4400" dirty="0">
                <a:solidFill>
                  <a:srgbClr val="FF0000"/>
                </a:solidFill>
              </a:rPr>
              <a:t>存储</a:t>
            </a:r>
            <a:r>
              <a:rPr lang="zh-CN" altLang="zh-CN" sz="4400" dirty="0"/>
              <a:t>在介质上的，既具有</a:t>
            </a:r>
            <a:r>
              <a:rPr lang="zh-CN" altLang="zh-CN" sz="4400" dirty="0">
                <a:solidFill>
                  <a:srgbClr val="FF0000"/>
                </a:solidFill>
              </a:rPr>
              <a:t>可执行</a:t>
            </a:r>
            <a:r>
              <a:rPr lang="zh-CN" altLang="zh-CN" sz="4400" dirty="0"/>
              <a:t>的属性，又具有执行的内容</a:t>
            </a:r>
            <a:r>
              <a:rPr lang="zh-CN" altLang="zh-CN" sz="4400" dirty="0">
                <a:solidFill>
                  <a:srgbClr val="FF0000"/>
                </a:solidFill>
              </a:rPr>
              <a:t>文件</a:t>
            </a:r>
            <a:r>
              <a:rPr lang="zh-CN" altLang="zh-CN" sz="4400" dirty="0"/>
              <a:t>。</a:t>
            </a:r>
            <a:r>
              <a:rPr lang="zh-CN" altLang="zh-CN" sz="4400" dirty="0">
                <a:solidFill>
                  <a:srgbClr val="FF0000"/>
                </a:solidFill>
              </a:rPr>
              <a:t>进程</a:t>
            </a:r>
            <a:r>
              <a:rPr lang="zh-CN" altLang="zh-CN" sz="4400" dirty="0"/>
              <a:t>是一个程序的</a:t>
            </a:r>
            <a:r>
              <a:rPr lang="zh-CN" altLang="zh-CN" sz="4400" dirty="0">
                <a:solidFill>
                  <a:srgbClr val="FF0000"/>
                </a:solidFill>
              </a:rPr>
              <a:t>动态执行过程</a:t>
            </a:r>
            <a:r>
              <a:rPr lang="zh-CN" altLang="zh-CN" sz="4400" dirty="0"/>
              <a:t>。程序的执行要完成某种特定的功能，过程表现为对某个或某些数据的加工和处理。进程突出了一个程序动态的执行过程，而一个程序存储在介质上的文件或数据是一种静态信息。</a:t>
            </a:r>
            <a:endParaRPr lang="zh-CN" altLang="en-US" sz="4400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87C07E53-DF3A-B06F-D517-23A428D5C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6.1.1  程序、进程、作业和任务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A67CB511-808D-9E5B-DCC3-E34E84717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620713"/>
            <a:ext cx="9036050" cy="57610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zh-CN" sz="4400" dirty="0">
                <a:sym typeface="+mn-ea"/>
              </a:rPr>
              <a:t>在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多任务</a:t>
            </a:r>
            <a:r>
              <a:rPr lang="zh-CN" altLang="zh-CN" sz="4400" dirty="0">
                <a:sym typeface="+mn-ea"/>
              </a:rPr>
              <a:t>、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多用户</a:t>
            </a:r>
            <a:r>
              <a:rPr lang="zh-CN" altLang="zh-CN" sz="4400" dirty="0">
                <a:sym typeface="+mn-ea"/>
              </a:rPr>
              <a:t>系统中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进程</a:t>
            </a:r>
            <a:r>
              <a:rPr lang="zh-CN" altLang="zh-CN" sz="4400" dirty="0">
                <a:sym typeface="+mn-ea"/>
              </a:rPr>
              <a:t>具有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并发和并行特征</a:t>
            </a:r>
            <a:r>
              <a:rPr lang="zh-CN" altLang="zh-CN" sz="4400" dirty="0">
                <a:sym typeface="+mn-ea"/>
              </a:rPr>
              <a:t>。在一个系统内部，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同时可以运行很多进程</a:t>
            </a:r>
            <a:r>
              <a:rPr lang="zh-CN" altLang="zh-CN" sz="4400" dirty="0">
                <a:sym typeface="+mn-ea"/>
              </a:rPr>
              <a:t>，甚至可以让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同一个程序多次</a:t>
            </a:r>
            <a:r>
              <a:rPr lang="zh-CN" altLang="zh-CN" sz="4400" dirty="0">
                <a:sym typeface="+mn-ea"/>
              </a:rPr>
              <a:t>同时运行，但它们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对应不同的进程</a:t>
            </a:r>
            <a:r>
              <a:rPr lang="zh-CN" altLang="zh-CN" sz="4400" dirty="0">
                <a:sym typeface="+mn-ea"/>
              </a:rPr>
              <a:t>，在系统内有不同的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进程标识</a:t>
            </a:r>
            <a:r>
              <a:rPr lang="zh-CN" altLang="zh-CN" sz="4400" dirty="0">
                <a:sym typeface="+mn-ea"/>
              </a:rPr>
              <a:t>，也就是说不同的进程可以执行同一个程序，但可能使该程序所处理的数据集有所不同。</a:t>
            </a:r>
            <a:endParaRPr lang="zh-CN" altLang="en-US" sz="4400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F49EFF1C-C101-044B-4633-6A31E1035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6.1.1  程序、进程、作业和任务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882B01A6-18E9-768C-1F81-05FE7BBBA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zh-CN" sz="4800" dirty="0">
                <a:solidFill>
                  <a:srgbClr val="FF0000"/>
                </a:solidFill>
                <a:sym typeface="+mn-ea"/>
              </a:rPr>
              <a:t>作业或任务</a:t>
            </a:r>
            <a:r>
              <a:rPr lang="zh-CN" altLang="zh-CN" sz="4800" dirty="0">
                <a:sym typeface="+mn-ea"/>
              </a:rPr>
              <a:t>是用户需要计算机完成某项任务时</a:t>
            </a:r>
            <a:r>
              <a:rPr lang="zh-CN" altLang="zh-CN" sz="4800" dirty="0">
                <a:solidFill>
                  <a:srgbClr val="FF0000"/>
                </a:solidFill>
                <a:sym typeface="+mn-ea"/>
              </a:rPr>
              <a:t>要求计算机所做工作的集合</a:t>
            </a:r>
            <a:r>
              <a:rPr lang="zh-CN" altLang="zh-CN" sz="4800" dirty="0">
                <a:sym typeface="+mn-ea"/>
              </a:rPr>
              <a:t>，</a:t>
            </a:r>
            <a:r>
              <a:rPr lang="zh-CN" altLang="zh-CN" sz="4800" dirty="0">
                <a:solidFill>
                  <a:srgbClr val="FF0000"/>
                </a:solidFill>
                <a:sym typeface="+mn-ea"/>
              </a:rPr>
              <a:t>一个作业</a:t>
            </a:r>
            <a:r>
              <a:rPr lang="zh-CN" altLang="zh-CN" sz="4800" dirty="0">
                <a:sym typeface="+mn-ea"/>
              </a:rPr>
              <a:t>可能需要</a:t>
            </a:r>
            <a:r>
              <a:rPr lang="zh-CN" altLang="zh-CN" sz="4800" dirty="0">
                <a:solidFill>
                  <a:srgbClr val="FF0000"/>
                </a:solidFill>
                <a:sym typeface="+mn-ea"/>
              </a:rPr>
              <a:t>几个程序联合</a:t>
            </a:r>
            <a:r>
              <a:rPr lang="zh-CN" altLang="zh-CN" sz="4800" dirty="0">
                <a:sym typeface="+mn-ea"/>
              </a:rPr>
              <a:t>完成。当用户向计算机提交了一个在指定时间执行或重复执行的工作，就可以认为向计算机提交了作业或任务。</a:t>
            </a:r>
            <a:endParaRPr lang="zh-CN" altLang="en-US" sz="4800" dirty="0"/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6F64953C-1C00-C3AA-8311-269F0739D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6.1.2  Linux操作系统的启动</a:t>
            </a:r>
            <a:endParaRPr lang="zh-CN" altLang="en-US"/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2C3EF5F9-1818-63C2-DA3F-5A99D2621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713"/>
            <a:ext cx="9109075" cy="57610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zh-CN" sz="3200" dirty="0"/>
              <a:t>Linux系统的</a:t>
            </a:r>
            <a:r>
              <a:rPr lang="zh-CN" altLang="zh-CN" sz="3200" dirty="0">
                <a:solidFill>
                  <a:srgbClr val="FF0000"/>
                </a:solidFill>
              </a:rPr>
              <a:t>启动</a:t>
            </a:r>
            <a:r>
              <a:rPr lang="zh-CN" altLang="zh-CN" sz="3200" dirty="0"/>
              <a:t>是</a:t>
            </a:r>
            <a:r>
              <a:rPr lang="zh-CN" altLang="zh-CN" sz="3200" dirty="0">
                <a:solidFill>
                  <a:srgbClr val="FF0000"/>
                </a:solidFill>
              </a:rPr>
              <a:t>在其引导程序</a:t>
            </a:r>
            <a:r>
              <a:rPr lang="zh-CN" altLang="zh-CN" sz="3200" dirty="0"/>
              <a:t>（引导块或逻辑引导扇区）</a:t>
            </a:r>
            <a:r>
              <a:rPr lang="zh-CN" altLang="zh-CN" sz="3200" dirty="0">
                <a:solidFill>
                  <a:srgbClr val="FF0000"/>
                </a:solidFill>
              </a:rPr>
              <a:t>被装入后</a:t>
            </a:r>
            <a:r>
              <a:rPr lang="zh-CN" altLang="zh-CN" sz="3200" dirty="0"/>
              <a:t>在该</a:t>
            </a:r>
            <a:r>
              <a:rPr lang="zh-CN" altLang="zh-CN" sz="3200" dirty="0">
                <a:solidFill>
                  <a:srgbClr val="FF0000"/>
                </a:solidFill>
              </a:rPr>
              <a:t>引导程序的控制下</a:t>
            </a:r>
            <a:r>
              <a:rPr lang="zh-CN" altLang="zh-CN" sz="3200" dirty="0"/>
              <a:t>进行的。</a:t>
            </a:r>
            <a:r>
              <a:rPr lang="zh-CN" altLang="zh-CN" sz="3200" dirty="0">
                <a:solidFill>
                  <a:srgbClr val="FF0000"/>
                </a:solidFill>
              </a:rPr>
              <a:t>首先</a:t>
            </a:r>
            <a:r>
              <a:rPr lang="zh-CN" altLang="zh-CN" sz="3200" dirty="0"/>
              <a:t>初始化系统</a:t>
            </a:r>
            <a:r>
              <a:rPr lang="zh-CN" altLang="zh-CN" sz="3200" dirty="0">
                <a:solidFill>
                  <a:srgbClr val="FF0000"/>
                </a:solidFill>
              </a:rPr>
              <a:t>内部数据结构</a:t>
            </a:r>
            <a:r>
              <a:rPr lang="zh-CN" altLang="zh-CN" sz="3200" dirty="0"/>
              <a:t>，</a:t>
            </a:r>
            <a:r>
              <a:rPr lang="zh-CN" altLang="zh-CN" sz="3200" dirty="0">
                <a:solidFill>
                  <a:srgbClr val="FF0000"/>
                </a:solidFill>
              </a:rPr>
              <a:t>如</a:t>
            </a:r>
            <a:r>
              <a:rPr lang="zh-CN" altLang="zh-CN" sz="3200" dirty="0"/>
              <a:t>构造空闲缓冲区、区表结构、页表项等，</a:t>
            </a:r>
            <a:r>
              <a:rPr lang="zh-CN" altLang="zh-CN" sz="3200" dirty="0">
                <a:solidFill>
                  <a:srgbClr val="FF0000"/>
                </a:solidFill>
              </a:rPr>
              <a:t>然后</a:t>
            </a:r>
            <a:r>
              <a:rPr lang="zh-CN" altLang="zh-CN" sz="3200" dirty="0"/>
              <a:t>将</a:t>
            </a:r>
            <a:r>
              <a:rPr lang="zh-CN" altLang="zh-CN" sz="3200" dirty="0">
                <a:solidFill>
                  <a:srgbClr val="FF0000"/>
                </a:solidFill>
              </a:rPr>
              <a:t>根文件系统安装到根“/”下</a:t>
            </a:r>
            <a:r>
              <a:rPr lang="zh-CN" altLang="zh-CN" sz="3200" dirty="0"/>
              <a:t>，并</a:t>
            </a:r>
            <a:r>
              <a:rPr lang="zh-CN" altLang="zh-CN" sz="3200" dirty="0">
                <a:solidFill>
                  <a:srgbClr val="FF0000"/>
                </a:solidFill>
              </a:rPr>
              <a:t>创建系统的0#进程</a:t>
            </a:r>
            <a:r>
              <a:rPr lang="zh-CN" altLang="zh-CN" sz="3200" dirty="0"/>
              <a:t>、</a:t>
            </a:r>
            <a:r>
              <a:rPr lang="zh-CN" altLang="zh-CN" sz="3200" dirty="0">
                <a:solidFill>
                  <a:srgbClr val="FF0000"/>
                </a:solidFill>
              </a:rPr>
              <a:t>设置它的运行环境</a:t>
            </a:r>
            <a:r>
              <a:rPr lang="zh-CN" altLang="zh-CN" sz="3200" dirty="0"/>
              <a:t>，至此系统的内核已经启动完成，但</a:t>
            </a:r>
            <a:r>
              <a:rPr lang="zh-CN" altLang="zh-CN" sz="3200" dirty="0">
                <a:solidFill>
                  <a:srgbClr val="FF0000"/>
                </a:solidFill>
              </a:rPr>
              <a:t>此时系统还不能做太多工作</a:t>
            </a:r>
            <a:r>
              <a:rPr lang="zh-CN" altLang="zh-CN" sz="3200" dirty="0"/>
              <a:t>，至少还缺少与用户的交互部分。系统继续引导，</a:t>
            </a:r>
            <a:r>
              <a:rPr lang="zh-CN" altLang="zh-CN" sz="3200" dirty="0">
                <a:solidFill>
                  <a:srgbClr val="FF0000"/>
                </a:solidFill>
              </a:rPr>
              <a:t>创建1#进程</a:t>
            </a:r>
            <a:r>
              <a:rPr lang="zh-CN" altLang="zh-CN" sz="3200" dirty="0"/>
              <a:t>，然后</a:t>
            </a:r>
            <a:r>
              <a:rPr lang="zh-CN" altLang="zh-CN" sz="3200" dirty="0">
                <a:solidFill>
                  <a:srgbClr val="FF0000"/>
                </a:solidFill>
              </a:rPr>
              <a:t>由1#进程做进一步初始化工作</a:t>
            </a:r>
            <a:r>
              <a:rPr lang="zh-CN" altLang="zh-CN" sz="3200" dirty="0"/>
              <a:t>，直到启动完毕，各种服务开始运行，终端用户可以登录。</a:t>
            </a:r>
          </a:p>
          <a:p>
            <a:pPr>
              <a:defRPr/>
            </a:pPr>
            <a:endParaRPr lang="zh-CN" altLang="zh-CN" sz="2400" dirty="0"/>
          </a:p>
          <a:p>
            <a:pPr>
              <a:defRPr/>
            </a:pPr>
            <a:endParaRPr lang="zh-CN" altLang="zh-CN" sz="2400" dirty="0"/>
          </a:p>
        </p:txBody>
      </p:sp>
      <p:pic>
        <p:nvPicPr>
          <p:cNvPr id="4" name="图片 -2147482624" descr="6t1">
            <a:extLst>
              <a:ext uri="{FF2B5EF4-FFF2-40B4-BE49-F238E27FC236}">
                <a16:creationId xmlns:a16="http://schemas.microsoft.com/office/drawing/2014/main" id="{B0850F38-2875-204F-0005-8EAD21C1D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598488"/>
            <a:ext cx="8713787" cy="577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C80C8830-0567-05C9-8424-B83351CDD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6.1.2  Linux操作系统的启动</a:t>
            </a:r>
            <a:endParaRPr lang="zh-CN" altLang="en-US"/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B4F35D85-305D-EAB7-CDB1-F55294217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549275"/>
            <a:ext cx="9109075" cy="57594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1#进程</a:t>
            </a:r>
            <a:r>
              <a:rPr lang="zh-CN" altLang="zh-CN" sz="4400" dirty="0">
                <a:sym typeface="+mn-ea"/>
              </a:rPr>
              <a:t>继续初始化过程是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按照初始化配置文件</a:t>
            </a:r>
            <a:r>
              <a:rPr lang="zh-CN" altLang="zh-CN" sz="4400" dirty="0">
                <a:sym typeface="+mn-ea"/>
              </a:rPr>
              <a:t>进行的，这个配置文件在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早期时</a:t>
            </a:r>
            <a:r>
              <a:rPr lang="zh-CN" altLang="zh-CN" sz="4400" dirty="0">
                <a:sym typeface="+mn-ea"/>
              </a:rPr>
              <a:t>为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/etc/inittab</a:t>
            </a:r>
            <a:r>
              <a:rPr lang="zh-CN" altLang="zh-CN" sz="4400" dirty="0">
                <a:sym typeface="+mn-ea"/>
              </a:rPr>
              <a:t>，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现在</a:t>
            </a:r>
            <a:r>
              <a:rPr lang="zh-CN" altLang="zh-CN" sz="4400" dirty="0">
                <a:sym typeface="+mn-ea"/>
              </a:rPr>
              <a:t>在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不同系统中</a:t>
            </a:r>
            <a:r>
              <a:rPr lang="zh-CN" altLang="zh-CN" sz="4400" dirty="0">
                <a:sym typeface="+mn-ea"/>
              </a:rPr>
              <a:t>已经有了</a:t>
            </a:r>
            <a:r>
              <a:rPr lang="zh-CN" altLang="zh-CN" sz="4400" dirty="0">
                <a:solidFill>
                  <a:srgbClr val="FF0000"/>
                </a:solidFill>
                <a:sym typeface="+mn-ea"/>
              </a:rPr>
              <a:t>各自的变化</a:t>
            </a:r>
            <a:r>
              <a:rPr lang="zh-CN" altLang="zh-CN" sz="4400" dirty="0">
                <a:sym typeface="+mn-ea"/>
              </a:rPr>
              <a:t>。启动配置文件的内容用于规定启动哪些服务或管理进程，为设定终端生成登录子进程，然后等待用户在终端上登录。</a:t>
            </a:r>
            <a:endParaRPr lang="zh-CN" altLang="zh-CN" sz="4400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A280B277-27A1-D064-BF00-13969C8A8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6.1.3  0#进程与1#进程</a:t>
            </a:r>
            <a:endParaRPr lang="zh-CN" altLang="en-US"/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01F0C0B4-7ED7-8B21-F88B-41E9E11522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r>
              <a:rPr lang="zh-CN" altLang="zh-CN" sz="3600">
                <a:solidFill>
                  <a:srgbClr val="FF0000"/>
                </a:solidFill>
              </a:rPr>
              <a:t>0#进程与1#进程</a:t>
            </a:r>
            <a:r>
              <a:rPr lang="zh-CN" altLang="zh-CN" sz="3600"/>
              <a:t>是UNIX/Linux系统中</a:t>
            </a:r>
            <a:r>
              <a:rPr lang="zh-CN" altLang="zh-CN" sz="3600">
                <a:solidFill>
                  <a:srgbClr val="FF0000"/>
                </a:solidFill>
              </a:rPr>
              <a:t>两个最重要</a:t>
            </a:r>
            <a:r>
              <a:rPr lang="zh-CN" altLang="zh-CN" sz="3600"/>
              <a:t>的进程。</a:t>
            </a:r>
          </a:p>
          <a:p>
            <a:r>
              <a:rPr lang="zh-CN" altLang="zh-CN" sz="3600"/>
              <a:t>在UNIX系统中</a:t>
            </a:r>
            <a:r>
              <a:rPr lang="zh-CN" altLang="zh-CN" sz="3600">
                <a:solidFill>
                  <a:srgbClr val="FF0000"/>
                </a:solidFill>
              </a:rPr>
              <a:t>0#进程是唯一只在核心态下执行的进程</a:t>
            </a:r>
            <a:r>
              <a:rPr lang="zh-CN" altLang="zh-CN" sz="3600"/>
              <a:t>。它的</a:t>
            </a:r>
            <a:r>
              <a:rPr lang="zh-CN" altLang="zh-CN" sz="3600">
                <a:solidFill>
                  <a:srgbClr val="FF0000"/>
                </a:solidFill>
              </a:rPr>
              <a:t>功能有三点</a:t>
            </a:r>
            <a:r>
              <a:rPr lang="zh-CN" altLang="zh-CN" sz="3600"/>
              <a:t>：</a:t>
            </a:r>
            <a:r>
              <a:rPr lang="zh-CN" altLang="zh-CN" sz="3600">
                <a:solidFill>
                  <a:srgbClr val="FF0000"/>
                </a:solidFill>
              </a:rPr>
              <a:t>调度分配处理机；负责进程交换；初始化时创建1#进程。</a:t>
            </a:r>
            <a:r>
              <a:rPr lang="zh-CN" altLang="zh-CN" sz="3600"/>
              <a:t>在Linux系统中，0#进程在创建出1#进程后变成了</a:t>
            </a:r>
            <a:r>
              <a:rPr lang="zh-CN" altLang="zh-CN" sz="3600">
                <a:solidFill>
                  <a:srgbClr val="FF0000"/>
                </a:solidFill>
              </a:rPr>
              <a:t>空闲进程</a:t>
            </a:r>
            <a:r>
              <a:rPr lang="zh-CN" altLang="zh-CN" sz="3600"/>
              <a:t>（Idler），当系统中</a:t>
            </a:r>
            <a:r>
              <a:rPr lang="zh-CN" altLang="zh-CN" sz="3600">
                <a:solidFill>
                  <a:srgbClr val="FF0000"/>
                </a:solidFill>
              </a:rPr>
              <a:t>没有其他进程就绪时它才运行</a:t>
            </a:r>
            <a:r>
              <a:rPr lang="zh-CN" altLang="zh-CN" sz="3600"/>
              <a:t>，而它原来的功能被分散在几个内核进程中。</a:t>
            </a:r>
          </a:p>
          <a:p>
            <a:endParaRPr lang="zh-CN" altLang="zh-CN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B3EE80BA-5B13-2C21-CE95-A48D32C89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6.1.3  0#进程与1#进程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A5AA2B04-CA7E-0159-BC47-825EC02135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r>
              <a:rPr lang="zh-CN" altLang="zh-CN" sz="3600">
                <a:solidFill>
                  <a:srgbClr val="FF0000"/>
                </a:solidFill>
                <a:sym typeface="+mn-ea"/>
              </a:rPr>
              <a:t>1#（init或systemd）进程</a:t>
            </a:r>
            <a:r>
              <a:rPr lang="zh-CN" altLang="zh-CN" sz="3600">
                <a:sym typeface="+mn-ea"/>
              </a:rPr>
              <a:t>是系统启动时创建的创建进程的进程。它的</a:t>
            </a:r>
            <a:r>
              <a:rPr lang="zh-CN" altLang="zh-CN" sz="3600">
                <a:solidFill>
                  <a:srgbClr val="FF0000"/>
                </a:solidFill>
                <a:sym typeface="+mn-ea"/>
              </a:rPr>
              <a:t>主要作用</a:t>
            </a:r>
            <a:r>
              <a:rPr lang="zh-CN" altLang="zh-CN" sz="3600">
                <a:sym typeface="+mn-ea"/>
              </a:rPr>
              <a:t>是根据</a:t>
            </a:r>
            <a:r>
              <a:rPr lang="zh-CN" altLang="zh-CN" sz="3600">
                <a:solidFill>
                  <a:srgbClr val="FF0000"/>
                </a:solidFill>
                <a:sym typeface="+mn-ea"/>
              </a:rPr>
              <a:t>启动配置文件</a:t>
            </a:r>
            <a:r>
              <a:rPr lang="zh-CN" altLang="zh-CN" sz="3600">
                <a:sym typeface="+mn-ea"/>
              </a:rPr>
              <a:t>的</a:t>
            </a:r>
            <a:r>
              <a:rPr lang="zh-CN" altLang="zh-CN" sz="3600">
                <a:solidFill>
                  <a:srgbClr val="FF0000"/>
                </a:solidFill>
                <a:sym typeface="+mn-ea"/>
              </a:rPr>
              <a:t>内容初始化系统</a:t>
            </a:r>
            <a:r>
              <a:rPr lang="zh-CN" altLang="zh-CN" sz="3600">
                <a:sym typeface="+mn-ea"/>
              </a:rPr>
              <a:t>、</a:t>
            </a:r>
            <a:r>
              <a:rPr lang="zh-CN" altLang="zh-CN" sz="3600">
                <a:solidFill>
                  <a:srgbClr val="FF0000"/>
                </a:solidFill>
                <a:sym typeface="+mn-ea"/>
              </a:rPr>
              <a:t>创建系统运行所需的进程</a:t>
            </a:r>
            <a:r>
              <a:rPr lang="zh-CN" altLang="zh-CN" sz="3600">
                <a:sym typeface="+mn-ea"/>
              </a:rPr>
              <a:t>。在Linux中，还要根据运行级别触发运行级别初始化事件，执行相应的脚本程序进行初始化。</a:t>
            </a:r>
            <a:r>
              <a:rPr lang="zh-CN" altLang="zh-CN" sz="3600">
                <a:solidFill>
                  <a:srgbClr val="FF0000"/>
                </a:solidFill>
                <a:sym typeface="+mn-ea"/>
              </a:rPr>
              <a:t>系统初始化完成后</a:t>
            </a:r>
            <a:r>
              <a:rPr lang="zh-CN" altLang="zh-CN" sz="3600">
                <a:sym typeface="+mn-ea"/>
              </a:rPr>
              <a:t>，</a:t>
            </a:r>
            <a:r>
              <a:rPr lang="zh-CN" altLang="zh-CN" sz="3600">
                <a:solidFill>
                  <a:srgbClr val="FF0000"/>
                </a:solidFill>
                <a:sym typeface="+mn-ea"/>
              </a:rPr>
              <a:t>1#进程变成了回收进程</a:t>
            </a:r>
            <a:r>
              <a:rPr lang="zh-CN" altLang="zh-CN" sz="3600">
                <a:sym typeface="+mn-ea"/>
              </a:rPr>
              <a:t>，专门</a:t>
            </a:r>
            <a:r>
              <a:rPr lang="zh-CN" altLang="zh-CN" sz="3600">
                <a:solidFill>
                  <a:srgbClr val="FF0000"/>
                </a:solidFill>
                <a:sym typeface="+mn-ea"/>
              </a:rPr>
              <a:t>领养没有父进程的孤儿进程或回收状态为ZOMBIE的僵尸进程</a:t>
            </a:r>
            <a:r>
              <a:rPr lang="zh-CN" altLang="zh-CN" sz="3600">
                <a:sym typeface="+mn-ea"/>
              </a:rPr>
              <a:t>。</a:t>
            </a:r>
            <a:endParaRPr lang="zh-CN" altLang="zh-CN" sz="3600"/>
          </a:p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76BBC13F-FB0F-30FA-65BD-ED25CE8DFD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6.1.3  0#进程与1#进程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74EE8736-DAA8-20C4-A3D9-0097654CEA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3600">
                <a:sym typeface="+mn-ea"/>
              </a:rPr>
              <a:t>从进程创建关系来看，</a:t>
            </a:r>
            <a:r>
              <a:rPr lang="zh-CN" altLang="zh-CN" sz="3600">
                <a:solidFill>
                  <a:srgbClr val="FF0000"/>
                </a:solidFill>
                <a:sym typeface="+mn-ea"/>
              </a:rPr>
              <a:t>0#进程创建了1#进程</a:t>
            </a:r>
            <a:r>
              <a:rPr lang="zh-CN" altLang="zh-CN" sz="3600">
                <a:sym typeface="+mn-ea"/>
              </a:rPr>
              <a:t>，它是1#进程的父进程。1#进程在系统启动过程中创建了系统所需要的其他进程，这些被创建的进程是1#进程的子进程，而子进程又可创建属于自己的子进程，因此系统中除了0#进程外，1#进程是其他所有进程的祖先进程。</a:t>
            </a:r>
            <a:endParaRPr lang="zh-CN" altLang="zh-CN" sz="36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3600">
                <a:sym typeface="+mn-ea"/>
              </a:rPr>
              <a:t>Linux系统的</a:t>
            </a:r>
            <a:r>
              <a:rPr lang="zh-CN" altLang="zh-CN" sz="3600">
                <a:solidFill>
                  <a:srgbClr val="FF0000"/>
                </a:solidFill>
                <a:sym typeface="+mn-ea"/>
              </a:rPr>
              <a:t>进程之间的家族关系</a:t>
            </a:r>
            <a:r>
              <a:rPr lang="zh-CN" altLang="zh-CN" sz="3600">
                <a:sym typeface="+mn-ea"/>
              </a:rPr>
              <a:t>可用</a:t>
            </a:r>
            <a:r>
              <a:rPr lang="zh-CN" altLang="zh-CN" sz="3600">
                <a:solidFill>
                  <a:srgbClr val="FF0000"/>
                </a:solidFill>
                <a:sym typeface="+mn-ea"/>
              </a:rPr>
              <a:t>命令pstree</a:t>
            </a:r>
            <a:r>
              <a:rPr lang="zh-CN" altLang="zh-CN" sz="3600">
                <a:sym typeface="+mn-ea"/>
              </a:rPr>
              <a:t>来查看。</a:t>
            </a:r>
            <a:endParaRPr lang="zh-CN" altLang="zh-CN" sz="3600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41A3C136-A3CE-3A26-5D19-B551EA3E9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6.1.4  进程状态及查询（ps）</a:t>
            </a:r>
            <a:endParaRPr lang="zh-CN" altLang="en-US"/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77603C81-9059-0C19-3438-66BBB5C39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zh-CN" sz="3600" dirty="0"/>
              <a:t>1．功能与用法</a:t>
            </a:r>
          </a:p>
          <a:p>
            <a:pPr>
              <a:defRPr/>
            </a:pPr>
            <a:r>
              <a:rPr lang="zh-CN" altLang="zh-CN" sz="3600" dirty="0"/>
              <a:t>ps的</a:t>
            </a:r>
            <a:r>
              <a:rPr lang="zh-CN" altLang="zh-CN" sz="3600" dirty="0">
                <a:solidFill>
                  <a:srgbClr val="FF0000"/>
                </a:solidFill>
              </a:rPr>
              <a:t>功能</a:t>
            </a:r>
            <a:r>
              <a:rPr lang="zh-CN" altLang="zh-CN" sz="3600" dirty="0"/>
              <a:t>是</a:t>
            </a:r>
            <a:r>
              <a:rPr lang="zh-CN" altLang="zh-CN" sz="3600" dirty="0">
                <a:solidFill>
                  <a:srgbClr val="FF0000"/>
                </a:solidFill>
              </a:rPr>
              <a:t>显示进程</a:t>
            </a:r>
            <a:r>
              <a:rPr lang="zh-CN" altLang="zh-CN" sz="3600" dirty="0"/>
              <a:t>的</a:t>
            </a:r>
            <a:r>
              <a:rPr lang="zh-CN" altLang="zh-CN" sz="3600" dirty="0">
                <a:solidFill>
                  <a:srgbClr val="FF0000"/>
                </a:solidFill>
              </a:rPr>
              <a:t>状态和信息</a:t>
            </a:r>
            <a:r>
              <a:rPr lang="zh-CN" altLang="zh-CN" sz="3600" dirty="0"/>
              <a:t>，给出系统</a:t>
            </a:r>
            <a:r>
              <a:rPr lang="zh-CN" altLang="zh-CN" sz="3600" dirty="0">
                <a:solidFill>
                  <a:srgbClr val="FF0000"/>
                </a:solidFill>
              </a:rPr>
              <a:t>当前正在运行进程</a:t>
            </a:r>
            <a:r>
              <a:rPr lang="zh-CN" altLang="zh-CN" sz="3600" dirty="0"/>
              <a:t>信息的</a:t>
            </a:r>
            <a:r>
              <a:rPr lang="zh-CN" altLang="zh-CN" sz="3600" dirty="0">
                <a:solidFill>
                  <a:srgbClr val="FF0000"/>
                </a:solidFill>
              </a:rPr>
              <a:t>快照</a:t>
            </a:r>
            <a:r>
              <a:rPr lang="zh-CN" altLang="zh-CN" sz="3600" dirty="0"/>
              <a:t>，可以</a:t>
            </a:r>
            <a:r>
              <a:rPr lang="zh-CN" altLang="zh-CN" sz="3600" dirty="0">
                <a:solidFill>
                  <a:srgbClr val="FF0000"/>
                </a:solidFill>
              </a:rPr>
              <a:t>配合kill结束系统中失控或不必要的进程</a:t>
            </a:r>
            <a:r>
              <a:rPr lang="zh-CN" altLang="zh-CN" sz="3600" dirty="0"/>
              <a:t>。ps支持多种UNIX系统格式的个性化显示方式，其用法为：</a:t>
            </a:r>
          </a:p>
          <a:p>
            <a:pPr>
              <a:defRPr/>
            </a:pPr>
            <a:r>
              <a:rPr lang="zh-CN" altLang="zh-CN" sz="3600" dirty="0"/>
              <a:t>ps [options]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zh-CN" sz="3600" dirty="0">
                <a:sym typeface="+mn-ea"/>
              </a:rPr>
              <a:t>2．参数描述</a:t>
            </a:r>
            <a:endParaRPr lang="zh-CN" altLang="zh-CN" sz="3600" dirty="0"/>
          </a:p>
          <a:p>
            <a:pPr>
              <a:defRPr/>
            </a:pPr>
            <a:r>
              <a:rPr lang="zh-CN" altLang="zh-CN" sz="3600" dirty="0">
                <a:sym typeface="+mn-ea"/>
              </a:rPr>
              <a:t>ps命令的参数繁多，部分参数如下表所示。</a:t>
            </a:r>
            <a:endParaRPr lang="zh-CN" altLang="zh-CN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-1">
            <a:extLst>
              <a:ext uri="{FF2B5EF4-FFF2-40B4-BE49-F238E27FC236}">
                <a16:creationId xmlns:a16="http://schemas.microsoft.com/office/drawing/2014/main" id="{413711FB-C044-2272-8684-1A0E60980B0A}"/>
              </a:ext>
            </a:extLst>
          </p:cNvPr>
          <p:cNvGraphicFramePr/>
          <p:nvPr/>
        </p:nvGraphicFramePr>
        <p:xfrm>
          <a:off x="0" y="104775"/>
          <a:ext cx="9109075" cy="64658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6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7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参  数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功 能 说 明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参  数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功 能 说 明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</a:rPr>
                        <a:t>-A，-e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显示系统内的所有进程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rgbClr val="FF0000"/>
                          </a:solidFill>
                          <a:effectLst/>
                        </a:rPr>
                        <a:t>-a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显示所有与终端相关的进程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 dirty="0">
                          <a:solidFill>
                            <a:schemeClr val="dk1"/>
                          </a:solidFill>
                          <a:effectLst/>
                        </a:rPr>
                        <a:t>a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显示当前终端的所有进程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-c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显示CLS和PRI栏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>
                          <a:solidFill>
                            <a:schemeClr val="dk1"/>
                          </a:solidFill>
                          <a:effectLst/>
                        </a:rPr>
                        <a:t>c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列出进程名，但不包含路径名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-C pname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显示进程名为pname的同名进程信息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6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 dirty="0">
                          <a:solidFill>
                            <a:schemeClr val="dk1"/>
                          </a:solidFill>
                          <a:effectLst/>
                        </a:rPr>
                        <a:t>-d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显示所有进程（但不包括会话组长）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e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在命令名后显示环境变量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6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 dirty="0">
                          <a:solidFill>
                            <a:schemeClr val="dk1"/>
                          </a:solidFill>
                          <a:effectLst/>
                        </a:rPr>
                        <a:t>-f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显示带有路径的进程名和进程参数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f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用ASCII字符显示树状结构的进程间关系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 dirty="0">
                          <a:solidFill>
                            <a:schemeClr val="dk1"/>
                          </a:solidFill>
                          <a:effectLst/>
                        </a:rPr>
                        <a:t>g，-g/-G gid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显示与进程组gid相关的信息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h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不显示标题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16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 dirty="0">
                          <a:solidFill>
                            <a:schemeClr val="dk1"/>
                          </a:solidFill>
                          <a:effectLst/>
                        </a:rPr>
                        <a:t>-H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显示树状结构以表示进程间的关系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-j, j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以作业控制方式显示进程信息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7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</a:rPr>
                        <a:t>-l, l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rgbClr val="FF0000"/>
                          </a:solidFill>
                          <a:effectLst/>
                        </a:rPr>
                        <a:t>以长格式显示进程信息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L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显示标题栏信息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16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 dirty="0">
                          <a:solidFill>
                            <a:schemeClr val="dk1"/>
                          </a:solidFill>
                          <a:effectLst/>
                        </a:rPr>
                        <a:t>-N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显示除执行ps终端以外的所有进程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p/-p pids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显示指定进程的信息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316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 dirty="0">
                          <a:solidFill>
                            <a:schemeClr val="dk1"/>
                          </a:solidFill>
                          <a:effectLst/>
                        </a:rPr>
                        <a:t>T/r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只显示本终端所有/正在执行程序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t/-t tty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显示tty相关进程信息，t用于显示当前终端进程信息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 dirty="0">
                          <a:solidFill>
                            <a:schemeClr val="dk1"/>
                          </a:solidFill>
                          <a:effectLst/>
                        </a:rPr>
                        <a:t>u, U/-U uid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显示与用户uid相关的信息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v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以虚拟内存方式显示进程状态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7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kern="100" dirty="0">
                          <a:solidFill>
                            <a:schemeClr val="dk1"/>
                          </a:solidFill>
                          <a:effectLst/>
                        </a:rPr>
                        <a:t>x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显示所有进程信息，不区分终端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Z/-Z/-M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显示进程与SELinux相关的信息</a:t>
                      </a:r>
                    </a:p>
                  </a:txBody>
                  <a:tcPr marL="0" marR="0" marT="0" marB="1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62B41D87-50FB-F85C-2DE3-A18822CEA2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6.1.4  进程状态及查询（ps）</a:t>
            </a:r>
            <a:endParaRPr lang="zh-CN" altLang="en-US"/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87B531BF-8D39-5E79-FFA9-2DE70C7F3C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109075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3200">
                <a:sym typeface="+mn-ea"/>
              </a:rPr>
              <a:t>3．使用示例</a:t>
            </a:r>
            <a:endParaRPr lang="zh-CN" altLang="zh-CN" sz="32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3200">
                <a:sym typeface="+mn-ea"/>
              </a:rPr>
              <a:t>#</a:t>
            </a:r>
            <a:r>
              <a:rPr lang="zh-CN" altLang="zh-CN" sz="4400">
                <a:solidFill>
                  <a:srgbClr val="FF0000"/>
                </a:solidFill>
                <a:sym typeface="+mn-ea"/>
              </a:rPr>
              <a:t>ps -el     </a:t>
            </a:r>
            <a:r>
              <a:rPr lang="zh-CN" altLang="zh-CN" sz="3200">
                <a:sym typeface="+mn-ea"/>
              </a:rPr>
              <a:t>#长格式显示所有进程的信息</a:t>
            </a:r>
            <a:endParaRPr lang="zh-CN" altLang="zh-CN" sz="32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3200">
                <a:sym typeface="+mn-ea"/>
              </a:rPr>
              <a:t>#</a:t>
            </a:r>
            <a:r>
              <a:rPr lang="zh-CN" altLang="zh-CN" sz="4400">
                <a:solidFill>
                  <a:srgbClr val="FF0000"/>
                </a:solidFill>
                <a:sym typeface="+mn-ea"/>
              </a:rPr>
              <a:t>ps -Af | more     </a:t>
            </a:r>
            <a:r>
              <a:rPr lang="zh-CN" altLang="zh-CN" sz="3200">
                <a:sym typeface="+mn-ea"/>
              </a:rPr>
              <a:t>#带命令及参数显示系统中的所有进程信息，并分屏显示</a:t>
            </a:r>
            <a:endParaRPr lang="zh-CN" altLang="zh-CN" sz="32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3200">
                <a:sym typeface="+mn-ea"/>
              </a:rPr>
              <a:t>#</a:t>
            </a:r>
            <a:r>
              <a:rPr lang="zh-CN" altLang="zh-CN" sz="4400">
                <a:solidFill>
                  <a:srgbClr val="FF0000"/>
                </a:solidFill>
                <a:sym typeface="+mn-ea"/>
              </a:rPr>
              <a:t>ps -t /dev/tty1     </a:t>
            </a:r>
            <a:r>
              <a:rPr lang="zh-CN" altLang="zh-CN" sz="3200">
                <a:sym typeface="+mn-ea"/>
              </a:rPr>
              <a:t>#查询与终端tty1相关的进程信息。可简略为ps -t 1或ps -t tty1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3200">
                <a:sym typeface="+mn-ea"/>
              </a:rPr>
              <a:t>#</a:t>
            </a:r>
            <a:r>
              <a:rPr lang="zh-CN" altLang="zh-CN" sz="4400">
                <a:solidFill>
                  <a:srgbClr val="FF0000"/>
                </a:solidFill>
                <a:sym typeface="+mn-ea"/>
              </a:rPr>
              <a:t>ps -f -u gjshao	</a:t>
            </a:r>
            <a:r>
              <a:rPr lang="zh-CN" altLang="zh-CN" sz="3200">
                <a:sym typeface="+mn-ea"/>
              </a:rPr>
              <a:t>   #查询与用户（gjshao）相关的信息</a:t>
            </a:r>
            <a:endParaRPr lang="zh-CN" altLang="zh-CN" sz="32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3200">
                <a:sym typeface="+mn-ea"/>
              </a:rPr>
              <a:t>#</a:t>
            </a:r>
            <a:r>
              <a:rPr lang="zh-CN" altLang="zh-CN" sz="3200">
                <a:solidFill>
                  <a:srgbClr val="FF0000"/>
                </a:solidFill>
                <a:sym typeface="+mn-ea"/>
              </a:rPr>
              <a:t>ps -axj	</a:t>
            </a:r>
            <a:r>
              <a:rPr lang="zh-CN" altLang="zh-CN" sz="3200">
                <a:sym typeface="+mn-ea"/>
              </a:rPr>
              <a:t>	 #查询整个系统内的进程信息情况</a:t>
            </a:r>
          </a:p>
          <a:p>
            <a:endParaRPr lang="zh-CN" altLang="zh-CN" sz="2400"/>
          </a:p>
          <a:p>
            <a:endParaRPr lang="zh-CN" altLang="zh-CN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6448480A-9773-C090-96F5-79E0327CD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6.1.4  进程状态及查询（ps）</a:t>
            </a:r>
            <a:br>
              <a:rPr lang="zh-CN" altLang="en-US"/>
            </a:br>
            <a:endParaRPr lang="en-US" altLang="zh-CN"/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7DBF5E67-3C08-C596-BA2C-5968084E04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549275"/>
            <a:ext cx="7772400" cy="969963"/>
          </a:xfrm>
        </p:spPr>
        <p:txBody>
          <a:bodyPr/>
          <a:lstStyle/>
          <a:p>
            <a:r>
              <a:rPr lang="zh-CN" altLang="zh-CN" sz="2400">
                <a:sym typeface="+mn-ea"/>
              </a:rPr>
              <a:t>4．进程的状态</a:t>
            </a:r>
            <a:endParaRPr lang="zh-CN" altLang="zh-CN" sz="2400"/>
          </a:p>
          <a:p>
            <a:r>
              <a:rPr lang="zh-CN" altLang="zh-CN" sz="2400">
                <a:sym typeface="+mn-ea"/>
              </a:rPr>
              <a:t>在ps输出信息中的状态标志如下表所示。</a:t>
            </a:r>
            <a:endParaRPr lang="zh-CN" altLang="zh-CN"/>
          </a:p>
          <a:p>
            <a:endParaRPr lang="zh-CN" altLang="zh-CN"/>
          </a:p>
          <a:p>
            <a:endParaRPr lang="zh-CN" altLang="en-US"/>
          </a:p>
        </p:txBody>
      </p:sp>
      <p:graphicFrame>
        <p:nvGraphicFramePr>
          <p:cNvPr id="4" name="表格 -1">
            <a:extLst>
              <a:ext uri="{FF2B5EF4-FFF2-40B4-BE49-F238E27FC236}">
                <a16:creationId xmlns:a16="http://schemas.microsoft.com/office/drawing/2014/main" id="{EB4CF510-2495-12D3-1DD3-6817097DB206}"/>
              </a:ext>
            </a:extLst>
          </p:cNvPr>
          <p:cNvGraphicFramePr/>
          <p:nvPr/>
        </p:nvGraphicFramePr>
        <p:xfrm>
          <a:off x="34925" y="1590675"/>
          <a:ext cx="9074150" cy="4791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1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2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状  态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说    明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2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R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Running/Runable，进程在执行中或在就绪队列排队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2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D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Delaying，非中断性睡眠，通常是因为等待I/O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2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S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Sleep，正在睡眠，等待事件发生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2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T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Traced or stopped，被跟踪或停止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Z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Zombie/Defunction，僵尸状态。进程已经终止，但父进程没有对它的结束做适当处理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2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W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Wait，无内存页面（被换出）（kernel 2.6.xx后不再使用）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2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N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低优先级进程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2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L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Locked，页面被锁进内存（用于实时控制或用户控制的I/O）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2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solidFill>
                            <a:schemeClr val="dk1"/>
                          </a:solidFill>
                          <a:effectLst/>
                        </a:rPr>
                        <a:t>&lt;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</a:rPr>
                        <a:t>高优先级进程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BD97251A-F12D-B1BE-78EC-F9F32C6C1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2"/>
                </a:solidFill>
              </a:rPr>
              <a:t>6.1.5  三类进程</a:t>
            </a:r>
            <a:endParaRPr lang="zh-CN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6515EFDC-DAAD-AC01-1FEA-B2502B2A00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109075" cy="5761037"/>
          </a:xfrm>
        </p:spPr>
        <p:txBody>
          <a:bodyPr/>
          <a:lstStyle/>
          <a:p>
            <a:r>
              <a:rPr lang="zh-CN" altLang="zh-CN" sz="3600">
                <a:solidFill>
                  <a:schemeClr val="tx1"/>
                </a:solidFill>
              </a:rPr>
              <a:t>1．前台进程</a:t>
            </a:r>
          </a:p>
          <a:p>
            <a:r>
              <a:rPr lang="zh-CN" altLang="zh-CN" sz="3600">
                <a:solidFill>
                  <a:srgbClr val="FF0000"/>
                </a:solidFill>
              </a:rPr>
              <a:t>前台进程</a:t>
            </a:r>
            <a:r>
              <a:rPr lang="zh-CN" altLang="zh-CN" sz="3600">
                <a:solidFill>
                  <a:schemeClr val="tx1"/>
                </a:solidFill>
              </a:rPr>
              <a:t>（foreground process）是指</a:t>
            </a:r>
            <a:r>
              <a:rPr lang="zh-CN" altLang="zh-CN" sz="3600">
                <a:solidFill>
                  <a:srgbClr val="FF0000"/>
                </a:solidFill>
              </a:rPr>
              <a:t>用户直接控制</a:t>
            </a:r>
            <a:r>
              <a:rPr lang="zh-CN" altLang="zh-CN" sz="3600">
                <a:solidFill>
                  <a:schemeClr val="tx1"/>
                </a:solidFill>
              </a:rPr>
              <a:t>的</a:t>
            </a:r>
            <a:r>
              <a:rPr lang="zh-CN" altLang="zh-CN" sz="3600">
                <a:solidFill>
                  <a:srgbClr val="FF0000"/>
                </a:solidFill>
              </a:rPr>
              <a:t>用于完成某个任务的进程</a:t>
            </a:r>
            <a:r>
              <a:rPr lang="zh-CN" altLang="zh-CN" sz="3600">
                <a:solidFill>
                  <a:schemeClr val="tx1"/>
                </a:solidFill>
              </a:rPr>
              <a:t>，因此也叫</a:t>
            </a:r>
            <a:r>
              <a:rPr lang="zh-CN" altLang="zh-CN" sz="3600">
                <a:solidFill>
                  <a:srgbClr val="FF0000"/>
                </a:solidFill>
              </a:rPr>
              <a:t>终端交互式进程</a:t>
            </a:r>
            <a:r>
              <a:rPr lang="zh-CN" altLang="zh-CN" sz="3600">
                <a:solidFill>
                  <a:schemeClr val="tx1"/>
                </a:solidFill>
              </a:rPr>
              <a:t>。它从标准输入读数据，向标准输出写数据，将错误信息输出到标准错误，也可以是用户直接交互控制的完成某种功能的程序，如文字加工与处理、游戏、浏览器和不同行业的各种应用程序等。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BDFD0481-743E-6184-F308-D221E8C8B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6.1.5 三类进程</a:t>
            </a:r>
            <a:endParaRPr lang="zh-CN" altLang="en-US"/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BB6FF609-0E73-94A9-D1A9-38793C2F1F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22225" y="469900"/>
            <a:ext cx="9144000" cy="6054725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3600">
                <a:solidFill>
                  <a:schemeClr val="tx1"/>
                </a:solidFill>
              </a:rPr>
              <a:t>2．后台进程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3600">
                <a:solidFill>
                  <a:srgbClr val="FF0000"/>
                </a:solidFill>
              </a:rPr>
              <a:t>后台进程</a:t>
            </a:r>
            <a:r>
              <a:rPr lang="zh-CN" altLang="zh-CN" sz="3600">
                <a:solidFill>
                  <a:schemeClr val="tx1"/>
                </a:solidFill>
              </a:rPr>
              <a:t>（background process）是指</a:t>
            </a:r>
            <a:r>
              <a:rPr lang="zh-CN" altLang="zh-CN" sz="3600">
                <a:solidFill>
                  <a:srgbClr val="FF0000"/>
                </a:solidFill>
              </a:rPr>
              <a:t>在系统后台运行</a:t>
            </a:r>
            <a:r>
              <a:rPr lang="zh-CN" altLang="zh-CN" sz="3600">
                <a:solidFill>
                  <a:schemeClr val="tx1"/>
                </a:solidFill>
              </a:rPr>
              <a:t>的进程。在一个系统中可能运行着</a:t>
            </a:r>
            <a:r>
              <a:rPr lang="zh-CN" altLang="zh-CN" sz="3600">
                <a:solidFill>
                  <a:srgbClr val="FF0000"/>
                </a:solidFill>
              </a:rPr>
              <a:t>很多一般用户不知道</a:t>
            </a:r>
            <a:r>
              <a:rPr lang="zh-CN" altLang="zh-CN" sz="3600">
                <a:solidFill>
                  <a:schemeClr val="tx1"/>
                </a:solidFill>
              </a:rPr>
              <a:t>、</a:t>
            </a:r>
            <a:r>
              <a:rPr lang="zh-CN" altLang="zh-CN" sz="3600">
                <a:solidFill>
                  <a:srgbClr val="FF0000"/>
                </a:solidFill>
              </a:rPr>
              <a:t>也不关心的进程</a:t>
            </a:r>
            <a:r>
              <a:rPr lang="zh-CN" altLang="zh-CN" sz="3600">
                <a:solidFill>
                  <a:schemeClr val="tx1"/>
                </a:solidFill>
              </a:rPr>
              <a:t>，如系统本身用于管理和控制的进程、各种服务器进程等。前台进程也可放在后台运行，但这时要用到I/O重定向。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3600">
                <a:solidFill>
                  <a:srgbClr val="FF0000"/>
                </a:solidFill>
              </a:rPr>
              <a:t>守候进程</a:t>
            </a:r>
            <a:r>
              <a:rPr lang="zh-CN" altLang="zh-CN" sz="3600">
                <a:solidFill>
                  <a:schemeClr val="tx1"/>
                </a:solidFill>
              </a:rPr>
              <a:t>（daemon process）也叫</a:t>
            </a:r>
            <a:r>
              <a:rPr lang="zh-CN" altLang="zh-CN" sz="3600">
                <a:solidFill>
                  <a:srgbClr val="FF0000"/>
                </a:solidFill>
              </a:rPr>
              <a:t>服务器或精灵进程</a:t>
            </a:r>
            <a:r>
              <a:rPr lang="zh-CN" altLang="zh-CN" sz="3600">
                <a:solidFill>
                  <a:schemeClr val="tx1"/>
                </a:solidFill>
              </a:rPr>
              <a:t>，它是后台进程的一种，该类进程永久不停地运行着，以等待其他进程提出服务请求而为它们提供服务。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C9CD5D7C-8CDE-A012-D0B2-F859931E1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6.1.5  三类进程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37D8382D-6D77-6A95-ED42-B68D027BC1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288" y="549275"/>
            <a:ext cx="9129712" cy="5761038"/>
          </a:xfrm>
        </p:spPr>
        <p:txBody>
          <a:bodyPr/>
          <a:lstStyle/>
          <a:p>
            <a:r>
              <a:rPr lang="zh-CN" altLang="en-US" sz="4000"/>
              <a:t>3．批处理进程</a:t>
            </a:r>
          </a:p>
          <a:p>
            <a:r>
              <a:rPr lang="zh-CN" altLang="en-US" sz="4000"/>
              <a:t>批处理进程（batch process）是用户按照某种意图将一批作业和任务通过编程的方法提交给系统，让系统在某个合适的时间来调度和执行的进程。批处理进程是通过shell编程等方法，将所要处理的工作规划好，之后由系统启动并依次执行的进程。事实上，是在某个shell的控制下解释执行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3FF412C3-45BB-C7E4-A1D8-AC1EC3942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6.2  登录shell的启动与定制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723B4EE1-5F46-BA64-9AD9-17C2B3CB18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001125" cy="5761037"/>
          </a:xfrm>
        </p:spPr>
        <p:txBody>
          <a:bodyPr/>
          <a:lstStyle/>
          <a:p>
            <a:r>
              <a:rPr lang="zh-CN" altLang="en-US" sz="5400"/>
              <a:t>6.2.1  用户登录过程与登录shell的启动</a:t>
            </a:r>
          </a:p>
          <a:p>
            <a:r>
              <a:rPr lang="zh-CN" altLang="en-US" sz="5400"/>
              <a:t>6.2.2  用户登录控制与shell的定制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47D8EED7-696D-B512-6B6B-B315E2800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6.2.1  用户登录过程与登录shell的启动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C38619FA-47F2-AAFF-D76E-127BD8E711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928100" cy="5475287"/>
          </a:xfrm>
        </p:spPr>
        <p:txBody>
          <a:bodyPr/>
          <a:lstStyle/>
          <a:p>
            <a:r>
              <a:rPr lang="zh-CN" altLang="en-US"/>
              <a:t>1．登录过程与启动控制文件</a:t>
            </a:r>
          </a:p>
          <a:p>
            <a:r>
              <a:rPr lang="zh-CN" altLang="en-US"/>
              <a:t>登录shell的启动流程和工作过程如图所示。</a:t>
            </a:r>
          </a:p>
        </p:txBody>
      </p:sp>
      <p:pic>
        <p:nvPicPr>
          <p:cNvPr id="29700" name="图片 -2147482623" descr="6t3">
            <a:extLst>
              <a:ext uri="{FF2B5EF4-FFF2-40B4-BE49-F238E27FC236}">
                <a16:creationId xmlns:a16="http://schemas.microsoft.com/office/drawing/2014/main" id="{CAAED49B-C8CE-7370-641A-065F90048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1700213"/>
            <a:ext cx="9128125" cy="513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7A98B30E-56BB-0FEE-5923-23ECFEE88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6.2.1  用户登录过程与登录shell的启动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770EA85E-58D6-C308-6C44-6B70C6EA42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000"/>
              <a:t>用户登录过程中，在</a:t>
            </a:r>
            <a:r>
              <a:rPr lang="zh-CN" altLang="en-US" sz="4000">
                <a:solidFill>
                  <a:srgbClr val="FF0000"/>
                </a:solidFill>
              </a:rPr>
              <a:t>输入用户名和密码</a:t>
            </a:r>
            <a:r>
              <a:rPr lang="zh-CN" altLang="en-US" sz="4000"/>
              <a:t>后，</a:t>
            </a:r>
            <a:r>
              <a:rPr lang="zh-CN" altLang="en-US" sz="4000">
                <a:solidFill>
                  <a:srgbClr val="FF0000"/>
                </a:solidFill>
              </a:rPr>
              <a:t>系统要检查以下文件</a:t>
            </a:r>
            <a:r>
              <a:rPr lang="zh-CN" altLang="en-US" sz="4000"/>
              <a:t>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000"/>
              <a:t>（1）</a:t>
            </a:r>
            <a:r>
              <a:rPr lang="zh-CN" altLang="en-US" sz="4000">
                <a:solidFill>
                  <a:srgbClr val="FF0000"/>
                </a:solidFill>
              </a:rPr>
              <a:t>/etc/passwd：</a:t>
            </a:r>
            <a:r>
              <a:rPr lang="zh-CN" altLang="en-US" sz="4000"/>
              <a:t>系统用户数据库。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000"/>
              <a:t>（2）</a:t>
            </a:r>
            <a:r>
              <a:rPr lang="zh-CN" altLang="en-US" sz="4000">
                <a:solidFill>
                  <a:srgbClr val="FF0000"/>
                </a:solidFill>
              </a:rPr>
              <a:t>/etc/shadow：</a:t>
            </a:r>
            <a:r>
              <a:rPr lang="zh-CN" altLang="en-US" sz="4000"/>
              <a:t>影子密码和用户登录控制文件。</a:t>
            </a:r>
            <a:r>
              <a:rPr lang="zh-CN" altLang="en-US" sz="2000"/>
              <a:t>影子口令文件将</a:t>
            </a:r>
            <a:r>
              <a:rPr lang="en-US" altLang="zh-CN" sz="2000"/>
              <a:t>/etc/passwd </a:t>
            </a:r>
            <a:r>
              <a:rPr lang="zh-CN" altLang="en-US" sz="2000"/>
              <a:t>文件中的加密口令移动到</a:t>
            </a:r>
            <a:r>
              <a:rPr lang="en-US" altLang="zh-CN" sz="2000"/>
              <a:t>/etc/shadow</a:t>
            </a:r>
            <a:r>
              <a:rPr lang="zh-CN" altLang="en-US" sz="2000"/>
              <a:t>中，而后者只对</a:t>
            </a:r>
            <a:r>
              <a:rPr lang="en-US" altLang="zh-CN" sz="2000"/>
              <a:t>root</a:t>
            </a:r>
            <a:r>
              <a:rPr lang="zh-CN" altLang="en-US" sz="2000"/>
              <a:t>可读</a:t>
            </a:r>
            <a:r>
              <a:rPr lang="en-US" altLang="zh-CN" sz="2000"/>
              <a:t>.</a:t>
            </a:r>
            <a:r>
              <a:rPr lang="zh-CN" altLang="en-US" sz="2000"/>
              <a:t>这使破译口令更困难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000"/>
              <a:t>（3）</a:t>
            </a:r>
            <a:r>
              <a:rPr lang="zh-CN" altLang="en-US" sz="4000">
                <a:solidFill>
                  <a:srgbClr val="FF0000"/>
                </a:solidFill>
              </a:rPr>
              <a:t>/etc/group</a:t>
            </a:r>
            <a:r>
              <a:rPr lang="zh-CN" altLang="en-US" sz="4000"/>
              <a:t>：系统组定义文件。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000"/>
              <a:t>如果用户名和密码合法，则启动交互shell，否则要求用户重新输入用户名和密码。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F124A257-DE6A-99A8-2533-8929CBE49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6.2.1  用户登录过程与登录shell的启动</a:t>
            </a:r>
            <a:br>
              <a:rPr lang="zh-CN" altLang="en-US">
                <a:sym typeface="+mn-ea"/>
              </a:rPr>
            </a:br>
            <a:endParaRPr lang="zh-CN" altLang="en-US"/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8E42F02F-2469-E82F-45B4-43E6B6CD46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09075" cy="576103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200"/>
              <a:t>2．登录shell的启动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200"/>
              <a:t>在系统启动shell过程中，依次进行以下操作。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200"/>
              <a:t>（1）</a:t>
            </a:r>
            <a:r>
              <a:rPr lang="zh-CN" altLang="en-US" sz="3200">
                <a:solidFill>
                  <a:srgbClr val="FF0000"/>
                </a:solidFill>
              </a:rPr>
              <a:t>执</a:t>
            </a:r>
            <a:r>
              <a:rPr lang="zh-CN" altLang="en-US" sz="3200"/>
              <a:t>行系统profile文件</a:t>
            </a:r>
            <a:r>
              <a:rPr lang="zh-CN" altLang="en-US" sz="3200">
                <a:solidFill>
                  <a:srgbClr val="FF0000"/>
                </a:solidFill>
              </a:rPr>
              <a:t>/etc/profile</a:t>
            </a:r>
            <a:r>
              <a:rPr lang="zh-CN" altLang="en-US" sz="3200"/>
              <a:t>（并在它的控制下</a:t>
            </a:r>
            <a:r>
              <a:rPr lang="zh-CN" altLang="en-US" sz="3200">
                <a:solidFill>
                  <a:srgbClr val="FF0000"/>
                </a:solidFill>
              </a:rPr>
              <a:t>执行</a:t>
            </a:r>
            <a:r>
              <a:rPr lang="zh-CN" altLang="en-US" sz="3200"/>
              <a:t>/etc/profile.d/</a:t>
            </a:r>
            <a:r>
              <a:rPr lang="zh-CN" altLang="en-US" sz="3200">
                <a:solidFill>
                  <a:srgbClr val="FF0000"/>
                </a:solidFill>
              </a:rPr>
              <a:t>目录下的*.sh</a:t>
            </a:r>
            <a:r>
              <a:rPr lang="zh-CN" altLang="en-US" sz="3200"/>
              <a:t>脚本文件）。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200"/>
              <a:t>（2）执行用户profile文件</a:t>
            </a:r>
            <a:r>
              <a:rPr lang="zh-CN" altLang="en-US" sz="3200">
                <a:solidFill>
                  <a:srgbClr val="FF0000"/>
                </a:solidFill>
              </a:rPr>
              <a:t>~/.bash_profile</a:t>
            </a:r>
            <a:r>
              <a:rPr lang="zh-CN" altLang="en-US" sz="3200"/>
              <a:t>（Ubuntu用的是~/.profile）。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200"/>
              <a:t>（3）如果~/.bashrc存在则执行之。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200"/>
              <a:t>（4）如果/etc/bashrc文件存在则执行之。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200"/>
              <a:t>需要说明的是，以上步骤都是在当前shell内执行的（参见shell编程部分），目的是为用户设置环境变量或做相关准备。一切执行完毕之后出现系统提示符。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745357DE-E35C-4DBF-E33E-9D3D4AC3D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6.2.2  用户登录控制与shell的定制</a:t>
            </a: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F1356D6A-3699-ED0F-17AD-52D59DCA0C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856663" cy="5761037"/>
          </a:xfrm>
        </p:spPr>
        <p:txBody>
          <a:bodyPr/>
          <a:lstStyle/>
          <a:p>
            <a:r>
              <a:rPr lang="zh-CN" altLang="en-US"/>
              <a:t>根据用户登录和shell的启动过程可以看出，用户可</a:t>
            </a:r>
            <a:r>
              <a:rPr lang="zh-CN" altLang="en-US">
                <a:solidFill>
                  <a:srgbClr val="FF0000"/>
                </a:solidFill>
              </a:rPr>
              <a:t>在shell的</a:t>
            </a:r>
            <a:r>
              <a:rPr lang="zh-CN" altLang="en-US" sz="3600">
                <a:solidFill>
                  <a:srgbClr val="FF0000"/>
                </a:solidFill>
              </a:rPr>
              <a:t>启动控制文件</a:t>
            </a:r>
            <a:r>
              <a:rPr lang="zh-CN" altLang="en-US" sz="3600"/>
              <a:t>（</a:t>
            </a:r>
            <a:r>
              <a:rPr lang="zh-CN" altLang="en-US" sz="3600">
                <a:solidFill>
                  <a:srgbClr val="FF0000"/>
                </a:solidFill>
              </a:rPr>
              <a:t>/etc/profile，~/.bash_profile或~/.profile，/etc/bashrc和~/.bashrc</a:t>
            </a:r>
            <a:r>
              <a:rPr lang="zh-CN" altLang="en-US" sz="3600"/>
              <a:t>）</a:t>
            </a:r>
            <a:r>
              <a:rPr lang="zh-CN" altLang="en-US"/>
              <a:t>中</a:t>
            </a:r>
            <a:r>
              <a:rPr lang="zh-CN" altLang="en-US">
                <a:solidFill>
                  <a:srgbClr val="FF0000"/>
                </a:solidFill>
              </a:rPr>
              <a:t>加入自己的内容</a:t>
            </a:r>
            <a:r>
              <a:rPr lang="zh-CN" altLang="en-US"/>
              <a:t>，而</a:t>
            </a:r>
            <a:r>
              <a:rPr lang="zh-CN" altLang="en-US">
                <a:solidFill>
                  <a:srgbClr val="FF0000"/>
                </a:solidFill>
              </a:rPr>
              <a:t>影响用户shell的启动过程</a:t>
            </a:r>
            <a:r>
              <a:rPr lang="zh-CN" altLang="en-US"/>
              <a:t>，如设置或添加</a:t>
            </a:r>
            <a:r>
              <a:rPr lang="zh-CN" altLang="en-US">
                <a:solidFill>
                  <a:srgbClr val="FF0000"/>
                </a:solidFill>
              </a:rPr>
              <a:t>自己所需的环境变量</a:t>
            </a:r>
            <a:r>
              <a:rPr lang="zh-CN" altLang="en-US"/>
              <a:t>等。如果要在这些文件中加入用户自己的内容，</a:t>
            </a:r>
            <a:r>
              <a:rPr lang="zh-CN" altLang="en-US">
                <a:solidFill>
                  <a:srgbClr val="FF0000"/>
                </a:solidFill>
              </a:rPr>
              <a:t>一般放在文件的最后</a:t>
            </a:r>
            <a:r>
              <a:rPr lang="zh-CN" altLang="en-US"/>
              <a:t>，这样可以使用户在登录之后就</a:t>
            </a:r>
            <a:r>
              <a:rPr lang="zh-CN" altLang="en-US">
                <a:solidFill>
                  <a:srgbClr val="FF0000"/>
                </a:solidFill>
              </a:rPr>
              <a:t>进入某个特定程序</a:t>
            </a:r>
            <a:r>
              <a:rPr lang="zh-CN" altLang="en-US"/>
              <a:t>，当其退出时用户也随之注销。因此，可让用户只在某个规定封闭环境下工作，而不让其真正进入系统，看不到系统的提示符，从而可以提高系统的安全性和操作的方便性。当然，</a:t>
            </a:r>
            <a:r>
              <a:rPr lang="zh-CN" altLang="en-US">
                <a:solidFill>
                  <a:srgbClr val="FF0000"/>
                </a:solidFill>
              </a:rPr>
              <a:t>这需要一定的shell编程知识</a:t>
            </a:r>
            <a:r>
              <a:rPr lang="zh-CN" altLang="en-US"/>
              <a:t>。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FC9D7A3F-40AB-342B-4DC8-48E710154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6.2.2  用户登录控制与shell的定制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8B54044F-9B5D-4E71-5DD1-E1680183FF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928100" cy="5761037"/>
          </a:xfrm>
        </p:spPr>
        <p:txBody>
          <a:bodyPr/>
          <a:lstStyle/>
          <a:p>
            <a:r>
              <a:rPr lang="zh-CN" altLang="en-US" sz="4800">
                <a:sym typeface="+mn-ea"/>
              </a:rPr>
              <a:t>登录shell定制，除了以上对shell启动过程的控制之外，还可以直接修改用户的shell程序，这可以在用户创建时完成，也可以在用户创建后处理。</a:t>
            </a:r>
            <a:endParaRPr lang="zh-CN" altLang="en-US" sz="4800"/>
          </a:p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D60153C0-1A77-CF76-666F-DE583FD6D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6.2.2  用户登录控制与shell的定制</a:t>
            </a:r>
            <a:endParaRPr lang="zh-CN" altLang="en-US"/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AA513456-2CCA-0EEC-D4FF-397A73CE9D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9036050" cy="5761037"/>
          </a:xfrm>
        </p:spPr>
        <p:txBody>
          <a:bodyPr/>
          <a:lstStyle/>
          <a:p>
            <a:r>
              <a:rPr lang="zh-CN" altLang="en-US" sz="3200"/>
              <a:t>1．修改用户登录控制文件</a:t>
            </a:r>
          </a:p>
          <a:p>
            <a:r>
              <a:rPr lang="zh-CN" altLang="en-US" sz="3200"/>
              <a:t>用户的登录控制文件为~/.bash_profile或~/.profile、~/.bashrc，可以修改其中之一来影响登录shell的启动。一般修改的是~/.bash_profile（红帽）或~/.profile（Ubuntu），</a:t>
            </a:r>
            <a:r>
              <a:rPr lang="zh-CN" altLang="en-US" sz="3200">
                <a:solidFill>
                  <a:srgbClr val="FF0000"/>
                </a:solidFill>
              </a:rPr>
              <a:t>至于怎样修改，添加或去除什么内容，要根据实际需要。</a:t>
            </a:r>
            <a:r>
              <a:rPr lang="zh-CN" altLang="en-US" sz="3200"/>
              <a:t>例如，可加进一个特定程序~/.bash_profile或~/.profile文件的最后，使得在用户登录时，在一切都准备之后执行之（参见shell编程部分）。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82E45022-A31E-5FBB-220D-5DAA21362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6.2.2  用户登录控制与shell的定制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2771" name="内容占位符 2">
            <a:extLst>
              <a:ext uri="{FF2B5EF4-FFF2-40B4-BE49-F238E27FC236}">
                <a16:creationId xmlns:a16="http://schemas.microsoft.com/office/drawing/2014/main" id="{BBE99118-85DA-A1BC-852C-07F21B9FD7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928100" cy="5761037"/>
          </a:xfrm>
        </p:spPr>
        <p:txBody>
          <a:bodyPr/>
          <a:lstStyle/>
          <a:p>
            <a:r>
              <a:rPr lang="zh-CN" altLang="en-US"/>
              <a:t>2．修改用户的登录shell</a:t>
            </a:r>
          </a:p>
          <a:p>
            <a:r>
              <a:rPr lang="zh-CN" altLang="en-US"/>
              <a:t>shell有多种，用户可以从中选择适合自己需要的。大家可能已经注意到了，</a:t>
            </a:r>
            <a:r>
              <a:rPr lang="zh-CN" altLang="en-US" sz="3600">
                <a:solidFill>
                  <a:srgbClr val="FF0000"/>
                </a:solidFill>
              </a:rPr>
              <a:t>useradd和usermod命令</a:t>
            </a:r>
            <a:r>
              <a:rPr lang="zh-CN" altLang="en-US"/>
              <a:t>都有</a:t>
            </a:r>
            <a:r>
              <a:rPr lang="zh-CN" altLang="en-US">
                <a:solidFill>
                  <a:srgbClr val="FF0000"/>
                </a:solidFill>
              </a:rPr>
              <a:t>一个-s选项</a:t>
            </a:r>
            <a:r>
              <a:rPr lang="zh-CN" altLang="en-US"/>
              <a:t>，这个选项是用来选择shell的。也就是说，可以使用-s SHELL选项，在创建用户或修改用户时为用户指定一个shell而非使用默认的bash或bsh。例如：</a:t>
            </a:r>
          </a:p>
          <a:p>
            <a:r>
              <a:rPr lang="zh-CN" altLang="en-US">
                <a:solidFill>
                  <a:srgbClr val="FF0000"/>
                </a:solidFill>
              </a:rPr>
              <a:t>useradd -s /bin/csh test</a:t>
            </a:r>
            <a:r>
              <a:rPr lang="zh-CN" altLang="en-US"/>
              <a:t>	#创建test用户，并指定登录shell为csh</a:t>
            </a:r>
          </a:p>
          <a:p>
            <a:r>
              <a:rPr lang="zh-CN" altLang="en-US">
                <a:solidFill>
                  <a:srgbClr val="FF0000"/>
                </a:solidFill>
              </a:rPr>
              <a:t>usermod -s /bin/csh test     </a:t>
            </a:r>
            <a:r>
              <a:rPr lang="zh-CN" altLang="en-US"/>
              <a:t>#修改test用户，使其登录shell为csh</a:t>
            </a: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F648E9FC-75F1-5F69-136B-1E4AC9272F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6.2.2  用户登录控制与shell的定制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7D268967-023F-6A07-529D-2F16F99EFE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001125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ym typeface="+mn-ea"/>
              </a:rPr>
              <a:t>另外Linux还提供了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一个命令chsh</a:t>
            </a:r>
            <a:r>
              <a:rPr lang="zh-CN" altLang="en-US" sz="3200">
                <a:sym typeface="+mn-ea"/>
              </a:rPr>
              <a:t>，意思是改变用户shell，可以用它来为用户修改登录shell，方法是：</a:t>
            </a:r>
            <a:endParaRPr lang="zh-CN" altLang="en-US" sz="32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rgbClr val="FF0000"/>
                </a:solidFill>
                <a:sym typeface="+mn-ea"/>
              </a:rPr>
              <a:t>chsh -s SHELL USER</a:t>
            </a:r>
            <a:r>
              <a:rPr lang="zh-CN" altLang="en-US" sz="3200">
                <a:sym typeface="+mn-ea"/>
              </a:rPr>
              <a:t>	#将用户USER的登录shell修改为SHELL</a:t>
            </a:r>
            <a:endParaRPr lang="zh-CN" altLang="en-US" sz="32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ym typeface="+mn-ea"/>
              </a:rPr>
              <a:t>USER为用户名；SHELL为带有路径的shell程序名。在执行过程中，若SHELL不在/etc/shells中存在，则chsh会发出警告，但并不影响修改。使用示例如下：</a:t>
            </a:r>
            <a:endParaRPr lang="zh-CN" altLang="en-US" sz="32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rgbClr val="FF0000"/>
                </a:solidFill>
                <a:sym typeface="+mn-ea"/>
              </a:rPr>
              <a:t>chsh -s /bin/tcsh test       </a:t>
            </a:r>
            <a:r>
              <a:rPr lang="zh-CN" altLang="en-US" sz="3200">
                <a:sym typeface="+mn-ea"/>
              </a:rPr>
              <a:t>#将用户test的登录shell修改为/bin/tcsh</a:t>
            </a:r>
            <a:endParaRPr lang="zh-CN" altLang="en-US" sz="3200"/>
          </a:p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0D8C90A6-E834-4A9A-536C-9DA14D6A2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6. </a:t>
            </a:r>
            <a:r>
              <a:rPr lang="en-US" altLang="zh-CN"/>
              <a:t>3</a:t>
            </a:r>
            <a:r>
              <a:rPr lang="zh-CN" altLang="en-US"/>
              <a:t>进程安全管理</a:t>
            </a: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369F840-4B70-0DF8-2DE0-A6C11A5F8E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558213" cy="5761037"/>
          </a:xfrm>
        </p:spPr>
        <p:txBody>
          <a:bodyPr/>
          <a:lstStyle/>
          <a:p>
            <a:r>
              <a:rPr lang="zh-CN" altLang="en-US" sz="4800"/>
              <a:t>6.</a:t>
            </a:r>
            <a:r>
              <a:rPr lang="en-US" altLang="zh-CN" sz="4800"/>
              <a:t>3</a:t>
            </a:r>
            <a:r>
              <a:rPr lang="zh-CN" altLang="en-US" sz="4800"/>
              <a:t>.1  </a:t>
            </a:r>
            <a:r>
              <a:rPr lang="zh-CN" altLang="en-US" sz="4800">
                <a:solidFill>
                  <a:srgbClr val="FF0000"/>
                </a:solidFill>
              </a:rPr>
              <a:t>可执行文件的setuid、setgid权限和目录的</a:t>
            </a:r>
            <a:r>
              <a:rPr lang="zh-CN" altLang="en-US" sz="4800"/>
              <a:t>sticky属性</a:t>
            </a:r>
          </a:p>
          <a:p>
            <a:r>
              <a:rPr lang="en-US" altLang="zh-CN" sz="4800"/>
              <a:t>6.3</a:t>
            </a:r>
            <a:r>
              <a:rPr lang="zh-CN" altLang="en-US" sz="4800"/>
              <a:t>.2  进程管理与调度命令</a:t>
            </a:r>
          </a:p>
          <a:p>
            <a:r>
              <a:rPr lang="en-US" altLang="zh-CN" sz="4800"/>
              <a:t>6.3</a:t>
            </a:r>
            <a:r>
              <a:rPr lang="zh-CN" altLang="en-US" sz="4800"/>
              <a:t>.3  改变进程的家目录（chroot）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2">
            <a:extLst>
              <a:ext uri="{FF2B5EF4-FFF2-40B4-BE49-F238E27FC236}">
                <a16:creationId xmlns:a16="http://schemas.microsoft.com/office/drawing/2014/main" id="{69F66430-BD38-815E-2E6E-2D02CD57A0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0"/>
            <a:ext cx="8928100" cy="68135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4000"/>
              <a:t>6.3</a:t>
            </a:r>
            <a:r>
              <a:rPr lang="zh-CN" altLang="en-US" sz="4000"/>
              <a:t>.1  可执行文件的</a:t>
            </a:r>
            <a:r>
              <a:rPr lang="zh-CN" altLang="en-US" sz="4000">
                <a:solidFill>
                  <a:srgbClr val="FF0000"/>
                </a:solidFill>
              </a:rPr>
              <a:t>setuid、setgid权限和目录的sticky属性</a:t>
            </a:r>
            <a:endParaRPr lang="en-US" altLang="zh-CN" sz="400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4000"/>
              <a:t>在UNIX/Linux系统中，</a:t>
            </a:r>
            <a:r>
              <a:rPr lang="zh-CN" altLang="en-US" sz="4000">
                <a:solidFill>
                  <a:srgbClr val="FF0000"/>
                </a:solidFill>
              </a:rPr>
              <a:t>用户级别和执行权力是相关的</a:t>
            </a:r>
            <a:r>
              <a:rPr lang="zh-CN" altLang="en-US" sz="4000"/>
              <a:t>。但是有些工作，如修改/etc/passwd和/etc/shadow文件等，对于</a:t>
            </a:r>
            <a:r>
              <a:rPr lang="zh-CN" altLang="en-US" sz="4000">
                <a:solidFill>
                  <a:srgbClr val="FF0000"/>
                </a:solidFill>
              </a:rPr>
              <a:t>普通用户也是必需的</a:t>
            </a:r>
            <a:r>
              <a:rPr lang="zh-CN" altLang="en-US" sz="4000"/>
              <a:t>，因为它要修改自己的密码，</a:t>
            </a:r>
            <a:r>
              <a:rPr lang="zh-CN" altLang="en-US" sz="4000">
                <a:solidFill>
                  <a:srgbClr val="FF0000"/>
                </a:solidFill>
              </a:rPr>
              <a:t>但是系统中</a:t>
            </a:r>
            <a:r>
              <a:rPr lang="zh-CN" altLang="en-US" sz="4000"/>
              <a:t>这些文件</a:t>
            </a:r>
            <a:r>
              <a:rPr lang="zh-CN" altLang="en-US" sz="4000">
                <a:solidFill>
                  <a:srgbClr val="FF0000"/>
                </a:solidFill>
              </a:rPr>
              <a:t>对于普通用户</a:t>
            </a:r>
            <a:r>
              <a:rPr lang="zh-CN" altLang="en-US" sz="4000"/>
              <a:t>是</a:t>
            </a:r>
            <a:r>
              <a:rPr lang="zh-CN" altLang="en-US" sz="4000">
                <a:solidFill>
                  <a:srgbClr val="FF0000"/>
                </a:solidFill>
              </a:rPr>
              <a:t>不允许</a:t>
            </a:r>
            <a:r>
              <a:rPr lang="zh-CN" altLang="en-US" sz="4000"/>
              <a:t>有</a:t>
            </a:r>
            <a:r>
              <a:rPr lang="zh-CN" altLang="en-US" sz="4000">
                <a:solidFill>
                  <a:srgbClr val="FF0000"/>
                </a:solidFill>
              </a:rPr>
              <a:t>写操作</a:t>
            </a:r>
            <a:r>
              <a:rPr lang="zh-CN" altLang="en-US" sz="4000"/>
              <a:t>的，于是出现了</a:t>
            </a:r>
            <a:r>
              <a:rPr lang="zh-CN" altLang="en-US" sz="4000">
                <a:solidFill>
                  <a:srgbClr val="FF0000"/>
                </a:solidFill>
              </a:rPr>
              <a:t>让普通用户</a:t>
            </a:r>
            <a:r>
              <a:rPr lang="zh-CN" altLang="en-US" sz="4000"/>
              <a:t>通过</a:t>
            </a:r>
            <a:r>
              <a:rPr lang="zh-CN" altLang="en-US" sz="4800" i="1" u="sng">
                <a:solidFill>
                  <a:srgbClr val="FF0000"/>
                </a:solidFill>
              </a:rPr>
              <a:t>某种机制行使超级用户权限</a:t>
            </a:r>
            <a:r>
              <a:rPr lang="zh-CN" altLang="en-US" sz="4000"/>
              <a:t>的问题。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1F437F2C-FA5E-40AB-8C4E-4301E9C710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6513" y="476250"/>
            <a:ext cx="9144001" cy="476250"/>
          </a:xfrm>
        </p:spPr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.1  可执行文件的setuid、setgid权限和目录的sticky属性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110595" name="内容占位符 2">
            <a:extLst>
              <a:ext uri="{FF2B5EF4-FFF2-40B4-BE49-F238E27FC236}">
                <a16:creationId xmlns:a16="http://schemas.microsoft.com/office/drawing/2014/main" id="{49A60042-1B44-526A-C0A9-2808B05B5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08050"/>
            <a:ext cx="9036050" cy="54737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/>
              <a:t>1．suid和sgid权限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/>
              <a:t>1）概念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对于</a:t>
            </a:r>
            <a:r>
              <a:rPr lang="zh-CN" altLang="en-US" sz="4000" dirty="0">
                <a:solidFill>
                  <a:srgbClr val="FF0000"/>
                </a:solidFill>
              </a:rPr>
              <a:t>可执行文件</a:t>
            </a:r>
            <a:r>
              <a:rPr lang="zh-CN" altLang="en-US" sz="3200" dirty="0"/>
              <a:t>，有些文件还有</a:t>
            </a:r>
            <a:r>
              <a:rPr lang="zh-CN" altLang="en-US" sz="4000" dirty="0">
                <a:solidFill>
                  <a:srgbClr val="FF0000"/>
                </a:solidFill>
              </a:rPr>
              <a:t>另外两个</a:t>
            </a:r>
            <a:r>
              <a:rPr lang="zh-CN" altLang="en-US" sz="3200" dirty="0"/>
              <a:t>与</a:t>
            </a:r>
            <a:r>
              <a:rPr lang="zh-CN" altLang="en-US" sz="4000" dirty="0">
                <a:solidFill>
                  <a:srgbClr val="FF0000"/>
                </a:solidFill>
              </a:rPr>
              <a:t>执行有关</a:t>
            </a:r>
            <a:r>
              <a:rPr lang="zh-CN" altLang="en-US" sz="3200" dirty="0"/>
              <a:t>的</a:t>
            </a:r>
            <a:r>
              <a:rPr lang="zh-CN" altLang="en-US" sz="4000" dirty="0">
                <a:solidFill>
                  <a:srgbClr val="FF0000"/>
                </a:solidFill>
              </a:rPr>
              <a:t>属性</a:t>
            </a:r>
            <a:r>
              <a:rPr lang="zh-CN" altLang="en-US" sz="3200" dirty="0"/>
              <a:t>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/>
              <a:t>（1）设置</a:t>
            </a:r>
            <a:r>
              <a:rPr lang="zh-CN" altLang="en-US" sz="3200" dirty="0">
                <a:solidFill>
                  <a:srgbClr val="FF0000"/>
                </a:solidFill>
              </a:rPr>
              <a:t>用户ID权限</a:t>
            </a:r>
            <a:r>
              <a:rPr lang="zh-CN" altLang="en-US" sz="3200" dirty="0"/>
              <a:t>：setuid/suid。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/>
              <a:t>（2）设置</a:t>
            </a:r>
            <a:r>
              <a:rPr lang="zh-CN" altLang="en-US" sz="3200" dirty="0">
                <a:solidFill>
                  <a:srgbClr val="FF0000"/>
                </a:solidFill>
              </a:rPr>
              <a:t>组ID权限</a:t>
            </a:r>
            <a:r>
              <a:rPr lang="zh-CN" altLang="en-US" sz="3200" dirty="0"/>
              <a:t>：setgid/sgid。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当一个程序具有suid属性时，它</a:t>
            </a:r>
            <a:r>
              <a:rPr lang="zh-CN" altLang="en-US" sz="3200" dirty="0">
                <a:solidFill>
                  <a:srgbClr val="FF0000"/>
                </a:solidFill>
              </a:rPr>
              <a:t>执行时的uid</a:t>
            </a:r>
            <a:r>
              <a:rPr lang="zh-CN" altLang="en-US" sz="3200" dirty="0"/>
              <a:t>（有效uid）将是该程序所有者的uid，记为</a:t>
            </a:r>
            <a:r>
              <a:rPr lang="zh-CN" altLang="en-US" sz="3200" dirty="0">
                <a:solidFill>
                  <a:srgbClr val="FF0000"/>
                </a:solidFill>
              </a:rPr>
              <a:t>euid</a:t>
            </a:r>
            <a:r>
              <a:rPr lang="zh-CN" altLang="en-US" sz="3200" dirty="0"/>
              <a:t>，而执行者原来的uid称为</a:t>
            </a:r>
            <a:r>
              <a:rPr lang="zh-CN" altLang="en-US" sz="3200" dirty="0">
                <a:solidFill>
                  <a:srgbClr val="FF0000"/>
                </a:solidFill>
              </a:rPr>
              <a:t>真实uid</a:t>
            </a:r>
            <a:r>
              <a:rPr lang="zh-CN" altLang="en-US" sz="3200" dirty="0"/>
              <a:t>，记为</a:t>
            </a:r>
            <a:r>
              <a:rPr lang="zh-CN" altLang="en-US" sz="3200" dirty="0">
                <a:solidFill>
                  <a:srgbClr val="FF0000"/>
                </a:solidFill>
              </a:rPr>
              <a:t>ruid</a:t>
            </a:r>
            <a:r>
              <a:rPr lang="zh-CN" altLang="en-US" sz="3200" dirty="0"/>
              <a:t>。此时，程序的执行者具有程序所有者的权限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>
            <a:extLst>
              <a:ext uri="{FF2B5EF4-FFF2-40B4-BE49-F238E27FC236}">
                <a16:creationId xmlns:a16="http://schemas.microsoft.com/office/drawing/2014/main" id="{B12C61BB-5646-2426-3C85-BF797578F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4925" y="549275"/>
            <a:ext cx="9144000" cy="476250"/>
          </a:xfrm>
        </p:spPr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.1  可执行文件的setuid、setgid权限和目录的sticky属性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7891" name="内容占位符 2">
            <a:extLst>
              <a:ext uri="{FF2B5EF4-FFF2-40B4-BE49-F238E27FC236}">
                <a16:creationId xmlns:a16="http://schemas.microsoft.com/office/drawing/2014/main" id="{1E020595-B77D-6CC1-F8C1-F4DBC6ADFC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513" y="1025525"/>
            <a:ext cx="9001125" cy="504031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ym typeface="+mn-ea"/>
              </a:rPr>
              <a:t>当一个程序具有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sgid属性</a:t>
            </a:r>
            <a:r>
              <a:rPr lang="zh-CN" altLang="en-US" sz="4000">
                <a:sym typeface="+mn-ea"/>
              </a:rPr>
              <a:t>时，它执行时的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gid</a:t>
            </a:r>
            <a:r>
              <a:rPr lang="zh-CN" altLang="en-US" sz="4000">
                <a:sym typeface="+mn-ea"/>
              </a:rPr>
              <a:t>（有效gid）将是该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程序的gid</a:t>
            </a:r>
            <a:r>
              <a:rPr lang="zh-CN" altLang="en-US" sz="4000">
                <a:sym typeface="+mn-ea"/>
              </a:rPr>
              <a:t>，记为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egid</a:t>
            </a:r>
            <a:r>
              <a:rPr lang="zh-CN" altLang="en-US" sz="4000">
                <a:sym typeface="+mn-ea"/>
              </a:rPr>
              <a:t>，而执行者原来的gid称为真实gid，记为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rgid</a:t>
            </a:r>
            <a:r>
              <a:rPr lang="zh-CN" altLang="en-US" sz="4000">
                <a:sym typeface="+mn-ea"/>
              </a:rPr>
              <a:t>。此时，程序的执行者具有程序所有者所在组的权限。</a:t>
            </a:r>
            <a:endParaRPr lang="zh-CN" altLang="en-US" sz="40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ym typeface="+mn-ea"/>
              </a:rPr>
              <a:t>suid/sgid属性</a:t>
            </a:r>
            <a:r>
              <a:rPr lang="zh-CN" altLang="en-US" sz="4000" u="sng">
                <a:solidFill>
                  <a:srgbClr val="FF0000"/>
                </a:solidFill>
                <a:sym typeface="+mn-ea"/>
              </a:rPr>
              <a:t>只对</a:t>
            </a:r>
            <a:r>
              <a:rPr lang="zh-CN" altLang="en-US" sz="4000" u="sng">
                <a:sym typeface="+mn-ea"/>
              </a:rPr>
              <a:t>二进制</a:t>
            </a:r>
            <a:r>
              <a:rPr lang="zh-CN" altLang="en-US" sz="4000" u="sng">
                <a:solidFill>
                  <a:srgbClr val="FF0000"/>
                </a:solidFill>
                <a:sym typeface="+mn-ea"/>
              </a:rPr>
              <a:t>可执行文件有效</a:t>
            </a:r>
            <a:r>
              <a:rPr lang="zh-CN" altLang="en-US" sz="4000">
                <a:sym typeface="+mn-ea"/>
              </a:rPr>
              <a:t>，而对可执行的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脚本文件无效</a:t>
            </a:r>
            <a:endParaRPr lang="zh-CN" altLang="en-US" sz="4000"/>
          </a:p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>
            <a:extLst>
              <a:ext uri="{FF2B5EF4-FFF2-40B4-BE49-F238E27FC236}">
                <a16:creationId xmlns:a16="http://schemas.microsoft.com/office/drawing/2014/main" id="{66367ED2-640F-84E0-7A69-59B3ECA3F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90500"/>
            <a:ext cx="9144000" cy="360363"/>
          </a:xfrm>
        </p:spPr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.1  </a:t>
            </a:r>
            <a:r>
              <a:rPr lang="zh-CN" altLang="en-US" sz="2400">
                <a:sym typeface="+mn-ea"/>
              </a:rPr>
              <a:t>可执行文件的setuid、setgid权限和目录的sticky属性</a:t>
            </a:r>
            <a:br>
              <a:rPr lang="zh-CN" altLang="en-US" sz="2400"/>
            </a:br>
            <a:endParaRPr lang="zh-CN" altLang="en-US" sz="2400"/>
          </a:p>
        </p:txBody>
      </p:sp>
      <p:sp>
        <p:nvSpPr>
          <p:cNvPr id="38915" name="内容占位符 2">
            <a:extLst>
              <a:ext uri="{FF2B5EF4-FFF2-40B4-BE49-F238E27FC236}">
                <a16:creationId xmlns:a16="http://schemas.microsoft.com/office/drawing/2014/main" id="{770D77A4-3FF5-37AE-ADB5-CA73F70E99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338" y="549275"/>
            <a:ext cx="9145587" cy="597535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ym typeface="+mn-ea"/>
              </a:rPr>
              <a:t>当一个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属于超级用户的可执行二进制程序具有suid属性</a:t>
            </a:r>
            <a:r>
              <a:rPr lang="zh-CN" altLang="en-US">
                <a:sym typeface="+mn-ea"/>
              </a:rPr>
              <a:t>时，在一般用户执行它时，也就</a:t>
            </a:r>
            <a:r>
              <a:rPr lang="zh-CN" altLang="en-US" i="1" u="sng">
                <a:solidFill>
                  <a:srgbClr val="FF0000"/>
                </a:solidFill>
                <a:sym typeface="+mn-ea"/>
              </a:rPr>
              <a:t>相当于有了超级用户的身份和权限</a:t>
            </a:r>
            <a:r>
              <a:rPr lang="zh-CN" altLang="en-US" u="sng">
                <a:sym typeface="+mn-ea"/>
              </a:rPr>
              <a:t>。</a:t>
            </a:r>
            <a:r>
              <a:rPr lang="zh-CN" altLang="en-US">
                <a:sym typeface="+mn-ea"/>
              </a:rPr>
              <a:t>同样，当一个属于</a:t>
            </a:r>
            <a:r>
              <a:rPr lang="zh-CN" altLang="en-US" i="1" u="sng">
                <a:solidFill>
                  <a:srgbClr val="FF0000"/>
                </a:solidFill>
                <a:sym typeface="+mn-ea"/>
              </a:rPr>
              <a:t>超级用户所在组</a:t>
            </a:r>
            <a:r>
              <a:rPr lang="zh-CN" altLang="en-US">
                <a:sym typeface="+mn-ea"/>
              </a:rPr>
              <a:t>的可执行二进制程序具有sgid属性时，当一般用户执行它时，也就相当于有了该组员的身份和权限。由此可见，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suid和sgid权限的存在</a:t>
            </a:r>
            <a:r>
              <a:rPr lang="zh-CN" altLang="en-US">
                <a:sym typeface="+mn-ea"/>
              </a:rPr>
              <a:t>可能</a:t>
            </a:r>
            <a:r>
              <a:rPr lang="zh-CN" altLang="en-US" i="1">
                <a:solidFill>
                  <a:srgbClr val="FF0000"/>
                </a:solidFill>
                <a:sym typeface="+mn-ea"/>
              </a:rPr>
              <a:t>会给某些程序的执行带来方便</a:t>
            </a:r>
            <a:r>
              <a:rPr lang="zh-CN" altLang="en-US">
                <a:sym typeface="+mn-ea"/>
              </a:rPr>
              <a:t>，因为</a:t>
            </a:r>
            <a:r>
              <a:rPr lang="zh-CN" altLang="en-US" i="1" u="sng">
                <a:sym typeface="+mn-ea"/>
              </a:rPr>
              <a:t>权限被放大了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但</a:t>
            </a:r>
            <a:r>
              <a:rPr lang="zh-CN" altLang="en-US">
                <a:sym typeface="+mn-ea"/>
              </a:rPr>
              <a:t>这也</a:t>
            </a:r>
            <a:r>
              <a:rPr lang="zh-CN" altLang="en-US" i="1">
                <a:solidFill>
                  <a:srgbClr val="FF0000"/>
                </a:solidFill>
                <a:sym typeface="+mn-ea"/>
              </a:rPr>
              <a:t>是一种危险</a:t>
            </a:r>
            <a:r>
              <a:rPr lang="zh-CN" altLang="en-US">
                <a:sym typeface="+mn-ea"/>
              </a:rPr>
              <a:t>，因为</a:t>
            </a:r>
            <a:r>
              <a:rPr lang="zh-CN" altLang="en-US" i="1" u="sng">
                <a:solidFill>
                  <a:srgbClr val="FF0000"/>
                </a:solidFill>
                <a:sym typeface="+mn-ea"/>
              </a:rPr>
              <a:t>过大的权力可能会给系统的安全带来隐患</a:t>
            </a:r>
            <a:r>
              <a:rPr lang="zh-CN" altLang="en-US">
                <a:sym typeface="+mn-ea"/>
              </a:rPr>
              <a:t>，因此设置这种权限的可执行二进制程序</a:t>
            </a:r>
            <a:r>
              <a:rPr lang="zh-CN" altLang="en-US" i="1">
                <a:solidFill>
                  <a:srgbClr val="FF0000"/>
                </a:solidFill>
                <a:sym typeface="+mn-ea"/>
              </a:rPr>
              <a:t>不宜太多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常用的设置suid的程序</a:t>
            </a:r>
            <a:r>
              <a:rPr lang="zh-CN" altLang="en-US">
                <a:sym typeface="+mn-ea"/>
              </a:rPr>
              <a:t>有/bin/ping、/usr/bin/passwd、/usr/bin/newgrp、/usr/sbin/suexec、/usr/bin/sudo和/usr/sbin/traceroute等被公用，但又必须具有较高权限的程序。</a:t>
            </a:r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>
            <a:extLst>
              <a:ext uri="{FF2B5EF4-FFF2-40B4-BE49-F238E27FC236}">
                <a16:creationId xmlns:a16="http://schemas.microsoft.com/office/drawing/2014/main" id="{968901BD-9899-5A76-6211-6833A550B2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9144000" cy="214313"/>
          </a:xfrm>
        </p:spPr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.1</a:t>
            </a:r>
            <a:r>
              <a:rPr lang="zh-CN" altLang="en-US" sz="2400">
                <a:sym typeface="+mn-ea"/>
              </a:rPr>
              <a:t>  可执行文件的setuid、setgid权限和目录的sticky属性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F7778340-DDF2-E80E-BA30-ECE04248DD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r>
              <a:rPr lang="zh-CN" altLang="en-US" sz="3200"/>
              <a:t>2）管理</a:t>
            </a:r>
          </a:p>
          <a:p>
            <a:r>
              <a:rPr lang="zh-CN" altLang="en-US" sz="4400">
                <a:solidFill>
                  <a:srgbClr val="FF0000"/>
                </a:solidFill>
              </a:rPr>
              <a:t>suid和sgid对应的权限</a:t>
            </a:r>
            <a:r>
              <a:rPr lang="zh-CN" altLang="en-US" sz="4400"/>
              <a:t>也是</a:t>
            </a:r>
            <a:r>
              <a:rPr lang="zh-CN" altLang="en-US" sz="4400" u="sng">
                <a:solidFill>
                  <a:srgbClr val="FF0000"/>
                </a:solidFill>
              </a:rPr>
              <a:t>用chmod来</a:t>
            </a:r>
            <a:r>
              <a:rPr lang="zh-CN" altLang="en-US" sz="4400"/>
              <a:t>管理的。设myp1、myp2、myp3的权限分别为-rwxr-xr-x(755)、-rwxrwxr-x(775)和-rwxrwxrwx(777)，则可用以下方法设置suid和sgid的权限。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内容占位符 2">
            <a:extLst>
              <a:ext uri="{FF2B5EF4-FFF2-40B4-BE49-F238E27FC236}">
                <a16:creationId xmlns:a16="http://schemas.microsoft.com/office/drawing/2014/main" id="{DFCC1CFA-D925-68EE-B62E-E5A4D4FAE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493713"/>
            <a:ext cx="9001125" cy="588803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sym typeface="+mn-ea"/>
              </a:rPr>
              <a:t>（1）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字符方式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ym typeface="+mn-ea"/>
              </a:rPr>
              <a:t>#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chmod u+s myp1</a:t>
            </a:r>
            <a:r>
              <a:rPr lang="zh-CN" altLang="en-US" sz="3200" dirty="0">
                <a:sym typeface="+mn-ea"/>
              </a:rPr>
              <a:t>		#为myp1设置suid。修改后的权限为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rwsr-xr-x</a:t>
            </a:r>
            <a:endParaRPr lang="zh-CN" altLang="en-US" sz="32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ym typeface="+mn-ea"/>
              </a:rPr>
              <a:t>#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chmod g+s myp2	</a:t>
            </a:r>
            <a:r>
              <a:rPr lang="zh-CN" altLang="en-US" sz="3200" dirty="0">
                <a:sym typeface="+mn-ea"/>
              </a:rPr>
              <a:t>	#为myp2设置sgid。修改后的权限为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rwxrwsr-x</a:t>
            </a:r>
            <a:endParaRPr lang="zh-CN" altLang="en-US" sz="32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ym typeface="+mn-ea"/>
              </a:rPr>
              <a:t>#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chmod ug+s myp3	</a:t>
            </a:r>
            <a:r>
              <a:rPr lang="zh-CN" altLang="en-US" sz="3200" dirty="0">
                <a:sym typeface="+mn-ea"/>
              </a:rPr>
              <a:t>	#为myp3同时设置suid和sgid。修改后的权限为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rwsrwsrwx</a:t>
            </a:r>
            <a:endParaRPr lang="zh-CN" altLang="en-US" sz="3200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sym typeface="+mn-ea"/>
              </a:rPr>
              <a:t>（2）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数字方法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ym typeface="+mn-ea"/>
              </a:rPr>
              <a:t>#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chmod 4755 myp1</a:t>
            </a:r>
            <a:r>
              <a:rPr lang="zh-CN" altLang="en-US" sz="3200" dirty="0">
                <a:sym typeface="+mn-ea"/>
              </a:rPr>
              <a:t>		#为myp1设置suid</a:t>
            </a:r>
            <a:endParaRPr lang="zh-CN" altLang="en-US" sz="32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ym typeface="+mn-ea"/>
              </a:rPr>
              <a:t>#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chmod 2775 myp2	</a:t>
            </a:r>
            <a:r>
              <a:rPr lang="zh-CN" altLang="en-US" sz="3200" dirty="0">
                <a:sym typeface="+mn-ea"/>
              </a:rPr>
              <a:t>	#为myp2设置sgid</a:t>
            </a:r>
            <a:endParaRPr lang="zh-CN" altLang="en-US" sz="32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ym typeface="+mn-ea"/>
              </a:rPr>
              <a:t>#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chmod 6777 myp3</a:t>
            </a:r>
            <a:r>
              <a:rPr lang="zh-CN" altLang="en-US" sz="3200" dirty="0">
                <a:sym typeface="+mn-ea"/>
              </a:rPr>
              <a:t>		#为myp3同时设置suid和sgid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>
            <a:extLst>
              <a:ext uri="{FF2B5EF4-FFF2-40B4-BE49-F238E27FC236}">
                <a16:creationId xmlns:a16="http://schemas.microsoft.com/office/drawing/2014/main" id="{733642A9-64A3-50E8-33B6-0B29F96F8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175" y="404813"/>
            <a:ext cx="9144000" cy="309562"/>
          </a:xfrm>
        </p:spPr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.1  </a:t>
            </a:r>
            <a:r>
              <a:rPr lang="zh-CN" altLang="en-US" sz="2400">
                <a:sym typeface="+mn-ea"/>
              </a:rPr>
              <a:t>可执行文件的setuid、setgid权限和目录的sticky属性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115715" name="内容占位符 2">
            <a:extLst>
              <a:ext uri="{FF2B5EF4-FFF2-40B4-BE49-F238E27FC236}">
                <a16:creationId xmlns:a16="http://schemas.microsoft.com/office/drawing/2014/main" id="{06EB8E37-1119-4259-5497-F1AAF0636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4925" y="620713"/>
            <a:ext cx="9072563" cy="621506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3200" dirty="0"/>
              <a:t>2．</a:t>
            </a:r>
            <a:r>
              <a:rPr lang="zh-CN" altLang="en-US" sz="3200" dirty="0">
                <a:solidFill>
                  <a:srgbClr val="FF0000"/>
                </a:solidFill>
              </a:rPr>
              <a:t>sticky位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3200" dirty="0"/>
              <a:t>1）概念</a:t>
            </a:r>
          </a:p>
          <a:p>
            <a:pPr>
              <a:defRPr/>
            </a:pPr>
            <a:r>
              <a:rPr lang="en-US" altLang="zh-CN" sz="4800" dirty="0">
                <a:solidFill>
                  <a:srgbClr val="FF0000"/>
                </a:solidFill>
              </a:rPr>
              <a:t>sticky</a:t>
            </a:r>
            <a:r>
              <a:rPr lang="zh-CN" altLang="en-US" sz="4800" dirty="0">
                <a:solidFill>
                  <a:srgbClr val="FF0000"/>
                </a:solidFill>
              </a:rPr>
              <a:t>权限只能运用于目录上</a:t>
            </a:r>
            <a:r>
              <a:rPr lang="zh-CN" altLang="en-US" sz="3200" dirty="0"/>
              <a:t>，含义是该目录下所有的文件和子目录只能由所属者删除，即使其的权限是</a:t>
            </a:r>
            <a:r>
              <a:rPr lang="en-US" altLang="zh-CN" sz="3200" dirty="0"/>
              <a:t>777</a:t>
            </a:r>
            <a:r>
              <a:rPr lang="zh-CN" altLang="en-US" sz="3200" dirty="0"/>
              <a:t>或者其他。假如本来在该位上有</a:t>
            </a:r>
            <a:r>
              <a:rPr lang="en-US" altLang="zh-CN" sz="3200" dirty="0"/>
              <a:t>x, </a:t>
            </a:r>
            <a:r>
              <a:rPr lang="zh-CN" altLang="en-US" sz="3200" dirty="0"/>
              <a:t>则这些特别标志 </a:t>
            </a:r>
            <a:r>
              <a:rPr lang="en-US" altLang="zh-CN" sz="3200" dirty="0"/>
              <a:t>(</a:t>
            </a:r>
            <a:r>
              <a:rPr lang="en-US" altLang="zh-CN" sz="3200" dirty="0" err="1"/>
              <a:t>suid</a:t>
            </a:r>
            <a:r>
              <a:rPr lang="en-US" altLang="zh-CN" sz="3200" dirty="0"/>
              <a:t>, </a:t>
            </a:r>
            <a:r>
              <a:rPr lang="en-US" altLang="zh-CN" sz="3200" dirty="0" err="1"/>
              <a:t>sgid</a:t>
            </a:r>
            <a:r>
              <a:rPr lang="en-US" altLang="zh-CN" sz="3200" dirty="0"/>
              <a:t>, sticky) </a:t>
            </a:r>
            <a:r>
              <a:rPr lang="zh-CN" altLang="en-US" sz="3200" dirty="0"/>
              <a:t>显示为小写字母 </a:t>
            </a:r>
            <a:r>
              <a:rPr lang="en-US" altLang="zh-CN" sz="3200" dirty="0"/>
              <a:t>(s, s, t).</a:t>
            </a:r>
          </a:p>
          <a:p>
            <a:pPr>
              <a:defRPr/>
            </a:pPr>
            <a:r>
              <a:rPr lang="en-US" altLang="zh-CN" sz="3200" dirty="0"/>
              <a:t> </a:t>
            </a:r>
            <a:r>
              <a:rPr lang="zh-CN" altLang="en-US" sz="3200" dirty="0"/>
              <a:t>否则</a:t>
            </a:r>
            <a:r>
              <a:rPr lang="en-US" altLang="zh-CN" sz="3200" dirty="0"/>
              <a:t>, </a:t>
            </a:r>
            <a:r>
              <a:rPr lang="zh-CN" altLang="en-US" sz="3200" dirty="0"/>
              <a:t>显示为大写字母 </a:t>
            </a:r>
            <a:r>
              <a:rPr lang="en-US" altLang="zh-CN" sz="3200" dirty="0"/>
              <a:t>(S, S, T) </a:t>
            </a:r>
            <a:r>
              <a:rPr lang="zh-CN" altLang="en-US" sz="3200" dirty="0"/>
              <a:t>。 。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>
            <a:extLst>
              <a:ext uri="{FF2B5EF4-FFF2-40B4-BE49-F238E27FC236}">
                <a16:creationId xmlns:a16="http://schemas.microsoft.com/office/drawing/2014/main" id="{80A9BE1B-8294-1C44-0E58-94AFB49B4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9144000" cy="142875"/>
          </a:xfrm>
        </p:spPr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.1  </a:t>
            </a:r>
            <a:r>
              <a:rPr lang="zh-CN" altLang="en-US" sz="2400">
                <a:sym typeface="+mn-ea"/>
              </a:rPr>
              <a:t>可执行文件的setuid、setgid权限和目录的sticky属性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3011" name="内容占位符 2">
            <a:extLst>
              <a:ext uri="{FF2B5EF4-FFF2-40B4-BE49-F238E27FC236}">
                <a16:creationId xmlns:a16="http://schemas.microsoft.com/office/drawing/2014/main" id="{50AF4460-0113-9F75-E5D5-E5E6845FE7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9036050" cy="5761037"/>
          </a:xfrm>
        </p:spPr>
        <p:txBody>
          <a:bodyPr/>
          <a:lstStyle/>
          <a:p>
            <a:r>
              <a:rPr lang="zh-CN" altLang="en-US" sz="3600">
                <a:sym typeface="+mn-ea"/>
              </a:rPr>
              <a:t>当一个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目录具有sticky权限</a:t>
            </a:r>
            <a:r>
              <a:rPr lang="zh-CN" altLang="en-US" sz="3600">
                <a:sym typeface="+mn-ea"/>
              </a:rPr>
              <a:t>时，它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内部</a:t>
            </a:r>
            <a:r>
              <a:rPr lang="zh-CN" altLang="en-US" sz="3600">
                <a:sym typeface="+mn-ea"/>
              </a:rPr>
              <a:t>的文件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只能</a:t>
            </a:r>
            <a:r>
              <a:rPr lang="zh-CN" altLang="en-US" sz="3600">
                <a:sym typeface="+mn-ea"/>
              </a:rPr>
              <a:t>被它的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所有者或超级用户删除、更名或移动</a:t>
            </a:r>
            <a:r>
              <a:rPr lang="zh-CN" altLang="en-US" sz="3600">
                <a:sym typeface="+mn-ea"/>
              </a:rPr>
              <a:t>。当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一个可执行文件</a:t>
            </a:r>
            <a:r>
              <a:rPr lang="zh-CN" altLang="en-US" sz="3600">
                <a:sym typeface="+mn-ea"/>
              </a:rPr>
              <a:t>具有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sticky权限时</a:t>
            </a:r>
            <a:r>
              <a:rPr lang="zh-CN" altLang="en-US" sz="3600">
                <a:sym typeface="+mn-ea"/>
              </a:rPr>
              <a:t>，在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早期</a:t>
            </a:r>
            <a:r>
              <a:rPr lang="zh-CN" altLang="en-US" sz="3600">
                <a:sym typeface="+mn-ea"/>
              </a:rPr>
              <a:t>的系统中，程序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执行时的正文段映像将被锁在交换区中</a:t>
            </a:r>
            <a:r>
              <a:rPr lang="zh-CN" altLang="en-US" sz="3600">
                <a:sym typeface="+mn-ea"/>
              </a:rPr>
              <a:t>，可使得程序装入更快速。</a:t>
            </a:r>
            <a:endParaRPr lang="zh-CN" altLang="en-US" sz="3600"/>
          </a:p>
          <a:p>
            <a:r>
              <a:rPr lang="zh-CN" altLang="en-US" sz="3600">
                <a:solidFill>
                  <a:srgbClr val="FF0000"/>
                </a:solidFill>
                <a:sym typeface="+mn-ea"/>
              </a:rPr>
              <a:t>设置粘着位的目录有/tmp、/usr/tmp和/var/spool/uucppublic等</a:t>
            </a:r>
            <a:r>
              <a:rPr lang="zh-CN" altLang="en-US" sz="3600">
                <a:sym typeface="+mn-ea"/>
              </a:rPr>
              <a:t>。</a:t>
            </a:r>
            <a:endParaRPr lang="zh-CN" altLang="en-US" sz="3600"/>
          </a:p>
          <a:p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>
            <a:extLst>
              <a:ext uri="{FF2B5EF4-FFF2-40B4-BE49-F238E27FC236}">
                <a16:creationId xmlns:a16="http://schemas.microsoft.com/office/drawing/2014/main" id="{96522364-154E-1149-BFD8-0C1817B76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53975" y="476250"/>
            <a:ext cx="9144000" cy="476250"/>
          </a:xfrm>
        </p:spPr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.1  可执行文件的setuid、setgid权限和目录的sticky属性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4035" name="内容占位符 2">
            <a:extLst>
              <a:ext uri="{FF2B5EF4-FFF2-40B4-BE49-F238E27FC236}">
                <a16:creationId xmlns:a16="http://schemas.microsoft.com/office/drawing/2014/main" id="{E9E71D2F-6E96-A57F-C726-0A64DFEFC7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513"/>
            <a:ext cx="9036050" cy="5329237"/>
          </a:xfrm>
        </p:spPr>
        <p:txBody>
          <a:bodyPr/>
          <a:lstStyle/>
          <a:p>
            <a:r>
              <a:rPr lang="zh-CN" altLang="en-US" sz="3600">
                <a:sym typeface="+mn-ea"/>
              </a:rPr>
              <a:t>2）管理</a:t>
            </a:r>
            <a:endParaRPr lang="zh-CN" altLang="en-US" sz="3600"/>
          </a:p>
          <a:p>
            <a:r>
              <a:rPr lang="zh-CN" altLang="en-US" sz="3600">
                <a:sym typeface="+mn-ea"/>
              </a:rPr>
              <a:t>sticky位的属性值为1000，可通过chmod命令设置。设有目录mydir和文件myfile的权限为755，则可通过以下方法来设置它的sticky位。</a:t>
            </a:r>
            <a:endParaRPr lang="zh-CN" altLang="en-US" sz="3600"/>
          </a:p>
          <a:p>
            <a:r>
              <a:rPr lang="zh-CN" altLang="en-US" sz="3600">
                <a:sym typeface="+mn-ea"/>
              </a:rPr>
              <a:t>#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chmod +t mydir myfile	</a:t>
            </a:r>
            <a:r>
              <a:rPr lang="zh-CN" altLang="en-US" sz="3600">
                <a:sym typeface="+mn-ea"/>
              </a:rPr>
              <a:t>	#字符方式。修改后的权限为1755或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rwxr-xr-t</a:t>
            </a:r>
            <a:endParaRPr lang="zh-CN" altLang="en-US" sz="3600">
              <a:solidFill>
                <a:srgbClr val="FF0000"/>
              </a:solidFill>
            </a:endParaRPr>
          </a:p>
          <a:p>
            <a:r>
              <a:rPr lang="zh-CN" altLang="en-US" sz="3600">
                <a:sym typeface="+mn-ea"/>
              </a:rPr>
              <a:t>#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chmod 1755 mydir myfile	</a:t>
            </a:r>
            <a:r>
              <a:rPr lang="zh-CN" altLang="en-US" sz="3600">
                <a:sym typeface="+mn-ea"/>
              </a:rPr>
              <a:t>	#数字方式</a:t>
            </a:r>
            <a:endParaRPr lang="zh-CN" altLang="en-US" sz="3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内容占位符 2">
            <a:extLst>
              <a:ext uri="{FF2B5EF4-FFF2-40B4-BE49-F238E27FC236}">
                <a16:creationId xmlns:a16="http://schemas.microsoft.com/office/drawing/2014/main" id="{E7D5C949-93ED-4EBC-C824-D96B83709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001125" cy="6524625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zh-CN" altLang="en-US" dirty="0"/>
              <a:t>3．查找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/>
              <a:t>用户可以</a:t>
            </a:r>
            <a:r>
              <a:rPr lang="zh-CN" altLang="en-US" dirty="0">
                <a:solidFill>
                  <a:srgbClr val="FF0000"/>
                </a:solidFill>
              </a:rPr>
              <a:t>使用find命令查找系统具有suid、sgid和sticky权限</a:t>
            </a:r>
            <a:r>
              <a:rPr lang="zh-CN" altLang="en-US" dirty="0"/>
              <a:t>的文件，方法如下：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rgbClr val="FF0000"/>
                </a:solidFill>
              </a:rPr>
              <a:t>find / -perm /1000 -print	</a:t>
            </a:r>
            <a:r>
              <a:rPr lang="zh-CN" altLang="en-US" dirty="0"/>
              <a:t>	#仅查找具有sticky的位者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rgbClr val="FF0000"/>
                </a:solidFill>
              </a:rPr>
              <a:t>find / -perm /2000 -print	</a:t>
            </a:r>
            <a:r>
              <a:rPr lang="zh-CN" altLang="en-US" dirty="0"/>
              <a:t>	#仅查找具有sgid的权限者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rgbClr val="FF0000"/>
                </a:solidFill>
              </a:rPr>
              <a:t>find / -perm /4000 -print</a:t>
            </a:r>
            <a:r>
              <a:rPr lang="zh-CN" altLang="en-US" dirty="0"/>
              <a:t>		#仅查找具有suid的权限者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rgbClr val="FF0000"/>
                </a:solidFill>
              </a:rPr>
              <a:t>find / -perm /6000 -print</a:t>
            </a:r>
            <a:r>
              <a:rPr lang="zh-CN" altLang="en-US" dirty="0"/>
              <a:t>		#仅查找具有suid和sgid的权限者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rgbClr val="FF0000"/>
                </a:solidFill>
              </a:rPr>
              <a:t>find / -perm /7000 -print	</a:t>
            </a:r>
            <a:r>
              <a:rPr lang="zh-CN" altLang="en-US" dirty="0"/>
              <a:t>	#查找具有suid、sgid和sticky的权限者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>
            <a:extLst>
              <a:ext uri="{FF2B5EF4-FFF2-40B4-BE49-F238E27FC236}">
                <a16:creationId xmlns:a16="http://schemas.microsoft.com/office/drawing/2014/main" id="{81DD8161-5721-46F0-BDA9-97CF5E555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476250"/>
          </a:xfrm>
        </p:spPr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.1  可执行文件的setuid、setgid权限和目录的sticky属性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6083" name="内容占位符 2">
            <a:extLst>
              <a:ext uri="{FF2B5EF4-FFF2-40B4-BE49-F238E27FC236}">
                <a16:creationId xmlns:a16="http://schemas.microsoft.com/office/drawing/2014/main" id="{CD8BD296-1274-F6BE-4F03-C11E2B0BD5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1096963"/>
            <a:ext cx="8856663" cy="5284787"/>
          </a:xfrm>
        </p:spPr>
        <p:txBody>
          <a:bodyPr/>
          <a:lstStyle/>
          <a:p>
            <a:r>
              <a:rPr lang="zh-CN" altLang="en-US" sz="3200"/>
              <a:t>4．说明</a:t>
            </a:r>
          </a:p>
          <a:p>
            <a:r>
              <a:rPr lang="zh-CN" altLang="en-US" sz="3200"/>
              <a:t>当对一个在执行位没有权限的文件添加suid、sgid和sticky权限时，相关对应的字符表示不是s和t，</a:t>
            </a:r>
            <a:r>
              <a:rPr lang="zh-CN" altLang="en-US" sz="3200">
                <a:solidFill>
                  <a:srgbClr val="FF0000"/>
                </a:solidFill>
              </a:rPr>
              <a:t>而是S和T</a:t>
            </a:r>
            <a:r>
              <a:rPr lang="zh-CN" altLang="en-US" sz="3200"/>
              <a:t>。比如，root用户有一个名为x的文件，其他权限为644（rw-r--r--），在执行</a:t>
            </a:r>
          </a:p>
          <a:p>
            <a:r>
              <a:rPr lang="zh-CN" altLang="en-US" sz="3200"/>
              <a:t>#chmod +s,+t x</a:t>
            </a:r>
          </a:p>
          <a:p>
            <a:r>
              <a:rPr lang="zh-CN" altLang="en-US" sz="3200"/>
              <a:t>命令后，其权限为7644，符号表示为rwSr-Sr-T。用户可使用ls -l查看x的权限。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>
            <a:extLst>
              <a:ext uri="{FF2B5EF4-FFF2-40B4-BE49-F238E27FC236}">
                <a16:creationId xmlns:a16="http://schemas.microsoft.com/office/drawing/2014/main" id="{50AB117C-76EF-233B-B0C4-570564BB8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6.3</a:t>
            </a:r>
            <a:r>
              <a:rPr lang="zh-CN" altLang="en-US"/>
              <a:t>.2  进程管理与调度命令</a:t>
            </a:r>
          </a:p>
        </p:txBody>
      </p:sp>
      <p:sp>
        <p:nvSpPr>
          <p:cNvPr id="120835" name="内容占位符 2">
            <a:extLst>
              <a:ext uri="{FF2B5EF4-FFF2-40B4-BE49-F238E27FC236}">
                <a16:creationId xmlns:a16="http://schemas.microsoft.com/office/drawing/2014/main" id="{6E5D5021-A5EA-B519-0480-113B39547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620713"/>
            <a:ext cx="8558213" cy="57610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3600" dirty="0"/>
              <a:t>1．按名称向进程发信号或终止进程的执行（</a:t>
            </a:r>
            <a:r>
              <a:rPr lang="zh-CN" altLang="en-US" sz="3600" dirty="0">
                <a:solidFill>
                  <a:srgbClr val="FF0000"/>
                </a:solidFill>
              </a:rPr>
              <a:t>killall</a:t>
            </a:r>
            <a:r>
              <a:rPr lang="zh-CN" altLang="en-US" sz="3600" dirty="0"/>
              <a:t>）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3600" dirty="0"/>
              <a:t>1）功能及用法</a:t>
            </a:r>
          </a:p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</a:rPr>
              <a:t>kill用于向指定进程或进程组发送指定信号</a:t>
            </a:r>
            <a:r>
              <a:rPr lang="zh-CN" altLang="en-US" sz="3600" dirty="0"/>
              <a:t>，如果未指定信号，则默认发送TERM（15）。若接收者收到信号，而没有对信号捕获并进行特殊处理，则</a:t>
            </a:r>
            <a:r>
              <a:rPr lang="zh-CN" altLang="en-US" sz="3600" dirty="0">
                <a:solidFill>
                  <a:srgbClr val="FF0000"/>
                </a:solidFill>
              </a:rPr>
              <a:t>它将被终止运行，也就是被杀掉</a:t>
            </a:r>
            <a:r>
              <a:rPr lang="zh-CN" altLang="en-US" sz="3600" dirty="0"/>
              <a:t>了。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>
            <a:extLst>
              <a:ext uri="{FF2B5EF4-FFF2-40B4-BE49-F238E27FC236}">
                <a16:creationId xmlns:a16="http://schemas.microsoft.com/office/drawing/2014/main" id="{95AD307C-A7F2-DE87-DA25-B36CE3C12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.2  进程管理与调度命令</a:t>
            </a:r>
            <a:endParaRPr lang="zh-CN" altLang="en-US"/>
          </a:p>
        </p:txBody>
      </p:sp>
      <p:sp>
        <p:nvSpPr>
          <p:cNvPr id="48131" name="内容占位符 2">
            <a:extLst>
              <a:ext uri="{FF2B5EF4-FFF2-40B4-BE49-F238E27FC236}">
                <a16:creationId xmlns:a16="http://schemas.microsoft.com/office/drawing/2014/main" id="{156E5F90-2A76-5806-B4A4-E20CE8415C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074150" cy="5761037"/>
          </a:xfrm>
        </p:spPr>
        <p:txBody>
          <a:bodyPr/>
          <a:lstStyle/>
          <a:p>
            <a:r>
              <a:rPr lang="zh-CN" altLang="en-US" sz="3600">
                <a:sym typeface="+mn-ea"/>
              </a:rPr>
              <a:t>killall是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另一个用来向指定进程发信号或终止进程的命令</a:t>
            </a:r>
            <a:r>
              <a:rPr lang="zh-CN" altLang="en-US" sz="3600">
                <a:sym typeface="+mn-ea"/>
              </a:rPr>
              <a:t>，它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不像kill使用进程的PID作为操作对象</a:t>
            </a:r>
            <a:r>
              <a:rPr lang="zh-CN" altLang="en-US" sz="3600">
                <a:sym typeface="+mn-ea"/>
              </a:rPr>
              <a:t>，而是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使用进程名</a:t>
            </a:r>
            <a:r>
              <a:rPr lang="zh-CN" altLang="en-US" sz="3600">
                <a:sym typeface="+mn-ea"/>
              </a:rPr>
              <a:t>。由于在系统中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可能有多个同名进程同时运行</a:t>
            </a:r>
            <a:r>
              <a:rPr lang="zh-CN" altLang="en-US" sz="3600">
                <a:sym typeface="+mn-ea"/>
              </a:rPr>
              <a:t>，因此使用killall终止进程时可能会有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扩大化</a:t>
            </a:r>
            <a:r>
              <a:rPr lang="zh-CN" altLang="en-US" sz="3600">
                <a:sym typeface="+mn-ea"/>
              </a:rPr>
              <a:t>的问题。其用法为：</a:t>
            </a:r>
            <a:endParaRPr lang="zh-CN" altLang="en-US" sz="3600"/>
          </a:p>
          <a:p>
            <a:r>
              <a:rPr lang="zh-CN" altLang="en-US">
                <a:sym typeface="+mn-ea"/>
              </a:rPr>
              <a:t>killall [-e] [-g] [-i] [-q] [-v] [-w] [-V] [-s sig] [--] name …</a:t>
            </a:r>
            <a:endParaRPr lang="zh-CN" altLang="en-US"/>
          </a:p>
          <a:p>
            <a:r>
              <a:rPr lang="zh-CN" altLang="en-US">
                <a:sym typeface="+mn-ea"/>
              </a:rPr>
              <a:t>killall -l</a:t>
            </a:r>
            <a:endParaRPr lang="zh-CN" altLang="en-US"/>
          </a:p>
          <a:p>
            <a:r>
              <a:rPr lang="zh-CN" altLang="en-US">
                <a:sym typeface="+mn-ea"/>
              </a:rPr>
              <a:t>killall发送的信号可以是信号名或值。</a:t>
            </a:r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7CBE0B4F-B5DE-7A9E-415A-42D09279D6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.2  进程管理与调度命令</a:t>
            </a:r>
            <a:endParaRPr lang="zh-CN" altLang="en-US"/>
          </a:p>
        </p:txBody>
      </p:sp>
      <p:sp>
        <p:nvSpPr>
          <p:cNvPr id="49155" name="内容占位符 2">
            <a:extLst>
              <a:ext uri="{FF2B5EF4-FFF2-40B4-BE49-F238E27FC236}">
                <a16:creationId xmlns:a16="http://schemas.microsoft.com/office/drawing/2014/main" id="{5B6A05CE-FA54-C99E-C32C-4832816DE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620713"/>
            <a:ext cx="7772400" cy="969962"/>
          </a:xfrm>
        </p:spPr>
        <p:txBody>
          <a:bodyPr/>
          <a:lstStyle/>
          <a:p>
            <a:r>
              <a:rPr lang="zh-CN" altLang="en-US"/>
              <a:t>2）参数说明</a:t>
            </a:r>
          </a:p>
          <a:p>
            <a:r>
              <a:rPr lang="zh-CN" altLang="en-US"/>
              <a:t>killall命令的部分参数如下表所示。</a:t>
            </a:r>
          </a:p>
        </p:txBody>
      </p:sp>
      <p:graphicFrame>
        <p:nvGraphicFramePr>
          <p:cNvPr id="4" name="表格 -1">
            <a:extLst>
              <a:ext uri="{FF2B5EF4-FFF2-40B4-BE49-F238E27FC236}">
                <a16:creationId xmlns:a16="http://schemas.microsoft.com/office/drawing/2014/main" id="{0BE4CED4-CF18-A716-90E6-F6BD22CA384D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1916113"/>
          <a:ext cx="8856662" cy="4249737"/>
        </p:xfrm>
        <a:graphic>
          <a:graphicData uri="http://schemas.openxmlformats.org/drawingml/2006/table">
            <a:tbl>
              <a:tblPr/>
              <a:tblGrid>
                <a:gridCol w="817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7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3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286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参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意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义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参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意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义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286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进程名。信号接收者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-l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可用信号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286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-i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交互式工作，终止进程前需要用户确认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忽略大小写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286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-g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终止指定所属组内的所有进程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-u user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指定用户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286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-q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安静模式，当不存在指定进程时也不报错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-s sig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指定信号（参见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-l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或表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3-38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286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精确匹配进程名（默认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个字符后不再区分）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-v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报告信号是否发送成功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2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-w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等待所有被杀进程结束。若被杀进程忽略发送信号或处于僵尸状态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，则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会造成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killall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无限等待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C0C6A5E2-3418-E943-13AA-9688B06AF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.2  进程管理与调度命令</a:t>
            </a:r>
            <a:endParaRPr lang="zh-CN" altLang="en-US"/>
          </a:p>
        </p:txBody>
      </p:sp>
      <p:sp>
        <p:nvSpPr>
          <p:cNvPr id="50179" name="内容占位符 2">
            <a:extLst>
              <a:ext uri="{FF2B5EF4-FFF2-40B4-BE49-F238E27FC236}">
                <a16:creationId xmlns:a16="http://schemas.microsoft.com/office/drawing/2014/main" id="{AF4FBBF3-A62A-EF02-8222-A38CDAF2C1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001125" cy="5761037"/>
          </a:xfrm>
        </p:spPr>
        <p:txBody>
          <a:bodyPr/>
          <a:lstStyle/>
          <a:p>
            <a:r>
              <a:rPr lang="zh-CN" altLang="en-US" sz="4000"/>
              <a:t>3）使用示例</a:t>
            </a:r>
          </a:p>
          <a:p>
            <a:r>
              <a:rPr lang="zh-CN" altLang="en-US" sz="4400"/>
              <a:t>#</a:t>
            </a:r>
            <a:r>
              <a:rPr lang="zh-CN" altLang="en-US" sz="4400">
                <a:solidFill>
                  <a:srgbClr val="FF0000"/>
                </a:solidFill>
              </a:rPr>
              <a:t>killall -</a:t>
            </a:r>
            <a:r>
              <a:rPr lang="en-US" altLang="zh-CN" sz="4400">
                <a:solidFill>
                  <a:srgbClr val="FF0000"/>
                </a:solidFill>
              </a:rPr>
              <a:t>l</a:t>
            </a:r>
            <a:r>
              <a:rPr lang="zh-CN" altLang="en-US" sz="4400"/>
              <a:t>			#查询可用信号</a:t>
            </a:r>
          </a:p>
          <a:p>
            <a:r>
              <a:rPr lang="zh-CN" altLang="en-US" sz="4400"/>
              <a:t>#</a:t>
            </a:r>
            <a:r>
              <a:rPr lang="zh-CN" altLang="en-US" sz="4400">
                <a:solidFill>
                  <a:srgbClr val="FF0000"/>
                </a:solidFill>
              </a:rPr>
              <a:t>killall man	</a:t>
            </a:r>
            <a:r>
              <a:rPr lang="zh-CN" altLang="en-US" sz="4400"/>
              <a:t>	#终止所有名为man的进程</a:t>
            </a:r>
          </a:p>
          <a:p>
            <a:r>
              <a:rPr lang="zh-CN" altLang="en-US" sz="4400"/>
              <a:t>#</a:t>
            </a:r>
            <a:r>
              <a:rPr lang="zh-CN" altLang="en-US" sz="4400">
                <a:solidFill>
                  <a:srgbClr val="FF0000"/>
                </a:solidFill>
              </a:rPr>
              <a:t>killall -9 bash</a:t>
            </a:r>
            <a:r>
              <a:rPr lang="zh-CN" altLang="en-US" sz="4400"/>
              <a:t>		#终止所有名为bash的进程，将造成</a:t>
            </a:r>
            <a:r>
              <a:rPr lang="zh-CN" altLang="en-US" sz="4400">
                <a:solidFill>
                  <a:srgbClr val="FF0000"/>
                </a:solidFill>
              </a:rPr>
              <a:t>所有终端用户退出系统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>
            <a:extLst>
              <a:ext uri="{FF2B5EF4-FFF2-40B4-BE49-F238E27FC236}">
                <a16:creationId xmlns:a16="http://schemas.microsoft.com/office/drawing/2014/main" id="{362040F2-B620-298D-9B4F-C8FD49E6F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.2  进程管理与调度命令</a:t>
            </a:r>
            <a:endParaRPr lang="zh-CN" altLang="en-US"/>
          </a:p>
        </p:txBody>
      </p:sp>
      <p:sp>
        <p:nvSpPr>
          <p:cNvPr id="129027" name="内容占位符 2">
            <a:extLst>
              <a:ext uri="{FF2B5EF4-FFF2-40B4-BE49-F238E27FC236}">
                <a16:creationId xmlns:a16="http://schemas.microsoft.com/office/drawing/2014/main" id="{65DD92AA-FD8C-E1E7-D036-A704F630B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620713"/>
            <a:ext cx="8928100" cy="57610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3200" dirty="0"/>
              <a:t>3．显示（确定）使用指定文件或文件系统的进程（fuser）</a:t>
            </a:r>
          </a:p>
          <a:p>
            <a:pPr>
              <a:defRPr/>
            </a:pPr>
            <a:r>
              <a:rPr lang="zh-CN" altLang="en-US" sz="3200" dirty="0"/>
              <a:t>1）功能和用法</a:t>
            </a:r>
          </a:p>
          <a:p>
            <a:pPr>
              <a:defRPr/>
            </a:pPr>
            <a:r>
              <a:rPr lang="zh-CN" altLang="en-US" sz="3200" dirty="0"/>
              <a:t>在系统管理和shell编程时</a:t>
            </a:r>
            <a:r>
              <a:rPr lang="zh-CN" altLang="en-US" sz="3200" dirty="0">
                <a:solidFill>
                  <a:srgbClr val="FF0000"/>
                </a:solidFill>
              </a:rPr>
              <a:t>经常需要显示使用某个设备或文件系统的进程和用户的情况</a:t>
            </a:r>
            <a:r>
              <a:rPr lang="zh-CN" altLang="en-US" sz="3200" dirty="0"/>
              <a:t>，fuser可以胜任此工作，其用法为：</a:t>
            </a:r>
          </a:p>
          <a:p>
            <a:pPr>
              <a:defRPr/>
            </a:pPr>
            <a:r>
              <a:rPr lang="zh-CN" altLang="en-US" sz="3200" dirty="0"/>
              <a:t>fuser [-fuv] [-a|-s] [-4|-6] [-c|-m|-n space] [ -k [-i] [-M] [-w] [-signal] ] name ...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内容占位符 2">
            <a:extLst>
              <a:ext uri="{FF2B5EF4-FFF2-40B4-BE49-F238E27FC236}">
                <a16:creationId xmlns:a16="http://schemas.microsoft.com/office/drawing/2014/main" id="{C430BD79-2799-F15E-2403-1620C25994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44450"/>
            <a:ext cx="7772400" cy="1035050"/>
          </a:xfrm>
        </p:spPr>
        <p:txBody>
          <a:bodyPr/>
          <a:lstStyle/>
          <a:p>
            <a:r>
              <a:rPr lang="zh-CN" altLang="en-US">
                <a:sym typeface="+mn-ea"/>
              </a:rPr>
              <a:t>2）参数说明</a:t>
            </a:r>
            <a:endParaRPr lang="zh-CN" altLang="en-US"/>
          </a:p>
          <a:p>
            <a:r>
              <a:rPr lang="zh-CN" altLang="en-US">
                <a:sym typeface="+mn-ea"/>
              </a:rPr>
              <a:t>fuser命令的部分参数如下表所示。</a:t>
            </a:r>
            <a:endParaRPr lang="zh-CN" altLang="en-US"/>
          </a:p>
        </p:txBody>
      </p:sp>
      <p:graphicFrame>
        <p:nvGraphicFramePr>
          <p:cNvPr id="2" name="表格 -1">
            <a:extLst>
              <a:ext uri="{FF2B5EF4-FFF2-40B4-BE49-F238E27FC236}">
                <a16:creationId xmlns:a16="http://schemas.microsoft.com/office/drawing/2014/main" id="{FC7E0316-4E6E-3249-F0E6-FDFE17A5388F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1268413"/>
          <a:ext cx="8856662" cy="4968875"/>
        </p:xfrm>
        <a:graphic>
          <a:graphicData uri="http://schemas.openxmlformats.org/drawingml/2006/table">
            <a:tbl>
              <a:tblPr/>
              <a:tblGrid>
                <a:gridCol w="1752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3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88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参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明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-k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终止所有使用设备或文件系统的进程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在杀死进程前提示确认，若无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-k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则忽略此参数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-l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所使用的信号名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-m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ame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指定的是一个安装的文件系统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-n namespace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在指定名字空间内搜索，名字空间可是文件、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-s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默默工作，不显示输出信息，但可以使用其返回值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-signal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指定信号，而非默认的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SIGKILL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-u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显示用户信息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-4/-6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只搜索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IP4/IP6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sockets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信息。默认情况下将同时搜索两者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>
            <a:extLst>
              <a:ext uri="{FF2B5EF4-FFF2-40B4-BE49-F238E27FC236}">
                <a16:creationId xmlns:a16="http://schemas.microsoft.com/office/drawing/2014/main" id="{08B2B758-0E37-F88F-FA53-697B99978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.2  进程管理与调度命令</a:t>
            </a:r>
            <a:endParaRPr lang="zh-CN" altLang="en-US"/>
          </a:p>
        </p:txBody>
      </p:sp>
      <p:sp>
        <p:nvSpPr>
          <p:cNvPr id="53251" name="内容占位符 2">
            <a:extLst>
              <a:ext uri="{FF2B5EF4-FFF2-40B4-BE49-F238E27FC236}">
                <a16:creationId xmlns:a16="http://schemas.microsoft.com/office/drawing/2014/main" id="{709A4733-2DC2-47CD-7834-A005F20031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549275"/>
            <a:ext cx="8858250" cy="576103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在fuser的默认输出中，</a:t>
            </a:r>
            <a:r>
              <a:rPr lang="zh-CN" altLang="en-US" sz="3200">
                <a:solidFill>
                  <a:srgbClr val="FF0000"/>
                </a:solidFill>
              </a:rPr>
              <a:t>进程号的后面可以跟有c、e、f、r、m等字符</a:t>
            </a:r>
            <a:r>
              <a:rPr lang="zh-CN" altLang="en-US" sz="3200"/>
              <a:t>，</a:t>
            </a:r>
            <a:r>
              <a:rPr lang="zh-CN" altLang="en-US" sz="3200">
                <a:solidFill>
                  <a:srgbClr val="FF0000"/>
                </a:solidFill>
              </a:rPr>
              <a:t>意义为</a:t>
            </a:r>
            <a:r>
              <a:rPr lang="zh-CN" altLang="en-US" sz="3200"/>
              <a:t>：c—当前目录；e—进程正在执行；f—打开文件（默认情况下不输出此标志）；r—根目录；m—内存映像文件或共享库。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3）应用示例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（1）</a:t>
            </a:r>
            <a:r>
              <a:rPr lang="zh-CN" altLang="en-US" sz="3200">
                <a:solidFill>
                  <a:srgbClr val="FF0000"/>
                </a:solidFill>
              </a:rPr>
              <a:t>杀死所有使用某设备的进程</a:t>
            </a:r>
            <a:r>
              <a:rPr lang="zh-CN" altLang="en-US" sz="3200"/>
              <a:t>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有时需要让使用某设备或文件系统的所有进程终止，例如，要把使用终端/dev/tty5的用户踢出系统，就可采用终止使用该设备所有进程的办法来实现。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#</a:t>
            </a:r>
            <a:r>
              <a:rPr lang="zh-CN" altLang="en-US" sz="3200">
                <a:solidFill>
                  <a:srgbClr val="FF0000"/>
                </a:solidFill>
              </a:rPr>
              <a:t>fuser -k /dev/tty5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>
            <a:extLst>
              <a:ext uri="{FF2B5EF4-FFF2-40B4-BE49-F238E27FC236}">
                <a16:creationId xmlns:a16="http://schemas.microsoft.com/office/drawing/2014/main" id="{2459C3FA-9E43-C5F5-736F-CF2F657258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6.3</a:t>
            </a:r>
            <a:r>
              <a:rPr lang="zh-CN" altLang="en-US">
                <a:sym typeface="+mn-ea"/>
              </a:rPr>
              <a:t>.2  进程管理与调度命令</a:t>
            </a:r>
            <a:endParaRPr lang="zh-CN" altLang="en-US"/>
          </a:p>
        </p:txBody>
      </p:sp>
      <p:sp>
        <p:nvSpPr>
          <p:cNvPr id="54275" name="内容占位符 2">
            <a:extLst>
              <a:ext uri="{FF2B5EF4-FFF2-40B4-BE49-F238E27FC236}">
                <a16:creationId xmlns:a16="http://schemas.microsoft.com/office/drawing/2014/main" id="{A8BC8224-19EE-CE21-A869-CB380B86FA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09075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（2）</a:t>
            </a:r>
            <a:r>
              <a:rPr lang="zh-CN" altLang="en-US" sz="3200">
                <a:solidFill>
                  <a:srgbClr val="FF0000"/>
                </a:solidFill>
              </a:rPr>
              <a:t>显示使用本地网络端口的进程</a:t>
            </a:r>
            <a:r>
              <a:rPr lang="zh-CN" altLang="en-US" sz="3200"/>
              <a:t>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从网络监控的角度来讲，有时需要了解系统中哪个端口正在被哪些进程或用户使用，有多少个进程在使用。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#</a:t>
            </a:r>
            <a:r>
              <a:rPr lang="zh-CN" altLang="en-US" sz="3200">
                <a:solidFill>
                  <a:srgbClr val="FF0000"/>
                </a:solidFill>
              </a:rPr>
              <a:t>fuser telnet/tcp ftp/tcp</a:t>
            </a:r>
            <a:r>
              <a:rPr lang="zh-CN" altLang="en-US" sz="3200"/>
              <a:t>			#监视本地telnet和ftp端口的tcp活动情况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#</a:t>
            </a:r>
            <a:r>
              <a:rPr lang="zh-CN" altLang="en-US" sz="3200">
                <a:solidFill>
                  <a:srgbClr val="FF0000"/>
                </a:solidFill>
              </a:rPr>
              <a:t>fuser -u 23/tcp 21/tcp</a:t>
            </a:r>
            <a:r>
              <a:rPr lang="zh-CN" altLang="en-US" sz="3200"/>
              <a:t>			#监视本地telnet和ftp端口的tcp活动情况，并添加用户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#</a:t>
            </a:r>
            <a:r>
              <a:rPr lang="zh-CN" altLang="en-US" sz="3200">
                <a:solidFill>
                  <a:srgbClr val="FF0000"/>
                </a:solidFill>
              </a:rPr>
              <a:t>fuser -n tcp 21</a:t>
            </a:r>
            <a:r>
              <a:rPr lang="zh-CN" altLang="en-US" sz="3200"/>
              <a:t>				#监视本地ftp端口的tcp活动情况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内容占位符 2">
            <a:extLst>
              <a:ext uri="{FF2B5EF4-FFF2-40B4-BE49-F238E27FC236}">
                <a16:creationId xmlns:a16="http://schemas.microsoft.com/office/drawing/2014/main" id="{5617EA9B-C81C-4E23-24D1-C9D320E56D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68538" y="3068638"/>
            <a:ext cx="4967287" cy="50482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en-US"/>
              <a:t>本章结束。作业见学习通系统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AR PL SungtiL GB"/>
        <a:ea typeface="华文新魏"/>
        <a:cs typeface=""/>
      </a:majorFont>
      <a:minorFont>
        <a:latin typeface="AR PL SungtiL GB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4978</TotalTime>
  <Words>8570</Words>
  <Application>Microsoft Office PowerPoint</Application>
  <PresentationFormat>全屏显示(4:3)</PresentationFormat>
  <Paragraphs>307</Paragraphs>
  <Slides>48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48</vt:i4>
      </vt:variant>
    </vt:vector>
  </HeadingPairs>
  <TitlesOfParts>
    <vt:vector size="55" baseType="lpstr">
      <vt:lpstr>AR PL SungtiL GB</vt:lpstr>
      <vt:lpstr>华文新魏</vt:lpstr>
      <vt:lpstr>宋体</vt:lpstr>
      <vt:lpstr>Arial</vt:lpstr>
      <vt:lpstr>Times New Roman</vt:lpstr>
      <vt:lpstr>默认设计模板</vt:lpstr>
      <vt:lpstr>自定义设计方案</vt:lpstr>
      <vt:lpstr>PowerPoint 演示文稿</vt:lpstr>
      <vt:lpstr>第6章    进程及安全管理</vt:lpstr>
      <vt:lpstr>6.1  程序和进程的概念</vt:lpstr>
      <vt:lpstr>6.1.1  程序、进程、作业和任务</vt:lpstr>
      <vt:lpstr> 6.1.1  程序、进程、作业和任务 </vt:lpstr>
      <vt:lpstr> 6.1.1  程序、进程、作业和任务 </vt:lpstr>
      <vt:lpstr>6.1.2  Linux操作系统的启动</vt:lpstr>
      <vt:lpstr>6.1.2  Linux操作系统的启动</vt:lpstr>
      <vt:lpstr>6.1.3  0#进程与1#进程</vt:lpstr>
      <vt:lpstr> 6.1.3  0#进程与1#进程 </vt:lpstr>
      <vt:lpstr> 6.1.3  0#进程与1#进程 </vt:lpstr>
      <vt:lpstr>6.1.4  进程状态及查询（ps）</vt:lpstr>
      <vt:lpstr>PowerPoint 演示文稿</vt:lpstr>
      <vt:lpstr>6.1.4  进程状态及查询（ps）</vt:lpstr>
      <vt:lpstr> 6.1.4  进程状态及查询（ps） </vt:lpstr>
      <vt:lpstr>6.1.5  三类进程</vt:lpstr>
      <vt:lpstr>6.1.5 三类进程</vt:lpstr>
      <vt:lpstr> 6.1.5  三类进程 </vt:lpstr>
      <vt:lpstr>6.2  登录shell的启动与定制</vt:lpstr>
      <vt:lpstr>6.2.1  用户登录过程与登录shell的启动</vt:lpstr>
      <vt:lpstr> 6.2.1  用户登录过程与登录shell的启动 </vt:lpstr>
      <vt:lpstr> 6.2.1  用户登录过程与登录shell的启动 </vt:lpstr>
      <vt:lpstr>6.2.2  用户登录控制与shell的定制</vt:lpstr>
      <vt:lpstr> 6.2.2  用户登录控制与shell的定制 </vt:lpstr>
      <vt:lpstr>6.2.2  用户登录控制与shell的定制</vt:lpstr>
      <vt:lpstr> 6.2.2  用户登录控制与shell的定制 </vt:lpstr>
      <vt:lpstr> 6.2.2  用户登录控制与shell的定制 </vt:lpstr>
      <vt:lpstr>6. 3进程安全管理</vt:lpstr>
      <vt:lpstr>PowerPoint 演示文稿</vt:lpstr>
      <vt:lpstr>6.3.1  可执行文件的setuid、setgid权限和目录的sticky属性 </vt:lpstr>
      <vt:lpstr>6.3.1  可执行文件的setuid、setgid权限和目录的sticky属性 </vt:lpstr>
      <vt:lpstr>6.3.1  可执行文件的setuid、setgid权限和目录的sticky属性 </vt:lpstr>
      <vt:lpstr>6.3.1  可执行文件的setuid、setgid权限和目录的sticky属性 </vt:lpstr>
      <vt:lpstr>PowerPoint 演示文稿</vt:lpstr>
      <vt:lpstr>6.3.1  可执行文件的setuid、setgid权限和目录的sticky属性 </vt:lpstr>
      <vt:lpstr>6.3.1  可执行文件的setuid、setgid权限和目录的sticky属性 </vt:lpstr>
      <vt:lpstr>6.3.1  可执行文件的setuid、setgid权限和目录的sticky属性 </vt:lpstr>
      <vt:lpstr>PowerPoint 演示文稿</vt:lpstr>
      <vt:lpstr>6.3.1  可执行文件的setuid、setgid权限和目录的sticky属性 </vt:lpstr>
      <vt:lpstr>6.3.2  进程管理与调度命令</vt:lpstr>
      <vt:lpstr>6.3.2  进程管理与调度命令</vt:lpstr>
      <vt:lpstr>6.3.2  进程管理与调度命令</vt:lpstr>
      <vt:lpstr>6.3.2  进程管理与调度命令</vt:lpstr>
      <vt:lpstr>6.3.2  进程管理与调度命令</vt:lpstr>
      <vt:lpstr>PowerPoint 演示文稿</vt:lpstr>
      <vt:lpstr>6.3.2  进程管理与调度命令</vt:lpstr>
      <vt:lpstr>6.3.2  进程管理与调度命令</vt:lpstr>
      <vt:lpstr>PowerPoint 演示文稿</vt:lpstr>
    </vt:vector>
  </TitlesOfParts>
  <Company>黑龙江大学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Linux操作系统</dc:title>
  <dc:creator>青巴图</dc:creator>
  <cp:lastModifiedBy>yude bai</cp:lastModifiedBy>
  <cp:revision>352</cp:revision>
  <dcterms:modified xsi:type="dcterms:W3CDTF">2025-08-11T09:58:24Z</dcterms:modified>
</cp:coreProperties>
</file>