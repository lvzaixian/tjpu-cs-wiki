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28" r:id="rId32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00FF00"/>
    <a:srgbClr val="DDDDDD"/>
    <a:srgbClr val="C0C0C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 autoAdjust="0"/>
  </p:normalViewPr>
  <p:slideViewPr>
    <p:cSldViewPr>
      <p:cViewPr varScale="1">
        <p:scale>
          <a:sx n="110" d="100"/>
          <a:sy n="110" d="100"/>
        </p:scale>
        <p:origin x="924" y="7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0354EC7A-707E-D188-308F-04BBCB3C3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099" name="AutoShape 2">
            <a:extLst>
              <a:ext uri="{FF2B5EF4-FFF2-40B4-BE49-F238E27FC236}">
                <a16:creationId xmlns:a16="http://schemas.microsoft.com/office/drawing/2014/main" id="{103CFC04-74A7-4B2E-5681-AEA7B16DA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0" name="AutoShape 3">
            <a:extLst>
              <a:ext uri="{FF2B5EF4-FFF2-40B4-BE49-F238E27FC236}">
                <a16:creationId xmlns:a16="http://schemas.microsoft.com/office/drawing/2014/main" id="{491641B9-DC9A-6BBA-CD43-07ED96FC9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1" name="AutoShape 4">
            <a:extLst>
              <a:ext uri="{FF2B5EF4-FFF2-40B4-BE49-F238E27FC236}">
                <a16:creationId xmlns:a16="http://schemas.microsoft.com/office/drawing/2014/main" id="{8B307C9C-7A7F-8990-C143-9B8FE704E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2" name="AutoShape 5">
            <a:extLst>
              <a:ext uri="{FF2B5EF4-FFF2-40B4-BE49-F238E27FC236}">
                <a16:creationId xmlns:a16="http://schemas.microsoft.com/office/drawing/2014/main" id="{0D585CE9-E7CE-967A-9D05-8704BF8DC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3" name="AutoShape 6">
            <a:extLst>
              <a:ext uri="{FF2B5EF4-FFF2-40B4-BE49-F238E27FC236}">
                <a16:creationId xmlns:a16="http://schemas.microsoft.com/office/drawing/2014/main" id="{34136AF8-45A1-8F91-0451-91468963D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4" name="AutoShape 7">
            <a:extLst>
              <a:ext uri="{FF2B5EF4-FFF2-40B4-BE49-F238E27FC236}">
                <a16:creationId xmlns:a16="http://schemas.microsoft.com/office/drawing/2014/main" id="{79931AB8-BEEA-143E-420E-F0308CBED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5" name="AutoShape 8">
            <a:extLst>
              <a:ext uri="{FF2B5EF4-FFF2-40B4-BE49-F238E27FC236}">
                <a16:creationId xmlns:a16="http://schemas.microsoft.com/office/drawing/2014/main" id="{F5C9EC7A-DEF5-A8D7-4400-3319E49E9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6" name="AutoShape 9">
            <a:extLst>
              <a:ext uri="{FF2B5EF4-FFF2-40B4-BE49-F238E27FC236}">
                <a16:creationId xmlns:a16="http://schemas.microsoft.com/office/drawing/2014/main" id="{E9645488-0432-CBBA-24C4-79089D0C8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7" name="AutoShape 10">
            <a:extLst>
              <a:ext uri="{FF2B5EF4-FFF2-40B4-BE49-F238E27FC236}">
                <a16:creationId xmlns:a16="http://schemas.microsoft.com/office/drawing/2014/main" id="{8C59BD05-6B9B-AFE3-F19E-A4197BF21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8" name="AutoShape 11">
            <a:extLst>
              <a:ext uri="{FF2B5EF4-FFF2-40B4-BE49-F238E27FC236}">
                <a16:creationId xmlns:a16="http://schemas.microsoft.com/office/drawing/2014/main" id="{FBDE02F0-F4BB-2621-1F1B-1FCB2AE34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9" name="AutoShape 12">
            <a:extLst>
              <a:ext uri="{FF2B5EF4-FFF2-40B4-BE49-F238E27FC236}">
                <a16:creationId xmlns:a16="http://schemas.microsoft.com/office/drawing/2014/main" id="{50F16C54-91DA-F435-CE2E-337EA4D69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10" name="Rectangle 13">
            <a:extLst>
              <a:ext uri="{FF2B5EF4-FFF2-40B4-BE49-F238E27FC236}">
                <a16:creationId xmlns:a16="http://schemas.microsoft.com/office/drawing/2014/main" id="{D2FD8F2C-6F24-E789-F651-A46122905F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03213"/>
            <a:ext cx="1588" cy="58340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35E65A51-35ED-E57A-4E45-70080C1917E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D3DA9F37-EC82-71FA-980E-80E9925685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03213"/>
            <a:ext cx="1588" cy="1587"/>
          </a:xfrm>
          <a:ln/>
        </p:spPr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0563F25-6EE1-F39F-EF99-747AD01E2B1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57362B09-E344-13E2-2550-93D7886A5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8275"/>
            <a:ext cx="9144000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《Linux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系统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》 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天津工业大学大学软件学院  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2022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年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9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月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13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日星期二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7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时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45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分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33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秒</a:t>
            </a:r>
            <a:endParaRPr lang="en-US" altLang="zh-CN" sz="1800" dirty="0">
              <a:solidFill>
                <a:schemeClr val="accent2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246D86F0-67C4-F095-47FC-ACA3AC167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6496050"/>
            <a:ext cx="1730375" cy="3476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第</a:t>
            </a:r>
            <a:fld id="{9CB76137-14EB-41BA-BC9D-B93CF9824189}" type="slidenum">
              <a:rPr lang="zh-CN" altLang="en-US" sz="1800" smtClean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pPr algn="r" eaLnBrk="1" hangingPunct="1">
                <a:defRPr/>
              </a:pPr>
              <a:t>‹#›</a:t>
            </a:fld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页</a:t>
            </a:r>
          </a:p>
        </p:txBody>
      </p:sp>
      <p:sp>
        <p:nvSpPr>
          <p:cNvPr id="265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lnSpc>
                <a:spcPct val="100000"/>
              </a:lnSpc>
              <a:buFont typeface="Times New Roman" panose="02020603050405020304" pitchFamily="18" charset="0"/>
              <a:buNone/>
              <a:defRPr sz="4400" b="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342900" indent="-342900">
              <a:spcBef>
                <a:spcPct val="20000"/>
              </a:spcBef>
              <a:buFont typeface="Times New Roman" panose="02020603050405020304" pitchFamily="18" charset="0"/>
              <a:buBlip>
                <a:blip r:embed="rId2"/>
              </a:buBlip>
              <a:defRPr b="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43483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76725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4778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9179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620713"/>
            <a:ext cx="4027488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7088" y="620713"/>
            <a:ext cx="4029075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4015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52329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8631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74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43667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4732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9082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381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381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1922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620713"/>
            <a:ext cx="4027488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7088" y="620713"/>
            <a:ext cx="4029075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87103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AA6935-E9A5-BA42-A914-F48A550E5C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C23BE0-06E3-5BDE-1286-55600B5170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D0E877-624D-DA23-9A63-FFCCC27E53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FDBCA5-E730-4729-A378-42420838FB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4046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E929AB-AD3B-C017-74A9-2F9687DC4E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6E8A85-C029-9FB0-214E-19FE587556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E0C2CF-7EA8-9236-06D9-9A0F1581DB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CACD95-4F67-4113-9237-27630046E9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368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72EFFC-B125-0401-ED62-E34321FC14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E2529D-DDEF-D21E-5985-593F695495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294684-E0D9-2530-8F4F-9E7D6773F4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32633-6346-4EF4-9AC6-27CB14B7D0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5339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042A3B-E3F3-3121-75FF-C37EF0C523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00407B-041B-A16B-2B0E-D68A4E8D9B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85B0D5-425E-6B96-DDC8-8F19F74F44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55D36-84F5-4E7B-BD9F-1775D22F8AF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9635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FBFE9B-835A-9E47-F3B0-A098627341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ADB80B3-3784-4C94-0185-8036934989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7ADFCCD-4D80-A410-30A2-AF5DBD6D9A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71F13E-C69C-4C17-8D02-0F9008681A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79444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68BA929-ECE2-2F78-3E83-843FD589A9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B5E5042-9B00-4A80-487C-34E1F8244A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E4E5C8-3309-6E77-5652-8BF0FCED27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1B0A7C-7528-45EA-B1E8-2B1E4A0ED5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31432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89431C-5829-25DA-4FF0-0D87A65100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87A96B0-DD33-EF8D-817B-88E2B5EACF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4B2B26-2808-5AF0-7523-F900E679D2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828E9-2E77-4994-B4FD-8F54D35A270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42211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FA73D1-6EB0-23DC-AE45-A02C56602A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71B84-6507-0B62-3F5C-9C6DFC4DBC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9B8EB-31A9-0F91-CE98-34EBBC97FE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80DAB-B5FA-448F-A96D-722BB19D4E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8741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E938CC-C6AE-5218-CAE7-4096894FA5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9D630-6278-3F86-E3F3-217A2ACAA2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9C01D0-1A44-4C26-D22B-D1008236C9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40FD2-7F2D-4BA4-9061-5E790BB868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0720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C4FCBD-C3E3-C5EF-D9CB-15EA338DDC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017346-1DAC-4488-F4CB-E5D6E99757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28AF81-718D-8E66-F965-6B963FCDA6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AAA5C6-FA09-42E9-A02E-34BFC58F7F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46844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C8CFE6-AB74-4A8F-FEC4-2A246AB66A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FD9963-6022-C1C4-DA3F-D834A74AFA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3128FF-64B5-CD6A-7236-D82DB83BBA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C3A1E2-B170-4779-A1D0-DD27647C027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282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6292EF-E4C8-38D9-2331-962B64AC4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请您按击鼠标，编辑标题文的格式。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BBB6684-C270-8AE6-3ED0-12EE4AD47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620713"/>
            <a:ext cx="8208963" cy="576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请您按击鼠标，编辑大纲正文格式。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第三个大纲级</a:t>
            </a:r>
          </a:p>
          <a:p>
            <a:pPr lvl="3"/>
            <a:r>
              <a:rPr lang="zh-CN" altLang="en-GB"/>
              <a:t>第四个大纲级</a:t>
            </a: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0D3E78DB-8D5C-B3F3-2B52-195595028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8275"/>
            <a:ext cx="9144000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《Linux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系统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》 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天津工业大学大学软件学院  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2022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年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9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月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13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日星期二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7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时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45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分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52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秒</a:t>
            </a:r>
            <a:endParaRPr lang="en-US" altLang="zh-CN" sz="1800" dirty="0">
              <a:solidFill>
                <a:schemeClr val="accent2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2005F217-5031-4B79-CEE0-69DA317DA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6496050"/>
            <a:ext cx="1730375" cy="3476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第</a:t>
            </a:r>
            <a:fld id="{5C608EF4-DA68-486C-8EDC-3466970276C6}" type="slidenum">
              <a:rPr lang="zh-CN" altLang="en-US" sz="1800" smtClean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pPr algn="r" eaLnBrk="1" hangingPunct="1">
                <a:defRPr/>
              </a:pPr>
              <a:t>‹#›</a:t>
            </a:fld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页</a:t>
            </a:r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E97D0429-68E4-F7E5-E325-D3D050A43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549275"/>
            <a:ext cx="9144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3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  <p:sldLayoutId id="2147484111" r:id="rId13"/>
  </p:sldLayoutIdLst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2pPr>
      <a:lvl3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3pPr>
      <a:lvl4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4pPr>
      <a:lvl5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450850" indent="-450850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Font typeface="Arial" panose="020B0604020202020204" pitchFamily="34" charset="0"/>
        <a:buBlip>
          <a:blip r:embed="rId16"/>
        </a:buBlip>
        <a:defRPr sz="2800" b="1" kern="1200">
          <a:solidFill>
            <a:srgbClr val="000000"/>
          </a:solidFill>
          <a:latin typeface="+mn-lt"/>
          <a:ea typeface="+mn-ea"/>
          <a:cs typeface="+mn-cs"/>
        </a:defRPr>
      </a:lvl1pPr>
      <a:lvl2pPr marL="987425" indent="-357188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Font typeface="Arial" panose="020B0604020202020204" pitchFamily="34" charset="0"/>
        <a:buBlip>
          <a:blip r:embed="rId17"/>
        </a:buBlip>
        <a:defRPr sz="2400" b="1" kern="1200">
          <a:solidFill>
            <a:srgbClr val="000000"/>
          </a:solidFill>
          <a:latin typeface="+mn-lt"/>
          <a:ea typeface="+mn-ea"/>
          <a:cs typeface="+mn-cs"/>
        </a:defRPr>
      </a:lvl2pPr>
      <a:lvl3pPr marL="1609725" indent="-357188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SzPct val="125000"/>
        <a:buFont typeface="Arial" panose="020B0604020202020204" pitchFamily="34" charset="0"/>
        <a:buBlip>
          <a:blip r:embed="rId18"/>
        </a:buBlip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3pPr>
      <a:lvl4pPr marL="2157413" indent="-368300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SzPct val="100000"/>
        <a:buFont typeface="Arial" panose="020B0604020202020204" pitchFamily="34" charset="0"/>
        <a:buBlip>
          <a:blip r:embed="rId19"/>
        </a:buBlip>
        <a:defRPr sz="2000" b="1" kern="120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4pPr>
      <a:lvl5pPr marL="2565400" indent="-228600" algn="l" defTabSz="449263" rtl="0" eaLnBrk="0" fontAlgn="base" hangingPunct="0">
        <a:spcBef>
          <a:spcPts val="338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»"/>
        <a:defRPr sz="2000" b="1" kern="120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0B180B0-9F9C-B455-31C9-75E343DB3E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87FF557-4C98-216C-B0C6-14DB1F0B1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14372" name="Rectangle 4">
            <a:extLst>
              <a:ext uri="{FF2B5EF4-FFF2-40B4-BE49-F238E27FC236}">
                <a16:creationId xmlns:a16="http://schemas.microsoft.com/office/drawing/2014/main" id="{06AA6E02-6E90-EA9C-AB00-2823FCB4A3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4373" name="Rectangle 5">
            <a:extLst>
              <a:ext uri="{FF2B5EF4-FFF2-40B4-BE49-F238E27FC236}">
                <a16:creationId xmlns:a16="http://schemas.microsoft.com/office/drawing/2014/main" id="{B2AB7F15-634A-8CBC-7B06-5E682545AB9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4374" name="Rectangle 6">
            <a:extLst>
              <a:ext uri="{FF2B5EF4-FFF2-40B4-BE49-F238E27FC236}">
                <a16:creationId xmlns:a16="http://schemas.microsoft.com/office/drawing/2014/main" id="{4EEBEE07-BD86-3C5D-DD05-92F8EE68115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473CD1D-3C35-4E55-ADF6-49075F86DD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  <p:sldLayoutId id="2147484118" r:id="rId7"/>
    <p:sldLayoutId id="2147484119" r:id="rId8"/>
    <p:sldLayoutId id="2147484120" r:id="rId9"/>
    <p:sldLayoutId id="2147484121" r:id="rId10"/>
    <p:sldLayoutId id="214748412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152FD3C7-1B70-B2A3-17E1-CE6B929B6BE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4213" y="3716338"/>
            <a:ext cx="7848600" cy="2592387"/>
          </a:xfrm>
        </p:spPr>
        <p:txBody>
          <a:bodyPr/>
          <a:lstStyle/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天津工业大学计算机科学与技术学院</a:t>
            </a: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张桂玲  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Email:gui_ling_zhang@163.com</a:t>
            </a: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2022.9</a:t>
            </a:r>
          </a:p>
        </p:txBody>
      </p:sp>
      <p:sp>
        <p:nvSpPr>
          <p:cNvPr id="3079" name="Rectangle 7" descr="花束">
            <a:extLst>
              <a:ext uri="{FF2B5EF4-FFF2-40B4-BE49-F238E27FC236}">
                <a16:creationId xmlns:a16="http://schemas.microsoft.com/office/drawing/2014/main" id="{DA9DB28C-0C81-1995-8EE9-0B7B4D364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196975"/>
            <a:ext cx="7632700" cy="158432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>
            <a:lvl1pPr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4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5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6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7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buNone/>
              <a:defRPr/>
            </a:pPr>
            <a:r>
              <a:rPr lang="en-US" altLang="zh-CN" sz="600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Linux</a:t>
            </a:r>
            <a:r>
              <a:rPr lang="zh-CN" altLang="en-US" sz="600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系统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2">
            <a:extLst>
              <a:ext uri="{FF2B5EF4-FFF2-40B4-BE49-F238E27FC236}">
                <a16:creationId xmlns:a16="http://schemas.microsoft.com/office/drawing/2014/main" id="{FE513DD1-C616-FF72-81AC-4333F7790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8" y="0"/>
            <a:ext cx="87090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第</a:t>
            </a:r>
            <a:r>
              <a:rPr lang="en-US" altLang="zh-CN" sz="3600"/>
              <a:t>9</a:t>
            </a:r>
            <a:r>
              <a:rPr lang="zh-CN" altLang="en-US" sz="3600"/>
              <a:t>章（教材</a:t>
            </a:r>
            <a:r>
              <a:rPr lang="en-US" altLang="zh-CN" sz="3600"/>
              <a:t>15</a:t>
            </a:r>
            <a:r>
              <a:rPr lang="zh-CN" altLang="en-US" sz="3600"/>
              <a:t>章）  </a:t>
            </a:r>
            <a:r>
              <a:rPr lang="en-US" altLang="zh-CN" sz="3600"/>
              <a:t>Web</a:t>
            </a:r>
            <a:r>
              <a:rPr lang="zh-CN" altLang="en-US" sz="3600"/>
              <a:t>服务器</a:t>
            </a:r>
            <a:r>
              <a:rPr lang="en-US" altLang="zh-CN" sz="3600"/>
              <a:t>Apache</a:t>
            </a:r>
            <a:endParaRPr lang="zh-CN" altLang="en-US" sz="3600"/>
          </a:p>
        </p:txBody>
      </p:sp>
      <p:sp>
        <p:nvSpPr>
          <p:cNvPr id="7171" name="标题 1">
            <a:extLst>
              <a:ext uri="{FF2B5EF4-FFF2-40B4-BE49-F238E27FC236}">
                <a16:creationId xmlns:a16="http://schemas.microsoft.com/office/drawing/2014/main" id="{A66CE40F-1FD4-38E0-8D74-A9AAD8345D96}"/>
              </a:ext>
            </a:extLst>
          </p:cNvPr>
          <p:cNvSpPr txBox="1">
            <a:spLocks/>
          </p:cNvSpPr>
          <p:nvPr/>
        </p:nvSpPr>
        <p:spPr bwMode="auto">
          <a:xfrm>
            <a:off x="250825" y="681038"/>
            <a:ext cx="77724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>
                <a:ea typeface="华文新魏" panose="02010800040101010101" pitchFamily="2" charset="-122"/>
              </a:rPr>
              <a:t>本章内容</a:t>
            </a:r>
          </a:p>
        </p:txBody>
      </p:sp>
      <p:sp>
        <p:nvSpPr>
          <p:cNvPr id="7172" name="内容占位符 2">
            <a:extLst>
              <a:ext uri="{FF2B5EF4-FFF2-40B4-BE49-F238E27FC236}">
                <a16:creationId xmlns:a16="http://schemas.microsoft.com/office/drawing/2014/main" id="{50F2F466-1B9F-CD97-6FF4-63AA77EBE3DB}"/>
              </a:ext>
            </a:extLst>
          </p:cNvPr>
          <p:cNvSpPr txBox="1">
            <a:spLocks/>
          </p:cNvSpPr>
          <p:nvPr/>
        </p:nvSpPr>
        <p:spPr bwMode="auto">
          <a:xfrm>
            <a:off x="17463" y="1196975"/>
            <a:ext cx="9109075" cy="532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0850" indent="-45085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15.1  Apache</a:t>
            </a:r>
            <a:r>
              <a:rPr lang="zh-CN" altLang="en-US" sz="4000"/>
              <a:t>概述</a:t>
            </a:r>
            <a:endParaRPr lang="en-US" altLang="zh-CN" sz="4000"/>
          </a:p>
          <a:p>
            <a:r>
              <a:rPr lang="en-US" altLang="zh-CN" sz="4000"/>
              <a:t>15.2  Apache</a:t>
            </a:r>
            <a:r>
              <a:rPr lang="zh-CN" altLang="en-US" sz="4000"/>
              <a:t>的安装和启动</a:t>
            </a:r>
            <a:endParaRPr lang="en-US" altLang="zh-CN" sz="4000"/>
          </a:p>
          <a:p>
            <a:r>
              <a:rPr lang="en-US" altLang="zh-CN" sz="4000"/>
              <a:t>15.3  Apache</a:t>
            </a:r>
            <a:r>
              <a:rPr lang="zh-CN" altLang="en-US" sz="4000"/>
              <a:t>的配置文件和配置指令</a:t>
            </a:r>
            <a:endParaRPr lang="en-US" altLang="zh-CN" sz="4000"/>
          </a:p>
          <a:p>
            <a:r>
              <a:rPr lang="en-US" altLang="zh-CN" sz="4000"/>
              <a:t>15.4  Web</a:t>
            </a:r>
            <a:r>
              <a:rPr lang="zh-CN" altLang="en-US" sz="4000"/>
              <a:t>服务器配置实例</a:t>
            </a:r>
            <a:endParaRPr lang="en-US" altLang="zh-CN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5CBB513-4AAE-A4CA-18F5-2C76A4E74305}"/>
              </a:ext>
            </a:extLst>
          </p:cNvPr>
          <p:cNvSpPr txBox="1">
            <a:spLocks/>
          </p:cNvSpPr>
          <p:nvPr/>
        </p:nvSpPr>
        <p:spPr bwMode="auto">
          <a:xfrm>
            <a:off x="-36513" y="0"/>
            <a:ext cx="9001126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600">
                <a:ea typeface="华文新魏" panose="02010800040101010101" pitchFamily="2" charset="-122"/>
              </a:rPr>
              <a:t>15.1  Apache</a:t>
            </a:r>
            <a:r>
              <a:rPr lang="zh-CN" altLang="en-US" sz="3600">
                <a:ea typeface="华文新魏" panose="02010800040101010101" pitchFamily="2" charset="-122"/>
              </a:rPr>
              <a:t>概述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F14FE961-8408-7D23-8901-C9C6453DE1C8}"/>
              </a:ext>
            </a:extLst>
          </p:cNvPr>
          <p:cNvSpPr txBox="1">
            <a:spLocks/>
          </p:cNvSpPr>
          <p:nvPr/>
        </p:nvSpPr>
        <p:spPr bwMode="auto">
          <a:xfrm>
            <a:off x="-6350" y="658813"/>
            <a:ext cx="9001125" cy="494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0850" indent="-45085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Apache</a:t>
            </a:r>
            <a:r>
              <a:rPr lang="zh-CN" altLang="en-US" sz="4000"/>
              <a:t>是世界使用排名第一的</a:t>
            </a:r>
            <a:r>
              <a:rPr lang="en-US" altLang="zh-CN" sz="4000"/>
              <a:t>Web</a:t>
            </a:r>
            <a:r>
              <a:rPr lang="zh-CN" altLang="en-US" sz="4000"/>
              <a:t>服务器软件，是一款开源软件，可以运行在几乎所有广泛使用的计算机平台上。</a:t>
            </a:r>
            <a:endParaRPr lang="en-US" altLang="zh-CN" sz="4000"/>
          </a:p>
          <a:p>
            <a:r>
              <a:rPr lang="en-US" altLang="zh-CN" sz="4000"/>
              <a:t>Apache</a:t>
            </a:r>
            <a:r>
              <a:rPr lang="zh-CN" altLang="en-US" sz="4000"/>
              <a:t>采用了模块化的体系结构，不仅提供了基本的</a:t>
            </a:r>
            <a:r>
              <a:rPr lang="en-US" altLang="zh-CN" sz="4000"/>
              <a:t>Web</a:t>
            </a:r>
            <a:r>
              <a:rPr lang="zh-CN" altLang="en-US" sz="4000"/>
              <a:t>服务，而且还具有极强的可扩展性。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3F60C7AC-536A-5D2F-060F-F55B02C23BAF}"/>
              </a:ext>
            </a:extLst>
          </p:cNvPr>
          <p:cNvSpPr txBox="1">
            <a:spLocks/>
          </p:cNvSpPr>
          <p:nvPr/>
        </p:nvSpPr>
        <p:spPr bwMode="auto">
          <a:xfrm>
            <a:off x="0" y="-171450"/>
            <a:ext cx="8928100" cy="87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4800">
                <a:ea typeface="华文新魏" panose="02010800040101010101" pitchFamily="2" charset="-122"/>
              </a:rPr>
              <a:t>15.2  </a:t>
            </a:r>
            <a:r>
              <a:rPr lang="en-US" altLang="zh-CN" sz="4800">
                <a:solidFill>
                  <a:srgbClr val="FF0000"/>
                </a:solidFill>
                <a:ea typeface="华文新魏" panose="02010800040101010101" pitchFamily="2" charset="-122"/>
              </a:rPr>
              <a:t>Apache</a:t>
            </a:r>
            <a:r>
              <a:rPr lang="zh-CN" altLang="en-US" sz="4800">
                <a:solidFill>
                  <a:srgbClr val="FF0000"/>
                </a:solidFill>
                <a:ea typeface="华文新魏" panose="02010800040101010101" pitchFamily="2" charset="-122"/>
              </a:rPr>
              <a:t>的安装和启动</a:t>
            </a: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1839B2FF-CE62-75F5-5E97-ADC65E50A0BD}"/>
              </a:ext>
            </a:extLst>
          </p:cNvPr>
          <p:cNvSpPr txBox="1">
            <a:spLocks/>
          </p:cNvSpPr>
          <p:nvPr/>
        </p:nvSpPr>
        <p:spPr bwMode="auto">
          <a:xfrm>
            <a:off x="107950" y="703263"/>
            <a:ext cx="8928100" cy="539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0850" indent="-45085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800"/>
              <a:t>15.2.1  Apache</a:t>
            </a:r>
            <a:r>
              <a:rPr lang="zh-CN" altLang="en-US" sz="4800"/>
              <a:t>的安装</a:t>
            </a:r>
            <a:endParaRPr lang="en-US" altLang="zh-CN" sz="4800"/>
          </a:p>
          <a:p>
            <a:r>
              <a:rPr lang="en-US" altLang="zh-CN" sz="4800"/>
              <a:t>15.2.2  Apache</a:t>
            </a:r>
            <a:r>
              <a:rPr lang="zh-CN" altLang="en-US" sz="4800"/>
              <a:t>的启动管理状态查询</a:t>
            </a:r>
            <a:endParaRPr lang="en-US" altLang="zh-CN" sz="4800"/>
          </a:p>
          <a:p>
            <a:r>
              <a:rPr lang="en-US" altLang="zh-CN" sz="4800"/>
              <a:t>15.2.3  Apache</a:t>
            </a:r>
            <a:r>
              <a:rPr lang="zh-CN" altLang="en-US" sz="4800"/>
              <a:t>服务的测试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0AECC959-55FE-E85B-65FF-A88A21440B1E}"/>
              </a:ext>
            </a:extLst>
          </p:cNvPr>
          <p:cNvSpPr txBox="1">
            <a:spLocks/>
          </p:cNvSpPr>
          <p:nvPr/>
        </p:nvSpPr>
        <p:spPr bwMode="auto">
          <a:xfrm>
            <a:off x="179388" y="44450"/>
            <a:ext cx="77724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600">
                <a:ea typeface="华文新魏" panose="02010800040101010101" pitchFamily="2" charset="-122"/>
                <a:sym typeface="+mn-ea"/>
              </a:rPr>
              <a:t>15.2.1  Apache</a:t>
            </a:r>
            <a:r>
              <a:rPr lang="zh-CN" altLang="en-US" sz="3600">
                <a:ea typeface="华文新魏" panose="02010800040101010101" pitchFamily="2" charset="-122"/>
                <a:sym typeface="+mn-ea"/>
              </a:rPr>
              <a:t>的安装</a:t>
            </a:r>
            <a:endParaRPr lang="zh-CN" altLang="en-US" sz="3600">
              <a:ea typeface="华文新魏" panose="02010800040101010101" pitchFamily="2" charset="-122"/>
            </a:endParaRPr>
          </a:p>
        </p:txBody>
      </p:sp>
      <p:sp>
        <p:nvSpPr>
          <p:cNvPr id="10243" name="标题 1">
            <a:extLst>
              <a:ext uri="{FF2B5EF4-FFF2-40B4-BE49-F238E27FC236}">
                <a16:creationId xmlns:a16="http://schemas.microsoft.com/office/drawing/2014/main" id="{52AE7FCF-B483-8BC0-0ED2-94D18A951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609600"/>
            <a:ext cx="9001125" cy="658813"/>
          </a:xfrm>
        </p:spPr>
        <p:txBody>
          <a:bodyPr/>
          <a:lstStyle/>
          <a:p>
            <a:r>
              <a:rPr lang="zh-CN" altLang="en-US" sz="4000"/>
              <a:t>红帽系统的安装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4B380E2-8602-24C4-838B-A64E6E67E75A}"/>
              </a:ext>
            </a:extLst>
          </p:cNvPr>
          <p:cNvSpPr txBox="1">
            <a:spLocks/>
          </p:cNvSpPr>
          <p:nvPr/>
        </p:nvSpPr>
        <p:spPr>
          <a:xfrm>
            <a:off x="34925" y="1484313"/>
            <a:ext cx="9001125" cy="4611687"/>
          </a:xfrm>
          <a:prstGeom prst="rect">
            <a:avLst/>
          </a:prstGeom>
        </p:spPr>
        <p:txBody>
          <a:bodyPr/>
          <a:lstStyle>
            <a:lvl1pPr marL="450850" indent="-450850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87425" indent="-357188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609725" indent="-357188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2157413" indent="-368300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565400" indent="-228600" algn="l" defTabSz="449263" rtl="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4000" dirty="0">
                <a:solidFill>
                  <a:srgbClr val="FF0000"/>
                </a:solidFill>
                <a:sym typeface="+mn-ea"/>
              </a:rPr>
              <a:t>检查是否已经安装</a:t>
            </a:r>
            <a:endParaRPr lang="en-US" altLang="zh-CN" sz="4000" dirty="0">
              <a:solidFill>
                <a:srgbClr val="FF0000"/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ym typeface="+mn-ea"/>
              </a:rPr>
              <a:t>	# rpm -</a:t>
            </a:r>
            <a:r>
              <a:rPr lang="en-US" altLang="zh-CN" sz="4000" dirty="0" err="1">
                <a:sym typeface="+mn-ea"/>
              </a:rPr>
              <a:t>qa</a:t>
            </a:r>
            <a:r>
              <a:rPr lang="en-US" altLang="zh-CN" sz="4000" dirty="0">
                <a:sym typeface="+mn-ea"/>
              </a:rPr>
              <a:t> | grep </a:t>
            </a:r>
            <a:r>
              <a:rPr lang="en-US" altLang="zh-CN" sz="4000" dirty="0" err="1">
                <a:sym typeface="+mn-ea"/>
              </a:rPr>
              <a:t>httpd</a:t>
            </a:r>
            <a:r>
              <a:rPr lang="en-US" altLang="zh-CN" sz="4000" dirty="0">
                <a:sym typeface="+mn-ea"/>
              </a:rPr>
              <a:t> 	#</a:t>
            </a:r>
            <a:r>
              <a:rPr lang="zh-CN" altLang="en-US" sz="4000" dirty="0">
                <a:sym typeface="+mn-ea"/>
              </a:rPr>
              <a:t>方法</a:t>
            </a:r>
            <a:r>
              <a:rPr lang="en-US" altLang="zh-CN" sz="4000" dirty="0">
                <a:sym typeface="+mn-ea"/>
              </a:rPr>
              <a:t>1</a:t>
            </a:r>
            <a:endParaRPr lang="en-US" altLang="zh-CN" sz="4000" dirty="0"/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ym typeface="+mn-ea"/>
              </a:rPr>
              <a:t>	# </a:t>
            </a:r>
            <a:r>
              <a:rPr lang="en-US" altLang="zh-CN" sz="4000" dirty="0" err="1">
                <a:sym typeface="+mn-ea"/>
              </a:rPr>
              <a:t>dnf</a:t>
            </a:r>
            <a:r>
              <a:rPr lang="en-US" altLang="zh-CN" sz="4000" dirty="0">
                <a:sym typeface="+mn-ea"/>
              </a:rPr>
              <a:t>  list </a:t>
            </a:r>
            <a:r>
              <a:rPr lang="en-US" altLang="zh-CN" sz="4000" dirty="0" err="1">
                <a:sym typeface="+mn-ea"/>
              </a:rPr>
              <a:t>httpd</a:t>
            </a:r>
            <a:r>
              <a:rPr lang="en-US" altLang="zh-CN" sz="4000" dirty="0">
                <a:sym typeface="+mn-ea"/>
              </a:rPr>
              <a:t>		#</a:t>
            </a:r>
            <a:r>
              <a:rPr lang="zh-CN" altLang="en-US" sz="4000" dirty="0">
                <a:sym typeface="+mn-ea"/>
              </a:rPr>
              <a:t>方法</a:t>
            </a:r>
            <a:r>
              <a:rPr lang="en-US" altLang="zh-CN" sz="4000" dirty="0">
                <a:sym typeface="+mn-ea"/>
              </a:rPr>
              <a:t>2</a:t>
            </a:r>
            <a:endParaRPr lang="en-US" altLang="zh-CN" sz="4000" dirty="0"/>
          </a:p>
          <a:p>
            <a:pPr>
              <a:defRPr/>
            </a:pPr>
            <a:r>
              <a:rPr lang="zh-CN" altLang="en-US" sz="4000" dirty="0">
                <a:solidFill>
                  <a:srgbClr val="FF0000"/>
                </a:solidFill>
                <a:sym typeface="+mn-ea"/>
              </a:rPr>
              <a:t>安装</a:t>
            </a:r>
            <a:r>
              <a:rPr lang="en-US" altLang="zh-CN" sz="4000" dirty="0">
                <a:solidFill>
                  <a:srgbClr val="FF0000"/>
                </a:solidFill>
                <a:sym typeface="+mn-ea"/>
              </a:rPr>
              <a:t>Apache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ym typeface="+mn-ea"/>
              </a:rPr>
              <a:t>	# </a:t>
            </a:r>
            <a:r>
              <a:rPr lang="en-US" altLang="zh-CN" sz="4000" dirty="0" err="1">
                <a:sym typeface="+mn-ea"/>
              </a:rPr>
              <a:t>dnf</a:t>
            </a:r>
            <a:r>
              <a:rPr lang="en-US" altLang="zh-CN" sz="4000" dirty="0">
                <a:sym typeface="+mn-ea"/>
              </a:rPr>
              <a:t> install </a:t>
            </a:r>
            <a:r>
              <a:rPr lang="en-US" altLang="zh-CN" sz="4000" dirty="0" err="1">
                <a:sym typeface="+mn-ea"/>
              </a:rPr>
              <a:t>httpd</a:t>
            </a:r>
            <a:r>
              <a:rPr lang="en-US" altLang="zh-CN" sz="4000" dirty="0">
                <a:sym typeface="+mn-ea"/>
              </a:rPr>
              <a:t>	#</a:t>
            </a:r>
            <a:r>
              <a:rPr lang="zh-CN" altLang="zh-CN" sz="4000" dirty="0">
                <a:sym typeface="+mn-ea"/>
              </a:rPr>
              <a:t>网络</a:t>
            </a:r>
            <a:r>
              <a:rPr lang="zh-CN" altLang="en-US" sz="4000" dirty="0">
                <a:sym typeface="+mn-ea"/>
              </a:rPr>
              <a:t>安装  或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ym typeface="+mn-ea"/>
              </a:rPr>
              <a:t>	# yum install </a:t>
            </a:r>
            <a:r>
              <a:rPr lang="en-US" altLang="zh-CN" sz="4000" dirty="0" err="1">
                <a:sym typeface="+mn-ea"/>
              </a:rPr>
              <a:t>httpd</a:t>
            </a:r>
            <a:r>
              <a:rPr lang="en-US" altLang="zh-CN" sz="4000" dirty="0">
                <a:sym typeface="+mn-ea"/>
              </a:rPr>
              <a:t>	</a:t>
            </a:r>
            <a:endParaRPr lang="zh-CN" altLang="en-US" sz="4000" dirty="0">
              <a:sym typeface="+mn-ea"/>
            </a:endParaRPr>
          </a:p>
          <a:p>
            <a:pPr>
              <a:defRPr/>
            </a:pPr>
            <a:endParaRPr lang="zh-CN" alt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01080BF4-B5B3-86F8-A16C-4D3CF64E3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-315913"/>
            <a:ext cx="8856663" cy="1203326"/>
          </a:xfrm>
        </p:spPr>
        <p:txBody>
          <a:bodyPr/>
          <a:lstStyle/>
          <a:p>
            <a:r>
              <a:rPr lang="en-US" altLang="zh-CN" sz="4000">
                <a:sym typeface="+mn-ea"/>
              </a:rPr>
              <a:t>15.2.2  </a:t>
            </a:r>
            <a:r>
              <a:rPr lang="zh-CN" altLang="zh-CN" sz="4000">
                <a:sym typeface="+mn-ea"/>
              </a:rPr>
              <a:t>Apache服务器启动管理</a:t>
            </a:r>
            <a:endParaRPr lang="zh-CN" altLang="en-US" sz="400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9679597-A466-1D00-4943-233A12C5ECBD}"/>
              </a:ext>
            </a:extLst>
          </p:cNvPr>
          <p:cNvSpPr txBox="1">
            <a:spLocks/>
          </p:cNvSpPr>
          <p:nvPr/>
        </p:nvSpPr>
        <p:spPr>
          <a:xfrm>
            <a:off x="98425" y="765175"/>
            <a:ext cx="9045575" cy="5256213"/>
          </a:xfrm>
          <a:prstGeom prst="rect">
            <a:avLst/>
          </a:prstGeom>
        </p:spPr>
        <p:txBody>
          <a:bodyPr/>
          <a:lstStyle>
            <a:lvl1pPr marL="450850" indent="-450850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87425" indent="-357188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609725" indent="-357188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2157413" indent="-368300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565400" indent="-228600" algn="l" defTabSz="449263" rtl="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1．</a:t>
            </a:r>
            <a:r>
              <a:rPr lang="zh-CN" altLang="en-US" sz="4000" dirty="0">
                <a:solidFill>
                  <a:srgbClr val="FF0000"/>
                </a:solidFill>
              </a:rPr>
              <a:t>运行状态检查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4000" dirty="0"/>
              <a:t>	</a:t>
            </a:r>
            <a:r>
              <a:rPr lang="zh-CN" altLang="en-US" sz="4000" dirty="0"/>
              <a:t>#systemctl status httpd	#红帽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4000" dirty="0"/>
              <a:t>	</a:t>
            </a:r>
            <a:r>
              <a:rPr lang="zh-CN" altLang="en-US" sz="4000" dirty="0"/>
              <a:t>#systemctl status apache2	#Ubuntu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4000" dirty="0"/>
              <a:t>	</a:t>
            </a:r>
            <a:r>
              <a:rPr lang="zh-CN" altLang="en-US" sz="4000" dirty="0"/>
              <a:t>#apachectl status		#所有系统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2．</a:t>
            </a:r>
            <a:r>
              <a:rPr lang="zh-CN" altLang="en-US" sz="4000" dirty="0">
                <a:solidFill>
                  <a:srgbClr val="FF0000"/>
                </a:solidFill>
              </a:rPr>
              <a:t>设置开机时自启动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4000" dirty="0"/>
              <a:t>	</a:t>
            </a:r>
            <a:r>
              <a:rPr lang="zh-CN" altLang="en-US" sz="4000" dirty="0"/>
              <a:t>#systemctl enable httpd	#红帽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#systemctl enable apache2 #Ubuntu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CFDBBC82-7902-D895-54B8-BAEB05F7A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42888"/>
            <a:ext cx="9144000" cy="1008063"/>
          </a:xfrm>
        </p:spPr>
        <p:txBody>
          <a:bodyPr/>
          <a:lstStyle/>
          <a:p>
            <a:r>
              <a:rPr lang="en-US" altLang="zh-CN" sz="3200">
                <a:sym typeface="+mn-ea"/>
              </a:rPr>
              <a:t>15.2.2  </a:t>
            </a:r>
            <a:r>
              <a:rPr lang="zh-CN" altLang="zh-CN" sz="3200">
                <a:sym typeface="+mn-ea"/>
              </a:rPr>
              <a:t>Apache服务器启动管理</a:t>
            </a:r>
            <a:endParaRPr lang="zh-CN" altLang="en-US" sz="320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CB34B5A-6372-A87C-F51A-97E54680F7A0}"/>
              </a:ext>
            </a:extLst>
          </p:cNvPr>
          <p:cNvSpPr txBox="1">
            <a:spLocks/>
          </p:cNvSpPr>
          <p:nvPr/>
        </p:nvSpPr>
        <p:spPr>
          <a:xfrm>
            <a:off x="17463" y="549275"/>
            <a:ext cx="9144000" cy="5759450"/>
          </a:xfrm>
          <a:prstGeom prst="rect">
            <a:avLst/>
          </a:prstGeom>
        </p:spPr>
        <p:txBody>
          <a:bodyPr/>
          <a:lstStyle>
            <a:lvl1pPr marL="450850" indent="-450850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87425" indent="-357188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609725" indent="-357188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2157413" indent="-368300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565400" indent="-228600" algn="l" defTabSz="449263" rtl="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3．</a:t>
            </a:r>
            <a:r>
              <a:rPr lang="zh-CN" altLang="en-US" sz="3200" dirty="0">
                <a:solidFill>
                  <a:srgbClr val="FF0000"/>
                </a:solidFill>
              </a:rPr>
              <a:t>立即启动、停止、重启动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sym typeface="+mn-ea"/>
              </a:rPr>
              <a:t># </a:t>
            </a:r>
            <a:r>
              <a:rPr lang="zh-CN" altLang="en-US" sz="3200" dirty="0"/>
              <a:t>systemctl start|stop|restart httpd	#红帽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sym typeface="+mn-ea"/>
              </a:rPr>
              <a:t># </a:t>
            </a:r>
            <a:r>
              <a:rPr lang="zh-CN" altLang="en-US" sz="3200" dirty="0"/>
              <a:t>systemctl start|stop|restart apache2 #Ubuntu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sym typeface="+mn-ea"/>
              </a:rPr>
              <a:t># </a:t>
            </a:r>
            <a:r>
              <a:rPr lang="zh-CN" altLang="en-US" sz="3200" dirty="0"/>
              <a:t>apachectl start | stop | restart	#所有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4．检查配置文件语法是否正确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200" dirty="0"/>
              <a:t>	</a:t>
            </a:r>
            <a:r>
              <a:rPr lang="zh-CN" altLang="en-US" sz="3200" dirty="0"/>
              <a:t># apachectl  configtest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200" dirty="0"/>
              <a:t>	</a:t>
            </a:r>
            <a:r>
              <a:rPr lang="zh-CN" altLang="en-US" sz="3200" dirty="0"/>
              <a:t># apachectl  status</a:t>
            </a:r>
            <a:endParaRPr lang="en-US" altLang="zh-CN" sz="32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5．查看已经被编译到Apache中的模块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200" dirty="0"/>
              <a:t>	</a:t>
            </a:r>
            <a:r>
              <a:rPr lang="zh-CN" altLang="en-US" sz="3200" dirty="0"/>
              <a:t>#httpd </a:t>
            </a:r>
            <a:r>
              <a:rPr lang="zh-CN" altLang="en-US" sz="3200" dirty="0">
                <a:latin typeface="Times New Roman" panose="02020603050405020304" charset="0"/>
              </a:rPr>
              <a:t>-</a:t>
            </a:r>
            <a:r>
              <a:rPr lang="en-US" altLang="zh-CN" sz="3200" dirty="0">
                <a:latin typeface="Times New Roman" panose="02020603050405020304" charset="0"/>
              </a:rPr>
              <a:t>l</a:t>
            </a:r>
            <a:r>
              <a:rPr lang="zh-CN" altLang="en-US" sz="3200" dirty="0"/>
              <a:t>			#红帽系统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C49F62FD-9C43-F580-4551-E35FC13A5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-171450"/>
            <a:ext cx="9072563" cy="1011238"/>
          </a:xfrm>
        </p:spPr>
        <p:txBody>
          <a:bodyPr/>
          <a:lstStyle/>
          <a:p>
            <a:r>
              <a:rPr lang="en-US" altLang="zh-CN" sz="3200"/>
              <a:t>15.2.3  Apache</a:t>
            </a:r>
            <a:r>
              <a:rPr lang="zh-CN" altLang="en-US" sz="3200"/>
              <a:t>服务的测试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A5A6339-E51B-7009-E98F-6D7F5414E7DA}"/>
              </a:ext>
            </a:extLst>
          </p:cNvPr>
          <p:cNvSpPr txBox="1">
            <a:spLocks/>
          </p:cNvSpPr>
          <p:nvPr/>
        </p:nvSpPr>
        <p:spPr>
          <a:xfrm>
            <a:off x="71438" y="620713"/>
            <a:ext cx="9072562" cy="5832475"/>
          </a:xfrm>
          <a:prstGeom prst="rect">
            <a:avLst/>
          </a:prstGeom>
        </p:spPr>
        <p:txBody>
          <a:bodyPr/>
          <a:lstStyle>
            <a:lvl1pPr marL="450850" indent="-450850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87425" indent="-357188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609725" indent="-357188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2157413" indent="-368300" algn="l" defTabSz="449263" rtl="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565400" indent="-228600" algn="l" defTabSz="449263" rtl="0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默认情况下，</a:t>
            </a:r>
            <a:r>
              <a:rPr lang="zh-CN" altLang="en-US" sz="3200" dirty="0">
                <a:solidFill>
                  <a:srgbClr val="FF0000"/>
                </a:solidFill>
              </a:rPr>
              <a:t>网站的文档目录为</a:t>
            </a:r>
            <a:r>
              <a:rPr lang="en-US" altLang="zh-CN" sz="3200" dirty="0">
                <a:solidFill>
                  <a:srgbClr val="FF0000"/>
                </a:solidFill>
              </a:rPr>
              <a:t>/</a:t>
            </a:r>
            <a:r>
              <a:rPr lang="en-US" altLang="zh-CN" sz="3200" dirty="0" err="1">
                <a:solidFill>
                  <a:srgbClr val="FF0000"/>
                </a:solidFill>
              </a:rPr>
              <a:t>var</a:t>
            </a:r>
            <a:r>
              <a:rPr lang="en-US" altLang="zh-CN" sz="3200" dirty="0">
                <a:solidFill>
                  <a:srgbClr val="FF0000"/>
                </a:solidFill>
              </a:rPr>
              <a:t>/www/html</a:t>
            </a:r>
            <a:r>
              <a:rPr lang="zh-CN" altLang="en-US" sz="3200" dirty="0">
                <a:solidFill>
                  <a:srgbClr val="FF0000"/>
                </a:solidFill>
              </a:rPr>
              <a:t>，默认文档为</a:t>
            </a:r>
            <a:r>
              <a:rPr lang="en-US" altLang="zh-CN" sz="3200" dirty="0">
                <a:solidFill>
                  <a:srgbClr val="FF0000"/>
                </a:solidFill>
              </a:rPr>
              <a:t>index.html</a:t>
            </a:r>
            <a:r>
              <a:rPr lang="zh-CN" altLang="en-US" sz="3200" dirty="0"/>
              <a:t>。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假设</a:t>
            </a:r>
            <a:r>
              <a:rPr lang="en-US" altLang="zh-CN" sz="3200" dirty="0">
                <a:sym typeface="+mn-ea"/>
              </a:rPr>
              <a:t>index.html</a:t>
            </a:r>
            <a:r>
              <a:rPr lang="zh-CN" altLang="en-US" sz="3200" dirty="0"/>
              <a:t>内容为：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2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使用浏览器访问</a:t>
            </a:r>
            <a:r>
              <a:rPr lang="en-US" altLang="zh-CN" sz="3200" dirty="0">
                <a:solidFill>
                  <a:srgbClr val="FF0000"/>
                </a:solidFill>
              </a:rPr>
              <a:t>http://127.0.0.1</a:t>
            </a:r>
            <a:r>
              <a:rPr lang="zh-CN" altLang="en-US" sz="3200" dirty="0"/>
              <a:t>，或在执行命令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200" dirty="0"/>
              <a:t>	</a:t>
            </a:r>
            <a:r>
              <a:rPr lang="zh-CN" altLang="en-US" sz="3200" dirty="0">
                <a:solidFill>
                  <a:srgbClr val="FF0000"/>
                </a:solidFill>
              </a:rPr>
              <a:t>elinks http://127.0.0.1/index.html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 如果能正确显示测试内容，表示服务安装成功。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A789EC9-D9FA-5314-6D18-3FD27F1F08D1}"/>
              </a:ext>
            </a:extLst>
          </p:cNvPr>
          <p:cNvGraphicFramePr/>
          <p:nvPr/>
        </p:nvGraphicFramePr>
        <p:xfrm>
          <a:off x="141288" y="2276475"/>
          <a:ext cx="8856662" cy="1800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&lt;HTML&gt; </a:t>
                      </a:r>
                    </a:p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&lt;TITLE&gt;Apache Server Test!&lt;/TITLE&gt;</a:t>
                      </a:r>
                    </a:p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&lt;BODY&gt;&lt;H2&gt;Hello Apache World!&lt;/H2&gt;&lt;/BODY&gt;</a:t>
                      </a:r>
                    </a:p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&lt;/HTML&gt;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27671" marR="0" marT="0" marB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5377951A-EAF8-A8CC-76EE-44C573D20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38" y="-100013"/>
            <a:ext cx="9036050" cy="796926"/>
          </a:xfrm>
        </p:spPr>
        <p:txBody>
          <a:bodyPr/>
          <a:lstStyle/>
          <a:p>
            <a:r>
              <a:rPr lang="en-US" altLang="zh-CN" sz="4000"/>
              <a:t>15.3  Apache</a:t>
            </a:r>
            <a:r>
              <a:rPr lang="zh-CN" altLang="en-US" sz="4000"/>
              <a:t>的配置文件和指令</a:t>
            </a:r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6F3C2A95-5D0C-B711-ED68-CB973D57FCAB}"/>
              </a:ext>
            </a:extLst>
          </p:cNvPr>
          <p:cNvSpPr txBox="1">
            <a:spLocks/>
          </p:cNvSpPr>
          <p:nvPr/>
        </p:nvSpPr>
        <p:spPr bwMode="auto">
          <a:xfrm>
            <a:off x="7938" y="404813"/>
            <a:ext cx="9036050" cy="590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0850" indent="-45085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ym typeface="+mn-ea"/>
              </a:rPr>
              <a:t>在红帽系统中，</a:t>
            </a:r>
            <a:r>
              <a:rPr lang="en-US" altLang="zh-CN" sz="4000">
                <a:sym typeface="+mn-ea"/>
              </a:rPr>
              <a:t>Apache</a:t>
            </a:r>
            <a:r>
              <a:rPr lang="zh-CN" altLang="en-US" sz="4000">
                <a:sym typeface="+mn-ea"/>
              </a:rPr>
              <a:t>服务的默认配置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目录</a:t>
            </a:r>
            <a:r>
              <a:rPr lang="zh-CN" altLang="en-US" sz="4000">
                <a:sym typeface="+mn-ea"/>
              </a:rPr>
              <a:t>为</a:t>
            </a:r>
            <a:r>
              <a:rPr lang="en-US" altLang="zh-CN" sz="4000">
                <a:sym typeface="+mn-ea"/>
              </a:rPr>
              <a:t>/etc/httpd/conf/</a:t>
            </a:r>
            <a:r>
              <a:rPr lang="zh-CN" altLang="en-US" sz="4000">
                <a:sym typeface="+mn-ea"/>
              </a:rPr>
              <a:t>，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主配置文件</a:t>
            </a:r>
            <a:r>
              <a:rPr lang="zh-CN" altLang="en-US" sz="4000">
                <a:sym typeface="+mn-ea"/>
              </a:rPr>
              <a:t>为</a:t>
            </a:r>
            <a:r>
              <a:rPr lang="en-US" altLang="zh-CN" sz="4000">
                <a:solidFill>
                  <a:srgbClr val="FF0000"/>
                </a:solidFill>
                <a:sym typeface="+mn-ea"/>
              </a:rPr>
              <a:t>httpd.conf</a:t>
            </a:r>
            <a:r>
              <a:rPr lang="zh-CN" altLang="en-US" sz="4000">
                <a:sym typeface="+mn-ea"/>
              </a:rPr>
              <a:t>。</a:t>
            </a:r>
            <a:endParaRPr lang="en-US" altLang="zh-CN" sz="40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ym typeface="+mn-ea"/>
              </a:rPr>
              <a:t>在</a:t>
            </a:r>
            <a:r>
              <a:rPr lang="en-US" altLang="zh-CN" sz="4000">
                <a:sym typeface="+mn-ea"/>
              </a:rPr>
              <a:t>Ubuntu</a:t>
            </a:r>
            <a:r>
              <a:rPr lang="zh-CN" altLang="en-US" sz="4000">
                <a:sym typeface="+mn-ea"/>
              </a:rPr>
              <a:t>系统中，</a:t>
            </a:r>
            <a:r>
              <a:rPr lang="en-US" altLang="zh-CN" sz="4000">
                <a:sym typeface="+mn-ea"/>
              </a:rPr>
              <a:t>Apache</a:t>
            </a:r>
            <a:r>
              <a:rPr lang="zh-CN" altLang="en-US" sz="4000">
                <a:sym typeface="+mn-ea"/>
              </a:rPr>
              <a:t>服务的默认配置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目录</a:t>
            </a:r>
            <a:r>
              <a:rPr lang="zh-CN" altLang="en-US" sz="4000">
                <a:sym typeface="+mn-ea"/>
              </a:rPr>
              <a:t>为</a:t>
            </a:r>
            <a:r>
              <a:rPr lang="en-US" altLang="zh-CN" sz="4000">
                <a:sym typeface="+mn-ea"/>
              </a:rPr>
              <a:t>/etc/apache2</a:t>
            </a:r>
            <a:r>
              <a:rPr lang="zh-CN" altLang="en-US" sz="4000">
                <a:sym typeface="+mn-ea"/>
              </a:rPr>
              <a:t>，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主配置文件为</a:t>
            </a:r>
            <a:r>
              <a:rPr lang="en-US" altLang="zh-CN" sz="4000">
                <a:solidFill>
                  <a:srgbClr val="FF0000"/>
                </a:solidFill>
                <a:sym typeface="+mn-ea"/>
              </a:rPr>
              <a:t>apache2.conf</a:t>
            </a:r>
            <a:r>
              <a:rPr lang="zh-CN" altLang="en-US" sz="4000">
                <a:solidFill>
                  <a:srgbClr val="FF0000"/>
                </a:solidFill>
                <a:sym typeface="+mn-ea"/>
              </a:rPr>
              <a:t>。</a:t>
            </a:r>
            <a:endParaRPr lang="en-US" altLang="zh-CN" sz="40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ym typeface="+mn-ea"/>
              </a:rPr>
              <a:t>主配置文件</a:t>
            </a:r>
            <a:r>
              <a:rPr lang="en-US" altLang="zh-CN" sz="4000">
                <a:sym typeface="+mn-ea"/>
              </a:rPr>
              <a:t>httpd.conf</a:t>
            </a:r>
            <a:r>
              <a:rPr lang="zh-CN" altLang="en-US" sz="4000">
                <a:sym typeface="+mn-ea"/>
              </a:rPr>
              <a:t>或</a:t>
            </a:r>
            <a:r>
              <a:rPr lang="en-US" altLang="zh-CN" sz="4000">
                <a:sym typeface="+mn-ea"/>
              </a:rPr>
              <a:t>apache2.conf</a:t>
            </a:r>
            <a:r>
              <a:rPr lang="zh-CN" altLang="en-US" sz="4000">
                <a:sym typeface="+mn-ea"/>
              </a:rPr>
              <a:t>可被拆分成多个文件，然后通过</a:t>
            </a:r>
            <a:r>
              <a:rPr lang="en-US" altLang="zh-CN" sz="4000">
                <a:sym typeface="+mn-ea"/>
              </a:rPr>
              <a:t>Include</a:t>
            </a:r>
            <a:r>
              <a:rPr lang="zh-CN" altLang="en-US" sz="4000">
                <a:sym typeface="+mn-ea"/>
              </a:rPr>
              <a:t>和</a:t>
            </a:r>
            <a:r>
              <a:rPr lang="en-US" altLang="zh-CN" sz="4000">
                <a:sym typeface="+mn-ea"/>
              </a:rPr>
              <a:t>IncludeOptional</a:t>
            </a:r>
            <a:r>
              <a:rPr lang="zh-CN" altLang="en-US" sz="4000">
                <a:sym typeface="+mn-ea"/>
              </a:rPr>
              <a:t>将它们整合到主配置文件中来。</a:t>
            </a:r>
            <a:endParaRPr lang="zh-CN" altLang="en-US"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36A66E9F-3B69-3E80-A6F5-37ECCCAC7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875" y="0"/>
            <a:ext cx="9505950" cy="620713"/>
          </a:xfrm>
        </p:spPr>
        <p:txBody>
          <a:bodyPr/>
          <a:lstStyle/>
          <a:p>
            <a:r>
              <a:rPr lang="en-US" altLang="zh-CN" sz="4000"/>
              <a:t>15.3.1Apache</a:t>
            </a:r>
            <a:r>
              <a:rPr lang="zh-CN" altLang="en-US" sz="4000"/>
              <a:t>主配置文件的结构（选学）</a:t>
            </a: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E8995C85-F66F-62B9-2279-09B4EFDF20DD}"/>
              </a:ext>
            </a:extLst>
          </p:cNvPr>
          <p:cNvSpPr txBox="1">
            <a:spLocks/>
          </p:cNvSpPr>
          <p:nvPr/>
        </p:nvSpPr>
        <p:spPr bwMode="auto">
          <a:xfrm>
            <a:off x="0" y="620713"/>
            <a:ext cx="9144000" cy="57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0850" indent="-45085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3200"/>
              <a:t>Apache</a:t>
            </a:r>
            <a:r>
              <a:rPr lang="zh-CN" altLang="en-US" sz="3200"/>
              <a:t>服务的</a:t>
            </a:r>
            <a:r>
              <a:rPr lang="zh-CN" altLang="en-US" sz="3200">
                <a:solidFill>
                  <a:srgbClr val="FF0000"/>
                </a:solidFill>
              </a:rPr>
              <a:t>默认配置目录</a:t>
            </a:r>
            <a:r>
              <a:rPr lang="zh-CN" altLang="en-US" sz="3200"/>
              <a:t>为</a:t>
            </a:r>
            <a:r>
              <a:rPr lang="en-US" altLang="zh-CN" sz="3200">
                <a:solidFill>
                  <a:srgbClr val="FF0000"/>
                </a:solidFill>
              </a:rPr>
              <a:t>/etc/httpd/conf</a:t>
            </a:r>
            <a:r>
              <a:rPr lang="zh-CN" altLang="en-US" sz="3200"/>
              <a:t>，其</a:t>
            </a:r>
            <a:r>
              <a:rPr lang="zh-CN" altLang="en-US" sz="3200">
                <a:solidFill>
                  <a:srgbClr val="FF0000"/>
                </a:solidFill>
              </a:rPr>
              <a:t>主配置文件</a:t>
            </a:r>
            <a:r>
              <a:rPr lang="zh-CN" altLang="en-US" sz="3200"/>
              <a:t>为</a:t>
            </a:r>
            <a:r>
              <a:rPr lang="en-US" altLang="zh-CN" sz="3200">
                <a:solidFill>
                  <a:srgbClr val="FF0000"/>
                </a:solidFill>
              </a:rPr>
              <a:t>httpd.conf</a:t>
            </a:r>
            <a:r>
              <a:rPr lang="zh-CN" altLang="en-US" sz="3200">
                <a:solidFill>
                  <a:srgbClr val="FF0000"/>
                </a:solidFill>
              </a:rPr>
              <a:t>。</a:t>
            </a:r>
            <a:endParaRPr lang="en-US" altLang="zh-CN" sz="32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3200"/>
              <a:t>Apache</a:t>
            </a:r>
            <a:r>
              <a:rPr lang="zh-CN" altLang="en-US" sz="3200"/>
              <a:t>的</a:t>
            </a:r>
            <a:r>
              <a:rPr lang="zh-CN" altLang="en-US" sz="3200">
                <a:solidFill>
                  <a:srgbClr val="FF0000"/>
                </a:solidFill>
              </a:rPr>
              <a:t>配置文件分三大节</a:t>
            </a:r>
            <a:r>
              <a:rPr lang="zh-CN" altLang="en-US" sz="3200"/>
              <a:t>，它们分别是：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200"/>
              <a:t>（</a:t>
            </a:r>
            <a:r>
              <a:rPr lang="en-US" altLang="zh-CN" sz="3200"/>
              <a:t>1</a:t>
            </a:r>
            <a:r>
              <a:rPr lang="zh-CN" altLang="en-US" sz="3200"/>
              <a:t>）</a:t>
            </a:r>
            <a:r>
              <a:rPr lang="zh-CN" altLang="en-US" sz="3200">
                <a:solidFill>
                  <a:srgbClr val="FF0000"/>
                </a:solidFill>
              </a:rPr>
              <a:t>全局</a:t>
            </a:r>
            <a:r>
              <a:rPr lang="zh-CN" altLang="en-US" sz="3200"/>
              <a:t>配置节（</a:t>
            </a:r>
            <a:r>
              <a:rPr lang="en-US" altLang="zh-CN" sz="3200"/>
              <a:t>Global Environment</a:t>
            </a:r>
            <a:r>
              <a:rPr lang="zh-CN" altLang="en-US" sz="3200"/>
              <a:t>）。用于控制</a:t>
            </a:r>
            <a:r>
              <a:rPr lang="en-US" altLang="zh-CN" sz="3200"/>
              <a:t>Apache</a:t>
            </a:r>
            <a:r>
              <a:rPr lang="zh-CN" altLang="en-US" sz="3200"/>
              <a:t>服务器进程的全局操作。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200"/>
              <a:t>（</a:t>
            </a:r>
            <a:r>
              <a:rPr lang="en-US" altLang="zh-CN" sz="3200"/>
              <a:t>2</a:t>
            </a:r>
            <a:r>
              <a:rPr lang="zh-CN" altLang="en-US" sz="3200"/>
              <a:t>）</a:t>
            </a:r>
            <a:r>
              <a:rPr lang="zh-CN" altLang="en-US" sz="3200">
                <a:solidFill>
                  <a:srgbClr val="FF0000"/>
                </a:solidFill>
              </a:rPr>
              <a:t>主服务器或默认配置节</a:t>
            </a:r>
            <a:r>
              <a:rPr lang="zh-CN" altLang="en-US" sz="3200"/>
              <a:t>（</a:t>
            </a:r>
            <a:r>
              <a:rPr lang="en-US" altLang="zh-CN" sz="3200"/>
              <a:t>Main or Default Server</a:t>
            </a:r>
            <a:r>
              <a:rPr lang="zh-CN" altLang="en-US" sz="3200"/>
              <a:t>）。用于处理任何不被</a:t>
            </a:r>
            <a:r>
              <a:rPr lang="en-US" altLang="zh-CN" sz="3200"/>
              <a:t>&lt;VirtualHost&gt;</a:t>
            </a:r>
            <a:r>
              <a:rPr lang="zh-CN" altLang="en-US" sz="3200"/>
              <a:t>段处理的请求，也就是服务器默认配置，这里的参数都可以写在虚拟主机段中。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200"/>
              <a:t>（</a:t>
            </a:r>
            <a:r>
              <a:rPr lang="en-US" altLang="zh-CN" sz="3200"/>
              <a:t>3</a:t>
            </a:r>
            <a:r>
              <a:rPr lang="zh-CN" altLang="en-US" sz="3200"/>
              <a:t>）</a:t>
            </a:r>
            <a:r>
              <a:rPr lang="zh-CN" altLang="en-US" sz="3200">
                <a:solidFill>
                  <a:srgbClr val="FF0000"/>
                </a:solidFill>
              </a:rPr>
              <a:t>虚拟机配置节</a:t>
            </a:r>
            <a:r>
              <a:rPr lang="zh-CN" altLang="en-US" sz="3200"/>
              <a:t>（</a:t>
            </a:r>
            <a:r>
              <a:rPr lang="en-US" altLang="zh-CN" sz="3200"/>
              <a:t>Virtual Hosts</a:t>
            </a:r>
            <a:r>
              <a:rPr lang="zh-CN" altLang="en-US" sz="3200"/>
              <a:t>）。用于为用户自设的虚拟主机提供配置。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A01196AE-4375-C22D-66E9-9889825C8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20638"/>
            <a:ext cx="9001125" cy="600075"/>
          </a:xfrm>
        </p:spPr>
        <p:txBody>
          <a:bodyPr/>
          <a:lstStyle/>
          <a:p>
            <a:r>
              <a:rPr lang="en-US" altLang="zh-CN"/>
              <a:t>15.3.2  Apache</a:t>
            </a:r>
            <a:r>
              <a:rPr lang="zh-CN" altLang="en-US"/>
              <a:t>的配置指令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9C56DED4-C6DA-FF34-DD50-6AA138C7CA2C}"/>
              </a:ext>
            </a:extLst>
          </p:cNvPr>
          <p:cNvSpPr txBox="1">
            <a:spLocks/>
          </p:cNvSpPr>
          <p:nvPr/>
        </p:nvSpPr>
        <p:spPr bwMode="auto">
          <a:xfrm>
            <a:off x="0" y="620713"/>
            <a:ext cx="9109075" cy="57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0850" indent="-45085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2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3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4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5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1．全局配置节指令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（1）</a:t>
            </a:r>
            <a:r>
              <a:rPr lang="zh-CN" altLang="en-US" sz="3600">
                <a:solidFill>
                  <a:srgbClr val="FF0000"/>
                </a:solidFill>
              </a:rPr>
              <a:t>ServerTokens OS</a:t>
            </a:r>
            <a:r>
              <a:rPr lang="zh-CN" altLang="en-US" sz="3600"/>
              <a:t>：服务器回应给客户端的"Server:"应答头，包含关于服务器操作系统类型和编译的模块描述信息。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（2）</a:t>
            </a:r>
            <a:r>
              <a:rPr lang="zh-CN" altLang="en-US" sz="3600">
                <a:solidFill>
                  <a:srgbClr val="FF0000"/>
                </a:solidFill>
              </a:rPr>
              <a:t>ServerRoot dir</a:t>
            </a:r>
            <a:r>
              <a:rPr lang="zh-CN" altLang="en-US" sz="3600"/>
              <a:t>：设置服务器配置目录。在红帽系统中为"/etc/httpd"，在Ubuntu下为"/etc/apache2"。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（3）</a:t>
            </a:r>
            <a:r>
              <a:rPr lang="zh-CN" altLang="en-US" sz="3600">
                <a:solidFill>
                  <a:srgbClr val="FF0000"/>
                </a:solidFill>
              </a:rPr>
              <a:t>PidFile file</a:t>
            </a:r>
            <a:r>
              <a:rPr lang="zh-CN" altLang="en-US" sz="3600"/>
              <a:t>：指定Apache服务器的进程号文件号文件及存放的位置，此处文件是相对于ServerRoot指定的值取放的。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93AFCE72-CE50-E677-2373-8DE4EE8A1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15.4  Web</a:t>
            </a:r>
            <a:r>
              <a:rPr lang="zh-CN" altLang="en-US"/>
              <a:t>服务器配置实例</a:t>
            </a: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448AE503-A415-5C5D-076E-5AC3E2BE7C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r>
              <a:rPr lang="zh-CN" altLang="en-US" sz="4800">
                <a:solidFill>
                  <a:srgbClr val="FF0000"/>
                </a:solidFill>
              </a:rPr>
              <a:t>配置Apache</a:t>
            </a:r>
            <a:r>
              <a:rPr lang="zh-CN" altLang="en-US" sz="4800"/>
              <a:t>服务器可以</a:t>
            </a:r>
            <a:r>
              <a:rPr lang="zh-CN" altLang="en-US" sz="4800">
                <a:solidFill>
                  <a:srgbClr val="FF0000"/>
                </a:solidFill>
              </a:rPr>
              <a:t>通过几种不同</a:t>
            </a:r>
            <a:r>
              <a:rPr lang="zh-CN" altLang="en-US" sz="4800"/>
              <a:t>的方法来完成，</a:t>
            </a:r>
            <a:r>
              <a:rPr lang="zh-CN" altLang="en-US" sz="4800">
                <a:solidFill>
                  <a:srgbClr val="FF0000"/>
                </a:solidFill>
              </a:rPr>
              <a:t>最有效的方法</a:t>
            </a:r>
            <a:r>
              <a:rPr lang="zh-CN" altLang="en-US" sz="4800"/>
              <a:t>是</a:t>
            </a:r>
            <a:r>
              <a:rPr lang="zh-CN" altLang="en-US" sz="4800">
                <a:solidFill>
                  <a:srgbClr val="FF0000"/>
                </a:solidFill>
              </a:rPr>
              <a:t>直接编辑</a:t>
            </a:r>
            <a:r>
              <a:rPr lang="zh-CN" altLang="en-US" sz="4800"/>
              <a:t>基本的配置文件，在Fedora下还可使用图形配置工具。</a:t>
            </a:r>
          </a:p>
          <a:p>
            <a:r>
              <a:rPr lang="zh-CN" altLang="en-US" sz="4800"/>
              <a:t>Fedora的图形配置工具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4B263C9B-D317-9D96-B4F9-4B94D3AE8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15.4.1  字符界面Web服务器配置实例</a:t>
            </a:r>
            <a:endParaRPr lang="zh-CN" altLang="en-US"/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980CC870-BEC3-4DE9-9D9F-16EC3BE751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620713"/>
            <a:ext cx="8964612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>
                <a:sym typeface="+mn-ea"/>
              </a:rPr>
              <a:t>字符界面Web服务器配置主要是通过</a:t>
            </a:r>
            <a:r>
              <a:rPr lang="zh-CN" altLang="en-US" sz="4400">
                <a:solidFill>
                  <a:srgbClr val="FF0000"/>
                </a:solidFill>
                <a:sym typeface="+mn-ea"/>
              </a:rPr>
              <a:t>直接修改配置文件</a:t>
            </a:r>
            <a:r>
              <a:rPr lang="zh-CN" altLang="en-US" sz="4400">
                <a:sym typeface="+mn-ea"/>
              </a:rPr>
              <a:t>来实现。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/>
              <a:t>Apache的</a:t>
            </a:r>
            <a:r>
              <a:rPr lang="zh-CN" altLang="en-US" sz="4400">
                <a:solidFill>
                  <a:srgbClr val="FF0000"/>
                </a:solidFill>
              </a:rPr>
              <a:t>主机访问控制</a:t>
            </a:r>
            <a:r>
              <a:rPr lang="zh-CN" altLang="en-US" sz="4400"/>
              <a:t>可以用来</a:t>
            </a:r>
            <a:r>
              <a:rPr lang="zh-CN" altLang="en-US" sz="4400">
                <a:solidFill>
                  <a:srgbClr val="FF0000"/>
                </a:solidFill>
              </a:rPr>
              <a:t>限制哪些主机可以访问</a:t>
            </a:r>
            <a:r>
              <a:rPr lang="zh-CN" altLang="en-US" sz="4400"/>
              <a:t>指定的目录。对</a:t>
            </a:r>
            <a:r>
              <a:rPr lang="zh-CN" altLang="en-US" sz="4400">
                <a:solidFill>
                  <a:srgbClr val="FF0000"/>
                </a:solidFill>
              </a:rPr>
              <a:t>目录的访问控制</a:t>
            </a:r>
            <a:r>
              <a:rPr lang="zh-CN" altLang="en-US" sz="4400"/>
              <a:t>主要是通过&lt;Directory&gt;和&lt;/Directory&gt;结构实现的。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E9FA99BE-A24B-E4A3-F1DA-360E1F3A31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示例1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720749-118E-2081-6EDF-418A417D8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713"/>
            <a:ext cx="9109075" cy="576103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/>
              <a:t>对“</a:t>
            </a:r>
            <a:r>
              <a:rPr lang="zh-CN" altLang="en-US" sz="3600" dirty="0">
                <a:solidFill>
                  <a:srgbClr val="FF0000"/>
                </a:solidFill>
              </a:rPr>
              <a:t>/var/www/www.hncj.edu.cn</a:t>
            </a:r>
            <a:r>
              <a:rPr lang="zh-CN" altLang="en-US" sz="3600" dirty="0"/>
              <a:t>”目录</a:t>
            </a:r>
            <a:r>
              <a:rPr lang="zh-CN" altLang="en-US" sz="3600" dirty="0">
                <a:solidFill>
                  <a:srgbClr val="FF0000"/>
                </a:solidFill>
              </a:rPr>
              <a:t>做访问控制</a:t>
            </a:r>
            <a:r>
              <a:rPr lang="zh-CN" altLang="en-US" sz="3600" dirty="0"/>
              <a:t>，要求</a:t>
            </a:r>
            <a:r>
              <a:rPr lang="zh-CN" altLang="en-US" sz="3600" dirty="0">
                <a:solidFill>
                  <a:srgbClr val="FF0000"/>
                </a:solidFill>
              </a:rPr>
              <a:t>211.67.113.0/24</a:t>
            </a:r>
            <a:r>
              <a:rPr lang="zh-CN" altLang="en-US" sz="3600" dirty="0"/>
              <a:t>的客户机除了</a:t>
            </a:r>
            <a:r>
              <a:rPr lang="zh-CN" altLang="en-US" sz="3600" dirty="0">
                <a:solidFill>
                  <a:srgbClr val="FF0000"/>
                </a:solidFill>
              </a:rPr>
              <a:t>211.67.113.18</a:t>
            </a:r>
            <a:r>
              <a:rPr lang="zh-CN" altLang="en-US" sz="3600" dirty="0"/>
              <a:t>外都可以访问：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/>
              <a:t>&lt;Directory “/var/www/www.hncj.edu.cn”&gt;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600" dirty="0"/>
              <a:t>	Order allow,deny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600" dirty="0"/>
              <a:t>	Allow from 211.67.113.0/24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600" dirty="0"/>
              <a:t>	Deny from 211.67.113.18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600" dirty="0"/>
              <a:t>&lt;/Directory&gt;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6DD1A09C-B04E-B3A2-5D57-B7C9EA9013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示例2</a:t>
            </a:r>
            <a:endParaRPr lang="zh-CN" altLang="en-US"/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74E52D93-B80D-7B61-7CFD-2AD6856B4B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03605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&lt;Directory ＂/var/www/www.hncj.edu.cn＂&gt;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	Order deny,allow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	Allow from 211.67.113.0/24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	Deny from 211.67.113.18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&lt;/Directory&gt;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在本例中，</a:t>
            </a:r>
            <a:r>
              <a:rPr lang="zh-CN" altLang="en-US" sz="3600">
                <a:solidFill>
                  <a:srgbClr val="FF0000"/>
                </a:solidFill>
              </a:rPr>
              <a:t>Deny from 211.67.113.18没有起到作用</a:t>
            </a:r>
            <a:r>
              <a:rPr lang="zh-CN" altLang="en-US" sz="3600"/>
              <a:t>。允许211.67.113.0/24段所有的客户机都能访问“/var/www/www.hncj.edu.cn”。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141AC90A-4D31-D24E-2729-516DF4198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示例3</a:t>
            </a:r>
            <a:endParaRPr lang="zh-CN" altLang="en-US"/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6717CBBD-BC05-AF5A-8184-EA847841C2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03605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&lt;Directory ＂/var/www/www.hncj.edu.cn＂&gt;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	Order allow,deny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	Allow from all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	Deny from all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&lt;/Directory&gt;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在本例子中，</a:t>
            </a:r>
            <a:r>
              <a:rPr lang="zh-CN" altLang="en-US" sz="4000">
                <a:solidFill>
                  <a:srgbClr val="FF0000"/>
                </a:solidFill>
              </a:rPr>
              <a:t>只有Deny from all真正起到了作用</a:t>
            </a:r>
            <a:r>
              <a:rPr lang="zh-CN" altLang="en-US" sz="4000"/>
              <a:t>，于是所有的主机都被拒绝访问了。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1B21C5A2-A15A-FB95-27AD-29DBF047E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示例4</a:t>
            </a:r>
            <a:endParaRPr lang="zh-CN" altLang="en-US"/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ABEE54F9-EED0-1E13-CE62-2A96A8DAB6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&lt;Directory ＂/var/www/www.hncj.edu.cn＂&gt;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	Order deny,allow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	Allow from 211.67.113.18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	Deny from 211.67.113.18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&lt;/Directory&gt;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请读者</a:t>
            </a:r>
            <a:r>
              <a:rPr lang="zh-CN" altLang="en-US" sz="4000">
                <a:solidFill>
                  <a:srgbClr val="FF0000"/>
                </a:solidFill>
              </a:rPr>
              <a:t>考虑211.67.113.18客户机是否被允许访问</a:t>
            </a:r>
            <a:r>
              <a:rPr lang="zh-CN" altLang="en-US" sz="4000"/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49737D5B-E342-1917-AD88-00230C856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关于主机访问控制的几点说明</a:t>
            </a:r>
            <a:endParaRPr lang="zh-CN" altLang="en-US"/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B00FE956-4820-1A40-FA53-47F6B5BC2A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（1）</a:t>
            </a:r>
            <a:r>
              <a:rPr lang="zh-CN" altLang="en-US" sz="3600">
                <a:solidFill>
                  <a:srgbClr val="FF0000"/>
                </a:solidFill>
              </a:rPr>
              <a:t>Order命令中指定的顺序至关重要</a:t>
            </a:r>
            <a:r>
              <a:rPr lang="zh-CN" altLang="en-US" sz="3600"/>
              <a:t>，写在后面的关键字有最终决定权。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（2）</a:t>
            </a:r>
            <a:r>
              <a:rPr lang="zh-CN" altLang="en-US" sz="3600">
                <a:solidFill>
                  <a:srgbClr val="FF0000"/>
                </a:solidFill>
              </a:rPr>
              <a:t>IP地址表示方法比较灵活</a:t>
            </a:r>
            <a:r>
              <a:rPr lang="zh-CN" altLang="en-US" sz="3600"/>
              <a:t>，可有如下写法：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① 网络/子网掩码：211.67.113.0/255.255.255.0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② CIDR规范：211.67.113.0/24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③ 单个IP地址的表示：211.67.113.0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（3）</a:t>
            </a:r>
            <a:r>
              <a:rPr lang="zh-CN" altLang="en-US" sz="3600">
                <a:solidFill>
                  <a:srgbClr val="FF0000"/>
                </a:solidFill>
              </a:rPr>
              <a:t>也可使用域名</a:t>
            </a:r>
            <a:r>
              <a:rPr lang="zh-CN" altLang="en-US" sz="3600"/>
              <a:t>，如Allow from hncj.edu.cn。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B0AC4F10-98B2-CA43-BCBC-164831922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2．虚拟主机</a:t>
            </a:r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BE0320DE-265C-2A79-5552-5E9AE63B27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9001125" cy="5761037"/>
          </a:xfrm>
        </p:spPr>
        <p:txBody>
          <a:bodyPr/>
          <a:lstStyle/>
          <a:p>
            <a:r>
              <a:rPr lang="zh-CN" altLang="en-US" sz="4800"/>
              <a:t>1）默认虚拟主机</a:t>
            </a:r>
          </a:p>
          <a:p>
            <a:r>
              <a:rPr lang="zh-CN" altLang="en-US" sz="4800"/>
              <a:t>2）基于IP地址的虚拟主机</a:t>
            </a:r>
          </a:p>
          <a:p>
            <a:r>
              <a:rPr lang="zh-CN" altLang="en-US" sz="4800"/>
              <a:t>3）基于名字的虚拟主机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ADCE08D7-136D-3C4E-950F-3D7EB8B93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1）默认虚拟主机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12D555D3-CBE1-4C36-A2DF-FFBE5C2251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928100" cy="5761037"/>
          </a:xfrm>
        </p:spPr>
        <p:txBody>
          <a:bodyPr/>
          <a:lstStyle/>
          <a:p>
            <a:r>
              <a:rPr lang="zh-CN" altLang="en-US" sz="6000"/>
              <a:t>在</a:t>
            </a:r>
            <a:r>
              <a:rPr lang="zh-CN" altLang="en-US" sz="6000">
                <a:solidFill>
                  <a:srgbClr val="FF0000"/>
                </a:solidFill>
              </a:rPr>
              <a:t>同一台主机</a:t>
            </a:r>
            <a:r>
              <a:rPr lang="zh-CN" altLang="en-US" sz="6000"/>
              <a:t>上，针对</a:t>
            </a:r>
            <a:r>
              <a:rPr lang="zh-CN" altLang="en-US" sz="6000">
                <a:solidFill>
                  <a:srgbClr val="FF0000"/>
                </a:solidFill>
              </a:rPr>
              <a:t>一个IP地址</a:t>
            </a:r>
            <a:r>
              <a:rPr lang="zh-CN" altLang="en-US" sz="6000"/>
              <a:t>和</a:t>
            </a:r>
            <a:r>
              <a:rPr lang="zh-CN" altLang="en-US" sz="6000">
                <a:solidFill>
                  <a:srgbClr val="FF0000"/>
                </a:solidFill>
              </a:rPr>
              <a:t>不同的端口</a:t>
            </a:r>
            <a:r>
              <a:rPr lang="zh-CN" altLang="en-US" sz="6000"/>
              <a:t>来建立虚拟主机，即</a:t>
            </a:r>
            <a:r>
              <a:rPr lang="zh-CN" altLang="en-US" sz="6000">
                <a:solidFill>
                  <a:srgbClr val="FF0000"/>
                </a:solidFill>
              </a:rPr>
              <a:t>每个端口对应一个虚拟主</a:t>
            </a:r>
            <a:r>
              <a:rPr lang="zh-CN" altLang="en-US" sz="6000"/>
              <a:t>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E390AE12-D035-D8DD-671E-8D162B964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默认虚拟主机配置步骤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109633E1-9833-E6E2-6102-44DA2D5701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步骤1：为eth0创建网络子接口eth0:1，并给这个接口指定IP地址。比如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#ifconfig eth0:1 192.168.64.161 netmask 255.255.255.0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步骤2：编辑Apache的主配置文件。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在行</a:t>
            </a:r>
            <a:r>
              <a:rPr lang="en-US" altLang="zh-CN" sz="4000"/>
              <a:t>“</a:t>
            </a:r>
            <a:r>
              <a:rPr lang="zh-CN" altLang="en-US" sz="4000"/>
              <a:t>Listen 80</a:t>
            </a:r>
            <a:r>
              <a:rPr lang="en-US" altLang="zh-CN" sz="4000"/>
              <a:t>”</a:t>
            </a:r>
            <a:r>
              <a:rPr lang="zh-CN" altLang="en-US" sz="4000"/>
              <a:t>下增加</a:t>
            </a:r>
            <a:r>
              <a:rPr lang="zh-CN" altLang="en-US" sz="4000">
                <a:sym typeface="+mn-ea"/>
              </a:rPr>
              <a:t>监听的端口号8080</a:t>
            </a:r>
            <a:r>
              <a:rPr lang="zh-CN" altLang="en-US" sz="4000"/>
              <a:t>的行：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Listen 8080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04B4062C-AAD6-48BF-362C-0E8BB9814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默认虚拟主机配置步骤</a:t>
            </a:r>
            <a:endParaRPr lang="zh-CN" altLang="en-US"/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217CD7EA-17DF-AB77-4CB9-33AAEFE72C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步骤3：在主配置文件末尾加入以下内容：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&lt;VirtualHost 192.168.64.161:8080&gt;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    ServerAdmin admin@hncj.edu.cn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    DocumentRoot /var/www/www8080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    ServerName 192.168.64.161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    ErrorLog logs/192.168.64.161-8080-error_log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    CustomLog logs/192.168.64.161-8080-access_log common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&lt;/VirtualHost&gt;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F659D7C7-F2AE-7AC5-648C-97B1A0F2A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默认虚拟主机配置步骤</a:t>
            </a:r>
            <a:endParaRPr lang="zh-CN" altLang="en-US"/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74B86BF3-FFC2-A248-952F-2C442E609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9001125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步骤4：建立虚拟主机文档根目录及主页。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（1）创建虚拟主机文档目录。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#mkdir /var/www/www8080	#若已有可不创建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（2）编辑生成主页文件index.html。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编辑/var/www/www8080/index.html，内容如下：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&lt;html&gt;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	&lt;body&gt;Default Virtual Host test,Port 8080.&lt;/body&gt;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&lt;/html&gt;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B9CF0F83-6B76-8F68-3338-6FC9D949E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默认虚拟主机配置步骤</a:t>
            </a:r>
            <a:endParaRPr lang="zh-CN" altLang="en-US"/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14AF5F4A-D943-513B-DB62-75D8EDD0D7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r>
              <a:rPr lang="zh-CN" altLang="en-US" sz="5400"/>
              <a:t>步骤5：运行与测试。</a:t>
            </a:r>
          </a:p>
          <a:p>
            <a:r>
              <a:rPr lang="zh-CN" altLang="en-US" sz="5400"/>
              <a:t>#systemctl reload httpd</a:t>
            </a:r>
          </a:p>
          <a:p>
            <a:r>
              <a:rPr lang="zh-CN" altLang="en-US" sz="5400"/>
              <a:t>#elinks http://192.168.64.161:8080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6BD97F37-CA83-C17A-AF59-E89BD7F17F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2）基于IP地址的虚拟主机</a:t>
            </a: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EF3DD1C6-DC19-BE87-C51F-3B9869F9F3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928100" cy="5761037"/>
          </a:xfrm>
        </p:spPr>
        <p:txBody>
          <a:bodyPr/>
          <a:lstStyle/>
          <a:p>
            <a:r>
              <a:rPr lang="zh-CN" altLang="en-US" sz="6600"/>
              <a:t>要求：在</a:t>
            </a:r>
            <a:r>
              <a:rPr lang="zh-CN" altLang="en-US" sz="6600">
                <a:solidFill>
                  <a:srgbClr val="FF0000"/>
                </a:solidFill>
              </a:rPr>
              <a:t>同一主机上配置多个IP地址</a:t>
            </a:r>
            <a:r>
              <a:rPr lang="zh-CN" altLang="en-US" sz="6600"/>
              <a:t>，每个IP地址对应一个虚拟主机。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12E90E1E-236D-6C46-3A5B-A5B9DFBFF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8" y="-26988"/>
            <a:ext cx="8212137" cy="587376"/>
          </a:xfrm>
        </p:spPr>
        <p:txBody>
          <a:bodyPr/>
          <a:lstStyle/>
          <a:p>
            <a:r>
              <a:rPr lang="zh-CN" altLang="en-US">
                <a:sym typeface="+mn-ea"/>
              </a:rPr>
              <a:t>基于IP地址虚拟主机的创建步骤</a:t>
            </a:r>
            <a:endParaRPr lang="en-US" altLang="zh-CN">
              <a:sym typeface="+mn-ea"/>
            </a:endParaRP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BA2057F9-7E85-6124-5C1A-7B01272D20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928100" cy="70564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步骤1：为网卡eth0创建子接口eth0:2和eth0:3等，并分别配置IP地址192.168.64.162和192.168.64.163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#</a:t>
            </a:r>
            <a:r>
              <a:rPr lang="zh-CN" altLang="en-US" sz="4000">
                <a:solidFill>
                  <a:srgbClr val="FF0000"/>
                </a:solidFill>
              </a:rPr>
              <a:t>ifconfig</a:t>
            </a:r>
            <a:r>
              <a:rPr lang="zh-CN" altLang="en-US" sz="4000"/>
              <a:t> eth0:2 192.168.64.162 netmask 255.255.255.0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#</a:t>
            </a:r>
            <a:r>
              <a:rPr lang="zh-CN" altLang="en-US" sz="4000">
                <a:solidFill>
                  <a:srgbClr val="FF0000"/>
                </a:solidFill>
              </a:rPr>
              <a:t>ifconfig</a:t>
            </a:r>
            <a:r>
              <a:rPr lang="zh-CN" altLang="en-US" sz="4000"/>
              <a:t> eth0:3 192.168.64.163 netmask 255.255.255.0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1410516E-7B2F-E978-9F89-4F7657C80E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88" y="-100013"/>
            <a:ext cx="8210551" cy="660401"/>
          </a:xfrm>
        </p:spPr>
        <p:txBody>
          <a:bodyPr/>
          <a:lstStyle/>
          <a:p>
            <a:r>
              <a:rPr lang="zh-CN" altLang="en-US">
                <a:sym typeface="+mn-ea"/>
              </a:rPr>
              <a:t>基于IP地址虚拟主机的创建步骤</a:t>
            </a:r>
            <a:endParaRPr lang="en-US" altLang="zh-CN">
              <a:sym typeface="+mn-ea"/>
            </a:endParaRPr>
          </a:p>
        </p:txBody>
      </p:sp>
      <p:sp>
        <p:nvSpPr>
          <p:cNvPr id="32771" name="内容占位符 2">
            <a:extLst>
              <a:ext uri="{FF2B5EF4-FFF2-40B4-BE49-F238E27FC236}">
                <a16:creationId xmlns:a16="http://schemas.microsoft.com/office/drawing/2014/main" id="{74563C9F-5A47-0B3C-258D-5CC9AD3100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588" y="560388"/>
            <a:ext cx="9145588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步骤2：</a:t>
            </a:r>
            <a:r>
              <a:rPr lang="zh-CN" altLang="en-US">
                <a:solidFill>
                  <a:srgbClr val="FF0000"/>
                </a:solidFill>
              </a:rPr>
              <a:t>编辑主配置文件</a:t>
            </a:r>
            <a:r>
              <a:rPr lang="zh-CN" altLang="en-US"/>
              <a:t>。在文件的末尾加入以下</a:t>
            </a:r>
            <a:r>
              <a:rPr lang="zh-CN" altLang="en-US">
                <a:sym typeface="+mn-ea"/>
              </a:rPr>
              <a:t>虚拟主机的</a:t>
            </a:r>
            <a:r>
              <a:rPr lang="zh-CN" altLang="en-US"/>
              <a:t>内容（可以多个，据实际需要设置，个数与步骤</a:t>
            </a:r>
            <a:r>
              <a:rPr lang="en-US" altLang="zh-CN"/>
              <a:t>1</a:t>
            </a:r>
            <a:r>
              <a:rPr lang="zh-CN" altLang="en-US"/>
              <a:t>同）：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&lt;VirtualHost 192.168.64.162:80&gt;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    ServerAdmin admin@hncj.edu.cn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    DocumentRoot /var/www/www162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    ServerName 192.168.64.162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    ErrorLog logs/192.168.64.162-error_log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    CustomLog logs/192.168.64.162-access_log common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&lt;/VirtualHost&gt;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 </a:t>
            </a:r>
            <a:r>
              <a:rPr lang="en-US" altLang="zh-CN"/>
              <a:t>... ... 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16952827-290A-23D0-E5B2-26B83B54C4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8" y="0"/>
            <a:ext cx="8210550" cy="587375"/>
          </a:xfrm>
        </p:spPr>
        <p:txBody>
          <a:bodyPr/>
          <a:lstStyle/>
          <a:p>
            <a:r>
              <a:rPr lang="zh-CN" altLang="en-US">
                <a:sym typeface="+mn-ea"/>
              </a:rPr>
              <a:t>基于IP地址虚拟主机的创建步骤</a:t>
            </a:r>
            <a:endParaRPr lang="en-US" altLang="zh-CN">
              <a:sym typeface="+mn-ea"/>
            </a:endParaRP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9303EECB-E2E4-B038-A8C4-2C6D2EB6A1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75" y="549275"/>
            <a:ext cx="9140825" cy="576103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步骤3：</a:t>
            </a:r>
            <a:r>
              <a:rPr lang="zh-CN" altLang="en-US">
                <a:solidFill>
                  <a:srgbClr val="FF0000"/>
                </a:solidFill>
              </a:rPr>
              <a:t>分别建立虚拟主机的文档目录及相应测试页面</a:t>
            </a:r>
            <a:r>
              <a:rPr lang="zh-CN" altLang="en-US"/>
              <a:t>（</a:t>
            </a:r>
            <a:r>
              <a:rPr lang="zh-CN" altLang="en-US">
                <a:sym typeface="+mn-ea"/>
              </a:rPr>
              <a:t>个数与步骤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同</a:t>
            </a:r>
            <a:r>
              <a:rPr lang="zh-CN" altLang="en-US"/>
              <a:t>）。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#mkdir /var/www/www162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#mkdir /var/www/www163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分别编辑虚拟www162和www163站点的默认主页文档：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#/var/www/www162/index.html的内容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	&lt;html&gt;	&lt;body&gt;IP based Virtual Host test,IP address 192.168.64.162.&lt;/body&gt; &lt;/html&gt;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#/var/www/www163/index.html内容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	&lt;html&gt;	&lt;body&gt;IP based Virtual Host test,IP address 192.168.64.163.&lt;/body&gt; &lt;/html&gt;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99D89F07-13BF-CFB7-93FB-75065CFCF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0638"/>
            <a:ext cx="8210550" cy="484187"/>
          </a:xfrm>
        </p:spPr>
        <p:txBody>
          <a:bodyPr/>
          <a:lstStyle/>
          <a:p>
            <a:r>
              <a:rPr lang="zh-CN" altLang="en-US">
                <a:sym typeface="+mn-ea"/>
              </a:rPr>
              <a:t>基于IP地址虚拟主机的创建步骤</a:t>
            </a:r>
            <a:endParaRPr lang="en-US" altLang="zh-CN">
              <a:sym typeface="+mn-ea"/>
            </a:endParaRP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29B09715-5B4F-290E-D78B-3B4D3CF87C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4800"/>
              <a:t>步骤4： 运行与测试。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4800"/>
              <a:t># systemctl reload httpd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4800"/>
              <a:t># elinks http://192.168.64.162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zh-CN" sz="4800"/>
              <a:t># elinks http://192.168.64.163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2">
            <a:extLst>
              <a:ext uri="{FF2B5EF4-FFF2-40B4-BE49-F238E27FC236}">
                <a16:creationId xmlns:a16="http://schemas.microsoft.com/office/drawing/2014/main" id="{CC12642E-DA36-179C-666D-670386CDC5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208963" cy="57610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en-US" sz="4000"/>
              <a:t>课后作业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AR PL SungtiL GB"/>
        <a:ea typeface="华文新魏"/>
        <a:cs typeface=""/>
      </a:majorFont>
      <a:minorFont>
        <a:latin typeface="AR PL SungtiL GB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3973</TotalTime>
  <Words>4115</Words>
  <Application>Microsoft Office PowerPoint</Application>
  <PresentationFormat>全屏显示(4:3)</PresentationFormat>
  <Paragraphs>179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AR PL SungtiL GB</vt:lpstr>
      <vt:lpstr>华文新魏</vt:lpstr>
      <vt:lpstr>宋体</vt:lpstr>
      <vt:lpstr>Arial</vt:lpstr>
      <vt:lpstr>Times New Roman</vt:lpstr>
      <vt:lpstr>默认设计模板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红帽系统的安装</vt:lpstr>
      <vt:lpstr>15.2.2  Apache服务器启动管理</vt:lpstr>
      <vt:lpstr>15.2.2  Apache服务器启动管理</vt:lpstr>
      <vt:lpstr>15.2.3  Apache服务的测试</vt:lpstr>
      <vt:lpstr>15.3  Apache的配置文件和指令</vt:lpstr>
      <vt:lpstr>15.3.1Apache主配置文件的结构（选学）</vt:lpstr>
      <vt:lpstr>15.3.2  Apache的配置指令</vt:lpstr>
      <vt:lpstr>15.4  Web服务器配置实例</vt:lpstr>
      <vt:lpstr>15.4.1  字符界面Web服务器配置实例</vt:lpstr>
      <vt:lpstr>示例1</vt:lpstr>
      <vt:lpstr>示例2</vt:lpstr>
      <vt:lpstr>示例3</vt:lpstr>
      <vt:lpstr>示例4</vt:lpstr>
      <vt:lpstr>关于主机访问控制的几点说明</vt:lpstr>
      <vt:lpstr>2．虚拟主机</vt:lpstr>
      <vt:lpstr>1）默认虚拟主机</vt:lpstr>
      <vt:lpstr>默认虚拟主机配置步骤</vt:lpstr>
      <vt:lpstr>默认虚拟主机配置步骤</vt:lpstr>
      <vt:lpstr>默认虚拟主机配置步骤</vt:lpstr>
      <vt:lpstr>默认虚拟主机配置步骤</vt:lpstr>
      <vt:lpstr>2）基于IP地址的虚拟主机</vt:lpstr>
      <vt:lpstr>基于IP地址虚拟主机的创建步骤</vt:lpstr>
      <vt:lpstr>基于IP地址虚拟主机的创建步骤</vt:lpstr>
      <vt:lpstr>基于IP地址虚拟主机的创建步骤</vt:lpstr>
      <vt:lpstr>基于IP地址虚拟主机的创建步骤</vt:lpstr>
      <vt:lpstr>PowerPoint 演示文稿</vt:lpstr>
    </vt:vector>
  </TitlesOfParts>
  <Company>黑龙江大学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Linux操作系统</dc:title>
  <dc:creator>青巴图</dc:creator>
  <cp:lastModifiedBy>yude bai</cp:lastModifiedBy>
  <cp:revision>381</cp:revision>
  <dcterms:modified xsi:type="dcterms:W3CDTF">2025-08-11T09:59:58Z</dcterms:modified>
</cp:coreProperties>
</file>