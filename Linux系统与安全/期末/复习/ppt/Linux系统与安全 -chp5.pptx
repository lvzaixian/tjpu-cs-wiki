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72"/>
  </p:notesMasterIdLst>
  <p:handoutMasterIdLst>
    <p:handoutMasterId r:id="rId73"/>
  </p:handout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83" r:id="rId25"/>
    <p:sldId id="293" r:id="rId26"/>
    <p:sldId id="294" r:id="rId27"/>
    <p:sldId id="295" r:id="rId28"/>
    <p:sldId id="296" r:id="rId29"/>
    <p:sldId id="297" r:id="rId30"/>
    <p:sldId id="299" r:id="rId31"/>
    <p:sldId id="300" r:id="rId32"/>
    <p:sldId id="301" r:id="rId33"/>
    <p:sldId id="302" r:id="rId34"/>
    <p:sldId id="303" r:id="rId35"/>
    <p:sldId id="304" r:id="rId36"/>
    <p:sldId id="305" r:id="rId37"/>
    <p:sldId id="306" r:id="rId38"/>
    <p:sldId id="309" r:id="rId39"/>
    <p:sldId id="310" r:id="rId40"/>
    <p:sldId id="311" r:id="rId41"/>
    <p:sldId id="318" r:id="rId42"/>
    <p:sldId id="319" r:id="rId43"/>
    <p:sldId id="320" r:id="rId44"/>
    <p:sldId id="321" r:id="rId45"/>
    <p:sldId id="322" r:id="rId46"/>
    <p:sldId id="323" r:id="rId47"/>
    <p:sldId id="324" r:id="rId48"/>
    <p:sldId id="325"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60" r:id="rId65"/>
    <p:sldId id="361" r:id="rId66"/>
    <p:sldId id="362" r:id="rId67"/>
    <p:sldId id="364" r:id="rId68"/>
    <p:sldId id="365" r:id="rId69"/>
    <p:sldId id="366" r:id="rId70"/>
    <p:sldId id="382" r:id="rId71"/>
  </p:sldIdLst>
  <p:sldSz cx="9144000" cy="6858000" type="screen4x3"/>
  <p:notesSz cx="6858000" cy="9144000"/>
  <p:defaultTextStyle>
    <a:defPPr>
      <a:defRPr lang="en-GB"/>
    </a:defPPr>
    <a:lvl1pPr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1pPr>
    <a:lvl2pPr marL="4572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2pPr>
    <a:lvl3pPr marL="9144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5pPr>
    <a:lvl6pPr marL="2286000" algn="l" defTabSz="914400" rtl="0" eaLnBrk="1" latinLnBrk="0" hangingPunct="1">
      <a:defRPr sz="2800" b="1" kern="1200">
        <a:solidFill>
          <a:srgbClr val="000000"/>
        </a:solidFill>
        <a:latin typeface="AR PL SungtiL GB" charset="0"/>
        <a:ea typeface="宋体" panose="02010600030101010101" pitchFamily="2" charset="-122"/>
        <a:cs typeface="+mn-cs"/>
      </a:defRPr>
    </a:lvl6pPr>
    <a:lvl7pPr marL="2743200" algn="l" defTabSz="914400" rtl="0" eaLnBrk="1" latinLnBrk="0" hangingPunct="1">
      <a:defRPr sz="2800" b="1" kern="1200">
        <a:solidFill>
          <a:srgbClr val="000000"/>
        </a:solidFill>
        <a:latin typeface="AR PL SungtiL GB" charset="0"/>
        <a:ea typeface="宋体" panose="02010600030101010101" pitchFamily="2" charset="-122"/>
        <a:cs typeface="+mn-cs"/>
      </a:defRPr>
    </a:lvl7pPr>
    <a:lvl8pPr marL="3200400" algn="l" defTabSz="914400" rtl="0" eaLnBrk="1" latinLnBrk="0" hangingPunct="1">
      <a:defRPr sz="2800" b="1" kern="1200">
        <a:solidFill>
          <a:srgbClr val="000000"/>
        </a:solidFill>
        <a:latin typeface="AR PL SungtiL GB" charset="0"/>
        <a:ea typeface="宋体" panose="02010600030101010101" pitchFamily="2" charset="-122"/>
        <a:cs typeface="+mn-cs"/>
      </a:defRPr>
    </a:lvl8pPr>
    <a:lvl9pPr marL="3657600" algn="l" defTabSz="914400" rtl="0" eaLnBrk="1" latinLnBrk="0" hangingPunct="1">
      <a:defRPr sz="2800" b="1" kern="1200">
        <a:solidFill>
          <a:srgbClr val="000000"/>
        </a:solidFill>
        <a:latin typeface="AR PL SungtiL GB"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00"/>
    <a:srgbClr val="DDDDDD"/>
    <a:srgbClr val="C0C0C0"/>
    <a:srgbClr val="96969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autoAdjust="0"/>
  </p:normalViewPr>
  <p:slideViewPr>
    <p:cSldViewPr>
      <p:cViewPr varScale="1">
        <p:scale>
          <a:sx n="110" d="100"/>
          <a:sy n="110" d="100"/>
        </p:scale>
        <p:origin x="92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123" d="100"/>
          <a:sy n="123" d="100"/>
        </p:scale>
        <p:origin x="497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43C49C3-7C7D-5BD5-45EA-9A62856AE7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8FC9FAB9-5249-55DD-62DC-C4FC2551E8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2F1AA4F7-1A5A-45BB-8C94-4F95B7AFBB74}" type="datetimeFigureOut">
              <a:rPr lang="zh-CN" altLang="en-US"/>
              <a:pPr>
                <a:defRPr/>
              </a:pPr>
              <a:t>2025/8/11</a:t>
            </a:fld>
            <a:endParaRPr lang="zh-CN" altLang="en-US"/>
          </a:p>
        </p:txBody>
      </p:sp>
      <p:sp>
        <p:nvSpPr>
          <p:cNvPr id="4" name="页脚占位符 3">
            <a:extLst>
              <a:ext uri="{FF2B5EF4-FFF2-40B4-BE49-F238E27FC236}">
                <a16:creationId xmlns:a16="http://schemas.microsoft.com/office/drawing/2014/main" id="{3B7C65C0-17E9-7CAE-1BA5-901A8D7E73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80C20040-0F0C-424C-8805-A43652C0C6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4BAD191B-792A-43CD-A887-4E520FC68446}"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8FED7495-EA97-01C4-50ED-9951904C1FB5}"/>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099" name="AutoShape 2">
            <a:extLst>
              <a:ext uri="{FF2B5EF4-FFF2-40B4-BE49-F238E27FC236}">
                <a16:creationId xmlns:a16="http://schemas.microsoft.com/office/drawing/2014/main" id="{2B6F0B88-4714-B9BA-7C3B-743B6EE422E7}"/>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0" name="AutoShape 3">
            <a:extLst>
              <a:ext uri="{FF2B5EF4-FFF2-40B4-BE49-F238E27FC236}">
                <a16:creationId xmlns:a16="http://schemas.microsoft.com/office/drawing/2014/main" id="{CC52E93B-B708-6997-6E94-FF0D5F18BC0A}"/>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1" name="AutoShape 4">
            <a:extLst>
              <a:ext uri="{FF2B5EF4-FFF2-40B4-BE49-F238E27FC236}">
                <a16:creationId xmlns:a16="http://schemas.microsoft.com/office/drawing/2014/main" id="{1AF34A83-976F-7B43-4EE8-7A88F33CC13C}"/>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2" name="AutoShape 5">
            <a:extLst>
              <a:ext uri="{FF2B5EF4-FFF2-40B4-BE49-F238E27FC236}">
                <a16:creationId xmlns:a16="http://schemas.microsoft.com/office/drawing/2014/main" id="{F681E19B-112B-C53B-CBDE-543BC1FE3498}"/>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3" name="AutoShape 6">
            <a:extLst>
              <a:ext uri="{FF2B5EF4-FFF2-40B4-BE49-F238E27FC236}">
                <a16:creationId xmlns:a16="http://schemas.microsoft.com/office/drawing/2014/main" id="{4F389CDE-7446-34E5-0F1B-D3109539CF8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4" name="AutoShape 7">
            <a:extLst>
              <a:ext uri="{FF2B5EF4-FFF2-40B4-BE49-F238E27FC236}">
                <a16:creationId xmlns:a16="http://schemas.microsoft.com/office/drawing/2014/main" id="{7AF90D5D-C5D4-1E8B-477A-D207EEC24108}"/>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5" name="AutoShape 8">
            <a:extLst>
              <a:ext uri="{FF2B5EF4-FFF2-40B4-BE49-F238E27FC236}">
                <a16:creationId xmlns:a16="http://schemas.microsoft.com/office/drawing/2014/main" id="{56A2CC89-5117-492C-6CC1-5AE0A9C3C88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6" name="AutoShape 9">
            <a:extLst>
              <a:ext uri="{FF2B5EF4-FFF2-40B4-BE49-F238E27FC236}">
                <a16:creationId xmlns:a16="http://schemas.microsoft.com/office/drawing/2014/main" id="{9EE405DB-6B80-E5C0-8E34-7E711D7A0862}"/>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7" name="AutoShape 10">
            <a:extLst>
              <a:ext uri="{FF2B5EF4-FFF2-40B4-BE49-F238E27FC236}">
                <a16:creationId xmlns:a16="http://schemas.microsoft.com/office/drawing/2014/main" id="{11EF6853-7E02-070B-06B7-1F84B97DE9C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8" name="AutoShape 11">
            <a:extLst>
              <a:ext uri="{FF2B5EF4-FFF2-40B4-BE49-F238E27FC236}">
                <a16:creationId xmlns:a16="http://schemas.microsoft.com/office/drawing/2014/main" id="{FCFE9AD8-43B7-71D1-8099-E984609591DA}"/>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9" name="AutoShape 12">
            <a:extLst>
              <a:ext uri="{FF2B5EF4-FFF2-40B4-BE49-F238E27FC236}">
                <a16:creationId xmlns:a16="http://schemas.microsoft.com/office/drawing/2014/main" id="{7DEC6882-4EE7-03B1-96AD-70450A9A62D3}"/>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10" name="Rectangle 13">
            <a:extLst>
              <a:ext uri="{FF2B5EF4-FFF2-40B4-BE49-F238E27FC236}">
                <a16:creationId xmlns:a16="http://schemas.microsoft.com/office/drawing/2014/main" id="{5AA4F3AB-3D66-30F6-2448-95DA0603B986}"/>
              </a:ext>
            </a:extLst>
          </p:cNvPr>
          <p:cNvSpPr>
            <a:spLocks noGrp="1" noRot="1" noChangeAspect="1" noChangeArrowheads="1" noTextEdit="1"/>
          </p:cNvSpPr>
          <p:nvPr>
            <p:ph type="sldImg"/>
          </p:nvPr>
        </p:nvSpPr>
        <p:spPr bwMode="auto">
          <a:xfrm>
            <a:off x="0" y="303213"/>
            <a:ext cx="1588" cy="58340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62" name="Rectangle 14">
            <a:extLst>
              <a:ext uri="{FF2B5EF4-FFF2-40B4-BE49-F238E27FC236}">
                <a16:creationId xmlns:a16="http://schemas.microsoft.com/office/drawing/2014/main" id="{A888823A-BE69-CA29-A631-61E086977483}"/>
              </a:ext>
            </a:extLst>
          </p:cNvPr>
          <p:cNvSpPr txBox="1">
            <a:spLocks noGrp="1" noChangeArrowheads="1"/>
          </p:cNvSpPr>
          <p:nvPr>
            <p:ph type="body" idx="1"/>
          </p:nvPr>
        </p:nvSpPr>
        <p:spPr bwMode="auto">
          <a:xfrm>
            <a:off x="503238" y="4316413"/>
            <a:ext cx="5856287" cy="4059237"/>
          </a:xfrm>
          <a:prstGeom prst="rect">
            <a:avLst/>
          </a:prstGeom>
          <a:noFill/>
          <a:ln>
            <a:noFill/>
          </a:ln>
        </p:spPr>
        <p:txBody>
          <a:bodyPr vert="horz" wrap="square" lIns="0" tIns="0" rIns="0" bIns="0" numCol="1" anchor="t" anchorCtr="0" compatLnSpc="1">
            <a:prstTxWarp prst="textNoShape">
              <a:avLst/>
            </a:prstTxWarp>
          </a:bodyPr>
          <a:lstStyle/>
          <a:p>
            <a:pPr lvl="0"/>
            <a:endParaRPr lang="zh-CN" altLang="en-US"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6963E538-CA41-4BC6-7C5F-9A7A08235DC8}"/>
              </a:ext>
            </a:extLst>
          </p:cNvPr>
          <p:cNvSpPr>
            <a:spLocks noGrp="1" noRot="1" noChangeAspect="1" noChangeArrowheads="1" noTextEdit="1"/>
          </p:cNvSpPr>
          <p:nvPr>
            <p:ph type="sldImg"/>
          </p:nvPr>
        </p:nvSpPr>
        <p:spPr>
          <a:xfrm>
            <a:off x="0" y="303213"/>
            <a:ext cx="1588" cy="1587"/>
          </a:xfrm>
          <a:ln/>
        </p:spPr>
      </p:sp>
      <p:sp>
        <p:nvSpPr>
          <p:cNvPr id="7171" name="Rectangle 2">
            <a:extLst>
              <a:ext uri="{FF2B5EF4-FFF2-40B4-BE49-F238E27FC236}">
                <a16:creationId xmlns:a16="http://schemas.microsoft.com/office/drawing/2014/main" id="{029CE5FF-E63C-6660-B415-D02460E0499E}"/>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C9C00AC-2E6B-1FD8-DCE5-15186C3CE681}"/>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r>
              <a:rPr lang="en-US" altLang="zh-CN" sz="1800" dirty="0">
                <a:solidFill>
                  <a:schemeClr val="accent2"/>
                </a:solidFill>
                <a:latin typeface="Arial" panose="020B0604020202020204" pitchFamily="34" charset="0"/>
                <a:ea typeface="华文新魏" panose="02010800040101010101" pitchFamily="2" charset="-122"/>
              </a:rPr>
              <a:t>2023</a:t>
            </a:r>
            <a:r>
              <a:rPr lang="zh-CN" altLang="en-US" sz="1800" dirty="0">
                <a:solidFill>
                  <a:schemeClr val="accent2"/>
                </a:solidFill>
                <a:latin typeface="Arial" panose="020B0604020202020204" pitchFamily="34" charset="0"/>
                <a:ea typeface="华文新魏" panose="02010800040101010101" pitchFamily="2" charset="-122"/>
              </a:rPr>
              <a:t>年</a:t>
            </a:r>
            <a:r>
              <a:rPr lang="en-US" altLang="zh-CN" sz="1800" dirty="0">
                <a:solidFill>
                  <a:schemeClr val="accent2"/>
                </a:solidFill>
                <a:latin typeface="Arial" panose="020B0604020202020204" pitchFamily="34" charset="0"/>
                <a:ea typeface="华文新魏" panose="02010800040101010101" pitchFamily="2" charset="-122"/>
              </a:rPr>
              <a:t>10</a:t>
            </a:r>
            <a:r>
              <a:rPr lang="zh-CN" altLang="en-US" sz="1800" dirty="0">
                <a:solidFill>
                  <a:schemeClr val="accent2"/>
                </a:solidFill>
                <a:latin typeface="Arial" panose="020B0604020202020204" pitchFamily="34" charset="0"/>
                <a:ea typeface="华文新魏" panose="02010800040101010101" pitchFamily="2" charset="-122"/>
              </a:rPr>
              <a:t>月</a:t>
            </a:r>
            <a:r>
              <a:rPr lang="en-US" altLang="zh-CN" sz="1800" dirty="0">
                <a:solidFill>
                  <a:schemeClr val="accent2"/>
                </a:solidFill>
                <a:latin typeface="Arial" panose="020B0604020202020204" pitchFamily="34" charset="0"/>
                <a:ea typeface="华文新魏" panose="02010800040101010101" pitchFamily="2" charset="-122"/>
              </a:rPr>
              <a:t>16</a:t>
            </a:r>
            <a:r>
              <a:rPr lang="zh-CN" altLang="en-US" sz="1800" dirty="0">
                <a:solidFill>
                  <a:schemeClr val="accent2"/>
                </a:solidFill>
                <a:latin typeface="Arial" panose="020B0604020202020204" pitchFamily="34" charset="0"/>
                <a:ea typeface="华文新魏" panose="02010800040101010101" pitchFamily="2" charset="-122"/>
              </a:rPr>
              <a:t>日星期一</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3" name="Rectangle 9">
            <a:extLst>
              <a:ext uri="{FF2B5EF4-FFF2-40B4-BE49-F238E27FC236}">
                <a16:creationId xmlns:a16="http://schemas.microsoft.com/office/drawing/2014/main" id="{C92F0584-A6A2-BFBC-9E2B-9708F6B47493}"/>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538A491C-DF65-4C64-8C13-A04EE2A8E314}"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265218" name="Rectangle 2"/>
          <p:cNvSpPr>
            <a:spLocks noGrp="1" noChangeArrowheads="1"/>
          </p:cNvSpPr>
          <p:nvPr>
            <p:ph type="ctrTitle"/>
          </p:nvPr>
        </p:nvSpPr>
        <p:spPr>
          <a:xfrm>
            <a:off x="685800" y="2130425"/>
            <a:ext cx="7772400" cy="1470025"/>
          </a:xfrm>
        </p:spPr>
        <p:txBody>
          <a:bodyPr/>
          <a:lstStyle>
            <a:lvl1pPr>
              <a:lnSpc>
                <a:spcPct val="100000"/>
              </a:lnSpc>
              <a:buFont typeface="Times New Roman" panose="02020603050405020304" pitchFamily="18" charset="0"/>
              <a:buNone/>
              <a:defRPr sz="4400" b="0">
                <a:latin typeface="Times New Roman" panose="02020603050405020304" pitchFamily="18" charset="0"/>
              </a:defRPr>
            </a:lvl1pPr>
          </a:lstStyle>
          <a:p>
            <a:pPr lvl="0"/>
            <a:r>
              <a:rPr lang="zh-CN" altLang="en-US" noProof="0"/>
              <a:t>单击此处编辑母版标题样式</a:t>
            </a:r>
          </a:p>
        </p:txBody>
      </p:sp>
      <p:sp>
        <p:nvSpPr>
          <p:cNvPr id="265219" name="Rectangle 3"/>
          <p:cNvSpPr>
            <a:spLocks noGrp="1" noChangeArrowheads="1"/>
          </p:cNvSpPr>
          <p:nvPr>
            <p:ph type="subTitle" idx="1"/>
          </p:nvPr>
        </p:nvSpPr>
        <p:spPr>
          <a:xfrm>
            <a:off x="1371600" y="3886200"/>
            <a:ext cx="6400800" cy="1752600"/>
          </a:xfrm>
        </p:spPr>
        <p:txBody>
          <a:bodyPr/>
          <a:lstStyle>
            <a:lvl1pPr marL="342900" indent="-342900">
              <a:spcBef>
                <a:spcPct val="20000"/>
              </a:spcBef>
              <a:buFont typeface="Times New Roman" panose="02020603050405020304" pitchFamily="18" charset="0"/>
              <a:buBlip>
                <a:blip r:embed="rId2"/>
              </a:buBlip>
              <a:defRPr b="0">
                <a:latin typeface="Times New Roman" panose="02020603050405020304" pitchFamily="18" charset="0"/>
              </a:defRPr>
            </a:lvl1pPr>
          </a:lstStyle>
          <a:p>
            <a:pPr lvl="0"/>
            <a:r>
              <a:rPr lang="zh-CN" altLang="en-US" noProof="0"/>
              <a:t>单击此处编辑母版副标题样式</a:t>
            </a:r>
          </a:p>
        </p:txBody>
      </p:sp>
    </p:spTree>
    <p:extLst>
      <p:ext uri="{BB962C8B-B14F-4D97-AF65-F5344CB8AC3E}">
        <p14:creationId xmlns:p14="http://schemas.microsoft.com/office/powerpoint/2010/main" val="799464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15628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24113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69050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66863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84940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02730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416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00782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4180891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23700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81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381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6040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476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14304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7A65D99E-45F1-3A0F-066A-30D52072970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95369FD-B707-42E4-174D-2064BB33348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A266929-39C9-F13E-02C6-65493B0235CC}"/>
              </a:ext>
            </a:extLst>
          </p:cNvPr>
          <p:cNvSpPr>
            <a:spLocks noGrp="1" noChangeArrowheads="1"/>
          </p:cNvSpPr>
          <p:nvPr>
            <p:ph type="sldNum" sz="quarter" idx="12"/>
          </p:nvPr>
        </p:nvSpPr>
        <p:spPr>
          <a:ln/>
        </p:spPr>
        <p:txBody>
          <a:bodyPr/>
          <a:lstStyle>
            <a:lvl1pPr>
              <a:defRPr/>
            </a:lvl1pPr>
          </a:lstStyle>
          <a:p>
            <a:pPr>
              <a:defRPr/>
            </a:pPr>
            <a:fld id="{CD052662-52F6-4B8D-8409-AC0FE2186ED3}" type="slidenum">
              <a:rPr lang="zh-CN" altLang="en-US"/>
              <a:pPr>
                <a:defRPr/>
              </a:pPr>
              <a:t>‹#›</a:t>
            </a:fld>
            <a:endParaRPr lang="en-US" altLang="zh-CN"/>
          </a:p>
        </p:txBody>
      </p:sp>
    </p:spTree>
    <p:extLst>
      <p:ext uri="{BB962C8B-B14F-4D97-AF65-F5344CB8AC3E}">
        <p14:creationId xmlns:p14="http://schemas.microsoft.com/office/powerpoint/2010/main" val="210174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1C1D034-3DAF-431B-F573-39C6AE8096E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830A385-82A9-5B96-698A-ED464C53312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382E04B-1BC5-12FE-2492-3121BCEB3049}"/>
              </a:ext>
            </a:extLst>
          </p:cNvPr>
          <p:cNvSpPr>
            <a:spLocks noGrp="1" noChangeArrowheads="1"/>
          </p:cNvSpPr>
          <p:nvPr>
            <p:ph type="sldNum" sz="quarter" idx="12"/>
          </p:nvPr>
        </p:nvSpPr>
        <p:spPr>
          <a:ln/>
        </p:spPr>
        <p:txBody>
          <a:bodyPr/>
          <a:lstStyle>
            <a:lvl1pPr>
              <a:defRPr/>
            </a:lvl1pPr>
          </a:lstStyle>
          <a:p>
            <a:pPr>
              <a:defRPr/>
            </a:pPr>
            <a:fld id="{33AD1779-9632-460C-AFB8-14900A4406D3}" type="slidenum">
              <a:rPr lang="zh-CN" altLang="en-US"/>
              <a:pPr>
                <a:defRPr/>
              </a:pPr>
              <a:t>‹#›</a:t>
            </a:fld>
            <a:endParaRPr lang="en-US" altLang="zh-CN"/>
          </a:p>
        </p:txBody>
      </p:sp>
    </p:spTree>
    <p:extLst>
      <p:ext uri="{BB962C8B-B14F-4D97-AF65-F5344CB8AC3E}">
        <p14:creationId xmlns:p14="http://schemas.microsoft.com/office/powerpoint/2010/main" val="3493721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A161D636-C376-0060-7D1F-094FFF3E54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C07AFD-1E48-76C1-AA52-35CA1BFCF59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1CD4C09-3431-B686-676C-5F60F8E42950}"/>
              </a:ext>
            </a:extLst>
          </p:cNvPr>
          <p:cNvSpPr>
            <a:spLocks noGrp="1" noChangeArrowheads="1"/>
          </p:cNvSpPr>
          <p:nvPr>
            <p:ph type="sldNum" sz="quarter" idx="12"/>
          </p:nvPr>
        </p:nvSpPr>
        <p:spPr>
          <a:ln/>
        </p:spPr>
        <p:txBody>
          <a:bodyPr/>
          <a:lstStyle>
            <a:lvl1pPr>
              <a:defRPr/>
            </a:lvl1pPr>
          </a:lstStyle>
          <a:p>
            <a:pPr>
              <a:defRPr/>
            </a:pPr>
            <a:fld id="{A3AF6287-6B48-4796-AC6D-10E7A98EC2A8}" type="slidenum">
              <a:rPr lang="zh-CN" altLang="en-US"/>
              <a:pPr>
                <a:defRPr/>
              </a:pPr>
              <a:t>‹#›</a:t>
            </a:fld>
            <a:endParaRPr lang="en-US" altLang="zh-CN"/>
          </a:p>
        </p:txBody>
      </p:sp>
    </p:spTree>
    <p:extLst>
      <p:ext uri="{BB962C8B-B14F-4D97-AF65-F5344CB8AC3E}">
        <p14:creationId xmlns:p14="http://schemas.microsoft.com/office/powerpoint/2010/main" val="2208262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62F55F6-31DF-6A7C-274E-7BBFB767B1B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E0B6A9F-36A1-F407-F5A9-3560BF244FB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086E179-24A6-1F16-7E34-E436643FEAF5}"/>
              </a:ext>
            </a:extLst>
          </p:cNvPr>
          <p:cNvSpPr>
            <a:spLocks noGrp="1" noChangeArrowheads="1"/>
          </p:cNvSpPr>
          <p:nvPr>
            <p:ph type="sldNum" sz="quarter" idx="12"/>
          </p:nvPr>
        </p:nvSpPr>
        <p:spPr>
          <a:ln/>
        </p:spPr>
        <p:txBody>
          <a:bodyPr/>
          <a:lstStyle>
            <a:lvl1pPr>
              <a:defRPr/>
            </a:lvl1pPr>
          </a:lstStyle>
          <a:p>
            <a:pPr>
              <a:defRPr/>
            </a:pPr>
            <a:fld id="{8C2F88A4-316B-4767-B407-A2AC374F79FF}" type="slidenum">
              <a:rPr lang="zh-CN" altLang="en-US"/>
              <a:pPr>
                <a:defRPr/>
              </a:pPr>
              <a:t>‹#›</a:t>
            </a:fld>
            <a:endParaRPr lang="en-US" altLang="zh-CN"/>
          </a:p>
        </p:txBody>
      </p:sp>
    </p:spTree>
    <p:extLst>
      <p:ext uri="{BB962C8B-B14F-4D97-AF65-F5344CB8AC3E}">
        <p14:creationId xmlns:p14="http://schemas.microsoft.com/office/powerpoint/2010/main" val="83615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2ACA6EB-3E15-9DF3-02B0-7504A673D3F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B484F640-F364-674B-3A8E-7FF6671A2FB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F5DB531-45D4-C51B-AAA0-A08E25E358CC}"/>
              </a:ext>
            </a:extLst>
          </p:cNvPr>
          <p:cNvSpPr>
            <a:spLocks noGrp="1" noChangeArrowheads="1"/>
          </p:cNvSpPr>
          <p:nvPr>
            <p:ph type="sldNum" sz="quarter" idx="12"/>
          </p:nvPr>
        </p:nvSpPr>
        <p:spPr>
          <a:ln/>
        </p:spPr>
        <p:txBody>
          <a:bodyPr/>
          <a:lstStyle>
            <a:lvl1pPr>
              <a:defRPr/>
            </a:lvl1pPr>
          </a:lstStyle>
          <a:p>
            <a:pPr>
              <a:defRPr/>
            </a:pPr>
            <a:fld id="{B7EB0987-04ED-4DDD-8E42-3BE72BB4B269}" type="slidenum">
              <a:rPr lang="zh-CN" altLang="en-US"/>
              <a:pPr>
                <a:defRPr/>
              </a:pPr>
              <a:t>‹#›</a:t>
            </a:fld>
            <a:endParaRPr lang="en-US" altLang="zh-CN"/>
          </a:p>
        </p:txBody>
      </p:sp>
    </p:spTree>
    <p:extLst>
      <p:ext uri="{BB962C8B-B14F-4D97-AF65-F5344CB8AC3E}">
        <p14:creationId xmlns:p14="http://schemas.microsoft.com/office/powerpoint/2010/main" val="28021667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882D2F09-E1D9-02F9-959F-EDA76EDDC45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E800586-6750-F036-6C49-9FE2D150230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E5D01B9-08A9-9B9E-8EBD-0A3540508D45}"/>
              </a:ext>
            </a:extLst>
          </p:cNvPr>
          <p:cNvSpPr>
            <a:spLocks noGrp="1" noChangeArrowheads="1"/>
          </p:cNvSpPr>
          <p:nvPr>
            <p:ph type="sldNum" sz="quarter" idx="12"/>
          </p:nvPr>
        </p:nvSpPr>
        <p:spPr>
          <a:ln/>
        </p:spPr>
        <p:txBody>
          <a:bodyPr/>
          <a:lstStyle>
            <a:lvl1pPr>
              <a:defRPr/>
            </a:lvl1pPr>
          </a:lstStyle>
          <a:p>
            <a:pPr>
              <a:defRPr/>
            </a:pPr>
            <a:fld id="{83EF1613-78C3-45E8-AE29-BCB283BDB314}" type="slidenum">
              <a:rPr lang="zh-CN" altLang="en-US"/>
              <a:pPr>
                <a:defRPr/>
              </a:pPr>
              <a:t>‹#›</a:t>
            </a:fld>
            <a:endParaRPr lang="en-US" altLang="zh-CN"/>
          </a:p>
        </p:txBody>
      </p:sp>
    </p:spTree>
    <p:extLst>
      <p:ext uri="{BB962C8B-B14F-4D97-AF65-F5344CB8AC3E}">
        <p14:creationId xmlns:p14="http://schemas.microsoft.com/office/powerpoint/2010/main" val="15994586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0D7FA4B-ACC5-99C9-0D2E-4F0F12AC830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4016AAA9-0070-EA28-815A-E4EFAB37FF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1AEF3BE4-3572-3CD6-48B2-600BA70896FA}"/>
              </a:ext>
            </a:extLst>
          </p:cNvPr>
          <p:cNvSpPr>
            <a:spLocks noGrp="1" noChangeArrowheads="1"/>
          </p:cNvSpPr>
          <p:nvPr>
            <p:ph type="sldNum" sz="quarter" idx="12"/>
          </p:nvPr>
        </p:nvSpPr>
        <p:spPr>
          <a:ln/>
        </p:spPr>
        <p:txBody>
          <a:bodyPr/>
          <a:lstStyle>
            <a:lvl1pPr>
              <a:defRPr/>
            </a:lvl1pPr>
          </a:lstStyle>
          <a:p>
            <a:pPr>
              <a:defRPr/>
            </a:pPr>
            <a:fld id="{CF89F3C6-94E4-46BA-B5BF-C6A18203409F}" type="slidenum">
              <a:rPr lang="zh-CN" altLang="en-US"/>
              <a:pPr>
                <a:defRPr/>
              </a:pPr>
              <a:t>‹#›</a:t>
            </a:fld>
            <a:endParaRPr lang="en-US" altLang="zh-CN"/>
          </a:p>
        </p:txBody>
      </p:sp>
    </p:spTree>
    <p:extLst>
      <p:ext uri="{BB962C8B-B14F-4D97-AF65-F5344CB8AC3E}">
        <p14:creationId xmlns:p14="http://schemas.microsoft.com/office/powerpoint/2010/main" val="20035895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F9FF29A-D759-8152-BFB3-1679DA8051F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4B54ED0-8629-4A4E-6C80-137025072AB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692C3A8-DABA-9B97-421B-0100AD3B1EEC}"/>
              </a:ext>
            </a:extLst>
          </p:cNvPr>
          <p:cNvSpPr>
            <a:spLocks noGrp="1" noChangeArrowheads="1"/>
          </p:cNvSpPr>
          <p:nvPr>
            <p:ph type="sldNum" sz="quarter" idx="12"/>
          </p:nvPr>
        </p:nvSpPr>
        <p:spPr>
          <a:ln/>
        </p:spPr>
        <p:txBody>
          <a:bodyPr/>
          <a:lstStyle>
            <a:lvl1pPr>
              <a:defRPr/>
            </a:lvl1pPr>
          </a:lstStyle>
          <a:p>
            <a:pPr>
              <a:defRPr/>
            </a:pPr>
            <a:fld id="{744A0D68-771A-45C3-9CD5-07B845A8F40B}" type="slidenum">
              <a:rPr lang="zh-CN" altLang="en-US"/>
              <a:pPr>
                <a:defRPr/>
              </a:pPr>
              <a:t>‹#›</a:t>
            </a:fld>
            <a:endParaRPr lang="en-US" altLang="zh-CN"/>
          </a:p>
        </p:txBody>
      </p:sp>
    </p:spTree>
    <p:extLst>
      <p:ext uri="{BB962C8B-B14F-4D97-AF65-F5344CB8AC3E}">
        <p14:creationId xmlns:p14="http://schemas.microsoft.com/office/powerpoint/2010/main" val="15947395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06103C31-E43A-0A65-7549-2D847BF9515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A530067-4944-18B4-3561-C05CCFFE12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F7656A0-2C64-FE5A-CA79-DB80B556B56C}"/>
              </a:ext>
            </a:extLst>
          </p:cNvPr>
          <p:cNvSpPr>
            <a:spLocks noGrp="1" noChangeArrowheads="1"/>
          </p:cNvSpPr>
          <p:nvPr>
            <p:ph type="sldNum" sz="quarter" idx="12"/>
          </p:nvPr>
        </p:nvSpPr>
        <p:spPr>
          <a:ln/>
        </p:spPr>
        <p:txBody>
          <a:bodyPr/>
          <a:lstStyle>
            <a:lvl1pPr>
              <a:defRPr/>
            </a:lvl1pPr>
          </a:lstStyle>
          <a:p>
            <a:pPr>
              <a:defRPr/>
            </a:pPr>
            <a:fld id="{85267A76-DEE7-4C2D-BCFC-B22A0D521489}" type="slidenum">
              <a:rPr lang="zh-CN" altLang="en-US"/>
              <a:pPr>
                <a:defRPr/>
              </a:pPr>
              <a:t>‹#›</a:t>
            </a:fld>
            <a:endParaRPr lang="en-US" altLang="zh-CN"/>
          </a:p>
        </p:txBody>
      </p:sp>
    </p:spTree>
    <p:extLst>
      <p:ext uri="{BB962C8B-B14F-4D97-AF65-F5344CB8AC3E}">
        <p14:creationId xmlns:p14="http://schemas.microsoft.com/office/powerpoint/2010/main" val="2832111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B9881F2-AE09-3388-D3C5-63A1D70B6D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AEB1A0E-F154-34CC-5A06-388EEAAE671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A5A4E1F-D027-490F-97C9-DAD39C9CD126}"/>
              </a:ext>
            </a:extLst>
          </p:cNvPr>
          <p:cNvSpPr>
            <a:spLocks noGrp="1" noChangeArrowheads="1"/>
          </p:cNvSpPr>
          <p:nvPr>
            <p:ph type="sldNum" sz="quarter" idx="12"/>
          </p:nvPr>
        </p:nvSpPr>
        <p:spPr>
          <a:ln/>
        </p:spPr>
        <p:txBody>
          <a:bodyPr/>
          <a:lstStyle>
            <a:lvl1pPr>
              <a:defRPr/>
            </a:lvl1pPr>
          </a:lstStyle>
          <a:p>
            <a:pPr>
              <a:defRPr/>
            </a:pPr>
            <a:fld id="{F92C756E-27D2-4A28-A8FA-6B18E6566C46}" type="slidenum">
              <a:rPr lang="zh-CN" altLang="en-US"/>
              <a:pPr>
                <a:defRPr/>
              </a:pPr>
              <a:t>‹#›</a:t>
            </a:fld>
            <a:endParaRPr lang="en-US" altLang="zh-CN"/>
          </a:p>
        </p:txBody>
      </p:sp>
    </p:spTree>
    <p:extLst>
      <p:ext uri="{BB962C8B-B14F-4D97-AF65-F5344CB8AC3E}">
        <p14:creationId xmlns:p14="http://schemas.microsoft.com/office/powerpoint/2010/main" val="23351789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B83E0D9-88E0-5D05-C2FA-AB0882B5780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BEB87EA-1D41-56CB-C056-D81A4CCE2A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6D91DAB-D34B-A90F-55A4-8A2C8C730EE5}"/>
              </a:ext>
            </a:extLst>
          </p:cNvPr>
          <p:cNvSpPr>
            <a:spLocks noGrp="1" noChangeArrowheads="1"/>
          </p:cNvSpPr>
          <p:nvPr>
            <p:ph type="sldNum" sz="quarter" idx="12"/>
          </p:nvPr>
        </p:nvSpPr>
        <p:spPr>
          <a:ln/>
        </p:spPr>
        <p:txBody>
          <a:bodyPr/>
          <a:lstStyle>
            <a:lvl1pPr>
              <a:defRPr/>
            </a:lvl1pPr>
          </a:lstStyle>
          <a:p>
            <a:pPr>
              <a:defRPr/>
            </a:pPr>
            <a:fld id="{D4186118-9AB6-4C29-9635-E60ED952A6D2}" type="slidenum">
              <a:rPr lang="zh-CN" altLang="en-US"/>
              <a:pPr>
                <a:defRPr/>
              </a:pPr>
              <a:t>‹#›</a:t>
            </a:fld>
            <a:endParaRPr lang="en-US" altLang="zh-CN"/>
          </a:p>
        </p:txBody>
      </p:sp>
    </p:spTree>
    <p:extLst>
      <p:ext uri="{BB962C8B-B14F-4D97-AF65-F5344CB8AC3E}">
        <p14:creationId xmlns:p14="http://schemas.microsoft.com/office/powerpoint/2010/main" val="160674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A65719-6C53-93CC-00CC-FDCE86309C45}"/>
              </a:ext>
            </a:extLst>
          </p:cNvPr>
          <p:cNvSpPr>
            <a:spLocks noGrp="1" noChangeArrowheads="1"/>
          </p:cNvSpPr>
          <p:nvPr>
            <p:ph type="title"/>
          </p:nvPr>
        </p:nvSpPr>
        <p:spPr bwMode="auto">
          <a:xfrm>
            <a:off x="0" y="0"/>
            <a:ext cx="9144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zh-CN" altLang="en-GB"/>
              <a:t>请您按击鼠标，编辑标题文的格式。</a:t>
            </a:r>
          </a:p>
        </p:txBody>
      </p:sp>
      <p:sp>
        <p:nvSpPr>
          <p:cNvPr id="1027" name="Rectangle 3">
            <a:extLst>
              <a:ext uri="{FF2B5EF4-FFF2-40B4-BE49-F238E27FC236}">
                <a16:creationId xmlns:a16="http://schemas.microsoft.com/office/drawing/2014/main" id="{A598EC4C-9B15-5D90-7EAB-F1118E2F740B}"/>
              </a:ext>
            </a:extLst>
          </p:cNvPr>
          <p:cNvSpPr>
            <a:spLocks noGrp="1" noChangeArrowheads="1"/>
          </p:cNvSpPr>
          <p:nvPr>
            <p:ph type="body" idx="1"/>
          </p:nvPr>
        </p:nvSpPr>
        <p:spPr bwMode="auto">
          <a:xfrm>
            <a:off x="457200" y="620713"/>
            <a:ext cx="8208963" cy="576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CN" altLang="en-GB"/>
              <a:t>请您按击鼠标，编辑大纲正文格式。</a:t>
            </a:r>
          </a:p>
          <a:p>
            <a:pPr lvl="1"/>
            <a:r>
              <a:rPr lang="zh-CN" altLang="en-GB"/>
              <a:t>第二个大纲级</a:t>
            </a:r>
          </a:p>
          <a:p>
            <a:pPr lvl="2"/>
            <a:r>
              <a:rPr lang="zh-CN" altLang="en-GB"/>
              <a:t>第三个大纲级</a:t>
            </a:r>
          </a:p>
          <a:p>
            <a:pPr lvl="3"/>
            <a:r>
              <a:rPr lang="zh-CN" altLang="en-GB"/>
              <a:t>第四个大纲级</a:t>
            </a:r>
          </a:p>
        </p:txBody>
      </p:sp>
      <p:sp>
        <p:nvSpPr>
          <p:cNvPr id="1028" name="Rectangle 5">
            <a:extLst>
              <a:ext uri="{FF2B5EF4-FFF2-40B4-BE49-F238E27FC236}">
                <a16:creationId xmlns:a16="http://schemas.microsoft.com/office/drawing/2014/main" id="{9206296F-8224-05E3-1CDE-E387BF74F0CC}"/>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r>
              <a:rPr lang="en-US" altLang="zh-CN" sz="1800" dirty="0">
                <a:solidFill>
                  <a:schemeClr val="accent2"/>
                </a:solidFill>
                <a:latin typeface="Arial" panose="020B0604020202020204" pitchFamily="34" charset="0"/>
                <a:ea typeface="华文新魏" panose="02010800040101010101" pitchFamily="2" charset="-122"/>
              </a:rPr>
              <a:t>2023</a:t>
            </a:r>
            <a:r>
              <a:rPr lang="zh-CN" altLang="en-US" sz="1800" dirty="0">
                <a:solidFill>
                  <a:schemeClr val="accent2"/>
                </a:solidFill>
                <a:latin typeface="Arial" panose="020B0604020202020204" pitchFamily="34" charset="0"/>
                <a:ea typeface="华文新魏" panose="02010800040101010101" pitchFamily="2" charset="-122"/>
              </a:rPr>
              <a:t>年</a:t>
            </a:r>
            <a:r>
              <a:rPr lang="en-US" altLang="zh-CN" sz="1800" dirty="0">
                <a:solidFill>
                  <a:schemeClr val="accent2"/>
                </a:solidFill>
                <a:latin typeface="Arial" panose="020B0604020202020204" pitchFamily="34" charset="0"/>
                <a:ea typeface="华文新魏" panose="02010800040101010101" pitchFamily="2" charset="-122"/>
              </a:rPr>
              <a:t>10</a:t>
            </a:r>
            <a:r>
              <a:rPr lang="zh-CN" altLang="en-US" sz="1800" dirty="0">
                <a:solidFill>
                  <a:schemeClr val="accent2"/>
                </a:solidFill>
                <a:latin typeface="Arial" panose="020B0604020202020204" pitchFamily="34" charset="0"/>
                <a:ea typeface="华文新魏" panose="02010800040101010101" pitchFamily="2" charset="-122"/>
              </a:rPr>
              <a:t>月</a:t>
            </a:r>
            <a:r>
              <a:rPr lang="en-US" altLang="zh-CN" sz="1800" dirty="0">
                <a:solidFill>
                  <a:schemeClr val="accent2"/>
                </a:solidFill>
                <a:latin typeface="Arial" panose="020B0604020202020204" pitchFamily="34" charset="0"/>
                <a:ea typeface="华文新魏" panose="02010800040101010101" pitchFamily="2" charset="-122"/>
              </a:rPr>
              <a:t>16</a:t>
            </a:r>
            <a:r>
              <a:rPr lang="zh-CN" altLang="en-US" sz="1800" dirty="0">
                <a:solidFill>
                  <a:schemeClr val="accent2"/>
                </a:solidFill>
                <a:latin typeface="Arial" panose="020B0604020202020204" pitchFamily="34" charset="0"/>
                <a:ea typeface="华文新魏" panose="02010800040101010101" pitchFamily="2" charset="-122"/>
              </a:rPr>
              <a:t>日星期一</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1029" name="Rectangle 6">
            <a:extLst>
              <a:ext uri="{FF2B5EF4-FFF2-40B4-BE49-F238E27FC236}">
                <a16:creationId xmlns:a16="http://schemas.microsoft.com/office/drawing/2014/main" id="{D5C3C814-1978-2003-7ECF-E4814F86ABBE}"/>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2E8510D0-61DA-467A-B38D-FB0CFE2B1246}"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1030" name="Line 7">
            <a:extLst>
              <a:ext uri="{FF2B5EF4-FFF2-40B4-BE49-F238E27FC236}">
                <a16:creationId xmlns:a16="http://schemas.microsoft.com/office/drawing/2014/main" id="{1A7A9D04-415D-0818-1ABE-7E07A5661875}"/>
              </a:ext>
            </a:extLst>
          </p:cNvPr>
          <p:cNvSpPr>
            <a:spLocks noChangeShapeType="1"/>
          </p:cNvSpPr>
          <p:nvPr/>
        </p:nvSpPr>
        <p:spPr bwMode="auto">
          <a:xfrm>
            <a:off x="0" y="549275"/>
            <a:ext cx="914400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023"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 id="2147484011" r:id="rId13"/>
  </p:sldLayoutIdLst>
  <p:txStyles>
    <p:titleStyle>
      <a:lvl1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kern="1200">
          <a:solidFill>
            <a:srgbClr val="000000"/>
          </a:solidFill>
          <a:latin typeface="+mj-lt"/>
          <a:ea typeface="+mj-ea"/>
          <a:cs typeface="+mj-cs"/>
        </a:defRPr>
      </a:lvl1pPr>
      <a:lvl2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2pPr>
      <a:lvl3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3pPr>
      <a:lvl4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4pPr>
      <a:lvl5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5pPr>
      <a:lvl6pPr marL="4572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6pPr>
      <a:lvl7pPr marL="9144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7pPr>
      <a:lvl8pPr marL="13716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8pPr>
      <a:lvl9pPr marL="18288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9pPr>
    </p:titleStyle>
    <p:bodyStyle>
      <a:lvl1pPr marL="450850" indent="-450850" algn="l" defTabSz="449263" rtl="0" eaLnBrk="0" fontAlgn="base" hangingPunct="0">
        <a:spcBef>
          <a:spcPts val="800"/>
        </a:spcBef>
        <a:spcAft>
          <a:spcPts val="800"/>
        </a:spcAft>
        <a:buClr>
          <a:srgbClr val="000000"/>
        </a:buClr>
        <a:buFont typeface="Arial" panose="020B0604020202020204" pitchFamily="34" charset="0"/>
        <a:buBlip>
          <a:blip r:embed="rId16"/>
        </a:buBlip>
        <a:defRPr sz="2800" b="1" kern="1200">
          <a:solidFill>
            <a:srgbClr val="000000"/>
          </a:solidFill>
          <a:latin typeface="+mn-lt"/>
          <a:ea typeface="+mn-ea"/>
          <a:cs typeface="+mn-cs"/>
        </a:defRPr>
      </a:lvl1pPr>
      <a:lvl2pPr marL="987425" indent="-357188" algn="l" defTabSz="449263" rtl="0" eaLnBrk="0" fontAlgn="base" hangingPunct="0">
        <a:spcBef>
          <a:spcPts val="800"/>
        </a:spcBef>
        <a:spcAft>
          <a:spcPts val="800"/>
        </a:spcAft>
        <a:buClr>
          <a:srgbClr val="000000"/>
        </a:buClr>
        <a:buFont typeface="Arial" panose="020B0604020202020204" pitchFamily="34" charset="0"/>
        <a:buBlip>
          <a:blip r:embed="rId17"/>
        </a:buBlip>
        <a:defRPr sz="2400" b="1" kern="1200">
          <a:solidFill>
            <a:srgbClr val="000000"/>
          </a:solidFill>
          <a:latin typeface="+mn-lt"/>
          <a:ea typeface="+mn-ea"/>
          <a:cs typeface="+mn-cs"/>
        </a:defRPr>
      </a:lvl2pPr>
      <a:lvl3pPr marL="1609725" indent="-357188" algn="l" defTabSz="449263" rtl="0" eaLnBrk="0" fontAlgn="base" hangingPunct="0">
        <a:spcBef>
          <a:spcPts val="800"/>
        </a:spcBef>
        <a:spcAft>
          <a:spcPts val="800"/>
        </a:spcAft>
        <a:buClr>
          <a:srgbClr val="000000"/>
        </a:buClr>
        <a:buSzPct val="125000"/>
        <a:buFont typeface="Arial" panose="020B0604020202020204" pitchFamily="34" charset="0"/>
        <a:buBlip>
          <a:blip r:embed="rId18"/>
        </a:buBlip>
        <a:defRPr sz="2000" b="1" kern="1200">
          <a:solidFill>
            <a:srgbClr val="000000"/>
          </a:solidFill>
          <a:latin typeface="+mn-lt"/>
          <a:ea typeface="+mn-ea"/>
          <a:cs typeface="+mn-cs"/>
        </a:defRPr>
      </a:lvl3pPr>
      <a:lvl4pPr marL="2157413" indent="-368300" algn="l" defTabSz="449263" rtl="0" eaLnBrk="0" fontAlgn="base" hangingPunct="0">
        <a:spcBef>
          <a:spcPts val="800"/>
        </a:spcBef>
        <a:spcAft>
          <a:spcPts val="800"/>
        </a:spcAft>
        <a:buClr>
          <a:srgbClr val="000000"/>
        </a:buClr>
        <a:buSzPct val="100000"/>
        <a:buFont typeface="Arial" panose="020B0604020202020204" pitchFamily="34" charset="0"/>
        <a:buBlip>
          <a:blip r:embed="rId19"/>
        </a:buBlip>
        <a:defRPr sz="2000" b="1" kern="1200">
          <a:solidFill>
            <a:srgbClr val="000000"/>
          </a:solidFill>
          <a:latin typeface="Arial" panose="020B0604020202020204" pitchFamily="34" charset="0"/>
          <a:ea typeface="+mn-ea"/>
          <a:cs typeface="+mn-cs"/>
        </a:defRPr>
      </a:lvl4pPr>
      <a:lvl5pPr marL="2565400" indent="-228600" algn="l" defTabSz="449263" rtl="0" eaLnBrk="0" fontAlgn="base" hangingPunct="0">
        <a:spcBef>
          <a:spcPts val="338"/>
        </a:spcBef>
        <a:spcAft>
          <a:spcPct val="0"/>
        </a:spcAft>
        <a:buClr>
          <a:srgbClr val="000000"/>
        </a:buClr>
        <a:buSzPct val="100000"/>
        <a:buFont typeface="Arial" panose="020B0604020202020204" pitchFamily="34" charset="0"/>
        <a:buChar char="»"/>
        <a:defRPr sz="2000" b="1" kern="1200">
          <a:solidFill>
            <a:srgbClr val="00000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E929D23-AC36-8A9E-C2AC-8CCDA4BF89B1}"/>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B444B6C7-364B-E477-7BE9-B29092F366FC}"/>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a:extLst>
              <a:ext uri="{FF2B5EF4-FFF2-40B4-BE49-F238E27FC236}">
                <a16:creationId xmlns:a16="http://schemas.microsoft.com/office/drawing/2014/main" id="{56AA7828-F9D9-45B5-2FB3-B4E703CAFF05}"/>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3" name="Rectangle 5">
            <a:extLst>
              <a:ext uri="{FF2B5EF4-FFF2-40B4-BE49-F238E27FC236}">
                <a16:creationId xmlns:a16="http://schemas.microsoft.com/office/drawing/2014/main" id="{002009DA-6D8D-71A8-D233-E20A758AE5B7}"/>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4" name="Rectangle 6">
            <a:extLst>
              <a:ext uri="{FF2B5EF4-FFF2-40B4-BE49-F238E27FC236}">
                <a16:creationId xmlns:a16="http://schemas.microsoft.com/office/drawing/2014/main" id="{027E15B2-C103-195F-C7EE-A9545C0A57DE}"/>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b="0" smtClean="0">
                <a:solidFill>
                  <a:schemeClr val="tx1"/>
                </a:solidFill>
                <a:latin typeface="Times New Roman" panose="02020603050405020304" pitchFamily="18" charset="0"/>
              </a:defRPr>
            </a:lvl1pPr>
          </a:lstStyle>
          <a:p>
            <a:pPr>
              <a:defRPr/>
            </a:pPr>
            <a:fld id="{2BE86B3C-0FC6-47B3-AD5A-8C7E5D9A01A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a:extLst>
              <a:ext uri="{FF2B5EF4-FFF2-40B4-BE49-F238E27FC236}">
                <a16:creationId xmlns:a16="http://schemas.microsoft.com/office/drawing/2014/main" id="{5DDBD0E6-CD38-693F-C26F-559A194ADF2B}"/>
              </a:ext>
            </a:extLst>
          </p:cNvPr>
          <p:cNvSpPr>
            <a:spLocks noGrp="1" noChangeArrowheads="1"/>
          </p:cNvSpPr>
          <p:nvPr>
            <p:ph type="subTitle" idx="1"/>
          </p:nvPr>
        </p:nvSpPr>
        <p:spPr>
          <a:xfrm>
            <a:off x="684213" y="3716338"/>
            <a:ext cx="7848600" cy="2592387"/>
          </a:xfrm>
        </p:spPr>
        <p:txBody>
          <a:bodyPr/>
          <a:lstStyle/>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天津工业大学软件学院</a:t>
            </a:r>
          </a:p>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张桂玲</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ctr" eaLnBrk="1" hangingPunct="1">
              <a:buFont typeface="Times New Roman" panose="02020603050405020304" pitchFamily="18" charset="0"/>
              <a:buNone/>
              <a:defRPr/>
            </a:pP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2025.8</a:t>
            </a:r>
          </a:p>
        </p:txBody>
      </p:sp>
      <p:sp>
        <p:nvSpPr>
          <p:cNvPr id="3079" name="Rectangle 7" descr="花束">
            <a:extLst>
              <a:ext uri="{FF2B5EF4-FFF2-40B4-BE49-F238E27FC236}">
                <a16:creationId xmlns:a16="http://schemas.microsoft.com/office/drawing/2014/main" id="{9DB7D7AE-66DB-1D30-5AA9-F26C417B6243}"/>
              </a:ext>
            </a:extLst>
          </p:cNvPr>
          <p:cNvSpPr>
            <a:spLocks noChangeArrowheads="1"/>
          </p:cNvSpPr>
          <p:nvPr/>
        </p:nvSpPr>
        <p:spPr bwMode="auto">
          <a:xfrm>
            <a:off x="900113" y="1196975"/>
            <a:ext cx="7632700" cy="1584325"/>
          </a:xfrm>
          <a:prstGeom prst="rect">
            <a:avLst/>
          </a:prstGeom>
          <a:blipFill dpi="0" rotWithShape="1">
            <a:blip r:embed="rId3"/>
            <a:srcRect/>
            <a:tile tx="0" ty="0" sx="100000" sy="100000" flip="none" algn="tl"/>
          </a:blipFill>
          <a:ln w="9525">
            <a:solidFill>
              <a:schemeClr val="tx1"/>
            </a:solidFill>
            <a:miter lim="800000"/>
            <a:headEnd/>
            <a:tailEnd/>
          </a:ln>
          <a:effectLst/>
        </p:spPr>
        <p:txBody>
          <a:bodyPr anchor="ctr"/>
          <a:lstStyle>
            <a:lvl1pPr defTabSz="449263">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Font typeface="Times New Roman" panose="02020603050405020304" pitchFamily="18" charset="0"/>
              <a:buNone/>
              <a:defRPr/>
            </a:pPr>
            <a:r>
              <a:rPr lang="en-US" altLang="zh-CN" sz="6000" dirty="0">
                <a:effectLst>
                  <a:outerShdw blurRad="38100" dist="38100" dir="2700000" algn="tl">
                    <a:srgbClr val="C0C0C0"/>
                  </a:outerShdw>
                </a:effectLst>
                <a:latin typeface="华文新魏" panose="02010800040101010101" pitchFamily="2" charset="-122"/>
                <a:ea typeface="华文新魏" panose="02010800040101010101" pitchFamily="2" charset="-122"/>
              </a:rPr>
              <a:t>Linux</a:t>
            </a:r>
            <a:r>
              <a:rPr lang="zh-CN" altLang="en-US" sz="6000" dirty="0">
                <a:effectLst>
                  <a:outerShdw blurRad="38100" dist="38100" dir="2700000" algn="tl">
                    <a:srgbClr val="C0C0C0"/>
                  </a:outerShdw>
                </a:effectLst>
                <a:latin typeface="华文新魏" panose="02010800040101010101" pitchFamily="2" charset="-122"/>
                <a:ea typeface="华文新魏" panose="02010800040101010101" pitchFamily="2" charset="-122"/>
              </a:rPr>
              <a:t>系统与安全</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标题 5128">
            <a:extLst>
              <a:ext uri="{FF2B5EF4-FFF2-40B4-BE49-F238E27FC236}">
                <a16:creationId xmlns:a16="http://schemas.microsoft.com/office/drawing/2014/main" id="{32F51D9B-3EAC-1B22-FAAD-40F13A6E210C}"/>
              </a:ext>
            </a:extLst>
          </p:cNvPr>
          <p:cNvSpPr>
            <a:spLocks noGrp="1" noChangeArrowheads="1"/>
          </p:cNvSpPr>
          <p:nvPr>
            <p:ph type="title"/>
          </p:nvPr>
        </p:nvSpPr>
        <p:spPr/>
        <p:txBody>
          <a:bodyPr/>
          <a:lstStyle/>
          <a:p>
            <a:pPr eaLnBrk="1" hangingPunct="1"/>
            <a:r>
              <a:rPr lang="zh-CN" altLang="en-US"/>
              <a:t>第5章  文件系统安全使用与管理</a:t>
            </a:r>
          </a:p>
        </p:txBody>
      </p:sp>
      <p:sp>
        <p:nvSpPr>
          <p:cNvPr id="8195" name="矩形 2">
            <a:extLst>
              <a:ext uri="{FF2B5EF4-FFF2-40B4-BE49-F238E27FC236}">
                <a16:creationId xmlns:a16="http://schemas.microsoft.com/office/drawing/2014/main" id="{F95A8349-DC21-C283-1572-A9E8BBD84C4F}"/>
              </a:ext>
            </a:extLst>
          </p:cNvPr>
          <p:cNvSpPr>
            <a:spLocks noChangeArrowheads="1"/>
          </p:cNvSpPr>
          <p:nvPr/>
        </p:nvSpPr>
        <p:spPr bwMode="auto">
          <a:xfrm>
            <a:off x="34925" y="620713"/>
            <a:ext cx="900112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5400"/>
              <a:t>5.1</a:t>
            </a:r>
            <a:r>
              <a:rPr lang="zh-CN" altLang="en-US" sz="5400"/>
              <a:t>文件系统权限及安全管理</a:t>
            </a:r>
          </a:p>
          <a:p>
            <a:r>
              <a:rPr lang="en-US" altLang="zh-CN" sz="5400"/>
              <a:t>5.2  </a:t>
            </a:r>
            <a:r>
              <a:rPr lang="zh-CN" altLang="en-US" sz="5400"/>
              <a:t>权限安全管理命令</a:t>
            </a:r>
          </a:p>
          <a:p>
            <a:r>
              <a:rPr lang="en-US" altLang="zh-CN" sz="5400"/>
              <a:t>5.3  </a:t>
            </a:r>
            <a:r>
              <a:rPr lang="zh-CN" altLang="en-US" sz="5400"/>
              <a:t>文件系统安全管理</a:t>
            </a:r>
          </a:p>
          <a:p>
            <a:r>
              <a:rPr lang="en-US" altLang="zh-CN" sz="5400"/>
              <a:t>5.4  </a:t>
            </a:r>
            <a:r>
              <a:rPr lang="zh-CN" altLang="en-US" sz="5400"/>
              <a:t>与文件系统安全管理相关的其他命令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D91A4E59-E847-79B0-FBF4-B5427113958E}"/>
              </a:ext>
            </a:extLst>
          </p:cNvPr>
          <p:cNvSpPr>
            <a:spLocks noGrp="1" noChangeArrowheads="1"/>
          </p:cNvSpPr>
          <p:nvPr>
            <p:ph type="title"/>
          </p:nvPr>
        </p:nvSpPr>
        <p:spPr/>
        <p:txBody>
          <a:bodyPr/>
          <a:lstStyle/>
          <a:p>
            <a:pPr eaLnBrk="1" hangingPunct="1"/>
            <a:r>
              <a:rPr lang="zh-CN" altLang="en-US"/>
              <a:t>5.1文件系统权限及安全管理</a:t>
            </a:r>
          </a:p>
        </p:txBody>
      </p:sp>
      <p:sp>
        <p:nvSpPr>
          <p:cNvPr id="6147" name="内容占位符 2">
            <a:extLst>
              <a:ext uri="{FF2B5EF4-FFF2-40B4-BE49-F238E27FC236}">
                <a16:creationId xmlns:a16="http://schemas.microsoft.com/office/drawing/2014/main" id="{31AD39DD-0A25-FCEA-D3A9-1C74D0CEEF04}"/>
              </a:ext>
            </a:extLst>
          </p:cNvPr>
          <p:cNvSpPr>
            <a:spLocks noGrp="1" noChangeArrowheads="1"/>
          </p:cNvSpPr>
          <p:nvPr>
            <p:ph idx="1"/>
          </p:nvPr>
        </p:nvSpPr>
        <p:spPr>
          <a:xfrm>
            <a:off x="0" y="404813"/>
            <a:ext cx="9109075" cy="5761037"/>
          </a:xfrm>
        </p:spPr>
        <p:txBody>
          <a:bodyPr/>
          <a:lstStyle/>
          <a:p>
            <a:pPr eaLnBrk="1" hangingPunct="1">
              <a:spcBef>
                <a:spcPts val="0"/>
              </a:spcBef>
              <a:spcAft>
                <a:spcPts val="0"/>
              </a:spcAft>
              <a:defRPr/>
            </a:pPr>
            <a:r>
              <a:rPr lang="zh-CN" altLang="en-US" sz="3600" dirty="0"/>
              <a:t>UNIX/Linux的文件系统除具有一般文件系统特点外，还具有以下特点。</a:t>
            </a:r>
          </a:p>
          <a:p>
            <a:pPr marL="0" indent="0" eaLnBrk="1" hangingPunct="1">
              <a:spcBef>
                <a:spcPts val="0"/>
              </a:spcBef>
              <a:spcAft>
                <a:spcPts val="0"/>
              </a:spcAft>
              <a:buFont typeface="Arial" panose="020B0604020202020204" pitchFamily="34" charset="0"/>
              <a:buNone/>
              <a:defRPr/>
            </a:pPr>
            <a:r>
              <a:rPr lang="zh-CN" altLang="en-US" sz="3600" dirty="0"/>
              <a:t>（1）</a:t>
            </a:r>
            <a:r>
              <a:rPr lang="zh-CN" altLang="en-US" sz="3600" dirty="0">
                <a:solidFill>
                  <a:srgbClr val="FF0000"/>
                </a:solidFill>
              </a:rPr>
              <a:t>文件</a:t>
            </a:r>
            <a:r>
              <a:rPr lang="zh-CN" altLang="en-US" sz="3600" dirty="0"/>
              <a:t>是</a:t>
            </a:r>
            <a:r>
              <a:rPr lang="zh-CN" altLang="en-US" sz="3600" dirty="0">
                <a:solidFill>
                  <a:srgbClr val="FF0000"/>
                </a:solidFill>
              </a:rPr>
              <a:t>无结构</a:t>
            </a:r>
            <a:r>
              <a:rPr lang="zh-CN" altLang="en-US" sz="3600" dirty="0"/>
              <a:t>的</a:t>
            </a:r>
            <a:r>
              <a:rPr lang="zh-CN" altLang="en-US" sz="3600" dirty="0">
                <a:solidFill>
                  <a:srgbClr val="FF0000"/>
                </a:solidFill>
              </a:rPr>
              <a:t>字符流</a:t>
            </a:r>
            <a:r>
              <a:rPr lang="zh-CN" altLang="en-US" sz="3600" dirty="0"/>
              <a:t>。</a:t>
            </a:r>
          </a:p>
          <a:p>
            <a:pPr marL="0" indent="0" eaLnBrk="1" hangingPunct="1">
              <a:spcBef>
                <a:spcPts val="0"/>
              </a:spcBef>
              <a:spcAft>
                <a:spcPts val="0"/>
              </a:spcAft>
              <a:buFont typeface="Arial" panose="020B0604020202020204" pitchFamily="34" charset="0"/>
              <a:buNone/>
              <a:defRPr/>
            </a:pPr>
            <a:r>
              <a:rPr lang="zh-CN" altLang="en-US" sz="3600" dirty="0"/>
              <a:t>（2）文件可通过</a:t>
            </a:r>
            <a:r>
              <a:rPr lang="zh-CN" altLang="en-US" sz="3600" dirty="0">
                <a:solidFill>
                  <a:srgbClr val="FF0000"/>
                </a:solidFill>
              </a:rPr>
              <a:t>设置权限</a:t>
            </a:r>
            <a:r>
              <a:rPr lang="zh-CN" altLang="en-US" sz="3600" dirty="0"/>
              <a:t>的办法加以</a:t>
            </a:r>
            <a:r>
              <a:rPr lang="zh-CN" altLang="en-US" sz="3600" dirty="0">
                <a:solidFill>
                  <a:srgbClr val="FF0000"/>
                </a:solidFill>
              </a:rPr>
              <a:t>保护</a:t>
            </a:r>
            <a:r>
              <a:rPr lang="zh-CN" altLang="en-US" sz="3600" dirty="0"/>
              <a:t>。</a:t>
            </a:r>
          </a:p>
          <a:p>
            <a:pPr marL="0" indent="0" eaLnBrk="1" hangingPunct="1">
              <a:spcBef>
                <a:spcPts val="0"/>
              </a:spcBef>
              <a:spcAft>
                <a:spcPts val="0"/>
              </a:spcAft>
              <a:buFont typeface="Arial" panose="020B0604020202020204" pitchFamily="34" charset="0"/>
              <a:buNone/>
              <a:defRPr/>
            </a:pPr>
            <a:r>
              <a:rPr lang="zh-CN" altLang="en-US" sz="3600" dirty="0"/>
              <a:t>（3）</a:t>
            </a:r>
            <a:r>
              <a:rPr lang="zh-CN" altLang="en-US" sz="3600" dirty="0">
                <a:solidFill>
                  <a:srgbClr val="FF0000"/>
                </a:solidFill>
              </a:rPr>
              <a:t>外部设备</a:t>
            </a:r>
            <a:r>
              <a:rPr lang="zh-CN" altLang="en-US" sz="3600" dirty="0"/>
              <a:t>都被</a:t>
            </a:r>
            <a:r>
              <a:rPr lang="zh-CN" altLang="en-US" sz="3600" dirty="0">
                <a:solidFill>
                  <a:srgbClr val="FF0000"/>
                </a:solidFill>
              </a:rPr>
              <a:t>看成文件</a:t>
            </a:r>
            <a:r>
              <a:rPr lang="zh-CN" altLang="en-US" sz="3600" dirty="0"/>
              <a:t>，在系统内</a:t>
            </a:r>
            <a:r>
              <a:rPr lang="zh-CN" altLang="en-US" sz="3600" dirty="0">
                <a:solidFill>
                  <a:srgbClr val="FF0000"/>
                </a:solidFill>
              </a:rPr>
              <a:t>与普通文件统一管理</a:t>
            </a:r>
            <a:r>
              <a:rPr lang="zh-CN" altLang="en-US" sz="3600" dirty="0"/>
              <a:t>。</a:t>
            </a:r>
          </a:p>
          <a:p>
            <a:pPr eaLnBrk="1" hangingPunct="1">
              <a:spcBef>
                <a:spcPts val="0"/>
              </a:spcBef>
              <a:spcAft>
                <a:spcPts val="0"/>
              </a:spcAft>
              <a:defRPr/>
            </a:pPr>
            <a:r>
              <a:rPr lang="zh-CN" altLang="en-US" sz="3600" dirty="0"/>
              <a:t>UNIX/Linux用</a:t>
            </a:r>
            <a:r>
              <a:rPr lang="zh-CN" altLang="en-US" sz="3600" dirty="0">
                <a:solidFill>
                  <a:srgbClr val="FF0000"/>
                </a:solidFill>
              </a:rPr>
              <a:t>文件存取控制表</a:t>
            </a:r>
            <a:r>
              <a:rPr lang="zh-CN" altLang="en-US" sz="3600" dirty="0"/>
              <a:t>来解决存取</a:t>
            </a:r>
            <a:r>
              <a:rPr lang="zh-CN" altLang="en-US" sz="3600" dirty="0">
                <a:solidFill>
                  <a:srgbClr val="FF0000"/>
                </a:solidFill>
              </a:rPr>
              <a:t>权限的控制问题（</a:t>
            </a:r>
            <a:r>
              <a:rPr lang="zh-CN" altLang="en-US" sz="3600" i="1" u="sng" dirty="0">
                <a:solidFill>
                  <a:srgbClr val="FF0000"/>
                </a:solidFill>
              </a:rPr>
              <a:t>重要的安全解决策略</a:t>
            </a:r>
            <a:r>
              <a:rPr lang="zh-CN" altLang="en-US" sz="3600" dirty="0">
                <a:solidFill>
                  <a:srgbClr val="FF0000"/>
                </a:solidFill>
              </a:rPr>
              <a:t>）</a:t>
            </a:r>
            <a:r>
              <a:rPr lang="zh-CN" altLang="en-US" sz="3600" dirty="0"/>
              <a:t>。</a:t>
            </a:r>
          </a:p>
          <a:p>
            <a:pPr eaLnBrk="1" hangingPunct="1">
              <a:spcBef>
                <a:spcPts val="0"/>
              </a:spcBef>
              <a:spcAft>
                <a:spcPts val="0"/>
              </a:spcAft>
              <a:defRPr/>
            </a:pPr>
            <a:r>
              <a:rPr lang="zh-CN" altLang="en-US" sz="3600" dirty="0"/>
              <a:t>存取控制表以</a:t>
            </a:r>
            <a:r>
              <a:rPr lang="zh-CN" altLang="en-US" sz="3600" dirty="0">
                <a:solidFill>
                  <a:srgbClr val="FF0000"/>
                </a:solidFill>
              </a:rPr>
              <a:t>文件为单位（</a:t>
            </a:r>
            <a:r>
              <a:rPr lang="zh-CN" altLang="en-US" sz="3600" i="1" u="sng" dirty="0">
                <a:solidFill>
                  <a:srgbClr val="FF0000"/>
                </a:solidFill>
              </a:rPr>
              <a:t>重要的安全文件</a:t>
            </a:r>
            <a:r>
              <a:rPr lang="zh-CN" altLang="en-US" sz="3600" dirty="0">
                <a:solidFill>
                  <a:srgbClr val="FF0000"/>
                </a:solidFill>
              </a:rPr>
              <a:t>）</a:t>
            </a:r>
            <a:r>
              <a:rPr lang="zh-CN" altLang="en-US" sz="3600" dirty="0"/>
              <a:t>，把用户按某种关系分为若干类，同时</a:t>
            </a:r>
            <a:r>
              <a:rPr lang="zh-CN" altLang="en-US" sz="3600" dirty="0">
                <a:solidFill>
                  <a:srgbClr val="FF0000"/>
                </a:solidFill>
              </a:rPr>
              <a:t>规定每类用户</a:t>
            </a:r>
            <a:r>
              <a:rPr lang="zh-CN" altLang="en-US" sz="3600" dirty="0"/>
              <a:t>的</a:t>
            </a:r>
            <a:r>
              <a:rPr lang="zh-CN" altLang="en-US" sz="3600" dirty="0">
                <a:solidFill>
                  <a:srgbClr val="FF0000"/>
                </a:solidFill>
              </a:rPr>
              <a:t>存取权限。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466B7964-4526-14FF-DFF3-E567AF758067}"/>
              </a:ext>
            </a:extLst>
          </p:cNvPr>
          <p:cNvSpPr>
            <a:spLocks noGrp="1" noChangeArrowheads="1"/>
          </p:cNvSpPr>
          <p:nvPr>
            <p:ph type="title"/>
          </p:nvPr>
        </p:nvSpPr>
        <p:spPr/>
        <p:txBody>
          <a:bodyPr/>
          <a:lstStyle/>
          <a:p>
            <a:pPr eaLnBrk="1" hangingPunct="1"/>
            <a:r>
              <a:rPr lang="zh-CN" altLang="en-US"/>
              <a:t>5.1  文件系统权限及安全管理</a:t>
            </a:r>
          </a:p>
        </p:txBody>
      </p:sp>
      <p:sp>
        <p:nvSpPr>
          <p:cNvPr id="10243" name="矩形 1">
            <a:extLst>
              <a:ext uri="{FF2B5EF4-FFF2-40B4-BE49-F238E27FC236}">
                <a16:creationId xmlns:a16="http://schemas.microsoft.com/office/drawing/2014/main" id="{5C571986-486F-BE28-25C4-586144911623}"/>
              </a:ext>
            </a:extLst>
          </p:cNvPr>
          <p:cNvSpPr>
            <a:spLocks noChangeArrowheads="1"/>
          </p:cNvSpPr>
          <p:nvPr/>
        </p:nvSpPr>
        <p:spPr bwMode="auto">
          <a:xfrm>
            <a:off x="107950" y="1196975"/>
            <a:ext cx="910748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5400"/>
              <a:t>5.1.1  </a:t>
            </a:r>
            <a:r>
              <a:rPr lang="zh-CN" altLang="en-US" sz="5400">
                <a:solidFill>
                  <a:srgbClr val="FF0000"/>
                </a:solidFill>
              </a:rPr>
              <a:t>三</a:t>
            </a:r>
            <a:r>
              <a:rPr lang="zh-CN" altLang="en-US" sz="5400"/>
              <a:t>种权限</a:t>
            </a:r>
          </a:p>
          <a:p>
            <a:r>
              <a:rPr lang="en-US" altLang="zh-CN" sz="5400"/>
              <a:t>5.1.2  </a:t>
            </a:r>
            <a:r>
              <a:rPr lang="zh-CN" altLang="en-US" sz="5400">
                <a:solidFill>
                  <a:srgbClr val="FF0000"/>
                </a:solidFill>
              </a:rPr>
              <a:t>三</a:t>
            </a:r>
            <a:r>
              <a:rPr lang="zh-CN" altLang="en-US" sz="5400"/>
              <a:t>类人</a:t>
            </a:r>
          </a:p>
          <a:p>
            <a:r>
              <a:rPr lang="en-US" altLang="zh-CN" sz="5400"/>
              <a:t>5.1.3  </a:t>
            </a:r>
            <a:r>
              <a:rPr lang="zh-CN" altLang="en-US" sz="5400"/>
              <a:t>权限</a:t>
            </a:r>
            <a:r>
              <a:rPr lang="zh-CN" altLang="en-US" sz="5400">
                <a:solidFill>
                  <a:srgbClr val="FF0000"/>
                </a:solidFill>
              </a:rPr>
              <a:t>控制</a:t>
            </a:r>
          </a:p>
          <a:p>
            <a:r>
              <a:rPr lang="en-US" altLang="zh-CN" sz="5400"/>
              <a:t>5.1.4  </a:t>
            </a:r>
            <a:r>
              <a:rPr lang="zh-CN" altLang="en-US" sz="5400">
                <a:solidFill>
                  <a:srgbClr val="FF0000"/>
                </a:solidFill>
              </a:rPr>
              <a:t>默认</a:t>
            </a:r>
            <a:r>
              <a:rPr lang="zh-CN" altLang="en-US" sz="5400"/>
              <a:t>权限与</a:t>
            </a:r>
            <a:r>
              <a:rPr lang="en-US" altLang="zh-CN" sz="5400">
                <a:solidFill>
                  <a:srgbClr val="FF0000"/>
                </a:solidFill>
              </a:rPr>
              <a:t>umask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D20E07C5-E957-96AF-26A0-B9AB570022AA}"/>
              </a:ext>
            </a:extLst>
          </p:cNvPr>
          <p:cNvSpPr>
            <a:spLocks noGrp="1" noChangeArrowheads="1"/>
          </p:cNvSpPr>
          <p:nvPr>
            <p:ph type="title"/>
          </p:nvPr>
        </p:nvSpPr>
        <p:spPr/>
        <p:txBody>
          <a:bodyPr/>
          <a:lstStyle/>
          <a:p>
            <a:pPr eaLnBrk="1" hangingPunct="1"/>
            <a:r>
              <a:rPr lang="zh-CN" altLang="en-US"/>
              <a:t>5.1.1  三种权限</a:t>
            </a:r>
          </a:p>
        </p:txBody>
      </p:sp>
      <p:sp>
        <p:nvSpPr>
          <p:cNvPr id="11267" name="内容占位符 2">
            <a:extLst>
              <a:ext uri="{FF2B5EF4-FFF2-40B4-BE49-F238E27FC236}">
                <a16:creationId xmlns:a16="http://schemas.microsoft.com/office/drawing/2014/main" id="{F3CF3BB9-C6DA-F942-36E5-E3B15EB975FD}"/>
              </a:ext>
            </a:extLst>
          </p:cNvPr>
          <p:cNvSpPr>
            <a:spLocks noGrp="1" noChangeArrowheads="1"/>
          </p:cNvSpPr>
          <p:nvPr>
            <p:ph idx="1"/>
          </p:nvPr>
        </p:nvSpPr>
        <p:spPr>
          <a:xfrm>
            <a:off x="0" y="404813"/>
            <a:ext cx="9109075" cy="5761037"/>
          </a:xfrm>
        </p:spPr>
        <p:txBody>
          <a:bodyPr/>
          <a:lstStyle/>
          <a:p>
            <a:pPr marL="0" indent="0" eaLnBrk="1" hangingPunct="1">
              <a:spcBef>
                <a:spcPct val="0"/>
              </a:spcBef>
              <a:spcAft>
                <a:spcPct val="0"/>
              </a:spcAft>
              <a:buFont typeface="Arial" panose="020B0604020202020204" pitchFamily="34" charset="0"/>
              <a:buNone/>
            </a:pPr>
            <a:r>
              <a:rPr lang="zh-CN" altLang="en-US" sz="3600">
                <a:solidFill>
                  <a:srgbClr val="FF0000"/>
                </a:solidFill>
              </a:rPr>
              <a:t>普通权限</a:t>
            </a:r>
            <a:r>
              <a:rPr lang="zh-CN" altLang="en-US" sz="3600"/>
              <a:t>共有</a:t>
            </a:r>
            <a:r>
              <a:rPr lang="zh-CN" altLang="en-US" sz="3600">
                <a:solidFill>
                  <a:srgbClr val="FF0000"/>
                </a:solidFill>
              </a:rPr>
              <a:t>三种</a:t>
            </a:r>
            <a:r>
              <a:rPr lang="zh-CN" altLang="en-US" sz="3600"/>
              <a:t>。</a:t>
            </a:r>
          </a:p>
          <a:p>
            <a:pPr marL="0" indent="0" eaLnBrk="1" hangingPunct="1">
              <a:spcBef>
                <a:spcPct val="0"/>
              </a:spcBef>
              <a:spcAft>
                <a:spcPct val="0"/>
              </a:spcAft>
              <a:buFont typeface="Arial" panose="020B0604020202020204" pitchFamily="34" charset="0"/>
              <a:buNone/>
            </a:pPr>
            <a:r>
              <a:rPr lang="zh-CN" altLang="en-US" sz="3600"/>
              <a:t>（1）</a:t>
            </a:r>
            <a:r>
              <a:rPr lang="zh-CN" altLang="en-US" sz="3600">
                <a:solidFill>
                  <a:srgbClr val="FF0000"/>
                </a:solidFill>
              </a:rPr>
              <a:t>读权限（r）</a:t>
            </a:r>
            <a:r>
              <a:rPr lang="zh-CN" altLang="en-US" sz="3600"/>
              <a:t>：指</a:t>
            </a:r>
            <a:r>
              <a:rPr lang="zh-CN" altLang="en-US" sz="3600">
                <a:solidFill>
                  <a:srgbClr val="FF0000"/>
                </a:solidFill>
              </a:rPr>
              <a:t>用户</a:t>
            </a:r>
            <a:r>
              <a:rPr lang="zh-CN" altLang="en-US" sz="3600"/>
              <a:t>对文件或目录</a:t>
            </a:r>
            <a:r>
              <a:rPr lang="zh-CN" altLang="en-US" sz="3600">
                <a:solidFill>
                  <a:srgbClr val="FF0000"/>
                </a:solidFill>
              </a:rPr>
              <a:t>查看</a:t>
            </a:r>
            <a:r>
              <a:rPr lang="zh-CN" altLang="en-US" sz="3600"/>
              <a:t>权限。</a:t>
            </a:r>
            <a:endParaRPr lang="en-US" altLang="zh-CN" sz="3600"/>
          </a:p>
          <a:p>
            <a:pPr marL="0" indent="0" eaLnBrk="1" hangingPunct="1">
              <a:spcBef>
                <a:spcPct val="0"/>
              </a:spcBef>
              <a:spcAft>
                <a:spcPct val="0"/>
              </a:spcAft>
              <a:buFont typeface="Arial" panose="020B0604020202020204" pitchFamily="34" charset="0"/>
              <a:buNone/>
            </a:pPr>
            <a:r>
              <a:rPr lang="zh-CN" altLang="en-US" sz="3600"/>
              <a:t>（2）</a:t>
            </a:r>
            <a:r>
              <a:rPr lang="zh-CN" altLang="en-US" sz="3600">
                <a:solidFill>
                  <a:srgbClr val="FF0000"/>
                </a:solidFill>
              </a:rPr>
              <a:t>写权限（w）</a:t>
            </a:r>
            <a:r>
              <a:rPr lang="zh-CN" altLang="en-US" sz="3600"/>
              <a:t>：指</a:t>
            </a:r>
            <a:r>
              <a:rPr lang="zh-CN" altLang="en-US" sz="3600">
                <a:solidFill>
                  <a:srgbClr val="FF0000"/>
                </a:solidFill>
              </a:rPr>
              <a:t>用户</a:t>
            </a:r>
            <a:r>
              <a:rPr lang="zh-CN" altLang="en-US" sz="3600"/>
              <a:t>对文件或目录的</a:t>
            </a:r>
            <a:r>
              <a:rPr lang="zh-CN" altLang="en-US" sz="3600">
                <a:solidFill>
                  <a:srgbClr val="FF0000"/>
                </a:solidFill>
              </a:rPr>
              <a:t>写权力</a:t>
            </a:r>
            <a:r>
              <a:rPr lang="zh-CN" altLang="en-US" sz="3600"/>
              <a:t>。若用户对某文件没有写权限，则不能修改它；若用户对某目录没有写权限，则不能在该目录内创建文件或子目录。</a:t>
            </a:r>
          </a:p>
          <a:p>
            <a:pPr marL="0" indent="0" eaLnBrk="1" hangingPunct="1">
              <a:spcBef>
                <a:spcPct val="0"/>
              </a:spcBef>
              <a:spcAft>
                <a:spcPct val="0"/>
              </a:spcAft>
              <a:buFont typeface="Arial" panose="020B0604020202020204" pitchFamily="34" charset="0"/>
              <a:buNone/>
            </a:pPr>
            <a:r>
              <a:rPr lang="zh-CN" altLang="en-US" sz="3600"/>
              <a:t>（3）</a:t>
            </a:r>
            <a:r>
              <a:rPr lang="zh-CN" altLang="en-US" sz="3600">
                <a:solidFill>
                  <a:srgbClr val="FF0000"/>
                </a:solidFill>
              </a:rPr>
              <a:t>执行权（x）</a:t>
            </a:r>
            <a:r>
              <a:rPr lang="zh-CN" altLang="en-US" sz="3600"/>
              <a:t>：指用户对文件的执行权或对目录的进入权限。若用户对某</a:t>
            </a:r>
            <a:r>
              <a:rPr lang="zh-CN" altLang="en-US" sz="3600">
                <a:solidFill>
                  <a:srgbClr val="FF0000"/>
                </a:solidFill>
              </a:rPr>
              <a:t>文件</a:t>
            </a:r>
            <a:r>
              <a:rPr lang="zh-CN" altLang="en-US" sz="3600"/>
              <a:t>没有执行权则</a:t>
            </a:r>
            <a:r>
              <a:rPr lang="zh-CN" altLang="en-US" sz="3600">
                <a:solidFill>
                  <a:srgbClr val="FF0000"/>
                </a:solidFill>
              </a:rPr>
              <a:t>不能执行</a:t>
            </a:r>
            <a:r>
              <a:rPr lang="zh-CN" altLang="en-US" sz="3600"/>
              <a:t>它；若用户</a:t>
            </a:r>
            <a:r>
              <a:rPr lang="zh-CN" altLang="en-US" sz="3600">
                <a:solidFill>
                  <a:srgbClr val="FF0000"/>
                </a:solidFill>
              </a:rPr>
              <a:t>对某目录没有执行权</a:t>
            </a:r>
            <a:r>
              <a:rPr lang="zh-CN" altLang="en-US" sz="3600"/>
              <a:t>则不能</a:t>
            </a:r>
            <a:r>
              <a:rPr lang="zh-CN" altLang="en-US" sz="3600">
                <a:solidFill>
                  <a:srgbClr val="FF0000"/>
                </a:solidFill>
              </a:rPr>
              <a:t>进入</a:t>
            </a:r>
            <a:r>
              <a:rPr lang="zh-CN" altLang="en-US" sz="3600"/>
              <a:t>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0316FE34-62B5-3163-7DF1-9E4118212CC2}"/>
              </a:ext>
            </a:extLst>
          </p:cNvPr>
          <p:cNvSpPr>
            <a:spLocks noGrp="1" noChangeArrowheads="1"/>
          </p:cNvSpPr>
          <p:nvPr>
            <p:ph type="title"/>
          </p:nvPr>
        </p:nvSpPr>
        <p:spPr/>
        <p:txBody>
          <a:bodyPr/>
          <a:lstStyle/>
          <a:p>
            <a:pPr eaLnBrk="1" hangingPunct="1"/>
            <a:r>
              <a:rPr lang="zh-CN" altLang="en-US"/>
              <a:t>5.1.2  三类人</a:t>
            </a:r>
          </a:p>
        </p:txBody>
      </p:sp>
      <p:sp>
        <p:nvSpPr>
          <p:cNvPr id="12291" name="内容占位符 2">
            <a:extLst>
              <a:ext uri="{FF2B5EF4-FFF2-40B4-BE49-F238E27FC236}">
                <a16:creationId xmlns:a16="http://schemas.microsoft.com/office/drawing/2014/main" id="{13A0BF2A-D5E9-EC8D-4BF8-77E6E2D87925}"/>
              </a:ext>
            </a:extLst>
          </p:cNvPr>
          <p:cNvSpPr>
            <a:spLocks noGrp="1" noChangeArrowheads="1"/>
          </p:cNvSpPr>
          <p:nvPr>
            <p:ph idx="1"/>
          </p:nvPr>
        </p:nvSpPr>
        <p:spPr>
          <a:xfrm>
            <a:off x="0" y="614363"/>
            <a:ext cx="9109075" cy="5761037"/>
          </a:xfrm>
        </p:spPr>
        <p:txBody>
          <a:bodyPr/>
          <a:lstStyle/>
          <a:p>
            <a:pPr eaLnBrk="1" hangingPunct="1">
              <a:spcBef>
                <a:spcPct val="0"/>
              </a:spcBef>
              <a:spcAft>
                <a:spcPct val="0"/>
              </a:spcAft>
            </a:pPr>
            <a:r>
              <a:rPr lang="zh-CN" altLang="en-US" sz="4400"/>
              <a:t>UNIX/Linux系统对文件操作的</a:t>
            </a:r>
            <a:r>
              <a:rPr lang="zh-CN" altLang="en-US" sz="4400">
                <a:solidFill>
                  <a:srgbClr val="FF0000"/>
                </a:solidFill>
              </a:rPr>
              <a:t>三种权限</a:t>
            </a:r>
            <a:r>
              <a:rPr lang="zh-CN" altLang="en-US" sz="4400"/>
              <a:t>只</a:t>
            </a:r>
            <a:r>
              <a:rPr lang="zh-CN" altLang="en-US" sz="4400">
                <a:solidFill>
                  <a:srgbClr val="FF0000"/>
                </a:solidFill>
              </a:rPr>
              <a:t>对三类人分配</a:t>
            </a:r>
            <a:r>
              <a:rPr lang="zh-CN" altLang="en-US" sz="4400"/>
              <a:t>，分别是用户</a:t>
            </a:r>
            <a:r>
              <a:rPr lang="zh-CN" altLang="en-US" sz="4400">
                <a:solidFill>
                  <a:srgbClr val="FF0000"/>
                </a:solidFill>
              </a:rPr>
              <a:t>主</a:t>
            </a:r>
            <a:r>
              <a:rPr lang="zh-CN" altLang="en-US" sz="4400"/>
              <a:t>（user：u）、同</a:t>
            </a:r>
            <a:r>
              <a:rPr lang="zh-CN" altLang="en-US" sz="4400">
                <a:solidFill>
                  <a:srgbClr val="FF0000"/>
                </a:solidFill>
              </a:rPr>
              <a:t>组</a:t>
            </a:r>
            <a:r>
              <a:rPr lang="zh-CN" altLang="en-US" sz="4400"/>
              <a:t>人（group：g）和</a:t>
            </a:r>
            <a:r>
              <a:rPr lang="zh-CN" altLang="en-US" sz="4400">
                <a:solidFill>
                  <a:srgbClr val="FF0000"/>
                </a:solidFill>
              </a:rPr>
              <a:t>其他</a:t>
            </a:r>
            <a:r>
              <a:rPr lang="zh-CN" altLang="en-US" sz="4400"/>
              <a:t>人（other：o）。</a:t>
            </a:r>
          </a:p>
          <a:p>
            <a:pPr eaLnBrk="1" hangingPunct="1">
              <a:spcBef>
                <a:spcPct val="0"/>
              </a:spcBef>
              <a:spcAft>
                <a:spcPct val="0"/>
              </a:spcAft>
            </a:pPr>
            <a:r>
              <a:rPr lang="zh-CN" altLang="en-US" sz="4400"/>
              <a:t>用户</a:t>
            </a:r>
            <a:r>
              <a:rPr lang="zh-CN" altLang="en-US" sz="4400">
                <a:solidFill>
                  <a:srgbClr val="FF0000"/>
                </a:solidFill>
              </a:rPr>
              <a:t>主</a:t>
            </a:r>
            <a:r>
              <a:rPr lang="zh-CN" altLang="en-US" sz="4400"/>
              <a:t>是文件的</a:t>
            </a:r>
            <a:r>
              <a:rPr lang="zh-CN" altLang="en-US" sz="4400">
                <a:solidFill>
                  <a:srgbClr val="FF0000"/>
                </a:solidFill>
              </a:rPr>
              <a:t>拥有</a:t>
            </a:r>
            <a:r>
              <a:rPr lang="zh-CN" altLang="en-US" sz="4400"/>
              <a:t>者；</a:t>
            </a:r>
          </a:p>
          <a:p>
            <a:pPr eaLnBrk="1" hangingPunct="1">
              <a:spcBef>
                <a:spcPct val="0"/>
              </a:spcBef>
              <a:spcAft>
                <a:spcPct val="0"/>
              </a:spcAft>
            </a:pPr>
            <a:r>
              <a:rPr lang="zh-CN" altLang="en-US" sz="4400"/>
              <a:t>同</a:t>
            </a:r>
            <a:r>
              <a:rPr lang="zh-CN" altLang="en-US" sz="4400">
                <a:solidFill>
                  <a:srgbClr val="FF0000"/>
                </a:solidFill>
              </a:rPr>
              <a:t>组</a:t>
            </a:r>
            <a:r>
              <a:rPr lang="zh-CN" altLang="en-US" sz="4400"/>
              <a:t>人是与文件主</a:t>
            </a:r>
            <a:r>
              <a:rPr lang="zh-CN" altLang="en-US" sz="4400">
                <a:solidFill>
                  <a:srgbClr val="FF0000"/>
                </a:solidFill>
              </a:rPr>
              <a:t>同组</a:t>
            </a:r>
            <a:r>
              <a:rPr lang="zh-CN" altLang="en-US" sz="4400"/>
              <a:t>的用户；</a:t>
            </a:r>
          </a:p>
          <a:p>
            <a:pPr eaLnBrk="1" hangingPunct="1">
              <a:spcBef>
                <a:spcPct val="0"/>
              </a:spcBef>
              <a:spcAft>
                <a:spcPct val="0"/>
              </a:spcAft>
            </a:pPr>
            <a:r>
              <a:rPr lang="zh-CN" altLang="en-US" sz="4400">
                <a:solidFill>
                  <a:srgbClr val="FF0000"/>
                </a:solidFill>
              </a:rPr>
              <a:t>其他人</a:t>
            </a:r>
            <a:r>
              <a:rPr lang="zh-CN" altLang="en-US" sz="4400"/>
              <a:t>是指除用户主和同组人以外的用户。</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A1E4DFDB-A184-4E41-096F-2EFA025DCB01}"/>
              </a:ext>
            </a:extLst>
          </p:cNvPr>
          <p:cNvSpPr>
            <a:spLocks noGrp="1" noChangeArrowheads="1"/>
          </p:cNvSpPr>
          <p:nvPr>
            <p:ph type="title"/>
          </p:nvPr>
        </p:nvSpPr>
        <p:spPr/>
        <p:txBody>
          <a:bodyPr/>
          <a:lstStyle/>
          <a:p>
            <a:pPr eaLnBrk="1" hangingPunct="1"/>
            <a:r>
              <a:rPr lang="zh-CN" altLang="en-US"/>
              <a:t>5.1.3  权限控制</a:t>
            </a:r>
          </a:p>
        </p:txBody>
      </p:sp>
      <p:sp>
        <p:nvSpPr>
          <p:cNvPr id="10243" name="内容占位符 2">
            <a:extLst>
              <a:ext uri="{FF2B5EF4-FFF2-40B4-BE49-F238E27FC236}">
                <a16:creationId xmlns:a16="http://schemas.microsoft.com/office/drawing/2014/main" id="{20BB4109-A036-1D4A-8589-523F9D9562F6}"/>
              </a:ext>
            </a:extLst>
          </p:cNvPr>
          <p:cNvSpPr>
            <a:spLocks noGrp="1" noChangeArrowheads="1"/>
          </p:cNvSpPr>
          <p:nvPr>
            <p:ph idx="1"/>
          </p:nvPr>
        </p:nvSpPr>
        <p:spPr>
          <a:xfrm>
            <a:off x="-25400" y="549275"/>
            <a:ext cx="9144000" cy="5761038"/>
          </a:xfrm>
        </p:spPr>
        <p:txBody>
          <a:bodyPr/>
          <a:lstStyle/>
          <a:p>
            <a:pPr eaLnBrk="1" hangingPunct="1">
              <a:spcBef>
                <a:spcPts val="0"/>
              </a:spcBef>
              <a:spcAft>
                <a:spcPts val="0"/>
              </a:spcAft>
              <a:defRPr/>
            </a:pPr>
            <a:r>
              <a:rPr lang="zh-CN" altLang="en-US" sz="2400" dirty="0"/>
              <a:t>1．权限的字符串表示</a:t>
            </a:r>
          </a:p>
          <a:p>
            <a:pPr marL="0" indent="0" eaLnBrk="1" hangingPunct="1">
              <a:spcBef>
                <a:spcPts val="0"/>
              </a:spcBef>
              <a:spcAft>
                <a:spcPts val="0"/>
              </a:spcAft>
              <a:buFont typeface="Arial" panose="020B0604020202020204" pitchFamily="34" charset="0"/>
              <a:buNone/>
              <a:defRPr/>
            </a:pPr>
            <a:r>
              <a:rPr lang="zh-CN" altLang="en-US" sz="2400" dirty="0"/>
              <a:t>设命令ls -l -d /dev/sda /dev/tty /boot /bin/bash的输出中有以下内容：</a:t>
            </a:r>
          </a:p>
          <a:p>
            <a:pPr marL="0" indent="0" eaLnBrk="1" hangingPunct="1">
              <a:spcBef>
                <a:spcPts val="0"/>
              </a:spcBef>
              <a:spcAft>
                <a:spcPts val="0"/>
              </a:spcAft>
              <a:buFont typeface="Arial" panose="020B0604020202020204" pitchFamily="34" charset="0"/>
              <a:buNone/>
              <a:defRPr/>
            </a:pPr>
            <a:r>
              <a:rPr lang="zh-CN" altLang="en-US" sz="6600" dirty="0">
                <a:solidFill>
                  <a:srgbClr val="FF0000"/>
                </a:solidFill>
                <a:latin typeface="Times New Roman" panose="02020603050405020304" pitchFamily="18" charset="0"/>
                <a:cs typeface="Times New Roman" panose="02020603050405020304" pitchFamily="18" charset="0"/>
              </a:rPr>
              <a:t>-rwxr-xr-x</a:t>
            </a:r>
            <a:endParaRPr lang="en-US" altLang="zh-CN" sz="6600" dirty="0">
              <a:solidFill>
                <a:srgbClr val="FF0000"/>
              </a:solidFill>
              <a:latin typeface="Times New Roman" panose="02020603050405020304" pitchFamily="18" charset="0"/>
              <a:cs typeface="Times New Roman" panose="02020603050405020304" pitchFamily="18" charset="0"/>
            </a:endParaRPr>
          </a:p>
          <a:p>
            <a:pPr marL="0" indent="0" eaLnBrk="1" hangingPunct="1">
              <a:spcBef>
                <a:spcPts val="0"/>
              </a:spcBef>
              <a:spcAft>
                <a:spcPts val="0"/>
              </a:spcAft>
              <a:buFont typeface="Arial" panose="020B0604020202020204" pitchFamily="34" charset="0"/>
              <a:buNone/>
              <a:defRPr/>
            </a:pPr>
            <a:r>
              <a:rPr lang="zh-CN" altLang="en-US" sz="2400" dirty="0"/>
              <a:t>   .  1  root  root 1086480  Sep 30 19:09 /bin/bash</a:t>
            </a:r>
          </a:p>
          <a:p>
            <a:pPr marL="0" indent="0" eaLnBrk="1" hangingPunct="1">
              <a:spcBef>
                <a:spcPts val="0"/>
              </a:spcBef>
              <a:spcAft>
                <a:spcPts val="0"/>
              </a:spcAft>
              <a:buFont typeface="Arial" panose="020B0604020202020204" pitchFamily="34" charset="0"/>
              <a:buNone/>
              <a:defRPr/>
            </a:pPr>
            <a:r>
              <a:rPr lang="zh-CN" altLang="en-US" sz="6600" dirty="0">
                <a:solidFill>
                  <a:srgbClr val="FF0000"/>
                </a:solidFill>
                <a:latin typeface="Times New Roman" panose="02020603050405020304" pitchFamily="18" charset="0"/>
                <a:cs typeface="Times New Roman" panose="02020603050405020304" pitchFamily="18" charset="0"/>
              </a:rPr>
              <a:t>d</a:t>
            </a:r>
            <a:r>
              <a:rPr lang="zh-CN" altLang="en-US" sz="6600" dirty="0">
                <a:solidFill>
                  <a:schemeClr val="tx1"/>
                </a:solidFill>
                <a:latin typeface="Times New Roman" panose="02020603050405020304" pitchFamily="18" charset="0"/>
                <a:cs typeface="Times New Roman" panose="02020603050405020304" pitchFamily="18" charset="0"/>
              </a:rPr>
              <a:t>r-xr-xr-x</a:t>
            </a:r>
            <a:endParaRPr lang="en-US" altLang="zh-CN" sz="6600" dirty="0">
              <a:solidFill>
                <a:schemeClr val="tx1"/>
              </a:solidFill>
              <a:latin typeface="Times New Roman" panose="02020603050405020304" pitchFamily="18" charset="0"/>
              <a:cs typeface="Times New Roman" panose="02020603050405020304" pitchFamily="18" charset="0"/>
            </a:endParaRPr>
          </a:p>
          <a:p>
            <a:pPr marL="0" indent="0" eaLnBrk="1" hangingPunct="1">
              <a:spcBef>
                <a:spcPts val="0"/>
              </a:spcBef>
              <a:spcAft>
                <a:spcPts val="0"/>
              </a:spcAft>
              <a:buFont typeface="Arial" panose="020B0604020202020204" pitchFamily="34" charset="0"/>
              <a:buNone/>
              <a:defRPr/>
            </a:pPr>
            <a:r>
              <a:rPr lang="zh-CN" altLang="en-US" sz="2400" dirty="0"/>
              <a:t>   .  6  root  root    3072  Oct 18 23:04  /boot</a:t>
            </a:r>
          </a:p>
          <a:p>
            <a:pPr marL="0" indent="0" eaLnBrk="1" hangingPunct="1">
              <a:spcBef>
                <a:spcPts val="0"/>
              </a:spcBef>
              <a:spcAft>
                <a:spcPts val="0"/>
              </a:spcAft>
              <a:buFont typeface="Arial" panose="020B0604020202020204" pitchFamily="34" charset="0"/>
              <a:buNone/>
              <a:defRPr/>
            </a:pPr>
            <a:r>
              <a:rPr lang="en-US" altLang="zh-CN" sz="2400" dirty="0"/>
              <a:t>L</a:t>
            </a:r>
            <a:r>
              <a:rPr lang="zh-CN" altLang="en-US" sz="2400" dirty="0"/>
              <a:t>rwxrwxrwx.  1  root  root       3  Mar  3 22:09/dev/cdrom -&gt; sr0</a:t>
            </a:r>
          </a:p>
          <a:p>
            <a:pPr marL="0" indent="0" eaLnBrk="1" hangingPunct="1">
              <a:spcBef>
                <a:spcPts val="0"/>
              </a:spcBef>
              <a:spcAft>
                <a:spcPts val="0"/>
              </a:spcAft>
              <a:buFont typeface="Arial" panose="020B0604020202020204" pitchFamily="34" charset="0"/>
              <a:buNone/>
              <a:defRPr/>
            </a:pPr>
            <a:r>
              <a:rPr lang="zh-CN" altLang="en-US" sz="2400" dirty="0"/>
              <a:t>brw-rw----.  1  root  disk    8, 0  Mar  3 22:09  /dev/sda</a:t>
            </a:r>
          </a:p>
          <a:p>
            <a:pPr marL="0" indent="0" eaLnBrk="1" hangingPunct="1">
              <a:spcBef>
                <a:spcPts val="0"/>
              </a:spcBef>
              <a:spcAft>
                <a:spcPts val="0"/>
              </a:spcAft>
              <a:buFont typeface="Arial" panose="020B0604020202020204" pitchFamily="34" charset="0"/>
              <a:buNone/>
              <a:defRPr/>
            </a:pPr>
            <a:r>
              <a:rPr lang="zh-CN" altLang="en-US" sz="2400" dirty="0"/>
              <a:t>crw-rw-rw-.  1  root  tty     5, 0  Mar  3 22:09  /dev/tty</a:t>
            </a:r>
          </a:p>
          <a:p>
            <a:pPr marL="0" indent="0" eaLnBrk="1" hangingPunct="1">
              <a:spcBef>
                <a:spcPts val="0"/>
              </a:spcBef>
              <a:spcAft>
                <a:spcPts val="0"/>
              </a:spcAft>
              <a:buFont typeface="Arial" panose="020B0604020202020204" pitchFamily="34" charset="0"/>
              <a:buNone/>
              <a:defRPr/>
            </a:pPr>
            <a:r>
              <a:rPr lang="zh-CN" altLang="en-US" sz="2400" dirty="0"/>
              <a:t>输出的第一列为文件的类型和权限，除第一个字符外，其余为文件的权限描述。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A4A2CE34-668F-7641-5BC2-23097FBE2F10}"/>
              </a:ext>
            </a:extLst>
          </p:cNvPr>
          <p:cNvSpPr>
            <a:spLocks noGrp="1" noChangeArrowheads="1"/>
          </p:cNvSpPr>
          <p:nvPr>
            <p:ph type="title"/>
          </p:nvPr>
        </p:nvSpPr>
        <p:spPr/>
        <p:txBody>
          <a:bodyPr/>
          <a:lstStyle/>
          <a:p>
            <a:pPr eaLnBrk="1" hangingPunct="1"/>
            <a:r>
              <a:rPr lang="zh-CN" altLang="en-US"/>
              <a:t>1．权限的字符串表示</a:t>
            </a:r>
          </a:p>
        </p:txBody>
      </p:sp>
      <p:sp>
        <p:nvSpPr>
          <p:cNvPr id="14339" name="内容占位符 2">
            <a:extLst>
              <a:ext uri="{FF2B5EF4-FFF2-40B4-BE49-F238E27FC236}">
                <a16:creationId xmlns:a16="http://schemas.microsoft.com/office/drawing/2014/main" id="{64DEF73B-0ECB-8E34-2D9E-7633B1382BD1}"/>
              </a:ext>
            </a:extLst>
          </p:cNvPr>
          <p:cNvSpPr>
            <a:spLocks noGrp="1" noChangeArrowheads="1"/>
          </p:cNvSpPr>
          <p:nvPr>
            <p:ph idx="1"/>
          </p:nvPr>
        </p:nvSpPr>
        <p:spPr>
          <a:xfrm>
            <a:off x="34925" y="620713"/>
            <a:ext cx="9217025" cy="5761037"/>
          </a:xfrm>
        </p:spPr>
        <p:txBody>
          <a:bodyPr/>
          <a:lstStyle/>
          <a:p>
            <a:pPr marL="0" indent="0" eaLnBrk="1" hangingPunct="1">
              <a:spcBef>
                <a:spcPct val="0"/>
              </a:spcBef>
              <a:spcAft>
                <a:spcPct val="0"/>
              </a:spcAft>
              <a:buFont typeface="Arial" panose="020B0604020202020204" pitchFamily="34" charset="0"/>
              <a:buNone/>
            </a:pPr>
            <a:r>
              <a:rPr lang="zh-CN" altLang="en-US" sz="3600"/>
              <a:t>对某类用户的权限分配有3种：</a:t>
            </a:r>
          </a:p>
          <a:p>
            <a:pPr marL="0" indent="0" eaLnBrk="1" hangingPunct="1">
              <a:spcBef>
                <a:spcPct val="0"/>
              </a:spcBef>
              <a:spcAft>
                <a:spcPct val="0"/>
              </a:spcAft>
              <a:buFont typeface="Arial" panose="020B0604020202020204" pitchFamily="34" charset="0"/>
              <a:buNone/>
            </a:pPr>
            <a:r>
              <a:rPr lang="zh-CN" altLang="en-US" sz="3600"/>
              <a:t>（1）读权限。对应位置为r，否则为-。</a:t>
            </a:r>
          </a:p>
          <a:p>
            <a:pPr marL="0" indent="0" eaLnBrk="1" hangingPunct="1">
              <a:spcBef>
                <a:spcPct val="0"/>
              </a:spcBef>
              <a:spcAft>
                <a:spcPct val="0"/>
              </a:spcAft>
              <a:buFont typeface="Arial" panose="020B0604020202020204" pitchFamily="34" charset="0"/>
              <a:buNone/>
            </a:pPr>
            <a:r>
              <a:rPr lang="zh-CN" altLang="en-US" sz="3600"/>
              <a:t>（2）写权限。对应写权限位置为w，否则为-。</a:t>
            </a:r>
          </a:p>
          <a:p>
            <a:pPr marL="0" indent="0" eaLnBrk="1" hangingPunct="1">
              <a:spcBef>
                <a:spcPct val="0"/>
              </a:spcBef>
              <a:spcAft>
                <a:spcPct val="0"/>
              </a:spcAft>
              <a:buFont typeface="Arial" panose="020B0604020202020204" pitchFamily="34" charset="0"/>
              <a:buNone/>
            </a:pPr>
            <a:r>
              <a:rPr lang="zh-CN" altLang="en-US" sz="3600"/>
              <a:t>（3）执行权限。若用户对文件有执行权或</a:t>
            </a:r>
            <a:r>
              <a:rPr lang="zh-CN" altLang="en-US" sz="3600">
                <a:solidFill>
                  <a:srgbClr val="FF0000"/>
                </a:solidFill>
              </a:rPr>
              <a:t>对目录有进入权</a:t>
            </a:r>
            <a:r>
              <a:rPr lang="zh-CN" altLang="en-US" sz="3600"/>
              <a:t>，则对应执行权限的位置为x，否则为-。</a:t>
            </a:r>
          </a:p>
          <a:p>
            <a:pPr marL="0" indent="0" eaLnBrk="1" hangingPunct="1">
              <a:spcBef>
                <a:spcPct val="0"/>
              </a:spcBef>
              <a:spcAft>
                <a:spcPct val="0"/>
              </a:spcAft>
              <a:buFont typeface="Arial" panose="020B0604020202020204" pitchFamily="34" charset="0"/>
              <a:buNone/>
            </a:pPr>
            <a:r>
              <a:rPr lang="zh-CN" altLang="en-US" sz="3600"/>
              <a:t>权限按所有者、同组人和其他人从左到右的顺序排列。例如，若用户主的权限为rwx，同组人的权限为r-x，其他人的权限为---，则它的权限为rwxr-x---。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A15A9CD8-2394-84F7-E3B1-88F00C52D368}"/>
              </a:ext>
            </a:extLst>
          </p:cNvPr>
          <p:cNvSpPr>
            <a:spLocks noGrp="1" noChangeArrowheads="1"/>
          </p:cNvSpPr>
          <p:nvPr>
            <p:ph type="title"/>
          </p:nvPr>
        </p:nvSpPr>
        <p:spPr/>
        <p:txBody>
          <a:bodyPr/>
          <a:lstStyle/>
          <a:p>
            <a:pPr eaLnBrk="1" hangingPunct="1"/>
            <a:r>
              <a:rPr lang="zh-CN" altLang="en-US"/>
              <a:t>2．权限的数字表示</a:t>
            </a:r>
          </a:p>
        </p:txBody>
      </p:sp>
      <p:sp>
        <p:nvSpPr>
          <p:cNvPr id="15363" name="内容占位符 2">
            <a:extLst>
              <a:ext uri="{FF2B5EF4-FFF2-40B4-BE49-F238E27FC236}">
                <a16:creationId xmlns:a16="http://schemas.microsoft.com/office/drawing/2014/main" id="{20317121-F0D4-9834-5E4D-B0CF06BBE873}"/>
              </a:ext>
            </a:extLst>
          </p:cNvPr>
          <p:cNvSpPr>
            <a:spLocks noGrp="1" noChangeArrowheads="1"/>
          </p:cNvSpPr>
          <p:nvPr>
            <p:ph idx="1"/>
          </p:nvPr>
        </p:nvSpPr>
        <p:spPr>
          <a:xfrm>
            <a:off x="34925" y="620713"/>
            <a:ext cx="9109075" cy="5761037"/>
          </a:xfrm>
        </p:spPr>
        <p:txBody>
          <a:bodyPr/>
          <a:lstStyle/>
          <a:p>
            <a:pPr marL="0" indent="0" eaLnBrk="1" hangingPunct="1">
              <a:buFont typeface="Arial" panose="020B0604020202020204" pitchFamily="34" charset="0"/>
              <a:buNone/>
            </a:pPr>
            <a:r>
              <a:rPr lang="zh-CN" altLang="en-US"/>
              <a:t>在数字方式表示下，访问权限可用一个</a:t>
            </a:r>
            <a:r>
              <a:rPr lang="zh-CN" altLang="en-US">
                <a:solidFill>
                  <a:srgbClr val="FF0000"/>
                </a:solidFill>
              </a:rPr>
              <a:t>三位二进制数</a:t>
            </a:r>
            <a:r>
              <a:rPr lang="zh-CN" altLang="en-US"/>
              <a:t>来表示。</a:t>
            </a:r>
          </a:p>
          <a:p>
            <a:pPr marL="0" indent="0" eaLnBrk="1" hangingPunct="1">
              <a:buFont typeface="Arial" panose="020B0604020202020204" pitchFamily="34" charset="0"/>
              <a:buNone/>
            </a:pPr>
            <a:r>
              <a:rPr lang="zh-CN" altLang="en-US"/>
              <a:t>若</a:t>
            </a:r>
            <a:r>
              <a:rPr lang="zh-CN" altLang="en-US">
                <a:solidFill>
                  <a:srgbClr val="FF0000"/>
                </a:solidFill>
              </a:rPr>
              <a:t>具有某个权限</a:t>
            </a:r>
            <a:r>
              <a:rPr lang="zh-CN" altLang="en-US"/>
              <a:t>，则对应位为</a:t>
            </a:r>
            <a:r>
              <a:rPr lang="zh-CN" altLang="en-US">
                <a:solidFill>
                  <a:srgbClr val="FF0000"/>
                </a:solidFill>
              </a:rPr>
              <a:t>1</a:t>
            </a:r>
            <a:r>
              <a:rPr lang="zh-CN" altLang="en-US"/>
              <a:t>，否则为</a:t>
            </a:r>
            <a:r>
              <a:rPr lang="zh-CN" altLang="en-US">
                <a:solidFill>
                  <a:srgbClr val="FF0000"/>
                </a:solidFill>
              </a:rPr>
              <a:t>0</a:t>
            </a:r>
            <a:r>
              <a:rPr lang="zh-CN" altLang="en-US"/>
              <a:t>，这样某类用户的权限就可表示为</a:t>
            </a:r>
            <a:r>
              <a:rPr lang="zh-CN" altLang="en-US">
                <a:solidFill>
                  <a:srgbClr val="FF0000"/>
                </a:solidFill>
              </a:rPr>
              <a:t>三位二进制数</a:t>
            </a:r>
            <a:r>
              <a:rPr lang="zh-CN" altLang="en-US"/>
              <a:t>，其值为</a:t>
            </a:r>
            <a:r>
              <a:rPr lang="zh-CN" altLang="en-US">
                <a:solidFill>
                  <a:srgbClr val="FF0000"/>
                </a:solidFill>
              </a:rPr>
              <a:t>不大于7</a:t>
            </a:r>
            <a:r>
              <a:rPr lang="zh-CN" altLang="en-US"/>
              <a:t>的整数，因此可作为</a:t>
            </a:r>
            <a:r>
              <a:rPr lang="zh-CN" altLang="en-US">
                <a:solidFill>
                  <a:srgbClr val="FF0000"/>
                </a:solidFill>
              </a:rPr>
              <a:t>八进制数</a:t>
            </a:r>
            <a:r>
              <a:rPr lang="zh-CN" altLang="en-US"/>
              <a:t>。</a:t>
            </a:r>
            <a:r>
              <a:rPr lang="zh-CN" altLang="en-US">
                <a:solidFill>
                  <a:srgbClr val="FF0000"/>
                </a:solidFill>
              </a:rPr>
              <a:t>例如</a:t>
            </a:r>
            <a:r>
              <a:rPr lang="zh-CN" altLang="en-US"/>
              <a:t>，目录/dev的权限为</a:t>
            </a:r>
            <a:r>
              <a:rPr lang="zh-CN" altLang="en-US" sz="5400"/>
              <a:t>rwxr-xr-x</a:t>
            </a:r>
            <a:r>
              <a:rPr lang="zh-CN" altLang="en-US"/>
              <a:t>，它的主、组和其他人的权限分别为rwx、r-x和r-x，表示为二进制数为</a:t>
            </a:r>
            <a:r>
              <a:rPr lang="zh-CN" altLang="en-US" sz="4400"/>
              <a:t>111、101和101</a:t>
            </a:r>
            <a:r>
              <a:rPr lang="zh-CN" altLang="en-US"/>
              <a:t>，分别转换为八进制数则为</a:t>
            </a:r>
            <a:r>
              <a:rPr lang="zh-CN" altLang="en-US" sz="4400">
                <a:solidFill>
                  <a:srgbClr val="FF0000"/>
                </a:solidFill>
              </a:rPr>
              <a:t>7、5和5</a:t>
            </a:r>
            <a:r>
              <a:rPr lang="zh-CN" altLang="en-US"/>
              <a:t>。此时，可以说/dev的权限为</a:t>
            </a:r>
            <a:r>
              <a:rPr lang="zh-CN" altLang="en-US" sz="6000">
                <a:solidFill>
                  <a:srgbClr val="FF0000"/>
                </a:solidFill>
              </a:rPr>
              <a:t>755</a:t>
            </a:r>
            <a:r>
              <a:rPr lang="zh-CN" altLang="en-US"/>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9F8DBEEE-90BC-366D-747F-04A211B8B6F9}"/>
              </a:ext>
            </a:extLst>
          </p:cNvPr>
          <p:cNvSpPr>
            <a:spLocks noGrp="1" noChangeArrowheads="1"/>
          </p:cNvSpPr>
          <p:nvPr>
            <p:ph type="title"/>
          </p:nvPr>
        </p:nvSpPr>
        <p:spPr/>
        <p:txBody>
          <a:bodyPr/>
          <a:lstStyle/>
          <a:p>
            <a:pPr eaLnBrk="1" hangingPunct="1"/>
            <a:r>
              <a:rPr lang="zh-CN" altLang="en-US"/>
              <a:t>5.1.4  默认权限与umask</a:t>
            </a:r>
          </a:p>
        </p:txBody>
      </p:sp>
      <p:sp>
        <p:nvSpPr>
          <p:cNvPr id="16387" name="内容占位符 2">
            <a:extLst>
              <a:ext uri="{FF2B5EF4-FFF2-40B4-BE49-F238E27FC236}">
                <a16:creationId xmlns:a16="http://schemas.microsoft.com/office/drawing/2014/main" id="{590C19CA-8417-DDC0-079B-E4E9083C2432}"/>
              </a:ext>
            </a:extLst>
          </p:cNvPr>
          <p:cNvSpPr>
            <a:spLocks noGrp="1" noChangeArrowheads="1"/>
          </p:cNvSpPr>
          <p:nvPr>
            <p:ph idx="1"/>
          </p:nvPr>
        </p:nvSpPr>
        <p:spPr>
          <a:xfrm>
            <a:off x="34925" y="620713"/>
            <a:ext cx="9109075" cy="5761037"/>
          </a:xfrm>
        </p:spPr>
        <p:txBody>
          <a:bodyPr/>
          <a:lstStyle/>
          <a:p>
            <a:pPr eaLnBrk="1" hangingPunct="1">
              <a:spcBef>
                <a:spcPct val="0"/>
              </a:spcBef>
              <a:spcAft>
                <a:spcPct val="0"/>
              </a:spcAft>
            </a:pPr>
            <a:r>
              <a:rPr lang="zh-CN" altLang="en-US" sz="4000"/>
              <a:t>在UNIX/Linux系统中，当用户</a:t>
            </a:r>
            <a:r>
              <a:rPr lang="zh-CN" altLang="en-US" sz="4000">
                <a:solidFill>
                  <a:srgbClr val="FF0000"/>
                </a:solidFill>
              </a:rPr>
              <a:t>创建</a:t>
            </a:r>
            <a:r>
              <a:rPr lang="zh-CN" altLang="en-US" sz="4000"/>
              <a:t>文件或目录时，将为它们</a:t>
            </a:r>
            <a:r>
              <a:rPr lang="zh-CN" altLang="en-US" sz="4000">
                <a:solidFill>
                  <a:srgbClr val="FF0000"/>
                </a:solidFill>
              </a:rPr>
              <a:t>设置默认权限</a:t>
            </a:r>
            <a:r>
              <a:rPr lang="zh-CN" altLang="en-US" sz="4000"/>
              <a:t>。</a:t>
            </a:r>
          </a:p>
          <a:p>
            <a:pPr eaLnBrk="1" hangingPunct="1">
              <a:spcBef>
                <a:spcPct val="0"/>
              </a:spcBef>
              <a:spcAft>
                <a:spcPct val="0"/>
              </a:spcAft>
            </a:pPr>
            <a:r>
              <a:rPr lang="zh-CN" altLang="en-US" sz="4000"/>
              <a:t>文件或目录的</a:t>
            </a:r>
            <a:r>
              <a:rPr lang="zh-CN" altLang="en-US" sz="4000">
                <a:solidFill>
                  <a:srgbClr val="FF0000"/>
                </a:solidFill>
              </a:rPr>
              <a:t>默认权限</a:t>
            </a:r>
            <a:r>
              <a:rPr lang="zh-CN" altLang="en-US" sz="4000"/>
              <a:t>由文件</a:t>
            </a:r>
            <a:r>
              <a:rPr lang="zh-CN" altLang="en-US" sz="4000">
                <a:solidFill>
                  <a:srgbClr val="FF0000"/>
                </a:solidFill>
              </a:rPr>
              <a:t>权限掩码umask来控制，</a:t>
            </a:r>
            <a:r>
              <a:rPr lang="zh-CN" altLang="en-US" sz="4000" u="sng">
                <a:solidFill>
                  <a:srgbClr val="FF0000"/>
                </a:solidFill>
              </a:rPr>
              <a:t>是权限的“补码”</a:t>
            </a:r>
            <a:r>
              <a:rPr lang="zh-CN" altLang="en-US" sz="4000"/>
              <a:t>。</a:t>
            </a:r>
          </a:p>
          <a:p>
            <a:pPr eaLnBrk="1" hangingPunct="1">
              <a:spcBef>
                <a:spcPct val="0"/>
              </a:spcBef>
              <a:spcAft>
                <a:spcPct val="0"/>
              </a:spcAft>
            </a:pPr>
            <a:r>
              <a:rPr lang="zh-CN" altLang="en-US" sz="4000"/>
              <a:t>默认情况，</a:t>
            </a:r>
            <a:r>
              <a:rPr lang="zh-CN" altLang="en-US" sz="4000">
                <a:solidFill>
                  <a:srgbClr val="FF0000"/>
                </a:solidFill>
              </a:rPr>
              <a:t>root的umask值为</a:t>
            </a:r>
            <a:r>
              <a:rPr lang="zh-CN" altLang="en-US" sz="4000"/>
              <a:t>0</a:t>
            </a:r>
            <a:r>
              <a:rPr lang="zh-CN" altLang="en-US" sz="4000">
                <a:solidFill>
                  <a:srgbClr val="FF0000"/>
                </a:solidFill>
              </a:rPr>
              <a:t>022</a:t>
            </a:r>
            <a:r>
              <a:rPr lang="zh-CN" altLang="en-US" sz="4000"/>
              <a:t>，</a:t>
            </a:r>
            <a:r>
              <a:rPr lang="zh-CN" altLang="en-US" sz="4000">
                <a:solidFill>
                  <a:srgbClr val="FF0000"/>
                </a:solidFill>
              </a:rPr>
              <a:t>普通用户</a:t>
            </a:r>
            <a:r>
              <a:rPr lang="zh-CN" altLang="en-US" sz="4000"/>
              <a:t>的</a:t>
            </a:r>
            <a:r>
              <a:rPr lang="zh-CN" altLang="en-US" sz="4000">
                <a:solidFill>
                  <a:srgbClr val="FF0000"/>
                </a:solidFill>
              </a:rPr>
              <a:t>umask值为</a:t>
            </a:r>
            <a:r>
              <a:rPr lang="zh-CN" altLang="en-US" sz="4000"/>
              <a:t>0</a:t>
            </a:r>
            <a:r>
              <a:rPr lang="zh-CN" altLang="en-US" sz="4000">
                <a:solidFill>
                  <a:srgbClr val="FF0000"/>
                </a:solidFill>
              </a:rPr>
              <a:t>002</a:t>
            </a:r>
            <a:r>
              <a:rPr lang="zh-CN" altLang="en-US" sz="4000"/>
              <a:t>。首位特殊位</a:t>
            </a:r>
          </a:p>
          <a:p>
            <a:pPr eaLnBrk="1" hangingPunct="1">
              <a:spcBef>
                <a:spcPct val="0"/>
              </a:spcBef>
              <a:spcAft>
                <a:spcPct val="0"/>
              </a:spcAft>
            </a:pPr>
            <a:r>
              <a:rPr lang="zh-CN" altLang="en-US" sz="4000"/>
              <a:t>文件创建掩码umask的值同文件权限一样，可以表示为</a:t>
            </a:r>
            <a:r>
              <a:rPr lang="zh-CN" altLang="en-US" sz="4000">
                <a:solidFill>
                  <a:srgbClr val="FF0000"/>
                </a:solidFill>
              </a:rPr>
              <a:t>八进制数或符号串</a:t>
            </a:r>
            <a:r>
              <a:rPr lang="zh-CN" altLang="en-US" sz="4000"/>
              <a:t>方式。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4367B7D2-A0A3-C72F-C33B-E329A8557C90}"/>
              </a:ext>
            </a:extLst>
          </p:cNvPr>
          <p:cNvSpPr>
            <a:spLocks noGrp="1" noChangeArrowheads="1"/>
          </p:cNvSpPr>
          <p:nvPr>
            <p:ph type="title"/>
          </p:nvPr>
        </p:nvSpPr>
        <p:spPr>
          <a:xfrm>
            <a:off x="107950" y="0"/>
            <a:ext cx="8188325" cy="477838"/>
          </a:xfrm>
        </p:spPr>
        <p:txBody>
          <a:bodyPr/>
          <a:lstStyle/>
          <a:p>
            <a:pPr eaLnBrk="1" hangingPunct="1"/>
            <a:r>
              <a:rPr lang="en-US" altLang="zh-CN"/>
              <a:t>umask</a:t>
            </a:r>
            <a:r>
              <a:rPr lang="zh-CN" altLang="zh-CN"/>
              <a:t>、文件和目录的默认权限</a:t>
            </a:r>
            <a:endParaRPr lang="zh-CN" altLang="en-US"/>
          </a:p>
        </p:txBody>
      </p:sp>
      <p:graphicFrame>
        <p:nvGraphicFramePr>
          <p:cNvPr id="2" name="表格 -1">
            <a:extLst>
              <a:ext uri="{FF2B5EF4-FFF2-40B4-BE49-F238E27FC236}">
                <a16:creationId xmlns:a16="http://schemas.microsoft.com/office/drawing/2014/main" id="{3ECC067C-ED0E-663B-6E48-5D5B9D2953F5}"/>
              </a:ext>
            </a:extLst>
          </p:cNvPr>
          <p:cNvGraphicFramePr>
            <a:graphicFrameLocks noGrp="1"/>
          </p:cNvGraphicFramePr>
          <p:nvPr/>
        </p:nvGraphicFramePr>
        <p:xfrm>
          <a:off x="34925" y="620713"/>
          <a:ext cx="9074150" cy="5761037"/>
        </p:xfrm>
        <a:graphic>
          <a:graphicData uri="http://schemas.openxmlformats.org/drawingml/2006/table">
            <a:tbl>
              <a:tblPr/>
              <a:tblGrid>
                <a:gridCol w="1162516">
                  <a:extLst>
                    <a:ext uri="{9D8B030D-6E8A-4147-A177-3AD203B41FA5}">
                      <a16:colId xmlns:a16="http://schemas.microsoft.com/office/drawing/2014/main" val="20000"/>
                    </a:ext>
                  </a:extLst>
                </a:gridCol>
                <a:gridCol w="4004631">
                  <a:extLst>
                    <a:ext uri="{9D8B030D-6E8A-4147-A177-3AD203B41FA5}">
                      <a16:colId xmlns:a16="http://schemas.microsoft.com/office/drawing/2014/main" val="20001"/>
                    </a:ext>
                  </a:extLst>
                </a:gridCol>
                <a:gridCol w="3907003">
                  <a:extLst>
                    <a:ext uri="{9D8B030D-6E8A-4147-A177-3AD203B41FA5}">
                      <a16:colId xmlns:a16="http://schemas.microsoft.com/office/drawing/2014/main" val="20002"/>
                    </a:ext>
                  </a:extLst>
                </a:gridCol>
              </a:tblGrid>
              <a:tr h="8229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a:ln>
                            <a:noFill/>
                          </a:ln>
                          <a:solidFill>
                            <a:schemeClr val="tx1"/>
                          </a:solidFill>
                          <a:effectLst/>
                          <a:latin typeface="宋体" pitchFamily="2" charset="-122"/>
                          <a:ea typeface="宋体" pitchFamily="2" charset="-122"/>
                        </a:rPr>
                        <a:t>root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5400" b="1" i="0" u="none" strike="noStrike" cap="none" normalizeH="0" baseline="0">
                          <a:ln>
                            <a:noFill/>
                          </a:ln>
                          <a:solidFill>
                            <a:schemeClr val="tx1"/>
                          </a:solidFill>
                          <a:effectLst/>
                          <a:latin typeface="宋体" pitchFamily="2" charset="-122"/>
                          <a:ea typeface="宋体" pitchFamily="2" charset="-122"/>
                        </a:rPr>
                        <a:t>普通用户</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46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a:ln>
                            <a:noFill/>
                          </a:ln>
                          <a:solidFill>
                            <a:schemeClr val="tx1"/>
                          </a:solidFill>
                          <a:effectLst/>
                          <a:latin typeface="宋体" pitchFamily="2" charset="-122"/>
                          <a:ea typeface="宋体" pitchFamily="2" charset="-122"/>
                        </a:rPr>
                        <a:t>umask</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a:ln>
                            <a:noFill/>
                          </a:ln>
                          <a:solidFill>
                            <a:schemeClr val="tx1"/>
                          </a:solidFill>
                          <a:effectLst/>
                          <a:latin typeface="宋体" pitchFamily="2" charset="-122"/>
                          <a:ea typeface="宋体" pitchFamily="2" charset="-122"/>
                        </a:rPr>
                        <a:t>u=</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rwx,g</a:t>
                      </a:r>
                      <a:r>
                        <a:rPr kumimoji="0" lang="en-US" altLang="zh-CN" sz="5400" b="1" i="0" u="none" strike="noStrike" cap="none" normalizeH="0" baseline="0" dirty="0">
                          <a:ln>
                            <a:noFill/>
                          </a:ln>
                          <a:solidFill>
                            <a:schemeClr val="tx1"/>
                          </a:solidFill>
                          <a:effectLst/>
                          <a:latin typeface="宋体" pitchFamily="2" charset="-122"/>
                          <a:ea typeface="宋体" pitchFamily="2" charset="-122"/>
                        </a:rPr>
                        <a:t>=</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rx,o</a:t>
                      </a:r>
                      <a:r>
                        <a:rPr kumimoji="0" lang="en-US" altLang="zh-CN" sz="5400" b="1" i="0" u="none" strike="noStrike" cap="none" normalizeH="0" baseline="0" dirty="0">
                          <a:ln>
                            <a:noFill/>
                          </a:ln>
                          <a:solidFill>
                            <a:schemeClr val="tx1"/>
                          </a:solidFill>
                          <a:effectLst/>
                          <a:latin typeface="宋体" pitchFamily="2" charset="-122"/>
                          <a:ea typeface="宋体" pitchFamily="2" charset="-122"/>
                        </a:rPr>
                        <a:t>=</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rx</a:t>
                      </a:r>
                      <a:r>
                        <a:rPr kumimoji="0" lang="en-US" altLang="zh-CN" sz="5400" b="1" i="0" u="none" strike="noStrike" cap="none" normalizeH="0" baseline="0" dirty="0">
                          <a:ln>
                            <a:noFill/>
                          </a:ln>
                          <a:solidFill>
                            <a:schemeClr val="tx1"/>
                          </a:solidFill>
                          <a:effectLst/>
                          <a:latin typeface="宋体" pitchFamily="2" charset="-122"/>
                          <a:ea typeface="宋体" pitchFamily="2" charset="-122"/>
                        </a:rPr>
                        <a:t> / </a:t>
                      </a:r>
                      <a:r>
                        <a:rPr kumimoji="0" lang="en-US" altLang="zh-CN" sz="5400" b="1" i="0" u="none" strike="noStrike" cap="none" normalizeH="0" baseline="0" dirty="0">
                          <a:ln>
                            <a:noFill/>
                          </a:ln>
                          <a:solidFill>
                            <a:srgbClr val="FF0000"/>
                          </a:solidFill>
                          <a:effectLst/>
                          <a:latin typeface="宋体" pitchFamily="2" charset="-122"/>
                          <a:ea typeface="宋体" pitchFamily="2" charset="-122"/>
                        </a:rPr>
                        <a:t>022</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a:ln>
                            <a:noFill/>
                          </a:ln>
                          <a:solidFill>
                            <a:schemeClr val="tx1"/>
                          </a:solidFill>
                          <a:effectLst/>
                          <a:latin typeface="宋体" pitchFamily="2" charset="-122"/>
                          <a:ea typeface="宋体" pitchFamily="2" charset="-122"/>
                        </a:rPr>
                        <a:t>u=</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rwx,g</a:t>
                      </a:r>
                      <a:r>
                        <a:rPr kumimoji="0" lang="en-US" altLang="zh-CN" sz="5400" b="1" i="0" u="none" strike="noStrike" cap="none" normalizeH="0" baseline="0" dirty="0">
                          <a:ln>
                            <a:noFill/>
                          </a:ln>
                          <a:solidFill>
                            <a:schemeClr val="tx1"/>
                          </a:solidFill>
                          <a:effectLst/>
                          <a:latin typeface="宋体" pitchFamily="2" charset="-122"/>
                          <a:ea typeface="宋体" pitchFamily="2" charset="-122"/>
                        </a:rPr>
                        <a:t>=</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rwx,o</a:t>
                      </a:r>
                      <a:r>
                        <a:rPr kumimoji="0" lang="en-US" altLang="zh-CN" sz="5400" b="1" i="0" u="none" strike="noStrike" cap="none" normalizeH="0" baseline="0" dirty="0">
                          <a:ln>
                            <a:noFill/>
                          </a:ln>
                          <a:solidFill>
                            <a:schemeClr val="tx1"/>
                          </a:solidFill>
                          <a:effectLst/>
                          <a:latin typeface="宋体" pitchFamily="2" charset="-122"/>
                          <a:ea typeface="宋体" pitchFamily="2" charset="-122"/>
                        </a:rPr>
                        <a:t>=</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rx</a:t>
                      </a:r>
                      <a:r>
                        <a:rPr kumimoji="0" lang="en-US" altLang="zh-CN" sz="5400" b="1" i="0" u="none" strike="noStrike" cap="none" normalizeH="0" baseline="0" dirty="0">
                          <a:ln>
                            <a:noFill/>
                          </a:ln>
                          <a:solidFill>
                            <a:schemeClr val="tx1"/>
                          </a:solidFill>
                          <a:effectLst/>
                          <a:latin typeface="宋体" pitchFamily="2" charset="-122"/>
                          <a:ea typeface="宋体" pitchFamily="2" charset="-122"/>
                        </a:rPr>
                        <a:t> / </a:t>
                      </a:r>
                      <a:r>
                        <a:rPr kumimoji="0" lang="en-US" altLang="zh-CN" sz="5400" b="1" i="0" u="none" strike="noStrike" cap="none" normalizeH="0" baseline="0" dirty="0">
                          <a:ln>
                            <a:noFill/>
                          </a:ln>
                          <a:solidFill>
                            <a:srgbClr val="FF0000"/>
                          </a:solidFill>
                          <a:effectLst/>
                          <a:latin typeface="宋体" pitchFamily="2" charset="-122"/>
                          <a:ea typeface="宋体" pitchFamily="2" charset="-122"/>
                        </a:rPr>
                        <a:t>002</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4597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5400" b="1" i="0" u="none" strike="noStrike" cap="none" normalizeH="0" baseline="0">
                          <a:ln>
                            <a:noFill/>
                          </a:ln>
                          <a:solidFill>
                            <a:schemeClr val="tx1"/>
                          </a:solidFill>
                          <a:effectLst/>
                          <a:latin typeface="宋体" pitchFamily="2" charset="-122"/>
                          <a:ea typeface="宋体" pitchFamily="2" charset="-122"/>
                        </a:rPr>
                        <a:t>文件</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a:t>
                      </a:r>
                      <a:r>
                        <a:rPr kumimoji="0" lang="en-US" altLang="zh-CN" sz="5400" b="1" i="0" u="none" strike="noStrike" cap="none" normalizeH="0" baseline="0" dirty="0">
                          <a:ln>
                            <a:noFill/>
                          </a:ln>
                          <a:solidFill>
                            <a:schemeClr val="tx1"/>
                          </a:solidFill>
                          <a:effectLst/>
                          <a:latin typeface="宋体" pitchFamily="2" charset="-122"/>
                          <a:ea typeface="宋体" pitchFamily="2" charset="-122"/>
                        </a:rPr>
                        <a:t>-r--r-- / </a:t>
                      </a:r>
                      <a:r>
                        <a:rPr kumimoji="0" lang="en-US" altLang="zh-CN" sz="5400" b="1" i="0" u="none" strike="noStrike" cap="none" normalizeH="0" baseline="0" dirty="0">
                          <a:ln>
                            <a:noFill/>
                          </a:ln>
                          <a:solidFill>
                            <a:srgbClr val="FF0000"/>
                          </a:solidFill>
                          <a:effectLst/>
                          <a:latin typeface="宋体" pitchFamily="2" charset="-122"/>
                          <a:ea typeface="宋体" pitchFamily="2" charset="-122"/>
                        </a:rPr>
                        <a:t>644</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a:t>
                      </a:r>
                      <a:r>
                        <a:rPr kumimoji="0" lang="en-US" altLang="zh-CN" sz="5400" b="1" i="0" u="none" strike="noStrike" cap="none" normalizeH="0" baseline="0" dirty="0">
                          <a:ln>
                            <a:noFill/>
                          </a:ln>
                          <a:solidFill>
                            <a:schemeClr val="tx1"/>
                          </a:solidFill>
                          <a:effectLst/>
                          <a:latin typeface="宋体" pitchFamily="2" charset="-122"/>
                          <a:ea typeface="宋体" pitchFamily="2" charset="-122"/>
                        </a:rPr>
                        <a:t>-</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a:t>
                      </a:r>
                      <a:r>
                        <a:rPr kumimoji="0" lang="en-US" altLang="zh-CN" sz="5400" b="1" i="0" u="none" strike="noStrike" cap="none" normalizeH="0" baseline="0" dirty="0">
                          <a:ln>
                            <a:noFill/>
                          </a:ln>
                          <a:solidFill>
                            <a:schemeClr val="tx1"/>
                          </a:solidFill>
                          <a:effectLst/>
                          <a:latin typeface="宋体" pitchFamily="2" charset="-122"/>
                          <a:ea typeface="宋体" pitchFamily="2" charset="-122"/>
                        </a:rPr>
                        <a:t>-r-- / </a:t>
                      </a:r>
                      <a:r>
                        <a:rPr kumimoji="0" lang="en-US" altLang="zh-CN" sz="5400" b="1" i="0" u="none" strike="noStrike" cap="none" normalizeH="0" baseline="0" dirty="0">
                          <a:ln>
                            <a:noFill/>
                          </a:ln>
                          <a:solidFill>
                            <a:srgbClr val="FF0000"/>
                          </a:solidFill>
                          <a:effectLst/>
                          <a:latin typeface="宋体" pitchFamily="2" charset="-122"/>
                          <a:ea typeface="宋体" pitchFamily="2" charset="-122"/>
                        </a:rPr>
                        <a:t>664</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4597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5400" b="1" i="0" u="none" strike="noStrike" cap="none" normalizeH="0" baseline="0">
                          <a:ln>
                            <a:noFill/>
                          </a:ln>
                          <a:solidFill>
                            <a:schemeClr val="tx1"/>
                          </a:solidFill>
                          <a:effectLst/>
                          <a:latin typeface="宋体" pitchFamily="2" charset="-122"/>
                          <a:ea typeface="宋体" pitchFamily="2" charset="-122"/>
                        </a:rPr>
                        <a:t>目录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rwxr</a:t>
                      </a:r>
                      <a:r>
                        <a:rPr kumimoji="0" lang="en-US" altLang="zh-CN" sz="5400" b="1" i="0" u="none" strike="noStrike" cap="none" normalizeH="0" baseline="0" dirty="0">
                          <a:ln>
                            <a:noFill/>
                          </a:ln>
                          <a:solidFill>
                            <a:schemeClr val="tx1"/>
                          </a:solidFill>
                          <a:effectLst/>
                          <a:latin typeface="宋体" pitchFamily="2" charset="-122"/>
                          <a:ea typeface="宋体" pitchFamily="2" charset="-122"/>
                        </a:rPr>
                        <a:t>-</a:t>
                      </a: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xr</a:t>
                      </a:r>
                      <a:r>
                        <a:rPr kumimoji="0" lang="en-US" altLang="zh-CN" sz="5400" b="1" i="0" u="none" strike="noStrike" cap="none" normalizeH="0" baseline="0" dirty="0">
                          <a:ln>
                            <a:noFill/>
                          </a:ln>
                          <a:solidFill>
                            <a:schemeClr val="tx1"/>
                          </a:solidFill>
                          <a:effectLst/>
                          <a:latin typeface="宋体" pitchFamily="2" charset="-122"/>
                          <a:ea typeface="宋体" pitchFamily="2" charset="-122"/>
                        </a:rPr>
                        <a:t>-x / </a:t>
                      </a:r>
                      <a:r>
                        <a:rPr kumimoji="0" lang="en-US" altLang="zh-CN" sz="5400" b="1" i="0" u="none" strike="noStrike" cap="none" normalizeH="0" baseline="0" dirty="0">
                          <a:ln>
                            <a:noFill/>
                          </a:ln>
                          <a:solidFill>
                            <a:srgbClr val="FF0000"/>
                          </a:solidFill>
                          <a:effectLst/>
                          <a:latin typeface="宋体" pitchFamily="2" charset="-122"/>
                          <a:ea typeface="宋体" pitchFamily="2" charset="-122"/>
                        </a:rPr>
                        <a:t>755</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5400" b="1" i="0" u="none" strike="noStrike" cap="none" normalizeH="0" baseline="0" dirty="0" err="1">
                          <a:ln>
                            <a:noFill/>
                          </a:ln>
                          <a:solidFill>
                            <a:schemeClr val="tx1"/>
                          </a:solidFill>
                          <a:effectLst/>
                          <a:latin typeface="宋体" pitchFamily="2" charset="-122"/>
                          <a:ea typeface="宋体" pitchFamily="2" charset="-122"/>
                        </a:rPr>
                        <a:t>rwxrwxr</a:t>
                      </a:r>
                      <a:r>
                        <a:rPr kumimoji="0" lang="en-US" altLang="zh-CN" sz="5400" b="1" i="0" u="none" strike="noStrike" cap="none" normalizeH="0" baseline="0" dirty="0">
                          <a:ln>
                            <a:noFill/>
                          </a:ln>
                          <a:solidFill>
                            <a:schemeClr val="tx1"/>
                          </a:solidFill>
                          <a:effectLst/>
                          <a:latin typeface="宋体" pitchFamily="2" charset="-122"/>
                          <a:ea typeface="宋体" pitchFamily="2" charset="-122"/>
                        </a:rPr>
                        <a:t>-x / </a:t>
                      </a:r>
                      <a:r>
                        <a:rPr kumimoji="0" lang="en-US" altLang="zh-CN" sz="5400" b="1" i="0" u="none" strike="noStrike" cap="none" normalizeH="0" baseline="0" dirty="0">
                          <a:ln>
                            <a:noFill/>
                          </a:ln>
                          <a:solidFill>
                            <a:srgbClr val="FF0000"/>
                          </a:solidFill>
                          <a:effectLst/>
                          <a:latin typeface="宋体" pitchFamily="2" charset="-122"/>
                          <a:ea typeface="宋体" pitchFamily="2" charset="-122"/>
                        </a:rPr>
                        <a:t>775</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4BC39B23-F22A-47BD-7D98-C42507B25DC0}"/>
              </a:ext>
            </a:extLst>
          </p:cNvPr>
          <p:cNvSpPr>
            <a:spLocks noGrp="1" noChangeArrowheads="1"/>
          </p:cNvSpPr>
          <p:nvPr>
            <p:ph type="title"/>
          </p:nvPr>
        </p:nvSpPr>
        <p:spPr/>
        <p:txBody>
          <a:bodyPr/>
          <a:lstStyle/>
          <a:p>
            <a:pPr eaLnBrk="1" hangingPunct="1"/>
            <a:r>
              <a:rPr lang="zh-CN" altLang="en-US"/>
              <a:t>5.2  权限安全管理命令</a:t>
            </a:r>
          </a:p>
        </p:txBody>
      </p:sp>
      <p:sp>
        <p:nvSpPr>
          <p:cNvPr id="18435" name="矩形 1">
            <a:extLst>
              <a:ext uri="{FF2B5EF4-FFF2-40B4-BE49-F238E27FC236}">
                <a16:creationId xmlns:a16="http://schemas.microsoft.com/office/drawing/2014/main" id="{E7A9DCCF-1108-DC39-566F-5E3379BB9AF6}"/>
              </a:ext>
            </a:extLst>
          </p:cNvPr>
          <p:cNvSpPr>
            <a:spLocks noChangeArrowheads="1"/>
          </p:cNvSpPr>
          <p:nvPr/>
        </p:nvSpPr>
        <p:spPr bwMode="auto">
          <a:xfrm>
            <a:off x="0" y="908050"/>
            <a:ext cx="93614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en-US" altLang="zh-CN" sz="4800"/>
              <a:t>5.2.1</a:t>
            </a:r>
            <a:r>
              <a:rPr lang="zh-CN" altLang="en-US" sz="4800"/>
              <a:t>设置文件</a:t>
            </a:r>
            <a:r>
              <a:rPr lang="zh-CN" altLang="en-US" sz="4800">
                <a:solidFill>
                  <a:srgbClr val="FF0000"/>
                </a:solidFill>
              </a:rPr>
              <a:t>创建掩码</a:t>
            </a:r>
            <a:r>
              <a:rPr lang="en-US" altLang="zh-CN" sz="4800"/>
              <a:t>(umask</a:t>
            </a:r>
            <a:r>
              <a:rPr lang="zh-CN" altLang="en-US" sz="4800"/>
              <a:t>）</a:t>
            </a:r>
          </a:p>
          <a:p>
            <a:r>
              <a:rPr lang="en-US" altLang="zh-CN" sz="4800"/>
              <a:t>5.2.2  </a:t>
            </a:r>
            <a:r>
              <a:rPr lang="zh-CN" altLang="en-US" sz="4800">
                <a:solidFill>
                  <a:srgbClr val="FF0000"/>
                </a:solidFill>
              </a:rPr>
              <a:t>改变</a:t>
            </a:r>
            <a:r>
              <a:rPr lang="zh-CN" altLang="en-US" sz="4800"/>
              <a:t>文件的</a:t>
            </a:r>
            <a:r>
              <a:rPr lang="zh-CN" altLang="en-US" sz="4800">
                <a:solidFill>
                  <a:srgbClr val="FF0000"/>
                </a:solidFill>
              </a:rPr>
              <a:t>权限</a:t>
            </a:r>
            <a:r>
              <a:rPr lang="en-US" altLang="zh-CN" sz="4800"/>
              <a:t>(chmod</a:t>
            </a:r>
            <a:r>
              <a:rPr lang="zh-CN" altLang="en-US" sz="4800"/>
              <a:t>）</a:t>
            </a:r>
          </a:p>
          <a:p>
            <a:r>
              <a:rPr lang="en-US" altLang="zh-CN" sz="4800"/>
              <a:t>5.2.3  </a:t>
            </a:r>
            <a:r>
              <a:rPr lang="zh-CN" altLang="en-US" sz="4800">
                <a:solidFill>
                  <a:srgbClr val="FF0000"/>
                </a:solidFill>
              </a:rPr>
              <a:t>改变</a:t>
            </a:r>
            <a:r>
              <a:rPr lang="zh-CN" altLang="en-US" sz="4800"/>
              <a:t>文件的</a:t>
            </a:r>
            <a:r>
              <a:rPr lang="zh-CN" altLang="en-US" sz="4800">
                <a:solidFill>
                  <a:srgbClr val="FF0000"/>
                </a:solidFill>
              </a:rPr>
              <a:t>所有者</a:t>
            </a:r>
            <a:r>
              <a:rPr lang="en-US" altLang="zh-CN" sz="4800"/>
              <a:t>(chown</a:t>
            </a:r>
            <a:endParaRPr lang="zh-CN" altLang="en-US" sz="4800"/>
          </a:p>
          <a:p>
            <a:r>
              <a:rPr lang="en-US" altLang="zh-CN" sz="4800"/>
              <a:t>5.2.4  </a:t>
            </a:r>
            <a:r>
              <a:rPr lang="zh-CN" altLang="en-US" sz="4800">
                <a:solidFill>
                  <a:srgbClr val="FF0000"/>
                </a:solidFill>
              </a:rPr>
              <a:t>改变</a:t>
            </a:r>
            <a:r>
              <a:rPr lang="zh-CN" altLang="en-US" sz="4800"/>
              <a:t>文件的</a:t>
            </a:r>
            <a:r>
              <a:rPr lang="zh-CN" altLang="en-US" sz="4800">
                <a:solidFill>
                  <a:srgbClr val="FF0000"/>
                </a:solidFill>
              </a:rPr>
              <a:t>组</a:t>
            </a:r>
            <a:r>
              <a:rPr lang="zh-CN" altLang="en-US" sz="4800"/>
              <a:t>（</a:t>
            </a:r>
            <a:r>
              <a:rPr lang="en-US" altLang="zh-CN" sz="4800"/>
              <a:t>chgrp</a:t>
            </a:r>
            <a:r>
              <a:rPr lang="zh-CN" altLang="en-US" sz="480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56AEC375-DCB4-FCB9-86FA-333FC0EA9244}"/>
              </a:ext>
            </a:extLst>
          </p:cNvPr>
          <p:cNvSpPr>
            <a:spLocks noGrp="1" noChangeArrowheads="1"/>
          </p:cNvSpPr>
          <p:nvPr>
            <p:ph type="title"/>
          </p:nvPr>
        </p:nvSpPr>
        <p:spPr/>
        <p:txBody>
          <a:bodyPr/>
          <a:lstStyle/>
          <a:p>
            <a:pPr eaLnBrk="1" hangingPunct="1"/>
            <a:r>
              <a:rPr lang="zh-CN" altLang="en-US"/>
              <a:t>5.2.1  设置文件创建掩码（umask）</a:t>
            </a:r>
          </a:p>
        </p:txBody>
      </p:sp>
      <p:sp>
        <p:nvSpPr>
          <p:cNvPr id="16387" name="内容占位符 2">
            <a:extLst>
              <a:ext uri="{FF2B5EF4-FFF2-40B4-BE49-F238E27FC236}">
                <a16:creationId xmlns:a16="http://schemas.microsoft.com/office/drawing/2014/main" id="{24768CF7-0ADF-23C7-86A1-650CA14ECF11}"/>
              </a:ext>
            </a:extLst>
          </p:cNvPr>
          <p:cNvSpPr>
            <a:spLocks noGrp="1" noChangeArrowheads="1"/>
          </p:cNvSpPr>
          <p:nvPr>
            <p:ph idx="1"/>
          </p:nvPr>
        </p:nvSpPr>
        <p:spPr>
          <a:xfrm>
            <a:off x="-36513" y="620713"/>
            <a:ext cx="9180513" cy="5761037"/>
          </a:xfrm>
        </p:spPr>
        <p:txBody>
          <a:bodyPr/>
          <a:lstStyle/>
          <a:p>
            <a:pPr marL="0" indent="0" eaLnBrk="1" hangingPunct="1">
              <a:spcBef>
                <a:spcPts val="0"/>
              </a:spcBef>
              <a:spcAft>
                <a:spcPts val="0"/>
              </a:spcAft>
              <a:buFont typeface="Arial" panose="020B0604020202020204" pitchFamily="34" charset="0"/>
              <a:buNone/>
              <a:defRPr/>
            </a:pPr>
            <a:r>
              <a:rPr lang="zh-CN" altLang="en-US" sz="3600" dirty="0"/>
              <a:t>1．功能及用法</a:t>
            </a:r>
          </a:p>
          <a:p>
            <a:pPr eaLnBrk="1" hangingPunct="1">
              <a:spcBef>
                <a:spcPts val="0"/>
              </a:spcBef>
              <a:spcAft>
                <a:spcPts val="0"/>
              </a:spcAft>
              <a:defRPr/>
            </a:pPr>
            <a:r>
              <a:rPr lang="zh-CN" altLang="en-US" sz="3600" dirty="0"/>
              <a:t>umask的</a:t>
            </a:r>
            <a:r>
              <a:rPr lang="zh-CN" altLang="en-US" sz="3600" dirty="0">
                <a:solidFill>
                  <a:srgbClr val="FF0000"/>
                </a:solidFill>
              </a:rPr>
              <a:t>功能</a:t>
            </a:r>
            <a:r>
              <a:rPr lang="zh-CN" altLang="en-US" sz="3600" dirty="0"/>
              <a:t>是</a:t>
            </a:r>
            <a:r>
              <a:rPr lang="zh-CN" altLang="en-US" sz="3600" dirty="0">
                <a:solidFill>
                  <a:srgbClr val="FF0000"/>
                </a:solidFill>
              </a:rPr>
              <a:t>设置或查询umask</a:t>
            </a:r>
            <a:r>
              <a:rPr lang="zh-CN" altLang="en-US" sz="3600" dirty="0"/>
              <a:t>的值。</a:t>
            </a:r>
          </a:p>
          <a:p>
            <a:pPr eaLnBrk="1" hangingPunct="1">
              <a:spcBef>
                <a:spcPts val="0"/>
              </a:spcBef>
              <a:spcAft>
                <a:spcPts val="0"/>
              </a:spcAft>
              <a:defRPr/>
            </a:pPr>
            <a:r>
              <a:rPr lang="zh-CN" altLang="en-US" sz="3600" dirty="0"/>
              <a:t>创建文件时，系统将用</a:t>
            </a:r>
            <a:r>
              <a:rPr lang="zh-CN" altLang="en-US" sz="3600" u="sng" dirty="0">
                <a:solidFill>
                  <a:srgbClr val="FF0000"/>
                </a:solidFill>
              </a:rPr>
              <a:t>八进制数777</a:t>
            </a:r>
            <a:r>
              <a:rPr lang="zh-CN" altLang="en-US" sz="3600" dirty="0">
                <a:solidFill>
                  <a:srgbClr val="FF0000"/>
                </a:solidFill>
              </a:rPr>
              <a:t>与文件创建掩码</a:t>
            </a:r>
            <a:r>
              <a:rPr lang="zh-CN" altLang="en-US" sz="3600" dirty="0"/>
              <a:t>的八进制数按位做</a:t>
            </a:r>
            <a:r>
              <a:rPr lang="zh-CN" altLang="en-US" sz="3600" dirty="0">
                <a:solidFill>
                  <a:srgbClr val="FF0000"/>
                </a:solidFill>
              </a:rPr>
              <a:t>减法运算</a:t>
            </a:r>
            <a:r>
              <a:rPr lang="zh-CN" altLang="en-US" sz="3600" dirty="0"/>
              <a:t>，所得的</a:t>
            </a:r>
            <a:r>
              <a:rPr lang="zh-CN" altLang="en-US" sz="3600" dirty="0">
                <a:solidFill>
                  <a:srgbClr val="FF0000"/>
                </a:solidFill>
              </a:rPr>
              <a:t>三位八进制数</a:t>
            </a:r>
            <a:r>
              <a:rPr lang="zh-CN" altLang="en-US" sz="3600" dirty="0"/>
              <a:t>作为新文件的存取权限。</a:t>
            </a:r>
          </a:p>
          <a:p>
            <a:pPr eaLnBrk="1" hangingPunct="1">
              <a:spcBef>
                <a:spcPts val="0"/>
              </a:spcBef>
              <a:spcAft>
                <a:spcPts val="0"/>
              </a:spcAft>
              <a:defRPr/>
            </a:pPr>
            <a:r>
              <a:rPr lang="zh-CN" altLang="en-US" sz="3600" dirty="0"/>
              <a:t>若</a:t>
            </a:r>
            <a:r>
              <a:rPr lang="zh-CN" altLang="en-US" sz="3600" dirty="0">
                <a:solidFill>
                  <a:srgbClr val="FF0000"/>
                </a:solidFill>
              </a:rPr>
              <a:t>umask的值为022</a:t>
            </a:r>
            <a:r>
              <a:rPr lang="zh-CN" altLang="en-US" sz="3600" dirty="0"/>
              <a:t>，则创建“文件”的理论权限为</a:t>
            </a:r>
            <a:r>
              <a:rPr lang="zh-CN" altLang="en-US" sz="3600" dirty="0">
                <a:solidFill>
                  <a:srgbClr val="FF0000"/>
                </a:solidFill>
              </a:rPr>
              <a:t>777-022=755</a:t>
            </a:r>
            <a:r>
              <a:rPr lang="zh-CN" altLang="en-US" sz="3600" dirty="0"/>
              <a:t>，即</a:t>
            </a:r>
            <a:r>
              <a:rPr lang="zh-CN" altLang="en-US" sz="3600" dirty="0">
                <a:solidFill>
                  <a:srgbClr val="FF0000"/>
                </a:solidFill>
              </a:rPr>
              <a:t>rwxr-xr-x</a:t>
            </a:r>
            <a:r>
              <a:rPr lang="zh-CN" altLang="en-US" sz="3600" dirty="0"/>
              <a:t>。对于文件，不一定具有可执行的内容，因此还要</a:t>
            </a:r>
            <a:r>
              <a:rPr lang="zh-CN" altLang="en-US" sz="3600" dirty="0">
                <a:solidFill>
                  <a:srgbClr val="FF0000"/>
                </a:solidFill>
              </a:rPr>
              <a:t>去除各类用户的执行权</a:t>
            </a:r>
            <a:r>
              <a:rPr lang="zh-CN" altLang="en-US" sz="3600" dirty="0"/>
              <a:t>，故一般文件的权限为</a:t>
            </a:r>
            <a:r>
              <a:rPr lang="zh-CN" altLang="en-US" sz="3600" dirty="0">
                <a:solidFill>
                  <a:srgbClr val="FF0000"/>
                </a:solidFill>
              </a:rPr>
              <a:t>644</a:t>
            </a:r>
            <a:r>
              <a:rPr lang="zh-CN" altLang="en-US" sz="3600" dirty="0"/>
              <a:t>，即</a:t>
            </a:r>
            <a:r>
              <a:rPr lang="zh-CN" altLang="en-US" sz="3600" dirty="0">
                <a:solidFill>
                  <a:srgbClr val="FF0000"/>
                </a:solidFill>
              </a:rPr>
              <a:t>rw-r--r--</a:t>
            </a:r>
            <a:r>
              <a:rPr lang="zh-CN" altLang="en-US" sz="36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6A62637E-9FA0-6680-0A1A-88D16F82AD0B}"/>
              </a:ext>
            </a:extLst>
          </p:cNvPr>
          <p:cNvSpPr>
            <a:spLocks noGrp="1" noChangeArrowheads="1"/>
          </p:cNvSpPr>
          <p:nvPr>
            <p:ph type="title"/>
          </p:nvPr>
        </p:nvSpPr>
        <p:spPr/>
        <p:txBody>
          <a:bodyPr/>
          <a:lstStyle/>
          <a:p>
            <a:pPr eaLnBrk="1" hangingPunct="1"/>
            <a:r>
              <a:rPr lang="zh-CN" altLang="en-US"/>
              <a:t>5.2.1  设置文件创建掩码（umask）</a:t>
            </a:r>
          </a:p>
        </p:txBody>
      </p:sp>
      <p:sp>
        <p:nvSpPr>
          <p:cNvPr id="20483" name="内容占位符 2">
            <a:extLst>
              <a:ext uri="{FF2B5EF4-FFF2-40B4-BE49-F238E27FC236}">
                <a16:creationId xmlns:a16="http://schemas.microsoft.com/office/drawing/2014/main" id="{1798E96F-26C4-67CC-B2B7-8C562094ED5E}"/>
              </a:ext>
            </a:extLst>
          </p:cNvPr>
          <p:cNvSpPr>
            <a:spLocks noGrp="1" noChangeArrowheads="1"/>
          </p:cNvSpPr>
          <p:nvPr>
            <p:ph idx="1"/>
          </p:nvPr>
        </p:nvSpPr>
        <p:spPr>
          <a:xfrm>
            <a:off x="-127000" y="404813"/>
            <a:ext cx="9236075" cy="6119812"/>
          </a:xfrm>
        </p:spPr>
        <p:txBody>
          <a:bodyPr/>
          <a:lstStyle/>
          <a:p>
            <a:pPr eaLnBrk="1" hangingPunct="1">
              <a:spcBef>
                <a:spcPct val="0"/>
              </a:spcBef>
              <a:spcAft>
                <a:spcPct val="0"/>
              </a:spcAft>
            </a:pPr>
            <a:r>
              <a:rPr lang="zh-CN" altLang="en-US" sz="3200"/>
              <a:t>umask的用法为：</a:t>
            </a:r>
          </a:p>
          <a:p>
            <a:pPr lvl="1" eaLnBrk="1" hangingPunct="1">
              <a:spcBef>
                <a:spcPct val="0"/>
              </a:spcBef>
              <a:spcAft>
                <a:spcPct val="0"/>
              </a:spcAft>
            </a:pPr>
            <a:r>
              <a:rPr lang="zh-CN" altLang="en-US" sz="3200"/>
              <a:t>umask [ -S ]  [ new_umask ]</a:t>
            </a:r>
          </a:p>
          <a:p>
            <a:pPr eaLnBrk="1" hangingPunct="1">
              <a:spcBef>
                <a:spcPct val="0"/>
              </a:spcBef>
              <a:spcAft>
                <a:spcPct val="0"/>
              </a:spcAft>
            </a:pPr>
            <a:r>
              <a:rPr lang="zh-CN" altLang="en-US" sz="3200"/>
              <a:t>可用参数如下</a:t>
            </a:r>
            <a:endParaRPr lang="en-US" altLang="zh-CN" sz="3200"/>
          </a:p>
          <a:p>
            <a:pPr lvl="1" eaLnBrk="1" hangingPunct="1">
              <a:spcBef>
                <a:spcPct val="0"/>
              </a:spcBef>
              <a:spcAft>
                <a:spcPct val="0"/>
              </a:spcAft>
            </a:pPr>
            <a:r>
              <a:rPr lang="en-US" altLang="zh-CN" sz="3200"/>
              <a:t>new_umask</a:t>
            </a:r>
            <a:r>
              <a:rPr lang="zh-CN" altLang="en-US" sz="3200"/>
              <a:t>：将新值</a:t>
            </a:r>
            <a:r>
              <a:rPr lang="en-US" altLang="zh-CN" sz="3200"/>
              <a:t>new_umask</a:t>
            </a:r>
            <a:r>
              <a:rPr lang="zh-CN" altLang="en-US" sz="3200"/>
              <a:t>设置为当前掩码</a:t>
            </a:r>
          </a:p>
          <a:p>
            <a:pPr lvl="1" eaLnBrk="1" hangingPunct="1">
              <a:spcBef>
                <a:spcPct val="0"/>
              </a:spcBef>
              <a:spcAft>
                <a:spcPct val="0"/>
              </a:spcAft>
            </a:pPr>
            <a:r>
              <a:rPr lang="en-US" altLang="zh-CN" sz="3200"/>
              <a:t>-S</a:t>
            </a:r>
            <a:r>
              <a:rPr lang="zh-CN" altLang="en-US" sz="3200"/>
              <a:t>：以</a:t>
            </a:r>
            <a:r>
              <a:rPr lang="zh-CN" altLang="en-US" sz="3200">
                <a:solidFill>
                  <a:srgbClr val="FF0000"/>
                </a:solidFill>
              </a:rPr>
              <a:t>符号</a:t>
            </a:r>
            <a:r>
              <a:rPr lang="zh-CN" altLang="en-US" sz="3200"/>
              <a:t>方式显示当前</a:t>
            </a:r>
            <a:r>
              <a:rPr lang="en-US" altLang="zh-CN" sz="3200"/>
              <a:t>umask</a:t>
            </a:r>
            <a:r>
              <a:rPr lang="zh-CN" altLang="en-US" sz="3200"/>
              <a:t>值</a:t>
            </a:r>
          </a:p>
          <a:p>
            <a:pPr lvl="1" eaLnBrk="1" hangingPunct="1">
              <a:spcBef>
                <a:spcPct val="0"/>
              </a:spcBef>
              <a:spcAft>
                <a:spcPct val="0"/>
              </a:spcAft>
            </a:pPr>
            <a:r>
              <a:rPr lang="zh-CN" altLang="en-US" sz="3200"/>
              <a:t>无：显示当前文件创建掩码</a:t>
            </a:r>
            <a:r>
              <a:rPr lang="en-US" altLang="zh-CN" sz="3200"/>
              <a:t>umask</a:t>
            </a:r>
            <a:r>
              <a:rPr lang="zh-CN" altLang="en-US" sz="3200"/>
              <a:t>的值</a:t>
            </a:r>
          </a:p>
          <a:p>
            <a:pPr eaLnBrk="1" hangingPunct="1">
              <a:spcBef>
                <a:spcPct val="0"/>
              </a:spcBef>
              <a:spcAft>
                <a:spcPct val="0"/>
              </a:spcAft>
            </a:pPr>
            <a:r>
              <a:rPr lang="zh-CN" altLang="en-US" sz="3200"/>
              <a:t>示例：</a:t>
            </a:r>
          </a:p>
          <a:p>
            <a:pPr lvl="1" eaLnBrk="1" hangingPunct="1">
              <a:spcBef>
                <a:spcPct val="0"/>
              </a:spcBef>
              <a:spcAft>
                <a:spcPct val="0"/>
              </a:spcAft>
            </a:pPr>
            <a:r>
              <a:rPr lang="zh-CN" altLang="en-US" sz="3200"/>
              <a:t>#umask     	#显示当前的umask值</a:t>
            </a:r>
          </a:p>
          <a:p>
            <a:pPr lvl="1" eaLnBrk="1" hangingPunct="1">
              <a:spcBef>
                <a:spcPct val="0"/>
              </a:spcBef>
              <a:spcAft>
                <a:spcPct val="0"/>
              </a:spcAft>
            </a:pPr>
            <a:r>
              <a:rPr lang="zh-CN" altLang="en-US" sz="3200"/>
              <a:t>#umask 0022	   #设置umask值为0022</a:t>
            </a:r>
          </a:p>
          <a:p>
            <a:pPr lvl="1" eaLnBrk="1" hangingPunct="1">
              <a:spcBef>
                <a:spcPct val="0"/>
              </a:spcBef>
              <a:spcAft>
                <a:spcPct val="0"/>
              </a:spcAft>
            </a:pPr>
            <a:r>
              <a:rPr lang="zh-CN" altLang="en-US" sz="3200"/>
              <a:t>#umask u=rwx,g=rx,o=	#设置umask值为0027</a:t>
            </a:r>
          </a:p>
          <a:p>
            <a:pPr eaLnBrk="1" hangingPunct="1"/>
            <a:endParaRPr lang="zh-CN"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12790697-74F5-B351-87B0-CA92180A13DB}"/>
              </a:ext>
            </a:extLst>
          </p:cNvPr>
          <p:cNvSpPr>
            <a:spLocks noGrp="1" noChangeArrowheads="1"/>
          </p:cNvSpPr>
          <p:nvPr>
            <p:ph type="title"/>
          </p:nvPr>
        </p:nvSpPr>
        <p:spPr/>
        <p:txBody>
          <a:bodyPr/>
          <a:lstStyle/>
          <a:p>
            <a:pPr eaLnBrk="1" hangingPunct="1"/>
            <a:r>
              <a:rPr lang="zh-CN" altLang="en-US"/>
              <a:t>5.2.2  改变文件的权限（chmod）</a:t>
            </a:r>
          </a:p>
        </p:txBody>
      </p:sp>
      <p:sp>
        <p:nvSpPr>
          <p:cNvPr id="21507" name="内容占位符 2">
            <a:extLst>
              <a:ext uri="{FF2B5EF4-FFF2-40B4-BE49-F238E27FC236}">
                <a16:creationId xmlns:a16="http://schemas.microsoft.com/office/drawing/2014/main" id="{C1D99D49-C15F-3C64-ED28-7D17CF6CCE58}"/>
              </a:ext>
            </a:extLst>
          </p:cNvPr>
          <p:cNvSpPr>
            <a:spLocks noGrp="1" noChangeArrowheads="1"/>
          </p:cNvSpPr>
          <p:nvPr>
            <p:ph idx="1"/>
          </p:nvPr>
        </p:nvSpPr>
        <p:spPr>
          <a:xfrm>
            <a:off x="34925" y="620713"/>
            <a:ext cx="9001125" cy="5761037"/>
          </a:xfrm>
        </p:spPr>
        <p:txBody>
          <a:bodyPr/>
          <a:lstStyle/>
          <a:p>
            <a:pPr eaLnBrk="1" hangingPunct="1">
              <a:spcBef>
                <a:spcPct val="0"/>
              </a:spcBef>
              <a:spcAft>
                <a:spcPct val="0"/>
              </a:spcAft>
            </a:pPr>
            <a:r>
              <a:rPr lang="zh-CN" altLang="en-US" sz="3200"/>
              <a:t>1．功能及用法</a:t>
            </a:r>
          </a:p>
          <a:p>
            <a:pPr eaLnBrk="1" hangingPunct="1">
              <a:spcBef>
                <a:spcPct val="0"/>
              </a:spcBef>
              <a:spcAft>
                <a:spcPct val="0"/>
              </a:spcAft>
            </a:pPr>
            <a:r>
              <a:rPr lang="zh-CN" altLang="en-US" sz="3200"/>
              <a:t>chmod（change mode）的功能为</a:t>
            </a:r>
            <a:r>
              <a:rPr lang="zh-CN" altLang="en-US" sz="3200">
                <a:solidFill>
                  <a:srgbClr val="FF0000"/>
                </a:solidFill>
              </a:rPr>
              <a:t>改变</a:t>
            </a:r>
            <a:r>
              <a:rPr lang="zh-CN" altLang="en-US" sz="3200"/>
              <a:t>文件或目录的</a:t>
            </a:r>
            <a:r>
              <a:rPr lang="zh-CN" altLang="en-US" sz="3200">
                <a:solidFill>
                  <a:srgbClr val="FF0000"/>
                </a:solidFill>
              </a:rPr>
              <a:t>访问权限</a:t>
            </a:r>
            <a:r>
              <a:rPr lang="zh-CN" altLang="en-US" sz="3200"/>
              <a:t>。</a:t>
            </a:r>
          </a:p>
          <a:p>
            <a:pPr eaLnBrk="1" hangingPunct="1">
              <a:spcBef>
                <a:spcPct val="0"/>
              </a:spcBef>
              <a:spcAft>
                <a:spcPct val="0"/>
              </a:spcAft>
            </a:pPr>
            <a:r>
              <a:rPr lang="zh-CN" altLang="en-US" sz="3200"/>
              <a:t>在设置或改变文件或目录权限时，可以</a:t>
            </a:r>
            <a:r>
              <a:rPr lang="zh-CN" altLang="en-US" sz="3200">
                <a:solidFill>
                  <a:srgbClr val="FF0000"/>
                </a:solidFill>
              </a:rPr>
              <a:t>使用符号方式或数字方式</a:t>
            </a:r>
            <a:r>
              <a:rPr lang="zh-CN" altLang="en-US" sz="3200"/>
              <a:t>。</a:t>
            </a:r>
          </a:p>
          <a:p>
            <a:pPr eaLnBrk="1" hangingPunct="1">
              <a:spcBef>
                <a:spcPct val="0"/>
              </a:spcBef>
              <a:spcAft>
                <a:spcPct val="0"/>
              </a:spcAft>
            </a:pPr>
            <a:r>
              <a:rPr lang="zh-CN" altLang="en-US" sz="3200">
                <a:solidFill>
                  <a:srgbClr val="FF0000"/>
                </a:solidFill>
              </a:rPr>
              <a:t>超级用户</a:t>
            </a:r>
            <a:r>
              <a:rPr lang="zh-CN" altLang="en-US" sz="3200"/>
              <a:t>或</a:t>
            </a:r>
            <a:r>
              <a:rPr lang="zh-CN" altLang="en-US" sz="3200">
                <a:solidFill>
                  <a:srgbClr val="FF0000"/>
                </a:solidFill>
              </a:rPr>
              <a:t>用户主</a:t>
            </a:r>
            <a:r>
              <a:rPr lang="zh-CN" altLang="en-US" sz="3200"/>
              <a:t>可以执行该命令。</a:t>
            </a:r>
          </a:p>
          <a:p>
            <a:pPr eaLnBrk="1" hangingPunct="1">
              <a:spcBef>
                <a:spcPct val="0"/>
              </a:spcBef>
              <a:spcAft>
                <a:spcPct val="0"/>
              </a:spcAft>
            </a:pPr>
            <a:r>
              <a:rPr lang="zh-CN" altLang="en-US" sz="3200"/>
              <a:t>其用法有以下</a:t>
            </a:r>
            <a:r>
              <a:rPr lang="zh-CN" altLang="en-US" sz="3200">
                <a:solidFill>
                  <a:srgbClr val="FF0000"/>
                </a:solidFill>
              </a:rPr>
              <a:t>两种形式</a:t>
            </a:r>
            <a:r>
              <a:rPr lang="zh-CN" altLang="en-US" sz="3200"/>
              <a:t>。</a:t>
            </a:r>
          </a:p>
          <a:p>
            <a:pPr eaLnBrk="1" hangingPunct="1">
              <a:spcBef>
                <a:spcPct val="0"/>
              </a:spcBef>
              <a:spcAft>
                <a:spcPct val="0"/>
              </a:spcAft>
            </a:pPr>
            <a:r>
              <a:rPr lang="zh-CN" altLang="en-US" sz="3200"/>
              <a:t>（1）符号方式：</a:t>
            </a:r>
          </a:p>
          <a:p>
            <a:pPr eaLnBrk="1" hangingPunct="1">
              <a:spcBef>
                <a:spcPct val="0"/>
              </a:spcBef>
              <a:spcAft>
                <a:spcPct val="0"/>
              </a:spcAft>
            </a:pPr>
            <a:r>
              <a:rPr lang="zh-CN" altLang="en-US" sz="3200"/>
              <a:t>chmod [options] &lt;</a:t>
            </a:r>
            <a:r>
              <a:rPr lang="zh-CN" altLang="en-US" sz="3200">
                <a:solidFill>
                  <a:srgbClr val="FF0000"/>
                </a:solidFill>
              </a:rPr>
              <a:t>a|u|g|o</a:t>
            </a:r>
            <a:r>
              <a:rPr lang="zh-CN" altLang="en-US" sz="3200"/>
              <a:t>&gt; &lt;</a:t>
            </a:r>
            <a:r>
              <a:rPr lang="zh-CN" altLang="en-US" sz="3200">
                <a:solidFill>
                  <a:srgbClr val="FF0000"/>
                </a:solidFill>
              </a:rPr>
              <a:t>+|-|=</a:t>
            </a:r>
            <a:r>
              <a:rPr lang="zh-CN" altLang="en-US" sz="3200"/>
              <a:t>&gt; &lt;str_perm&gt;,… file …</a:t>
            </a:r>
          </a:p>
          <a:p>
            <a:pPr eaLnBrk="1" hangingPunct="1">
              <a:spcBef>
                <a:spcPct val="0"/>
              </a:spcBef>
              <a:spcAft>
                <a:spcPct val="0"/>
              </a:spcAft>
            </a:pPr>
            <a:r>
              <a:rPr lang="zh-CN" altLang="en-US" sz="3200"/>
              <a:t>（2）数值方式：</a:t>
            </a:r>
          </a:p>
          <a:p>
            <a:pPr eaLnBrk="1" hangingPunct="1">
              <a:spcBef>
                <a:spcPct val="0"/>
              </a:spcBef>
              <a:spcAft>
                <a:spcPct val="0"/>
              </a:spcAft>
            </a:pPr>
            <a:r>
              <a:rPr lang="zh-CN" altLang="en-US" sz="3200"/>
              <a:t>chmod [options] num_perm file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F35ED033-85EE-0E6B-D9F4-1D2875FA6E02}"/>
              </a:ext>
            </a:extLst>
          </p:cNvPr>
          <p:cNvSpPr>
            <a:spLocks noGrp="1" noChangeArrowheads="1"/>
          </p:cNvSpPr>
          <p:nvPr>
            <p:ph type="title"/>
          </p:nvPr>
        </p:nvSpPr>
        <p:spPr/>
        <p:txBody>
          <a:bodyPr/>
          <a:lstStyle/>
          <a:p>
            <a:pPr eaLnBrk="1" hangingPunct="1"/>
            <a:r>
              <a:rPr lang="zh-CN" altLang="en-US"/>
              <a:t>2．参数说明（不做要求）</a:t>
            </a:r>
          </a:p>
        </p:txBody>
      </p:sp>
      <p:graphicFrame>
        <p:nvGraphicFramePr>
          <p:cNvPr id="2" name="表格 -1">
            <a:extLst>
              <a:ext uri="{FF2B5EF4-FFF2-40B4-BE49-F238E27FC236}">
                <a16:creationId xmlns:a16="http://schemas.microsoft.com/office/drawing/2014/main" id="{56736EAE-D5D8-2A7A-B098-21C3951A31E0}"/>
              </a:ext>
            </a:extLst>
          </p:cNvPr>
          <p:cNvGraphicFramePr>
            <a:graphicFrameLocks noGrp="1"/>
          </p:cNvGraphicFramePr>
          <p:nvPr/>
        </p:nvGraphicFramePr>
        <p:xfrm>
          <a:off x="3175" y="549275"/>
          <a:ext cx="9105900" cy="5759450"/>
        </p:xfrm>
        <a:graphic>
          <a:graphicData uri="http://schemas.openxmlformats.org/drawingml/2006/table">
            <a:tbl>
              <a:tblPr/>
              <a:tblGrid>
                <a:gridCol w="2560093">
                  <a:extLst>
                    <a:ext uri="{9D8B030D-6E8A-4147-A177-3AD203B41FA5}">
                      <a16:colId xmlns:a16="http://schemas.microsoft.com/office/drawing/2014/main" val="20000"/>
                    </a:ext>
                  </a:extLst>
                </a:gridCol>
                <a:gridCol w="6545807">
                  <a:extLst>
                    <a:ext uri="{9D8B030D-6E8A-4147-A177-3AD203B41FA5}">
                      <a16:colId xmlns:a16="http://schemas.microsoft.com/office/drawing/2014/main" val="20001"/>
                    </a:ext>
                  </a:extLst>
                </a:gridCol>
              </a:tblGrid>
              <a:tr h="719931">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2400" b="0" i="0" u="none" strike="noStrike" cap="none" normalizeH="0" baseline="0" dirty="0">
                          <a:ln>
                            <a:noFill/>
                          </a:ln>
                          <a:solidFill>
                            <a:schemeClr val="tx1"/>
                          </a:solidFill>
                          <a:effectLst/>
                          <a:latin typeface="宋体" pitchFamily="2" charset="-122"/>
                          <a:ea typeface="宋体" pitchFamily="2" charset="-122"/>
                        </a:rPr>
                        <a:t>    </a:t>
                      </a: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0" i="0" u="none" strike="noStrike" cap="none" normalizeH="0" baseline="0">
                          <a:ln>
                            <a:noFill/>
                          </a:ln>
                          <a:solidFill>
                            <a:schemeClr val="tx1"/>
                          </a:solidFill>
                          <a:effectLst/>
                          <a:latin typeface="宋体" pitchFamily="2" charset="-122"/>
                          <a:ea typeface="宋体" pitchFamily="2" charset="-122"/>
                        </a:rPr>
                        <a:t>    </a:t>
                      </a:r>
                      <a:r>
                        <a:rPr kumimoji="0" lang="zh-CN" altLang="en-US"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59793">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p>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--silient</a:t>
                      </a:r>
                    </a:p>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--quiet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以强制或安静方式工作，忽略大部分错误信息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9931">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报告</a:t>
                      </a: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chmod</a:t>
                      </a:r>
                      <a:r>
                        <a:rPr kumimoji="0" lang="zh-CN" altLang="en-US"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对每个文件的处理信息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9931">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--reference=rfile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从指定文件</a:t>
                      </a:r>
                      <a:r>
                        <a:rPr kumimoji="0" lang="en-US" altLang="zh-CN"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rfile</a:t>
                      </a:r>
                      <a:r>
                        <a:rPr kumimoji="0" lang="zh-CN" altLang="en-US" sz="2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中获取权限值</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39863">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-R</a:t>
                      </a:r>
                    </a:p>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--recursive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en-US" sz="2800" b="0"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以递归方式处理子目录及其中的文件</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39D5B1B-A3CD-1BB8-5A15-63D35477CC28}"/>
              </a:ext>
            </a:extLst>
          </p:cNvPr>
          <p:cNvSpPr>
            <a:spLocks noGrp="1" noChangeArrowheads="1"/>
          </p:cNvSpPr>
          <p:nvPr>
            <p:ph type="title"/>
          </p:nvPr>
        </p:nvSpPr>
        <p:spPr/>
        <p:txBody>
          <a:bodyPr/>
          <a:lstStyle/>
          <a:p>
            <a:pPr eaLnBrk="1" hangingPunct="1"/>
            <a:r>
              <a:rPr lang="zh-CN" altLang="en-US"/>
              <a:t>3．使用示例</a:t>
            </a:r>
          </a:p>
        </p:txBody>
      </p:sp>
      <p:sp>
        <p:nvSpPr>
          <p:cNvPr id="23555" name="内容占位符 2">
            <a:extLst>
              <a:ext uri="{FF2B5EF4-FFF2-40B4-BE49-F238E27FC236}">
                <a16:creationId xmlns:a16="http://schemas.microsoft.com/office/drawing/2014/main" id="{216074F7-85C1-4879-8BA8-400B4D544CBA}"/>
              </a:ext>
            </a:extLst>
          </p:cNvPr>
          <p:cNvSpPr>
            <a:spLocks noGrp="1" noChangeArrowheads="1"/>
          </p:cNvSpPr>
          <p:nvPr>
            <p:ph idx="1"/>
          </p:nvPr>
        </p:nvSpPr>
        <p:spPr>
          <a:xfrm>
            <a:off x="0" y="549275"/>
            <a:ext cx="9144000" cy="5832475"/>
          </a:xfrm>
        </p:spPr>
        <p:txBody>
          <a:bodyPr/>
          <a:lstStyle/>
          <a:p>
            <a:pPr eaLnBrk="1" hangingPunct="1">
              <a:spcBef>
                <a:spcPct val="0"/>
              </a:spcBef>
              <a:spcAft>
                <a:spcPct val="0"/>
              </a:spcAft>
            </a:pPr>
            <a:r>
              <a:rPr lang="zh-CN" altLang="en-US" sz="3600"/>
              <a:t>#</a:t>
            </a:r>
            <a:r>
              <a:rPr lang="zh-CN" altLang="en-US" sz="4400">
                <a:solidFill>
                  <a:srgbClr val="FF0000"/>
                </a:solidFill>
              </a:rPr>
              <a:t>chmod a+x my_p1 my_p2</a:t>
            </a:r>
            <a:r>
              <a:rPr lang="zh-CN" altLang="en-US" sz="3600"/>
              <a:t>	#为所有用户对文件my_p1、my_p2增加执行权</a:t>
            </a:r>
          </a:p>
          <a:p>
            <a:pPr eaLnBrk="1" hangingPunct="1">
              <a:spcBef>
                <a:spcPct val="0"/>
              </a:spcBef>
              <a:spcAft>
                <a:spcPct val="0"/>
              </a:spcAft>
            </a:pPr>
            <a:r>
              <a:rPr lang="zh-CN" altLang="en-US" sz="3600"/>
              <a:t>#</a:t>
            </a:r>
            <a:r>
              <a:rPr lang="zh-CN" altLang="en-US" sz="4400">
                <a:solidFill>
                  <a:srgbClr val="FF0000"/>
                </a:solidFill>
              </a:rPr>
              <a:t>chmod u+rwx,go+rx myp</a:t>
            </a:r>
            <a:r>
              <a:rPr lang="zh-CN" altLang="en-US" sz="3600"/>
              <a:t>	#为文件主增加所有权限，为组和其他人增加读和执行权</a:t>
            </a:r>
          </a:p>
          <a:p>
            <a:pPr eaLnBrk="1" hangingPunct="1">
              <a:spcBef>
                <a:spcPct val="0"/>
              </a:spcBef>
              <a:spcAft>
                <a:spcPct val="0"/>
              </a:spcAft>
            </a:pPr>
            <a:r>
              <a:rPr lang="zh-CN" altLang="en-US" sz="3600"/>
              <a:t>#</a:t>
            </a:r>
            <a:r>
              <a:rPr lang="zh-CN" altLang="en-US" sz="4400">
                <a:solidFill>
                  <a:srgbClr val="FF0000"/>
                </a:solidFill>
              </a:rPr>
              <a:t>chmod -R o-rwx /tmp/w123</a:t>
            </a:r>
            <a:r>
              <a:rPr lang="zh-CN" altLang="en-US" sz="3600"/>
              <a:t>	#递归去掉/tmp/w123内目录和文件对其他人的所有权限</a:t>
            </a:r>
          </a:p>
          <a:p>
            <a:pPr eaLnBrk="1" hangingPunct="1">
              <a:spcBef>
                <a:spcPct val="0"/>
              </a:spcBef>
              <a:spcAft>
                <a:spcPct val="0"/>
              </a:spcAft>
            </a:pPr>
            <a:r>
              <a:rPr lang="zh-CN" altLang="en-US" sz="3600"/>
              <a:t>#</a:t>
            </a:r>
            <a:r>
              <a:rPr lang="zh-CN" altLang="en-US" sz="3600">
                <a:solidFill>
                  <a:srgbClr val="FF0000"/>
                </a:solidFill>
              </a:rPr>
              <a:t>chmod -R 777 /tmp/*	</a:t>
            </a:r>
            <a:r>
              <a:rPr lang="zh-CN" altLang="en-US" sz="3600"/>
              <a:t>	#将/tmp中的所有文件和各级子目录及内容权限设置为777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43CEE0AF-C035-8F1A-6859-92F2E8C5F468}"/>
              </a:ext>
            </a:extLst>
          </p:cNvPr>
          <p:cNvSpPr>
            <a:spLocks noGrp="1" noChangeArrowheads="1"/>
          </p:cNvSpPr>
          <p:nvPr>
            <p:ph type="title"/>
          </p:nvPr>
        </p:nvSpPr>
        <p:spPr/>
        <p:txBody>
          <a:bodyPr/>
          <a:lstStyle/>
          <a:p>
            <a:pPr eaLnBrk="1" hangingPunct="1"/>
            <a:r>
              <a:rPr lang="zh-CN" altLang="en-US"/>
              <a:t>5.2.3  改变文件的所有者（chown）</a:t>
            </a:r>
          </a:p>
        </p:txBody>
      </p:sp>
      <p:sp>
        <p:nvSpPr>
          <p:cNvPr id="24579" name="内容占位符 2">
            <a:extLst>
              <a:ext uri="{FF2B5EF4-FFF2-40B4-BE49-F238E27FC236}">
                <a16:creationId xmlns:a16="http://schemas.microsoft.com/office/drawing/2014/main" id="{F2281AC4-4634-271C-1B8E-1D4A52B5A60E}"/>
              </a:ext>
            </a:extLst>
          </p:cNvPr>
          <p:cNvSpPr>
            <a:spLocks noGrp="1" noChangeArrowheads="1"/>
          </p:cNvSpPr>
          <p:nvPr>
            <p:ph idx="1"/>
          </p:nvPr>
        </p:nvSpPr>
        <p:spPr>
          <a:xfrm>
            <a:off x="0" y="476250"/>
            <a:ext cx="9109075" cy="5905500"/>
          </a:xfrm>
        </p:spPr>
        <p:txBody>
          <a:bodyPr/>
          <a:lstStyle/>
          <a:p>
            <a:pPr eaLnBrk="1" hangingPunct="1">
              <a:spcBef>
                <a:spcPct val="0"/>
              </a:spcBef>
              <a:spcAft>
                <a:spcPct val="0"/>
              </a:spcAft>
            </a:pPr>
            <a:r>
              <a:rPr lang="zh-CN" altLang="en-US" sz="4000"/>
              <a:t>chown（change owner）的功能是改变文件所有者，</a:t>
            </a:r>
            <a:r>
              <a:rPr lang="zh-CN" altLang="en-US" sz="4000">
                <a:solidFill>
                  <a:srgbClr val="FF0000"/>
                </a:solidFill>
              </a:rPr>
              <a:t>本质上</a:t>
            </a:r>
            <a:r>
              <a:rPr lang="zh-CN" altLang="en-US" sz="4000"/>
              <a:t>是</a:t>
            </a:r>
            <a:r>
              <a:rPr lang="zh-CN" altLang="en-US" sz="4000">
                <a:solidFill>
                  <a:srgbClr val="FF0000"/>
                </a:solidFill>
              </a:rPr>
              <a:t>改变</a:t>
            </a:r>
            <a:r>
              <a:rPr lang="zh-CN" altLang="en-US" sz="4000"/>
              <a:t>文件的</a:t>
            </a:r>
            <a:r>
              <a:rPr lang="zh-CN" altLang="en-US" sz="4000">
                <a:solidFill>
                  <a:srgbClr val="FF0000"/>
                </a:solidFill>
              </a:rPr>
              <a:t>uid</a:t>
            </a:r>
            <a:r>
              <a:rPr lang="zh-CN" altLang="en-US" sz="4000"/>
              <a:t>。</a:t>
            </a:r>
          </a:p>
          <a:p>
            <a:pPr eaLnBrk="1" hangingPunct="1">
              <a:spcBef>
                <a:spcPct val="0"/>
              </a:spcBef>
              <a:spcAft>
                <a:spcPct val="0"/>
              </a:spcAft>
            </a:pPr>
            <a:r>
              <a:rPr lang="zh-CN" altLang="en-US" sz="4000"/>
              <a:t>只有超级用户有权使用chown。</a:t>
            </a:r>
          </a:p>
          <a:p>
            <a:pPr eaLnBrk="1" hangingPunct="1">
              <a:spcBef>
                <a:spcPct val="0"/>
              </a:spcBef>
              <a:spcAft>
                <a:spcPct val="0"/>
              </a:spcAft>
            </a:pPr>
            <a:r>
              <a:rPr lang="zh-CN" altLang="en-US" sz="4000"/>
              <a:t>其用法为：</a:t>
            </a:r>
          </a:p>
          <a:p>
            <a:pPr eaLnBrk="1" hangingPunct="1">
              <a:spcBef>
                <a:spcPct val="0"/>
              </a:spcBef>
              <a:spcAft>
                <a:spcPct val="0"/>
              </a:spcAft>
            </a:pPr>
            <a:r>
              <a:rPr lang="zh-CN" altLang="en-US" sz="4000">
                <a:solidFill>
                  <a:srgbClr val="FF0000"/>
                </a:solidFill>
              </a:rPr>
              <a:t>chown [ options ] owner[:group] file …</a:t>
            </a:r>
          </a:p>
          <a:p>
            <a:pPr eaLnBrk="1" hangingPunct="1">
              <a:spcBef>
                <a:spcPct val="0"/>
              </a:spcBef>
              <a:spcAft>
                <a:spcPct val="0"/>
              </a:spcAft>
            </a:pPr>
            <a:r>
              <a:rPr lang="zh-CN" altLang="en-US" sz="4000">
                <a:solidFill>
                  <a:srgbClr val="FF0000"/>
                </a:solidFill>
              </a:rPr>
              <a:t>chown [ options ] :group file …</a:t>
            </a:r>
          </a:p>
          <a:p>
            <a:pPr eaLnBrk="1" hangingPunct="1">
              <a:spcBef>
                <a:spcPct val="0"/>
              </a:spcBef>
              <a:spcAft>
                <a:spcPct val="0"/>
              </a:spcAft>
            </a:pPr>
            <a:r>
              <a:rPr lang="zh-CN" altLang="en-US" sz="4000"/>
              <a:t>如果用户组被指定，则文件的所属组也将被修改。</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05FAD2E5-8F75-DC92-8621-99FB9CB76D2B}"/>
              </a:ext>
            </a:extLst>
          </p:cNvPr>
          <p:cNvSpPr>
            <a:spLocks noGrp="1" noChangeArrowheads="1"/>
          </p:cNvSpPr>
          <p:nvPr>
            <p:ph type="title"/>
          </p:nvPr>
        </p:nvSpPr>
        <p:spPr/>
        <p:txBody>
          <a:bodyPr/>
          <a:lstStyle/>
          <a:p>
            <a:pPr eaLnBrk="1" hangingPunct="1"/>
            <a:r>
              <a:rPr lang="zh-CN" altLang="en-US"/>
              <a:t>2．参数说明</a:t>
            </a:r>
            <a:r>
              <a:rPr lang="en-US" altLang="zh-CN"/>
              <a:t>(</a:t>
            </a:r>
            <a:r>
              <a:rPr lang="zh-CN" altLang="en-US"/>
              <a:t>不做要求）</a:t>
            </a:r>
          </a:p>
        </p:txBody>
      </p:sp>
      <p:sp>
        <p:nvSpPr>
          <p:cNvPr id="25603" name="内容占位符 2">
            <a:extLst>
              <a:ext uri="{FF2B5EF4-FFF2-40B4-BE49-F238E27FC236}">
                <a16:creationId xmlns:a16="http://schemas.microsoft.com/office/drawing/2014/main" id="{4998017F-6D32-4EDA-3063-DD038EB43709}"/>
              </a:ext>
            </a:extLst>
          </p:cNvPr>
          <p:cNvSpPr>
            <a:spLocks noGrp="1" noChangeArrowheads="1"/>
          </p:cNvSpPr>
          <p:nvPr>
            <p:ph idx="1"/>
          </p:nvPr>
        </p:nvSpPr>
        <p:spPr/>
        <p:txBody>
          <a:bodyPr/>
          <a:lstStyle/>
          <a:p>
            <a:pPr eaLnBrk="1" hangingPunct="1"/>
            <a:r>
              <a:rPr lang="zh-CN" altLang="en-US" sz="2400"/>
              <a:t>chown的参数如表5-5所示。</a:t>
            </a:r>
          </a:p>
        </p:txBody>
      </p:sp>
      <p:graphicFrame>
        <p:nvGraphicFramePr>
          <p:cNvPr id="2" name="表格 -1">
            <a:extLst>
              <a:ext uri="{FF2B5EF4-FFF2-40B4-BE49-F238E27FC236}">
                <a16:creationId xmlns:a16="http://schemas.microsoft.com/office/drawing/2014/main" id="{0EC76758-77FE-E96B-7A2A-3C0C12E3D0FA}"/>
              </a:ext>
            </a:extLst>
          </p:cNvPr>
          <p:cNvGraphicFramePr>
            <a:graphicFrameLocks noGrp="1"/>
          </p:cNvGraphicFramePr>
          <p:nvPr/>
        </p:nvGraphicFramePr>
        <p:xfrm>
          <a:off x="0" y="1052513"/>
          <a:ext cx="9144000" cy="5329237"/>
        </p:xfrm>
        <a:graphic>
          <a:graphicData uri="http://schemas.openxmlformats.org/drawingml/2006/table">
            <a:tbl>
              <a:tblPr/>
              <a:tblGrid>
                <a:gridCol w="3117665">
                  <a:extLst>
                    <a:ext uri="{9D8B030D-6E8A-4147-A177-3AD203B41FA5}">
                      <a16:colId xmlns:a16="http://schemas.microsoft.com/office/drawing/2014/main" val="20000"/>
                    </a:ext>
                  </a:extLst>
                </a:gridCol>
                <a:gridCol w="6026335">
                  <a:extLst>
                    <a:ext uri="{9D8B030D-6E8A-4147-A177-3AD203B41FA5}">
                      <a16:colId xmlns:a16="http://schemas.microsoft.com/office/drawing/2014/main" val="20001"/>
                    </a:ext>
                  </a:extLst>
                </a:gridCol>
              </a:tblGrid>
              <a:tr h="444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2000" b="0" i="0" u="none" strike="noStrike" cap="none" normalizeH="0" baseline="0" dirty="0">
                          <a:ln>
                            <a:noFill/>
                          </a:ln>
                          <a:solidFill>
                            <a:schemeClr val="tx1"/>
                          </a:solidFill>
                          <a:effectLst/>
                          <a:latin typeface="宋体" pitchFamily="2" charset="-122"/>
                          <a:ea typeface="宋体" pitchFamily="2" charset="-122"/>
                        </a:rPr>
                        <a:t>    </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000" b="0" i="0" u="none" strike="noStrike" cap="none" normalizeH="0" baseline="0">
                          <a:ln>
                            <a:noFill/>
                          </a:ln>
                          <a:solidFill>
                            <a:schemeClr val="tx1"/>
                          </a:solidFill>
                          <a:effectLst/>
                          <a:latin typeface="宋体" pitchFamily="2" charset="-122"/>
                          <a:ea typeface="宋体" pitchFamily="2" charset="-122"/>
                        </a:rPr>
                        <a:t>    </a:t>
                      </a: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82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--dereference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改变符号链接最终对象的所有者，而非符号链接本身</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82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-h,--no-dereference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与</a:t>
                      </a: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--dereference</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相反，仅改变符号链接的所有者，而非链接对象</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882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--from=cur_own:cur_grp</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只改变与当前主和组匹配的目标。主和组中的一个可省略</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882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-f,--silient,--quiet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以强制或安静方式工作，忽略大部分错误信息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4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报告</a:t>
                      </a: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chown</a:t>
                      </a: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对每个文件的处理信息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4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--reference=rfile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从指定文件</a:t>
                      </a: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rfile</a:t>
                      </a: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中获取权限值</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4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-R,--recursive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以递归方式处理子目录及其中的文件</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1B9A0B1D-7705-0A99-0075-8576E9328699}"/>
              </a:ext>
            </a:extLst>
          </p:cNvPr>
          <p:cNvSpPr>
            <a:spLocks noGrp="1" noChangeArrowheads="1"/>
          </p:cNvSpPr>
          <p:nvPr>
            <p:ph type="title"/>
          </p:nvPr>
        </p:nvSpPr>
        <p:spPr/>
        <p:txBody>
          <a:bodyPr/>
          <a:lstStyle/>
          <a:p>
            <a:pPr eaLnBrk="1" hangingPunct="1"/>
            <a:r>
              <a:rPr lang="zh-CN" altLang="en-US"/>
              <a:t>3．使用示例</a:t>
            </a:r>
          </a:p>
        </p:txBody>
      </p:sp>
      <p:sp>
        <p:nvSpPr>
          <p:cNvPr id="26627" name="内容占位符 2">
            <a:extLst>
              <a:ext uri="{FF2B5EF4-FFF2-40B4-BE49-F238E27FC236}">
                <a16:creationId xmlns:a16="http://schemas.microsoft.com/office/drawing/2014/main" id="{51FE8DFB-8B12-D675-A871-897B740E29AC}"/>
              </a:ext>
            </a:extLst>
          </p:cNvPr>
          <p:cNvSpPr>
            <a:spLocks noGrp="1" noChangeArrowheads="1"/>
          </p:cNvSpPr>
          <p:nvPr>
            <p:ph idx="1"/>
          </p:nvPr>
        </p:nvSpPr>
        <p:spPr>
          <a:xfrm>
            <a:off x="0" y="549275"/>
            <a:ext cx="9144000" cy="5832475"/>
          </a:xfrm>
        </p:spPr>
        <p:txBody>
          <a:bodyPr/>
          <a:lstStyle/>
          <a:p>
            <a:pPr eaLnBrk="1" hangingPunct="1">
              <a:spcBef>
                <a:spcPct val="0"/>
              </a:spcBef>
              <a:spcAft>
                <a:spcPct val="0"/>
              </a:spcAft>
            </a:pPr>
            <a:r>
              <a:rPr lang="zh-CN" altLang="en-US" sz="4400"/>
              <a:t>#</a:t>
            </a:r>
            <a:r>
              <a:rPr lang="zh-CN" altLang="en-US" sz="4400">
                <a:solidFill>
                  <a:srgbClr val="FF0000"/>
                </a:solidFill>
              </a:rPr>
              <a:t>chown root my_files</a:t>
            </a:r>
            <a:r>
              <a:rPr lang="zh-CN" altLang="en-US" sz="4400"/>
              <a:t>	     #将my_files的所有者改为root</a:t>
            </a:r>
          </a:p>
          <a:p>
            <a:pPr eaLnBrk="1" hangingPunct="1">
              <a:spcBef>
                <a:spcPct val="0"/>
              </a:spcBef>
              <a:spcAft>
                <a:spcPct val="0"/>
              </a:spcAft>
            </a:pPr>
            <a:r>
              <a:rPr lang="zh-CN" altLang="en-US" sz="4400"/>
              <a:t>#</a:t>
            </a:r>
            <a:r>
              <a:rPr lang="zh-CN" altLang="en-US" sz="4400">
                <a:solidFill>
                  <a:srgbClr val="FF0000"/>
                </a:solidFill>
              </a:rPr>
              <a:t>chown zhang *.c</a:t>
            </a:r>
            <a:r>
              <a:rPr lang="zh-CN" altLang="en-US" sz="4400"/>
              <a:t>	     #将当前目录下所有C语言文件的所有者改为zhang</a:t>
            </a:r>
          </a:p>
          <a:p>
            <a:pPr eaLnBrk="1" hangingPunct="1">
              <a:spcBef>
                <a:spcPct val="0"/>
              </a:spcBef>
              <a:spcAft>
                <a:spcPct val="0"/>
              </a:spcAft>
            </a:pPr>
            <a:r>
              <a:rPr lang="zh-CN" altLang="en-US" sz="4400"/>
              <a:t>#</a:t>
            </a:r>
            <a:r>
              <a:rPr lang="zh-CN" altLang="en-US" sz="4400">
                <a:solidFill>
                  <a:srgbClr val="FF0000"/>
                </a:solidFill>
              </a:rPr>
              <a:t>chown -R gjshao /tmp/mydir</a:t>
            </a:r>
            <a:r>
              <a:rPr lang="zh-CN" altLang="en-US" sz="4400"/>
              <a:t>	 #递归将/tmp/mydir的所有者改为gjshao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3A91A1DC-8E38-33FD-76FD-C5D03A61846C}"/>
              </a:ext>
            </a:extLst>
          </p:cNvPr>
          <p:cNvSpPr>
            <a:spLocks noGrp="1" noChangeArrowheads="1"/>
          </p:cNvSpPr>
          <p:nvPr>
            <p:ph type="title"/>
          </p:nvPr>
        </p:nvSpPr>
        <p:spPr/>
        <p:txBody>
          <a:bodyPr/>
          <a:lstStyle/>
          <a:p>
            <a:pPr eaLnBrk="1" hangingPunct="1"/>
            <a:r>
              <a:rPr lang="zh-CN" altLang="en-US"/>
              <a:t>5.2.4  改变文件的组（chgrp）</a:t>
            </a:r>
          </a:p>
        </p:txBody>
      </p:sp>
      <p:sp>
        <p:nvSpPr>
          <p:cNvPr id="27651" name="内容占位符 2">
            <a:extLst>
              <a:ext uri="{FF2B5EF4-FFF2-40B4-BE49-F238E27FC236}">
                <a16:creationId xmlns:a16="http://schemas.microsoft.com/office/drawing/2014/main" id="{EDB4EE96-71FF-194C-9D70-C3862A079F1B}"/>
              </a:ext>
            </a:extLst>
          </p:cNvPr>
          <p:cNvSpPr>
            <a:spLocks noGrp="1" noChangeArrowheads="1"/>
          </p:cNvSpPr>
          <p:nvPr>
            <p:ph idx="1"/>
          </p:nvPr>
        </p:nvSpPr>
        <p:spPr>
          <a:xfrm>
            <a:off x="34925" y="549275"/>
            <a:ext cx="9109075" cy="5832475"/>
          </a:xfrm>
        </p:spPr>
        <p:txBody>
          <a:bodyPr/>
          <a:lstStyle/>
          <a:p>
            <a:pPr eaLnBrk="1" hangingPunct="1">
              <a:spcBef>
                <a:spcPct val="0"/>
              </a:spcBef>
              <a:spcAft>
                <a:spcPct val="0"/>
              </a:spcAft>
            </a:pPr>
            <a:r>
              <a:rPr lang="zh-CN" altLang="en-US" sz="4400"/>
              <a:t>chgrp（change group）的功能是</a:t>
            </a:r>
            <a:r>
              <a:rPr lang="zh-CN" altLang="en-US" sz="4400">
                <a:solidFill>
                  <a:srgbClr val="FF0000"/>
                </a:solidFill>
              </a:rPr>
              <a:t>改变文件所属组</a:t>
            </a:r>
            <a:r>
              <a:rPr lang="zh-CN" altLang="en-US" sz="4400"/>
              <a:t>。其用法为：</a:t>
            </a:r>
          </a:p>
          <a:p>
            <a:pPr eaLnBrk="1" hangingPunct="1">
              <a:spcBef>
                <a:spcPct val="0"/>
              </a:spcBef>
              <a:spcAft>
                <a:spcPct val="0"/>
              </a:spcAft>
            </a:pPr>
            <a:r>
              <a:rPr lang="zh-CN" altLang="en-US" sz="4400">
                <a:solidFill>
                  <a:srgbClr val="FF0000"/>
                </a:solidFill>
              </a:rPr>
              <a:t>chgrp [ options ] new_group file …</a:t>
            </a:r>
          </a:p>
          <a:p>
            <a:pPr eaLnBrk="1" hangingPunct="1">
              <a:spcBef>
                <a:spcPct val="0"/>
              </a:spcBef>
              <a:spcAft>
                <a:spcPct val="0"/>
              </a:spcAft>
            </a:pPr>
            <a:r>
              <a:rPr lang="zh-CN" altLang="en-US" sz="4400"/>
              <a:t>new_group可以</a:t>
            </a:r>
            <a:r>
              <a:rPr lang="zh-CN" altLang="en-US" sz="4400">
                <a:solidFill>
                  <a:srgbClr val="FF0000"/>
                </a:solidFill>
              </a:rPr>
              <a:t>组名</a:t>
            </a:r>
            <a:r>
              <a:rPr lang="zh-CN" altLang="en-US" sz="4400"/>
              <a:t>或</a:t>
            </a:r>
            <a:r>
              <a:rPr lang="zh-CN" altLang="en-US" sz="4400">
                <a:solidFill>
                  <a:srgbClr val="FF0000"/>
                </a:solidFill>
              </a:rPr>
              <a:t>组标识</a:t>
            </a:r>
            <a:r>
              <a:rPr lang="zh-CN" altLang="en-US" sz="4400"/>
              <a:t>给出。</a:t>
            </a:r>
          </a:p>
          <a:p>
            <a:pPr eaLnBrk="1" hangingPunct="1">
              <a:spcBef>
                <a:spcPct val="0"/>
              </a:spcBef>
              <a:spcAft>
                <a:spcPct val="0"/>
              </a:spcAft>
            </a:pPr>
            <a:r>
              <a:rPr lang="zh-CN" altLang="en-US" sz="4400">
                <a:solidFill>
                  <a:srgbClr val="FF0000"/>
                </a:solidFill>
              </a:rPr>
              <a:t>chgrp命令可由chown替代</a:t>
            </a:r>
            <a:r>
              <a:rPr lang="zh-CN" altLang="en-US" sz="4400"/>
              <a:t>，其参数与chown相同。</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4652A6B2-1B63-474E-183A-E762767E54CA}"/>
              </a:ext>
            </a:extLst>
          </p:cNvPr>
          <p:cNvSpPr>
            <a:spLocks noGrp="1" noChangeArrowheads="1"/>
          </p:cNvSpPr>
          <p:nvPr>
            <p:ph type="title"/>
          </p:nvPr>
        </p:nvSpPr>
        <p:spPr/>
        <p:txBody>
          <a:bodyPr/>
          <a:lstStyle/>
          <a:p>
            <a:pPr eaLnBrk="1" hangingPunct="1"/>
            <a:r>
              <a:rPr lang="zh-CN" altLang="en-US"/>
              <a:t>5.3  文件系统安全管理</a:t>
            </a:r>
          </a:p>
        </p:txBody>
      </p:sp>
      <p:sp>
        <p:nvSpPr>
          <p:cNvPr id="28675" name="内容占位符 2">
            <a:extLst>
              <a:ext uri="{FF2B5EF4-FFF2-40B4-BE49-F238E27FC236}">
                <a16:creationId xmlns:a16="http://schemas.microsoft.com/office/drawing/2014/main" id="{995688BC-8E1C-7805-4162-B8296ADCC860}"/>
              </a:ext>
            </a:extLst>
          </p:cNvPr>
          <p:cNvSpPr>
            <a:spLocks noGrp="1" noChangeArrowheads="1"/>
          </p:cNvSpPr>
          <p:nvPr>
            <p:ph idx="1"/>
          </p:nvPr>
        </p:nvSpPr>
        <p:spPr>
          <a:xfrm>
            <a:off x="0" y="620713"/>
            <a:ext cx="9144000" cy="5761037"/>
          </a:xfrm>
        </p:spPr>
        <p:txBody>
          <a:bodyPr/>
          <a:lstStyle/>
          <a:p>
            <a:pPr marL="0" indent="0" eaLnBrk="1" hangingPunct="1">
              <a:spcBef>
                <a:spcPct val="0"/>
              </a:spcBef>
              <a:spcAft>
                <a:spcPct val="0"/>
              </a:spcAft>
              <a:buFont typeface="Arial" panose="020B0604020202020204" pitchFamily="34" charset="0"/>
              <a:buNone/>
            </a:pPr>
            <a:r>
              <a:rPr lang="en-US" altLang="zh-CN" sz="4000"/>
              <a:t>5.3.1  UNIX/Linux</a:t>
            </a:r>
            <a:r>
              <a:rPr lang="zh-CN" altLang="en-US" sz="4000"/>
              <a:t>支持的文件系统</a:t>
            </a:r>
          </a:p>
          <a:p>
            <a:pPr marL="0" indent="0" eaLnBrk="1" hangingPunct="1">
              <a:spcBef>
                <a:spcPct val="0"/>
              </a:spcBef>
              <a:spcAft>
                <a:spcPct val="0"/>
              </a:spcAft>
              <a:buFont typeface="Arial" panose="020B0604020202020204" pitchFamily="34" charset="0"/>
              <a:buNone/>
            </a:pPr>
            <a:r>
              <a:rPr lang="en-US" altLang="zh-CN" sz="4000"/>
              <a:t>5.3.2  UNIX/Linux</a:t>
            </a:r>
            <a:r>
              <a:rPr lang="zh-CN" altLang="en-US" sz="4000"/>
              <a:t>系统使用的存储设备</a:t>
            </a:r>
          </a:p>
          <a:p>
            <a:pPr marL="0" indent="0" eaLnBrk="1" hangingPunct="1">
              <a:spcBef>
                <a:spcPct val="0"/>
              </a:spcBef>
              <a:spcAft>
                <a:spcPct val="0"/>
              </a:spcAft>
              <a:buFont typeface="Arial" panose="020B0604020202020204" pitchFamily="34" charset="0"/>
              <a:buNone/>
            </a:pPr>
            <a:r>
              <a:rPr lang="en-US" altLang="zh-CN" sz="4000"/>
              <a:t>5.3.3  </a:t>
            </a:r>
            <a:r>
              <a:rPr lang="zh-CN" altLang="en-US" sz="4000"/>
              <a:t>磁盘分区管理与文件系统的创建</a:t>
            </a:r>
          </a:p>
          <a:p>
            <a:pPr marL="0" indent="0" eaLnBrk="1" hangingPunct="1">
              <a:spcBef>
                <a:spcPct val="0"/>
              </a:spcBef>
              <a:spcAft>
                <a:spcPct val="0"/>
              </a:spcAft>
              <a:buFont typeface="Arial" panose="020B0604020202020204" pitchFamily="34" charset="0"/>
              <a:buNone/>
            </a:pPr>
            <a:r>
              <a:rPr lang="en-US" altLang="zh-CN" sz="4000"/>
              <a:t>5.3.4  </a:t>
            </a:r>
            <a:r>
              <a:rPr lang="zh-CN" altLang="en-US" sz="4000"/>
              <a:t>文件系统的使用</a:t>
            </a:r>
          </a:p>
          <a:p>
            <a:pPr marL="0" indent="0" eaLnBrk="1" hangingPunct="1">
              <a:spcBef>
                <a:spcPct val="0"/>
              </a:spcBef>
              <a:spcAft>
                <a:spcPct val="0"/>
              </a:spcAft>
              <a:buFont typeface="Arial" panose="020B0604020202020204" pitchFamily="34" charset="0"/>
              <a:buNone/>
            </a:pPr>
            <a:r>
              <a:rPr lang="en-US" altLang="zh-CN" sz="4000"/>
              <a:t>5.3.5  </a:t>
            </a:r>
            <a:r>
              <a:rPr lang="zh-CN" altLang="en-US" sz="4000"/>
              <a:t>文件系统的检查、修复与同步</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F3E9E5B7-BEBD-AF1C-6ACA-34A827DA6E81}"/>
              </a:ext>
            </a:extLst>
          </p:cNvPr>
          <p:cNvSpPr>
            <a:spLocks noGrp="1" noChangeArrowheads="1"/>
          </p:cNvSpPr>
          <p:nvPr>
            <p:ph type="title"/>
          </p:nvPr>
        </p:nvSpPr>
        <p:spPr/>
        <p:txBody>
          <a:bodyPr/>
          <a:lstStyle/>
          <a:p>
            <a:pPr eaLnBrk="1" hangingPunct="1"/>
            <a:r>
              <a:rPr lang="zh-CN" altLang="en-US" sz="4000"/>
              <a:t>5.3.1  UNIX/Linux支持的文件系统</a:t>
            </a:r>
          </a:p>
        </p:txBody>
      </p:sp>
      <p:sp>
        <p:nvSpPr>
          <p:cNvPr id="29699" name="内容占位符 2">
            <a:extLst>
              <a:ext uri="{FF2B5EF4-FFF2-40B4-BE49-F238E27FC236}">
                <a16:creationId xmlns:a16="http://schemas.microsoft.com/office/drawing/2014/main" id="{A0EC3560-957C-E169-64AE-58DC082DF6A8}"/>
              </a:ext>
            </a:extLst>
          </p:cNvPr>
          <p:cNvSpPr>
            <a:spLocks noGrp="1" noChangeArrowheads="1"/>
          </p:cNvSpPr>
          <p:nvPr>
            <p:ph idx="1"/>
          </p:nvPr>
        </p:nvSpPr>
        <p:spPr>
          <a:xfrm>
            <a:off x="34925" y="620713"/>
            <a:ext cx="9109075" cy="5761037"/>
          </a:xfrm>
        </p:spPr>
        <p:txBody>
          <a:bodyPr/>
          <a:lstStyle/>
          <a:p>
            <a:pPr eaLnBrk="1" hangingPunct="1">
              <a:spcBef>
                <a:spcPct val="0"/>
              </a:spcBef>
              <a:spcAft>
                <a:spcPct val="0"/>
              </a:spcAft>
            </a:pPr>
            <a:r>
              <a:rPr lang="zh-CN" altLang="en-US" sz="3600"/>
              <a:t>1．msdos、umsdos、vfat、ntfs文件系统</a:t>
            </a:r>
            <a:endParaRPr lang="en-US" altLang="zh-CN" sz="3600"/>
          </a:p>
          <a:p>
            <a:pPr eaLnBrk="1" hangingPunct="1">
              <a:spcBef>
                <a:spcPct val="0"/>
              </a:spcBef>
              <a:spcAft>
                <a:spcPct val="0"/>
              </a:spcAft>
            </a:pPr>
            <a:r>
              <a:rPr lang="zh-CN" altLang="en-US" sz="3600"/>
              <a:t>2．minix文件系统</a:t>
            </a:r>
          </a:p>
          <a:p>
            <a:pPr eaLnBrk="1" hangingPunct="1">
              <a:spcBef>
                <a:spcPct val="0"/>
              </a:spcBef>
              <a:spcAft>
                <a:spcPct val="0"/>
              </a:spcAft>
            </a:pPr>
            <a:r>
              <a:rPr lang="zh-CN" altLang="en-US" sz="3600"/>
              <a:t>3．ext、ext2、ext3、ext4</a:t>
            </a:r>
          </a:p>
          <a:p>
            <a:pPr eaLnBrk="1" hangingPunct="1">
              <a:spcBef>
                <a:spcPct val="0"/>
              </a:spcBef>
              <a:spcAft>
                <a:spcPct val="0"/>
              </a:spcAft>
            </a:pPr>
            <a:r>
              <a:rPr lang="zh-CN" altLang="en-US" sz="3600"/>
              <a:t>4．iso9660文件系统</a:t>
            </a:r>
          </a:p>
          <a:p>
            <a:pPr eaLnBrk="1" hangingPunct="1">
              <a:spcBef>
                <a:spcPct val="0"/>
              </a:spcBef>
              <a:spcAft>
                <a:spcPct val="0"/>
              </a:spcAft>
            </a:pPr>
            <a:r>
              <a:rPr lang="zh-CN" altLang="en-US" sz="3600"/>
              <a:t>5．proc、sysfs</a:t>
            </a:r>
          </a:p>
          <a:p>
            <a:pPr eaLnBrk="1" hangingPunct="1">
              <a:spcBef>
                <a:spcPct val="0"/>
              </a:spcBef>
              <a:spcAft>
                <a:spcPct val="0"/>
              </a:spcAft>
            </a:pPr>
            <a:r>
              <a:rPr lang="zh-CN" altLang="en-US" sz="3600"/>
              <a:t>6．sysv、s5、xenix</a:t>
            </a:r>
            <a:endParaRPr lang="en-US" altLang="zh-CN" sz="3600"/>
          </a:p>
          <a:p>
            <a:pPr eaLnBrk="1" hangingPunct="1">
              <a:spcBef>
                <a:spcPct val="0"/>
              </a:spcBef>
              <a:spcAft>
                <a:spcPct val="0"/>
              </a:spcAft>
            </a:pPr>
            <a:r>
              <a:rPr lang="zh-CN" altLang="en-US" sz="3600"/>
              <a:t>7．smbfs、cifs</a:t>
            </a:r>
          </a:p>
          <a:p>
            <a:pPr eaLnBrk="1" hangingPunct="1">
              <a:spcBef>
                <a:spcPct val="0"/>
              </a:spcBef>
              <a:spcAft>
                <a:spcPct val="0"/>
              </a:spcAft>
            </a:pPr>
            <a:r>
              <a:rPr lang="zh-CN" altLang="en-US" sz="3600"/>
              <a:t>8．nfs</a:t>
            </a:r>
          </a:p>
          <a:p>
            <a:pPr eaLnBrk="1" hangingPunct="1">
              <a:spcBef>
                <a:spcPct val="0"/>
              </a:spcBef>
              <a:spcAft>
                <a:spcPct val="0"/>
              </a:spcAft>
            </a:pPr>
            <a:r>
              <a:rPr lang="zh-CN" altLang="en-US" sz="3600"/>
              <a:t>9．jfs</a:t>
            </a:r>
          </a:p>
          <a:p>
            <a:pPr eaLnBrk="1" hangingPunct="1"/>
            <a:endParaRPr lang="zh-CN"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F0CA6BD9-5F6A-91C4-2C7B-87655DA4B287}"/>
              </a:ext>
            </a:extLst>
          </p:cNvPr>
          <p:cNvSpPr>
            <a:spLocks noGrp="1" noChangeArrowheads="1"/>
          </p:cNvSpPr>
          <p:nvPr>
            <p:ph type="title"/>
          </p:nvPr>
        </p:nvSpPr>
        <p:spPr/>
        <p:txBody>
          <a:bodyPr/>
          <a:lstStyle/>
          <a:p>
            <a:pPr eaLnBrk="1" hangingPunct="1"/>
            <a:r>
              <a:rPr lang="zh-CN" altLang="en-US" sz="3200"/>
              <a:t>5.3.2  UNIX/Linux系统使用的存储设备</a:t>
            </a:r>
          </a:p>
        </p:txBody>
      </p:sp>
      <p:sp>
        <p:nvSpPr>
          <p:cNvPr id="30723" name="内容占位符 2">
            <a:extLst>
              <a:ext uri="{FF2B5EF4-FFF2-40B4-BE49-F238E27FC236}">
                <a16:creationId xmlns:a16="http://schemas.microsoft.com/office/drawing/2014/main" id="{1FE22A0B-6172-5636-9B2A-61CE1643F3A7}"/>
              </a:ext>
            </a:extLst>
          </p:cNvPr>
          <p:cNvSpPr>
            <a:spLocks noGrp="1" noChangeArrowheads="1"/>
          </p:cNvSpPr>
          <p:nvPr>
            <p:ph idx="1"/>
          </p:nvPr>
        </p:nvSpPr>
        <p:spPr>
          <a:xfrm>
            <a:off x="0" y="549275"/>
            <a:ext cx="9109075" cy="5832475"/>
          </a:xfrm>
        </p:spPr>
        <p:txBody>
          <a:bodyPr/>
          <a:lstStyle/>
          <a:p>
            <a:pPr eaLnBrk="1" hangingPunct="1">
              <a:spcBef>
                <a:spcPct val="0"/>
              </a:spcBef>
              <a:spcAft>
                <a:spcPct val="0"/>
              </a:spcAft>
            </a:pPr>
            <a:r>
              <a:rPr lang="zh-CN" altLang="en-US" sz="5400"/>
              <a:t>1．IDE硬盘存储设备</a:t>
            </a:r>
            <a:endParaRPr lang="en-US" altLang="zh-CN" sz="5400"/>
          </a:p>
          <a:p>
            <a:pPr eaLnBrk="1" hangingPunct="1">
              <a:spcBef>
                <a:spcPct val="0"/>
              </a:spcBef>
              <a:spcAft>
                <a:spcPct val="0"/>
              </a:spcAft>
            </a:pPr>
            <a:r>
              <a:rPr lang="zh-CN" altLang="en-US" sz="5400"/>
              <a:t>2．SCSI存储设备</a:t>
            </a:r>
          </a:p>
          <a:p>
            <a:pPr eaLnBrk="1" hangingPunct="1">
              <a:spcBef>
                <a:spcPct val="0"/>
              </a:spcBef>
              <a:spcAft>
                <a:spcPct val="0"/>
              </a:spcAft>
            </a:pPr>
            <a:r>
              <a:rPr lang="zh-CN" altLang="en-US" sz="5400"/>
              <a:t>3．USB存储设备</a:t>
            </a:r>
          </a:p>
          <a:p>
            <a:pPr eaLnBrk="1" hangingPunct="1">
              <a:spcBef>
                <a:spcPct val="0"/>
              </a:spcBef>
              <a:spcAft>
                <a:spcPct val="0"/>
              </a:spcAft>
            </a:pPr>
            <a:r>
              <a:rPr lang="zh-CN" altLang="en-US" sz="5400"/>
              <a:t>4．光驱和刻录机</a:t>
            </a:r>
          </a:p>
          <a:p>
            <a:pPr eaLnBrk="1" hangingPunct="1">
              <a:spcBef>
                <a:spcPct val="0"/>
              </a:spcBef>
              <a:spcAft>
                <a:spcPct val="0"/>
              </a:spcAft>
            </a:pPr>
            <a:r>
              <a:rPr lang="zh-CN" altLang="en-US" sz="5400"/>
              <a:t>5．软盘设备</a:t>
            </a:r>
          </a:p>
          <a:p>
            <a:pPr eaLnBrk="1" hangingPunct="1">
              <a:spcBef>
                <a:spcPct val="0"/>
              </a:spcBef>
              <a:spcAft>
                <a:spcPct val="0"/>
              </a:spcAft>
            </a:pPr>
            <a:r>
              <a:rPr lang="zh-CN" altLang="en-US" sz="5400"/>
              <a:t>6．磁带设备</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A42CAB02-846A-6521-7CA6-08D8B794534C}"/>
              </a:ext>
            </a:extLst>
          </p:cNvPr>
          <p:cNvSpPr>
            <a:spLocks noGrp="1" noChangeArrowheads="1"/>
          </p:cNvSpPr>
          <p:nvPr>
            <p:ph type="title"/>
          </p:nvPr>
        </p:nvSpPr>
        <p:spPr/>
        <p:txBody>
          <a:bodyPr/>
          <a:lstStyle/>
          <a:p>
            <a:pPr eaLnBrk="1" hangingPunct="1"/>
            <a:r>
              <a:rPr lang="zh-CN" altLang="en-US" sz="3200"/>
              <a:t>1．IDE硬盘存储设备</a:t>
            </a:r>
          </a:p>
        </p:txBody>
      </p:sp>
      <p:sp>
        <p:nvSpPr>
          <p:cNvPr id="31747" name="内容占位符 2">
            <a:extLst>
              <a:ext uri="{FF2B5EF4-FFF2-40B4-BE49-F238E27FC236}">
                <a16:creationId xmlns:a16="http://schemas.microsoft.com/office/drawing/2014/main" id="{FA903B32-CE94-B898-74F0-C81066D6A812}"/>
              </a:ext>
            </a:extLst>
          </p:cNvPr>
          <p:cNvSpPr>
            <a:spLocks noGrp="1" noChangeArrowheads="1"/>
          </p:cNvSpPr>
          <p:nvPr>
            <p:ph idx="1"/>
          </p:nvPr>
        </p:nvSpPr>
        <p:spPr>
          <a:xfrm>
            <a:off x="34925" y="620713"/>
            <a:ext cx="9109075" cy="5761037"/>
          </a:xfrm>
        </p:spPr>
        <p:txBody>
          <a:bodyPr/>
          <a:lstStyle/>
          <a:p>
            <a:pPr eaLnBrk="1" hangingPunct="1"/>
            <a:r>
              <a:rPr lang="zh-CN" altLang="en-US" sz="2400"/>
              <a:t>一般情况下，在一个计算机内最多可以</a:t>
            </a:r>
            <a:r>
              <a:rPr lang="zh-CN" altLang="en-US" sz="4000">
                <a:solidFill>
                  <a:srgbClr val="FF0000"/>
                </a:solidFill>
              </a:rPr>
              <a:t>安装4个IDE硬盘</a:t>
            </a:r>
            <a:r>
              <a:rPr lang="zh-CN" altLang="en-US" sz="2400"/>
              <a:t>。它们可分别是</a:t>
            </a:r>
            <a:r>
              <a:rPr lang="zh-CN" altLang="en-US" sz="2400">
                <a:solidFill>
                  <a:srgbClr val="FF0000"/>
                </a:solidFill>
              </a:rPr>
              <a:t>主（master）驱动器</a:t>
            </a:r>
            <a:r>
              <a:rPr lang="zh-CN" altLang="en-US" sz="2400"/>
              <a:t>上的主（master）硬盘、从（slave）硬盘和</a:t>
            </a:r>
            <a:r>
              <a:rPr lang="zh-CN" altLang="en-US" sz="2400">
                <a:solidFill>
                  <a:srgbClr val="FF0000"/>
                </a:solidFill>
              </a:rPr>
              <a:t>从（slave）驱动器上</a:t>
            </a:r>
            <a:r>
              <a:rPr lang="zh-CN" altLang="en-US" sz="2400"/>
              <a:t>的主、从硬盘。</a:t>
            </a:r>
          </a:p>
          <a:p>
            <a:pPr eaLnBrk="1" hangingPunct="1"/>
            <a:r>
              <a:rPr lang="zh-CN" altLang="en-US" sz="4000">
                <a:solidFill>
                  <a:srgbClr val="FF0000"/>
                </a:solidFill>
              </a:rPr>
              <a:t>IDE硬盘设备的形式为/dev/hdmn</a:t>
            </a:r>
            <a:r>
              <a:rPr lang="zh-CN" altLang="en-US" sz="2400"/>
              <a:t>，</a:t>
            </a:r>
            <a:r>
              <a:rPr lang="zh-CN" altLang="en-US"/>
              <a:t>其中，</a:t>
            </a:r>
            <a:r>
              <a:rPr lang="zh-CN" altLang="en-US">
                <a:solidFill>
                  <a:srgbClr val="FF0000"/>
                </a:solidFill>
              </a:rPr>
              <a:t>m∈(a,b,c,d,…)代表驱动器号</a:t>
            </a:r>
            <a:r>
              <a:rPr lang="zh-CN" altLang="en-US"/>
              <a:t>，/dev/hda，/dev/hdb为主控制器上的主硬盘和从硬盘，/dev/hdc，/dev/hdd代表从控制器上的主、从硬盘；n∈(1,2,3,…)代表第m个硬盘上的分区号，如/dev/hda代表第一个硬盘，</a:t>
            </a:r>
            <a:r>
              <a:rPr lang="zh-CN" altLang="en-US">
                <a:solidFill>
                  <a:srgbClr val="FF0000"/>
                </a:solidFill>
              </a:rPr>
              <a:t>/dev/hda1、/dev/hda2、/dev/hda3、/dev/hda4分别是/dev/hda的4个基本分区</a:t>
            </a:r>
            <a:r>
              <a:rPr lang="zh-CN" altLang="en-US"/>
              <a:t>，</a:t>
            </a:r>
            <a:r>
              <a:rPr lang="zh-CN" altLang="en-US">
                <a:solidFill>
                  <a:srgbClr val="FF0000"/>
                </a:solidFill>
              </a:rPr>
              <a:t>/dev/hda5、/dev/hda6则为/dev/hda上的第一和第二个逻辑分区</a:t>
            </a:r>
            <a:r>
              <a:rPr lang="zh-CN" altLang="en-US"/>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0513A7E6-793C-1453-A770-529909F25E18}"/>
              </a:ext>
            </a:extLst>
          </p:cNvPr>
          <p:cNvSpPr>
            <a:spLocks noGrp="1" noChangeArrowheads="1"/>
          </p:cNvSpPr>
          <p:nvPr>
            <p:ph type="title"/>
          </p:nvPr>
        </p:nvSpPr>
        <p:spPr/>
        <p:txBody>
          <a:bodyPr/>
          <a:lstStyle/>
          <a:p>
            <a:pPr eaLnBrk="1" hangingPunct="1"/>
            <a:r>
              <a:rPr lang="zh-CN" altLang="en-US" sz="3200"/>
              <a:t>2．SCSI存储设备</a:t>
            </a:r>
          </a:p>
        </p:txBody>
      </p:sp>
      <p:sp>
        <p:nvSpPr>
          <p:cNvPr id="32771" name="内容占位符 2">
            <a:extLst>
              <a:ext uri="{FF2B5EF4-FFF2-40B4-BE49-F238E27FC236}">
                <a16:creationId xmlns:a16="http://schemas.microsoft.com/office/drawing/2014/main" id="{5AD8860F-DC0B-EC84-77AE-7AED85F265D6}"/>
              </a:ext>
            </a:extLst>
          </p:cNvPr>
          <p:cNvSpPr>
            <a:spLocks noGrp="1" noChangeArrowheads="1"/>
          </p:cNvSpPr>
          <p:nvPr>
            <p:ph idx="1"/>
          </p:nvPr>
        </p:nvSpPr>
        <p:spPr>
          <a:xfrm>
            <a:off x="0" y="549275"/>
            <a:ext cx="9144000" cy="5761038"/>
          </a:xfrm>
        </p:spPr>
        <p:txBody>
          <a:bodyPr/>
          <a:lstStyle/>
          <a:p>
            <a:pPr eaLnBrk="1" hangingPunct="1"/>
            <a:r>
              <a:rPr lang="zh-CN" altLang="en-US" sz="3200">
                <a:solidFill>
                  <a:srgbClr val="FF0000"/>
                </a:solidFill>
              </a:rPr>
              <a:t>SCSI（Small Computer System Interface）</a:t>
            </a:r>
            <a:r>
              <a:rPr lang="zh-CN" altLang="en-US" sz="3200"/>
              <a:t>接口是小型计算机接口的简称，是一个多用途的I/O接口，除可接磁盘外，还可接磁带机、光驱，扫描仪等设备。</a:t>
            </a:r>
          </a:p>
          <a:p>
            <a:pPr eaLnBrk="1" hangingPunct="1"/>
            <a:r>
              <a:rPr lang="zh-CN" altLang="en-US" sz="3200"/>
              <a:t>SCSI存储设备的形式为</a:t>
            </a:r>
            <a:r>
              <a:rPr lang="zh-CN" altLang="en-US" sz="3200">
                <a:solidFill>
                  <a:srgbClr val="FF0000"/>
                </a:solidFill>
              </a:rPr>
              <a:t>/dev/sdmn</a:t>
            </a:r>
            <a:r>
              <a:rPr lang="zh-CN" altLang="en-US" sz="3200"/>
              <a:t>，其中，m∈(a,b,c,d,…)为字符代表物理设备，n∈(1,2,3,…)为物理设备n上的逻辑分区编号。</a:t>
            </a:r>
          </a:p>
          <a:p>
            <a:pPr eaLnBrk="1" hangingPunct="1"/>
            <a:r>
              <a:rPr lang="zh-CN" altLang="en-US" sz="3200"/>
              <a:t>SCSI上硬盘设备的</a:t>
            </a:r>
            <a:r>
              <a:rPr lang="zh-CN" altLang="en-US" sz="3200">
                <a:solidFill>
                  <a:srgbClr val="FF0000"/>
                </a:solidFill>
              </a:rPr>
              <a:t>命名方法与IDE硬盘设备的命名方法相同</a:t>
            </a:r>
            <a:r>
              <a:rPr lang="zh-CN" altLang="en-US" sz="3200"/>
              <a:t>。例如，/dev/sda、/dev/sdb分别为第1、2个SCSI硬盘，/dev/sda1、/dev/sda2分别代表第1个SCSI硬盘的第1、2分区。</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987EC80F-808F-913B-2EE8-40B84ED1E81D}"/>
              </a:ext>
            </a:extLst>
          </p:cNvPr>
          <p:cNvSpPr>
            <a:spLocks noGrp="1" noChangeArrowheads="1"/>
          </p:cNvSpPr>
          <p:nvPr>
            <p:ph type="title"/>
          </p:nvPr>
        </p:nvSpPr>
        <p:spPr/>
        <p:txBody>
          <a:bodyPr/>
          <a:lstStyle/>
          <a:p>
            <a:pPr eaLnBrk="1" hangingPunct="1"/>
            <a:r>
              <a:rPr lang="zh-CN" altLang="en-US" sz="3200"/>
              <a:t>3．USB存储设备</a:t>
            </a:r>
          </a:p>
        </p:txBody>
      </p:sp>
      <p:sp>
        <p:nvSpPr>
          <p:cNvPr id="33795" name="内容占位符 2">
            <a:extLst>
              <a:ext uri="{FF2B5EF4-FFF2-40B4-BE49-F238E27FC236}">
                <a16:creationId xmlns:a16="http://schemas.microsoft.com/office/drawing/2014/main" id="{6CD1902D-9E45-4916-2F8E-5EBCE3826EE2}"/>
              </a:ext>
            </a:extLst>
          </p:cNvPr>
          <p:cNvSpPr>
            <a:spLocks noGrp="1" noChangeArrowheads="1"/>
          </p:cNvSpPr>
          <p:nvPr>
            <p:ph idx="1"/>
          </p:nvPr>
        </p:nvSpPr>
        <p:spPr>
          <a:xfrm>
            <a:off x="0" y="495300"/>
            <a:ext cx="9036050" cy="5761038"/>
          </a:xfrm>
        </p:spPr>
        <p:txBody>
          <a:bodyPr/>
          <a:lstStyle/>
          <a:p>
            <a:pPr eaLnBrk="1" hangingPunct="1">
              <a:spcBef>
                <a:spcPct val="0"/>
              </a:spcBef>
              <a:spcAft>
                <a:spcPct val="0"/>
              </a:spcAft>
            </a:pPr>
            <a:r>
              <a:rPr lang="zh-CN" altLang="en-US"/>
              <a:t>Linux</a:t>
            </a:r>
            <a:r>
              <a:rPr lang="zh-CN" altLang="en-US">
                <a:solidFill>
                  <a:srgbClr val="FF0000"/>
                </a:solidFill>
              </a:rPr>
              <a:t>以SCSI方式支持USB存储设备</a:t>
            </a:r>
            <a:r>
              <a:rPr lang="zh-CN" altLang="en-US"/>
              <a:t>。一般来说，USB存储设备是系统中正在使用的所有USB设备最后一个的下一个。</a:t>
            </a:r>
          </a:p>
          <a:p>
            <a:pPr eaLnBrk="1" hangingPunct="1">
              <a:spcBef>
                <a:spcPct val="0"/>
              </a:spcBef>
              <a:spcAft>
                <a:spcPct val="0"/>
              </a:spcAft>
            </a:pPr>
            <a:r>
              <a:rPr lang="zh-CN" altLang="en-US"/>
              <a:t>如果系统中没有使用SCSI存储设备，则新来的USB设备可根据所使用的USB物理设备不同而可能使用/dev/sda、/dev/sda1、/dev/sda2，…或/dev/sdb、/dev/sdb1等。如果系统使用了SCSI硬盘，且所使用的最后一个SCSI硬盘设备为/dev/sdb，则新来的USB等移动设备可用的第一个SCSI设备为/dev/sdc，相应地，其上若有分区，则分别为/dev/sdc1、/dev/sdc2…</a:t>
            </a:r>
          </a:p>
          <a:p>
            <a:pPr eaLnBrk="1" hangingPunct="1">
              <a:spcBef>
                <a:spcPct val="0"/>
              </a:spcBef>
              <a:spcAft>
                <a:spcPct val="0"/>
              </a:spcAft>
            </a:pPr>
            <a:r>
              <a:rPr lang="zh-CN" altLang="en-US"/>
              <a:t>USB等移动存储设备的类型和用法复杂，有有分区的，有无分区的。比如，软盘、手机等存储上无分区，而移动硬盘上面有分区，且可能不止一个，应具体设备具体对待、具体处理。</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72E0F81E-A5D6-730C-5A0E-AE4A7A02C770}"/>
              </a:ext>
            </a:extLst>
          </p:cNvPr>
          <p:cNvSpPr>
            <a:spLocks noGrp="1" noChangeArrowheads="1"/>
          </p:cNvSpPr>
          <p:nvPr>
            <p:ph type="title"/>
          </p:nvPr>
        </p:nvSpPr>
        <p:spPr/>
        <p:txBody>
          <a:bodyPr/>
          <a:lstStyle/>
          <a:p>
            <a:pPr eaLnBrk="1" hangingPunct="1"/>
            <a:r>
              <a:rPr lang="zh-CN" altLang="en-US" sz="3200"/>
              <a:t>4．光驱和刻录机</a:t>
            </a:r>
          </a:p>
        </p:txBody>
      </p:sp>
      <p:sp>
        <p:nvSpPr>
          <p:cNvPr id="34819" name="内容占位符 2">
            <a:extLst>
              <a:ext uri="{FF2B5EF4-FFF2-40B4-BE49-F238E27FC236}">
                <a16:creationId xmlns:a16="http://schemas.microsoft.com/office/drawing/2014/main" id="{F6025568-CE8B-5333-4100-7AC502067DA5}"/>
              </a:ext>
            </a:extLst>
          </p:cNvPr>
          <p:cNvSpPr>
            <a:spLocks noGrp="1" noChangeArrowheads="1"/>
          </p:cNvSpPr>
          <p:nvPr>
            <p:ph idx="1"/>
          </p:nvPr>
        </p:nvSpPr>
        <p:spPr>
          <a:xfrm>
            <a:off x="0" y="620713"/>
            <a:ext cx="9144000" cy="5761037"/>
          </a:xfrm>
        </p:spPr>
        <p:txBody>
          <a:bodyPr/>
          <a:lstStyle/>
          <a:p>
            <a:pPr eaLnBrk="1" hangingPunct="1">
              <a:spcBef>
                <a:spcPct val="0"/>
              </a:spcBef>
              <a:spcAft>
                <a:spcPct val="0"/>
              </a:spcAft>
            </a:pPr>
            <a:r>
              <a:rPr lang="zh-CN" altLang="en-US" sz="3200"/>
              <a:t>一般来说，</a:t>
            </a:r>
            <a:r>
              <a:rPr lang="zh-CN" altLang="en-US" sz="3200">
                <a:solidFill>
                  <a:srgbClr val="FF0000"/>
                </a:solidFill>
              </a:rPr>
              <a:t>光盘驱动器为/dev/cdrom</a:t>
            </a:r>
            <a:r>
              <a:rPr lang="zh-CN" altLang="en-US" sz="3200"/>
              <a:t>，该设备是某个硬盘设备的符号链接或硬链接。例如，在Linux系统中光盘设备/dev/cdrom是</a:t>
            </a:r>
            <a:r>
              <a:rPr lang="zh-CN" altLang="en-US" sz="3200">
                <a:solidFill>
                  <a:srgbClr val="FF0000"/>
                </a:solidFill>
              </a:rPr>
              <a:t>/dev/hdc</a:t>
            </a:r>
            <a:r>
              <a:rPr lang="zh-CN" altLang="en-US" sz="3200"/>
              <a:t>的一个符号链接，而在现在的系统中/dev/cdrom大多是</a:t>
            </a:r>
            <a:r>
              <a:rPr lang="zh-CN" altLang="en-US" sz="3200">
                <a:solidFill>
                  <a:srgbClr val="FF0000"/>
                </a:solidFill>
              </a:rPr>
              <a:t>/dev/sr0的一个链接</a:t>
            </a:r>
            <a:r>
              <a:rPr lang="zh-CN" altLang="en-US" sz="3200"/>
              <a:t>。</a:t>
            </a:r>
          </a:p>
          <a:p>
            <a:pPr eaLnBrk="1" hangingPunct="1">
              <a:spcBef>
                <a:spcPct val="0"/>
              </a:spcBef>
              <a:spcAft>
                <a:spcPct val="0"/>
              </a:spcAft>
            </a:pPr>
            <a:r>
              <a:rPr lang="zh-CN" altLang="en-US" sz="3200"/>
              <a:t>在Linux系统中，</a:t>
            </a:r>
            <a:r>
              <a:rPr lang="zh-CN" altLang="en-US" sz="3200">
                <a:solidFill>
                  <a:srgbClr val="FF0000"/>
                </a:solidFill>
              </a:rPr>
              <a:t>默认刻录机设备是/dev/cdwriter</a:t>
            </a:r>
            <a:r>
              <a:rPr lang="zh-CN" altLang="en-US" sz="3200"/>
              <a:t>，它被链接到/dev/sr0或/dev/sg0上。</a:t>
            </a:r>
          </a:p>
          <a:p>
            <a:pPr eaLnBrk="1" hangingPunct="1">
              <a:spcBef>
                <a:spcPct val="0"/>
              </a:spcBef>
              <a:spcAft>
                <a:spcPct val="0"/>
              </a:spcAft>
            </a:pPr>
            <a:r>
              <a:rPr lang="zh-CN" altLang="en-US" sz="3200"/>
              <a:t>用户可能直接使用被链接的设备/dev/sr0或/dev/sg0作为光驱或刻录设备。</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D02F97C8-7EC0-CC99-DC88-3C88EFB7E1D4}"/>
              </a:ext>
            </a:extLst>
          </p:cNvPr>
          <p:cNvSpPr>
            <a:spLocks noGrp="1" noChangeArrowheads="1"/>
          </p:cNvSpPr>
          <p:nvPr>
            <p:ph type="title"/>
          </p:nvPr>
        </p:nvSpPr>
        <p:spPr/>
        <p:txBody>
          <a:bodyPr/>
          <a:lstStyle/>
          <a:p>
            <a:pPr eaLnBrk="1" hangingPunct="1"/>
            <a:r>
              <a:rPr lang="zh-CN" altLang="en-US" sz="3200"/>
              <a:t>6．磁带设备</a:t>
            </a:r>
          </a:p>
        </p:txBody>
      </p:sp>
      <p:sp>
        <p:nvSpPr>
          <p:cNvPr id="35843" name="内容占位符 2">
            <a:extLst>
              <a:ext uri="{FF2B5EF4-FFF2-40B4-BE49-F238E27FC236}">
                <a16:creationId xmlns:a16="http://schemas.microsoft.com/office/drawing/2014/main" id="{99E52132-D11E-EAE2-1297-F913DB556707}"/>
              </a:ext>
            </a:extLst>
          </p:cNvPr>
          <p:cNvSpPr>
            <a:spLocks noGrp="1" noChangeArrowheads="1"/>
          </p:cNvSpPr>
          <p:nvPr>
            <p:ph idx="1"/>
          </p:nvPr>
        </p:nvSpPr>
        <p:spPr>
          <a:xfrm>
            <a:off x="34925" y="620713"/>
            <a:ext cx="9109075" cy="5761037"/>
          </a:xfrm>
        </p:spPr>
        <p:txBody>
          <a:bodyPr/>
          <a:lstStyle/>
          <a:p>
            <a:pPr eaLnBrk="1" hangingPunct="1"/>
            <a:r>
              <a:rPr lang="zh-CN" altLang="en-US" sz="4400"/>
              <a:t>磁带机是UNIX/Linux系统用来数据备份、系统安装等操作的常用设备。</a:t>
            </a:r>
          </a:p>
          <a:p>
            <a:pPr eaLnBrk="1" hangingPunct="1"/>
            <a:r>
              <a:rPr lang="zh-CN" altLang="en-US" sz="4400"/>
              <a:t>在Linux系统中支持多种磁带设备，IDE的磁带设备文件为/dev/ht0、/dev/ht1等，SCSI的磁带设备为/dev/st0、/dev/st1等。</a:t>
            </a:r>
          </a:p>
        </p:txBody>
      </p:sp>
      <p:sp>
        <p:nvSpPr>
          <p:cNvPr id="5" name="圆角矩形 4">
            <a:extLst>
              <a:ext uri="{FF2B5EF4-FFF2-40B4-BE49-F238E27FC236}">
                <a16:creationId xmlns:a16="http://schemas.microsoft.com/office/drawing/2014/main" id="{285C50F1-2064-C7CD-466C-253C8A97C68E}"/>
              </a:ext>
            </a:extLst>
          </p:cNvPr>
          <p:cNvSpPr/>
          <p:nvPr/>
        </p:nvSpPr>
        <p:spPr>
          <a:xfrm>
            <a:off x="1428750" y="6367463"/>
            <a:ext cx="811213" cy="4460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noProof="1">
                <a:hlinkClick r:id="rId2" action="ppaction://hlinksldjump"/>
              </a:rPr>
              <a:t>返回</a:t>
            </a:r>
            <a:endParaRPr lang="zh-CN" altLang="en-US" noProof="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0C59DF42-5F3E-CED0-32CD-18A36E15DEF8}"/>
              </a:ext>
            </a:extLst>
          </p:cNvPr>
          <p:cNvSpPr>
            <a:spLocks noGrp="1" noChangeArrowheads="1"/>
          </p:cNvSpPr>
          <p:nvPr>
            <p:ph type="title"/>
          </p:nvPr>
        </p:nvSpPr>
        <p:spPr/>
        <p:txBody>
          <a:bodyPr/>
          <a:lstStyle/>
          <a:p>
            <a:pPr eaLnBrk="1" hangingPunct="1"/>
            <a:r>
              <a:rPr lang="zh-CN" altLang="en-US" sz="3200"/>
              <a:t>5.3.3  磁盘分区管理与文件系统的创建</a:t>
            </a:r>
          </a:p>
        </p:txBody>
      </p:sp>
      <p:sp>
        <p:nvSpPr>
          <p:cNvPr id="36867" name="内容占位符 2">
            <a:extLst>
              <a:ext uri="{FF2B5EF4-FFF2-40B4-BE49-F238E27FC236}">
                <a16:creationId xmlns:a16="http://schemas.microsoft.com/office/drawing/2014/main" id="{5D6AEF38-8C0D-D9BE-A568-140734C79716}"/>
              </a:ext>
            </a:extLst>
          </p:cNvPr>
          <p:cNvSpPr>
            <a:spLocks noGrp="1" noChangeArrowheads="1"/>
          </p:cNvSpPr>
          <p:nvPr>
            <p:ph idx="1"/>
          </p:nvPr>
        </p:nvSpPr>
        <p:spPr>
          <a:xfrm>
            <a:off x="0" y="620713"/>
            <a:ext cx="9144000" cy="5761037"/>
          </a:xfrm>
        </p:spPr>
        <p:txBody>
          <a:bodyPr/>
          <a:lstStyle/>
          <a:p>
            <a:pPr fontAlgn="ctr"/>
            <a:r>
              <a:rPr lang="zh-CN" altLang="zh-CN"/>
              <a:t>文件系统是建立在存储介质上的，对存储介质的使用要</a:t>
            </a:r>
            <a:r>
              <a:rPr lang="zh-CN" altLang="zh-CN" sz="4000">
                <a:solidFill>
                  <a:srgbClr val="FF0000"/>
                </a:solidFill>
              </a:rPr>
              <a:t>首先进行规划，</a:t>
            </a:r>
            <a:r>
              <a:rPr lang="zh-CN" altLang="zh-CN"/>
              <a:t>如对硬盘的使用必须先在其上</a:t>
            </a:r>
            <a:r>
              <a:rPr lang="zh-CN" altLang="zh-CN" sz="4000">
                <a:solidFill>
                  <a:srgbClr val="FF0000"/>
                </a:solidFill>
              </a:rPr>
              <a:t>创建（物理或逻辑分区）分区</a:t>
            </a:r>
            <a:r>
              <a:rPr lang="zh-CN" altLang="zh-CN"/>
              <a:t>等。其次是</a:t>
            </a:r>
            <a:r>
              <a:rPr lang="zh-CN" altLang="zh-CN" sz="4000">
                <a:solidFill>
                  <a:srgbClr val="FF0000"/>
                </a:solidFill>
              </a:rPr>
              <a:t>对分区进行格式化</a:t>
            </a:r>
            <a:r>
              <a:rPr lang="zh-CN" altLang="zh-CN"/>
              <a:t>，在其上</a:t>
            </a:r>
            <a:r>
              <a:rPr lang="zh-CN" altLang="zh-CN" sz="4000">
                <a:solidFill>
                  <a:srgbClr val="FF0000"/>
                </a:solidFill>
              </a:rPr>
              <a:t>创建文件系统</a:t>
            </a:r>
            <a:r>
              <a:rPr lang="zh-CN" altLang="zh-CN"/>
              <a:t>，然后才能使用。很多时候，用户使用设备时并没有做这些工作，那是因为在这之前已经做过了。</a:t>
            </a:r>
          </a:p>
          <a:p>
            <a:r>
              <a:rPr lang="zh-CN" altLang="zh-CN" sz="4000">
                <a:solidFill>
                  <a:srgbClr val="FF0000"/>
                </a:solidFill>
              </a:rPr>
              <a:t>对磁盘分区的规划与管理需要很多实践经验</a:t>
            </a:r>
            <a:r>
              <a:rPr lang="zh-CN" altLang="zh-CN"/>
              <a:t>，若操作不慎可能会造成硬盘数据丢失，初学者可以在试验用机上进行操作。</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AB4A5CF1-8488-3E2F-754B-773F2CBD9FE6}"/>
              </a:ext>
            </a:extLst>
          </p:cNvPr>
          <p:cNvSpPr>
            <a:spLocks noGrp="1" noChangeArrowheads="1"/>
          </p:cNvSpPr>
          <p:nvPr>
            <p:ph type="title"/>
          </p:nvPr>
        </p:nvSpPr>
        <p:spPr/>
        <p:txBody>
          <a:bodyPr/>
          <a:lstStyle/>
          <a:p>
            <a:pPr eaLnBrk="1" hangingPunct="1"/>
            <a:r>
              <a:rPr lang="zh-CN" altLang="en-US" sz="3200"/>
              <a:t>1．使用fdisk和parted进行分区管理</a:t>
            </a:r>
          </a:p>
        </p:txBody>
      </p:sp>
      <p:sp>
        <p:nvSpPr>
          <p:cNvPr id="37891" name="内容占位符 2">
            <a:extLst>
              <a:ext uri="{FF2B5EF4-FFF2-40B4-BE49-F238E27FC236}">
                <a16:creationId xmlns:a16="http://schemas.microsoft.com/office/drawing/2014/main" id="{7EA6A6FD-5EB4-07E8-4EE3-4E94017AE7A0}"/>
              </a:ext>
            </a:extLst>
          </p:cNvPr>
          <p:cNvSpPr>
            <a:spLocks noGrp="1" noChangeArrowheads="1"/>
          </p:cNvSpPr>
          <p:nvPr>
            <p:ph idx="1"/>
          </p:nvPr>
        </p:nvSpPr>
        <p:spPr>
          <a:xfrm>
            <a:off x="34925" y="620713"/>
            <a:ext cx="9001125" cy="5761037"/>
          </a:xfrm>
        </p:spPr>
        <p:txBody>
          <a:bodyPr/>
          <a:lstStyle/>
          <a:p>
            <a:pPr eaLnBrk="1" hangingPunct="1"/>
            <a:r>
              <a:rPr lang="zh-CN" altLang="en-US" sz="4400"/>
              <a:t>用于管理硬盘上分区的</a:t>
            </a:r>
            <a:r>
              <a:rPr lang="zh-CN" altLang="en-US" sz="5400" u="sng">
                <a:solidFill>
                  <a:srgbClr val="FF0000"/>
                </a:solidFill>
              </a:rPr>
              <a:t>命令有fdisk和parted，</a:t>
            </a:r>
            <a:r>
              <a:rPr lang="zh-CN" altLang="en-US" sz="4400"/>
              <a:t>在图形界面下还有gparted等，这里只简单介绍fdisk和parted，主要目的是用于对</a:t>
            </a:r>
            <a:r>
              <a:rPr lang="zh-CN" altLang="en-US" sz="4400">
                <a:solidFill>
                  <a:srgbClr val="FF0000"/>
                </a:solidFill>
              </a:rPr>
              <a:t>磁盘分区的显示与查询</a:t>
            </a:r>
            <a:r>
              <a:rPr lang="zh-CN" altLang="en-US" sz="4400"/>
              <a:t>。对于GPT格式磁盘，还有gdisk等。</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41BAF8FF-BF97-4ECD-D44A-E49BA77ED7FA}"/>
              </a:ext>
            </a:extLst>
          </p:cNvPr>
          <p:cNvSpPr>
            <a:spLocks noGrp="1" noChangeArrowheads="1"/>
          </p:cNvSpPr>
          <p:nvPr>
            <p:ph type="title"/>
          </p:nvPr>
        </p:nvSpPr>
        <p:spPr/>
        <p:txBody>
          <a:bodyPr/>
          <a:lstStyle/>
          <a:p>
            <a:pPr eaLnBrk="1" hangingPunct="1"/>
            <a:r>
              <a:rPr lang="zh-CN" altLang="en-US" sz="3200"/>
              <a:t>1）使用fdisk进行分区管理</a:t>
            </a:r>
          </a:p>
        </p:txBody>
      </p:sp>
      <p:sp>
        <p:nvSpPr>
          <p:cNvPr id="38915" name="内容占位符 2">
            <a:extLst>
              <a:ext uri="{FF2B5EF4-FFF2-40B4-BE49-F238E27FC236}">
                <a16:creationId xmlns:a16="http://schemas.microsoft.com/office/drawing/2014/main" id="{2927FF86-7679-3EC7-A196-D67F38D6A745}"/>
              </a:ext>
            </a:extLst>
          </p:cNvPr>
          <p:cNvSpPr>
            <a:spLocks noGrp="1" noChangeArrowheads="1"/>
          </p:cNvSpPr>
          <p:nvPr>
            <p:ph idx="1"/>
          </p:nvPr>
        </p:nvSpPr>
        <p:spPr>
          <a:xfrm>
            <a:off x="0" y="620713"/>
            <a:ext cx="9144000" cy="5761037"/>
          </a:xfrm>
        </p:spPr>
        <p:txBody>
          <a:bodyPr/>
          <a:lstStyle/>
          <a:p>
            <a:pPr eaLnBrk="1" hangingPunct="1">
              <a:spcBef>
                <a:spcPct val="0"/>
              </a:spcBef>
              <a:spcAft>
                <a:spcPct val="0"/>
              </a:spcAft>
            </a:pPr>
            <a:r>
              <a:rPr lang="zh-CN" altLang="en-US" sz="4000"/>
              <a:t>（1）fdisk命令的功能及用法。</a:t>
            </a:r>
          </a:p>
          <a:p>
            <a:pPr eaLnBrk="1" hangingPunct="1">
              <a:spcBef>
                <a:spcPct val="0"/>
              </a:spcBef>
              <a:spcAft>
                <a:spcPct val="0"/>
              </a:spcAft>
            </a:pPr>
            <a:r>
              <a:rPr lang="zh-CN" altLang="en-US" sz="4000"/>
              <a:t>fdisk功能是</a:t>
            </a:r>
            <a:r>
              <a:rPr lang="zh-CN" altLang="en-US" sz="4000">
                <a:solidFill>
                  <a:srgbClr val="FF0000"/>
                </a:solidFill>
              </a:rPr>
              <a:t>在硬盘上创建、删除或修改分区</a:t>
            </a:r>
            <a:r>
              <a:rPr lang="zh-CN" altLang="en-US" sz="4000"/>
              <a:t>。其用法为：</a:t>
            </a:r>
          </a:p>
          <a:p>
            <a:pPr eaLnBrk="1" hangingPunct="1">
              <a:spcBef>
                <a:spcPct val="0"/>
              </a:spcBef>
              <a:spcAft>
                <a:spcPct val="0"/>
              </a:spcAft>
            </a:pPr>
            <a:r>
              <a:rPr lang="zh-CN" altLang="en-US" sz="4000"/>
              <a:t>fdisk [-u] [-b sectorsize] [-C cyls] [-H heads] [-S sects] device</a:t>
            </a:r>
          </a:p>
          <a:p>
            <a:pPr eaLnBrk="1" hangingPunct="1">
              <a:spcBef>
                <a:spcPct val="0"/>
              </a:spcBef>
              <a:spcAft>
                <a:spcPct val="0"/>
              </a:spcAft>
            </a:pPr>
            <a:r>
              <a:rPr lang="zh-CN" altLang="en-US" sz="4000"/>
              <a:t>fdisk -l [-u] [device …]</a:t>
            </a:r>
          </a:p>
          <a:p>
            <a:pPr eaLnBrk="1" hangingPunct="1">
              <a:spcBef>
                <a:spcPct val="0"/>
              </a:spcBef>
              <a:spcAft>
                <a:spcPct val="0"/>
              </a:spcAft>
            </a:pPr>
            <a:r>
              <a:rPr lang="zh-CN" altLang="en-US" sz="4000"/>
              <a:t>fdisk -s partition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86758C2A-2E1B-B105-2907-9FEEA9EB8CE0}"/>
              </a:ext>
            </a:extLst>
          </p:cNvPr>
          <p:cNvSpPr>
            <a:spLocks noGrp="1" noChangeArrowheads="1"/>
          </p:cNvSpPr>
          <p:nvPr>
            <p:ph type="title"/>
          </p:nvPr>
        </p:nvSpPr>
        <p:spPr/>
        <p:txBody>
          <a:bodyPr/>
          <a:lstStyle/>
          <a:p>
            <a:pPr eaLnBrk="1" hangingPunct="1"/>
            <a:r>
              <a:rPr lang="zh-CN" altLang="en-US" sz="3200"/>
              <a:t>1）使用fdisk进行分区管理</a:t>
            </a:r>
          </a:p>
        </p:txBody>
      </p:sp>
      <p:sp>
        <p:nvSpPr>
          <p:cNvPr id="39939" name="内容占位符 2">
            <a:extLst>
              <a:ext uri="{FF2B5EF4-FFF2-40B4-BE49-F238E27FC236}">
                <a16:creationId xmlns:a16="http://schemas.microsoft.com/office/drawing/2014/main" id="{31963E11-4E07-D4AF-D14E-F3E4C99CA610}"/>
              </a:ext>
            </a:extLst>
          </p:cNvPr>
          <p:cNvSpPr>
            <a:spLocks noGrp="1" noChangeArrowheads="1"/>
          </p:cNvSpPr>
          <p:nvPr>
            <p:ph idx="1"/>
          </p:nvPr>
        </p:nvSpPr>
        <p:spPr>
          <a:xfrm>
            <a:off x="107950" y="620713"/>
            <a:ext cx="9001125" cy="5761037"/>
          </a:xfrm>
        </p:spPr>
        <p:txBody>
          <a:bodyPr/>
          <a:lstStyle/>
          <a:p>
            <a:pPr eaLnBrk="1" hangingPunct="1"/>
            <a:r>
              <a:rPr lang="zh-CN" altLang="en-US" sz="2400"/>
              <a:t>（2）参数说明</a:t>
            </a:r>
          </a:p>
        </p:txBody>
      </p:sp>
      <p:graphicFrame>
        <p:nvGraphicFramePr>
          <p:cNvPr id="2" name="表格 -1">
            <a:extLst>
              <a:ext uri="{FF2B5EF4-FFF2-40B4-BE49-F238E27FC236}">
                <a16:creationId xmlns:a16="http://schemas.microsoft.com/office/drawing/2014/main" id="{0F09DFC5-A0E0-EF8B-4DB9-32A0ED5DC315}"/>
              </a:ext>
            </a:extLst>
          </p:cNvPr>
          <p:cNvGraphicFramePr>
            <a:graphicFrameLocks noGrp="1"/>
          </p:cNvGraphicFramePr>
          <p:nvPr/>
        </p:nvGraphicFramePr>
        <p:xfrm>
          <a:off x="107950" y="1052513"/>
          <a:ext cx="9001125" cy="5256212"/>
        </p:xfrm>
        <a:graphic>
          <a:graphicData uri="http://schemas.openxmlformats.org/drawingml/2006/table">
            <a:tbl>
              <a:tblPr/>
              <a:tblGrid>
                <a:gridCol w="1946992">
                  <a:extLst>
                    <a:ext uri="{9D8B030D-6E8A-4147-A177-3AD203B41FA5}">
                      <a16:colId xmlns:a16="http://schemas.microsoft.com/office/drawing/2014/main" val="20000"/>
                    </a:ext>
                  </a:extLst>
                </a:gridCol>
                <a:gridCol w="7054133">
                  <a:extLst>
                    <a:ext uri="{9D8B030D-6E8A-4147-A177-3AD203B41FA5}">
                      <a16:colId xmlns:a16="http://schemas.microsoft.com/office/drawing/2014/main" val="20001"/>
                    </a:ext>
                  </a:extLst>
                </a:gridCol>
              </a:tblGrid>
              <a:tr h="5256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2400" b="1" i="0" u="none" strike="noStrike" cap="none" normalizeH="0" baseline="0" dirty="0">
                          <a:ln>
                            <a:noFill/>
                          </a:ln>
                          <a:solidFill>
                            <a:schemeClr val="tx1"/>
                          </a:solidFill>
                          <a:effectLst/>
                          <a:latin typeface="宋体" pitchFamily="2" charset="-122"/>
                          <a:ea typeface="宋体" pitchFamily="2" charset="-122"/>
                        </a:rPr>
                        <a:t>    </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512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 </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sectorsize</a:t>
                      </a:r>
                      <a:endPar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指定磁盘扇区的大小</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。通常为</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512</a:t>
                      </a:r>
                      <a:r>
                        <a:rPr kumimoji="0" lang="en-US" altLang="zh-CN" sz="2400" b="1" i="0" u="none" strike="noStrike" cap="none" normalizeH="0" baseline="0" dirty="0">
                          <a:ln>
                            <a:noFill/>
                          </a:ln>
                          <a:solidFill>
                            <a:schemeClr val="tx1"/>
                          </a:solidFill>
                          <a:effectLst/>
                          <a:latin typeface="宋体" pitchFamily="2" charset="-122"/>
                          <a:ea typeface="宋体" pitchFamily="2" charset="-122"/>
                        </a:rPr>
                        <a:t>B</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1024</a:t>
                      </a:r>
                      <a:r>
                        <a:rPr kumimoji="0" lang="en-US" altLang="zh-CN" sz="2400" b="1" i="0" u="none" strike="noStrike" cap="none" normalizeH="0" baseline="0" dirty="0">
                          <a:ln>
                            <a:noFill/>
                          </a:ln>
                          <a:solidFill>
                            <a:schemeClr val="tx1"/>
                          </a:solidFill>
                          <a:effectLst/>
                          <a:latin typeface="宋体" pitchFamily="2" charset="-122"/>
                          <a:ea typeface="宋体" pitchFamily="2" charset="-122"/>
                        </a:rPr>
                        <a:t>B</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或</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2048</a:t>
                      </a:r>
                      <a:r>
                        <a:rPr kumimoji="0" lang="en-US" altLang="zh-CN" sz="2400" b="1" i="0" u="none" strike="noStrike" cap="none" normalizeH="0" baseline="0" dirty="0">
                          <a:ln>
                            <a:noFill/>
                          </a:ln>
                          <a:solidFill>
                            <a:schemeClr val="tx1"/>
                          </a:solidFill>
                          <a:effectLst/>
                          <a:latin typeface="宋体" pitchFamily="2" charset="-122"/>
                          <a:ea typeface="宋体" pitchFamily="2" charset="-122"/>
                        </a:rPr>
                        <a:t>B</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6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 cyls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指定磁盘柱面数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6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 heads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指定磁盘的磁头数。通常为</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255</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或</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等</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6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 sects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指定磁盘每道上的扇区数。通常为</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63</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512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以柱面方式列指定盘上的分区。当给出</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参数时以扇区为单位列分区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56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 partition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显示指定分区的大小</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256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以块为单位显示分区的大小</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D074056E-DFB3-86F4-B566-F594FCE74A92}"/>
              </a:ext>
            </a:extLst>
          </p:cNvPr>
          <p:cNvSpPr>
            <a:spLocks noGrp="1" noChangeArrowheads="1"/>
          </p:cNvSpPr>
          <p:nvPr>
            <p:ph type="title"/>
          </p:nvPr>
        </p:nvSpPr>
        <p:spPr/>
        <p:txBody>
          <a:bodyPr/>
          <a:lstStyle/>
          <a:p>
            <a:pPr eaLnBrk="1" hangingPunct="1"/>
            <a:r>
              <a:rPr lang="zh-CN" altLang="en-US" sz="3200">
                <a:sym typeface="宋体" panose="02010600030101010101" pitchFamily="2" charset="-122"/>
              </a:rPr>
              <a:t>fdisk</a:t>
            </a:r>
            <a:r>
              <a:rPr lang="en-US" altLang="zh-CN" sz="3200">
                <a:sym typeface="宋体" panose="02010600030101010101" pitchFamily="2" charset="-122"/>
              </a:rPr>
              <a:t>t </a:t>
            </a:r>
            <a:r>
              <a:rPr lang="zh-CN" altLang="en-US" sz="3200">
                <a:sym typeface="宋体" panose="02010600030101010101" pitchFamily="2" charset="-122"/>
              </a:rPr>
              <a:t>的交互式使用</a:t>
            </a:r>
            <a:endParaRPr lang="zh-CN" altLang="en-US" sz="3200"/>
          </a:p>
        </p:txBody>
      </p:sp>
      <p:sp>
        <p:nvSpPr>
          <p:cNvPr id="45059" name="内容占位符 2">
            <a:extLst>
              <a:ext uri="{FF2B5EF4-FFF2-40B4-BE49-F238E27FC236}">
                <a16:creationId xmlns:a16="http://schemas.microsoft.com/office/drawing/2014/main" id="{07E44CA1-76CF-D83F-D618-C63F3C886180}"/>
              </a:ext>
            </a:extLst>
          </p:cNvPr>
          <p:cNvSpPr>
            <a:spLocks noGrp="1" noChangeArrowheads="1"/>
          </p:cNvSpPr>
          <p:nvPr>
            <p:ph idx="1"/>
          </p:nvPr>
        </p:nvSpPr>
        <p:spPr>
          <a:xfrm>
            <a:off x="107950" y="620713"/>
            <a:ext cx="9001125" cy="5761037"/>
          </a:xfrm>
        </p:spPr>
        <p:txBody>
          <a:bodyPr/>
          <a:lstStyle/>
          <a:p>
            <a:pPr eaLnBrk="1" hangingPunct="1">
              <a:spcBef>
                <a:spcPts val="0"/>
              </a:spcBef>
              <a:spcAft>
                <a:spcPts val="0"/>
              </a:spcAft>
              <a:defRPr/>
            </a:pPr>
            <a:r>
              <a:rPr lang="zh-CN" altLang="en-US" sz="3200" dirty="0"/>
              <a:t>当以以下方式使用</a:t>
            </a:r>
            <a:r>
              <a:rPr lang="en-US" altLang="zh-CN" sz="3200" dirty="0" err="1"/>
              <a:t>fdisk</a:t>
            </a:r>
            <a:r>
              <a:rPr lang="zh-CN" altLang="en-US" sz="3200" dirty="0"/>
              <a:t>时，</a:t>
            </a:r>
            <a:endParaRPr lang="en-US" altLang="zh-CN" sz="3200" dirty="0"/>
          </a:p>
          <a:p>
            <a:pPr eaLnBrk="1" hangingPunct="1">
              <a:spcBef>
                <a:spcPts val="0"/>
              </a:spcBef>
              <a:spcAft>
                <a:spcPts val="0"/>
              </a:spcAft>
              <a:defRPr/>
            </a:pPr>
            <a:r>
              <a:rPr lang="zh-CN" altLang="en-US" sz="3200" dirty="0"/>
              <a:t>    fdisk &lt;硬盘设备名&gt;</a:t>
            </a:r>
          </a:p>
          <a:p>
            <a:pPr eaLnBrk="1" hangingPunct="1">
              <a:spcBef>
                <a:spcPts val="0"/>
              </a:spcBef>
              <a:spcAft>
                <a:spcPts val="0"/>
              </a:spcAft>
              <a:defRPr/>
            </a:pPr>
            <a:r>
              <a:rPr lang="zh-CN" altLang="en-US" sz="3200" dirty="0"/>
              <a:t>进入交互方式</a:t>
            </a:r>
            <a:endParaRPr lang="en-US" altLang="zh-CN" sz="3200" dirty="0"/>
          </a:p>
          <a:p>
            <a:pPr eaLnBrk="1" hangingPunct="1">
              <a:spcBef>
                <a:spcPts val="0"/>
              </a:spcBef>
              <a:spcAft>
                <a:spcPts val="0"/>
              </a:spcAft>
              <a:defRPr/>
            </a:pPr>
            <a:r>
              <a:rPr lang="zh-CN" altLang="en-US" sz="3200" dirty="0"/>
              <a:t>    Command (m for help):</a:t>
            </a:r>
          </a:p>
          <a:p>
            <a:pPr eaLnBrk="1" hangingPunct="1">
              <a:spcBef>
                <a:spcPts val="0"/>
              </a:spcBef>
              <a:spcAft>
                <a:spcPts val="0"/>
              </a:spcAft>
              <a:defRPr/>
            </a:pPr>
            <a:r>
              <a:rPr lang="zh-CN" altLang="en-US" sz="3200" dirty="0"/>
              <a:t>可以在交互方式下使用的命令如下：</a:t>
            </a:r>
          </a:p>
          <a:p>
            <a:pPr marL="0" indent="0" eaLnBrk="1" hangingPunct="1">
              <a:buFont typeface="Wingdings" panose="05000000000000000000" pitchFamily="2" charset="2"/>
              <a:buNone/>
              <a:defRPr/>
            </a:pPr>
            <a:endParaRPr lang="en-US" altLang="zh-CN" sz="2400" dirty="0"/>
          </a:p>
        </p:txBody>
      </p:sp>
      <p:graphicFrame>
        <p:nvGraphicFramePr>
          <p:cNvPr id="2" name="表格 -1">
            <a:extLst>
              <a:ext uri="{FF2B5EF4-FFF2-40B4-BE49-F238E27FC236}">
                <a16:creationId xmlns:a16="http://schemas.microsoft.com/office/drawing/2014/main" id="{E9BA2199-27D1-27CA-42BD-D96E3CC79CD5}"/>
              </a:ext>
            </a:extLst>
          </p:cNvPr>
          <p:cNvGraphicFramePr>
            <a:graphicFrameLocks noGrp="1"/>
          </p:cNvGraphicFramePr>
          <p:nvPr/>
        </p:nvGraphicFramePr>
        <p:xfrm>
          <a:off x="107950" y="3141663"/>
          <a:ext cx="9001125" cy="3167062"/>
        </p:xfrm>
        <a:graphic>
          <a:graphicData uri="http://schemas.openxmlformats.org/drawingml/2006/table">
            <a:tbl>
              <a:tblPr/>
              <a:tblGrid>
                <a:gridCol w="1006181">
                  <a:extLst>
                    <a:ext uri="{9D8B030D-6E8A-4147-A177-3AD203B41FA5}">
                      <a16:colId xmlns:a16="http://schemas.microsoft.com/office/drawing/2014/main" val="20000"/>
                    </a:ext>
                  </a:extLst>
                </a:gridCol>
                <a:gridCol w="3163181">
                  <a:extLst>
                    <a:ext uri="{9D8B030D-6E8A-4147-A177-3AD203B41FA5}">
                      <a16:colId xmlns:a16="http://schemas.microsoft.com/office/drawing/2014/main" val="20001"/>
                    </a:ext>
                  </a:extLst>
                </a:gridCol>
                <a:gridCol w="995699">
                  <a:extLst>
                    <a:ext uri="{9D8B030D-6E8A-4147-A177-3AD203B41FA5}">
                      <a16:colId xmlns:a16="http://schemas.microsoft.com/office/drawing/2014/main" val="20002"/>
                    </a:ext>
                  </a:extLst>
                </a:gridCol>
                <a:gridCol w="3836064">
                  <a:extLst>
                    <a:ext uri="{9D8B030D-6E8A-4147-A177-3AD203B41FA5}">
                      <a16:colId xmlns:a16="http://schemas.microsoft.com/office/drawing/2014/main" val="20003"/>
                    </a:ext>
                  </a:extLst>
                </a:gridCol>
              </a:tblGrid>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000" b="1" i="0" u="none" strike="noStrike" cap="none" normalizeH="0" baseline="0">
                          <a:ln>
                            <a:noFill/>
                          </a:ln>
                          <a:solidFill>
                            <a:schemeClr val="tx1"/>
                          </a:solidFill>
                          <a:effectLst/>
                          <a:latin typeface="宋体" pitchFamily="2" charset="-122"/>
                          <a:ea typeface="宋体" pitchFamily="2" charset="-122"/>
                        </a:rPr>
                        <a:t>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000" b="1" i="0" u="none" strike="noStrike" cap="none" normalizeH="0" baseline="0">
                          <a:ln>
                            <a:noFill/>
                          </a:ln>
                          <a:solidFill>
                            <a:schemeClr val="tx1"/>
                          </a:solidFill>
                          <a:effectLst/>
                          <a:latin typeface="宋体" pitchFamily="2" charset="-122"/>
                          <a:ea typeface="宋体" pitchFamily="2" charset="-122"/>
                        </a:rPr>
                        <a:t>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设置活动分区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列出硬盘分区表</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删除指定分区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q</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退出，但不保存以前的操作</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列出所有支持的分区类型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更改分区类型</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列出帮助命令菜单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切换显示分区的单位</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创建一个分区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校验分区表</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24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o</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创建一个空</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DOS</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分区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写分区表，并退出</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120DA57E-B606-FE71-5257-5B0CC36A1D78}"/>
              </a:ext>
            </a:extLst>
          </p:cNvPr>
          <p:cNvSpPr>
            <a:spLocks noGrp="1" noChangeArrowheads="1"/>
          </p:cNvSpPr>
          <p:nvPr>
            <p:ph type="title"/>
          </p:nvPr>
        </p:nvSpPr>
        <p:spPr/>
        <p:txBody>
          <a:bodyPr/>
          <a:lstStyle/>
          <a:p>
            <a:pPr eaLnBrk="1" hangingPunct="1"/>
            <a:r>
              <a:rPr lang="zh-CN" altLang="en-US" sz="3200"/>
              <a:t>（3）使用fdisk分区示例</a:t>
            </a:r>
          </a:p>
        </p:txBody>
      </p:sp>
      <p:sp>
        <p:nvSpPr>
          <p:cNvPr id="41987" name="内容占位符 2">
            <a:extLst>
              <a:ext uri="{FF2B5EF4-FFF2-40B4-BE49-F238E27FC236}">
                <a16:creationId xmlns:a16="http://schemas.microsoft.com/office/drawing/2014/main" id="{8C898834-BE61-9325-FA59-DE943C81A148}"/>
              </a:ext>
            </a:extLst>
          </p:cNvPr>
          <p:cNvSpPr>
            <a:spLocks noGrp="1" noChangeArrowheads="1"/>
          </p:cNvSpPr>
          <p:nvPr>
            <p:ph idx="1"/>
          </p:nvPr>
        </p:nvSpPr>
        <p:spPr>
          <a:xfrm>
            <a:off x="0" y="620713"/>
            <a:ext cx="9036050" cy="5761037"/>
          </a:xfrm>
        </p:spPr>
        <p:txBody>
          <a:bodyPr/>
          <a:lstStyle/>
          <a:p>
            <a:pPr eaLnBrk="1" hangingPunct="1"/>
            <a:r>
              <a:rPr lang="en-US" altLang="zh-CN" sz="3600"/>
              <a:t>fdisk</a:t>
            </a:r>
            <a:r>
              <a:rPr lang="zh-CN" altLang="en-US" sz="3600"/>
              <a:t>的使用很多的关于分区结构的知识，且若做的不好可能会硬盘数据造成危害。这里仅给出用分区显示的示例。</a:t>
            </a:r>
            <a:endParaRPr lang="en-US" altLang="zh-CN" sz="3600"/>
          </a:p>
          <a:p>
            <a:pPr eaLnBrk="1" hangingPunct="1"/>
            <a:r>
              <a:rPr lang="zh-CN" altLang="en-US" sz="3600"/>
              <a:t>#fdisk		    #fdisk命令用法信息</a:t>
            </a:r>
          </a:p>
          <a:p>
            <a:pPr eaLnBrk="1" hangingPunct="1"/>
            <a:r>
              <a:rPr lang="zh-CN" altLang="en-US" sz="3600"/>
              <a:t>#fdisk -l	             #显示所有硬盘或U盘的分区信息</a:t>
            </a:r>
          </a:p>
          <a:p>
            <a:pPr eaLnBrk="1" hangingPunct="1"/>
            <a:r>
              <a:rPr lang="zh-CN" altLang="en-US" sz="3600"/>
              <a:t>#fdisk -l /dev/sda	   #显示硬盘/dev/sda的分区信息</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3F60F27C-36F4-6AE5-AFFF-897CE0E89D33}"/>
              </a:ext>
            </a:extLst>
          </p:cNvPr>
          <p:cNvSpPr>
            <a:spLocks noGrp="1" noChangeArrowheads="1"/>
          </p:cNvSpPr>
          <p:nvPr>
            <p:ph type="title"/>
          </p:nvPr>
        </p:nvSpPr>
        <p:spPr/>
        <p:txBody>
          <a:bodyPr/>
          <a:lstStyle/>
          <a:p>
            <a:pPr eaLnBrk="1" hangingPunct="1"/>
            <a:r>
              <a:rPr lang="zh-CN" altLang="en-US" sz="3200"/>
              <a:t>2）使用parted进行分区管理</a:t>
            </a:r>
          </a:p>
        </p:txBody>
      </p:sp>
      <p:sp>
        <p:nvSpPr>
          <p:cNvPr id="43011" name="内容占位符 2">
            <a:extLst>
              <a:ext uri="{FF2B5EF4-FFF2-40B4-BE49-F238E27FC236}">
                <a16:creationId xmlns:a16="http://schemas.microsoft.com/office/drawing/2014/main" id="{B8A444B2-206A-2278-026E-D04509A3B534}"/>
              </a:ext>
            </a:extLst>
          </p:cNvPr>
          <p:cNvSpPr>
            <a:spLocks noGrp="1" noChangeArrowheads="1"/>
          </p:cNvSpPr>
          <p:nvPr>
            <p:ph idx="1"/>
          </p:nvPr>
        </p:nvSpPr>
        <p:spPr>
          <a:xfrm>
            <a:off x="107950" y="620713"/>
            <a:ext cx="9001125" cy="5761037"/>
          </a:xfrm>
        </p:spPr>
        <p:txBody>
          <a:bodyPr/>
          <a:lstStyle/>
          <a:p>
            <a:pPr eaLnBrk="1" hangingPunct="1"/>
            <a:r>
              <a:rPr lang="zh-CN" altLang="en-US" sz="3200"/>
              <a:t>（1）功能及用法。</a:t>
            </a:r>
          </a:p>
          <a:p>
            <a:pPr eaLnBrk="1" hangingPunct="1"/>
            <a:r>
              <a:rPr lang="zh-CN" altLang="en-US" sz="3200"/>
              <a:t>parted的功能也是磁盘分区管理，其用法为：</a:t>
            </a:r>
          </a:p>
          <a:p>
            <a:pPr eaLnBrk="1" hangingPunct="1"/>
            <a:r>
              <a:rPr lang="zh-CN" altLang="en-US" sz="3200"/>
              <a:t>parted [options] [device [command [arguments]]]</a:t>
            </a:r>
          </a:p>
          <a:p>
            <a:pPr eaLnBrk="1" hangingPunct="1"/>
            <a:r>
              <a:rPr lang="zh-CN" altLang="en-US" sz="3200"/>
              <a:t>常用参数有：</a:t>
            </a:r>
            <a:endParaRPr lang="en-US" altLang="zh-CN" sz="3200"/>
          </a:p>
          <a:p>
            <a:pPr eaLnBrk="1" hangingPunct="1"/>
            <a:r>
              <a:rPr lang="zh-CN" altLang="en-US" sz="3200"/>
              <a:t>-l：列所有块设备分区表。-h：帮助。-v：显示版本号。device为所要操作的存储设备，如/dev/hda或/dev/hdb等。command为对设备操作的子命令。arguments为子命令所需的参数。</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98EAE206-E7D5-121A-1E19-D0C70B45CECE}"/>
              </a:ext>
            </a:extLst>
          </p:cNvPr>
          <p:cNvSpPr>
            <a:spLocks noGrp="1" noChangeArrowheads="1"/>
          </p:cNvSpPr>
          <p:nvPr>
            <p:ph type="title"/>
          </p:nvPr>
        </p:nvSpPr>
        <p:spPr/>
        <p:txBody>
          <a:bodyPr/>
          <a:lstStyle/>
          <a:p>
            <a:pPr eaLnBrk="1" hangingPunct="1"/>
            <a:r>
              <a:rPr lang="zh-CN" altLang="en-US" sz="3200"/>
              <a:t>2．创建文件系统（mkfs）</a:t>
            </a:r>
          </a:p>
        </p:txBody>
      </p:sp>
      <p:sp>
        <p:nvSpPr>
          <p:cNvPr id="59395" name="内容占位符 2">
            <a:extLst>
              <a:ext uri="{FF2B5EF4-FFF2-40B4-BE49-F238E27FC236}">
                <a16:creationId xmlns:a16="http://schemas.microsoft.com/office/drawing/2014/main" id="{CF4B8C21-3F48-C15E-63AF-B1AB7FE7A164}"/>
              </a:ext>
            </a:extLst>
          </p:cNvPr>
          <p:cNvSpPr>
            <a:spLocks noGrp="1" noChangeArrowheads="1"/>
          </p:cNvSpPr>
          <p:nvPr>
            <p:ph idx="1"/>
          </p:nvPr>
        </p:nvSpPr>
        <p:spPr>
          <a:xfrm>
            <a:off x="0" y="620713"/>
            <a:ext cx="9144000" cy="5761037"/>
          </a:xfrm>
        </p:spPr>
        <p:txBody>
          <a:bodyPr/>
          <a:lstStyle/>
          <a:p>
            <a:pPr eaLnBrk="1" hangingPunct="1">
              <a:spcBef>
                <a:spcPts val="0"/>
              </a:spcBef>
              <a:spcAft>
                <a:spcPts val="0"/>
              </a:spcAft>
              <a:defRPr/>
            </a:pPr>
            <a:r>
              <a:rPr lang="zh-CN" altLang="en-US" sz="3600" dirty="0"/>
              <a:t>1）功能及用法</a:t>
            </a:r>
          </a:p>
          <a:p>
            <a:pPr eaLnBrk="1" hangingPunct="1">
              <a:spcBef>
                <a:spcPts val="0"/>
              </a:spcBef>
              <a:spcAft>
                <a:spcPts val="0"/>
              </a:spcAft>
              <a:defRPr/>
            </a:pPr>
            <a:r>
              <a:rPr lang="zh-CN" altLang="en-US" sz="4000" u="sng" dirty="0"/>
              <a:t>mkfs是</a:t>
            </a:r>
            <a:r>
              <a:rPr lang="zh-CN" altLang="en-US" sz="4000" u="sng" dirty="0">
                <a:solidFill>
                  <a:srgbClr val="FF0000"/>
                </a:solidFill>
              </a:rPr>
              <a:t>创建文件系统的总控程序</a:t>
            </a:r>
            <a:r>
              <a:rPr lang="zh-CN" altLang="en-US" sz="3600" dirty="0"/>
              <a:t>，它会根据将要创建的文件系统类型去调用相应的创建程序来完成文件系统的创建工作，可以用于创建文件系统的子命令如表所示。</a:t>
            </a:r>
            <a:endParaRPr lang="en-US" altLang="zh-CN" sz="3600" dirty="0"/>
          </a:p>
          <a:p>
            <a:pPr eaLnBrk="1" hangingPunct="1">
              <a:spcBef>
                <a:spcPts val="0"/>
              </a:spcBef>
              <a:spcAft>
                <a:spcPts val="0"/>
              </a:spcAft>
              <a:defRPr/>
            </a:pPr>
            <a:r>
              <a:rPr lang="zh-CN" altLang="en-US" sz="3600" dirty="0"/>
              <a:t>mkfs的用法为：</a:t>
            </a:r>
          </a:p>
          <a:p>
            <a:pPr marL="0" indent="0" eaLnBrk="1" hangingPunct="1">
              <a:spcBef>
                <a:spcPts val="0"/>
              </a:spcBef>
              <a:spcAft>
                <a:spcPts val="0"/>
              </a:spcAft>
              <a:buFont typeface="Arial" panose="020B0604020202020204" pitchFamily="34" charset="0"/>
              <a:buNone/>
              <a:defRPr/>
            </a:pPr>
            <a:r>
              <a:rPr lang="zh-CN" altLang="en-US" sz="5400" dirty="0"/>
              <a:t>    mkfs  [ -v ] [ -t fstype ] [fs-options ] filesys [ blocks ]</a:t>
            </a:r>
          </a:p>
          <a:p>
            <a:pPr eaLnBrk="1" hangingPunct="1">
              <a:defRPr/>
            </a:pPr>
            <a:endParaRPr lang="zh-CN"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88236FE9-8447-FA2F-20E1-F56A471AA3CE}"/>
              </a:ext>
            </a:extLst>
          </p:cNvPr>
          <p:cNvSpPr>
            <a:spLocks noGrp="1" noChangeArrowheads="1"/>
          </p:cNvSpPr>
          <p:nvPr>
            <p:ph type="title"/>
          </p:nvPr>
        </p:nvSpPr>
        <p:spPr/>
        <p:txBody>
          <a:bodyPr/>
          <a:lstStyle/>
          <a:p>
            <a:pPr eaLnBrk="1" hangingPunct="1"/>
            <a:r>
              <a:rPr lang="zh-CN" altLang="en-US" sz="3200"/>
              <a:t>2）参数及说明</a:t>
            </a:r>
          </a:p>
        </p:txBody>
      </p:sp>
      <p:graphicFrame>
        <p:nvGraphicFramePr>
          <p:cNvPr id="4" name="表格 3">
            <a:extLst>
              <a:ext uri="{FF2B5EF4-FFF2-40B4-BE49-F238E27FC236}">
                <a16:creationId xmlns:a16="http://schemas.microsoft.com/office/drawing/2014/main" id="{FD864903-4CF8-A854-90C5-4BCDDF00F9CA}"/>
              </a:ext>
            </a:extLst>
          </p:cNvPr>
          <p:cNvGraphicFramePr>
            <a:graphicFrameLocks noGrp="1"/>
          </p:cNvGraphicFramePr>
          <p:nvPr/>
        </p:nvGraphicFramePr>
        <p:xfrm>
          <a:off x="0" y="549275"/>
          <a:ext cx="9144000" cy="5962650"/>
        </p:xfrm>
        <a:graphic>
          <a:graphicData uri="http://schemas.openxmlformats.org/drawingml/2006/table">
            <a:tbl>
              <a:tblPr/>
              <a:tblGrid>
                <a:gridCol w="1549250">
                  <a:extLst>
                    <a:ext uri="{9D8B030D-6E8A-4147-A177-3AD203B41FA5}">
                      <a16:colId xmlns:a16="http://schemas.microsoft.com/office/drawing/2014/main" val="20000"/>
                    </a:ext>
                  </a:extLst>
                </a:gridCol>
                <a:gridCol w="7594750">
                  <a:extLst>
                    <a:ext uri="{9D8B030D-6E8A-4147-A177-3AD203B41FA5}">
                      <a16:colId xmlns:a16="http://schemas.microsoft.com/office/drawing/2014/main" val="20001"/>
                    </a:ext>
                  </a:extLst>
                </a:gridCol>
              </a:tblGrid>
              <a:tr h="50391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3200" b="1" i="0" u="none" strike="noStrike" cap="none" normalizeH="0" baseline="0" dirty="0">
                          <a:ln>
                            <a:noFill/>
                          </a:ln>
                          <a:solidFill>
                            <a:schemeClr val="tx1"/>
                          </a:solidFill>
                          <a:effectLst/>
                          <a:latin typeface="宋体" pitchFamily="2" charset="-122"/>
                          <a:ea typeface="宋体" pitchFamily="2" charset="-122"/>
                        </a:rPr>
                        <a:t> </a:t>
                      </a: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3200" b="1" i="0" u="none" strike="noStrike" cap="none" normalizeH="0" baseline="0">
                          <a:ln>
                            <a:noFill/>
                          </a:ln>
                          <a:solidFill>
                            <a:schemeClr val="tx1"/>
                          </a:solidFill>
                          <a:effectLst/>
                          <a:latin typeface="宋体" pitchFamily="2" charset="-122"/>
                          <a:ea typeface="宋体" pitchFamily="2" charset="-122"/>
                        </a:rPr>
                        <a:t>    </a:t>
                      </a:r>
                      <a:r>
                        <a:rPr kumimoji="0" lang="zh-CN" altLang="en-US"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7536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blocks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文件系统的总块</a:t>
                      </a: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数，一般不强行指定，由</a:t>
                      </a:r>
                      <a:r>
                        <a:rPr kumimoji="0" lang="zh-CN" altLang="en-US" sz="3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系统默认</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4058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filesys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文件系统</a:t>
                      </a: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。一般为设备文件</a:t>
                      </a:r>
                      <a:r>
                        <a:rPr kumimoji="0" lang="zh-CN" altLang="en-US" sz="3200" b="1" i="0" u="none" strike="noStrike" cap="none" normalizeH="0" baseline="0" dirty="0">
                          <a:ln>
                            <a:noFill/>
                          </a:ln>
                          <a:solidFill>
                            <a:schemeClr val="tx1"/>
                          </a:solidFill>
                          <a:effectLst/>
                          <a:latin typeface="宋体" pitchFamily="2" charset="-122"/>
                          <a:ea typeface="宋体" pitchFamily="2" charset="-122"/>
                        </a:rPr>
                        <a:t>，也可为普通文件。若为普通文件，则必须指定大小</a:t>
                      </a:r>
                      <a:endPar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68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 fstype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文件类型</a:t>
                      </a: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，若不指定则使用默认文件系统</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68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显示冗余信息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23371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创建文件系统前做</a:t>
                      </a:r>
                      <a:r>
                        <a:rPr kumimoji="0" lang="zh-CN" altLang="en-US" sz="3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坏块检查</a:t>
                      </a: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。此选项在某些文件系统中可能不被支持</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97536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 filename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从文件中</a:t>
                      </a:r>
                      <a:r>
                        <a:rPr kumimoji="0" lang="zh-CN" altLang="en-US" sz="32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读取坏块信息</a:t>
                      </a:r>
                      <a:r>
                        <a:rPr kumimoji="0" lang="zh-CN" altLang="en-US"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。此选项在某些文件系统中可能不被支持</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234CCAB3-B005-50AE-03DD-24089CA001A1}"/>
              </a:ext>
            </a:extLst>
          </p:cNvPr>
          <p:cNvSpPr>
            <a:spLocks noGrp="1" noChangeArrowheads="1"/>
          </p:cNvSpPr>
          <p:nvPr>
            <p:ph type="title"/>
          </p:nvPr>
        </p:nvSpPr>
        <p:spPr/>
        <p:txBody>
          <a:bodyPr/>
          <a:lstStyle/>
          <a:p>
            <a:pPr eaLnBrk="1" hangingPunct="1"/>
            <a:r>
              <a:rPr lang="zh-CN" altLang="en-US" sz="3200"/>
              <a:t>3）文件系统创建示例</a:t>
            </a:r>
          </a:p>
        </p:txBody>
      </p:sp>
      <p:sp>
        <p:nvSpPr>
          <p:cNvPr id="54275" name="内容占位符 2">
            <a:extLst>
              <a:ext uri="{FF2B5EF4-FFF2-40B4-BE49-F238E27FC236}">
                <a16:creationId xmlns:a16="http://schemas.microsoft.com/office/drawing/2014/main" id="{B5CC31E3-D916-C566-FB9A-0E96CC715F39}"/>
              </a:ext>
            </a:extLst>
          </p:cNvPr>
          <p:cNvSpPr>
            <a:spLocks noGrp="1" noChangeArrowheads="1"/>
          </p:cNvSpPr>
          <p:nvPr>
            <p:ph idx="1"/>
          </p:nvPr>
        </p:nvSpPr>
        <p:spPr>
          <a:xfrm>
            <a:off x="107950" y="620713"/>
            <a:ext cx="9001125" cy="5761037"/>
          </a:xfrm>
        </p:spPr>
        <p:txBody>
          <a:bodyPr/>
          <a:lstStyle/>
          <a:p>
            <a:pPr eaLnBrk="1" hangingPunct="1">
              <a:spcBef>
                <a:spcPct val="0"/>
              </a:spcBef>
              <a:spcAft>
                <a:spcPct val="0"/>
              </a:spcAft>
              <a:defRPr/>
            </a:pPr>
            <a:r>
              <a:rPr lang="zh-CN" altLang="en-US" sz="4400" dirty="0"/>
              <a:t>#在移动磁盘上创建vfat文件系统</a:t>
            </a:r>
          </a:p>
          <a:p>
            <a:pPr marL="0" indent="0" eaLnBrk="1" hangingPunct="1">
              <a:spcBef>
                <a:spcPct val="0"/>
              </a:spcBef>
              <a:spcAft>
                <a:spcPct val="0"/>
              </a:spcAft>
              <a:buFont typeface="Arial" panose="020B0604020202020204" pitchFamily="34" charset="0"/>
              <a:buNone/>
              <a:defRPr/>
            </a:pPr>
            <a:r>
              <a:rPr lang="zh-CN" altLang="en-US" sz="4400" dirty="0"/>
              <a:t>  #</a:t>
            </a:r>
            <a:r>
              <a:rPr lang="zh-CN" altLang="en-US" sz="5400" dirty="0">
                <a:solidFill>
                  <a:srgbClr val="FF0000"/>
                </a:solidFill>
              </a:rPr>
              <a:t>mkfs -t vfat /dev/sdb</a:t>
            </a:r>
            <a:endParaRPr lang="en-US" altLang="zh-CN" sz="5400" dirty="0">
              <a:solidFill>
                <a:srgbClr val="FF0000"/>
              </a:solidFill>
            </a:endParaRPr>
          </a:p>
          <a:p>
            <a:pPr eaLnBrk="1" hangingPunct="1">
              <a:spcBef>
                <a:spcPct val="0"/>
              </a:spcBef>
              <a:spcAft>
                <a:spcPct val="0"/>
              </a:spcAft>
              <a:defRPr/>
            </a:pPr>
            <a:r>
              <a:rPr lang="zh-CN" altLang="en-US" sz="4400" dirty="0"/>
              <a:t>#在移动磁盘上创建ext2文件系统</a:t>
            </a:r>
          </a:p>
          <a:p>
            <a:pPr marL="0" indent="0" eaLnBrk="1" hangingPunct="1">
              <a:spcBef>
                <a:spcPct val="0"/>
              </a:spcBef>
              <a:spcAft>
                <a:spcPct val="0"/>
              </a:spcAft>
              <a:buFont typeface="Arial" panose="020B0604020202020204" pitchFamily="34" charset="0"/>
              <a:buNone/>
              <a:defRPr/>
            </a:pPr>
            <a:r>
              <a:rPr lang="zh-CN" altLang="en-US" sz="4400" dirty="0"/>
              <a:t>  #</a:t>
            </a:r>
            <a:r>
              <a:rPr lang="zh-CN" altLang="en-US" sz="5400" dirty="0">
                <a:solidFill>
                  <a:srgbClr val="FF0000"/>
                </a:solidFill>
              </a:rPr>
              <a:t>mkfs -t ext2 /dev/sdb</a:t>
            </a:r>
            <a:endParaRPr lang="en-US" altLang="zh-CN" sz="5400" dirty="0">
              <a:solidFill>
                <a:srgbClr val="FF0000"/>
              </a:solidFill>
            </a:endParaRPr>
          </a:p>
          <a:p>
            <a:pPr eaLnBrk="1" hangingPunct="1">
              <a:spcBef>
                <a:spcPct val="0"/>
              </a:spcBef>
              <a:spcAft>
                <a:spcPct val="0"/>
              </a:spcAft>
              <a:defRPr/>
            </a:pPr>
            <a:r>
              <a:rPr lang="zh-CN" altLang="en-US" sz="4400" dirty="0"/>
              <a:t>#在IDE硬盘的/dev/hda10分区上创建NTFS分区</a:t>
            </a:r>
          </a:p>
          <a:p>
            <a:pPr marL="0" indent="0" eaLnBrk="1" hangingPunct="1">
              <a:spcBef>
                <a:spcPct val="0"/>
              </a:spcBef>
              <a:spcAft>
                <a:spcPct val="0"/>
              </a:spcAft>
              <a:buFont typeface="Arial" panose="020B0604020202020204" pitchFamily="34" charset="0"/>
              <a:buNone/>
              <a:defRPr/>
            </a:pPr>
            <a:r>
              <a:rPr lang="zh-CN" altLang="en-US" sz="4400" dirty="0"/>
              <a:t>  #</a:t>
            </a:r>
            <a:r>
              <a:rPr lang="zh-CN" altLang="en-US" sz="5400" dirty="0">
                <a:solidFill>
                  <a:srgbClr val="FF0000"/>
                </a:solidFill>
              </a:rPr>
              <a:t>mkfs -t ntfs /dev/hd10</a:t>
            </a:r>
            <a:endParaRPr lang="en-US" altLang="zh-CN" sz="5400"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954EBF96-C155-A727-ADD2-44C1EA95E549}"/>
              </a:ext>
            </a:extLst>
          </p:cNvPr>
          <p:cNvSpPr>
            <a:spLocks noGrp="1" noChangeArrowheads="1"/>
          </p:cNvSpPr>
          <p:nvPr>
            <p:ph type="title"/>
          </p:nvPr>
        </p:nvSpPr>
        <p:spPr/>
        <p:txBody>
          <a:bodyPr/>
          <a:lstStyle/>
          <a:p>
            <a:pPr eaLnBrk="1" hangingPunct="1"/>
            <a:r>
              <a:rPr lang="zh-CN" altLang="en-US"/>
              <a:t>5.3.4  文件系统的使用</a:t>
            </a:r>
          </a:p>
        </p:txBody>
      </p:sp>
      <p:sp>
        <p:nvSpPr>
          <p:cNvPr id="47107" name="内容占位符 2">
            <a:extLst>
              <a:ext uri="{FF2B5EF4-FFF2-40B4-BE49-F238E27FC236}">
                <a16:creationId xmlns:a16="http://schemas.microsoft.com/office/drawing/2014/main" id="{CC112BA1-3312-BB04-B24E-E48FE11A7EA8}"/>
              </a:ext>
            </a:extLst>
          </p:cNvPr>
          <p:cNvSpPr>
            <a:spLocks noGrp="1" noChangeArrowheads="1"/>
          </p:cNvSpPr>
          <p:nvPr>
            <p:ph idx="1"/>
          </p:nvPr>
        </p:nvSpPr>
        <p:spPr>
          <a:xfrm>
            <a:off x="0" y="620713"/>
            <a:ext cx="9144000" cy="5761037"/>
          </a:xfrm>
        </p:spPr>
        <p:txBody>
          <a:bodyPr/>
          <a:lstStyle/>
          <a:p>
            <a:pPr eaLnBrk="1" hangingPunct="1">
              <a:spcBef>
                <a:spcPct val="0"/>
              </a:spcBef>
              <a:spcAft>
                <a:spcPct val="0"/>
              </a:spcAft>
            </a:pPr>
            <a:r>
              <a:rPr lang="zh-CN" altLang="en-US" sz="3600"/>
              <a:t>欲使用已经存在的文件系统，</a:t>
            </a:r>
            <a:r>
              <a:rPr lang="zh-CN" altLang="en-US" sz="3600">
                <a:solidFill>
                  <a:srgbClr val="FF0000"/>
                </a:solidFill>
              </a:rPr>
              <a:t>必须首先</a:t>
            </a:r>
            <a:r>
              <a:rPr lang="zh-CN" altLang="en-US" sz="3600"/>
              <a:t>使用</a:t>
            </a:r>
            <a:r>
              <a:rPr lang="zh-CN" altLang="en-US" sz="3600">
                <a:solidFill>
                  <a:srgbClr val="FF0000"/>
                </a:solidFill>
              </a:rPr>
              <a:t>安装</a:t>
            </a:r>
            <a:r>
              <a:rPr lang="zh-CN" altLang="en-US" sz="3600"/>
              <a:t>命令</a:t>
            </a:r>
            <a:r>
              <a:rPr lang="zh-CN" altLang="en-US" sz="3600">
                <a:solidFill>
                  <a:srgbClr val="FF0000"/>
                </a:solidFill>
              </a:rPr>
              <a:t>mount</a:t>
            </a:r>
            <a:r>
              <a:rPr lang="zh-CN" altLang="en-US" sz="3600"/>
              <a:t>进行安装，然后才能使用，使用完毕后要</a:t>
            </a:r>
            <a:r>
              <a:rPr lang="zh-CN" altLang="en-US" sz="3600">
                <a:solidFill>
                  <a:srgbClr val="FF0000"/>
                </a:solidFill>
              </a:rPr>
              <a:t>用拆卸命令umount</a:t>
            </a:r>
            <a:r>
              <a:rPr lang="zh-CN" altLang="en-US" sz="3600"/>
              <a:t>进行</a:t>
            </a:r>
            <a:r>
              <a:rPr lang="zh-CN" altLang="en-US" sz="3600">
                <a:solidFill>
                  <a:srgbClr val="FF0000"/>
                </a:solidFill>
              </a:rPr>
              <a:t>拆卸</a:t>
            </a:r>
            <a:r>
              <a:rPr lang="zh-CN" altLang="en-US" sz="3600"/>
              <a:t>。</a:t>
            </a:r>
            <a:endParaRPr lang="en-US" altLang="zh-CN" sz="3600"/>
          </a:p>
          <a:p>
            <a:pPr eaLnBrk="1" hangingPunct="1">
              <a:spcBef>
                <a:spcPct val="0"/>
              </a:spcBef>
              <a:spcAft>
                <a:spcPct val="0"/>
              </a:spcAft>
            </a:pPr>
            <a:r>
              <a:rPr lang="zh-CN" altLang="zh-CN" sz="3600"/>
              <a:t>必须按“</a:t>
            </a:r>
            <a:r>
              <a:rPr lang="zh-CN" altLang="zh-CN" sz="3600">
                <a:solidFill>
                  <a:srgbClr val="FF0000"/>
                </a:solidFill>
              </a:rPr>
              <a:t>安装</a:t>
            </a:r>
            <a:r>
              <a:rPr lang="en-US" altLang="zh-CN" sz="3600">
                <a:solidFill>
                  <a:srgbClr val="FF0000"/>
                </a:solidFill>
              </a:rPr>
              <a:t>→</a:t>
            </a:r>
            <a:r>
              <a:rPr lang="zh-CN" altLang="zh-CN" sz="3600">
                <a:solidFill>
                  <a:srgbClr val="FF0000"/>
                </a:solidFill>
              </a:rPr>
              <a:t>使用</a:t>
            </a:r>
            <a:r>
              <a:rPr lang="en-US" altLang="zh-CN" sz="3600">
                <a:solidFill>
                  <a:srgbClr val="FF0000"/>
                </a:solidFill>
              </a:rPr>
              <a:t>→</a:t>
            </a:r>
            <a:r>
              <a:rPr lang="zh-CN" altLang="zh-CN" sz="3600">
                <a:solidFill>
                  <a:srgbClr val="FF0000"/>
                </a:solidFill>
              </a:rPr>
              <a:t>拆卸</a:t>
            </a:r>
            <a:r>
              <a:rPr lang="zh-CN" altLang="zh-CN" sz="3600"/>
              <a:t>”顺序来进行操作。</a:t>
            </a:r>
            <a:endParaRPr lang="en-US" altLang="zh-CN" sz="3600"/>
          </a:p>
          <a:p>
            <a:pPr eaLnBrk="1" hangingPunct="1">
              <a:spcBef>
                <a:spcPct val="0"/>
              </a:spcBef>
              <a:spcAft>
                <a:spcPct val="0"/>
              </a:spcAft>
            </a:pPr>
            <a:r>
              <a:rPr lang="zh-CN" altLang="zh-CN" sz="3600"/>
              <a:t>如果不按规定操作而中途</a:t>
            </a:r>
            <a:r>
              <a:rPr lang="zh-CN" altLang="zh-CN" sz="3600">
                <a:solidFill>
                  <a:srgbClr val="FF0000"/>
                </a:solidFill>
              </a:rPr>
              <a:t>把介质强行取出</a:t>
            </a:r>
            <a:r>
              <a:rPr lang="zh-CN" altLang="zh-CN" sz="3600"/>
              <a:t>，则可能</a:t>
            </a:r>
            <a:r>
              <a:rPr lang="zh-CN" altLang="zh-CN" sz="3600">
                <a:solidFill>
                  <a:srgbClr val="FF0000"/>
                </a:solidFill>
              </a:rPr>
              <a:t>造成存储介质上文件系统的损坏</a:t>
            </a:r>
            <a:r>
              <a:rPr lang="zh-CN" altLang="zh-CN" sz="3600"/>
              <a:t>、</a:t>
            </a:r>
            <a:r>
              <a:rPr lang="zh-CN" altLang="zh-CN" sz="3600">
                <a:solidFill>
                  <a:srgbClr val="FF0000"/>
                </a:solidFill>
              </a:rPr>
              <a:t>数据不完整或丢失</a:t>
            </a:r>
            <a:r>
              <a:rPr lang="zh-CN" altLang="zh-CN" sz="3600"/>
              <a:t>。</a:t>
            </a:r>
            <a:endParaRPr lang="en-US" altLang="zh-CN" sz="3600"/>
          </a:p>
          <a:p>
            <a:pPr eaLnBrk="1" hangingPunct="1">
              <a:spcBef>
                <a:spcPct val="0"/>
              </a:spcBef>
              <a:spcAft>
                <a:spcPct val="0"/>
              </a:spcAft>
            </a:pPr>
            <a:r>
              <a:rPr lang="zh-CN" altLang="en-US" sz="3600">
                <a:solidFill>
                  <a:srgbClr val="FF0000"/>
                </a:solidFill>
              </a:rPr>
              <a:t>受损的文件系统</a:t>
            </a:r>
            <a:r>
              <a:rPr lang="zh-CN" altLang="en-US" sz="3600"/>
              <a:t>必须经过（</a:t>
            </a:r>
            <a:r>
              <a:rPr lang="zh-CN" altLang="en-US" sz="3600">
                <a:solidFill>
                  <a:srgbClr val="FF0000"/>
                </a:solidFill>
              </a:rPr>
              <a:t>使用fsck</a:t>
            </a:r>
            <a:r>
              <a:rPr lang="zh-CN" altLang="en-US" sz="3600"/>
              <a:t>）</a:t>
            </a:r>
            <a:r>
              <a:rPr lang="zh-CN" altLang="en-US" sz="3600">
                <a:solidFill>
                  <a:srgbClr val="FF0000"/>
                </a:solidFill>
              </a:rPr>
              <a:t>清理或修复</a:t>
            </a:r>
            <a:r>
              <a:rPr lang="zh-CN" altLang="en-US" sz="3600"/>
              <a:t>后才能</a:t>
            </a:r>
            <a:r>
              <a:rPr lang="zh-CN" altLang="en-US" sz="3600">
                <a:solidFill>
                  <a:srgbClr val="FF0000"/>
                </a:solidFill>
              </a:rPr>
              <a:t>再继续使用</a:t>
            </a:r>
            <a:r>
              <a:rPr lang="zh-CN" altLang="en-US" sz="3600"/>
              <a:t>。</a:t>
            </a:r>
            <a:endParaRPr lang="en-US" altLang="zh-CN" sz="36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6C996457-CD43-8E45-D2C4-D599BECFA486}"/>
              </a:ext>
            </a:extLst>
          </p:cNvPr>
          <p:cNvSpPr>
            <a:spLocks noGrp="1" noChangeArrowheads="1"/>
          </p:cNvSpPr>
          <p:nvPr>
            <p:ph type="title"/>
          </p:nvPr>
        </p:nvSpPr>
        <p:spPr/>
        <p:txBody>
          <a:bodyPr/>
          <a:lstStyle/>
          <a:p>
            <a:pPr eaLnBrk="1" hangingPunct="1"/>
            <a:r>
              <a:rPr lang="zh-CN" altLang="en-US"/>
              <a:t>安装点及使用</a:t>
            </a:r>
          </a:p>
        </p:txBody>
      </p:sp>
      <p:sp>
        <p:nvSpPr>
          <p:cNvPr id="48131" name="内容占位符 2">
            <a:extLst>
              <a:ext uri="{FF2B5EF4-FFF2-40B4-BE49-F238E27FC236}">
                <a16:creationId xmlns:a16="http://schemas.microsoft.com/office/drawing/2014/main" id="{4FE7135D-4160-BFC4-9540-E89FD3B1F3B2}"/>
              </a:ext>
            </a:extLst>
          </p:cNvPr>
          <p:cNvSpPr>
            <a:spLocks noGrp="1" noChangeArrowheads="1"/>
          </p:cNvSpPr>
          <p:nvPr>
            <p:ph idx="1"/>
          </p:nvPr>
        </p:nvSpPr>
        <p:spPr>
          <a:xfrm>
            <a:off x="0" y="476250"/>
            <a:ext cx="9251950" cy="5905500"/>
          </a:xfrm>
        </p:spPr>
        <p:txBody>
          <a:bodyPr/>
          <a:lstStyle/>
          <a:p>
            <a:pPr eaLnBrk="1" hangingPunct="1">
              <a:spcBef>
                <a:spcPct val="0"/>
              </a:spcBef>
              <a:spcAft>
                <a:spcPct val="0"/>
              </a:spcAft>
            </a:pPr>
            <a:r>
              <a:rPr lang="zh-CN" altLang="en-US" sz="3200"/>
              <a:t>在UNIX/Linux系统中，所有可以访问的文件或文件系统都必须在文件系统的目录树上的某个目录上。这个用于</a:t>
            </a:r>
            <a:r>
              <a:rPr lang="zh-CN" altLang="en-US" sz="3200">
                <a:solidFill>
                  <a:srgbClr val="FF0000"/>
                </a:solidFill>
              </a:rPr>
              <a:t>安装的位置（目录</a:t>
            </a:r>
            <a:r>
              <a:rPr lang="zh-CN" altLang="en-US" sz="3200"/>
              <a:t>）被称为</a:t>
            </a:r>
            <a:r>
              <a:rPr lang="zh-CN" altLang="en-US" sz="3200">
                <a:solidFill>
                  <a:srgbClr val="FF0000"/>
                </a:solidFill>
              </a:rPr>
              <a:t>“安装点”</a:t>
            </a:r>
            <a:r>
              <a:rPr lang="zh-CN" altLang="en-US" sz="3200"/>
              <a:t>。</a:t>
            </a:r>
          </a:p>
          <a:p>
            <a:pPr eaLnBrk="1" hangingPunct="1">
              <a:spcBef>
                <a:spcPct val="0"/>
              </a:spcBef>
              <a:spcAft>
                <a:spcPct val="0"/>
              </a:spcAft>
            </a:pPr>
            <a:r>
              <a:rPr lang="en-US" altLang="zh-CN" sz="3200"/>
              <a:t>UNIX/Linux</a:t>
            </a:r>
            <a:r>
              <a:rPr lang="zh-CN" altLang="zh-CN" sz="3200"/>
              <a:t>系统提供了一个可以被广泛使用的</a:t>
            </a:r>
            <a:r>
              <a:rPr lang="zh-CN" altLang="en-US" sz="3200">
                <a:solidFill>
                  <a:srgbClr val="FF0000"/>
                </a:solidFill>
              </a:rPr>
              <a:t>传统</a:t>
            </a:r>
            <a:r>
              <a:rPr lang="zh-CN" altLang="zh-CN" sz="3200">
                <a:solidFill>
                  <a:srgbClr val="FF0000"/>
                </a:solidFill>
              </a:rPr>
              <a:t>安装点</a:t>
            </a:r>
            <a:r>
              <a:rPr lang="en-US" altLang="zh-CN" sz="3200">
                <a:solidFill>
                  <a:srgbClr val="FF0000"/>
                </a:solidFill>
              </a:rPr>
              <a:t>/mnt</a:t>
            </a:r>
            <a:r>
              <a:rPr lang="zh-CN" altLang="zh-CN" sz="3200"/>
              <a:t>。在系统中，图形界面自动安装时所使用的安装点为</a:t>
            </a:r>
            <a:r>
              <a:rPr lang="en-US" altLang="zh-CN" sz="3200"/>
              <a:t>/media/</a:t>
            </a:r>
            <a:r>
              <a:rPr lang="zh-CN" altLang="zh-CN" sz="3200"/>
              <a:t>或</a:t>
            </a:r>
            <a:r>
              <a:rPr lang="en-US" altLang="zh-CN" sz="3200"/>
              <a:t>/var/run/</a:t>
            </a:r>
            <a:r>
              <a:rPr lang="zh-CN" altLang="en-US" sz="3200"/>
              <a:t>等</a:t>
            </a:r>
            <a:r>
              <a:rPr lang="zh-CN" altLang="zh-CN" sz="3200"/>
              <a:t>目录。</a:t>
            </a:r>
            <a:endParaRPr lang="zh-CN" altLang="en-US" sz="3200"/>
          </a:p>
          <a:p>
            <a:pPr eaLnBrk="1" hangingPunct="1">
              <a:spcBef>
                <a:spcPct val="0"/>
              </a:spcBef>
              <a:spcAft>
                <a:spcPct val="0"/>
              </a:spcAft>
            </a:pPr>
            <a:r>
              <a:rPr lang="zh-CN" altLang="en-US" sz="3200">
                <a:solidFill>
                  <a:srgbClr val="FF0000"/>
                </a:solidFill>
              </a:rPr>
              <a:t>早期要求安装点必须是空目录</a:t>
            </a:r>
            <a:r>
              <a:rPr lang="zh-CN" altLang="en-US" sz="3200"/>
              <a:t>，现在的</a:t>
            </a:r>
            <a:r>
              <a:rPr lang="zh-CN" altLang="en-US" sz="3200">
                <a:solidFill>
                  <a:srgbClr val="FF0000"/>
                </a:solidFill>
              </a:rPr>
              <a:t>系统中可以是非空目录</a:t>
            </a:r>
            <a:r>
              <a:rPr lang="zh-CN" altLang="en-US" sz="3200"/>
              <a:t>。</a:t>
            </a:r>
            <a:r>
              <a:rPr lang="zh-CN" altLang="zh-CN" sz="3200"/>
              <a:t>但</a:t>
            </a:r>
            <a:r>
              <a:rPr lang="zh-CN" altLang="zh-CN" sz="3200">
                <a:solidFill>
                  <a:srgbClr val="FF0000"/>
                </a:solidFill>
              </a:rPr>
              <a:t>有一个限制</a:t>
            </a:r>
            <a:r>
              <a:rPr lang="zh-CN" altLang="zh-CN" sz="3200"/>
              <a:t>，当在某一个非空目录上安装外来文件系统后，</a:t>
            </a:r>
            <a:r>
              <a:rPr lang="zh-CN" altLang="zh-CN" sz="3200">
                <a:solidFill>
                  <a:srgbClr val="FF0000"/>
                </a:solidFill>
              </a:rPr>
              <a:t>该目录中原来的内容将暂时无法“看到”了</a:t>
            </a:r>
            <a:r>
              <a:rPr lang="zh-CN" altLang="zh-CN" sz="3200"/>
              <a:t>，直到安装的部分被拆卸掉。</a:t>
            </a:r>
            <a:endParaRPr lang="en-US" altLang="zh-CN" sz="32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2CDFFDD4-7A93-42D0-3A57-4496B9405848}"/>
              </a:ext>
            </a:extLst>
          </p:cNvPr>
          <p:cNvSpPr>
            <a:spLocks noGrp="1" noChangeArrowheads="1"/>
          </p:cNvSpPr>
          <p:nvPr>
            <p:ph type="title"/>
          </p:nvPr>
        </p:nvSpPr>
        <p:spPr/>
        <p:txBody>
          <a:bodyPr/>
          <a:lstStyle/>
          <a:p>
            <a:pPr eaLnBrk="1" hangingPunct="1"/>
            <a:r>
              <a:rPr lang="zh-CN" altLang="en-US"/>
              <a:t>1．文件系统安装（mount）</a:t>
            </a:r>
          </a:p>
        </p:txBody>
      </p:sp>
      <p:sp>
        <p:nvSpPr>
          <p:cNvPr id="63491" name="内容占位符 2">
            <a:extLst>
              <a:ext uri="{FF2B5EF4-FFF2-40B4-BE49-F238E27FC236}">
                <a16:creationId xmlns:a16="http://schemas.microsoft.com/office/drawing/2014/main" id="{1F6D651F-E796-6F44-CD70-B243CDEA4A1D}"/>
              </a:ext>
            </a:extLst>
          </p:cNvPr>
          <p:cNvSpPr>
            <a:spLocks noGrp="1" noChangeArrowheads="1"/>
          </p:cNvSpPr>
          <p:nvPr>
            <p:ph idx="1"/>
          </p:nvPr>
        </p:nvSpPr>
        <p:spPr>
          <a:xfrm>
            <a:off x="34925" y="620713"/>
            <a:ext cx="9074150" cy="5761037"/>
          </a:xfrm>
        </p:spPr>
        <p:txBody>
          <a:bodyPr/>
          <a:lstStyle/>
          <a:p>
            <a:pPr eaLnBrk="1" hangingPunct="1">
              <a:spcBef>
                <a:spcPct val="0"/>
              </a:spcBef>
              <a:spcAft>
                <a:spcPct val="0"/>
              </a:spcAft>
              <a:defRPr/>
            </a:pPr>
            <a:r>
              <a:rPr lang="zh-CN" altLang="en-US" sz="3200" dirty="0"/>
              <a:t>1）功能及用法</a:t>
            </a:r>
          </a:p>
          <a:p>
            <a:pPr marL="0" indent="0" eaLnBrk="1" hangingPunct="1">
              <a:spcBef>
                <a:spcPct val="0"/>
              </a:spcBef>
              <a:spcAft>
                <a:spcPct val="0"/>
              </a:spcAft>
              <a:buFont typeface="Arial" panose="020B0604020202020204" pitchFamily="34" charset="0"/>
              <a:buNone/>
              <a:defRPr/>
            </a:pPr>
            <a:r>
              <a:rPr lang="zh-CN" altLang="en-US" sz="3200" dirty="0">
                <a:solidFill>
                  <a:srgbClr val="FF0000"/>
                </a:solidFill>
              </a:rPr>
              <a:t>mount命令的功能是安装文件系统</a:t>
            </a:r>
            <a:r>
              <a:rPr lang="zh-CN" altLang="en-US" sz="3200" dirty="0"/>
              <a:t>。用法为：</a:t>
            </a:r>
          </a:p>
          <a:p>
            <a:pPr eaLnBrk="1" hangingPunct="1">
              <a:spcBef>
                <a:spcPct val="0"/>
              </a:spcBef>
              <a:spcAft>
                <a:spcPct val="0"/>
              </a:spcAft>
              <a:defRPr/>
            </a:pPr>
            <a:r>
              <a:rPr lang="zh-CN" altLang="en-US" sz="4000" dirty="0"/>
              <a:t>mount [-lhv]</a:t>
            </a:r>
          </a:p>
          <a:p>
            <a:pPr eaLnBrk="1" hangingPunct="1">
              <a:spcBef>
                <a:spcPct val="0"/>
              </a:spcBef>
              <a:spcAft>
                <a:spcPct val="0"/>
              </a:spcAft>
              <a:defRPr/>
            </a:pPr>
            <a:r>
              <a:rPr lang="zh-CN" altLang="en-US" sz="4000" dirty="0"/>
              <a:t>mount -a [-fFnrsvw] [-t fstyp] [-O optlist]</a:t>
            </a:r>
          </a:p>
          <a:p>
            <a:pPr eaLnBrk="1" hangingPunct="1">
              <a:spcBef>
                <a:spcPct val="0"/>
              </a:spcBef>
              <a:spcAft>
                <a:spcPct val="0"/>
              </a:spcAft>
              <a:defRPr/>
            </a:pPr>
            <a:r>
              <a:rPr lang="zh-CN" altLang="en-US" sz="4000" dirty="0"/>
              <a:t>mount [-fnrsvw] [-o opts [, …]] dev | dir</a:t>
            </a:r>
          </a:p>
          <a:p>
            <a:pPr eaLnBrk="1" hangingPunct="1">
              <a:spcBef>
                <a:spcPct val="0"/>
              </a:spcBef>
              <a:spcAft>
                <a:spcPct val="0"/>
              </a:spcAft>
              <a:defRPr/>
            </a:pPr>
            <a:r>
              <a:rPr lang="zh-CN" altLang="en-US" sz="4000" dirty="0"/>
              <a:t>mount [-fFnrsvw] [-t fstyp] [-o opts] dev dir</a:t>
            </a:r>
          </a:p>
          <a:p>
            <a:pPr eaLnBrk="1" hangingPunct="1">
              <a:spcBef>
                <a:spcPct val="0"/>
              </a:spcBef>
              <a:spcAft>
                <a:spcPct val="0"/>
              </a:spcAft>
              <a:defRPr/>
            </a:pPr>
            <a:r>
              <a:rPr lang="zh-CN" altLang="en-US" sz="3200" dirty="0"/>
              <a:t>这里的dev为设备或文件系统，dir为安装点。</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8536F782-75DF-EDE0-EA66-F8867D6ED321}"/>
              </a:ext>
            </a:extLst>
          </p:cNvPr>
          <p:cNvSpPr>
            <a:spLocks noGrp="1" noChangeArrowheads="1"/>
          </p:cNvSpPr>
          <p:nvPr>
            <p:ph type="title"/>
          </p:nvPr>
        </p:nvSpPr>
        <p:spPr/>
        <p:txBody>
          <a:bodyPr/>
          <a:lstStyle/>
          <a:p>
            <a:pPr eaLnBrk="1" hangingPunct="1"/>
            <a:r>
              <a:rPr lang="zh-CN" altLang="en-US"/>
              <a:t>1．文件系统安装（mount）</a:t>
            </a:r>
          </a:p>
        </p:txBody>
      </p:sp>
      <p:sp>
        <p:nvSpPr>
          <p:cNvPr id="50179" name="内容占位符 2">
            <a:extLst>
              <a:ext uri="{FF2B5EF4-FFF2-40B4-BE49-F238E27FC236}">
                <a16:creationId xmlns:a16="http://schemas.microsoft.com/office/drawing/2014/main" id="{CB8540E0-9BEE-F996-92FB-060EB0EE0631}"/>
              </a:ext>
            </a:extLst>
          </p:cNvPr>
          <p:cNvSpPr>
            <a:spLocks noGrp="1" noChangeArrowheads="1"/>
          </p:cNvSpPr>
          <p:nvPr>
            <p:ph idx="1"/>
          </p:nvPr>
        </p:nvSpPr>
        <p:spPr>
          <a:xfrm>
            <a:off x="34925" y="549275"/>
            <a:ext cx="9109075" cy="5761038"/>
          </a:xfrm>
        </p:spPr>
        <p:txBody>
          <a:bodyPr/>
          <a:lstStyle/>
          <a:p>
            <a:pPr eaLnBrk="1" hangingPunct="1">
              <a:spcBef>
                <a:spcPct val="0"/>
              </a:spcBef>
              <a:spcAft>
                <a:spcPct val="0"/>
              </a:spcAft>
            </a:pPr>
            <a:r>
              <a:rPr lang="zh-CN" altLang="en-US" sz="3200">
                <a:solidFill>
                  <a:srgbClr val="FF0000"/>
                </a:solidFill>
              </a:rPr>
              <a:t>方式1</a:t>
            </a:r>
            <a:r>
              <a:rPr lang="zh-CN" altLang="en-US" sz="3200"/>
              <a:t>用于</a:t>
            </a:r>
            <a:r>
              <a:rPr lang="zh-CN" altLang="en-US" sz="3200">
                <a:solidFill>
                  <a:srgbClr val="FF0000"/>
                </a:solidFill>
              </a:rPr>
              <a:t>显示</a:t>
            </a:r>
            <a:r>
              <a:rPr lang="zh-CN" altLang="en-US" sz="3200"/>
              <a:t>系统中已经安装的所有文件系统；</a:t>
            </a:r>
          </a:p>
          <a:p>
            <a:pPr eaLnBrk="1" hangingPunct="1">
              <a:spcBef>
                <a:spcPct val="0"/>
              </a:spcBef>
              <a:spcAft>
                <a:spcPct val="0"/>
              </a:spcAft>
            </a:pPr>
            <a:r>
              <a:rPr lang="zh-CN" altLang="en-US" sz="3200">
                <a:solidFill>
                  <a:srgbClr val="FF0000"/>
                </a:solidFill>
              </a:rPr>
              <a:t>方式2</a:t>
            </a:r>
            <a:r>
              <a:rPr lang="zh-CN" altLang="en-US" sz="3200"/>
              <a:t>用于</a:t>
            </a:r>
            <a:r>
              <a:rPr lang="zh-CN" altLang="en-US" sz="3200">
                <a:solidFill>
                  <a:srgbClr val="FF0000"/>
                </a:solidFill>
              </a:rPr>
              <a:t>根据/etc/fstab自动安装</a:t>
            </a:r>
            <a:r>
              <a:rPr lang="zh-CN" altLang="en-US" sz="3200"/>
              <a:t>；</a:t>
            </a:r>
          </a:p>
          <a:p>
            <a:pPr eaLnBrk="1" hangingPunct="1">
              <a:spcBef>
                <a:spcPct val="0"/>
              </a:spcBef>
              <a:spcAft>
                <a:spcPct val="0"/>
              </a:spcAft>
            </a:pPr>
            <a:r>
              <a:rPr lang="zh-CN" altLang="en-US" sz="3200">
                <a:solidFill>
                  <a:srgbClr val="FF0000"/>
                </a:solidFill>
              </a:rPr>
              <a:t>方式3用</a:t>
            </a:r>
            <a:r>
              <a:rPr lang="zh-CN" altLang="en-US" sz="3200"/>
              <a:t>于</a:t>
            </a:r>
            <a:r>
              <a:rPr lang="zh-CN" altLang="en-US" sz="3200">
                <a:solidFill>
                  <a:srgbClr val="FF0000"/>
                </a:solidFill>
              </a:rPr>
              <a:t>根据/etc/fstab的设定</a:t>
            </a:r>
            <a:r>
              <a:rPr lang="zh-CN" altLang="en-US" sz="3200"/>
              <a:t>，将指定设备dev安装到指定位置dir，设备或位置只选其一；</a:t>
            </a:r>
          </a:p>
          <a:p>
            <a:pPr eaLnBrk="1" hangingPunct="1">
              <a:spcBef>
                <a:spcPct val="0"/>
              </a:spcBef>
              <a:spcAft>
                <a:spcPct val="0"/>
              </a:spcAft>
            </a:pPr>
            <a:r>
              <a:rPr lang="zh-CN" altLang="en-US" sz="3200">
                <a:solidFill>
                  <a:srgbClr val="FF0000"/>
                </a:solidFill>
              </a:rPr>
              <a:t>与mount命令相关的文件</a:t>
            </a:r>
            <a:r>
              <a:rPr lang="zh-CN" altLang="en-US" sz="3200"/>
              <a:t>有</a:t>
            </a:r>
            <a:r>
              <a:rPr lang="zh-CN" altLang="en-US" sz="3200">
                <a:solidFill>
                  <a:srgbClr val="FF0000"/>
                </a:solidFill>
              </a:rPr>
              <a:t>/etc/mtab、/proc/mounts、/proc/PID/mounts、/etc/fstab。</a:t>
            </a:r>
          </a:p>
          <a:p>
            <a:pPr eaLnBrk="1" hangingPunct="1">
              <a:spcBef>
                <a:spcPct val="0"/>
              </a:spcBef>
              <a:spcAft>
                <a:spcPct val="0"/>
              </a:spcAft>
            </a:pPr>
            <a:r>
              <a:rPr lang="zh-CN" altLang="en-US" sz="3200">
                <a:solidFill>
                  <a:srgbClr val="FF0000"/>
                </a:solidFill>
              </a:rPr>
              <a:t>/etc/mtab与/proc/mounts</a:t>
            </a:r>
            <a:r>
              <a:rPr lang="zh-CN" altLang="en-US" sz="3200"/>
              <a:t>的</a:t>
            </a:r>
            <a:r>
              <a:rPr lang="zh-CN" altLang="en-US" sz="3200">
                <a:solidFill>
                  <a:srgbClr val="FF0000"/>
                </a:solidFill>
              </a:rPr>
              <a:t>内容</a:t>
            </a:r>
            <a:r>
              <a:rPr lang="zh-CN" altLang="en-US" sz="3200"/>
              <a:t>是系统现行安装的文件系统表。</a:t>
            </a:r>
            <a:r>
              <a:rPr lang="zh-CN" altLang="en-US" sz="3200">
                <a:solidFill>
                  <a:srgbClr val="FF0000"/>
                </a:solidFill>
              </a:rPr>
              <a:t>/etc/fstab</a:t>
            </a:r>
            <a:r>
              <a:rPr lang="zh-CN" altLang="en-US" sz="3200"/>
              <a:t>是UNIX/Linux系统实现</a:t>
            </a:r>
            <a:r>
              <a:rPr lang="zh-CN" altLang="en-US" sz="3200">
                <a:solidFill>
                  <a:srgbClr val="FF0000"/>
                </a:solidFill>
              </a:rPr>
              <a:t>文件系统自动挂载的配置文件</a:t>
            </a:r>
            <a:r>
              <a:rPr lang="zh-CN" altLang="en-US" sz="320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DD60BE3B-5680-CC4F-1269-31472D67FCC0}"/>
              </a:ext>
            </a:extLst>
          </p:cNvPr>
          <p:cNvSpPr>
            <a:spLocks noGrp="1" noChangeArrowheads="1"/>
          </p:cNvSpPr>
          <p:nvPr>
            <p:ph type="title"/>
          </p:nvPr>
        </p:nvSpPr>
        <p:spPr/>
        <p:txBody>
          <a:bodyPr/>
          <a:lstStyle/>
          <a:p>
            <a:pPr eaLnBrk="1" hangingPunct="1"/>
            <a:r>
              <a:rPr lang="zh-CN" altLang="en-US"/>
              <a:t>2）参数说明</a:t>
            </a:r>
          </a:p>
        </p:txBody>
      </p:sp>
      <p:graphicFrame>
        <p:nvGraphicFramePr>
          <p:cNvPr id="2" name="表格 -1">
            <a:extLst>
              <a:ext uri="{FF2B5EF4-FFF2-40B4-BE49-F238E27FC236}">
                <a16:creationId xmlns:a16="http://schemas.microsoft.com/office/drawing/2014/main" id="{AE828D5D-914F-6993-F566-66C0EE7D380C}"/>
              </a:ext>
            </a:extLst>
          </p:cNvPr>
          <p:cNvGraphicFramePr>
            <a:graphicFrameLocks noGrp="1"/>
          </p:cNvGraphicFramePr>
          <p:nvPr/>
        </p:nvGraphicFramePr>
        <p:xfrm>
          <a:off x="53975" y="620713"/>
          <a:ext cx="9036050" cy="5759450"/>
        </p:xfrm>
        <a:graphic>
          <a:graphicData uri="http://schemas.openxmlformats.org/drawingml/2006/table">
            <a:tbl>
              <a:tblPr/>
              <a:tblGrid>
                <a:gridCol w="1584098">
                  <a:extLst>
                    <a:ext uri="{9D8B030D-6E8A-4147-A177-3AD203B41FA5}">
                      <a16:colId xmlns:a16="http://schemas.microsoft.com/office/drawing/2014/main" val="20000"/>
                    </a:ext>
                  </a:extLst>
                </a:gridCol>
                <a:gridCol w="7451952">
                  <a:extLst>
                    <a:ext uri="{9D8B030D-6E8A-4147-A177-3AD203B41FA5}">
                      <a16:colId xmlns:a16="http://schemas.microsoft.com/office/drawing/2014/main" val="20001"/>
                    </a:ext>
                  </a:extLst>
                </a:gridCol>
              </a:tblGrid>
              <a:tr h="10972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3600" b="1" i="0" u="none" strike="noStrike" cap="none" normalizeH="0" baseline="0" dirty="0">
                          <a:ln>
                            <a:noFill/>
                          </a:ln>
                          <a:solidFill>
                            <a:schemeClr val="tx1"/>
                          </a:solidFill>
                          <a:effectLst/>
                          <a:latin typeface="宋体" pitchFamily="2" charset="-122"/>
                          <a:ea typeface="宋体" pitchFamily="2" charset="-122"/>
                        </a:rPr>
                        <a:t>    </a:t>
                      </a: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功</a:t>
                      </a:r>
                      <a:r>
                        <a:rPr kumimoji="0" lang="zh-CN" altLang="en-US" sz="3600" b="1" i="0" u="none" strike="noStrike" cap="none" normalizeH="0" baseline="0" dirty="0">
                          <a:ln>
                            <a:noFill/>
                          </a:ln>
                          <a:solidFill>
                            <a:schemeClr val="tx1"/>
                          </a:solidFill>
                          <a:effectLst/>
                          <a:latin typeface="宋体" pitchFamily="2" charset="-122"/>
                          <a:ea typeface="宋体" pitchFamily="2" charset="-122"/>
                        </a:rPr>
                        <a:t>    </a:t>
                      </a: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60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安装所有由</a:t>
                      </a:r>
                      <a:r>
                        <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/etc/fstab</a:t>
                      </a:r>
                      <a:r>
                        <a:rPr kumimoji="0" lang="zh-CN" altLang="en-US"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管理的文件系统</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 </a:t>
                      </a:r>
                      <a:r>
                        <a:rPr kumimoji="0" lang="en-US" altLang="zh-CN" sz="36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fstyp</a:t>
                      </a:r>
                      <a:endPar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指定文件类型，若不指定则系统将使用</a:t>
                      </a:r>
                      <a:r>
                        <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 auto</a:t>
                      </a:r>
                      <a:r>
                        <a:rPr kumimoji="0" lang="zh-CN" altLang="en-US"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自行测试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60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以只读方式安装</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98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-o</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用于设置安装选项</a:t>
                      </a:r>
                      <a:r>
                        <a:rPr kumimoji="0" lang="zh-CN" altLang="en-US" sz="3600" b="1" i="0" u="none" strike="noStrike" cap="none" normalizeH="0" baseline="0" dirty="0">
                          <a:ln>
                            <a:noFill/>
                          </a:ln>
                          <a:solidFill>
                            <a:schemeClr val="tx1"/>
                          </a:solidFill>
                          <a:effectLst/>
                          <a:latin typeface="宋体" pitchFamily="2" charset="-122"/>
                          <a:ea typeface="宋体" pitchFamily="2" charset="-122"/>
                        </a:rPr>
                        <a:t>（详见表</a:t>
                      </a:r>
                      <a:r>
                        <a:rPr kumimoji="0" lang="en-US" altLang="zh-CN" sz="3600" b="1" i="0" u="none" strike="noStrike" cap="none" normalizeH="0" baseline="0" dirty="0">
                          <a:ln>
                            <a:noFill/>
                          </a:ln>
                          <a:solidFill>
                            <a:schemeClr val="tx1"/>
                          </a:solidFill>
                          <a:effectLst/>
                          <a:latin typeface="宋体" pitchFamily="2" charset="-122"/>
                          <a:ea typeface="宋体" pitchFamily="2" charset="-122"/>
                        </a:rPr>
                        <a:t>5-15</a:t>
                      </a:r>
                      <a:r>
                        <a:rPr kumimoji="0" lang="zh-CN" altLang="en-US" sz="3600" b="1" i="0" u="none" strike="noStrike" cap="none" normalizeH="0" baseline="0" dirty="0">
                          <a:ln>
                            <a:noFill/>
                          </a:ln>
                          <a:solidFill>
                            <a:schemeClr val="tx1"/>
                          </a:solidFill>
                          <a:effectLst/>
                          <a:latin typeface="宋体" pitchFamily="2" charset="-122"/>
                          <a:ea typeface="宋体" pitchFamily="2" charset="-122"/>
                        </a:rPr>
                        <a:t>）</a:t>
                      </a: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。使用</a:t>
                      </a:r>
                      <a:r>
                        <a:rPr kumimoji="0" lang="en-US" altLang="zh-CN" sz="3600" b="1" i="0" u="none" strike="noStrike" cap="none" normalizeH="0" baseline="0" dirty="0">
                          <a:ln>
                            <a:noFill/>
                          </a:ln>
                          <a:solidFill>
                            <a:schemeClr val="tx1"/>
                          </a:solidFill>
                          <a:effectLst/>
                          <a:latin typeface="宋体" pitchFamily="2" charset="-122"/>
                          <a:ea typeface="宋体" pitchFamily="2" charset="-122"/>
                        </a:rPr>
                        <a:t>-o </a:t>
                      </a:r>
                      <a:r>
                        <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loop</a:t>
                      </a:r>
                      <a:r>
                        <a:rPr kumimoji="0" lang="zh-CN" altLang="en-US"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参数可将一个映像文件上的文件系统安装在系统上</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24327347-63F4-05F9-C07B-C5A436487CC8}"/>
              </a:ext>
            </a:extLst>
          </p:cNvPr>
          <p:cNvSpPr>
            <a:spLocks noGrp="1" noChangeArrowheads="1"/>
          </p:cNvSpPr>
          <p:nvPr>
            <p:ph type="title"/>
          </p:nvPr>
        </p:nvSpPr>
        <p:spPr/>
        <p:txBody>
          <a:bodyPr/>
          <a:lstStyle/>
          <a:p>
            <a:pPr eaLnBrk="1" hangingPunct="1"/>
            <a:r>
              <a:rPr lang="zh-CN" altLang="en-US"/>
              <a:t>3）mount命令示例</a:t>
            </a:r>
          </a:p>
        </p:txBody>
      </p:sp>
      <p:sp>
        <p:nvSpPr>
          <p:cNvPr id="52227" name="内容占位符 2">
            <a:extLst>
              <a:ext uri="{FF2B5EF4-FFF2-40B4-BE49-F238E27FC236}">
                <a16:creationId xmlns:a16="http://schemas.microsoft.com/office/drawing/2014/main" id="{EB981FD2-55CE-D4BC-14BE-A8D7B7604396}"/>
              </a:ext>
            </a:extLst>
          </p:cNvPr>
          <p:cNvSpPr>
            <a:spLocks noGrp="1" noChangeArrowheads="1"/>
          </p:cNvSpPr>
          <p:nvPr>
            <p:ph idx="1"/>
          </p:nvPr>
        </p:nvSpPr>
        <p:spPr>
          <a:xfrm>
            <a:off x="0" y="549275"/>
            <a:ext cx="9109075" cy="5903913"/>
          </a:xfrm>
        </p:spPr>
        <p:txBody>
          <a:bodyPr/>
          <a:lstStyle/>
          <a:p>
            <a:pPr eaLnBrk="1" hangingPunct="1">
              <a:spcBef>
                <a:spcPct val="0"/>
              </a:spcBef>
              <a:spcAft>
                <a:spcPct val="0"/>
              </a:spcAft>
            </a:pPr>
            <a:r>
              <a:rPr lang="zh-CN" altLang="en-US" sz="3600"/>
              <a:t>#</a:t>
            </a:r>
            <a:r>
              <a:rPr lang="zh-CN" altLang="en-US" sz="4000">
                <a:solidFill>
                  <a:srgbClr val="FF0000"/>
                </a:solidFill>
              </a:rPr>
              <a:t>mount	</a:t>
            </a:r>
            <a:r>
              <a:rPr lang="zh-CN" altLang="en-US" sz="3600"/>
              <a:t>	#列已安装的设备或文件系统</a:t>
            </a:r>
          </a:p>
          <a:p>
            <a:pPr eaLnBrk="1" hangingPunct="1">
              <a:spcBef>
                <a:spcPct val="0"/>
              </a:spcBef>
              <a:spcAft>
                <a:spcPct val="0"/>
              </a:spcAft>
            </a:pPr>
            <a:r>
              <a:rPr lang="zh-CN" altLang="en-US" sz="3600"/>
              <a:t>#</a:t>
            </a:r>
            <a:r>
              <a:rPr lang="zh-CN" altLang="en-US" sz="3600">
                <a:solidFill>
                  <a:srgbClr val="FF0000"/>
                </a:solidFill>
              </a:rPr>
              <a:t>mount -t vfat /dev/sda1 /mnt/usb</a:t>
            </a:r>
            <a:r>
              <a:rPr lang="zh-CN" altLang="en-US" sz="3600"/>
              <a:t>	#将U盘上vfat格式的系统安装在/mnt/usb上</a:t>
            </a:r>
          </a:p>
          <a:p>
            <a:pPr eaLnBrk="1" hangingPunct="1">
              <a:spcBef>
                <a:spcPct val="0"/>
              </a:spcBef>
              <a:spcAft>
                <a:spcPct val="0"/>
              </a:spcAft>
            </a:pPr>
            <a:r>
              <a:rPr lang="zh-CN" altLang="en-US" sz="3600"/>
              <a:t>#</a:t>
            </a:r>
            <a:r>
              <a:rPr lang="zh-CN" altLang="en-US" sz="3600">
                <a:solidFill>
                  <a:srgbClr val="FF0000"/>
                </a:solidFill>
              </a:rPr>
              <a:t>mount -t vfat /dev/sdc /mnt/fd</a:t>
            </a:r>
            <a:r>
              <a:rPr lang="zh-CN" altLang="en-US" sz="3600"/>
              <a:t>	#将U盘上vfat格式的系统安装在/mnt/fd上</a:t>
            </a:r>
          </a:p>
          <a:p>
            <a:pPr eaLnBrk="1" hangingPunct="1">
              <a:spcBef>
                <a:spcPct val="0"/>
              </a:spcBef>
              <a:spcAft>
                <a:spcPct val="0"/>
              </a:spcAft>
            </a:pPr>
            <a:r>
              <a:rPr lang="zh-CN" altLang="en-US" sz="3600"/>
              <a:t>#</a:t>
            </a:r>
            <a:r>
              <a:rPr lang="zh-CN" altLang="en-US" sz="3600">
                <a:solidFill>
                  <a:srgbClr val="FF0000"/>
                </a:solidFill>
              </a:rPr>
              <a:t>mount -r -t ext2 /dev/fd0 /mnt/fd</a:t>
            </a:r>
            <a:r>
              <a:rPr lang="zh-CN" altLang="en-US" sz="3600"/>
              <a:t>	#将软盘上ext2格式的文件系统以只读方式安装</a:t>
            </a:r>
          </a:p>
          <a:p>
            <a:pPr eaLnBrk="1" hangingPunct="1">
              <a:spcBef>
                <a:spcPct val="0"/>
              </a:spcBef>
              <a:spcAft>
                <a:spcPct val="0"/>
              </a:spcAft>
            </a:pPr>
            <a:r>
              <a:rPr lang="zh-CN" altLang="en-US" sz="3600"/>
              <a:t>#</a:t>
            </a:r>
            <a:r>
              <a:rPr lang="zh-CN" altLang="en-US" sz="3600">
                <a:solidFill>
                  <a:srgbClr val="FF0000"/>
                </a:solidFill>
              </a:rPr>
              <a:t>mount /dev/cdrom /mnt/cdrom</a:t>
            </a:r>
            <a:r>
              <a:rPr lang="zh-CN" altLang="en-US" sz="3600"/>
              <a:t>	#将光盘安装在目录/mnt/crcom上</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FCAE8732-93B3-8F1D-83A5-AD639245CBC2}"/>
              </a:ext>
            </a:extLst>
          </p:cNvPr>
          <p:cNvSpPr>
            <a:spLocks noGrp="1" noChangeArrowheads="1"/>
          </p:cNvSpPr>
          <p:nvPr>
            <p:ph type="title"/>
          </p:nvPr>
        </p:nvSpPr>
        <p:spPr/>
        <p:txBody>
          <a:bodyPr/>
          <a:lstStyle/>
          <a:p>
            <a:pPr eaLnBrk="1" hangingPunct="1"/>
            <a:r>
              <a:rPr lang="zh-CN" altLang="en-US"/>
              <a:t>2．文件系统卸载（umount）</a:t>
            </a:r>
          </a:p>
        </p:txBody>
      </p:sp>
      <p:sp>
        <p:nvSpPr>
          <p:cNvPr id="53251" name="内容占位符 2">
            <a:extLst>
              <a:ext uri="{FF2B5EF4-FFF2-40B4-BE49-F238E27FC236}">
                <a16:creationId xmlns:a16="http://schemas.microsoft.com/office/drawing/2014/main" id="{EE157D7B-5859-0735-AAEE-BBB6E0528A51}"/>
              </a:ext>
            </a:extLst>
          </p:cNvPr>
          <p:cNvSpPr>
            <a:spLocks noGrp="1" noChangeArrowheads="1"/>
          </p:cNvSpPr>
          <p:nvPr>
            <p:ph idx="1"/>
          </p:nvPr>
        </p:nvSpPr>
        <p:spPr>
          <a:xfrm>
            <a:off x="34925" y="620713"/>
            <a:ext cx="9074150" cy="5761037"/>
          </a:xfrm>
        </p:spPr>
        <p:txBody>
          <a:bodyPr/>
          <a:lstStyle/>
          <a:p>
            <a:pPr eaLnBrk="1" hangingPunct="1">
              <a:spcBef>
                <a:spcPct val="0"/>
              </a:spcBef>
              <a:spcAft>
                <a:spcPct val="0"/>
              </a:spcAft>
            </a:pPr>
            <a:r>
              <a:rPr lang="zh-CN" altLang="en-US" sz="4000"/>
              <a:t>功能是</a:t>
            </a:r>
            <a:r>
              <a:rPr lang="zh-CN" altLang="en-US" sz="4000">
                <a:solidFill>
                  <a:srgbClr val="FF0000"/>
                </a:solidFill>
              </a:rPr>
              <a:t>拆卸</a:t>
            </a:r>
            <a:r>
              <a:rPr lang="zh-CN" altLang="en-US" sz="4000"/>
              <a:t>已经安装文件系统。</a:t>
            </a:r>
            <a:endParaRPr lang="en-US" altLang="zh-CN" sz="4000"/>
          </a:p>
          <a:p>
            <a:pPr eaLnBrk="1" hangingPunct="1">
              <a:spcBef>
                <a:spcPct val="0"/>
              </a:spcBef>
              <a:spcAft>
                <a:spcPct val="0"/>
              </a:spcAft>
            </a:pPr>
            <a:r>
              <a:rPr lang="zh-CN" altLang="en-US" sz="4000"/>
              <a:t>若是软盘、U盘和移动硬盘等移动设备，在取走设备前必须拆卸。系统设备也可不拆卸，待关闭系统时由系统自动完成拆卸工作。</a:t>
            </a:r>
          </a:p>
          <a:p>
            <a:pPr eaLnBrk="1" hangingPunct="1">
              <a:spcBef>
                <a:spcPct val="0"/>
              </a:spcBef>
              <a:spcAft>
                <a:spcPct val="0"/>
              </a:spcAft>
            </a:pPr>
            <a:r>
              <a:rPr lang="zh-CN" altLang="en-US" sz="4000">
                <a:solidFill>
                  <a:srgbClr val="FF0000"/>
                </a:solidFill>
              </a:rPr>
              <a:t>umount的简易用法为</a:t>
            </a:r>
            <a:r>
              <a:rPr lang="zh-CN" altLang="en-US" sz="4000"/>
              <a:t>：</a:t>
            </a:r>
          </a:p>
          <a:p>
            <a:pPr eaLnBrk="1" hangingPunct="1">
              <a:spcBef>
                <a:spcPct val="0"/>
              </a:spcBef>
              <a:spcAft>
                <a:spcPct val="0"/>
              </a:spcAft>
            </a:pPr>
            <a:r>
              <a:rPr lang="zh-CN" altLang="en-US" sz="4000"/>
              <a:t>  umount dev_mounted	或</a:t>
            </a:r>
          </a:p>
          <a:p>
            <a:pPr eaLnBrk="1" hangingPunct="1">
              <a:spcBef>
                <a:spcPct val="0"/>
              </a:spcBef>
              <a:spcAft>
                <a:spcPct val="0"/>
              </a:spcAft>
            </a:pPr>
            <a:r>
              <a:rPr lang="zh-CN" altLang="en-US" sz="4000"/>
              <a:t>  umount dir_mounted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0B6AFAB8-D1E6-8CC9-35FC-691FC8550C12}"/>
              </a:ext>
            </a:extLst>
          </p:cNvPr>
          <p:cNvSpPr>
            <a:spLocks noGrp="1" noChangeArrowheads="1"/>
          </p:cNvSpPr>
          <p:nvPr>
            <p:ph type="title"/>
          </p:nvPr>
        </p:nvSpPr>
        <p:spPr/>
        <p:txBody>
          <a:bodyPr/>
          <a:lstStyle/>
          <a:p>
            <a:pPr eaLnBrk="1" hangingPunct="1"/>
            <a:r>
              <a:rPr lang="zh-CN" altLang="en-US"/>
              <a:t>文件系统卸载示例</a:t>
            </a:r>
          </a:p>
        </p:txBody>
      </p:sp>
      <p:sp>
        <p:nvSpPr>
          <p:cNvPr id="54275" name="内容占位符 2">
            <a:extLst>
              <a:ext uri="{FF2B5EF4-FFF2-40B4-BE49-F238E27FC236}">
                <a16:creationId xmlns:a16="http://schemas.microsoft.com/office/drawing/2014/main" id="{8CB038CA-E2A0-66B2-9462-B2E2EC36B25F}"/>
              </a:ext>
            </a:extLst>
          </p:cNvPr>
          <p:cNvSpPr>
            <a:spLocks noGrp="1" noChangeArrowheads="1"/>
          </p:cNvSpPr>
          <p:nvPr>
            <p:ph idx="1"/>
          </p:nvPr>
        </p:nvSpPr>
        <p:spPr>
          <a:xfrm>
            <a:off x="25400" y="476250"/>
            <a:ext cx="9109075" cy="5761038"/>
          </a:xfrm>
        </p:spPr>
        <p:txBody>
          <a:bodyPr/>
          <a:lstStyle/>
          <a:p>
            <a:pPr eaLnBrk="1" hangingPunct="1">
              <a:spcBef>
                <a:spcPct val="0"/>
              </a:spcBef>
              <a:spcAft>
                <a:spcPct val="0"/>
              </a:spcAft>
            </a:pPr>
            <a:r>
              <a:rPr lang="zh-CN" altLang="en-US" sz="3600"/>
              <a:t>设设备/dev/sdb1上的文件系统被安装在/mnt/usb上，则可用两种方法拆卸它：</a:t>
            </a:r>
          </a:p>
          <a:p>
            <a:pPr eaLnBrk="1" hangingPunct="1">
              <a:spcBef>
                <a:spcPct val="0"/>
              </a:spcBef>
              <a:spcAft>
                <a:spcPct val="0"/>
              </a:spcAft>
            </a:pPr>
            <a:r>
              <a:rPr lang="zh-CN" altLang="en-US" sz="3600"/>
              <a:t>#</a:t>
            </a:r>
            <a:r>
              <a:rPr lang="zh-CN" altLang="en-US" sz="3600">
                <a:solidFill>
                  <a:srgbClr val="FF0000"/>
                </a:solidFill>
              </a:rPr>
              <a:t>umount /dev/sdb1	</a:t>
            </a:r>
            <a:r>
              <a:rPr lang="zh-CN" altLang="en-US" sz="3600"/>
              <a:t>	或</a:t>
            </a:r>
          </a:p>
          <a:p>
            <a:pPr eaLnBrk="1" hangingPunct="1">
              <a:spcBef>
                <a:spcPct val="0"/>
              </a:spcBef>
              <a:spcAft>
                <a:spcPct val="0"/>
              </a:spcAft>
            </a:pPr>
            <a:r>
              <a:rPr lang="zh-CN" altLang="en-US" sz="3600"/>
              <a:t>#</a:t>
            </a:r>
            <a:r>
              <a:rPr lang="zh-CN" altLang="en-US" sz="3600">
                <a:solidFill>
                  <a:srgbClr val="FF0000"/>
                </a:solidFill>
              </a:rPr>
              <a:t>umount /mnt/usb</a:t>
            </a:r>
          </a:p>
          <a:p>
            <a:pPr eaLnBrk="1" hangingPunct="1">
              <a:spcBef>
                <a:spcPct val="0"/>
              </a:spcBef>
              <a:spcAft>
                <a:spcPct val="0"/>
              </a:spcAft>
            </a:pPr>
            <a:r>
              <a:rPr lang="zh-CN" altLang="en-US" sz="3600"/>
              <a:t>若有用户正在已安装的目录工作，</a:t>
            </a:r>
            <a:r>
              <a:rPr lang="zh-CN" altLang="en-US" sz="3600">
                <a:solidFill>
                  <a:srgbClr val="FF0000"/>
                </a:solidFill>
              </a:rPr>
              <a:t>拆卸时会出现“device is busy”信息</a:t>
            </a:r>
            <a:r>
              <a:rPr lang="zh-CN" altLang="en-US" sz="3600"/>
              <a:t>。解决问题的办法是</a:t>
            </a:r>
            <a:r>
              <a:rPr lang="zh-CN" altLang="en-US" sz="3600">
                <a:solidFill>
                  <a:srgbClr val="FF0000"/>
                </a:solidFill>
              </a:rPr>
              <a:t>让工作者离开此目录</a:t>
            </a:r>
            <a:r>
              <a:rPr lang="zh-CN" altLang="en-US" sz="3600"/>
              <a:t>，然后再拆卸。</a:t>
            </a:r>
          </a:p>
          <a:p>
            <a:pPr eaLnBrk="1" hangingPunct="1">
              <a:spcBef>
                <a:spcPct val="0"/>
              </a:spcBef>
              <a:spcAft>
                <a:spcPct val="0"/>
              </a:spcAft>
            </a:pPr>
            <a:r>
              <a:rPr lang="zh-CN" altLang="en-US" sz="3600"/>
              <a:t>当光盘被成功安装后，直到被拆卸后，光驱将无法再打开，若要打开光驱，则必须首先卸载光驱设备。</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B3ADFBC9-9860-7CAC-0C6F-84B6584A9412}"/>
              </a:ext>
            </a:extLst>
          </p:cNvPr>
          <p:cNvSpPr>
            <a:spLocks noGrp="1" noChangeArrowheads="1"/>
          </p:cNvSpPr>
          <p:nvPr>
            <p:ph type="title"/>
          </p:nvPr>
        </p:nvSpPr>
        <p:spPr/>
        <p:txBody>
          <a:bodyPr/>
          <a:lstStyle/>
          <a:p>
            <a:pPr eaLnBrk="1" hangingPunct="1"/>
            <a:r>
              <a:rPr lang="zh-CN" altLang="en-US"/>
              <a:t>5.3.5  文件系统的检查、修复与同步</a:t>
            </a:r>
          </a:p>
        </p:txBody>
      </p:sp>
      <p:sp>
        <p:nvSpPr>
          <p:cNvPr id="55299" name="内容占位符 2">
            <a:extLst>
              <a:ext uri="{FF2B5EF4-FFF2-40B4-BE49-F238E27FC236}">
                <a16:creationId xmlns:a16="http://schemas.microsoft.com/office/drawing/2014/main" id="{C1E498F9-E891-D6CB-5320-87D8522BCA09}"/>
              </a:ext>
            </a:extLst>
          </p:cNvPr>
          <p:cNvSpPr>
            <a:spLocks noGrp="1" noChangeArrowheads="1"/>
          </p:cNvSpPr>
          <p:nvPr>
            <p:ph idx="1"/>
          </p:nvPr>
        </p:nvSpPr>
        <p:spPr>
          <a:xfrm>
            <a:off x="107950" y="404813"/>
            <a:ext cx="8208963" cy="5761037"/>
          </a:xfrm>
        </p:spPr>
        <p:txBody>
          <a:bodyPr/>
          <a:lstStyle/>
          <a:p>
            <a:pPr eaLnBrk="1" hangingPunct="1"/>
            <a:r>
              <a:rPr lang="zh-CN" altLang="en-US" sz="5400"/>
              <a:t>几乎在所有的UNIX/Linux系统中，</a:t>
            </a:r>
            <a:r>
              <a:rPr lang="zh-CN" altLang="en-US" sz="5400">
                <a:solidFill>
                  <a:srgbClr val="FF0000"/>
                </a:solidFill>
              </a:rPr>
              <a:t>受损的文件系统</a:t>
            </a:r>
            <a:r>
              <a:rPr lang="zh-CN" altLang="en-US" sz="5400"/>
              <a:t>都是</a:t>
            </a:r>
            <a:r>
              <a:rPr lang="zh-CN" altLang="en-US" sz="5400">
                <a:solidFill>
                  <a:srgbClr val="FF0000"/>
                </a:solidFill>
              </a:rPr>
              <a:t>不能被正常安装</a:t>
            </a:r>
            <a:r>
              <a:rPr lang="zh-CN" altLang="en-US" sz="5400"/>
              <a:t>的，</a:t>
            </a:r>
            <a:r>
              <a:rPr lang="zh-CN" altLang="en-US" sz="5400">
                <a:solidFill>
                  <a:srgbClr val="FF0000"/>
                </a:solidFill>
              </a:rPr>
              <a:t>必须经检查和修复后</a:t>
            </a:r>
            <a:r>
              <a:rPr lang="zh-CN" altLang="en-US" sz="5400"/>
              <a:t>才能被正常使用。</a:t>
            </a:r>
            <a:r>
              <a:rPr lang="zh-CN" altLang="en-US" sz="5400">
                <a:solidFill>
                  <a:srgbClr val="FF0000"/>
                </a:solidFill>
              </a:rPr>
              <a:t>文件系统修复工具</a:t>
            </a:r>
            <a:r>
              <a:rPr lang="zh-CN" altLang="en-US" sz="5400"/>
              <a:t>为</a:t>
            </a:r>
            <a:r>
              <a:rPr lang="zh-CN" altLang="en-US" sz="6000">
                <a:solidFill>
                  <a:srgbClr val="FF0000"/>
                </a:solidFill>
              </a:rPr>
              <a:t>fsck</a:t>
            </a:r>
            <a:r>
              <a:rPr lang="zh-CN" altLang="en-US" sz="5400"/>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C5BBE013-F693-A9EE-0217-922D51468D85}"/>
              </a:ext>
            </a:extLst>
          </p:cNvPr>
          <p:cNvSpPr>
            <a:spLocks noGrp="1" noChangeArrowheads="1"/>
          </p:cNvSpPr>
          <p:nvPr>
            <p:ph type="title"/>
          </p:nvPr>
        </p:nvSpPr>
        <p:spPr/>
        <p:txBody>
          <a:bodyPr/>
          <a:lstStyle/>
          <a:p>
            <a:pPr eaLnBrk="1" hangingPunct="1"/>
            <a:r>
              <a:rPr lang="zh-CN" altLang="en-US"/>
              <a:t>1．文件系统要求清理的原因（与安全性有关）</a:t>
            </a:r>
          </a:p>
        </p:txBody>
      </p:sp>
      <p:sp>
        <p:nvSpPr>
          <p:cNvPr id="56323" name="内容占位符 2">
            <a:extLst>
              <a:ext uri="{FF2B5EF4-FFF2-40B4-BE49-F238E27FC236}">
                <a16:creationId xmlns:a16="http://schemas.microsoft.com/office/drawing/2014/main" id="{CCCAA0F4-D2B6-722F-77F2-2B05FA2B1D7F}"/>
              </a:ext>
            </a:extLst>
          </p:cNvPr>
          <p:cNvSpPr>
            <a:spLocks noGrp="1" noChangeArrowheads="1"/>
          </p:cNvSpPr>
          <p:nvPr>
            <p:ph idx="1"/>
          </p:nvPr>
        </p:nvSpPr>
        <p:spPr>
          <a:xfrm>
            <a:off x="0" y="620713"/>
            <a:ext cx="9144000" cy="5761037"/>
          </a:xfrm>
        </p:spPr>
        <p:txBody>
          <a:bodyPr/>
          <a:lstStyle/>
          <a:p>
            <a:pPr eaLnBrk="1" hangingPunct="1">
              <a:spcBef>
                <a:spcPct val="0"/>
              </a:spcBef>
              <a:spcAft>
                <a:spcPct val="0"/>
              </a:spcAft>
            </a:pPr>
            <a:r>
              <a:rPr lang="zh-CN" altLang="en-US" sz="3600"/>
              <a:t>有很多原因会引起文件系统的</a:t>
            </a:r>
            <a:r>
              <a:rPr lang="zh-CN" altLang="en-US" sz="3600">
                <a:solidFill>
                  <a:srgbClr val="FF0000"/>
                </a:solidFill>
              </a:rPr>
              <a:t>损坏</a:t>
            </a:r>
            <a:r>
              <a:rPr lang="zh-CN" altLang="en-US" sz="3600"/>
              <a:t>或</a:t>
            </a:r>
            <a:r>
              <a:rPr lang="zh-CN" altLang="en-US" sz="3600">
                <a:solidFill>
                  <a:srgbClr val="FF0000"/>
                </a:solidFill>
              </a:rPr>
              <a:t>不一致</a:t>
            </a:r>
            <a:r>
              <a:rPr lang="zh-CN" altLang="en-US" sz="3600"/>
              <a:t>，如意外掉电、非法关机、强行拔出未拆卸的设备等。</a:t>
            </a:r>
          </a:p>
          <a:p>
            <a:pPr eaLnBrk="1" hangingPunct="1">
              <a:spcBef>
                <a:spcPct val="0"/>
              </a:spcBef>
              <a:spcAft>
                <a:spcPct val="0"/>
              </a:spcAft>
            </a:pPr>
            <a:r>
              <a:rPr lang="zh-CN" altLang="en-US" sz="3600"/>
              <a:t>文件系统</a:t>
            </a:r>
            <a:r>
              <a:rPr lang="zh-CN" altLang="en-US" sz="3600">
                <a:solidFill>
                  <a:srgbClr val="FF0000"/>
                </a:solidFill>
              </a:rPr>
              <a:t>受损或不一致表现在</a:t>
            </a:r>
            <a:r>
              <a:rPr lang="zh-CN" altLang="en-US" sz="3600"/>
              <a:t>：</a:t>
            </a:r>
          </a:p>
          <a:p>
            <a:pPr eaLnBrk="1" hangingPunct="1">
              <a:spcBef>
                <a:spcPct val="0"/>
              </a:spcBef>
              <a:spcAft>
                <a:spcPct val="0"/>
              </a:spcAft>
            </a:pPr>
            <a:r>
              <a:rPr lang="zh-CN" altLang="en-US" sz="3600"/>
              <a:t>文件</a:t>
            </a:r>
            <a:r>
              <a:rPr lang="zh-CN" altLang="en-US" sz="3600">
                <a:solidFill>
                  <a:srgbClr val="FF0000"/>
                </a:solidFill>
              </a:rPr>
              <a:t>真实大小与分配</a:t>
            </a:r>
            <a:r>
              <a:rPr lang="zh-CN" altLang="en-US" sz="3600"/>
              <a:t>的块不一致；</a:t>
            </a:r>
          </a:p>
          <a:p>
            <a:pPr eaLnBrk="1" hangingPunct="1">
              <a:spcBef>
                <a:spcPct val="0"/>
              </a:spcBef>
              <a:spcAft>
                <a:spcPct val="0"/>
              </a:spcAft>
            </a:pPr>
            <a:r>
              <a:rPr lang="zh-CN" altLang="en-US" sz="3600"/>
              <a:t>文件的</a:t>
            </a:r>
            <a:r>
              <a:rPr lang="zh-CN" altLang="en-US" sz="3600">
                <a:solidFill>
                  <a:srgbClr val="FF0000"/>
                </a:solidFill>
              </a:rPr>
              <a:t>链接数</a:t>
            </a:r>
            <a:r>
              <a:rPr lang="zh-CN" altLang="en-US" sz="3600"/>
              <a:t>错误；</a:t>
            </a:r>
          </a:p>
          <a:p>
            <a:pPr eaLnBrk="1" hangingPunct="1">
              <a:spcBef>
                <a:spcPct val="0"/>
              </a:spcBef>
              <a:spcAft>
                <a:spcPct val="0"/>
              </a:spcAft>
            </a:pPr>
            <a:r>
              <a:rPr lang="zh-CN" altLang="en-US" sz="3600">
                <a:solidFill>
                  <a:srgbClr val="FF0000"/>
                </a:solidFill>
              </a:rPr>
              <a:t>i节点内容错</a:t>
            </a:r>
            <a:r>
              <a:rPr lang="zh-CN" altLang="en-US" sz="3600"/>
              <a:t>；</a:t>
            </a:r>
          </a:p>
          <a:p>
            <a:pPr eaLnBrk="1" hangingPunct="1">
              <a:spcBef>
                <a:spcPct val="0"/>
              </a:spcBef>
              <a:spcAft>
                <a:spcPct val="0"/>
              </a:spcAft>
            </a:pPr>
            <a:r>
              <a:rPr lang="zh-CN" altLang="en-US" sz="3600">
                <a:solidFill>
                  <a:srgbClr val="FF0000"/>
                </a:solidFill>
              </a:rPr>
              <a:t>丢失的块与丢失的文件</a:t>
            </a:r>
            <a:r>
              <a:rPr lang="zh-CN" altLang="en-US" sz="3600"/>
              <a:t>；</a:t>
            </a:r>
          </a:p>
          <a:p>
            <a:pPr eaLnBrk="1" hangingPunct="1">
              <a:spcBef>
                <a:spcPct val="0"/>
              </a:spcBef>
              <a:spcAft>
                <a:spcPct val="0"/>
              </a:spcAft>
            </a:pPr>
            <a:r>
              <a:rPr lang="zh-CN" altLang="en-US" sz="3600">
                <a:solidFill>
                  <a:srgbClr val="FF0000"/>
                </a:solidFill>
              </a:rPr>
              <a:t>空闲块总数或空闲i节点总数错</a:t>
            </a:r>
            <a:r>
              <a:rPr lang="zh-CN" altLang="en-US" sz="3600"/>
              <a:t>等。</a:t>
            </a:r>
          </a:p>
          <a:p>
            <a:pPr eaLnBrk="1" hangingPunct="1">
              <a:spcBef>
                <a:spcPct val="0"/>
              </a:spcBef>
              <a:spcAft>
                <a:spcPct val="0"/>
              </a:spcAft>
            </a:pPr>
            <a:r>
              <a:rPr lang="zh-CN" altLang="en-US" sz="3600"/>
              <a:t>检查文件系统的目的就是要修复以上问题。</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7DA43A39-9962-A965-3E3D-DDB024BC79FD}"/>
              </a:ext>
            </a:extLst>
          </p:cNvPr>
          <p:cNvSpPr>
            <a:spLocks noGrp="1" noChangeArrowheads="1"/>
          </p:cNvSpPr>
          <p:nvPr>
            <p:ph type="title"/>
          </p:nvPr>
        </p:nvSpPr>
        <p:spPr/>
        <p:txBody>
          <a:bodyPr/>
          <a:lstStyle/>
          <a:p>
            <a:pPr eaLnBrk="1" hangingPunct="1"/>
            <a:r>
              <a:rPr lang="zh-CN" altLang="en-US"/>
              <a:t>2．fsck</a:t>
            </a:r>
          </a:p>
        </p:txBody>
      </p:sp>
      <p:sp>
        <p:nvSpPr>
          <p:cNvPr id="57347" name="内容占位符 2">
            <a:extLst>
              <a:ext uri="{FF2B5EF4-FFF2-40B4-BE49-F238E27FC236}">
                <a16:creationId xmlns:a16="http://schemas.microsoft.com/office/drawing/2014/main" id="{45656810-36AB-6F8F-E5A9-C8E332EB6441}"/>
              </a:ext>
            </a:extLst>
          </p:cNvPr>
          <p:cNvSpPr>
            <a:spLocks noGrp="1" noChangeArrowheads="1"/>
          </p:cNvSpPr>
          <p:nvPr>
            <p:ph idx="1"/>
          </p:nvPr>
        </p:nvSpPr>
        <p:spPr>
          <a:xfrm>
            <a:off x="0" y="549275"/>
            <a:ext cx="9144000" cy="5832475"/>
          </a:xfrm>
        </p:spPr>
        <p:txBody>
          <a:bodyPr/>
          <a:lstStyle/>
          <a:p>
            <a:pPr eaLnBrk="1" hangingPunct="1">
              <a:spcBef>
                <a:spcPct val="0"/>
              </a:spcBef>
              <a:spcAft>
                <a:spcPct val="0"/>
              </a:spcAft>
            </a:pPr>
            <a:r>
              <a:rPr lang="zh-CN" altLang="en-US" sz="3000"/>
              <a:t>1）功能与用法</a:t>
            </a:r>
          </a:p>
          <a:p>
            <a:pPr eaLnBrk="1" hangingPunct="1">
              <a:spcBef>
                <a:spcPct val="0"/>
              </a:spcBef>
              <a:spcAft>
                <a:spcPct val="0"/>
              </a:spcAft>
            </a:pPr>
            <a:r>
              <a:rPr lang="zh-CN" altLang="en-US" sz="3000"/>
              <a:t>功能是检查、修复或报告文件系统情况。用法为：</a:t>
            </a:r>
          </a:p>
          <a:p>
            <a:pPr eaLnBrk="1" hangingPunct="1">
              <a:spcBef>
                <a:spcPct val="0"/>
              </a:spcBef>
              <a:spcAft>
                <a:spcPct val="0"/>
              </a:spcAft>
            </a:pPr>
            <a:r>
              <a:rPr lang="zh-CN" altLang="en-US" sz="4000">
                <a:solidFill>
                  <a:srgbClr val="FF0000"/>
                </a:solidFill>
              </a:rPr>
              <a:t>fsck [ opts ] [ -t fstyp ] [ filesystems ]</a:t>
            </a:r>
          </a:p>
          <a:p>
            <a:pPr eaLnBrk="1" hangingPunct="1">
              <a:spcBef>
                <a:spcPct val="0"/>
              </a:spcBef>
              <a:spcAft>
                <a:spcPct val="0"/>
              </a:spcAft>
            </a:pPr>
            <a:r>
              <a:rPr lang="zh-CN" altLang="en-US" sz="3000"/>
              <a:t>fsck一般不用于对已经安装且正在使用的文件系统进行检查。在检查过程中发现的丢失（孤儿）文件将被拯救。拯救后的文件以i节点号为文件名，存放在文件系统的目录/lost+found中。</a:t>
            </a:r>
          </a:p>
          <a:p>
            <a:pPr eaLnBrk="1" hangingPunct="1">
              <a:spcBef>
                <a:spcPct val="0"/>
              </a:spcBef>
              <a:spcAft>
                <a:spcPct val="0"/>
              </a:spcAft>
            </a:pPr>
            <a:r>
              <a:rPr lang="zh-CN" altLang="en-US" sz="3000"/>
              <a:t>fsck是一个前端总控程序，在执行过程中将</a:t>
            </a:r>
            <a:r>
              <a:rPr lang="zh-CN" altLang="en-US" sz="3000">
                <a:solidFill>
                  <a:srgbClr val="FF0000"/>
                </a:solidFill>
              </a:rPr>
              <a:t>根据不同的文件系统而调用相应文件系统的检查程序</a:t>
            </a:r>
            <a:r>
              <a:rPr lang="zh-CN" altLang="en-US" sz="3000"/>
              <a:t>。</a:t>
            </a:r>
            <a:endParaRPr lang="en-US" altLang="zh-CN" sz="3000"/>
          </a:p>
          <a:p>
            <a:pPr eaLnBrk="1" hangingPunct="1">
              <a:spcBef>
                <a:spcPct val="0"/>
              </a:spcBef>
              <a:spcAft>
                <a:spcPct val="0"/>
              </a:spcAft>
            </a:pPr>
            <a:r>
              <a:rPr lang="zh-CN" altLang="en-US" sz="3000"/>
              <a:t>当</a:t>
            </a:r>
            <a:r>
              <a:rPr lang="zh-CN" altLang="en-US" sz="3000">
                <a:solidFill>
                  <a:srgbClr val="FF0000"/>
                </a:solidFill>
              </a:rPr>
              <a:t>不带参数运行fsck</a:t>
            </a:r>
            <a:r>
              <a:rPr lang="zh-CN" altLang="en-US" sz="3000"/>
              <a:t>时，fsck将根据/etc/fstab的内容按顺序进行操作。</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24DBE461-008D-FFFB-BD44-2DA93546C55D}"/>
              </a:ext>
            </a:extLst>
          </p:cNvPr>
          <p:cNvSpPr>
            <a:spLocks noGrp="1" noChangeArrowheads="1"/>
          </p:cNvSpPr>
          <p:nvPr>
            <p:ph type="title"/>
          </p:nvPr>
        </p:nvSpPr>
        <p:spPr/>
        <p:txBody>
          <a:bodyPr/>
          <a:lstStyle/>
          <a:p>
            <a:pPr eaLnBrk="1" hangingPunct="1"/>
            <a:r>
              <a:rPr lang="zh-CN" altLang="en-US"/>
              <a:t>2）参数及说明</a:t>
            </a:r>
          </a:p>
        </p:txBody>
      </p:sp>
      <p:graphicFrame>
        <p:nvGraphicFramePr>
          <p:cNvPr id="2" name="表格 -1">
            <a:extLst>
              <a:ext uri="{FF2B5EF4-FFF2-40B4-BE49-F238E27FC236}">
                <a16:creationId xmlns:a16="http://schemas.microsoft.com/office/drawing/2014/main" id="{0BAD64D6-CA86-35AC-20D1-7EE2043128F0}"/>
              </a:ext>
            </a:extLst>
          </p:cNvPr>
          <p:cNvGraphicFramePr>
            <a:graphicFrameLocks noGrp="1"/>
          </p:cNvGraphicFramePr>
          <p:nvPr/>
        </p:nvGraphicFramePr>
        <p:xfrm>
          <a:off x="0" y="549275"/>
          <a:ext cx="9144000" cy="5832475"/>
        </p:xfrm>
        <a:graphic>
          <a:graphicData uri="http://schemas.openxmlformats.org/drawingml/2006/table">
            <a:tbl>
              <a:tblPr/>
              <a:tblGrid>
                <a:gridCol w="1834222">
                  <a:extLst>
                    <a:ext uri="{9D8B030D-6E8A-4147-A177-3AD203B41FA5}">
                      <a16:colId xmlns:a16="http://schemas.microsoft.com/office/drawing/2014/main" val="20000"/>
                    </a:ext>
                  </a:extLst>
                </a:gridCol>
                <a:gridCol w="7309778">
                  <a:extLst>
                    <a:ext uri="{9D8B030D-6E8A-4147-A177-3AD203B41FA5}">
                      <a16:colId xmlns:a16="http://schemas.microsoft.com/office/drawing/2014/main" val="20001"/>
                    </a:ext>
                  </a:extLst>
                </a:gridCol>
              </a:tblGrid>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2400" b="1" i="0" u="none" strike="noStrike" cap="none" normalizeH="0" baseline="0" dirty="0">
                          <a:ln>
                            <a:noFill/>
                          </a:ln>
                          <a:solidFill>
                            <a:schemeClr val="tx1"/>
                          </a:solidFill>
                          <a:effectLst/>
                          <a:latin typeface="宋体" pitchFamily="2" charset="-122"/>
                          <a:ea typeface="宋体" pitchFamily="2" charset="-122"/>
                        </a:rPr>
                        <a:t>    </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filesystem</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系统支持的文件系统或设备，如</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dev</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/fd0</a:t>
                      </a:r>
                      <a:r>
                        <a:rPr kumimoji="0" lang="zh-CN" altLang="en-US" sz="2400" b="1" i="0" u="none" strike="noStrike" cap="none" normalizeH="0" baseline="0" dirty="0">
                          <a:ln>
                            <a:noFill/>
                          </a:ln>
                          <a:solidFill>
                            <a:schemeClr val="tx1"/>
                          </a:solidFill>
                          <a:effectLst/>
                          <a:latin typeface="宋体" pitchFamily="2" charset="-122"/>
                          <a:ea typeface="宋体" pitchFamily="2" charset="-122"/>
                        </a:rPr>
                        <a:t>、</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dev</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/hda1</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04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按</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etc</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fstab</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顺序检查文件系统，一般在系统初始化时自动进行</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检查过程中自动修复遇到的错误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检查时显示进度条</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不进行真正操作，只显示真正操作时应采取</a:t>
                      </a:r>
                      <a:r>
                        <a:rPr kumimoji="0" lang="zh-CN" altLang="en-US" sz="2400" b="1" i="0" u="none" strike="noStrike" cap="none" normalizeH="0" baseline="0">
                          <a:ln>
                            <a:noFill/>
                          </a:ln>
                          <a:solidFill>
                            <a:schemeClr val="tx1"/>
                          </a:solidFill>
                          <a:effectLst/>
                          <a:latin typeface="宋体" pitchFamily="2" charset="-122"/>
                          <a:ea typeface="宋体" pitchFamily="2" charset="-122"/>
                        </a:rPr>
                        <a:t>的</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动作</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当指定</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时，跳过根文件系统</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itchFamily="2" charset="-122"/>
                          <a:ea typeface="宋体" pitchFamily="2" charset="-122"/>
                        </a:rPr>
                        <a:t>执行被检查文件系统的统计信息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 fstyp</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指定文件系统类型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所有回答均默认为</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yes</a:t>
                      </a:r>
                      <a:r>
                        <a:rPr kumimoji="0" lang="zh-CN" altLang="en-US" sz="2400" b="1" i="0" u="none" strike="noStrike" cap="none" normalizeH="0" baseline="0" dirty="0">
                          <a:ln>
                            <a:noFill/>
                          </a:ln>
                          <a:solidFill>
                            <a:schemeClr val="tx1"/>
                          </a:solidFill>
                          <a:effectLst/>
                          <a:latin typeface="宋体" pitchFamily="2" charset="-122"/>
                          <a:ea typeface="宋体" pitchFamily="2" charset="-122"/>
                        </a:rPr>
                        <a:t>（与</a:t>
                      </a:r>
                      <a:r>
                        <a:rPr kumimoji="0" lang="en-US" altLang="zh-CN" sz="2400" b="1" i="0" u="none" strike="noStrike" cap="none" normalizeH="0" baseline="0" dirty="0">
                          <a:ln>
                            <a:noFill/>
                          </a:ln>
                          <a:solidFill>
                            <a:schemeClr val="tx1"/>
                          </a:solidFill>
                          <a:effectLst/>
                          <a:latin typeface="宋体" pitchFamily="2" charset="-122"/>
                          <a:ea typeface="宋体" pitchFamily="2" charset="-122"/>
                        </a:rPr>
                        <a:t>-a</a:t>
                      </a:r>
                      <a:r>
                        <a:rPr kumimoji="0" lang="zh-CN" altLang="en-US" sz="2400" b="1" i="0" u="none" strike="noStrike" cap="none" normalizeH="0" baseline="0" dirty="0">
                          <a:ln>
                            <a:noFill/>
                          </a:ln>
                          <a:solidFill>
                            <a:schemeClr val="tx1"/>
                          </a:solidFill>
                          <a:effectLst/>
                          <a:latin typeface="宋体" pitchFamily="2" charset="-122"/>
                          <a:ea typeface="宋体" pitchFamily="2" charset="-122"/>
                        </a:rPr>
                        <a:t>互斥）</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AB67F9C4-310E-1034-0DDF-3CED4CCE6BE1}"/>
              </a:ext>
            </a:extLst>
          </p:cNvPr>
          <p:cNvSpPr>
            <a:spLocks noGrp="1" noChangeArrowheads="1"/>
          </p:cNvSpPr>
          <p:nvPr>
            <p:ph type="title"/>
          </p:nvPr>
        </p:nvSpPr>
        <p:spPr/>
        <p:txBody>
          <a:bodyPr/>
          <a:lstStyle/>
          <a:p>
            <a:pPr eaLnBrk="1" hangingPunct="1"/>
            <a:r>
              <a:rPr lang="zh-CN" altLang="en-US"/>
              <a:t>3）示例</a:t>
            </a:r>
          </a:p>
        </p:txBody>
      </p:sp>
      <p:sp>
        <p:nvSpPr>
          <p:cNvPr id="59395" name="内容占位符 2">
            <a:extLst>
              <a:ext uri="{FF2B5EF4-FFF2-40B4-BE49-F238E27FC236}">
                <a16:creationId xmlns:a16="http://schemas.microsoft.com/office/drawing/2014/main" id="{FD99746F-7683-B2F2-E0C2-6CD3638E5D20}"/>
              </a:ext>
            </a:extLst>
          </p:cNvPr>
          <p:cNvSpPr>
            <a:spLocks noGrp="1" noChangeArrowheads="1"/>
          </p:cNvSpPr>
          <p:nvPr>
            <p:ph idx="1"/>
          </p:nvPr>
        </p:nvSpPr>
        <p:spPr>
          <a:xfrm>
            <a:off x="0" y="549275"/>
            <a:ext cx="9144000" cy="5832475"/>
          </a:xfrm>
        </p:spPr>
        <p:txBody>
          <a:bodyPr/>
          <a:lstStyle/>
          <a:p>
            <a:pPr eaLnBrk="1" hangingPunct="1">
              <a:spcBef>
                <a:spcPct val="0"/>
              </a:spcBef>
              <a:spcAft>
                <a:spcPct val="0"/>
              </a:spcAft>
            </a:pPr>
            <a:r>
              <a:rPr lang="zh-CN" altLang="en-US"/>
              <a:t>（1）</a:t>
            </a:r>
            <a:r>
              <a:rPr lang="zh-CN" altLang="en-US">
                <a:solidFill>
                  <a:srgbClr val="FF0000"/>
                </a:solidFill>
              </a:rPr>
              <a:t>系统开机问题检查</a:t>
            </a:r>
            <a:r>
              <a:rPr lang="zh-CN" altLang="en-US"/>
              <a:t>。</a:t>
            </a:r>
          </a:p>
          <a:p>
            <a:pPr eaLnBrk="1" hangingPunct="1">
              <a:spcBef>
                <a:spcPct val="0"/>
              </a:spcBef>
              <a:spcAft>
                <a:spcPct val="0"/>
              </a:spcAft>
            </a:pPr>
            <a:r>
              <a:rPr lang="zh-CN" altLang="en-US"/>
              <a:t>当系统遇到非法关机等情况时，在下次开机过程中可能要对文件系统进行检查，且可能会遇到自动检查通不过的情况，此时系统不再继续启动，而是直接出现提示符#进入单用户模式，或者出现：</a:t>
            </a:r>
          </a:p>
          <a:p>
            <a:pPr eaLnBrk="1" hangingPunct="1">
              <a:spcBef>
                <a:spcPct val="0"/>
              </a:spcBef>
              <a:spcAft>
                <a:spcPct val="0"/>
              </a:spcAft>
            </a:pPr>
            <a:r>
              <a:rPr lang="zh-CN" altLang="en-US"/>
              <a:t>Give root password for maintenance</a:t>
            </a:r>
          </a:p>
          <a:p>
            <a:pPr eaLnBrk="1" hangingPunct="1">
              <a:spcBef>
                <a:spcPct val="0"/>
              </a:spcBef>
              <a:spcAft>
                <a:spcPct val="0"/>
              </a:spcAft>
            </a:pPr>
            <a:r>
              <a:rPr lang="zh-CN" altLang="en-US"/>
              <a:t> (or press Control-D to continue):  </a:t>
            </a:r>
          </a:p>
          <a:p>
            <a:pPr eaLnBrk="1" hangingPunct="1">
              <a:spcBef>
                <a:spcPct val="0"/>
              </a:spcBef>
              <a:spcAft>
                <a:spcPct val="0"/>
              </a:spcAft>
            </a:pPr>
            <a:r>
              <a:rPr lang="zh-CN" altLang="en-US"/>
              <a:t>提示，要求用户输入root密码进入系统维护模式或^D继续启动。此时用户能做的是输入root密码行系统维护模式，然后手工处理启动时遇到的问题。</a:t>
            </a:r>
            <a:endParaRPr lang="en-US" altLang="zh-CN"/>
          </a:p>
          <a:p>
            <a:pPr eaLnBrk="1" hangingPunct="1">
              <a:spcBef>
                <a:spcPct val="0"/>
              </a:spcBef>
              <a:spcAft>
                <a:spcPct val="0"/>
              </a:spcAft>
            </a:pPr>
            <a:r>
              <a:rPr lang="zh-CN" altLang="en-US"/>
              <a:t>手工清理文件系统后重新启动。</a:t>
            </a:r>
          </a:p>
          <a:p>
            <a:pPr eaLnBrk="1" hangingPunct="1"/>
            <a:endParaRPr lang="zh-CN" altLang="en-US" sz="2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DA6A8DEC-A845-10AF-4664-13AA69A49C78}"/>
              </a:ext>
            </a:extLst>
          </p:cNvPr>
          <p:cNvSpPr>
            <a:spLocks noGrp="1" noChangeArrowheads="1"/>
          </p:cNvSpPr>
          <p:nvPr>
            <p:ph type="title"/>
          </p:nvPr>
        </p:nvSpPr>
        <p:spPr/>
        <p:txBody>
          <a:bodyPr/>
          <a:lstStyle/>
          <a:p>
            <a:pPr eaLnBrk="1" hangingPunct="1"/>
            <a:r>
              <a:rPr lang="zh-CN" altLang="en-US"/>
              <a:t>（1）系统开机问题检查</a:t>
            </a:r>
          </a:p>
        </p:txBody>
      </p:sp>
      <p:sp>
        <p:nvSpPr>
          <p:cNvPr id="60419" name="内容占位符 2">
            <a:extLst>
              <a:ext uri="{FF2B5EF4-FFF2-40B4-BE49-F238E27FC236}">
                <a16:creationId xmlns:a16="http://schemas.microsoft.com/office/drawing/2014/main" id="{6AE6C53E-0511-D55D-D6AF-9481A0DBCD1D}"/>
              </a:ext>
            </a:extLst>
          </p:cNvPr>
          <p:cNvSpPr>
            <a:spLocks noGrp="1" noChangeArrowheads="1"/>
          </p:cNvSpPr>
          <p:nvPr>
            <p:ph idx="1"/>
          </p:nvPr>
        </p:nvSpPr>
        <p:spPr>
          <a:xfrm>
            <a:off x="34925" y="620713"/>
            <a:ext cx="9001125" cy="5761037"/>
          </a:xfrm>
        </p:spPr>
        <p:txBody>
          <a:bodyPr/>
          <a:lstStyle/>
          <a:p>
            <a:pPr eaLnBrk="1" hangingPunct="1">
              <a:spcBef>
                <a:spcPct val="0"/>
              </a:spcBef>
              <a:spcAft>
                <a:spcPct val="0"/>
              </a:spcAft>
            </a:pPr>
            <a:r>
              <a:rPr lang="zh-CN" altLang="en-US" sz="3600"/>
              <a:t>设系统的引导分区和根分区分别为/dev/sda2和/dev/sda10（可参考/etc/fstab），检查方法如下所示。</a:t>
            </a:r>
          </a:p>
          <a:p>
            <a:pPr eaLnBrk="1" hangingPunct="1">
              <a:spcBef>
                <a:spcPct val="0"/>
              </a:spcBef>
              <a:spcAft>
                <a:spcPct val="0"/>
              </a:spcAft>
            </a:pPr>
            <a:r>
              <a:rPr lang="zh-CN" altLang="en-US" sz="3600"/>
              <a:t>#</a:t>
            </a:r>
            <a:r>
              <a:rPr lang="zh-CN" altLang="en-US" sz="3600">
                <a:solidFill>
                  <a:srgbClr val="FF0000"/>
                </a:solidFill>
              </a:rPr>
              <a:t>fsck  -a</a:t>
            </a:r>
            <a:r>
              <a:rPr lang="zh-CN" altLang="en-US" sz="3600"/>
              <a:t>  	#检查所有或依次检查每个文件系统</a:t>
            </a:r>
          </a:p>
          <a:p>
            <a:pPr eaLnBrk="1" hangingPunct="1">
              <a:spcBef>
                <a:spcPct val="0"/>
              </a:spcBef>
              <a:spcAft>
                <a:spcPct val="0"/>
              </a:spcAft>
            </a:pPr>
            <a:r>
              <a:rPr lang="zh-CN" altLang="en-US" sz="3600"/>
              <a:t>#</a:t>
            </a:r>
            <a:r>
              <a:rPr lang="zh-CN" altLang="en-US" sz="3600">
                <a:solidFill>
                  <a:srgbClr val="FF0000"/>
                </a:solidFill>
              </a:rPr>
              <a:t>fsck  -y </a:t>
            </a:r>
            <a:r>
              <a:rPr lang="zh-CN" altLang="en-US" sz="3600"/>
              <a:t>/dev/sda2	#检查/dev/sda2</a:t>
            </a:r>
          </a:p>
          <a:p>
            <a:pPr eaLnBrk="1" hangingPunct="1">
              <a:spcBef>
                <a:spcPct val="0"/>
              </a:spcBef>
              <a:spcAft>
                <a:spcPct val="0"/>
              </a:spcAft>
            </a:pPr>
            <a:r>
              <a:rPr lang="zh-CN" altLang="en-US" sz="3600"/>
              <a:t>#fsck  -y /dev/sda10	#检查/dev/sda10</a:t>
            </a:r>
          </a:p>
          <a:p>
            <a:pPr eaLnBrk="1" hangingPunct="1">
              <a:spcBef>
                <a:spcPct val="0"/>
              </a:spcBef>
              <a:spcAft>
                <a:spcPct val="0"/>
              </a:spcAft>
            </a:pPr>
            <a:r>
              <a:rPr lang="zh-CN" altLang="en-US" sz="3600"/>
              <a:t>#</a:t>
            </a:r>
            <a:r>
              <a:rPr lang="zh-CN" altLang="en-US" sz="3600">
                <a:solidFill>
                  <a:srgbClr val="FF0000"/>
                </a:solidFill>
              </a:rPr>
              <a:t>reboot</a:t>
            </a:r>
            <a:r>
              <a:rPr lang="zh-CN" altLang="en-US" sz="3600"/>
              <a:t>			#重新启动</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FAD0C6A7-EE85-5133-2AF6-131CF77C4820}"/>
              </a:ext>
            </a:extLst>
          </p:cNvPr>
          <p:cNvSpPr>
            <a:spLocks noGrp="1" noChangeArrowheads="1"/>
          </p:cNvSpPr>
          <p:nvPr>
            <p:ph type="title"/>
          </p:nvPr>
        </p:nvSpPr>
        <p:spPr>
          <a:xfrm>
            <a:off x="-180975" y="17463"/>
            <a:ext cx="8259763" cy="550862"/>
          </a:xfrm>
        </p:spPr>
        <p:txBody>
          <a:bodyPr/>
          <a:lstStyle/>
          <a:p>
            <a:pPr eaLnBrk="1" hangingPunct="1"/>
            <a:r>
              <a:rPr lang="zh-CN" altLang="en-US"/>
              <a:t>（2）检查软盘或指定设备上的文件系统</a:t>
            </a:r>
          </a:p>
        </p:txBody>
      </p:sp>
      <p:sp>
        <p:nvSpPr>
          <p:cNvPr id="61443" name="内容占位符 2">
            <a:extLst>
              <a:ext uri="{FF2B5EF4-FFF2-40B4-BE49-F238E27FC236}">
                <a16:creationId xmlns:a16="http://schemas.microsoft.com/office/drawing/2014/main" id="{21C08116-E1A4-E0EC-C269-34DD4E8AEB06}"/>
              </a:ext>
            </a:extLst>
          </p:cNvPr>
          <p:cNvSpPr>
            <a:spLocks noGrp="1" noChangeArrowheads="1"/>
          </p:cNvSpPr>
          <p:nvPr>
            <p:ph idx="1"/>
          </p:nvPr>
        </p:nvSpPr>
        <p:spPr>
          <a:xfrm>
            <a:off x="33338" y="585788"/>
            <a:ext cx="9110662" cy="5795962"/>
          </a:xfrm>
        </p:spPr>
        <p:txBody>
          <a:bodyPr/>
          <a:lstStyle/>
          <a:p>
            <a:pPr eaLnBrk="1" hangingPunct="1">
              <a:spcBef>
                <a:spcPct val="0"/>
              </a:spcBef>
              <a:spcAft>
                <a:spcPct val="0"/>
              </a:spcAft>
            </a:pPr>
            <a:r>
              <a:rPr lang="en-US" altLang="zh-CN" sz="4800"/>
              <a:t>#</a:t>
            </a:r>
            <a:r>
              <a:rPr lang="zh-CN" altLang="en-US" sz="4800"/>
              <a:t>#设软件设备为/dev/fd0，其上的文件系统为ext3</a:t>
            </a:r>
          </a:p>
          <a:p>
            <a:pPr eaLnBrk="1" hangingPunct="1">
              <a:spcBef>
                <a:spcPct val="0"/>
              </a:spcBef>
              <a:spcAft>
                <a:spcPct val="0"/>
              </a:spcAft>
            </a:pPr>
            <a:r>
              <a:rPr lang="zh-CN" altLang="en-US" sz="4800"/>
              <a:t>#</a:t>
            </a:r>
            <a:r>
              <a:rPr lang="zh-CN" altLang="en-US" sz="4800">
                <a:solidFill>
                  <a:srgbClr val="FF0000"/>
                </a:solidFill>
              </a:rPr>
              <a:t>fsck -t ext3 /dev/fd0</a:t>
            </a:r>
            <a:endParaRPr lang="en-US" altLang="zh-CN" sz="4800">
              <a:solidFill>
                <a:srgbClr val="FF0000"/>
              </a:solidFill>
            </a:endParaRPr>
          </a:p>
          <a:p>
            <a:pPr eaLnBrk="1" hangingPunct="1">
              <a:spcBef>
                <a:spcPct val="0"/>
              </a:spcBef>
              <a:spcAft>
                <a:spcPct val="0"/>
              </a:spcAft>
            </a:pPr>
            <a:r>
              <a:rPr lang="en-US" altLang="zh-CN" sz="4800"/>
              <a:t>#</a:t>
            </a:r>
            <a:r>
              <a:rPr lang="zh-CN" altLang="en-US" sz="4800"/>
              <a:t>#设使用的设备为USB软驱，如/dev/sdb</a:t>
            </a:r>
          </a:p>
          <a:p>
            <a:pPr eaLnBrk="1" hangingPunct="1">
              <a:spcBef>
                <a:spcPct val="0"/>
              </a:spcBef>
              <a:spcAft>
                <a:spcPct val="0"/>
              </a:spcAft>
            </a:pPr>
            <a:r>
              <a:rPr lang="zh-CN" altLang="en-US" sz="4800"/>
              <a:t>#</a:t>
            </a:r>
            <a:r>
              <a:rPr lang="zh-CN" altLang="en-US" sz="4800">
                <a:solidFill>
                  <a:srgbClr val="FF0000"/>
                </a:solidFill>
              </a:rPr>
              <a:t>fsck -y -t ext2 /dev/sdb</a:t>
            </a:r>
            <a:endParaRPr lang="en-US" altLang="zh-CN" sz="480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D9949ADA-9AD7-1FCA-428E-EBAD547B7072}"/>
              </a:ext>
            </a:extLst>
          </p:cNvPr>
          <p:cNvSpPr>
            <a:spLocks noGrp="1" noChangeArrowheads="1"/>
          </p:cNvSpPr>
          <p:nvPr>
            <p:ph type="title"/>
          </p:nvPr>
        </p:nvSpPr>
        <p:spPr/>
        <p:txBody>
          <a:bodyPr/>
          <a:lstStyle/>
          <a:p>
            <a:pPr eaLnBrk="1" hangingPunct="1"/>
            <a:r>
              <a:rPr lang="zh-CN" altLang="en-US"/>
              <a:t>3．sync</a:t>
            </a:r>
          </a:p>
        </p:txBody>
      </p:sp>
      <p:sp>
        <p:nvSpPr>
          <p:cNvPr id="62467" name="内容占位符 2">
            <a:extLst>
              <a:ext uri="{FF2B5EF4-FFF2-40B4-BE49-F238E27FC236}">
                <a16:creationId xmlns:a16="http://schemas.microsoft.com/office/drawing/2014/main" id="{D3313C1D-33F9-7A0F-926A-AD5F4A83F8ED}"/>
              </a:ext>
            </a:extLst>
          </p:cNvPr>
          <p:cNvSpPr>
            <a:spLocks noGrp="1" noChangeArrowheads="1"/>
          </p:cNvSpPr>
          <p:nvPr>
            <p:ph idx="1"/>
          </p:nvPr>
        </p:nvSpPr>
        <p:spPr>
          <a:xfrm>
            <a:off x="0" y="549275"/>
            <a:ext cx="9144000" cy="5903913"/>
          </a:xfrm>
        </p:spPr>
        <p:txBody>
          <a:bodyPr/>
          <a:lstStyle/>
          <a:p>
            <a:pPr eaLnBrk="1" hangingPunct="1">
              <a:spcBef>
                <a:spcPct val="0"/>
              </a:spcBef>
              <a:spcAft>
                <a:spcPct val="0"/>
              </a:spcAft>
            </a:pPr>
            <a:r>
              <a:rPr lang="zh-CN" altLang="en-US" sz="4400">
                <a:solidFill>
                  <a:srgbClr val="FF0000"/>
                </a:solidFill>
              </a:rPr>
              <a:t>sync</a:t>
            </a:r>
            <a:r>
              <a:rPr lang="zh-CN" altLang="en-US" sz="3200"/>
              <a:t>的功能是</a:t>
            </a:r>
            <a:r>
              <a:rPr lang="zh-CN" altLang="en-US" sz="3200">
                <a:solidFill>
                  <a:srgbClr val="FF0000"/>
                </a:solidFill>
              </a:rPr>
              <a:t>同步文件系统</a:t>
            </a:r>
            <a:r>
              <a:rPr lang="zh-CN" altLang="en-US" sz="3200"/>
              <a:t>，将所有缓冲区的内容写到存储设备，并更新超级块。用法为：</a:t>
            </a:r>
          </a:p>
          <a:p>
            <a:pPr eaLnBrk="1" hangingPunct="1">
              <a:spcBef>
                <a:spcPct val="0"/>
              </a:spcBef>
              <a:spcAft>
                <a:spcPct val="0"/>
              </a:spcAft>
            </a:pPr>
            <a:r>
              <a:rPr lang="en-US" altLang="zh-CN" sz="4400">
                <a:solidFill>
                  <a:srgbClr val="FF0000"/>
                </a:solidFill>
              </a:rPr>
              <a:t>sync [OPTION] [FILE]...</a:t>
            </a:r>
          </a:p>
          <a:p>
            <a:pPr eaLnBrk="1" hangingPunct="1">
              <a:spcBef>
                <a:spcPct val="0"/>
              </a:spcBef>
              <a:spcAft>
                <a:spcPct val="0"/>
              </a:spcAft>
            </a:pPr>
            <a:r>
              <a:rPr lang="zh-CN" altLang="en-US" sz="3200"/>
              <a:t>如果计算机系统的用电环境是安全的，并按规定进行操作，文件系统一般是不会受损的，因此不需要人为地进行同步，必要时系统会自动做此项工作。但在即将出现停电且又不能马上关机等特殊情况下，为了将文件系统所受损失降到最小，可用sync进行同步，把各种I/O缓冲区的内容写到存储设备上。比如</a:t>
            </a:r>
            <a:endParaRPr lang="en-US" altLang="zh-CN" sz="3200"/>
          </a:p>
          <a:p>
            <a:pPr eaLnBrk="1" hangingPunct="1">
              <a:spcBef>
                <a:spcPct val="0"/>
              </a:spcBef>
              <a:spcAft>
                <a:spcPct val="0"/>
              </a:spcAft>
            </a:pPr>
            <a:r>
              <a:rPr lang="en-US" altLang="zh-CN" sz="3200"/>
              <a:t># sync</a:t>
            </a:r>
            <a:endParaRPr lang="zh-CN" altLang="en-US" sz="32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CC3FDB57-E8FE-790B-9754-AC979A9356E7}"/>
              </a:ext>
            </a:extLst>
          </p:cNvPr>
          <p:cNvSpPr>
            <a:spLocks noGrp="1" noChangeArrowheads="1"/>
          </p:cNvSpPr>
          <p:nvPr>
            <p:ph type="title"/>
          </p:nvPr>
        </p:nvSpPr>
        <p:spPr/>
        <p:txBody>
          <a:bodyPr/>
          <a:lstStyle/>
          <a:p>
            <a:pPr eaLnBrk="1" hangingPunct="1"/>
            <a:r>
              <a:rPr lang="zh-CN" altLang="en-US"/>
              <a:t>5.4  与文件系统安全管理相关的其他命令</a:t>
            </a:r>
          </a:p>
        </p:txBody>
      </p:sp>
      <p:sp>
        <p:nvSpPr>
          <p:cNvPr id="63491" name="内容占位符 2">
            <a:extLst>
              <a:ext uri="{FF2B5EF4-FFF2-40B4-BE49-F238E27FC236}">
                <a16:creationId xmlns:a16="http://schemas.microsoft.com/office/drawing/2014/main" id="{8BF84A09-6D80-243F-55BA-0E28816962B0}"/>
              </a:ext>
            </a:extLst>
          </p:cNvPr>
          <p:cNvSpPr>
            <a:spLocks noGrp="1" noChangeArrowheads="1"/>
          </p:cNvSpPr>
          <p:nvPr>
            <p:ph idx="1"/>
          </p:nvPr>
        </p:nvSpPr>
        <p:spPr>
          <a:xfrm>
            <a:off x="0" y="620713"/>
            <a:ext cx="9144000" cy="5761037"/>
          </a:xfrm>
        </p:spPr>
        <p:txBody>
          <a:bodyPr/>
          <a:lstStyle/>
          <a:p>
            <a:pPr marL="0" indent="0" eaLnBrk="1" hangingPunct="1">
              <a:spcBef>
                <a:spcPct val="0"/>
              </a:spcBef>
              <a:spcAft>
                <a:spcPct val="0"/>
              </a:spcAft>
              <a:buFont typeface="Arial" panose="020B0604020202020204" pitchFamily="34" charset="0"/>
              <a:buNone/>
            </a:pPr>
            <a:r>
              <a:rPr lang="en-US" altLang="zh-CN" sz="3600" u="sng"/>
              <a:t>5.4.1  </a:t>
            </a:r>
            <a:r>
              <a:rPr lang="zh-CN" altLang="en-US" sz="3600" u="sng"/>
              <a:t>文件综合查找命令（</a:t>
            </a:r>
            <a:r>
              <a:rPr lang="en-US" altLang="zh-CN" sz="4400" u="sng">
                <a:solidFill>
                  <a:srgbClr val="FF0000"/>
                </a:solidFill>
              </a:rPr>
              <a:t>find</a:t>
            </a:r>
            <a:r>
              <a:rPr lang="zh-CN" altLang="en-US" sz="3600" u="sng"/>
              <a:t>）</a:t>
            </a:r>
          </a:p>
          <a:p>
            <a:pPr marL="0" indent="0" eaLnBrk="1" hangingPunct="1">
              <a:spcBef>
                <a:spcPct val="0"/>
              </a:spcBef>
              <a:spcAft>
                <a:spcPct val="0"/>
              </a:spcAft>
              <a:buFont typeface="Arial" panose="020B0604020202020204" pitchFamily="34" charset="0"/>
              <a:buNone/>
            </a:pPr>
            <a:r>
              <a:rPr lang="en-US" altLang="zh-CN" sz="3600" u="sng"/>
              <a:t>5.4.2  </a:t>
            </a:r>
            <a:r>
              <a:rPr lang="zh-CN" altLang="en-US" sz="3600" u="sng"/>
              <a:t>链接管理命令（</a:t>
            </a:r>
            <a:r>
              <a:rPr lang="en-US" altLang="zh-CN" sz="4400" u="sng">
                <a:solidFill>
                  <a:srgbClr val="FF0000"/>
                </a:solidFill>
              </a:rPr>
              <a:t>ln</a:t>
            </a:r>
            <a:r>
              <a:rPr lang="zh-CN" altLang="en-US" sz="3600" u="sng"/>
              <a:t>）</a:t>
            </a:r>
          </a:p>
          <a:p>
            <a:pPr marL="0" indent="0" eaLnBrk="1" hangingPunct="1">
              <a:spcBef>
                <a:spcPct val="0"/>
              </a:spcBef>
              <a:spcAft>
                <a:spcPct val="0"/>
              </a:spcAft>
              <a:buFont typeface="Arial" panose="020B0604020202020204" pitchFamily="34" charset="0"/>
              <a:buNone/>
            </a:pPr>
            <a:r>
              <a:rPr lang="en-US" altLang="zh-CN" sz="3600" u="sng"/>
              <a:t>5.4.3 </a:t>
            </a:r>
            <a:r>
              <a:rPr lang="zh-CN" altLang="en-US" sz="3600" u="sng"/>
              <a:t>磁盘空间和文件系统使用情况统计</a:t>
            </a:r>
            <a:r>
              <a:rPr lang="en-US" altLang="zh-CN" sz="3600" u="sng"/>
              <a:t>(</a:t>
            </a:r>
            <a:r>
              <a:rPr lang="en-US" altLang="zh-CN" sz="3600" u="sng">
                <a:solidFill>
                  <a:srgbClr val="FF0000"/>
                </a:solidFill>
              </a:rPr>
              <a:t>df</a:t>
            </a:r>
            <a:r>
              <a:rPr lang="en-US" altLang="zh-CN" sz="3600" u="sng"/>
              <a:t>)</a:t>
            </a:r>
            <a:endParaRPr lang="zh-CN" altLang="en-US" sz="3600" u="sng"/>
          </a:p>
          <a:p>
            <a:pPr marL="0" indent="0" eaLnBrk="1" hangingPunct="1">
              <a:spcBef>
                <a:spcPct val="0"/>
              </a:spcBef>
              <a:spcAft>
                <a:spcPct val="0"/>
              </a:spcAft>
              <a:buFont typeface="Arial" panose="020B0604020202020204" pitchFamily="34" charset="0"/>
              <a:buNone/>
            </a:pPr>
            <a:r>
              <a:rPr lang="en-US" altLang="zh-CN" sz="3600" u="sng"/>
              <a:t>5.4.4  </a:t>
            </a:r>
            <a:r>
              <a:rPr lang="zh-CN" altLang="en-US" sz="3600" u="sng"/>
              <a:t>目录使用磁盘空间情况统计（</a:t>
            </a:r>
            <a:r>
              <a:rPr lang="en-US" altLang="zh-CN" sz="3600" u="sng">
                <a:solidFill>
                  <a:srgbClr val="FF0000"/>
                </a:solidFill>
              </a:rPr>
              <a:t>du</a:t>
            </a:r>
            <a:r>
              <a:rPr lang="zh-CN" altLang="en-US" sz="3600" u="sng"/>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9D9CE8AB-B8E2-143B-0371-C6A2467A0A80}"/>
              </a:ext>
            </a:extLst>
          </p:cNvPr>
          <p:cNvSpPr>
            <a:spLocks noGrp="1" noChangeArrowheads="1"/>
          </p:cNvSpPr>
          <p:nvPr>
            <p:ph type="title"/>
          </p:nvPr>
        </p:nvSpPr>
        <p:spPr/>
        <p:txBody>
          <a:bodyPr/>
          <a:lstStyle/>
          <a:p>
            <a:pPr eaLnBrk="1" hangingPunct="1"/>
            <a:r>
              <a:rPr lang="zh-CN" altLang="en-US" sz="4000"/>
              <a:t>5.4.1  文件综合查找命令（find）</a:t>
            </a:r>
          </a:p>
        </p:txBody>
      </p:sp>
      <p:sp>
        <p:nvSpPr>
          <p:cNvPr id="64515" name="内容占位符 2">
            <a:extLst>
              <a:ext uri="{FF2B5EF4-FFF2-40B4-BE49-F238E27FC236}">
                <a16:creationId xmlns:a16="http://schemas.microsoft.com/office/drawing/2014/main" id="{19E53494-ED80-42A2-C73A-D39A7521DC6B}"/>
              </a:ext>
            </a:extLst>
          </p:cNvPr>
          <p:cNvSpPr>
            <a:spLocks noGrp="1" noChangeArrowheads="1"/>
          </p:cNvSpPr>
          <p:nvPr>
            <p:ph idx="1"/>
          </p:nvPr>
        </p:nvSpPr>
        <p:spPr>
          <a:xfrm>
            <a:off x="0" y="549275"/>
            <a:ext cx="9144000" cy="5832475"/>
          </a:xfrm>
        </p:spPr>
        <p:txBody>
          <a:bodyPr/>
          <a:lstStyle/>
          <a:p>
            <a:pPr eaLnBrk="1" hangingPunct="1">
              <a:spcBef>
                <a:spcPct val="0"/>
              </a:spcBef>
              <a:spcAft>
                <a:spcPct val="0"/>
              </a:spcAft>
            </a:pPr>
            <a:r>
              <a:rPr lang="zh-CN" altLang="en-US" sz="3600"/>
              <a:t>1．功能及用法</a:t>
            </a:r>
          </a:p>
          <a:p>
            <a:pPr eaLnBrk="1" hangingPunct="1">
              <a:spcBef>
                <a:spcPct val="0"/>
              </a:spcBef>
              <a:spcAft>
                <a:spcPct val="0"/>
              </a:spcAft>
            </a:pPr>
            <a:r>
              <a:rPr lang="zh-CN" altLang="en-US" sz="4800">
                <a:solidFill>
                  <a:srgbClr val="FF0000"/>
                </a:solidFill>
              </a:rPr>
              <a:t>find</a:t>
            </a:r>
            <a:r>
              <a:rPr lang="zh-CN" altLang="en-US" sz="3600"/>
              <a:t>命令用于</a:t>
            </a:r>
            <a:r>
              <a:rPr lang="zh-CN" altLang="en-US" sz="4800">
                <a:solidFill>
                  <a:srgbClr val="FF0000"/>
                </a:solidFill>
              </a:rPr>
              <a:t>文件的查找</a:t>
            </a:r>
            <a:r>
              <a:rPr lang="zh-CN" altLang="en-US" sz="3600"/>
              <a:t>，从而定位文件在指定文件系统中的位置，其用法为：</a:t>
            </a:r>
          </a:p>
          <a:p>
            <a:pPr eaLnBrk="1" hangingPunct="1">
              <a:spcBef>
                <a:spcPct val="0"/>
              </a:spcBef>
              <a:spcAft>
                <a:spcPct val="0"/>
              </a:spcAft>
            </a:pPr>
            <a:r>
              <a:rPr lang="zh-CN" altLang="en-US" sz="4800">
                <a:solidFill>
                  <a:srgbClr val="FF0000"/>
                </a:solidFill>
              </a:rPr>
              <a:t>find </a:t>
            </a:r>
            <a:r>
              <a:rPr lang="zh-CN" altLang="en-US" sz="3600">
                <a:solidFill>
                  <a:srgbClr val="FF0000"/>
                </a:solidFill>
              </a:rPr>
              <a:t>[path ...] [expression] </a:t>
            </a:r>
            <a:r>
              <a:rPr lang="zh-CN" altLang="en-US" sz="3600"/>
              <a:t>...</a:t>
            </a:r>
          </a:p>
          <a:p>
            <a:pPr eaLnBrk="1" hangingPunct="1">
              <a:spcBef>
                <a:spcPct val="0"/>
              </a:spcBef>
              <a:spcAft>
                <a:spcPct val="0"/>
              </a:spcAft>
            </a:pPr>
            <a:r>
              <a:rPr lang="zh-CN" altLang="en-US" sz="3600"/>
              <a:t>find在文件查找过程中有很多指标供使用。在find的所有参数中，位于命令名后第一个选项前的参数为</a:t>
            </a:r>
            <a:r>
              <a:rPr lang="zh-CN" altLang="en-US" sz="3600">
                <a:solidFill>
                  <a:srgbClr val="FF0000"/>
                </a:solidFill>
              </a:rPr>
              <a:t>查找位置</a:t>
            </a:r>
            <a:r>
              <a:rPr lang="zh-CN" altLang="en-US" sz="3600"/>
              <a:t>，若无则</a:t>
            </a:r>
            <a:r>
              <a:rPr lang="zh-CN" altLang="en-US" sz="3600">
                <a:solidFill>
                  <a:srgbClr val="FF0000"/>
                </a:solidFill>
              </a:rPr>
              <a:t>默认为当前目录</a:t>
            </a:r>
            <a:r>
              <a:rPr lang="zh-CN" altLang="en-US" sz="3600"/>
              <a:t>。如果也没有指定参数或查找指标，则默认为-print。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4AA4BDFE-1262-111C-B814-80589C4EBB74}"/>
              </a:ext>
            </a:extLst>
          </p:cNvPr>
          <p:cNvSpPr>
            <a:spLocks noGrp="1" noChangeArrowheads="1"/>
          </p:cNvSpPr>
          <p:nvPr>
            <p:ph type="title"/>
          </p:nvPr>
        </p:nvSpPr>
        <p:spPr/>
        <p:txBody>
          <a:bodyPr/>
          <a:lstStyle/>
          <a:p>
            <a:pPr eaLnBrk="1" hangingPunct="1"/>
            <a:r>
              <a:rPr lang="zh-CN" altLang="en-US" sz="4000"/>
              <a:t>5.4.1  文件综合查找命令（find）</a:t>
            </a:r>
          </a:p>
        </p:txBody>
      </p:sp>
      <p:sp>
        <p:nvSpPr>
          <p:cNvPr id="65539" name="内容占位符 2">
            <a:extLst>
              <a:ext uri="{FF2B5EF4-FFF2-40B4-BE49-F238E27FC236}">
                <a16:creationId xmlns:a16="http://schemas.microsoft.com/office/drawing/2014/main" id="{959C6C2C-005C-A555-5540-B8862452FB4B}"/>
              </a:ext>
            </a:extLst>
          </p:cNvPr>
          <p:cNvSpPr>
            <a:spLocks noGrp="1" noChangeArrowheads="1"/>
          </p:cNvSpPr>
          <p:nvPr>
            <p:ph idx="1"/>
          </p:nvPr>
        </p:nvSpPr>
        <p:spPr/>
        <p:txBody>
          <a:bodyPr/>
          <a:lstStyle/>
          <a:p>
            <a:pPr eaLnBrk="1" hangingPunct="1">
              <a:spcBef>
                <a:spcPct val="0"/>
              </a:spcBef>
              <a:spcAft>
                <a:spcPct val="0"/>
              </a:spcAft>
            </a:pPr>
            <a:r>
              <a:rPr lang="zh-CN" altLang="en-US" sz="2400"/>
              <a:t>2．参数描述</a:t>
            </a:r>
          </a:p>
          <a:p>
            <a:pPr eaLnBrk="1" hangingPunct="1">
              <a:spcBef>
                <a:spcPct val="0"/>
              </a:spcBef>
              <a:spcAft>
                <a:spcPct val="0"/>
              </a:spcAft>
            </a:pPr>
            <a:r>
              <a:rPr lang="zh-CN" altLang="en-US" sz="2400"/>
              <a:t>expression由操作符连接参数、判断和动作组成。</a:t>
            </a:r>
          </a:p>
        </p:txBody>
      </p:sp>
      <p:graphicFrame>
        <p:nvGraphicFramePr>
          <p:cNvPr id="2" name="表格 -1">
            <a:extLst>
              <a:ext uri="{FF2B5EF4-FFF2-40B4-BE49-F238E27FC236}">
                <a16:creationId xmlns:a16="http://schemas.microsoft.com/office/drawing/2014/main" id="{D62E276D-3176-5A5D-9912-4E8730C6C93A}"/>
              </a:ext>
            </a:extLst>
          </p:cNvPr>
          <p:cNvGraphicFramePr>
            <a:graphicFrameLocks noGrp="1"/>
          </p:cNvGraphicFramePr>
          <p:nvPr/>
        </p:nvGraphicFramePr>
        <p:xfrm>
          <a:off x="107950" y="1484313"/>
          <a:ext cx="9036050" cy="4916487"/>
        </p:xfrm>
        <a:graphic>
          <a:graphicData uri="http://schemas.openxmlformats.org/drawingml/2006/table">
            <a:tbl>
              <a:tblPr/>
              <a:tblGrid>
                <a:gridCol w="1152071">
                  <a:extLst>
                    <a:ext uri="{9D8B030D-6E8A-4147-A177-3AD203B41FA5}">
                      <a16:colId xmlns:a16="http://schemas.microsoft.com/office/drawing/2014/main" val="20000"/>
                    </a:ext>
                  </a:extLst>
                </a:gridCol>
                <a:gridCol w="2088129">
                  <a:extLst>
                    <a:ext uri="{9D8B030D-6E8A-4147-A177-3AD203B41FA5}">
                      <a16:colId xmlns:a16="http://schemas.microsoft.com/office/drawing/2014/main" val="20001"/>
                    </a:ext>
                  </a:extLst>
                </a:gridCol>
                <a:gridCol w="5795850">
                  <a:extLst>
                    <a:ext uri="{9D8B030D-6E8A-4147-A177-3AD203B41FA5}">
                      <a16:colId xmlns:a16="http://schemas.microsoft.com/office/drawing/2014/main" val="20002"/>
                    </a:ext>
                  </a:extLst>
                </a:gridCol>
              </a:tblGrid>
              <a:tr h="3076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参数类型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a:t>
                      </a:r>
                      <a:r>
                        <a:rPr kumimoji="0" lang="zh-CN" altLang="en-US" sz="2000" b="1" i="0" u="none" strike="noStrike" cap="none" normalizeH="0" baseline="0">
                          <a:ln>
                            <a:noFill/>
                          </a:ln>
                          <a:solidFill>
                            <a:schemeClr val="tx1"/>
                          </a:solidFill>
                          <a:effectLst/>
                          <a:latin typeface="宋体" pitchFamily="2" charset="-122"/>
                          <a:ea typeface="宋体" pitchFamily="2" charset="-122"/>
                        </a:rPr>
                        <a:t>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意</a:t>
                      </a:r>
                      <a:r>
                        <a:rPr kumimoji="0" lang="zh-CN" altLang="en-US" sz="2000" b="1" i="0" u="none" strike="noStrike" cap="none" normalizeH="0" baseline="0">
                          <a:ln>
                            <a:noFill/>
                          </a:ln>
                          <a:solidFill>
                            <a:schemeClr val="tx1"/>
                          </a:solidFill>
                          <a:effectLst/>
                          <a:latin typeface="宋体" pitchFamily="2" charset="-122"/>
                          <a:ea typeface="宋体" pitchFamily="2" charset="-122"/>
                        </a:rPr>
                        <a:t>    </a:t>
                      </a: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义</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80">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选项</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daystart</a:t>
                      </a:r>
                      <a:endPar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从当日</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开</a:t>
                      </a:r>
                      <a:r>
                        <a:rPr kumimoji="0" lang="zh-CN" altLang="en-US"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始计算时间，否则从</a:t>
                      </a:r>
                      <a:r>
                        <a:rPr kumimoji="0" lang="en-US" altLang="zh-CN"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24</a:t>
                      </a:r>
                      <a:r>
                        <a:rPr kumimoji="0" lang="zh-CN" altLang="en-US"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小时前</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。配合时间参数使用</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-depth</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在查找完当前目录后再进入子目录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-follow</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跟踪符号链接</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-mount/-xdev</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不搜索在其他文件系统上的内容</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7629">
                <a:tc rowSpan="10">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测试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数字</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表示</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表示</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&lt;n</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r>
                        <a:rPr kumimoji="0" lang="zh-CN" altLang="en-US" sz="2000" b="1" i="0" u="none" strike="noStrike" cap="none" normalizeH="0" baseline="0" dirty="0">
                          <a:ln>
                            <a:noFill/>
                          </a:ln>
                          <a:solidFill>
                            <a:schemeClr val="tx1"/>
                          </a:solidFill>
                          <a:effectLst/>
                          <a:latin typeface="宋体" pitchFamily="2" charset="-122"/>
                          <a:ea typeface="宋体" pitchFamily="2" charset="-122"/>
                        </a:rPr>
                        <a:t>表示</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大于</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-name pattern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指定文件名。</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pattern</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中可以包含通配符</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-amin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指定最近曾访问时间，单位为分钟。参见“数字”</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-cmin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指定最近状态被修改时间。参见</a:t>
                      </a: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kern="1200" cap="none" normalizeH="0" baseline="0" dirty="0" err="1">
                          <a:ln>
                            <a:noFill/>
                          </a:ln>
                          <a:solidFill>
                            <a:schemeClr val="tx1"/>
                          </a:solidFill>
                          <a:effectLst/>
                          <a:latin typeface="Times New Roman" pitchFamily="18" charset="0"/>
                          <a:ea typeface="宋体" pitchFamily="2" charset="-122"/>
                          <a:cs typeface="Times New Roman" pitchFamily="18" charset="0"/>
                        </a:rPr>
                        <a:t>amin</a:t>
                      </a: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-mmin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指定最近曾修改时间。参见</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amin</a:t>
                      </a: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-atime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指定最近曾访问时间，单位为</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24H</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。参见</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amin</a:t>
                      </a: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-ctime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指定最近状态被修改时间。参见</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atime</a:t>
                      </a: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-mtime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指定最近被修改时间。参见</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atime</a:t>
                      </a: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-anewer file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存取时间较</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file</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近</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0762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-cnewer file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状态改变时间较</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file</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近</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91D0DEE4-CF01-9DBB-6D7D-8A1A99853941}"/>
              </a:ext>
            </a:extLst>
          </p:cNvPr>
          <p:cNvSpPr>
            <a:spLocks noGrp="1" noChangeArrowheads="1"/>
          </p:cNvSpPr>
          <p:nvPr>
            <p:ph type="title"/>
          </p:nvPr>
        </p:nvSpPr>
        <p:spPr/>
        <p:txBody>
          <a:bodyPr/>
          <a:lstStyle/>
          <a:p>
            <a:pPr eaLnBrk="1" hangingPunct="1"/>
            <a:r>
              <a:rPr lang="zh-CN" altLang="en-US" sz="4000"/>
              <a:t>5.4.1  文件综合查找命令（find）</a:t>
            </a:r>
          </a:p>
        </p:txBody>
      </p:sp>
      <p:graphicFrame>
        <p:nvGraphicFramePr>
          <p:cNvPr id="4" name="表格 3">
            <a:extLst>
              <a:ext uri="{FF2B5EF4-FFF2-40B4-BE49-F238E27FC236}">
                <a16:creationId xmlns:a16="http://schemas.microsoft.com/office/drawing/2014/main" id="{A895F1FB-5C90-A8A1-C93E-F603CB2008C6}"/>
              </a:ext>
            </a:extLst>
          </p:cNvPr>
          <p:cNvGraphicFramePr>
            <a:graphicFrameLocks noGrp="1"/>
          </p:cNvGraphicFramePr>
          <p:nvPr/>
        </p:nvGraphicFramePr>
        <p:xfrm>
          <a:off x="107950" y="620713"/>
          <a:ext cx="9001125" cy="5924550"/>
        </p:xfrm>
        <a:graphic>
          <a:graphicData uri="http://schemas.openxmlformats.org/drawingml/2006/table">
            <a:tbl>
              <a:tblPr/>
              <a:tblGrid>
                <a:gridCol w="1448718">
                  <a:extLst>
                    <a:ext uri="{9D8B030D-6E8A-4147-A177-3AD203B41FA5}">
                      <a16:colId xmlns:a16="http://schemas.microsoft.com/office/drawing/2014/main" val="20000"/>
                    </a:ext>
                  </a:extLst>
                </a:gridCol>
                <a:gridCol w="3052880">
                  <a:extLst>
                    <a:ext uri="{9D8B030D-6E8A-4147-A177-3AD203B41FA5}">
                      <a16:colId xmlns:a16="http://schemas.microsoft.com/office/drawing/2014/main" val="20001"/>
                    </a:ext>
                  </a:extLst>
                </a:gridCol>
                <a:gridCol w="4499526">
                  <a:extLst>
                    <a:ext uri="{9D8B030D-6E8A-4147-A177-3AD203B41FA5}">
                      <a16:colId xmlns:a16="http://schemas.microsoft.com/office/drawing/2014/main" val="20002"/>
                    </a:ext>
                  </a:extLst>
                </a:gridCol>
              </a:tblGrid>
              <a:tr h="38399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1800" b="1" i="0" u="none" strike="noStrike" cap="none" normalizeH="0" baseline="0" dirty="0">
                          <a:ln>
                            <a:noFill/>
                          </a:ln>
                          <a:solidFill>
                            <a:schemeClr val="tx1"/>
                          </a:solidFill>
                          <a:effectLst/>
                          <a:latin typeface="宋体" pitchFamily="2" charset="-122"/>
                          <a:ea typeface="宋体" pitchFamily="2" charset="-122"/>
                        </a:rPr>
                        <a:t> </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r>
                        <a:rPr kumimoji="0" lang="zh-CN" altLang="en-US" sz="1800" b="1" i="0" u="none" strike="noStrike" cap="none" normalizeH="0" baseline="0" dirty="0">
                          <a:ln>
                            <a:noFill/>
                          </a:ln>
                          <a:solidFill>
                            <a:schemeClr val="tx1"/>
                          </a:solidFill>
                          <a:effectLst/>
                          <a:latin typeface="宋体" pitchFamily="2" charset="-122"/>
                          <a:ea typeface="宋体" pitchFamily="2" charset="-122"/>
                        </a:rPr>
                        <a:t> </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类</a:t>
                      </a:r>
                      <a:r>
                        <a:rPr kumimoji="0" lang="zh-CN" altLang="en-US" sz="1800" b="1" i="0" u="none" strike="noStrike" cap="none" normalizeH="0" baseline="0" dirty="0">
                          <a:ln>
                            <a:noFill/>
                          </a:ln>
                          <a:solidFill>
                            <a:schemeClr val="tx1"/>
                          </a:solidFill>
                          <a:effectLst/>
                          <a:latin typeface="宋体" pitchFamily="2" charset="-122"/>
                          <a:ea typeface="宋体" pitchFamily="2" charset="-122"/>
                        </a:rPr>
                        <a:t> </a:t>
                      </a: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a:t>
                      </a:r>
                      <a:r>
                        <a:rPr kumimoji="0" lang="zh-CN" altLang="en-US" sz="1800" b="1" i="0" u="none" strike="noStrike" cap="none" normalizeH="0" baseline="0">
                          <a:ln>
                            <a:noFill/>
                          </a:ln>
                          <a:solidFill>
                            <a:schemeClr val="tx1"/>
                          </a:solidFill>
                          <a:effectLst/>
                          <a:latin typeface="宋体" pitchFamily="2" charset="-122"/>
                          <a:ea typeface="宋体" pitchFamily="2" charset="-122"/>
                        </a:rPr>
                        <a:t>    </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意</a:t>
                      </a:r>
                      <a:r>
                        <a:rPr kumimoji="0" lang="zh-CN" altLang="en-US" sz="1800" b="1" i="0" u="none" strike="noStrike" cap="none" normalizeH="0" baseline="0">
                          <a:ln>
                            <a:noFill/>
                          </a:ln>
                          <a:solidFill>
                            <a:schemeClr val="tx1"/>
                          </a:solidFill>
                          <a:effectLst/>
                          <a:latin typeface="宋体" pitchFamily="2" charset="-122"/>
                          <a:ea typeface="宋体" pitchFamily="2" charset="-122"/>
                        </a:rPr>
                        <a:t>    </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义</a:t>
                      </a:r>
                    </a:p>
                  </a:txBody>
                  <a:tcPr marL="0" marR="0" marT="0" marB="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3994">
                <a:tc rowSpan="1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测试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-newer file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修改时间较</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file</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近</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-empty</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空文件或空目录</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864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-executable</a:t>
                      </a:r>
                      <a:r>
                        <a:rPr kumimoji="0" lang="en-US" altLang="zh-CN" sz="1800" b="1" i="0" u="none" strike="noStrike" cap="none" normalizeH="0" baseline="0">
                          <a:ln>
                            <a:noFill/>
                          </a:ln>
                          <a:solidFill>
                            <a:schemeClr val="tx1"/>
                          </a:solidFill>
                          <a:effectLst/>
                          <a:latin typeface="宋体" pitchFamily="2" charset="-122"/>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-readable</a:t>
                      </a:r>
                      <a:r>
                        <a:rPr kumimoji="0" lang="en-US" altLang="zh-CN" sz="1800" b="1" i="0" u="none" strike="noStrike" cap="none" normalizeH="0" baseline="0">
                          <a:ln>
                            <a:noFill/>
                          </a:ln>
                          <a:solidFill>
                            <a:schemeClr val="tx1"/>
                          </a:solidFill>
                          <a:effectLst/>
                          <a:latin typeface="宋体" pitchFamily="2" charset="-122"/>
                          <a:ea typeface="宋体" pitchFamily="2" charset="-122"/>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-writable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宋体" pitchFamily="2" charset="-122"/>
                          <a:ea typeface="宋体" pitchFamily="2" charset="-122"/>
                        </a:rPr>
                        <a:t>可执行</a:t>
                      </a:r>
                      <a:r>
                        <a:rPr kumimoji="0" lang="en-US" altLang="zh-CN" sz="1800" b="1" i="0" u="none" strike="noStrike" cap="none" normalizeH="0" baseline="0">
                          <a:ln>
                            <a:noFill/>
                          </a:ln>
                          <a:solidFill>
                            <a:schemeClr val="tx1"/>
                          </a:solidFill>
                          <a:effectLst/>
                          <a:latin typeface="宋体" pitchFamily="2" charset="-122"/>
                          <a:ea typeface="宋体" pitchFamily="2" charset="-122"/>
                        </a:rPr>
                        <a:t>/</a:t>
                      </a:r>
                      <a:r>
                        <a:rPr kumimoji="0" lang="zh-CN" altLang="en-US" sz="1800" b="1" i="0" u="none" strike="noStrike" cap="none" normalizeH="0" baseline="0">
                          <a:ln>
                            <a:noFill/>
                          </a:ln>
                          <a:solidFill>
                            <a:schemeClr val="tx1"/>
                          </a:solidFill>
                          <a:effectLst/>
                          <a:latin typeface="宋体" pitchFamily="2" charset="-122"/>
                          <a:ea typeface="宋体" pitchFamily="2" charset="-122"/>
                        </a:rPr>
                        <a:t>可读</a:t>
                      </a:r>
                      <a:r>
                        <a:rPr kumimoji="0" lang="en-US" altLang="zh-CN" sz="1800" b="1" i="0" u="none" strike="noStrike" cap="none" normalizeH="0" baseline="0">
                          <a:ln>
                            <a:noFill/>
                          </a:ln>
                          <a:solidFill>
                            <a:schemeClr val="tx1"/>
                          </a:solidFill>
                          <a:effectLst/>
                          <a:latin typeface="宋体" pitchFamily="2" charset="-122"/>
                          <a:ea typeface="宋体" pitchFamily="2" charset="-122"/>
                        </a:rPr>
                        <a:t>/</a:t>
                      </a:r>
                      <a:r>
                        <a:rPr kumimoji="0" lang="zh-CN" altLang="en-US" sz="1800" b="1" i="0" u="none" strike="noStrike" cap="none" normalizeH="0" baseline="0">
                          <a:ln>
                            <a:noFill/>
                          </a:ln>
                          <a:solidFill>
                            <a:schemeClr val="tx1"/>
                          </a:solidFill>
                          <a:effectLst/>
                          <a:latin typeface="宋体" pitchFamily="2" charset="-122"/>
                          <a:ea typeface="宋体" pitchFamily="2" charset="-122"/>
                        </a:rPr>
                        <a:t>可写</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-fstype type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指定文件类型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-group gname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指定组名或</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gid</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-user uname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指定用户名或</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uid</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-perm PERM</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指定权限。</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PERM</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可为</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+nnnn</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-nnnn</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或</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nnnn</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-regex pattn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指定正则表达式</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-size n[cwbk]</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指定大小，默认为块（</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-type t/-xtype 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指定文件类型：</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和</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等</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-true / -false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返回</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true / false</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-inum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节点号，参见</a:t>
                      </a:r>
                      <a:r>
                        <a:rPr kumimoji="0" lang="zh-CN" altLang="en-US" sz="1800" b="1" i="0" u="none" strike="noStrike" cap="none" normalizeH="0" baseline="0">
                          <a:ln>
                            <a:noFill/>
                          </a:ln>
                          <a:solidFill>
                            <a:schemeClr val="tx1"/>
                          </a:solidFill>
                          <a:effectLst/>
                          <a:latin typeface="宋体" pitchFamily="2" charset="-122"/>
                          <a:ea typeface="宋体" pitchFamily="2" charset="-122"/>
                        </a:rPr>
                        <a:t>“</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数字</a:t>
                      </a:r>
                      <a:r>
                        <a:rPr kumimoji="0" lang="zh-CN" altLang="en-US" sz="1800" b="1" i="0" u="none" strike="noStrike" cap="none" normalizeH="0" baseline="0">
                          <a:ln>
                            <a:noFill/>
                          </a:ln>
                          <a:solidFill>
                            <a:schemeClr val="tx1"/>
                          </a:solidFill>
                          <a:effectLst/>
                          <a:latin typeface="宋体" pitchFamily="2" charset="-122"/>
                          <a:ea typeface="宋体" pitchFamily="2" charset="-122"/>
                        </a:rPr>
                        <a:t>”</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-links n</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指定链接数，参见</a:t>
                      </a:r>
                      <a:r>
                        <a:rPr kumimoji="0" lang="zh-CN" altLang="en-US" sz="1800" b="1" i="0" u="none" strike="noStrike" cap="none" normalizeH="0" baseline="0">
                          <a:ln>
                            <a:noFill/>
                          </a:ln>
                          <a:solidFill>
                            <a:schemeClr val="tx1"/>
                          </a:solidFill>
                          <a:effectLst/>
                          <a:latin typeface="宋体" pitchFamily="2" charset="-122"/>
                          <a:ea typeface="宋体" pitchFamily="2" charset="-122"/>
                        </a:rPr>
                        <a:t>“</a:t>
                      </a:r>
                      <a:r>
                        <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数字</a:t>
                      </a:r>
                      <a:r>
                        <a:rPr kumimoji="0" lang="zh-CN" altLang="en-US" sz="1800" b="1" i="0" u="none" strike="noStrike" cap="none" normalizeH="0" baseline="0">
                          <a:ln>
                            <a:noFill/>
                          </a:ln>
                          <a:solidFill>
                            <a:schemeClr val="tx1"/>
                          </a:solidFill>
                          <a:effectLst/>
                          <a:latin typeface="宋体" pitchFamily="2" charset="-122"/>
                          <a:ea typeface="宋体" pitchFamily="2" charset="-122"/>
                        </a:rPr>
                        <a:t>”</a:t>
                      </a:r>
                      <a:endParaRPr kumimoji="0" lang="zh-CN" altLang="en-US"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8399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-mindepth/-maxdepth d</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设置目录搜索的深度</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693A65B2-7CBF-194D-D8C8-AC4992E8D517}"/>
              </a:ext>
            </a:extLst>
          </p:cNvPr>
          <p:cNvSpPr>
            <a:spLocks noGrp="1" noChangeArrowheads="1"/>
          </p:cNvSpPr>
          <p:nvPr>
            <p:ph type="title"/>
          </p:nvPr>
        </p:nvSpPr>
        <p:spPr/>
        <p:txBody>
          <a:bodyPr/>
          <a:lstStyle/>
          <a:p>
            <a:pPr eaLnBrk="1" hangingPunct="1"/>
            <a:r>
              <a:rPr lang="zh-CN" altLang="en-US" sz="4000"/>
              <a:t>5.4.1  文件综合查找命令（find）</a:t>
            </a:r>
          </a:p>
        </p:txBody>
      </p:sp>
      <p:sp>
        <p:nvSpPr>
          <p:cNvPr id="67587" name="内容占位符 2">
            <a:extLst>
              <a:ext uri="{FF2B5EF4-FFF2-40B4-BE49-F238E27FC236}">
                <a16:creationId xmlns:a16="http://schemas.microsoft.com/office/drawing/2014/main" id="{B642EFDB-4793-8C04-F3E2-6C71810355B0}"/>
              </a:ext>
            </a:extLst>
          </p:cNvPr>
          <p:cNvSpPr>
            <a:spLocks noGrp="1" noChangeArrowheads="1"/>
          </p:cNvSpPr>
          <p:nvPr>
            <p:ph idx="1"/>
          </p:nvPr>
        </p:nvSpPr>
        <p:spPr>
          <a:xfrm>
            <a:off x="34925" y="620713"/>
            <a:ext cx="8631238" cy="5761037"/>
          </a:xfrm>
        </p:spPr>
        <p:txBody>
          <a:bodyPr/>
          <a:lstStyle/>
          <a:p>
            <a:pPr eaLnBrk="1" hangingPunct="1"/>
            <a:endParaRPr lang="zh-CN" altLang="en-US" sz="2000"/>
          </a:p>
          <a:p>
            <a:pPr eaLnBrk="1" hangingPunct="1"/>
            <a:endParaRPr lang="zh-CN" altLang="en-US" sz="2000"/>
          </a:p>
          <a:p>
            <a:pPr eaLnBrk="1" hangingPunct="1"/>
            <a:endParaRPr lang="zh-CN" altLang="en-US" sz="2000"/>
          </a:p>
          <a:p>
            <a:pPr eaLnBrk="1" hangingPunct="1"/>
            <a:endParaRPr lang="zh-CN" altLang="en-US" sz="2000"/>
          </a:p>
          <a:p>
            <a:pPr eaLnBrk="1" hangingPunct="1"/>
            <a:endParaRPr lang="zh-CN" altLang="en-US" sz="2000"/>
          </a:p>
          <a:p>
            <a:pPr eaLnBrk="1" hangingPunct="1"/>
            <a:endParaRPr lang="zh-CN" altLang="en-US" sz="2000"/>
          </a:p>
          <a:p>
            <a:pPr eaLnBrk="1" hangingPunct="1"/>
            <a:endParaRPr lang="zh-CN" altLang="en-US" sz="2000"/>
          </a:p>
          <a:p>
            <a:pPr eaLnBrk="1" hangingPunct="1">
              <a:spcBef>
                <a:spcPct val="0"/>
              </a:spcBef>
              <a:spcAft>
                <a:spcPct val="0"/>
              </a:spcAft>
            </a:pPr>
            <a:r>
              <a:rPr lang="zh-CN" altLang="en-US" sz="2400"/>
              <a:t>在“-exec cmd {} \;”、“-exec cmd {} +”或“-ok cmd {} \;”中，cmd和“;”之间至少要有一个空格，{}之内不能有内容（空格也不行）。</a:t>
            </a:r>
          </a:p>
          <a:p>
            <a:pPr eaLnBrk="1" hangingPunct="1">
              <a:spcBef>
                <a:spcPct val="0"/>
              </a:spcBef>
              <a:spcAft>
                <a:spcPct val="0"/>
              </a:spcAft>
            </a:pPr>
            <a:r>
              <a:rPr lang="zh-CN" altLang="en-US">
                <a:solidFill>
                  <a:srgbClr val="FF0000"/>
                </a:solidFill>
              </a:rPr>
              <a:t>find命令的功能</a:t>
            </a:r>
            <a:r>
              <a:rPr lang="zh-CN" altLang="en-US"/>
              <a:t>的确是用于文件的</a:t>
            </a:r>
            <a:r>
              <a:rPr lang="zh-CN" altLang="en-US">
                <a:solidFill>
                  <a:srgbClr val="FF0000"/>
                </a:solidFill>
              </a:rPr>
              <a:t>查找与定位</a:t>
            </a:r>
            <a:r>
              <a:rPr lang="zh-CN" altLang="en-US"/>
              <a:t>，但它的</a:t>
            </a:r>
            <a:r>
              <a:rPr lang="zh-CN" altLang="en-US">
                <a:solidFill>
                  <a:srgbClr val="FF0000"/>
                </a:solidFill>
              </a:rPr>
              <a:t>功能不仅限于此</a:t>
            </a:r>
            <a:r>
              <a:rPr lang="zh-CN" altLang="en-US"/>
              <a:t>，</a:t>
            </a:r>
            <a:r>
              <a:rPr lang="zh-CN" altLang="en-US">
                <a:solidFill>
                  <a:srgbClr val="FF0000"/>
                </a:solidFill>
              </a:rPr>
              <a:t>可以利用它与其他命令配合</a:t>
            </a:r>
            <a:r>
              <a:rPr lang="zh-CN" altLang="en-US"/>
              <a:t>工作，而完成</a:t>
            </a:r>
            <a:r>
              <a:rPr lang="zh-CN" altLang="en-US">
                <a:solidFill>
                  <a:srgbClr val="FF0000"/>
                </a:solidFill>
              </a:rPr>
              <a:t>特定任务</a:t>
            </a:r>
            <a:r>
              <a:rPr lang="zh-CN" altLang="en-US" sz="2400"/>
              <a:t>。</a:t>
            </a:r>
          </a:p>
        </p:txBody>
      </p:sp>
      <p:graphicFrame>
        <p:nvGraphicFramePr>
          <p:cNvPr id="2" name="表格 -1">
            <a:extLst>
              <a:ext uri="{FF2B5EF4-FFF2-40B4-BE49-F238E27FC236}">
                <a16:creationId xmlns:a16="http://schemas.microsoft.com/office/drawing/2014/main" id="{601F1FB4-2E7A-6E0A-7885-CEC1951C054D}"/>
              </a:ext>
            </a:extLst>
          </p:cNvPr>
          <p:cNvGraphicFramePr>
            <a:graphicFrameLocks noGrp="1"/>
          </p:cNvGraphicFramePr>
          <p:nvPr/>
        </p:nvGraphicFramePr>
        <p:xfrm>
          <a:off x="34925" y="549275"/>
          <a:ext cx="9001125" cy="3600450"/>
        </p:xfrm>
        <a:graphic>
          <a:graphicData uri="http://schemas.openxmlformats.org/drawingml/2006/table">
            <a:tbl>
              <a:tblPr/>
              <a:tblGrid>
                <a:gridCol w="1198815">
                  <a:extLst>
                    <a:ext uri="{9D8B030D-6E8A-4147-A177-3AD203B41FA5}">
                      <a16:colId xmlns:a16="http://schemas.microsoft.com/office/drawing/2014/main" val="20000"/>
                    </a:ext>
                  </a:extLst>
                </a:gridCol>
                <a:gridCol w="2037319">
                  <a:extLst>
                    <a:ext uri="{9D8B030D-6E8A-4147-A177-3AD203B41FA5}">
                      <a16:colId xmlns:a16="http://schemas.microsoft.com/office/drawing/2014/main" val="20001"/>
                    </a:ext>
                  </a:extLst>
                </a:gridCol>
                <a:gridCol w="5764991">
                  <a:extLst>
                    <a:ext uri="{9D8B030D-6E8A-4147-A177-3AD203B41FA5}">
                      <a16:colId xmlns:a16="http://schemas.microsoft.com/office/drawing/2014/main" val="20002"/>
                    </a:ext>
                  </a:extLst>
                </a:gridCol>
              </a:tblGrid>
              <a:tr h="31308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a:t>
                      </a:r>
                      <a:r>
                        <a:rPr kumimoji="0" lang="zh-CN" altLang="en-US" sz="1600" b="1" i="0" u="none" strike="noStrike" cap="none" normalizeH="0" baseline="0" dirty="0">
                          <a:ln>
                            <a:noFill/>
                          </a:ln>
                          <a:solidFill>
                            <a:schemeClr val="tx1"/>
                          </a:solidFill>
                          <a:effectLst/>
                          <a:latin typeface="宋体" pitchFamily="2" charset="-122"/>
                          <a:ea typeface="宋体" pitchFamily="2" charset="-122"/>
                        </a:rPr>
                        <a:t> </a:t>
                      </a:r>
                      <a:r>
                        <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数</a:t>
                      </a:r>
                      <a:r>
                        <a:rPr kumimoji="0" lang="zh-CN" altLang="en-US" sz="1600" b="1" i="0" u="none" strike="noStrike" cap="none" normalizeH="0" baseline="0" dirty="0">
                          <a:ln>
                            <a:noFill/>
                          </a:ln>
                          <a:solidFill>
                            <a:schemeClr val="tx1"/>
                          </a:solidFill>
                          <a:effectLst/>
                          <a:latin typeface="宋体" pitchFamily="2" charset="-122"/>
                          <a:ea typeface="宋体" pitchFamily="2" charset="-122"/>
                        </a:rPr>
                        <a:t> </a:t>
                      </a:r>
                      <a:r>
                        <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类</a:t>
                      </a:r>
                      <a:r>
                        <a:rPr kumimoji="0" lang="zh-CN" altLang="en-US" sz="1600" b="1" i="0" u="none" strike="noStrike" cap="none" normalizeH="0" baseline="0" dirty="0">
                          <a:ln>
                            <a:noFill/>
                          </a:ln>
                          <a:solidFill>
                            <a:schemeClr val="tx1"/>
                          </a:solidFill>
                          <a:effectLst/>
                          <a:latin typeface="宋体" pitchFamily="2" charset="-122"/>
                          <a:ea typeface="宋体" pitchFamily="2" charset="-122"/>
                        </a:rPr>
                        <a:t> </a:t>
                      </a:r>
                      <a:r>
                        <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型</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a:t>
                      </a:r>
                      <a:r>
                        <a:rPr kumimoji="0" lang="zh-CN" altLang="en-US" sz="1600" b="1" i="0" u="none" strike="noStrike" cap="none" normalizeH="0" baseline="0">
                          <a:ln>
                            <a:noFill/>
                          </a:ln>
                          <a:solidFill>
                            <a:schemeClr val="tx1"/>
                          </a:solidFill>
                          <a:effectLst/>
                          <a:latin typeface="宋体" pitchFamily="2" charset="-122"/>
                          <a:ea typeface="宋体" pitchFamily="2" charset="-122"/>
                        </a:rPr>
                        <a:t>    </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数</a:t>
                      </a: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意</a:t>
                      </a:r>
                      <a:r>
                        <a:rPr kumimoji="0" lang="zh-CN" altLang="en-US" sz="1600" b="1" i="0" u="none" strike="noStrike" cap="none" normalizeH="0" baseline="0">
                          <a:ln>
                            <a:noFill/>
                          </a:ln>
                          <a:solidFill>
                            <a:schemeClr val="tx1"/>
                          </a:solidFill>
                          <a:effectLst/>
                          <a:latin typeface="宋体" pitchFamily="2" charset="-122"/>
                          <a:ea typeface="宋体" pitchFamily="2" charset="-122"/>
                        </a:rPr>
                        <a:t>    </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义</a:t>
                      </a:r>
                    </a:p>
                  </a:txBody>
                  <a:tcPr marL="0" marR="0" marT="0" marB="1"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9537">
                <a:tc rowSpan="6">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操作</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-print</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将结果写到标准输出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53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-fprint file</a:t>
                      </a:r>
                      <a:r>
                        <a:rPr kumimoji="0" lang="en-US" altLang="zh-CN" sz="1600" b="1" i="0" u="none" strike="noStrike" cap="none" normalizeH="0" baseline="0">
                          <a:ln>
                            <a:noFill/>
                          </a:ln>
                          <a:solidFill>
                            <a:schemeClr val="tx1"/>
                          </a:solidFill>
                          <a:effectLst/>
                          <a:latin typeface="宋体" pitchFamily="2" charset="-122"/>
                          <a:ea typeface="宋体" pitchFamily="2" charset="-122"/>
                        </a:rPr>
                        <a:t> [</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format</a:t>
                      </a:r>
                      <a:r>
                        <a:rPr kumimoji="0" lang="en-US" altLang="zh-CN" sz="1600" b="1" i="0" u="none" strike="noStrike" cap="none" normalizeH="0" baseline="0">
                          <a:ln>
                            <a:noFill/>
                          </a:ln>
                          <a:solidFill>
                            <a:schemeClr val="tx1"/>
                          </a:solidFill>
                          <a:effectLst/>
                          <a:latin typeface="宋体" pitchFamily="2" charset="-122"/>
                          <a:ea typeface="宋体" pitchFamily="2" charset="-122"/>
                        </a:rPr>
                        <a:t>]</a:t>
                      </a:r>
                      <a:endPar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将结果</a:t>
                      </a:r>
                      <a:r>
                        <a:rPr kumimoji="0" lang="en-US" altLang="zh-CN" sz="1600" b="1" i="0" u="none" strike="noStrike" cap="none" normalizeH="0" baseline="0">
                          <a:ln>
                            <a:noFill/>
                          </a:ln>
                          <a:solidFill>
                            <a:schemeClr val="tx1"/>
                          </a:solidFill>
                          <a:effectLst/>
                          <a:latin typeface="宋体" pitchFamily="2" charset="-122"/>
                          <a:ea typeface="宋体" pitchFamily="2" charset="-122"/>
                        </a:rPr>
                        <a:t>[</a:t>
                      </a:r>
                      <a:r>
                        <a:rPr kumimoji="0" lang="zh-CN" altLang="en-US" sz="1600" b="1" i="0" u="none" strike="noStrike" cap="none" normalizeH="0" baseline="0">
                          <a:ln>
                            <a:noFill/>
                          </a:ln>
                          <a:solidFill>
                            <a:schemeClr val="tx1"/>
                          </a:solidFill>
                          <a:effectLst/>
                          <a:latin typeface="宋体" pitchFamily="2" charset="-122"/>
                          <a:ea typeface="宋体" pitchFamily="2" charset="-122"/>
                        </a:rPr>
                        <a:t>以</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format</a:t>
                      </a:r>
                      <a:r>
                        <a:rPr kumimoji="0" lang="zh-CN" altLang="en-US" sz="1600" b="1" i="0" u="none" strike="noStrike" cap="none" normalizeH="0" baseline="0">
                          <a:ln>
                            <a:noFill/>
                          </a:ln>
                          <a:solidFill>
                            <a:schemeClr val="tx1"/>
                          </a:solidFill>
                          <a:effectLst/>
                          <a:latin typeface="宋体" pitchFamily="2" charset="-122"/>
                          <a:ea typeface="宋体" pitchFamily="2" charset="-122"/>
                        </a:rPr>
                        <a:t>格式</a:t>
                      </a:r>
                      <a:r>
                        <a:rPr kumimoji="0" lang="en-US" altLang="zh-CN" sz="1600" b="1" i="0" u="none" strike="noStrike" cap="none" normalizeH="0" baseline="0">
                          <a:ln>
                            <a:noFill/>
                          </a:ln>
                          <a:solidFill>
                            <a:schemeClr val="tx1"/>
                          </a:solidFill>
                          <a:effectLst/>
                          <a:latin typeface="宋体" pitchFamily="2" charset="-122"/>
                          <a:ea typeface="宋体" pitchFamily="2" charset="-122"/>
                        </a:rPr>
                        <a:t>]</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写到文件</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file</a:t>
                      </a:r>
                      <a:endPar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953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-delete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itchFamily="2" charset="-122"/>
                          <a:ea typeface="宋体" pitchFamily="2" charset="-122"/>
                        </a:rPr>
                        <a:t>删除找到的文件</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671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-exec cmd {} \;</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假如</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find</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的返回值为</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True</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600" b="1" i="0" u="none" strike="noStrike" cap="none" normalizeH="0" baseline="0">
                          <a:ln>
                            <a:noFill/>
                          </a:ln>
                          <a:solidFill>
                            <a:schemeClr val="tx1"/>
                          </a:solidFill>
                          <a:effectLst/>
                          <a:latin typeface="宋体" pitchFamily="2" charset="-122"/>
                          <a:ea typeface="宋体" pitchFamily="2" charset="-122"/>
                        </a:rPr>
                        <a:t>则将找到的内容替换到</a:t>
                      </a:r>
                      <a:r>
                        <a:rPr kumimoji="0" lang="en-US" altLang="zh-CN" sz="1600" b="1" i="0" u="none" strike="noStrike" cap="none" normalizeH="0" baseline="0">
                          <a:ln>
                            <a:noFill/>
                          </a:ln>
                          <a:solidFill>
                            <a:schemeClr val="tx1"/>
                          </a:solidFill>
                          <a:effectLst/>
                          <a:latin typeface="宋体" pitchFamily="2" charset="-122"/>
                          <a:ea typeface="宋体" pitchFamily="2" charset="-122"/>
                        </a:rPr>
                        <a:t>{}</a:t>
                      </a:r>
                      <a:r>
                        <a:rPr kumimoji="0" lang="zh-CN" altLang="en-US" sz="1600" b="1" i="0" u="none" strike="noStrike" cap="none" normalizeH="0" baseline="0">
                          <a:ln>
                            <a:noFill/>
                          </a:ln>
                          <a:solidFill>
                            <a:schemeClr val="tx1"/>
                          </a:solidFill>
                          <a:effectLst/>
                          <a:latin typeface="宋体" pitchFamily="2" charset="-122"/>
                          <a:ea typeface="宋体" pitchFamily="2" charset="-122"/>
                        </a:rPr>
                        <a:t>，</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执行命令</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cmd{}</a:t>
                      </a:r>
                      <a:endPar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6714">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-exec cmd {} </a:t>
                      </a:r>
                      <a:r>
                        <a:rPr kumimoji="0" lang="en-US" altLang="zh-CN" sz="1600" b="1" i="0" u="none" strike="noStrike" cap="none" normalizeH="0" baseline="0">
                          <a:ln>
                            <a:noFill/>
                          </a:ln>
                          <a:solidFill>
                            <a:schemeClr val="tx1"/>
                          </a:solidFill>
                          <a:effectLst/>
                          <a:latin typeface="宋体" pitchFamily="2" charset="-122"/>
                          <a:ea typeface="宋体" pitchFamily="2" charset="-122"/>
                        </a:rPr>
                        <a:t>+</a:t>
                      </a:r>
                      <a:endPar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假如</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find</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的返回值为</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True</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600" b="1" i="0" u="none" strike="noStrike" cap="none" normalizeH="0" baseline="0">
                          <a:ln>
                            <a:noFill/>
                          </a:ln>
                          <a:solidFill>
                            <a:schemeClr val="tx1"/>
                          </a:solidFill>
                          <a:effectLst/>
                          <a:latin typeface="宋体" pitchFamily="2" charset="-122"/>
                          <a:ea typeface="宋体" pitchFamily="2" charset="-122"/>
                        </a:rPr>
                        <a:t>则将找到的内容添加到</a:t>
                      </a:r>
                      <a:r>
                        <a:rPr kumimoji="0" lang="en-US" altLang="zh-CN" sz="1600" b="1" i="0" u="none" strike="noStrike" cap="none" normalizeH="0" baseline="0">
                          <a:ln>
                            <a:noFill/>
                          </a:ln>
                          <a:solidFill>
                            <a:schemeClr val="tx1"/>
                          </a:solidFill>
                          <a:effectLst/>
                          <a:latin typeface="宋体" pitchFamily="2" charset="-122"/>
                          <a:ea typeface="宋体" pitchFamily="2" charset="-122"/>
                        </a:rPr>
                        <a:t>{}</a:t>
                      </a:r>
                      <a:r>
                        <a:rPr kumimoji="0" lang="zh-CN" altLang="en-US" sz="1600" b="1" i="0" u="none" strike="noStrike" cap="none" normalizeH="0" baseline="0">
                          <a:ln>
                            <a:noFill/>
                          </a:ln>
                          <a:solidFill>
                            <a:schemeClr val="tx1"/>
                          </a:solidFill>
                          <a:effectLst/>
                          <a:latin typeface="宋体" pitchFamily="2" charset="-122"/>
                          <a:ea typeface="宋体" pitchFamily="2" charset="-122"/>
                        </a:rPr>
                        <a:t>，最后</a:t>
                      </a: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执行</a:t>
                      </a: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cmd{}</a:t>
                      </a:r>
                      <a:endPar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835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宋体" pitchFamily="2" charset="-122"/>
                          <a:ea typeface="宋体" pitchFamily="2" charset="-122"/>
                        </a:rPr>
                        <a:t>-ok cmd {} \;</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itchFamily="2" charset="-122"/>
                          <a:ea typeface="宋体" pitchFamily="2" charset="-122"/>
                        </a:rPr>
                        <a:t>类似</a:t>
                      </a:r>
                      <a:r>
                        <a:rPr kumimoji="0" lang="en-US" altLang="zh-CN" sz="1600" b="1" i="0" u="none" strike="noStrike" cap="none" normalizeH="0" baseline="0">
                          <a:ln>
                            <a:noFill/>
                          </a:ln>
                          <a:solidFill>
                            <a:schemeClr val="tx1"/>
                          </a:solidFill>
                          <a:effectLst/>
                          <a:latin typeface="宋体" pitchFamily="2" charset="-122"/>
                          <a:ea typeface="宋体" pitchFamily="2" charset="-122"/>
                        </a:rPr>
                        <a:t>-exec</a:t>
                      </a:r>
                      <a:r>
                        <a:rPr kumimoji="0" lang="zh-CN" altLang="en-US" sz="1600" b="1" i="0" u="none" strike="noStrike" cap="none" normalizeH="0" baseline="0">
                          <a:ln>
                            <a:noFill/>
                          </a:ln>
                          <a:solidFill>
                            <a:schemeClr val="tx1"/>
                          </a:solidFill>
                          <a:effectLst/>
                          <a:latin typeface="宋体" pitchFamily="2" charset="-122"/>
                          <a:ea typeface="宋体" pitchFamily="2" charset="-122"/>
                        </a:rPr>
                        <a:t>，但执行前提示操作者，回答为</a:t>
                      </a:r>
                      <a:r>
                        <a:rPr kumimoji="0" lang="en-US" altLang="zh-CN" sz="1600" b="1" i="0" u="none" strike="noStrike" cap="none" normalizeH="0" baseline="0">
                          <a:ln>
                            <a:noFill/>
                          </a:ln>
                          <a:solidFill>
                            <a:schemeClr val="tx1"/>
                          </a:solidFill>
                          <a:effectLst/>
                          <a:latin typeface="宋体" pitchFamily="2" charset="-122"/>
                          <a:ea typeface="宋体" pitchFamily="2" charset="-122"/>
                        </a:rPr>
                        <a:t>y</a:t>
                      </a:r>
                      <a:r>
                        <a:rPr kumimoji="0" lang="zh-CN" altLang="en-US" sz="1600" b="1" i="0" u="none" strike="noStrike" cap="none" normalizeH="0" baseline="0">
                          <a:ln>
                            <a:noFill/>
                          </a:ln>
                          <a:solidFill>
                            <a:schemeClr val="tx1"/>
                          </a:solidFill>
                          <a:effectLst/>
                          <a:latin typeface="宋体" pitchFamily="2" charset="-122"/>
                          <a:ea typeface="宋体" pitchFamily="2" charset="-122"/>
                        </a:rPr>
                        <a:t>或</a:t>
                      </a:r>
                      <a:r>
                        <a:rPr kumimoji="0" lang="en-US" altLang="zh-CN" sz="1600" b="1" i="0" u="none" strike="noStrike" cap="none" normalizeH="0" baseline="0">
                          <a:ln>
                            <a:noFill/>
                          </a:ln>
                          <a:solidFill>
                            <a:schemeClr val="tx1"/>
                          </a:solidFill>
                          <a:effectLst/>
                          <a:latin typeface="宋体" pitchFamily="2" charset="-122"/>
                          <a:ea typeface="宋体" pitchFamily="2" charset="-122"/>
                        </a:rPr>
                        <a:t>Y</a:t>
                      </a:r>
                      <a:r>
                        <a:rPr kumimoji="0" lang="zh-CN" altLang="en-US" sz="1600" b="1" i="0" u="none" strike="noStrike" cap="none" normalizeH="0" baseline="0">
                          <a:ln>
                            <a:noFill/>
                          </a:ln>
                          <a:solidFill>
                            <a:schemeClr val="tx1"/>
                          </a:solidFill>
                          <a:effectLst/>
                          <a:latin typeface="宋体" pitchFamily="2" charset="-122"/>
                          <a:ea typeface="宋体" pitchFamily="2" charset="-122"/>
                        </a:rPr>
                        <a:t>时则执行</a:t>
                      </a:r>
                      <a:r>
                        <a:rPr kumimoji="0" lang="en-US" altLang="zh-CN" sz="1600" b="1" i="0" u="none" strike="noStrike" cap="none" normalizeH="0" baseline="0">
                          <a:ln>
                            <a:noFill/>
                          </a:ln>
                          <a:solidFill>
                            <a:schemeClr val="tx1"/>
                          </a:solidFill>
                          <a:effectLst/>
                          <a:latin typeface="宋体" pitchFamily="2" charset="-122"/>
                          <a:ea typeface="宋体" pitchFamily="2" charset="-122"/>
                        </a:rPr>
                        <a:t>cmd {}</a:t>
                      </a:r>
                      <a:endParaRPr kumimoji="0" lang="zh-CN" altLang="en-US" sz="1600" b="1" i="0" u="none" strike="noStrike" cap="none" normalizeH="0" baseline="0">
                        <a:ln>
                          <a:noFill/>
                        </a:ln>
                        <a:solidFill>
                          <a:schemeClr val="tx1"/>
                        </a:solidFill>
                        <a:effectLst/>
                        <a:latin typeface="宋体" pitchFamily="2" charset="-122"/>
                        <a:ea typeface="宋体"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8358">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操作符</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括号运算</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953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-not/! expr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非运算</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953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expr1[-a/-and]expr2</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与操作</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953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expr1 -o/-or expr2</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或运算</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D12F57E4-4FBF-BDB0-D4FC-F5356001BF73}"/>
              </a:ext>
            </a:extLst>
          </p:cNvPr>
          <p:cNvSpPr>
            <a:spLocks noGrp="1" noChangeArrowheads="1"/>
          </p:cNvSpPr>
          <p:nvPr>
            <p:ph type="title"/>
          </p:nvPr>
        </p:nvSpPr>
        <p:spPr/>
        <p:txBody>
          <a:bodyPr/>
          <a:lstStyle/>
          <a:p>
            <a:pPr eaLnBrk="1" hangingPunct="1"/>
            <a:r>
              <a:rPr lang="zh-CN" altLang="en-US" sz="4000"/>
              <a:t>5.4.1  文件综合查找命令（find）</a:t>
            </a:r>
          </a:p>
        </p:txBody>
      </p:sp>
      <p:sp>
        <p:nvSpPr>
          <p:cNvPr id="96259" name="内容占位符 2">
            <a:extLst>
              <a:ext uri="{FF2B5EF4-FFF2-40B4-BE49-F238E27FC236}">
                <a16:creationId xmlns:a16="http://schemas.microsoft.com/office/drawing/2014/main" id="{07DB5DF9-6B7C-E30A-E9C8-5E718861D974}"/>
              </a:ext>
            </a:extLst>
          </p:cNvPr>
          <p:cNvSpPr>
            <a:spLocks noGrp="1" noChangeArrowheads="1"/>
          </p:cNvSpPr>
          <p:nvPr>
            <p:ph idx="1"/>
          </p:nvPr>
        </p:nvSpPr>
        <p:spPr>
          <a:xfrm>
            <a:off x="0" y="620713"/>
            <a:ext cx="9144000" cy="5761037"/>
          </a:xfrm>
        </p:spPr>
        <p:txBody>
          <a:bodyPr/>
          <a:lstStyle/>
          <a:p>
            <a:pPr marL="0" indent="0" eaLnBrk="1" hangingPunct="1">
              <a:spcBef>
                <a:spcPct val="0"/>
              </a:spcBef>
              <a:spcAft>
                <a:spcPct val="0"/>
              </a:spcAft>
              <a:buFont typeface="Arial" panose="020B0604020202020204" pitchFamily="34" charset="0"/>
              <a:buNone/>
              <a:defRPr/>
            </a:pPr>
            <a:r>
              <a:rPr lang="zh-CN" altLang="en-US" sz="2400" dirty="0"/>
              <a:t>3．使用示例</a:t>
            </a:r>
          </a:p>
          <a:p>
            <a:pPr marL="0" indent="0" eaLnBrk="1" hangingPunct="1">
              <a:spcBef>
                <a:spcPct val="0"/>
              </a:spcBef>
              <a:spcAft>
                <a:spcPct val="0"/>
              </a:spcAft>
              <a:buFont typeface="Arial" panose="020B0604020202020204" pitchFamily="34" charset="0"/>
              <a:buNone/>
              <a:defRPr/>
            </a:pPr>
            <a:r>
              <a:rPr lang="zh-CN" altLang="en-US" sz="2400" dirty="0"/>
              <a:t>（1）按修改时间查找文件。</a:t>
            </a:r>
          </a:p>
          <a:p>
            <a:pPr marL="0" indent="0" eaLnBrk="1" hangingPunct="1">
              <a:spcBef>
                <a:spcPct val="0"/>
              </a:spcBef>
              <a:spcAft>
                <a:spcPct val="0"/>
              </a:spcAft>
              <a:buFont typeface="Arial" panose="020B0604020202020204" pitchFamily="34" charset="0"/>
              <a:buNone/>
              <a:defRPr/>
            </a:pPr>
            <a:r>
              <a:rPr lang="zh-CN" altLang="en-US" sz="2400" dirty="0"/>
              <a:t>#</a:t>
            </a:r>
            <a:r>
              <a:rPr lang="zh-CN" altLang="en-US" sz="3200" dirty="0">
                <a:solidFill>
                  <a:srgbClr val="FF0000"/>
                </a:solidFill>
              </a:rPr>
              <a:t>find /tmp /home -mtime -1 -print  </a:t>
            </a:r>
            <a:r>
              <a:rPr lang="zh-CN" altLang="en-US" sz="2400" dirty="0"/>
              <a:t>	#在/tmp和/home下查找24小时内没有更改的文件</a:t>
            </a:r>
          </a:p>
          <a:p>
            <a:pPr marL="0" indent="0" eaLnBrk="1" hangingPunct="1">
              <a:spcBef>
                <a:spcPct val="0"/>
              </a:spcBef>
              <a:spcAft>
                <a:spcPct val="0"/>
              </a:spcAft>
              <a:buFont typeface="Arial" panose="020B0604020202020204" pitchFamily="34" charset="0"/>
              <a:buNone/>
              <a:defRPr/>
            </a:pPr>
            <a:r>
              <a:rPr lang="zh-CN" altLang="en-US" sz="2400" dirty="0"/>
              <a:t>$ </a:t>
            </a:r>
            <a:r>
              <a:rPr lang="zh-CN" altLang="en-US" sz="2400" dirty="0">
                <a:solidFill>
                  <a:srgbClr val="FF0000"/>
                </a:solidFill>
              </a:rPr>
              <a:t>find $HOME -mtime 0 </a:t>
            </a:r>
            <a:r>
              <a:rPr lang="zh-CN" altLang="en-US" sz="2400" dirty="0"/>
              <a:t>#在/home下查找24小时内被更改的文件</a:t>
            </a:r>
          </a:p>
          <a:p>
            <a:pPr marL="0" indent="0" eaLnBrk="1" hangingPunct="1">
              <a:spcBef>
                <a:spcPct val="0"/>
              </a:spcBef>
              <a:spcAft>
                <a:spcPct val="0"/>
              </a:spcAft>
              <a:buFont typeface="Arial" panose="020B0604020202020204" pitchFamily="34" charset="0"/>
              <a:buNone/>
              <a:defRPr/>
            </a:pPr>
            <a:r>
              <a:rPr lang="zh-CN" altLang="en-US" sz="2400" dirty="0"/>
              <a:t>（2）在/home下查找属于用户gjshao的C语言程序。</a:t>
            </a:r>
          </a:p>
          <a:p>
            <a:pPr marL="0" indent="0" eaLnBrk="1" hangingPunct="1">
              <a:spcBef>
                <a:spcPct val="0"/>
              </a:spcBef>
              <a:spcAft>
                <a:spcPct val="0"/>
              </a:spcAft>
              <a:buFont typeface="Arial" panose="020B0604020202020204" pitchFamily="34" charset="0"/>
              <a:buNone/>
              <a:defRPr/>
            </a:pPr>
            <a:r>
              <a:rPr lang="zh-CN" altLang="en-US" sz="2400" dirty="0"/>
              <a:t>#</a:t>
            </a:r>
            <a:r>
              <a:rPr lang="zh-CN" altLang="en-US" sz="3200" dirty="0">
                <a:solidFill>
                  <a:srgbClr val="FF0000"/>
                </a:solidFill>
              </a:rPr>
              <a:t>find /home -user gjshao -name "*.c" -print</a:t>
            </a:r>
          </a:p>
          <a:p>
            <a:pPr marL="0" indent="0" eaLnBrk="1" hangingPunct="1">
              <a:spcBef>
                <a:spcPct val="0"/>
              </a:spcBef>
              <a:spcAft>
                <a:spcPct val="0"/>
              </a:spcAft>
              <a:buFont typeface="Arial" panose="020B0604020202020204" pitchFamily="34" charset="0"/>
              <a:buNone/>
              <a:defRPr/>
            </a:pPr>
            <a:r>
              <a:rPr lang="zh-CN" altLang="en-US" sz="2400" dirty="0"/>
              <a:t>（3）将当前目录内的所有*.c和*.h的文件打成tar包/tmp/mych.tar。</a:t>
            </a:r>
          </a:p>
          <a:p>
            <a:pPr marL="0" indent="0" eaLnBrk="1" hangingPunct="1">
              <a:spcBef>
                <a:spcPct val="0"/>
              </a:spcBef>
              <a:spcAft>
                <a:spcPct val="0"/>
              </a:spcAft>
              <a:buFont typeface="Arial" panose="020B0604020202020204" pitchFamily="34" charset="0"/>
              <a:buNone/>
              <a:defRPr/>
            </a:pPr>
            <a:r>
              <a:rPr lang="zh-CN" altLang="en-US" sz="2400" dirty="0"/>
              <a:t>#</a:t>
            </a:r>
            <a:r>
              <a:rPr lang="zh-CN" altLang="en-US" sz="4000" dirty="0">
                <a:solidFill>
                  <a:srgbClr val="FF0000"/>
                </a:solidFill>
              </a:rPr>
              <a:t>tar cvf /tmp/mych.tar `find  . -name "*.[ch]" -type f -print`</a:t>
            </a:r>
          </a:p>
          <a:p>
            <a:pPr eaLnBrk="1" hangingPunct="1">
              <a:spcBef>
                <a:spcPct val="0"/>
              </a:spcBef>
              <a:spcAft>
                <a:spcPct val="0"/>
              </a:spcAft>
              <a:defRPr/>
            </a:pPr>
            <a:r>
              <a:rPr lang="zh-CN" altLang="en-US" sz="2400" dirty="0"/>
              <a:t>（4）在/home下查找所有权限为0644用户主为test的文件。</a:t>
            </a:r>
          </a:p>
          <a:p>
            <a:pPr eaLnBrk="1" hangingPunct="1">
              <a:spcBef>
                <a:spcPct val="0"/>
              </a:spcBef>
              <a:spcAft>
                <a:spcPct val="0"/>
              </a:spcAft>
              <a:defRPr/>
            </a:pPr>
            <a:r>
              <a:rPr lang="zh-CN" altLang="en-US" sz="2400" dirty="0"/>
              <a:t>#</a:t>
            </a:r>
            <a:r>
              <a:rPr lang="zh-CN" altLang="en-US" sz="3200" dirty="0">
                <a:solidFill>
                  <a:srgbClr val="FF0000"/>
                </a:solidFill>
              </a:rPr>
              <a:t>find /home -perm 0644 -user test -print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8EF722A0-0C98-D800-74F6-A35C10B59A98}"/>
              </a:ext>
            </a:extLst>
          </p:cNvPr>
          <p:cNvSpPr>
            <a:spLocks noGrp="1" noChangeArrowheads="1"/>
          </p:cNvSpPr>
          <p:nvPr>
            <p:ph type="title"/>
          </p:nvPr>
        </p:nvSpPr>
        <p:spPr/>
        <p:txBody>
          <a:bodyPr/>
          <a:lstStyle/>
          <a:p>
            <a:pPr eaLnBrk="1" hangingPunct="1"/>
            <a:r>
              <a:rPr lang="zh-CN" altLang="en-US" sz="4000"/>
              <a:t>5.4.1  文件综合查找命令（find）</a:t>
            </a:r>
          </a:p>
        </p:txBody>
      </p:sp>
      <p:sp>
        <p:nvSpPr>
          <p:cNvPr id="69635" name="内容占位符 2">
            <a:extLst>
              <a:ext uri="{FF2B5EF4-FFF2-40B4-BE49-F238E27FC236}">
                <a16:creationId xmlns:a16="http://schemas.microsoft.com/office/drawing/2014/main" id="{6A4AA688-4BE7-6058-3CEE-A2691B45BF1E}"/>
              </a:ext>
            </a:extLst>
          </p:cNvPr>
          <p:cNvSpPr>
            <a:spLocks noGrp="1" noChangeArrowheads="1"/>
          </p:cNvSpPr>
          <p:nvPr>
            <p:ph idx="1"/>
          </p:nvPr>
        </p:nvSpPr>
        <p:spPr>
          <a:xfrm>
            <a:off x="-107950" y="620713"/>
            <a:ext cx="9288463" cy="5761037"/>
          </a:xfrm>
        </p:spPr>
        <p:txBody>
          <a:bodyPr/>
          <a:lstStyle/>
          <a:p>
            <a:pPr eaLnBrk="1" hangingPunct="1">
              <a:spcBef>
                <a:spcPct val="0"/>
              </a:spcBef>
              <a:spcAft>
                <a:spcPct val="0"/>
              </a:spcAft>
            </a:pPr>
            <a:r>
              <a:rPr lang="zh-CN" altLang="en-US" sz="2400"/>
              <a:t>（5）</a:t>
            </a:r>
            <a:r>
              <a:rPr lang="zh-CN" altLang="en-US"/>
              <a:t>查找并删除指定文件</a:t>
            </a:r>
            <a:r>
              <a:rPr lang="zh-CN" altLang="en-US" sz="2400"/>
              <a:t>。</a:t>
            </a:r>
          </a:p>
          <a:p>
            <a:pPr eaLnBrk="1" hangingPunct="1">
              <a:spcBef>
                <a:spcPct val="0"/>
              </a:spcBef>
              <a:spcAft>
                <a:spcPct val="0"/>
              </a:spcAft>
            </a:pPr>
            <a:r>
              <a:rPr lang="zh-CN" altLang="en-US" sz="2400"/>
              <a:t>#</a:t>
            </a:r>
            <a:r>
              <a:rPr lang="zh-CN" altLang="en-US" sz="2400">
                <a:solidFill>
                  <a:srgbClr val="FF0000"/>
                </a:solidFill>
              </a:rPr>
              <a:t>find /tmp -name core -type f -exec rm -f  '{}' \</a:t>
            </a:r>
            <a:r>
              <a:rPr lang="zh-CN" altLang="en-US" sz="2400"/>
              <a:t>; 	#在/tmp内查找名为core的普通文件，并删除之</a:t>
            </a:r>
          </a:p>
          <a:p>
            <a:pPr eaLnBrk="1" hangingPunct="1">
              <a:spcBef>
                <a:spcPct val="0"/>
              </a:spcBef>
              <a:spcAft>
                <a:spcPct val="0"/>
              </a:spcAft>
            </a:pPr>
            <a:r>
              <a:rPr lang="zh-CN" altLang="en-US" sz="2400"/>
              <a:t>#</a:t>
            </a:r>
            <a:r>
              <a:rPr lang="zh-CN" altLang="en-US" sz="2400">
                <a:solidFill>
                  <a:srgbClr val="FF0000"/>
                </a:solidFill>
              </a:rPr>
              <a:t>find /tmp -name core -type f -ok rm -f  '{}' \</a:t>
            </a:r>
            <a:r>
              <a:rPr lang="zh-CN" altLang="en-US" sz="2400"/>
              <a:t>;   	#查找普通文件core，并删除之，删除前确认</a:t>
            </a:r>
          </a:p>
          <a:p>
            <a:pPr eaLnBrk="1" hangingPunct="1">
              <a:spcBef>
                <a:spcPct val="0"/>
              </a:spcBef>
              <a:spcAft>
                <a:spcPct val="0"/>
              </a:spcAft>
            </a:pPr>
            <a:r>
              <a:rPr lang="zh-CN" altLang="en-US" sz="2400"/>
              <a:t>（6）</a:t>
            </a:r>
            <a:r>
              <a:rPr lang="zh-CN" altLang="en-US"/>
              <a:t>在/sbin和/usr/sbin可执行但不可读的文件。</a:t>
            </a:r>
          </a:p>
          <a:p>
            <a:pPr eaLnBrk="1" hangingPunct="1">
              <a:spcBef>
                <a:spcPct val="0"/>
              </a:spcBef>
              <a:spcAft>
                <a:spcPct val="0"/>
              </a:spcAft>
            </a:pPr>
            <a:r>
              <a:rPr lang="zh-CN" altLang="en-US" sz="2400"/>
              <a:t>#</a:t>
            </a:r>
            <a:r>
              <a:rPr lang="zh-CN" altLang="en-US" sz="2400">
                <a:solidFill>
                  <a:srgbClr val="FF0000"/>
                </a:solidFill>
              </a:rPr>
              <a:t>find /sbin /usr/sbin -executable \! -readable -print</a:t>
            </a:r>
          </a:p>
          <a:p>
            <a:pPr eaLnBrk="1" hangingPunct="1">
              <a:spcBef>
                <a:spcPct val="0"/>
              </a:spcBef>
              <a:spcAft>
                <a:spcPct val="0"/>
              </a:spcAft>
            </a:pPr>
            <a:r>
              <a:rPr lang="zh-CN" altLang="en-US" sz="2400"/>
              <a:t>（7）</a:t>
            </a:r>
            <a:r>
              <a:rPr lang="zh-CN" altLang="en-US"/>
              <a:t>查找具有特殊属性的文件</a:t>
            </a:r>
            <a:r>
              <a:rPr lang="zh-CN" altLang="en-US" sz="2400"/>
              <a:t>，并将名字保存到文件中。</a:t>
            </a:r>
          </a:p>
          <a:p>
            <a:pPr eaLnBrk="1" hangingPunct="1">
              <a:spcBef>
                <a:spcPct val="0"/>
              </a:spcBef>
              <a:spcAft>
                <a:spcPct val="0"/>
              </a:spcAft>
            </a:pPr>
            <a:r>
              <a:rPr lang="zh-CN" altLang="en-US" sz="2400">
                <a:solidFill>
                  <a:srgbClr val="FF0000"/>
                </a:solidFill>
              </a:rPr>
              <a:t>find  / \( -perm -4000 -fprintf /root/suid.txt "%m %u %p\n" \) , \\( -size +100M -fprintf /root/big.txt "%-10s %p\n" \)</a:t>
            </a:r>
          </a:p>
          <a:p>
            <a:pPr eaLnBrk="1" hangingPunct="1">
              <a:spcBef>
                <a:spcPct val="0"/>
              </a:spcBef>
              <a:spcAft>
                <a:spcPct val="0"/>
              </a:spcAft>
            </a:pPr>
            <a:r>
              <a:rPr lang="zh-CN" altLang="en-US" sz="2400"/>
              <a:t>##有suid属性文件保存到/root/suid.txt，长度&gt;=100MB者保存到/root/big.txt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386B67B6-D44B-1B1C-A7F6-C2C4774E9EDA}"/>
              </a:ext>
            </a:extLst>
          </p:cNvPr>
          <p:cNvSpPr>
            <a:spLocks noGrp="1" noChangeArrowheads="1"/>
          </p:cNvSpPr>
          <p:nvPr>
            <p:ph type="title"/>
          </p:nvPr>
        </p:nvSpPr>
        <p:spPr/>
        <p:txBody>
          <a:bodyPr/>
          <a:lstStyle/>
          <a:p>
            <a:pPr eaLnBrk="1" hangingPunct="1"/>
            <a:r>
              <a:rPr lang="zh-CN" altLang="en-US"/>
              <a:t>5.4.</a:t>
            </a:r>
            <a:r>
              <a:rPr lang="en-US" altLang="zh-CN"/>
              <a:t>2</a:t>
            </a:r>
            <a:r>
              <a:rPr lang="zh-CN" altLang="en-US"/>
              <a:t>  链接管理命令（ln）</a:t>
            </a:r>
          </a:p>
        </p:txBody>
      </p:sp>
      <p:sp>
        <p:nvSpPr>
          <p:cNvPr id="70659" name="内容占位符 2">
            <a:extLst>
              <a:ext uri="{FF2B5EF4-FFF2-40B4-BE49-F238E27FC236}">
                <a16:creationId xmlns:a16="http://schemas.microsoft.com/office/drawing/2014/main" id="{DD5D3BFE-1E5D-9FBE-F128-412EEA611839}"/>
              </a:ext>
            </a:extLst>
          </p:cNvPr>
          <p:cNvSpPr>
            <a:spLocks noGrp="1" noChangeArrowheads="1"/>
          </p:cNvSpPr>
          <p:nvPr>
            <p:ph idx="1"/>
          </p:nvPr>
        </p:nvSpPr>
        <p:spPr>
          <a:xfrm>
            <a:off x="0" y="620713"/>
            <a:ext cx="9109075" cy="5761037"/>
          </a:xfrm>
        </p:spPr>
        <p:txBody>
          <a:bodyPr/>
          <a:lstStyle/>
          <a:p>
            <a:pPr eaLnBrk="1" hangingPunct="1">
              <a:spcBef>
                <a:spcPct val="0"/>
              </a:spcBef>
              <a:spcAft>
                <a:spcPct val="0"/>
              </a:spcAft>
            </a:pPr>
            <a:r>
              <a:rPr lang="zh-CN" altLang="en-US" sz="3200"/>
              <a:t>1．功能及用法</a:t>
            </a:r>
          </a:p>
          <a:p>
            <a:pPr eaLnBrk="1" hangingPunct="1">
              <a:spcBef>
                <a:spcPct val="0"/>
              </a:spcBef>
              <a:spcAft>
                <a:spcPct val="0"/>
              </a:spcAft>
            </a:pPr>
            <a:r>
              <a:rPr lang="zh-CN" altLang="en-US" sz="3200">
                <a:solidFill>
                  <a:srgbClr val="FF0000"/>
                </a:solidFill>
              </a:rPr>
              <a:t>ln</a:t>
            </a:r>
            <a:r>
              <a:rPr lang="zh-CN" altLang="en-US" sz="3200"/>
              <a:t>的功能是</a:t>
            </a:r>
            <a:r>
              <a:rPr lang="zh-CN" altLang="en-US" sz="3200">
                <a:solidFill>
                  <a:srgbClr val="FF0000"/>
                </a:solidFill>
              </a:rPr>
              <a:t>链接管理</a:t>
            </a:r>
            <a:r>
              <a:rPr lang="zh-CN" altLang="en-US" sz="3200"/>
              <a:t>，可用于</a:t>
            </a:r>
            <a:r>
              <a:rPr lang="zh-CN" altLang="en-US" sz="3200">
                <a:solidFill>
                  <a:srgbClr val="FF0000"/>
                </a:solidFill>
              </a:rPr>
              <a:t>创建</a:t>
            </a:r>
            <a:r>
              <a:rPr lang="zh-CN" altLang="en-US" sz="3200"/>
              <a:t>文件的</a:t>
            </a:r>
            <a:r>
              <a:rPr lang="zh-CN" altLang="en-US" sz="3200">
                <a:solidFill>
                  <a:srgbClr val="FF0000"/>
                </a:solidFill>
              </a:rPr>
              <a:t>硬链接和符号链接</a:t>
            </a:r>
            <a:r>
              <a:rPr lang="zh-CN" altLang="en-US" sz="3200"/>
              <a:t>。其用法为：</a:t>
            </a:r>
          </a:p>
          <a:p>
            <a:pPr eaLnBrk="1" hangingPunct="1">
              <a:spcBef>
                <a:spcPct val="0"/>
              </a:spcBef>
              <a:spcAft>
                <a:spcPct val="0"/>
              </a:spcAft>
            </a:pPr>
            <a:r>
              <a:rPr lang="zh-CN" altLang="en-US"/>
              <a:t>ln [options] ... [-T] target linkname </a:t>
            </a:r>
            <a:r>
              <a:rPr lang="zh-CN" altLang="en-US" sz="2400"/>
              <a:t>（格式1）</a:t>
            </a:r>
          </a:p>
          <a:p>
            <a:pPr eaLnBrk="1" hangingPunct="1">
              <a:spcBef>
                <a:spcPct val="0"/>
              </a:spcBef>
              <a:spcAft>
                <a:spcPct val="0"/>
              </a:spcAft>
            </a:pPr>
            <a:r>
              <a:rPr lang="zh-CN" altLang="en-US"/>
              <a:t>ln [options] ... target  </a:t>
            </a:r>
            <a:r>
              <a:rPr lang="zh-CN" altLang="en-US" sz="2400"/>
              <a:t>		（格式2）</a:t>
            </a:r>
          </a:p>
          <a:p>
            <a:pPr eaLnBrk="1" hangingPunct="1">
              <a:spcBef>
                <a:spcPct val="0"/>
              </a:spcBef>
              <a:spcAft>
                <a:spcPct val="0"/>
              </a:spcAft>
            </a:pPr>
            <a:r>
              <a:rPr lang="zh-CN" altLang="en-US" sz="3200"/>
              <a:t>ln [options] ... target ... dir </a:t>
            </a:r>
            <a:r>
              <a:rPr lang="zh-CN" altLang="en-US" sz="2400"/>
              <a:t>	（格式3）</a:t>
            </a:r>
          </a:p>
          <a:p>
            <a:pPr eaLnBrk="1" hangingPunct="1">
              <a:spcBef>
                <a:spcPct val="0"/>
              </a:spcBef>
              <a:spcAft>
                <a:spcPct val="0"/>
              </a:spcAft>
            </a:pPr>
            <a:r>
              <a:rPr lang="zh-CN" altLang="en-US" sz="3200"/>
              <a:t>ln [options] ... -t dir target... </a:t>
            </a:r>
            <a:r>
              <a:rPr lang="zh-CN" altLang="en-US" sz="2400"/>
              <a:t>（格式4）</a:t>
            </a:r>
          </a:p>
          <a:p>
            <a:pPr eaLnBrk="1" hangingPunct="1">
              <a:spcBef>
                <a:spcPct val="0"/>
              </a:spcBef>
              <a:spcAft>
                <a:spcPct val="0"/>
              </a:spcAft>
            </a:pPr>
            <a:r>
              <a:rPr lang="zh-CN" altLang="en-US" sz="2400"/>
              <a:t>第一种格式用于创建一个指向target的链接linkname，或在当前目录创建一个指向target的同名链接；</a:t>
            </a:r>
          </a:p>
          <a:p>
            <a:pPr eaLnBrk="1" hangingPunct="1">
              <a:spcBef>
                <a:spcPct val="0"/>
              </a:spcBef>
              <a:spcAft>
                <a:spcPct val="0"/>
              </a:spcAft>
            </a:pPr>
            <a:r>
              <a:rPr lang="zh-CN" altLang="en-US" sz="2400"/>
              <a:t>第二种格式用于在当前目录内容创建一个target同名的链接；</a:t>
            </a:r>
          </a:p>
          <a:p>
            <a:pPr eaLnBrk="1" hangingPunct="1">
              <a:spcBef>
                <a:spcPct val="0"/>
              </a:spcBef>
              <a:spcAft>
                <a:spcPct val="0"/>
              </a:spcAft>
            </a:pPr>
            <a:r>
              <a:rPr lang="zh-CN" altLang="en-US" sz="2400"/>
              <a:t>第三种和第四种格式用于在目录dir内创建target的同名链接。</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9135024A-2963-C466-F0F7-839C8EAB2201}"/>
              </a:ext>
            </a:extLst>
          </p:cNvPr>
          <p:cNvSpPr>
            <a:spLocks noGrp="1" noChangeArrowheads="1"/>
          </p:cNvSpPr>
          <p:nvPr>
            <p:ph type="title"/>
          </p:nvPr>
        </p:nvSpPr>
        <p:spPr/>
        <p:txBody>
          <a:bodyPr/>
          <a:lstStyle/>
          <a:p>
            <a:pPr eaLnBrk="1" hangingPunct="1"/>
            <a:r>
              <a:rPr lang="zh-CN" altLang="en-US"/>
              <a:t>5.4.</a:t>
            </a:r>
            <a:r>
              <a:rPr lang="en-US" altLang="zh-CN"/>
              <a:t>2</a:t>
            </a:r>
            <a:r>
              <a:rPr lang="zh-CN" altLang="en-US"/>
              <a:t>  链接管理命令（ln）</a:t>
            </a:r>
          </a:p>
        </p:txBody>
      </p:sp>
      <p:sp>
        <p:nvSpPr>
          <p:cNvPr id="106499" name="内容占位符 2">
            <a:extLst>
              <a:ext uri="{FF2B5EF4-FFF2-40B4-BE49-F238E27FC236}">
                <a16:creationId xmlns:a16="http://schemas.microsoft.com/office/drawing/2014/main" id="{57400974-B0ED-5D73-4E49-7579E1889BD4}"/>
              </a:ext>
            </a:extLst>
          </p:cNvPr>
          <p:cNvSpPr>
            <a:spLocks noGrp="1" noChangeArrowheads="1"/>
          </p:cNvSpPr>
          <p:nvPr>
            <p:ph idx="1"/>
          </p:nvPr>
        </p:nvSpPr>
        <p:spPr>
          <a:xfrm>
            <a:off x="34925" y="463550"/>
            <a:ext cx="9074150" cy="5761038"/>
          </a:xfrm>
        </p:spPr>
        <p:txBody>
          <a:bodyPr/>
          <a:lstStyle/>
          <a:p>
            <a:pPr eaLnBrk="1" hangingPunct="1">
              <a:spcBef>
                <a:spcPct val="0"/>
              </a:spcBef>
              <a:spcAft>
                <a:spcPct val="0"/>
              </a:spcAft>
              <a:defRPr/>
            </a:pPr>
            <a:r>
              <a:rPr lang="zh-CN" altLang="en-US" sz="2400" dirty="0"/>
              <a:t>2．部分参数及说明</a:t>
            </a:r>
          </a:p>
          <a:p>
            <a:pPr marL="0" indent="0" eaLnBrk="1" hangingPunct="1">
              <a:spcBef>
                <a:spcPct val="0"/>
              </a:spcBef>
              <a:spcAft>
                <a:spcPct val="0"/>
              </a:spcAft>
              <a:buFont typeface="Arial" panose="020B0604020202020204" pitchFamily="34" charset="0"/>
              <a:buNone/>
              <a:defRPr/>
            </a:pPr>
            <a:endParaRPr lang="zh-CN" altLang="en-US" sz="2400" dirty="0"/>
          </a:p>
          <a:p>
            <a:pPr eaLnBrk="1" hangingPunct="1">
              <a:spcBef>
                <a:spcPct val="0"/>
              </a:spcBef>
              <a:spcAft>
                <a:spcPct val="0"/>
              </a:spcAft>
              <a:defRPr/>
            </a:pPr>
            <a:endParaRPr lang="zh-CN" altLang="en-US" sz="2400" dirty="0"/>
          </a:p>
          <a:p>
            <a:pPr eaLnBrk="1" hangingPunct="1">
              <a:spcBef>
                <a:spcPct val="0"/>
              </a:spcBef>
              <a:spcAft>
                <a:spcPct val="0"/>
              </a:spcAft>
              <a:defRPr/>
            </a:pPr>
            <a:endParaRPr lang="zh-CN" altLang="en-US" sz="2400" dirty="0"/>
          </a:p>
          <a:p>
            <a:pPr eaLnBrk="1" hangingPunct="1">
              <a:spcBef>
                <a:spcPct val="0"/>
              </a:spcBef>
              <a:spcAft>
                <a:spcPct val="0"/>
              </a:spcAft>
              <a:defRPr/>
            </a:pPr>
            <a:endParaRPr lang="zh-CN" altLang="en-US" sz="2400" dirty="0"/>
          </a:p>
          <a:p>
            <a:pPr eaLnBrk="1" hangingPunct="1">
              <a:spcBef>
                <a:spcPct val="0"/>
              </a:spcBef>
              <a:spcAft>
                <a:spcPct val="0"/>
              </a:spcAft>
              <a:defRPr/>
            </a:pPr>
            <a:endParaRPr lang="en-US" altLang="zh-CN" sz="2400" dirty="0"/>
          </a:p>
          <a:p>
            <a:pPr eaLnBrk="1" hangingPunct="1">
              <a:spcBef>
                <a:spcPct val="0"/>
              </a:spcBef>
              <a:spcAft>
                <a:spcPct val="0"/>
              </a:spcAft>
              <a:defRPr/>
            </a:pPr>
            <a:endParaRPr lang="en-US" altLang="zh-CN" sz="2400" dirty="0"/>
          </a:p>
          <a:p>
            <a:pPr eaLnBrk="1" hangingPunct="1">
              <a:spcBef>
                <a:spcPct val="0"/>
              </a:spcBef>
              <a:spcAft>
                <a:spcPct val="0"/>
              </a:spcAft>
              <a:defRPr/>
            </a:pPr>
            <a:endParaRPr lang="en-US" altLang="zh-CN" sz="3600" dirty="0"/>
          </a:p>
          <a:p>
            <a:pPr eaLnBrk="1" hangingPunct="1">
              <a:spcBef>
                <a:spcPct val="0"/>
              </a:spcBef>
              <a:spcAft>
                <a:spcPct val="0"/>
              </a:spcAft>
              <a:defRPr/>
            </a:pPr>
            <a:r>
              <a:rPr lang="zh-CN" altLang="en-US" sz="3600" dirty="0"/>
              <a:t>3．文件的链接示例</a:t>
            </a:r>
          </a:p>
          <a:p>
            <a:pPr eaLnBrk="1" hangingPunct="1">
              <a:spcBef>
                <a:spcPct val="0"/>
              </a:spcBef>
              <a:spcAft>
                <a:spcPct val="0"/>
              </a:spcAft>
              <a:defRPr/>
            </a:pPr>
            <a:r>
              <a:rPr lang="zh-CN" altLang="en-US" sz="3600" dirty="0"/>
              <a:t>#</a:t>
            </a:r>
            <a:r>
              <a:rPr lang="zh-CN" altLang="en-US" sz="3600" dirty="0">
                <a:solidFill>
                  <a:srgbClr val="FF0000"/>
                </a:solidFill>
              </a:rPr>
              <a:t>ln -s /tmp/myf my_link</a:t>
            </a:r>
            <a:r>
              <a:rPr lang="zh-CN" altLang="en-US" sz="3600" dirty="0"/>
              <a:t>	#在当前目录内建立/tmp/myf的符号链接my_link</a:t>
            </a:r>
          </a:p>
          <a:p>
            <a:pPr eaLnBrk="1" hangingPunct="1">
              <a:spcBef>
                <a:spcPct val="0"/>
              </a:spcBef>
              <a:spcAft>
                <a:spcPct val="0"/>
              </a:spcAft>
              <a:defRPr/>
            </a:pPr>
            <a:r>
              <a:rPr lang="zh-CN" altLang="en-US" sz="3600" dirty="0"/>
              <a:t>#</a:t>
            </a:r>
            <a:r>
              <a:rPr lang="zh-CN" altLang="en-US" sz="3600" dirty="0">
                <a:solidFill>
                  <a:srgbClr val="FF0000"/>
                </a:solidFill>
              </a:rPr>
              <a:t>ln /bin/ls /usr/bin/l</a:t>
            </a:r>
            <a:r>
              <a:rPr lang="zh-CN" altLang="en-US" sz="3600" dirty="0"/>
              <a:t>		#在目录/usr/bin内为/bin/ls创建一个硬链接l</a:t>
            </a:r>
          </a:p>
        </p:txBody>
      </p:sp>
      <p:graphicFrame>
        <p:nvGraphicFramePr>
          <p:cNvPr id="2" name="表格 -1">
            <a:extLst>
              <a:ext uri="{FF2B5EF4-FFF2-40B4-BE49-F238E27FC236}">
                <a16:creationId xmlns:a16="http://schemas.microsoft.com/office/drawing/2014/main" id="{C471DBC0-BDEA-6FFA-2FEA-090CB6A22DBE}"/>
              </a:ext>
            </a:extLst>
          </p:cNvPr>
          <p:cNvGraphicFramePr>
            <a:graphicFrameLocks noGrp="1"/>
          </p:cNvGraphicFramePr>
          <p:nvPr/>
        </p:nvGraphicFramePr>
        <p:xfrm>
          <a:off x="34925" y="1052513"/>
          <a:ext cx="9109075" cy="2520950"/>
        </p:xfrm>
        <a:graphic>
          <a:graphicData uri="http://schemas.openxmlformats.org/drawingml/2006/table">
            <a:tbl>
              <a:tblPr/>
              <a:tblGrid>
                <a:gridCol w="881232">
                  <a:extLst>
                    <a:ext uri="{9D8B030D-6E8A-4147-A177-3AD203B41FA5}">
                      <a16:colId xmlns:a16="http://schemas.microsoft.com/office/drawing/2014/main" val="20000"/>
                    </a:ext>
                  </a:extLst>
                </a:gridCol>
                <a:gridCol w="3471628">
                  <a:extLst>
                    <a:ext uri="{9D8B030D-6E8A-4147-A177-3AD203B41FA5}">
                      <a16:colId xmlns:a16="http://schemas.microsoft.com/office/drawing/2014/main" val="20001"/>
                    </a:ext>
                  </a:extLst>
                </a:gridCol>
                <a:gridCol w="1159368">
                  <a:extLst>
                    <a:ext uri="{9D8B030D-6E8A-4147-A177-3AD203B41FA5}">
                      <a16:colId xmlns:a16="http://schemas.microsoft.com/office/drawing/2014/main" val="20002"/>
                    </a:ext>
                  </a:extLst>
                </a:gridCol>
                <a:gridCol w="3596847">
                  <a:extLst>
                    <a:ext uri="{9D8B030D-6E8A-4147-A177-3AD203B41FA5}">
                      <a16:colId xmlns:a16="http://schemas.microsoft.com/office/drawing/2014/main" val="20003"/>
                    </a:ext>
                  </a:extLst>
                </a:gridCol>
              </a:tblGrid>
              <a:tr h="4205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39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强行操作，删除已经存在的同名文件</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当链接名已经存在时，交互或提示用户是否删除它</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9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创建符号链接，若不指定此选项则创建硬链接</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itchFamily="2" charset="-122"/>
                          <a:ea typeface="宋体" pitchFamily="2" charset="-122"/>
                        </a:rPr>
                        <a:t>启用备份。文件重名时，将</a:t>
                      </a:r>
                      <a:r>
                        <a:rPr kumimoji="0" lang="en-US" altLang="zh-CN" sz="2400" b="1" i="0" u="none" strike="noStrike" cap="none" normalizeH="0" baseline="0">
                          <a:ln>
                            <a:noFill/>
                          </a:ln>
                          <a:solidFill>
                            <a:schemeClr val="tx1"/>
                          </a:solidFill>
                          <a:effectLst/>
                          <a:latin typeface="宋体" pitchFamily="2" charset="-122"/>
                          <a:ea typeface="宋体" pitchFamily="2" charset="-122"/>
                        </a:rPr>
                        <a:t>name</a:t>
                      </a:r>
                      <a:r>
                        <a:rPr kumimoji="0" lang="zh-CN" altLang="en-US" sz="2400" b="1" i="0" u="none" strike="noStrike" cap="none" normalizeH="0" baseline="0">
                          <a:ln>
                            <a:noFill/>
                          </a:ln>
                          <a:solidFill>
                            <a:schemeClr val="tx1"/>
                          </a:solidFill>
                          <a:effectLst/>
                          <a:latin typeface="宋体" pitchFamily="2" charset="-122"/>
                          <a:ea typeface="宋体" pitchFamily="2" charset="-122"/>
                        </a:rPr>
                        <a:t>备份为</a:t>
                      </a:r>
                      <a:r>
                        <a:rPr kumimoji="0" lang="en-US" altLang="zh-CN" sz="2400" b="1" i="0" u="none" strike="noStrike" cap="none" normalizeH="0" baseline="0">
                          <a:ln>
                            <a:noFill/>
                          </a:ln>
                          <a:solidFill>
                            <a:schemeClr val="tx1"/>
                          </a:solidFill>
                          <a:effectLst/>
                          <a:latin typeface="宋体" pitchFamily="2" charset="-122"/>
                          <a:ea typeface="宋体" pitchFamily="2" charset="-122"/>
                        </a:rPr>
                        <a:t>name~</a:t>
                      </a:r>
                      <a:endParaRPr kumimoji="0" lang="zh-CN" altLang="en-US" sz="2400" b="1" i="0" u="none" strike="noStrike" cap="none" normalizeH="0" baseline="0">
                        <a:ln>
                          <a:noFill/>
                        </a:ln>
                        <a:solidFill>
                          <a:schemeClr val="tx1"/>
                        </a:solidFill>
                        <a:effectLst/>
                        <a:latin typeface="宋体" pitchFamily="2" charset="-122"/>
                        <a:ea typeface="宋体" pitchFamily="2" charset="-122"/>
                      </a:endParaRP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5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 dir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a:t>
                      </a:r>
                      <a:r>
                        <a:rPr kumimoji="0" lang="zh-CN" altLang="en-US" sz="2400" b="1" i="0" u="none" strike="noStrike" cap="none" normalizeH="0" baseline="0">
                          <a:ln>
                            <a:noFill/>
                          </a:ln>
                          <a:solidFill>
                            <a:schemeClr val="tx1"/>
                          </a:solidFill>
                          <a:effectLst/>
                          <a:latin typeface="宋体" pitchFamily="2" charset="-122"/>
                          <a:ea typeface="宋体" pitchFamily="2" charset="-122"/>
                        </a:rPr>
                        <a:t>目标</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目录</a:t>
                      </a:r>
                      <a:r>
                        <a:rPr kumimoji="0" lang="zh-CN" altLang="en-US" sz="2400" b="1" i="0" u="none" strike="noStrike" cap="none" normalizeH="0" baseline="0">
                          <a:ln>
                            <a:noFill/>
                          </a:ln>
                          <a:solidFill>
                            <a:schemeClr val="tx1"/>
                          </a:solidFill>
                          <a:effectLst/>
                          <a:latin typeface="宋体" pitchFamily="2" charset="-122"/>
                          <a:ea typeface="宋体" pitchFamily="2" charset="-122"/>
                        </a:rPr>
                        <a:t>为</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dir</a:t>
                      </a:r>
                      <a:endPar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 target</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宋体" pitchFamily="2" charset="-122"/>
                          <a:ea typeface="宋体" pitchFamily="2" charset="-122"/>
                        </a:rPr>
                        <a:t>指定目标文件</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target</a:t>
                      </a:r>
                      <a:endParaRPr kumimoji="0" lang="zh-CN" altLang="en-US" sz="2400" b="1" i="0" u="none" strike="noStrike" cap="none" normalizeH="0" baseline="0" dirty="0">
                        <a:ln>
                          <a:noFill/>
                        </a:ln>
                        <a:solidFill>
                          <a:schemeClr val="tx1"/>
                        </a:solidFill>
                        <a:effectLst/>
                        <a:latin typeface="宋体" pitchFamily="2" charset="-122"/>
                        <a:ea typeface="宋体" pitchFamily="2" charset="-122"/>
                      </a:endParaRP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2C98DCC6-8413-1023-C079-219AA2DF61BB}"/>
              </a:ext>
            </a:extLst>
          </p:cNvPr>
          <p:cNvSpPr>
            <a:spLocks noGrp="1" noChangeArrowheads="1"/>
          </p:cNvSpPr>
          <p:nvPr>
            <p:ph type="title"/>
          </p:nvPr>
        </p:nvSpPr>
        <p:spPr/>
        <p:txBody>
          <a:bodyPr/>
          <a:lstStyle/>
          <a:p>
            <a:pPr eaLnBrk="1" hangingPunct="1"/>
            <a:r>
              <a:rPr lang="zh-CN" altLang="en-US" sz="3200"/>
              <a:t>5.4.5  特别文件创建（mknod，mkfifo）</a:t>
            </a:r>
          </a:p>
        </p:txBody>
      </p:sp>
      <p:sp>
        <p:nvSpPr>
          <p:cNvPr id="72707" name="内容占位符 2">
            <a:extLst>
              <a:ext uri="{FF2B5EF4-FFF2-40B4-BE49-F238E27FC236}">
                <a16:creationId xmlns:a16="http://schemas.microsoft.com/office/drawing/2014/main" id="{B96AE059-FC1F-55F5-522D-CF7847605ADB}"/>
              </a:ext>
            </a:extLst>
          </p:cNvPr>
          <p:cNvSpPr>
            <a:spLocks noGrp="1" noChangeArrowheads="1"/>
          </p:cNvSpPr>
          <p:nvPr>
            <p:ph idx="1"/>
          </p:nvPr>
        </p:nvSpPr>
        <p:spPr>
          <a:xfrm>
            <a:off x="34925" y="549275"/>
            <a:ext cx="9109075" cy="5832475"/>
          </a:xfrm>
        </p:spPr>
        <p:txBody>
          <a:bodyPr/>
          <a:lstStyle/>
          <a:p>
            <a:pPr eaLnBrk="1" hangingPunct="1">
              <a:spcBef>
                <a:spcPct val="0"/>
              </a:spcBef>
              <a:spcAft>
                <a:spcPct val="0"/>
              </a:spcAft>
            </a:pPr>
            <a:r>
              <a:rPr lang="zh-CN" altLang="en-US"/>
              <a:t>1．功能及用法</a:t>
            </a:r>
          </a:p>
          <a:p>
            <a:pPr eaLnBrk="1" hangingPunct="1">
              <a:spcBef>
                <a:spcPct val="0"/>
              </a:spcBef>
              <a:spcAft>
                <a:spcPct val="0"/>
              </a:spcAft>
            </a:pPr>
            <a:r>
              <a:rPr lang="zh-CN" altLang="en-US"/>
              <a:t>用于设备文件创建的命令是mknod，专用于命名管道创建的命令是mkfifo，它们的用法为：</a:t>
            </a:r>
          </a:p>
          <a:p>
            <a:pPr eaLnBrk="1" hangingPunct="1">
              <a:spcBef>
                <a:spcPct val="0"/>
              </a:spcBef>
              <a:spcAft>
                <a:spcPct val="0"/>
              </a:spcAft>
            </a:pPr>
            <a:r>
              <a:rPr lang="zh-CN" altLang="en-US">
                <a:solidFill>
                  <a:srgbClr val="FF0000"/>
                </a:solidFill>
              </a:rPr>
              <a:t>mknod [-m,--mode=MOD] name type [major minor]</a:t>
            </a:r>
          </a:p>
          <a:p>
            <a:pPr eaLnBrk="1" hangingPunct="1">
              <a:spcBef>
                <a:spcPct val="0"/>
              </a:spcBef>
              <a:spcAft>
                <a:spcPct val="0"/>
              </a:spcAft>
            </a:pPr>
            <a:r>
              <a:rPr lang="zh-CN" altLang="en-US">
                <a:solidFill>
                  <a:srgbClr val="FF0000"/>
                </a:solidFill>
              </a:rPr>
              <a:t>mkfifo [-m,--mode=MOD] name</a:t>
            </a:r>
          </a:p>
          <a:p>
            <a:pPr eaLnBrk="1" hangingPunct="1">
              <a:spcBef>
                <a:spcPct val="0"/>
              </a:spcBef>
              <a:spcAft>
                <a:spcPct val="0"/>
              </a:spcAft>
            </a:pPr>
            <a:r>
              <a:rPr lang="zh-CN" altLang="en-US"/>
              <a:t>name为要创建的设备文件名；</a:t>
            </a:r>
            <a:r>
              <a:rPr lang="zh-CN" altLang="en-US">
                <a:solidFill>
                  <a:srgbClr val="FF0000"/>
                </a:solidFill>
              </a:rPr>
              <a:t>type为设备类型标志</a:t>
            </a:r>
            <a:r>
              <a:rPr lang="zh-CN" altLang="en-US"/>
              <a:t>，常用的有b（块设备）、c（字符设备）和p（管道设备）；</a:t>
            </a:r>
            <a:r>
              <a:rPr lang="zh-CN" altLang="en-US">
                <a:solidFill>
                  <a:srgbClr val="FF0000"/>
                </a:solidFill>
              </a:rPr>
              <a:t>major和minor</a:t>
            </a:r>
            <a:r>
              <a:rPr lang="zh-CN" altLang="en-US"/>
              <a:t>分别</a:t>
            </a:r>
            <a:r>
              <a:rPr lang="zh-CN" altLang="en-US">
                <a:solidFill>
                  <a:srgbClr val="FF0000"/>
                </a:solidFill>
              </a:rPr>
              <a:t>为主、次设备号</a:t>
            </a:r>
            <a:r>
              <a:rPr lang="zh-CN" altLang="en-US"/>
              <a:t>。</a:t>
            </a:r>
          </a:p>
          <a:p>
            <a:pPr eaLnBrk="1" hangingPunct="1">
              <a:spcBef>
                <a:spcPct val="0"/>
              </a:spcBef>
              <a:spcAft>
                <a:spcPct val="0"/>
              </a:spcAft>
            </a:pPr>
            <a:r>
              <a:rPr lang="zh-CN" altLang="en-US"/>
              <a:t>通过-m perm或--mode=perm为设备文件</a:t>
            </a:r>
            <a:r>
              <a:rPr lang="zh-CN" altLang="en-US">
                <a:solidFill>
                  <a:srgbClr val="FF0000"/>
                </a:solidFill>
              </a:rPr>
              <a:t>设置访问权限</a:t>
            </a:r>
            <a:r>
              <a:rPr lang="zh-CN" altLang="en-US"/>
              <a:t>。</a:t>
            </a:r>
          </a:p>
          <a:p>
            <a:pPr eaLnBrk="1" hangingPunct="1">
              <a:spcBef>
                <a:spcPct val="0"/>
              </a:spcBef>
              <a:spcAft>
                <a:spcPct val="0"/>
              </a:spcAft>
            </a:pPr>
            <a:r>
              <a:rPr lang="zh-CN" altLang="en-US"/>
              <a:t>mknod为设备创建一个文件名，以</a:t>
            </a:r>
            <a:r>
              <a:rPr lang="zh-CN" altLang="en-US">
                <a:solidFill>
                  <a:srgbClr val="FF0000"/>
                </a:solidFill>
              </a:rPr>
              <a:t>建立设备文件名与设备驱动程序的联系</a:t>
            </a:r>
            <a:r>
              <a:rPr lang="zh-CN" altLang="en-US"/>
              <a:t>。</a:t>
            </a:r>
          </a:p>
          <a:p>
            <a:pPr eaLnBrk="1" hangingPunct="1">
              <a:spcBef>
                <a:spcPct val="0"/>
              </a:spcBef>
              <a:spcAft>
                <a:spcPct val="0"/>
              </a:spcAft>
            </a:pPr>
            <a:r>
              <a:rPr lang="zh-CN" altLang="en-US"/>
              <a:t>也可以使用mknod重建删掉了的设备文件。</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00B038E2-6A69-E35D-2EEB-F0F20134806A}"/>
              </a:ext>
            </a:extLst>
          </p:cNvPr>
          <p:cNvSpPr>
            <a:spLocks noGrp="1" noChangeArrowheads="1"/>
          </p:cNvSpPr>
          <p:nvPr>
            <p:ph type="title"/>
          </p:nvPr>
        </p:nvSpPr>
        <p:spPr/>
        <p:txBody>
          <a:bodyPr/>
          <a:lstStyle/>
          <a:p>
            <a:pPr eaLnBrk="1" hangingPunct="1"/>
            <a:r>
              <a:rPr lang="zh-CN" altLang="en-US" sz="2800"/>
              <a:t>5.4.</a:t>
            </a:r>
            <a:r>
              <a:rPr lang="en-US" altLang="zh-CN" sz="2800"/>
              <a:t>3</a:t>
            </a:r>
            <a:r>
              <a:rPr lang="zh-CN" altLang="en-US" sz="2800"/>
              <a:t>  磁盘空间和文件系统的使用情况统计（df）</a:t>
            </a:r>
          </a:p>
        </p:txBody>
      </p:sp>
      <p:sp>
        <p:nvSpPr>
          <p:cNvPr id="73731" name="内容占位符 2">
            <a:extLst>
              <a:ext uri="{FF2B5EF4-FFF2-40B4-BE49-F238E27FC236}">
                <a16:creationId xmlns:a16="http://schemas.microsoft.com/office/drawing/2014/main" id="{9E9EEB73-8586-0E9E-F5C5-8949D0976537}"/>
              </a:ext>
            </a:extLst>
          </p:cNvPr>
          <p:cNvSpPr>
            <a:spLocks noGrp="1" noChangeArrowheads="1"/>
          </p:cNvSpPr>
          <p:nvPr>
            <p:ph idx="1"/>
          </p:nvPr>
        </p:nvSpPr>
        <p:spPr>
          <a:xfrm>
            <a:off x="34925" y="549275"/>
            <a:ext cx="9074150" cy="5832475"/>
          </a:xfrm>
        </p:spPr>
        <p:txBody>
          <a:bodyPr/>
          <a:lstStyle/>
          <a:p>
            <a:pPr eaLnBrk="1" hangingPunct="1">
              <a:spcBef>
                <a:spcPct val="0"/>
              </a:spcBef>
              <a:spcAft>
                <a:spcPct val="0"/>
              </a:spcAft>
            </a:pPr>
            <a:r>
              <a:rPr lang="zh-CN" altLang="en-US" sz="4400"/>
              <a:t>1．功能及用法</a:t>
            </a:r>
          </a:p>
          <a:p>
            <a:pPr eaLnBrk="1" hangingPunct="1">
              <a:spcBef>
                <a:spcPct val="0"/>
              </a:spcBef>
              <a:spcAft>
                <a:spcPct val="0"/>
              </a:spcAft>
            </a:pPr>
            <a:r>
              <a:rPr lang="zh-CN" altLang="en-US" sz="4400">
                <a:solidFill>
                  <a:srgbClr val="FF0000"/>
                </a:solidFill>
              </a:rPr>
              <a:t>df</a:t>
            </a:r>
            <a:r>
              <a:rPr lang="zh-CN" altLang="en-US" sz="4400"/>
              <a:t>的功能是</a:t>
            </a:r>
            <a:r>
              <a:rPr lang="zh-CN" altLang="en-US" sz="4400">
                <a:solidFill>
                  <a:srgbClr val="FF0000"/>
                </a:solidFill>
              </a:rPr>
              <a:t>按指定格式显示</a:t>
            </a:r>
            <a:r>
              <a:rPr lang="zh-CN" altLang="en-US" sz="4400"/>
              <a:t>系统中</a:t>
            </a:r>
            <a:r>
              <a:rPr lang="zh-CN" altLang="en-US" sz="4400">
                <a:solidFill>
                  <a:srgbClr val="FF0000"/>
                </a:solidFill>
              </a:rPr>
              <a:t>已安装文件系统</a:t>
            </a:r>
            <a:r>
              <a:rPr lang="zh-CN" altLang="en-US" sz="4400"/>
              <a:t>的</a:t>
            </a:r>
            <a:r>
              <a:rPr lang="zh-CN" altLang="en-US" sz="4400">
                <a:solidFill>
                  <a:srgbClr val="FF0000"/>
                </a:solidFill>
              </a:rPr>
              <a:t>使用</a:t>
            </a:r>
            <a:r>
              <a:rPr lang="zh-CN" altLang="en-US" sz="4400"/>
              <a:t>情况。其用法为：</a:t>
            </a:r>
          </a:p>
          <a:p>
            <a:pPr eaLnBrk="1" hangingPunct="1">
              <a:spcBef>
                <a:spcPct val="0"/>
              </a:spcBef>
              <a:spcAft>
                <a:spcPct val="0"/>
              </a:spcAft>
            </a:pPr>
            <a:r>
              <a:rPr lang="zh-CN" altLang="en-US" sz="4400">
                <a:solidFill>
                  <a:srgbClr val="FF0000"/>
                </a:solidFill>
              </a:rPr>
              <a:t>df [ options ] [ filesystem ]</a:t>
            </a:r>
          </a:p>
          <a:p>
            <a:pPr eaLnBrk="1" hangingPunct="1">
              <a:spcBef>
                <a:spcPct val="0"/>
              </a:spcBef>
              <a:spcAft>
                <a:spcPct val="0"/>
              </a:spcAft>
            </a:pPr>
            <a:r>
              <a:rPr lang="zh-CN" altLang="en-US" sz="4400"/>
              <a:t>若不指定文件系统，则显示系统所有已安装文件系统的使用情况。</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B3F2FE40-1002-9368-47FD-A746CC3A19EB}"/>
              </a:ext>
            </a:extLst>
          </p:cNvPr>
          <p:cNvSpPr>
            <a:spLocks noGrp="1" noChangeArrowheads="1"/>
          </p:cNvSpPr>
          <p:nvPr>
            <p:ph type="title"/>
          </p:nvPr>
        </p:nvSpPr>
        <p:spPr/>
        <p:txBody>
          <a:bodyPr/>
          <a:lstStyle/>
          <a:p>
            <a:pPr eaLnBrk="1" hangingPunct="1"/>
            <a:r>
              <a:rPr lang="zh-CN" altLang="en-US" sz="2800"/>
              <a:t>5.4.</a:t>
            </a:r>
            <a:r>
              <a:rPr lang="en-US" altLang="zh-CN" sz="2800"/>
              <a:t>3</a:t>
            </a:r>
            <a:r>
              <a:rPr lang="zh-CN" altLang="en-US" sz="2800"/>
              <a:t>  磁盘空间和文件系统的使用情况统计（df）</a:t>
            </a:r>
          </a:p>
        </p:txBody>
      </p:sp>
      <p:sp>
        <p:nvSpPr>
          <p:cNvPr id="74755" name="内容占位符 2">
            <a:extLst>
              <a:ext uri="{FF2B5EF4-FFF2-40B4-BE49-F238E27FC236}">
                <a16:creationId xmlns:a16="http://schemas.microsoft.com/office/drawing/2014/main" id="{7665AB0A-1AFB-A757-5958-8D6D5DBAADEF}"/>
              </a:ext>
            </a:extLst>
          </p:cNvPr>
          <p:cNvSpPr>
            <a:spLocks noGrp="1" noChangeArrowheads="1"/>
          </p:cNvSpPr>
          <p:nvPr>
            <p:ph idx="1"/>
          </p:nvPr>
        </p:nvSpPr>
        <p:spPr>
          <a:xfrm>
            <a:off x="34925" y="549275"/>
            <a:ext cx="9074150" cy="5832475"/>
          </a:xfrm>
        </p:spPr>
        <p:txBody>
          <a:bodyPr/>
          <a:lstStyle/>
          <a:p>
            <a:pPr eaLnBrk="1" hangingPunct="1">
              <a:spcBef>
                <a:spcPct val="0"/>
              </a:spcBef>
              <a:spcAft>
                <a:spcPct val="0"/>
              </a:spcAft>
            </a:pPr>
            <a:r>
              <a:rPr lang="zh-CN" altLang="en-US" sz="2400"/>
              <a:t>2．参数及说明</a:t>
            </a:r>
          </a:p>
          <a:p>
            <a:pPr eaLnBrk="1" hangingPunct="1">
              <a:spcBef>
                <a:spcPct val="0"/>
              </a:spcBef>
              <a:spcAft>
                <a:spcPct val="0"/>
              </a:spcAft>
            </a:pPr>
            <a:endParaRPr lang="zh-CN" altLang="en-US" sz="2400"/>
          </a:p>
          <a:p>
            <a:pPr eaLnBrk="1" hangingPunct="1">
              <a:spcBef>
                <a:spcPct val="0"/>
              </a:spcBef>
              <a:spcAft>
                <a:spcPct val="0"/>
              </a:spcAft>
            </a:pPr>
            <a:endParaRPr lang="zh-CN" altLang="en-US" sz="2400"/>
          </a:p>
          <a:p>
            <a:pPr eaLnBrk="1" hangingPunct="1">
              <a:spcBef>
                <a:spcPct val="0"/>
              </a:spcBef>
              <a:spcAft>
                <a:spcPct val="0"/>
              </a:spcAft>
            </a:pPr>
            <a:endParaRPr lang="en-US" altLang="zh-CN" sz="2400"/>
          </a:p>
          <a:p>
            <a:pPr eaLnBrk="1" hangingPunct="1">
              <a:spcBef>
                <a:spcPct val="0"/>
              </a:spcBef>
              <a:spcAft>
                <a:spcPct val="0"/>
              </a:spcAft>
            </a:pPr>
            <a:endParaRPr lang="en-US" altLang="zh-CN" sz="2400"/>
          </a:p>
          <a:p>
            <a:pPr eaLnBrk="1" hangingPunct="1">
              <a:spcBef>
                <a:spcPct val="0"/>
              </a:spcBef>
              <a:spcAft>
                <a:spcPct val="0"/>
              </a:spcAft>
            </a:pPr>
            <a:endParaRPr lang="en-US" altLang="zh-CN" sz="2400"/>
          </a:p>
          <a:p>
            <a:pPr eaLnBrk="1" hangingPunct="1">
              <a:spcBef>
                <a:spcPct val="0"/>
              </a:spcBef>
              <a:spcAft>
                <a:spcPct val="0"/>
              </a:spcAft>
            </a:pPr>
            <a:endParaRPr lang="en-US" altLang="zh-CN" sz="2400"/>
          </a:p>
          <a:p>
            <a:pPr eaLnBrk="1" hangingPunct="1">
              <a:spcBef>
                <a:spcPct val="0"/>
              </a:spcBef>
              <a:spcAft>
                <a:spcPct val="0"/>
              </a:spcAft>
            </a:pPr>
            <a:endParaRPr lang="en-US" altLang="zh-CN" sz="2400"/>
          </a:p>
          <a:p>
            <a:pPr eaLnBrk="1" hangingPunct="1">
              <a:spcBef>
                <a:spcPct val="0"/>
              </a:spcBef>
              <a:spcAft>
                <a:spcPct val="0"/>
              </a:spcAft>
            </a:pPr>
            <a:endParaRPr lang="en-US" altLang="zh-CN" sz="2400"/>
          </a:p>
          <a:p>
            <a:pPr eaLnBrk="1" hangingPunct="1">
              <a:spcBef>
                <a:spcPct val="0"/>
              </a:spcBef>
              <a:spcAft>
                <a:spcPct val="0"/>
              </a:spcAft>
            </a:pPr>
            <a:r>
              <a:rPr lang="zh-CN" altLang="en-US" sz="3600"/>
              <a:t>3．示例</a:t>
            </a:r>
          </a:p>
          <a:p>
            <a:pPr eaLnBrk="1" hangingPunct="1">
              <a:spcBef>
                <a:spcPct val="0"/>
              </a:spcBef>
              <a:spcAft>
                <a:spcPct val="0"/>
              </a:spcAft>
            </a:pPr>
            <a:r>
              <a:rPr lang="zh-CN" altLang="en-US" sz="3600"/>
              <a:t>#</a:t>
            </a:r>
            <a:r>
              <a:rPr lang="zh-CN" altLang="en-US" sz="3600">
                <a:solidFill>
                  <a:srgbClr val="FF0000"/>
                </a:solidFill>
              </a:rPr>
              <a:t>df -v	</a:t>
            </a:r>
            <a:r>
              <a:rPr lang="zh-CN" altLang="en-US" sz="3600"/>
              <a:t>	#显示文件系统的使用情况</a:t>
            </a:r>
          </a:p>
          <a:p>
            <a:pPr eaLnBrk="1" hangingPunct="1">
              <a:spcBef>
                <a:spcPct val="0"/>
              </a:spcBef>
              <a:spcAft>
                <a:spcPct val="0"/>
              </a:spcAft>
            </a:pPr>
            <a:r>
              <a:rPr lang="zh-CN" altLang="en-US" sz="3600"/>
              <a:t>#</a:t>
            </a:r>
            <a:r>
              <a:rPr lang="zh-CN" altLang="en-US" sz="3600">
                <a:solidFill>
                  <a:srgbClr val="FF0000"/>
                </a:solidFill>
              </a:rPr>
              <a:t>df -i	</a:t>
            </a:r>
            <a:r>
              <a:rPr lang="zh-CN" altLang="en-US" sz="3600"/>
              <a:t>	#显示系统i节点的使用情况</a:t>
            </a:r>
          </a:p>
        </p:txBody>
      </p:sp>
      <p:graphicFrame>
        <p:nvGraphicFramePr>
          <p:cNvPr id="2" name="表格 -1">
            <a:extLst>
              <a:ext uri="{FF2B5EF4-FFF2-40B4-BE49-F238E27FC236}">
                <a16:creationId xmlns:a16="http://schemas.microsoft.com/office/drawing/2014/main" id="{7FF506DE-6205-0E3E-188C-26D8C7BF5E5D}"/>
              </a:ext>
            </a:extLst>
          </p:cNvPr>
          <p:cNvGraphicFramePr>
            <a:graphicFrameLocks noGrp="1"/>
          </p:cNvGraphicFramePr>
          <p:nvPr/>
        </p:nvGraphicFramePr>
        <p:xfrm>
          <a:off x="34925" y="981075"/>
          <a:ext cx="9109075" cy="2890838"/>
        </p:xfrm>
        <a:graphic>
          <a:graphicData uri="http://schemas.openxmlformats.org/drawingml/2006/table">
            <a:tbl>
              <a:tblPr/>
              <a:tblGrid>
                <a:gridCol w="1139686">
                  <a:extLst>
                    <a:ext uri="{9D8B030D-6E8A-4147-A177-3AD203B41FA5}">
                      <a16:colId xmlns:a16="http://schemas.microsoft.com/office/drawing/2014/main" val="20000"/>
                    </a:ext>
                  </a:extLst>
                </a:gridCol>
                <a:gridCol w="3374901">
                  <a:extLst>
                    <a:ext uri="{9D8B030D-6E8A-4147-A177-3AD203B41FA5}">
                      <a16:colId xmlns:a16="http://schemas.microsoft.com/office/drawing/2014/main" val="20001"/>
                    </a:ext>
                  </a:extLst>
                </a:gridCol>
                <a:gridCol w="948335">
                  <a:extLst>
                    <a:ext uri="{9D8B030D-6E8A-4147-A177-3AD203B41FA5}">
                      <a16:colId xmlns:a16="http://schemas.microsoft.com/office/drawing/2014/main" val="20002"/>
                    </a:ext>
                  </a:extLst>
                </a:gridCol>
                <a:gridCol w="3646153">
                  <a:extLst>
                    <a:ext uri="{9D8B030D-6E8A-4147-A177-3AD203B41FA5}">
                      <a16:colId xmlns:a16="http://schemas.microsoft.com/office/drawing/2014/main" val="20003"/>
                    </a:ext>
                  </a:extLst>
                </a:gridCol>
              </a:tblGrid>
              <a:tr h="7197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97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显示所有文件系统信息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8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endPar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显示</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inode</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使用情况</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97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 </a:t>
                      </a:r>
                      <a:r>
                        <a:rPr kumimoji="0" lang="en-US" altLang="zh-CN" sz="28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sz</a:t>
                      </a:r>
                      <a:endPar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指定显示单位</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为单位</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15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按人类易读方式显示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以百分比方式显示相关信息</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CF39FCE9-F55A-B184-9BA4-67DF9B3F162A}"/>
              </a:ext>
            </a:extLst>
          </p:cNvPr>
          <p:cNvSpPr>
            <a:spLocks noGrp="1" noChangeArrowheads="1"/>
          </p:cNvSpPr>
          <p:nvPr>
            <p:ph type="title"/>
          </p:nvPr>
        </p:nvSpPr>
        <p:spPr/>
        <p:txBody>
          <a:bodyPr/>
          <a:lstStyle/>
          <a:p>
            <a:pPr eaLnBrk="1" hangingPunct="1"/>
            <a:r>
              <a:rPr lang="zh-CN" altLang="en-US" sz="3200"/>
              <a:t>5.4.</a:t>
            </a:r>
            <a:r>
              <a:rPr lang="en-US" altLang="zh-CN" sz="3200"/>
              <a:t>4</a:t>
            </a:r>
            <a:r>
              <a:rPr lang="zh-CN" altLang="en-US" sz="3200"/>
              <a:t>  目录使用磁盘空间情况统计（du）</a:t>
            </a:r>
          </a:p>
        </p:txBody>
      </p:sp>
      <p:sp>
        <p:nvSpPr>
          <p:cNvPr id="75779" name="内容占位符 2">
            <a:extLst>
              <a:ext uri="{FF2B5EF4-FFF2-40B4-BE49-F238E27FC236}">
                <a16:creationId xmlns:a16="http://schemas.microsoft.com/office/drawing/2014/main" id="{62181426-123B-BBAF-8939-A345B4B2455C}"/>
              </a:ext>
            </a:extLst>
          </p:cNvPr>
          <p:cNvSpPr>
            <a:spLocks noGrp="1" noChangeArrowheads="1"/>
          </p:cNvSpPr>
          <p:nvPr>
            <p:ph idx="1"/>
          </p:nvPr>
        </p:nvSpPr>
        <p:spPr>
          <a:xfrm>
            <a:off x="34925" y="620713"/>
            <a:ext cx="9074150" cy="5761037"/>
          </a:xfrm>
        </p:spPr>
        <p:txBody>
          <a:bodyPr/>
          <a:lstStyle/>
          <a:p>
            <a:pPr eaLnBrk="1" hangingPunct="1">
              <a:spcBef>
                <a:spcPct val="0"/>
              </a:spcBef>
              <a:spcAft>
                <a:spcPct val="0"/>
              </a:spcAft>
            </a:pPr>
            <a:r>
              <a:rPr lang="zh-CN" altLang="en-US"/>
              <a:t>1．功能及用法</a:t>
            </a:r>
          </a:p>
          <a:p>
            <a:pPr eaLnBrk="1" hangingPunct="1">
              <a:spcBef>
                <a:spcPct val="0"/>
              </a:spcBef>
              <a:spcAft>
                <a:spcPct val="0"/>
              </a:spcAft>
            </a:pPr>
            <a:r>
              <a:rPr lang="zh-CN" altLang="en-US"/>
              <a:t>du的功能是按指定单位统计文件或目录的大小。其用法为：</a:t>
            </a:r>
          </a:p>
          <a:p>
            <a:pPr eaLnBrk="1" hangingPunct="1">
              <a:spcBef>
                <a:spcPct val="0"/>
              </a:spcBef>
              <a:spcAft>
                <a:spcPct val="0"/>
              </a:spcAft>
            </a:pPr>
            <a:r>
              <a:rPr lang="zh-CN" altLang="en-US">
                <a:solidFill>
                  <a:srgbClr val="FF0000"/>
                </a:solidFill>
              </a:rPr>
              <a:t>du  [ options ] [ names ]</a:t>
            </a:r>
          </a:p>
          <a:p>
            <a:pPr eaLnBrk="1" hangingPunct="1">
              <a:spcBef>
                <a:spcPct val="0"/>
              </a:spcBef>
              <a:spcAft>
                <a:spcPct val="0"/>
              </a:spcAft>
            </a:pPr>
            <a:r>
              <a:rPr lang="zh-CN" altLang="en-US"/>
              <a:t>若不指定names，则使用当前目录。</a:t>
            </a:r>
          </a:p>
          <a:p>
            <a:pPr eaLnBrk="1" hangingPunct="1">
              <a:spcBef>
                <a:spcPct val="0"/>
              </a:spcBef>
              <a:spcAft>
                <a:spcPct val="0"/>
              </a:spcAft>
            </a:pPr>
            <a:r>
              <a:rPr lang="zh-CN" altLang="en-US"/>
              <a:t>2．参数及说明</a:t>
            </a:r>
          </a:p>
        </p:txBody>
      </p:sp>
      <p:graphicFrame>
        <p:nvGraphicFramePr>
          <p:cNvPr id="2" name="表格 -1">
            <a:extLst>
              <a:ext uri="{FF2B5EF4-FFF2-40B4-BE49-F238E27FC236}">
                <a16:creationId xmlns:a16="http://schemas.microsoft.com/office/drawing/2014/main" id="{7B3D029E-54E9-0495-8AEF-B017DEEBFC41}"/>
              </a:ext>
            </a:extLst>
          </p:cNvPr>
          <p:cNvGraphicFramePr>
            <a:graphicFrameLocks noGrp="1"/>
          </p:cNvGraphicFramePr>
          <p:nvPr/>
        </p:nvGraphicFramePr>
        <p:xfrm>
          <a:off x="34925" y="3213100"/>
          <a:ext cx="9074150" cy="3168650"/>
        </p:xfrm>
        <a:graphic>
          <a:graphicData uri="http://schemas.openxmlformats.org/drawingml/2006/table">
            <a:tbl>
              <a:tblPr/>
              <a:tblGrid>
                <a:gridCol w="929926">
                  <a:extLst>
                    <a:ext uri="{9D8B030D-6E8A-4147-A177-3AD203B41FA5}">
                      <a16:colId xmlns:a16="http://schemas.microsoft.com/office/drawing/2014/main" val="20000"/>
                    </a:ext>
                  </a:extLst>
                </a:gridCol>
                <a:gridCol w="3117990">
                  <a:extLst>
                    <a:ext uri="{9D8B030D-6E8A-4147-A177-3AD203B41FA5}">
                      <a16:colId xmlns:a16="http://schemas.microsoft.com/office/drawing/2014/main" val="20001"/>
                    </a:ext>
                  </a:extLst>
                </a:gridCol>
                <a:gridCol w="988837">
                  <a:extLst>
                    <a:ext uri="{9D8B030D-6E8A-4147-A177-3AD203B41FA5}">
                      <a16:colId xmlns:a16="http://schemas.microsoft.com/office/drawing/2014/main" val="20002"/>
                    </a:ext>
                  </a:extLst>
                </a:gridCol>
                <a:gridCol w="4037398">
                  <a:extLst>
                    <a:ext uri="{9D8B030D-6E8A-4147-A177-3AD203B41FA5}">
                      <a16:colId xmlns:a16="http://schemas.microsoft.com/office/drawing/2014/main" val="20003"/>
                    </a:ext>
                  </a:extLst>
                </a:gridCol>
              </a:tblGrid>
              <a:tr h="6337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参数</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功</a:t>
                      </a:r>
                      <a:r>
                        <a:rPr kumimoji="0" lang="zh-CN" altLang="en-US" sz="2400" b="1" i="0" u="none" strike="noStrike" cap="none" normalizeH="0" baseline="0">
                          <a:ln>
                            <a:noFill/>
                          </a:ln>
                          <a:solidFill>
                            <a:schemeClr val="tx1"/>
                          </a:solidFill>
                          <a:effectLst/>
                          <a:latin typeface="宋体" pitchFamily="2" charset="-122"/>
                          <a:ea typeface="宋体" pitchFamily="2" charset="-122"/>
                        </a:rPr>
                        <a:t>    </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能</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37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显示所有文件系统信息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-h</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按人类易读方式显示</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37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以字节为单位</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以</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为单位</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674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 </a:t>
                      </a:r>
                      <a:r>
                        <a:rPr kumimoji="0" lang="en-US" altLang="zh-CN" sz="28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sz</a:t>
                      </a:r>
                      <a:endPar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指定显示单位</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p>
                  </a:txBody>
                  <a:tcPr marL="0" marR="0" marT="0" marB="1" anchor="ctr" horzOverflow="overflow">
                    <a:lnL w="1270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仅显示指定项目的毛总数，也包括其子目录</a:t>
                      </a:r>
                    </a:p>
                  </a:txBody>
                  <a:tcPr marL="0" marR="0" marT="0" marB="1" anchor="ctr" horzOverflow="overflow">
                    <a:lnL w="635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内容占位符 2">
            <a:extLst>
              <a:ext uri="{FF2B5EF4-FFF2-40B4-BE49-F238E27FC236}">
                <a16:creationId xmlns:a16="http://schemas.microsoft.com/office/drawing/2014/main" id="{271CE00F-91EC-6450-CE06-E611F540DD22}"/>
              </a:ext>
            </a:extLst>
          </p:cNvPr>
          <p:cNvSpPr>
            <a:spLocks noGrp="1" noChangeArrowheads="1"/>
          </p:cNvSpPr>
          <p:nvPr>
            <p:ph idx="1"/>
          </p:nvPr>
        </p:nvSpPr>
        <p:spPr/>
        <p:txBody>
          <a:bodyPr/>
          <a:lstStyle/>
          <a:p>
            <a:r>
              <a:rPr lang="zh-CN" altLang="en-US" sz="4400"/>
              <a:t>作业：教材课后习题</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 PL SungtiL GB"/>
        <a:ea typeface="华文新魏"/>
        <a:cs typeface=""/>
      </a:majorFont>
      <a:minorFont>
        <a:latin typeface="AR PL SungtiL GB"/>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3371</TotalTime>
  <Words>12459</Words>
  <Application>Microsoft Office PowerPoint</Application>
  <PresentationFormat>全屏显示(4:3)</PresentationFormat>
  <Paragraphs>648</Paragraphs>
  <Slides>69</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69</vt:i4>
      </vt:variant>
    </vt:vector>
  </HeadingPairs>
  <TitlesOfParts>
    <vt:vector size="77" baseType="lpstr">
      <vt:lpstr>AR PL SungtiL GB</vt:lpstr>
      <vt:lpstr>华文新魏</vt:lpstr>
      <vt:lpstr>宋体</vt:lpstr>
      <vt:lpstr>Arial</vt:lpstr>
      <vt:lpstr>Times New Roman</vt:lpstr>
      <vt:lpstr>Wingdings</vt:lpstr>
      <vt:lpstr>默认设计模板</vt:lpstr>
      <vt:lpstr>自定义设计方案</vt:lpstr>
      <vt:lpstr>PowerPoint 演示文稿</vt:lpstr>
      <vt:lpstr>第5章  文件系统安全使用与管理</vt:lpstr>
      <vt:lpstr>5.1文件系统权限及安全管理</vt:lpstr>
      <vt:lpstr>5.1  文件系统权限及安全管理</vt:lpstr>
      <vt:lpstr>5.1.1  三种权限</vt:lpstr>
      <vt:lpstr>5.1.2  三类人</vt:lpstr>
      <vt:lpstr>5.1.3  权限控制</vt:lpstr>
      <vt:lpstr>1．权限的字符串表示</vt:lpstr>
      <vt:lpstr>2．权限的数字表示</vt:lpstr>
      <vt:lpstr>5.1.4  默认权限与umask</vt:lpstr>
      <vt:lpstr>umask、文件和目录的默认权限</vt:lpstr>
      <vt:lpstr>5.2  权限安全管理命令</vt:lpstr>
      <vt:lpstr>5.2.1  设置文件创建掩码（umask）</vt:lpstr>
      <vt:lpstr>5.2.1  设置文件创建掩码（umask）</vt:lpstr>
      <vt:lpstr>5.2.2  改变文件的权限（chmod）</vt:lpstr>
      <vt:lpstr>2．参数说明（不做要求）</vt:lpstr>
      <vt:lpstr>3．使用示例</vt:lpstr>
      <vt:lpstr>5.2.3  改变文件的所有者（chown）</vt:lpstr>
      <vt:lpstr>2．参数说明(不做要求）</vt:lpstr>
      <vt:lpstr>3．使用示例</vt:lpstr>
      <vt:lpstr>5.2.4  改变文件的组（chgrp）</vt:lpstr>
      <vt:lpstr>5.3  文件系统安全管理</vt:lpstr>
      <vt:lpstr>5.3.1  UNIX/Linux支持的文件系统</vt:lpstr>
      <vt:lpstr>5.3.2  UNIX/Linux系统使用的存储设备</vt:lpstr>
      <vt:lpstr>1．IDE硬盘存储设备</vt:lpstr>
      <vt:lpstr>2．SCSI存储设备</vt:lpstr>
      <vt:lpstr>3．USB存储设备</vt:lpstr>
      <vt:lpstr>4．光驱和刻录机</vt:lpstr>
      <vt:lpstr>6．磁带设备</vt:lpstr>
      <vt:lpstr>5.3.3  磁盘分区管理与文件系统的创建</vt:lpstr>
      <vt:lpstr>1．使用fdisk和parted进行分区管理</vt:lpstr>
      <vt:lpstr>1）使用fdisk进行分区管理</vt:lpstr>
      <vt:lpstr>1）使用fdisk进行分区管理</vt:lpstr>
      <vt:lpstr>fdiskt 的交互式使用</vt:lpstr>
      <vt:lpstr>（3）使用fdisk分区示例</vt:lpstr>
      <vt:lpstr>2）使用parted进行分区管理</vt:lpstr>
      <vt:lpstr>2．创建文件系统（mkfs）</vt:lpstr>
      <vt:lpstr>2）参数及说明</vt:lpstr>
      <vt:lpstr>3）文件系统创建示例</vt:lpstr>
      <vt:lpstr>5.3.4  文件系统的使用</vt:lpstr>
      <vt:lpstr>安装点及使用</vt:lpstr>
      <vt:lpstr>1．文件系统安装（mount）</vt:lpstr>
      <vt:lpstr>1．文件系统安装（mount）</vt:lpstr>
      <vt:lpstr>2）参数说明</vt:lpstr>
      <vt:lpstr>3）mount命令示例</vt:lpstr>
      <vt:lpstr>2．文件系统卸载（umount）</vt:lpstr>
      <vt:lpstr>文件系统卸载示例</vt:lpstr>
      <vt:lpstr>5.3.5  文件系统的检查、修复与同步</vt:lpstr>
      <vt:lpstr>1．文件系统要求清理的原因（与安全性有关）</vt:lpstr>
      <vt:lpstr>2．fsck</vt:lpstr>
      <vt:lpstr>2）参数及说明</vt:lpstr>
      <vt:lpstr>3）示例</vt:lpstr>
      <vt:lpstr>（1）系统开机问题检查</vt:lpstr>
      <vt:lpstr>（2）检查软盘或指定设备上的文件系统</vt:lpstr>
      <vt:lpstr>3．sync</vt:lpstr>
      <vt:lpstr>5.4  与文件系统安全管理相关的其他命令</vt:lpstr>
      <vt:lpstr>5.4.1  文件综合查找命令（find）</vt:lpstr>
      <vt:lpstr>5.4.1  文件综合查找命令（find）</vt:lpstr>
      <vt:lpstr>5.4.1  文件综合查找命令（find）</vt:lpstr>
      <vt:lpstr>5.4.1  文件综合查找命令（find）</vt:lpstr>
      <vt:lpstr>5.4.1  文件综合查找命令（find）</vt:lpstr>
      <vt:lpstr>5.4.1  文件综合查找命令（find）</vt:lpstr>
      <vt:lpstr>5.4.2  链接管理命令（ln）</vt:lpstr>
      <vt:lpstr>5.4.2  链接管理命令（ln）</vt:lpstr>
      <vt:lpstr>5.4.5  特别文件创建（mknod，mkfifo）</vt:lpstr>
      <vt:lpstr>5.4.3  磁盘空间和文件系统的使用情况统计（df）</vt:lpstr>
      <vt:lpstr>5.4.3  磁盘空间和文件系统的使用情况统计（df）</vt:lpstr>
      <vt:lpstr>5.4.4  目录使用磁盘空间情况统计（du）</vt:lpstr>
      <vt:lpstr>PowerPoint 演示文稿</vt:lpstr>
    </vt:vector>
  </TitlesOfParts>
  <Company>黑龙江大学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Linux操作系统</dc:title>
  <dc:creator>青巴图</dc:creator>
  <cp:lastModifiedBy>yude bai</cp:lastModifiedBy>
  <cp:revision>262</cp:revision>
  <dcterms:modified xsi:type="dcterms:W3CDTF">2025-08-11T09:57:51Z</dcterms:modified>
</cp:coreProperties>
</file>