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0" r:id="rId2"/>
  </p:sldMasterIdLst>
  <p:notesMasterIdLst>
    <p:notesMasterId r:id="rId151"/>
  </p:notesMasterIdLst>
  <p:handoutMasterIdLst>
    <p:handoutMasterId r:id="rId152"/>
  </p:handoutMasterIdLst>
  <p:sldIdLst>
    <p:sldId id="256" r:id="rId3"/>
    <p:sldId id="257" r:id="rId4"/>
    <p:sldId id="696" r:id="rId5"/>
    <p:sldId id="697" r:id="rId6"/>
    <p:sldId id="698" r:id="rId7"/>
    <p:sldId id="699" r:id="rId8"/>
    <p:sldId id="700" r:id="rId9"/>
    <p:sldId id="701" r:id="rId10"/>
    <p:sldId id="702" r:id="rId11"/>
    <p:sldId id="703" r:id="rId12"/>
    <p:sldId id="704" r:id="rId13"/>
    <p:sldId id="705" r:id="rId14"/>
    <p:sldId id="706" r:id="rId15"/>
    <p:sldId id="707" r:id="rId16"/>
    <p:sldId id="708" r:id="rId17"/>
    <p:sldId id="709" r:id="rId18"/>
    <p:sldId id="710" r:id="rId19"/>
    <p:sldId id="711" r:id="rId20"/>
    <p:sldId id="712" r:id="rId21"/>
    <p:sldId id="923" r:id="rId22"/>
    <p:sldId id="723" r:id="rId23"/>
    <p:sldId id="724" r:id="rId24"/>
    <p:sldId id="713" r:id="rId25"/>
    <p:sldId id="714" r:id="rId26"/>
    <p:sldId id="725" r:id="rId27"/>
    <p:sldId id="715" r:id="rId28"/>
    <p:sldId id="716" r:id="rId29"/>
    <p:sldId id="717" r:id="rId30"/>
    <p:sldId id="718" r:id="rId31"/>
    <p:sldId id="719" r:id="rId32"/>
    <p:sldId id="720" r:id="rId33"/>
    <p:sldId id="721" r:id="rId34"/>
    <p:sldId id="722" r:id="rId35"/>
    <p:sldId id="726" r:id="rId36"/>
    <p:sldId id="727" r:id="rId37"/>
    <p:sldId id="728" r:id="rId38"/>
    <p:sldId id="729" r:id="rId39"/>
    <p:sldId id="730" r:id="rId40"/>
    <p:sldId id="731" r:id="rId41"/>
    <p:sldId id="732" r:id="rId42"/>
    <p:sldId id="733" r:id="rId43"/>
    <p:sldId id="734" r:id="rId44"/>
    <p:sldId id="737" r:id="rId45"/>
    <p:sldId id="738" r:id="rId46"/>
    <p:sldId id="739" r:id="rId47"/>
    <p:sldId id="740" r:id="rId48"/>
    <p:sldId id="741" r:id="rId49"/>
    <p:sldId id="742" r:id="rId50"/>
    <p:sldId id="743" r:id="rId51"/>
    <p:sldId id="744" r:id="rId52"/>
    <p:sldId id="745" r:id="rId53"/>
    <p:sldId id="746" r:id="rId54"/>
    <p:sldId id="747" r:id="rId55"/>
    <p:sldId id="748" r:id="rId56"/>
    <p:sldId id="749" r:id="rId57"/>
    <p:sldId id="750" r:id="rId58"/>
    <p:sldId id="751" r:id="rId59"/>
    <p:sldId id="752" r:id="rId60"/>
    <p:sldId id="756" r:id="rId61"/>
    <p:sldId id="757" r:id="rId62"/>
    <p:sldId id="759" r:id="rId63"/>
    <p:sldId id="761" r:id="rId64"/>
    <p:sldId id="762" r:id="rId65"/>
    <p:sldId id="763" r:id="rId66"/>
    <p:sldId id="764" r:id="rId67"/>
    <p:sldId id="765" r:id="rId68"/>
    <p:sldId id="766" r:id="rId69"/>
    <p:sldId id="767" r:id="rId70"/>
    <p:sldId id="768" r:id="rId71"/>
    <p:sldId id="769" r:id="rId72"/>
    <p:sldId id="770" r:id="rId73"/>
    <p:sldId id="771" r:id="rId74"/>
    <p:sldId id="772" r:id="rId75"/>
    <p:sldId id="773" r:id="rId76"/>
    <p:sldId id="775" r:id="rId77"/>
    <p:sldId id="776" r:id="rId78"/>
    <p:sldId id="777" r:id="rId79"/>
    <p:sldId id="778" r:id="rId80"/>
    <p:sldId id="779" r:id="rId81"/>
    <p:sldId id="780" r:id="rId82"/>
    <p:sldId id="781" r:id="rId83"/>
    <p:sldId id="782" r:id="rId84"/>
    <p:sldId id="783" r:id="rId85"/>
    <p:sldId id="784" r:id="rId86"/>
    <p:sldId id="785" r:id="rId87"/>
    <p:sldId id="786" r:id="rId88"/>
    <p:sldId id="787" r:id="rId89"/>
    <p:sldId id="788" r:id="rId90"/>
    <p:sldId id="790" r:id="rId91"/>
    <p:sldId id="791" r:id="rId92"/>
    <p:sldId id="792" r:id="rId93"/>
    <p:sldId id="793" r:id="rId94"/>
    <p:sldId id="812" r:id="rId95"/>
    <p:sldId id="813" r:id="rId96"/>
    <p:sldId id="814" r:id="rId97"/>
    <p:sldId id="815" r:id="rId98"/>
    <p:sldId id="817" r:id="rId99"/>
    <p:sldId id="818" r:id="rId100"/>
    <p:sldId id="819" r:id="rId101"/>
    <p:sldId id="820" r:id="rId102"/>
    <p:sldId id="821" r:id="rId103"/>
    <p:sldId id="822" r:id="rId104"/>
    <p:sldId id="823" r:id="rId105"/>
    <p:sldId id="824" r:id="rId106"/>
    <p:sldId id="825" r:id="rId107"/>
    <p:sldId id="826" r:id="rId108"/>
    <p:sldId id="827" r:id="rId109"/>
    <p:sldId id="828" r:id="rId110"/>
    <p:sldId id="829" r:id="rId111"/>
    <p:sldId id="840" r:id="rId112"/>
    <p:sldId id="841" r:id="rId113"/>
    <p:sldId id="842" r:id="rId114"/>
    <p:sldId id="859" r:id="rId115"/>
    <p:sldId id="860" r:id="rId116"/>
    <p:sldId id="861" r:id="rId117"/>
    <p:sldId id="862" r:id="rId118"/>
    <p:sldId id="863" r:id="rId119"/>
    <p:sldId id="864" r:id="rId120"/>
    <p:sldId id="865" r:id="rId121"/>
    <p:sldId id="866" r:id="rId122"/>
    <p:sldId id="867" r:id="rId123"/>
    <p:sldId id="895" r:id="rId124"/>
    <p:sldId id="896" r:id="rId125"/>
    <p:sldId id="897" r:id="rId126"/>
    <p:sldId id="898" r:id="rId127"/>
    <p:sldId id="899" r:id="rId128"/>
    <p:sldId id="900" r:id="rId129"/>
    <p:sldId id="901" r:id="rId130"/>
    <p:sldId id="902" r:id="rId131"/>
    <p:sldId id="904" r:id="rId132"/>
    <p:sldId id="905" r:id="rId133"/>
    <p:sldId id="906" r:id="rId134"/>
    <p:sldId id="907" r:id="rId135"/>
    <p:sldId id="909" r:id="rId136"/>
    <p:sldId id="910" r:id="rId137"/>
    <p:sldId id="911" r:id="rId138"/>
    <p:sldId id="912" r:id="rId139"/>
    <p:sldId id="913" r:id="rId140"/>
    <p:sldId id="914" r:id="rId141"/>
    <p:sldId id="915" r:id="rId142"/>
    <p:sldId id="916" r:id="rId143"/>
    <p:sldId id="917" r:id="rId144"/>
    <p:sldId id="918" r:id="rId145"/>
    <p:sldId id="919" r:id="rId146"/>
    <p:sldId id="920" r:id="rId147"/>
    <p:sldId id="921" r:id="rId148"/>
    <p:sldId id="922" r:id="rId149"/>
    <p:sldId id="924" r:id="rId150"/>
  </p:sldIdLst>
  <p:sldSz cx="9144000" cy="6858000" type="screen4x3"/>
  <p:notesSz cx="6858000" cy="9144000"/>
  <p:defaultTextStyle>
    <a:defPPr>
      <a:defRPr lang="en-GB"/>
    </a:defPPr>
    <a:lvl1pPr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1pPr>
    <a:lvl2pPr marL="4572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2pPr>
    <a:lvl3pPr marL="9144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3pPr>
    <a:lvl4pPr marL="13716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4pPr>
    <a:lvl5pPr marL="18288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5pPr>
    <a:lvl6pPr marL="2286000" algn="l" defTabSz="914400" rtl="0" eaLnBrk="1" latinLnBrk="0" hangingPunct="1">
      <a:defRPr sz="2800" b="1" kern="1200">
        <a:solidFill>
          <a:srgbClr val="000000"/>
        </a:solidFill>
        <a:latin typeface="AR PL SungtiL GB" charset="0"/>
        <a:ea typeface="宋体" panose="02010600030101010101" pitchFamily="2" charset="-122"/>
        <a:cs typeface="+mn-cs"/>
      </a:defRPr>
    </a:lvl6pPr>
    <a:lvl7pPr marL="2743200" algn="l" defTabSz="914400" rtl="0" eaLnBrk="1" latinLnBrk="0" hangingPunct="1">
      <a:defRPr sz="2800" b="1" kern="1200">
        <a:solidFill>
          <a:srgbClr val="000000"/>
        </a:solidFill>
        <a:latin typeface="AR PL SungtiL GB" charset="0"/>
        <a:ea typeface="宋体" panose="02010600030101010101" pitchFamily="2" charset="-122"/>
        <a:cs typeface="+mn-cs"/>
      </a:defRPr>
    </a:lvl7pPr>
    <a:lvl8pPr marL="3200400" algn="l" defTabSz="914400" rtl="0" eaLnBrk="1" latinLnBrk="0" hangingPunct="1">
      <a:defRPr sz="2800" b="1" kern="1200">
        <a:solidFill>
          <a:srgbClr val="000000"/>
        </a:solidFill>
        <a:latin typeface="AR PL SungtiL GB" charset="0"/>
        <a:ea typeface="宋体" panose="02010600030101010101" pitchFamily="2" charset="-122"/>
        <a:cs typeface="+mn-cs"/>
      </a:defRPr>
    </a:lvl8pPr>
    <a:lvl9pPr marL="3657600" algn="l" defTabSz="914400" rtl="0" eaLnBrk="1" latinLnBrk="0" hangingPunct="1">
      <a:defRPr sz="2800" b="1" kern="1200">
        <a:solidFill>
          <a:srgbClr val="000000"/>
        </a:solidFill>
        <a:latin typeface="AR PL SungtiL GB"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00"/>
    <a:srgbClr val="00FF00"/>
    <a:srgbClr val="DDDDDD"/>
    <a:srgbClr val="C0C0C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60" autoAdjust="0"/>
  </p:normalViewPr>
  <p:slideViewPr>
    <p:cSldViewPr>
      <p:cViewPr varScale="1">
        <p:scale>
          <a:sx n="110" d="100"/>
          <a:sy n="110" d="100"/>
        </p:scale>
        <p:origin x="1644" y="78"/>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120" d="100"/>
          <a:sy n="120" d="100"/>
        </p:scale>
        <p:origin x="504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theme" Target="theme/theme1.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notesMaster" Target="notesMasters/notesMaster1.xml"/><Relationship Id="rId156" Type="http://schemas.openxmlformats.org/officeDocument/2006/relationships/tableStyles" Target="tableStyle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handoutMaster" Target="handoutMasters/handoutMaster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presProps" Target="pres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viewProps" Target="viewProps.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0414532-9C4B-EF27-5A28-C549B57F79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4841E3AE-C2C4-C20B-EA2E-61C2B6DBC28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B2360A87-5F3C-4940-9517-8E7A746B73B8}" type="datetimeFigureOut">
              <a:rPr lang="zh-CN" altLang="en-US"/>
              <a:pPr>
                <a:defRPr/>
              </a:pPr>
              <a:t>2025/8/11</a:t>
            </a:fld>
            <a:endParaRPr lang="zh-CN" altLang="en-US"/>
          </a:p>
        </p:txBody>
      </p:sp>
      <p:sp>
        <p:nvSpPr>
          <p:cNvPr id="4" name="页脚占位符 3">
            <a:extLst>
              <a:ext uri="{FF2B5EF4-FFF2-40B4-BE49-F238E27FC236}">
                <a16:creationId xmlns:a16="http://schemas.microsoft.com/office/drawing/2014/main" id="{CF53DBD1-4E26-F90D-8615-8E0D0C919E9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a:extLst>
              <a:ext uri="{FF2B5EF4-FFF2-40B4-BE49-F238E27FC236}">
                <a16:creationId xmlns:a16="http://schemas.microsoft.com/office/drawing/2014/main" id="{19BB9360-0AEA-CB53-4B28-DACA7DCFCEC7}"/>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A68BF630-4A93-47DD-87D9-ED37DBD216C3}"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AutoShape 1">
            <a:extLst>
              <a:ext uri="{FF2B5EF4-FFF2-40B4-BE49-F238E27FC236}">
                <a16:creationId xmlns:a16="http://schemas.microsoft.com/office/drawing/2014/main" id="{3E0B2A81-952C-25AA-8D75-3E7BEE470C02}"/>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099" name="AutoShape 2">
            <a:extLst>
              <a:ext uri="{FF2B5EF4-FFF2-40B4-BE49-F238E27FC236}">
                <a16:creationId xmlns:a16="http://schemas.microsoft.com/office/drawing/2014/main" id="{7A9180E4-0E20-1653-0BFE-FC4B960F8135}"/>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0" name="AutoShape 3">
            <a:extLst>
              <a:ext uri="{FF2B5EF4-FFF2-40B4-BE49-F238E27FC236}">
                <a16:creationId xmlns:a16="http://schemas.microsoft.com/office/drawing/2014/main" id="{FFFD526A-8018-6DBF-86B0-1A9470ECA72F}"/>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1" name="AutoShape 4">
            <a:extLst>
              <a:ext uri="{FF2B5EF4-FFF2-40B4-BE49-F238E27FC236}">
                <a16:creationId xmlns:a16="http://schemas.microsoft.com/office/drawing/2014/main" id="{9954142D-8839-19F9-70D1-E013C244846B}"/>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2" name="AutoShape 5">
            <a:extLst>
              <a:ext uri="{FF2B5EF4-FFF2-40B4-BE49-F238E27FC236}">
                <a16:creationId xmlns:a16="http://schemas.microsoft.com/office/drawing/2014/main" id="{005E3892-6550-01D4-B12B-85246A2616CB}"/>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3" name="AutoShape 6">
            <a:extLst>
              <a:ext uri="{FF2B5EF4-FFF2-40B4-BE49-F238E27FC236}">
                <a16:creationId xmlns:a16="http://schemas.microsoft.com/office/drawing/2014/main" id="{108DDE8E-9A85-07CA-CED8-1810C18384D2}"/>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4" name="AutoShape 7">
            <a:extLst>
              <a:ext uri="{FF2B5EF4-FFF2-40B4-BE49-F238E27FC236}">
                <a16:creationId xmlns:a16="http://schemas.microsoft.com/office/drawing/2014/main" id="{E8DA2723-5D2B-07DA-1CB7-EEF459B2997F}"/>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5" name="AutoShape 8">
            <a:extLst>
              <a:ext uri="{FF2B5EF4-FFF2-40B4-BE49-F238E27FC236}">
                <a16:creationId xmlns:a16="http://schemas.microsoft.com/office/drawing/2014/main" id="{C1718813-B3E5-7867-5E10-12DFCCB5B065}"/>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6" name="AutoShape 9">
            <a:extLst>
              <a:ext uri="{FF2B5EF4-FFF2-40B4-BE49-F238E27FC236}">
                <a16:creationId xmlns:a16="http://schemas.microsoft.com/office/drawing/2014/main" id="{74538D5D-4623-206E-9820-67348D006462}"/>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7" name="AutoShape 10">
            <a:extLst>
              <a:ext uri="{FF2B5EF4-FFF2-40B4-BE49-F238E27FC236}">
                <a16:creationId xmlns:a16="http://schemas.microsoft.com/office/drawing/2014/main" id="{E2567446-6147-E80D-81AF-0D0238E5A2DE}"/>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8" name="AutoShape 11">
            <a:extLst>
              <a:ext uri="{FF2B5EF4-FFF2-40B4-BE49-F238E27FC236}">
                <a16:creationId xmlns:a16="http://schemas.microsoft.com/office/drawing/2014/main" id="{84E0AC87-95AD-5C41-99CA-B0122B7289B7}"/>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9" name="AutoShape 12">
            <a:extLst>
              <a:ext uri="{FF2B5EF4-FFF2-40B4-BE49-F238E27FC236}">
                <a16:creationId xmlns:a16="http://schemas.microsoft.com/office/drawing/2014/main" id="{FC8B1EB7-436A-A4B2-CB38-B82363F4A116}"/>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10" name="Rectangle 13">
            <a:extLst>
              <a:ext uri="{FF2B5EF4-FFF2-40B4-BE49-F238E27FC236}">
                <a16:creationId xmlns:a16="http://schemas.microsoft.com/office/drawing/2014/main" id="{CF8A8B2C-ECFA-EA3A-E0DA-59DBE83F6FAE}"/>
              </a:ext>
            </a:extLst>
          </p:cNvPr>
          <p:cNvSpPr>
            <a:spLocks noGrp="1" noRot="1" noChangeAspect="1" noChangeArrowheads="1" noTextEdit="1"/>
          </p:cNvSpPr>
          <p:nvPr>
            <p:ph type="sldImg"/>
          </p:nvPr>
        </p:nvSpPr>
        <p:spPr bwMode="auto">
          <a:xfrm>
            <a:off x="0" y="303213"/>
            <a:ext cx="1588" cy="5834062"/>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62" name="Rectangle 14">
            <a:extLst>
              <a:ext uri="{FF2B5EF4-FFF2-40B4-BE49-F238E27FC236}">
                <a16:creationId xmlns:a16="http://schemas.microsoft.com/office/drawing/2014/main" id="{468B0E1D-D4D3-FA00-663B-F1183BBD86D7}"/>
              </a:ext>
            </a:extLst>
          </p:cNvPr>
          <p:cNvSpPr txBox="1">
            <a:spLocks noGrp="1" noChangeArrowheads="1"/>
          </p:cNvSpPr>
          <p:nvPr>
            <p:ph type="body" idx="1"/>
          </p:nvPr>
        </p:nvSpPr>
        <p:spPr bwMode="auto">
          <a:xfrm>
            <a:off x="503238" y="4316413"/>
            <a:ext cx="5856287" cy="4059237"/>
          </a:xfrm>
          <a:prstGeom prst="rect">
            <a:avLst/>
          </a:prstGeom>
          <a:noFill/>
          <a:ln>
            <a:noFill/>
          </a:ln>
        </p:spPr>
        <p:txBody>
          <a:bodyPr vert="horz" wrap="square" lIns="0" tIns="0" rIns="0" bIns="0" numCol="1" anchor="t" anchorCtr="0" compatLnSpc="1">
            <a:prstTxWarp prst="textNoShape">
              <a:avLst/>
            </a:prstTxWarp>
          </a:bodyPr>
          <a:lstStyle/>
          <a:p>
            <a:pPr lvl="0"/>
            <a:endParaRPr lang="zh-CN" altLang="en-US" noProof="0"/>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1">
            <a:extLst>
              <a:ext uri="{FF2B5EF4-FFF2-40B4-BE49-F238E27FC236}">
                <a16:creationId xmlns:a16="http://schemas.microsoft.com/office/drawing/2014/main" id="{9C45B2B9-1BBD-9159-307D-6AF4D8B12F9C}"/>
              </a:ext>
            </a:extLst>
          </p:cNvPr>
          <p:cNvSpPr>
            <a:spLocks noGrp="1" noRot="1" noChangeAspect="1" noChangeArrowheads="1" noTextEdit="1"/>
          </p:cNvSpPr>
          <p:nvPr>
            <p:ph type="sldImg"/>
          </p:nvPr>
        </p:nvSpPr>
        <p:spPr>
          <a:xfrm>
            <a:off x="0" y="303213"/>
            <a:ext cx="1588" cy="1587"/>
          </a:xfrm>
          <a:ln/>
        </p:spPr>
      </p:sp>
      <p:sp>
        <p:nvSpPr>
          <p:cNvPr id="7171" name="Rectangle 2">
            <a:extLst>
              <a:ext uri="{FF2B5EF4-FFF2-40B4-BE49-F238E27FC236}">
                <a16:creationId xmlns:a16="http://schemas.microsoft.com/office/drawing/2014/main" id="{25D4843A-D638-381F-092C-1514E75CDF00}"/>
              </a:ext>
            </a:extLst>
          </p:cNvPr>
          <p:cNvSpPr txBox="1">
            <a:spLocks noGrp="1" noChangeArrowheads="1"/>
          </p:cNvSpPr>
          <p:nvPr>
            <p:ph type="body" idx="1"/>
          </p:nvPr>
        </p:nvSpPr>
        <p:spPr>
          <a:xfrm>
            <a:off x="503238" y="4316413"/>
            <a:ext cx="5856287" cy="406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1">
            <a:extLst>
              <a:ext uri="{FF2B5EF4-FFF2-40B4-BE49-F238E27FC236}">
                <a16:creationId xmlns:a16="http://schemas.microsoft.com/office/drawing/2014/main" id="{D02B5634-A97C-9658-7049-F011657CF678}"/>
              </a:ext>
            </a:extLst>
          </p:cNvPr>
          <p:cNvSpPr>
            <a:spLocks noGrp="1" noRot="1" noChangeAspect="1" noChangeArrowheads="1" noTextEdit="1"/>
          </p:cNvSpPr>
          <p:nvPr>
            <p:ph type="sldImg"/>
          </p:nvPr>
        </p:nvSpPr>
        <p:spPr>
          <a:xfrm>
            <a:off x="0" y="303213"/>
            <a:ext cx="1588" cy="1587"/>
          </a:xfrm>
          <a:ln/>
        </p:spPr>
      </p:sp>
      <p:sp>
        <p:nvSpPr>
          <p:cNvPr id="9219" name="Rectangle 2">
            <a:extLst>
              <a:ext uri="{FF2B5EF4-FFF2-40B4-BE49-F238E27FC236}">
                <a16:creationId xmlns:a16="http://schemas.microsoft.com/office/drawing/2014/main" id="{4E02C7D8-C7D0-D157-FAE6-0EEBE0E58A09}"/>
              </a:ext>
            </a:extLst>
          </p:cNvPr>
          <p:cNvSpPr txBox="1">
            <a:spLocks noGrp="1" noChangeArrowheads="1"/>
          </p:cNvSpPr>
          <p:nvPr>
            <p:ph type="body" idx="1"/>
          </p:nvPr>
        </p:nvSpPr>
        <p:spPr>
          <a:xfrm>
            <a:off x="503238" y="4316413"/>
            <a:ext cx="5856287" cy="406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a:extLst>
              <a:ext uri="{FF2B5EF4-FFF2-40B4-BE49-F238E27FC236}">
                <a16:creationId xmlns:a16="http://schemas.microsoft.com/office/drawing/2014/main" id="{1A83E1BD-89FE-FC79-6114-7775541B672D}"/>
              </a:ext>
            </a:extLst>
          </p:cNvPr>
          <p:cNvSpPr>
            <a:spLocks noGrp="1" noRot="1" noChangeAspect="1" noChangeArrowheads="1" noTextEdit="1"/>
          </p:cNvSpPr>
          <p:nvPr>
            <p:ph type="sldImg"/>
          </p:nvPr>
        </p:nvSpPr>
        <p:spPr>
          <a:xfrm>
            <a:off x="1143000" y="685800"/>
            <a:ext cx="4572000" cy="3429000"/>
          </a:xfrm>
          <a:ln/>
        </p:spPr>
      </p:sp>
      <p:sp>
        <p:nvSpPr>
          <p:cNvPr id="86019" name="备注占位符 2">
            <a:extLst>
              <a:ext uri="{FF2B5EF4-FFF2-40B4-BE49-F238E27FC236}">
                <a16:creationId xmlns:a16="http://schemas.microsoft.com/office/drawing/2014/main" id="{62995BB3-41B7-8752-3EEF-ED7E1DDD86EF}"/>
              </a:ext>
            </a:extLst>
          </p:cNvPr>
          <p:cNvSpPr txBox="1">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20" name="灯片编号占位符 3">
            <a:extLst>
              <a:ext uri="{FF2B5EF4-FFF2-40B4-BE49-F238E27FC236}">
                <a16:creationId xmlns:a16="http://schemas.microsoft.com/office/drawing/2014/main" id="{84705816-E77F-1A9E-62FE-5ECDC4F262C6}"/>
              </a:ext>
            </a:extLst>
          </p:cNvPr>
          <p:cNvSpPr>
            <a:spLocks noGrp="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1pPr>
            <a:lvl2pPr marL="742950" indent="-28575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2pPr>
            <a:lvl3pPr marL="11430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3pPr>
            <a:lvl4pPr marL="16002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4pPr>
            <a:lvl5pPr marL="20574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9pPr>
          </a:lstStyle>
          <a:p>
            <a:pPr>
              <a:spcBef>
                <a:spcPct val="0"/>
              </a:spcBef>
              <a:buClrTx/>
              <a:buSzTx/>
              <a:buFontTx/>
              <a:buNone/>
            </a:pPr>
            <a:fld id="{A5BB20F8-0D4A-44FF-B5DA-57BC0DA4610D}" type="slidenum">
              <a:rPr lang="zh-CN" altLang="en-US" sz="2800">
                <a:latin typeface="AR PL SungtiL GB" charset="0"/>
              </a:rPr>
              <a:pPr>
                <a:spcBef>
                  <a:spcPct val="0"/>
                </a:spcBef>
                <a:buClrTx/>
                <a:buSzTx/>
                <a:buFontTx/>
                <a:buNone/>
              </a:pPr>
              <a:t>76</a:t>
            </a:fld>
            <a:endParaRPr lang="zh-CN" altLang="en-US" sz="2800">
              <a:latin typeface="AR PL SungtiL GB"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2AF92C16-02B1-20FD-1734-266326E39645}"/>
              </a:ext>
            </a:extLst>
          </p:cNvPr>
          <p:cNvSpPr>
            <a:spLocks noChangeArrowheads="1"/>
          </p:cNvSpPr>
          <p:nvPr/>
        </p:nvSpPr>
        <p:spPr bwMode="auto">
          <a:xfrm>
            <a:off x="0" y="6518275"/>
            <a:ext cx="9144000" cy="339725"/>
          </a:xfrm>
          <a:prstGeom prst="rect">
            <a:avLst/>
          </a:prstGeom>
          <a:noFill/>
          <a:ln>
            <a:noFill/>
          </a:ln>
          <a:effectLst/>
        </p:spPr>
        <p:txBody>
          <a:bodyP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spcBef>
                <a:spcPct val="0"/>
              </a:spcBef>
              <a:spcAft>
                <a:spcPct val="0"/>
              </a:spcAft>
              <a:buClrTx/>
              <a:buFontTx/>
              <a:buNone/>
              <a:defRPr/>
            </a:pPr>
            <a:r>
              <a:rPr lang="en-US" altLang="zh-CN" sz="1800" dirty="0">
                <a:solidFill>
                  <a:schemeClr val="accent2"/>
                </a:solidFill>
                <a:latin typeface="Arial" panose="020B0604020202020204" pitchFamily="34" charset="0"/>
                <a:ea typeface="华文新魏" panose="02010800040101010101" pitchFamily="2" charset="-122"/>
              </a:rPr>
              <a:t>《Linux</a:t>
            </a:r>
            <a:r>
              <a:rPr lang="zh-CN" altLang="en-US" sz="1800" dirty="0">
                <a:solidFill>
                  <a:schemeClr val="accent2"/>
                </a:solidFill>
                <a:latin typeface="Arial" panose="020B0604020202020204" pitchFamily="34" charset="0"/>
                <a:ea typeface="华文新魏" panose="02010800040101010101" pitchFamily="2" charset="-122"/>
              </a:rPr>
              <a:t>系统与安全</a:t>
            </a:r>
            <a:r>
              <a:rPr lang="en-US" altLang="zh-CN" sz="1800" dirty="0">
                <a:solidFill>
                  <a:schemeClr val="accent2"/>
                </a:solidFill>
                <a:latin typeface="Arial" panose="020B0604020202020204" pitchFamily="34" charset="0"/>
                <a:ea typeface="华文新魏" panose="02010800040101010101" pitchFamily="2" charset="-122"/>
              </a:rPr>
              <a:t>》 </a:t>
            </a:r>
            <a:r>
              <a:rPr lang="zh-CN" altLang="en-US" sz="1800" dirty="0">
                <a:solidFill>
                  <a:schemeClr val="accent2"/>
                </a:solidFill>
                <a:latin typeface="Arial" panose="020B0604020202020204" pitchFamily="34" charset="0"/>
                <a:ea typeface="华文新魏" panose="02010800040101010101" pitchFamily="2" charset="-122"/>
              </a:rPr>
              <a:t>天津工业大学大学软件学院  </a:t>
            </a:r>
            <a:fld id="{DA6DB9C1-9129-4A69-AFAD-A548C0AE448E}" type="datetime8">
              <a:rPr lang="zh-CN" altLang="en-US" sz="1800" smtClean="0">
                <a:solidFill>
                  <a:schemeClr val="accent2"/>
                </a:solidFill>
                <a:latin typeface="Arial" panose="020B0604020202020204" pitchFamily="34" charset="0"/>
                <a:ea typeface="华文新魏" panose="02010800040101010101" pitchFamily="2" charset="-122"/>
              </a:rPr>
              <a:pPr eaLnBrk="1" hangingPunct="1">
                <a:spcBef>
                  <a:spcPct val="0"/>
                </a:spcBef>
                <a:spcAft>
                  <a:spcPct val="0"/>
                </a:spcAft>
                <a:buClrTx/>
                <a:buFontTx/>
                <a:buNone/>
                <a:defRPr/>
              </a:pPr>
              <a:t>2025年8月11日5时55分</a:t>
            </a:fld>
            <a:endParaRPr lang="en-US" altLang="zh-CN" sz="1800" dirty="0">
              <a:solidFill>
                <a:schemeClr val="accent2"/>
              </a:solidFill>
              <a:latin typeface="Arial" panose="020B0604020202020204" pitchFamily="34" charset="0"/>
              <a:ea typeface="华文新魏" panose="02010800040101010101" pitchFamily="2" charset="-122"/>
            </a:endParaRPr>
          </a:p>
        </p:txBody>
      </p:sp>
      <p:sp>
        <p:nvSpPr>
          <p:cNvPr id="3" name="Rectangle 9">
            <a:extLst>
              <a:ext uri="{FF2B5EF4-FFF2-40B4-BE49-F238E27FC236}">
                <a16:creationId xmlns:a16="http://schemas.microsoft.com/office/drawing/2014/main" id="{C7366FBA-82FE-5DB4-1FE1-2B2F8B78A797}"/>
              </a:ext>
            </a:extLst>
          </p:cNvPr>
          <p:cNvSpPr>
            <a:spLocks noChangeArrowheads="1"/>
          </p:cNvSpPr>
          <p:nvPr/>
        </p:nvSpPr>
        <p:spPr bwMode="auto">
          <a:xfrm>
            <a:off x="7413625" y="6496050"/>
            <a:ext cx="1730375" cy="347663"/>
          </a:xfrm>
          <a:prstGeom prst="rect">
            <a:avLst/>
          </a:prstGeom>
          <a:noFill/>
          <a:ln>
            <a:noFill/>
          </a:ln>
          <a:effectLst/>
        </p:spPr>
        <p:txBody>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pPr algn="r" eaLnBrk="1" hangingPunct="1">
              <a:defRPr/>
            </a:pPr>
            <a:r>
              <a:rPr lang="zh-CN" altLang="en-US" sz="1800" b="0">
                <a:solidFill>
                  <a:schemeClr val="accent2"/>
                </a:solidFill>
                <a:latin typeface="Arial" panose="020B0604020202020204" pitchFamily="34" charset="0"/>
                <a:ea typeface="华文新魏" panose="02010800040101010101" pitchFamily="2" charset="-122"/>
              </a:rPr>
              <a:t>第</a:t>
            </a:r>
            <a:fld id="{9634B4C4-004D-4C8D-B51E-66BC66509E34}" type="slidenum">
              <a:rPr lang="zh-CN" altLang="en-US" sz="1800" smtClean="0">
                <a:solidFill>
                  <a:schemeClr val="accent2"/>
                </a:solidFill>
                <a:latin typeface="Arial" panose="020B0604020202020204" pitchFamily="34" charset="0"/>
                <a:ea typeface="华文新魏" panose="02010800040101010101" pitchFamily="2" charset="-122"/>
              </a:rPr>
              <a:pPr algn="r" eaLnBrk="1" hangingPunct="1">
                <a:defRPr/>
              </a:pPr>
              <a:t>‹#›</a:t>
            </a:fld>
            <a:r>
              <a:rPr lang="zh-CN" altLang="en-US" sz="1800" b="0">
                <a:solidFill>
                  <a:schemeClr val="accent2"/>
                </a:solidFill>
                <a:latin typeface="Arial" panose="020B0604020202020204" pitchFamily="34" charset="0"/>
                <a:ea typeface="华文新魏" panose="02010800040101010101" pitchFamily="2" charset="-122"/>
              </a:rPr>
              <a:t>页</a:t>
            </a:r>
          </a:p>
        </p:txBody>
      </p:sp>
      <p:sp>
        <p:nvSpPr>
          <p:cNvPr id="265218" name="Rectangle 2"/>
          <p:cNvSpPr>
            <a:spLocks noGrp="1" noChangeArrowheads="1"/>
          </p:cNvSpPr>
          <p:nvPr>
            <p:ph type="ctrTitle"/>
          </p:nvPr>
        </p:nvSpPr>
        <p:spPr>
          <a:xfrm>
            <a:off x="685800" y="2130425"/>
            <a:ext cx="7772400" cy="1470025"/>
          </a:xfrm>
        </p:spPr>
        <p:txBody>
          <a:bodyPr/>
          <a:lstStyle>
            <a:lvl1pPr>
              <a:lnSpc>
                <a:spcPct val="100000"/>
              </a:lnSpc>
              <a:buFont typeface="Times New Roman" panose="02020603050405020304" pitchFamily="18" charset="0"/>
              <a:buNone/>
              <a:defRPr sz="4400" b="0">
                <a:latin typeface="Times New Roman" panose="02020603050405020304" pitchFamily="18" charset="0"/>
              </a:defRPr>
            </a:lvl1pPr>
          </a:lstStyle>
          <a:p>
            <a:pPr lvl="0"/>
            <a:r>
              <a:rPr lang="zh-CN" altLang="en-US" noProof="0"/>
              <a:t>单击此处编辑母版标题样式</a:t>
            </a:r>
          </a:p>
        </p:txBody>
      </p:sp>
      <p:sp>
        <p:nvSpPr>
          <p:cNvPr id="265219" name="Rectangle 3"/>
          <p:cNvSpPr>
            <a:spLocks noGrp="1" noChangeArrowheads="1"/>
          </p:cNvSpPr>
          <p:nvPr>
            <p:ph type="subTitle" idx="1"/>
          </p:nvPr>
        </p:nvSpPr>
        <p:spPr>
          <a:xfrm>
            <a:off x="1371600" y="3886200"/>
            <a:ext cx="6400800" cy="1752600"/>
          </a:xfrm>
        </p:spPr>
        <p:txBody>
          <a:bodyPr/>
          <a:lstStyle>
            <a:lvl1pPr marL="342900" indent="-342900">
              <a:spcBef>
                <a:spcPct val="20000"/>
              </a:spcBef>
              <a:buFont typeface="Times New Roman" panose="02020603050405020304" pitchFamily="18" charset="0"/>
              <a:buBlip>
                <a:blip r:embed="rId2"/>
              </a:buBlip>
              <a:defRPr b="0">
                <a:latin typeface="Times New Roman" panose="02020603050405020304" pitchFamily="18" charset="0"/>
              </a:defRPr>
            </a:lvl1pPr>
          </a:lstStyle>
          <a:p>
            <a:pPr lvl="0"/>
            <a:r>
              <a:rPr lang="zh-CN" altLang="en-US" noProof="0"/>
              <a:t>单击此处编辑母版副标题样式</a:t>
            </a:r>
          </a:p>
        </p:txBody>
      </p:sp>
    </p:spTree>
    <p:extLst>
      <p:ext uri="{BB962C8B-B14F-4D97-AF65-F5344CB8AC3E}">
        <p14:creationId xmlns:p14="http://schemas.microsoft.com/office/powerpoint/2010/main" val="947558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914104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520074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09557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4053176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620713"/>
            <a:ext cx="4027488"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7088" y="620713"/>
            <a:ext cx="4029075"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98054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53605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4044607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962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3706207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12824310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998495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817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0"/>
            <a:ext cx="6705600" cy="63817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25612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47625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620713"/>
            <a:ext cx="4027488"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7088" y="620713"/>
            <a:ext cx="4029075"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437205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13C8A2E6-C90F-11FF-6579-E535EA9DA2F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B968173-D392-0EE5-9186-EF4268EC903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2E1533D-DE5C-D108-5ABF-2D00E8D38B3C}"/>
              </a:ext>
            </a:extLst>
          </p:cNvPr>
          <p:cNvSpPr>
            <a:spLocks noGrp="1" noChangeArrowheads="1"/>
          </p:cNvSpPr>
          <p:nvPr>
            <p:ph type="sldNum" sz="quarter" idx="12"/>
          </p:nvPr>
        </p:nvSpPr>
        <p:spPr>
          <a:ln/>
        </p:spPr>
        <p:txBody>
          <a:bodyPr/>
          <a:lstStyle>
            <a:lvl1pPr>
              <a:defRPr/>
            </a:lvl1pPr>
          </a:lstStyle>
          <a:p>
            <a:pPr>
              <a:defRPr/>
            </a:pPr>
            <a:fld id="{13D1C0AA-6F74-4E35-895F-557FAA91B06B}" type="slidenum">
              <a:rPr lang="zh-CN" altLang="en-US"/>
              <a:pPr>
                <a:defRPr/>
              </a:pPr>
              <a:t>‹#›</a:t>
            </a:fld>
            <a:endParaRPr lang="en-US" altLang="zh-CN"/>
          </a:p>
        </p:txBody>
      </p:sp>
    </p:spTree>
    <p:extLst>
      <p:ext uri="{BB962C8B-B14F-4D97-AF65-F5344CB8AC3E}">
        <p14:creationId xmlns:p14="http://schemas.microsoft.com/office/powerpoint/2010/main" val="27946794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C1197B2-0208-82A2-BC24-94577CEB556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5D52EFD-788B-0B63-9AC3-88DFC109757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7C70174-9F90-AA04-6789-C69C7993DCD2}"/>
              </a:ext>
            </a:extLst>
          </p:cNvPr>
          <p:cNvSpPr>
            <a:spLocks noGrp="1" noChangeArrowheads="1"/>
          </p:cNvSpPr>
          <p:nvPr>
            <p:ph type="sldNum" sz="quarter" idx="12"/>
          </p:nvPr>
        </p:nvSpPr>
        <p:spPr>
          <a:ln/>
        </p:spPr>
        <p:txBody>
          <a:bodyPr/>
          <a:lstStyle>
            <a:lvl1pPr>
              <a:defRPr/>
            </a:lvl1pPr>
          </a:lstStyle>
          <a:p>
            <a:pPr>
              <a:defRPr/>
            </a:pPr>
            <a:fld id="{6BDA8306-6170-4F5E-A751-D2BC15069DEE}" type="slidenum">
              <a:rPr lang="zh-CN" altLang="en-US"/>
              <a:pPr>
                <a:defRPr/>
              </a:pPr>
              <a:t>‹#›</a:t>
            </a:fld>
            <a:endParaRPr lang="en-US" altLang="zh-CN"/>
          </a:p>
        </p:txBody>
      </p:sp>
    </p:spTree>
    <p:extLst>
      <p:ext uri="{BB962C8B-B14F-4D97-AF65-F5344CB8AC3E}">
        <p14:creationId xmlns:p14="http://schemas.microsoft.com/office/powerpoint/2010/main" val="4000019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E62F8C3E-04F7-023D-022C-9E862C3A002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63EFA00-5B19-E3B7-BD7F-7DA5F57E4CB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350BCE9-C295-8810-A5EB-2D32727711A7}"/>
              </a:ext>
            </a:extLst>
          </p:cNvPr>
          <p:cNvSpPr>
            <a:spLocks noGrp="1" noChangeArrowheads="1"/>
          </p:cNvSpPr>
          <p:nvPr>
            <p:ph type="sldNum" sz="quarter" idx="12"/>
          </p:nvPr>
        </p:nvSpPr>
        <p:spPr>
          <a:ln/>
        </p:spPr>
        <p:txBody>
          <a:bodyPr/>
          <a:lstStyle>
            <a:lvl1pPr>
              <a:defRPr/>
            </a:lvl1pPr>
          </a:lstStyle>
          <a:p>
            <a:pPr>
              <a:defRPr/>
            </a:pPr>
            <a:fld id="{57368838-A413-4079-9483-5235154FFAC5}" type="slidenum">
              <a:rPr lang="zh-CN" altLang="en-US"/>
              <a:pPr>
                <a:defRPr/>
              </a:pPr>
              <a:t>‹#›</a:t>
            </a:fld>
            <a:endParaRPr lang="en-US" altLang="zh-CN"/>
          </a:p>
        </p:txBody>
      </p:sp>
    </p:spTree>
    <p:extLst>
      <p:ext uri="{BB962C8B-B14F-4D97-AF65-F5344CB8AC3E}">
        <p14:creationId xmlns:p14="http://schemas.microsoft.com/office/powerpoint/2010/main" val="3176079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4470C948-35DF-BE7B-4570-FCDE4D17C23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DD65E2A2-73AF-5556-11B2-AD1852D45BF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9C50A82-CD59-3144-AC4B-12B3C65347F1}"/>
              </a:ext>
            </a:extLst>
          </p:cNvPr>
          <p:cNvSpPr>
            <a:spLocks noGrp="1" noChangeArrowheads="1"/>
          </p:cNvSpPr>
          <p:nvPr>
            <p:ph type="sldNum" sz="quarter" idx="12"/>
          </p:nvPr>
        </p:nvSpPr>
        <p:spPr>
          <a:ln/>
        </p:spPr>
        <p:txBody>
          <a:bodyPr/>
          <a:lstStyle>
            <a:lvl1pPr>
              <a:defRPr/>
            </a:lvl1pPr>
          </a:lstStyle>
          <a:p>
            <a:pPr>
              <a:defRPr/>
            </a:pPr>
            <a:fld id="{224F54A5-EA9A-4D47-8827-9EF932AF47BD}" type="slidenum">
              <a:rPr lang="zh-CN" altLang="en-US"/>
              <a:pPr>
                <a:defRPr/>
              </a:pPr>
              <a:t>‹#›</a:t>
            </a:fld>
            <a:endParaRPr lang="en-US" altLang="zh-CN"/>
          </a:p>
        </p:txBody>
      </p:sp>
    </p:spTree>
    <p:extLst>
      <p:ext uri="{BB962C8B-B14F-4D97-AF65-F5344CB8AC3E}">
        <p14:creationId xmlns:p14="http://schemas.microsoft.com/office/powerpoint/2010/main" val="13810213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27B618C8-AF14-A3A9-1BC7-3E2297EB77E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952825A6-0CD3-4F2B-DA69-BC18FEF6069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D9C0DD9B-E148-3F41-193B-FA874D8D3316}"/>
              </a:ext>
            </a:extLst>
          </p:cNvPr>
          <p:cNvSpPr>
            <a:spLocks noGrp="1" noChangeArrowheads="1"/>
          </p:cNvSpPr>
          <p:nvPr>
            <p:ph type="sldNum" sz="quarter" idx="12"/>
          </p:nvPr>
        </p:nvSpPr>
        <p:spPr>
          <a:ln/>
        </p:spPr>
        <p:txBody>
          <a:bodyPr/>
          <a:lstStyle>
            <a:lvl1pPr>
              <a:defRPr/>
            </a:lvl1pPr>
          </a:lstStyle>
          <a:p>
            <a:pPr>
              <a:defRPr/>
            </a:pPr>
            <a:fld id="{A294492C-AF5B-417B-A8BB-D69BD9D36118}" type="slidenum">
              <a:rPr lang="zh-CN" altLang="en-US"/>
              <a:pPr>
                <a:defRPr/>
              </a:pPr>
              <a:t>‹#›</a:t>
            </a:fld>
            <a:endParaRPr lang="en-US" altLang="zh-CN"/>
          </a:p>
        </p:txBody>
      </p:sp>
    </p:spTree>
    <p:extLst>
      <p:ext uri="{BB962C8B-B14F-4D97-AF65-F5344CB8AC3E}">
        <p14:creationId xmlns:p14="http://schemas.microsoft.com/office/powerpoint/2010/main" val="18700482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29886055-8D26-9985-E221-25128595196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A1A255F7-4801-1906-83D0-C28960071B5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E6E048EF-B42D-460E-1CE6-BA3CCE7DA2DF}"/>
              </a:ext>
            </a:extLst>
          </p:cNvPr>
          <p:cNvSpPr>
            <a:spLocks noGrp="1" noChangeArrowheads="1"/>
          </p:cNvSpPr>
          <p:nvPr>
            <p:ph type="sldNum" sz="quarter" idx="12"/>
          </p:nvPr>
        </p:nvSpPr>
        <p:spPr>
          <a:ln/>
        </p:spPr>
        <p:txBody>
          <a:bodyPr/>
          <a:lstStyle>
            <a:lvl1pPr>
              <a:defRPr/>
            </a:lvl1pPr>
          </a:lstStyle>
          <a:p>
            <a:pPr>
              <a:defRPr/>
            </a:pPr>
            <a:fld id="{8646A919-79E4-45C6-93F6-D478004B968A}" type="slidenum">
              <a:rPr lang="zh-CN" altLang="en-US"/>
              <a:pPr>
                <a:defRPr/>
              </a:pPr>
              <a:t>‹#›</a:t>
            </a:fld>
            <a:endParaRPr lang="en-US" altLang="zh-CN"/>
          </a:p>
        </p:txBody>
      </p:sp>
    </p:spTree>
    <p:extLst>
      <p:ext uri="{BB962C8B-B14F-4D97-AF65-F5344CB8AC3E}">
        <p14:creationId xmlns:p14="http://schemas.microsoft.com/office/powerpoint/2010/main" val="217658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360755A-A1F8-BD41-85BA-93ECF2FCFFE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A44EFD2B-0693-712E-248B-632976B82C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4847142B-83FC-9BA9-3587-6ABF612C94A7}"/>
              </a:ext>
            </a:extLst>
          </p:cNvPr>
          <p:cNvSpPr>
            <a:spLocks noGrp="1" noChangeArrowheads="1"/>
          </p:cNvSpPr>
          <p:nvPr>
            <p:ph type="sldNum" sz="quarter" idx="12"/>
          </p:nvPr>
        </p:nvSpPr>
        <p:spPr>
          <a:ln/>
        </p:spPr>
        <p:txBody>
          <a:bodyPr/>
          <a:lstStyle>
            <a:lvl1pPr>
              <a:defRPr/>
            </a:lvl1pPr>
          </a:lstStyle>
          <a:p>
            <a:pPr>
              <a:defRPr/>
            </a:pPr>
            <a:fld id="{C0374050-2D72-46A9-B44D-98073B774E23}" type="slidenum">
              <a:rPr lang="zh-CN" altLang="en-US"/>
              <a:pPr>
                <a:defRPr/>
              </a:pPr>
              <a:t>‹#›</a:t>
            </a:fld>
            <a:endParaRPr lang="en-US" altLang="zh-CN"/>
          </a:p>
        </p:txBody>
      </p:sp>
    </p:spTree>
    <p:extLst>
      <p:ext uri="{BB962C8B-B14F-4D97-AF65-F5344CB8AC3E}">
        <p14:creationId xmlns:p14="http://schemas.microsoft.com/office/powerpoint/2010/main" val="30669368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C954305-7159-78BC-D1B8-F7BB8F0F566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55CBE981-D33C-6431-26CE-94E4C9F3210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141758E-71AA-6D6D-FB75-03F2ABF8BB4F}"/>
              </a:ext>
            </a:extLst>
          </p:cNvPr>
          <p:cNvSpPr>
            <a:spLocks noGrp="1" noChangeArrowheads="1"/>
          </p:cNvSpPr>
          <p:nvPr>
            <p:ph type="sldNum" sz="quarter" idx="12"/>
          </p:nvPr>
        </p:nvSpPr>
        <p:spPr>
          <a:ln/>
        </p:spPr>
        <p:txBody>
          <a:bodyPr/>
          <a:lstStyle>
            <a:lvl1pPr>
              <a:defRPr/>
            </a:lvl1pPr>
          </a:lstStyle>
          <a:p>
            <a:pPr>
              <a:defRPr/>
            </a:pPr>
            <a:fld id="{10062FDA-8D8B-4DEE-9C48-DAE8683BFAC4}" type="slidenum">
              <a:rPr lang="zh-CN" altLang="en-US"/>
              <a:pPr>
                <a:defRPr/>
              </a:pPr>
              <a:t>‹#›</a:t>
            </a:fld>
            <a:endParaRPr lang="en-US" altLang="zh-CN"/>
          </a:p>
        </p:txBody>
      </p:sp>
    </p:spTree>
    <p:extLst>
      <p:ext uri="{BB962C8B-B14F-4D97-AF65-F5344CB8AC3E}">
        <p14:creationId xmlns:p14="http://schemas.microsoft.com/office/powerpoint/2010/main" val="32390274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89709CA-F6E1-D77B-8D24-602158A9AC3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B3272C6-39A2-C5A4-8DD9-C3A2F48C056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2C1FDD3-5209-9142-0668-D367FB7B8F7A}"/>
              </a:ext>
            </a:extLst>
          </p:cNvPr>
          <p:cNvSpPr>
            <a:spLocks noGrp="1" noChangeArrowheads="1"/>
          </p:cNvSpPr>
          <p:nvPr>
            <p:ph type="sldNum" sz="quarter" idx="12"/>
          </p:nvPr>
        </p:nvSpPr>
        <p:spPr>
          <a:ln/>
        </p:spPr>
        <p:txBody>
          <a:bodyPr/>
          <a:lstStyle>
            <a:lvl1pPr>
              <a:defRPr/>
            </a:lvl1pPr>
          </a:lstStyle>
          <a:p>
            <a:pPr>
              <a:defRPr/>
            </a:pPr>
            <a:fld id="{90EFCF27-6E64-4F4B-A367-0A899B6F5CE4}" type="slidenum">
              <a:rPr lang="zh-CN" altLang="en-US"/>
              <a:pPr>
                <a:defRPr/>
              </a:pPr>
              <a:t>‹#›</a:t>
            </a:fld>
            <a:endParaRPr lang="en-US" altLang="zh-CN"/>
          </a:p>
        </p:txBody>
      </p:sp>
    </p:spTree>
    <p:extLst>
      <p:ext uri="{BB962C8B-B14F-4D97-AF65-F5344CB8AC3E}">
        <p14:creationId xmlns:p14="http://schemas.microsoft.com/office/powerpoint/2010/main" val="31073348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E93DFE9-5638-2FD4-A746-631F24FCA65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C08E108-0D79-9AB4-6425-CD17E0CAD37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273756E-AF6D-042F-F154-C9566899CF7B}"/>
              </a:ext>
            </a:extLst>
          </p:cNvPr>
          <p:cNvSpPr>
            <a:spLocks noGrp="1" noChangeArrowheads="1"/>
          </p:cNvSpPr>
          <p:nvPr>
            <p:ph type="sldNum" sz="quarter" idx="12"/>
          </p:nvPr>
        </p:nvSpPr>
        <p:spPr>
          <a:ln/>
        </p:spPr>
        <p:txBody>
          <a:bodyPr/>
          <a:lstStyle>
            <a:lvl1pPr>
              <a:defRPr/>
            </a:lvl1pPr>
          </a:lstStyle>
          <a:p>
            <a:pPr>
              <a:defRPr/>
            </a:pPr>
            <a:fld id="{2923F1E1-38BD-4E1E-BDC8-428038D94D02}" type="slidenum">
              <a:rPr lang="zh-CN" altLang="en-US"/>
              <a:pPr>
                <a:defRPr/>
              </a:pPr>
              <a:t>‹#›</a:t>
            </a:fld>
            <a:endParaRPr lang="en-US" altLang="zh-CN"/>
          </a:p>
        </p:txBody>
      </p:sp>
    </p:spTree>
    <p:extLst>
      <p:ext uri="{BB962C8B-B14F-4D97-AF65-F5344CB8AC3E}">
        <p14:creationId xmlns:p14="http://schemas.microsoft.com/office/powerpoint/2010/main" val="31985135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31643C53-D9C2-BB99-B61A-38CCD8989F3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4CA805E-2EE0-12C0-B2CA-E46DC5FBEEE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9EFD6ED-B0E2-B235-BD1C-8678492BA267}"/>
              </a:ext>
            </a:extLst>
          </p:cNvPr>
          <p:cNvSpPr>
            <a:spLocks noGrp="1" noChangeArrowheads="1"/>
          </p:cNvSpPr>
          <p:nvPr>
            <p:ph type="sldNum" sz="quarter" idx="12"/>
          </p:nvPr>
        </p:nvSpPr>
        <p:spPr>
          <a:ln/>
        </p:spPr>
        <p:txBody>
          <a:bodyPr/>
          <a:lstStyle>
            <a:lvl1pPr>
              <a:defRPr/>
            </a:lvl1pPr>
          </a:lstStyle>
          <a:p>
            <a:pPr>
              <a:defRPr/>
            </a:pPr>
            <a:fld id="{33C68AD6-9FCB-4E3C-93C6-528173D5FECB}" type="slidenum">
              <a:rPr lang="zh-CN" altLang="en-US"/>
              <a:pPr>
                <a:defRPr/>
              </a:pPr>
              <a:t>‹#›</a:t>
            </a:fld>
            <a:endParaRPr lang="en-US" altLang="zh-CN"/>
          </a:p>
        </p:txBody>
      </p:sp>
    </p:spTree>
    <p:extLst>
      <p:ext uri="{BB962C8B-B14F-4D97-AF65-F5344CB8AC3E}">
        <p14:creationId xmlns:p14="http://schemas.microsoft.com/office/powerpoint/2010/main" val="2746146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20"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7E3C3CF-E527-DDB8-B32C-2A1A841A49F1}"/>
              </a:ext>
            </a:extLst>
          </p:cNvPr>
          <p:cNvSpPr>
            <a:spLocks noGrp="1" noChangeArrowheads="1"/>
          </p:cNvSpPr>
          <p:nvPr>
            <p:ph type="title"/>
          </p:nvPr>
        </p:nvSpPr>
        <p:spPr bwMode="auto">
          <a:xfrm>
            <a:off x="0" y="0"/>
            <a:ext cx="91440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zh-CN" altLang="en-GB"/>
              <a:t>请您按击鼠标，编辑标题文的格式。</a:t>
            </a:r>
          </a:p>
        </p:txBody>
      </p:sp>
      <p:sp>
        <p:nvSpPr>
          <p:cNvPr id="1027" name="Rectangle 3">
            <a:extLst>
              <a:ext uri="{FF2B5EF4-FFF2-40B4-BE49-F238E27FC236}">
                <a16:creationId xmlns:a16="http://schemas.microsoft.com/office/drawing/2014/main" id="{A44092A3-A1DD-719D-9412-069ED5CC8A1E}"/>
              </a:ext>
            </a:extLst>
          </p:cNvPr>
          <p:cNvSpPr>
            <a:spLocks noGrp="1" noChangeArrowheads="1"/>
          </p:cNvSpPr>
          <p:nvPr>
            <p:ph type="body" idx="1"/>
          </p:nvPr>
        </p:nvSpPr>
        <p:spPr bwMode="auto">
          <a:xfrm>
            <a:off x="457200" y="620713"/>
            <a:ext cx="8208963" cy="576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zh-CN" altLang="en-GB"/>
              <a:t>请您按击鼠标，编辑大纲正文格式。</a:t>
            </a:r>
          </a:p>
          <a:p>
            <a:pPr lvl="1"/>
            <a:r>
              <a:rPr lang="zh-CN" altLang="en-GB"/>
              <a:t>第二个大纲级</a:t>
            </a:r>
          </a:p>
          <a:p>
            <a:pPr lvl="2"/>
            <a:r>
              <a:rPr lang="zh-CN" altLang="en-GB"/>
              <a:t>第三个大纲级</a:t>
            </a:r>
          </a:p>
          <a:p>
            <a:pPr lvl="3"/>
            <a:r>
              <a:rPr lang="zh-CN" altLang="en-GB"/>
              <a:t>第四个大纲级</a:t>
            </a:r>
          </a:p>
        </p:txBody>
      </p:sp>
      <p:sp>
        <p:nvSpPr>
          <p:cNvPr id="1028" name="Rectangle 5">
            <a:extLst>
              <a:ext uri="{FF2B5EF4-FFF2-40B4-BE49-F238E27FC236}">
                <a16:creationId xmlns:a16="http://schemas.microsoft.com/office/drawing/2014/main" id="{1462ED49-0867-FB30-DA4B-18F630C8A70B}"/>
              </a:ext>
            </a:extLst>
          </p:cNvPr>
          <p:cNvSpPr>
            <a:spLocks noChangeArrowheads="1"/>
          </p:cNvSpPr>
          <p:nvPr/>
        </p:nvSpPr>
        <p:spPr bwMode="auto">
          <a:xfrm>
            <a:off x="0" y="6518275"/>
            <a:ext cx="9144000" cy="339725"/>
          </a:xfrm>
          <a:prstGeom prst="rect">
            <a:avLst/>
          </a:prstGeom>
          <a:noFill/>
          <a:ln>
            <a:noFill/>
          </a:ln>
          <a:effectLst/>
        </p:spPr>
        <p:txBody>
          <a:bodyP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spcBef>
                <a:spcPct val="0"/>
              </a:spcBef>
              <a:spcAft>
                <a:spcPct val="0"/>
              </a:spcAft>
              <a:buClrTx/>
              <a:buFontTx/>
              <a:buNone/>
              <a:defRPr/>
            </a:pPr>
            <a:r>
              <a:rPr lang="en-US" altLang="zh-CN" sz="1800" dirty="0">
                <a:solidFill>
                  <a:schemeClr val="accent2"/>
                </a:solidFill>
                <a:latin typeface="Arial" panose="020B0604020202020204" pitchFamily="34" charset="0"/>
                <a:ea typeface="华文新魏" panose="02010800040101010101" pitchFamily="2" charset="-122"/>
              </a:rPr>
              <a:t>《Linux</a:t>
            </a:r>
            <a:r>
              <a:rPr lang="zh-CN" altLang="en-US" sz="1800" dirty="0">
                <a:solidFill>
                  <a:schemeClr val="accent2"/>
                </a:solidFill>
                <a:latin typeface="Arial" panose="020B0604020202020204" pitchFamily="34" charset="0"/>
                <a:ea typeface="华文新魏" panose="02010800040101010101" pitchFamily="2" charset="-122"/>
              </a:rPr>
              <a:t>系统与安全</a:t>
            </a:r>
            <a:r>
              <a:rPr lang="en-US" altLang="zh-CN" sz="1800" dirty="0">
                <a:solidFill>
                  <a:schemeClr val="accent2"/>
                </a:solidFill>
                <a:latin typeface="Arial" panose="020B0604020202020204" pitchFamily="34" charset="0"/>
                <a:ea typeface="华文新魏" panose="02010800040101010101" pitchFamily="2" charset="-122"/>
              </a:rPr>
              <a:t>》 </a:t>
            </a:r>
            <a:r>
              <a:rPr lang="zh-CN" altLang="en-US" sz="1800" dirty="0">
                <a:solidFill>
                  <a:schemeClr val="accent2"/>
                </a:solidFill>
                <a:latin typeface="Arial" panose="020B0604020202020204" pitchFamily="34" charset="0"/>
                <a:ea typeface="华文新魏" panose="02010800040101010101" pitchFamily="2" charset="-122"/>
              </a:rPr>
              <a:t>天津工业大学大学软件学院 </a:t>
            </a:r>
            <a:fld id="{38D2AF48-3500-4B31-9814-E5946A5ABCAD}" type="datetime8">
              <a:rPr lang="zh-CN" altLang="en-US" sz="1800" smtClean="0">
                <a:solidFill>
                  <a:schemeClr val="accent2"/>
                </a:solidFill>
                <a:latin typeface="Arial" panose="020B0604020202020204" pitchFamily="34" charset="0"/>
                <a:ea typeface="华文新魏" panose="02010800040101010101" pitchFamily="2" charset="-122"/>
              </a:rPr>
              <a:pPr eaLnBrk="1" hangingPunct="1">
                <a:spcBef>
                  <a:spcPct val="0"/>
                </a:spcBef>
                <a:spcAft>
                  <a:spcPct val="0"/>
                </a:spcAft>
                <a:buClrTx/>
                <a:buFontTx/>
                <a:buNone/>
                <a:defRPr/>
              </a:pPr>
              <a:t>2025年8月11日5时55分</a:t>
            </a:fld>
            <a:endParaRPr lang="en-US" altLang="zh-CN" sz="1800" dirty="0">
              <a:solidFill>
                <a:schemeClr val="accent2"/>
              </a:solidFill>
              <a:latin typeface="Arial" panose="020B0604020202020204" pitchFamily="34" charset="0"/>
              <a:ea typeface="华文新魏" panose="02010800040101010101" pitchFamily="2" charset="-122"/>
            </a:endParaRPr>
          </a:p>
        </p:txBody>
      </p:sp>
      <p:sp>
        <p:nvSpPr>
          <p:cNvPr id="1029" name="Rectangle 6">
            <a:extLst>
              <a:ext uri="{FF2B5EF4-FFF2-40B4-BE49-F238E27FC236}">
                <a16:creationId xmlns:a16="http://schemas.microsoft.com/office/drawing/2014/main" id="{38CC6291-4B81-83F0-481C-04D64852FFDD}"/>
              </a:ext>
            </a:extLst>
          </p:cNvPr>
          <p:cNvSpPr>
            <a:spLocks noChangeArrowheads="1"/>
          </p:cNvSpPr>
          <p:nvPr/>
        </p:nvSpPr>
        <p:spPr bwMode="auto">
          <a:xfrm>
            <a:off x="7413625" y="6496050"/>
            <a:ext cx="1730375" cy="347663"/>
          </a:xfrm>
          <a:prstGeom prst="rect">
            <a:avLst/>
          </a:prstGeom>
          <a:noFill/>
          <a:ln>
            <a:noFill/>
          </a:ln>
          <a:effectLst/>
        </p:spPr>
        <p:txBody>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pPr algn="r" eaLnBrk="1" hangingPunct="1">
              <a:defRPr/>
            </a:pPr>
            <a:r>
              <a:rPr lang="zh-CN" altLang="en-US" sz="1800" b="0">
                <a:solidFill>
                  <a:schemeClr val="accent2"/>
                </a:solidFill>
                <a:latin typeface="Arial" panose="020B0604020202020204" pitchFamily="34" charset="0"/>
                <a:ea typeface="华文新魏" panose="02010800040101010101" pitchFamily="2" charset="-122"/>
              </a:rPr>
              <a:t>第</a:t>
            </a:r>
            <a:fld id="{CC80C345-BC4E-43C9-A630-EAB5A6AE920D}" type="slidenum">
              <a:rPr lang="zh-CN" altLang="en-US" sz="1800" smtClean="0">
                <a:solidFill>
                  <a:schemeClr val="accent2"/>
                </a:solidFill>
                <a:latin typeface="Arial" panose="020B0604020202020204" pitchFamily="34" charset="0"/>
                <a:ea typeface="华文新魏" panose="02010800040101010101" pitchFamily="2" charset="-122"/>
              </a:rPr>
              <a:pPr algn="r" eaLnBrk="1" hangingPunct="1">
                <a:defRPr/>
              </a:pPr>
              <a:t>‹#›</a:t>
            </a:fld>
            <a:r>
              <a:rPr lang="zh-CN" altLang="en-US" sz="1800" b="0">
                <a:solidFill>
                  <a:schemeClr val="accent2"/>
                </a:solidFill>
                <a:latin typeface="Arial" panose="020B0604020202020204" pitchFamily="34" charset="0"/>
                <a:ea typeface="华文新魏" panose="02010800040101010101" pitchFamily="2" charset="-122"/>
              </a:rPr>
              <a:t>页</a:t>
            </a:r>
          </a:p>
        </p:txBody>
      </p:sp>
      <p:sp>
        <p:nvSpPr>
          <p:cNvPr id="1030" name="Line 7">
            <a:extLst>
              <a:ext uri="{FF2B5EF4-FFF2-40B4-BE49-F238E27FC236}">
                <a16:creationId xmlns:a16="http://schemas.microsoft.com/office/drawing/2014/main" id="{E0BEC163-6798-294D-7621-40822C18E162}"/>
              </a:ext>
            </a:extLst>
          </p:cNvPr>
          <p:cNvSpPr>
            <a:spLocks noChangeShapeType="1"/>
          </p:cNvSpPr>
          <p:nvPr/>
        </p:nvSpPr>
        <p:spPr bwMode="auto">
          <a:xfrm>
            <a:off x="0" y="549275"/>
            <a:ext cx="9144000"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4434" r:id="rId1"/>
    <p:sldLayoutId id="2147484410" r:id="rId2"/>
    <p:sldLayoutId id="2147484411" r:id="rId3"/>
    <p:sldLayoutId id="2147484412" r:id="rId4"/>
    <p:sldLayoutId id="2147484413" r:id="rId5"/>
    <p:sldLayoutId id="2147484414" r:id="rId6"/>
    <p:sldLayoutId id="2147484415" r:id="rId7"/>
    <p:sldLayoutId id="2147484416" r:id="rId8"/>
    <p:sldLayoutId id="2147484417" r:id="rId9"/>
    <p:sldLayoutId id="2147484418" r:id="rId10"/>
    <p:sldLayoutId id="2147484419" r:id="rId11"/>
    <p:sldLayoutId id="2147484420" r:id="rId12"/>
    <p:sldLayoutId id="2147484421" r:id="rId13"/>
    <p:sldLayoutId id="2147484422" r:id="rId14"/>
  </p:sldLayoutIdLst>
  <p:txStyles>
    <p:titleStyle>
      <a:lvl1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kern="1200">
          <a:solidFill>
            <a:srgbClr val="000000"/>
          </a:solidFill>
          <a:latin typeface="+mj-lt"/>
          <a:ea typeface="+mj-ea"/>
          <a:cs typeface="+mj-cs"/>
        </a:defRPr>
      </a:lvl1pPr>
      <a:lvl2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2pPr>
      <a:lvl3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3pPr>
      <a:lvl4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4pPr>
      <a:lvl5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5pPr>
      <a:lvl6pPr marL="4572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6pPr>
      <a:lvl7pPr marL="9144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7pPr>
      <a:lvl8pPr marL="13716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8pPr>
      <a:lvl9pPr marL="18288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9pPr>
    </p:titleStyle>
    <p:bodyStyle>
      <a:lvl1pPr marL="450850" indent="-450850" algn="l" defTabSz="449263" rtl="0" eaLnBrk="0" fontAlgn="base" hangingPunct="0">
        <a:spcBef>
          <a:spcPts val="800"/>
        </a:spcBef>
        <a:spcAft>
          <a:spcPts val="800"/>
        </a:spcAft>
        <a:buClr>
          <a:srgbClr val="000000"/>
        </a:buClr>
        <a:buFont typeface="Arial" panose="020B0604020202020204" pitchFamily="34" charset="0"/>
        <a:buBlip>
          <a:blip r:embed="rId17"/>
        </a:buBlip>
        <a:defRPr sz="2800" b="1" kern="1200">
          <a:solidFill>
            <a:srgbClr val="000000"/>
          </a:solidFill>
          <a:latin typeface="+mn-lt"/>
          <a:ea typeface="+mn-ea"/>
          <a:cs typeface="+mn-cs"/>
        </a:defRPr>
      </a:lvl1pPr>
      <a:lvl2pPr marL="987425" indent="-357188" algn="l" defTabSz="449263" rtl="0" eaLnBrk="0" fontAlgn="base" hangingPunct="0">
        <a:spcBef>
          <a:spcPts val="800"/>
        </a:spcBef>
        <a:spcAft>
          <a:spcPts val="800"/>
        </a:spcAft>
        <a:buClr>
          <a:srgbClr val="000000"/>
        </a:buClr>
        <a:buFont typeface="Arial" panose="020B0604020202020204" pitchFamily="34" charset="0"/>
        <a:buBlip>
          <a:blip r:embed="rId18"/>
        </a:buBlip>
        <a:defRPr sz="2400" b="1" kern="1200">
          <a:solidFill>
            <a:srgbClr val="000000"/>
          </a:solidFill>
          <a:latin typeface="+mn-lt"/>
          <a:ea typeface="+mn-ea"/>
          <a:cs typeface="+mn-cs"/>
        </a:defRPr>
      </a:lvl2pPr>
      <a:lvl3pPr marL="1609725" indent="-357188" algn="l" defTabSz="449263" rtl="0" eaLnBrk="0" fontAlgn="base" hangingPunct="0">
        <a:spcBef>
          <a:spcPts val="800"/>
        </a:spcBef>
        <a:spcAft>
          <a:spcPts val="800"/>
        </a:spcAft>
        <a:buClr>
          <a:srgbClr val="000000"/>
        </a:buClr>
        <a:buSzPct val="125000"/>
        <a:buFont typeface="Arial" panose="020B0604020202020204" pitchFamily="34" charset="0"/>
        <a:buBlip>
          <a:blip r:embed="rId19"/>
        </a:buBlip>
        <a:defRPr sz="2000" b="1" kern="1200">
          <a:solidFill>
            <a:srgbClr val="000000"/>
          </a:solidFill>
          <a:latin typeface="+mn-lt"/>
          <a:ea typeface="+mn-ea"/>
          <a:cs typeface="+mn-cs"/>
        </a:defRPr>
      </a:lvl3pPr>
      <a:lvl4pPr marL="2157413" indent="-368300" algn="l" defTabSz="449263" rtl="0" eaLnBrk="0" fontAlgn="base" hangingPunct="0">
        <a:spcBef>
          <a:spcPts val="800"/>
        </a:spcBef>
        <a:spcAft>
          <a:spcPts val="800"/>
        </a:spcAft>
        <a:buClr>
          <a:srgbClr val="000000"/>
        </a:buClr>
        <a:buSzPct val="100000"/>
        <a:buFont typeface="Arial" panose="020B0604020202020204" pitchFamily="34" charset="0"/>
        <a:buBlip>
          <a:blip r:embed="rId20"/>
        </a:buBlip>
        <a:defRPr sz="2000" b="1" kern="1200">
          <a:solidFill>
            <a:srgbClr val="000000"/>
          </a:solidFill>
          <a:latin typeface="Arial" panose="020B0604020202020204" pitchFamily="34" charset="0"/>
          <a:ea typeface="+mn-ea"/>
          <a:cs typeface="+mn-cs"/>
        </a:defRPr>
      </a:lvl4pPr>
      <a:lvl5pPr marL="2565400" indent="-228600" algn="l" defTabSz="449263" rtl="0" eaLnBrk="0" fontAlgn="base" hangingPunct="0">
        <a:spcBef>
          <a:spcPts val="338"/>
        </a:spcBef>
        <a:spcAft>
          <a:spcPct val="0"/>
        </a:spcAft>
        <a:buClr>
          <a:srgbClr val="000000"/>
        </a:buClr>
        <a:buSzPct val="100000"/>
        <a:buFont typeface="Arial" panose="020B0604020202020204" pitchFamily="34" charset="0"/>
        <a:buChar char="»"/>
        <a:defRPr sz="2000" b="1" kern="1200">
          <a:solidFill>
            <a:srgbClr val="000000"/>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592A246-9A30-12AF-0E96-55A52F80463B}"/>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a:extLst>
              <a:ext uri="{FF2B5EF4-FFF2-40B4-BE49-F238E27FC236}">
                <a16:creationId xmlns:a16="http://schemas.microsoft.com/office/drawing/2014/main" id="{B24D6AA3-F01F-E2B5-D169-4763252F1C1E}"/>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14372" name="Rectangle 4">
            <a:extLst>
              <a:ext uri="{FF2B5EF4-FFF2-40B4-BE49-F238E27FC236}">
                <a16:creationId xmlns:a16="http://schemas.microsoft.com/office/drawing/2014/main" id="{0FF0ED1B-A959-B433-2C31-D54CBF5C1F98}"/>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0" hangingPunct="0">
              <a:spcBef>
                <a:spcPct val="0"/>
              </a:spcBef>
              <a:spcAft>
                <a:spcPct val="0"/>
              </a:spcAft>
              <a:buClrTx/>
              <a:buFontTx/>
              <a:buNone/>
              <a:defRPr sz="1400" b="0">
                <a:solidFill>
                  <a:schemeClr val="tx1"/>
                </a:solidFill>
                <a:latin typeface="Times New Roman" panose="02020603050405020304" pitchFamily="18" charset="0"/>
              </a:defRPr>
            </a:lvl1pPr>
          </a:lstStyle>
          <a:p>
            <a:pPr>
              <a:defRPr/>
            </a:pPr>
            <a:endParaRPr lang="en-US" altLang="zh-CN"/>
          </a:p>
        </p:txBody>
      </p:sp>
      <p:sp>
        <p:nvSpPr>
          <p:cNvPr id="314373" name="Rectangle 5">
            <a:extLst>
              <a:ext uri="{FF2B5EF4-FFF2-40B4-BE49-F238E27FC236}">
                <a16:creationId xmlns:a16="http://schemas.microsoft.com/office/drawing/2014/main" id="{A6EAB895-0F39-4BC5-E923-4C3CDA917E3C}"/>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0" hangingPunct="0">
              <a:spcBef>
                <a:spcPct val="0"/>
              </a:spcBef>
              <a:spcAft>
                <a:spcPct val="0"/>
              </a:spcAft>
              <a:buClrTx/>
              <a:buFontTx/>
              <a:buNone/>
              <a:defRPr sz="1400" b="0">
                <a:solidFill>
                  <a:schemeClr val="tx1"/>
                </a:solidFill>
                <a:latin typeface="Times New Roman" panose="02020603050405020304" pitchFamily="18" charset="0"/>
              </a:defRPr>
            </a:lvl1pPr>
          </a:lstStyle>
          <a:p>
            <a:pPr>
              <a:defRPr/>
            </a:pPr>
            <a:endParaRPr lang="en-US" altLang="zh-CN"/>
          </a:p>
        </p:txBody>
      </p:sp>
      <p:sp>
        <p:nvSpPr>
          <p:cNvPr id="314374" name="Rectangle 6">
            <a:extLst>
              <a:ext uri="{FF2B5EF4-FFF2-40B4-BE49-F238E27FC236}">
                <a16:creationId xmlns:a16="http://schemas.microsoft.com/office/drawing/2014/main" id="{3E1A9B62-3F9F-E4C2-D091-0B038A790C49}"/>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b="0">
                <a:solidFill>
                  <a:schemeClr val="tx1"/>
                </a:solidFill>
                <a:latin typeface="Times New Roman" panose="02020603050405020304" pitchFamily="18" charset="0"/>
              </a:defRPr>
            </a:lvl1pPr>
          </a:lstStyle>
          <a:p>
            <a:pPr>
              <a:defRPr/>
            </a:pPr>
            <a:fld id="{B90191F2-1B7B-4501-846B-8BE117DAD196}"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423" r:id="rId1"/>
    <p:sldLayoutId id="2147484424" r:id="rId2"/>
    <p:sldLayoutId id="2147484425" r:id="rId3"/>
    <p:sldLayoutId id="2147484426" r:id="rId4"/>
    <p:sldLayoutId id="2147484427" r:id="rId5"/>
    <p:sldLayoutId id="2147484428" r:id="rId6"/>
    <p:sldLayoutId id="2147484429" r:id="rId7"/>
    <p:sldLayoutId id="2147484430" r:id="rId8"/>
    <p:sldLayoutId id="2147484431" r:id="rId9"/>
    <p:sldLayoutId id="2147484432" r:id="rId10"/>
    <p:sldLayoutId id="2147484433"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8" name="Rectangle 6">
            <a:extLst>
              <a:ext uri="{FF2B5EF4-FFF2-40B4-BE49-F238E27FC236}">
                <a16:creationId xmlns:a16="http://schemas.microsoft.com/office/drawing/2014/main" id="{0E708C3F-5DE5-686F-8178-DC617DE55F13}"/>
              </a:ext>
            </a:extLst>
          </p:cNvPr>
          <p:cNvSpPr>
            <a:spLocks noGrp="1" noChangeArrowheads="1"/>
          </p:cNvSpPr>
          <p:nvPr>
            <p:ph type="subTitle" idx="1"/>
          </p:nvPr>
        </p:nvSpPr>
        <p:spPr>
          <a:xfrm>
            <a:off x="611188" y="4435475"/>
            <a:ext cx="7848600" cy="1871663"/>
          </a:xfrm>
        </p:spPr>
        <p:txBody>
          <a:bodyPr/>
          <a:lstStyle/>
          <a:p>
            <a:pPr algn="ctr" eaLnBrk="1" hangingPunct="1">
              <a:buFont typeface="Times New Roman" panose="02020603050405020304" pitchFamily="18" charset="0"/>
              <a:buNone/>
              <a:defRPr/>
            </a:pPr>
            <a:r>
              <a:rPr lang="zh-CN" altLang="en-US" b="1" dirty="0">
                <a:effectLst>
                  <a:outerShdw blurRad="38100" dist="38100" dir="2700000" algn="tl">
                    <a:srgbClr val="C0C0C0"/>
                  </a:outerShdw>
                </a:effectLst>
                <a:latin typeface="华文新魏" panose="02010800040101010101" pitchFamily="2" charset="-122"/>
                <a:ea typeface="华文新魏" panose="02010800040101010101" pitchFamily="2" charset="-122"/>
              </a:rPr>
              <a:t>天津工业大学软件学院</a:t>
            </a:r>
            <a:endPar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endParaRPr>
          </a:p>
          <a:p>
            <a:pPr algn="ctr" eaLnBrk="1" hangingPunct="1">
              <a:buFont typeface="Times New Roman" panose="02020603050405020304" pitchFamily="18" charset="0"/>
              <a:buNone/>
              <a:defRPr/>
            </a:pPr>
            <a:r>
              <a:rPr lang="zh-CN" altLang="en-US" b="1" dirty="0">
                <a:effectLst>
                  <a:outerShdw blurRad="38100" dist="38100" dir="2700000" algn="tl">
                    <a:srgbClr val="C0C0C0"/>
                  </a:outerShdw>
                </a:effectLst>
                <a:latin typeface="华文新魏" panose="02010800040101010101" pitchFamily="2" charset="-122"/>
                <a:ea typeface="华文新魏" panose="02010800040101010101" pitchFamily="2" charset="-122"/>
              </a:rPr>
              <a:t>张桂玲  </a:t>
            </a:r>
            <a:endPar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endParaRPr>
          </a:p>
          <a:p>
            <a:pPr algn="ctr" eaLnBrk="1" hangingPunct="1">
              <a:buFont typeface="Times New Roman" panose="02020603050405020304" pitchFamily="18" charset="0"/>
              <a:buNone/>
              <a:defRPr/>
            </a:pPr>
            <a:r>
              <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rPr>
              <a:t>2025.8</a:t>
            </a:r>
          </a:p>
        </p:txBody>
      </p:sp>
      <p:sp>
        <p:nvSpPr>
          <p:cNvPr id="3079" name="Rectangle 7" descr="花束">
            <a:extLst>
              <a:ext uri="{FF2B5EF4-FFF2-40B4-BE49-F238E27FC236}">
                <a16:creationId xmlns:a16="http://schemas.microsoft.com/office/drawing/2014/main" id="{304CD8DE-B7B6-6DD6-3EEF-0E8784CF55D9}"/>
              </a:ext>
            </a:extLst>
          </p:cNvPr>
          <p:cNvSpPr>
            <a:spLocks noChangeArrowheads="1"/>
          </p:cNvSpPr>
          <p:nvPr/>
        </p:nvSpPr>
        <p:spPr bwMode="auto">
          <a:xfrm>
            <a:off x="827088" y="96838"/>
            <a:ext cx="7632700" cy="1584325"/>
          </a:xfrm>
          <a:prstGeom prst="rect">
            <a:avLst/>
          </a:prstGeom>
          <a:blipFill dpi="0" rotWithShape="1">
            <a:blip r:embed="rId3"/>
            <a:srcRect/>
            <a:tile tx="0" ty="0" sx="100000" sy="100000" flip="none" algn="tl"/>
          </a:blipFill>
          <a:ln w="9525">
            <a:solidFill>
              <a:schemeClr val="tx1"/>
            </a:solidFill>
            <a:miter lim="800000"/>
            <a:headEnd/>
            <a:tailEnd/>
          </a:ln>
          <a:effectLst/>
        </p:spPr>
        <p:txBody>
          <a:bodyPr anchor="ctr"/>
          <a:lstStyle>
            <a:lvl1pPr defTabSz="449263">
              <a:spcBef>
                <a:spcPts val="800"/>
              </a:spcBef>
              <a:spcAft>
                <a:spcPts val="800"/>
              </a:spcAft>
              <a:buClr>
                <a:srgbClr val="000000"/>
              </a:buClr>
              <a:buFont typeface="Arial" panose="020B0604020202020204" pitchFamily="34" charset="0"/>
              <a:buBlip>
                <a:blip r:embed="rId4"/>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5"/>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6"/>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7"/>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Font typeface="Times New Roman" panose="02020603050405020304" pitchFamily="18" charset="0"/>
              <a:buNone/>
              <a:defRPr/>
            </a:pPr>
            <a:r>
              <a:rPr lang="en-US" altLang="zh-CN" sz="6000" dirty="0">
                <a:effectLst>
                  <a:outerShdw blurRad="38100" dist="38100" dir="2700000" algn="tl">
                    <a:srgbClr val="C0C0C0"/>
                  </a:outerShdw>
                </a:effectLst>
                <a:latin typeface="华文新魏" panose="02010800040101010101" pitchFamily="2" charset="-122"/>
                <a:ea typeface="华文新魏" panose="02010800040101010101" pitchFamily="2" charset="-122"/>
              </a:rPr>
              <a:t>Linux</a:t>
            </a:r>
            <a:r>
              <a:rPr lang="zh-CN" altLang="en-US" sz="6000" dirty="0">
                <a:effectLst>
                  <a:outerShdw blurRad="38100" dist="38100" dir="2700000" algn="tl">
                    <a:srgbClr val="C0C0C0"/>
                  </a:outerShdw>
                </a:effectLst>
                <a:latin typeface="华文新魏" panose="02010800040101010101" pitchFamily="2" charset="-122"/>
                <a:ea typeface="华文新魏" panose="02010800040101010101" pitchFamily="2" charset="-122"/>
              </a:rPr>
              <a:t>系统与安全</a:t>
            </a:r>
          </a:p>
        </p:txBody>
      </p:sp>
      <p:sp>
        <p:nvSpPr>
          <p:cNvPr id="2" name="矩形 1">
            <a:extLst>
              <a:ext uri="{FF2B5EF4-FFF2-40B4-BE49-F238E27FC236}">
                <a16:creationId xmlns:a16="http://schemas.microsoft.com/office/drawing/2014/main" id="{B5E5297D-8103-679B-D6C6-D40AE1786BEA}"/>
              </a:ext>
            </a:extLst>
          </p:cNvPr>
          <p:cNvSpPr/>
          <p:nvPr/>
        </p:nvSpPr>
        <p:spPr>
          <a:xfrm>
            <a:off x="1438275" y="2133600"/>
            <a:ext cx="6410325" cy="1568450"/>
          </a:xfrm>
          <a:prstGeom prst="rect">
            <a:avLst/>
          </a:prstGeom>
        </p:spPr>
        <p:txBody>
          <a:bodyPr>
            <a:spAutoFit/>
          </a:bodyPr>
          <a:lstStyle/>
          <a:p>
            <a:pPr algn="ctr" eaLnBrk="1" hangingPunct="1">
              <a:buFont typeface="Times New Roman" panose="02020603050405020304" pitchFamily="18" charset="0"/>
              <a:buNone/>
              <a:defRPr/>
            </a:pPr>
            <a:r>
              <a:rPr lang="en-US" altLang="zh-CN" sz="4800" dirty="0">
                <a:effectLst>
                  <a:outerShdw blurRad="38100" dist="38100" dir="2700000" algn="tl">
                    <a:srgbClr val="C0C0C0"/>
                  </a:outerShdw>
                </a:effectLst>
                <a:latin typeface="华文新魏" panose="02010800040101010101" pitchFamily="2" charset="-122"/>
                <a:ea typeface="华文新魏" panose="02010800040101010101" pitchFamily="2" charset="-122"/>
              </a:rPr>
              <a:t>PPT</a:t>
            </a:r>
            <a:r>
              <a:rPr lang="zh-CN" altLang="en-US" sz="4800" dirty="0">
                <a:effectLst>
                  <a:outerShdw blurRad="38100" dist="38100" dir="2700000" algn="tl">
                    <a:srgbClr val="C0C0C0"/>
                  </a:outerShdw>
                </a:effectLst>
                <a:latin typeface="华文新魏" panose="02010800040101010101" pitchFamily="2" charset="-122"/>
                <a:ea typeface="华文新魏" panose="02010800040101010101" pitchFamily="2" charset="-122"/>
              </a:rPr>
              <a:t>及相关资料在泛</a:t>
            </a:r>
            <a:r>
              <a:rPr lang="zh-CN" altLang="en-US" sz="4800">
                <a:effectLst>
                  <a:outerShdw blurRad="38100" dist="38100" dir="2700000" algn="tl">
                    <a:srgbClr val="C0C0C0"/>
                  </a:outerShdw>
                </a:effectLst>
                <a:latin typeface="华文新魏" panose="02010800040101010101" pitchFamily="2" charset="-122"/>
                <a:ea typeface="华文新魏" panose="02010800040101010101" pitchFamily="2" charset="-122"/>
              </a:rPr>
              <a:t>雅平台下载</a:t>
            </a:r>
            <a:endParaRPr lang="zh-CN" altLang="en-US" sz="4800" dirty="0">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07A1FF6F-6AAE-2E92-860C-A904D8722CC7}"/>
              </a:ext>
            </a:extLst>
          </p:cNvPr>
          <p:cNvSpPr>
            <a:spLocks noGrp="1" noChangeArrowheads="1"/>
          </p:cNvSpPr>
          <p:nvPr>
            <p:ph type="ctrTitle"/>
          </p:nvPr>
        </p:nvSpPr>
        <p:spPr>
          <a:xfrm>
            <a:off x="971550" y="549275"/>
            <a:ext cx="7704138" cy="2447925"/>
          </a:xfrm>
        </p:spPr>
        <p:txBody>
          <a:bodyPr/>
          <a:lstStyle/>
          <a:p>
            <a:pPr algn="ctr" eaLnBrk="1" hangingPunct="1">
              <a:lnSpc>
                <a:spcPct val="83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zh-CN" altLang="en-GB" sz="6600" b="1">
                <a:latin typeface="华文新魏" panose="02010800040101010101" pitchFamily="2" charset="-122"/>
              </a:rPr>
              <a:t>第</a:t>
            </a:r>
            <a:r>
              <a:rPr lang="zh-CN" altLang="en-US" sz="6600" b="1">
                <a:latin typeface="华文新魏" panose="02010800040101010101" pitchFamily="2" charset="-122"/>
              </a:rPr>
              <a:t>三</a:t>
            </a:r>
            <a:r>
              <a:rPr lang="zh-CN" altLang="en-GB" sz="6600" b="1">
                <a:latin typeface="华文新魏" panose="02010800040101010101" pitchFamily="2" charset="-122"/>
              </a:rPr>
              <a:t>章 </a:t>
            </a:r>
            <a:r>
              <a:rPr lang="en-US" altLang="zh-CN" sz="6600" b="1"/>
              <a:t>shell</a:t>
            </a:r>
            <a:r>
              <a:rPr lang="zh-CN" altLang="zh-CN" sz="6600" b="1"/>
              <a:t>与</a:t>
            </a:r>
            <a:r>
              <a:rPr lang="en-US" altLang="zh-CN" sz="6600" b="1"/>
              <a:t>shell</a:t>
            </a:r>
            <a:r>
              <a:rPr lang="zh-CN" altLang="zh-CN" sz="6600" b="1"/>
              <a:t>基本操作</a:t>
            </a:r>
            <a:br>
              <a:rPr lang="en-US" altLang="zh-CN" sz="6600" b="1"/>
            </a:br>
            <a:r>
              <a:rPr lang="zh-CN" altLang="en-US" sz="6600" b="1"/>
              <a:t>（</a:t>
            </a:r>
            <a:r>
              <a:rPr lang="en-US" altLang="zh-CN" sz="6600" b="1"/>
              <a:t>4</a:t>
            </a:r>
            <a:r>
              <a:rPr lang="zh-CN" altLang="en-US" sz="6600" b="1"/>
              <a:t>学时）</a:t>
            </a:r>
            <a:endParaRPr lang="zh-CN" altLang="en-GB" sz="6600" b="1">
              <a:latin typeface="华文新魏" panose="02010800040101010101" pitchFamily="2" charset="-122"/>
            </a:endParaRPr>
          </a:p>
        </p:txBody>
      </p:sp>
      <p:sp>
        <p:nvSpPr>
          <p:cNvPr id="3" name="矩形 2">
            <a:extLst>
              <a:ext uri="{FF2B5EF4-FFF2-40B4-BE49-F238E27FC236}">
                <a16:creationId xmlns:a16="http://schemas.microsoft.com/office/drawing/2014/main" id="{A9BC444E-8D2A-B0F9-6646-3B81A16C3D12}"/>
              </a:ext>
            </a:extLst>
          </p:cNvPr>
          <p:cNvSpPr/>
          <p:nvPr/>
        </p:nvSpPr>
        <p:spPr>
          <a:xfrm>
            <a:off x="179388" y="3357563"/>
            <a:ext cx="8785225" cy="1774825"/>
          </a:xfrm>
          <a:prstGeom prst="rect">
            <a:avLst/>
          </a:prstGeom>
        </p:spPr>
        <p:txBody>
          <a:bodyPr>
            <a:spAutoFit/>
          </a:bodyPr>
          <a:lstStyle/>
          <a:p>
            <a:pPr eaLnBrk="1" hangingPunct="1">
              <a:spcBef>
                <a:spcPts val="800"/>
              </a:spcBef>
              <a:spcAft>
                <a:spcPts val="800"/>
              </a:spcAft>
              <a:buClr>
                <a:srgbClr val="000000"/>
              </a:buClr>
              <a:buFont typeface="Arial" panose="020B0604020202020204" pitchFamily="34" charset="0"/>
              <a:buNone/>
              <a:defRPr/>
            </a:pPr>
            <a:r>
              <a:rPr lang="en-US" altLang="zh-CN" sz="4800" dirty="0">
                <a:latin typeface="+mn-ea"/>
                <a:ea typeface="+mn-ea"/>
              </a:rPr>
              <a:t>3.1  shell</a:t>
            </a:r>
            <a:r>
              <a:rPr lang="zh-CN" altLang="en-US" sz="4800" dirty="0">
                <a:latin typeface="+mn-ea"/>
                <a:ea typeface="+mn-ea"/>
              </a:rPr>
              <a:t>基本功能与基本概念</a:t>
            </a:r>
          </a:p>
          <a:p>
            <a:pPr eaLnBrk="1" hangingPunct="1">
              <a:spcBef>
                <a:spcPts val="800"/>
              </a:spcBef>
              <a:spcAft>
                <a:spcPts val="800"/>
              </a:spcAft>
              <a:buClr>
                <a:srgbClr val="000000"/>
              </a:buClr>
              <a:buFont typeface="Arial" panose="020B0604020202020204" pitchFamily="34" charset="0"/>
              <a:buNone/>
              <a:defRPr/>
            </a:pPr>
            <a:r>
              <a:rPr lang="en-US" altLang="zh-CN" sz="4800" dirty="0">
                <a:latin typeface="+mn-ea"/>
                <a:ea typeface="+mn-ea"/>
              </a:rPr>
              <a:t>3.2  Linux</a:t>
            </a:r>
            <a:r>
              <a:rPr lang="zh-CN" altLang="en-US" sz="4800" dirty="0">
                <a:latin typeface="+mn-ea"/>
                <a:ea typeface="+mn-ea"/>
              </a:rPr>
              <a:t>系统的基本命令</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D746F530-3214-563A-F123-20648647463A}"/>
              </a:ext>
            </a:extLst>
          </p:cNvPr>
          <p:cNvSpPr>
            <a:spLocks noGrp="1" noChangeArrowheads="1"/>
          </p:cNvSpPr>
          <p:nvPr>
            <p:ph type="title"/>
          </p:nvPr>
        </p:nvSpPr>
        <p:spPr/>
        <p:txBody>
          <a:bodyPr/>
          <a:lstStyle/>
          <a:p>
            <a:pPr eaLnBrk="1" hangingPunct="1"/>
            <a:r>
              <a:rPr lang="zh-CN" altLang="en-GB">
                <a:latin typeface="华文新魏" panose="02010800040101010101" pitchFamily="2" charset="-122"/>
              </a:rPr>
              <a:t>第</a:t>
            </a:r>
            <a:r>
              <a:rPr lang="zh-CN" altLang="en-US">
                <a:latin typeface="华文新魏" panose="02010800040101010101" pitchFamily="2" charset="-122"/>
              </a:rPr>
              <a:t>三</a:t>
            </a:r>
            <a:r>
              <a:rPr lang="zh-CN" altLang="en-GB">
                <a:latin typeface="华文新魏" panose="02010800040101010101" pitchFamily="2" charset="-122"/>
              </a:rPr>
              <a:t>章 </a:t>
            </a:r>
            <a:r>
              <a:rPr lang="en-US" altLang="zh-CN"/>
              <a:t>shell</a:t>
            </a:r>
            <a:r>
              <a:rPr lang="zh-CN" altLang="zh-CN"/>
              <a:t>与</a:t>
            </a:r>
            <a:r>
              <a:rPr lang="en-US" altLang="zh-CN"/>
              <a:t>shell</a:t>
            </a:r>
            <a:r>
              <a:rPr lang="zh-CN" altLang="zh-CN"/>
              <a:t>基本操作</a:t>
            </a:r>
            <a:endParaRPr lang="zh-CN" altLang="en-US"/>
          </a:p>
        </p:txBody>
      </p:sp>
      <p:sp>
        <p:nvSpPr>
          <p:cNvPr id="10243" name="Text Box 4">
            <a:extLst>
              <a:ext uri="{FF2B5EF4-FFF2-40B4-BE49-F238E27FC236}">
                <a16:creationId xmlns:a16="http://schemas.microsoft.com/office/drawing/2014/main" id="{DB85093D-7BB5-F58F-AE16-6B7F7B3E5E35}"/>
              </a:ext>
            </a:extLst>
          </p:cNvPr>
          <p:cNvSpPr txBox="1">
            <a:spLocks noChangeArrowheads="1"/>
          </p:cNvSpPr>
          <p:nvPr/>
        </p:nvSpPr>
        <p:spPr bwMode="auto">
          <a:xfrm>
            <a:off x="-180975" y="488950"/>
            <a:ext cx="7019925" cy="70802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r">
              <a:spcBef>
                <a:spcPct val="50000"/>
              </a:spcBef>
              <a:spcAft>
                <a:spcPct val="0"/>
              </a:spcAft>
              <a:buClrTx/>
              <a:buFontTx/>
              <a:buNone/>
            </a:pPr>
            <a:r>
              <a:rPr lang="en-US" altLang="zh-CN" sz="4000">
                <a:latin typeface="华文新魏" panose="02010800040101010101" pitchFamily="2" charset="-122"/>
                <a:ea typeface="华文新魏" panose="02010800040101010101" pitchFamily="2" charset="-122"/>
              </a:rPr>
              <a:t>3.1  shell</a:t>
            </a:r>
            <a:r>
              <a:rPr lang="zh-CN" altLang="en-US" sz="4000">
                <a:latin typeface="华文新魏" panose="02010800040101010101" pitchFamily="2" charset="-122"/>
                <a:ea typeface="华文新魏" panose="02010800040101010101" pitchFamily="2" charset="-122"/>
              </a:rPr>
              <a:t>基本功能与基本概念</a:t>
            </a:r>
          </a:p>
        </p:txBody>
      </p:sp>
      <p:sp>
        <p:nvSpPr>
          <p:cNvPr id="10244" name="矩形 1">
            <a:extLst>
              <a:ext uri="{FF2B5EF4-FFF2-40B4-BE49-F238E27FC236}">
                <a16:creationId xmlns:a16="http://schemas.microsoft.com/office/drawing/2014/main" id="{739FC24F-3385-C917-01CA-5A8E0B6975F1}"/>
              </a:ext>
            </a:extLst>
          </p:cNvPr>
          <p:cNvSpPr>
            <a:spLocks noChangeArrowheads="1"/>
          </p:cNvSpPr>
          <p:nvPr/>
        </p:nvSpPr>
        <p:spPr bwMode="auto">
          <a:xfrm>
            <a:off x="138113" y="950913"/>
            <a:ext cx="53403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4000"/>
              <a:t>3.1.1  shell</a:t>
            </a:r>
            <a:r>
              <a:rPr lang="zh-CN" altLang="zh-CN" sz="4000"/>
              <a:t>基本功能</a:t>
            </a:r>
            <a:endParaRPr lang="zh-CN" altLang="en-US" sz="4000"/>
          </a:p>
        </p:txBody>
      </p:sp>
      <p:sp>
        <p:nvSpPr>
          <p:cNvPr id="10245" name="Rectangle 3">
            <a:extLst>
              <a:ext uri="{FF2B5EF4-FFF2-40B4-BE49-F238E27FC236}">
                <a16:creationId xmlns:a16="http://schemas.microsoft.com/office/drawing/2014/main" id="{32976231-DCE0-8E8F-A351-19415F74495F}"/>
              </a:ext>
            </a:extLst>
          </p:cNvPr>
          <p:cNvSpPr txBox="1">
            <a:spLocks noChangeArrowheads="1"/>
          </p:cNvSpPr>
          <p:nvPr/>
        </p:nvSpPr>
        <p:spPr bwMode="auto">
          <a:xfrm>
            <a:off x="0" y="1628775"/>
            <a:ext cx="5221288"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spcBef>
                <a:spcPct val="20000"/>
              </a:spcBef>
            </a:pPr>
            <a:r>
              <a:rPr lang="en-GB" altLang="zh-CN">
                <a:latin typeface="Times New Roman" panose="02020603050405020304" pitchFamily="18" charset="0"/>
              </a:rPr>
              <a:t>Shell</a:t>
            </a:r>
            <a:r>
              <a:rPr lang="zh-CN" altLang="en-GB">
                <a:latin typeface="Times New Roman" panose="02020603050405020304" pitchFamily="18" charset="0"/>
              </a:rPr>
              <a:t>是操作系统的命令解释程序，它专门负责接收用户的输入命令，并对其进行解释和执行。</a:t>
            </a:r>
            <a:r>
              <a:rPr lang="zh-CN" altLang="en-US" sz="4000">
                <a:solidFill>
                  <a:srgbClr val="FF0000"/>
                </a:solidFill>
                <a:latin typeface="Times New Roman" panose="02020603050405020304" pitchFamily="18" charset="0"/>
              </a:rPr>
              <a:t>功能有六</a:t>
            </a:r>
            <a:r>
              <a:rPr lang="zh-CN" altLang="en-US">
                <a:latin typeface="Times New Roman" panose="02020603050405020304" pitchFamily="18" charset="0"/>
              </a:rPr>
              <a:t>：</a:t>
            </a:r>
            <a:r>
              <a:rPr lang="zh-CN" altLang="en-US" sz="2400">
                <a:latin typeface="Times New Roman" panose="02020603050405020304" pitchFamily="18" charset="0"/>
              </a:rPr>
              <a:t>命令解释执行；文件名及管理；</a:t>
            </a:r>
            <a:r>
              <a:rPr lang="en-US" altLang="zh-CN" sz="2400">
                <a:latin typeface="Times New Roman" panose="02020603050405020304" pitchFamily="18" charset="0"/>
              </a:rPr>
              <a:t>I/O</a:t>
            </a:r>
            <a:r>
              <a:rPr lang="zh-CN" altLang="en-US" sz="2400">
                <a:latin typeface="Times New Roman" panose="02020603050405020304" pitchFamily="18" charset="0"/>
              </a:rPr>
              <a:t>重定向；通信管道建立；系统环境设置；</a:t>
            </a:r>
            <a:r>
              <a:rPr lang="en-US" altLang="zh-CN" sz="2400">
                <a:latin typeface="Times New Roman" panose="02020603050405020304" pitchFamily="18" charset="0"/>
              </a:rPr>
              <a:t>shell</a:t>
            </a:r>
            <a:r>
              <a:rPr lang="zh-CN" altLang="en-US" sz="2400">
                <a:latin typeface="Times New Roman" panose="02020603050405020304" pitchFamily="18" charset="0"/>
              </a:rPr>
              <a:t>编程</a:t>
            </a:r>
            <a:r>
              <a:rPr lang="zh-CN" altLang="en-GB" sz="2400">
                <a:latin typeface="Times New Roman" panose="02020603050405020304" pitchFamily="18" charset="0"/>
              </a:rPr>
              <a:t>。</a:t>
            </a:r>
          </a:p>
          <a:p>
            <a:pPr eaLnBrk="1" hangingPunct="1">
              <a:spcBef>
                <a:spcPct val="20000"/>
              </a:spcBef>
              <a:buFont typeface="StarSymbol" charset="0"/>
              <a:buBlip>
                <a:blip r:embed="rId2"/>
              </a:buBlip>
            </a:pPr>
            <a:r>
              <a:rPr lang="en-GB" altLang="zh-CN">
                <a:latin typeface="Times New Roman" panose="02020603050405020304" pitchFamily="18" charset="0"/>
              </a:rPr>
              <a:t>Linux</a:t>
            </a:r>
            <a:r>
              <a:rPr lang="zh-CN" altLang="en-GB">
                <a:latin typeface="Times New Roman" panose="02020603050405020304" pitchFamily="18" charset="0"/>
              </a:rPr>
              <a:t>的</a:t>
            </a:r>
            <a:r>
              <a:rPr lang="en-GB" altLang="zh-CN" sz="4000">
                <a:solidFill>
                  <a:srgbClr val="FF0000"/>
                </a:solidFill>
                <a:latin typeface="Times New Roman" panose="02020603050405020304" pitchFamily="18" charset="0"/>
              </a:rPr>
              <a:t>Shell</a:t>
            </a:r>
            <a:r>
              <a:rPr lang="zh-CN" altLang="en-GB" sz="4000">
                <a:solidFill>
                  <a:srgbClr val="FF0000"/>
                </a:solidFill>
                <a:latin typeface="Times New Roman" panose="02020603050405020304" pitchFamily="18" charset="0"/>
              </a:rPr>
              <a:t>种类繁多</a:t>
            </a:r>
            <a:r>
              <a:rPr lang="zh-CN" altLang="en-GB">
                <a:latin typeface="Times New Roman" panose="02020603050405020304" pitchFamily="18" charset="0"/>
              </a:rPr>
              <a:t>，最常用的是</a:t>
            </a:r>
            <a:r>
              <a:rPr lang="en-GB" altLang="zh-CN">
                <a:latin typeface="Times New Roman" panose="02020603050405020304" pitchFamily="18" charset="0"/>
              </a:rPr>
              <a:t>ash</a:t>
            </a:r>
            <a:r>
              <a:rPr lang="zh-CN" altLang="en-GB">
                <a:latin typeface="Times New Roman" panose="02020603050405020304" pitchFamily="18" charset="0"/>
              </a:rPr>
              <a:t>、</a:t>
            </a:r>
            <a:r>
              <a:rPr lang="en-GB" altLang="zh-CN">
                <a:latin typeface="Times New Roman" panose="02020603050405020304" pitchFamily="18" charset="0"/>
              </a:rPr>
              <a:t>bash</a:t>
            </a:r>
            <a:r>
              <a:rPr lang="zh-CN" altLang="en-GB">
                <a:latin typeface="Times New Roman" panose="02020603050405020304" pitchFamily="18" charset="0"/>
              </a:rPr>
              <a:t>和</a:t>
            </a:r>
            <a:r>
              <a:rPr lang="en-GB" altLang="zh-CN">
                <a:latin typeface="Times New Roman" panose="02020603050405020304" pitchFamily="18" charset="0"/>
              </a:rPr>
              <a:t>tcsh</a:t>
            </a:r>
            <a:r>
              <a:rPr lang="zh-CN" altLang="en-GB">
                <a:latin typeface="Times New Roman" panose="02020603050405020304" pitchFamily="18" charset="0"/>
              </a:rPr>
              <a:t>。这些</a:t>
            </a:r>
            <a:r>
              <a:rPr lang="en-GB" altLang="zh-CN">
                <a:latin typeface="Times New Roman" panose="02020603050405020304" pitchFamily="18" charset="0"/>
              </a:rPr>
              <a:t>Shell</a:t>
            </a:r>
            <a:r>
              <a:rPr lang="zh-CN" altLang="en-GB">
                <a:latin typeface="Times New Roman" panose="02020603050405020304" pitchFamily="18" charset="0"/>
              </a:rPr>
              <a:t>程序的功能基本相同。</a:t>
            </a:r>
          </a:p>
        </p:txBody>
      </p:sp>
      <p:grpSp>
        <p:nvGrpSpPr>
          <p:cNvPr id="10246" name="Group 24">
            <a:extLst>
              <a:ext uri="{FF2B5EF4-FFF2-40B4-BE49-F238E27FC236}">
                <a16:creationId xmlns:a16="http://schemas.microsoft.com/office/drawing/2014/main" id="{879EC741-62C3-5C1B-05AE-802AFC8D00DB}"/>
              </a:ext>
            </a:extLst>
          </p:cNvPr>
          <p:cNvGrpSpPr>
            <a:grpSpLocks/>
          </p:cNvGrpSpPr>
          <p:nvPr/>
        </p:nvGrpSpPr>
        <p:grpSpPr bwMode="auto">
          <a:xfrm>
            <a:off x="5292725" y="1052513"/>
            <a:ext cx="3743325" cy="5183187"/>
            <a:chOff x="3062" y="528"/>
            <a:chExt cx="2358" cy="3265"/>
          </a:xfrm>
        </p:grpSpPr>
        <p:sp>
          <p:nvSpPr>
            <p:cNvPr id="10248" name="AutoShape 5">
              <a:extLst>
                <a:ext uri="{FF2B5EF4-FFF2-40B4-BE49-F238E27FC236}">
                  <a16:creationId xmlns:a16="http://schemas.microsoft.com/office/drawing/2014/main" id="{92D6F072-F3E3-1DC4-0D9E-A71999FFE097}"/>
                </a:ext>
              </a:extLst>
            </p:cNvPr>
            <p:cNvSpPr>
              <a:spLocks noChangeArrowheads="1"/>
            </p:cNvSpPr>
            <p:nvPr/>
          </p:nvSpPr>
          <p:spPr bwMode="auto">
            <a:xfrm>
              <a:off x="3434" y="528"/>
              <a:ext cx="1714" cy="318"/>
            </a:xfrm>
            <a:prstGeom prst="flowChartAlternateProcess">
              <a:avLst/>
            </a:prstGeom>
            <a:noFill/>
            <a:ln w="19050" algn="ctr">
              <a:solidFill>
                <a:schemeClr val="tx2"/>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solidFill>
                    <a:schemeClr val="tx1"/>
                  </a:solidFill>
                  <a:latin typeface="Times New Roman" panose="02020603050405020304" pitchFamily="18" charset="0"/>
                </a:rPr>
                <a:t>开始进入</a:t>
              </a:r>
              <a:r>
                <a:rPr lang="en-US" altLang="zh-CN" sz="2400">
                  <a:solidFill>
                    <a:schemeClr val="tx1"/>
                  </a:solidFill>
                  <a:latin typeface="Times New Roman" panose="02020603050405020304" pitchFamily="18" charset="0"/>
                </a:rPr>
                <a:t>Shell</a:t>
              </a:r>
              <a:r>
                <a:rPr lang="zh-CN" altLang="en-US" sz="2400">
                  <a:solidFill>
                    <a:schemeClr val="tx1"/>
                  </a:solidFill>
                  <a:latin typeface="Times New Roman" panose="02020603050405020304" pitchFamily="18" charset="0"/>
                </a:rPr>
                <a:t>环境</a:t>
              </a:r>
            </a:p>
          </p:txBody>
        </p:sp>
        <p:sp>
          <p:nvSpPr>
            <p:cNvPr id="10249" name="Rectangle 6">
              <a:extLst>
                <a:ext uri="{FF2B5EF4-FFF2-40B4-BE49-F238E27FC236}">
                  <a16:creationId xmlns:a16="http://schemas.microsoft.com/office/drawing/2014/main" id="{79A56111-CEB3-9E50-14B6-4665F07E200C}"/>
                </a:ext>
              </a:extLst>
            </p:cNvPr>
            <p:cNvSpPr>
              <a:spLocks noChangeArrowheads="1"/>
            </p:cNvSpPr>
            <p:nvPr/>
          </p:nvSpPr>
          <p:spPr bwMode="auto">
            <a:xfrm>
              <a:off x="3470" y="1026"/>
              <a:ext cx="1672" cy="300"/>
            </a:xfrm>
            <a:prstGeom prst="rect">
              <a:avLst/>
            </a:prstGeom>
            <a:noFill/>
            <a:ln w="19050" algn="ctr">
              <a:solidFill>
                <a:schemeClr val="tx2"/>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solidFill>
                    <a:schemeClr val="tx1"/>
                  </a:solidFill>
                  <a:latin typeface="Times New Roman" panose="02020603050405020304" pitchFamily="18" charset="0"/>
                </a:rPr>
                <a:t>显示命令行提示符</a:t>
              </a:r>
              <a:endParaRPr lang="en-US" altLang="zh-CN" sz="2400">
                <a:solidFill>
                  <a:schemeClr val="tx1"/>
                </a:solidFill>
                <a:latin typeface="Times New Roman" panose="02020603050405020304" pitchFamily="18" charset="0"/>
              </a:endParaRPr>
            </a:p>
          </p:txBody>
        </p:sp>
        <p:sp>
          <p:nvSpPr>
            <p:cNvPr id="10250" name="Rectangle 7">
              <a:extLst>
                <a:ext uri="{FF2B5EF4-FFF2-40B4-BE49-F238E27FC236}">
                  <a16:creationId xmlns:a16="http://schemas.microsoft.com/office/drawing/2014/main" id="{2991FE3C-CD06-178B-C64A-BF0256B44E26}"/>
                </a:ext>
              </a:extLst>
            </p:cNvPr>
            <p:cNvSpPr>
              <a:spLocks noChangeArrowheads="1"/>
            </p:cNvSpPr>
            <p:nvPr/>
          </p:nvSpPr>
          <p:spPr bwMode="auto">
            <a:xfrm>
              <a:off x="3765" y="1525"/>
              <a:ext cx="1093" cy="300"/>
            </a:xfrm>
            <a:prstGeom prst="rect">
              <a:avLst/>
            </a:prstGeom>
            <a:noFill/>
            <a:ln w="19050" algn="ctr">
              <a:solidFill>
                <a:schemeClr val="tx2"/>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solidFill>
                    <a:schemeClr val="tx1"/>
                  </a:solidFill>
                  <a:latin typeface="Times New Roman" panose="02020603050405020304" pitchFamily="18" charset="0"/>
                </a:rPr>
                <a:t>读取命令行</a:t>
              </a:r>
              <a:endParaRPr lang="en-US" altLang="zh-CN" sz="2400">
                <a:solidFill>
                  <a:schemeClr val="tx1"/>
                </a:solidFill>
                <a:latin typeface="Times New Roman" panose="02020603050405020304" pitchFamily="18" charset="0"/>
              </a:endParaRPr>
            </a:p>
          </p:txBody>
        </p:sp>
        <p:sp>
          <p:nvSpPr>
            <p:cNvPr id="10251" name="AutoShape 8">
              <a:extLst>
                <a:ext uri="{FF2B5EF4-FFF2-40B4-BE49-F238E27FC236}">
                  <a16:creationId xmlns:a16="http://schemas.microsoft.com/office/drawing/2014/main" id="{10017C79-52A0-6B0D-944E-E6CCC8A99D38}"/>
                </a:ext>
              </a:extLst>
            </p:cNvPr>
            <p:cNvSpPr>
              <a:spLocks noChangeArrowheads="1"/>
            </p:cNvSpPr>
            <p:nvPr/>
          </p:nvSpPr>
          <p:spPr bwMode="auto">
            <a:xfrm>
              <a:off x="3470" y="2023"/>
              <a:ext cx="1633" cy="545"/>
            </a:xfrm>
            <a:prstGeom prst="flowChartDecision">
              <a:avLst/>
            </a:prstGeom>
            <a:noFill/>
            <a:ln w="19050" algn="ctr">
              <a:solidFill>
                <a:schemeClr val="tx2"/>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10252" name="Text Box 9">
              <a:extLst>
                <a:ext uri="{FF2B5EF4-FFF2-40B4-BE49-F238E27FC236}">
                  <a16:creationId xmlns:a16="http://schemas.microsoft.com/office/drawing/2014/main" id="{3C335298-E099-5B61-39A5-2A1637388FD9}"/>
                </a:ext>
              </a:extLst>
            </p:cNvPr>
            <p:cNvSpPr txBox="1">
              <a:spLocks noChangeArrowheads="1"/>
            </p:cNvSpPr>
            <p:nvPr/>
          </p:nvSpPr>
          <p:spPr bwMode="auto">
            <a:xfrm>
              <a:off x="3651" y="2160"/>
              <a:ext cx="14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2"/>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solidFill>
                    <a:schemeClr val="tx1"/>
                  </a:solidFill>
                  <a:latin typeface="Times New Roman" panose="02020603050405020304" pitchFamily="18" charset="0"/>
                </a:rPr>
                <a:t>是</a:t>
              </a:r>
              <a:r>
                <a:rPr lang="en-US" altLang="zh-CN" sz="2400">
                  <a:solidFill>
                    <a:schemeClr val="tx1"/>
                  </a:solidFill>
                  <a:latin typeface="Times New Roman" panose="02020603050405020304" pitchFamily="18" charset="0"/>
                </a:rPr>
                <a:t>exit</a:t>
              </a:r>
              <a:r>
                <a:rPr lang="zh-CN" altLang="en-US" sz="2400">
                  <a:solidFill>
                    <a:schemeClr val="tx1"/>
                  </a:solidFill>
                  <a:latin typeface="Times New Roman" panose="02020603050405020304" pitchFamily="18" charset="0"/>
                </a:rPr>
                <a:t>命令吗？</a:t>
              </a:r>
              <a:endParaRPr lang="en-US" altLang="zh-CN" sz="2400">
                <a:solidFill>
                  <a:schemeClr val="tx1"/>
                </a:solidFill>
                <a:latin typeface="Times New Roman" panose="02020603050405020304" pitchFamily="18" charset="0"/>
              </a:endParaRPr>
            </a:p>
          </p:txBody>
        </p:sp>
        <p:sp>
          <p:nvSpPr>
            <p:cNvPr id="10253" name="Rectangle 10">
              <a:extLst>
                <a:ext uri="{FF2B5EF4-FFF2-40B4-BE49-F238E27FC236}">
                  <a16:creationId xmlns:a16="http://schemas.microsoft.com/office/drawing/2014/main" id="{06DDC49E-5F2A-2E83-19B8-358A7246B31F}"/>
                </a:ext>
              </a:extLst>
            </p:cNvPr>
            <p:cNvSpPr>
              <a:spLocks noChangeArrowheads="1"/>
            </p:cNvSpPr>
            <p:nvPr/>
          </p:nvSpPr>
          <p:spPr bwMode="auto">
            <a:xfrm>
              <a:off x="3334" y="2749"/>
              <a:ext cx="1865" cy="300"/>
            </a:xfrm>
            <a:prstGeom prst="rect">
              <a:avLst/>
            </a:prstGeom>
            <a:noFill/>
            <a:ln w="19050" algn="ctr">
              <a:solidFill>
                <a:schemeClr val="tx2"/>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solidFill>
                    <a:schemeClr val="tx1"/>
                  </a:solidFill>
                  <a:latin typeface="Times New Roman" panose="02020603050405020304" pitchFamily="18" charset="0"/>
                </a:rPr>
                <a:t>创建命令进程并执行</a:t>
              </a:r>
              <a:endParaRPr lang="en-US" altLang="zh-CN" sz="2400">
                <a:solidFill>
                  <a:schemeClr val="tx1"/>
                </a:solidFill>
                <a:latin typeface="Times New Roman" panose="02020603050405020304" pitchFamily="18" charset="0"/>
              </a:endParaRPr>
            </a:p>
          </p:txBody>
        </p:sp>
        <p:sp>
          <p:nvSpPr>
            <p:cNvPr id="10254" name="AutoShape 11">
              <a:extLst>
                <a:ext uri="{FF2B5EF4-FFF2-40B4-BE49-F238E27FC236}">
                  <a16:creationId xmlns:a16="http://schemas.microsoft.com/office/drawing/2014/main" id="{1FE1D2A4-5BFB-3DAE-4975-C59C67103369}"/>
                </a:ext>
              </a:extLst>
            </p:cNvPr>
            <p:cNvSpPr>
              <a:spLocks noChangeArrowheads="1"/>
            </p:cNvSpPr>
            <p:nvPr/>
          </p:nvSpPr>
          <p:spPr bwMode="auto">
            <a:xfrm>
              <a:off x="3425" y="3475"/>
              <a:ext cx="1714" cy="318"/>
            </a:xfrm>
            <a:prstGeom prst="flowChartAlternateProcess">
              <a:avLst/>
            </a:prstGeom>
            <a:noFill/>
            <a:ln w="19050" algn="ctr">
              <a:solidFill>
                <a:schemeClr val="tx2"/>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solidFill>
                    <a:schemeClr val="tx1"/>
                  </a:solidFill>
                  <a:latin typeface="Times New Roman" panose="02020603050405020304" pitchFamily="18" charset="0"/>
                </a:rPr>
                <a:t>退出</a:t>
              </a:r>
              <a:r>
                <a:rPr lang="en-US" altLang="zh-CN" sz="2400">
                  <a:solidFill>
                    <a:schemeClr val="tx1"/>
                  </a:solidFill>
                  <a:latin typeface="Times New Roman" panose="02020603050405020304" pitchFamily="18" charset="0"/>
                </a:rPr>
                <a:t>Shell</a:t>
              </a:r>
              <a:r>
                <a:rPr lang="zh-CN" altLang="en-US" sz="2400">
                  <a:solidFill>
                    <a:schemeClr val="tx1"/>
                  </a:solidFill>
                  <a:latin typeface="Times New Roman" panose="02020603050405020304" pitchFamily="18" charset="0"/>
                </a:rPr>
                <a:t>环境</a:t>
              </a:r>
            </a:p>
          </p:txBody>
        </p:sp>
        <p:sp>
          <p:nvSpPr>
            <p:cNvPr id="10255" name="Line 12">
              <a:extLst>
                <a:ext uri="{FF2B5EF4-FFF2-40B4-BE49-F238E27FC236}">
                  <a16:creationId xmlns:a16="http://schemas.microsoft.com/office/drawing/2014/main" id="{D5411444-3FCE-7837-5562-D0D1757CEA51}"/>
                </a:ext>
              </a:extLst>
            </p:cNvPr>
            <p:cNvSpPr>
              <a:spLocks noChangeShapeType="1"/>
            </p:cNvSpPr>
            <p:nvPr/>
          </p:nvSpPr>
          <p:spPr bwMode="auto">
            <a:xfrm>
              <a:off x="4286" y="844"/>
              <a:ext cx="0" cy="182"/>
            </a:xfrm>
            <a:prstGeom prst="line">
              <a:avLst/>
            </a:prstGeom>
            <a:noFill/>
            <a:ln w="19050">
              <a:solidFill>
                <a:schemeClr val="tx2"/>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6" name="Line 13">
              <a:extLst>
                <a:ext uri="{FF2B5EF4-FFF2-40B4-BE49-F238E27FC236}">
                  <a16:creationId xmlns:a16="http://schemas.microsoft.com/office/drawing/2014/main" id="{13BF5040-341D-9B1B-C472-D6AB7A407492}"/>
                </a:ext>
              </a:extLst>
            </p:cNvPr>
            <p:cNvSpPr>
              <a:spLocks noChangeShapeType="1"/>
            </p:cNvSpPr>
            <p:nvPr/>
          </p:nvSpPr>
          <p:spPr bwMode="auto">
            <a:xfrm>
              <a:off x="4286" y="1343"/>
              <a:ext cx="0" cy="182"/>
            </a:xfrm>
            <a:prstGeom prst="line">
              <a:avLst/>
            </a:prstGeom>
            <a:noFill/>
            <a:ln w="19050">
              <a:solidFill>
                <a:schemeClr val="tx2"/>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7" name="Line 14">
              <a:extLst>
                <a:ext uri="{FF2B5EF4-FFF2-40B4-BE49-F238E27FC236}">
                  <a16:creationId xmlns:a16="http://schemas.microsoft.com/office/drawing/2014/main" id="{1CCD215D-383B-48A6-6133-E8C3D3FFF66F}"/>
                </a:ext>
              </a:extLst>
            </p:cNvPr>
            <p:cNvSpPr>
              <a:spLocks noChangeShapeType="1"/>
            </p:cNvSpPr>
            <p:nvPr/>
          </p:nvSpPr>
          <p:spPr bwMode="auto">
            <a:xfrm>
              <a:off x="4286" y="1842"/>
              <a:ext cx="0" cy="182"/>
            </a:xfrm>
            <a:prstGeom prst="line">
              <a:avLst/>
            </a:prstGeom>
            <a:noFill/>
            <a:ln w="19050">
              <a:solidFill>
                <a:schemeClr val="tx2"/>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8" name="Line 15">
              <a:extLst>
                <a:ext uri="{FF2B5EF4-FFF2-40B4-BE49-F238E27FC236}">
                  <a16:creationId xmlns:a16="http://schemas.microsoft.com/office/drawing/2014/main" id="{83FFC5E5-47BA-AC44-8411-096157E96D6E}"/>
                </a:ext>
              </a:extLst>
            </p:cNvPr>
            <p:cNvSpPr>
              <a:spLocks noChangeShapeType="1"/>
            </p:cNvSpPr>
            <p:nvPr/>
          </p:nvSpPr>
          <p:spPr bwMode="auto">
            <a:xfrm>
              <a:off x="4286" y="2568"/>
              <a:ext cx="0" cy="182"/>
            </a:xfrm>
            <a:prstGeom prst="line">
              <a:avLst/>
            </a:prstGeom>
            <a:noFill/>
            <a:ln w="19050">
              <a:solidFill>
                <a:schemeClr val="tx2"/>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9" name="Line 16">
              <a:extLst>
                <a:ext uri="{FF2B5EF4-FFF2-40B4-BE49-F238E27FC236}">
                  <a16:creationId xmlns:a16="http://schemas.microsoft.com/office/drawing/2014/main" id="{EDF98D85-BA1E-1B06-5232-F98DCC9A7EB6}"/>
                </a:ext>
              </a:extLst>
            </p:cNvPr>
            <p:cNvSpPr>
              <a:spLocks noChangeShapeType="1"/>
            </p:cNvSpPr>
            <p:nvPr/>
          </p:nvSpPr>
          <p:spPr bwMode="auto">
            <a:xfrm>
              <a:off x="3062" y="935"/>
              <a:ext cx="1179" cy="0"/>
            </a:xfrm>
            <a:prstGeom prst="line">
              <a:avLst/>
            </a:prstGeom>
            <a:noFill/>
            <a:ln w="19050">
              <a:solidFill>
                <a:schemeClr val="tx2"/>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60" name="Line 17">
              <a:extLst>
                <a:ext uri="{FF2B5EF4-FFF2-40B4-BE49-F238E27FC236}">
                  <a16:creationId xmlns:a16="http://schemas.microsoft.com/office/drawing/2014/main" id="{56F3B91A-3B9F-C7E0-DA13-0EC336844D00}"/>
                </a:ext>
              </a:extLst>
            </p:cNvPr>
            <p:cNvSpPr>
              <a:spLocks noChangeShapeType="1"/>
            </p:cNvSpPr>
            <p:nvPr/>
          </p:nvSpPr>
          <p:spPr bwMode="auto">
            <a:xfrm>
              <a:off x="3062" y="935"/>
              <a:ext cx="0" cy="2223"/>
            </a:xfrm>
            <a:prstGeom prst="line">
              <a:avLst/>
            </a:prstGeom>
            <a:noFill/>
            <a:ln w="19050">
              <a:solidFill>
                <a:schemeClr val="tx2"/>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61" name="Line 18">
              <a:extLst>
                <a:ext uri="{FF2B5EF4-FFF2-40B4-BE49-F238E27FC236}">
                  <a16:creationId xmlns:a16="http://schemas.microsoft.com/office/drawing/2014/main" id="{B3DD141F-CFCA-FA20-9C57-0BA9B1A1325D}"/>
                </a:ext>
              </a:extLst>
            </p:cNvPr>
            <p:cNvSpPr>
              <a:spLocks noChangeShapeType="1"/>
            </p:cNvSpPr>
            <p:nvPr/>
          </p:nvSpPr>
          <p:spPr bwMode="auto">
            <a:xfrm>
              <a:off x="3062" y="3158"/>
              <a:ext cx="1224" cy="0"/>
            </a:xfrm>
            <a:prstGeom prst="line">
              <a:avLst/>
            </a:prstGeom>
            <a:noFill/>
            <a:ln w="19050">
              <a:solidFill>
                <a:schemeClr val="tx2"/>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62" name="Line 19">
              <a:extLst>
                <a:ext uri="{FF2B5EF4-FFF2-40B4-BE49-F238E27FC236}">
                  <a16:creationId xmlns:a16="http://schemas.microsoft.com/office/drawing/2014/main" id="{56634945-BC3E-B477-2872-B5792E82EA08}"/>
                </a:ext>
              </a:extLst>
            </p:cNvPr>
            <p:cNvSpPr>
              <a:spLocks noChangeShapeType="1"/>
            </p:cNvSpPr>
            <p:nvPr/>
          </p:nvSpPr>
          <p:spPr bwMode="auto">
            <a:xfrm>
              <a:off x="4286" y="3067"/>
              <a:ext cx="0" cy="91"/>
            </a:xfrm>
            <a:prstGeom prst="line">
              <a:avLst/>
            </a:prstGeom>
            <a:noFill/>
            <a:ln w="19050">
              <a:solidFill>
                <a:schemeClr val="tx2"/>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63" name="Line 20">
              <a:extLst>
                <a:ext uri="{FF2B5EF4-FFF2-40B4-BE49-F238E27FC236}">
                  <a16:creationId xmlns:a16="http://schemas.microsoft.com/office/drawing/2014/main" id="{67FBB6F8-0F33-886A-1FF4-7CC1C66A3CA5}"/>
                </a:ext>
              </a:extLst>
            </p:cNvPr>
            <p:cNvSpPr>
              <a:spLocks noChangeShapeType="1"/>
            </p:cNvSpPr>
            <p:nvPr/>
          </p:nvSpPr>
          <p:spPr bwMode="auto">
            <a:xfrm>
              <a:off x="5103" y="2296"/>
              <a:ext cx="317" cy="0"/>
            </a:xfrm>
            <a:prstGeom prst="line">
              <a:avLst/>
            </a:prstGeom>
            <a:noFill/>
            <a:ln w="19050">
              <a:solidFill>
                <a:schemeClr val="tx2"/>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64" name="Line 21">
              <a:extLst>
                <a:ext uri="{FF2B5EF4-FFF2-40B4-BE49-F238E27FC236}">
                  <a16:creationId xmlns:a16="http://schemas.microsoft.com/office/drawing/2014/main" id="{6444EE66-5864-1D96-77A5-AF731B03726F}"/>
                </a:ext>
              </a:extLst>
            </p:cNvPr>
            <p:cNvSpPr>
              <a:spLocks noChangeShapeType="1"/>
            </p:cNvSpPr>
            <p:nvPr/>
          </p:nvSpPr>
          <p:spPr bwMode="auto">
            <a:xfrm>
              <a:off x="5420" y="2296"/>
              <a:ext cx="0" cy="998"/>
            </a:xfrm>
            <a:prstGeom prst="line">
              <a:avLst/>
            </a:prstGeom>
            <a:noFill/>
            <a:ln w="19050">
              <a:solidFill>
                <a:schemeClr val="tx2"/>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65" name="Line 22">
              <a:extLst>
                <a:ext uri="{FF2B5EF4-FFF2-40B4-BE49-F238E27FC236}">
                  <a16:creationId xmlns:a16="http://schemas.microsoft.com/office/drawing/2014/main" id="{F1EBBB29-D559-91E6-09BB-4B723F582648}"/>
                </a:ext>
              </a:extLst>
            </p:cNvPr>
            <p:cNvSpPr>
              <a:spLocks noChangeShapeType="1"/>
            </p:cNvSpPr>
            <p:nvPr/>
          </p:nvSpPr>
          <p:spPr bwMode="auto">
            <a:xfrm>
              <a:off x="4286" y="3294"/>
              <a:ext cx="1134" cy="0"/>
            </a:xfrm>
            <a:prstGeom prst="line">
              <a:avLst/>
            </a:prstGeom>
            <a:noFill/>
            <a:ln w="19050">
              <a:solidFill>
                <a:schemeClr val="tx2"/>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66" name="Line 23">
              <a:extLst>
                <a:ext uri="{FF2B5EF4-FFF2-40B4-BE49-F238E27FC236}">
                  <a16:creationId xmlns:a16="http://schemas.microsoft.com/office/drawing/2014/main" id="{5AF5C46C-6C55-0730-9287-65A328E9A2B5}"/>
                </a:ext>
              </a:extLst>
            </p:cNvPr>
            <p:cNvSpPr>
              <a:spLocks noChangeShapeType="1"/>
            </p:cNvSpPr>
            <p:nvPr/>
          </p:nvSpPr>
          <p:spPr bwMode="auto">
            <a:xfrm>
              <a:off x="4286" y="3294"/>
              <a:ext cx="0" cy="182"/>
            </a:xfrm>
            <a:prstGeom prst="line">
              <a:avLst/>
            </a:prstGeom>
            <a:noFill/>
            <a:ln w="19050">
              <a:solidFill>
                <a:schemeClr val="tx2"/>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pic>
        <p:nvPicPr>
          <p:cNvPr id="26" name="图片 25">
            <a:extLst>
              <a:ext uri="{FF2B5EF4-FFF2-40B4-BE49-F238E27FC236}">
                <a16:creationId xmlns:a16="http://schemas.microsoft.com/office/drawing/2014/main" id="{A5B94A74-99F7-FA87-3701-4166BA71AED1}"/>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223963" y="322263"/>
            <a:ext cx="7200900" cy="628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9CFC3327-34AB-A7FF-72B7-67AF583D472B}"/>
              </a:ext>
            </a:extLst>
          </p:cNvPr>
          <p:cNvSpPr>
            <a:spLocks noGrp="1" noChangeArrowheads="1"/>
          </p:cNvSpPr>
          <p:nvPr>
            <p:ph type="title"/>
          </p:nvPr>
        </p:nvSpPr>
        <p:spPr/>
        <p:txBody>
          <a:bodyPr/>
          <a:lstStyle/>
          <a:p>
            <a:r>
              <a:rPr lang="zh-CN" altLang="en-GB">
                <a:latin typeface="华文新魏" panose="02010800040101010101" pitchFamily="2" charset="-122"/>
              </a:rPr>
              <a:t>第</a:t>
            </a:r>
            <a:r>
              <a:rPr lang="zh-CN" altLang="en-US">
                <a:latin typeface="华文新魏" panose="02010800040101010101" pitchFamily="2" charset="-122"/>
              </a:rPr>
              <a:t>三</a:t>
            </a:r>
            <a:r>
              <a:rPr lang="zh-CN" altLang="en-GB">
                <a:latin typeface="华文新魏" panose="02010800040101010101" pitchFamily="2" charset="-122"/>
              </a:rPr>
              <a:t>章 </a:t>
            </a:r>
            <a:r>
              <a:rPr lang="en-US" altLang="zh-CN"/>
              <a:t>shell</a:t>
            </a:r>
            <a:r>
              <a:rPr lang="zh-CN" altLang="zh-CN"/>
              <a:t>与</a:t>
            </a:r>
            <a:r>
              <a:rPr lang="en-US" altLang="zh-CN"/>
              <a:t>shell</a:t>
            </a:r>
            <a:r>
              <a:rPr lang="zh-CN" altLang="zh-CN"/>
              <a:t>基本操作</a:t>
            </a:r>
            <a:endParaRPr lang="zh-CN" altLang="en-US"/>
          </a:p>
        </p:txBody>
      </p:sp>
      <p:sp>
        <p:nvSpPr>
          <p:cNvPr id="11267" name="矩形 3">
            <a:extLst>
              <a:ext uri="{FF2B5EF4-FFF2-40B4-BE49-F238E27FC236}">
                <a16:creationId xmlns:a16="http://schemas.microsoft.com/office/drawing/2014/main" id="{2953B5E7-04E2-8BC1-56A2-98E2A07471D4}"/>
              </a:ext>
            </a:extLst>
          </p:cNvPr>
          <p:cNvSpPr>
            <a:spLocks noChangeArrowheads="1"/>
          </p:cNvSpPr>
          <p:nvPr/>
        </p:nvSpPr>
        <p:spPr bwMode="auto">
          <a:xfrm>
            <a:off x="395288" y="620713"/>
            <a:ext cx="753586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6000"/>
              <a:t>3.1.2  </a:t>
            </a:r>
            <a:r>
              <a:rPr lang="zh-CN" altLang="zh-CN" sz="6000"/>
              <a:t>字符与保留字</a:t>
            </a:r>
            <a:endParaRPr lang="zh-CN" altLang="en-US" sz="6000"/>
          </a:p>
        </p:txBody>
      </p:sp>
      <p:sp>
        <p:nvSpPr>
          <p:cNvPr id="11268" name="矩形 4">
            <a:extLst>
              <a:ext uri="{FF2B5EF4-FFF2-40B4-BE49-F238E27FC236}">
                <a16:creationId xmlns:a16="http://schemas.microsoft.com/office/drawing/2014/main" id="{0B77A24C-BB93-35BA-F874-B084969CDB91}"/>
              </a:ext>
            </a:extLst>
          </p:cNvPr>
          <p:cNvSpPr>
            <a:spLocks noChangeArrowheads="1"/>
          </p:cNvSpPr>
          <p:nvPr/>
        </p:nvSpPr>
        <p:spPr bwMode="auto">
          <a:xfrm>
            <a:off x="1258888" y="1636713"/>
            <a:ext cx="550862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4800"/>
              <a:t>1</a:t>
            </a:r>
            <a:r>
              <a:rPr lang="zh-CN" altLang="zh-CN" sz="4800"/>
              <a:t>．字符</a:t>
            </a:r>
            <a:endParaRPr lang="en-US" altLang="zh-CN" sz="4800"/>
          </a:p>
          <a:p>
            <a:r>
              <a:rPr lang="en-US" altLang="zh-CN" sz="4800"/>
              <a:t>1</a:t>
            </a:r>
            <a:r>
              <a:rPr lang="zh-CN" altLang="zh-CN" sz="4800"/>
              <a:t>）白空格</a:t>
            </a:r>
          </a:p>
          <a:p>
            <a:r>
              <a:rPr lang="en-US" altLang="zh-CN" sz="4800"/>
              <a:t>2</a:t>
            </a:r>
            <a:r>
              <a:rPr lang="zh-CN" altLang="zh-CN" sz="4800"/>
              <a:t>）通配符</a:t>
            </a:r>
          </a:p>
          <a:p>
            <a:r>
              <a:rPr lang="en-US" altLang="zh-CN" sz="4800"/>
              <a:t>3</a:t>
            </a:r>
            <a:r>
              <a:rPr lang="zh-CN" altLang="zh-CN" sz="4800"/>
              <a:t>）注释符与注释</a:t>
            </a:r>
            <a:endParaRPr lang="en-US" altLang="zh-CN" sz="4800"/>
          </a:p>
          <a:p>
            <a:r>
              <a:rPr lang="en-US" altLang="zh-CN" sz="4800"/>
              <a:t>4</a:t>
            </a:r>
            <a:r>
              <a:rPr lang="zh-CN" altLang="zh-CN" sz="4800"/>
              <a:t>）转义字符</a:t>
            </a:r>
            <a:endParaRPr lang="en-US" altLang="zh-CN" sz="4800"/>
          </a:p>
          <a:p>
            <a:r>
              <a:rPr lang="en-US" altLang="zh-CN" sz="4800"/>
              <a:t>5</a:t>
            </a:r>
            <a:r>
              <a:rPr lang="zh-CN" altLang="zh-CN" sz="4800"/>
              <a:t>）</a:t>
            </a:r>
            <a:r>
              <a:rPr lang="zh-CN" altLang="en-US" sz="4800"/>
              <a:t>普通字符</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FAF0253F-6F52-3F21-54E4-92D0F57D883D}"/>
              </a:ext>
            </a:extLst>
          </p:cNvPr>
          <p:cNvSpPr>
            <a:spLocks noGrp="1" noChangeArrowheads="1"/>
          </p:cNvSpPr>
          <p:nvPr>
            <p:ph type="title"/>
          </p:nvPr>
        </p:nvSpPr>
        <p:spPr/>
        <p:txBody>
          <a:bodyPr/>
          <a:lstStyle/>
          <a:p>
            <a:r>
              <a:rPr lang="zh-CN" altLang="en-GB">
                <a:latin typeface="华文新魏" panose="02010800040101010101" pitchFamily="2" charset="-122"/>
              </a:rPr>
              <a:t>第</a:t>
            </a:r>
            <a:r>
              <a:rPr lang="zh-CN" altLang="en-US">
                <a:latin typeface="华文新魏" panose="02010800040101010101" pitchFamily="2" charset="-122"/>
              </a:rPr>
              <a:t>三</a:t>
            </a:r>
            <a:r>
              <a:rPr lang="zh-CN" altLang="en-GB">
                <a:latin typeface="华文新魏" panose="02010800040101010101" pitchFamily="2" charset="-122"/>
              </a:rPr>
              <a:t>章 </a:t>
            </a:r>
            <a:r>
              <a:rPr lang="en-US" altLang="zh-CN"/>
              <a:t>shell</a:t>
            </a:r>
            <a:r>
              <a:rPr lang="zh-CN" altLang="zh-CN"/>
              <a:t>与</a:t>
            </a:r>
            <a:r>
              <a:rPr lang="en-US" altLang="zh-CN"/>
              <a:t>shell</a:t>
            </a:r>
            <a:r>
              <a:rPr lang="zh-CN" altLang="zh-CN"/>
              <a:t>基本操作</a:t>
            </a:r>
            <a:endParaRPr lang="zh-CN" altLang="en-US"/>
          </a:p>
        </p:txBody>
      </p:sp>
      <p:sp>
        <p:nvSpPr>
          <p:cNvPr id="12291" name="矩形 2">
            <a:extLst>
              <a:ext uri="{FF2B5EF4-FFF2-40B4-BE49-F238E27FC236}">
                <a16:creationId xmlns:a16="http://schemas.microsoft.com/office/drawing/2014/main" id="{4110D32F-317C-3037-D688-9560709EA2FC}"/>
              </a:ext>
            </a:extLst>
          </p:cNvPr>
          <p:cNvSpPr>
            <a:spLocks noChangeArrowheads="1"/>
          </p:cNvSpPr>
          <p:nvPr/>
        </p:nvSpPr>
        <p:spPr bwMode="auto">
          <a:xfrm>
            <a:off x="3276600" y="404813"/>
            <a:ext cx="20415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en-US" sz="4800"/>
              <a:t>通配符</a:t>
            </a:r>
          </a:p>
        </p:txBody>
      </p:sp>
      <p:sp>
        <p:nvSpPr>
          <p:cNvPr id="12292" name="矩形 3">
            <a:extLst>
              <a:ext uri="{FF2B5EF4-FFF2-40B4-BE49-F238E27FC236}">
                <a16:creationId xmlns:a16="http://schemas.microsoft.com/office/drawing/2014/main" id="{E3B6D94B-00D8-CB72-85C1-FCBFC7F639D9}"/>
              </a:ext>
            </a:extLst>
          </p:cNvPr>
          <p:cNvSpPr>
            <a:spLocks noChangeArrowheads="1"/>
          </p:cNvSpPr>
          <p:nvPr/>
        </p:nvSpPr>
        <p:spPr bwMode="auto">
          <a:xfrm>
            <a:off x="107950" y="981075"/>
            <a:ext cx="9072563" cy="544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en-US" sz="4800">
                <a:solidFill>
                  <a:srgbClr val="FF0000"/>
                </a:solidFill>
                <a:latin typeface="黑体" panose="02010609060101010101" pitchFamily="49" charset="-122"/>
                <a:ea typeface="黑体" panose="02010609060101010101" pitchFamily="49" charset="-122"/>
              </a:rPr>
              <a:t>*</a:t>
            </a:r>
            <a:r>
              <a:rPr lang="zh-CN" altLang="en-US" sz="4800">
                <a:solidFill>
                  <a:schemeClr val="tx1"/>
                </a:solidFill>
                <a:latin typeface="黑体" panose="02010609060101010101" pitchFamily="49" charset="-122"/>
                <a:ea typeface="黑体" panose="02010609060101010101" pitchFamily="49" charset="-122"/>
              </a:rPr>
              <a:t>：</a:t>
            </a:r>
            <a:r>
              <a:rPr lang="zh-CN" altLang="en-US" sz="3600"/>
              <a:t>代表从它所在位置开始的</a:t>
            </a:r>
            <a:r>
              <a:rPr lang="zh-CN" altLang="en-US" sz="4800">
                <a:solidFill>
                  <a:srgbClr val="FF0000"/>
                </a:solidFill>
                <a:latin typeface="黑体" panose="02010609060101010101" pitchFamily="49" charset="-122"/>
                <a:ea typeface="黑体" panose="02010609060101010101" pitchFamily="49" charset="-122"/>
              </a:rPr>
              <a:t>任意字符</a:t>
            </a:r>
            <a:r>
              <a:rPr lang="zh-CN" altLang="en-US" sz="3600"/>
              <a:t>串，</a:t>
            </a:r>
            <a:r>
              <a:rPr lang="zh-CN" altLang="en-US" sz="4800">
                <a:solidFill>
                  <a:srgbClr val="FF0000"/>
                </a:solidFill>
                <a:latin typeface="黑体" panose="02010609060101010101" pitchFamily="49" charset="-122"/>
                <a:ea typeface="黑体" panose="02010609060101010101" pitchFamily="49" charset="-122"/>
              </a:rPr>
              <a:t>但</a:t>
            </a:r>
            <a:r>
              <a:rPr lang="zh-CN" altLang="en-US" sz="3600"/>
              <a:t>，文件名中的“</a:t>
            </a:r>
            <a:r>
              <a:rPr lang="en-US" altLang="zh-CN" sz="3600"/>
              <a:t>.”</a:t>
            </a:r>
            <a:r>
              <a:rPr lang="zh-CN" altLang="en-US" sz="3600"/>
              <a:t>和路径名中“</a:t>
            </a:r>
            <a:r>
              <a:rPr lang="en-US" altLang="zh-CN" sz="3600"/>
              <a:t>/”</a:t>
            </a:r>
            <a:r>
              <a:rPr lang="zh-CN" altLang="en-US" sz="3600"/>
              <a:t>必须</a:t>
            </a:r>
            <a:r>
              <a:rPr lang="zh-CN" altLang="en-US" sz="4800">
                <a:solidFill>
                  <a:srgbClr val="FF0000"/>
                </a:solidFill>
                <a:latin typeface="黑体" panose="02010609060101010101" pitchFamily="49" charset="-122"/>
                <a:ea typeface="黑体" panose="02010609060101010101" pitchFamily="49" charset="-122"/>
              </a:rPr>
              <a:t>显式匹配</a:t>
            </a:r>
            <a:r>
              <a:rPr lang="zh-CN" altLang="en-US" sz="3600"/>
              <a:t>。</a:t>
            </a:r>
          </a:p>
          <a:p>
            <a:r>
              <a:rPr lang="en-US" altLang="zh-CN" sz="4800">
                <a:solidFill>
                  <a:srgbClr val="FF0000"/>
                </a:solidFill>
                <a:latin typeface="黑体" panose="02010609060101010101" pitchFamily="49" charset="-122"/>
                <a:ea typeface="黑体" panose="02010609060101010101" pitchFamily="49" charset="-122"/>
              </a:rPr>
              <a:t>?</a:t>
            </a:r>
            <a:r>
              <a:rPr lang="zh-CN" altLang="en-US" sz="4800">
                <a:solidFill>
                  <a:schemeClr val="tx1"/>
                </a:solidFill>
                <a:latin typeface="黑体" panose="02010609060101010101" pitchFamily="49" charset="-122"/>
                <a:ea typeface="黑体" panose="02010609060101010101" pitchFamily="49" charset="-122"/>
              </a:rPr>
              <a:t>：</a:t>
            </a:r>
            <a:r>
              <a:rPr lang="zh-CN" altLang="en-US" sz="3600"/>
              <a:t>代表它所在位置上的任何</a:t>
            </a:r>
            <a:r>
              <a:rPr lang="zh-CN" altLang="en-US" sz="4800">
                <a:solidFill>
                  <a:srgbClr val="FF0000"/>
                </a:solidFill>
                <a:latin typeface="黑体" panose="02010609060101010101" pitchFamily="49" charset="-122"/>
                <a:ea typeface="黑体" panose="02010609060101010101" pitchFamily="49" charset="-122"/>
              </a:rPr>
              <a:t>单个字符</a:t>
            </a:r>
            <a:r>
              <a:rPr lang="zh-CN" altLang="en-US" sz="3600"/>
              <a:t>。</a:t>
            </a:r>
          </a:p>
          <a:p>
            <a:r>
              <a:rPr lang="en-US" altLang="zh-CN" sz="4800">
                <a:solidFill>
                  <a:srgbClr val="FF0000"/>
                </a:solidFill>
                <a:latin typeface="黑体" panose="02010609060101010101" pitchFamily="49" charset="-122"/>
                <a:ea typeface="黑体" panose="02010609060101010101" pitchFamily="49" charset="-122"/>
              </a:rPr>
              <a:t>[ ]</a:t>
            </a:r>
            <a:r>
              <a:rPr lang="zh-CN" altLang="en-US" sz="4800">
                <a:solidFill>
                  <a:schemeClr val="tx1"/>
                </a:solidFill>
                <a:latin typeface="黑体" panose="02010609060101010101" pitchFamily="49" charset="-122"/>
                <a:ea typeface="黑体" panose="02010609060101010101" pitchFamily="49" charset="-122"/>
              </a:rPr>
              <a:t>：</a:t>
            </a:r>
            <a:r>
              <a:rPr lang="zh-CN" altLang="en-US" sz="3600"/>
              <a:t>每次</a:t>
            </a:r>
            <a:r>
              <a:rPr lang="zh-CN" altLang="en-US" sz="4800">
                <a:solidFill>
                  <a:srgbClr val="FF0000"/>
                </a:solidFill>
                <a:latin typeface="黑体" panose="02010609060101010101" pitchFamily="49" charset="-122"/>
                <a:ea typeface="黑体" panose="02010609060101010101" pitchFamily="49" charset="-122"/>
              </a:rPr>
              <a:t>只匹配</a:t>
            </a:r>
            <a:r>
              <a:rPr lang="zh-CN" altLang="en-US" sz="3600"/>
              <a:t>“</a:t>
            </a:r>
            <a:r>
              <a:rPr lang="en-US" altLang="zh-CN" sz="3600"/>
              <a:t>[]”</a:t>
            </a:r>
            <a:r>
              <a:rPr lang="zh-CN" altLang="en-US" sz="3600"/>
              <a:t>中字符的</a:t>
            </a:r>
            <a:r>
              <a:rPr lang="zh-CN" altLang="en-US" sz="4800">
                <a:solidFill>
                  <a:srgbClr val="FF0000"/>
                </a:solidFill>
                <a:latin typeface="黑体" panose="02010609060101010101" pitchFamily="49" charset="-122"/>
                <a:ea typeface="黑体" panose="02010609060101010101" pitchFamily="49" charset="-122"/>
              </a:rPr>
              <a:t>一个</a:t>
            </a:r>
            <a:r>
              <a:rPr lang="zh-CN" altLang="en-US" sz="3600"/>
              <a:t>。方括号中的字符范围可以由直接给出的字符组成，也可以由表示限定范围的起始字符、终止字符及中间的连字符</a:t>
            </a:r>
            <a:r>
              <a:rPr lang="zh-CN" altLang="en-US" sz="3600">
                <a:solidFill>
                  <a:srgbClr val="FF0000"/>
                </a:solidFill>
              </a:rPr>
              <a:t>“</a:t>
            </a:r>
            <a:r>
              <a:rPr lang="en-US" altLang="zh-CN" sz="3600">
                <a:solidFill>
                  <a:srgbClr val="FF0000"/>
                </a:solidFill>
              </a:rPr>
              <a:t>-”</a:t>
            </a:r>
            <a:r>
              <a:rPr lang="zh-CN" altLang="en-US" sz="3600"/>
              <a:t>组成。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9D74EE84-47EE-114F-9ACE-65390767E8EF}"/>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graphicFrame>
        <p:nvGraphicFramePr>
          <p:cNvPr id="4" name="内容占位符 4">
            <a:extLst>
              <a:ext uri="{FF2B5EF4-FFF2-40B4-BE49-F238E27FC236}">
                <a16:creationId xmlns:a16="http://schemas.microsoft.com/office/drawing/2014/main" id="{1C0AF160-7B26-9CE1-8A9E-1F480C3DC8E5}"/>
              </a:ext>
            </a:extLst>
          </p:cNvPr>
          <p:cNvGraphicFramePr>
            <a:graphicFrameLocks/>
          </p:cNvGraphicFramePr>
          <p:nvPr/>
        </p:nvGraphicFramePr>
        <p:xfrm>
          <a:off x="0" y="620713"/>
          <a:ext cx="8964613" cy="5500687"/>
        </p:xfrm>
        <a:graphic>
          <a:graphicData uri="http://schemas.openxmlformats.org/drawingml/2006/table">
            <a:tbl>
              <a:tblPr firstRow="1" firstCol="1" bandRow="1"/>
              <a:tblGrid>
                <a:gridCol w="1933155">
                  <a:extLst>
                    <a:ext uri="{9D8B030D-6E8A-4147-A177-3AD203B41FA5}">
                      <a16:colId xmlns:a16="http://schemas.microsoft.com/office/drawing/2014/main" val="20000"/>
                    </a:ext>
                  </a:extLst>
                </a:gridCol>
                <a:gridCol w="7031458">
                  <a:extLst>
                    <a:ext uri="{9D8B030D-6E8A-4147-A177-3AD203B41FA5}">
                      <a16:colId xmlns:a16="http://schemas.microsoft.com/office/drawing/2014/main" val="20001"/>
                    </a:ext>
                  </a:extLst>
                </a:gridCol>
              </a:tblGrid>
              <a:tr h="4511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t>举例</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2800" b="1" kern="100" dirty="0">
                          <a:effectLst/>
                          <a:latin typeface="Times New Roman" panose="02020603050405020304"/>
                          <a:ea typeface="宋体" panose="02010600030101010101" pitchFamily="2" charset="-122"/>
                        </a:rPr>
                        <a:t>意</a:t>
                      </a:r>
                      <a:r>
                        <a:rPr lang="en-US" sz="2800" b="1" kern="100" dirty="0">
                          <a:effectLst/>
                          <a:latin typeface="Times New Roman" panose="02020603050405020304"/>
                          <a:ea typeface="宋体" panose="02010600030101010101" pitchFamily="2" charset="-122"/>
                        </a:rPr>
                        <a:t>    </a:t>
                      </a:r>
                      <a:r>
                        <a:rPr lang="zh-CN" sz="2800" b="1" kern="100" dirty="0">
                          <a:effectLst/>
                          <a:latin typeface="Times New Roman" panose="02020603050405020304"/>
                          <a:ea typeface="宋体" panose="02010600030101010101" pitchFamily="2" charset="-122"/>
                        </a:rPr>
                        <a:t>义</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53439">
                <a:tc>
                  <a:txBody>
                    <a:bodyPr/>
                    <a:lstStyle/>
                    <a:p>
                      <a:pPr algn="l">
                        <a:lnSpc>
                          <a:spcPct val="100000"/>
                        </a:lnSpc>
                        <a:spcAft>
                          <a:spcPts val="0"/>
                        </a:spcAft>
                      </a:pPr>
                      <a:r>
                        <a:rPr lang="en-US" sz="3200" b="1" kern="100" dirty="0">
                          <a:effectLst/>
                          <a:latin typeface="Times New Roman" panose="02020603050405020304"/>
                          <a:ea typeface="宋体" panose="02010600030101010101" pitchFamily="2" charset="-122"/>
                        </a:rPr>
                        <a:t>*</a:t>
                      </a:r>
                      <a:endParaRPr lang="zh-CN" sz="3200" b="1" kern="100" dirty="0">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95250" algn="l">
                        <a:lnSpc>
                          <a:spcPct val="100000"/>
                        </a:lnSpc>
                        <a:spcAft>
                          <a:spcPts val="0"/>
                        </a:spcAft>
                      </a:pPr>
                      <a:r>
                        <a:rPr lang="zh-CN" sz="2800" b="1" kern="100" dirty="0">
                          <a:effectLst/>
                          <a:latin typeface="Times New Roman" panose="02020603050405020304"/>
                          <a:ea typeface="宋体" panose="02010600030101010101" pitchFamily="2" charset="-122"/>
                        </a:rPr>
                        <a:t>当前目录下所有文件名，但不包括“</a:t>
                      </a:r>
                      <a:r>
                        <a:rPr lang="en-US" sz="2800" b="1" kern="100" dirty="0">
                          <a:effectLst/>
                          <a:latin typeface="Times New Roman" panose="02020603050405020304"/>
                          <a:ea typeface="宋体" panose="02010600030101010101" pitchFamily="2" charset="-122"/>
                        </a:rPr>
                        <a:t>.</a:t>
                      </a:r>
                      <a:r>
                        <a:rPr lang="zh-CN" sz="2800" b="1" kern="100" dirty="0">
                          <a:effectLst/>
                          <a:latin typeface="Times New Roman" panose="02020603050405020304"/>
                          <a:ea typeface="宋体" panose="02010600030101010101" pitchFamily="2" charset="-122"/>
                        </a:rPr>
                        <a:t>”开头的文件。</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53439">
                <a:tc>
                  <a:txBody>
                    <a:bodyPr/>
                    <a:lstStyle/>
                    <a:p>
                      <a:pPr algn="l">
                        <a:lnSpc>
                          <a:spcPct val="100000"/>
                        </a:lnSpc>
                        <a:spcAft>
                          <a:spcPts val="0"/>
                        </a:spcAft>
                      </a:pPr>
                      <a:r>
                        <a:rPr lang="en-US" sz="3200" b="1" kern="100" dirty="0">
                          <a:effectLst/>
                          <a:latin typeface="Times New Roman" panose="02020603050405020304"/>
                          <a:ea typeface="宋体" panose="02010600030101010101" pitchFamily="2" charset="-122"/>
                        </a:rPr>
                        <a:t>*Text*</a:t>
                      </a:r>
                      <a:endParaRPr lang="zh-CN" sz="3200" b="1" kern="100" dirty="0">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95250" algn="l">
                        <a:lnSpc>
                          <a:spcPct val="100000"/>
                        </a:lnSpc>
                        <a:spcAft>
                          <a:spcPts val="0"/>
                        </a:spcAft>
                      </a:pPr>
                      <a:r>
                        <a:rPr lang="zh-CN" sz="2800" b="1" kern="100" dirty="0">
                          <a:effectLst/>
                          <a:latin typeface="Times New Roman" panose="02020603050405020304"/>
                          <a:ea typeface="宋体" panose="02010600030101010101" pitchFamily="2" charset="-122"/>
                        </a:rPr>
                        <a:t>当前目录下所有文件名中包含有</a:t>
                      </a:r>
                      <a:r>
                        <a:rPr lang="en-US" sz="2800" b="1" kern="100" dirty="0">
                          <a:effectLst/>
                          <a:latin typeface="Times New Roman" panose="02020603050405020304"/>
                          <a:ea typeface="宋体" panose="02010600030101010101" pitchFamily="2" charset="-122"/>
                        </a:rPr>
                        <a:t>Text</a:t>
                      </a:r>
                      <a:r>
                        <a:rPr lang="zh-CN" sz="2800" b="1" kern="100" dirty="0">
                          <a:effectLst/>
                          <a:latin typeface="Times New Roman" panose="02020603050405020304"/>
                          <a:ea typeface="宋体" panose="02010600030101010101" pitchFamily="2" charset="-122"/>
                        </a:rPr>
                        <a:t>的文件，但不包括“</a:t>
                      </a:r>
                      <a:r>
                        <a:rPr lang="en-US" sz="2800" b="1" kern="100" dirty="0">
                          <a:effectLst/>
                          <a:latin typeface="Times New Roman" panose="02020603050405020304"/>
                          <a:ea typeface="宋体" panose="02010600030101010101" pitchFamily="2" charset="-122"/>
                        </a:rPr>
                        <a:t>.</a:t>
                      </a:r>
                      <a:r>
                        <a:rPr lang="zh-CN" sz="2800" b="1" kern="100" dirty="0">
                          <a:effectLst/>
                          <a:latin typeface="Times New Roman" panose="02020603050405020304"/>
                          <a:ea typeface="宋体" panose="02010600030101010101" pitchFamily="2" charset="-122"/>
                        </a:rPr>
                        <a:t>”开头的文件</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53439">
                <a:tc>
                  <a:txBody>
                    <a:bodyPr/>
                    <a:lstStyle/>
                    <a:p>
                      <a:pPr algn="l">
                        <a:lnSpc>
                          <a:spcPct val="100000"/>
                        </a:lnSpc>
                        <a:spcAft>
                          <a:spcPts val="0"/>
                        </a:spcAft>
                      </a:pPr>
                      <a:r>
                        <a:rPr lang="en-US" sz="3200" b="1" kern="100" dirty="0">
                          <a:effectLst/>
                          <a:latin typeface="Times New Roman" panose="02020603050405020304"/>
                          <a:ea typeface="宋体" panose="02010600030101010101" pitchFamily="2" charset="-122"/>
                        </a:rPr>
                        <a:t>[</a:t>
                      </a:r>
                      <a:r>
                        <a:rPr lang="en-US" sz="3200" b="1" kern="100" dirty="0" err="1">
                          <a:effectLst/>
                          <a:latin typeface="Times New Roman" panose="02020603050405020304"/>
                          <a:ea typeface="宋体" panose="02010600030101010101" pitchFamily="2" charset="-122"/>
                        </a:rPr>
                        <a:t>ab-fm</a:t>
                      </a:r>
                      <a:r>
                        <a:rPr lang="en-US" sz="3200" b="1" kern="100" dirty="0">
                          <a:effectLst/>
                          <a:latin typeface="Times New Roman" panose="02020603050405020304"/>
                          <a:ea typeface="宋体" panose="02010600030101010101" pitchFamily="2" charset="-122"/>
                        </a:rPr>
                        <a:t>]*</a:t>
                      </a:r>
                      <a:endParaRPr lang="zh-CN" sz="3200" b="1" kern="100" dirty="0">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95250" algn="l">
                        <a:lnSpc>
                          <a:spcPct val="100000"/>
                        </a:lnSpc>
                        <a:spcAft>
                          <a:spcPts val="0"/>
                        </a:spcAft>
                      </a:pPr>
                      <a:r>
                        <a:rPr lang="zh-CN" sz="2800" b="1" kern="100" dirty="0">
                          <a:effectLst/>
                          <a:latin typeface="Times New Roman" panose="02020603050405020304"/>
                          <a:ea typeface="宋体" panose="02010600030101010101" pitchFamily="2" charset="-122"/>
                        </a:rPr>
                        <a:t>当前目录下所有以</a:t>
                      </a:r>
                      <a:r>
                        <a:rPr lang="en-US" sz="2800" b="1" kern="100" dirty="0">
                          <a:effectLst/>
                          <a:latin typeface="Times New Roman" panose="02020603050405020304"/>
                          <a:ea typeface="宋体" panose="02010600030101010101" pitchFamily="2" charset="-122"/>
                        </a:rPr>
                        <a:t>a</a:t>
                      </a:r>
                      <a:r>
                        <a:rPr lang="zh-CN" sz="2800" b="1" kern="100" dirty="0">
                          <a:effectLst/>
                          <a:latin typeface="Times New Roman" panose="02020603050405020304"/>
                          <a:ea typeface="宋体" panose="02010600030101010101" pitchFamily="2" charset="-122"/>
                        </a:rPr>
                        <a:t>、</a:t>
                      </a:r>
                      <a:r>
                        <a:rPr lang="en-US" sz="2800" b="1" kern="100" dirty="0">
                          <a:effectLst/>
                          <a:latin typeface="Times New Roman" panose="02020603050405020304"/>
                          <a:ea typeface="宋体" panose="02010600030101010101" pitchFamily="2" charset="-122"/>
                        </a:rPr>
                        <a:t>b</a:t>
                      </a:r>
                      <a:r>
                        <a:rPr lang="zh-CN" sz="2800" b="1" kern="100" dirty="0">
                          <a:effectLst/>
                          <a:latin typeface="Times New Roman" panose="02020603050405020304"/>
                          <a:ea typeface="宋体" panose="02010600030101010101" pitchFamily="2" charset="-122"/>
                        </a:rPr>
                        <a:t>、</a:t>
                      </a:r>
                      <a:r>
                        <a:rPr lang="en-US" sz="2800" b="1" kern="100" dirty="0">
                          <a:effectLst/>
                          <a:latin typeface="Times New Roman" panose="02020603050405020304"/>
                          <a:ea typeface="宋体" panose="02010600030101010101" pitchFamily="2" charset="-122"/>
                        </a:rPr>
                        <a:t>c</a:t>
                      </a:r>
                      <a:r>
                        <a:rPr lang="zh-CN" sz="2800" b="1" kern="100" dirty="0">
                          <a:effectLst/>
                          <a:latin typeface="Times New Roman" panose="02020603050405020304"/>
                          <a:ea typeface="宋体" panose="02010600030101010101" pitchFamily="2" charset="-122"/>
                        </a:rPr>
                        <a:t>、</a:t>
                      </a:r>
                      <a:r>
                        <a:rPr lang="en-US" sz="2800" b="1" kern="100" dirty="0">
                          <a:effectLst/>
                          <a:latin typeface="Times New Roman" panose="02020603050405020304"/>
                          <a:ea typeface="宋体" panose="02010600030101010101" pitchFamily="2" charset="-122"/>
                        </a:rPr>
                        <a:t>d</a:t>
                      </a:r>
                      <a:r>
                        <a:rPr lang="zh-CN" sz="2800" b="1" kern="100" dirty="0">
                          <a:effectLst/>
                          <a:latin typeface="Times New Roman" panose="02020603050405020304"/>
                          <a:ea typeface="宋体" panose="02010600030101010101" pitchFamily="2" charset="-122"/>
                        </a:rPr>
                        <a:t>、</a:t>
                      </a:r>
                      <a:r>
                        <a:rPr lang="en-US" sz="2800" b="1" kern="100" dirty="0">
                          <a:effectLst/>
                          <a:latin typeface="Times New Roman" panose="02020603050405020304"/>
                          <a:ea typeface="宋体" panose="02010600030101010101" pitchFamily="2" charset="-122"/>
                        </a:rPr>
                        <a:t>e</a:t>
                      </a:r>
                      <a:r>
                        <a:rPr lang="zh-CN" sz="2800" b="1" kern="100" dirty="0">
                          <a:effectLst/>
                          <a:latin typeface="Times New Roman" panose="02020603050405020304"/>
                          <a:ea typeface="宋体" panose="02010600030101010101" pitchFamily="2" charset="-122"/>
                        </a:rPr>
                        <a:t>、</a:t>
                      </a:r>
                      <a:r>
                        <a:rPr lang="en-US" sz="2800" b="1" kern="100" dirty="0">
                          <a:effectLst/>
                          <a:latin typeface="Times New Roman" panose="02020603050405020304"/>
                          <a:ea typeface="宋体" panose="02010600030101010101" pitchFamily="2" charset="-122"/>
                        </a:rPr>
                        <a:t>f</a:t>
                      </a:r>
                      <a:r>
                        <a:rPr lang="zh-CN" sz="2800" b="1" kern="100" dirty="0">
                          <a:effectLst/>
                          <a:latin typeface="Times New Roman" panose="02020603050405020304"/>
                          <a:ea typeface="宋体" panose="02010600030101010101" pitchFamily="2" charset="-122"/>
                        </a:rPr>
                        <a:t>和</a:t>
                      </a:r>
                      <a:r>
                        <a:rPr lang="en-US" sz="2800" b="1" kern="100" dirty="0">
                          <a:effectLst/>
                          <a:latin typeface="Times New Roman" panose="02020603050405020304"/>
                          <a:ea typeface="宋体" panose="02010600030101010101" pitchFamily="2" charset="-122"/>
                        </a:rPr>
                        <a:t>m</a:t>
                      </a:r>
                      <a:r>
                        <a:rPr lang="zh-CN" sz="2800" b="1" kern="100" dirty="0">
                          <a:effectLst/>
                          <a:latin typeface="Times New Roman" panose="02020603050405020304"/>
                          <a:ea typeface="宋体" panose="02010600030101010101" pitchFamily="2" charset="-122"/>
                        </a:rPr>
                        <a:t>开头的文件名</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60403">
                <a:tc>
                  <a:txBody>
                    <a:bodyPr/>
                    <a:lstStyle/>
                    <a:p>
                      <a:pPr algn="l">
                        <a:lnSpc>
                          <a:spcPct val="100000"/>
                        </a:lnSpc>
                        <a:spcAft>
                          <a:spcPts val="0"/>
                        </a:spcAft>
                      </a:pPr>
                      <a:r>
                        <a:rPr lang="en-US" sz="3200" b="1" kern="100" dirty="0">
                          <a:effectLst/>
                          <a:latin typeface="Times New Roman" panose="02020603050405020304"/>
                          <a:ea typeface="宋体" panose="02010600030101010101" pitchFamily="2" charset="-122"/>
                        </a:rPr>
                        <a:t>[ab-</a:t>
                      </a:r>
                      <a:r>
                        <a:rPr lang="en-US" sz="3200" b="1" kern="100" dirty="0" err="1">
                          <a:effectLst/>
                          <a:latin typeface="Times New Roman" panose="02020603050405020304"/>
                          <a:ea typeface="宋体" panose="02010600030101010101" pitchFamily="2" charset="-122"/>
                        </a:rPr>
                        <a:t>fm</a:t>
                      </a:r>
                      <a:r>
                        <a:rPr lang="en-US" sz="3200" b="1" kern="100" dirty="0">
                          <a:effectLst/>
                          <a:latin typeface="Times New Roman" panose="02020603050405020304"/>
                          <a:ea typeface="宋体" panose="02010600030101010101" pitchFamily="2" charset="-122"/>
                        </a:rPr>
                        <a:t>]?</a:t>
                      </a:r>
                      <a:endParaRPr lang="zh-CN" sz="3200" b="1" kern="100" dirty="0">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2800" b="1" kern="100" dirty="0">
                          <a:effectLst/>
                          <a:latin typeface="Times New Roman" panose="02020603050405020304"/>
                          <a:ea typeface="宋体" panose="02010600030101010101" pitchFamily="2" charset="-122"/>
                        </a:rPr>
                        <a:t>模</a:t>
                      </a:r>
                      <a:r>
                        <a:rPr lang="en-US" sz="2800" b="1" kern="100" dirty="0">
                          <a:effectLst/>
                          <a:latin typeface="Times New Roman" panose="02020603050405020304"/>
                          <a:ea typeface="宋体" panose="02010600030101010101" pitchFamily="2" charset="-122"/>
                        </a:rPr>
                        <a:t>  </a:t>
                      </a:r>
                      <a:r>
                        <a:rPr lang="zh-CN" sz="2800" b="1" kern="100" dirty="0">
                          <a:effectLst/>
                          <a:latin typeface="Times New Roman" panose="02020603050405020304"/>
                          <a:ea typeface="宋体" panose="02010600030101010101" pitchFamily="2" charset="-122"/>
                        </a:rPr>
                        <a:t>式</a:t>
                      </a:r>
                      <a:r>
                        <a:rPr lang="en-US" sz="2800" b="1" kern="100" dirty="0">
                          <a:effectLst/>
                          <a:latin typeface="Times New Roman" panose="02020603050405020304"/>
                          <a:ea typeface="宋体" panose="02010600030101010101" pitchFamily="2" charset="-122"/>
                        </a:rPr>
                        <a:t>  </a:t>
                      </a:r>
                      <a:r>
                        <a:rPr lang="zh-CN" sz="2800" b="1" kern="100" dirty="0">
                          <a:effectLst/>
                          <a:latin typeface="Times New Roman" panose="02020603050405020304"/>
                          <a:ea typeface="宋体" panose="02010600030101010101" pitchFamily="2" charset="-122"/>
                        </a:rPr>
                        <a:t>串</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75358">
                <a:tc>
                  <a:txBody>
                    <a:bodyPr/>
                    <a:lstStyle/>
                    <a:p>
                      <a:pPr algn="l">
                        <a:lnSpc>
                          <a:spcPct val="100000"/>
                        </a:lnSpc>
                        <a:spcAft>
                          <a:spcPts val="0"/>
                        </a:spcAft>
                      </a:pPr>
                      <a:r>
                        <a:rPr lang="en-US" sz="3200" b="1" kern="100" dirty="0">
                          <a:effectLst/>
                          <a:latin typeface="Times New Roman" panose="02020603050405020304"/>
                          <a:ea typeface="宋体" panose="02010600030101010101" pitchFamily="2" charset="-122"/>
                        </a:rPr>
                        <a:t>[!</a:t>
                      </a:r>
                      <a:r>
                        <a:rPr lang="en-US" sz="3200" b="1" kern="100" dirty="0" err="1">
                          <a:effectLst/>
                          <a:latin typeface="Times New Roman" panose="02020603050405020304"/>
                          <a:ea typeface="宋体" panose="02010600030101010101" pitchFamily="2" charset="-122"/>
                        </a:rPr>
                        <a:t>ab-fm</a:t>
                      </a:r>
                      <a:r>
                        <a:rPr lang="en-US" sz="3200" b="1" kern="100" dirty="0">
                          <a:effectLst/>
                          <a:latin typeface="Times New Roman" panose="02020603050405020304"/>
                          <a:ea typeface="宋体" panose="02010600030101010101" pitchFamily="2" charset="-122"/>
                        </a:rPr>
                        <a:t>]?</a:t>
                      </a:r>
                    </a:p>
                    <a:p>
                      <a:pPr algn="l">
                        <a:lnSpc>
                          <a:spcPct val="100000"/>
                        </a:lnSpc>
                        <a:spcAft>
                          <a:spcPts val="0"/>
                        </a:spcAft>
                      </a:pPr>
                      <a:r>
                        <a:rPr lang="en-US" sz="3200" b="1" kern="100" dirty="0">
                          <a:effectLst/>
                          <a:latin typeface="Times New Roman" panose="02020603050405020304"/>
                          <a:ea typeface="宋体" panose="02010600030101010101" pitchFamily="2" charset="-122"/>
                        </a:rPr>
                        <a:t>[^</a:t>
                      </a:r>
                      <a:r>
                        <a:rPr lang="en-US" sz="3200" b="1" kern="100" dirty="0" err="1">
                          <a:effectLst/>
                          <a:latin typeface="Times New Roman" panose="02020603050405020304"/>
                          <a:ea typeface="宋体" panose="02010600030101010101" pitchFamily="2" charset="-122"/>
                        </a:rPr>
                        <a:t>ab-fm</a:t>
                      </a:r>
                      <a:r>
                        <a:rPr lang="en-US" sz="3200" b="1" kern="100" dirty="0">
                          <a:effectLst/>
                          <a:latin typeface="Times New Roman" panose="02020603050405020304"/>
                          <a:ea typeface="宋体" panose="02010600030101010101" pitchFamily="2" charset="-122"/>
                        </a:rPr>
                        <a:t>]?</a:t>
                      </a:r>
                      <a:endParaRPr lang="zh-CN" sz="3200" b="1" kern="100" dirty="0">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95250" algn="l">
                        <a:lnSpc>
                          <a:spcPct val="100000"/>
                        </a:lnSpc>
                        <a:spcAft>
                          <a:spcPts val="0"/>
                        </a:spcAft>
                      </a:pPr>
                      <a:r>
                        <a:rPr lang="zh-CN" sz="2800" b="1" kern="100" dirty="0">
                          <a:effectLst/>
                          <a:latin typeface="Times New Roman" panose="02020603050405020304"/>
                          <a:ea typeface="宋体" panose="02010600030101010101" pitchFamily="2" charset="-122"/>
                        </a:rPr>
                        <a:t>当前目录下所有不以</a:t>
                      </a:r>
                      <a:r>
                        <a:rPr lang="en-US" sz="2800" b="1" kern="100" dirty="0">
                          <a:effectLst/>
                          <a:latin typeface="Times New Roman" panose="02020603050405020304"/>
                          <a:ea typeface="宋体" panose="02010600030101010101" pitchFamily="2" charset="-122"/>
                        </a:rPr>
                        <a:t>a</a:t>
                      </a:r>
                      <a:r>
                        <a:rPr lang="zh-CN" sz="2800" b="1" kern="100" dirty="0">
                          <a:effectLst/>
                          <a:latin typeface="Times New Roman" panose="02020603050405020304"/>
                          <a:ea typeface="宋体" panose="02010600030101010101" pitchFamily="2" charset="-122"/>
                        </a:rPr>
                        <a:t>、</a:t>
                      </a:r>
                      <a:r>
                        <a:rPr lang="en-US" sz="2800" b="1" kern="100" dirty="0">
                          <a:effectLst/>
                          <a:latin typeface="Times New Roman" panose="02020603050405020304"/>
                          <a:ea typeface="宋体" panose="02010600030101010101" pitchFamily="2" charset="-122"/>
                        </a:rPr>
                        <a:t>b</a:t>
                      </a:r>
                      <a:r>
                        <a:rPr lang="zh-CN" sz="2800" b="1" kern="100" dirty="0">
                          <a:effectLst/>
                          <a:latin typeface="Times New Roman" panose="02020603050405020304"/>
                          <a:ea typeface="宋体" panose="02010600030101010101" pitchFamily="2" charset="-122"/>
                        </a:rPr>
                        <a:t>、</a:t>
                      </a:r>
                      <a:r>
                        <a:rPr lang="en-US" sz="2800" b="1" kern="100" dirty="0">
                          <a:effectLst/>
                          <a:latin typeface="Times New Roman" panose="02020603050405020304"/>
                          <a:ea typeface="宋体" panose="02010600030101010101" pitchFamily="2" charset="-122"/>
                        </a:rPr>
                        <a:t>c</a:t>
                      </a:r>
                      <a:r>
                        <a:rPr lang="zh-CN" sz="2800" b="1" kern="100" dirty="0">
                          <a:effectLst/>
                          <a:latin typeface="Times New Roman" panose="02020603050405020304"/>
                          <a:ea typeface="宋体" panose="02010600030101010101" pitchFamily="2" charset="-122"/>
                        </a:rPr>
                        <a:t>、</a:t>
                      </a:r>
                      <a:r>
                        <a:rPr lang="en-US" sz="2800" b="1" kern="100" dirty="0">
                          <a:effectLst/>
                          <a:latin typeface="Times New Roman" panose="02020603050405020304"/>
                          <a:ea typeface="宋体" panose="02010600030101010101" pitchFamily="2" charset="-122"/>
                        </a:rPr>
                        <a:t>d</a:t>
                      </a:r>
                      <a:r>
                        <a:rPr lang="zh-CN" sz="2800" b="1" kern="100" dirty="0">
                          <a:effectLst/>
                          <a:latin typeface="Times New Roman" panose="02020603050405020304"/>
                          <a:ea typeface="宋体" panose="02010600030101010101" pitchFamily="2" charset="-122"/>
                        </a:rPr>
                        <a:t>、</a:t>
                      </a:r>
                      <a:r>
                        <a:rPr lang="en-US" sz="2800" b="1" kern="100" dirty="0">
                          <a:effectLst/>
                          <a:latin typeface="Times New Roman" panose="02020603050405020304"/>
                          <a:ea typeface="宋体" panose="02010600030101010101" pitchFamily="2" charset="-122"/>
                        </a:rPr>
                        <a:t>e</a:t>
                      </a:r>
                      <a:r>
                        <a:rPr lang="zh-CN" sz="2800" b="1" kern="100" dirty="0">
                          <a:effectLst/>
                          <a:latin typeface="Times New Roman" panose="02020603050405020304"/>
                          <a:ea typeface="宋体" panose="02010600030101010101" pitchFamily="2" charset="-122"/>
                        </a:rPr>
                        <a:t>、</a:t>
                      </a:r>
                      <a:r>
                        <a:rPr lang="en-US" sz="2800" b="1" kern="100" dirty="0">
                          <a:effectLst/>
                          <a:latin typeface="Times New Roman" panose="02020603050405020304"/>
                          <a:ea typeface="宋体" panose="02010600030101010101" pitchFamily="2" charset="-122"/>
                        </a:rPr>
                        <a:t>f</a:t>
                      </a:r>
                      <a:r>
                        <a:rPr lang="zh-CN" sz="2800" b="1" kern="100" dirty="0">
                          <a:effectLst/>
                          <a:latin typeface="Times New Roman" panose="02020603050405020304"/>
                          <a:ea typeface="宋体" panose="02010600030101010101" pitchFamily="2" charset="-122"/>
                        </a:rPr>
                        <a:t>和</a:t>
                      </a:r>
                      <a:r>
                        <a:rPr lang="en-US" sz="2800" b="1" kern="100" dirty="0">
                          <a:effectLst/>
                          <a:latin typeface="Times New Roman" panose="02020603050405020304"/>
                          <a:ea typeface="宋体" panose="02010600030101010101" pitchFamily="2" charset="-122"/>
                        </a:rPr>
                        <a:t>m</a:t>
                      </a:r>
                      <a:r>
                        <a:rPr lang="zh-CN" sz="2800" b="1" kern="100" dirty="0">
                          <a:effectLst/>
                          <a:latin typeface="Times New Roman" panose="02020603050405020304"/>
                          <a:ea typeface="宋体" panose="02010600030101010101" pitchFamily="2" charset="-122"/>
                        </a:rPr>
                        <a:t>开头且后面只跟一个字符的文件名</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53439">
                <a:tc>
                  <a:txBody>
                    <a:bodyPr/>
                    <a:lstStyle/>
                    <a:p>
                      <a:pPr algn="l">
                        <a:lnSpc>
                          <a:spcPct val="100000"/>
                        </a:lnSpc>
                        <a:spcAft>
                          <a:spcPts val="0"/>
                        </a:spcAft>
                      </a:pPr>
                      <a:r>
                        <a:rPr lang="en-US" sz="3200" b="1" kern="100" dirty="0">
                          <a:effectLst/>
                          <a:latin typeface="Times New Roman" panose="02020603050405020304"/>
                          <a:ea typeface="宋体" panose="02010600030101010101" pitchFamily="2" charset="-122"/>
                        </a:rPr>
                        <a:t>/dev/</a:t>
                      </a:r>
                      <a:r>
                        <a:rPr lang="en-US" sz="3200" b="1" kern="100" dirty="0" err="1">
                          <a:effectLst/>
                          <a:latin typeface="Times New Roman" panose="02020603050405020304"/>
                          <a:ea typeface="宋体" panose="02010600030101010101" pitchFamily="2" charset="-122"/>
                        </a:rPr>
                        <a:t>sd</a:t>
                      </a:r>
                      <a:r>
                        <a:rPr lang="en-US" sz="3200" b="1" kern="100" dirty="0">
                          <a:effectLst/>
                          <a:latin typeface="Times New Roman" panose="02020603050405020304"/>
                          <a:ea typeface="宋体" panose="02010600030101010101" pitchFamily="2" charset="-122"/>
                        </a:rPr>
                        <a:t>?</a:t>
                      </a:r>
                      <a:endParaRPr lang="zh-CN" sz="3200" b="1" kern="100" dirty="0">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95250" algn="l">
                        <a:lnSpc>
                          <a:spcPct val="100000"/>
                        </a:lnSpc>
                        <a:spcAft>
                          <a:spcPts val="0"/>
                        </a:spcAft>
                      </a:pPr>
                      <a:r>
                        <a:rPr lang="zh-CN" sz="2800" b="1" kern="100" dirty="0">
                          <a:effectLst/>
                          <a:latin typeface="Times New Roman" panose="02020603050405020304"/>
                          <a:ea typeface="宋体" panose="02010600030101010101" pitchFamily="2" charset="-122"/>
                        </a:rPr>
                        <a:t>目录</a:t>
                      </a:r>
                      <a:r>
                        <a:rPr lang="en-US" sz="2800" b="1" kern="100" dirty="0">
                          <a:effectLst/>
                          <a:latin typeface="Times New Roman" panose="02020603050405020304"/>
                          <a:ea typeface="宋体" panose="02010600030101010101" pitchFamily="2" charset="-122"/>
                        </a:rPr>
                        <a:t>/</a:t>
                      </a:r>
                      <a:r>
                        <a:rPr lang="en-US" sz="2800" b="1" kern="100" dirty="0" err="1">
                          <a:effectLst/>
                          <a:latin typeface="Times New Roman" panose="02020603050405020304"/>
                          <a:ea typeface="宋体" panose="02010600030101010101" pitchFamily="2" charset="-122"/>
                        </a:rPr>
                        <a:t>dev</a:t>
                      </a:r>
                      <a:r>
                        <a:rPr lang="zh-CN" sz="2800" b="1" kern="100" dirty="0">
                          <a:effectLst/>
                          <a:latin typeface="Times New Roman" panose="02020603050405020304"/>
                          <a:ea typeface="宋体" panose="02010600030101010101" pitchFamily="2" charset="-122"/>
                        </a:rPr>
                        <a:t>下所有以</a:t>
                      </a:r>
                      <a:r>
                        <a:rPr lang="en-US" sz="2800" b="1" kern="100" dirty="0" err="1">
                          <a:effectLst/>
                          <a:latin typeface="Times New Roman" panose="02020603050405020304"/>
                          <a:ea typeface="宋体" panose="02010600030101010101" pitchFamily="2" charset="-122"/>
                        </a:rPr>
                        <a:t>sd</a:t>
                      </a:r>
                      <a:r>
                        <a:rPr lang="zh-CN" sz="2800" b="1" kern="100" dirty="0">
                          <a:effectLst/>
                          <a:latin typeface="Times New Roman" panose="02020603050405020304"/>
                          <a:ea typeface="宋体" panose="02010600030101010101" pitchFamily="2" charset="-122"/>
                        </a:rPr>
                        <a:t>开头且只有三个字符的文件名</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2AF7DD6B-9327-10F8-727E-FC6A0F8D713D}"/>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14339" name="矩形 2">
            <a:extLst>
              <a:ext uri="{FF2B5EF4-FFF2-40B4-BE49-F238E27FC236}">
                <a16:creationId xmlns:a16="http://schemas.microsoft.com/office/drawing/2014/main" id="{FB85BCD9-5C1E-8B5A-1DD5-3F5102A26930}"/>
              </a:ext>
            </a:extLst>
          </p:cNvPr>
          <p:cNvSpPr>
            <a:spLocks noChangeArrowheads="1"/>
          </p:cNvSpPr>
          <p:nvPr/>
        </p:nvSpPr>
        <p:spPr bwMode="auto">
          <a:xfrm>
            <a:off x="6732588" y="0"/>
            <a:ext cx="23479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a:t>注释符与注释</a:t>
            </a:r>
            <a:endParaRPr lang="zh-CN" altLang="en-US"/>
          </a:p>
        </p:txBody>
      </p:sp>
      <p:sp>
        <p:nvSpPr>
          <p:cNvPr id="14340" name="矩形 3">
            <a:extLst>
              <a:ext uri="{FF2B5EF4-FFF2-40B4-BE49-F238E27FC236}">
                <a16:creationId xmlns:a16="http://schemas.microsoft.com/office/drawing/2014/main" id="{B22BF9F9-D757-1870-5CCB-3130B8210C8D}"/>
              </a:ext>
            </a:extLst>
          </p:cNvPr>
          <p:cNvSpPr>
            <a:spLocks noChangeArrowheads="1"/>
          </p:cNvSpPr>
          <p:nvPr/>
        </p:nvSpPr>
        <p:spPr bwMode="auto">
          <a:xfrm>
            <a:off x="250825" y="620713"/>
            <a:ext cx="8497888"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6000">
                <a:solidFill>
                  <a:srgbClr val="FF0000"/>
                </a:solidFill>
              </a:rPr>
              <a:t>“</a:t>
            </a:r>
            <a:r>
              <a:rPr lang="en-US" altLang="zh-CN" sz="6000">
                <a:solidFill>
                  <a:srgbClr val="FF0000"/>
                </a:solidFill>
              </a:rPr>
              <a:t>#</a:t>
            </a:r>
            <a:r>
              <a:rPr lang="zh-CN" altLang="zh-CN" sz="6000">
                <a:solidFill>
                  <a:srgbClr val="FF0000"/>
                </a:solidFill>
              </a:rPr>
              <a:t>”</a:t>
            </a:r>
            <a:r>
              <a:rPr lang="zh-CN" altLang="en-US" sz="6000">
                <a:solidFill>
                  <a:srgbClr val="FF0000"/>
                </a:solidFill>
              </a:rPr>
              <a:t>可以引导注释。</a:t>
            </a:r>
            <a:r>
              <a:rPr lang="zh-CN" altLang="en-US" sz="3600"/>
              <a:t>但</a:t>
            </a:r>
            <a:r>
              <a:rPr lang="zh-CN" altLang="zh-CN" sz="3600"/>
              <a:t>若在行中需要使用“</a:t>
            </a:r>
            <a:r>
              <a:rPr lang="en-US" altLang="zh-CN" sz="3600"/>
              <a:t>#</a:t>
            </a:r>
            <a:r>
              <a:rPr lang="zh-CN" altLang="zh-CN" sz="3600"/>
              <a:t>”开始引导注释，则“</a:t>
            </a:r>
            <a:r>
              <a:rPr lang="en-US" altLang="zh-CN" sz="3600"/>
              <a:t>#</a:t>
            </a:r>
            <a:r>
              <a:rPr lang="zh-CN" altLang="zh-CN" sz="3600"/>
              <a:t>”前至少要有一个白空格。</a:t>
            </a:r>
            <a:endParaRPr lang="en-US" altLang="zh-CN" sz="3600"/>
          </a:p>
          <a:p>
            <a:r>
              <a:rPr lang="zh-CN" altLang="zh-CN" sz="3600"/>
              <a:t>规定从字符“</a:t>
            </a:r>
            <a:r>
              <a:rPr lang="en-US" altLang="zh-CN" sz="3600"/>
              <a:t>#</a:t>
            </a:r>
            <a:r>
              <a:rPr lang="zh-CN" altLang="zh-CN" sz="3600"/>
              <a:t>”开始以后到行末的部分作为注释，因此以“</a:t>
            </a:r>
            <a:r>
              <a:rPr lang="en-US" altLang="zh-CN" sz="3600"/>
              <a:t>#</a:t>
            </a:r>
            <a:r>
              <a:rPr lang="zh-CN" altLang="zh-CN" sz="3600"/>
              <a:t>”开头的行是注释行。</a:t>
            </a:r>
          </a:p>
          <a:p>
            <a:r>
              <a:rPr lang="zh-CN" altLang="en-US" sz="4800">
                <a:solidFill>
                  <a:srgbClr val="FF0000"/>
                </a:solidFill>
              </a:rPr>
              <a:t>以下情况</a:t>
            </a:r>
            <a:r>
              <a:rPr lang="zh-CN" altLang="en-US" sz="4800" u="sng">
                <a:solidFill>
                  <a:srgbClr val="006600"/>
                </a:solidFill>
              </a:rPr>
              <a:t>不能</a:t>
            </a:r>
            <a:r>
              <a:rPr lang="zh-CN" altLang="en-US" sz="4800">
                <a:solidFill>
                  <a:srgbClr val="FF0000"/>
                </a:solidFill>
              </a:rPr>
              <a:t>引导注释：</a:t>
            </a:r>
            <a:r>
              <a:rPr lang="en-US" altLang="zh-CN" sz="3600"/>
              <a:t>$#</a:t>
            </a:r>
            <a:r>
              <a:rPr lang="zh-CN" altLang="zh-CN" sz="3600"/>
              <a:t>表示命令行参数的个数，而</a:t>
            </a:r>
            <a:r>
              <a:rPr lang="en-US" altLang="zh-CN" sz="3600"/>
              <a:t>${#name}</a:t>
            </a:r>
            <a:r>
              <a:rPr lang="zh-CN" altLang="zh-CN" sz="3600"/>
              <a:t>表示变量</a:t>
            </a:r>
            <a:r>
              <a:rPr lang="en-US" altLang="zh-CN" sz="3600"/>
              <a:t>name</a:t>
            </a:r>
            <a:r>
              <a:rPr lang="zh-CN" altLang="zh-CN" sz="3600"/>
              <a:t>的值作为字符串的长度。</a:t>
            </a:r>
            <a:endParaRPr lang="zh-CN" altLang="en-US" sz="3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A2D8EFFF-56AB-D0C1-8F99-259F8AA8608E}"/>
              </a:ext>
            </a:extLst>
          </p:cNvPr>
          <p:cNvSpPr>
            <a:spLocks noGrp="1" noChangeArrowheads="1"/>
          </p:cNvSpPr>
          <p:nvPr>
            <p:ph type="title"/>
          </p:nvPr>
        </p:nvSpPr>
        <p:spPr>
          <a:xfrm>
            <a:off x="-25400" y="0"/>
            <a:ext cx="9144000" cy="476250"/>
          </a:xfrm>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15363" name="矩形 2">
            <a:extLst>
              <a:ext uri="{FF2B5EF4-FFF2-40B4-BE49-F238E27FC236}">
                <a16:creationId xmlns:a16="http://schemas.microsoft.com/office/drawing/2014/main" id="{69F31B5F-B289-4DF4-205B-72C2B6D0D8A0}"/>
              </a:ext>
            </a:extLst>
          </p:cNvPr>
          <p:cNvSpPr>
            <a:spLocks noChangeArrowheads="1"/>
          </p:cNvSpPr>
          <p:nvPr/>
        </p:nvSpPr>
        <p:spPr bwMode="auto">
          <a:xfrm>
            <a:off x="7308850" y="-12700"/>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a:t>转义字符</a:t>
            </a:r>
            <a:endParaRPr lang="zh-CN" altLang="en-US"/>
          </a:p>
        </p:txBody>
      </p:sp>
      <p:sp>
        <p:nvSpPr>
          <p:cNvPr id="15364" name="矩形 3">
            <a:extLst>
              <a:ext uri="{FF2B5EF4-FFF2-40B4-BE49-F238E27FC236}">
                <a16:creationId xmlns:a16="http://schemas.microsoft.com/office/drawing/2014/main" id="{9E5F9EAA-3676-EEF7-8371-6E36D3D2C73D}"/>
              </a:ext>
            </a:extLst>
          </p:cNvPr>
          <p:cNvSpPr>
            <a:spLocks noChangeArrowheads="1"/>
          </p:cNvSpPr>
          <p:nvPr/>
        </p:nvSpPr>
        <p:spPr bwMode="auto">
          <a:xfrm>
            <a:off x="34925" y="523875"/>
            <a:ext cx="92170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a:t>特殊</a:t>
            </a:r>
            <a:r>
              <a:rPr lang="zh-CN" altLang="zh-CN" sz="6000">
                <a:solidFill>
                  <a:srgbClr val="FF0000"/>
                </a:solidFill>
              </a:rPr>
              <a:t>字符“</a:t>
            </a:r>
            <a:r>
              <a:rPr lang="en-US" altLang="zh-CN" sz="6000">
                <a:solidFill>
                  <a:srgbClr val="FF0000"/>
                </a:solidFill>
              </a:rPr>
              <a:t>\</a:t>
            </a:r>
            <a:r>
              <a:rPr lang="zh-CN" altLang="zh-CN" sz="6000">
                <a:solidFill>
                  <a:srgbClr val="FF0000"/>
                </a:solidFill>
              </a:rPr>
              <a:t>”</a:t>
            </a:r>
            <a:r>
              <a:rPr lang="zh-CN" altLang="zh-CN"/>
              <a:t>被称为</a:t>
            </a:r>
            <a:r>
              <a:rPr lang="zh-CN" altLang="zh-CN" sz="6000">
                <a:solidFill>
                  <a:srgbClr val="FF0000"/>
                </a:solidFill>
              </a:rPr>
              <a:t>转义字符</a:t>
            </a:r>
            <a:r>
              <a:rPr lang="zh-CN" altLang="zh-CN"/>
              <a:t>（</a:t>
            </a:r>
            <a:r>
              <a:rPr lang="en-US" altLang="zh-CN"/>
              <a:t>ESCape char</a:t>
            </a:r>
            <a:r>
              <a:rPr lang="zh-CN" altLang="zh-CN"/>
              <a:t>），用于对某些特殊字符的表示。</a:t>
            </a:r>
            <a:r>
              <a:rPr lang="en-US" altLang="zh-CN"/>
              <a:t>Shell</a:t>
            </a:r>
            <a:r>
              <a:rPr lang="zh-CN" altLang="en-US"/>
              <a:t>中</a:t>
            </a:r>
            <a:r>
              <a:rPr lang="zh-CN" altLang="zh-CN"/>
              <a:t>“</a:t>
            </a:r>
            <a:r>
              <a:rPr lang="en-US" altLang="zh-CN"/>
              <a:t>\</a:t>
            </a:r>
            <a:r>
              <a:rPr lang="zh-CN" altLang="zh-CN"/>
              <a:t>”</a:t>
            </a:r>
            <a:r>
              <a:rPr lang="zh-CN" altLang="en-US"/>
              <a:t>的作用与在</a:t>
            </a:r>
            <a:r>
              <a:rPr lang="en-US" altLang="zh-CN"/>
              <a:t>C</a:t>
            </a:r>
            <a:r>
              <a:rPr lang="zh-CN" altLang="en-US"/>
              <a:t>语言中的作用类似。</a:t>
            </a:r>
            <a:r>
              <a:rPr lang="zh-CN" altLang="zh-CN"/>
              <a:t> “</a:t>
            </a:r>
            <a:r>
              <a:rPr lang="en-US" altLang="zh-CN"/>
              <a:t>\</a:t>
            </a:r>
            <a:r>
              <a:rPr lang="zh-CN" altLang="zh-CN"/>
              <a:t>”</a:t>
            </a:r>
            <a:r>
              <a:rPr lang="zh-CN" altLang="en-US"/>
              <a:t>转义的</a:t>
            </a:r>
            <a:r>
              <a:rPr lang="zh-CN" altLang="zh-CN"/>
              <a:t>特殊字符</a:t>
            </a:r>
            <a:endParaRPr lang="zh-CN" altLang="en-US"/>
          </a:p>
        </p:txBody>
      </p:sp>
      <p:graphicFrame>
        <p:nvGraphicFramePr>
          <p:cNvPr id="5" name="表格 4">
            <a:extLst>
              <a:ext uri="{FF2B5EF4-FFF2-40B4-BE49-F238E27FC236}">
                <a16:creationId xmlns:a16="http://schemas.microsoft.com/office/drawing/2014/main" id="{0BF2ACF1-0F13-4888-FA5F-73B037C4C16A}"/>
              </a:ext>
            </a:extLst>
          </p:cNvPr>
          <p:cNvGraphicFramePr>
            <a:graphicFrameLocks noGrp="1"/>
          </p:cNvGraphicFramePr>
          <p:nvPr/>
        </p:nvGraphicFramePr>
        <p:xfrm>
          <a:off x="65088" y="2876550"/>
          <a:ext cx="8961437" cy="3179763"/>
        </p:xfrm>
        <a:graphic>
          <a:graphicData uri="http://schemas.openxmlformats.org/drawingml/2006/table">
            <a:tbl>
              <a:tblPr firstRow="1" firstCol="1" bandRow="1"/>
              <a:tblGrid>
                <a:gridCol w="1492862">
                  <a:extLst>
                    <a:ext uri="{9D8B030D-6E8A-4147-A177-3AD203B41FA5}">
                      <a16:colId xmlns:a16="http://schemas.microsoft.com/office/drawing/2014/main" val="20000"/>
                    </a:ext>
                  </a:extLst>
                </a:gridCol>
                <a:gridCol w="1493928">
                  <a:extLst>
                    <a:ext uri="{9D8B030D-6E8A-4147-A177-3AD203B41FA5}">
                      <a16:colId xmlns:a16="http://schemas.microsoft.com/office/drawing/2014/main" val="20001"/>
                    </a:ext>
                  </a:extLst>
                </a:gridCol>
                <a:gridCol w="1322901">
                  <a:extLst>
                    <a:ext uri="{9D8B030D-6E8A-4147-A177-3AD203B41FA5}">
                      <a16:colId xmlns:a16="http://schemas.microsoft.com/office/drawing/2014/main" val="20002"/>
                    </a:ext>
                  </a:extLst>
                </a:gridCol>
                <a:gridCol w="2034691">
                  <a:extLst>
                    <a:ext uri="{9D8B030D-6E8A-4147-A177-3AD203B41FA5}">
                      <a16:colId xmlns:a16="http://schemas.microsoft.com/office/drawing/2014/main" val="20003"/>
                    </a:ext>
                  </a:extLst>
                </a:gridCol>
                <a:gridCol w="1349449">
                  <a:extLst>
                    <a:ext uri="{9D8B030D-6E8A-4147-A177-3AD203B41FA5}">
                      <a16:colId xmlns:a16="http://schemas.microsoft.com/office/drawing/2014/main" val="20004"/>
                    </a:ext>
                  </a:extLst>
                </a:gridCol>
                <a:gridCol w="1267606">
                  <a:extLst>
                    <a:ext uri="{9D8B030D-6E8A-4147-A177-3AD203B41FA5}">
                      <a16:colId xmlns:a16="http://schemas.microsoft.com/office/drawing/2014/main" val="20005"/>
                    </a:ext>
                  </a:extLst>
                </a:gridCol>
              </a:tblGrid>
              <a:tr h="775370">
                <a:tc>
                  <a:txBody>
                    <a:bodyPr/>
                    <a:lstStyle/>
                    <a:p>
                      <a:pPr algn="ctr">
                        <a:lnSpc>
                          <a:spcPct val="100000"/>
                        </a:lnSpc>
                        <a:spcAft>
                          <a:spcPts val="0"/>
                        </a:spcAft>
                      </a:pPr>
                      <a:r>
                        <a:rPr lang="zh-CN" sz="2800" kern="100" dirty="0">
                          <a:effectLst/>
                          <a:latin typeface="黑体" panose="02010609060101010101" pitchFamily="49" charset="-122"/>
                          <a:ea typeface="黑体" panose="02010609060101010101" pitchFamily="49" charset="-122"/>
                        </a:rPr>
                        <a:t>字</a:t>
                      </a:r>
                      <a:r>
                        <a:rPr lang="en-US" sz="2800" kern="100" dirty="0">
                          <a:effectLst/>
                          <a:latin typeface="黑体" panose="02010609060101010101" pitchFamily="49" charset="-122"/>
                          <a:ea typeface="黑体" panose="02010609060101010101" pitchFamily="49" charset="-122"/>
                        </a:rPr>
                        <a:t>  </a:t>
                      </a:r>
                      <a:r>
                        <a:rPr lang="zh-CN" sz="2800" kern="100" dirty="0">
                          <a:effectLst/>
                          <a:latin typeface="黑体" panose="02010609060101010101" pitchFamily="49" charset="-122"/>
                          <a:ea typeface="黑体" panose="02010609060101010101" pitchFamily="49" charset="-122"/>
                        </a:rPr>
                        <a:t>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kern="100" dirty="0">
                          <a:effectLst/>
                          <a:latin typeface="黑体" panose="02010609060101010101" pitchFamily="49" charset="-122"/>
                          <a:ea typeface="黑体" panose="02010609060101010101" pitchFamily="49" charset="-122"/>
                        </a:rPr>
                        <a:t>意</a:t>
                      </a:r>
                      <a:r>
                        <a:rPr lang="en-US" sz="2800" kern="100" dirty="0">
                          <a:effectLst/>
                          <a:latin typeface="黑体" panose="02010609060101010101" pitchFamily="49" charset="-122"/>
                          <a:ea typeface="黑体" panose="02010609060101010101" pitchFamily="49" charset="-122"/>
                        </a:rPr>
                        <a:t>  </a:t>
                      </a:r>
                      <a:r>
                        <a:rPr lang="zh-CN" sz="2800" kern="100" dirty="0">
                          <a:effectLst/>
                          <a:latin typeface="黑体" panose="02010609060101010101" pitchFamily="49" charset="-122"/>
                          <a:ea typeface="黑体" panose="02010609060101010101" pitchFamily="49" charset="-122"/>
                        </a:rPr>
                        <a:t>义</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kern="100" dirty="0">
                          <a:effectLst/>
                          <a:latin typeface="黑体" panose="02010609060101010101" pitchFamily="49" charset="-122"/>
                          <a:ea typeface="黑体" panose="02010609060101010101" pitchFamily="49" charset="-122"/>
                        </a:rPr>
                        <a:t>字</a:t>
                      </a:r>
                      <a:r>
                        <a:rPr lang="en-US" sz="2800" kern="100" dirty="0">
                          <a:effectLst/>
                          <a:latin typeface="黑体" panose="02010609060101010101" pitchFamily="49" charset="-122"/>
                          <a:ea typeface="黑体" panose="02010609060101010101" pitchFamily="49" charset="-122"/>
                        </a:rPr>
                        <a:t>  </a:t>
                      </a:r>
                      <a:r>
                        <a:rPr lang="zh-CN" sz="2800" kern="100" dirty="0">
                          <a:effectLst/>
                          <a:latin typeface="黑体" panose="02010609060101010101" pitchFamily="49" charset="-122"/>
                          <a:ea typeface="黑体" panose="02010609060101010101" pitchFamily="49" charset="-122"/>
                        </a:rPr>
                        <a:t>符</a:t>
                      </a: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kern="100" dirty="0">
                          <a:effectLst/>
                          <a:latin typeface="黑体" panose="02010609060101010101" pitchFamily="49" charset="-122"/>
                          <a:ea typeface="黑体" panose="02010609060101010101" pitchFamily="49" charset="-122"/>
                        </a:rPr>
                        <a:t>意</a:t>
                      </a:r>
                      <a:r>
                        <a:rPr lang="en-US" sz="2800" kern="100" dirty="0">
                          <a:effectLst/>
                          <a:latin typeface="黑体" panose="02010609060101010101" pitchFamily="49" charset="-122"/>
                          <a:ea typeface="黑体" panose="02010609060101010101" pitchFamily="49" charset="-122"/>
                        </a:rPr>
                        <a:t>  </a:t>
                      </a:r>
                      <a:r>
                        <a:rPr lang="zh-CN" sz="2800" kern="100" dirty="0">
                          <a:effectLst/>
                          <a:latin typeface="黑体" panose="02010609060101010101" pitchFamily="49" charset="-122"/>
                          <a:ea typeface="黑体" panose="02010609060101010101" pitchFamily="49" charset="-122"/>
                        </a:rPr>
                        <a:t>义</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kern="100" dirty="0">
                          <a:effectLst/>
                          <a:latin typeface="黑体" panose="02010609060101010101" pitchFamily="49" charset="-122"/>
                          <a:ea typeface="黑体" panose="02010609060101010101" pitchFamily="49" charset="-122"/>
                        </a:rPr>
                        <a:t>字</a:t>
                      </a:r>
                      <a:r>
                        <a:rPr lang="en-US" sz="2800" kern="100" dirty="0">
                          <a:effectLst/>
                          <a:latin typeface="黑体" panose="02010609060101010101" pitchFamily="49" charset="-122"/>
                          <a:ea typeface="黑体" panose="02010609060101010101" pitchFamily="49" charset="-122"/>
                        </a:rPr>
                        <a:t>  </a:t>
                      </a:r>
                      <a:r>
                        <a:rPr lang="zh-CN" sz="2800" kern="100" dirty="0">
                          <a:effectLst/>
                          <a:latin typeface="黑体" panose="02010609060101010101" pitchFamily="49" charset="-122"/>
                          <a:ea typeface="黑体" panose="02010609060101010101" pitchFamily="49" charset="-122"/>
                        </a:rPr>
                        <a:t>符</a:t>
                      </a: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kern="100" dirty="0">
                          <a:effectLst/>
                          <a:latin typeface="黑体" panose="02010609060101010101" pitchFamily="49" charset="-122"/>
                          <a:ea typeface="黑体" panose="02010609060101010101" pitchFamily="49" charset="-122"/>
                        </a:rPr>
                        <a:t>意</a:t>
                      </a:r>
                      <a:r>
                        <a:rPr lang="en-US" sz="2800" kern="100" dirty="0">
                          <a:effectLst/>
                          <a:latin typeface="黑体" panose="02010609060101010101" pitchFamily="49" charset="-122"/>
                          <a:ea typeface="黑体" panose="02010609060101010101" pitchFamily="49" charset="-122"/>
                        </a:rPr>
                        <a:t>  </a:t>
                      </a:r>
                      <a:r>
                        <a:rPr lang="zh-CN" sz="2800" kern="100" dirty="0">
                          <a:effectLst/>
                          <a:latin typeface="黑体" panose="02010609060101010101" pitchFamily="49" charset="-122"/>
                          <a:ea typeface="黑体" panose="02010609060101010101" pitchFamily="49" charset="-122"/>
                        </a:rPr>
                        <a:t>义</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75370">
                <a:tc>
                  <a:txBody>
                    <a:bodyPr/>
                    <a:lstStyle/>
                    <a:p>
                      <a:pPr algn="ctr">
                        <a:lnSpc>
                          <a:spcPct val="100000"/>
                        </a:lnSpc>
                        <a:spcAft>
                          <a:spcPts val="0"/>
                        </a:spcAft>
                      </a:pPr>
                      <a:r>
                        <a:rPr lang="en-US" sz="2800" kern="100" dirty="0">
                          <a:effectLst/>
                          <a:latin typeface="黑体" panose="02010609060101010101" pitchFamily="49" charset="-122"/>
                          <a:ea typeface="黑体" panose="02010609060101010101" pitchFamily="49" charset="-122"/>
                        </a:rPr>
                        <a:t>\a</a:t>
                      </a:r>
                      <a:endParaRPr lang="zh-CN" sz="2800" kern="100" dirty="0">
                        <a:effectLst/>
                        <a:latin typeface="黑体" panose="02010609060101010101" pitchFamily="49" charset="-122"/>
                        <a:ea typeface="黑体" panose="02010609060101010101"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kern="100">
                          <a:effectLst/>
                          <a:latin typeface="黑体" panose="02010609060101010101" pitchFamily="49" charset="-122"/>
                          <a:ea typeface="黑体" panose="02010609060101010101" pitchFamily="49" charset="-122"/>
                        </a:rPr>
                        <a:t>响铃符</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kern="100" dirty="0">
                          <a:effectLst/>
                          <a:latin typeface="黑体" panose="02010609060101010101" pitchFamily="49" charset="-122"/>
                          <a:ea typeface="黑体" panose="02010609060101010101" pitchFamily="49" charset="-122"/>
                        </a:rPr>
                        <a:t>\x??</a:t>
                      </a:r>
                      <a:endParaRPr lang="zh-CN" sz="2800" kern="100" dirty="0">
                        <a:effectLst/>
                        <a:latin typeface="黑体" panose="02010609060101010101" pitchFamily="49" charset="-122"/>
                        <a:ea typeface="黑体" panose="02010609060101010101" pitchFamily="49"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altLang="zh-CN" sz="2800" kern="100" dirty="0">
                          <a:effectLst/>
                          <a:latin typeface="黑体" panose="02010609060101010101" pitchFamily="49" charset="-122"/>
                          <a:ea typeface="黑体" panose="02010609060101010101" pitchFamily="49" charset="-122"/>
                        </a:rPr>
                        <a:t>16</a:t>
                      </a:r>
                      <a:r>
                        <a:rPr lang="zh-CN" sz="2800" kern="100" dirty="0">
                          <a:effectLst/>
                          <a:latin typeface="黑体" panose="02010609060101010101" pitchFamily="49" charset="-122"/>
                          <a:ea typeface="黑体" panose="02010609060101010101" pitchFamily="49" charset="-122"/>
                        </a:rPr>
                        <a:t>进制表示</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kern="100" dirty="0">
                          <a:effectLst/>
                          <a:latin typeface="黑体" panose="02010609060101010101" pitchFamily="49" charset="-122"/>
                          <a:ea typeface="黑体" panose="02010609060101010101" pitchFamily="49" charset="-122"/>
                        </a:rPr>
                        <a:t>\\</a:t>
                      </a:r>
                      <a:endParaRPr lang="zh-CN" sz="2800" kern="100" dirty="0">
                        <a:effectLst/>
                        <a:latin typeface="黑体" panose="02010609060101010101" pitchFamily="49" charset="-122"/>
                        <a:ea typeface="黑体" panose="02010609060101010101" pitchFamily="49"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kern="100" dirty="0">
                          <a:effectLst/>
                          <a:latin typeface="黑体" panose="02010609060101010101" pitchFamily="49" charset="-122"/>
                          <a:ea typeface="黑体" panose="02010609060101010101" pitchFamily="49" charset="-122"/>
                        </a:rPr>
                        <a:t>\</a:t>
                      </a:r>
                      <a:endParaRPr lang="zh-CN" sz="2800" kern="100" dirty="0">
                        <a:effectLst/>
                        <a:latin typeface="黑体" panose="02010609060101010101" pitchFamily="49" charset="-122"/>
                        <a:ea typeface="黑体" panose="02010609060101010101"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75370">
                <a:tc>
                  <a:txBody>
                    <a:bodyPr/>
                    <a:lstStyle/>
                    <a:p>
                      <a:pPr algn="ctr">
                        <a:lnSpc>
                          <a:spcPct val="100000"/>
                        </a:lnSpc>
                        <a:spcAft>
                          <a:spcPts val="0"/>
                        </a:spcAft>
                      </a:pPr>
                      <a:r>
                        <a:rPr lang="en-US" sz="2800" kern="100">
                          <a:effectLst/>
                          <a:latin typeface="黑体" panose="02010609060101010101" pitchFamily="49" charset="-122"/>
                          <a:ea typeface="黑体" panose="02010609060101010101" pitchFamily="49" charset="-122"/>
                        </a:rPr>
                        <a:t>\b</a:t>
                      </a:r>
                      <a:endParaRPr lang="zh-CN" sz="2800" kern="100">
                        <a:effectLst/>
                        <a:latin typeface="黑体" panose="02010609060101010101" pitchFamily="49" charset="-122"/>
                        <a:ea typeface="黑体" panose="02010609060101010101"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kern="100" dirty="0">
                          <a:effectLst/>
                          <a:latin typeface="黑体" panose="02010609060101010101" pitchFamily="49" charset="-122"/>
                          <a:ea typeface="黑体" panose="02010609060101010101" pitchFamily="49" charset="-122"/>
                        </a:rPr>
                        <a:t>退格键</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kern="100">
                          <a:effectLst/>
                          <a:latin typeface="黑体" panose="02010609060101010101" pitchFamily="49" charset="-122"/>
                          <a:ea typeface="黑体" panose="02010609060101010101" pitchFamily="49" charset="-122"/>
                        </a:rPr>
                        <a:t>\0???</a:t>
                      </a:r>
                      <a:endParaRPr lang="zh-CN" sz="2800" kern="100">
                        <a:effectLst/>
                        <a:latin typeface="黑体" panose="02010609060101010101" pitchFamily="49" charset="-122"/>
                        <a:ea typeface="黑体" panose="02010609060101010101" pitchFamily="49"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altLang="zh-CN" sz="2800" kern="100" dirty="0">
                          <a:effectLst/>
                          <a:latin typeface="黑体" panose="02010609060101010101" pitchFamily="49" charset="-122"/>
                          <a:ea typeface="黑体" panose="02010609060101010101" pitchFamily="49" charset="-122"/>
                        </a:rPr>
                        <a:t>8</a:t>
                      </a:r>
                      <a:r>
                        <a:rPr lang="zh-CN" sz="2800" kern="100" dirty="0">
                          <a:effectLst/>
                          <a:latin typeface="黑体" panose="02010609060101010101" pitchFamily="49" charset="-122"/>
                          <a:ea typeface="黑体" panose="02010609060101010101" pitchFamily="49" charset="-122"/>
                        </a:rPr>
                        <a:t>进制表示</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kern="100" dirty="0">
                          <a:effectLst/>
                          <a:latin typeface="黑体" panose="02010609060101010101" pitchFamily="49" charset="-122"/>
                          <a:ea typeface="黑体" panose="02010609060101010101" pitchFamily="49" charset="-122"/>
                        </a:rPr>
                        <a:t>\`</a:t>
                      </a:r>
                      <a:endParaRPr lang="zh-CN" sz="2800" kern="100" dirty="0">
                        <a:effectLst/>
                        <a:latin typeface="黑体" panose="02010609060101010101" pitchFamily="49" charset="-122"/>
                        <a:ea typeface="黑体" panose="02010609060101010101" pitchFamily="49"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kern="100" dirty="0">
                          <a:effectLst/>
                          <a:latin typeface="黑体" panose="02010609060101010101" pitchFamily="49" charset="-122"/>
                          <a:ea typeface="黑体" panose="02010609060101010101" pitchFamily="49" charset="-122"/>
                        </a:rPr>
                        <a:t>`</a:t>
                      </a:r>
                      <a:endParaRPr lang="zh-CN" sz="2800" kern="100" dirty="0">
                        <a:effectLst/>
                        <a:latin typeface="黑体" panose="02010609060101010101" pitchFamily="49" charset="-122"/>
                        <a:ea typeface="黑体" panose="02010609060101010101"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6826">
                <a:tc>
                  <a:txBody>
                    <a:bodyPr/>
                    <a:lstStyle/>
                    <a:p>
                      <a:pPr algn="ctr">
                        <a:lnSpc>
                          <a:spcPct val="100000"/>
                        </a:lnSpc>
                        <a:spcAft>
                          <a:spcPts val="0"/>
                        </a:spcAft>
                      </a:pPr>
                      <a:r>
                        <a:rPr lang="en-US" sz="2800" kern="100">
                          <a:effectLst/>
                          <a:latin typeface="黑体" panose="02010609060101010101" pitchFamily="49" charset="-122"/>
                          <a:ea typeface="黑体" panose="02010609060101010101" pitchFamily="49" charset="-122"/>
                        </a:rPr>
                        <a:t>\f</a:t>
                      </a:r>
                      <a:endParaRPr lang="zh-CN" sz="2800" kern="100">
                        <a:effectLst/>
                        <a:latin typeface="黑体" panose="02010609060101010101" pitchFamily="49" charset="-122"/>
                        <a:ea typeface="黑体" panose="02010609060101010101"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kern="100">
                          <a:effectLst/>
                          <a:latin typeface="黑体" panose="02010609060101010101" pitchFamily="49" charset="-122"/>
                          <a:ea typeface="黑体" panose="02010609060101010101" pitchFamily="49" charset="-122"/>
                        </a:rPr>
                        <a:t>换页</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kern="100">
                          <a:effectLst/>
                          <a:latin typeface="黑体" panose="02010609060101010101" pitchFamily="49" charset="-122"/>
                          <a:ea typeface="黑体" panose="02010609060101010101" pitchFamily="49" charset="-122"/>
                        </a:rPr>
                        <a:t>\t</a:t>
                      </a:r>
                      <a:endParaRPr lang="zh-CN" sz="2800" kern="100">
                        <a:effectLst/>
                        <a:latin typeface="黑体" panose="02010609060101010101" pitchFamily="49" charset="-122"/>
                        <a:ea typeface="黑体" panose="02010609060101010101" pitchFamily="49"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kern="100">
                          <a:effectLst/>
                          <a:latin typeface="黑体" panose="02010609060101010101" pitchFamily="49" charset="-122"/>
                          <a:ea typeface="黑体" panose="02010609060101010101" pitchFamily="49" charset="-122"/>
                        </a:rPr>
                        <a:t>Tab</a:t>
                      </a:r>
                      <a:r>
                        <a:rPr lang="zh-CN" sz="2800" kern="100">
                          <a:effectLst/>
                          <a:latin typeface="黑体" panose="02010609060101010101" pitchFamily="49" charset="-122"/>
                          <a:ea typeface="黑体" panose="02010609060101010101" pitchFamily="49" charset="-122"/>
                        </a:rPr>
                        <a:t>键</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kern="100">
                          <a:effectLst/>
                          <a:latin typeface="黑体" panose="02010609060101010101" pitchFamily="49" charset="-122"/>
                          <a:ea typeface="黑体" panose="02010609060101010101" pitchFamily="49" charset="-122"/>
                        </a:rPr>
                        <a:t>\</a:t>
                      </a:r>
                      <a:r>
                        <a:rPr lang="zh-CN" sz="2800" kern="100">
                          <a:effectLst/>
                          <a:latin typeface="黑体" panose="02010609060101010101" pitchFamily="49" charset="-122"/>
                          <a:ea typeface="黑体" panose="02010609060101010101" pitchFamily="49" charset="-122"/>
                        </a:rPr>
                        <a:t>”</a:t>
                      </a: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kern="100" dirty="0">
                          <a:effectLst/>
                          <a:latin typeface="黑体" panose="02010609060101010101" pitchFamily="49" charset="-122"/>
                          <a:ea typeface="黑体" panose="02010609060101010101" pitchFamily="49" charset="-122"/>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6826">
                <a:tc>
                  <a:txBody>
                    <a:bodyPr/>
                    <a:lstStyle/>
                    <a:p>
                      <a:pPr algn="ctr">
                        <a:lnSpc>
                          <a:spcPct val="100000"/>
                        </a:lnSpc>
                        <a:spcAft>
                          <a:spcPts val="0"/>
                        </a:spcAft>
                      </a:pPr>
                      <a:r>
                        <a:rPr lang="en-US" sz="2800" kern="100">
                          <a:effectLst/>
                          <a:latin typeface="黑体" panose="02010609060101010101" pitchFamily="49" charset="-122"/>
                          <a:ea typeface="黑体" panose="02010609060101010101" pitchFamily="49" charset="-122"/>
                        </a:rPr>
                        <a:t>\n</a:t>
                      </a:r>
                      <a:endParaRPr lang="zh-CN" sz="2800" kern="100">
                        <a:effectLst/>
                        <a:latin typeface="黑体" panose="02010609060101010101" pitchFamily="49" charset="-122"/>
                        <a:ea typeface="黑体" panose="02010609060101010101"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kern="100">
                          <a:effectLst/>
                          <a:latin typeface="黑体" panose="02010609060101010101" pitchFamily="49" charset="-122"/>
                          <a:ea typeface="黑体" panose="02010609060101010101" pitchFamily="49" charset="-122"/>
                        </a:rPr>
                        <a:t>换行</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kern="100" dirty="0">
                          <a:effectLst/>
                          <a:latin typeface="黑体" panose="02010609060101010101" pitchFamily="49" charset="-122"/>
                          <a:ea typeface="黑体" panose="02010609060101010101" pitchFamily="49" charset="-122"/>
                        </a:rPr>
                        <a:t>\</a:t>
                      </a:r>
                      <a:r>
                        <a:rPr lang="en-US" altLang="zh-CN" sz="2800" kern="100" dirty="0">
                          <a:effectLst/>
                          <a:latin typeface="黑体" panose="02010609060101010101" pitchFamily="49" charset="-122"/>
                          <a:ea typeface="黑体" panose="02010609060101010101" pitchFamily="49" charset="-122"/>
                        </a:rPr>
                        <a:t>r</a:t>
                      </a:r>
                      <a:endParaRPr lang="zh-CN" sz="2800" kern="100" dirty="0">
                        <a:effectLst/>
                        <a:latin typeface="黑体" panose="02010609060101010101" pitchFamily="49" charset="-122"/>
                        <a:ea typeface="黑体" panose="02010609060101010101" pitchFamily="49"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altLang="en-US" sz="2800" kern="100" dirty="0">
                          <a:effectLst/>
                          <a:latin typeface="黑体" panose="02010609060101010101" pitchFamily="49" charset="-122"/>
                          <a:ea typeface="黑体" panose="02010609060101010101" pitchFamily="49" charset="-122"/>
                        </a:rPr>
                        <a:t>回车</a:t>
                      </a:r>
                      <a:endParaRPr lang="zh-CN" sz="2800" kern="100" dirty="0">
                        <a:effectLst/>
                        <a:latin typeface="黑体" panose="02010609060101010101" pitchFamily="49" charset="-122"/>
                        <a:ea typeface="黑体" panose="02010609060101010101" pitchFamily="49" charset="-122"/>
                      </a:endParaRP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kern="100">
                          <a:effectLst/>
                          <a:latin typeface="黑体" panose="02010609060101010101" pitchFamily="49" charset="-122"/>
                          <a:ea typeface="黑体" panose="02010609060101010101" pitchFamily="49" charset="-122"/>
                        </a:rPr>
                        <a:t>\e</a:t>
                      </a:r>
                      <a:endParaRPr lang="zh-CN" sz="2800" kern="100">
                        <a:effectLst/>
                        <a:latin typeface="黑体" panose="02010609060101010101" pitchFamily="49" charset="-122"/>
                        <a:ea typeface="黑体" panose="02010609060101010101" pitchFamily="49"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kern="100" dirty="0">
                          <a:effectLst/>
                          <a:latin typeface="黑体" panose="02010609060101010101" pitchFamily="49" charset="-122"/>
                          <a:ea typeface="黑体" panose="02010609060101010101" pitchFamily="49" charset="-122"/>
                        </a:rPr>
                        <a:t>ESC</a:t>
                      </a:r>
                      <a:endParaRPr lang="zh-CN" sz="2800" kern="100" dirty="0">
                        <a:effectLst/>
                        <a:latin typeface="黑体" panose="02010609060101010101" pitchFamily="49" charset="-122"/>
                        <a:ea typeface="黑体" panose="02010609060101010101"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F84A4748-B7D9-E923-505B-C3B1D4CE964B}"/>
              </a:ext>
            </a:extLst>
          </p:cNvPr>
          <p:cNvSpPr>
            <a:spLocks noGrp="1" noChangeArrowheads="1"/>
          </p:cNvSpPr>
          <p:nvPr>
            <p:ph type="title"/>
          </p:nvPr>
        </p:nvSpPr>
        <p:spPr>
          <a:xfrm>
            <a:off x="14288" y="0"/>
            <a:ext cx="9144000" cy="476250"/>
          </a:xfrm>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16387" name="矩形 2">
            <a:extLst>
              <a:ext uri="{FF2B5EF4-FFF2-40B4-BE49-F238E27FC236}">
                <a16:creationId xmlns:a16="http://schemas.microsoft.com/office/drawing/2014/main" id="{A697EB3C-062D-F647-76C8-143F553F2FCA}"/>
              </a:ext>
            </a:extLst>
          </p:cNvPr>
          <p:cNvSpPr>
            <a:spLocks noChangeArrowheads="1"/>
          </p:cNvSpPr>
          <p:nvPr/>
        </p:nvSpPr>
        <p:spPr bwMode="auto">
          <a:xfrm>
            <a:off x="7092950" y="0"/>
            <a:ext cx="18081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a:t>2</a:t>
            </a:r>
            <a:r>
              <a:rPr lang="zh-CN" altLang="zh-CN"/>
              <a:t>．特殊键</a:t>
            </a:r>
            <a:endParaRPr lang="zh-CN" altLang="en-US"/>
          </a:p>
        </p:txBody>
      </p:sp>
      <p:graphicFrame>
        <p:nvGraphicFramePr>
          <p:cNvPr id="4" name="表格 3">
            <a:extLst>
              <a:ext uri="{FF2B5EF4-FFF2-40B4-BE49-F238E27FC236}">
                <a16:creationId xmlns:a16="http://schemas.microsoft.com/office/drawing/2014/main" id="{53845D08-5F23-7F90-F31F-B2599880A441}"/>
              </a:ext>
            </a:extLst>
          </p:cNvPr>
          <p:cNvGraphicFramePr>
            <a:graphicFrameLocks noGrp="1"/>
          </p:cNvGraphicFramePr>
          <p:nvPr/>
        </p:nvGraphicFramePr>
        <p:xfrm>
          <a:off x="14288" y="404813"/>
          <a:ext cx="8928100" cy="6261100"/>
        </p:xfrm>
        <a:graphic>
          <a:graphicData uri="http://schemas.openxmlformats.org/drawingml/2006/table">
            <a:tbl>
              <a:tblPr firstRow="1" firstCol="1" bandRow="1"/>
              <a:tblGrid>
                <a:gridCol w="2160024">
                  <a:extLst>
                    <a:ext uri="{9D8B030D-6E8A-4147-A177-3AD203B41FA5}">
                      <a16:colId xmlns:a16="http://schemas.microsoft.com/office/drawing/2014/main" val="20000"/>
                    </a:ext>
                  </a:extLst>
                </a:gridCol>
                <a:gridCol w="6768076">
                  <a:extLst>
                    <a:ext uri="{9D8B030D-6E8A-4147-A177-3AD203B41FA5}">
                      <a16:colId xmlns:a16="http://schemas.microsoft.com/office/drawing/2014/main" val="20001"/>
                    </a:ext>
                  </a:extLst>
                </a:gridCol>
              </a:tblGrid>
              <a:tr h="670576">
                <a:tc>
                  <a:txBody>
                    <a:bodyPr/>
                    <a:lstStyle/>
                    <a:p>
                      <a:pPr algn="ctr">
                        <a:lnSpc>
                          <a:spcPct val="100000"/>
                        </a:lnSpc>
                        <a:spcAft>
                          <a:spcPts val="0"/>
                        </a:spcAft>
                      </a:pPr>
                      <a:r>
                        <a:rPr lang="zh-CN" sz="4400" b="1" kern="100" dirty="0">
                          <a:solidFill>
                            <a:srgbClr val="FF0000"/>
                          </a:solidFill>
                          <a:effectLst/>
                          <a:latin typeface="黑体" panose="02010609060101010101" pitchFamily="49" charset="-122"/>
                          <a:ea typeface="黑体" panose="02010609060101010101" pitchFamily="49" charset="-122"/>
                        </a:rPr>
                        <a:t>特殊键</a:t>
                      </a: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4400" kern="100" dirty="0">
                          <a:effectLst/>
                          <a:latin typeface="黑体" panose="02010609060101010101" pitchFamily="49" charset="-122"/>
                          <a:ea typeface="黑体" panose="02010609060101010101" pitchFamily="49" charset="-122"/>
                        </a:rPr>
                        <a:t>意</a:t>
                      </a:r>
                      <a:r>
                        <a:rPr lang="en-US" sz="4400" kern="100" dirty="0">
                          <a:effectLst/>
                          <a:latin typeface="黑体" panose="02010609060101010101" pitchFamily="49" charset="-122"/>
                          <a:ea typeface="黑体" panose="02010609060101010101" pitchFamily="49" charset="-122"/>
                        </a:rPr>
                        <a:t>    </a:t>
                      </a:r>
                      <a:r>
                        <a:rPr lang="zh-CN" sz="4400" kern="100" dirty="0">
                          <a:effectLst/>
                          <a:latin typeface="黑体" panose="02010609060101010101" pitchFamily="49" charset="-122"/>
                          <a:ea typeface="黑体" panose="02010609060101010101" pitchFamily="49" charset="-122"/>
                        </a:rPr>
                        <a:t>义</a:t>
                      </a: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31537">
                <a:tc>
                  <a:txBody>
                    <a:bodyPr/>
                    <a:lstStyle/>
                    <a:p>
                      <a:pPr algn="ctr">
                        <a:lnSpc>
                          <a:spcPct val="100000"/>
                        </a:lnSpc>
                        <a:spcBef>
                          <a:spcPts val="600"/>
                        </a:spcBef>
                        <a:spcAft>
                          <a:spcPts val="0"/>
                        </a:spcAft>
                      </a:pPr>
                      <a:r>
                        <a:rPr lang="en-US" sz="4800" kern="100" dirty="0" err="1">
                          <a:effectLst/>
                          <a:latin typeface="黑体" panose="02010609060101010101" pitchFamily="49" charset="-122"/>
                          <a:ea typeface="黑体" panose="02010609060101010101" pitchFamily="49" charset="-122"/>
                        </a:rPr>
                        <a:t>Ctrl+D</a:t>
                      </a:r>
                      <a:endParaRPr lang="zh-CN" sz="4800" kern="100" dirty="0">
                        <a:effectLst/>
                        <a:latin typeface="黑体" panose="02010609060101010101" pitchFamily="49" charset="-122"/>
                        <a:ea typeface="黑体" panose="02010609060101010101" pitchFamily="49" charset="-122"/>
                      </a:endParaRP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Bef>
                          <a:spcPts val="600"/>
                        </a:spcBef>
                        <a:spcAft>
                          <a:spcPts val="0"/>
                        </a:spcAft>
                      </a:pPr>
                      <a:r>
                        <a:rPr lang="zh-CN" sz="2400" kern="100" dirty="0">
                          <a:effectLst/>
                          <a:latin typeface="黑体" panose="02010609060101010101" pitchFamily="49" charset="-122"/>
                          <a:ea typeface="黑体" panose="02010609060101010101" pitchFamily="49" charset="-122"/>
                        </a:rPr>
                        <a:t>结束当前程序输入或结束当前程序，或从系统中注销</a:t>
                      </a: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31537">
                <a:tc>
                  <a:txBody>
                    <a:bodyPr/>
                    <a:lstStyle/>
                    <a:p>
                      <a:pPr algn="ctr">
                        <a:lnSpc>
                          <a:spcPct val="100000"/>
                        </a:lnSpc>
                        <a:spcBef>
                          <a:spcPts val="600"/>
                        </a:spcBef>
                        <a:spcAft>
                          <a:spcPts val="0"/>
                        </a:spcAft>
                      </a:pPr>
                      <a:r>
                        <a:rPr lang="en-US" sz="4800" kern="100" dirty="0" err="1">
                          <a:solidFill>
                            <a:schemeClr val="tx1"/>
                          </a:solidFill>
                          <a:effectLst/>
                          <a:latin typeface="黑体" panose="02010609060101010101" pitchFamily="49" charset="-122"/>
                          <a:ea typeface="黑体" panose="02010609060101010101" pitchFamily="49" charset="-122"/>
                          <a:cs typeface="+mn-cs"/>
                        </a:rPr>
                        <a:t>Ctrl+C</a:t>
                      </a:r>
                      <a:endParaRPr lang="zh-CN" sz="4800" kern="100" dirty="0">
                        <a:solidFill>
                          <a:schemeClr val="tx1"/>
                        </a:solidFill>
                        <a:effectLst/>
                        <a:latin typeface="黑体" panose="02010609060101010101" pitchFamily="49" charset="-122"/>
                        <a:ea typeface="黑体" panose="02010609060101010101" pitchFamily="49" charset="-122"/>
                        <a:cs typeface="+mn-cs"/>
                      </a:endParaRP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Bef>
                          <a:spcPts val="600"/>
                        </a:spcBef>
                        <a:spcAft>
                          <a:spcPts val="0"/>
                        </a:spcAft>
                      </a:pPr>
                      <a:r>
                        <a:rPr lang="zh-CN" sz="2400" kern="100" dirty="0">
                          <a:effectLst/>
                          <a:latin typeface="黑体" panose="02010609060101010101" pitchFamily="49" charset="-122"/>
                          <a:ea typeface="黑体" panose="02010609060101010101" pitchFamily="49" charset="-122"/>
                        </a:rPr>
                        <a:t>终止当前程序的执行</a:t>
                      </a: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31537">
                <a:tc>
                  <a:txBody>
                    <a:bodyPr/>
                    <a:lstStyle/>
                    <a:p>
                      <a:pPr marL="0" algn="ctr" defTabSz="914400" rtl="0" eaLnBrk="1" latinLnBrk="0" hangingPunct="1">
                        <a:lnSpc>
                          <a:spcPct val="100000"/>
                        </a:lnSpc>
                        <a:spcBef>
                          <a:spcPts val="600"/>
                        </a:spcBef>
                        <a:spcAft>
                          <a:spcPts val="0"/>
                        </a:spcAft>
                      </a:pPr>
                      <a:r>
                        <a:rPr lang="en-US" sz="4800" kern="100" dirty="0">
                          <a:solidFill>
                            <a:schemeClr val="tx1"/>
                          </a:solidFill>
                          <a:effectLst/>
                          <a:latin typeface="黑体" panose="02010609060101010101" pitchFamily="49" charset="-122"/>
                          <a:ea typeface="黑体" panose="02010609060101010101" pitchFamily="49" charset="-122"/>
                          <a:cs typeface="+mn-cs"/>
                        </a:rPr>
                        <a:t>Ctrl+\</a:t>
                      </a:r>
                      <a:endParaRPr lang="zh-CN" sz="4800" kern="100" dirty="0">
                        <a:solidFill>
                          <a:schemeClr val="tx1"/>
                        </a:solidFill>
                        <a:effectLst/>
                        <a:latin typeface="黑体" panose="02010609060101010101" pitchFamily="49" charset="-122"/>
                        <a:ea typeface="黑体" panose="02010609060101010101" pitchFamily="49" charset="-122"/>
                        <a:cs typeface="+mn-cs"/>
                      </a:endParaRP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Bef>
                          <a:spcPts val="600"/>
                        </a:spcBef>
                        <a:spcAft>
                          <a:spcPts val="0"/>
                        </a:spcAft>
                      </a:pPr>
                      <a:r>
                        <a:rPr lang="zh-CN" sz="2400" kern="100" dirty="0">
                          <a:effectLst/>
                          <a:latin typeface="黑体" panose="02010609060101010101" pitchFamily="49" charset="-122"/>
                          <a:ea typeface="黑体" panose="02010609060101010101" pitchFamily="49" charset="-122"/>
                        </a:rPr>
                        <a:t>终止当前程序的执行（系统内部处理时不同于</a:t>
                      </a:r>
                      <a:r>
                        <a:rPr lang="en-US" sz="2400" kern="100" dirty="0" err="1">
                          <a:effectLst/>
                          <a:latin typeface="黑体" panose="02010609060101010101" pitchFamily="49" charset="-122"/>
                          <a:ea typeface="黑体" panose="02010609060101010101" pitchFamily="49" charset="-122"/>
                        </a:rPr>
                        <a:t>Ctrl+C</a:t>
                      </a:r>
                      <a:r>
                        <a:rPr lang="zh-CN" sz="2400" kern="100" dirty="0">
                          <a:effectLst/>
                          <a:latin typeface="黑体" panose="02010609060101010101" pitchFamily="49" charset="-122"/>
                          <a:ea typeface="黑体" panose="02010609060101010101" pitchFamily="49" charset="-122"/>
                        </a:rPr>
                        <a:t>），可能产生内存映像文件</a:t>
                      </a: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39577">
                <a:tc>
                  <a:txBody>
                    <a:bodyPr/>
                    <a:lstStyle/>
                    <a:p>
                      <a:pPr algn="ctr">
                        <a:lnSpc>
                          <a:spcPct val="100000"/>
                        </a:lnSpc>
                        <a:spcBef>
                          <a:spcPts val="600"/>
                        </a:spcBef>
                        <a:spcAft>
                          <a:spcPts val="0"/>
                        </a:spcAft>
                      </a:pPr>
                      <a:r>
                        <a:rPr lang="en-US" sz="2400" kern="100">
                          <a:effectLst/>
                          <a:latin typeface="黑体" panose="02010609060101010101" pitchFamily="49" charset="-122"/>
                          <a:ea typeface="黑体" panose="02010609060101010101" pitchFamily="49" charset="-122"/>
                        </a:rPr>
                        <a:t>Ctrl+Z</a:t>
                      </a:r>
                      <a:endParaRPr lang="zh-CN" sz="2400" kern="100">
                        <a:effectLst/>
                        <a:latin typeface="黑体" panose="02010609060101010101" pitchFamily="49" charset="-122"/>
                        <a:ea typeface="黑体" panose="02010609060101010101" pitchFamily="49" charset="-122"/>
                      </a:endParaRP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Bef>
                          <a:spcPts val="600"/>
                        </a:spcBef>
                        <a:spcAft>
                          <a:spcPts val="0"/>
                        </a:spcAft>
                      </a:pPr>
                      <a:r>
                        <a:rPr lang="zh-CN" sz="2400" kern="100" dirty="0">
                          <a:effectLst/>
                          <a:latin typeface="黑体" panose="02010609060101010101" pitchFamily="49" charset="-122"/>
                          <a:ea typeface="黑体" panose="02010609060101010101" pitchFamily="49" charset="-122"/>
                        </a:rPr>
                        <a:t>挂起当前程序执行</a:t>
                      </a: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6954">
                <a:tc>
                  <a:txBody>
                    <a:bodyPr/>
                    <a:lstStyle/>
                    <a:p>
                      <a:pPr algn="ctr">
                        <a:lnSpc>
                          <a:spcPct val="100000"/>
                        </a:lnSpc>
                        <a:spcBef>
                          <a:spcPts val="600"/>
                        </a:spcBef>
                        <a:spcAft>
                          <a:spcPts val="0"/>
                        </a:spcAft>
                      </a:pPr>
                      <a:r>
                        <a:rPr lang="en-US" sz="2400" kern="100" dirty="0" err="1">
                          <a:effectLst/>
                          <a:latin typeface="黑体" panose="02010609060101010101" pitchFamily="49" charset="-122"/>
                          <a:ea typeface="黑体" panose="02010609060101010101" pitchFamily="49" charset="-122"/>
                        </a:rPr>
                        <a:t>Ctrl+S</a:t>
                      </a:r>
                      <a:r>
                        <a:rPr lang="en-US" sz="2400" kern="100" dirty="0">
                          <a:effectLst/>
                          <a:latin typeface="黑体" panose="02010609060101010101" pitchFamily="49" charset="-122"/>
                          <a:ea typeface="黑体" panose="02010609060101010101" pitchFamily="49" charset="-122"/>
                        </a:rPr>
                        <a:t>/</a:t>
                      </a:r>
                      <a:r>
                        <a:rPr lang="en-US" sz="2400" kern="100" dirty="0" err="1">
                          <a:effectLst/>
                          <a:latin typeface="黑体" panose="02010609060101010101" pitchFamily="49" charset="-122"/>
                          <a:ea typeface="黑体" panose="02010609060101010101" pitchFamily="49" charset="-122"/>
                        </a:rPr>
                        <a:t>Ctrl+Q</a:t>
                      </a:r>
                      <a:endParaRPr lang="zh-CN" sz="2400" kern="100" dirty="0">
                        <a:effectLst/>
                        <a:latin typeface="黑体" panose="02010609060101010101" pitchFamily="49" charset="-122"/>
                        <a:ea typeface="黑体" panose="02010609060101010101" pitchFamily="49" charset="-122"/>
                      </a:endParaRP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Bef>
                          <a:spcPts val="600"/>
                        </a:spcBef>
                        <a:spcAft>
                          <a:spcPts val="0"/>
                        </a:spcAft>
                      </a:pPr>
                      <a:r>
                        <a:rPr lang="zh-CN" sz="2400" kern="100" dirty="0">
                          <a:effectLst/>
                          <a:latin typeface="黑体" panose="02010609060101010101" pitchFamily="49" charset="-122"/>
                          <a:ea typeface="黑体" panose="02010609060101010101" pitchFamily="49" charset="-122"/>
                        </a:rPr>
                        <a:t>暂停</a:t>
                      </a:r>
                      <a:r>
                        <a:rPr lang="en-US" sz="2400" kern="100" dirty="0">
                          <a:effectLst/>
                          <a:latin typeface="黑体" panose="02010609060101010101" pitchFamily="49" charset="-122"/>
                          <a:ea typeface="黑体" panose="02010609060101010101" pitchFamily="49" charset="-122"/>
                        </a:rPr>
                        <a:t>/</a:t>
                      </a:r>
                      <a:r>
                        <a:rPr lang="zh-CN" sz="2400" kern="100" dirty="0">
                          <a:effectLst/>
                          <a:latin typeface="黑体" panose="02010609060101010101" pitchFamily="49" charset="-122"/>
                          <a:ea typeface="黑体" panose="02010609060101010101" pitchFamily="49" charset="-122"/>
                        </a:rPr>
                        <a:t>继续屏幕的输出滚动，必须配合使用</a:t>
                      </a: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39577">
                <a:tc>
                  <a:txBody>
                    <a:bodyPr/>
                    <a:lstStyle/>
                    <a:p>
                      <a:pPr algn="ctr">
                        <a:lnSpc>
                          <a:spcPct val="100000"/>
                        </a:lnSpc>
                        <a:spcBef>
                          <a:spcPts val="600"/>
                        </a:spcBef>
                        <a:spcAft>
                          <a:spcPts val="0"/>
                        </a:spcAft>
                      </a:pPr>
                      <a:r>
                        <a:rPr lang="en-US" sz="2400" kern="100" dirty="0" err="1">
                          <a:effectLst/>
                          <a:latin typeface="黑体" panose="02010609060101010101" pitchFamily="49" charset="-122"/>
                          <a:ea typeface="黑体" panose="02010609060101010101" pitchFamily="49" charset="-122"/>
                        </a:rPr>
                        <a:t>ScrolLock</a:t>
                      </a:r>
                      <a:endParaRPr lang="zh-CN" sz="2400" kern="100" dirty="0">
                        <a:effectLst/>
                        <a:latin typeface="黑体" panose="02010609060101010101" pitchFamily="49" charset="-122"/>
                        <a:ea typeface="黑体" panose="02010609060101010101" pitchFamily="49" charset="-122"/>
                      </a:endParaRP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Bef>
                          <a:spcPts val="600"/>
                        </a:spcBef>
                        <a:spcAft>
                          <a:spcPts val="0"/>
                        </a:spcAft>
                      </a:pPr>
                      <a:r>
                        <a:rPr lang="zh-CN" sz="2400" kern="100" dirty="0">
                          <a:effectLst/>
                          <a:latin typeface="黑体" panose="02010609060101010101" pitchFamily="49" charset="-122"/>
                          <a:ea typeface="黑体" panose="02010609060101010101" pitchFamily="49" charset="-122"/>
                        </a:rPr>
                        <a:t>暂停</a:t>
                      </a:r>
                      <a:r>
                        <a:rPr lang="en-US" sz="2400" kern="100" dirty="0">
                          <a:effectLst/>
                          <a:latin typeface="黑体" panose="02010609060101010101" pitchFamily="49" charset="-122"/>
                          <a:ea typeface="黑体" panose="02010609060101010101" pitchFamily="49" charset="-122"/>
                        </a:rPr>
                        <a:t>/</a:t>
                      </a:r>
                      <a:r>
                        <a:rPr lang="zh-CN" sz="2400" kern="100" dirty="0">
                          <a:effectLst/>
                          <a:latin typeface="黑体" panose="02010609060101010101" pitchFamily="49" charset="-122"/>
                          <a:ea typeface="黑体" panose="02010609060101010101" pitchFamily="49" charset="-122"/>
                        </a:rPr>
                        <a:t>继续屏幕的输出滚动，开关键</a:t>
                      </a: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39577">
                <a:tc>
                  <a:txBody>
                    <a:bodyPr/>
                    <a:lstStyle/>
                    <a:p>
                      <a:pPr algn="ctr">
                        <a:lnSpc>
                          <a:spcPct val="100000"/>
                        </a:lnSpc>
                        <a:spcBef>
                          <a:spcPts val="600"/>
                        </a:spcBef>
                        <a:spcAft>
                          <a:spcPts val="0"/>
                        </a:spcAft>
                      </a:pPr>
                      <a:r>
                        <a:rPr lang="en-US" sz="2400" kern="100" dirty="0" err="1">
                          <a:effectLst/>
                          <a:latin typeface="黑体" panose="02010609060101010101" pitchFamily="49" charset="-122"/>
                          <a:ea typeface="黑体" panose="02010609060101010101" pitchFamily="49" charset="-122"/>
                        </a:rPr>
                        <a:t>Ctrl+Alt+Del</a:t>
                      </a:r>
                      <a:endParaRPr lang="zh-CN" sz="2400" kern="100" dirty="0">
                        <a:effectLst/>
                        <a:latin typeface="黑体" panose="02010609060101010101" pitchFamily="49" charset="-122"/>
                        <a:ea typeface="黑体" panose="02010609060101010101" pitchFamily="49" charset="-122"/>
                      </a:endParaRP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Bef>
                          <a:spcPts val="600"/>
                        </a:spcBef>
                        <a:spcAft>
                          <a:spcPts val="0"/>
                        </a:spcAft>
                      </a:pPr>
                      <a:r>
                        <a:rPr lang="zh-CN" sz="2400" kern="100" dirty="0">
                          <a:effectLst/>
                          <a:latin typeface="黑体" panose="02010609060101010101" pitchFamily="49" charset="-122"/>
                          <a:ea typeface="黑体" panose="02010609060101010101" pitchFamily="49" charset="-122"/>
                        </a:rPr>
                        <a:t>默认动作为重启系统</a:t>
                      </a: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731537">
                <a:tc>
                  <a:txBody>
                    <a:bodyPr/>
                    <a:lstStyle/>
                    <a:p>
                      <a:pPr algn="ctr">
                        <a:lnSpc>
                          <a:spcPct val="100000"/>
                        </a:lnSpc>
                        <a:spcBef>
                          <a:spcPts val="600"/>
                        </a:spcBef>
                        <a:spcAft>
                          <a:spcPts val="0"/>
                        </a:spcAft>
                      </a:pPr>
                      <a:r>
                        <a:rPr lang="en-US" sz="4800" kern="100" dirty="0" err="1">
                          <a:solidFill>
                            <a:schemeClr val="tx1"/>
                          </a:solidFill>
                          <a:effectLst/>
                          <a:latin typeface="黑体" panose="02010609060101010101" pitchFamily="49" charset="-122"/>
                          <a:ea typeface="黑体" panose="02010609060101010101" pitchFamily="49" charset="-122"/>
                          <a:cs typeface="+mn-cs"/>
                        </a:rPr>
                        <a:t>Alt+F</a:t>
                      </a:r>
                      <a:r>
                        <a:rPr lang="en-US" sz="4800" kern="100" dirty="0">
                          <a:solidFill>
                            <a:schemeClr val="tx1"/>
                          </a:solidFill>
                          <a:effectLst/>
                          <a:latin typeface="黑体" panose="02010609060101010101" pitchFamily="49" charset="-122"/>
                          <a:ea typeface="黑体" panose="02010609060101010101" pitchFamily="49" charset="-122"/>
                          <a:cs typeface="+mn-cs"/>
                        </a:rPr>
                        <a:t>#</a:t>
                      </a:r>
                      <a:endParaRPr lang="zh-CN" sz="4800" kern="100" dirty="0">
                        <a:solidFill>
                          <a:schemeClr val="tx1"/>
                        </a:solidFill>
                        <a:effectLst/>
                        <a:latin typeface="黑体" panose="02010609060101010101" pitchFamily="49" charset="-122"/>
                        <a:ea typeface="黑体" panose="02010609060101010101" pitchFamily="49" charset="-122"/>
                        <a:cs typeface="+mn-cs"/>
                      </a:endParaRP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Bef>
                          <a:spcPts val="600"/>
                        </a:spcBef>
                        <a:spcAft>
                          <a:spcPts val="0"/>
                        </a:spcAft>
                      </a:pPr>
                      <a:r>
                        <a:rPr lang="zh-CN" sz="2400" kern="100" dirty="0">
                          <a:effectLst/>
                          <a:latin typeface="黑体" panose="02010609060101010101" pitchFamily="49" charset="-122"/>
                          <a:ea typeface="黑体" panose="02010609060101010101" pitchFamily="49" charset="-122"/>
                        </a:rPr>
                        <a:t>字符终端切换，如</a:t>
                      </a:r>
                      <a:r>
                        <a:rPr lang="en-US" sz="2400" kern="100" dirty="0">
                          <a:effectLst/>
                          <a:latin typeface="黑体" panose="02010609060101010101" pitchFamily="49" charset="-122"/>
                          <a:ea typeface="黑体" panose="02010609060101010101" pitchFamily="49" charset="-122"/>
                        </a:rPr>
                        <a:t>Alt+F2</a:t>
                      </a:r>
                      <a:r>
                        <a:rPr lang="zh-CN" sz="2400" kern="100" dirty="0">
                          <a:effectLst/>
                          <a:latin typeface="黑体" panose="02010609060101010101" pitchFamily="49" charset="-122"/>
                          <a:ea typeface="黑体" panose="02010609060101010101" pitchFamily="49" charset="-122"/>
                        </a:rPr>
                        <a:t>将终端切换至</a:t>
                      </a:r>
                      <a:r>
                        <a:rPr lang="en-US" sz="2400" kern="100" dirty="0">
                          <a:effectLst/>
                          <a:latin typeface="黑体" panose="02010609060101010101" pitchFamily="49" charset="-122"/>
                          <a:ea typeface="黑体" panose="02010609060101010101" pitchFamily="49" charset="-122"/>
                        </a:rPr>
                        <a:t>F2</a:t>
                      </a:r>
                      <a:endParaRPr lang="zh-CN" sz="2400" kern="100" dirty="0">
                        <a:effectLst/>
                        <a:latin typeface="黑体" panose="02010609060101010101" pitchFamily="49" charset="-122"/>
                        <a:ea typeface="黑体" panose="02010609060101010101" pitchFamily="49" charset="-122"/>
                      </a:endParaRP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798691">
                <a:tc>
                  <a:txBody>
                    <a:bodyPr/>
                    <a:lstStyle/>
                    <a:p>
                      <a:pPr algn="ctr">
                        <a:lnSpc>
                          <a:spcPct val="100000"/>
                        </a:lnSpc>
                        <a:spcBef>
                          <a:spcPts val="600"/>
                        </a:spcBef>
                        <a:spcAft>
                          <a:spcPts val="0"/>
                        </a:spcAft>
                      </a:pPr>
                      <a:r>
                        <a:rPr lang="en-US" sz="2400" kern="100" dirty="0" err="1">
                          <a:effectLst/>
                          <a:latin typeface="黑体" panose="02010609060101010101" pitchFamily="49" charset="-122"/>
                          <a:ea typeface="黑体" panose="02010609060101010101" pitchFamily="49" charset="-122"/>
                        </a:rPr>
                        <a:t>Ctrl+Alt+F</a:t>
                      </a:r>
                      <a:r>
                        <a:rPr lang="en-US" sz="2400" kern="100" dirty="0">
                          <a:effectLst/>
                          <a:latin typeface="黑体" panose="02010609060101010101" pitchFamily="49" charset="-122"/>
                          <a:ea typeface="黑体" panose="02010609060101010101" pitchFamily="49" charset="-122"/>
                        </a:rPr>
                        <a:t>#</a:t>
                      </a:r>
                      <a:endParaRPr lang="zh-CN" sz="2400" kern="100" dirty="0">
                        <a:effectLst/>
                        <a:latin typeface="黑体" panose="02010609060101010101" pitchFamily="49" charset="-122"/>
                        <a:ea typeface="黑体" panose="02010609060101010101" pitchFamily="49" charset="-122"/>
                      </a:endParaRP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Bef>
                          <a:spcPts val="600"/>
                        </a:spcBef>
                        <a:spcAft>
                          <a:spcPts val="0"/>
                        </a:spcAft>
                      </a:pPr>
                      <a:r>
                        <a:rPr lang="zh-CN" sz="2400" kern="100" dirty="0">
                          <a:effectLst/>
                          <a:latin typeface="黑体" panose="02010609060101010101" pitchFamily="49" charset="-122"/>
                          <a:ea typeface="黑体" panose="02010609060101010101" pitchFamily="49" charset="-122"/>
                        </a:rPr>
                        <a:t>从图形界面切换终端到字符终端，如</a:t>
                      </a:r>
                      <a:r>
                        <a:rPr lang="en-US" sz="2400" kern="100" dirty="0">
                          <a:effectLst/>
                          <a:latin typeface="黑体" panose="02010609060101010101" pitchFamily="49" charset="-122"/>
                          <a:ea typeface="黑体" panose="02010609060101010101" pitchFamily="49" charset="-122"/>
                        </a:rPr>
                        <a:t>Ctrl+Alt+F1</a:t>
                      </a:r>
                      <a:r>
                        <a:rPr lang="zh-CN" sz="2400" kern="100" dirty="0">
                          <a:effectLst/>
                          <a:latin typeface="黑体" panose="02010609060101010101" pitchFamily="49" charset="-122"/>
                          <a:ea typeface="黑体" panose="02010609060101010101" pitchFamily="49" charset="-122"/>
                        </a:rPr>
                        <a:t>从图形界面切换至</a:t>
                      </a:r>
                      <a:r>
                        <a:rPr lang="en-US" sz="2400" kern="100" dirty="0">
                          <a:effectLst/>
                          <a:latin typeface="黑体" panose="02010609060101010101" pitchFamily="49" charset="-122"/>
                          <a:ea typeface="黑体" panose="02010609060101010101" pitchFamily="49" charset="-122"/>
                        </a:rPr>
                        <a:t>F1</a:t>
                      </a:r>
                      <a:endParaRPr lang="zh-CN" sz="2400" kern="100" dirty="0">
                        <a:effectLst/>
                        <a:latin typeface="黑体" panose="02010609060101010101" pitchFamily="49" charset="-122"/>
                        <a:ea typeface="黑体" panose="02010609060101010101" pitchFamily="49" charset="-122"/>
                      </a:endParaRPr>
                    </a:p>
                  </a:txBody>
                  <a:tcPr marL="68573" marR="6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668EF31F-6F45-C40F-C692-28B9CF3C11FB}"/>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17411" name="矩形 2">
            <a:extLst>
              <a:ext uri="{FF2B5EF4-FFF2-40B4-BE49-F238E27FC236}">
                <a16:creationId xmlns:a16="http://schemas.microsoft.com/office/drawing/2014/main" id="{DE091BFC-BC9F-E21C-1641-B7A4731BF376}"/>
              </a:ext>
            </a:extLst>
          </p:cNvPr>
          <p:cNvSpPr>
            <a:spLocks noChangeArrowheads="1"/>
          </p:cNvSpPr>
          <p:nvPr/>
        </p:nvSpPr>
        <p:spPr bwMode="auto">
          <a:xfrm>
            <a:off x="7092950" y="0"/>
            <a:ext cx="18081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a:t>3</a:t>
            </a:r>
            <a:r>
              <a:rPr lang="zh-CN" altLang="zh-CN"/>
              <a:t>．保留字</a:t>
            </a:r>
            <a:endParaRPr lang="zh-CN" altLang="en-US"/>
          </a:p>
        </p:txBody>
      </p:sp>
      <p:sp>
        <p:nvSpPr>
          <p:cNvPr id="17412" name="矩形 3">
            <a:extLst>
              <a:ext uri="{FF2B5EF4-FFF2-40B4-BE49-F238E27FC236}">
                <a16:creationId xmlns:a16="http://schemas.microsoft.com/office/drawing/2014/main" id="{BFE4C750-6D71-DE5D-1EB8-73187F3270A7}"/>
              </a:ext>
            </a:extLst>
          </p:cNvPr>
          <p:cNvSpPr>
            <a:spLocks noChangeArrowheads="1"/>
          </p:cNvSpPr>
          <p:nvPr/>
        </p:nvSpPr>
        <p:spPr bwMode="auto">
          <a:xfrm>
            <a:off x="250825" y="692150"/>
            <a:ext cx="8713788" cy="501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break</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continue</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cd</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echo</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eval</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exec</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exit</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export</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function</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getopts</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hash</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pwd</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read</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readonly</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return</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select</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set</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shift</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test</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time</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trap</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type</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ulimit</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unset</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umask</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wait</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for</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do</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done</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case</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in</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esac</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if</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else</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elif</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fi</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while</a:t>
            </a:r>
            <a:r>
              <a:rPr lang="zh-CN" altLang="zh-CN" sz="4000">
                <a:latin typeface="Times New Roman" panose="02020603050405020304" pitchFamily="18" charset="0"/>
                <a:cs typeface="Times New Roman" panose="02020603050405020304" pitchFamily="18" charset="0"/>
              </a:rPr>
              <a:t>，</a:t>
            </a:r>
            <a:r>
              <a:rPr lang="en-US" altLang="zh-CN" sz="4000">
                <a:latin typeface="Times New Roman" panose="02020603050405020304" pitchFamily="18" charset="0"/>
                <a:cs typeface="Times New Roman" panose="02020603050405020304" pitchFamily="18" charset="0"/>
              </a:rPr>
              <a:t>until</a:t>
            </a:r>
            <a:r>
              <a:rPr lang="zh-CN" altLang="zh-CN" sz="4000">
                <a:latin typeface="Times New Roman" panose="02020603050405020304" pitchFamily="18" charset="0"/>
                <a:cs typeface="Times New Roman" panose="02020603050405020304" pitchFamily="18" charset="0"/>
              </a:rPr>
              <a:t>。</a:t>
            </a:r>
            <a:endParaRPr lang="zh-CN" altLang="en-US" sz="40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A6313A47-86EE-CFEC-7007-58989C5A44B0}"/>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18435" name="矩形 2">
            <a:extLst>
              <a:ext uri="{FF2B5EF4-FFF2-40B4-BE49-F238E27FC236}">
                <a16:creationId xmlns:a16="http://schemas.microsoft.com/office/drawing/2014/main" id="{85CEDE7A-6BDF-A577-65AA-1D1E860AB61D}"/>
              </a:ext>
            </a:extLst>
          </p:cNvPr>
          <p:cNvSpPr>
            <a:spLocks noChangeArrowheads="1"/>
          </p:cNvSpPr>
          <p:nvPr/>
        </p:nvSpPr>
        <p:spPr bwMode="auto">
          <a:xfrm>
            <a:off x="109538" y="476250"/>
            <a:ext cx="4949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a:t>3.1.3  </a:t>
            </a:r>
            <a:r>
              <a:rPr lang="zh-CN" altLang="zh-CN"/>
              <a:t>文件命名及文件类型</a:t>
            </a:r>
            <a:endParaRPr lang="zh-CN" altLang="en-US"/>
          </a:p>
        </p:txBody>
      </p:sp>
      <p:sp>
        <p:nvSpPr>
          <p:cNvPr id="18436" name="矩形 3">
            <a:extLst>
              <a:ext uri="{FF2B5EF4-FFF2-40B4-BE49-F238E27FC236}">
                <a16:creationId xmlns:a16="http://schemas.microsoft.com/office/drawing/2014/main" id="{B8299FF6-8C42-8F13-CBA3-87500E8BD5D6}"/>
              </a:ext>
            </a:extLst>
          </p:cNvPr>
          <p:cNvSpPr>
            <a:spLocks noChangeArrowheads="1"/>
          </p:cNvSpPr>
          <p:nvPr/>
        </p:nvSpPr>
        <p:spPr bwMode="auto">
          <a:xfrm>
            <a:off x="109538" y="1000125"/>
            <a:ext cx="28844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a:t>1</a:t>
            </a:r>
            <a:r>
              <a:rPr lang="zh-CN" altLang="zh-CN"/>
              <a:t>．文件与文件名</a:t>
            </a:r>
            <a:endParaRPr lang="zh-CN" altLang="en-US"/>
          </a:p>
        </p:txBody>
      </p:sp>
      <p:sp>
        <p:nvSpPr>
          <p:cNvPr id="18437" name="矩形 4">
            <a:extLst>
              <a:ext uri="{FF2B5EF4-FFF2-40B4-BE49-F238E27FC236}">
                <a16:creationId xmlns:a16="http://schemas.microsoft.com/office/drawing/2014/main" id="{35501884-83F0-C02D-AFD1-1FC7D4CBD88F}"/>
              </a:ext>
            </a:extLst>
          </p:cNvPr>
          <p:cNvSpPr>
            <a:spLocks noChangeArrowheads="1"/>
          </p:cNvSpPr>
          <p:nvPr/>
        </p:nvSpPr>
        <p:spPr bwMode="auto">
          <a:xfrm>
            <a:off x="-6350" y="1476375"/>
            <a:ext cx="9102725"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4000"/>
              <a:t>UNIX/Linux</a:t>
            </a:r>
            <a:r>
              <a:rPr lang="zh-CN" altLang="zh-CN" sz="4000"/>
              <a:t>的文件均为</a:t>
            </a:r>
            <a:r>
              <a:rPr lang="zh-CN" altLang="zh-CN" sz="4000">
                <a:solidFill>
                  <a:srgbClr val="FF0000"/>
                </a:solidFill>
              </a:rPr>
              <a:t>无结构的字符流</a:t>
            </a:r>
            <a:r>
              <a:rPr lang="zh-CN" altLang="en-US" sz="1800">
                <a:solidFill>
                  <a:srgbClr val="FF0000"/>
                </a:solidFill>
              </a:rPr>
              <a:t>。</a:t>
            </a:r>
            <a:endParaRPr lang="en-US" altLang="zh-CN" sz="1800">
              <a:solidFill>
                <a:srgbClr val="FF0000"/>
              </a:solidFill>
            </a:endParaRPr>
          </a:p>
          <a:p>
            <a:r>
              <a:rPr lang="zh-CN" altLang="zh-CN" sz="4000">
                <a:solidFill>
                  <a:srgbClr val="FF0000"/>
                </a:solidFill>
              </a:rPr>
              <a:t>文件名是文件的一种标识</a:t>
            </a:r>
            <a:r>
              <a:rPr lang="zh-CN" altLang="zh-CN" sz="4000"/>
              <a:t>，一般情况下，它由</a:t>
            </a:r>
            <a:r>
              <a:rPr lang="zh-CN" altLang="zh-CN" sz="4000">
                <a:solidFill>
                  <a:srgbClr val="FF0000"/>
                </a:solidFill>
              </a:rPr>
              <a:t>字母、数字、下画线和圆点</a:t>
            </a:r>
            <a:r>
              <a:rPr lang="zh-CN" altLang="zh-CN" sz="4000"/>
              <a:t>组成的字符串构成。</a:t>
            </a:r>
            <a:r>
              <a:rPr lang="en-US" altLang="zh-CN" sz="4000"/>
              <a:t>Linux</a:t>
            </a:r>
            <a:r>
              <a:rPr lang="zh-CN" altLang="zh-CN" sz="4000"/>
              <a:t>支持长文件名，但限制在</a:t>
            </a:r>
            <a:r>
              <a:rPr lang="en-US" altLang="zh-CN" sz="4000">
                <a:solidFill>
                  <a:srgbClr val="FF0000"/>
                </a:solidFill>
              </a:rPr>
              <a:t>255</a:t>
            </a:r>
            <a:r>
              <a:rPr lang="zh-CN" altLang="zh-CN" sz="4000">
                <a:solidFill>
                  <a:srgbClr val="FF0000"/>
                </a:solidFill>
              </a:rPr>
              <a:t>个</a:t>
            </a:r>
            <a:r>
              <a:rPr lang="zh-CN" altLang="zh-CN" sz="4000"/>
              <a:t>字符以内。为了便于管理和识别，用户可以把</a:t>
            </a:r>
            <a:r>
              <a:rPr lang="zh-CN" altLang="zh-CN" sz="4000">
                <a:solidFill>
                  <a:srgbClr val="FF0000"/>
                </a:solidFill>
              </a:rPr>
              <a:t>扩展名</a:t>
            </a:r>
            <a:r>
              <a:rPr lang="zh-CN" altLang="zh-CN" sz="4000"/>
              <a:t>作为文件名的一部分，用圆点</a:t>
            </a:r>
            <a:r>
              <a:rPr lang="zh-CN" altLang="zh-CN" sz="4000">
                <a:solidFill>
                  <a:srgbClr val="FF0000"/>
                </a:solidFill>
              </a:rPr>
              <a:t>“</a:t>
            </a:r>
            <a:r>
              <a:rPr lang="en-US" altLang="zh-CN" sz="4000">
                <a:solidFill>
                  <a:srgbClr val="FF0000"/>
                </a:solidFill>
              </a:rPr>
              <a:t>.</a:t>
            </a:r>
            <a:r>
              <a:rPr lang="zh-CN" altLang="zh-CN" sz="4000">
                <a:solidFill>
                  <a:srgbClr val="FF0000"/>
                </a:solidFill>
              </a:rPr>
              <a:t>”</a:t>
            </a:r>
            <a:r>
              <a:rPr lang="zh-CN" altLang="zh-CN" sz="4000"/>
              <a:t>区分文件名和扩展名。</a:t>
            </a:r>
            <a:endParaRPr lang="zh-CN" altLang="en-US" sz="4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006F5757-0DFA-AAC8-03EC-C1718100EA22}"/>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19459" name="矩形 2">
            <a:extLst>
              <a:ext uri="{FF2B5EF4-FFF2-40B4-BE49-F238E27FC236}">
                <a16:creationId xmlns:a16="http://schemas.microsoft.com/office/drawing/2014/main" id="{71B27BEB-2BF3-1D44-A9F4-9BB70C7ECBC2}"/>
              </a:ext>
            </a:extLst>
          </p:cNvPr>
          <p:cNvSpPr>
            <a:spLocks noChangeArrowheads="1"/>
          </p:cNvSpPr>
          <p:nvPr/>
        </p:nvSpPr>
        <p:spPr bwMode="auto">
          <a:xfrm>
            <a:off x="539750" y="636588"/>
            <a:ext cx="3297238"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4400"/>
              <a:t>2</a:t>
            </a:r>
            <a:r>
              <a:rPr lang="zh-CN" altLang="zh-CN" sz="4400"/>
              <a:t>．文件类型</a:t>
            </a:r>
            <a:endParaRPr lang="zh-CN" altLang="en-US" sz="4400"/>
          </a:p>
        </p:txBody>
      </p:sp>
      <p:sp>
        <p:nvSpPr>
          <p:cNvPr id="19460" name="矩形 3">
            <a:extLst>
              <a:ext uri="{FF2B5EF4-FFF2-40B4-BE49-F238E27FC236}">
                <a16:creationId xmlns:a16="http://schemas.microsoft.com/office/drawing/2014/main" id="{92B7C20F-041D-B313-1742-953CDCE3A6CE}"/>
              </a:ext>
            </a:extLst>
          </p:cNvPr>
          <p:cNvSpPr>
            <a:spLocks noChangeArrowheads="1"/>
          </p:cNvSpPr>
          <p:nvPr/>
        </p:nvSpPr>
        <p:spPr bwMode="auto">
          <a:xfrm>
            <a:off x="107950" y="1406525"/>
            <a:ext cx="8496300"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4800"/>
              <a:t>UNIX/Linux</a:t>
            </a:r>
            <a:r>
              <a:rPr lang="zh-CN" altLang="zh-CN" sz="4800"/>
              <a:t>系统中有</a:t>
            </a:r>
            <a:r>
              <a:rPr lang="zh-CN" altLang="zh-CN" sz="4800">
                <a:solidFill>
                  <a:srgbClr val="FF0000"/>
                </a:solidFill>
              </a:rPr>
              <a:t>三种</a:t>
            </a:r>
            <a:r>
              <a:rPr lang="zh-CN" altLang="zh-CN" sz="4800"/>
              <a:t>基本的文件类型：</a:t>
            </a:r>
            <a:endParaRPr lang="en-US" altLang="zh-CN" sz="4800"/>
          </a:p>
          <a:p>
            <a:r>
              <a:rPr lang="zh-CN" altLang="zh-CN" sz="4800">
                <a:solidFill>
                  <a:srgbClr val="FF0000"/>
                </a:solidFill>
              </a:rPr>
              <a:t>普通文件</a:t>
            </a:r>
            <a:endParaRPr lang="en-US" altLang="zh-CN" sz="4800">
              <a:solidFill>
                <a:srgbClr val="FF0000"/>
              </a:solidFill>
            </a:endParaRPr>
          </a:p>
          <a:p>
            <a:r>
              <a:rPr lang="zh-CN" altLang="zh-CN" sz="4800">
                <a:solidFill>
                  <a:srgbClr val="FF0000"/>
                </a:solidFill>
              </a:rPr>
              <a:t>目录文件</a:t>
            </a:r>
            <a:endParaRPr lang="en-US" altLang="zh-CN" sz="4800">
              <a:solidFill>
                <a:srgbClr val="FF0000"/>
              </a:solidFill>
            </a:endParaRPr>
          </a:p>
          <a:p>
            <a:r>
              <a:rPr lang="zh-CN" altLang="zh-CN" sz="4800">
                <a:solidFill>
                  <a:srgbClr val="FF0000"/>
                </a:solidFill>
              </a:rPr>
              <a:t>设备文件</a:t>
            </a:r>
          </a:p>
        </p:txBody>
      </p:sp>
      <p:pic>
        <p:nvPicPr>
          <p:cNvPr id="2" name="图片 1">
            <a:extLst>
              <a:ext uri="{FF2B5EF4-FFF2-40B4-BE49-F238E27FC236}">
                <a16:creationId xmlns:a16="http://schemas.microsoft.com/office/drawing/2014/main" id="{1B9AFB3E-053A-68EF-99CE-F21D55F12BF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49550" y="3141663"/>
            <a:ext cx="6289675"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31CA9402-F869-3D34-93D7-E80645396FA9}"/>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20483" name="矩形 2">
            <a:extLst>
              <a:ext uri="{FF2B5EF4-FFF2-40B4-BE49-F238E27FC236}">
                <a16:creationId xmlns:a16="http://schemas.microsoft.com/office/drawing/2014/main" id="{4F4A3A55-E197-3252-57CE-F54EFB1EAC02}"/>
              </a:ext>
            </a:extLst>
          </p:cNvPr>
          <p:cNvSpPr>
            <a:spLocks noChangeArrowheads="1"/>
          </p:cNvSpPr>
          <p:nvPr/>
        </p:nvSpPr>
        <p:spPr bwMode="auto">
          <a:xfrm>
            <a:off x="7380288" y="0"/>
            <a:ext cx="1627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a:t>普通文件</a:t>
            </a:r>
            <a:endParaRPr lang="zh-CN" altLang="en-US"/>
          </a:p>
        </p:txBody>
      </p:sp>
      <p:sp>
        <p:nvSpPr>
          <p:cNvPr id="20484" name="矩形 3">
            <a:extLst>
              <a:ext uri="{FF2B5EF4-FFF2-40B4-BE49-F238E27FC236}">
                <a16:creationId xmlns:a16="http://schemas.microsoft.com/office/drawing/2014/main" id="{3204BD41-2C99-07B7-B9CB-9224915E5E2A}"/>
              </a:ext>
            </a:extLst>
          </p:cNvPr>
          <p:cNvSpPr>
            <a:spLocks noChangeArrowheads="1"/>
          </p:cNvSpPr>
          <p:nvPr/>
        </p:nvSpPr>
        <p:spPr bwMode="auto">
          <a:xfrm>
            <a:off x="468313" y="796925"/>
            <a:ext cx="8351837"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000">
                <a:latin typeface="黑体" panose="02010609060101010101" pitchFamily="49" charset="-122"/>
                <a:ea typeface="黑体" panose="02010609060101010101" pitchFamily="49" charset="-122"/>
              </a:rPr>
              <a:t>普通文件</a:t>
            </a:r>
            <a:r>
              <a:rPr lang="zh-CN" altLang="zh-CN" sz="4000"/>
              <a:t>是用于</a:t>
            </a:r>
            <a:r>
              <a:rPr lang="zh-CN" altLang="zh-CN" sz="4000">
                <a:latin typeface="黑体" panose="02010609060101010101" pitchFamily="49" charset="-122"/>
                <a:ea typeface="黑体" panose="02010609060101010101" pitchFamily="49" charset="-122"/>
              </a:rPr>
              <a:t>存放数据</a:t>
            </a:r>
            <a:r>
              <a:rPr lang="zh-CN" altLang="zh-CN" sz="4000"/>
              <a:t>的文件。</a:t>
            </a:r>
          </a:p>
          <a:p>
            <a:r>
              <a:rPr lang="zh-CN" altLang="zh-CN" sz="4000">
                <a:latin typeface="黑体" panose="02010609060101010101" pitchFamily="49" charset="-122"/>
                <a:ea typeface="黑体" panose="02010609060101010101" pitchFamily="49" charset="-122"/>
              </a:rPr>
              <a:t>文本文件</a:t>
            </a:r>
            <a:r>
              <a:rPr lang="zh-CN" altLang="zh-CN" sz="4000"/>
              <a:t>：以可阅读的</a:t>
            </a:r>
            <a:r>
              <a:rPr lang="en-US" altLang="zh-CN" sz="4000"/>
              <a:t>ASCII</a:t>
            </a:r>
            <a:r>
              <a:rPr lang="zh-CN" altLang="zh-CN" sz="4000"/>
              <a:t>码形式存储，大多数情况下，是以“行”为基本结构的。</a:t>
            </a:r>
          </a:p>
          <a:p>
            <a:r>
              <a:rPr lang="zh-CN" altLang="zh-CN" sz="4000">
                <a:latin typeface="黑体" panose="02010609060101010101" pitchFamily="49" charset="-122"/>
                <a:ea typeface="黑体" panose="02010609060101010101" pitchFamily="49" charset="-122"/>
              </a:rPr>
              <a:t>二进制文件</a:t>
            </a:r>
            <a:r>
              <a:rPr lang="zh-CN" altLang="zh-CN" sz="4000"/>
              <a:t>：是</a:t>
            </a:r>
            <a:r>
              <a:rPr lang="zh-CN" altLang="en-US" sz="4000"/>
              <a:t>人们</a:t>
            </a:r>
            <a:r>
              <a:rPr lang="zh-CN" altLang="zh-CN" sz="4000"/>
              <a:t>一般不能直接读懂，只有通过相应的软件才能对其进行操作</a:t>
            </a:r>
            <a:r>
              <a:rPr lang="zh-CN" altLang="en-US" sz="4000"/>
              <a:t>的</a:t>
            </a:r>
            <a:r>
              <a:rPr lang="zh-CN" altLang="zh-CN" sz="4000"/>
              <a:t>文件。一般是经编译程序编译后生成的可执行程序、图形、图像或声音等。</a:t>
            </a:r>
            <a:endParaRPr lang="zh-CN" altLang="en-US" sz="4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1D5DFBD3-FD2F-FA37-E15A-8945F24C2C31}"/>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21507" name="矩形 2">
            <a:extLst>
              <a:ext uri="{FF2B5EF4-FFF2-40B4-BE49-F238E27FC236}">
                <a16:creationId xmlns:a16="http://schemas.microsoft.com/office/drawing/2014/main" id="{37AAC757-CC9C-99C0-F0A5-E6C327CD9372}"/>
              </a:ext>
            </a:extLst>
          </p:cNvPr>
          <p:cNvSpPr>
            <a:spLocks noChangeArrowheads="1"/>
          </p:cNvSpPr>
          <p:nvPr/>
        </p:nvSpPr>
        <p:spPr bwMode="auto">
          <a:xfrm>
            <a:off x="7308850" y="0"/>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a:t>目录文件</a:t>
            </a:r>
            <a:endParaRPr lang="zh-CN" altLang="en-US"/>
          </a:p>
        </p:txBody>
      </p:sp>
      <p:sp>
        <p:nvSpPr>
          <p:cNvPr id="21508" name="矩形 3">
            <a:extLst>
              <a:ext uri="{FF2B5EF4-FFF2-40B4-BE49-F238E27FC236}">
                <a16:creationId xmlns:a16="http://schemas.microsoft.com/office/drawing/2014/main" id="{7DCE501D-0741-36ED-57A0-53CB943918A8}"/>
              </a:ext>
            </a:extLst>
          </p:cNvPr>
          <p:cNvSpPr>
            <a:spLocks noChangeArrowheads="1"/>
          </p:cNvSpPr>
          <p:nvPr/>
        </p:nvSpPr>
        <p:spPr bwMode="auto">
          <a:xfrm>
            <a:off x="323850" y="796925"/>
            <a:ext cx="882015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000">
                <a:latin typeface="黑体" panose="02010609060101010101" pitchFamily="49" charset="-122"/>
                <a:ea typeface="黑体" panose="02010609060101010101" pitchFamily="49" charset="-122"/>
              </a:rPr>
              <a:t>目录文件</a:t>
            </a:r>
            <a:r>
              <a:rPr lang="zh-CN" altLang="zh-CN" sz="4000"/>
              <a:t>用于存储一组相关的文件项信息或文件说明信息，其中包括文件名及其属性的信息。</a:t>
            </a:r>
            <a:endParaRPr lang="en-US" altLang="zh-CN" sz="4000"/>
          </a:p>
          <a:p>
            <a:r>
              <a:rPr lang="zh-CN" altLang="zh-CN" sz="4000"/>
              <a:t>在</a:t>
            </a:r>
            <a:r>
              <a:rPr lang="en-US" altLang="zh-CN" sz="4000"/>
              <a:t>UNIX/Linux</a:t>
            </a:r>
            <a:r>
              <a:rPr lang="zh-CN" altLang="zh-CN" sz="4000"/>
              <a:t>系统中</a:t>
            </a:r>
            <a:r>
              <a:rPr lang="zh-CN" altLang="en-US" sz="4000"/>
              <a:t>，</a:t>
            </a:r>
            <a:r>
              <a:rPr lang="zh-CN" altLang="zh-CN" sz="4000">
                <a:latin typeface="黑体" panose="02010609060101010101" pitchFamily="49" charset="-122"/>
                <a:ea typeface="黑体" panose="02010609060101010101" pitchFamily="49" charset="-122"/>
              </a:rPr>
              <a:t>目录只包括文件名</a:t>
            </a:r>
            <a:r>
              <a:rPr lang="zh-CN" altLang="zh-CN" sz="4000"/>
              <a:t>和</a:t>
            </a:r>
            <a:r>
              <a:rPr lang="en-US" altLang="zh-CN" sz="4000">
                <a:solidFill>
                  <a:srgbClr val="FF0000"/>
                </a:solidFill>
                <a:latin typeface="Times New Roman" panose="02020603050405020304" pitchFamily="18" charset="0"/>
                <a:cs typeface="Times New Roman" panose="02020603050405020304" pitchFamily="18" charset="0"/>
              </a:rPr>
              <a:t>i</a:t>
            </a:r>
            <a:r>
              <a:rPr lang="zh-CN" altLang="zh-CN" sz="4000">
                <a:solidFill>
                  <a:srgbClr val="FF0000"/>
                </a:solidFill>
                <a:latin typeface="Times New Roman" panose="02020603050405020304" pitchFamily="18" charset="0"/>
                <a:cs typeface="Times New Roman" panose="02020603050405020304" pitchFamily="18" charset="0"/>
              </a:rPr>
              <a:t>节点号</a:t>
            </a:r>
            <a:r>
              <a:rPr lang="zh-CN" altLang="zh-CN" sz="4000"/>
              <a:t>等相关信息，而文件的</a:t>
            </a:r>
            <a:r>
              <a:rPr lang="zh-CN" altLang="zh-CN" sz="4000">
                <a:latin typeface="黑体" panose="02010609060101010101" pitchFamily="49" charset="-122"/>
                <a:ea typeface="黑体" panose="02010609060101010101" pitchFamily="49" charset="-122"/>
              </a:rPr>
              <a:t>属性信息保存在</a:t>
            </a:r>
            <a:r>
              <a:rPr lang="en-US" altLang="zh-CN" sz="4000">
                <a:latin typeface="黑体" panose="02010609060101010101" pitchFamily="49" charset="-122"/>
                <a:ea typeface="黑体" panose="02010609060101010101" pitchFamily="49" charset="-122"/>
              </a:rPr>
              <a:t>i</a:t>
            </a:r>
            <a:r>
              <a:rPr lang="zh-CN" altLang="zh-CN" sz="4000">
                <a:latin typeface="黑体" panose="02010609060101010101" pitchFamily="49" charset="-122"/>
                <a:ea typeface="黑体" panose="02010609060101010101" pitchFamily="49" charset="-122"/>
              </a:rPr>
              <a:t>节点信息中</a:t>
            </a:r>
            <a:r>
              <a:rPr lang="zh-CN" altLang="zh-CN" sz="4000"/>
              <a:t>。</a:t>
            </a:r>
            <a:endParaRPr lang="en-US" altLang="zh-CN" sz="4000"/>
          </a:p>
          <a:p>
            <a:r>
              <a:rPr lang="zh-CN" altLang="zh-CN" sz="4000"/>
              <a:t>目录文件在形式上同普通文件一样，但具有目录属性，只能</a:t>
            </a:r>
            <a:r>
              <a:rPr lang="zh-CN" altLang="zh-CN" sz="4000">
                <a:latin typeface="黑体" panose="02010609060101010101" pitchFamily="49" charset="-122"/>
                <a:ea typeface="黑体" panose="02010609060101010101" pitchFamily="49" charset="-122"/>
              </a:rPr>
              <a:t>用目录管理命令来访问和管理。</a:t>
            </a:r>
            <a:endParaRPr lang="zh-CN" altLang="en-US" sz="4000">
              <a:latin typeface="黑体" panose="02010609060101010101" pitchFamily="49" charset="-122"/>
              <a:ea typeface="黑体" panose="02010609060101010101" pitchFamily="49" charset="-122"/>
            </a:endParaRPr>
          </a:p>
        </p:txBody>
      </p:sp>
      <p:pic>
        <p:nvPicPr>
          <p:cNvPr id="7" name="图片 6">
            <a:extLst>
              <a:ext uri="{FF2B5EF4-FFF2-40B4-BE49-F238E27FC236}">
                <a16:creationId xmlns:a16="http://schemas.microsoft.com/office/drawing/2014/main" id="{0C65C18E-1199-A3BA-795A-2354DAF380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42888"/>
            <a:ext cx="8374063" cy="3038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AE288CDD-03F1-8B02-9916-2C79BFADD86B}"/>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22531" name="矩形 2">
            <a:extLst>
              <a:ext uri="{FF2B5EF4-FFF2-40B4-BE49-F238E27FC236}">
                <a16:creationId xmlns:a16="http://schemas.microsoft.com/office/drawing/2014/main" id="{D9EE259C-A266-398C-2C5B-C54A93565DE2}"/>
              </a:ext>
            </a:extLst>
          </p:cNvPr>
          <p:cNvSpPr>
            <a:spLocks noChangeArrowheads="1"/>
          </p:cNvSpPr>
          <p:nvPr/>
        </p:nvSpPr>
        <p:spPr bwMode="auto">
          <a:xfrm>
            <a:off x="6443663" y="0"/>
            <a:ext cx="28908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en-US"/>
              <a:t>关于目录的说明 </a:t>
            </a:r>
          </a:p>
        </p:txBody>
      </p:sp>
      <p:sp>
        <p:nvSpPr>
          <p:cNvPr id="22532" name="矩形 3">
            <a:extLst>
              <a:ext uri="{FF2B5EF4-FFF2-40B4-BE49-F238E27FC236}">
                <a16:creationId xmlns:a16="http://schemas.microsoft.com/office/drawing/2014/main" id="{35B74DE6-CAC2-7185-E696-86630A19D21A}"/>
              </a:ext>
            </a:extLst>
          </p:cNvPr>
          <p:cNvSpPr>
            <a:spLocks noChangeArrowheads="1"/>
          </p:cNvSpPr>
          <p:nvPr/>
        </p:nvSpPr>
        <p:spPr bwMode="auto">
          <a:xfrm>
            <a:off x="0" y="476250"/>
            <a:ext cx="9144000" cy="600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400"/>
              <a:t>一个目录文件内至少要有</a:t>
            </a:r>
            <a:r>
              <a:rPr lang="zh-CN" altLang="zh-CN" sz="4400">
                <a:solidFill>
                  <a:srgbClr val="FF0000"/>
                </a:solidFill>
                <a:latin typeface="黑体" panose="02010609060101010101" pitchFamily="49" charset="-122"/>
                <a:ea typeface="黑体" panose="02010609060101010101" pitchFamily="49" charset="-122"/>
              </a:rPr>
              <a:t>两个文件项：</a:t>
            </a:r>
            <a:endParaRPr lang="en-US" altLang="zh-CN" sz="4400">
              <a:solidFill>
                <a:srgbClr val="FF0000"/>
              </a:solidFill>
              <a:latin typeface="黑体" panose="02010609060101010101" pitchFamily="49" charset="-122"/>
              <a:ea typeface="黑体" panose="02010609060101010101" pitchFamily="49" charset="-122"/>
            </a:endParaRPr>
          </a:p>
          <a:p>
            <a:r>
              <a:rPr lang="en-US" altLang="zh-CN" sz="6000">
                <a:solidFill>
                  <a:srgbClr val="FF0000"/>
                </a:solidFill>
              </a:rPr>
              <a:t> .  </a:t>
            </a:r>
            <a:r>
              <a:rPr lang="zh-CN" altLang="zh-CN" sz="4400"/>
              <a:t>—</a:t>
            </a:r>
            <a:r>
              <a:rPr lang="zh-CN" altLang="zh-CN" sz="4400">
                <a:latin typeface="黑体" panose="02010609060101010101" pitchFamily="49" charset="-122"/>
                <a:ea typeface="黑体" panose="02010609060101010101" pitchFamily="49" charset="-122"/>
              </a:rPr>
              <a:t>当前</a:t>
            </a:r>
            <a:r>
              <a:rPr lang="zh-CN" altLang="zh-CN" sz="4400"/>
              <a:t>目录；</a:t>
            </a:r>
            <a:endParaRPr lang="en-US" altLang="zh-CN" sz="4400"/>
          </a:p>
          <a:p>
            <a:r>
              <a:rPr lang="en-US" altLang="zh-CN" sz="6000">
                <a:solidFill>
                  <a:srgbClr val="FF0000"/>
                </a:solidFill>
              </a:rPr>
              <a:t>..</a:t>
            </a:r>
            <a:r>
              <a:rPr lang="zh-CN" altLang="zh-CN" sz="6000">
                <a:solidFill>
                  <a:srgbClr val="FF0000"/>
                </a:solidFill>
              </a:rPr>
              <a:t> </a:t>
            </a:r>
            <a:r>
              <a:rPr lang="en-US" altLang="zh-CN" sz="4400"/>
              <a:t> </a:t>
            </a:r>
            <a:r>
              <a:rPr lang="zh-CN" altLang="zh-CN" sz="4400"/>
              <a:t>—</a:t>
            </a:r>
            <a:r>
              <a:rPr lang="zh-CN" altLang="zh-CN" sz="4400">
                <a:latin typeface="黑体" panose="02010609060101010101" pitchFamily="49" charset="-122"/>
                <a:ea typeface="黑体" panose="02010609060101010101" pitchFamily="49" charset="-122"/>
              </a:rPr>
              <a:t>上级</a:t>
            </a:r>
            <a:r>
              <a:rPr lang="zh-CN" altLang="zh-CN" sz="4400"/>
              <a:t>目录。</a:t>
            </a:r>
          </a:p>
          <a:p>
            <a:r>
              <a:rPr lang="zh-CN" altLang="zh-CN" sz="4400"/>
              <a:t>目录文件简称为目录或子目录，在图形界面下称为文件夹。</a:t>
            </a:r>
            <a:r>
              <a:rPr lang="en-US" altLang="zh-CN" sz="4400">
                <a:solidFill>
                  <a:srgbClr val="FF0000"/>
                </a:solidFill>
              </a:rPr>
              <a:t>(</a:t>
            </a:r>
            <a:r>
              <a:rPr lang="zh-CN" altLang="en-US" sz="4400">
                <a:solidFill>
                  <a:srgbClr val="FF0000"/>
                </a:solidFill>
              </a:rPr>
              <a:t>根目录</a:t>
            </a:r>
            <a:r>
              <a:rPr lang="en-US" altLang="zh-CN" sz="4400">
                <a:solidFill>
                  <a:srgbClr val="FF0000"/>
                </a:solidFill>
              </a:rPr>
              <a:t>)</a:t>
            </a:r>
          </a:p>
          <a:p>
            <a:r>
              <a:rPr lang="zh-CN" altLang="zh-CN" sz="4400"/>
              <a:t>因为目录也是文件，所以它的命名规则与文件命名规则相同。</a:t>
            </a:r>
            <a:endParaRPr lang="zh-CN" altLang="en-US" sz="4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8EAD955E-22EE-47F7-8692-33DA7F7ABAC6}"/>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23555" name="矩形 2">
            <a:extLst>
              <a:ext uri="{FF2B5EF4-FFF2-40B4-BE49-F238E27FC236}">
                <a16:creationId xmlns:a16="http://schemas.microsoft.com/office/drawing/2014/main" id="{7E76B1E3-B0A8-458D-A0C4-887FA29983F4}"/>
              </a:ext>
            </a:extLst>
          </p:cNvPr>
          <p:cNvSpPr>
            <a:spLocks noChangeArrowheads="1"/>
          </p:cNvSpPr>
          <p:nvPr/>
        </p:nvSpPr>
        <p:spPr bwMode="auto">
          <a:xfrm>
            <a:off x="6804025" y="0"/>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a:t>设备文件</a:t>
            </a:r>
            <a:endParaRPr lang="zh-CN" altLang="en-US"/>
          </a:p>
        </p:txBody>
      </p:sp>
      <p:sp>
        <p:nvSpPr>
          <p:cNvPr id="23556" name="矩形 3">
            <a:extLst>
              <a:ext uri="{FF2B5EF4-FFF2-40B4-BE49-F238E27FC236}">
                <a16:creationId xmlns:a16="http://schemas.microsoft.com/office/drawing/2014/main" id="{48521654-AB8D-E0AD-75FB-B1A507D8F00F}"/>
              </a:ext>
            </a:extLst>
          </p:cNvPr>
          <p:cNvSpPr>
            <a:spLocks noChangeArrowheads="1"/>
          </p:cNvSpPr>
          <p:nvPr/>
        </p:nvSpPr>
        <p:spPr bwMode="auto">
          <a:xfrm>
            <a:off x="250825" y="582613"/>
            <a:ext cx="8785225"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4000"/>
              <a:t>UNIX/Linux</a:t>
            </a:r>
            <a:r>
              <a:rPr lang="zh-CN" altLang="zh-CN" sz="4000"/>
              <a:t>把</a:t>
            </a:r>
            <a:r>
              <a:rPr lang="zh-CN" altLang="zh-CN" sz="4000">
                <a:solidFill>
                  <a:srgbClr val="FF0000"/>
                </a:solidFill>
                <a:latin typeface="黑体" panose="02010609060101010101" pitchFamily="49" charset="-122"/>
                <a:ea typeface="黑体" panose="02010609060101010101" pitchFamily="49" charset="-122"/>
              </a:rPr>
              <a:t>每一个</a:t>
            </a:r>
            <a:r>
              <a:rPr lang="en-US" altLang="zh-CN" sz="4000">
                <a:solidFill>
                  <a:srgbClr val="FF0000"/>
                </a:solidFill>
                <a:latin typeface="黑体" panose="02010609060101010101" pitchFamily="49" charset="-122"/>
                <a:ea typeface="黑体" panose="02010609060101010101" pitchFamily="49" charset="-122"/>
              </a:rPr>
              <a:t>I/O</a:t>
            </a:r>
            <a:r>
              <a:rPr lang="zh-CN" altLang="zh-CN" sz="4000">
                <a:solidFill>
                  <a:srgbClr val="FF0000"/>
                </a:solidFill>
                <a:latin typeface="黑体" panose="02010609060101010101" pitchFamily="49" charset="-122"/>
                <a:ea typeface="黑体" panose="02010609060101010101" pitchFamily="49" charset="-122"/>
              </a:rPr>
              <a:t>设备</a:t>
            </a:r>
            <a:r>
              <a:rPr lang="zh-CN" altLang="zh-CN" sz="4000"/>
              <a:t>都看成一个文件，</a:t>
            </a:r>
            <a:r>
              <a:rPr lang="zh-CN" altLang="zh-CN" sz="4000">
                <a:latin typeface="黑体" panose="02010609060101010101" pitchFamily="49" charset="-122"/>
                <a:ea typeface="黑体" panose="02010609060101010101" pitchFamily="49" charset="-122"/>
              </a:rPr>
              <a:t>与普通文件一样处理</a:t>
            </a:r>
            <a:r>
              <a:rPr lang="zh-CN" altLang="zh-CN" sz="4000"/>
              <a:t>，这样可以使文件与设备的操作尽可能统一。从用户角度来看，对</a:t>
            </a:r>
            <a:r>
              <a:rPr lang="en-US" altLang="zh-CN" sz="4000"/>
              <a:t>I/O</a:t>
            </a:r>
            <a:r>
              <a:rPr lang="zh-CN" altLang="zh-CN" sz="4000"/>
              <a:t>设备的使用和对一般文件的使用一样，</a:t>
            </a:r>
            <a:r>
              <a:rPr lang="zh-CN" altLang="zh-CN" sz="4000">
                <a:solidFill>
                  <a:srgbClr val="FF0000"/>
                </a:solidFill>
                <a:latin typeface="黑体" panose="02010609060101010101" pitchFamily="49" charset="-122"/>
                <a:ea typeface="黑体" panose="02010609060101010101" pitchFamily="49" charset="-122"/>
              </a:rPr>
              <a:t>不必了解</a:t>
            </a:r>
            <a:r>
              <a:rPr lang="en-US" altLang="zh-CN" sz="4000">
                <a:solidFill>
                  <a:srgbClr val="FF0000"/>
                </a:solidFill>
                <a:latin typeface="黑体" panose="02010609060101010101" pitchFamily="49" charset="-122"/>
                <a:ea typeface="黑体" panose="02010609060101010101" pitchFamily="49" charset="-122"/>
              </a:rPr>
              <a:t>I/O</a:t>
            </a:r>
            <a:r>
              <a:rPr lang="zh-CN" altLang="zh-CN" sz="4000">
                <a:solidFill>
                  <a:srgbClr val="FF0000"/>
                </a:solidFill>
                <a:latin typeface="黑体" panose="02010609060101010101" pitchFamily="49" charset="-122"/>
                <a:ea typeface="黑体" panose="02010609060101010101" pitchFamily="49" charset="-122"/>
              </a:rPr>
              <a:t>设备的细节</a:t>
            </a:r>
            <a:r>
              <a:rPr lang="zh-CN" altLang="zh-CN" sz="4000">
                <a:latin typeface="黑体" panose="02010609060101010101" pitchFamily="49" charset="-122"/>
                <a:ea typeface="黑体" panose="02010609060101010101" pitchFamily="49" charset="-122"/>
              </a:rPr>
              <a:t>。</a:t>
            </a:r>
            <a:endParaRPr lang="en-US" altLang="zh-CN" sz="4000">
              <a:latin typeface="黑体" panose="02010609060101010101" pitchFamily="49" charset="-122"/>
              <a:ea typeface="黑体" panose="02010609060101010101" pitchFamily="49" charset="-122"/>
            </a:endParaRPr>
          </a:p>
          <a:p>
            <a:r>
              <a:rPr lang="zh-CN" altLang="zh-CN" sz="4000"/>
              <a:t>为区分普通文件、目录文件之间的不同，系统把设备文件称为“设备</a:t>
            </a:r>
            <a:r>
              <a:rPr lang="zh-CN" altLang="zh-CN" sz="4000">
                <a:solidFill>
                  <a:srgbClr val="FF0000"/>
                </a:solidFill>
                <a:latin typeface="黑体" panose="02010609060101010101" pitchFamily="49" charset="-122"/>
                <a:ea typeface="黑体" panose="02010609060101010101" pitchFamily="49" charset="-122"/>
              </a:rPr>
              <a:t>特别</a:t>
            </a:r>
            <a:r>
              <a:rPr lang="zh-CN" altLang="zh-CN" sz="4000"/>
              <a:t>文件”，简称</a:t>
            </a:r>
            <a:r>
              <a:rPr lang="zh-CN" altLang="zh-CN" sz="4000">
                <a:solidFill>
                  <a:srgbClr val="FF0000"/>
                </a:solidFill>
                <a:latin typeface="黑体" panose="02010609060101010101" pitchFamily="49" charset="-122"/>
                <a:ea typeface="黑体" panose="02010609060101010101" pitchFamily="49" charset="-122"/>
              </a:rPr>
              <a:t>设备文件</a:t>
            </a:r>
            <a:r>
              <a:rPr lang="zh-CN" altLang="zh-CN" sz="4000"/>
              <a:t>。</a:t>
            </a:r>
            <a:endParaRPr lang="zh-CN" altLang="en-US" sz="4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EE9E2C27-AF43-805C-533A-ACD6DE89086B}"/>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24579" name="矩形 2">
            <a:extLst>
              <a:ext uri="{FF2B5EF4-FFF2-40B4-BE49-F238E27FC236}">
                <a16:creationId xmlns:a16="http://schemas.microsoft.com/office/drawing/2014/main" id="{C758E836-F42F-D289-1918-AB4E92DE0359}"/>
              </a:ext>
            </a:extLst>
          </p:cNvPr>
          <p:cNvSpPr>
            <a:spLocks noChangeArrowheads="1"/>
          </p:cNvSpPr>
          <p:nvPr/>
        </p:nvSpPr>
        <p:spPr bwMode="auto">
          <a:xfrm>
            <a:off x="6227763" y="-47625"/>
            <a:ext cx="307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a:t>常见设备文件</a:t>
            </a:r>
            <a:r>
              <a:rPr lang="zh-CN" altLang="en-US"/>
              <a:t>种类</a:t>
            </a:r>
          </a:p>
        </p:txBody>
      </p:sp>
      <p:sp>
        <p:nvSpPr>
          <p:cNvPr id="24580" name="矩形 3">
            <a:extLst>
              <a:ext uri="{FF2B5EF4-FFF2-40B4-BE49-F238E27FC236}">
                <a16:creationId xmlns:a16="http://schemas.microsoft.com/office/drawing/2014/main" id="{C01733B6-352B-7408-3921-1E6DE0A63A1D}"/>
              </a:ext>
            </a:extLst>
          </p:cNvPr>
          <p:cNvSpPr>
            <a:spLocks noChangeArrowheads="1"/>
          </p:cNvSpPr>
          <p:nvPr/>
        </p:nvSpPr>
        <p:spPr bwMode="auto">
          <a:xfrm>
            <a:off x="107950" y="836613"/>
            <a:ext cx="9036050"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400">
                <a:solidFill>
                  <a:srgbClr val="FF0000"/>
                </a:solidFill>
                <a:latin typeface="黑体" panose="02010609060101010101" pitchFamily="49" charset="-122"/>
                <a:ea typeface="黑体" panose="02010609060101010101" pitchFamily="49" charset="-122"/>
              </a:rPr>
              <a:t>块设备文件（</a:t>
            </a:r>
            <a:r>
              <a:rPr lang="en-US" altLang="zh-CN" sz="4400">
                <a:solidFill>
                  <a:srgbClr val="FF0000"/>
                </a:solidFill>
                <a:latin typeface="黑体" panose="02010609060101010101" pitchFamily="49" charset="-122"/>
                <a:ea typeface="黑体" panose="02010609060101010101" pitchFamily="49" charset="-122"/>
              </a:rPr>
              <a:t>b</a:t>
            </a:r>
            <a:r>
              <a:rPr lang="zh-CN" altLang="zh-CN" sz="4400">
                <a:solidFill>
                  <a:srgbClr val="FF0000"/>
                </a:solidFill>
                <a:latin typeface="黑体" panose="02010609060101010101" pitchFamily="49" charset="-122"/>
                <a:ea typeface="黑体" panose="02010609060101010101" pitchFamily="49" charset="-122"/>
              </a:rPr>
              <a:t>）</a:t>
            </a:r>
            <a:r>
              <a:rPr lang="zh-CN" altLang="zh-CN" sz="4000"/>
              <a:t>：以块方式存取的设备，如硬盘、磁盘、磁带等。</a:t>
            </a:r>
          </a:p>
          <a:p>
            <a:r>
              <a:rPr lang="zh-CN" altLang="zh-CN" sz="4400">
                <a:solidFill>
                  <a:srgbClr val="FF0000"/>
                </a:solidFill>
                <a:latin typeface="黑体" panose="02010609060101010101" pitchFamily="49" charset="-122"/>
                <a:ea typeface="黑体" panose="02010609060101010101" pitchFamily="49" charset="-122"/>
              </a:rPr>
              <a:t>字符设备文件（</a:t>
            </a:r>
            <a:r>
              <a:rPr lang="en-US" altLang="zh-CN" sz="4400">
                <a:solidFill>
                  <a:srgbClr val="FF0000"/>
                </a:solidFill>
                <a:latin typeface="黑体" panose="02010609060101010101" pitchFamily="49" charset="-122"/>
                <a:ea typeface="黑体" panose="02010609060101010101" pitchFamily="49" charset="-122"/>
              </a:rPr>
              <a:t>c</a:t>
            </a:r>
            <a:r>
              <a:rPr lang="zh-CN" altLang="zh-CN" sz="4400">
                <a:solidFill>
                  <a:srgbClr val="FF0000"/>
                </a:solidFill>
                <a:latin typeface="黑体" panose="02010609060101010101" pitchFamily="49" charset="-122"/>
                <a:ea typeface="黑体" panose="02010609060101010101" pitchFamily="49" charset="-122"/>
              </a:rPr>
              <a:t>）</a:t>
            </a:r>
            <a:r>
              <a:rPr lang="zh-CN" altLang="zh-CN" sz="4000"/>
              <a:t>：以字符方式存取的设备，如字符打印机、显示器等。</a:t>
            </a:r>
          </a:p>
          <a:p>
            <a:r>
              <a:rPr lang="zh-CN" altLang="zh-CN" sz="4400">
                <a:solidFill>
                  <a:srgbClr val="FF0000"/>
                </a:solidFill>
                <a:latin typeface="黑体" panose="02010609060101010101" pitchFamily="49" charset="-122"/>
                <a:ea typeface="黑体" panose="02010609060101010101" pitchFamily="49" charset="-122"/>
              </a:rPr>
              <a:t>符号链接（</a:t>
            </a:r>
            <a:r>
              <a:rPr lang="en-US" altLang="zh-CN" sz="4400">
                <a:solidFill>
                  <a:srgbClr val="FF0000"/>
                </a:solidFill>
                <a:latin typeface="黑体" panose="02010609060101010101" pitchFamily="49" charset="-122"/>
                <a:ea typeface="黑体" panose="02010609060101010101" pitchFamily="49" charset="-122"/>
              </a:rPr>
              <a:t>l</a:t>
            </a:r>
            <a:r>
              <a:rPr lang="zh-CN" altLang="zh-CN" sz="4400">
                <a:solidFill>
                  <a:srgbClr val="FF0000"/>
                </a:solidFill>
                <a:latin typeface="黑体" panose="02010609060101010101" pitchFamily="49" charset="-122"/>
                <a:ea typeface="黑体" panose="02010609060101010101" pitchFamily="49" charset="-122"/>
              </a:rPr>
              <a:t>）：</a:t>
            </a:r>
            <a:r>
              <a:rPr lang="zh-CN" altLang="zh-CN" sz="4000"/>
              <a:t>用于通过此文件的内容指向它所链接的文件或资源。</a:t>
            </a:r>
          </a:p>
          <a:p>
            <a:r>
              <a:rPr lang="zh-CN" altLang="zh-CN" sz="4400">
                <a:solidFill>
                  <a:srgbClr val="FF0000"/>
                </a:solidFill>
                <a:latin typeface="黑体" panose="02010609060101010101" pitchFamily="49" charset="-122"/>
                <a:ea typeface="黑体" panose="02010609060101010101" pitchFamily="49" charset="-122"/>
              </a:rPr>
              <a:t>管道设备文件（</a:t>
            </a:r>
            <a:r>
              <a:rPr lang="en-US" altLang="zh-CN" sz="4400">
                <a:solidFill>
                  <a:srgbClr val="FF0000"/>
                </a:solidFill>
                <a:latin typeface="黑体" panose="02010609060101010101" pitchFamily="49" charset="-122"/>
                <a:ea typeface="黑体" panose="02010609060101010101" pitchFamily="49" charset="-122"/>
              </a:rPr>
              <a:t>p</a:t>
            </a:r>
            <a:r>
              <a:rPr lang="zh-CN" altLang="zh-CN" sz="4400">
                <a:solidFill>
                  <a:srgbClr val="FF0000"/>
                </a:solidFill>
                <a:latin typeface="黑体" panose="02010609060101010101" pitchFamily="49" charset="-122"/>
                <a:ea typeface="黑体" panose="02010609060101010101" pitchFamily="49" charset="-122"/>
              </a:rPr>
              <a:t>）</a:t>
            </a:r>
            <a:r>
              <a:rPr lang="zh-CN" altLang="zh-CN" sz="4000"/>
              <a:t>：用于进程之间通信的先进先出（</a:t>
            </a:r>
            <a:r>
              <a:rPr lang="en-US" altLang="zh-CN" sz="4000"/>
              <a:t>FIFO</a:t>
            </a:r>
            <a:r>
              <a:rPr lang="zh-CN" altLang="zh-CN" sz="4000"/>
              <a:t>）“临时文件”。</a:t>
            </a:r>
            <a:endParaRPr lang="zh-CN" altLang="en-US" sz="4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9D1D9A84-0C5A-C00D-156B-2D410C521BF5}"/>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25603" name="矩形 2">
            <a:extLst>
              <a:ext uri="{FF2B5EF4-FFF2-40B4-BE49-F238E27FC236}">
                <a16:creationId xmlns:a16="http://schemas.microsoft.com/office/drawing/2014/main" id="{C00980EC-1461-36C9-9434-FB310EA276E9}"/>
              </a:ext>
            </a:extLst>
          </p:cNvPr>
          <p:cNvSpPr>
            <a:spLocks noChangeArrowheads="1"/>
          </p:cNvSpPr>
          <p:nvPr/>
        </p:nvSpPr>
        <p:spPr bwMode="auto">
          <a:xfrm>
            <a:off x="6659563" y="0"/>
            <a:ext cx="234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a:t>两类管道设备</a:t>
            </a:r>
            <a:endParaRPr lang="zh-CN" altLang="en-US"/>
          </a:p>
        </p:txBody>
      </p:sp>
      <p:sp>
        <p:nvSpPr>
          <p:cNvPr id="25604" name="矩形 3">
            <a:extLst>
              <a:ext uri="{FF2B5EF4-FFF2-40B4-BE49-F238E27FC236}">
                <a16:creationId xmlns:a16="http://schemas.microsoft.com/office/drawing/2014/main" id="{72A69494-0B56-B2BB-7C31-4C34E4C01A4F}"/>
              </a:ext>
            </a:extLst>
          </p:cNvPr>
          <p:cNvSpPr>
            <a:spLocks noChangeArrowheads="1"/>
          </p:cNvSpPr>
          <p:nvPr/>
        </p:nvSpPr>
        <p:spPr bwMode="auto">
          <a:xfrm>
            <a:off x="179388" y="582613"/>
            <a:ext cx="9072562" cy="575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400">
                <a:solidFill>
                  <a:srgbClr val="FF0000"/>
                </a:solidFill>
                <a:latin typeface="黑体" panose="02010609060101010101" pitchFamily="49" charset="-122"/>
                <a:ea typeface="黑体" panose="02010609060101010101" pitchFamily="49" charset="-122"/>
              </a:rPr>
              <a:t>无名管道：</a:t>
            </a:r>
            <a:r>
              <a:rPr lang="zh-CN" altLang="zh-CN" sz="4000"/>
              <a:t>主要用于有直接继承关系的父子进程之间的通信。当创建无名管道的进程结束后，无名管道自动消失。</a:t>
            </a:r>
          </a:p>
          <a:p>
            <a:r>
              <a:rPr lang="zh-CN" altLang="zh-CN" sz="4400">
                <a:solidFill>
                  <a:srgbClr val="FF0000"/>
                </a:solidFill>
                <a:latin typeface="黑体" panose="02010609060101010101" pitchFamily="49" charset="-122"/>
                <a:ea typeface="黑体" panose="02010609060101010101" pitchFamily="49" charset="-122"/>
              </a:rPr>
              <a:t>命名管道</a:t>
            </a:r>
            <a:r>
              <a:rPr lang="zh-CN" altLang="zh-CN" sz="4400">
                <a:solidFill>
                  <a:srgbClr val="FF0000"/>
                </a:solidFill>
              </a:rPr>
              <a:t>：</a:t>
            </a:r>
            <a:r>
              <a:rPr lang="zh-CN" altLang="zh-CN" sz="4000"/>
              <a:t>是一种特殊的设备文件，在文件系统里以文件形式的存在。由于是以文件形式存在的，使得</a:t>
            </a:r>
            <a:r>
              <a:rPr lang="zh-CN" altLang="en-US" sz="4000"/>
              <a:t>不论是否</a:t>
            </a:r>
            <a:r>
              <a:rPr lang="zh-CN" altLang="zh-CN" sz="4000"/>
              <a:t>有家族关系的进程间</a:t>
            </a:r>
            <a:r>
              <a:rPr lang="zh-CN" altLang="en-US" sz="4000"/>
              <a:t>都</a:t>
            </a:r>
            <a:r>
              <a:rPr lang="zh-CN" altLang="zh-CN" sz="4000"/>
              <a:t>可使用其进行通信。在通信结束后，若不主动删除它，它不会自动消失。</a:t>
            </a:r>
            <a:endParaRPr lang="zh-CN" altLang="en-US" sz="4000"/>
          </a:p>
        </p:txBody>
      </p:sp>
      <p:pic>
        <p:nvPicPr>
          <p:cNvPr id="2" name="图片 1">
            <a:extLst>
              <a:ext uri="{FF2B5EF4-FFF2-40B4-BE49-F238E27FC236}">
                <a16:creationId xmlns:a16="http://schemas.microsoft.com/office/drawing/2014/main" id="{014DBAA8-18CD-7755-06BD-C5824FD538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8450" y="2636838"/>
            <a:ext cx="8547100"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1F2A06FB-3ABD-47F8-45AF-CA6BDA0C6BF3}"/>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26627" name="矩形 2">
            <a:extLst>
              <a:ext uri="{FF2B5EF4-FFF2-40B4-BE49-F238E27FC236}">
                <a16:creationId xmlns:a16="http://schemas.microsoft.com/office/drawing/2014/main" id="{DB22731E-60E1-1373-12D9-A8D006A6EA28}"/>
              </a:ext>
            </a:extLst>
          </p:cNvPr>
          <p:cNvSpPr>
            <a:spLocks noChangeArrowheads="1"/>
          </p:cNvSpPr>
          <p:nvPr/>
        </p:nvSpPr>
        <p:spPr bwMode="auto">
          <a:xfrm>
            <a:off x="2627313" y="476250"/>
            <a:ext cx="3579812"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400">
                <a:solidFill>
                  <a:srgbClr val="FF0000"/>
                </a:solidFill>
                <a:latin typeface="黑体" panose="02010609060101010101" pitchFamily="49" charset="-122"/>
                <a:ea typeface="黑体" panose="02010609060101010101" pitchFamily="49" charset="-122"/>
              </a:rPr>
              <a:t>两类文件链接</a:t>
            </a:r>
            <a:endParaRPr lang="zh-CN" altLang="en-US" sz="4400">
              <a:solidFill>
                <a:srgbClr val="FF0000"/>
              </a:solidFill>
              <a:latin typeface="黑体" panose="02010609060101010101" pitchFamily="49" charset="-122"/>
              <a:ea typeface="黑体" panose="02010609060101010101" pitchFamily="49" charset="-122"/>
            </a:endParaRPr>
          </a:p>
        </p:txBody>
      </p:sp>
      <p:sp>
        <p:nvSpPr>
          <p:cNvPr id="26628" name="矩形 3">
            <a:extLst>
              <a:ext uri="{FF2B5EF4-FFF2-40B4-BE49-F238E27FC236}">
                <a16:creationId xmlns:a16="http://schemas.microsoft.com/office/drawing/2014/main" id="{47D7F2F9-842C-D3E3-A7B1-B3659F64AE16}"/>
              </a:ext>
            </a:extLst>
          </p:cNvPr>
          <p:cNvSpPr>
            <a:spLocks noChangeArrowheads="1"/>
          </p:cNvSpPr>
          <p:nvPr/>
        </p:nvSpPr>
        <p:spPr bwMode="auto">
          <a:xfrm>
            <a:off x="107950" y="1300163"/>
            <a:ext cx="8928100" cy="477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400">
                <a:latin typeface="黑体" panose="02010609060101010101" pitchFamily="49" charset="-122"/>
                <a:ea typeface="黑体" panose="02010609060101010101" pitchFamily="49" charset="-122"/>
              </a:rPr>
              <a:t>硬链接（</a:t>
            </a:r>
            <a:r>
              <a:rPr lang="en-US" altLang="zh-CN" sz="4400">
                <a:latin typeface="黑体" panose="02010609060101010101" pitchFamily="49" charset="-122"/>
                <a:ea typeface="黑体" panose="02010609060101010101" pitchFamily="49" charset="-122"/>
              </a:rPr>
              <a:t>-</a:t>
            </a:r>
            <a:r>
              <a:rPr lang="zh-CN" altLang="zh-CN" sz="4400">
                <a:latin typeface="黑体" panose="02010609060101010101" pitchFamily="49" charset="-122"/>
                <a:ea typeface="黑体" panose="02010609060101010101" pitchFamily="49" charset="-122"/>
              </a:rPr>
              <a:t>）</a:t>
            </a:r>
            <a:r>
              <a:rPr lang="zh-CN" altLang="zh-CN" sz="3600"/>
              <a:t>：两个或多个文件名共用一个文件体，也就是说一个文件可以</a:t>
            </a:r>
            <a:r>
              <a:rPr lang="zh-CN" altLang="zh-CN" sz="3600">
                <a:solidFill>
                  <a:srgbClr val="FF0000"/>
                </a:solidFill>
              </a:rPr>
              <a:t>具有多个</a:t>
            </a:r>
            <a:r>
              <a:rPr lang="zh-CN" altLang="zh-CN" sz="3600" u="sng">
                <a:solidFill>
                  <a:srgbClr val="FF0000"/>
                </a:solidFill>
              </a:rPr>
              <a:t>不同的名字</a:t>
            </a:r>
            <a:r>
              <a:rPr lang="zh-CN" altLang="zh-CN" sz="3600"/>
              <a:t>，但它们具有</a:t>
            </a:r>
            <a:r>
              <a:rPr lang="zh-CN" altLang="zh-CN" sz="3600" u="sng"/>
              <a:t>相同的</a:t>
            </a:r>
            <a:r>
              <a:rPr lang="en-US" altLang="zh-CN" sz="3600" u="sng"/>
              <a:t>i</a:t>
            </a:r>
            <a:r>
              <a:rPr lang="zh-CN" altLang="zh-CN" sz="3600" u="sng"/>
              <a:t>节点号</a:t>
            </a:r>
            <a:r>
              <a:rPr lang="zh-CN" altLang="zh-CN" sz="3600"/>
              <a:t>。</a:t>
            </a:r>
          </a:p>
          <a:p>
            <a:r>
              <a:rPr lang="zh-CN" altLang="zh-CN" sz="4400">
                <a:latin typeface="黑体" panose="02010609060101010101" pitchFamily="49" charset="-122"/>
                <a:ea typeface="黑体" panose="02010609060101010101" pitchFamily="49" charset="-122"/>
              </a:rPr>
              <a:t>符号链接（</a:t>
            </a:r>
            <a:r>
              <a:rPr lang="en-US" altLang="zh-CN" sz="4400">
                <a:latin typeface="黑体" panose="02010609060101010101" pitchFamily="49" charset="-122"/>
                <a:ea typeface="黑体" panose="02010609060101010101" pitchFamily="49" charset="-122"/>
              </a:rPr>
              <a:t>l</a:t>
            </a:r>
            <a:r>
              <a:rPr lang="zh-CN" altLang="zh-CN" sz="4400">
                <a:latin typeface="黑体" panose="02010609060101010101" pitchFamily="49" charset="-122"/>
                <a:ea typeface="黑体" panose="02010609060101010101" pitchFamily="49" charset="-122"/>
              </a:rPr>
              <a:t>）</a:t>
            </a:r>
            <a:r>
              <a:rPr lang="zh-CN" altLang="zh-CN" sz="3600">
                <a:latin typeface="黑体" panose="02010609060101010101" pitchFamily="49" charset="-122"/>
                <a:ea typeface="黑体" panose="02010609060101010101" pitchFamily="49" charset="-122"/>
              </a:rPr>
              <a:t>：</a:t>
            </a:r>
            <a:r>
              <a:rPr lang="zh-CN" altLang="zh-CN" sz="3600"/>
              <a:t>与硬链接不同，它们是</a:t>
            </a:r>
            <a:r>
              <a:rPr lang="zh-CN" altLang="en-US" sz="3600"/>
              <a:t>不</a:t>
            </a:r>
            <a:r>
              <a:rPr lang="zh-CN" altLang="zh-CN" sz="3600"/>
              <a:t>同</a:t>
            </a:r>
            <a:r>
              <a:rPr lang="zh-CN" altLang="en-US" sz="3600"/>
              <a:t>的</a:t>
            </a:r>
            <a:r>
              <a:rPr lang="zh-CN" altLang="zh-CN" sz="3600"/>
              <a:t>文件</a:t>
            </a:r>
            <a:r>
              <a:rPr lang="zh-CN" altLang="en-US" sz="3600"/>
              <a:t>（从名称看）</a:t>
            </a:r>
            <a:r>
              <a:rPr lang="zh-CN" altLang="zh-CN" sz="3600"/>
              <a:t>，</a:t>
            </a:r>
            <a:r>
              <a:rPr lang="zh-CN" altLang="zh-CN" sz="3600" u="sng"/>
              <a:t>各有</a:t>
            </a:r>
            <a:r>
              <a:rPr lang="zh-CN" altLang="zh-CN" sz="3600" u="sng">
                <a:solidFill>
                  <a:srgbClr val="FF0000"/>
                </a:solidFill>
              </a:rPr>
              <a:t>自己的</a:t>
            </a:r>
            <a:r>
              <a:rPr lang="en-US" altLang="zh-CN" sz="3600" u="sng"/>
              <a:t>i</a:t>
            </a:r>
            <a:r>
              <a:rPr lang="zh-CN" altLang="zh-CN" sz="3600" u="sng"/>
              <a:t>节点</a:t>
            </a:r>
            <a:r>
              <a:rPr lang="zh-CN" altLang="zh-CN" sz="3600"/>
              <a:t>，但可以通过符号链接文件的内容访问被链接文件。符号链接也叫软链接。</a:t>
            </a:r>
            <a:r>
              <a:rPr lang="en-US" altLang="zh-CN" sz="3600"/>
              <a:t>MAC OS</a:t>
            </a:r>
            <a:r>
              <a:rPr lang="zh-CN" altLang="en-US" sz="3600"/>
              <a:t>中称为替身。</a:t>
            </a:r>
            <a:endParaRPr lang="zh-CN" altLang="zh-CN" sz="3600"/>
          </a:p>
        </p:txBody>
      </p:sp>
      <p:pic>
        <p:nvPicPr>
          <p:cNvPr id="2" name="图片 1">
            <a:extLst>
              <a:ext uri="{FF2B5EF4-FFF2-40B4-BE49-F238E27FC236}">
                <a16:creationId xmlns:a16="http://schemas.microsoft.com/office/drawing/2014/main" id="{D6DDA1B6-22F7-AEF3-4D04-1EA124D9083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19200"/>
            <a:ext cx="6096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B12ADF59-3D4E-8072-A210-05E0B7310EC3}"/>
              </a:ext>
            </a:extLst>
          </p:cNvPr>
          <p:cNvSpPr>
            <a:spLocks noGrp="1" noChangeArrowheads="1"/>
          </p:cNvSpPr>
          <p:nvPr>
            <p:ph type="title"/>
          </p:nvPr>
        </p:nvSpPr>
        <p:spPr/>
        <p:txBody>
          <a:bodyPr/>
          <a:lstStyle/>
          <a:p>
            <a:endParaRPr lang="zh-CN" altLang="en-US"/>
          </a:p>
        </p:txBody>
      </p:sp>
      <p:sp>
        <p:nvSpPr>
          <p:cNvPr id="27651" name="矩形 2">
            <a:extLst>
              <a:ext uri="{FF2B5EF4-FFF2-40B4-BE49-F238E27FC236}">
                <a16:creationId xmlns:a16="http://schemas.microsoft.com/office/drawing/2014/main" id="{7713943A-6798-9A26-60FE-6131A6A4A7EE}"/>
              </a:ext>
            </a:extLst>
          </p:cNvPr>
          <p:cNvSpPr>
            <a:spLocks noChangeArrowheads="1"/>
          </p:cNvSpPr>
          <p:nvPr/>
        </p:nvSpPr>
        <p:spPr bwMode="auto">
          <a:xfrm>
            <a:off x="171450" y="765175"/>
            <a:ext cx="88011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en-US" sz="5400">
                <a:solidFill>
                  <a:srgbClr val="FF0000"/>
                </a:solidFill>
                <a:latin typeface="ibm-plex-sans"/>
              </a:rPr>
              <a:t>链接</a:t>
            </a:r>
            <a:r>
              <a:rPr lang="zh-CN" altLang="en-US" sz="5400" b="0">
                <a:solidFill>
                  <a:srgbClr val="323232"/>
                </a:solidFill>
                <a:latin typeface="ibm-plex-sans"/>
              </a:rPr>
              <a:t>为 </a:t>
            </a:r>
            <a:r>
              <a:rPr lang="en-US" altLang="zh-CN" sz="5400" b="0">
                <a:solidFill>
                  <a:srgbClr val="323232"/>
                </a:solidFill>
                <a:latin typeface="ibm-plex-sans"/>
              </a:rPr>
              <a:t>Linux </a:t>
            </a:r>
            <a:r>
              <a:rPr lang="zh-CN" altLang="en-US" sz="5400" b="0">
                <a:solidFill>
                  <a:srgbClr val="323232"/>
                </a:solidFill>
                <a:latin typeface="ibm-plex-sans"/>
              </a:rPr>
              <a:t>系统解决了文件的</a:t>
            </a:r>
            <a:r>
              <a:rPr lang="zh-CN" altLang="en-US" sz="5400">
                <a:solidFill>
                  <a:srgbClr val="FF0000"/>
                </a:solidFill>
                <a:latin typeface="ibm-plex-sans"/>
              </a:rPr>
              <a:t>共享使用</a:t>
            </a:r>
            <a:r>
              <a:rPr lang="zh-CN" altLang="en-US" sz="5400" b="0">
                <a:solidFill>
                  <a:srgbClr val="323232"/>
                </a:solidFill>
                <a:latin typeface="ibm-plex-sans"/>
              </a:rPr>
              <a:t>，还带来了</a:t>
            </a:r>
            <a:r>
              <a:rPr lang="zh-CN" altLang="en-US" sz="5400">
                <a:solidFill>
                  <a:srgbClr val="FF0000"/>
                </a:solidFill>
                <a:latin typeface="ibm-plex-sans"/>
              </a:rPr>
              <a:t>隐藏文件路径</a:t>
            </a:r>
            <a:r>
              <a:rPr lang="zh-CN" altLang="en-US" sz="5400" b="0">
                <a:solidFill>
                  <a:srgbClr val="323232"/>
                </a:solidFill>
                <a:latin typeface="ibm-plex-sans"/>
              </a:rPr>
              <a:t>、</a:t>
            </a:r>
            <a:r>
              <a:rPr lang="zh-CN" altLang="en-US" sz="5400">
                <a:solidFill>
                  <a:srgbClr val="FF0000"/>
                </a:solidFill>
                <a:latin typeface="ibm-plex-sans"/>
              </a:rPr>
              <a:t>增加权限安全</a:t>
            </a:r>
            <a:r>
              <a:rPr lang="zh-CN" altLang="en-US" sz="5400" b="0">
                <a:solidFill>
                  <a:srgbClr val="323232"/>
                </a:solidFill>
                <a:latin typeface="ibm-plex-sans"/>
              </a:rPr>
              <a:t>及</a:t>
            </a:r>
            <a:r>
              <a:rPr lang="zh-CN" altLang="en-US" sz="5400">
                <a:solidFill>
                  <a:srgbClr val="FF0000"/>
                </a:solidFill>
                <a:latin typeface="ibm-plex-sans"/>
              </a:rPr>
              <a:t>节省存储等</a:t>
            </a:r>
            <a:r>
              <a:rPr lang="zh-CN" altLang="en-US" sz="5400" b="0">
                <a:solidFill>
                  <a:srgbClr val="323232"/>
                </a:solidFill>
                <a:latin typeface="ibm-plex-sans"/>
              </a:rPr>
              <a:t>好处</a:t>
            </a:r>
            <a:endParaRPr lang="zh-CN" altLang="en-US" sz="5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3">
            <a:extLst>
              <a:ext uri="{FF2B5EF4-FFF2-40B4-BE49-F238E27FC236}">
                <a16:creationId xmlns:a16="http://schemas.microsoft.com/office/drawing/2014/main" id="{FABD7165-BBEC-D28F-A22A-23E70AEFED39}"/>
              </a:ext>
            </a:extLst>
          </p:cNvPr>
          <p:cNvSpPr txBox="1">
            <a:spLocks noChangeArrowheads="1"/>
          </p:cNvSpPr>
          <p:nvPr/>
        </p:nvSpPr>
        <p:spPr bwMode="auto">
          <a:xfrm>
            <a:off x="468313" y="476250"/>
            <a:ext cx="8291512" cy="576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GB"/>
              <a:t>链接</a:t>
            </a:r>
          </a:p>
        </p:txBody>
      </p:sp>
      <p:sp>
        <p:nvSpPr>
          <p:cNvPr id="28675" name="Rectangle 5">
            <a:extLst>
              <a:ext uri="{FF2B5EF4-FFF2-40B4-BE49-F238E27FC236}">
                <a16:creationId xmlns:a16="http://schemas.microsoft.com/office/drawing/2014/main" id="{3D096DE7-0CCF-7923-523E-4BF52A34EF5A}"/>
              </a:ext>
            </a:extLst>
          </p:cNvPr>
          <p:cNvSpPr>
            <a:spLocks noChangeArrowheads="1"/>
          </p:cNvSpPr>
          <p:nvPr/>
        </p:nvSpPr>
        <p:spPr bwMode="auto">
          <a:xfrm>
            <a:off x="827088" y="5300663"/>
            <a:ext cx="1873250" cy="936625"/>
          </a:xfrm>
          <a:prstGeom prst="rect">
            <a:avLst/>
          </a:prstGeom>
          <a:solidFill>
            <a:schemeClr val="accent1"/>
          </a:solidFill>
          <a:ln w="19050">
            <a:solidFill>
              <a:schemeClr val="tx1"/>
            </a:solidFill>
            <a:prstDash val="lgDash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8676" name="Rectangle 6">
            <a:extLst>
              <a:ext uri="{FF2B5EF4-FFF2-40B4-BE49-F238E27FC236}">
                <a16:creationId xmlns:a16="http://schemas.microsoft.com/office/drawing/2014/main" id="{75A566CD-AAA4-8901-E05A-9A019A67B1B7}"/>
              </a:ext>
            </a:extLst>
          </p:cNvPr>
          <p:cNvSpPr>
            <a:spLocks noChangeArrowheads="1"/>
          </p:cNvSpPr>
          <p:nvPr/>
        </p:nvSpPr>
        <p:spPr bwMode="auto">
          <a:xfrm>
            <a:off x="3708400" y="1628775"/>
            <a:ext cx="1871663" cy="3671888"/>
          </a:xfrm>
          <a:prstGeom prst="rect">
            <a:avLst/>
          </a:prstGeom>
          <a:solidFill>
            <a:schemeClr val="accent1"/>
          </a:solidFill>
          <a:ln w="19050">
            <a:solidFill>
              <a:schemeClr val="tx1"/>
            </a:solidFill>
            <a:prstDash val="dash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8677" name="Rectangle 7">
            <a:extLst>
              <a:ext uri="{FF2B5EF4-FFF2-40B4-BE49-F238E27FC236}">
                <a16:creationId xmlns:a16="http://schemas.microsoft.com/office/drawing/2014/main" id="{97DAEAA7-E235-5BC4-4993-97BCC3BB1CD6}"/>
              </a:ext>
            </a:extLst>
          </p:cNvPr>
          <p:cNvSpPr>
            <a:spLocks noChangeArrowheads="1"/>
          </p:cNvSpPr>
          <p:nvPr/>
        </p:nvSpPr>
        <p:spPr bwMode="auto">
          <a:xfrm>
            <a:off x="827088" y="1700213"/>
            <a:ext cx="1873250" cy="2305050"/>
          </a:xfrm>
          <a:prstGeom prst="rect">
            <a:avLst/>
          </a:prstGeom>
          <a:solidFill>
            <a:schemeClr val="accent1"/>
          </a:solidFill>
          <a:ln w="19050">
            <a:solidFill>
              <a:schemeClr val="tx1"/>
            </a:solidFill>
            <a:prstDash val="lgDash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8678" name="Rectangle 8">
            <a:extLst>
              <a:ext uri="{FF2B5EF4-FFF2-40B4-BE49-F238E27FC236}">
                <a16:creationId xmlns:a16="http://schemas.microsoft.com/office/drawing/2014/main" id="{FC31C757-5B6C-E7C1-1835-1580212A9E8C}"/>
              </a:ext>
            </a:extLst>
          </p:cNvPr>
          <p:cNvSpPr>
            <a:spLocks noChangeArrowheads="1"/>
          </p:cNvSpPr>
          <p:nvPr/>
        </p:nvSpPr>
        <p:spPr bwMode="auto">
          <a:xfrm>
            <a:off x="611188" y="1268413"/>
            <a:ext cx="2160587"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zh-CN" altLang="en-US" sz="2400">
                <a:solidFill>
                  <a:schemeClr val="tx1"/>
                </a:solidFill>
                <a:latin typeface="Arial" panose="020B0604020202020204" pitchFamily="34" charset="0"/>
              </a:rPr>
              <a:t>根目录文件内容</a:t>
            </a:r>
          </a:p>
        </p:txBody>
      </p:sp>
      <p:sp>
        <p:nvSpPr>
          <p:cNvPr id="28679" name="Rectangle 9">
            <a:extLst>
              <a:ext uri="{FF2B5EF4-FFF2-40B4-BE49-F238E27FC236}">
                <a16:creationId xmlns:a16="http://schemas.microsoft.com/office/drawing/2014/main" id="{D96D184A-FD9B-5D1C-50D5-9DCD78BD43B5}"/>
              </a:ext>
            </a:extLst>
          </p:cNvPr>
          <p:cNvSpPr>
            <a:spLocks noChangeArrowheads="1"/>
          </p:cNvSpPr>
          <p:nvPr/>
        </p:nvSpPr>
        <p:spPr bwMode="auto">
          <a:xfrm>
            <a:off x="1042988" y="1773238"/>
            <a:ext cx="1441450" cy="350837"/>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en-US" altLang="zh-CN" sz="1800">
                <a:solidFill>
                  <a:schemeClr val="tx1"/>
                </a:solidFill>
                <a:latin typeface="Arial" panose="020B0604020202020204" pitchFamily="34" charset="0"/>
              </a:rPr>
              <a:t>bin     1023</a:t>
            </a:r>
          </a:p>
        </p:txBody>
      </p:sp>
      <p:sp>
        <p:nvSpPr>
          <p:cNvPr id="28680" name="Rectangle 10">
            <a:extLst>
              <a:ext uri="{FF2B5EF4-FFF2-40B4-BE49-F238E27FC236}">
                <a16:creationId xmlns:a16="http://schemas.microsoft.com/office/drawing/2014/main" id="{257B00EF-2C3A-5F26-3FB6-1D75DEFD4347}"/>
              </a:ext>
            </a:extLst>
          </p:cNvPr>
          <p:cNvSpPr>
            <a:spLocks noChangeArrowheads="1"/>
          </p:cNvSpPr>
          <p:nvPr/>
        </p:nvSpPr>
        <p:spPr bwMode="auto">
          <a:xfrm>
            <a:off x="1042988" y="2124075"/>
            <a:ext cx="1441450" cy="34925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en-US" altLang="zh-CN" sz="1800">
                <a:solidFill>
                  <a:schemeClr val="tx1"/>
                </a:solidFill>
                <a:latin typeface="Arial" panose="020B0604020202020204" pitchFamily="34" charset="0"/>
              </a:rPr>
              <a:t>dev    1054</a:t>
            </a:r>
          </a:p>
        </p:txBody>
      </p:sp>
      <p:sp>
        <p:nvSpPr>
          <p:cNvPr id="28681" name="Rectangle 11">
            <a:extLst>
              <a:ext uri="{FF2B5EF4-FFF2-40B4-BE49-F238E27FC236}">
                <a16:creationId xmlns:a16="http://schemas.microsoft.com/office/drawing/2014/main" id="{3168FE55-F252-511E-B8ED-3E404CCD01C0}"/>
              </a:ext>
            </a:extLst>
          </p:cNvPr>
          <p:cNvSpPr>
            <a:spLocks noChangeArrowheads="1"/>
          </p:cNvSpPr>
          <p:nvPr/>
        </p:nvSpPr>
        <p:spPr bwMode="auto">
          <a:xfrm>
            <a:off x="1042988" y="2473325"/>
            <a:ext cx="1441450" cy="35083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en-US" altLang="zh-CN" sz="1800">
                <a:solidFill>
                  <a:schemeClr val="tx1"/>
                </a:solidFill>
                <a:latin typeface="Arial" panose="020B0604020202020204" pitchFamily="34" charset="0"/>
              </a:rPr>
              <a:t>root   1067</a:t>
            </a:r>
          </a:p>
        </p:txBody>
      </p:sp>
      <p:sp>
        <p:nvSpPr>
          <p:cNvPr id="28682" name="Rectangle 12">
            <a:extLst>
              <a:ext uri="{FF2B5EF4-FFF2-40B4-BE49-F238E27FC236}">
                <a16:creationId xmlns:a16="http://schemas.microsoft.com/office/drawing/2014/main" id="{C9E18A73-B8E9-ABF1-DCC6-8F0D0FD892BD}"/>
              </a:ext>
            </a:extLst>
          </p:cNvPr>
          <p:cNvSpPr>
            <a:spLocks noChangeArrowheads="1"/>
          </p:cNvSpPr>
          <p:nvPr/>
        </p:nvSpPr>
        <p:spPr bwMode="auto">
          <a:xfrm>
            <a:off x="1042988" y="2822575"/>
            <a:ext cx="1441450" cy="31908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en-US" altLang="zh-CN" sz="1800">
                <a:solidFill>
                  <a:schemeClr val="tx1"/>
                </a:solidFill>
                <a:latin typeface="Arial" panose="020B0604020202020204" pitchFamily="34" charset="0"/>
              </a:rPr>
              <a:t>home 1098</a:t>
            </a:r>
          </a:p>
        </p:txBody>
      </p:sp>
      <p:sp>
        <p:nvSpPr>
          <p:cNvPr id="28683" name="Rectangle 13" descr="浅色横线">
            <a:extLst>
              <a:ext uri="{FF2B5EF4-FFF2-40B4-BE49-F238E27FC236}">
                <a16:creationId xmlns:a16="http://schemas.microsoft.com/office/drawing/2014/main" id="{4C8A0AAB-2C64-AD7E-94BE-F8AF0F8BDE0D}"/>
              </a:ext>
            </a:extLst>
          </p:cNvPr>
          <p:cNvSpPr>
            <a:spLocks noChangeArrowheads="1"/>
          </p:cNvSpPr>
          <p:nvPr/>
        </p:nvSpPr>
        <p:spPr bwMode="auto">
          <a:xfrm>
            <a:off x="3779838" y="1773238"/>
            <a:ext cx="1728787" cy="350837"/>
          </a:xfrm>
          <a:prstGeom prst="rect">
            <a:avLst/>
          </a:prstGeom>
          <a:blipFill dpi="0" rotWithShape="0">
            <a:blip r:embed="rId6"/>
            <a:srcRect/>
            <a:tile tx="0" ty="0" sx="100000" sy="100000" flip="none" algn="tl"/>
          </a:blip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8684" name="Rectangle 14" descr="浅色横线">
            <a:extLst>
              <a:ext uri="{FF2B5EF4-FFF2-40B4-BE49-F238E27FC236}">
                <a16:creationId xmlns:a16="http://schemas.microsoft.com/office/drawing/2014/main" id="{142BA625-0595-0467-6042-953FC71DE413}"/>
              </a:ext>
            </a:extLst>
          </p:cNvPr>
          <p:cNvSpPr>
            <a:spLocks noChangeArrowheads="1"/>
          </p:cNvSpPr>
          <p:nvPr/>
        </p:nvSpPr>
        <p:spPr bwMode="auto">
          <a:xfrm>
            <a:off x="3779838" y="3500438"/>
            <a:ext cx="1728787" cy="349250"/>
          </a:xfrm>
          <a:prstGeom prst="rect">
            <a:avLst/>
          </a:prstGeom>
          <a:blipFill dpi="0" rotWithShape="0">
            <a:blip r:embed="rId6"/>
            <a:srcRect/>
            <a:tile tx="0" ty="0" sx="100000" sy="100000" flip="none" algn="tl"/>
          </a:blip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8685" name="Rectangle 15" descr="浅色横线">
            <a:extLst>
              <a:ext uri="{FF2B5EF4-FFF2-40B4-BE49-F238E27FC236}">
                <a16:creationId xmlns:a16="http://schemas.microsoft.com/office/drawing/2014/main" id="{3654E973-297B-6CCE-E4F9-C33CA36C9A14}"/>
              </a:ext>
            </a:extLst>
          </p:cNvPr>
          <p:cNvSpPr>
            <a:spLocks noChangeArrowheads="1"/>
          </p:cNvSpPr>
          <p:nvPr/>
        </p:nvSpPr>
        <p:spPr bwMode="auto">
          <a:xfrm>
            <a:off x="3779838" y="2430463"/>
            <a:ext cx="1728787" cy="350837"/>
          </a:xfrm>
          <a:prstGeom prst="rect">
            <a:avLst/>
          </a:prstGeom>
          <a:blipFill dpi="0" rotWithShape="0">
            <a:blip r:embed="rId6"/>
            <a:srcRect/>
            <a:tile tx="0" ty="0" sx="100000" sy="100000" flip="none" algn="tl"/>
          </a:blip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8686" name="Rectangle 16" descr="浅色横线">
            <a:extLst>
              <a:ext uri="{FF2B5EF4-FFF2-40B4-BE49-F238E27FC236}">
                <a16:creationId xmlns:a16="http://schemas.microsoft.com/office/drawing/2014/main" id="{A13EF572-9265-72DE-9BD4-231D4D18F6C2}"/>
              </a:ext>
            </a:extLst>
          </p:cNvPr>
          <p:cNvSpPr>
            <a:spLocks noChangeArrowheads="1"/>
          </p:cNvSpPr>
          <p:nvPr/>
        </p:nvSpPr>
        <p:spPr bwMode="auto">
          <a:xfrm>
            <a:off x="3779838" y="2852738"/>
            <a:ext cx="1728787" cy="319087"/>
          </a:xfrm>
          <a:prstGeom prst="rect">
            <a:avLst/>
          </a:prstGeom>
          <a:blipFill dpi="0" rotWithShape="0">
            <a:blip r:embed="rId6"/>
            <a:srcRect/>
            <a:tile tx="0" ty="0" sx="100000" sy="100000" flip="none" algn="tl"/>
          </a:blip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8687" name="Rectangle 17">
            <a:extLst>
              <a:ext uri="{FF2B5EF4-FFF2-40B4-BE49-F238E27FC236}">
                <a16:creationId xmlns:a16="http://schemas.microsoft.com/office/drawing/2014/main" id="{4AE33FDB-A77E-0B5C-F0D9-0BA0A7C020F3}"/>
              </a:ext>
            </a:extLst>
          </p:cNvPr>
          <p:cNvSpPr>
            <a:spLocks noChangeArrowheads="1"/>
          </p:cNvSpPr>
          <p:nvPr/>
        </p:nvSpPr>
        <p:spPr bwMode="auto">
          <a:xfrm>
            <a:off x="3636963" y="1268413"/>
            <a:ext cx="1944687"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zh-CN" altLang="en-US" sz="2000">
                <a:solidFill>
                  <a:schemeClr val="tx1"/>
                </a:solidFill>
                <a:latin typeface="Arial" panose="020B0604020202020204" pitchFamily="34" charset="0"/>
              </a:rPr>
              <a:t>索引节点表</a:t>
            </a:r>
          </a:p>
        </p:txBody>
      </p:sp>
      <p:sp>
        <p:nvSpPr>
          <p:cNvPr id="28688" name="Rectangle 18">
            <a:extLst>
              <a:ext uri="{FF2B5EF4-FFF2-40B4-BE49-F238E27FC236}">
                <a16:creationId xmlns:a16="http://schemas.microsoft.com/office/drawing/2014/main" id="{FD21B543-39A6-BA3B-F4B5-A74B4C4FCCAE}"/>
              </a:ext>
            </a:extLst>
          </p:cNvPr>
          <p:cNvSpPr>
            <a:spLocks noChangeArrowheads="1"/>
          </p:cNvSpPr>
          <p:nvPr/>
        </p:nvSpPr>
        <p:spPr bwMode="auto">
          <a:xfrm>
            <a:off x="1042988" y="3141663"/>
            <a:ext cx="144145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en-US" altLang="zh-CN" sz="1800">
                <a:solidFill>
                  <a:schemeClr val="tx1"/>
                </a:solidFill>
                <a:latin typeface="宋体" panose="02010600030101010101" pitchFamily="2" charset="-122"/>
              </a:rPr>
              <a:t>…</a:t>
            </a:r>
            <a:endParaRPr lang="en-US" altLang="zh-CN" sz="1800">
              <a:solidFill>
                <a:schemeClr val="tx1"/>
              </a:solidFill>
              <a:latin typeface="Arial" panose="020B0604020202020204" pitchFamily="34" charset="0"/>
            </a:endParaRPr>
          </a:p>
        </p:txBody>
      </p:sp>
      <p:sp>
        <p:nvSpPr>
          <p:cNvPr id="28689" name="Rectangle 19">
            <a:extLst>
              <a:ext uri="{FF2B5EF4-FFF2-40B4-BE49-F238E27FC236}">
                <a16:creationId xmlns:a16="http://schemas.microsoft.com/office/drawing/2014/main" id="{B5D72D9B-CE75-7E72-61C3-CA67B9D7C720}"/>
              </a:ext>
            </a:extLst>
          </p:cNvPr>
          <p:cNvSpPr>
            <a:spLocks noChangeArrowheads="1"/>
          </p:cNvSpPr>
          <p:nvPr/>
        </p:nvSpPr>
        <p:spPr bwMode="auto">
          <a:xfrm>
            <a:off x="1042988" y="3490913"/>
            <a:ext cx="1441450" cy="319087"/>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en-US" altLang="zh-CN" sz="1800">
                <a:solidFill>
                  <a:schemeClr val="tx1"/>
                </a:solidFill>
                <a:latin typeface="Arial" panose="020B0604020202020204" pitchFamily="34" charset="0"/>
              </a:rPr>
              <a:t>hello.c 2010</a:t>
            </a:r>
          </a:p>
        </p:txBody>
      </p:sp>
      <p:sp>
        <p:nvSpPr>
          <p:cNvPr id="28690" name="Rectangle 20">
            <a:extLst>
              <a:ext uri="{FF2B5EF4-FFF2-40B4-BE49-F238E27FC236}">
                <a16:creationId xmlns:a16="http://schemas.microsoft.com/office/drawing/2014/main" id="{F59DFD5D-3DAA-4D6E-663F-55DAA8CC41EC}"/>
              </a:ext>
            </a:extLst>
          </p:cNvPr>
          <p:cNvSpPr>
            <a:spLocks noChangeArrowheads="1"/>
          </p:cNvSpPr>
          <p:nvPr/>
        </p:nvSpPr>
        <p:spPr bwMode="auto">
          <a:xfrm>
            <a:off x="4140200" y="2133600"/>
            <a:ext cx="1081088"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en-US" altLang="zh-CN" sz="1800">
                <a:solidFill>
                  <a:schemeClr val="tx1"/>
                </a:solidFill>
                <a:latin typeface="宋体" panose="02010600030101010101" pitchFamily="2" charset="-122"/>
              </a:rPr>
              <a:t>…</a:t>
            </a:r>
            <a:endParaRPr lang="en-US" altLang="zh-CN" sz="1800">
              <a:solidFill>
                <a:schemeClr val="tx1"/>
              </a:solidFill>
              <a:latin typeface="Arial" panose="020B0604020202020204" pitchFamily="34" charset="0"/>
            </a:endParaRPr>
          </a:p>
        </p:txBody>
      </p:sp>
      <p:sp>
        <p:nvSpPr>
          <p:cNvPr id="28691" name="Text Box 21">
            <a:extLst>
              <a:ext uri="{FF2B5EF4-FFF2-40B4-BE49-F238E27FC236}">
                <a16:creationId xmlns:a16="http://schemas.microsoft.com/office/drawing/2014/main" id="{DB905E83-64B1-8ECB-04C6-2028218D3846}"/>
              </a:ext>
            </a:extLst>
          </p:cNvPr>
          <p:cNvSpPr txBox="1">
            <a:spLocks noChangeArrowheads="1"/>
          </p:cNvSpPr>
          <p:nvPr/>
        </p:nvSpPr>
        <p:spPr bwMode="auto">
          <a:xfrm>
            <a:off x="3203575" y="1773238"/>
            <a:ext cx="5762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r" eaLnBrk="1" hangingPunct="1">
              <a:spcBef>
                <a:spcPct val="50000"/>
              </a:spcBef>
              <a:spcAft>
                <a:spcPct val="0"/>
              </a:spcAft>
              <a:buClrTx/>
              <a:buFontTx/>
              <a:buNone/>
            </a:pPr>
            <a:r>
              <a:rPr lang="en-US" altLang="zh-CN" sz="1800">
                <a:solidFill>
                  <a:schemeClr val="tx1"/>
                </a:solidFill>
                <a:latin typeface="Arial" panose="020B0604020202020204" pitchFamily="34" charset="0"/>
              </a:rPr>
              <a:t>0</a:t>
            </a:r>
          </a:p>
        </p:txBody>
      </p:sp>
      <p:sp>
        <p:nvSpPr>
          <p:cNvPr id="28692" name="Text Box 22">
            <a:extLst>
              <a:ext uri="{FF2B5EF4-FFF2-40B4-BE49-F238E27FC236}">
                <a16:creationId xmlns:a16="http://schemas.microsoft.com/office/drawing/2014/main" id="{54DC0F82-4ADD-C526-308F-EB99DB9729CD}"/>
              </a:ext>
            </a:extLst>
          </p:cNvPr>
          <p:cNvSpPr txBox="1">
            <a:spLocks noChangeArrowheads="1"/>
          </p:cNvSpPr>
          <p:nvPr/>
        </p:nvSpPr>
        <p:spPr bwMode="auto">
          <a:xfrm>
            <a:off x="2987675" y="2420938"/>
            <a:ext cx="7921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r" eaLnBrk="1" hangingPunct="1">
              <a:spcBef>
                <a:spcPct val="50000"/>
              </a:spcBef>
              <a:spcAft>
                <a:spcPct val="0"/>
              </a:spcAft>
              <a:buClrTx/>
              <a:buFontTx/>
              <a:buNone/>
            </a:pPr>
            <a:r>
              <a:rPr lang="en-US" altLang="zh-CN" sz="1800">
                <a:solidFill>
                  <a:schemeClr val="tx1"/>
                </a:solidFill>
                <a:latin typeface="Arial" panose="020B0604020202020204" pitchFamily="34" charset="0"/>
              </a:rPr>
              <a:t>1023</a:t>
            </a:r>
          </a:p>
        </p:txBody>
      </p:sp>
      <p:sp>
        <p:nvSpPr>
          <p:cNvPr id="28693" name="Text Box 23">
            <a:extLst>
              <a:ext uri="{FF2B5EF4-FFF2-40B4-BE49-F238E27FC236}">
                <a16:creationId xmlns:a16="http://schemas.microsoft.com/office/drawing/2014/main" id="{13BF8679-7A1A-E0E6-E5FD-09088AF2C34C}"/>
              </a:ext>
            </a:extLst>
          </p:cNvPr>
          <p:cNvSpPr txBox="1">
            <a:spLocks noChangeArrowheads="1"/>
          </p:cNvSpPr>
          <p:nvPr/>
        </p:nvSpPr>
        <p:spPr bwMode="auto">
          <a:xfrm>
            <a:off x="2987675" y="2781300"/>
            <a:ext cx="7921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r" eaLnBrk="1" hangingPunct="1">
              <a:spcBef>
                <a:spcPct val="50000"/>
              </a:spcBef>
              <a:spcAft>
                <a:spcPct val="0"/>
              </a:spcAft>
              <a:buClrTx/>
              <a:buFontTx/>
              <a:buNone/>
            </a:pPr>
            <a:r>
              <a:rPr lang="en-US" altLang="zh-CN" sz="1800">
                <a:solidFill>
                  <a:schemeClr val="tx1"/>
                </a:solidFill>
                <a:latin typeface="Arial" panose="020B0604020202020204" pitchFamily="34" charset="0"/>
              </a:rPr>
              <a:t>1024</a:t>
            </a:r>
          </a:p>
        </p:txBody>
      </p:sp>
      <p:sp>
        <p:nvSpPr>
          <p:cNvPr id="28694" name="Rectangle 24">
            <a:extLst>
              <a:ext uri="{FF2B5EF4-FFF2-40B4-BE49-F238E27FC236}">
                <a16:creationId xmlns:a16="http://schemas.microsoft.com/office/drawing/2014/main" id="{06CE3D07-5616-1EE7-C603-8371C71CA37A}"/>
              </a:ext>
            </a:extLst>
          </p:cNvPr>
          <p:cNvSpPr>
            <a:spLocks noChangeArrowheads="1"/>
          </p:cNvSpPr>
          <p:nvPr/>
        </p:nvSpPr>
        <p:spPr bwMode="auto">
          <a:xfrm>
            <a:off x="4140200" y="3141663"/>
            <a:ext cx="1081088"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en-US" altLang="zh-CN" sz="1800">
                <a:solidFill>
                  <a:schemeClr val="tx1"/>
                </a:solidFill>
                <a:latin typeface="宋体" panose="02010600030101010101" pitchFamily="2" charset="-122"/>
              </a:rPr>
              <a:t>…</a:t>
            </a:r>
            <a:endParaRPr lang="en-US" altLang="zh-CN" sz="1800">
              <a:solidFill>
                <a:schemeClr val="tx1"/>
              </a:solidFill>
              <a:latin typeface="Arial" panose="020B0604020202020204" pitchFamily="34" charset="0"/>
            </a:endParaRPr>
          </a:p>
        </p:txBody>
      </p:sp>
      <p:sp>
        <p:nvSpPr>
          <p:cNvPr id="28695" name="Text Box 25">
            <a:extLst>
              <a:ext uri="{FF2B5EF4-FFF2-40B4-BE49-F238E27FC236}">
                <a16:creationId xmlns:a16="http://schemas.microsoft.com/office/drawing/2014/main" id="{BF750473-A919-BEBD-390A-AD140B1860E8}"/>
              </a:ext>
            </a:extLst>
          </p:cNvPr>
          <p:cNvSpPr txBox="1">
            <a:spLocks noChangeArrowheads="1"/>
          </p:cNvSpPr>
          <p:nvPr/>
        </p:nvSpPr>
        <p:spPr bwMode="auto">
          <a:xfrm>
            <a:off x="2987675" y="3500438"/>
            <a:ext cx="7921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r" eaLnBrk="1" hangingPunct="1">
              <a:spcBef>
                <a:spcPct val="50000"/>
              </a:spcBef>
              <a:spcAft>
                <a:spcPct val="0"/>
              </a:spcAft>
              <a:buClrTx/>
              <a:buFontTx/>
              <a:buNone/>
            </a:pPr>
            <a:r>
              <a:rPr lang="en-US" altLang="zh-CN" sz="1800">
                <a:solidFill>
                  <a:schemeClr val="tx1"/>
                </a:solidFill>
                <a:latin typeface="Arial" panose="020B0604020202020204" pitchFamily="34" charset="0"/>
              </a:rPr>
              <a:t>1098</a:t>
            </a:r>
          </a:p>
        </p:txBody>
      </p:sp>
      <p:sp>
        <p:nvSpPr>
          <p:cNvPr id="28696" name="Rectangle 26">
            <a:extLst>
              <a:ext uri="{FF2B5EF4-FFF2-40B4-BE49-F238E27FC236}">
                <a16:creationId xmlns:a16="http://schemas.microsoft.com/office/drawing/2014/main" id="{0D22B230-7DA9-C961-A4D8-3446B82ECE48}"/>
              </a:ext>
            </a:extLst>
          </p:cNvPr>
          <p:cNvSpPr>
            <a:spLocks noChangeArrowheads="1"/>
          </p:cNvSpPr>
          <p:nvPr/>
        </p:nvSpPr>
        <p:spPr bwMode="auto">
          <a:xfrm>
            <a:off x="4140200" y="3860800"/>
            <a:ext cx="1081088"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en-US" altLang="zh-CN" sz="1800">
                <a:solidFill>
                  <a:schemeClr val="tx1"/>
                </a:solidFill>
                <a:latin typeface="宋体" panose="02010600030101010101" pitchFamily="2" charset="-122"/>
              </a:rPr>
              <a:t>…</a:t>
            </a:r>
            <a:endParaRPr lang="en-US" altLang="zh-CN" sz="1800">
              <a:solidFill>
                <a:schemeClr val="tx1"/>
              </a:solidFill>
              <a:latin typeface="Arial" panose="020B0604020202020204" pitchFamily="34" charset="0"/>
            </a:endParaRPr>
          </a:p>
        </p:txBody>
      </p:sp>
      <p:sp>
        <p:nvSpPr>
          <p:cNvPr id="28697" name="Rectangle 27" descr="浅色横线">
            <a:extLst>
              <a:ext uri="{FF2B5EF4-FFF2-40B4-BE49-F238E27FC236}">
                <a16:creationId xmlns:a16="http://schemas.microsoft.com/office/drawing/2014/main" id="{48687A14-F764-746F-85C2-48ED85297E24}"/>
              </a:ext>
            </a:extLst>
          </p:cNvPr>
          <p:cNvSpPr>
            <a:spLocks noChangeArrowheads="1"/>
          </p:cNvSpPr>
          <p:nvPr/>
        </p:nvSpPr>
        <p:spPr bwMode="auto">
          <a:xfrm>
            <a:off x="3746500" y="4268788"/>
            <a:ext cx="1728788" cy="319087"/>
          </a:xfrm>
          <a:prstGeom prst="rect">
            <a:avLst/>
          </a:prstGeom>
          <a:blipFill dpi="0" rotWithShape="0">
            <a:blip r:embed="rId6"/>
            <a:srcRect/>
            <a:tile tx="0" ty="0" sx="100000" sy="100000" flip="none" algn="tl"/>
          </a:blip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8698" name="Text Box 28">
            <a:extLst>
              <a:ext uri="{FF2B5EF4-FFF2-40B4-BE49-F238E27FC236}">
                <a16:creationId xmlns:a16="http://schemas.microsoft.com/office/drawing/2014/main" id="{3C5F24DB-AE62-3BEE-44A3-1A11D6F3BD7A}"/>
              </a:ext>
            </a:extLst>
          </p:cNvPr>
          <p:cNvSpPr txBox="1">
            <a:spLocks noChangeArrowheads="1"/>
          </p:cNvSpPr>
          <p:nvPr/>
        </p:nvSpPr>
        <p:spPr bwMode="auto">
          <a:xfrm>
            <a:off x="2987675" y="4221163"/>
            <a:ext cx="7921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r" eaLnBrk="1" hangingPunct="1">
              <a:spcBef>
                <a:spcPct val="50000"/>
              </a:spcBef>
              <a:spcAft>
                <a:spcPct val="0"/>
              </a:spcAft>
              <a:buClrTx/>
              <a:buFontTx/>
              <a:buNone/>
            </a:pPr>
            <a:r>
              <a:rPr lang="en-US" altLang="zh-CN" sz="1800">
                <a:solidFill>
                  <a:schemeClr val="tx1"/>
                </a:solidFill>
                <a:latin typeface="Arial" panose="020B0604020202020204" pitchFamily="34" charset="0"/>
              </a:rPr>
              <a:t>2010</a:t>
            </a:r>
          </a:p>
        </p:txBody>
      </p:sp>
      <p:sp>
        <p:nvSpPr>
          <p:cNvPr id="28699" name="Rectangle 29">
            <a:extLst>
              <a:ext uri="{FF2B5EF4-FFF2-40B4-BE49-F238E27FC236}">
                <a16:creationId xmlns:a16="http://schemas.microsoft.com/office/drawing/2014/main" id="{FFBAB19A-F4AF-A63E-1424-0B6CA91A0EA8}"/>
              </a:ext>
            </a:extLst>
          </p:cNvPr>
          <p:cNvSpPr>
            <a:spLocks noChangeArrowheads="1"/>
          </p:cNvSpPr>
          <p:nvPr/>
        </p:nvSpPr>
        <p:spPr bwMode="auto">
          <a:xfrm>
            <a:off x="6732588" y="2636838"/>
            <a:ext cx="719137" cy="5048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8700" name="Rectangle 30">
            <a:extLst>
              <a:ext uri="{FF2B5EF4-FFF2-40B4-BE49-F238E27FC236}">
                <a16:creationId xmlns:a16="http://schemas.microsoft.com/office/drawing/2014/main" id="{16A3B6C3-0DFC-94CF-D3B4-02E6C89813CA}"/>
              </a:ext>
            </a:extLst>
          </p:cNvPr>
          <p:cNvSpPr>
            <a:spLocks noChangeArrowheads="1"/>
          </p:cNvSpPr>
          <p:nvPr/>
        </p:nvSpPr>
        <p:spPr bwMode="auto">
          <a:xfrm>
            <a:off x="6948488" y="2852738"/>
            <a:ext cx="719137" cy="5048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8701" name="Rectangle 31">
            <a:extLst>
              <a:ext uri="{FF2B5EF4-FFF2-40B4-BE49-F238E27FC236}">
                <a16:creationId xmlns:a16="http://schemas.microsoft.com/office/drawing/2014/main" id="{84692185-902C-9290-14BA-98F7456B8582}"/>
              </a:ext>
            </a:extLst>
          </p:cNvPr>
          <p:cNvSpPr>
            <a:spLocks noChangeArrowheads="1"/>
          </p:cNvSpPr>
          <p:nvPr/>
        </p:nvSpPr>
        <p:spPr bwMode="auto">
          <a:xfrm>
            <a:off x="7164388" y="3068638"/>
            <a:ext cx="719137" cy="5048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8702" name="Rectangle 32">
            <a:extLst>
              <a:ext uri="{FF2B5EF4-FFF2-40B4-BE49-F238E27FC236}">
                <a16:creationId xmlns:a16="http://schemas.microsoft.com/office/drawing/2014/main" id="{2CD541BE-C4AD-DD9A-BFDF-6937BE89796D}"/>
              </a:ext>
            </a:extLst>
          </p:cNvPr>
          <p:cNvSpPr>
            <a:spLocks noChangeArrowheads="1"/>
          </p:cNvSpPr>
          <p:nvPr/>
        </p:nvSpPr>
        <p:spPr bwMode="auto">
          <a:xfrm>
            <a:off x="7380288" y="3284538"/>
            <a:ext cx="719137" cy="5048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8703" name="Rectangle 33">
            <a:extLst>
              <a:ext uri="{FF2B5EF4-FFF2-40B4-BE49-F238E27FC236}">
                <a16:creationId xmlns:a16="http://schemas.microsoft.com/office/drawing/2014/main" id="{27C93B44-164F-2692-BD79-088AA4B324D5}"/>
              </a:ext>
            </a:extLst>
          </p:cNvPr>
          <p:cNvSpPr>
            <a:spLocks noChangeArrowheads="1"/>
          </p:cNvSpPr>
          <p:nvPr/>
        </p:nvSpPr>
        <p:spPr bwMode="auto">
          <a:xfrm>
            <a:off x="7596188" y="3500438"/>
            <a:ext cx="719137" cy="5048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8704" name="Line 34">
            <a:extLst>
              <a:ext uri="{FF2B5EF4-FFF2-40B4-BE49-F238E27FC236}">
                <a16:creationId xmlns:a16="http://schemas.microsoft.com/office/drawing/2014/main" id="{DCF2512E-823F-96DF-F8F1-F15CABAB5102}"/>
              </a:ext>
            </a:extLst>
          </p:cNvPr>
          <p:cNvSpPr>
            <a:spLocks noChangeShapeType="1"/>
          </p:cNvSpPr>
          <p:nvPr/>
        </p:nvSpPr>
        <p:spPr bwMode="auto">
          <a:xfrm flipV="1">
            <a:off x="5508625" y="2709863"/>
            <a:ext cx="1223963" cy="1582737"/>
          </a:xfrm>
          <a:prstGeom prst="line">
            <a:avLst/>
          </a:prstGeom>
          <a:noFill/>
          <a:ln w="2857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5" name="Line 35">
            <a:extLst>
              <a:ext uri="{FF2B5EF4-FFF2-40B4-BE49-F238E27FC236}">
                <a16:creationId xmlns:a16="http://schemas.microsoft.com/office/drawing/2014/main" id="{94B3CFFA-3F74-9B08-599B-ADC6FB4D12DA}"/>
              </a:ext>
            </a:extLst>
          </p:cNvPr>
          <p:cNvSpPr>
            <a:spLocks noChangeShapeType="1"/>
          </p:cNvSpPr>
          <p:nvPr/>
        </p:nvSpPr>
        <p:spPr bwMode="auto">
          <a:xfrm flipV="1">
            <a:off x="5508625" y="2925763"/>
            <a:ext cx="1439863" cy="1366837"/>
          </a:xfrm>
          <a:prstGeom prst="line">
            <a:avLst/>
          </a:prstGeom>
          <a:noFill/>
          <a:ln w="2857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6" name="Line 36">
            <a:extLst>
              <a:ext uri="{FF2B5EF4-FFF2-40B4-BE49-F238E27FC236}">
                <a16:creationId xmlns:a16="http://schemas.microsoft.com/office/drawing/2014/main" id="{16E48338-6126-0D16-7012-C091DDFADC93}"/>
              </a:ext>
            </a:extLst>
          </p:cNvPr>
          <p:cNvSpPr>
            <a:spLocks noChangeShapeType="1"/>
          </p:cNvSpPr>
          <p:nvPr/>
        </p:nvSpPr>
        <p:spPr bwMode="auto">
          <a:xfrm flipV="1">
            <a:off x="5508625" y="3141663"/>
            <a:ext cx="1655763" cy="1150937"/>
          </a:xfrm>
          <a:prstGeom prst="line">
            <a:avLst/>
          </a:prstGeom>
          <a:noFill/>
          <a:ln w="2857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7" name="Line 37">
            <a:extLst>
              <a:ext uri="{FF2B5EF4-FFF2-40B4-BE49-F238E27FC236}">
                <a16:creationId xmlns:a16="http://schemas.microsoft.com/office/drawing/2014/main" id="{9FE038B6-087C-5DE1-A736-F3E90F0ED1BB}"/>
              </a:ext>
            </a:extLst>
          </p:cNvPr>
          <p:cNvSpPr>
            <a:spLocks noChangeShapeType="1"/>
          </p:cNvSpPr>
          <p:nvPr/>
        </p:nvSpPr>
        <p:spPr bwMode="auto">
          <a:xfrm flipV="1">
            <a:off x="5508625" y="3357563"/>
            <a:ext cx="1871663" cy="935037"/>
          </a:xfrm>
          <a:prstGeom prst="line">
            <a:avLst/>
          </a:prstGeom>
          <a:noFill/>
          <a:ln w="2857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8" name="Line 38">
            <a:extLst>
              <a:ext uri="{FF2B5EF4-FFF2-40B4-BE49-F238E27FC236}">
                <a16:creationId xmlns:a16="http://schemas.microsoft.com/office/drawing/2014/main" id="{C908309D-69C6-35D2-6471-440E1E35A5AC}"/>
              </a:ext>
            </a:extLst>
          </p:cNvPr>
          <p:cNvSpPr>
            <a:spLocks noChangeShapeType="1"/>
          </p:cNvSpPr>
          <p:nvPr/>
        </p:nvSpPr>
        <p:spPr bwMode="auto">
          <a:xfrm flipV="1">
            <a:off x="5508625" y="3573463"/>
            <a:ext cx="2087563" cy="719137"/>
          </a:xfrm>
          <a:prstGeom prst="line">
            <a:avLst/>
          </a:prstGeom>
          <a:noFill/>
          <a:ln w="2857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9" name="Rectangle 39">
            <a:extLst>
              <a:ext uri="{FF2B5EF4-FFF2-40B4-BE49-F238E27FC236}">
                <a16:creationId xmlns:a16="http://schemas.microsoft.com/office/drawing/2014/main" id="{1ECA2F5D-C2C2-093F-6972-AD25B6172085}"/>
              </a:ext>
            </a:extLst>
          </p:cNvPr>
          <p:cNvSpPr>
            <a:spLocks noChangeArrowheads="1"/>
          </p:cNvSpPr>
          <p:nvPr/>
        </p:nvSpPr>
        <p:spPr bwMode="auto">
          <a:xfrm>
            <a:off x="4140200" y="4510088"/>
            <a:ext cx="1081088"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en-US" altLang="zh-CN" sz="1800">
                <a:solidFill>
                  <a:schemeClr val="tx1"/>
                </a:solidFill>
                <a:latin typeface="宋体" panose="02010600030101010101" pitchFamily="2" charset="-122"/>
              </a:rPr>
              <a:t>…</a:t>
            </a:r>
            <a:endParaRPr lang="en-US" altLang="zh-CN" sz="1800">
              <a:solidFill>
                <a:schemeClr val="tx1"/>
              </a:solidFill>
              <a:latin typeface="Arial" panose="020B0604020202020204" pitchFamily="34" charset="0"/>
            </a:endParaRPr>
          </a:p>
        </p:txBody>
      </p:sp>
      <p:sp>
        <p:nvSpPr>
          <p:cNvPr id="28710" name="Rectangle 40" descr="浅色横线">
            <a:extLst>
              <a:ext uri="{FF2B5EF4-FFF2-40B4-BE49-F238E27FC236}">
                <a16:creationId xmlns:a16="http://schemas.microsoft.com/office/drawing/2014/main" id="{B995DF2F-BDAA-5837-BDE3-3783B5B3D7AC}"/>
              </a:ext>
            </a:extLst>
          </p:cNvPr>
          <p:cNvSpPr>
            <a:spLocks noChangeArrowheads="1"/>
          </p:cNvSpPr>
          <p:nvPr/>
        </p:nvSpPr>
        <p:spPr bwMode="auto">
          <a:xfrm>
            <a:off x="3779838" y="4870450"/>
            <a:ext cx="1728787" cy="319088"/>
          </a:xfrm>
          <a:prstGeom prst="rect">
            <a:avLst/>
          </a:prstGeom>
          <a:blipFill dpi="0" rotWithShape="0">
            <a:blip r:embed="rId6"/>
            <a:srcRect/>
            <a:tile tx="0" ty="0" sx="100000" sy="100000" flip="none" algn="tl"/>
          </a:blip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8711" name="Line 41">
            <a:extLst>
              <a:ext uri="{FF2B5EF4-FFF2-40B4-BE49-F238E27FC236}">
                <a16:creationId xmlns:a16="http://schemas.microsoft.com/office/drawing/2014/main" id="{996B9675-13FB-1B02-006D-ACD90635F97A}"/>
              </a:ext>
            </a:extLst>
          </p:cNvPr>
          <p:cNvSpPr>
            <a:spLocks noChangeShapeType="1"/>
          </p:cNvSpPr>
          <p:nvPr/>
        </p:nvSpPr>
        <p:spPr bwMode="auto">
          <a:xfrm>
            <a:off x="2484438" y="3644900"/>
            <a:ext cx="1223962" cy="576263"/>
          </a:xfrm>
          <a:prstGeom prst="line">
            <a:avLst/>
          </a:prstGeom>
          <a:noFill/>
          <a:ln w="2857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12" name="Line 42">
            <a:extLst>
              <a:ext uri="{FF2B5EF4-FFF2-40B4-BE49-F238E27FC236}">
                <a16:creationId xmlns:a16="http://schemas.microsoft.com/office/drawing/2014/main" id="{92018B78-3A2A-CA1F-47F0-37C95F7363C1}"/>
              </a:ext>
            </a:extLst>
          </p:cNvPr>
          <p:cNvSpPr>
            <a:spLocks noChangeShapeType="1"/>
          </p:cNvSpPr>
          <p:nvPr/>
        </p:nvSpPr>
        <p:spPr bwMode="auto">
          <a:xfrm>
            <a:off x="2484438" y="2925763"/>
            <a:ext cx="1223962" cy="647700"/>
          </a:xfrm>
          <a:prstGeom prst="line">
            <a:avLst/>
          </a:prstGeom>
          <a:noFill/>
          <a:ln w="2857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13" name="Line 43">
            <a:extLst>
              <a:ext uri="{FF2B5EF4-FFF2-40B4-BE49-F238E27FC236}">
                <a16:creationId xmlns:a16="http://schemas.microsoft.com/office/drawing/2014/main" id="{FB745C54-C449-5A86-26CC-23F18E1B804D}"/>
              </a:ext>
            </a:extLst>
          </p:cNvPr>
          <p:cNvSpPr>
            <a:spLocks noChangeShapeType="1"/>
          </p:cNvSpPr>
          <p:nvPr/>
        </p:nvSpPr>
        <p:spPr bwMode="auto">
          <a:xfrm>
            <a:off x="2484438" y="1844675"/>
            <a:ext cx="1223962" cy="647700"/>
          </a:xfrm>
          <a:prstGeom prst="line">
            <a:avLst/>
          </a:prstGeom>
          <a:noFill/>
          <a:ln w="2857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14" name="Rectangle 44">
            <a:extLst>
              <a:ext uri="{FF2B5EF4-FFF2-40B4-BE49-F238E27FC236}">
                <a16:creationId xmlns:a16="http://schemas.microsoft.com/office/drawing/2014/main" id="{37AFF9B8-404B-56FE-87BA-79111E85267A}"/>
              </a:ext>
            </a:extLst>
          </p:cNvPr>
          <p:cNvSpPr>
            <a:spLocks noChangeArrowheads="1"/>
          </p:cNvSpPr>
          <p:nvPr/>
        </p:nvSpPr>
        <p:spPr bwMode="auto">
          <a:xfrm>
            <a:off x="6516688" y="2060575"/>
            <a:ext cx="1944687"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zh-CN" altLang="en-US" sz="2000">
                <a:solidFill>
                  <a:schemeClr val="tx1"/>
                </a:solidFill>
                <a:latin typeface="Arial" panose="020B0604020202020204" pitchFamily="34" charset="0"/>
              </a:rPr>
              <a:t>磁盘块</a:t>
            </a:r>
          </a:p>
        </p:txBody>
      </p:sp>
      <p:sp>
        <p:nvSpPr>
          <p:cNvPr id="28715" name="Rectangle 45">
            <a:extLst>
              <a:ext uri="{FF2B5EF4-FFF2-40B4-BE49-F238E27FC236}">
                <a16:creationId xmlns:a16="http://schemas.microsoft.com/office/drawing/2014/main" id="{3F93D336-1A88-7C80-E478-649B7971DB07}"/>
              </a:ext>
            </a:extLst>
          </p:cNvPr>
          <p:cNvSpPr>
            <a:spLocks noChangeArrowheads="1"/>
          </p:cNvSpPr>
          <p:nvPr/>
        </p:nvSpPr>
        <p:spPr bwMode="auto">
          <a:xfrm>
            <a:off x="1042988" y="5732463"/>
            <a:ext cx="1441450" cy="287337"/>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en-US" altLang="zh-CN" sz="1800">
                <a:solidFill>
                  <a:schemeClr val="tx1"/>
                </a:solidFill>
                <a:latin typeface="Arial" panose="020B0604020202020204" pitchFamily="34" charset="0"/>
              </a:rPr>
              <a:t>a.c 2010</a:t>
            </a:r>
          </a:p>
        </p:txBody>
      </p:sp>
      <p:sp>
        <p:nvSpPr>
          <p:cNvPr id="28716" name="Line 46">
            <a:extLst>
              <a:ext uri="{FF2B5EF4-FFF2-40B4-BE49-F238E27FC236}">
                <a16:creationId xmlns:a16="http://schemas.microsoft.com/office/drawing/2014/main" id="{F040F628-6FB3-F48F-55CF-3BA16DBCD566}"/>
              </a:ext>
            </a:extLst>
          </p:cNvPr>
          <p:cNvSpPr>
            <a:spLocks noChangeShapeType="1"/>
          </p:cNvSpPr>
          <p:nvPr/>
        </p:nvSpPr>
        <p:spPr bwMode="auto">
          <a:xfrm flipV="1">
            <a:off x="2484438" y="4508500"/>
            <a:ext cx="1223962" cy="1368425"/>
          </a:xfrm>
          <a:prstGeom prst="line">
            <a:avLst/>
          </a:prstGeom>
          <a:noFill/>
          <a:ln w="25400">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17" name="Rectangle 47">
            <a:extLst>
              <a:ext uri="{FF2B5EF4-FFF2-40B4-BE49-F238E27FC236}">
                <a16:creationId xmlns:a16="http://schemas.microsoft.com/office/drawing/2014/main" id="{9F75F00B-14AA-188F-7446-5856648DD441}"/>
              </a:ext>
            </a:extLst>
          </p:cNvPr>
          <p:cNvSpPr>
            <a:spLocks noChangeArrowheads="1"/>
          </p:cNvSpPr>
          <p:nvPr/>
        </p:nvSpPr>
        <p:spPr bwMode="auto">
          <a:xfrm>
            <a:off x="539750" y="4579938"/>
            <a:ext cx="244951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en-US" altLang="zh-CN" sz="2400">
                <a:solidFill>
                  <a:schemeClr val="tx1"/>
                </a:solidFill>
                <a:latin typeface="Arial" panose="020B0604020202020204" pitchFamily="34" charset="0"/>
              </a:rPr>
              <a:t>/home/user1</a:t>
            </a:r>
          </a:p>
          <a:p>
            <a:pPr algn="ctr" eaLnBrk="1" hangingPunct="1">
              <a:spcBef>
                <a:spcPct val="0"/>
              </a:spcBef>
              <a:spcAft>
                <a:spcPct val="0"/>
              </a:spcAft>
              <a:buClrTx/>
              <a:buFontTx/>
              <a:buNone/>
            </a:pPr>
            <a:r>
              <a:rPr lang="zh-CN" altLang="en-US" sz="2400">
                <a:solidFill>
                  <a:schemeClr val="tx1"/>
                </a:solidFill>
                <a:latin typeface="Arial" panose="020B0604020202020204" pitchFamily="34" charset="0"/>
              </a:rPr>
              <a:t>目录文件内容</a:t>
            </a:r>
          </a:p>
        </p:txBody>
      </p:sp>
      <p:sp>
        <p:nvSpPr>
          <p:cNvPr id="28718" name="Rectangle 48">
            <a:extLst>
              <a:ext uri="{FF2B5EF4-FFF2-40B4-BE49-F238E27FC236}">
                <a16:creationId xmlns:a16="http://schemas.microsoft.com/office/drawing/2014/main" id="{7896926F-0621-CBBE-8F24-02C26D3E1D13}"/>
              </a:ext>
            </a:extLst>
          </p:cNvPr>
          <p:cNvSpPr>
            <a:spLocks noChangeArrowheads="1"/>
          </p:cNvSpPr>
          <p:nvPr/>
        </p:nvSpPr>
        <p:spPr bwMode="auto">
          <a:xfrm>
            <a:off x="1044575" y="5443538"/>
            <a:ext cx="1441450" cy="288925"/>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en-US" altLang="zh-CN" sz="1800">
                <a:solidFill>
                  <a:schemeClr val="tx1"/>
                </a:solidFill>
                <a:latin typeface="Arial" panose="020B0604020202020204" pitchFamily="34" charset="0"/>
              </a:rPr>
              <a:t>b.c 2000</a:t>
            </a:r>
          </a:p>
        </p:txBody>
      </p:sp>
      <p:pic>
        <p:nvPicPr>
          <p:cNvPr id="48" name="图片 47">
            <a:extLst>
              <a:ext uri="{FF2B5EF4-FFF2-40B4-BE49-F238E27FC236}">
                <a16:creationId xmlns:a16="http://schemas.microsoft.com/office/drawing/2014/main" id="{202D496A-19E4-997F-4EDD-E4C39C9CFF7D}"/>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071563" y="809625"/>
            <a:ext cx="7272337" cy="545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38DA62F2-35BA-96E2-AE78-7FF568FB701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215900" y="658813"/>
            <a:ext cx="8856663" cy="575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481DB65C-5EDB-B3B3-BA97-A894E0A68064}"/>
              </a:ext>
            </a:extLst>
          </p:cNvPr>
          <p:cNvSpPr>
            <a:spLocks noGrp="1" noChangeArrowheads="1"/>
          </p:cNvSpPr>
          <p:nvPr>
            <p:ph type="title"/>
          </p:nvPr>
        </p:nvSpPr>
        <p:spPr/>
        <p:txBody>
          <a:bodyPr/>
          <a:lstStyle/>
          <a:p>
            <a:endParaRPr lang="zh-CN" altLang="en-US"/>
          </a:p>
        </p:txBody>
      </p:sp>
      <p:sp>
        <p:nvSpPr>
          <p:cNvPr id="29699" name="矩形 4">
            <a:extLst>
              <a:ext uri="{FF2B5EF4-FFF2-40B4-BE49-F238E27FC236}">
                <a16:creationId xmlns:a16="http://schemas.microsoft.com/office/drawing/2014/main" id="{E83FA9FB-CAA6-33D8-1784-B188F94930E5}"/>
              </a:ext>
            </a:extLst>
          </p:cNvPr>
          <p:cNvSpPr>
            <a:spLocks noChangeArrowheads="1"/>
          </p:cNvSpPr>
          <p:nvPr/>
        </p:nvSpPr>
        <p:spPr bwMode="auto">
          <a:xfrm>
            <a:off x="611188" y="549275"/>
            <a:ext cx="77771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defRPr sz="2800" b="1">
                <a:solidFill>
                  <a:srgbClr val="000000"/>
                </a:solidFill>
                <a:latin typeface="AR PL SungtiL GB" charset="0"/>
                <a:ea typeface="宋体" panose="02010600030101010101" pitchFamily="2" charset="-122"/>
              </a:defRPr>
            </a:lvl1pPr>
            <a:lvl2pPr marL="1087438" indent="-45720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pPr eaLnBrk="1" hangingPunct="1"/>
            <a:r>
              <a:rPr lang="zh-CN" altLang="en-GB"/>
              <a:t>链接</a:t>
            </a:r>
          </a:p>
          <a:p>
            <a:pPr lvl="1" eaLnBrk="1" hangingPunct="1"/>
            <a:r>
              <a:rPr lang="zh-CN" altLang="en-GB"/>
              <a:t>建立链接命令：</a:t>
            </a:r>
            <a:r>
              <a:rPr lang="en-GB" altLang="zh-CN"/>
              <a:t>ln  </a:t>
            </a:r>
            <a:r>
              <a:rPr lang="zh-CN" altLang="en-GB"/>
              <a:t>源文件名  链接文件名</a:t>
            </a:r>
            <a:endParaRPr lang="en-GB" altLang="zh-CN"/>
          </a:p>
        </p:txBody>
      </p:sp>
      <p:pic>
        <p:nvPicPr>
          <p:cNvPr id="3" name="图片 2">
            <a:extLst>
              <a:ext uri="{FF2B5EF4-FFF2-40B4-BE49-F238E27FC236}">
                <a16:creationId xmlns:a16="http://schemas.microsoft.com/office/drawing/2014/main" id="{27FD7673-C226-FF7D-4DCA-3FB676231C7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628775"/>
            <a:ext cx="8486775"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4C4E38F6-6B0E-5EBB-F903-7BDB7E1399EF}"/>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30723" name="矩形 2">
            <a:extLst>
              <a:ext uri="{FF2B5EF4-FFF2-40B4-BE49-F238E27FC236}">
                <a16:creationId xmlns:a16="http://schemas.microsoft.com/office/drawing/2014/main" id="{43E881E5-F537-5812-5325-EB633686056F}"/>
              </a:ext>
            </a:extLst>
          </p:cNvPr>
          <p:cNvSpPr>
            <a:spLocks noChangeArrowheads="1"/>
          </p:cNvSpPr>
          <p:nvPr/>
        </p:nvSpPr>
        <p:spPr bwMode="auto">
          <a:xfrm>
            <a:off x="107950" y="396875"/>
            <a:ext cx="719455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4400"/>
              <a:t>3.1.4  </a:t>
            </a:r>
            <a:r>
              <a:rPr lang="zh-CN" altLang="zh-CN" sz="4400"/>
              <a:t>目录结构与路径</a:t>
            </a:r>
            <a:endParaRPr lang="en-US" altLang="zh-CN" sz="4400"/>
          </a:p>
          <a:p>
            <a:r>
              <a:rPr lang="en-US" altLang="zh-CN" sz="4400"/>
              <a:t>     </a:t>
            </a:r>
            <a:r>
              <a:rPr lang="zh-CN" altLang="en-US" sz="4400"/>
              <a:t>（更深入的内容第五章）</a:t>
            </a:r>
          </a:p>
        </p:txBody>
      </p:sp>
      <p:sp>
        <p:nvSpPr>
          <p:cNvPr id="30724" name="矩形 3">
            <a:extLst>
              <a:ext uri="{FF2B5EF4-FFF2-40B4-BE49-F238E27FC236}">
                <a16:creationId xmlns:a16="http://schemas.microsoft.com/office/drawing/2014/main" id="{2F9A44BB-B4A2-035E-E2EA-CE9C5A794549}"/>
              </a:ext>
            </a:extLst>
          </p:cNvPr>
          <p:cNvSpPr>
            <a:spLocks noChangeArrowheads="1"/>
          </p:cNvSpPr>
          <p:nvPr/>
        </p:nvSpPr>
        <p:spPr bwMode="auto">
          <a:xfrm>
            <a:off x="215900" y="1703388"/>
            <a:ext cx="8712200"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3600"/>
              <a:t>UNIX/Linux</a:t>
            </a:r>
            <a:r>
              <a:rPr lang="zh-CN" altLang="zh-CN" sz="3600"/>
              <a:t>系统</a:t>
            </a:r>
            <a:r>
              <a:rPr lang="zh-CN" altLang="zh-CN" sz="4400">
                <a:latin typeface="黑体" panose="02010609060101010101" pitchFamily="49" charset="-122"/>
                <a:ea typeface="黑体" panose="02010609060101010101" pitchFamily="49" charset="-122"/>
              </a:rPr>
              <a:t>采用树型目录结构组织</a:t>
            </a:r>
            <a:r>
              <a:rPr lang="zh-CN" altLang="en-US" sz="4400">
                <a:latin typeface="黑体" panose="02010609060101010101" pitchFamily="49" charset="-122"/>
                <a:ea typeface="黑体" panose="02010609060101010101" pitchFamily="49" charset="-122"/>
              </a:rPr>
              <a:t>文件系统</a:t>
            </a:r>
            <a:r>
              <a:rPr lang="zh-CN" altLang="zh-CN" sz="4400"/>
              <a:t>。</a:t>
            </a:r>
            <a:endParaRPr lang="en-US" altLang="zh-CN" sz="4400"/>
          </a:p>
          <a:p>
            <a:r>
              <a:rPr lang="zh-CN" altLang="zh-CN" sz="3600"/>
              <a:t>整个文件系统</a:t>
            </a:r>
            <a:r>
              <a:rPr lang="zh-CN" altLang="zh-CN" sz="4400">
                <a:solidFill>
                  <a:srgbClr val="FF0000"/>
                </a:solidFill>
                <a:latin typeface="黑体" panose="02010609060101010101" pitchFamily="49" charset="-122"/>
                <a:ea typeface="黑体" panose="02010609060101010101" pitchFamily="49" charset="-122"/>
              </a:rPr>
              <a:t>只有一个“根”</a:t>
            </a:r>
            <a:r>
              <a:rPr lang="zh-CN" altLang="zh-CN" sz="3600"/>
              <a:t>（</a:t>
            </a:r>
            <a:r>
              <a:rPr lang="en-US" altLang="zh-CN" sz="3600"/>
              <a:t>root</a:t>
            </a:r>
            <a:r>
              <a:rPr lang="zh-CN" altLang="en-US" sz="3600"/>
              <a:t>，</a:t>
            </a:r>
            <a:r>
              <a:rPr lang="zh-CN" altLang="zh-CN" sz="3600"/>
              <a:t>用“</a:t>
            </a:r>
            <a:r>
              <a:rPr lang="en-US" altLang="zh-CN" sz="3600"/>
              <a:t>/</a:t>
            </a:r>
            <a:r>
              <a:rPr lang="zh-CN" altLang="zh-CN" sz="3600"/>
              <a:t>”表示）</a:t>
            </a:r>
            <a:r>
              <a:rPr lang="zh-CN" altLang="en-US" sz="3600"/>
              <a:t>。</a:t>
            </a:r>
            <a:r>
              <a:rPr lang="zh-CN" altLang="zh-CN" sz="3600"/>
              <a:t>在根上分“杈”（</a:t>
            </a:r>
            <a:r>
              <a:rPr lang="en-US" altLang="zh-CN" sz="3600"/>
              <a:t>directory</a:t>
            </a:r>
            <a:r>
              <a:rPr lang="zh-CN" altLang="zh-CN" sz="3600"/>
              <a:t>），任何一个分杈上都可以再分杈，也可以长出“叶子”。</a:t>
            </a:r>
            <a:endParaRPr lang="en-US" altLang="zh-CN" sz="3600"/>
          </a:p>
          <a:p>
            <a:r>
              <a:rPr lang="zh-CN" altLang="zh-CN" sz="3600"/>
              <a:t>“根”和“杈”在被称为“目录”或“文件夹”，而“叶子”则是一个个文件。</a:t>
            </a:r>
            <a:endParaRPr lang="zh-CN" altLang="en-US" sz="3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F14C159B-8B77-A581-6131-B736B2A2812B}"/>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31747" name="矩形 2">
            <a:extLst>
              <a:ext uri="{FF2B5EF4-FFF2-40B4-BE49-F238E27FC236}">
                <a16:creationId xmlns:a16="http://schemas.microsoft.com/office/drawing/2014/main" id="{79998D17-7F39-F88A-73A4-24C2EE484E54}"/>
              </a:ext>
            </a:extLst>
          </p:cNvPr>
          <p:cNvSpPr>
            <a:spLocks noChangeArrowheads="1"/>
          </p:cNvSpPr>
          <p:nvPr/>
        </p:nvSpPr>
        <p:spPr bwMode="auto">
          <a:xfrm>
            <a:off x="179388" y="620713"/>
            <a:ext cx="5580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a:t>UNIX/Linux</a:t>
            </a:r>
            <a:r>
              <a:rPr lang="zh-CN" altLang="zh-CN"/>
              <a:t>系统的目录结构</a:t>
            </a:r>
            <a:endParaRPr lang="zh-CN" altLang="en-US"/>
          </a:p>
        </p:txBody>
      </p:sp>
      <p:pic>
        <p:nvPicPr>
          <p:cNvPr id="31748" name="Picture 2" descr="3t1">
            <a:extLst>
              <a:ext uri="{FF2B5EF4-FFF2-40B4-BE49-F238E27FC236}">
                <a16:creationId xmlns:a16="http://schemas.microsoft.com/office/drawing/2014/main" id="{0206366C-C09F-0D29-3293-5EE6015A4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150938"/>
            <a:ext cx="8569325" cy="501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2AD2A086-7F51-CCB0-8C44-DBA1F708297E}"/>
              </a:ext>
            </a:extLst>
          </p:cNvPr>
          <p:cNvSpPr>
            <a:spLocks noGrp="1" noChangeArrowheads="1"/>
          </p:cNvSpPr>
          <p:nvPr>
            <p:ph type="title"/>
          </p:nvPr>
        </p:nvSpPr>
        <p:spPr/>
        <p:txBody>
          <a:bodyPr/>
          <a:lstStyle/>
          <a:p>
            <a:r>
              <a:rPr lang="en-US" altLang="zh-CN" b="0"/>
              <a:t>Linux </a:t>
            </a:r>
            <a:r>
              <a:rPr lang="zh-CN" altLang="en-US" b="0"/>
              <a:t>系统的根目录结构说明</a:t>
            </a:r>
            <a:endParaRPr lang="zh-CN" altLang="en-US"/>
          </a:p>
        </p:txBody>
      </p:sp>
      <p:sp>
        <p:nvSpPr>
          <p:cNvPr id="32771" name="Rectangle 3">
            <a:extLst>
              <a:ext uri="{FF2B5EF4-FFF2-40B4-BE49-F238E27FC236}">
                <a16:creationId xmlns:a16="http://schemas.microsoft.com/office/drawing/2014/main" id="{A75DB346-8726-CDE2-8648-1AE48668D4EC}"/>
              </a:ext>
            </a:extLst>
          </p:cNvPr>
          <p:cNvSpPr txBox="1">
            <a:spLocks noChangeArrowheads="1"/>
          </p:cNvSpPr>
          <p:nvPr/>
        </p:nvSpPr>
        <p:spPr bwMode="auto">
          <a:xfrm>
            <a:off x="457200" y="620713"/>
            <a:ext cx="8147050" cy="576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spcBef>
                <a:spcPct val="20000"/>
              </a:spcBef>
              <a:buFont typeface="StarSymbol" charset="0"/>
              <a:buBlip>
                <a:blip r:embed="rId2"/>
              </a:buBlip>
            </a:pPr>
            <a:r>
              <a:rPr lang="en-GB" altLang="zh-CN">
                <a:solidFill>
                  <a:srgbClr val="FF0000"/>
                </a:solidFill>
                <a:latin typeface="Times New Roman" panose="02020603050405020304" pitchFamily="18" charset="0"/>
              </a:rPr>
              <a:t>Linux</a:t>
            </a:r>
            <a:r>
              <a:rPr lang="zh-CN" altLang="en-GB">
                <a:solidFill>
                  <a:srgbClr val="FF0000"/>
                </a:solidFill>
                <a:latin typeface="Times New Roman" panose="02020603050405020304" pitchFamily="18" charset="0"/>
              </a:rPr>
              <a:t>的目录结构（部分）</a:t>
            </a:r>
            <a:endParaRPr lang="en-GB" altLang="zh-CN">
              <a:solidFill>
                <a:srgbClr val="FF0000"/>
              </a:solidFill>
              <a:latin typeface="Times New Roman" panose="02020603050405020304" pitchFamily="18" charset="0"/>
            </a:endParaRPr>
          </a:p>
        </p:txBody>
      </p:sp>
      <p:sp>
        <p:nvSpPr>
          <p:cNvPr id="32772" name="Text Box 5">
            <a:extLst>
              <a:ext uri="{FF2B5EF4-FFF2-40B4-BE49-F238E27FC236}">
                <a16:creationId xmlns:a16="http://schemas.microsoft.com/office/drawing/2014/main" id="{9DB5E7C6-A943-01CB-51A6-186FCD1461A1}"/>
              </a:ext>
            </a:extLst>
          </p:cNvPr>
          <p:cNvSpPr txBox="1">
            <a:spLocks noChangeArrowheads="1"/>
          </p:cNvSpPr>
          <p:nvPr/>
        </p:nvSpPr>
        <p:spPr bwMode="auto">
          <a:xfrm>
            <a:off x="395288" y="3165475"/>
            <a:ext cx="1295400" cy="476250"/>
          </a:xfrm>
          <a:prstGeom prst="rect">
            <a:avLst/>
          </a:prstGeom>
          <a:solidFill>
            <a:schemeClr val="bg1"/>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latin typeface="Times New Roman" panose="02020603050405020304" pitchFamily="18" charset="0"/>
              </a:rPr>
              <a:t>根目录</a:t>
            </a:r>
            <a:r>
              <a:rPr lang="en-US" altLang="zh-CN" sz="2400">
                <a:latin typeface="Times New Roman" panose="02020603050405020304" pitchFamily="18" charset="0"/>
              </a:rPr>
              <a:t>/</a:t>
            </a:r>
          </a:p>
        </p:txBody>
      </p:sp>
      <p:sp>
        <p:nvSpPr>
          <p:cNvPr id="32773" name="Line 6">
            <a:extLst>
              <a:ext uri="{FF2B5EF4-FFF2-40B4-BE49-F238E27FC236}">
                <a16:creationId xmlns:a16="http://schemas.microsoft.com/office/drawing/2014/main" id="{A918B8A9-6B26-6FE1-07EA-D952E6B4DC0E}"/>
              </a:ext>
            </a:extLst>
          </p:cNvPr>
          <p:cNvSpPr>
            <a:spLocks noChangeShapeType="1"/>
          </p:cNvSpPr>
          <p:nvPr/>
        </p:nvSpPr>
        <p:spPr bwMode="auto">
          <a:xfrm>
            <a:off x="1690688" y="3354388"/>
            <a:ext cx="287337"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4" name="Line 7">
            <a:extLst>
              <a:ext uri="{FF2B5EF4-FFF2-40B4-BE49-F238E27FC236}">
                <a16:creationId xmlns:a16="http://schemas.microsoft.com/office/drawing/2014/main" id="{4A5634B1-8DCC-9964-3C8D-4EE37F83581F}"/>
              </a:ext>
            </a:extLst>
          </p:cNvPr>
          <p:cNvSpPr>
            <a:spLocks noChangeShapeType="1"/>
          </p:cNvSpPr>
          <p:nvPr/>
        </p:nvSpPr>
        <p:spPr bwMode="auto">
          <a:xfrm>
            <a:off x="1978025" y="1409700"/>
            <a:ext cx="0" cy="475297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5" name="Line 8">
            <a:extLst>
              <a:ext uri="{FF2B5EF4-FFF2-40B4-BE49-F238E27FC236}">
                <a16:creationId xmlns:a16="http://schemas.microsoft.com/office/drawing/2014/main" id="{0A207446-FD5E-80E7-ACE4-98CF4C482933}"/>
              </a:ext>
            </a:extLst>
          </p:cNvPr>
          <p:cNvSpPr>
            <a:spLocks noChangeShapeType="1"/>
          </p:cNvSpPr>
          <p:nvPr/>
        </p:nvSpPr>
        <p:spPr bwMode="auto">
          <a:xfrm>
            <a:off x="1978025" y="1409700"/>
            <a:ext cx="21748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6" name="Rectangle 10">
            <a:extLst>
              <a:ext uri="{FF2B5EF4-FFF2-40B4-BE49-F238E27FC236}">
                <a16:creationId xmlns:a16="http://schemas.microsoft.com/office/drawing/2014/main" id="{715F16D9-8B51-58C0-14D5-23DD438BF999}"/>
              </a:ext>
            </a:extLst>
          </p:cNvPr>
          <p:cNvSpPr>
            <a:spLocks noChangeArrowheads="1"/>
          </p:cNvSpPr>
          <p:nvPr/>
        </p:nvSpPr>
        <p:spPr bwMode="auto">
          <a:xfrm>
            <a:off x="2195513" y="1265238"/>
            <a:ext cx="2087562" cy="288925"/>
          </a:xfrm>
          <a:prstGeom prst="rect">
            <a:avLst/>
          </a:prstGeom>
          <a:solidFill>
            <a:schemeClr val="bg1"/>
          </a:solidFill>
          <a:ln w="190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en-US" altLang="zh-CN" sz="2400">
                <a:latin typeface="Times New Roman" panose="02020603050405020304" pitchFamily="18" charset="0"/>
              </a:rPr>
              <a:t>bin</a:t>
            </a:r>
          </a:p>
        </p:txBody>
      </p:sp>
      <p:sp>
        <p:nvSpPr>
          <p:cNvPr id="32777" name="Line 11">
            <a:extLst>
              <a:ext uri="{FF2B5EF4-FFF2-40B4-BE49-F238E27FC236}">
                <a16:creationId xmlns:a16="http://schemas.microsoft.com/office/drawing/2014/main" id="{69B24A24-477D-BCCA-4F65-BC8D898769DD}"/>
              </a:ext>
            </a:extLst>
          </p:cNvPr>
          <p:cNvSpPr>
            <a:spLocks noChangeShapeType="1"/>
          </p:cNvSpPr>
          <p:nvPr/>
        </p:nvSpPr>
        <p:spPr bwMode="auto">
          <a:xfrm>
            <a:off x="1978025" y="1841500"/>
            <a:ext cx="21748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8" name="Rectangle 12">
            <a:extLst>
              <a:ext uri="{FF2B5EF4-FFF2-40B4-BE49-F238E27FC236}">
                <a16:creationId xmlns:a16="http://schemas.microsoft.com/office/drawing/2014/main" id="{D12CB1AD-AC70-EC04-75E0-C3D8929839AC}"/>
              </a:ext>
            </a:extLst>
          </p:cNvPr>
          <p:cNvSpPr>
            <a:spLocks noChangeArrowheads="1"/>
          </p:cNvSpPr>
          <p:nvPr/>
        </p:nvSpPr>
        <p:spPr bwMode="auto">
          <a:xfrm>
            <a:off x="2195513" y="1697038"/>
            <a:ext cx="2087562" cy="288925"/>
          </a:xfrm>
          <a:prstGeom prst="rect">
            <a:avLst/>
          </a:prstGeom>
          <a:solidFill>
            <a:schemeClr val="bg1"/>
          </a:solidFill>
          <a:ln w="190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en-US" altLang="zh-CN" sz="2400">
                <a:latin typeface="Times New Roman" panose="02020603050405020304" pitchFamily="18" charset="0"/>
              </a:rPr>
              <a:t>boot</a:t>
            </a:r>
          </a:p>
        </p:txBody>
      </p:sp>
      <p:sp>
        <p:nvSpPr>
          <p:cNvPr id="32779" name="Line 13">
            <a:extLst>
              <a:ext uri="{FF2B5EF4-FFF2-40B4-BE49-F238E27FC236}">
                <a16:creationId xmlns:a16="http://schemas.microsoft.com/office/drawing/2014/main" id="{5A3685DB-7C54-89AE-35FA-7E43B035B776}"/>
              </a:ext>
            </a:extLst>
          </p:cNvPr>
          <p:cNvSpPr>
            <a:spLocks noChangeShapeType="1"/>
          </p:cNvSpPr>
          <p:nvPr/>
        </p:nvSpPr>
        <p:spPr bwMode="auto">
          <a:xfrm>
            <a:off x="1978025" y="2273300"/>
            <a:ext cx="21748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0" name="Rectangle 14">
            <a:extLst>
              <a:ext uri="{FF2B5EF4-FFF2-40B4-BE49-F238E27FC236}">
                <a16:creationId xmlns:a16="http://schemas.microsoft.com/office/drawing/2014/main" id="{57B94A06-C9B4-3743-07ED-EDFE58F07013}"/>
              </a:ext>
            </a:extLst>
          </p:cNvPr>
          <p:cNvSpPr>
            <a:spLocks noChangeArrowheads="1"/>
          </p:cNvSpPr>
          <p:nvPr/>
        </p:nvSpPr>
        <p:spPr bwMode="auto">
          <a:xfrm>
            <a:off x="2195513" y="2128838"/>
            <a:ext cx="2087562" cy="288925"/>
          </a:xfrm>
          <a:prstGeom prst="rect">
            <a:avLst/>
          </a:prstGeom>
          <a:solidFill>
            <a:schemeClr val="bg1"/>
          </a:solidFill>
          <a:ln w="190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en-US" altLang="zh-CN" sz="2400">
                <a:latin typeface="Times New Roman" panose="02020603050405020304" pitchFamily="18" charset="0"/>
              </a:rPr>
              <a:t>dev</a:t>
            </a:r>
          </a:p>
        </p:txBody>
      </p:sp>
      <p:sp>
        <p:nvSpPr>
          <p:cNvPr id="32781" name="Line 15">
            <a:extLst>
              <a:ext uri="{FF2B5EF4-FFF2-40B4-BE49-F238E27FC236}">
                <a16:creationId xmlns:a16="http://schemas.microsoft.com/office/drawing/2014/main" id="{41D944DC-6DEE-41E6-5C15-93A2162E8317}"/>
              </a:ext>
            </a:extLst>
          </p:cNvPr>
          <p:cNvSpPr>
            <a:spLocks noChangeShapeType="1"/>
          </p:cNvSpPr>
          <p:nvPr/>
        </p:nvSpPr>
        <p:spPr bwMode="auto">
          <a:xfrm>
            <a:off x="1978025" y="2705100"/>
            <a:ext cx="21748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2" name="Rectangle 16">
            <a:extLst>
              <a:ext uri="{FF2B5EF4-FFF2-40B4-BE49-F238E27FC236}">
                <a16:creationId xmlns:a16="http://schemas.microsoft.com/office/drawing/2014/main" id="{13C5C2BB-F0D1-F180-E643-9906660E6AA9}"/>
              </a:ext>
            </a:extLst>
          </p:cNvPr>
          <p:cNvSpPr>
            <a:spLocks noChangeArrowheads="1"/>
          </p:cNvSpPr>
          <p:nvPr/>
        </p:nvSpPr>
        <p:spPr bwMode="auto">
          <a:xfrm>
            <a:off x="2195513" y="2560638"/>
            <a:ext cx="2087562" cy="288925"/>
          </a:xfrm>
          <a:prstGeom prst="rect">
            <a:avLst/>
          </a:prstGeom>
          <a:solidFill>
            <a:schemeClr val="bg1"/>
          </a:solidFill>
          <a:ln w="190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en-US" altLang="zh-CN" sz="2400">
                <a:latin typeface="Times New Roman" panose="02020603050405020304" pitchFamily="18" charset="0"/>
              </a:rPr>
              <a:t>etc</a:t>
            </a:r>
          </a:p>
        </p:txBody>
      </p:sp>
      <p:sp>
        <p:nvSpPr>
          <p:cNvPr id="32783" name="Line 18">
            <a:extLst>
              <a:ext uri="{FF2B5EF4-FFF2-40B4-BE49-F238E27FC236}">
                <a16:creationId xmlns:a16="http://schemas.microsoft.com/office/drawing/2014/main" id="{A7E00632-AF1A-B45C-BBAC-F31B67FCE891}"/>
              </a:ext>
            </a:extLst>
          </p:cNvPr>
          <p:cNvSpPr>
            <a:spLocks noChangeShapeType="1"/>
          </p:cNvSpPr>
          <p:nvPr/>
        </p:nvSpPr>
        <p:spPr bwMode="auto">
          <a:xfrm>
            <a:off x="1978025" y="3138488"/>
            <a:ext cx="21748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4" name="Rectangle 19">
            <a:extLst>
              <a:ext uri="{FF2B5EF4-FFF2-40B4-BE49-F238E27FC236}">
                <a16:creationId xmlns:a16="http://schemas.microsoft.com/office/drawing/2014/main" id="{561A8F4D-B5D7-235A-974F-F2637002E848}"/>
              </a:ext>
            </a:extLst>
          </p:cNvPr>
          <p:cNvSpPr>
            <a:spLocks noChangeArrowheads="1"/>
          </p:cNvSpPr>
          <p:nvPr/>
        </p:nvSpPr>
        <p:spPr bwMode="auto">
          <a:xfrm>
            <a:off x="2195513" y="2994025"/>
            <a:ext cx="2087562" cy="288925"/>
          </a:xfrm>
          <a:prstGeom prst="rect">
            <a:avLst/>
          </a:prstGeom>
          <a:solidFill>
            <a:schemeClr val="bg1"/>
          </a:solidFill>
          <a:ln w="190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en-US" altLang="zh-CN" sz="2400">
                <a:latin typeface="Times New Roman" panose="02020603050405020304" pitchFamily="18" charset="0"/>
              </a:rPr>
              <a:t>home</a:t>
            </a:r>
          </a:p>
        </p:txBody>
      </p:sp>
      <p:sp>
        <p:nvSpPr>
          <p:cNvPr id="32785" name="Line 20">
            <a:extLst>
              <a:ext uri="{FF2B5EF4-FFF2-40B4-BE49-F238E27FC236}">
                <a16:creationId xmlns:a16="http://schemas.microsoft.com/office/drawing/2014/main" id="{A35FD4ED-0DA3-B599-4C69-5A3C77222C1B}"/>
              </a:ext>
            </a:extLst>
          </p:cNvPr>
          <p:cNvSpPr>
            <a:spLocks noChangeShapeType="1"/>
          </p:cNvSpPr>
          <p:nvPr/>
        </p:nvSpPr>
        <p:spPr bwMode="auto">
          <a:xfrm>
            <a:off x="1978025" y="3570288"/>
            <a:ext cx="21748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6" name="Rectangle 21">
            <a:extLst>
              <a:ext uri="{FF2B5EF4-FFF2-40B4-BE49-F238E27FC236}">
                <a16:creationId xmlns:a16="http://schemas.microsoft.com/office/drawing/2014/main" id="{84CA4309-3A85-C003-C36E-73C2BCB4FE3C}"/>
              </a:ext>
            </a:extLst>
          </p:cNvPr>
          <p:cNvSpPr>
            <a:spLocks noChangeArrowheads="1"/>
          </p:cNvSpPr>
          <p:nvPr/>
        </p:nvSpPr>
        <p:spPr bwMode="auto">
          <a:xfrm>
            <a:off x="2195513" y="3425825"/>
            <a:ext cx="2087562" cy="288925"/>
          </a:xfrm>
          <a:prstGeom prst="rect">
            <a:avLst/>
          </a:prstGeom>
          <a:solidFill>
            <a:schemeClr val="bg1"/>
          </a:solidFill>
          <a:ln w="190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en-US" altLang="zh-CN" sz="2400">
                <a:latin typeface="Times New Roman" panose="02020603050405020304" pitchFamily="18" charset="0"/>
              </a:rPr>
              <a:t>lib</a:t>
            </a:r>
          </a:p>
        </p:txBody>
      </p:sp>
      <p:sp>
        <p:nvSpPr>
          <p:cNvPr id="32787" name="Line 22">
            <a:extLst>
              <a:ext uri="{FF2B5EF4-FFF2-40B4-BE49-F238E27FC236}">
                <a16:creationId xmlns:a16="http://schemas.microsoft.com/office/drawing/2014/main" id="{8E165679-D838-56DF-BBEC-DC9ACE1B6200}"/>
              </a:ext>
            </a:extLst>
          </p:cNvPr>
          <p:cNvSpPr>
            <a:spLocks noChangeShapeType="1"/>
          </p:cNvSpPr>
          <p:nvPr/>
        </p:nvSpPr>
        <p:spPr bwMode="auto">
          <a:xfrm>
            <a:off x="1978025" y="4002088"/>
            <a:ext cx="21748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8" name="Rectangle 23">
            <a:extLst>
              <a:ext uri="{FF2B5EF4-FFF2-40B4-BE49-F238E27FC236}">
                <a16:creationId xmlns:a16="http://schemas.microsoft.com/office/drawing/2014/main" id="{5E60DDA0-2661-799F-2EFD-8FE38E2F72BF}"/>
              </a:ext>
            </a:extLst>
          </p:cNvPr>
          <p:cNvSpPr>
            <a:spLocks noChangeArrowheads="1"/>
          </p:cNvSpPr>
          <p:nvPr/>
        </p:nvSpPr>
        <p:spPr bwMode="auto">
          <a:xfrm>
            <a:off x="2195513" y="3857625"/>
            <a:ext cx="2087562" cy="288925"/>
          </a:xfrm>
          <a:prstGeom prst="rect">
            <a:avLst/>
          </a:prstGeom>
          <a:solidFill>
            <a:schemeClr val="bg1"/>
          </a:solidFill>
          <a:ln w="190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en-US" altLang="zh-CN" sz="2400">
                <a:latin typeface="Times New Roman" panose="02020603050405020304" pitchFamily="18" charset="0"/>
              </a:rPr>
              <a:t>lost+found</a:t>
            </a:r>
          </a:p>
        </p:txBody>
      </p:sp>
      <p:sp>
        <p:nvSpPr>
          <p:cNvPr id="32789" name="Line 24">
            <a:extLst>
              <a:ext uri="{FF2B5EF4-FFF2-40B4-BE49-F238E27FC236}">
                <a16:creationId xmlns:a16="http://schemas.microsoft.com/office/drawing/2014/main" id="{63CB1DC3-6C06-E8BB-F609-EF400AE4CFB2}"/>
              </a:ext>
            </a:extLst>
          </p:cNvPr>
          <p:cNvSpPr>
            <a:spLocks noChangeShapeType="1"/>
          </p:cNvSpPr>
          <p:nvPr/>
        </p:nvSpPr>
        <p:spPr bwMode="auto">
          <a:xfrm>
            <a:off x="1978025" y="4433888"/>
            <a:ext cx="21748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0" name="Rectangle 25">
            <a:extLst>
              <a:ext uri="{FF2B5EF4-FFF2-40B4-BE49-F238E27FC236}">
                <a16:creationId xmlns:a16="http://schemas.microsoft.com/office/drawing/2014/main" id="{9A80AFAC-2106-01DC-A571-308AAE95E0FA}"/>
              </a:ext>
            </a:extLst>
          </p:cNvPr>
          <p:cNvSpPr>
            <a:spLocks noChangeArrowheads="1"/>
          </p:cNvSpPr>
          <p:nvPr/>
        </p:nvSpPr>
        <p:spPr bwMode="auto">
          <a:xfrm>
            <a:off x="2195513" y="4289425"/>
            <a:ext cx="2087562" cy="288925"/>
          </a:xfrm>
          <a:prstGeom prst="rect">
            <a:avLst/>
          </a:prstGeom>
          <a:solidFill>
            <a:schemeClr val="bg1"/>
          </a:solidFill>
          <a:ln w="190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en-US" altLang="zh-CN" sz="2400">
                <a:latin typeface="Times New Roman" panose="02020603050405020304" pitchFamily="18" charset="0"/>
              </a:rPr>
              <a:t>mnt</a:t>
            </a:r>
          </a:p>
        </p:txBody>
      </p:sp>
      <p:sp>
        <p:nvSpPr>
          <p:cNvPr id="32791" name="Line 26">
            <a:extLst>
              <a:ext uri="{FF2B5EF4-FFF2-40B4-BE49-F238E27FC236}">
                <a16:creationId xmlns:a16="http://schemas.microsoft.com/office/drawing/2014/main" id="{5E102C6B-2573-EB55-CA00-9D322416B47C}"/>
              </a:ext>
            </a:extLst>
          </p:cNvPr>
          <p:cNvSpPr>
            <a:spLocks noChangeShapeType="1"/>
          </p:cNvSpPr>
          <p:nvPr/>
        </p:nvSpPr>
        <p:spPr bwMode="auto">
          <a:xfrm>
            <a:off x="1978025" y="4867275"/>
            <a:ext cx="21748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2" name="Rectangle 27">
            <a:extLst>
              <a:ext uri="{FF2B5EF4-FFF2-40B4-BE49-F238E27FC236}">
                <a16:creationId xmlns:a16="http://schemas.microsoft.com/office/drawing/2014/main" id="{D4BAF3F5-3976-242A-BB57-3D50C256F209}"/>
              </a:ext>
            </a:extLst>
          </p:cNvPr>
          <p:cNvSpPr>
            <a:spLocks noChangeArrowheads="1"/>
          </p:cNvSpPr>
          <p:nvPr/>
        </p:nvSpPr>
        <p:spPr bwMode="auto">
          <a:xfrm>
            <a:off x="2195513" y="4722813"/>
            <a:ext cx="2087562" cy="288925"/>
          </a:xfrm>
          <a:prstGeom prst="rect">
            <a:avLst/>
          </a:prstGeom>
          <a:solidFill>
            <a:schemeClr val="bg1"/>
          </a:solidFill>
          <a:ln w="190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en-US" altLang="zh-CN" sz="2400">
                <a:latin typeface="Times New Roman" panose="02020603050405020304" pitchFamily="18" charset="0"/>
              </a:rPr>
              <a:t>proc</a:t>
            </a:r>
          </a:p>
        </p:txBody>
      </p:sp>
      <p:sp>
        <p:nvSpPr>
          <p:cNvPr id="32793" name="Line 28">
            <a:extLst>
              <a:ext uri="{FF2B5EF4-FFF2-40B4-BE49-F238E27FC236}">
                <a16:creationId xmlns:a16="http://schemas.microsoft.com/office/drawing/2014/main" id="{7FB54802-EB8F-3FD7-6F5E-C76D6EF2AC22}"/>
              </a:ext>
            </a:extLst>
          </p:cNvPr>
          <p:cNvSpPr>
            <a:spLocks noChangeShapeType="1"/>
          </p:cNvSpPr>
          <p:nvPr/>
        </p:nvSpPr>
        <p:spPr bwMode="auto">
          <a:xfrm>
            <a:off x="1978025" y="5299075"/>
            <a:ext cx="21748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4" name="Rectangle 29">
            <a:extLst>
              <a:ext uri="{FF2B5EF4-FFF2-40B4-BE49-F238E27FC236}">
                <a16:creationId xmlns:a16="http://schemas.microsoft.com/office/drawing/2014/main" id="{2E4FC938-9DE5-AC44-5D6B-639315FD3563}"/>
              </a:ext>
            </a:extLst>
          </p:cNvPr>
          <p:cNvSpPr>
            <a:spLocks noChangeArrowheads="1"/>
          </p:cNvSpPr>
          <p:nvPr/>
        </p:nvSpPr>
        <p:spPr bwMode="auto">
          <a:xfrm>
            <a:off x="2195513" y="5154613"/>
            <a:ext cx="2087562" cy="288925"/>
          </a:xfrm>
          <a:prstGeom prst="rect">
            <a:avLst/>
          </a:prstGeom>
          <a:solidFill>
            <a:schemeClr val="bg1"/>
          </a:solidFill>
          <a:ln w="190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en-US" altLang="zh-CN" sz="2400">
                <a:latin typeface="Times New Roman" panose="02020603050405020304" pitchFamily="18" charset="0"/>
              </a:rPr>
              <a:t>root</a:t>
            </a:r>
          </a:p>
        </p:txBody>
      </p:sp>
      <p:sp>
        <p:nvSpPr>
          <p:cNvPr id="32795" name="Line 30">
            <a:extLst>
              <a:ext uri="{FF2B5EF4-FFF2-40B4-BE49-F238E27FC236}">
                <a16:creationId xmlns:a16="http://schemas.microsoft.com/office/drawing/2014/main" id="{706D6AC9-9EEC-7842-EEC6-ADED52081DDE}"/>
              </a:ext>
            </a:extLst>
          </p:cNvPr>
          <p:cNvSpPr>
            <a:spLocks noChangeShapeType="1"/>
          </p:cNvSpPr>
          <p:nvPr/>
        </p:nvSpPr>
        <p:spPr bwMode="auto">
          <a:xfrm>
            <a:off x="1978025" y="5730875"/>
            <a:ext cx="21748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6" name="Rectangle 31">
            <a:extLst>
              <a:ext uri="{FF2B5EF4-FFF2-40B4-BE49-F238E27FC236}">
                <a16:creationId xmlns:a16="http://schemas.microsoft.com/office/drawing/2014/main" id="{BD5278CD-6BF7-4E5D-00B5-1ECB2A90E6A3}"/>
              </a:ext>
            </a:extLst>
          </p:cNvPr>
          <p:cNvSpPr>
            <a:spLocks noChangeArrowheads="1"/>
          </p:cNvSpPr>
          <p:nvPr/>
        </p:nvSpPr>
        <p:spPr bwMode="auto">
          <a:xfrm>
            <a:off x="2195513" y="5586413"/>
            <a:ext cx="2087562" cy="288925"/>
          </a:xfrm>
          <a:prstGeom prst="rect">
            <a:avLst/>
          </a:prstGeom>
          <a:solidFill>
            <a:schemeClr val="bg1"/>
          </a:solidFill>
          <a:ln w="190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en-US" altLang="zh-CN" sz="2400">
                <a:latin typeface="Times New Roman" panose="02020603050405020304" pitchFamily="18" charset="0"/>
              </a:rPr>
              <a:t>sbin</a:t>
            </a:r>
          </a:p>
        </p:txBody>
      </p:sp>
      <p:sp>
        <p:nvSpPr>
          <p:cNvPr id="32797" name="Line 32">
            <a:extLst>
              <a:ext uri="{FF2B5EF4-FFF2-40B4-BE49-F238E27FC236}">
                <a16:creationId xmlns:a16="http://schemas.microsoft.com/office/drawing/2014/main" id="{8231D733-4C28-1134-C157-C4F57C904784}"/>
              </a:ext>
            </a:extLst>
          </p:cNvPr>
          <p:cNvSpPr>
            <a:spLocks noChangeShapeType="1"/>
          </p:cNvSpPr>
          <p:nvPr/>
        </p:nvSpPr>
        <p:spPr bwMode="auto">
          <a:xfrm>
            <a:off x="1978025" y="6162675"/>
            <a:ext cx="21748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8" name="Rectangle 33">
            <a:extLst>
              <a:ext uri="{FF2B5EF4-FFF2-40B4-BE49-F238E27FC236}">
                <a16:creationId xmlns:a16="http://schemas.microsoft.com/office/drawing/2014/main" id="{4928A1C0-E9D4-A2DC-6F84-AEB2FE86FBB2}"/>
              </a:ext>
            </a:extLst>
          </p:cNvPr>
          <p:cNvSpPr>
            <a:spLocks noChangeArrowheads="1"/>
          </p:cNvSpPr>
          <p:nvPr/>
        </p:nvSpPr>
        <p:spPr bwMode="auto">
          <a:xfrm>
            <a:off x="2195513" y="6018213"/>
            <a:ext cx="2087562" cy="288925"/>
          </a:xfrm>
          <a:prstGeom prst="rect">
            <a:avLst/>
          </a:prstGeom>
          <a:solidFill>
            <a:schemeClr val="bg1"/>
          </a:solidFill>
          <a:ln w="190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en-US" altLang="zh-CN" sz="2400">
                <a:latin typeface="Times New Roman" panose="02020603050405020304" pitchFamily="18" charset="0"/>
              </a:rPr>
              <a:t>usr</a:t>
            </a:r>
          </a:p>
        </p:txBody>
      </p:sp>
      <p:sp>
        <p:nvSpPr>
          <p:cNvPr id="32799" name="Line 35">
            <a:extLst>
              <a:ext uri="{FF2B5EF4-FFF2-40B4-BE49-F238E27FC236}">
                <a16:creationId xmlns:a16="http://schemas.microsoft.com/office/drawing/2014/main" id="{D14C940E-625A-9AAB-FDB4-8F89218F1191}"/>
              </a:ext>
            </a:extLst>
          </p:cNvPr>
          <p:cNvSpPr>
            <a:spLocks noChangeShapeType="1"/>
          </p:cNvSpPr>
          <p:nvPr/>
        </p:nvSpPr>
        <p:spPr bwMode="auto">
          <a:xfrm>
            <a:off x="4281488" y="1411288"/>
            <a:ext cx="217487" cy="0"/>
          </a:xfrm>
          <a:prstGeom prst="line">
            <a:avLst/>
          </a:prstGeom>
          <a:noFill/>
          <a:ln w="19050">
            <a:solidFill>
              <a:schemeClr val="tx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0" name="Rectangle 36">
            <a:extLst>
              <a:ext uri="{FF2B5EF4-FFF2-40B4-BE49-F238E27FC236}">
                <a16:creationId xmlns:a16="http://schemas.microsoft.com/office/drawing/2014/main" id="{718CF736-7A08-3C8B-FAC1-6A8C6F7494E2}"/>
              </a:ext>
            </a:extLst>
          </p:cNvPr>
          <p:cNvSpPr>
            <a:spLocks noChangeArrowheads="1"/>
          </p:cNvSpPr>
          <p:nvPr/>
        </p:nvSpPr>
        <p:spPr bwMode="auto">
          <a:xfrm>
            <a:off x="4498975" y="1266825"/>
            <a:ext cx="3960813" cy="288925"/>
          </a:xfrm>
          <a:prstGeom prst="rect">
            <a:avLst/>
          </a:prstGeom>
          <a:solidFill>
            <a:schemeClr val="bg1"/>
          </a:solidFill>
          <a:ln w="19050" algn="ctr">
            <a:solidFill>
              <a:schemeClr val="tx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latin typeface="Times New Roman" panose="02020603050405020304" pitchFamily="18" charset="0"/>
              </a:rPr>
              <a:t>常用命令</a:t>
            </a:r>
            <a:endParaRPr lang="en-US" altLang="zh-CN" sz="2400">
              <a:latin typeface="Times New Roman" panose="02020603050405020304" pitchFamily="18" charset="0"/>
            </a:endParaRPr>
          </a:p>
        </p:txBody>
      </p:sp>
      <p:sp>
        <p:nvSpPr>
          <p:cNvPr id="32801" name="Line 37">
            <a:extLst>
              <a:ext uri="{FF2B5EF4-FFF2-40B4-BE49-F238E27FC236}">
                <a16:creationId xmlns:a16="http://schemas.microsoft.com/office/drawing/2014/main" id="{F592240F-75D2-7CD3-A39D-2F41451E3ED0}"/>
              </a:ext>
            </a:extLst>
          </p:cNvPr>
          <p:cNvSpPr>
            <a:spLocks noChangeShapeType="1"/>
          </p:cNvSpPr>
          <p:nvPr/>
        </p:nvSpPr>
        <p:spPr bwMode="auto">
          <a:xfrm>
            <a:off x="4281488" y="1843088"/>
            <a:ext cx="217487" cy="0"/>
          </a:xfrm>
          <a:prstGeom prst="line">
            <a:avLst/>
          </a:prstGeom>
          <a:noFill/>
          <a:ln w="19050">
            <a:solidFill>
              <a:schemeClr val="tx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2" name="Rectangle 38">
            <a:extLst>
              <a:ext uri="{FF2B5EF4-FFF2-40B4-BE49-F238E27FC236}">
                <a16:creationId xmlns:a16="http://schemas.microsoft.com/office/drawing/2014/main" id="{57C04729-320F-0528-C7EA-5329D377D555}"/>
              </a:ext>
            </a:extLst>
          </p:cNvPr>
          <p:cNvSpPr>
            <a:spLocks noChangeArrowheads="1"/>
          </p:cNvSpPr>
          <p:nvPr/>
        </p:nvSpPr>
        <p:spPr bwMode="auto">
          <a:xfrm>
            <a:off x="4498975" y="1698625"/>
            <a:ext cx="3960813" cy="288925"/>
          </a:xfrm>
          <a:prstGeom prst="rect">
            <a:avLst/>
          </a:prstGeom>
          <a:solidFill>
            <a:schemeClr val="bg1"/>
          </a:solidFill>
          <a:ln w="19050" algn="ctr">
            <a:solidFill>
              <a:schemeClr val="tx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latin typeface="Times New Roman" panose="02020603050405020304" pitchFamily="18" charset="0"/>
              </a:rPr>
              <a:t>引导文件</a:t>
            </a:r>
            <a:endParaRPr lang="en-US" altLang="zh-CN" sz="2400">
              <a:latin typeface="Times New Roman" panose="02020603050405020304" pitchFamily="18" charset="0"/>
            </a:endParaRPr>
          </a:p>
        </p:txBody>
      </p:sp>
      <p:sp>
        <p:nvSpPr>
          <p:cNvPr id="32803" name="Line 39">
            <a:extLst>
              <a:ext uri="{FF2B5EF4-FFF2-40B4-BE49-F238E27FC236}">
                <a16:creationId xmlns:a16="http://schemas.microsoft.com/office/drawing/2014/main" id="{8D83AD6D-A41E-33DC-78E9-8B8CFF04C361}"/>
              </a:ext>
            </a:extLst>
          </p:cNvPr>
          <p:cNvSpPr>
            <a:spLocks noChangeShapeType="1"/>
          </p:cNvSpPr>
          <p:nvPr/>
        </p:nvSpPr>
        <p:spPr bwMode="auto">
          <a:xfrm>
            <a:off x="4281488" y="2274888"/>
            <a:ext cx="217487" cy="0"/>
          </a:xfrm>
          <a:prstGeom prst="line">
            <a:avLst/>
          </a:prstGeom>
          <a:noFill/>
          <a:ln w="19050">
            <a:solidFill>
              <a:schemeClr val="tx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4" name="Rectangle 40">
            <a:extLst>
              <a:ext uri="{FF2B5EF4-FFF2-40B4-BE49-F238E27FC236}">
                <a16:creationId xmlns:a16="http://schemas.microsoft.com/office/drawing/2014/main" id="{BD72DAA6-70BC-873E-7333-FA8BD2FE13A5}"/>
              </a:ext>
            </a:extLst>
          </p:cNvPr>
          <p:cNvSpPr>
            <a:spLocks noChangeArrowheads="1"/>
          </p:cNvSpPr>
          <p:nvPr/>
        </p:nvSpPr>
        <p:spPr bwMode="auto">
          <a:xfrm>
            <a:off x="4498975" y="2130425"/>
            <a:ext cx="3960813" cy="288925"/>
          </a:xfrm>
          <a:prstGeom prst="rect">
            <a:avLst/>
          </a:prstGeom>
          <a:solidFill>
            <a:schemeClr val="bg1"/>
          </a:solidFill>
          <a:ln w="19050" algn="ctr">
            <a:solidFill>
              <a:schemeClr val="tx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latin typeface="Times New Roman" panose="02020603050405020304" pitchFamily="18" charset="0"/>
              </a:rPr>
              <a:t>设备文件</a:t>
            </a:r>
            <a:endParaRPr lang="en-US" altLang="zh-CN" sz="2400">
              <a:latin typeface="Times New Roman" panose="02020603050405020304" pitchFamily="18" charset="0"/>
            </a:endParaRPr>
          </a:p>
        </p:txBody>
      </p:sp>
      <p:sp>
        <p:nvSpPr>
          <p:cNvPr id="32805" name="Line 41">
            <a:extLst>
              <a:ext uri="{FF2B5EF4-FFF2-40B4-BE49-F238E27FC236}">
                <a16:creationId xmlns:a16="http://schemas.microsoft.com/office/drawing/2014/main" id="{0CBEFC8A-0493-B8DE-38DD-A3919500693E}"/>
              </a:ext>
            </a:extLst>
          </p:cNvPr>
          <p:cNvSpPr>
            <a:spLocks noChangeShapeType="1"/>
          </p:cNvSpPr>
          <p:nvPr/>
        </p:nvSpPr>
        <p:spPr bwMode="auto">
          <a:xfrm>
            <a:off x="4281488" y="2706688"/>
            <a:ext cx="217487" cy="0"/>
          </a:xfrm>
          <a:prstGeom prst="line">
            <a:avLst/>
          </a:prstGeom>
          <a:noFill/>
          <a:ln w="19050">
            <a:solidFill>
              <a:schemeClr val="tx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6" name="Rectangle 42">
            <a:extLst>
              <a:ext uri="{FF2B5EF4-FFF2-40B4-BE49-F238E27FC236}">
                <a16:creationId xmlns:a16="http://schemas.microsoft.com/office/drawing/2014/main" id="{0A70885E-6E44-B882-65B3-90FBB0A208B1}"/>
              </a:ext>
            </a:extLst>
          </p:cNvPr>
          <p:cNvSpPr>
            <a:spLocks noChangeArrowheads="1"/>
          </p:cNvSpPr>
          <p:nvPr/>
        </p:nvSpPr>
        <p:spPr bwMode="auto">
          <a:xfrm>
            <a:off x="4498975" y="2562225"/>
            <a:ext cx="3960813" cy="288925"/>
          </a:xfrm>
          <a:prstGeom prst="rect">
            <a:avLst/>
          </a:prstGeom>
          <a:solidFill>
            <a:schemeClr val="bg1"/>
          </a:solidFill>
          <a:ln w="19050" algn="ctr">
            <a:solidFill>
              <a:schemeClr val="tx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latin typeface="Times New Roman" panose="02020603050405020304" pitchFamily="18" charset="0"/>
              </a:rPr>
              <a:t>配置文件</a:t>
            </a:r>
            <a:endParaRPr lang="en-US" altLang="zh-CN" sz="2400">
              <a:latin typeface="Times New Roman" panose="02020603050405020304" pitchFamily="18" charset="0"/>
            </a:endParaRPr>
          </a:p>
        </p:txBody>
      </p:sp>
      <p:sp>
        <p:nvSpPr>
          <p:cNvPr id="32807" name="Line 43">
            <a:extLst>
              <a:ext uri="{FF2B5EF4-FFF2-40B4-BE49-F238E27FC236}">
                <a16:creationId xmlns:a16="http://schemas.microsoft.com/office/drawing/2014/main" id="{251DA891-CE21-4317-FF6F-D739BE03F0DD}"/>
              </a:ext>
            </a:extLst>
          </p:cNvPr>
          <p:cNvSpPr>
            <a:spLocks noChangeShapeType="1"/>
          </p:cNvSpPr>
          <p:nvPr/>
        </p:nvSpPr>
        <p:spPr bwMode="auto">
          <a:xfrm>
            <a:off x="4281488" y="3140075"/>
            <a:ext cx="217487" cy="0"/>
          </a:xfrm>
          <a:prstGeom prst="line">
            <a:avLst/>
          </a:prstGeom>
          <a:noFill/>
          <a:ln w="19050">
            <a:solidFill>
              <a:schemeClr val="tx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8" name="Rectangle 44">
            <a:extLst>
              <a:ext uri="{FF2B5EF4-FFF2-40B4-BE49-F238E27FC236}">
                <a16:creationId xmlns:a16="http://schemas.microsoft.com/office/drawing/2014/main" id="{1FF6C6D1-8705-02E4-DD14-3400140AFF80}"/>
              </a:ext>
            </a:extLst>
          </p:cNvPr>
          <p:cNvSpPr>
            <a:spLocks noChangeArrowheads="1"/>
          </p:cNvSpPr>
          <p:nvPr/>
        </p:nvSpPr>
        <p:spPr bwMode="auto">
          <a:xfrm>
            <a:off x="4498975" y="2995613"/>
            <a:ext cx="3960813" cy="288925"/>
          </a:xfrm>
          <a:prstGeom prst="rect">
            <a:avLst/>
          </a:prstGeom>
          <a:solidFill>
            <a:schemeClr val="bg1"/>
          </a:solidFill>
          <a:ln w="19050" algn="ctr">
            <a:solidFill>
              <a:schemeClr val="tx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latin typeface="Times New Roman" panose="02020603050405020304" pitchFamily="18" charset="0"/>
              </a:rPr>
              <a:t>一般用户的主目录</a:t>
            </a:r>
          </a:p>
        </p:txBody>
      </p:sp>
      <p:sp>
        <p:nvSpPr>
          <p:cNvPr id="32809" name="Line 45">
            <a:extLst>
              <a:ext uri="{FF2B5EF4-FFF2-40B4-BE49-F238E27FC236}">
                <a16:creationId xmlns:a16="http://schemas.microsoft.com/office/drawing/2014/main" id="{52317475-1273-2EF2-4B0F-EEDC24CAC939}"/>
              </a:ext>
            </a:extLst>
          </p:cNvPr>
          <p:cNvSpPr>
            <a:spLocks noChangeShapeType="1"/>
          </p:cNvSpPr>
          <p:nvPr/>
        </p:nvSpPr>
        <p:spPr bwMode="auto">
          <a:xfrm>
            <a:off x="4281488" y="3571875"/>
            <a:ext cx="217487" cy="0"/>
          </a:xfrm>
          <a:prstGeom prst="line">
            <a:avLst/>
          </a:prstGeom>
          <a:noFill/>
          <a:ln w="19050">
            <a:solidFill>
              <a:schemeClr val="tx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0" name="Rectangle 46">
            <a:extLst>
              <a:ext uri="{FF2B5EF4-FFF2-40B4-BE49-F238E27FC236}">
                <a16:creationId xmlns:a16="http://schemas.microsoft.com/office/drawing/2014/main" id="{3321D264-6CDB-5EB8-2EAF-AA727234C804}"/>
              </a:ext>
            </a:extLst>
          </p:cNvPr>
          <p:cNvSpPr>
            <a:spLocks noChangeArrowheads="1"/>
          </p:cNvSpPr>
          <p:nvPr/>
        </p:nvSpPr>
        <p:spPr bwMode="auto">
          <a:xfrm>
            <a:off x="4498975" y="3427413"/>
            <a:ext cx="3960813" cy="288925"/>
          </a:xfrm>
          <a:prstGeom prst="rect">
            <a:avLst/>
          </a:prstGeom>
          <a:solidFill>
            <a:schemeClr val="bg1"/>
          </a:solidFill>
          <a:ln w="19050" algn="ctr">
            <a:solidFill>
              <a:schemeClr val="tx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latin typeface="Times New Roman" panose="02020603050405020304" pitchFamily="18" charset="0"/>
              </a:rPr>
              <a:t>程序库目录</a:t>
            </a:r>
          </a:p>
        </p:txBody>
      </p:sp>
      <p:sp>
        <p:nvSpPr>
          <p:cNvPr id="32811" name="Line 47">
            <a:extLst>
              <a:ext uri="{FF2B5EF4-FFF2-40B4-BE49-F238E27FC236}">
                <a16:creationId xmlns:a16="http://schemas.microsoft.com/office/drawing/2014/main" id="{C591490E-82C2-1F2C-308B-B1DEB1BC7677}"/>
              </a:ext>
            </a:extLst>
          </p:cNvPr>
          <p:cNvSpPr>
            <a:spLocks noChangeShapeType="1"/>
          </p:cNvSpPr>
          <p:nvPr/>
        </p:nvSpPr>
        <p:spPr bwMode="auto">
          <a:xfrm>
            <a:off x="4281488" y="4003675"/>
            <a:ext cx="217487" cy="0"/>
          </a:xfrm>
          <a:prstGeom prst="line">
            <a:avLst/>
          </a:prstGeom>
          <a:noFill/>
          <a:ln w="19050">
            <a:solidFill>
              <a:schemeClr val="tx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2" name="Rectangle 48">
            <a:extLst>
              <a:ext uri="{FF2B5EF4-FFF2-40B4-BE49-F238E27FC236}">
                <a16:creationId xmlns:a16="http://schemas.microsoft.com/office/drawing/2014/main" id="{7C42B62D-F1B7-0F6F-CC1E-07BBC4E70EA1}"/>
              </a:ext>
            </a:extLst>
          </p:cNvPr>
          <p:cNvSpPr>
            <a:spLocks noChangeArrowheads="1"/>
          </p:cNvSpPr>
          <p:nvPr/>
        </p:nvSpPr>
        <p:spPr bwMode="auto">
          <a:xfrm>
            <a:off x="4498975" y="3859213"/>
            <a:ext cx="3960813" cy="288925"/>
          </a:xfrm>
          <a:prstGeom prst="rect">
            <a:avLst/>
          </a:prstGeom>
          <a:solidFill>
            <a:schemeClr val="bg1"/>
          </a:solidFill>
          <a:ln w="19050" algn="ctr">
            <a:solidFill>
              <a:schemeClr val="tx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latin typeface="Times New Roman" panose="02020603050405020304" pitchFamily="18" charset="0"/>
              </a:rPr>
              <a:t>恢复文件目录</a:t>
            </a:r>
            <a:endParaRPr lang="en-US" altLang="zh-CN" sz="2400">
              <a:latin typeface="Times New Roman" panose="02020603050405020304" pitchFamily="18" charset="0"/>
            </a:endParaRPr>
          </a:p>
        </p:txBody>
      </p:sp>
      <p:sp>
        <p:nvSpPr>
          <p:cNvPr id="32813" name="Line 49">
            <a:extLst>
              <a:ext uri="{FF2B5EF4-FFF2-40B4-BE49-F238E27FC236}">
                <a16:creationId xmlns:a16="http://schemas.microsoft.com/office/drawing/2014/main" id="{E9C4B965-82B5-2C31-C5FD-A1138135F6B0}"/>
              </a:ext>
            </a:extLst>
          </p:cNvPr>
          <p:cNvSpPr>
            <a:spLocks noChangeShapeType="1"/>
          </p:cNvSpPr>
          <p:nvPr/>
        </p:nvSpPr>
        <p:spPr bwMode="auto">
          <a:xfrm>
            <a:off x="4281488" y="4435475"/>
            <a:ext cx="217487" cy="0"/>
          </a:xfrm>
          <a:prstGeom prst="line">
            <a:avLst/>
          </a:prstGeom>
          <a:noFill/>
          <a:ln w="19050">
            <a:solidFill>
              <a:schemeClr val="tx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4" name="Rectangle 50">
            <a:extLst>
              <a:ext uri="{FF2B5EF4-FFF2-40B4-BE49-F238E27FC236}">
                <a16:creationId xmlns:a16="http://schemas.microsoft.com/office/drawing/2014/main" id="{2FF9F348-9141-9B5C-2E97-4450472C3B44}"/>
              </a:ext>
            </a:extLst>
          </p:cNvPr>
          <p:cNvSpPr>
            <a:spLocks noChangeArrowheads="1"/>
          </p:cNvSpPr>
          <p:nvPr/>
        </p:nvSpPr>
        <p:spPr bwMode="auto">
          <a:xfrm>
            <a:off x="4498975" y="4291013"/>
            <a:ext cx="3960813" cy="288925"/>
          </a:xfrm>
          <a:prstGeom prst="rect">
            <a:avLst/>
          </a:prstGeom>
          <a:solidFill>
            <a:schemeClr val="bg1"/>
          </a:solidFill>
          <a:ln w="19050" algn="ctr">
            <a:solidFill>
              <a:schemeClr val="tx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latin typeface="Times New Roman" panose="02020603050405020304" pitchFamily="18" charset="0"/>
              </a:rPr>
              <a:t>磁盘挂载目录</a:t>
            </a:r>
          </a:p>
        </p:txBody>
      </p:sp>
      <p:sp>
        <p:nvSpPr>
          <p:cNvPr id="32815" name="Line 51">
            <a:extLst>
              <a:ext uri="{FF2B5EF4-FFF2-40B4-BE49-F238E27FC236}">
                <a16:creationId xmlns:a16="http://schemas.microsoft.com/office/drawing/2014/main" id="{04053D7E-6BC3-A1B8-628C-89E122E8A6B6}"/>
              </a:ext>
            </a:extLst>
          </p:cNvPr>
          <p:cNvSpPr>
            <a:spLocks noChangeShapeType="1"/>
          </p:cNvSpPr>
          <p:nvPr/>
        </p:nvSpPr>
        <p:spPr bwMode="auto">
          <a:xfrm>
            <a:off x="4281488" y="4868863"/>
            <a:ext cx="217487" cy="0"/>
          </a:xfrm>
          <a:prstGeom prst="line">
            <a:avLst/>
          </a:prstGeom>
          <a:noFill/>
          <a:ln w="19050">
            <a:solidFill>
              <a:schemeClr val="tx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6" name="Rectangle 52">
            <a:extLst>
              <a:ext uri="{FF2B5EF4-FFF2-40B4-BE49-F238E27FC236}">
                <a16:creationId xmlns:a16="http://schemas.microsoft.com/office/drawing/2014/main" id="{AB75A647-D02C-1503-4188-029C3F3DC609}"/>
              </a:ext>
            </a:extLst>
          </p:cNvPr>
          <p:cNvSpPr>
            <a:spLocks noChangeArrowheads="1"/>
          </p:cNvSpPr>
          <p:nvPr/>
        </p:nvSpPr>
        <p:spPr bwMode="auto">
          <a:xfrm>
            <a:off x="4498975" y="4724400"/>
            <a:ext cx="3960813" cy="288925"/>
          </a:xfrm>
          <a:prstGeom prst="rect">
            <a:avLst/>
          </a:prstGeom>
          <a:solidFill>
            <a:schemeClr val="bg1"/>
          </a:solidFill>
          <a:ln w="19050" algn="ctr">
            <a:solidFill>
              <a:schemeClr val="tx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latin typeface="Times New Roman" panose="02020603050405020304" pitchFamily="18" charset="0"/>
              </a:rPr>
              <a:t>进程信息目录</a:t>
            </a:r>
            <a:endParaRPr lang="en-US" altLang="zh-CN" sz="2400">
              <a:latin typeface="Times New Roman" panose="02020603050405020304" pitchFamily="18" charset="0"/>
            </a:endParaRPr>
          </a:p>
        </p:txBody>
      </p:sp>
      <p:sp>
        <p:nvSpPr>
          <p:cNvPr id="32817" name="Line 53">
            <a:extLst>
              <a:ext uri="{FF2B5EF4-FFF2-40B4-BE49-F238E27FC236}">
                <a16:creationId xmlns:a16="http://schemas.microsoft.com/office/drawing/2014/main" id="{82BF3312-701E-66A3-18DE-5ADD69B35E28}"/>
              </a:ext>
            </a:extLst>
          </p:cNvPr>
          <p:cNvSpPr>
            <a:spLocks noChangeShapeType="1"/>
          </p:cNvSpPr>
          <p:nvPr/>
        </p:nvSpPr>
        <p:spPr bwMode="auto">
          <a:xfrm>
            <a:off x="4281488" y="5300663"/>
            <a:ext cx="217487" cy="0"/>
          </a:xfrm>
          <a:prstGeom prst="line">
            <a:avLst/>
          </a:prstGeom>
          <a:noFill/>
          <a:ln w="19050">
            <a:solidFill>
              <a:schemeClr val="tx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8" name="Rectangle 54">
            <a:extLst>
              <a:ext uri="{FF2B5EF4-FFF2-40B4-BE49-F238E27FC236}">
                <a16:creationId xmlns:a16="http://schemas.microsoft.com/office/drawing/2014/main" id="{8C537165-727A-000C-269A-11BB937F860E}"/>
              </a:ext>
            </a:extLst>
          </p:cNvPr>
          <p:cNvSpPr>
            <a:spLocks noChangeArrowheads="1"/>
          </p:cNvSpPr>
          <p:nvPr/>
        </p:nvSpPr>
        <p:spPr bwMode="auto">
          <a:xfrm>
            <a:off x="4498975" y="5156200"/>
            <a:ext cx="3960813" cy="288925"/>
          </a:xfrm>
          <a:prstGeom prst="rect">
            <a:avLst/>
          </a:prstGeom>
          <a:solidFill>
            <a:schemeClr val="bg1"/>
          </a:solidFill>
          <a:ln w="19050" algn="ctr">
            <a:solidFill>
              <a:schemeClr val="tx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en-US" altLang="zh-CN" sz="2400">
                <a:latin typeface="Times New Roman" panose="02020603050405020304" pitchFamily="18" charset="0"/>
              </a:rPr>
              <a:t>root</a:t>
            </a:r>
            <a:r>
              <a:rPr lang="zh-CN" altLang="en-US" sz="2400">
                <a:latin typeface="Times New Roman" panose="02020603050405020304" pitchFamily="18" charset="0"/>
              </a:rPr>
              <a:t>用户主目录</a:t>
            </a:r>
            <a:endParaRPr lang="en-US" altLang="zh-CN" sz="2400">
              <a:latin typeface="Times New Roman" panose="02020603050405020304" pitchFamily="18" charset="0"/>
            </a:endParaRPr>
          </a:p>
        </p:txBody>
      </p:sp>
      <p:sp>
        <p:nvSpPr>
          <p:cNvPr id="32819" name="Line 55">
            <a:extLst>
              <a:ext uri="{FF2B5EF4-FFF2-40B4-BE49-F238E27FC236}">
                <a16:creationId xmlns:a16="http://schemas.microsoft.com/office/drawing/2014/main" id="{2D18AF19-B102-5033-6347-C391152E4B4C}"/>
              </a:ext>
            </a:extLst>
          </p:cNvPr>
          <p:cNvSpPr>
            <a:spLocks noChangeShapeType="1"/>
          </p:cNvSpPr>
          <p:nvPr/>
        </p:nvSpPr>
        <p:spPr bwMode="auto">
          <a:xfrm>
            <a:off x="4281488" y="5732463"/>
            <a:ext cx="217487" cy="0"/>
          </a:xfrm>
          <a:prstGeom prst="line">
            <a:avLst/>
          </a:prstGeom>
          <a:noFill/>
          <a:ln w="19050">
            <a:solidFill>
              <a:schemeClr val="tx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20" name="Rectangle 56">
            <a:extLst>
              <a:ext uri="{FF2B5EF4-FFF2-40B4-BE49-F238E27FC236}">
                <a16:creationId xmlns:a16="http://schemas.microsoft.com/office/drawing/2014/main" id="{021888A2-D9DC-AD2A-A975-EF0ED3C85A66}"/>
              </a:ext>
            </a:extLst>
          </p:cNvPr>
          <p:cNvSpPr>
            <a:spLocks noChangeArrowheads="1"/>
          </p:cNvSpPr>
          <p:nvPr/>
        </p:nvSpPr>
        <p:spPr bwMode="auto">
          <a:xfrm>
            <a:off x="4498975" y="5588000"/>
            <a:ext cx="3960813" cy="288925"/>
          </a:xfrm>
          <a:prstGeom prst="rect">
            <a:avLst/>
          </a:prstGeom>
          <a:solidFill>
            <a:schemeClr val="bg1"/>
          </a:solidFill>
          <a:ln w="19050" algn="ctr">
            <a:solidFill>
              <a:schemeClr val="tx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latin typeface="Times New Roman" panose="02020603050405020304" pitchFamily="18" charset="0"/>
              </a:rPr>
              <a:t>系统工具软件</a:t>
            </a:r>
          </a:p>
        </p:txBody>
      </p:sp>
      <p:sp>
        <p:nvSpPr>
          <p:cNvPr id="32821" name="Line 57">
            <a:extLst>
              <a:ext uri="{FF2B5EF4-FFF2-40B4-BE49-F238E27FC236}">
                <a16:creationId xmlns:a16="http://schemas.microsoft.com/office/drawing/2014/main" id="{12085175-C538-F9DE-6093-F5023F5A0B8C}"/>
              </a:ext>
            </a:extLst>
          </p:cNvPr>
          <p:cNvSpPr>
            <a:spLocks noChangeShapeType="1"/>
          </p:cNvSpPr>
          <p:nvPr/>
        </p:nvSpPr>
        <p:spPr bwMode="auto">
          <a:xfrm>
            <a:off x="4281488" y="6164263"/>
            <a:ext cx="217487" cy="0"/>
          </a:xfrm>
          <a:prstGeom prst="line">
            <a:avLst/>
          </a:prstGeom>
          <a:noFill/>
          <a:ln w="19050">
            <a:solidFill>
              <a:schemeClr val="tx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22" name="Rectangle 58">
            <a:extLst>
              <a:ext uri="{FF2B5EF4-FFF2-40B4-BE49-F238E27FC236}">
                <a16:creationId xmlns:a16="http://schemas.microsoft.com/office/drawing/2014/main" id="{E3E1ED59-A384-EB4C-AD99-F39D2C47B6E8}"/>
              </a:ext>
            </a:extLst>
          </p:cNvPr>
          <p:cNvSpPr>
            <a:spLocks noChangeArrowheads="1"/>
          </p:cNvSpPr>
          <p:nvPr/>
        </p:nvSpPr>
        <p:spPr bwMode="auto">
          <a:xfrm>
            <a:off x="4498975" y="6019800"/>
            <a:ext cx="3960813" cy="288925"/>
          </a:xfrm>
          <a:prstGeom prst="rect">
            <a:avLst/>
          </a:prstGeom>
          <a:solidFill>
            <a:schemeClr val="bg1"/>
          </a:solidFill>
          <a:ln w="19050" algn="ctr">
            <a:solidFill>
              <a:schemeClr val="tx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spcAft>
                <a:spcPct val="0"/>
              </a:spcAft>
              <a:buClrTx/>
              <a:buFontTx/>
              <a:buNone/>
            </a:pPr>
            <a:r>
              <a:rPr lang="zh-CN" altLang="en-US" sz="2400">
                <a:latin typeface="Times New Roman" panose="02020603050405020304" pitchFamily="18" charset="0"/>
              </a:rPr>
              <a:t>应用软件安装目录</a:t>
            </a:r>
            <a:endParaRPr lang="en-US" altLang="zh-CN" sz="2400">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9F6ED9DD-57BE-0895-862B-C27F0FACE33A}"/>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33795" name="矩形 2">
            <a:extLst>
              <a:ext uri="{FF2B5EF4-FFF2-40B4-BE49-F238E27FC236}">
                <a16:creationId xmlns:a16="http://schemas.microsoft.com/office/drawing/2014/main" id="{7EA6B856-E1D6-C510-2669-F99D3251F523}"/>
              </a:ext>
            </a:extLst>
          </p:cNvPr>
          <p:cNvSpPr>
            <a:spLocks noChangeArrowheads="1"/>
          </p:cNvSpPr>
          <p:nvPr/>
        </p:nvSpPr>
        <p:spPr bwMode="auto">
          <a:xfrm>
            <a:off x="107950" y="620713"/>
            <a:ext cx="5310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a:solidFill>
                  <a:srgbClr val="FF0000"/>
                </a:solidFill>
                <a:latin typeface="黑体" panose="02010609060101010101" pitchFamily="49" charset="-122"/>
                <a:ea typeface="黑体" panose="02010609060101010101" pitchFamily="49" charset="-122"/>
              </a:rPr>
              <a:t>工作目录、用户主目录与路径</a:t>
            </a:r>
            <a:endParaRPr lang="zh-CN" altLang="en-US">
              <a:solidFill>
                <a:srgbClr val="FF0000"/>
              </a:solidFill>
              <a:latin typeface="黑体" panose="02010609060101010101" pitchFamily="49" charset="-122"/>
              <a:ea typeface="黑体" panose="02010609060101010101" pitchFamily="49" charset="-122"/>
            </a:endParaRPr>
          </a:p>
        </p:txBody>
      </p:sp>
      <p:sp>
        <p:nvSpPr>
          <p:cNvPr id="33796" name="矩形 3">
            <a:extLst>
              <a:ext uri="{FF2B5EF4-FFF2-40B4-BE49-F238E27FC236}">
                <a16:creationId xmlns:a16="http://schemas.microsoft.com/office/drawing/2014/main" id="{1F1E2013-FB2A-C8A4-B286-5F2624FFD895}"/>
              </a:ext>
            </a:extLst>
          </p:cNvPr>
          <p:cNvSpPr>
            <a:spLocks noChangeArrowheads="1"/>
          </p:cNvSpPr>
          <p:nvPr/>
        </p:nvSpPr>
        <p:spPr bwMode="auto">
          <a:xfrm>
            <a:off x="77788" y="957263"/>
            <a:ext cx="8713787" cy="243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3600"/>
              <a:t>1</a:t>
            </a:r>
            <a:r>
              <a:rPr lang="zh-CN" altLang="zh-CN" sz="3600"/>
              <a:t>）工作目录</a:t>
            </a:r>
          </a:p>
          <a:p>
            <a:r>
              <a:rPr lang="zh-CN" altLang="zh-CN"/>
              <a:t>自从用户登录到系统中后，</a:t>
            </a:r>
            <a:r>
              <a:rPr lang="zh-CN" altLang="zh-CN" sz="4400"/>
              <a:t>每时每刻都“处在”某个目录之中</a:t>
            </a:r>
            <a:r>
              <a:rPr lang="zh-CN" altLang="zh-CN"/>
              <a:t>，被称为工作目录或当前目录</a:t>
            </a:r>
            <a:r>
              <a:rPr lang="zh-CN" altLang="en-US"/>
              <a:t>，</a:t>
            </a:r>
            <a:r>
              <a:rPr lang="zh-CN" altLang="zh-CN">
                <a:solidFill>
                  <a:srgbClr val="FF0000"/>
                </a:solidFill>
                <a:latin typeface="黑体" panose="02010609060101010101" pitchFamily="49" charset="-122"/>
                <a:ea typeface="黑体" panose="02010609060101010101" pitchFamily="49" charset="-122"/>
              </a:rPr>
              <a:t>用“</a:t>
            </a:r>
            <a:r>
              <a:rPr lang="en-US" altLang="zh-CN">
                <a:solidFill>
                  <a:srgbClr val="FF0000"/>
                </a:solidFill>
                <a:latin typeface="黑体" panose="02010609060101010101" pitchFamily="49" charset="-122"/>
                <a:ea typeface="黑体" panose="02010609060101010101" pitchFamily="49" charset="-122"/>
              </a:rPr>
              <a:t>.</a:t>
            </a:r>
            <a:r>
              <a:rPr lang="zh-CN" altLang="zh-CN">
                <a:solidFill>
                  <a:srgbClr val="FF0000"/>
                </a:solidFill>
                <a:latin typeface="黑体" panose="02010609060101010101" pitchFamily="49" charset="-122"/>
                <a:ea typeface="黑体" panose="02010609060101010101" pitchFamily="49" charset="-122"/>
              </a:rPr>
              <a:t>”表示</a:t>
            </a:r>
            <a:r>
              <a:rPr lang="zh-CN" altLang="zh-CN"/>
              <a:t>，且可根据需要而随时改变。</a:t>
            </a:r>
          </a:p>
        </p:txBody>
      </p:sp>
      <p:sp>
        <p:nvSpPr>
          <p:cNvPr id="33797" name="矩形 4">
            <a:extLst>
              <a:ext uri="{FF2B5EF4-FFF2-40B4-BE49-F238E27FC236}">
                <a16:creationId xmlns:a16="http://schemas.microsoft.com/office/drawing/2014/main" id="{9E1CAAFA-EE64-1CB8-4707-14803DB7C55B}"/>
              </a:ext>
            </a:extLst>
          </p:cNvPr>
          <p:cNvSpPr>
            <a:spLocks noChangeArrowheads="1"/>
          </p:cNvSpPr>
          <p:nvPr/>
        </p:nvSpPr>
        <p:spPr bwMode="auto">
          <a:xfrm>
            <a:off x="107950" y="3362325"/>
            <a:ext cx="25288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a:t>2</a:t>
            </a:r>
            <a:r>
              <a:rPr lang="zh-CN" altLang="zh-CN"/>
              <a:t>）用户主目录</a:t>
            </a:r>
            <a:endParaRPr lang="zh-CN" altLang="en-US"/>
          </a:p>
        </p:txBody>
      </p:sp>
      <p:sp>
        <p:nvSpPr>
          <p:cNvPr id="33798" name="矩形 5">
            <a:extLst>
              <a:ext uri="{FF2B5EF4-FFF2-40B4-BE49-F238E27FC236}">
                <a16:creationId xmlns:a16="http://schemas.microsoft.com/office/drawing/2014/main" id="{168521F3-18D2-0B38-FE16-2304FAB1936F}"/>
              </a:ext>
            </a:extLst>
          </p:cNvPr>
          <p:cNvSpPr>
            <a:spLocks noChangeArrowheads="1"/>
          </p:cNvSpPr>
          <p:nvPr/>
        </p:nvSpPr>
        <p:spPr bwMode="auto">
          <a:xfrm>
            <a:off x="107950" y="3808413"/>
            <a:ext cx="8948738"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a:t>默认情况下，</a:t>
            </a:r>
            <a:r>
              <a:rPr lang="zh-CN" altLang="zh-CN">
                <a:solidFill>
                  <a:srgbClr val="FF0000"/>
                </a:solidFill>
                <a:latin typeface="黑体" panose="02010609060101010101" pitchFamily="49" charset="-122"/>
                <a:ea typeface="黑体" panose="02010609060101010101" pitchFamily="49" charset="-122"/>
              </a:rPr>
              <a:t>每个用户都有自己的主目录</a:t>
            </a:r>
            <a:r>
              <a:rPr lang="zh-CN" altLang="zh-CN"/>
              <a:t>，不同用户的家目录一般互不相同。</a:t>
            </a:r>
            <a:r>
              <a:rPr lang="en-US" altLang="zh-CN">
                <a:latin typeface="黑体" panose="02010609060101010101" pitchFamily="49" charset="-122"/>
                <a:ea typeface="黑体" panose="02010609060101010101" pitchFamily="49" charset="-122"/>
              </a:rPr>
              <a:t>root</a:t>
            </a:r>
            <a:r>
              <a:rPr lang="zh-CN" altLang="zh-CN">
                <a:latin typeface="黑体" panose="02010609060101010101" pitchFamily="49" charset="-122"/>
                <a:ea typeface="黑体" panose="02010609060101010101" pitchFamily="49" charset="-122"/>
              </a:rPr>
              <a:t>用户的主目录为</a:t>
            </a:r>
            <a:r>
              <a:rPr lang="en-US" altLang="zh-CN">
                <a:latin typeface="黑体" panose="02010609060101010101" pitchFamily="49" charset="-122"/>
                <a:ea typeface="黑体" panose="02010609060101010101" pitchFamily="49" charset="-122"/>
              </a:rPr>
              <a:t>/root</a:t>
            </a:r>
            <a:r>
              <a:rPr lang="zh-CN" altLang="zh-CN"/>
              <a:t>，其他用户的家目录</a:t>
            </a:r>
            <a:r>
              <a:rPr lang="zh-CN" altLang="zh-CN">
                <a:latin typeface="黑体" panose="02010609060101010101" pitchFamily="49" charset="-122"/>
                <a:ea typeface="黑体" panose="02010609060101010101" pitchFamily="49" charset="-122"/>
              </a:rPr>
              <a:t>是在</a:t>
            </a:r>
            <a:r>
              <a:rPr lang="en-US" altLang="zh-CN">
                <a:latin typeface="黑体" panose="02010609060101010101" pitchFamily="49" charset="-122"/>
                <a:ea typeface="黑体" panose="02010609060101010101" pitchFamily="49" charset="-122"/>
              </a:rPr>
              <a:t>/home</a:t>
            </a:r>
            <a:r>
              <a:rPr lang="zh-CN" altLang="zh-CN">
                <a:latin typeface="黑体" panose="02010609060101010101" pitchFamily="49" charset="-122"/>
                <a:ea typeface="黑体" panose="02010609060101010101" pitchFamily="49" charset="-122"/>
              </a:rPr>
              <a:t>下的与登录名相同的目录</a:t>
            </a:r>
            <a:r>
              <a:rPr lang="zh-CN" altLang="zh-CN"/>
              <a:t>。可以通过</a:t>
            </a:r>
            <a:r>
              <a:rPr lang="zh-CN" altLang="zh-CN">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a:t>
            </a:r>
            <a:r>
              <a:rPr lang="zh-CN" altLang="zh-CN">
                <a:latin typeface="黑体" panose="02010609060101010101" pitchFamily="49" charset="-122"/>
                <a:ea typeface="黑体" panose="02010609060101010101" pitchFamily="49" charset="-122"/>
              </a:rPr>
              <a:t>”字符或环境变量</a:t>
            </a:r>
            <a:r>
              <a:rPr lang="en-US" altLang="zh-CN">
                <a:latin typeface="黑体" panose="02010609060101010101" pitchFamily="49" charset="-122"/>
                <a:ea typeface="黑体" panose="02010609060101010101" pitchFamily="49" charset="-122"/>
              </a:rPr>
              <a:t>HOME</a:t>
            </a:r>
            <a:r>
              <a:rPr lang="zh-CN" altLang="zh-CN">
                <a:latin typeface="黑体" panose="02010609060101010101" pitchFamily="49" charset="-122"/>
                <a:ea typeface="黑体" panose="02010609060101010101" pitchFamily="49" charset="-122"/>
              </a:rPr>
              <a:t>来引用自己的家目录</a:t>
            </a:r>
            <a:r>
              <a:rPr lang="zh-CN" altLang="zh-CN"/>
              <a:t>。</a:t>
            </a:r>
            <a:endParaRPr lang="zh-CN" altLang="en-US"/>
          </a:p>
          <a:p>
            <a:r>
              <a:rPr lang="zh-CN" altLang="zh-CN"/>
              <a:t>默认情况下，用户登录到系统之初，其主目录或家目录（</a:t>
            </a:r>
            <a:r>
              <a:rPr lang="en-US" altLang="zh-CN"/>
              <a:t>Home Directory</a:t>
            </a:r>
            <a:r>
              <a:rPr lang="zh-CN" altLang="zh-CN"/>
              <a:t>）就成为其工作目录。</a:t>
            </a:r>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71145E29-EF0F-5B58-47CA-C6F281E66218}"/>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34819" name="矩形 2">
            <a:extLst>
              <a:ext uri="{FF2B5EF4-FFF2-40B4-BE49-F238E27FC236}">
                <a16:creationId xmlns:a16="http://schemas.microsoft.com/office/drawing/2014/main" id="{53FC904F-AD1D-E9ED-0262-8620EBEDCA47}"/>
              </a:ext>
            </a:extLst>
          </p:cNvPr>
          <p:cNvSpPr>
            <a:spLocks noChangeArrowheads="1"/>
          </p:cNvSpPr>
          <p:nvPr/>
        </p:nvSpPr>
        <p:spPr bwMode="auto">
          <a:xfrm>
            <a:off x="141288" y="476250"/>
            <a:ext cx="5453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a:t>3</a:t>
            </a:r>
            <a:r>
              <a:rPr lang="zh-CN" altLang="zh-CN"/>
              <a:t>）路径</a:t>
            </a:r>
            <a:r>
              <a:rPr lang="zh-CN" altLang="en-US"/>
              <a:t>（</a:t>
            </a:r>
            <a:r>
              <a:rPr lang="zh-CN" altLang="zh-CN">
                <a:solidFill>
                  <a:srgbClr val="FF0000"/>
                </a:solidFill>
              </a:rPr>
              <a:t>相对路径或绝对路径</a:t>
            </a:r>
            <a:r>
              <a:rPr lang="zh-CN" altLang="en-US"/>
              <a:t>）</a:t>
            </a:r>
          </a:p>
        </p:txBody>
      </p:sp>
      <p:sp>
        <p:nvSpPr>
          <p:cNvPr id="34820" name="矩形 3">
            <a:extLst>
              <a:ext uri="{FF2B5EF4-FFF2-40B4-BE49-F238E27FC236}">
                <a16:creationId xmlns:a16="http://schemas.microsoft.com/office/drawing/2014/main" id="{4382AEF2-46C6-6E8B-6B61-F3B1F4DD5584}"/>
              </a:ext>
            </a:extLst>
          </p:cNvPr>
          <p:cNvSpPr>
            <a:spLocks noChangeArrowheads="1"/>
          </p:cNvSpPr>
          <p:nvPr/>
        </p:nvSpPr>
        <p:spPr bwMode="auto">
          <a:xfrm>
            <a:off x="107950" y="809625"/>
            <a:ext cx="89281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000">
                <a:solidFill>
                  <a:srgbClr val="FF0000"/>
                </a:solidFill>
                <a:latin typeface="黑体" panose="02010609060101010101" pitchFamily="49" charset="-122"/>
                <a:ea typeface="黑体" panose="02010609060101010101" pitchFamily="49" charset="-122"/>
              </a:rPr>
              <a:t>路径</a:t>
            </a:r>
            <a:r>
              <a:rPr lang="zh-CN" altLang="zh-CN" sz="4000"/>
              <a:t>是指从树型目录中的某个目录到另一个文件或目录的路线。路径表示符是由它所经过的目录名，</a:t>
            </a:r>
            <a:r>
              <a:rPr lang="zh-CN" altLang="zh-CN" sz="4000">
                <a:latin typeface="黑体" panose="02010609060101010101" pitchFamily="49" charset="-122"/>
                <a:ea typeface="黑体" panose="02010609060101010101" pitchFamily="49" charset="-122"/>
              </a:rPr>
              <a:t>中间用“</a:t>
            </a:r>
            <a:r>
              <a:rPr lang="en-US" altLang="zh-CN" sz="4000">
                <a:latin typeface="黑体" panose="02010609060101010101" pitchFamily="49" charset="-122"/>
                <a:ea typeface="黑体" panose="02010609060101010101" pitchFamily="49" charset="-122"/>
              </a:rPr>
              <a:t>/</a:t>
            </a:r>
            <a:r>
              <a:rPr lang="zh-CN" altLang="zh-CN" sz="4000">
                <a:latin typeface="黑体" panose="02010609060101010101" pitchFamily="49" charset="-122"/>
                <a:ea typeface="黑体" panose="02010609060101010101" pitchFamily="49" charset="-122"/>
              </a:rPr>
              <a:t>”链</a:t>
            </a:r>
            <a:r>
              <a:rPr lang="zh-CN" altLang="zh-CN" sz="4000"/>
              <a:t>接构成的。文件在文件系统中的位置可以由</a:t>
            </a:r>
            <a:r>
              <a:rPr lang="zh-CN" altLang="zh-CN" sz="4000">
                <a:solidFill>
                  <a:srgbClr val="FF0000"/>
                </a:solidFill>
                <a:latin typeface="黑体" panose="02010609060101010101" pitchFamily="49" charset="-122"/>
                <a:ea typeface="黑体" panose="02010609060101010101" pitchFamily="49" charset="-122"/>
              </a:rPr>
              <a:t>相对路径</a:t>
            </a:r>
            <a:r>
              <a:rPr lang="zh-CN" altLang="zh-CN" sz="4000"/>
              <a:t>或</a:t>
            </a:r>
            <a:r>
              <a:rPr lang="zh-CN" altLang="zh-CN" sz="4000">
                <a:solidFill>
                  <a:srgbClr val="FF0000"/>
                </a:solidFill>
                <a:latin typeface="黑体" panose="02010609060101010101" pitchFamily="49" charset="-122"/>
                <a:ea typeface="黑体" panose="02010609060101010101" pitchFamily="49" charset="-122"/>
              </a:rPr>
              <a:t>绝对路径</a:t>
            </a:r>
            <a:r>
              <a:rPr lang="zh-CN" altLang="zh-CN" sz="4000"/>
              <a:t>来决定。</a:t>
            </a:r>
            <a:endParaRPr lang="en-US" altLang="zh-CN" sz="4000"/>
          </a:p>
          <a:p>
            <a:r>
              <a:rPr lang="zh-CN" altLang="zh-CN" sz="4000"/>
              <a:t>绝对路径是指从“根”开始的路径；相对路径是从用户工作目录开始的路径。</a:t>
            </a:r>
            <a:endParaRPr lang="en-US" altLang="zh-CN" sz="4000"/>
          </a:p>
          <a:p>
            <a:r>
              <a:rPr lang="zh-CN" altLang="zh-CN" sz="4000"/>
              <a:t>绝对路径是确定不变的，而相对路径则随着用户工作目录的变化而不断变化。</a:t>
            </a:r>
            <a:endParaRPr lang="zh-CN" altLang="en-US" sz="4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935502FB-A292-5C70-71CD-B83007D77F59}"/>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35843" name="矩形 2">
            <a:extLst>
              <a:ext uri="{FF2B5EF4-FFF2-40B4-BE49-F238E27FC236}">
                <a16:creationId xmlns:a16="http://schemas.microsoft.com/office/drawing/2014/main" id="{2757640D-EB7C-CE66-108B-A414118AE20D}"/>
              </a:ext>
            </a:extLst>
          </p:cNvPr>
          <p:cNvSpPr>
            <a:spLocks noChangeArrowheads="1"/>
          </p:cNvSpPr>
          <p:nvPr/>
        </p:nvSpPr>
        <p:spPr bwMode="auto">
          <a:xfrm>
            <a:off x="250825" y="692150"/>
            <a:ext cx="57546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800"/>
              <a:t>物理路径和逻辑路径</a:t>
            </a:r>
            <a:endParaRPr lang="zh-CN" altLang="en-US" sz="4800"/>
          </a:p>
        </p:txBody>
      </p:sp>
      <p:sp>
        <p:nvSpPr>
          <p:cNvPr id="35844" name="矩形 3">
            <a:extLst>
              <a:ext uri="{FF2B5EF4-FFF2-40B4-BE49-F238E27FC236}">
                <a16:creationId xmlns:a16="http://schemas.microsoft.com/office/drawing/2014/main" id="{5659EA46-5CB5-A105-F2E1-BF53A530F4DE}"/>
              </a:ext>
            </a:extLst>
          </p:cNvPr>
          <p:cNvSpPr>
            <a:spLocks noChangeArrowheads="1"/>
          </p:cNvSpPr>
          <p:nvPr/>
        </p:nvSpPr>
        <p:spPr bwMode="auto">
          <a:xfrm>
            <a:off x="395288" y="1844675"/>
            <a:ext cx="8424862"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400"/>
              <a:t>在引入</a:t>
            </a:r>
            <a:r>
              <a:rPr lang="zh-CN" altLang="zh-CN" sz="4400">
                <a:solidFill>
                  <a:srgbClr val="FF0000"/>
                </a:solidFill>
              </a:rPr>
              <a:t>链接</a:t>
            </a:r>
            <a:r>
              <a:rPr lang="zh-CN" altLang="zh-CN" sz="4400"/>
              <a:t>的文件系统中，从某位置到另一位置的路径</a:t>
            </a:r>
            <a:r>
              <a:rPr lang="zh-CN" altLang="zh-CN" sz="4400">
                <a:solidFill>
                  <a:srgbClr val="FF0000"/>
                </a:solidFill>
              </a:rPr>
              <a:t>可能不只一个</a:t>
            </a:r>
            <a:r>
              <a:rPr lang="zh-CN" altLang="zh-CN" sz="4400"/>
              <a:t>，因此又有物理路径和逻辑路径之分。</a:t>
            </a:r>
            <a:endParaRPr lang="en-US" altLang="zh-CN" sz="4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6183148B-809D-472C-BA1A-10F0757FD438}"/>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pic>
        <p:nvPicPr>
          <p:cNvPr id="3" name="Picture 2" descr="3t1">
            <a:extLst>
              <a:ext uri="{FF2B5EF4-FFF2-40B4-BE49-F238E27FC236}">
                <a16:creationId xmlns:a16="http://schemas.microsoft.com/office/drawing/2014/main" id="{D69FCADA-EE4A-D638-2F02-000CC1C127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620713"/>
            <a:ext cx="8480425" cy="167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矩形 3">
            <a:extLst>
              <a:ext uri="{FF2B5EF4-FFF2-40B4-BE49-F238E27FC236}">
                <a16:creationId xmlns:a16="http://schemas.microsoft.com/office/drawing/2014/main" id="{CA2A01CA-F400-5AA3-67EC-80226B6B9B27}"/>
              </a:ext>
            </a:extLst>
          </p:cNvPr>
          <p:cNvSpPr>
            <a:spLocks noChangeArrowheads="1"/>
          </p:cNvSpPr>
          <p:nvPr/>
        </p:nvSpPr>
        <p:spPr bwMode="auto">
          <a:xfrm>
            <a:off x="-36513" y="2133600"/>
            <a:ext cx="9217026"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000"/>
              <a:t>图中</a:t>
            </a:r>
            <a:r>
              <a:rPr lang="zh-CN" altLang="en-US" sz="4000"/>
              <a:t>某</a:t>
            </a:r>
            <a:r>
              <a:rPr lang="en-US" altLang="zh-CN" sz="4000"/>
              <a:t>dir</a:t>
            </a:r>
            <a:r>
              <a:rPr lang="zh-CN" altLang="zh-CN" sz="4000"/>
              <a:t>目录的用户要访问目录</a:t>
            </a:r>
            <a:r>
              <a:rPr lang="en-US" altLang="zh-CN" sz="4000"/>
              <a:t>usrn</a:t>
            </a:r>
            <a:r>
              <a:rPr lang="zh-CN" altLang="zh-CN" sz="4000"/>
              <a:t>中的文件</a:t>
            </a:r>
            <a:r>
              <a:rPr lang="en-US" altLang="zh-CN" sz="4000"/>
              <a:t>file1</a:t>
            </a:r>
            <a:r>
              <a:rPr lang="zh-CN" altLang="zh-CN" sz="4000"/>
              <a:t>，可通过相对路径</a:t>
            </a:r>
            <a:r>
              <a:rPr lang="en-US" altLang="zh-CN" sz="4000"/>
              <a:t>../../usrn/</a:t>
            </a:r>
            <a:r>
              <a:rPr lang="zh-CN" altLang="zh-CN" sz="4000"/>
              <a:t>或绝对路径</a:t>
            </a:r>
            <a:r>
              <a:rPr lang="en-US" altLang="zh-CN" sz="4000"/>
              <a:t>/home/usrn/</a:t>
            </a:r>
            <a:r>
              <a:rPr lang="zh-CN" altLang="zh-CN" sz="4000"/>
              <a:t>来实现，此时带有路径的文件名可表示为</a:t>
            </a:r>
            <a:r>
              <a:rPr lang="en-US" altLang="zh-CN" sz="4000"/>
              <a:t>../../usrn/file1</a:t>
            </a:r>
            <a:r>
              <a:rPr lang="zh-CN" altLang="zh-CN" sz="4000"/>
              <a:t>或</a:t>
            </a:r>
            <a:r>
              <a:rPr lang="en-US" altLang="zh-CN" sz="4000"/>
              <a:t>/home/usrn/file1</a:t>
            </a:r>
          </a:p>
          <a:p>
            <a:r>
              <a:rPr lang="zh-CN" altLang="en-US" sz="4000"/>
              <a:t>，</a:t>
            </a:r>
            <a:r>
              <a:rPr lang="zh-CN" altLang="zh-CN" sz="4000"/>
              <a:t>带有路径的文件名通常也称为文件名。</a:t>
            </a:r>
            <a:endParaRPr lang="zh-CN" altLang="en-US" sz="4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5966F442-4589-0AF0-DEBC-56DD5F970110}"/>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37891" name="矩形 2">
            <a:extLst>
              <a:ext uri="{FF2B5EF4-FFF2-40B4-BE49-F238E27FC236}">
                <a16:creationId xmlns:a16="http://schemas.microsoft.com/office/drawing/2014/main" id="{AB9DCD83-59FD-323A-C03B-2FF292377A19}"/>
              </a:ext>
            </a:extLst>
          </p:cNvPr>
          <p:cNvSpPr>
            <a:spLocks noChangeArrowheads="1"/>
          </p:cNvSpPr>
          <p:nvPr/>
        </p:nvSpPr>
        <p:spPr bwMode="auto">
          <a:xfrm>
            <a:off x="107950" y="506413"/>
            <a:ext cx="79200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4000"/>
              <a:t>3.1.5  </a:t>
            </a:r>
            <a:r>
              <a:rPr lang="zh-CN" altLang="zh-CN" sz="4000"/>
              <a:t>命令格式与命令</a:t>
            </a:r>
            <a:r>
              <a:rPr lang="zh-CN" altLang="en-US" sz="4000"/>
              <a:t>行</a:t>
            </a:r>
            <a:r>
              <a:rPr lang="zh-CN" altLang="zh-CN" sz="4000"/>
              <a:t>编辑</a:t>
            </a:r>
            <a:endParaRPr lang="zh-CN" altLang="en-US" sz="4000"/>
          </a:p>
        </p:txBody>
      </p:sp>
      <p:sp>
        <p:nvSpPr>
          <p:cNvPr id="37892" name="矩形 3">
            <a:extLst>
              <a:ext uri="{FF2B5EF4-FFF2-40B4-BE49-F238E27FC236}">
                <a16:creationId xmlns:a16="http://schemas.microsoft.com/office/drawing/2014/main" id="{9BEC8FF9-0E7E-DA46-65A3-499BF0822E0A}"/>
              </a:ext>
            </a:extLst>
          </p:cNvPr>
          <p:cNvSpPr>
            <a:spLocks noChangeArrowheads="1"/>
          </p:cNvSpPr>
          <p:nvPr/>
        </p:nvSpPr>
        <p:spPr bwMode="auto">
          <a:xfrm>
            <a:off x="120650" y="1484313"/>
            <a:ext cx="9145588"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400"/>
              <a:t>用户登录到系统后，可以看到一个</a:t>
            </a:r>
            <a:r>
              <a:rPr lang="en-US" altLang="zh-CN" sz="4400"/>
              <a:t>shell</a:t>
            </a:r>
            <a:r>
              <a:rPr lang="zh-CN" altLang="zh-CN" sz="4400"/>
              <a:t>提示符</a:t>
            </a:r>
            <a:r>
              <a:rPr lang="zh-CN" altLang="en-US" sz="4400"/>
              <a:t>（</a:t>
            </a:r>
            <a:r>
              <a:rPr lang="en-US" altLang="zh-CN" sz="4400"/>
              <a:t>#</a:t>
            </a:r>
            <a:r>
              <a:rPr lang="zh-CN" altLang="en-US" sz="4400"/>
              <a:t>或</a:t>
            </a:r>
            <a:r>
              <a:rPr lang="en-US" altLang="zh-CN" sz="4400"/>
              <a:t>$</a:t>
            </a:r>
            <a:r>
              <a:rPr lang="zh-CN" altLang="en-US" sz="4400"/>
              <a:t>）</a:t>
            </a:r>
            <a:r>
              <a:rPr lang="zh-CN" altLang="zh-CN" sz="4400"/>
              <a:t>。用户可以在提示符后面输入任何命令及参数。</a:t>
            </a:r>
            <a:endParaRPr lang="en-US" altLang="zh-CN" sz="4400"/>
          </a:p>
          <a:p>
            <a:r>
              <a:rPr lang="zh-CN" altLang="zh-CN" sz="4400"/>
              <a:t>命令行</a:t>
            </a:r>
            <a:r>
              <a:rPr lang="zh-CN" altLang="en-US" sz="4400"/>
              <a:t>由分隔符（白空格）、</a:t>
            </a:r>
            <a:r>
              <a:rPr lang="zh-CN" altLang="zh-CN" sz="4400"/>
              <a:t>选项</a:t>
            </a:r>
            <a:r>
              <a:rPr lang="zh-CN" altLang="en-US" sz="4400"/>
              <a:t>和</a:t>
            </a:r>
            <a:r>
              <a:rPr lang="zh-CN" altLang="zh-CN" sz="4400"/>
              <a:t>参数</a:t>
            </a:r>
            <a:r>
              <a:rPr lang="zh-CN" altLang="en-US" sz="4400"/>
              <a:t>组成。</a:t>
            </a:r>
            <a:r>
              <a:rPr lang="zh-CN" altLang="zh-CN" sz="4400">
                <a:solidFill>
                  <a:srgbClr val="FF0000"/>
                </a:solidFill>
              </a:rPr>
              <a:t>格式如下：</a:t>
            </a:r>
          </a:p>
          <a:p>
            <a:r>
              <a:rPr lang="zh-CN" altLang="zh-CN" sz="4400">
                <a:solidFill>
                  <a:srgbClr val="FF0000"/>
                </a:solidFill>
              </a:rPr>
              <a:t>命令名</a:t>
            </a:r>
            <a:r>
              <a:rPr lang="en-US" altLang="zh-CN" sz="4400">
                <a:solidFill>
                  <a:srgbClr val="FF0000"/>
                </a:solidFill>
              </a:rPr>
              <a:t> [</a:t>
            </a:r>
            <a:r>
              <a:rPr lang="zh-CN" altLang="zh-CN" sz="4400">
                <a:solidFill>
                  <a:srgbClr val="FF0000"/>
                </a:solidFill>
              </a:rPr>
              <a:t>选项</a:t>
            </a:r>
            <a:r>
              <a:rPr lang="en-US" altLang="zh-CN" sz="4400">
                <a:solidFill>
                  <a:srgbClr val="FF0000"/>
                </a:solidFill>
              </a:rPr>
              <a:t> … ] [</a:t>
            </a:r>
            <a:r>
              <a:rPr lang="zh-CN" altLang="zh-CN" sz="4400">
                <a:solidFill>
                  <a:srgbClr val="FF0000"/>
                </a:solidFill>
              </a:rPr>
              <a:t>参数</a:t>
            </a:r>
            <a:r>
              <a:rPr lang="en-US" altLang="zh-CN" sz="4400">
                <a:solidFill>
                  <a:srgbClr val="FF0000"/>
                </a:solidFill>
              </a:rP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EF43E454-500D-2029-658E-0407960F655B}"/>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38915" name="矩形 2">
            <a:extLst>
              <a:ext uri="{FF2B5EF4-FFF2-40B4-BE49-F238E27FC236}">
                <a16:creationId xmlns:a16="http://schemas.microsoft.com/office/drawing/2014/main" id="{D4D1EC28-468C-200A-D8D5-0523A0DC7519}"/>
              </a:ext>
            </a:extLst>
          </p:cNvPr>
          <p:cNvSpPr>
            <a:spLocks noChangeArrowheads="1"/>
          </p:cNvSpPr>
          <p:nvPr/>
        </p:nvSpPr>
        <p:spPr bwMode="auto">
          <a:xfrm>
            <a:off x="34925" y="446088"/>
            <a:ext cx="3014663"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400"/>
              <a:t>命令行</a:t>
            </a:r>
            <a:r>
              <a:rPr lang="zh-CN" altLang="en-US" sz="4400"/>
              <a:t>示例</a:t>
            </a:r>
          </a:p>
        </p:txBody>
      </p:sp>
      <p:sp>
        <p:nvSpPr>
          <p:cNvPr id="38916" name="矩形 1">
            <a:extLst>
              <a:ext uri="{FF2B5EF4-FFF2-40B4-BE49-F238E27FC236}">
                <a16:creationId xmlns:a16="http://schemas.microsoft.com/office/drawing/2014/main" id="{BAD5FD9D-A358-B13A-A64C-CD69B074F518}"/>
              </a:ext>
            </a:extLst>
          </p:cNvPr>
          <p:cNvSpPr>
            <a:spLocks noChangeArrowheads="1"/>
          </p:cNvSpPr>
          <p:nvPr/>
        </p:nvSpPr>
        <p:spPr bwMode="auto">
          <a:xfrm>
            <a:off x="468313" y="1557338"/>
            <a:ext cx="8351837" cy="403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3200"/>
              <a:t>$ date	 #</a:t>
            </a:r>
            <a:r>
              <a:rPr lang="zh-CN" altLang="zh-CN" sz="3200"/>
              <a:t>以默认方式显示当前日期和时间</a:t>
            </a:r>
          </a:p>
          <a:p>
            <a:r>
              <a:rPr lang="en-US" altLang="zh-CN" sz="3200"/>
              <a:t>$ date -u 	#</a:t>
            </a:r>
            <a:r>
              <a:rPr lang="zh-CN" altLang="zh-CN" sz="3200"/>
              <a:t>传统</a:t>
            </a:r>
            <a:r>
              <a:rPr lang="en-US" altLang="zh-CN" sz="3200"/>
              <a:t>UNIX</a:t>
            </a:r>
            <a:r>
              <a:rPr lang="zh-CN" altLang="zh-CN" sz="3200"/>
              <a:t>风格选项</a:t>
            </a:r>
          </a:p>
          <a:p>
            <a:r>
              <a:rPr lang="en-US" altLang="zh-CN" sz="3200"/>
              <a:t>$ date --utc	 #GNU</a:t>
            </a:r>
            <a:r>
              <a:rPr lang="zh-CN" altLang="zh-CN" sz="3200"/>
              <a:t>风格选项</a:t>
            </a:r>
          </a:p>
          <a:p>
            <a:r>
              <a:rPr lang="en-US" altLang="zh-CN" sz="3200"/>
              <a:t>$ date --universal	</a:t>
            </a:r>
          </a:p>
          <a:p>
            <a:r>
              <a:rPr lang="fr-FR" altLang="zh-CN" sz="3200"/>
              <a:t>$ ls -l /etc/passwd	</a:t>
            </a:r>
          </a:p>
          <a:p>
            <a:r>
              <a:rPr lang="en-US" altLang="zh-CN" sz="3200"/>
              <a:t>$ ls -l -n /etc/passwd</a:t>
            </a:r>
          </a:p>
          <a:p>
            <a:r>
              <a:rPr lang="en-US" altLang="zh-CN" sz="3200"/>
              <a:t>$ ls -l --numeric-uid-gid /etc/passwd</a:t>
            </a:r>
          </a:p>
          <a:p>
            <a:r>
              <a:rPr lang="en-US" altLang="zh-CN" sz="3200"/>
              <a:t>$ ls -l -n --time-style=iso /etc/passwd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1734AC04-5B2C-A1FC-27B6-6C25F9DCB5ED}"/>
              </a:ext>
            </a:extLst>
          </p:cNvPr>
          <p:cNvSpPr>
            <a:spLocks noGrp="1" noChangeArrowheads="1"/>
          </p:cNvSpPr>
          <p:nvPr>
            <p:ph type="title"/>
          </p:nvPr>
        </p:nvSpPr>
        <p:spPr/>
        <p:txBody>
          <a:bodyPr/>
          <a:lstStyle/>
          <a:p>
            <a:r>
              <a:rPr lang="zh-CN" altLang="en-US"/>
              <a:t>第三章 </a:t>
            </a:r>
            <a:r>
              <a:rPr lang="en-US" altLang="zh-CN"/>
              <a:t>shell</a:t>
            </a:r>
            <a:r>
              <a:rPr lang="zh-CN" altLang="en-US"/>
              <a:t>与</a:t>
            </a:r>
            <a:r>
              <a:rPr lang="en-US" altLang="zh-CN"/>
              <a:t>shell</a:t>
            </a:r>
            <a:r>
              <a:rPr lang="zh-CN" altLang="en-US"/>
              <a:t>基本操作</a:t>
            </a:r>
          </a:p>
        </p:txBody>
      </p:sp>
      <p:sp>
        <p:nvSpPr>
          <p:cNvPr id="39939" name="矩形 2">
            <a:extLst>
              <a:ext uri="{FF2B5EF4-FFF2-40B4-BE49-F238E27FC236}">
                <a16:creationId xmlns:a16="http://schemas.microsoft.com/office/drawing/2014/main" id="{E669728F-72D2-95BF-3527-A4A12FBE0FF4}"/>
              </a:ext>
            </a:extLst>
          </p:cNvPr>
          <p:cNvSpPr>
            <a:spLocks noChangeArrowheads="1"/>
          </p:cNvSpPr>
          <p:nvPr/>
        </p:nvSpPr>
        <p:spPr bwMode="auto">
          <a:xfrm>
            <a:off x="107950" y="620713"/>
            <a:ext cx="4144963"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400"/>
              <a:t>命令行编辑特性</a:t>
            </a:r>
            <a:endParaRPr lang="zh-CN" altLang="en-US" sz="4400"/>
          </a:p>
        </p:txBody>
      </p:sp>
      <p:sp>
        <p:nvSpPr>
          <p:cNvPr id="39940" name="矩形 3">
            <a:extLst>
              <a:ext uri="{FF2B5EF4-FFF2-40B4-BE49-F238E27FC236}">
                <a16:creationId xmlns:a16="http://schemas.microsoft.com/office/drawing/2014/main" id="{6041C591-A6D4-BB0E-A59B-E4FD357E0F98}"/>
              </a:ext>
            </a:extLst>
          </p:cNvPr>
          <p:cNvSpPr>
            <a:spLocks noChangeArrowheads="1"/>
          </p:cNvSpPr>
          <p:nvPr/>
        </p:nvSpPr>
        <p:spPr bwMode="auto">
          <a:xfrm>
            <a:off x="468313" y="1989138"/>
            <a:ext cx="6767512"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5400"/>
              <a:t>1</a:t>
            </a:r>
            <a:r>
              <a:rPr lang="zh-CN" altLang="zh-CN" sz="5400"/>
              <a:t>）命令和文件名扩展</a:t>
            </a:r>
          </a:p>
          <a:p>
            <a:r>
              <a:rPr lang="en-US" altLang="zh-CN" sz="5400"/>
              <a:t>2</a:t>
            </a:r>
            <a:r>
              <a:rPr lang="zh-CN" altLang="zh-CN" sz="5400"/>
              <a:t>）命令行编辑</a:t>
            </a:r>
          </a:p>
          <a:p>
            <a:r>
              <a:rPr lang="en-US" altLang="zh-CN" sz="5400"/>
              <a:t>3</a:t>
            </a:r>
            <a:r>
              <a:rPr lang="zh-CN" altLang="zh-CN" sz="5400"/>
              <a:t>）历史记录</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80659295-B246-F321-80D4-1BCD871A838E}"/>
              </a:ext>
            </a:extLst>
          </p:cNvPr>
          <p:cNvSpPr>
            <a:spLocks noGrp="1" noChangeArrowheads="1"/>
          </p:cNvSpPr>
          <p:nvPr>
            <p:ph type="title"/>
          </p:nvPr>
        </p:nvSpPr>
        <p:spPr/>
        <p:txBody>
          <a:bodyPr/>
          <a:lstStyle/>
          <a:p>
            <a:r>
              <a:rPr lang="en-US" altLang="zh-CN"/>
              <a:t>1</a:t>
            </a:r>
            <a:r>
              <a:rPr lang="zh-CN" altLang="zh-CN"/>
              <a:t>）命令和文件名扩展</a:t>
            </a:r>
          </a:p>
        </p:txBody>
      </p:sp>
      <p:sp>
        <p:nvSpPr>
          <p:cNvPr id="40963" name="矩形 2">
            <a:extLst>
              <a:ext uri="{FF2B5EF4-FFF2-40B4-BE49-F238E27FC236}">
                <a16:creationId xmlns:a16="http://schemas.microsoft.com/office/drawing/2014/main" id="{9BA028B5-A1E5-C3C3-116C-E84A9B3DA1A0}"/>
              </a:ext>
            </a:extLst>
          </p:cNvPr>
          <p:cNvSpPr>
            <a:spLocks noChangeArrowheads="1"/>
          </p:cNvSpPr>
          <p:nvPr/>
        </p:nvSpPr>
        <p:spPr bwMode="auto">
          <a:xfrm>
            <a:off x="323850" y="620713"/>
            <a:ext cx="7920038" cy="569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en-US"/>
              <a:t>（</a:t>
            </a:r>
            <a:r>
              <a:rPr lang="en-US" altLang="zh-CN"/>
              <a:t>1</a:t>
            </a:r>
            <a:r>
              <a:rPr lang="zh-CN" altLang="en-US"/>
              <a:t>）</a:t>
            </a:r>
            <a:r>
              <a:rPr lang="en-US" altLang="zh-CN"/>
              <a:t>bash</a:t>
            </a:r>
            <a:r>
              <a:rPr lang="zh-CN" altLang="zh-CN"/>
              <a:t>具有命令和文件名扩展特性。当输入一个还没完成的命令或文件名时，</a:t>
            </a:r>
            <a:r>
              <a:rPr lang="zh-CN" altLang="zh-CN" sz="4000">
                <a:solidFill>
                  <a:schemeClr val="tx1"/>
                </a:solidFill>
              </a:rPr>
              <a:t>只需按“</a:t>
            </a:r>
            <a:r>
              <a:rPr lang="en-US" altLang="zh-CN" sz="4000">
                <a:solidFill>
                  <a:schemeClr val="tx1"/>
                </a:solidFill>
              </a:rPr>
              <a:t>Tab</a:t>
            </a:r>
            <a:r>
              <a:rPr lang="zh-CN" altLang="zh-CN" sz="4000">
                <a:solidFill>
                  <a:schemeClr val="tx1"/>
                </a:solidFill>
              </a:rPr>
              <a:t>”</a:t>
            </a:r>
            <a:r>
              <a:rPr lang="zh-CN" altLang="zh-CN">
                <a:solidFill>
                  <a:schemeClr val="tx1"/>
                </a:solidFill>
              </a:rPr>
              <a:t>键就能激活命令和文件名扩展特性，从而</a:t>
            </a:r>
            <a:r>
              <a:rPr lang="zh-CN" altLang="zh-CN" sz="4000">
                <a:solidFill>
                  <a:schemeClr val="tx1"/>
                </a:solidFill>
              </a:rPr>
              <a:t>“自动”完成该命令的剩余输入</a:t>
            </a:r>
            <a:r>
              <a:rPr lang="zh-CN" altLang="zh-CN">
                <a:solidFill>
                  <a:schemeClr val="tx1"/>
                </a:solidFill>
              </a:rPr>
              <a:t>。</a:t>
            </a:r>
            <a:endParaRPr lang="en-US" altLang="zh-CN">
              <a:solidFill>
                <a:schemeClr val="tx1"/>
              </a:solidFill>
            </a:endParaRPr>
          </a:p>
          <a:p>
            <a:r>
              <a:rPr lang="zh-CN" altLang="en-US">
                <a:solidFill>
                  <a:schemeClr val="tx1"/>
                </a:solidFill>
              </a:rPr>
              <a:t>（</a:t>
            </a:r>
            <a:r>
              <a:rPr lang="en-US" altLang="zh-CN">
                <a:solidFill>
                  <a:schemeClr val="tx1"/>
                </a:solidFill>
              </a:rPr>
              <a:t>2</a:t>
            </a:r>
            <a:r>
              <a:rPr lang="zh-CN" altLang="en-US">
                <a:solidFill>
                  <a:schemeClr val="tx1"/>
                </a:solidFill>
              </a:rPr>
              <a:t>）</a:t>
            </a:r>
            <a:r>
              <a:rPr lang="zh-CN" altLang="zh-CN">
                <a:solidFill>
                  <a:schemeClr val="tx1"/>
                </a:solidFill>
              </a:rPr>
              <a:t>如果</a:t>
            </a:r>
            <a:r>
              <a:rPr lang="zh-CN" altLang="zh-CN" sz="4000">
                <a:solidFill>
                  <a:schemeClr val="tx1"/>
                </a:solidFill>
              </a:rPr>
              <a:t>有多个命令或文件的前缀相同</a:t>
            </a:r>
            <a:r>
              <a:rPr lang="zh-CN" altLang="zh-CN">
                <a:solidFill>
                  <a:schemeClr val="tx1"/>
                </a:solidFill>
              </a:rPr>
              <a:t>，</a:t>
            </a:r>
            <a:r>
              <a:rPr lang="en-US" altLang="zh-CN">
                <a:solidFill>
                  <a:schemeClr val="tx1"/>
                </a:solidFill>
              </a:rPr>
              <a:t>bash</a:t>
            </a:r>
            <a:r>
              <a:rPr lang="zh-CN" altLang="zh-CN">
                <a:solidFill>
                  <a:schemeClr val="tx1"/>
                </a:solidFill>
              </a:rPr>
              <a:t>将响铃并</a:t>
            </a:r>
            <a:r>
              <a:rPr lang="zh-CN" altLang="zh-CN" sz="4000">
                <a:solidFill>
                  <a:schemeClr val="tx1"/>
                </a:solidFill>
              </a:rPr>
              <a:t>等待用户输入足够的字符</a:t>
            </a:r>
            <a:r>
              <a:rPr lang="zh-CN" altLang="zh-CN"/>
              <a:t>，以便选择唯一的命令或文件名。如果找到，系统将自动补齐搜索到的命令或文件名，用户</a:t>
            </a:r>
            <a:r>
              <a:rPr lang="zh-CN" altLang="en-US"/>
              <a:t>可</a:t>
            </a:r>
            <a:r>
              <a:rPr lang="zh-CN" altLang="zh-CN"/>
              <a:t>按回车键执行这条指令。</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FD1968A5-9FAA-F065-D4BE-8FF182BF9C98}"/>
              </a:ext>
            </a:extLst>
          </p:cNvPr>
          <p:cNvSpPr>
            <a:spLocks noGrp="1" noChangeArrowheads="1"/>
          </p:cNvSpPr>
          <p:nvPr>
            <p:ph type="title"/>
          </p:nvPr>
        </p:nvSpPr>
        <p:spPr/>
        <p:txBody>
          <a:bodyPr/>
          <a:lstStyle/>
          <a:p>
            <a:r>
              <a:rPr lang="en-US" altLang="zh-CN"/>
              <a:t>2</a:t>
            </a:r>
            <a:r>
              <a:rPr lang="zh-CN" altLang="zh-CN"/>
              <a:t>）命令行编辑</a:t>
            </a:r>
          </a:p>
        </p:txBody>
      </p:sp>
      <p:sp>
        <p:nvSpPr>
          <p:cNvPr id="41987" name="内容占位符 2">
            <a:extLst>
              <a:ext uri="{FF2B5EF4-FFF2-40B4-BE49-F238E27FC236}">
                <a16:creationId xmlns:a16="http://schemas.microsoft.com/office/drawing/2014/main" id="{1FB07F50-6543-D679-5744-8AEBB9C90AB0}"/>
              </a:ext>
            </a:extLst>
          </p:cNvPr>
          <p:cNvSpPr txBox="1">
            <a:spLocks/>
          </p:cNvSpPr>
          <p:nvPr/>
        </p:nvSpPr>
        <p:spPr bwMode="auto">
          <a:xfrm>
            <a:off x="107950" y="476250"/>
            <a:ext cx="9072563"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0850" indent="-45085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r>
              <a:rPr lang="en-US" altLang="zh-CN" sz="2400"/>
              <a:t>bash</a:t>
            </a:r>
            <a:r>
              <a:rPr lang="zh-CN" altLang="zh-CN" sz="2400"/>
              <a:t>允许用户对正在输入的</a:t>
            </a:r>
            <a:r>
              <a:rPr lang="zh-CN" altLang="zh-CN" sz="4400">
                <a:solidFill>
                  <a:srgbClr val="FF0000"/>
                </a:solidFill>
              </a:rPr>
              <a:t>命令行</a:t>
            </a:r>
            <a:r>
              <a:rPr lang="zh-CN" altLang="en-US" sz="4400">
                <a:solidFill>
                  <a:srgbClr val="FF0000"/>
                </a:solidFill>
              </a:rPr>
              <a:t>使用“</a:t>
            </a:r>
            <a:r>
              <a:rPr lang="zh-CN" altLang="zh-CN" sz="4400">
                <a:solidFill>
                  <a:srgbClr val="FF0000"/>
                </a:solidFill>
              </a:rPr>
              <a:t>编辑键</a:t>
            </a:r>
            <a:r>
              <a:rPr lang="zh-CN" altLang="en-US" sz="4400">
                <a:solidFill>
                  <a:srgbClr val="FF0000"/>
                </a:solidFill>
              </a:rPr>
              <a:t>”</a:t>
            </a:r>
            <a:r>
              <a:rPr lang="zh-CN" altLang="zh-CN" sz="4400">
                <a:solidFill>
                  <a:srgbClr val="FF0000"/>
                </a:solidFill>
              </a:rPr>
              <a:t>进行</a:t>
            </a:r>
            <a:r>
              <a:rPr lang="zh-CN" altLang="zh-CN" sz="2400"/>
              <a:t>。</a:t>
            </a:r>
          </a:p>
          <a:p>
            <a:endParaRPr lang="zh-CN" altLang="en-US"/>
          </a:p>
        </p:txBody>
      </p:sp>
      <p:graphicFrame>
        <p:nvGraphicFramePr>
          <p:cNvPr id="4" name="表格 3">
            <a:extLst>
              <a:ext uri="{FF2B5EF4-FFF2-40B4-BE49-F238E27FC236}">
                <a16:creationId xmlns:a16="http://schemas.microsoft.com/office/drawing/2014/main" id="{048BEAFC-8697-6312-FD6E-DE466594DDB2}"/>
              </a:ext>
            </a:extLst>
          </p:cNvPr>
          <p:cNvGraphicFramePr>
            <a:graphicFrameLocks noGrp="1"/>
          </p:cNvGraphicFramePr>
          <p:nvPr/>
        </p:nvGraphicFramePr>
        <p:xfrm>
          <a:off x="107950" y="2060575"/>
          <a:ext cx="9036050" cy="4205288"/>
        </p:xfrm>
        <a:graphic>
          <a:graphicData uri="http://schemas.openxmlformats.org/drawingml/2006/table">
            <a:tbl>
              <a:tblPr firstRow="1" firstCol="1" bandRow="1"/>
              <a:tblGrid>
                <a:gridCol w="1944120">
                  <a:extLst>
                    <a:ext uri="{9D8B030D-6E8A-4147-A177-3AD203B41FA5}">
                      <a16:colId xmlns:a16="http://schemas.microsoft.com/office/drawing/2014/main" val="20000"/>
                    </a:ext>
                  </a:extLst>
                </a:gridCol>
                <a:gridCol w="2808173">
                  <a:extLst>
                    <a:ext uri="{9D8B030D-6E8A-4147-A177-3AD203B41FA5}">
                      <a16:colId xmlns:a16="http://schemas.microsoft.com/office/drawing/2014/main" val="20001"/>
                    </a:ext>
                  </a:extLst>
                </a:gridCol>
                <a:gridCol w="1223159">
                  <a:extLst>
                    <a:ext uri="{9D8B030D-6E8A-4147-A177-3AD203B41FA5}">
                      <a16:colId xmlns:a16="http://schemas.microsoft.com/office/drawing/2014/main" val="20002"/>
                    </a:ext>
                  </a:extLst>
                </a:gridCol>
                <a:gridCol w="3060598">
                  <a:extLst>
                    <a:ext uri="{9D8B030D-6E8A-4147-A177-3AD203B41FA5}">
                      <a16:colId xmlns:a16="http://schemas.microsoft.com/office/drawing/2014/main" val="20003"/>
                    </a:ext>
                  </a:extLst>
                </a:gridCol>
              </a:tblGrid>
              <a:tr h="473739">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编</a:t>
                      </a:r>
                      <a:r>
                        <a:rPr lang="en-US" sz="2000" b="1" kern="100" dirty="0">
                          <a:effectLst/>
                          <a:latin typeface="Times New Roman" panose="02020603050405020304"/>
                          <a:ea typeface="宋体" panose="02010600030101010101" pitchFamily="2" charset="-122"/>
                        </a:rPr>
                        <a:t>  </a:t>
                      </a:r>
                      <a:r>
                        <a:rPr lang="zh-CN" sz="2000" b="1" kern="100" dirty="0">
                          <a:effectLst/>
                          <a:latin typeface="Times New Roman" panose="02020603050405020304"/>
                          <a:ea typeface="宋体" panose="02010600030101010101" pitchFamily="2" charset="-122"/>
                        </a:rPr>
                        <a:t>辑</a:t>
                      </a:r>
                      <a:r>
                        <a:rPr lang="en-US" sz="2000" b="1" kern="100" dirty="0">
                          <a:effectLst/>
                          <a:latin typeface="Times New Roman" panose="02020603050405020304"/>
                          <a:ea typeface="宋体" panose="02010600030101010101" pitchFamily="2" charset="-122"/>
                        </a:rPr>
                        <a:t>  </a:t>
                      </a:r>
                      <a:r>
                        <a:rPr lang="zh-CN" sz="2000" b="1" kern="100" dirty="0">
                          <a:effectLst/>
                          <a:latin typeface="Times New Roman" panose="02020603050405020304"/>
                          <a:ea typeface="宋体" panose="02010600030101010101" pitchFamily="2" charset="-122"/>
                        </a:rPr>
                        <a:t>键</a:t>
                      </a: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意</a:t>
                      </a:r>
                      <a:r>
                        <a:rPr lang="en-US" sz="2000" b="1" kern="100" dirty="0">
                          <a:effectLst/>
                          <a:latin typeface="Times New Roman" panose="02020603050405020304"/>
                          <a:ea typeface="宋体" panose="02010600030101010101" pitchFamily="2" charset="-122"/>
                        </a:rPr>
                        <a:t>    </a:t>
                      </a:r>
                      <a:r>
                        <a:rPr lang="zh-CN" sz="2000" b="1" kern="100" dirty="0">
                          <a:effectLst/>
                          <a:latin typeface="Times New Roman" panose="02020603050405020304"/>
                          <a:ea typeface="宋体" panose="02010600030101010101" pitchFamily="2" charset="-122"/>
                        </a:rPr>
                        <a:t>义</a:t>
                      </a:r>
                    </a:p>
                  </a:txBody>
                  <a:tcPr marL="68577" marR="68577"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编辑键</a:t>
                      </a:r>
                    </a:p>
                  </a:txBody>
                  <a:tcPr marL="68577" marR="68577"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a:effectLst/>
                          <a:latin typeface="Times New Roman" panose="02020603050405020304"/>
                          <a:ea typeface="宋体" panose="02010600030101010101" pitchFamily="2" charset="-122"/>
                        </a:rPr>
                        <a:t>意</a:t>
                      </a:r>
                      <a:r>
                        <a:rPr lang="en-US" sz="2000" b="1" kern="100">
                          <a:effectLst/>
                          <a:latin typeface="Times New Roman" panose="02020603050405020304"/>
                          <a:ea typeface="宋体" panose="02010600030101010101" pitchFamily="2" charset="-122"/>
                        </a:rPr>
                        <a:t>    </a:t>
                      </a:r>
                      <a:r>
                        <a:rPr lang="zh-CN" sz="2000" b="1" kern="100">
                          <a:effectLst/>
                          <a:latin typeface="Times New Roman" panose="02020603050405020304"/>
                          <a:ea typeface="宋体" panose="02010600030101010101" pitchFamily="2" charset="-122"/>
                        </a:rPr>
                        <a:t>义</a:t>
                      </a: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09728">
                <a:tc>
                  <a:txBody>
                    <a:bodyPr/>
                    <a:lstStyle/>
                    <a:p>
                      <a:pPr algn="ctr">
                        <a:lnSpc>
                          <a:spcPct val="100000"/>
                        </a:lnSpc>
                        <a:spcAft>
                          <a:spcPts val="0"/>
                        </a:spcAft>
                      </a:pPr>
                      <a:r>
                        <a:rPr lang="en-US" sz="2000" b="1" kern="100" dirty="0" err="1">
                          <a:effectLst/>
                          <a:latin typeface="Times New Roman" panose="02020603050405020304"/>
                          <a:ea typeface="宋体" panose="02010600030101010101" pitchFamily="2" charset="-122"/>
                        </a:rPr>
                        <a:t>Ctrl+A</a:t>
                      </a:r>
                      <a:r>
                        <a:rPr lang="zh-CN" altLang="en-US" sz="2000" b="1" kern="100" dirty="0">
                          <a:effectLst/>
                          <a:latin typeface="Times New Roman" panose="02020603050405020304"/>
                          <a:ea typeface="宋体" panose="02010600030101010101" pitchFamily="2" charset="-122"/>
                        </a:rPr>
                        <a:t>｜</a:t>
                      </a:r>
                      <a:r>
                        <a:rPr lang="en-US" altLang="zh-CN" sz="2000" b="1" kern="100" dirty="0">
                          <a:effectLst/>
                          <a:latin typeface="Times New Roman" panose="02020603050405020304"/>
                          <a:ea typeface="宋体" panose="02010600030101010101" pitchFamily="2" charset="-122"/>
                        </a:rPr>
                        <a:t>HOME</a:t>
                      </a:r>
                      <a:endParaRPr lang="zh-CN" sz="2000" b="1" kern="100" dirty="0">
                        <a:effectLst/>
                        <a:latin typeface="Times New Roman" panose="02020603050405020304"/>
                        <a:ea typeface="宋体" panose="02010600030101010101" pitchFamily="2" charset="-122"/>
                      </a:endParaRP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光标移至行首</a:t>
                      </a:r>
                    </a:p>
                  </a:txBody>
                  <a:tcPr marL="68577" marR="68577"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b="1" kern="100" dirty="0" err="1">
                          <a:effectLst/>
                          <a:latin typeface="Times New Roman" panose="02020603050405020304"/>
                          <a:ea typeface="宋体" panose="02010600030101010101" pitchFamily="2" charset="-122"/>
                        </a:rPr>
                        <a:t>Ctrl+K</a:t>
                      </a:r>
                      <a:endParaRPr lang="zh-CN" sz="2000" b="1" kern="100" dirty="0">
                        <a:effectLst/>
                        <a:latin typeface="Times New Roman" panose="02020603050405020304"/>
                        <a:ea typeface="宋体" panose="02010600030101010101" pitchFamily="2" charset="-122"/>
                      </a:endParaRPr>
                    </a:p>
                  </a:txBody>
                  <a:tcPr marL="68577" marR="68577"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删除光标处至行末</a:t>
                      </a: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73739">
                <a:tc>
                  <a:txBody>
                    <a:bodyPr/>
                    <a:lstStyle/>
                    <a:p>
                      <a:pPr algn="ctr">
                        <a:lnSpc>
                          <a:spcPct val="100000"/>
                        </a:lnSpc>
                        <a:spcAft>
                          <a:spcPts val="0"/>
                        </a:spcAft>
                      </a:pPr>
                      <a:r>
                        <a:rPr lang="en-US" sz="2000" b="1" kern="100" dirty="0" err="1">
                          <a:effectLst/>
                          <a:latin typeface="Times New Roman" panose="02020603050405020304"/>
                          <a:ea typeface="宋体" panose="02010600030101010101" pitchFamily="2" charset="-122"/>
                        </a:rPr>
                        <a:t>Ctrl+E</a:t>
                      </a:r>
                      <a:r>
                        <a:rPr lang="zh-CN" altLang="en-US" sz="2000" b="1" kern="100" dirty="0">
                          <a:effectLst/>
                          <a:latin typeface="Times New Roman" panose="02020603050405020304"/>
                          <a:ea typeface="宋体" panose="02010600030101010101" pitchFamily="2" charset="-122"/>
                        </a:rPr>
                        <a:t>｜</a:t>
                      </a:r>
                      <a:r>
                        <a:rPr lang="en-US" altLang="zh-CN" sz="2000" b="1" kern="100" dirty="0">
                          <a:effectLst/>
                          <a:latin typeface="Times New Roman" panose="02020603050405020304"/>
                          <a:ea typeface="宋体" panose="02010600030101010101" pitchFamily="2" charset="-122"/>
                        </a:rPr>
                        <a:t>END</a:t>
                      </a:r>
                      <a:endParaRPr lang="zh-CN" sz="2000" b="1" kern="100" dirty="0">
                        <a:effectLst/>
                        <a:latin typeface="Times New Roman" panose="02020603050405020304"/>
                        <a:ea typeface="宋体" panose="02010600030101010101" pitchFamily="2" charset="-122"/>
                      </a:endParaRP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a:effectLst/>
                          <a:latin typeface="Times New Roman" panose="02020603050405020304"/>
                          <a:ea typeface="宋体" panose="02010600030101010101" pitchFamily="2" charset="-122"/>
                        </a:rPr>
                        <a:t>光标移至行尾</a:t>
                      </a:r>
                    </a:p>
                  </a:txBody>
                  <a:tcPr marL="68577" marR="68577"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b="1" kern="100" dirty="0" err="1">
                          <a:effectLst/>
                          <a:latin typeface="Times New Roman" panose="02020603050405020304"/>
                          <a:ea typeface="宋体" panose="02010600030101010101" pitchFamily="2" charset="-122"/>
                        </a:rPr>
                        <a:t>Ctrl+U</a:t>
                      </a:r>
                      <a:endParaRPr lang="zh-CN" sz="2000" b="1" kern="100" dirty="0">
                        <a:effectLst/>
                        <a:latin typeface="Times New Roman" panose="02020603050405020304"/>
                        <a:ea typeface="宋体" panose="02010600030101010101" pitchFamily="2" charset="-122"/>
                      </a:endParaRPr>
                    </a:p>
                  </a:txBody>
                  <a:tcPr marL="68577" marR="68577"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删除光标处至行首</a:t>
                      </a: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73739">
                <a:tc>
                  <a:txBody>
                    <a:bodyPr/>
                    <a:lstStyle/>
                    <a:p>
                      <a:pPr algn="ctr">
                        <a:lnSpc>
                          <a:spcPct val="100000"/>
                        </a:lnSpc>
                        <a:spcAft>
                          <a:spcPts val="0"/>
                        </a:spcAft>
                      </a:pPr>
                      <a:r>
                        <a:rPr lang="en-US" sz="2000" b="1" kern="100">
                          <a:effectLst/>
                          <a:latin typeface="Times New Roman" panose="02020603050405020304"/>
                          <a:ea typeface="宋体" panose="02010600030101010101" pitchFamily="2" charset="-122"/>
                        </a:rPr>
                        <a:t>Alt+F</a:t>
                      </a:r>
                      <a:endParaRPr lang="zh-CN" sz="2000" b="1" kern="100">
                        <a:effectLst/>
                        <a:latin typeface="Times New Roman" panose="02020603050405020304"/>
                        <a:ea typeface="宋体" panose="02010600030101010101" pitchFamily="2" charset="-122"/>
                      </a:endParaRP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a:effectLst/>
                          <a:latin typeface="Times New Roman" panose="02020603050405020304"/>
                          <a:ea typeface="宋体" panose="02010600030101010101" pitchFamily="2" charset="-122"/>
                        </a:rPr>
                        <a:t>光标前移至右一词末</a:t>
                      </a:r>
                    </a:p>
                  </a:txBody>
                  <a:tcPr marL="68577" marR="68577"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b="1" kern="100">
                          <a:effectLst/>
                          <a:latin typeface="Times New Roman" panose="02020603050405020304"/>
                          <a:ea typeface="宋体" panose="02010600030101010101" pitchFamily="2" charset="-122"/>
                        </a:rPr>
                        <a:t>Alt+D</a:t>
                      </a:r>
                      <a:endParaRPr lang="zh-CN" sz="2000" b="1" kern="100">
                        <a:effectLst/>
                        <a:latin typeface="Times New Roman" panose="02020603050405020304"/>
                        <a:ea typeface="宋体" panose="02010600030101010101" pitchFamily="2" charset="-122"/>
                      </a:endParaRPr>
                    </a:p>
                  </a:txBody>
                  <a:tcPr marL="68577" marR="68577"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删除光标处至单词末</a:t>
                      </a: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73739">
                <a:tc>
                  <a:txBody>
                    <a:bodyPr/>
                    <a:lstStyle/>
                    <a:p>
                      <a:pPr algn="ctr">
                        <a:lnSpc>
                          <a:spcPct val="100000"/>
                        </a:lnSpc>
                        <a:spcAft>
                          <a:spcPts val="0"/>
                        </a:spcAft>
                      </a:pPr>
                      <a:r>
                        <a:rPr lang="en-US" sz="2000" b="1" kern="100">
                          <a:effectLst/>
                          <a:latin typeface="Times New Roman" panose="02020603050405020304"/>
                          <a:ea typeface="宋体" panose="02010600030101010101" pitchFamily="2" charset="-122"/>
                        </a:rPr>
                        <a:t>Alt+B</a:t>
                      </a:r>
                      <a:endParaRPr lang="zh-CN" sz="2000" b="1" kern="100">
                        <a:effectLst/>
                        <a:latin typeface="Times New Roman" panose="02020603050405020304"/>
                        <a:ea typeface="宋体" panose="02010600030101010101" pitchFamily="2" charset="-122"/>
                      </a:endParaRP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光标后移至左一词前</a:t>
                      </a:r>
                    </a:p>
                  </a:txBody>
                  <a:tcPr marL="68577" marR="68577"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b="1" kern="100" dirty="0" err="1">
                          <a:effectLst/>
                          <a:latin typeface="Times New Roman" panose="02020603050405020304"/>
                          <a:ea typeface="宋体" panose="02010600030101010101" pitchFamily="2" charset="-122"/>
                        </a:rPr>
                        <a:t>Alt+DEL</a:t>
                      </a:r>
                      <a:endParaRPr lang="zh-CN" sz="2000" b="1" kern="100" dirty="0">
                        <a:effectLst/>
                        <a:latin typeface="Times New Roman" panose="02020603050405020304"/>
                        <a:ea typeface="宋体" panose="02010600030101010101" pitchFamily="2" charset="-122"/>
                      </a:endParaRPr>
                    </a:p>
                  </a:txBody>
                  <a:tcPr marL="68577" marR="68577"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删除光标处至单词首</a:t>
                      </a: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50302">
                <a:tc>
                  <a:txBody>
                    <a:bodyPr/>
                    <a:lstStyle/>
                    <a:p>
                      <a:pPr algn="ctr">
                        <a:lnSpc>
                          <a:spcPct val="100000"/>
                        </a:lnSpc>
                        <a:spcAft>
                          <a:spcPts val="0"/>
                        </a:spcAft>
                      </a:pPr>
                      <a:r>
                        <a:rPr lang="en-US" sz="2000" b="1" kern="100">
                          <a:effectLst/>
                          <a:latin typeface="Times New Roman" panose="02020603050405020304"/>
                          <a:ea typeface="宋体" panose="02010600030101010101" pitchFamily="2" charset="-122"/>
                        </a:rPr>
                        <a:t>Ctrl+L</a:t>
                      </a:r>
                      <a:endParaRPr lang="zh-CN" sz="2000" b="1" kern="100">
                        <a:effectLst/>
                        <a:latin typeface="Times New Roman" panose="02020603050405020304"/>
                        <a:ea typeface="宋体" panose="02010600030101010101" pitchFamily="2" charset="-122"/>
                      </a:endParaRP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清屏并在屏幕顶端重显当前行</a:t>
                      </a:r>
                    </a:p>
                  </a:txBody>
                  <a:tcPr marL="68577" marR="68577"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b="1" kern="100" dirty="0" err="1">
                          <a:effectLst/>
                          <a:latin typeface="Times New Roman" panose="02020603050405020304"/>
                          <a:ea typeface="宋体" panose="02010600030101010101" pitchFamily="2" charset="-122"/>
                        </a:rPr>
                        <a:t>Ctrl+W</a:t>
                      </a:r>
                      <a:endParaRPr lang="zh-CN" sz="2000" b="1" kern="100" dirty="0">
                        <a:effectLst/>
                        <a:latin typeface="Times New Roman" panose="02020603050405020304"/>
                        <a:ea typeface="宋体" panose="02010600030101010101" pitchFamily="2" charset="-122"/>
                      </a:endParaRPr>
                    </a:p>
                  </a:txBody>
                  <a:tcPr marL="68577" marR="68577"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删除光标处左一词或至词首</a:t>
                      </a: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50302">
                <a:tc>
                  <a:txBody>
                    <a:bodyPr/>
                    <a:lstStyle/>
                    <a:p>
                      <a:pPr algn="ctr">
                        <a:lnSpc>
                          <a:spcPct val="100000"/>
                        </a:lnSpc>
                        <a:spcAft>
                          <a:spcPts val="0"/>
                        </a:spcAft>
                      </a:pPr>
                      <a:r>
                        <a:rPr lang="en-US" sz="2000" b="1" kern="100" dirty="0">
                          <a:effectLst/>
                          <a:latin typeface="Times New Roman" panose="02020603050405020304"/>
                          <a:ea typeface="宋体" panose="02010600030101010101" pitchFamily="2" charset="-122"/>
                        </a:rPr>
                        <a:t>Ctrl+-</a:t>
                      </a:r>
                      <a:endParaRPr lang="zh-CN" sz="2000" b="1" kern="100" dirty="0">
                        <a:effectLst/>
                        <a:latin typeface="Times New Roman" panose="02020603050405020304"/>
                        <a:ea typeface="宋体" panose="02010600030101010101" pitchFamily="2" charset="-122"/>
                      </a:endParaRP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恢复上一次的操作</a:t>
                      </a:r>
                    </a:p>
                  </a:txBody>
                  <a:tcPr marL="68577" marR="68577"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b="1" kern="100">
                          <a:effectLst/>
                          <a:latin typeface="Times New Roman" panose="02020603050405020304"/>
                          <a:ea typeface="宋体" panose="02010600030101010101" pitchFamily="2" charset="-122"/>
                        </a:rPr>
                        <a:t>Ctrl+Y</a:t>
                      </a:r>
                      <a:endParaRPr lang="zh-CN" sz="2000" b="1" kern="100">
                        <a:effectLst/>
                        <a:latin typeface="Times New Roman" panose="02020603050405020304"/>
                        <a:ea typeface="宋体" panose="02010600030101010101" pitchFamily="2" charset="-122"/>
                      </a:endParaRPr>
                    </a:p>
                  </a:txBody>
                  <a:tcPr marL="68577" marR="68577"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将刚删除的内容插入到光标处</a:t>
                      </a: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8626CF19-56E5-C109-4DAA-BF31F9E86583}"/>
              </a:ext>
            </a:extLst>
          </p:cNvPr>
          <p:cNvSpPr>
            <a:spLocks noGrp="1" noChangeArrowheads="1"/>
          </p:cNvSpPr>
          <p:nvPr>
            <p:ph type="title"/>
          </p:nvPr>
        </p:nvSpPr>
        <p:spPr/>
        <p:txBody>
          <a:bodyPr/>
          <a:lstStyle/>
          <a:p>
            <a:r>
              <a:rPr lang="en-US" altLang="zh-CN"/>
              <a:t>3</a:t>
            </a:r>
            <a:r>
              <a:rPr lang="zh-CN" altLang="zh-CN"/>
              <a:t>）历史记录</a:t>
            </a:r>
            <a:endParaRPr lang="zh-CN" altLang="en-US"/>
          </a:p>
        </p:txBody>
      </p:sp>
      <p:sp>
        <p:nvSpPr>
          <p:cNvPr id="43011" name="矩形 2">
            <a:extLst>
              <a:ext uri="{FF2B5EF4-FFF2-40B4-BE49-F238E27FC236}">
                <a16:creationId xmlns:a16="http://schemas.microsoft.com/office/drawing/2014/main" id="{D6EE20CC-AD6B-EB64-980E-ED0AE1149FB4}"/>
              </a:ext>
            </a:extLst>
          </p:cNvPr>
          <p:cNvSpPr>
            <a:spLocks noChangeArrowheads="1"/>
          </p:cNvSpPr>
          <p:nvPr/>
        </p:nvSpPr>
        <p:spPr bwMode="auto">
          <a:xfrm>
            <a:off x="250825" y="836613"/>
            <a:ext cx="9037638"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zh-CN" sz="4400"/>
              <a:t>在</a:t>
            </a:r>
            <a:r>
              <a:rPr lang="en-US" altLang="zh-CN" sz="4400"/>
              <a:t>bash</a:t>
            </a:r>
            <a:r>
              <a:rPr lang="zh-CN" altLang="zh-CN" sz="4400"/>
              <a:t>中，回车后命令行被保留在历史记录文件中</a:t>
            </a:r>
            <a:r>
              <a:rPr lang="zh-CN" altLang="en-US" sz="4400"/>
              <a:t>。</a:t>
            </a:r>
            <a:r>
              <a:rPr lang="zh-CN" altLang="zh-CN" sz="5400">
                <a:solidFill>
                  <a:srgbClr val="FF0000"/>
                </a:solidFill>
              </a:rPr>
              <a:t>可通过光标键“</a:t>
            </a:r>
            <a:r>
              <a:rPr lang="en-US" altLang="zh-CN" sz="5400">
                <a:solidFill>
                  <a:srgbClr val="FF0000"/>
                </a:solidFill>
              </a:rPr>
              <a:t>↑</a:t>
            </a:r>
            <a:r>
              <a:rPr lang="zh-CN" altLang="zh-CN" sz="5400">
                <a:solidFill>
                  <a:srgbClr val="FF0000"/>
                </a:solidFill>
              </a:rPr>
              <a:t>”和“</a:t>
            </a:r>
            <a:r>
              <a:rPr lang="en-US" altLang="zh-CN" sz="5400">
                <a:solidFill>
                  <a:srgbClr val="FF0000"/>
                </a:solidFill>
              </a:rPr>
              <a:t>↓</a:t>
            </a:r>
            <a:r>
              <a:rPr lang="zh-CN" altLang="zh-CN" sz="5400">
                <a:solidFill>
                  <a:srgbClr val="FF0000"/>
                </a:solidFill>
              </a:rPr>
              <a:t>”</a:t>
            </a:r>
            <a:r>
              <a:rPr lang="zh-CN" altLang="zh-CN" sz="4400"/>
              <a:t>在历史记录中漫步，对出现的“当前”记录可以进行编辑和使用。利用</a:t>
            </a:r>
            <a:r>
              <a:rPr lang="zh-CN" altLang="en-US" sz="4400"/>
              <a:t>此</a:t>
            </a:r>
            <a:r>
              <a:rPr lang="zh-CN" altLang="zh-CN" sz="4400"/>
              <a:t>可以重复执行以前执行过的命令，而无须重新输入。</a:t>
            </a:r>
            <a:endParaRPr lang="zh-CN" altLang="en-US" sz="4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C836823F-1A74-999A-3E65-215158647D7B}"/>
              </a:ext>
            </a:extLst>
          </p:cNvPr>
          <p:cNvSpPr>
            <a:spLocks noGrp="1" noChangeArrowheads="1"/>
          </p:cNvSpPr>
          <p:nvPr>
            <p:ph type="title"/>
          </p:nvPr>
        </p:nvSpPr>
        <p:spPr>
          <a:xfrm>
            <a:off x="0" y="-26988"/>
            <a:ext cx="9144000" cy="476251"/>
          </a:xfrm>
        </p:spPr>
        <p:txBody>
          <a:bodyPr/>
          <a:lstStyle/>
          <a:p>
            <a:r>
              <a:rPr lang="en-US" altLang="zh-CN"/>
              <a:t>history</a:t>
            </a:r>
            <a:r>
              <a:rPr lang="zh-CN" altLang="en-US"/>
              <a:t>命令</a:t>
            </a:r>
          </a:p>
        </p:txBody>
      </p:sp>
      <p:sp>
        <p:nvSpPr>
          <p:cNvPr id="44035" name="内容占位符 2">
            <a:extLst>
              <a:ext uri="{FF2B5EF4-FFF2-40B4-BE49-F238E27FC236}">
                <a16:creationId xmlns:a16="http://schemas.microsoft.com/office/drawing/2014/main" id="{4FB64E20-0E59-10E4-5F05-0F7F81DF5225}"/>
              </a:ext>
            </a:extLst>
          </p:cNvPr>
          <p:cNvSpPr txBox="1">
            <a:spLocks/>
          </p:cNvSpPr>
          <p:nvPr/>
        </p:nvSpPr>
        <p:spPr bwMode="auto">
          <a:xfrm>
            <a:off x="0" y="549275"/>
            <a:ext cx="9036050"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0850" indent="-45085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r>
              <a:rPr lang="en-US" altLang="zh-CN" sz="3600"/>
              <a:t>Bash</a:t>
            </a:r>
            <a:r>
              <a:rPr lang="zh-CN" altLang="en-US" sz="3600"/>
              <a:t>，</a:t>
            </a:r>
            <a:r>
              <a:rPr lang="zh-CN" altLang="zh-CN" sz="3600"/>
              <a:t>为每个用户在</a:t>
            </a:r>
            <a:r>
              <a:rPr lang="en-US" altLang="zh-CN" sz="3600"/>
              <a:t>~/.bash_history</a:t>
            </a:r>
            <a:r>
              <a:rPr lang="zh-CN" altLang="zh-CN" sz="3600"/>
              <a:t>文件内预设了</a:t>
            </a:r>
            <a:r>
              <a:rPr lang="en-US" altLang="zh-CN" sz="3600"/>
              <a:t>1000</a:t>
            </a:r>
            <a:r>
              <a:rPr lang="zh-CN" altLang="zh-CN" sz="3600"/>
              <a:t>条记录的历史，并为每条记录一个编号。</a:t>
            </a:r>
            <a:r>
              <a:rPr lang="zh-CN" altLang="en-US" sz="3600"/>
              <a:t>使用</a:t>
            </a:r>
            <a:r>
              <a:rPr lang="en-US" altLang="zh-CN" sz="3600"/>
              <a:t>history</a:t>
            </a:r>
            <a:r>
              <a:rPr lang="zh-CN" altLang="en-US" sz="3600"/>
              <a:t>命令可以查询历史记录。</a:t>
            </a:r>
            <a:r>
              <a:rPr lang="en-US" altLang="zh-CN" sz="3600"/>
              <a:t> history</a:t>
            </a:r>
            <a:r>
              <a:rPr lang="zh-CN" altLang="en-US" sz="3600"/>
              <a:t>的用法为：</a:t>
            </a:r>
            <a:endParaRPr lang="en-US" altLang="zh-CN" sz="3600"/>
          </a:p>
          <a:p>
            <a:r>
              <a:rPr lang="en-US" altLang="zh-CN" sz="3600"/>
              <a:t> </a:t>
            </a:r>
            <a:r>
              <a:rPr lang="en-US" altLang="zh-CN" sz="4400">
                <a:solidFill>
                  <a:srgbClr val="FF0000"/>
                </a:solidFill>
              </a:rPr>
              <a:t>history [n] 	# n</a:t>
            </a:r>
            <a:r>
              <a:rPr lang="zh-CN" altLang="en-US" sz="4400">
                <a:solidFill>
                  <a:srgbClr val="FF0000"/>
                </a:solidFill>
              </a:rPr>
              <a:t>为整数</a:t>
            </a:r>
            <a:endParaRPr lang="en-US" altLang="zh-CN" sz="4400">
              <a:solidFill>
                <a:srgbClr val="FF0000"/>
              </a:solidFill>
            </a:endParaRPr>
          </a:p>
          <a:p>
            <a:r>
              <a:rPr lang="zh-CN" altLang="en-US" sz="3600"/>
              <a:t>用来显示最近</a:t>
            </a:r>
            <a:r>
              <a:rPr lang="en-US" altLang="zh-CN" sz="3600"/>
              <a:t>n</a:t>
            </a:r>
            <a:r>
              <a:rPr lang="zh-CN" altLang="en-US" sz="3600"/>
              <a:t>条记录，若不指定</a:t>
            </a:r>
            <a:r>
              <a:rPr lang="en-US" altLang="zh-CN" sz="3600"/>
              <a:t>n</a:t>
            </a:r>
            <a:r>
              <a:rPr lang="zh-CN" altLang="en-US" sz="3600"/>
              <a:t>则显示所有历史记录。比如：</a:t>
            </a:r>
            <a:endParaRPr lang="en-US" altLang="zh-CN" sz="3600"/>
          </a:p>
          <a:p>
            <a:r>
              <a:rPr lang="en-US" altLang="zh-CN" sz="3600"/>
              <a:t>$ history 20	#</a:t>
            </a:r>
            <a:r>
              <a:rPr lang="zh-CN" altLang="zh-CN" sz="3600"/>
              <a:t>显示最近</a:t>
            </a:r>
            <a:r>
              <a:rPr lang="en-US" altLang="zh-CN" sz="3600"/>
              <a:t>20</a:t>
            </a:r>
            <a:r>
              <a:rPr lang="zh-CN" altLang="zh-CN" sz="3600"/>
              <a:t>条历史记录</a:t>
            </a:r>
          </a:p>
          <a:p>
            <a:r>
              <a:rPr lang="en-US" altLang="zh-CN" sz="3600"/>
              <a:t>$ history        	#</a:t>
            </a:r>
            <a:r>
              <a:rPr lang="zh-CN" altLang="zh-CN" sz="3600"/>
              <a:t>显示所有历史记录</a:t>
            </a:r>
            <a:endParaRPr lang="en-US" altLang="zh-CN" sz="36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D0E843F0-772E-D259-173D-05D7E9E5018F}"/>
              </a:ext>
            </a:extLst>
          </p:cNvPr>
          <p:cNvSpPr>
            <a:spLocks noGrp="1" noChangeArrowheads="1"/>
          </p:cNvSpPr>
          <p:nvPr>
            <p:ph type="title"/>
          </p:nvPr>
        </p:nvSpPr>
        <p:spPr/>
        <p:txBody>
          <a:bodyPr/>
          <a:lstStyle/>
          <a:p>
            <a:r>
              <a:rPr lang="en-US" altLang="zh-CN"/>
              <a:t>3.1.6 </a:t>
            </a:r>
            <a:r>
              <a:rPr lang="zh-CN" altLang="zh-CN"/>
              <a:t>标准流与</a:t>
            </a:r>
            <a:r>
              <a:rPr lang="en-US" altLang="zh-CN"/>
              <a:t>I/O</a:t>
            </a:r>
            <a:r>
              <a:rPr lang="zh-CN" altLang="zh-CN"/>
              <a:t>重定向</a:t>
            </a:r>
            <a:endParaRPr lang="zh-CN" altLang="en-US"/>
          </a:p>
        </p:txBody>
      </p:sp>
      <p:graphicFrame>
        <p:nvGraphicFramePr>
          <p:cNvPr id="5" name="表格 4">
            <a:extLst>
              <a:ext uri="{FF2B5EF4-FFF2-40B4-BE49-F238E27FC236}">
                <a16:creationId xmlns:a16="http://schemas.microsoft.com/office/drawing/2014/main" id="{FA61DBE2-2F0B-6BC8-D954-FEB8E08D004F}"/>
              </a:ext>
            </a:extLst>
          </p:cNvPr>
          <p:cNvGraphicFramePr>
            <a:graphicFrameLocks noGrp="1"/>
          </p:cNvGraphicFramePr>
          <p:nvPr/>
        </p:nvGraphicFramePr>
        <p:xfrm>
          <a:off x="107950" y="2136775"/>
          <a:ext cx="8928100" cy="2481263"/>
        </p:xfrm>
        <a:graphic>
          <a:graphicData uri="http://schemas.openxmlformats.org/drawingml/2006/table">
            <a:tbl>
              <a:tblPr/>
              <a:tblGrid>
                <a:gridCol w="2232025">
                  <a:extLst>
                    <a:ext uri="{9D8B030D-6E8A-4147-A177-3AD203B41FA5}">
                      <a16:colId xmlns:a16="http://schemas.microsoft.com/office/drawing/2014/main" val="20000"/>
                    </a:ext>
                  </a:extLst>
                </a:gridCol>
                <a:gridCol w="3312038">
                  <a:extLst>
                    <a:ext uri="{9D8B030D-6E8A-4147-A177-3AD203B41FA5}">
                      <a16:colId xmlns:a16="http://schemas.microsoft.com/office/drawing/2014/main" val="20001"/>
                    </a:ext>
                  </a:extLst>
                </a:gridCol>
                <a:gridCol w="2016023">
                  <a:extLst>
                    <a:ext uri="{9D8B030D-6E8A-4147-A177-3AD203B41FA5}">
                      <a16:colId xmlns:a16="http://schemas.microsoft.com/office/drawing/2014/main" val="20002"/>
                    </a:ext>
                  </a:extLst>
                </a:gridCol>
                <a:gridCol w="1368014">
                  <a:extLst>
                    <a:ext uri="{9D8B030D-6E8A-4147-A177-3AD203B41FA5}">
                      <a16:colId xmlns:a16="http://schemas.microsoft.com/office/drawing/2014/main" val="20003"/>
                    </a:ext>
                  </a:extLst>
                </a:gridCol>
              </a:tblGrid>
              <a:tr h="513637">
                <a:tc>
                  <a:txBody>
                    <a:bodyPr/>
                    <a:lstStyle/>
                    <a:p>
                      <a:r>
                        <a:rPr lang="zh-CN" altLang="en-US" sz="2800" b="1" dirty="0">
                          <a:effectLst/>
                        </a:rPr>
                        <a:t>名称</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AFAFA"/>
                    </a:solidFill>
                  </a:tcPr>
                </a:tc>
                <a:tc>
                  <a:txBody>
                    <a:bodyPr/>
                    <a:lstStyle/>
                    <a:p>
                      <a:r>
                        <a:rPr lang="zh-CN" altLang="en-US" sz="2800" b="1" dirty="0">
                          <a:effectLst/>
                        </a:rPr>
                        <a:t>类型</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AFAFA"/>
                    </a:solidFill>
                  </a:tcPr>
                </a:tc>
                <a:tc>
                  <a:txBody>
                    <a:bodyPr/>
                    <a:lstStyle/>
                    <a:p>
                      <a:r>
                        <a:rPr lang="zh-CN" altLang="en-US" sz="2800" b="1" dirty="0">
                          <a:effectLst/>
                        </a:rPr>
                        <a:t>文件描述符</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AFAFA"/>
                    </a:solidFill>
                  </a:tcPr>
                </a:tc>
                <a:tc>
                  <a:txBody>
                    <a:bodyPr/>
                    <a:lstStyle/>
                    <a:p>
                      <a:r>
                        <a:rPr lang="zh-CN" altLang="en-US" sz="2800" b="1">
                          <a:effectLst/>
                        </a:rPr>
                        <a:t>操作</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AFAFA"/>
                    </a:solidFill>
                  </a:tcPr>
                </a:tc>
                <a:extLst>
                  <a:ext uri="{0D108BD9-81ED-4DB2-BD59-A6C34878D82A}">
                    <a16:rowId xmlns:a16="http://schemas.microsoft.com/office/drawing/2014/main" val="10000"/>
                  </a:ext>
                </a:extLst>
              </a:tr>
              <a:tr h="513637">
                <a:tc>
                  <a:txBody>
                    <a:bodyPr/>
                    <a:lstStyle/>
                    <a:p>
                      <a:r>
                        <a:rPr lang="zh-CN" altLang="en-US" sz="2800" b="1" dirty="0">
                          <a:effectLst/>
                        </a:rPr>
                        <a:t>标准输入</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FFFFF"/>
                    </a:solidFill>
                  </a:tcPr>
                </a:tc>
                <a:tc>
                  <a:txBody>
                    <a:bodyPr/>
                    <a:lstStyle/>
                    <a:p>
                      <a:r>
                        <a:rPr lang="en-US" sz="2800" b="1" dirty="0">
                          <a:effectLst/>
                        </a:rPr>
                        <a:t>standard input</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FFFFF"/>
                    </a:solidFill>
                  </a:tcPr>
                </a:tc>
                <a:tc>
                  <a:txBody>
                    <a:bodyPr/>
                    <a:lstStyle/>
                    <a:p>
                      <a:r>
                        <a:rPr lang="en-US" altLang="zh-CN" sz="2800" b="1">
                          <a:effectLst/>
                        </a:rPr>
                        <a:t>0</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FFFFF"/>
                    </a:solidFill>
                  </a:tcPr>
                </a:tc>
                <a:tc>
                  <a:txBody>
                    <a:bodyPr/>
                    <a:lstStyle/>
                    <a:p>
                      <a:r>
                        <a:rPr lang="en-US" altLang="zh-CN" sz="2800" b="1">
                          <a:effectLst/>
                        </a:rPr>
                        <a:t>&lt;,&lt;&lt;</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3637">
                <a:tc>
                  <a:txBody>
                    <a:bodyPr/>
                    <a:lstStyle/>
                    <a:p>
                      <a:r>
                        <a:rPr lang="zh-CN" altLang="en-US" sz="2800" b="1">
                          <a:effectLst/>
                        </a:rPr>
                        <a:t>标准输出</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FFFFF"/>
                    </a:solidFill>
                  </a:tcPr>
                </a:tc>
                <a:tc>
                  <a:txBody>
                    <a:bodyPr/>
                    <a:lstStyle/>
                    <a:p>
                      <a:r>
                        <a:rPr lang="en-US" sz="2800" b="1" dirty="0">
                          <a:effectLst/>
                        </a:rPr>
                        <a:t>standard output</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FFFFF"/>
                    </a:solidFill>
                  </a:tcPr>
                </a:tc>
                <a:tc>
                  <a:txBody>
                    <a:bodyPr/>
                    <a:lstStyle/>
                    <a:p>
                      <a:r>
                        <a:rPr lang="en-US" altLang="zh-CN" sz="2800" b="1" dirty="0">
                          <a:effectLst/>
                        </a:rPr>
                        <a:t>1</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FFFFF"/>
                    </a:solidFill>
                  </a:tcPr>
                </a:tc>
                <a:tc>
                  <a:txBody>
                    <a:bodyPr/>
                    <a:lstStyle/>
                    <a:p>
                      <a:r>
                        <a:rPr lang="en-US" altLang="zh-CN" sz="2800" b="1">
                          <a:effectLst/>
                        </a:rPr>
                        <a:t>&gt;,&gt;&gt;</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40353">
                <a:tc>
                  <a:txBody>
                    <a:bodyPr/>
                    <a:lstStyle/>
                    <a:p>
                      <a:r>
                        <a:rPr lang="zh-CN" altLang="en-US" sz="2800" b="1">
                          <a:effectLst/>
                        </a:rPr>
                        <a:t>标准错误输出</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FFFFF"/>
                    </a:solidFill>
                  </a:tcPr>
                </a:tc>
                <a:tc>
                  <a:txBody>
                    <a:bodyPr/>
                    <a:lstStyle/>
                    <a:p>
                      <a:r>
                        <a:rPr lang="en-US" sz="2800" b="1" dirty="0">
                          <a:effectLst/>
                        </a:rPr>
                        <a:t>standard error output</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FFFFF"/>
                    </a:solidFill>
                  </a:tcPr>
                </a:tc>
                <a:tc>
                  <a:txBody>
                    <a:bodyPr/>
                    <a:lstStyle/>
                    <a:p>
                      <a:r>
                        <a:rPr lang="en-US" altLang="zh-CN" sz="2800" b="1" dirty="0">
                          <a:effectLst/>
                        </a:rPr>
                        <a:t>2</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FFFFF"/>
                    </a:solidFill>
                  </a:tcPr>
                </a:tc>
                <a:tc>
                  <a:txBody>
                    <a:bodyPr/>
                    <a:lstStyle/>
                    <a:p>
                      <a:r>
                        <a:rPr lang="en-US" altLang="zh-CN" sz="2800" b="1" dirty="0">
                          <a:effectLst/>
                        </a:rPr>
                        <a:t>2&gt;,2&gt;&gt;</a:t>
                      </a:r>
                    </a:p>
                  </a:txBody>
                  <a:tcPr marL="76192" marR="76192" marT="43461" marB="43461" anchor="ctr">
                    <a:lnL w="5443" cap="flat" cmpd="sng" algn="ctr">
                      <a:solidFill>
                        <a:srgbClr val="C0C0C0"/>
                      </a:solidFill>
                      <a:prstDash val="solid"/>
                      <a:round/>
                      <a:headEnd type="none" w="med" len="med"/>
                      <a:tailEnd type="none" w="med" len="med"/>
                    </a:lnL>
                    <a:lnR w="5443" cap="flat" cmpd="sng" algn="ctr">
                      <a:solidFill>
                        <a:srgbClr val="C0C0C0"/>
                      </a:solidFill>
                      <a:prstDash val="solid"/>
                      <a:round/>
                      <a:headEnd type="none" w="med" len="med"/>
                      <a:tailEnd type="none" w="med" len="med"/>
                    </a:lnR>
                    <a:lnT w="5443" cap="flat" cmpd="sng" algn="ctr">
                      <a:solidFill>
                        <a:srgbClr val="C0C0C0"/>
                      </a:solidFill>
                      <a:prstDash val="solid"/>
                      <a:round/>
                      <a:headEnd type="none" w="med" len="med"/>
                      <a:tailEnd type="none" w="med" len="med"/>
                    </a:lnT>
                    <a:lnB w="5443" cap="flat" cmpd="sng" algn="ctr">
                      <a:solidFill>
                        <a:srgbClr val="C0C0C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5086" name="矩形 6">
            <a:extLst>
              <a:ext uri="{FF2B5EF4-FFF2-40B4-BE49-F238E27FC236}">
                <a16:creationId xmlns:a16="http://schemas.microsoft.com/office/drawing/2014/main" id="{4497A2D7-37D9-8E9A-952C-5568A2E66895}"/>
              </a:ext>
            </a:extLst>
          </p:cNvPr>
          <p:cNvSpPr>
            <a:spLocks noChangeArrowheads="1"/>
          </p:cNvSpPr>
          <p:nvPr/>
        </p:nvSpPr>
        <p:spPr bwMode="auto">
          <a:xfrm>
            <a:off x="0" y="504825"/>
            <a:ext cx="878522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en-US" b="0">
                <a:solidFill>
                  <a:srgbClr val="444444"/>
                </a:solidFill>
                <a:latin typeface="Tahoma" panose="020B0604030504040204" pitchFamily="34" charset="0"/>
                <a:cs typeface="Tahoma" panose="020B0604030504040204" pitchFamily="34" charset="0"/>
              </a:rPr>
              <a:t>标准</a:t>
            </a:r>
            <a:r>
              <a:rPr lang="zh-CN" altLang="en-GB" b="0">
                <a:solidFill>
                  <a:srgbClr val="444444"/>
                </a:solidFill>
                <a:latin typeface="Tahoma" panose="020B0604030504040204" pitchFamily="34" charset="0"/>
                <a:cs typeface="Tahoma" panose="020B0604030504040204" pitchFamily="34" charset="0"/>
              </a:rPr>
              <a:t>文件描述符可以理解为 </a:t>
            </a:r>
            <a:r>
              <a:rPr lang="en-GB" altLang="zh-CN" b="0">
                <a:solidFill>
                  <a:srgbClr val="444444"/>
                </a:solidFill>
                <a:latin typeface="Tahoma" panose="020B0604030504040204" pitchFamily="34" charset="0"/>
                <a:cs typeface="Tahoma" panose="020B0604030504040204" pitchFamily="34" charset="0"/>
              </a:rPr>
              <a:t>Linux </a:t>
            </a:r>
            <a:r>
              <a:rPr lang="zh-CN" altLang="en-GB" b="0">
                <a:solidFill>
                  <a:srgbClr val="444444"/>
                </a:solidFill>
                <a:latin typeface="Tahoma" panose="020B0604030504040204" pitchFamily="34" charset="0"/>
                <a:cs typeface="Tahoma" panose="020B0604030504040204" pitchFamily="34" charset="0"/>
              </a:rPr>
              <a:t>系统</a:t>
            </a:r>
            <a:r>
              <a:rPr lang="zh-CN" altLang="en-GB" sz="3600">
                <a:solidFill>
                  <a:srgbClr val="FF0000"/>
                </a:solidFill>
                <a:latin typeface="Tahoma" panose="020B0604030504040204" pitchFamily="34" charset="0"/>
                <a:cs typeface="Tahoma" panose="020B0604030504040204" pitchFamily="34" charset="0"/>
              </a:rPr>
              <a:t>为文件分配的一个数字，范围是 </a:t>
            </a:r>
            <a:r>
              <a:rPr lang="en-GB" altLang="zh-CN" sz="3600">
                <a:solidFill>
                  <a:srgbClr val="FF0000"/>
                </a:solidFill>
                <a:latin typeface="Tahoma" panose="020B0604030504040204" pitchFamily="34" charset="0"/>
                <a:cs typeface="Tahoma" panose="020B0604030504040204" pitchFamily="34" charset="0"/>
              </a:rPr>
              <a:t>0-3 </a:t>
            </a:r>
            <a:r>
              <a:rPr lang="zh-CN" altLang="en-GB" b="0">
                <a:solidFill>
                  <a:srgbClr val="444444"/>
                </a:solidFill>
                <a:latin typeface="Tahoma" panose="020B0604030504040204" pitchFamily="34" charset="0"/>
                <a:cs typeface="Tahoma" panose="020B0604030504040204" pitchFamily="34" charset="0"/>
              </a:rPr>
              <a:t>，用户也可以自定义文件描述符，但是自定文件描述符不在这里的讨论范围</a:t>
            </a:r>
            <a:endParaRPr lang="zh-CN" altLang="en-GB"/>
          </a:p>
        </p:txBody>
      </p:sp>
      <p:sp>
        <p:nvSpPr>
          <p:cNvPr id="45087" name="矩形 7">
            <a:extLst>
              <a:ext uri="{FF2B5EF4-FFF2-40B4-BE49-F238E27FC236}">
                <a16:creationId xmlns:a16="http://schemas.microsoft.com/office/drawing/2014/main" id="{B3A23CF9-142D-CDF3-F733-FAE46D71667A}"/>
              </a:ext>
            </a:extLst>
          </p:cNvPr>
          <p:cNvSpPr>
            <a:spLocks noChangeArrowheads="1"/>
          </p:cNvSpPr>
          <p:nvPr/>
        </p:nvSpPr>
        <p:spPr bwMode="auto">
          <a:xfrm>
            <a:off x="250825" y="4437063"/>
            <a:ext cx="864235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en-GB" b="0">
                <a:solidFill>
                  <a:srgbClr val="444444"/>
                </a:solidFill>
                <a:latin typeface="Tahoma" panose="020B0604030504040204" pitchFamily="34" charset="0"/>
                <a:cs typeface="Tahoma" panose="020B0604030504040204" pitchFamily="34" charset="0"/>
              </a:rPr>
              <a:t>文件描述符文件描述符的</a:t>
            </a:r>
            <a:r>
              <a:rPr lang="zh-CN" altLang="en-GB" sz="4400">
                <a:solidFill>
                  <a:srgbClr val="FF0000"/>
                </a:solidFill>
                <a:latin typeface="Tahoma" panose="020B0604030504040204" pitchFamily="34" charset="0"/>
                <a:cs typeface="Tahoma" panose="020B0604030504040204" pitchFamily="34" charset="0"/>
              </a:rPr>
              <a:t>存储位置位</a:t>
            </a:r>
            <a:r>
              <a:rPr lang="zh-CN" altLang="en-GB" b="0">
                <a:solidFill>
                  <a:srgbClr val="444444"/>
                </a:solidFill>
                <a:latin typeface="Tahoma" panose="020B0604030504040204" pitchFamily="34" charset="0"/>
                <a:cs typeface="Tahoma" panose="020B0604030504040204" pitchFamily="34" charset="0"/>
              </a:rPr>
              <a:t>于</a:t>
            </a:r>
            <a:r>
              <a:rPr lang="zh-CN" altLang="en-GB" b="0">
                <a:solidFill>
                  <a:srgbClr val="444444"/>
                </a:solidFill>
                <a:cs typeface="Tahoma" panose="020B0604030504040204" pitchFamily="34" charset="0"/>
              </a:rPr>
              <a:t> </a:t>
            </a:r>
            <a:r>
              <a:rPr lang="en-GB" altLang="zh-CN" b="0">
                <a:solidFill>
                  <a:srgbClr val="444444"/>
                </a:solidFill>
                <a:latin typeface="Courier New" panose="02070309020205020404" pitchFamily="49" charset="0"/>
                <a:cs typeface="Courier New" panose="02070309020205020404" pitchFamily="49" charset="0"/>
              </a:rPr>
              <a:t>/proc/self/fd</a:t>
            </a:r>
            <a:r>
              <a:rPr lang="en-GB" altLang="zh-CN" b="0">
                <a:solidFill>
                  <a:srgbClr val="444444"/>
                </a:solidFill>
                <a:cs typeface="Tahoma" panose="020B0604030504040204" pitchFamily="34" charset="0"/>
              </a:rPr>
              <a:t> </a:t>
            </a:r>
            <a:r>
              <a:rPr lang="zh-CN" altLang="en-GB" b="0">
                <a:solidFill>
                  <a:srgbClr val="444444"/>
                </a:solidFill>
                <a:latin typeface="Tahoma" panose="020B0604030504040204" pitchFamily="34" charset="0"/>
                <a:cs typeface="Tahoma" panose="020B0604030504040204" pitchFamily="34" charset="0"/>
              </a:rPr>
              <a:t>，通过</a:t>
            </a:r>
            <a:r>
              <a:rPr lang="zh-CN" altLang="en-GB">
                <a:solidFill>
                  <a:srgbClr val="444444"/>
                </a:solidFill>
                <a:latin typeface="Tahoma" panose="020B0604030504040204" pitchFamily="34" charset="0"/>
                <a:cs typeface="Tahoma" panose="020B0604030504040204" pitchFamily="34" charset="0"/>
              </a:rPr>
              <a:t>一系列软链接</a:t>
            </a:r>
            <a:r>
              <a:rPr lang="zh-CN" altLang="en-GB" b="0">
                <a:solidFill>
                  <a:srgbClr val="444444"/>
                </a:solidFill>
                <a:latin typeface="Tahoma" panose="020B0604030504040204" pitchFamily="34" charset="0"/>
                <a:cs typeface="Tahoma" panose="020B0604030504040204" pitchFamily="34" charset="0"/>
              </a:rPr>
              <a:t>指向的默认输出设备，这里我们的默认设备就是模拟终端</a:t>
            </a:r>
            <a:endParaRPr lang="zh-CN" altLang="en-GB"/>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3453665D-7E73-B3F9-BBCD-9E499837856A}"/>
              </a:ext>
            </a:extLst>
          </p:cNvPr>
          <p:cNvSpPr>
            <a:spLocks noGrp="1" noChangeArrowheads="1"/>
          </p:cNvSpPr>
          <p:nvPr>
            <p:ph type="title"/>
          </p:nvPr>
        </p:nvSpPr>
        <p:spPr/>
        <p:txBody>
          <a:bodyPr/>
          <a:lstStyle/>
          <a:p>
            <a:r>
              <a:rPr lang="zh-CN" altLang="en-US" b="0"/>
              <a:t>对于一条 </a:t>
            </a:r>
            <a:r>
              <a:rPr lang="en-US" altLang="zh-CN" b="0"/>
              <a:t>Linux </a:t>
            </a:r>
            <a:r>
              <a:rPr lang="zh-CN" altLang="en-US" b="0"/>
              <a:t>的命令执行的过程如下</a:t>
            </a:r>
            <a:endParaRPr lang="zh-CN" altLang="en-US"/>
          </a:p>
        </p:txBody>
      </p:sp>
      <p:pic>
        <p:nvPicPr>
          <p:cNvPr id="46083" name="图片 2">
            <a:extLst>
              <a:ext uri="{FF2B5EF4-FFF2-40B4-BE49-F238E27FC236}">
                <a16:creationId xmlns:a16="http://schemas.microsoft.com/office/drawing/2014/main" id="{CAB55521-0B1A-B00D-7DED-2AB5BD5D8F6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9388" y="620713"/>
            <a:ext cx="8785225" cy="56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85A5E4BE-C5B0-D62B-701C-584EAD7B406C}"/>
              </a:ext>
            </a:extLst>
          </p:cNvPr>
          <p:cNvSpPr txBox="1">
            <a:spLocks/>
          </p:cNvSpPr>
          <p:nvPr/>
        </p:nvSpPr>
        <p:spPr bwMode="auto">
          <a:xfrm>
            <a:off x="179388" y="620713"/>
            <a:ext cx="81534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nSpc>
                <a:spcPct val="87000"/>
              </a:lnSpc>
              <a:spcBef>
                <a:spcPct val="0"/>
              </a:spcBef>
              <a:spcAft>
                <a:spcPct val="0"/>
              </a:spcAft>
              <a:buFont typeface="Arial" panose="020B0604020202020204" pitchFamily="34" charset="0"/>
              <a:buNone/>
            </a:pPr>
            <a:r>
              <a:rPr lang="zh-CN" altLang="zh-CN" sz="4000">
                <a:ea typeface="华文新魏" panose="02010800040101010101" pitchFamily="2" charset="-122"/>
              </a:rPr>
              <a:t>直接使用标准流存在</a:t>
            </a:r>
            <a:r>
              <a:rPr lang="zh-CN" altLang="en-US" sz="4000">
                <a:ea typeface="华文新魏" panose="02010800040101010101" pitchFamily="2" charset="-122"/>
              </a:rPr>
              <a:t>的</a:t>
            </a:r>
            <a:r>
              <a:rPr lang="zh-CN" altLang="zh-CN" sz="4000">
                <a:ea typeface="华文新魏" panose="02010800040101010101" pitchFamily="2" charset="-122"/>
              </a:rPr>
              <a:t>问题</a:t>
            </a:r>
            <a:endParaRPr lang="zh-CN" altLang="en-US" sz="4000">
              <a:ea typeface="华文新魏" panose="02010800040101010101" pitchFamily="2" charset="-122"/>
            </a:endParaRPr>
          </a:p>
        </p:txBody>
      </p:sp>
      <p:sp>
        <p:nvSpPr>
          <p:cNvPr id="47107" name="内容占位符 2">
            <a:extLst>
              <a:ext uri="{FF2B5EF4-FFF2-40B4-BE49-F238E27FC236}">
                <a16:creationId xmlns:a16="http://schemas.microsoft.com/office/drawing/2014/main" id="{D97B6743-2336-561B-E77A-54B5E8DC492B}"/>
              </a:ext>
            </a:extLst>
          </p:cNvPr>
          <p:cNvSpPr txBox="1">
            <a:spLocks/>
          </p:cNvSpPr>
          <p:nvPr/>
        </p:nvSpPr>
        <p:spPr bwMode="auto">
          <a:xfrm>
            <a:off x="468313" y="1474788"/>
            <a:ext cx="8126412" cy="454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0850" indent="-45085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r>
              <a:rPr lang="zh-CN" altLang="zh-CN" sz="3600"/>
              <a:t>（</a:t>
            </a:r>
            <a:r>
              <a:rPr lang="en-US" altLang="zh-CN" sz="3600"/>
              <a:t>1</a:t>
            </a:r>
            <a:r>
              <a:rPr lang="zh-CN" altLang="zh-CN" sz="3600"/>
              <a:t>）输入数据从</a:t>
            </a:r>
            <a:r>
              <a:rPr lang="zh-CN" altLang="en-US" sz="3600">
                <a:solidFill>
                  <a:srgbClr val="FF0000"/>
                </a:solidFill>
              </a:rPr>
              <a:t>键盘</a:t>
            </a:r>
            <a:r>
              <a:rPr lang="zh-CN" altLang="zh-CN" sz="3600"/>
              <a:t>输入时，用户</a:t>
            </a:r>
            <a:r>
              <a:rPr lang="zh-CN" altLang="zh-CN" sz="3600">
                <a:solidFill>
                  <a:srgbClr val="FF0000"/>
                </a:solidFill>
              </a:rPr>
              <a:t>输入的数据只能用一次</a:t>
            </a:r>
            <a:r>
              <a:rPr lang="zh-CN" altLang="zh-CN" sz="3600"/>
              <a:t>，易出错且修改不便。</a:t>
            </a:r>
          </a:p>
          <a:p>
            <a:r>
              <a:rPr lang="zh-CN" altLang="zh-CN" sz="3600"/>
              <a:t>（</a:t>
            </a:r>
            <a:r>
              <a:rPr lang="en-US" altLang="zh-CN" sz="3600"/>
              <a:t>2</a:t>
            </a:r>
            <a:r>
              <a:rPr lang="zh-CN" altLang="zh-CN" sz="3600"/>
              <a:t>）</a:t>
            </a:r>
            <a:r>
              <a:rPr lang="zh-CN" altLang="zh-CN" sz="3600">
                <a:solidFill>
                  <a:srgbClr val="FF0000"/>
                </a:solidFill>
              </a:rPr>
              <a:t>输出到终端屏幕上的信息只能看</a:t>
            </a:r>
            <a:r>
              <a:rPr lang="zh-CN" altLang="zh-CN" sz="3600"/>
              <a:t>，不便使用。</a:t>
            </a:r>
          </a:p>
          <a:p>
            <a:r>
              <a:rPr lang="en-US" altLang="zh-CN" sz="3600"/>
              <a:t>UNIX/Linux</a:t>
            </a:r>
            <a:r>
              <a:rPr lang="zh-CN" altLang="zh-CN" sz="3600"/>
              <a:t>系统的标准</a:t>
            </a:r>
            <a:r>
              <a:rPr lang="en-US" altLang="zh-CN" sz="3600"/>
              <a:t>I/O</a:t>
            </a:r>
            <a:r>
              <a:rPr lang="zh-CN" altLang="zh-CN" sz="3600"/>
              <a:t>重定向可以解决这些问题。</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4B02FBD7-6DB3-C254-7BE1-14EDD6392EAB}"/>
              </a:ext>
            </a:extLst>
          </p:cNvPr>
          <p:cNvSpPr txBox="1">
            <a:spLocks/>
          </p:cNvSpPr>
          <p:nvPr/>
        </p:nvSpPr>
        <p:spPr bwMode="auto">
          <a:xfrm>
            <a:off x="323850" y="476250"/>
            <a:ext cx="8153400" cy="865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nSpc>
                <a:spcPct val="87000"/>
              </a:lnSpc>
              <a:spcBef>
                <a:spcPct val="0"/>
              </a:spcBef>
              <a:spcAft>
                <a:spcPct val="0"/>
              </a:spcAft>
              <a:buFont typeface="Arial" panose="020B0604020202020204" pitchFamily="34" charset="0"/>
              <a:buNone/>
            </a:pPr>
            <a:r>
              <a:rPr lang="en-US" altLang="zh-CN" sz="4800">
                <a:ea typeface="华文新魏" panose="02010800040101010101" pitchFamily="2" charset="-122"/>
              </a:rPr>
              <a:t>1</a:t>
            </a:r>
            <a:r>
              <a:rPr lang="zh-CN" altLang="zh-CN" sz="4800">
                <a:ea typeface="华文新魏" panose="02010800040101010101" pitchFamily="2" charset="-122"/>
              </a:rPr>
              <a:t>）标准输入重定向</a:t>
            </a:r>
            <a:endParaRPr lang="zh-CN" altLang="en-US" sz="4800">
              <a:ea typeface="华文新魏" panose="02010800040101010101" pitchFamily="2" charset="-122"/>
            </a:endParaRPr>
          </a:p>
        </p:txBody>
      </p:sp>
      <p:sp>
        <p:nvSpPr>
          <p:cNvPr id="48131" name="内容占位符 2">
            <a:extLst>
              <a:ext uri="{FF2B5EF4-FFF2-40B4-BE49-F238E27FC236}">
                <a16:creationId xmlns:a16="http://schemas.microsoft.com/office/drawing/2014/main" id="{A0497975-1397-2CD5-8C07-E028CA3C07B2}"/>
              </a:ext>
            </a:extLst>
          </p:cNvPr>
          <p:cNvSpPr txBox="1">
            <a:spLocks/>
          </p:cNvSpPr>
          <p:nvPr/>
        </p:nvSpPr>
        <p:spPr bwMode="auto">
          <a:xfrm>
            <a:off x="395288" y="1268413"/>
            <a:ext cx="8128000" cy="489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0850" indent="-45085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r>
              <a:rPr lang="zh-CN" altLang="zh-CN"/>
              <a:t>是指让命令（程序）的标准输入</a:t>
            </a:r>
            <a:r>
              <a:rPr lang="zh-CN" altLang="zh-CN" sz="4000">
                <a:solidFill>
                  <a:srgbClr val="FF0000"/>
                </a:solidFill>
              </a:rPr>
              <a:t>从指定的文件中读取</a:t>
            </a:r>
            <a:r>
              <a:rPr lang="zh-CN" altLang="zh-CN"/>
              <a:t>。因此，输入重定向主要用于解决命令的输入源数据，尤其是输入数据量大或重复使用问题。</a:t>
            </a:r>
          </a:p>
          <a:p>
            <a:r>
              <a:rPr lang="zh-CN" altLang="zh-CN" sz="4000"/>
              <a:t>例如，</a:t>
            </a:r>
            <a:r>
              <a:rPr lang="en-US" altLang="zh-CN" sz="4000"/>
              <a:t>wc</a:t>
            </a:r>
            <a:r>
              <a:rPr lang="zh-CN" altLang="zh-CN"/>
              <a:t>可用于统计指定文件包含的行数、单词数和字符数。</a:t>
            </a:r>
            <a:r>
              <a:rPr lang="en-US" altLang="zh-CN"/>
              <a:t> </a:t>
            </a:r>
            <a:endParaRPr lang="zh-CN" altLang="zh-CN"/>
          </a:p>
          <a:p>
            <a:r>
              <a:rPr lang="en-US" altLang="zh-CN" sz="3600">
                <a:solidFill>
                  <a:srgbClr val="FF0000"/>
                </a:solidFill>
              </a:rPr>
              <a:t>$ wc /etc/passwd</a:t>
            </a:r>
            <a:endParaRPr lang="zh-CN" altLang="zh-CN" sz="3600">
              <a:solidFill>
                <a:srgbClr val="FF0000"/>
              </a:solidFill>
            </a:endParaRPr>
          </a:p>
          <a:p>
            <a:r>
              <a:rPr lang="en-US" altLang="zh-CN" sz="3600">
                <a:solidFill>
                  <a:srgbClr val="FF0000"/>
                </a:solidFill>
              </a:rPr>
              <a:t>$ wc &lt; /etc/passwd</a:t>
            </a:r>
            <a:endParaRPr lang="zh-CN" altLang="en-US" sz="3600">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8CA3A7C6-C08F-1FC1-0EFE-CD6096B4EFA9}"/>
              </a:ext>
            </a:extLst>
          </p:cNvPr>
          <p:cNvSpPr txBox="1">
            <a:spLocks/>
          </p:cNvSpPr>
          <p:nvPr/>
        </p:nvSpPr>
        <p:spPr bwMode="auto">
          <a:xfrm>
            <a:off x="179388" y="404813"/>
            <a:ext cx="81534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nSpc>
                <a:spcPct val="87000"/>
              </a:lnSpc>
              <a:spcBef>
                <a:spcPct val="0"/>
              </a:spcBef>
              <a:spcAft>
                <a:spcPct val="0"/>
              </a:spcAft>
              <a:buFont typeface="Arial" panose="020B0604020202020204" pitchFamily="34" charset="0"/>
              <a:buNone/>
            </a:pPr>
            <a:r>
              <a:rPr lang="en-US" altLang="zh-CN" sz="4000">
                <a:ea typeface="华文新魏" panose="02010800040101010101" pitchFamily="2" charset="-122"/>
              </a:rPr>
              <a:t>2</a:t>
            </a:r>
            <a:r>
              <a:rPr lang="zh-CN" altLang="zh-CN" sz="4000">
                <a:ea typeface="华文新魏" panose="02010800040101010101" pitchFamily="2" charset="-122"/>
              </a:rPr>
              <a:t>）标准输出重定向</a:t>
            </a:r>
            <a:endParaRPr lang="zh-CN" altLang="en-US" sz="4000">
              <a:ea typeface="华文新魏" panose="02010800040101010101" pitchFamily="2" charset="-122"/>
            </a:endParaRPr>
          </a:p>
        </p:txBody>
      </p:sp>
      <p:sp>
        <p:nvSpPr>
          <p:cNvPr id="49155" name="内容占位符 2">
            <a:extLst>
              <a:ext uri="{FF2B5EF4-FFF2-40B4-BE49-F238E27FC236}">
                <a16:creationId xmlns:a16="http://schemas.microsoft.com/office/drawing/2014/main" id="{EDA6D6E4-9A9D-1A79-9D2E-F90B55C2BDD0}"/>
              </a:ext>
            </a:extLst>
          </p:cNvPr>
          <p:cNvSpPr txBox="1">
            <a:spLocks/>
          </p:cNvSpPr>
          <p:nvPr/>
        </p:nvSpPr>
        <p:spPr bwMode="auto">
          <a:xfrm>
            <a:off x="250825" y="1268413"/>
            <a:ext cx="8785225"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0850" indent="-45085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r>
              <a:rPr lang="zh-CN" altLang="zh-CN"/>
              <a:t>是指</a:t>
            </a:r>
            <a:r>
              <a:rPr lang="zh-CN" altLang="zh-CN" sz="4000">
                <a:solidFill>
                  <a:srgbClr val="FF0000"/>
                </a:solidFill>
              </a:rPr>
              <a:t>把命令的标准输出保存到文件中</a:t>
            </a:r>
            <a:r>
              <a:rPr lang="zh-CN" altLang="zh-CN"/>
              <a:t>，可用</a:t>
            </a:r>
            <a:r>
              <a:rPr lang="zh-CN" altLang="zh-CN" sz="4400">
                <a:solidFill>
                  <a:srgbClr val="FF0000"/>
                </a:solidFill>
              </a:rPr>
              <a:t>两种方式：覆盖方式</a:t>
            </a:r>
            <a:r>
              <a:rPr lang="en-US" altLang="zh-CN" sz="4400">
                <a:solidFill>
                  <a:srgbClr val="FF0000"/>
                </a:solidFill>
              </a:rPr>
              <a:t>(&gt;)</a:t>
            </a:r>
            <a:r>
              <a:rPr lang="zh-CN" altLang="zh-CN" sz="4400">
                <a:solidFill>
                  <a:srgbClr val="FF0000"/>
                </a:solidFill>
              </a:rPr>
              <a:t>和追加方式</a:t>
            </a:r>
            <a:r>
              <a:rPr lang="en-US" altLang="zh-CN" sz="4400">
                <a:solidFill>
                  <a:srgbClr val="FF0000"/>
                </a:solidFill>
              </a:rPr>
              <a:t>(&gt;&gt;)</a:t>
            </a:r>
            <a:r>
              <a:rPr lang="zh-CN" altLang="zh-CN"/>
              <a:t>。例如：</a:t>
            </a:r>
            <a:r>
              <a:rPr lang="en-US" altLang="zh-CN"/>
              <a:t> </a:t>
            </a:r>
            <a:endParaRPr lang="zh-CN" altLang="zh-CN"/>
          </a:p>
          <a:p>
            <a:r>
              <a:rPr lang="en-US" altLang="zh-CN"/>
              <a:t>$ ls &gt; /tmp/dir.out	</a:t>
            </a:r>
            <a:endParaRPr lang="zh-CN" altLang="zh-CN"/>
          </a:p>
          <a:p>
            <a:r>
              <a:rPr lang="en-US" altLang="zh-CN"/>
              <a:t>$ ls /usr &gt;&gt; /tmp/dir.out</a:t>
            </a:r>
          </a:p>
          <a:p>
            <a:r>
              <a:rPr lang="zh-CN" altLang="zh-CN"/>
              <a:t>标准输出的重定向是有</a:t>
            </a:r>
            <a:r>
              <a:rPr lang="zh-CN" altLang="zh-CN">
                <a:solidFill>
                  <a:srgbClr val="FF0000"/>
                </a:solidFill>
              </a:rPr>
              <a:t>副作用的</a:t>
            </a:r>
            <a:r>
              <a:rPr lang="zh-CN" altLang="en-US"/>
              <a:t>：</a:t>
            </a:r>
            <a:r>
              <a:rPr lang="zh-CN" altLang="zh-CN"/>
              <a:t>一是它可能覆盖已经存在的文件</a:t>
            </a:r>
            <a:r>
              <a:rPr lang="zh-CN" altLang="en-US"/>
              <a:t>；</a:t>
            </a:r>
            <a:r>
              <a:rPr lang="zh-CN" altLang="zh-CN"/>
              <a:t>二是它可能会在一个具有完整意义的文件后面追加一些外来或无意义的信息。</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E9C6B68B-7FFE-2108-FE60-EBDF02048F97}"/>
              </a:ext>
            </a:extLst>
          </p:cNvPr>
          <p:cNvSpPr txBox="1">
            <a:spLocks/>
          </p:cNvSpPr>
          <p:nvPr/>
        </p:nvSpPr>
        <p:spPr bwMode="auto">
          <a:xfrm>
            <a:off x="31750" y="0"/>
            <a:ext cx="880110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nSpc>
                <a:spcPct val="87000"/>
              </a:lnSpc>
              <a:spcBef>
                <a:spcPct val="0"/>
              </a:spcBef>
              <a:spcAft>
                <a:spcPct val="0"/>
              </a:spcAft>
              <a:buFont typeface="Arial" panose="020B0604020202020204" pitchFamily="34" charset="0"/>
              <a:buNone/>
            </a:pPr>
            <a:r>
              <a:rPr lang="en-US" altLang="zh-CN" sz="3600">
                <a:ea typeface="华文新魏" panose="02010800040101010101" pitchFamily="2" charset="-122"/>
              </a:rPr>
              <a:t>3</a:t>
            </a:r>
            <a:r>
              <a:rPr lang="zh-CN" altLang="zh-CN" sz="3600">
                <a:ea typeface="华文新魏" panose="02010800040101010101" pitchFamily="2" charset="-122"/>
              </a:rPr>
              <a:t>）标准错误的重定向</a:t>
            </a:r>
            <a:endParaRPr lang="zh-CN" altLang="en-US" sz="3600">
              <a:ea typeface="华文新魏" panose="02010800040101010101" pitchFamily="2" charset="-122"/>
            </a:endParaRPr>
          </a:p>
        </p:txBody>
      </p:sp>
      <p:sp>
        <p:nvSpPr>
          <p:cNvPr id="50179" name="内容占位符 2">
            <a:extLst>
              <a:ext uri="{FF2B5EF4-FFF2-40B4-BE49-F238E27FC236}">
                <a16:creationId xmlns:a16="http://schemas.microsoft.com/office/drawing/2014/main" id="{941A060D-0506-31E0-6A5E-9877A5ACFACA}"/>
              </a:ext>
            </a:extLst>
          </p:cNvPr>
          <p:cNvSpPr txBox="1">
            <a:spLocks/>
          </p:cNvSpPr>
          <p:nvPr/>
        </p:nvSpPr>
        <p:spPr bwMode="auto">
          <a:xfrm>
            <a:off x="250825" y="549275"/>
            <a:ext cx="8704263"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0850" indent="-45085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r>
              <a:rPr lang="zh-CN" altLang="zh-CN" sz="2400"/>
              <a:t>标准错误的重定向与标准输出的重定向意义相同，但是针对标准错误的</a:t>
            </a:r>
            <a:r>
              <a:rPr lang="zh-CN" altLang="en-US" sz="2400"/>
              <a:t>，</a:t>
            </a:r>
            <a:r>
              <a:rPr lang="zh-CN" altLang="zh-CN" sz="2400"/>
              <a:t>但在对</a:t>
            </a:r>
            <a:r>
              <a:rPr lang="zh-CN" altLang="en-US" sz="2400"/>
              <a:t>其</a:t>
            </a:r>
            <a:r>
              <a:rPr lang="zh-CN" altLang="zh-CN" sz="2400"/>
              <a:t>改道时</a:t>
            </a:r>
            <a:r>
              <a:rPr lang="zh-CN" altLang="en-US" sz="2400"/>
              <a:t>须</a:t>
            </a:r>
            <a:r>
              <a:rPr lang="zh-CN" altLang="zh-CN" sz="4400">
                <a:solidFill>
                  <a:srgbClr val="FF0000"/>
                </a:solidFill>
              </a:rPr>
              <a:t>使用文件号</a:t>
            </a:r>
            <a:r>
              <a:rPr lang="en-US" altLang="zh-CN" sz="4400">
                <a:solidFill>
                  <a:srgbClr val="FF0000"/>
                </a:solidFill>
              </a:rPr>
              <a:t>2</a:t>
            </a:r>
            <a:r>
              <a:rPr lang="zh-CN" altLang="zh-CN" sz="2400"/>
              <a:t>。</a:t>
            </a:r>
            <a:r>
              <a:rPr lang="en-US" altLang="zh-CN" sz="2400"/>
              <a:t> </a:t>
            </a:r>
            <a:endParaRPr lang="zh-CN" altLang="zh-CN" sz="2400"/>
          </a:p>
          <a:p>
            <a:pPr lvl="1"/>
            <a:r>
              <a:rPr lang="zh-CN" altLang="zh-CN" sz="4400">
                <a:solidFill>
                  <a:srgbClr val="FF0000"/>
                </a:solidFill>
              </a:rPr>
              <a:t>命令</a:t>
            </a:r>
            <a:r>
              <a:rPr lang="en-US" altLang="zh-CN" sz="4400">
                <a:solidFill>
                  <a:srgbClr val="FF0000"/>
                </a:solidFill>
              </a:rPr>
              <a:t> 2&gt; </a:t>
            </a:r>
            <a:r>
              <a:rPr lang="zh-CN" altLang="zh-CN" sz="4400">
                <a:solidFill>
                  <a:srgbClr val="FF0000"/>
                </a:solidFill>
              </a:rPr>
              <a:t>文件</a:t>
            </a:r>
            <a:r>
              <a:rPr lang="en-US" altLang="zh-CN" sz="4400">
                <a:solidFill>
                  <a:srgbClr val="FF0000"/>
                </a:solidFill>
              </a:rPr>
              <a:t>				</a:t>
            </a:r>
            <a:r>
              <a:rPr lang="zh-CN" altLang="zh-CN" sz="4400">
                <a:solidFill>
                  <a:srgbClr val="FF0000"/>
                </a:solidFill>
              </a:rPr>
              <a:t>或</a:t>
            </a:r>
          </a:p>
          <a:p>
            <a:pPr lvl="1"/>
            <a:r>
              <a:rPr lang="zh-CN" altLang="zh-CN" sz="4400">
                <a:solidFill>
                  <a:srgbClr val="FF0000"/>
                </a:solidFill>
              </a:rPr>
              <a:t>命令</a:t>
            </a:r>
            <a:r>
              <a:rPr lang="en-US" altLang="zh-CN" sz="4400">
                <a:solidFill>
                  <a:srgbClr val="FF0000"/>
                </a:solidFill>
              </a:rPr>
              <a:t> 2&gt;&gt; </a:t>
            </a:r>
            <a:r>
              <a:rPr lang="zh-CN" altLang="zh-CN" sz="4400">
                <a:solidFill>
                  <a:srgbClr val="FF0000"/>
                </a:solidFill>
              </a:rPr>
              <a:t>文件</a:t>
            </a:r>
          </a:p>
          <a:p>
            <a:r>
              <a:rPr lang="en-US" altLang="zh-CN" sz="2400"/>
              <a:t> </a:t>
            </a:r>
            <a:r>
              <a:rPr lang="zh-CN" altLang="zh-CN" sz="2400"/>
              <a:t>在</a:t>
            </a:r>
            <a:r>
              <a:rPr lang="en-US" altLang="zh-CN" sz="2400"/>
              <a:t>2</a:t>
            </a:r>
            <a:r>
              <a:rPr lang="zh-CN" altLang="en-US" sz="2400"/>
              <a:t>与</a:t>
            </a:r>
            <a:r>
              <a:rPr lang="en-US" altLang="zh-CN" sz="2400"/>
              <a:t>&gt;</a:t>
            </a:r>
            <a:r>
              <a:rPr lang="zh-CN" altLang="zh-CN" sz="2400"/>
              <a:t>间</a:t>
            </a:r>
            <a:r>
              <a:rPr lang="zh-CN" altLang="en-US" sz="2400"/>
              <a:t>、</a:t>
            </a:r>
            <a:r>
              <a:rPr lang="en-US" altLang="zh-CN" sz="2400"/>
              <a:t>&gt;</a:t>
            </a:r>
            <a:r>
              <a:rPr lang="zh-CN" altLang="en-US" sz="2400"/>
              <a:t>与</a:t>
            </a:r>
            <a:r>
              <a:rPr lang="en-US" altLang="zh-CN" sz="2400"/>
              <a:t>&gt;</a:t>
            </a:r>
            <a:r>
              <a:rPr lang="zh-CN" altLang="en-US" sz="2400"/>
              <a:t>间</a:t>
            </a:r>
            <a:r>
              <a:rPr lang="zh-CN" altLang="zh-CN" sz="2400"/>
              <a:t>不能有空格。例如：</a:t>
            </a:r>
          </a:p>
          <a:p>
            <a:pPr lvl="1"/>
            <a:r>
              <a:rPr lang="en-US" altLang="zh-CN"/>
              <a:t>$ ls -l /home/w-w-w  2&gt; /tmp/err.out	</a:t>
            </a:r>
            <a:endParaRPr lang="zh-CN" altLang="zh-CN"/>
          </a:p>
          <a:p>
            <a:pPr lvl="1"/>
            <a:r>
              <a:rPr lang="en-US" altLang="zh-CN"/>
              <a:t>$ cat /home/w-w-w  2&gt;&gt; /tmp/err.out</a:t>
            </a:r>
          </a:p>
          <a:p>
            <a:pPr lvl="1"/>
            <a:r>
              <a:rPr lang="en-US" altLang="zh-CN"/>
              <a:t>$ cat /tmp/err.out	</a:t>
            </a: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标题 1">
            <a:extLst>
              <a:ext uri="{FF2B5EF4-FFF2-40B4-BE49-F238E27FC236}">
                <a16:creationId xmlns:a16="http://schemas.microsoft.com/office/drawing/2014/main" id="{3399CD58-5FE3-DDC7-38B8-037239785519}"/>
              </a:ext>
            </a:extLst>
          </p:cNvPr>
          <p:cNvSpPr>
            <a:spLocks noGrp="1" noChangeArrowheads="1"/>
          </p:cNvSpPr>
          <p:nvPr>
            <p:ph type="title"/>
          </p:nvPr>
        </p:nvSpPr>
        <p:spPr/>
        <p:txBody>
          <a:bodyPr/>
          <a:lstStyle/>
          <a:p>
            <a:r>
              <a:rPr lang="en-US" altLang="zh-CN"/>
              <a:t>4</a:t>
            </a:r>
            <a:r>
              <a:rPr lang="zh-CN" altLang="zh-CN"/>
              <a:t>）标准输出</a:t>
            </a:r>
            <a:r>
              <a:rPr lang="zh-CN" altLang="en-US"/>
              <a:t>、</a:t>
            </a:r>
            <a:r>
              <a:rPr lang="zh-CN" altLang="zh-CN"/>
              <a:t>错误同时重定向</a:t>
            </a:r>
            <a:endParaRPr lang="zh-CN" altLang="en-US"/>
          </a:p>
        </p:txBody>
      </p:sp>
      <p:sp>
        <p:nvSpPr>
          <p:cNvPr id="51203" name="内容占位符 2">
            <a:extLst>
              <a:ext uri="{FF2B5EF4-FFF2-40B4-BE49-F238E27FC236}">
                <a16:creationId xmlns:a16="http://schemas.microsoft.com/office/drawing/2014/main" id="{00D9B4E5-379E-4CB0-777D-374893C59DD6}"/>
              </a:ext>
            </a:extLst>
          </p:cNvPr>
          <p:cNvSpPr>
            <a:spLocks noGrp="1" noChangeArrowheads="1"/>
          </p:cNvSpPr>
          <p:nvPr>
            <p:ph idx="1"/>
          </p:nvPr>
        </p:nvSpPr>
        <p:spPr>
          <a:xfrm>
            <a:off x="179388" y="620713"/>
            <a:ext cx="8964612" cy="5761037"/>
          </a:xfrm>
        </p:spPr>
        <p:txBody>
          <a:bodyPr/>
          <a:lstStyle/>
          <a:p>
            <a:r>
              <a:rPr lang="zh-CN" altLang="zh-CN"/>
              <a:t>使用</a:t>
            </a:r>
            <a:r>
              <a:rPr lang="zh-CN" altLang="zh-CN" sz="4400">
                <a:solidFill>
                  <a:srgbClr val="FF0000"/>
                </a:solidFill>
              </a:rPr>
              <a:t>符号</a:t>
            </a:r>
            <a:r>
              <a:rPr lang="en-US" altLang="zh-CN" sz="4400">
                <a:solidFill>
                  <a:srgbClr val="FF0000"/>
                </a:solidFill>
              </a:rPr>
              <a:t>&amp;&gt;</a:t>
            </a:r>
            <a:r>
              <a:rPr lang="zh-CN" altLang="zh-CN" sz="4400">
                <a:solidFill>
                  <a:srgbClr val="FF0000"/>
                </a:solidFill>
              </a:rPr>
              <a:t>或</a:t>
            </a:r>
            <a:r>
              <a:rPr lang="en-US" altLang="zh-CN" sz="4400">
                <a:solidFill>
                  <a:srgbClr val="FF0000"/>
                </a:solidFill>
              </a:rPr>
              <a:t>&amp;&gt;&gt;</a:t>
            </a:r>
            <a:r>
              <a:rPr lang="zh-CN" altLang="zh-CN"/>
              <a:t>可以让一个程序的标准输出和标准错误同时重定向到文件，前者用于覆盖方式，后者用于追加方式。</a:t>
            </a:r>
            <a:r>
              <a:rPr lang="en-US" altLang="zh-CN"/>
              <a:t> </a:t>
            </a:r>
            <a:r>
              <a:rPr lang="zh-CN" altLang="en-US"/>
              <a:t>示例如下：</a:t>
            </a:r>
            <a:endParaRPr lang="zh-CN" altLang="zh-CN"/>
          </a:p>
          <a:p>
            <a:pPr lvl="1"/>
            <a:r>
              <a:rPr lang="en-US" altLang="zh-CN" sz="4400">
                <a:solidFill>
                  <a:schemeClr val="tx1"/>
                </a:solidFill>
              </a:rPr>
              <a:t>$ ls -l -d /  /home/w-w-w &amp;&gt; /tmp/err.out</a:t>
            </a:r>
          </a:p>
          <a:p>
            <a:pPr lvl="1"/>
            <a:r>
              <a:rPr lang="en-US" altLang="zh-CN" sz="4400">
                <a:solidFill>
                  <a:schemeClr val="tx1"/>
                </a:solidFill>
              </a:rPr>
              <a:t>$ ls -l -d /boot /home/w-w-w &amp;&gt;&gt; /tmp/err.out</a:t>
            </a:r>
          </a:p>
          <a:p>
            <a:pPr lvl="1"/>
            <a:r>
              <a:rPr lang="en-US" altLang="zh-CN" sz="4400">
                <a:solidFill>
                  <a:schemeClr val="tx1"/>
                </a:solidFill>
              </a:rPr>
              <a:t>$ cat /tmp/err.out</a:t>
            </a:r>
            <a:r>
              <a:rPr lang="en-US" altLang="zh-CN"/>
              <a:t>	</a:t>
            </a:r>
            <a:endParaRPr lang="zh-CN" altLang="en-US" sz="2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EE3B119D-15AE-7E7F-BA9B-D1A73A288E5B}"/>
              </a:ext>
            </a:extLst>
          </p:cNvPr>
          <p:cNvSpPr>
            <a:spLocks noGrp="1" noChangeArrowheads="1"/>
          </p:cNvSpPr>
          <p:nvPr>
            <p:ph type="title"/>
          </p:nvPr>
        </p:nvSpPr>
        <p:spPr/>
        <p:txBody>
          <a:bodyPr/>
          <a:lstStyle/>
          <a:p>
            <a:r>
              <a:rPr lang="en-US" altLang="zh-CN"/>
              <a:t>3.1.7  </a:t>
            </a:r>
            <a:r>
              <a:rPr lang="zh-CN" altLang="zh-CN"/>
              <a:t>管道与三通</a:t>
            </a:r>
            <a:endParaRPr lang="zh-CN" altLang="en-US"/>
          </a:p>
        </p:txBody>
      </p:sp>
      <p:sp>
        <p:nvSpPr>
          <p:cNvPr id="52227" name="内容占位符 2">
            <a:extLst>
              <a:ext uri="{FF2B5EF4-FFF2-40B4-BE49-F238E27FC236}">
                <a16:creationId xmlns:a16="http://schemas.microsoft.com/office/drawing/2014/main" id="{400CB468-5D6B-35DE-307D-4F07373FE4FD}"/>
              </a:ext>
            </a:extLst>
          </p:cNvPr>
          <p:cNvSpPr>
            <a:spLocks noGrp="1" noChangeArrowheads="1"/>
          </p:cNvSpPr>
          <p:nvPr>
            <p:ph idx="1"/>
          </p:nvPr>
        </p:nvSpPr>
        <p:spPr/>
        <p:txBody>
          <a:bodyPr/>
          <a:lstStyle/>
          <a:p>
            <a:r>
              <a:rPr lang="zh-CN" altLang="zh-CN" sz="4400">
                <a:solidFill>
                  <a:srgbClr val="FF0000"/>
                </a:solidFill>
              </a:rPr>
              <a:t>管道机制是在两个或多个进程之间建立一种连接，</a:t>
            </a:r>
            <a:r>
              <a:rPr lang="zh-CN" altLang="zh-CN" sz="2400"/>
              <a:t>使得</a:t>
            </a:r>
            <a:r>
              <a:rPr lang="zh-CN" altLang="zh-CN" sz="4400" u="sng">
                <a:solidFill>
                  <a:srgbClr val="FF0000"/>
                </a:solidFill>
              </a:rPr>
              <a:t>前一命令的输出</a:t>
            </a:r>
            <a:r>
              <a:rPr lang="zh-CN" altLang="zh-CN" sz="4400">
                <a:solidFill>
                  <a:srgbClr val="FF0000"/>
                </a:solidFill>
              </a:rPr>
              <a:t>作为</a:t>
            </a:r>
            <a:r>
              <a:rPr lang="zh-CN" altLang="zh-CN" sz="4400" u="sng">
                <a:solidFill>
                  <a:srgbClr val="FF0000"/>
                </a:solidFill>
              </a:rPr>
              <a:t>后个命令的输入</a:t>
            </a:r>
            <a:r>
              <a:rPr lang="zh-CN" altLang="zh-CN" sz="2400"/>
              <a:t>。</a:t>
            </a:r>
            <a:r>
              <a:rPr lang="zh-CN" altLang="en-US" sz="4400">
                <a:solidFill>
                  <a:srgbClr val="FF0000"/>
                </a:solidFill>
              </a:rPr>
              <a:t>该</a:t>
            </a:r>
            <a:r>
              <a:rPr lang="zh-CN" altLang="zh-CN" sz="4400">
                <a:solidFill>
                  <a:srgbClr val="FF0000"/>
                </a:solidFill>
              </a:rPr>
              <a:t>机制常用于进程间通信</a:t>
            </a:r>
            <a:r>
              <a:rPr lang="zh-CN" altLang="zh-CN" sz="2400"/>
              <a:t>。</a:t>
            </a:r>
            <a:endParaRPr lang="en-US" altLang="zh-CN" sz="2400"/>
          </a:p>
          <a:p>
            <a:r>
              <a:rPr lang="zh-CN" altLang="zh-CN" sz="2400"/>
              <a:t>将一个程序或命令的输出作为另一个程序或命令的输入，有两种方法：</a:t>
            </a:r>
          </a:p>
          <a:p>
            <a:r>
              <a:rPr lang="zh-CN" altLang="zh-CN" sz="2400"/>
              <a:t>（</a:t>
            </a:r>
            <a:r>
              <a:rPr lang="en-US" altLang="zh-CN" sz="2400"/>
              <a:t>1</a:t>
            </a:r>
            <a:r>
              <a:rPr lang="zh-CN" altLang="zh-CN" sz="2400"/>
              <a:t>）通过临时文件将多个命令或程序结合在一起。</a:t>
            </a:r>
          </a:p>
          <a:p>
            <a:r>
              <a:rPr lang="zh-CN" altLang="zh-CN" sz="2400"/>
              <a:t>（</a:t>
            </a:r>
            <a:r>
              <a:rPr lang="en-US" altLang="zh-CN" sz="2400"/>
              <a:t>2</a:t>
            </a:r>
            <a:r>
              <a:rPr lang="zh-CN" altLang="zh-CN" sz="2400"/>
              <a:t>）通过管道机制。</a:t>
            </a:r>
          </a:p>
        </p:txBody>
      </p:sp>
      <p:pic>
        <p:nvPicPr>
          <p:cNvPr id="2" name="图片 1">
            <a:extLst>
              <a:ext uri="{FF2B5EF4-FFF2-40B4-BE49-F238E27FC236}">
                <a16:creationId xmlns:a16="http://schemas.microsoft.com/office/drawing/2014/main" id="{11D2EDFE-6B12-4C84-6377-68D9D0638CE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476250"/>
            <a:ext cx="6335712" cy="582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标题 1">
            <a:extLst>
              <a:ext uri="{FF2B5EF4-FFF2-40B4-BE49-F238E27FC236}">
                <a16:creationId xmlns:a16="http://schemas.microsoft.com/office/drawing/2014/main" id="{157719F4-2539-C5A5-FF4E-8D455A3424B9}"/>
              </a:ext>
            </a:extLst>
          </p:cNvPr>
          <p:cNvSpPr>
            <a:spLocks noGrp="1" noChangeArrowheads="1"/>
          </p:cNvSpPr>
          <p:nvPr>
            <p:ph type="title"/>
          </p:nvPr>
        </p:nvSpPr>
        <p:spPr/>
        <p:txBody>
          <a:bodyPr/>
          <a:lstStyle/>
          <a:p>
            <a:r>
              <a:rPr lang="en-US" altLang="zh-CN"/>
              <a:t>1</a:t>
            </a:r>
            <a:r>
              <a:rPr lang="zh-CN" altLang="zh-CN"/>
              <a:t>．管道</a:t>
            </a:r>
            <a:endParaRPr lang="zh-CN" altLang="en-US"/>
          </a:p>
        </p:txBody>
      </p:sp>
      <p:sp>
        <p:nvSpPr>
          <p:cNvPr id="53251" name="内容占位符 2">
            <a:extLst>
              <a:ext uri="{FF2B5EF4-FFF2-40B4-BE49-F238E27FC236}">
                <a16:creationId xmlns:a16="http://schemas.microsoft.com/office/drawing/2014/main" id="{BBF04B56-DC7E-53E4-12C4-D45D941CF253}"/>
              </a:ext>
            </a:extLst>
          </p:cNvPr>
          <p:cNvSpPr>
            <a:spLocks noGrp="1" noChangeArrowheads="1"/>
          </p:cNvSpPr>
          <p:nvPr>
            <p:ph idx="1"/>
          </p:nvPr>
        </p:nvSpPr>
        <p:spPr/>
        <p:txBody>
          <a:bodyPr/>
          <a:lstStyle/>
          <a:p>
            <a:r>
              <a:rPr lang="zh-CN" altLang="zh-CN"/>
              <a:t>实现管道机制的</a:t>
            </a:r>
            <a:r>
              <a:rPr lang="zh-CN" altLang="zh-CN" sz="4400">
                <a:solidFill>
                  <a:srgbClr val="FF0000"/>
                </a:solidFill>
              </a:rPr>
              <a:t>符号是“</a:t>
            </a:r>
            <a:r>
              <a:rPr lang="en-US" altLang="zh-CN" sz="4400">
                <a:solidFill>
                  <a:srgbClr val="FF0000"/>
                </a:solidFill>
              </a:rPr>
              <a:t>|</a:t>
            </a:r>
            <a:r>
              <a:rPr lang="zh-CN" altLang="zh-CN" sz="4400">
                <a:solidFill>
                  <a:srgbClr val="FF0000"/>
                </a:solidFill>
              </a:rPr>
              <a:t>”</a:t>
            </a:r>
            <a:r>
              <a:rPr lang="zh-CN" altLang="zh-CN"/>
              <a:t>，其方法为：</a:t>
            </a:r>
          </a:p>
          <a:p>
            <a:r>
              <a:rPr lang="en-US" altLang="zh-CN"/>
              <a:t> 	</a:t>
            </a:r>
            <a:r>
              <a:rPr lang="zh-CN" altLang="zh-CN" sz="4400">
                <a:solidFill>
                  <a:schemeClr val="tx1"/>
                </a:solidFill>
              </a:rPr>
              <a:t>命令</a:t>
            </a:r>
            <a:r>
              <a:rPr lang="en-US" altLang="zh-CN" sz="4400">
                <a:solidFill>
                  <a:schemeClr val="tx1"/>
                </a:solidFill>
              </a:rPr>
              <a:t>1 | </a:t>
            </a:r>
            <a:r>
              <a:rPr lang="zh-CN" altLang="zh-CN" sz="4400">
                <a:solidFill>
                  <a:schemeClr val="tx1"/>
                </a:solidFill>
              </a:rPr>
              <a:t>命令</a:t>
            </a:r>
            <a:r>
              <a:rPr lang="en-US" altLang="zh-CN" sz="4400">
                <a:solidFill>
                  <a:schemeClr val="tx1"/>
                </a:solidFill>
              </a:rPr>
              <a:t>2 | … |</a:t>
            </a:r>
            <a:r>
              <a:rPr lang="zh-CN" altLang="zh-CN" sz="4400">
                <a:solidFill>
                  <a:schemeClr val="tx1"/>
                </a:solidFill>
              </a:rPr>
              <a:t>命令</a:t>
            </a:r>
            <a:r>
              <a:rPr lang="en-US" altLang="zh-CN" sz="4400">
                <a:solidFill>
                  <a:schemeClr val="tx1"/>
                </a:solidFill>
              </a:rPr>
              <a:t>n</a:t>
            </a:r>
            <a:endParaRPr lang="zh-CN" altLang="zh-CN" sz="4400">
              <a:solidFill>
                <a:schemeClr val="tx1"/>
              </a:solidFill>
            </a:endParaRPr>
          </a:p>
          <a:p>
            <a:r>
              <a:rPr lang="zh-CN" altLang="zh-CN"/>
              <a:t>例如：</a:t>
            </a:r>
          </a:p>
          <a:p>
            <a:r>
              <a:rPr lang="en-US" altLang="zh-CN"/>
              <a:t> </a:t>
            </a:r>
            <a:r>
              <a:rPr lang="en-US" altLang="zh-CN" sz="4400">
                <a:solidFill>
                  <a:schemeClr val="tx1"/>
                </a:solidFill>
              </a:rPr>
              <a:t>$ ls -l /dev | wc -l</a:t>
            </a:r>
            <a:r>
              <a:rPr lang="en-US" altLang="zh-CN">
                <a:solidFill>
                  <a:schemeClr val="tx1"/>
                </a:solidFill>
              </a:rPr>
              <a:t>	</a:t>
            </a:r>
          </a:p>
          <a:p>
            <a:r>
              <a:rPr lang="en-US" altLang="zh-CN">
                <a:solidFill>
                  <a:schemeClr val="tx1"/>
                </a:solidFill>
              </a:rPr>
              <a:t> </a:t>
            </a:r>
            <a:r>
              <a:rPr lang="en-US" altLang="zh-CN" sz="4400">
                <a:solidFill>
                  <a:schemeClr val="tx1"/>
                </a:solidFill>
              </a:rPr>
              <a:t>$ cat /etc/passwd | grep "root:"|wc -l</a:t>
            </a:r>
            <a:endParaRPr lang="zh-CN" altLang="en-US" sz="4400">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FE88EF4B-BFA1-7276-19F5-A65CF32BA210}"/>
              </a:ext>
            </a:extLst>
          </p:cNvPr>
          <p:cNvSpPr>
            <a:spLocks noGrp="1" noChangeArrowheads="1"/>
          </p:cNvSpPr>
          <p:nvPr>
            <p:ph type="title"/>
          </p:nvPr>
        </p:nvSpPr>
        <p:spPr/>
        <p:txBody>
          <a:bodyPr/>
          <a:lstStyle/>
          <a:p>
            <a:r>
              <a:rPr lang="en-US" altLang="zh-CN"/>
              <a:t>2</a:t>
            </a:r>
            <a:r>
              <a:rPr lang="zh-CN" altLang="zh-CN"/>
              <a:t>．三通（</a:t>
            </a:r>
            <a:r>
              <a:rPr lang="en-US" altLang="zh-CN"/>
              <a:t>tee</a:t>
            </a:r>
            <a:r>
              <a:rPr lang="zh-CN" altLang="zh-CN"/>
              <a:t>）</a:t>
            </a:r>
            <a:endParaRPr lang="zh-CN" altLang="en-US"/>
          </a:p>
        </p:txBody>
      </p:sp>
      <p:sp>
        <p:nvSpPr>
          <p:cNvPr id="54275" name="内容占位符 2">
            <a:extLst>
              <a:ext uri="{FF2B5EF4-FFF2-40B4-BE49-F238E27FC236}">
                <a16:creationId xmlns:a16="http://schemas.microsoft.com/office/drawing/2014/main" id="{9C5A45DD-79C9-E3BC-A285-2BFC1FB86AFB}"/>
              </a:ext>
            </a:extLst>
          </p:cNvPr>
          <p:cNvSpPr>
            <a:spLocks noGrp="1" noChangeArrowheads="1"/>
          </p:cNvSpPr>
          <p:nvPr>
            <p:ph idx="1"/>
          </p:nvPr>
        </p:nvSpPr>
        <p:spPr/>
        <p:txBody>
          <a:bodyPr/>
          <a:lstStyle/>
          <a:p>
            <a:r>
              <a:rPr lang="zh-CN" altLang="zh-CN" sz="2400"/>
              <a:t>有时候，既要在屏幕上看到输出，又要同时保存一个副本，这时可</a:t>
            </a:r>
            <a:r>
              <a:rPr lang="zh-CN" altLang="zh-CN" sz="4400">
                <a:solidFill>
                  <a:srgbClr val="FF0000"/>
                </a:solidFill>
              </a:rPr>
              <a:t>使用管道与</a:t>
            </a:r>
            <a:r>
              <a:rPr lang="en-US" altLang="zh-CN" sz="4400">
                <a:solidFill>
                  <a:srgbClr val="FF0000"/>
                </a:solidFill>
              </a:rPr>
              <a:t>tee</a:t>
            </a:r>
            <a:r>
              <a:rPr lang="zh-CN" altLang="zh-CN" sz="4400">
                <a:solidFill>
                  <a:srgbClr val="FF0000"/>
                </a:solidFill>
              </a:rPr>
              <a:t>命令配合来实现</a:t>
            </a:r>
            <a:r>
              <a:rPr lang="zh-CN" altLang="zh-CN" sz="4400" u="sng">
                <a:solidFill>
                  <a:srgbClr val="FF0000"/>
                </a:solidFill>
              </a:rPr>
              <a:t>三通</a:t>
            </a:r>
            <a:r>
              <a:rPr lang="zh-CN" altLang="zh-CN" sz="4400">
                <a:solidFill>
                  <a:srgbClr val="FF0000"/>
                </a:solidFill>
              </a:rPr>
              <a:t>。</a:t>
            </a:r>
          </a:p>
          <a:p>
            <a:r>
              <a:rPr lang="en-US" altLang="zh-CN" sz="4400">
                <a:solidFill>
                  <a:schemeClr val="tx1"/>
                </a:solidFill>
              </a:rPr>
              <a:t>tee</a:t>
            </a:r>
            <a:r>
              <a:rPr lang="zh-CN" altLang="zh-CN" sz="4400">
                <a:solidFill>
                  <a:schemeClr val="tx1"/>
                </a:solidFill>
              </a:rPr>
              <a:t>命令读取标准输入，并将其内容</a:t>
            </a:r>
            <a:r>
              <a:rPr lang="zh-CN" altLang="zh-CN" sz="4400" u="sng">
                <a:solidFill>
                  <a:schemeClr val="tx1"/>
                </a:solidFill>
              </a:rPr>
              <a:t>同时</a:t>
            </a:r>
            <a:r>
              <a:rPr lang="zh-CN" altLang="en-US" sz="4400" u="sng">
                <a:solidFill>
                  <a:schemeClr val="tx1"/>
                </a:solidFill>
              </a:rPr>
              <a:t>写</a:t>
            </a:r>
            <a:r>
              <a:rPr lang="zh-CN" altLang="zh-CN" sz="4400" u="sng">
                <a:solidFill>
                  <a:schemeClr val="tx1"/>
                </a:solidFill>
              </a:rPr>
              <a:t>到标准输出和指定文件</a:t>
            </a:r>
            <a:r>
              <a:rPr lang="zh-CN" altLang="zh-CN" sz="4400">
                <a:solidFill>
                  <a:schemeClr val="tx1"/>
                </a:solidFill>
              </a:rPr>
              <a:t>，其用法为：</a:t>
            </a:r>
            <a:r>
              <a:rPr lang="en-US" altLang="zh-CN" sz="2400"/>
              <a:t> </a:t>
            </a:r>
            <a:endParaRPr lang="zh-CN" altLang="zh-CN" sz="2400"/>
          </a:p>
          <a:p>
            <a:r>
              <a:rPr lang="en-US" altLang="zh-CN" sz="2400"/>
              <a:t>  </a:t>
            </a:r>
            <a:r>
              <a:rPr lang="en-US" altLang="zh-CN" sz="4400">
                <a:solidFill>
                  <a:srgbClr val="FF0000"/>
                </a:solidFill>
              </a:rPr>
              <a:t>tee [-ai] [files]</a:t>
            </a:r>
            <a:endParaRPr lang="zh-CN" altLang="zh-CN" sz="4400">
              <a:solidFill>
                <a:srgbClr val="FF0000"/>
              </a:solidFill>
            </a:endParaRPr>
          </a:p>
          <a:p>
            <a:r>
              <a:rPr lang="en-US" altLang="zh-CN" sz="2400"/>
              <a:t> </a:t>
            </a:r>
            <a:r>
              <a:rPr lang="zh-CN" altLang="zh-CN" sz="2400"/>
              <a:t>选项</a:t>
            </a:r>
            <a:r>
              <a:rPr lang="en-US" altLang="zh-CN" sz="2400"/>
              <a:t>-a</a:t>
            </a:r>
            <a:r>
              <a:rPr lang="zh-CN" altLang="zh-CN" sz="2400"/>
              <a:t>指定使用追加方式，若不指定则采用覆盖方式；</a:t>
            </a:r>
            <a:r>
              <a:rPr lang="en-US" altLang="zh-CN" sz="2400"/>
              <a:t>-i</a:t>
            </a:r>
            <a:r>
              <a:rPr lang="zh-CN" altLang="zh-CN" sz="2400"/>
              <a:t>用于忽略中断信号（</a:t>
            </a:r>
            <a:r>
              <a:rPr lang="en-US" altLang="zh-CN" sz="2400"/>
              <a:t>^C</a:t>
            </a:r>
            <a:r>
              <a:rPr lang="zh-CN" altLang="zh-CN" sz="2400"/>
              <a:t>）。</a:t>
            </a:r>
            <a:endParaRPr lang="zh-CN" altLang="en-US" sz="2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标题 1">
            <a:extLst>
              <a:ext uri="{FF2B5EF4-FFF2-40B4-BE49-F238E27FC236}">
                <a16:creationId xmlns:a16="http://schemas.microsoft.com/office/drawing/2014/main" id="{0AE89D09-0833-347F-1BC3-75B128E0C71C}"/>
              </a:ext>
            </a:extLst>
          </p:cNvPr>
          <p:cNvSpPr>
            <a:spLocks noGrp="1" noChangeArrowheads="1"/>
          </p:cNvSpPr>
          <p:nvPr>
            <p:ph type="title"/>
          </p:nvPr>
        </p:nvSpPr>
        <p:spPr/>
        <p:txBody>
          <a:bodyPr/>
          <a:lstStyle/>
          <a:p>
            <a:r>
              <a:rPr lang="en-US" altLang="zh-CN"/>
              <a:t>tee</a:t>
            </a:r>
            <a:r>
              <a:rPr lang="zh-CN" altLang="zh-CN"/>
              <a:t>命令使用示例</a:t>
            </a:r>
            <a:endParaRPr lang="zh-CN" altLang="en-US"/>
          </a:p>
        </p:txBody>
      </p:sp>
      <p:sp>
        <p:nvSpPr>
          <p:cNvPr id="55299" name="内容占位符 2">
            <a:extLst>
              <a:ext uri="{FF2B5EF4-FFF2-40B4-BE49-F238E27FC236}">
                <a16:creationId xmlns:a16="http://schemas.microsoft.com/office/drawing/2014/main" id="{4A9CCF52-7674-EC95-1C7A-A610EF5D0F08}"/>
              </a:ext>
            </a:extLst>
          </p:cNvPr>
          <p:cNvSpPr>
            <a:spLocks noGrp="1" noChangeArrowheads="1"/>
          </p:cNvSpPr>
          <p:nvPr>
            <p:ph idx="1"/>
          </p:nvPr>
        </p:nvSpPr>
        <p:spPr/>
        <p:txBody>
          <a:bodyPr/>
          <a:lstStyle/>
          <a:p>
            <a:r>
              <a:rPr lang="en-US" altLang="zh-CN"/>
              <a:t>#</a:t>
            </a:r>
            <a:r>
              <a:rPr lang="zh-CN" altLang="zh-CN"/>
              <a:t>将当月日历表显示到屏幕的同时</a:t>
            </a:r>
            <a:r>
              <a:rPr lang="zh-CN" altLang="zh-CN" sz="4400">
                <a:solidFill>
                  <a:srgbClr val="FF0000"/>
                </a:solidFill>
              </a:rPr>
              <a:t>也保存到文件</a:t>
            </a:r>
            <a:r>
              <a:rPr lang="en-US" altLang="zh-CN" sz="4400">
                <a:solidFill>
                  <a:srgbClr val="FF0000"/>
                </a:solidFill>
              </a:rPr>
              <a:t>calendar</a:t>
            </a:r>
            <a:r>
              <a:rPr lang="zh-CN" altLang="zh-CN" sz="4400">
                <a:solidFill>
                  <a:srgbClr val="FF0000"/>
                </a:solidFill>
              </a:rPr>
              <a:t>中</a:t>
            </a:r>
          </a:p>
          <a:p>
            <a:r>
              <a:rPr lang="en-US" altLang="zh-CN"/>
              <a:t> </a:t>
            </a:r>
            <a:r>
              <a:rPr lang="en-US" altLang="zh-CN" sz="4400">
                <a:solidFill>
                  <a:schemeClr val="tx1"/>
                </a:solidFill>
              </a:rPr>
              <a:t>$ cal | tee calendar</a:t>
            </a:r>
          </a:p>
          <a:p>
            <a:r>
              <a:rPr lang="en-US" altLang="zh-CN"/>
              <a:t>#</a:t>
            </a:r>
            <a:r>
              <a:rPr lang="zh-CN" altLang="zh-CN"/>
              <a:t>将根目录短式列表显示到屏幕上的同时</a:t>
            </a:r>
            <a:r>
              <a:rPr lang="zh-CN" altLang="zh-CN" sz="4400">
                <a:solidFill>
                  <a:srgbClr val="FF0000"/>
                </a:solidFill>
              </a:rPr>
              <a:t>也保存到文件</a:t>
            </a:r>
            <a:r>
              <a:rPr lang="en-US" altLang="zh-CN" sz="4400">
                <a:solidFill>
                  <a:srgbClr val="FF0000"/>
                </a:solidFill>
              </a:rPr>
              <a:t>f1</a:t>
            </a:r>
            <a:r>
              <a:rPr lang="zh-CN" altLang="zh-CN" sz="4400">
                <a:solidFill>
                  <a:srgbClr val="FF0000"/>
                </a:solidFill>
              </a:rPr>
              <a:t>和</a:t>
            </a:r>
            <a:r>
              <a:rPr lang="en-US" altLang="zh-CN" sz="4400">
                <a:solidFill>
                  <a:srgbClr val="FF0000"/>
                </a:solidFill>
              </a:rPr>
              <a:t>f2</a:t>
            </a:r>
            <a:r>
              <a:rPr lang="zh-CN" altLang="zh-CN" sz="4400">
                <a:solidFill>
                  <a:srgbClr val="FF0000"/>
                </a:solidFill>
              </a:rPr>
              <a:t>中</a:t>
            </a:r>
            <a:endParaRPr lang="zh-CN" altLang="en-US" sz="4400">
              <a:solidFill>
                <a:srgbClr val="FF0000"/>
              </a:solidFill>
            </a:endParaRPr>
          </a:p>
          <a:p>
            <a:r>
              <a:rPr lang="en-US" altLang="zh-CN" sz="4400">
                <a:solidFill>
                  <a:srgbClr val="FF0000"/>
                </a:solidFill>
              </a:rPr>
              <a:t> </a:t>
            </a:r>
            <a:r>
              <a:rPr lang="en-US" altLang="zh-CN" sz="4400">
                <a:solidFill>
                  <a:schemeClr val="tx1"/>
                </a:solidFill>
              </a:rPr>
              <a:t>$ ls / | tee f1 f2</a:t>
            </a:r>
            <a:endParaRPr lang="zh-CN" altLang="en-US" sz="4400">
              <a:solidFill>
                <a:schemeClr val="tx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02527D29-99A6-02F7-DA49-20DCA8610C87}"/>
              </a:ext>
            </a:extLst>
          </p:cNvPr>
          <p:cNvSpPr>
            <a:spLocks noGrp="1" noChangeArrowheads="1"/>
          </p:cNvSpPr>
          <p:nvPr>
            <p:ph type="title"/>
          </p:nvPr>
        </p:nvSpPr>
        <p:spPr/>
        <p:txBody>
          <a:bodyPr/>
          <a:lstStyle/>
          <a:p>
            <a:r>
              <a:rPr lang="en-US" altLang="zh-CN"/>
              <a:t>3.1.8  </a:t>
            </a:r>
            <a:r>
              <a:rPr lang="zh-CN" altLang="zh-CN"/>
              <a:t>变量与环境变量</a:t>
            </a:r>
            <a:endParaRPr lang="zh-CN" altLang="en-US"/>
          </a:p>
        </p:txBody>
      </p:sp>
      <p:sp>
        <p:nvSpPr>
          <p:cNvPr id="56323" name="内容占位符 2">
            <a:extLst>
              <a:ext uri="{FF2B5EF4-FFF2-40B4-BE49-F238E27FC236}">
                <a16:creationId xmlns:a16="http://schemas.microsoft.com/office/drawing/2014/main" id="{96BD5474-A4A8-68C1-05A8-157B75959275}"/>
              </a:ext>
            </a:extLst>
          </p:cNvPr>
          <p:cNvSpPr>
            <a:spLocks noGrp="1" noChangeArrowheads="1"/>
          </p:cNvSpPr>
          <p:nvPr>
            <p:ph idx="1"/>
          </p:nvPr>
        </p:nvSpPr>
        <p:spPr/>
        <p:txBody>
          <a:bodyPr/>
          <a:lstStyle/>
          <a:p>
            <a:r>
              <a:rPr lang="en-US" altLang="zh-CN" sz="4400">
                <a:solidFill>
                  <a:srgbClr val="FF0000"/>
                </a:solidFill>
              </a:rPr>
              <a:t>1</a:t>
            </a:r>
            <a:r>
              <a:rPr lang="zh-CN" altLang="zh-CN" sz="4400">
                <a:solidFill>
                  <a:srgbClr val="FF0000"/>
                </a:solidFill>
              </a:rPr>
              <a:t>．变量</a:t>
            </a:r>
          </a:p>
          <a:p>
            <a:r>
              <a:rPr lang="zh-CN" altLang="zh-CN" sz="2400"/>
              <a:t>在</a:t>
            </a:r>
            <a:r>
              <a:rPr lang="en-US" altLang="zh-CN" sz="2400"/>
              <a:t>UNIX/Linux</a:t>
            </a:r>
            <a:r>
              <a:rPr lang="zh-CN" altLang="zh-CN" sz="2400"/>
              <a:t>系统中，用户可以定义自己的变量。定义后的变量就像在其他程序设计语言里一样被引用。</a:t>
            </a:r>
            <a:r>
              <a:rPr lang="zh-CN" altLang="zh-CN" sz="4400">
                <a:solidFill>
                  <a:srgbClr val="FF0000"/>
                </a:solidFill>
              </a:rPr>
              <a:t>引用变量</a:t>
            </a:r>
            <a:r>
              <a:rPr lang="zh-CN" altLang="zh-CN" sz="2400"/>
              <a:t>时需要</a:t>
            </a:r>
            <a:r>
              <a:rPr lang="zh-CN" altLang="zh-CN" sz="4400">
                <a:solidFill>
                  <a:srgbClr val="FF0000"/>
                </a:solidFill>
              </a:rPr>
              <a:t>使用“</a:t>
            </a:r>
            <a:r>
              <a:rPr lang="en-US" altLang="zh-CN" sz="4400">
                <a:solidFill>
                  <a:srgbClr val="FF0000"/>
                </a:solidFill>
              </a:rPr>
              <a:t>$</a:t>
            </a:r>
            <a:r>
              <a:rPr lang="zh-CN" altLang="zh-CN" sz="4400">
                <a:solidFill>
                  <a:srgbClr val="FF0000"/>
                </a:solidFill>
              </a:rPr>
              <a:t>”作为变量名的前导字符</a:t>
            </a:r>
            <a:r>
              <a:rPr lang="zh-CN" altLang="zh-CN" sz="2400"/>
              <a:t>。</a:t>
            </a:r>
          </a:p>
          <a:p>
            <a:r>
              <a:rPr lang="zh-CN" altLang="zh-CN" sz="2400"/>
              <a:t>由于</a:t>
            </a:r>
            <a:r>
              <a:rPr lang="en-US" altLang="zh-CN" sz="2400"/>
              <a:t>shell</a:t>
            </a:r>
            <a:r>
              <a:rPr lang="zh-CN" altLang="zh-CN" sz="2400"/>
              <a:t>是解释语言，在变量定义和使用时</a:t>
            </a:r>
            <a:r>
              <a:rPr lang="zh-CN" altLang="zh-CN" sz="4400">
                <a:solidFill>
                  <a:srgbClr val="FF0000"/>
                </a:solidFill>
              </a:rPr>
              <a:t>不需要声明类型</a:t>
            </a:r>
            <a:r>
              <a:rPr lang="zh-CN" altLang="zh-CN" sz="2400"/>
              <a:t>，</a:t>
            </a:r>
            <a:r>
              <a:rPr lang="en-US" altLang="zh-CN" sz="2400"/>
              <a:t>shell</a:t>
            </a:r>
            <a:r>
              <a:rPr lang="zh-CN" altLang="zh-CN" sz="2400"/>
              <a:t>在使用变量时会根据变量的值来具体确定变量的类型。</a:t>
            </a:r>
            <a:endParaRPr lang="zh-CN" altLang="en-US" sz="24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8C97D683-CB16-8010-A2EE-AF9300632AB2}"/>
              </a:ext>
            </a:extLst>
          </p:cNvPr>
          <p:cNvSpPr>
            <a:spLocks noGrp="1" noChangeArrowheads="1"/>
          </p:cNvSpPr>
          <p:nvPr>
            <p:ph type="title"/>
          </p:nvPr>
        </p:nvSpPr>
        <p:spPr/>
        <p:txBody>
          <a:bodyPr/>
          <a:lstStyle/>
          <a:p>
            <a:r>
              <a:rPr lang="zh-CN" altLang="zh-CN"/>
              <a:t>变量的定义方法</a:t>
            </a:r>
            <a:r>
              <a:rPr lang="zh-CN" altLang="en-US"/>
              <a:t>与示例</a:t>
            </a:r>
          </a:p>
        </p:txBody>
      </p:sp>
      <p:sp>
        <p:nvSpPr>
          <p:cNvPr id="57347" name="内容占位符 2">
            <a:extLst>
              <a:ext uri="{FF2B5EF4-FFF2-40B4-BE49-F238E27FC236}">
                <a16:creationId xmlns:a16="http://schemas.microsoft.com/office/drawing/2014/main" id="{5B445F47-C81C-674E-2E0A-61F4768CF34A}"/>
              </a:ext>
            </a:extLst>
          </p:cNvPr>
          <p:cNvSpPr>
            <a:spLocks noGrp="1" noChangeArrowheads="1"/>
          </p:cNvSpPr>
          <p:nvPr>
            <p:ph idx="1"/>
          </p:nvPr>
        </p:nvSpPr>
        <p:spPr>
          <a:xfrm>
            <a:off x="0" y="476250"/>
            <a:ext cx="9144000" cy="5761038"/>
          </a:xfrm>
        </p:spPr>
        <p:txBody>
          <a:bodyPr/>
          <a:lstStyle/>
          <a:p>
            <a:r>
              <a:rPr lang="zh-CN" altLang="zh-CN" sz="4400">
                <a:solidFill>
                  <a:srgbClr val="FF0000"/>
                </a:solidFill>
              </a:rPr>
              <a:t>变量的定义方法</a:t>
            </a:r>
            <a:r>
              <a:rPr lang="zh-CN" altLang="en-US" sz="4400">
                <a:solidFill>
                  <a:srgbClr val="FF0000"/>
                </a:solidFill>
              </a:rPr>
              <a:t>如下：</a:t>
            </a:r>
            <a:endParaRPr lang="zh-CN" altLang="zh-CN" sz="4400">
              <a:solidFill>
                <a:srgbClr val="FF0000"/>
              </a:solidFill>
            </a:endParaRPr>
          </a:p>
          <a:p>
            <a:r>
              <a:rPr lang="en-US" altLang="zh-CN" sz="4400">
                <a:solidFill>
                  <a:srgbClr val="FF0000"/>
                </a:solidFill>
              </a:rPr>
              <a:t>  </a:t>
            </a:r>
            <a:r>
              <a:rPr lang="en-US" altLang="zh-CN" sz="4400">
                <a:solidFill>
                  <a:schemeClr val="tx1"/>
                </a:solidFill>
              </a:rPr>
              <a:t>var_name=var_value</a:t>
            </a:r>
            <a:endParaRPr lang="zh-CN" altLang="zh-CN" sz="4400">
              <a:solidFill>
                <a:schemeClr val="tx1"/>
              </a:solidFill>
            </a:endParaRPr>
          </a:p>
          <a:p>
            <a:r>
              <a:rPr lang="zh-CN" altLang="zh-CN" sz="2400"/>
              <a:t>变量的定义和使用示例如下：</a:t>
            </a:r>
          </a:p>
          <a:p>
            <a:r>
              <a:rPr lang="en-US" altLang="zh-CN" sz="2400"/>
              <a:t> </a:t>
            </a:r>
            <a:r>
              <a:rPr lang="en-US" altLang="zh-CN" sz="4400">
                <a:solidFill>
                  <a:srgbClr val="FF0000"/>
                </a:solidFill>
              </a:rPr>
              <a:t>$ x=123	</a:t>
            </a:r>
            <a:r>
              <a:rPr lang="en-US" altLang="zh-CN" sz="4400">
                <a:solidFill>
                  <a:schemeClr val="tx1"/>
                </a:solidFill>
              </a:rPr>
              <a:t>#</a:t>
            </a:r>
            <a:r>
              <a:rPr lang="zh-CN" altLang="zh-CN" sz="4400">
                <a:solidFill>
                  <a:srgbClr val="FF0000"/>
                </a:solidFill>
              </a:rPr>
              <a:t>定义一变量</a:t>
            </a:r>
            <a:r>
              <a:rPr lang="en-US" altLang="zh-CN" sz="4400">
                <a:solidFill>
                  <a:srgbClr val="FF0000"/>
                </a:solidFill>
              </a:rPr>
              <a:t>x</a:t>
            </a:r>
            <a:r>
              <a:rPr lang="zh-CN" altLang="zh-CN" sz="4400">
                <a:solidFill>
                  <a:srgbClr val="FF0000"/>
                </a:solidFill>
              </a:rPr>
              <a:t>，值为</a:t>
            </a:r>
            <a:r>
              <a:rPr lang="en-US" altLang="zh-CN" sz="4400">
                <a:solidFill>
                  <a:srgbClr val="FF0000"/>
                </a:solidFill>
              </a:rPr>
              <a:t>123</a:t>
            </a:r>
            <a:endParaRPr lang="zh-CN" altLang="zh-CN" sz="4400">
              <a:solidFill>
                <a:srgbClr val="FF0000"/>
              </a:solidFill>
            </a:endParaRPr>
          </a:p>
          <a:p>
            <a:r>
              <a:rPr lang="en-US" altLang="zh-CN" sz="4400">
                <a:solidFill>
                  <a:srgbClr val="FF0000"/>
                </a:solidFill>
              </a:rPr>
              <a:t> </a:t>
            </a:r>
            <a:r>
              <a:rPr lang="en-US" altLang="zh-CN" sz="4400">
                <a:solidFill>
                  <a:schemeClr val="tx1"/>
                </a:solidFill>
              </a:rPr>
              <a:t>$ y='I am a student'</a:t>
            </a:r>
            <a:r>
              <a:rPr lang="en-US" altLang="zh-CN" sz="4400">
                <a:solidFill>
                  <a:srgbClr val="FF0000"/>
                </a:solidFill>
              </a:rPr>
              <a:t>	#</a:t>
            </a:r>
            <a:r>
              <a:rPr lang="zh-CN" altLang="zh-CN" sz="4400">
                <a:solidFill>
                  <a:srgbClr val="FF0000"/>
                </a:solidFill>
              </a:rPr>
              <a:t>定义变量</a:t>
            </a:r>
            <a:r>
              <a:rPr lang="en-US" altLang="zh-CN" sz="4400">
                <a:solidFill>
                  <a:srgbClr val="FF0000"/>
                </a:solidFill>
              </a:rPr>
              <a:t>y</a:t>
            </a:r>
          </a:p>
          <a:p>
            <a:r>
              <a:rPr lang="en-US" altLang="zh-CN" sz="2400"/>
              <a:t> $ echo $x $y $HOME	#</a:t>
            </a:r>
            <a:r>
              <a:rPr lang="zh-CN" altLang="zh-CN" sz="2400"/>
              <a:t>显示</a:t>
            </a:r>
            <a:r>
              <a:rPr lang="en-US" altLang="zh-CN" sz="2400"/>
              <a:t>x</a:t>
            </a:r>
            <a:r>
              <a:rPr lang="zh-CN" altLang="zh-CN" sz="2400"/>
              <a:t>，</a:t>
            </a:r>
            <a:r>
              <a:rPr lang="en-US" altLang="zh-CN" sz="2400"/>
              <a:t>y</a:t>
            </a:r>
            <a:r>
              <a:rPr lang="zh-CN" altLang="zh-CN" sz="2400"/>
              <a:t>和环境变量</a:t>
            </a:r>
            <a:r>
              <a:rPr lang="en-US" altLang="zh-CN" sz="2400"/>
              <a:t>HOME</a:t>
            </a:r>
            <a:r>
              <a:rPr lang="zh-CN" altLang="zh-CN" sz="2400"/>
              <a:t>的值</a:t>
            </a:r>
          </a:p>
          <a:p>
            <a:r>
              <a:rPr lang="en-US" altLang="zh-CN" sz="2400"/>
              <a:t> $ z="$x $y"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BCF50047-D4EF-470F-53A7-C66D821CECBE}"/>
              </a:ext>
            </a:extLst>
          </p:cNvPr>
          <p:cNvSpPr>
            <a:spLocks noGrp="1" noChangeArrowheads="1"/>
          </p:cNvSpPr>
          <p:nvPr>
            <p:ph type="title"/>
          </p:nvPr>
        </p:nvSpPr>
        <p:spPr/>
        <p:txBody>
          <a:bodyPr/>
          <a:lstStyle/>
          <a:p>
            <a:r>
              <a:rPr lang="en-US" altLang="zh-CN"/>
              <a:t>2</a:t>
            </a:r>
            <a:r>
              <a:rPr lang="zh-CN" altLang="zh-CN"/>
              <a:t>．环境变量</a:t>
            </a:r>
            <a:endParaRPr lang="zh-CN" altLang="en-US"/>
          </a:p>
        </p:txBody>
      </p:sp>
      <p:sp>
        <p:nvSpPr>
          <p:cNvPr id="58371" name="内容占位符 2">
            <a:extLst>
              <a:ext uri="{FF2B5EF4-FFF2-40B4-BE49-F238E27FC236}">
                <a16:creationId xmlns:a16="http://schemas.microsoft.com/office/drawing/2014/main" id="{CABF33A2-9726-6530-C43E-830E4D0BA35F}"/>
              </a:ext>
            </a:extLst>
          </p:cNvPr>
          <p:cNvSpPr>
            <a:spLocks noGrp="1" noChangeArrowheads="1"/>
          </p:cNvSpPr>
          <p:nvPr>
            <p:ph idx="1"/>
          </p:nvPr>
        </p:nvSpPr>
        <p:spPr>
          <a:xfrm>
            <a:off x="104775" y="476250"/>
            <a:ext cx="9036050" cy="6048375"/>
          </a:xfrm>
        </p:spPr>
        <p:txBody>
          <a:bodyPr/>
          <a:lstStyle/>
          <a:p>
            <a:r>
              <a:rPr lang="en-US" altLang="zh-CN"/>
              <a:t>shell</a:t>
            </a:r>
            <a:r>
              <a:rPr lang="zh-CN" altLang="zh-CN"/>
              <a:t>在开始执行时就已经定义了一些</a:t>
            </a:r>
            <a:r>
              <a:rPr lang="zh-CN" altLang="zh-CN" sz="4400">
                <a:solidFill>
                  <a:srgbClr val="FF0000"/>
                </a:solidFill>
              </a:rPr>
              <a:t>和</a:t>
            </a:r>
            <a:r>
              <a:rPr lang="zh-CN" altLang="zh-CN" sz="4400" u="sng">
                <a:solidFill>
                  <a:srgbClr val="FF0000"/>
                </a:solidFill>
              </a:rPr>
              <a:t>系统工作环境</a:t>
            </a:r>
            <a:r>
              <a:rPr lang="zh-CN" altLang="zh-CN" sz="4400">
                <a:solidFill>
                  <a:srgbClr val="FF0000"/>
                </a:solidFill>
              </a:rPr>
              <a:t>有关的变量</a:t>
            </a:r>
            <a:r>
              <a:rPr lang="zh-CN" altLang="zh-CN"/>
              <a:t>，用来控制用户程序的执行，或为用户程序的执行提供环境支持。</a:t>
            </a:r>
            <a:endParaRPr lang="en-US" altLang="zh-CN"/>
          </a:p>
          <a:p>
            <a:r>
              <a:rPr lang="zh-CN" altLang="zh-CN" sz="4400">
                <a:solidFill>
                  <a:srgbClr val="FF0000"/>
                </a:solidFill>
              </a:rPr>
              <a:t>可用</a:t>
            </a:r>
            <a:r>
              <a:rPr lang="en-US" altLang="zh-CN" sz="4400">
                <a:solidFill>
                  <a:srgbClr val="FF0000"/>
                </a:solidFill>
              </a:rPr>
              <a:t>env</a:t>
            </a:r>
            <a:r>
              <a:rPr lang="zh-CN" altLang="zh-CN" sz="4400">
                <a:solidFill>
                  <a:srgbClr val="FF0000"/>
                </a:solidFill>
              </a:rPr>
              <a:t>、</a:t>
            </a:r>
            <a:r>
              <a:rPr lang="en-US" altLang="zh-CN" sz="4400">
                <a:solidFill>
                  <a:srgbClr val="FF0000"/>
                </a:solidFill>
              </a:rPr>
              <a:t>export</a:t>
            </a:r>
            <a:r>
              <a:rPr lang="zh-CN" altLang="zh-CN" sz="4400">
                <a:solidFill>
                  <a:srgbClr val="FF0000"/>
                </a:solidFill>
              </a:rPr>
              <a:t>或</a:t>
            </a:r>
            <a:r>
              <a:rPr lang="en-US" altLang="zh-CN" sz="4400">
                <a:solidFill>
                  <a:srgbClr val="FF0000"/>
                </a:solidFill>
              </a:rPr>
              <a:t>set</a:t>
            </a:r>
            <a:r>
              <a:rPr lang="zh-CN" altLang="zh-CN" sz="4400">
                <a:solidFill>
                  <a:srgbClr val="FF0000"/>
                </a:solidFill>
              </a:rPr>
              <a:t>来查询环境变量</a:t>
            </a:r>
            <a:r>
              <a:rPr lang="zh-CN" altLang="zh-CN"/>
              <a:t>：</a:t>
            </a:r>
            <a:r>
              <a:rPr lang="en-US" altLang="zh-CN"/>
              <a:t> </a:t>
            </a:r>
            <a:endParaRPr lang="zh-CN" altLang="zh-CN"/>
          </a:p>
          <a:p>
            <a:r>
              <a:rPr lang="en-US" altLang="zh-CN" sz="4400">
                <a:solidFill>
                  <a:srgbClr val="FF0000"/>
                </a:solidFill>
              </a:rPr>
              <a:t>$ export </a:t>
            </a:r>
            <a:r>
              <a:rPr lang="en-US" altLang="zh-CN"/>
              <a:t>	#</a:t>
            </a:r>
            <a:r>
              <a:rPr lang="zh-CN" altLang="zh-CN"/>
              <a:t>显示所有的环境变量</a:t>
            </a:r>
          </a:p>
          <a:p>
            <a:r>
              <a:rPr lang="en-US" altLang="zh-CN" sz="4400">
                <a:solidFill>
                  <a:srgbClr val="FF0000"/>
                </a:solidFill>
              </a:rPr>
              <a:t>$ env	</a:t>
            </a:r>
            <a:r>
              <a:rPr lang="en-US" altLang="zh-CN"/>
              <a:t>	#</a:t>
            </a:r>
            <a:r>
              <a:rPr lang="zh-CN" altLang="zh-CN"/>
              <a:t>同上</a:t>
            </a:r>
            <a:endParaRPr lang="en-US" altLang="zh-CN"/>
          </a:p>
          <a:p>
            <a:r>
              <a:rPr lang="zh-CN" altLang="zh-CN"/>
              <a:t>用户还可定义自己的环境变量（见后述）。</a:t>
            </a:r>
            <a:endParaRPr lang="zh-CN" altLang="en-US"/>
          </a:p>
        </p:txBody>
      </p:sp>
      <p:pic>
        <p:nvPicPr>
          <p:cNvPr id="2" name="图片 1">
            <a:extLst>
              <a:ext uri="{FF2B5EF4-FFF2-40B4-BE49-F238E27FC236}">
                <a16:creationId xmlns:a16="http://schemas.microsoft.com/office/drawing/2014/main" id="{E85C372C-02BF-7482-87EB-B18E80976D3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9625" y="952500"/>
            <a:ext cx="7626350" cy="541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22CEE9A5-B73B-B396-3504-842B86FA22B1}"/>
              </a:ext>
            </a:extLst>
          </p:cNvPr>
          <p:cNvSpPr>
            <a:spLocks noGrp="1" noChangeArrowheads="1"/>
          </p:cNvSpPr>
          <p:nvPr>
            <p:ph type="title"/>
          </p:nvPr>
        </p:nvSpPr>
        <p:spPr/>
        <p:txBody>
          <a:bodyPr/>
          <a:lstStyle/>
          <a:p>
            <a:r>
              <a:rPr lang="zh-CN" altLang="zh-CN"/>
              <a:t>常用的</a:t>
            </a:r>
            <a:r>
              <a:rPr lang="en-US" altLang="zh-CN"/>
              <a:t>shell</a:t>
            </a:r>
            <a:r>
              <a:rPr lang="zh-CN" altLang="zh-CN"/>
              <a:t>环境变量</a:t>
            </a:r>
            <a:endParaRPr lang="zh-CN" altLang="en-US"/>
          </a:p>
        </p:txBody>
      </p:sp>
      <p:sp>
        <p:nvSpPr>
          <p:cNvPr id="59395" name="内容占位符 2">
            <a:extLst>
              <a:ext uri="{FF2B5EF4-FFF2-40B4-BE49-F238E27FC236}">
                <a16:creationId xmlns:a16="http://schemas.microsoft.com/office/drawing/2014/main" id="{B46A40D4-2B8C-5E90-B017-9D200ABC4C64}"/>
              </a:ext>
            </a:extLst>
          </p:cNvPr>
          <p:cNvSpPr>
            <a:spLocks noGrp="1" noChangeArrowheads="1"/>
          </p:cNvSpPr>
          <p:nvPr>
            <p:ph idx="1"/>
          </p:nvPr>
        </p:nvSpPr>
        <p:spPr>
          <a:xfrm>
            <a:off x="19050" y="333375"/>
            <a:ext cx="9144000" cy="5761038"/>
          </a:xfrm>
        </p:spPr>
        <p:txBody>
          <a:bodyPr/>
          <a:lstStyle/>
          <a:p>
            <a:pPr>
              <a:spcBef>
                <a:spcPct val="0"/>
              </a:spcBef>
              <a:spcAft>
                <a:spcPct val="0"/>
              </a:spcAft>
            </a:pPr>
            <a:r>
              <a:rPr lang="en-US" altLang="zh-CN" sz="4000">
                <a:solidFill>
                  <a:srgbClr val="FF0000"/>
                </a:solidFill>
              </a:rPr>
              <a:t>HOME</a:t>
            </a:r>
            <a:r>
              <a:rPr lang="zh-CN" altLang="zh-CN" sz="4000">
                <a:solidFill>
                  <a:srgbClr val="FF0000"/>
                </a:solidFill>
              </a:rPr>
              <a:t>：家目录。</a:t>
            </a:r>
            <a:endParaRPr lang="en-US" altLang="zh-CN" sz="4000">
              <a:solidFill>
                <a:srgbClr val="FF0000"/>
              </a:solidFill>
            </a:endParaRPr>
          </a:p>
          <a:p>
            <a:pPr>
              <a:spcBef>
                <a:spcPct val="0"/>
              </a:spcBef>
              <a:spcAft>
                <a:spcPct val="0"/>
              </a:spcAft>
            </a:pPr>
            <a:r>
              <a:rPr lang="en-US" altLang="zh-CN" sz="4000">
                <a:solidFill>
                  <a:srgbClr val="FF0000"/>
                </a:solidFill>
              </a:rPr>
              <a:t>LOGNAME</a:t>
            </a:r>
            <a:r>
              <a:rPr lang="zh-CN" altLang="en-US" sz="4000">
                <a:solidFill>
                  <a:srgbClr val="FF0000"/>
                </a:solidFill>
              </a:rPr>
              <a:t>、</a:t>
            </a:r>
            <a:r>
              <a:rPr lang="en-US" altLang="zh-CN" sz="4000">
                <a:solidFill>
                  <a:srgbClr val="FF0000"/>
                </a:solidFill>
              </a:rPr>
              <a:t>USER</a:t>
            </a:r>
            <a:r>
              <a:rPr lang="zh-CN" altLang="zh-CN" sz="4000">
                <a:solidFill>
                  <a:srgbClr val="FF0000"/>
                </a:solidFill>
              </a:rPr>
              <a:t>：</a:t>
            </a:r>
            <a:r>
              <a:rPr lang="zh-CN" altLang="zh-CN" sz="4000">
                <a:solidFill>
                  <a:schemeClr val="tx1"/>
                </a:solidFill>
              </a:rPr>
              <a:t>登录用户</a:t>
            </a:r>
            <a:r>
              <a:rPr lang="zh-CN" altLang="en-US" sz="4000">
                <a:solidFill>
                  <a:schemeClr val="tx1"/>
                </a:solidFill>
              </a:rPr>
              <a:t>名、</a:t>
            </a:r>
            <a:r>
              <a:rPr lang="zh-CN" altLang="zh-CN" sz="4000">
                <a:solidFill>
                  <a:schemeClr val="tx1"/>
                </a:solidFill>
              </a:rPr>
              <a:t>用户名</a:t>
            </a:r>
          </a:p>
          <a:p>
            <a:pPr>
              <a:spcBef>
                <a:spcPct val="0"/>
              </a:spcBef>
              <a:spcAft>
                <a:spcPct val="0"/>
              </a:spcAft>
            </a:pPr>
            <a:r>
              <a:rPr lang="en-US" altLang="zh-CN" sz="4000">
                <a:solidFill>
                  <a:srgbClr val="FF0000"/>
                </a:solidFill>
              </a:rPr>
              <a:t>IFS</a:t>
            </a:r>
            <a:r>
              <a:rPr lang="zh-CN" altLang="zh-CN" sz="4000">
                <a:solidFill>
                  <a:srgbClr val="FF0000"/>
                </a:solidFill>
              </a:rPr>
              <a:t>：</a:t>
            </a:r>
            <a:r>
              <a:rPr lang="zh-CN" altLang="zh-CN" sz="4000">
                <a:solidFill>
                  <a:schemeClr val="tx1"/>
                </a:solidFill>
              </a:rPr>
              <a:t>命令行参数、选项间的分隔符。</a:t>
            </a:r>
            <a:endParaRPr lang="en-US" altLang="zh-CN" sz="4000">
              <a:solidFill>
                <a:schemeClr val="tx1"/>
              </a:solidFill>
            </a:endParaRPr>
          </a:p>
          <a:p>
            <a:pPr>
              <a:spcBef>
                <a:spcPct val="0"/>
              </a:spcBef>
              <a:spcAft>
                <a:spcPct val="0"/>
              </a:spcAft>
            </a:pPr>
            <a:r>
              <a:rPr lang="en-US" altLang="zh-CN" sz="4000">
                <a:solidFill>
                  <a:srgbClr val="FF0000"/>
                </a:solidFill>
              </a:rPr>
              <a:t>PATH</a:t>
            </a:r>
            <a:r>
              <a:rPr lang="zh-CN" altLang="zh-CN" sz="4000">
                <a:solidFill>
                  <a:srgbClr val="FF0000"/>
                </a:solidFill>
              </a:rPr>
              <a:t>：</a:t>
            </a:r>
            <a:r>
              <a:rPr lang="zh-CN" altLang="zh-CN" sz="4000">
                <a:solidFill>
                  <a:schemeClr val="tx1"/>
                </a:solidFill>
              </a:rPr>
              <a:t>由冒号分隔的目录路径名</a:t>
            </a:r>
            <a:r>
              <a:rPr lang="zh-CN" altLang="en-US" sz="4000">
                <a:solidFill>
                  <a:schemeClr val="tx1"/>
                </a:solidFill>
              </a:rPr>
              <a:t>（命令执行路径）</a:t>
            </a:r>
            <a:r>
              <a:rPr lang="zh-CN" altLang="zh-CN" sz="4000">
                <a:solidFill>
                  <a:schemeClr val="tx1"/>
                </a:solidFill>
              </a:rPr>
              <a:t>。</a:t>
            </a:r>
          </a:p>
          <a:p>
            <a:pPr>
              <a:spcBef>
                <a:spcPct val="0"/>
              </a:spcBef>
              <a:spcAft>
                <a:spcPct val="0"/>
              </a:spcAft>
            </a:pPr>
            <a:r>
              <a:rPr lang="en-US" altLang="zh-CN" sz="4000">
                <a:solidFill>
                  <a:srgbClr val="FF0000"/>
                </a:solidFill>
              </a:rPr>
              <a:t>TERM</a:t>
            </a:r>
            <a:r>
              <a:rPr lang="zh-CN" altLang="zh-CN" sz="4000">
                <a:solidFill>
                  <a:srgbClr val="FF0000"/>
                </a:solidFill>
              </a:rPr>
              <a:t>：</a:t>
            </a:r>
            <a:r>
              <a:rPr lang="zh-CN" altLang="zh-CN" sz="4000">
                <a:solidFill>
                  <a:schemeClr val="tx1"/>
                </a:solidFill>
              </a:rPr>
              <a:t>终端的类型。</a:t>
            </a:r>
          </a:p>
          <a:p>
            <a:pPr>
              <a:spcBef>
                <a:spcPct val="0"/>
              </a:spcBef>
              <a:spcAft>
                <a:spcPct val="0"/>
              </a:spcAft>
            </a:pPr>
            <a:r>
              <a:rPr lang="en-US" altLang="zh-CN" sz="4000">
                <a:solidFill>
                  <a:srgbClr val="FF0000"/>
                </a:solidFill>
              </a:rPr>
              <a:t>PWD</a:t>
            </a:r>
            <a:r>
              <a:rPr lang="zh-CN" altLang="zh-CN" sz="4000">
                <a:solidFill>
                  <a:srgbClr val="FF0000"/>
                </a:solidFill>
              </a:rPr>
              <a:t>：</a:t>
            </a:r>
            <a:r>
              <a:rPr lang="zh-CN" altLang="zh-CN" sz="4000">
                <a:solidFill>
                  <a:schemeClr val="tx1"/>
                </a:solidFill>
              </a:rPr>
              <a:t>当前工作目录的绝对路径名。</a:t>
            </a:r>
          </a:p>
          <a:p>
            <a:pPr>
              <a:spcBef>
                <a:spcPct val="0"/>
              </a:spcBef>
              <a:spcAft>
                <a:spcPct val="0"/>
              </a:spcAft>
            </a:pPr>
            <a:r>
              <a:rPr lang="en-US" altLang="zh-CN" sz="4000">
                <a:solidFill>
                  <a:srgbClr val="FF0000"/>
                </a:solidFill>
              </a:rPr>
              <a:t>OLDPWD</a:t>
            </a:r>
            <a:r>
              <a:rPr lang="zh-CN" altLang="zh-CN" sz="4000">
                <a:solidFill>
                  <a:srgbClr val="FF0000"/>
                </a:solidFill>
              </a:rPr>
              <a:t>：</a:t>
            </a:r>
            <a:r>
              <a:rPr lang="zh-CN" altLang="zh-CN" sz="4000">
                <a:solidFill>
                  <a:schemeClr val="tx1"/>
                </a:solidFill>
              </a:rPr>
              <a:t>刚刚离开的目录。</a:t>
            </a:r>
          </a:p>
          <a:p>
            <a:pPr>
              <a:spcBef>
                <a:spcPct val="0"/>
              </a:spcBef>
              <a:spcAft>
                <a:spcPct val="0"/>
              </a:spcAft>
            </a:pPr>
            <a:r>
              <a:rPr lang="en-US" altLang="zh-CN" sz="4000">
                <a:solidFill>
                  <a:srgbClr val="FF0000"/>
                </a:solidFill>
              </a:rPr>
              <a:t>PS1</a:t>
            </a:r>
            <a:r>
              <a:rPr lang="zh-CN" altLang="zh-CN" sz="4000">
                <a:solidFill>
                  <a:srgbClr val="FF0000"/>
                </a:solidFill>
              </a:rPr>
              <a:t>：</a:t>
            </a:r>
            <a:r>
              <a:rPr lang="zh-CN" altLang="zh-CN" sz="4000">
                <a:solidFill>
                  <a:schemeClr val="tx1"/>
                </a:solidFill>
              </a:rPr>
              <a:t>主提示符。</a:t>
            </a:r>
            <a:endParaRPr lang="en-US" altLang="zh-CN" sz="4000">
              <a:solidFill>
                <a:schemeClr val="tx1"/>
              </a:solidFill>
            </a:endParaRPr>
          </a:p>
          <a:p>
            <a:pPr>
              <a:spcBef>
                <a:spcPct val="0"/>
              </a:spcBef>
              <a:spcAft>
                <a:spcPct val="0"/>
              </a:spcAft>
            </a:pPr>
            <a:r>
              <a:rPr lang="en-US" altLang="zh-CN" sz="4000">
                <a:solidFill>
                  <a:srgbClr val="FF0000"/>
                </a:solidFill>
              </a:rPr>
              <a:t>PS2</a:t>
            </a:r>
            <a:r>
              <a:rPr lang="zh-CN" altLang="zh-CN" sz="4000">
                <a:solidFill>
                  <a:srgbClr val="FF0000"/>
                </a:solidFill>
              </a:rPr>
              <a:t>：</a:t>
            </a:r>
            <a:r>
              <a:rPr lang="zh-CN" altLang="zh-CN" sz="4000">
                <a:solidFill>
                  <a:schemeClr val="tx1"/>
                </a:solidFill>
              </a:rPr>
              <a:t>辅提示符（继续行用提示符）。</a:t>
            </a:r>
            <a:endParaRPr lang="en-US" altLang="zh-CN" sz="4000">
              <a:solidFill>
                <a:schemeClr val="tx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标题 1">
            <a:extLst>
              <a:ext uri="{FF2B5EF4-FFF2-40B4-BE49-F238E27FC236}">
                <a16:creationId xmlns:a16="http://schemas.microsoft.com/office/drawing/2014/main" id="{D8DB7CDE-3FF8-02B8-F3C4-22915D83097E}"/>
              </a:ext>
            </a:extLst>
          </p:cNvPr>
          <p:cNvSpPr>
            <a:spLocks noGrp="1" noChangeArrowheads="1"/>
          </p:cNvSpPr>
          <p:nvPr>
            <p:ph type="title"/>
          </p:nvPr>
        </p:nvSpPr>
        <p:spPr/>
        <p:txBody>
          <a:bodyPr/>
          <a:lstStyle/>
          <a:p>
            <a:r>
              <a:rPr lang="en-US" altLang="zh-CN"/>
              <a:t>3.1.9  </a:t>
            </a:r>
            <a:r>
              <a:rPr lang="zh-CN" altLang="zh-CN"/>
              <a:t>引号机制、命令替换与变量替换</a:t>
            </a:r>
            <a:endParaRPr lang="zh-CN" altLang="en-US"/>
          </a:p>
        </p:txBody>
      </p:sp>
      <p:sp>
        <p:nvSpPr>
          <p:cNvPr id="60419" name="内容占位符 2">
            <a:extLst>
              <a:ext uri="{FF2B5EF4-FFF2-40B4-BE49-F238E27FC236}">
                <a16:creationId xmlns:a16="http://schemas.microsoft.com/office/drawing/2014/main" id="{C6BD88BE-5178-012F-5175-C8B74124CE47}"/>
              </a:ext>
            </a:extLst>
          </p:cNvPr>
          <p:cNvSpPr>
            <a:spLocks noGrp="1" noChangeArrowheads="1"/>
          </p:cNvSpPr>
          <p:nvPr>
            <p:ph idx="1"/>
          </p:nvPr>
        </p:nvSpPr>
        <p:spPr/>
        <p:txBody>
          <a:bodyPr/>
          <a:lstStyle/>
          <a:p>
            <a:r>
              <a:rPr lang="en-US" altLang="zh-CN" sz="4400"/>
              <a:t>1</a:t>
            </a:r>
            <a:r>
              <a:rPr lang="zh-CN" altLang="zh-CN" sz="4400"/>
              <a:t>．引号机制</a:t>
            </a:r>
          </a:p>
          <a:p>
            <a:r>
              <a:rPr lang="zh-CN" altLang="zh-CN" sz="4400"/>
              <a:t>在</a:t>
            </a:r>
            <a:r>
              <a:rPr lang="en-US" altLang="zh-CN" sz="4400"/>
              <a:t>shell</a:t>
            </a:r>
            <a:r>
              <a:rPr lang="zh-CN" altLang="zh-CN" sz="4400"/>
              <a:t>中</a:t>
            </a:r>
            <a:r>
              <a:rPr lang="zh-CN" altLang="zh-CN" sz="4400">
                <a:solidFill>
                  <a:srgbClr val="FF0000"/>
                </a:solidFill>
              </a:rPr>
              <a:t>有三种引号</a:t>
            </a:r>
            <a:r>
              <a:rPr lang="zh-CN" altLang="zh-CN" sz="4400"/>
              <a:t>：单引号（'），双引号（</a:t>
            </a:r>
            <a:r>
              <a:rPr lang="en-US" altLang="zh-CN" sz="4400"/>
              <a:t>"</a:t>
            </a:r>
            <a:r>
              <a:rPr lang="zh-CN" altLang="zh-CN" sz="4400"/>
              <a:t>）和反单引号（`）</a:t>
            </a:r>
            <a:r>
              <a:rPr lang="zh-CN" altLang="en-US" sz="4400"/>
              <a:t>。</a:t>
            </a:r>
            <a:endParaRPr lang="en-US" altLang="zh-CN" sz="4400"/>
          </a:p>
          <a:p>
            <a:r>
              <a:rPr lang="zh-CN" altLang="zh-CN" sz="4400"/>
              <a:t>前两者用于变量定义，后者用于命令替换。</a:t>
            </a:r>
            <a:endParaRPr lang="zh-CN" altLang="en-US" sz="44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09CD38A1-9745-DD27-C2C2-0AF0CB3905B5}"/>
              </a:ext>
            </a:extLst>
          </p:cNvPr>
          <p:cNvSpPr>
            <a:spLocks noGrp="1" noChangeArrowheads="1"/>
          </p:cNvSpPr>
          <p:nvPr>
            <p:ph type="title"/>
          </p:nvPr>
        </p:nvSpPr>
        <p:spPr/>
        <p:txBody>
          <a:bodyPr/>
          <a:lstStyle/>
          <a:p>
            <a:r>
              <a:rPr lang="en-US" altLang="zh-CN"/>
              <a:t>1</a:t>
            </a:r>
            <a:r>
              <a:rPr lang="zh-CN" altLang="zh-CN"/>
              <a:t>）单引号</a:t>
            </a:r>
            <a:endParaRPr lang="zh-CN" altLang="en-US"/>
          </a:p>
        </p:txBody>
      </p:sp>
      <p:sp>
        <p:nvSpPr>
          <p:cNvPr id="59395" name="内容占位符 2">
            <a:extLst>
              <a:ext uri="{FF2B5EF4-FFF2-40B4-BE49-F238E27FC236}">
                <a16:creationId xmlns:a16="http://schemas.microsoft.com/office/drawing/2014/main" id="{32449779-261B-2544-9EC1-06DC44FA834F}"/>
              </a:ext>
            </a:extLst>
          </p:cNvPr>
          <p:cNvSpPr>
            <a:spLocks noGrp="1"/>
          </p:cNvSpPr>
          <p:nvPr>
            <p:ph idx="1"/>
          </p:nvPr>
        </p:nvSpPr>
        <p:spPr>
          <a:xfrm>
            <a:off x="0" y="620713"/>
            <a:ext cx="9180513" cy="5761037"/>
          </a:xfrm>
        </p:spPr>
        <p:txBody>
          <a:bodyPr/>
          <a:lstStyle/>
          <a:p>
            <a:pPr>
              <a:defRPr/>
            </a:pPr>
            <a:r>
              <a:rPr lang="zh-CN" altLang="zh-CN" sz="4000" dirty="0"/>
              <a:t>由单引号括起来的字符都作为</a:t>
            </a:r>
            <a:r>
              <a:rPr lang="zh-CN" altLang="zh-CN" sz="4000" dirty="0">
                <a:solidFill>
                  <a:srgbClr val="FF0000"/>
                </a:solidFill>
              </a:rPr>
              <a:t>普通字符</a:t>
            </a:r>
            <a:r>
              <a:rPr lang="zh-CN" altLang="zh-CN" sz="4000" dirty="0"/>
              <a:t>，特殊字符用单引号括起来以后也会失去原有意义。例如：</a:t>
            </a:r>
            <a:r>
              <a:rPr lang="en-US" altLang="zh-CN" sz="4000" dirty="0"/>
              <a:t> </a:t>
            </a:r>
            <a:endParaRPr lang="zh-CN" altLang="zh-CN" sz="4000" dirty="0"/>
          </a:p>
          <a:p>
            <a:pPr>
              <a:defRPr/>
            </a:pPr>
            <a:r>
              <a:rPr lang="en-US" altLang="zh-CN" sz="4000" dirty="0">
                <a:solidFill>
                  <a:srgbClr val="FF0000"/>
                </a:solidFill>
              </a:rPr>
              <a:t>#</a:t>
            </a:r>
            <a:r>
              <a:rPr lang="zh-CN" altLang="zh-CN" sz="4000" dirty="0">
                <a:solidFill>
                  <a:srgbClr val="FF0000"/>
                </a:solidFill>
              </a:rPr>
              <a:t>定义</a:t>
            </a:r>
            <a:r>
              <a:rPr lang="en-US" altLang="zh-CN" sz="4000" dirty="0">
                <a:solidFill>
                  <a:srgbClr val="FF0000"/>
                </a:solidFill>
              </a:rPr>
              <a:t>string</a:t>
            </a:r>
            <a:r>
              <a:rPr lang="zh-CN" altLang="zh-CN" sz="4000" dirty="0">
                <a:solidFill>
                  <a:srgbClr val="FF0000"/>
                </a:solidFill>
              </a:rPr>
              <a:t>变量，其值为</a:t>
            </a:r>
            <a:r>
              <a:rPr lang="en-US" altLang="zh-CN" sz="4000" dirty="0">
                <a:solidFill>
                  <a:srgbClr val="FF0000"/>
                </a:solidFill>
              </a:rPr>
              <a:t>'$PATH‘</a:t>
            </a:r>
          </a:p>
          <a:p>
            <a:pPr marL="0" indent="0">
              <a:buFont typeface="Arial" panose="020B0604020202020204" pitchFamily="34" charset="0"/>
              <a:buNone/>
              <a:defRPr/>
            </a:pPr>
            <a:r>
              <a:rPr lang="en-US" altLang="zh-CN" sz="4000" dirty="0"/>
              <a:t>     $ string='$PATH'</a:t>
            </a:r>
            <a:endParaRPr lang="zh-CN" altLang="zh-CN" sz="4000" dirty="0"/>
          </a:p>
          <a:p>
            <a:pPr>
              <a:defRPr/>
            </a:pPr>
            <a:r>
              <a:rPr lang="en-US" altLang="zh-CN" sz="4000" dirty="0"/>
              <a:t>#</a:t>
            </a:r>
            <a:r>
              <a:rPr lang="zh-CN" altLang="zh-CN" sz="4000" dirty="0">
                <a:solidFill>
                  <a:srgbClr val="FF0000"/>
                </a:solidFill>
              </a:rPr>
              <a:t>显示</a:t>
            </a:r>
            <a:r>
              <a:rPr lang="zh-CN" altLang="zh-CN" sz="4000" dirty="0"/>
              <a:t>变量的值：</a:t>
            </a:r>
            <a:r>
              <a:rPr lang="en-US" altLang="zh-CN" sz="4000" dirty="0"/>
              <a:t>$PATH</a:t>
            </a:r>
          </a:p>
          <a:p>
            <a:pPr marL="0" indent="0">
              <a:buFont typeface="Arial" panose="020B0604020202020204" pitchFamily="34" charset="0"/>
              <a:buNone/>
              <a:defRPr/>
            </a:pPr>
            <a:r>
              <a:rPr lang="en-US" altLang="zh-CN" sz="4000" dirty="0"/>
              <a:t>     $ echo $string</a:t>
            </a:r>
            <a:endParaRPr lang="zh-CN" altLang="en-US" sz="4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33BFCF7B-AB32-768E-A4CD-4A96BB9D112B}"/>
              </a:ext>
            </a:extLst>
          </p:cNvPr>
          <p:cNvSpPr>
            <a:spLocks noGrp="1" noChangeArrowheads="1"/>
          </p:cNvSpPr>
          <p:nvPr>
            <p:ph type="title"/>
          </p:nvPr>
        </p:nvSpPr>
        <p:spPr/>
        <p:txBody>
          <a:bodyPr/>
          <a:lstStyle/>
          <a:p>
            <a:r>
              <a:rPr lang="en-US" altLang="zh-CN"/>
              <a:t>2</a:t>
            </a:r>
            <a:r>
              <a:rPr lang="zh-CN" altLang="zh-CN"/>
              <a:t>）反单引号</a:t>
            </a:r>
            <a:endParaRPr lang="zh-CN" altLang="en-US"/>
          </a:p>
        </p:txBody>
      </p:sp>
      <p:sp>
        <p:nvSpPr>
          <p:cNvPr id="62467" name="内容占位符 2">
            <a:extLst>
              <a:ext uri="{FF2B5EF4-FFF2-40B4-BE49-F238E27FC236}">
                <a16:creationId xmlns:a16="http://schemas.microsoft.com/office/drawing/2014/main" id="{191DD1EC-B16A-4959-E3BD-5771483DF767}"/>
              </a:ext>
            </a:extLst>
          </p:cNvPr>
          <p:cNvSpPr>
            <a:spLocks noGrp="1" noChangeArrowheads="1"/>
          </p:cNvSpPr>
          <p:nvPr>
            <p:ph idx="1"/>
          </p:nvPr>
        </p:nvSpPr>
        <p:spPr>
          <a:xfrm>
            <a:off x="107950" y="620713"/>
            <a:ext cx="9036050" cy="5761037"/>
          </a:xfrm>
        </p:spPr>
        <p:txBody>
          <a:bodyPr/>
          <a:lstStyle/>
          <a:p>
            <a:r>
              <a:rPr lang="zh-CN" altLang="zh-CN" sz="2400"/>
              <a:t>反单引号的作用是</a:t>
            </a:r>
            <a:r>
              <a:rPr lang="zh-CN" altLang="zh-CN" sz="4000">
                <a:solidFill>
                  <a:srgbClr val="FF0000"/>
                </a:solidFill>
              </a:rPr>
              <a:t>命令替换。命令替换也叫命令扩展</a:t>
            </a:r>
            <a:r>
              <a:rPr lang="zh-CN" altLang="zh-CN" sz="2400"/>
              <a:t>。</a:t>
            </a:r>
            <a:endParaRPr lang="en-US" altLang="zh-CN" sz="2400"/>
          </a:p>
          <a:p>
            <a:r>
              <a:rPr lang="zh-CN" altLang="zh-CN" sz="2400"/>
              <a:t>所谓命令替换是指反单引号内的内容将</a:t>
            </a:r>
            <a:r>
              <a:rPr lang="zh-CN" altLang="zh-CN" sz="4000"/>
              <a:t>作为命令首先被执行</a:t>
            </a:r>
            <a:r>
              <a:rPr lang="zh-CN" altLang="zh-CN" sz="2400"/>
              <a:t>，然后再将命令执行的</a:t>
            </a:r>
            <a:r>
              <a:rPr lang="zh-CN" altLang="zh-CN" sz="4000"/>
              <a:t>标准输出替换反单引号及其括号位置的信息</a:t>
            </a:r>
            <a:r>
              <a:rPr lang="zh-CN" altLang="zh-CN" sz="2400"/>
              <a:t>。例如：</a:t>
            </a:r>
            <a:r>
              <a:rPr lang="en-US" altLang="zh-CN" sz="2400"/>
              <a:t> </a:t>
            </a:r>
            <a:endParaRPr lang="zh-CN" altLang="zh-CN" sz="2400"/>
          </a:p>
          <a:p>
            <a:r>
              <a:rPr lang="en-US" altLang="zh-CN" sz="4000"/>
              <a:t>$ x=`pwd` 	#</a:t>
            </a:r>
            <a:r>
              <a:rPr lang="zh-CN" altLang="zh-CN" sz="4000"/>
              <a:t>通过命令替换定义变量</a:t>
            </a:r>
            <a:r>
              <a:rPr lang="en-US" altLang="zh-CN" sz="4000"/>
              <a:t>x</a:t>
            </a:r>
            <a:endParaRPr lang="zh-CN" altLang="zh-CN" sz="4000"/>
          </a:p>
          <a:p>
            <a:r>
              <a:rPr lang="en-US" altLang="zh-CN" sz="2400"/>
              <a:t>$ y=`whoami`	#</a:t>
            </a:r>
            <a:r>
              <a:rPr lang="zh-CN" altLang="zh-CN" sz="2400"/>
              <a:t>通过命令替换定义变量</a:t>
            </a:r>
            <a:r>
              <a:rPr lang="en-US" altLang="zh-CN" sz="2400"/>
              <a:t>y</a:t>
            </a:r>
          </a:p>
          <a:p>
            <a:r>
              <a:rPr lang="en-US" altLang="zh-CN" sz="2400"/>
              <a:t>$ echo $x $y	#</a:t>
            </a:r>
            <a:r>
              <a:rPr lang="zh-CN" altLang="zh-CN" sz="2400"/>
              <a:t>显示变量</a:t>
            </a:r>
            <a:r>
              <a:rPr lang="en-US" altLang="zh-CN" sz="2400"/>
              <a:t>x</a:t>
            </a:r>
            <a:r>
              <a:rPr lang="zh-CN" altLang="zh-CN" sz="2400"/>
              <a:t>和</a:t>
            </a:r>
            <a:r>
              <a:rPr lang="en-US" altLang="zh-CN" sz="2400"/>
              <a:t>y</a:t>
            </a:r>
            <a:r>
              <a:rPr lang="zh-CN" altLang="zh-CN" sz="2400"/>
              <a:t>的</a:t>
            </a:r>
            <a:r>
              <a:rPr lang="zh-CN" altLang="en-US" sz="2400"/>
              <a:t>值</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18BE0830-040E-1A00-5E46-E6F5A1B351EB}"/>
              </a:ext>
            </a:extLst>
          </p:cNvPr>
          <p:cNvSpPr>
            <a:spLocks noGrp="1" noChangeArrowheads="1"/>
          </p:cNvSpPr>
          <p:nvPr>
            <p:ph type="title"/>
          </p:nvPr>
        </p:nvSpPr>
        <p:spPr/>
        <p:txBody>
          <a:bodyPr/>
          <a:lstStyle/>
          <a:p>
            <a:r>
              <a:rPr lang="zh-CN" altLang="zh-CN"/>
              <a:t>命令替换的另一种形式</a:t>
            </a:r>
            <a:endParaRPr lang="zh-CN" altLang="en-US"/>
          </a:p>
        </p:txBody>
      </p:sp>
      <p:sp>
        <p:nvSpPr>
          <p:cNvPr id="63491" name="内容占位符 2">
            <a:extLst>
              <a:ext uri="{FF2B5EF4-FFF2-40B4-BE49-F238E27FC236}">
                <a16:creationId xmlns:a16="http://schemas.microsoft.com/office/drawing/2014/main" id="{C2BFFF6E-CA61-5705-499D-8FD2D18EB86F}"/>
              </a:ext>
            </a:extLst>
          </p:cNvPr>
          <p:cNvSpPr>
            <a:spLocks noGrp="1" noChangeArrowheads="1"/>
          </p:cNvSpPr>
          <p:nvPr>
            <p:ph idx="1"/>
          </p:nvPr>
        </p:nvSpPr>
        <p:spPr/>
        <p:txBody>
          <a:bodyPr/>
          <a:lstStyle/>
          <a:p>
            <a:r>
              <a:rPr lang="en-US" altLang="zh-CN"/>
              <a:t>   </a:t>
            </a:r>
            <a:r>
              <a:rPr lang="en-US" altLang="zh-CN" sz="4000">
                <a:solidFill>
                  <a:srgbClr val="FF0000"/>
                </a:solidFill>
              </a:rPr>
              <a:t>$(cmd)</a:t>
            </a:r>
            <a:endParaRPr lang="zh-CN" altLang="zh-CN" sz="4000">
              <a:solidFill>
                <a:srgbClr val="FF0000"/>
              </a:solidFill>
            </a:endParaRPr>
          </a:p>
          <a:p>
            <a:r>
              <a:rPr lang="en-US" altLang="zh-CN" sz="4000"/>
              <a:t> </a:t>
            </a:r>
            <a:r>
              <a:rPr lang="zh-CN" altLang="zh-CN" sz="4000"/>
              <a:t>作用与</a:t>
            </a:r>
            <a:r>
              <a:rPr lang="en-US" altLang="zh-CN" sz="4000"/>
              <a:t>`cmd`</a:t>
            </a:r>
            <a:r>
              <a:rPr lang="zh-CN" altLang="zh-CN" sz="4000"/>
              <a:t>相同</a:t>
            </a:r>
            <a:r>
              <a:rPr lang="zh-CN" altLang="en-US" sz="4000"/>
              <a:t>，但功能更强</a:t>
            </a:r>
            <a:r>
              <a:rPr lang="zh-CN" altLang="zh-CN" sz="4000"/>
              <a:t>。</a:t>
            </a:r>
            <a:r>
              <a:rPr lang="zh-CN" altLang="zh-CN"/>
              <a:t>例如：</a:t>
            </a:r>
            <a:r>
              <a:rPr lang="en-US" altLang="zh-CN"/>
              <a:t> </a:t>
            </a:r>
            <a:endParaRPr lang="zh-CN" altLang="zh-CN"/>
          </a:p>
          <a:p>
            <a:r>
              <a:rPr lang="en-US" altLang="zh-CN"/>
              <a:t>#</a:t>
            </a:r>
            <a:r>
              <a:rPr lang="zh-CN" altLang="zh-CN" sz="4400"/>
              <a:t>通过命令</a:t>
            </a:r>
            <a:r>
              <a:rPr lang="en-US" altLang="zh-CN" sz="4400"/>
              <a:t>whoami</a:t>
            </a:r>
            <a:r>
              <a:rPr lang="zh-CN" altLang="zh-CN" sz="4400"/>
              <a:t>替换定义变量</a:t>
            </a:r>
            <a:r>
              <a:rPr lang="en-US" altLang="zh-CN" sz="4400"/>
              <a:t>MyVar</a:t>
            </a:r>
            <a:endParaRPr lang="zh-CN" altLang="zh-CN" sz="4400"/>
          </a:p>
          <a:p>
            <a:r>
              <a:rPr lang="en-US" altLang="zh-CN" sz="4400"/>
              <a:t>  $ MyVar=$(whoami)</a:t>
            </a:r>
          </a:p>
          <a:p>
            <a:r>
              <a:rPr lang="en-US" altLang="zh-CN"/>
              <a:t>#</a:t>
            </a:r>
            <a:r>
              <a:rPr lang="zh-CN" altLang="zh-CN"/>
              <a:t>显示变量</a:t>
            </a:r>
            <a:r>
              <a:rPr lang="en-US" altLang="zh-CN"/>
              <a:t>MyVar</a:t>
            </a:r>
            <a:r>
              <a:rPr lang="zh-CN" altLang="zh-CN"/>
              <a:t>和</a:t>
            </a:r>
            <a:r>
              <a:rPr lang="en-US" altLang="zh-CN"/>
              <a:t>$(pwd)</a:t>
            </a:r>
            <a:r>
              <a:rPr lang="zh-CN" altLang="zh-CN"/>
              <a:t>的值</a:t>
            </a:r>
          </a:p>
          <a:p>
            <a:r>
              <a:rPr lang="en-US" altLang="zh-CN"/>
              <a:t> $ echo $MyVar $(pwd)</a:t>
            </a:r>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标题 1">
            <a:extLst>
              <a:ext uri="{FF2B5EF4-FFF2-40B4-BE49-F238E27FC236}">
                <a16:creationId xmlns:a16="http://schemas.microsoft.com/office/drawing/2014/main" id="{67B99CD6-7EE7-9E0B-0D85-72A001858A68}"/>
              </a:ext>
            </a:extLst>
          </p:cNvPr>
          <p:cNvSpPr>
            <a:spLocks noGrp="1" noChangeArrowheads="1"/>
          </p:cNvSpPr>
          <p:nvPr>
            <p:ph type="title"/>
          </p:nvPr>
        </p:nvSpPr>
        <p:spPr/>
        <p:txBody>
          <a:bodyPr/>
          <a:lstStyle/>
          <a:p>
            <a:r>
              <a:rPr lang="en-US" altLang="zh-CN"/>
              <a:t>3</a:t>
            </a:r>
            <a:r>
              <a:rPr lang="zh-CN" altLang="zh-CN"/>
              <a:t>）双引号</a:t>
            </a:r>
            <a:endParaRPr lang="zh-CN" altLang="en-US"/>
          </a:p>
        </p:txBody>
      </p:sp>
      <p:sp>
        <p:nvSpPr>
          <p:cNvPr id="64515" name="内容占位符 2">
            <a:extLst>
              <a:ext uri="{FF2B5EF4-FFF2-40B4-BE49-F238E27FC236}">
                <a16:creationId xmlns:a16="http://schemas.microsoft.com/office/drawing/2014/main" id="{99227243-C9FB-9B3F-E2D5-1A75D8EB3C88}"/>
              </a:ext>
            </a:extLst>
          </p:cNvPr>
          <p:cNvSpPr>
            <a:spLocks noGrp="1" noChangeArrowheads="1"/>
          </p:cNvSpPr>
          <p:nvPr>
            <p:ph idx="1"/>
          </p:nvPr>
        </p:nvSpPr>
        <p:spPr>
          <a:xfrm>
            <a:off x="107950" y="620713"/>
            <a:ext cx="9001125" cy="5761037"/>
          </a:xfrm>
        </p:spPr>
        <p:txBody>
          <a:bodyPr/>
          <a:lstStyle/>
          <a:p>
            <a:r>
              <a:rPr lang="zh-CN" altLang="zh-CN" sz="3600">
                <a:solidFill>
                  <a:srgbClr val="FF0000"/>
                </a:solidFill>
              </a:rPr>
              <a:t>双引号</a:t>
            </a:r>
            <a:r>
              <a:rPr lang="zh-CN" altLang="zh-CN" sz="3600"/>
              <a:t>，</a:t>
            </a:r>
            <a:r>
              <a:rPr lang="zh-CN" altLang="en-US" sz="3600"/>
              <a:t>也</a:t>
            </a:r>
            <a:r>
              <a:rPr lang="zh-CN" altLang="zh-CN" sz="3600"/>
              <a:t>用来定义变量，</a:t>
            </a:r>
            <a:r>
              <a:rPr lang="zh-CN" altLang="zh-CN" sz="3600">
                <a:solidFill>
                  <a:srgbClr val="FF0000"/>
                </a:solidFill>
              </a:rPr>
              <a:t>在双引号内可进行变量替换和命令替换</a:t>
            </a:r>
            <a:r>
              <a:rPr lang="zh-CN" altLang="zh-CN" sz="3600"/>
              <a:t>。所谓变量替换，是指在双引号中的对变量的引用将被替换成变量的值，变量替换也叫变量扩展。</a:t>
            </a:r>
            <a:endParaRPr lang="en-US" altLang="zh-CN" sz="3600"/>
          </a:p>
          <a:p>
            <a:r>
              <a:rPr lang="zh-CN" altLang="zh-CN" sz="3600">
                <a:solidFill>
                  <a:srgbClr val="FF0000"/>
                </a:solidFill>
              </a:rPr>
              <a:t>双引号中的特殊字符仍具有特殊意义</a:t>
            </a:r>
            <a:r>
              <a:rPr lang="zh-CN" altLang="zh-CN" sz="3600"/>
              <a:t>。若在双引号内使用特殊字符且又把它作为特殊字符本身来看待，则必须使用</a:t>
            </a:r>
            <a:r>
              <a:rPr lang="zh-CN" altLang="zh-CN" sz="3600">
                <a:solidFill>
                  <a:srgbClr val="FF0000"/>
                </a:solidFill>
              </a:rPr>
              <a:t>转义字符</a:t>
            </a:r>
            <a:r>
              <a:rPr lang="zh-CN" altLang="zh-CN" sz="3600"/>
              <a:t>，比如，双引号中的双引号必须表示为</a:t>
            </a:r>
            <a:r>
              <a:rPr lang="en-US" altLang="zh-CN" sz="3600"/>
              <a:t>\"</a:t>
            </a:r>
            <a:r>
              <a:rPr lang="zh-CN" altLang="zh-CN" sz="3600"/>
              <a:t>，</a:t>
            </a:r>
            <a:r>
              <a:rPr lang="en-US" altLang="zh-CN" sz="3600"/>
              <a:t>\</a:t>
            </a:r>
            <a:r>
              <a:rPr lang="zh-CN" altLang="zh-CN" sz="3600"/>
              <a:t>必须表示为</a:t>
            </a:r>
            <a:r>
              <a:rPr lang="en-US" altLang="zh-CN" sz="3600"/>
              <a:t>\\</a:t>
            </a:r>
            <a:r>
              <a:rPr lang="zh-CN" altLang="zh-CN" sz="3600"/>
              <a:t>。</a:t>
            </a:r>
            <a:endParaRPr lang="zh-CN" altLang="en-US" sz="36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标题 1">
            <a:extLst>
              <a:ext uri="{FF2B5EF4-FFF2-40B4-BE49-F238E27FC236}">
                <a16:creationId xmlns:a16="http://schemas.microsoft.com/office/drawing/2014/main" id="{7CC576B8-02EC-5855-3389-477C2751AE5A}"/>
              </a:ext>
            </a:extLst>
          </p:cNvPr>
          <p:cNvSpPr>
            <a:spLocks noGrp="1" noChangeArrowheads="1"/>
          </p:cNvSpPr>
          <p:nvPr>
            <p:ph type="title"/>
          </p:nvPr>
        </p:nvSpPr>
        <p:spPr/>
        <p:txBody>
          <a:bodyPr/>
          <a:lstStyle/>
          <a:p>
            <a:r>
              <a:rPr lang="zh-CN" altLang="zh-CN"/>
              <a:t>双引号使用示例</a:t>
            </a:r>
            <a:endParaRPr lang="zh-CN" altLang="en-US"/>
          </a:p>
        </p:txBody>
      </p:sp>
      <p:sp>
        <p:nvSpPr>
          <p:cNvPr id="63491" name="内容占位符 2">
            <a:extLst>
              <a:ext uri="{FF2B5EF4-FFF2-40B4-BE49-F238E27FC236}">
                <a16:creationId xmlns:a16="http://schemas.microsoft.com/office/drawing/2014/main" id="{3C0F17CC-4005-D457-21F7-A980A47CDC68}"/>
              </a:ext>
            </a:extLst>
          </p:cNvPr>
          <p:cNvSpPr>
            <a:spLocks noGrp="1"/>
          </p:cNvSpPr>
          <p:nvPr>
            <p:ph idx="1"/>
          </p:nvPr>
        </p:nvSpPr>
        <p:spPr>
          <a:xfrm>
            <a:off x="0" y="692150"/>
            <a:ext cx="9180513" cy="5400675"/>
          </a:xfrm>
        </p:spPr>
        <p:txBody>
          <a:bodyPr/>
          <a:lstStyle/>
          <a:p>
            <a:pPr>
              <a:defRPr/>
            </a:pPr>
            <a:r>
              <a:rPr lang="en-US" altLang="zh-CN" sz="4000" dirty="0"/>
              <a:t>$ </a:t>
            </a:r>
            <a:r>
              <a:rPr lang="en-US" altLang="zh-CN" sz="4000" dirty="0" err="1"/>
              <a:t>myname</a:t>
            </a:r>
            <a:r>
              <a:rPr lang="en-US" altLang="zh-CN" sz="4000" dirty="0"/>
              <a:t>="`</a:t>
            </a:r>
            <a:r>
              <a:rPr lang="en-US" altLang="zh-CN" sz="4000" dirty="0" err="1"/>
              <a:t>whoami</a:t>
            </a:r>
            <a:r>
              <a:rPr lang="en-US" altLang="zh-CN" sz="4000" dirty="0"/>
              <a:t>`"  #</a:t>
            </a:r>
            <a:r>
              <a:rPr lang="zh-CN" altLang="zh-CN" sz="4000" dirty="0"/>
              <a:t>定义</a:t>
            </a:r>
            <a:r>
              <a:rPr lang="en-US" altLang="zh-CN" sz="4000" dirty="0" err="1"/>
              <a:t>myname</a:t>
            </a:r>
            <a:endParaRPr lang="zh-CN" altLang="zh-CN" sz="4000" dirty="0"/>
          </a:p>
          <a:p>
            <a:pPr marL="0" indent="0">
              <a:buFont typeface="Arial" panose="020B0604020202020204" pitchFamily="34" charset="0"/>
              <a:buNone/>
              <a:defRPr/>
            </a:pPr>
            <a:r>
              <a:rPr lang="en-US" altLang="zh-CN" sz="2400" dirty="0"/>
              <a:t>           </a:t>
            </a:r>
            <a:r>
              <a:rPr lang="en-US" altLang="zh-CN" sz="4000" dirty="0"/>
              <a:t>##</a:t>
            </a:r>
            <a:r>
              <a:rPr lang="zh-CN" altLang="zh-CN" sz="4000" dirty="0"/>
              <a:t>定义变量</a:t>
            </a:r>
            <a:r>
              <a:rPr lang="en-US" altLang="zh-CN" sz="4000" dirty="0"/>
              <a:t>myself</a:t>
            </a:r>
            <a:endParaRPr lang="en-US" altLang="zh-CN" sz="2400" dirty="0"/>
          </a:p>
          <a:p>
            <a:pPr>
              <a:defRPr/>
            </a:pPr>
            <a:r>
              <a:rPr lang="en-US" altLang="zh-CN" sz="2400" dirty="0"/>
              <a:t>$ myself="I am a student, my </a:t>
            </a:r>
            <a:r>
              <a:rPr lang="en-US" altLang="zh-CN" sz="2400" dirty="0" err="1"/>
              <a:t>uname</a:t>
            </a:r>
            <a:r>
              <a:rPr lang="en-US" altLang="zh-CN" sz="2400" dirty="0"/>
              <a:t> is $</a:t>
            </a:r>
            <a:r>
              <a:rPr lang="en-US" altLang="zh-CN" sz="2400" dirty="0" err="1"/>
              <a:t>myname</a:t>
            </a:r>
            <a:r>
              <a:rPr lang="en-US" altLang="zh-CN" sz="2400" dirty="0"/>
              <a:t> and my work </a:t>
            </a:r>
            <a:r>
              <a:rPr lang="en-US" altLang="zh-CN" sz="2400" dirty="0" err="1"/>
              <a:t>dir</a:t>
            </a:r>
            <a:r>
              <a:rPr lang="en-US" altLang="zh-CN" sz="2400" dirty="0"/>
              <a:t> is `</a:t>
            </a:r>
            <a:r>
              <a:rPr lang="en-US" altLang="zh-CN" sz="2400" dirty="0" err="1"/>
              <a:t>pwd</a:t>
            </a:r>
            <a:r>
              <a:rPr lang="en-US" altLang="zh-CN" sz="2400" dirty="0"/>
              <a:t>`."</a:t>
            </a:r>
            <a:endParaRPr lang="zh-CN" altLang="zh-CN" sz="2400" dirty="0"/>
          </a:p>
          <a:p>
            <a:pPr marL="0" indent="0">
              <a:buFont typeface="Arial" panose="020B0604020202020204" pitchFamily="34" charset="0"/>
              <a:buNone/>
              <a:defRPr/>
            </a:pPr>
            <a:r>
              <a:rPr lang="en-US" altLang="zh-CN" sz="2400" dirty="0"/>
              <a:t>         </a:t>
            </a:r>
            <a:r>
              <a:rPr lang="en-US" altLang="zh-CN" sz="4000" dirty="0"/>
              <a:t>##</a:t>
            </a:r>
            <a:r>
              <a:rPr lang="zh-CN" altLang="zh-CN" sz="4000" dirty="0"/>
              <a:t>定义变量</a:t>
            </a:r>
            <a:r>
              <a:rPr lang="en-US" altLang="zh-CN" sz="4000" dirty="0"/>
              <a:t>myself1</a:t>
            </a:r>
          </a:p>
          <a:p>
            <a:pPr>
              <a:defRPr/>
            </a:pPr>
            <a:r>
              <a:rPr lang="en-US" altLang="zh-CN" sz="2400" dirty="0"/>
              <a:t>$ myself1="I am a student my </a:t>
            </a:r>
            <a:r>
              <a:rPr lang="en-US" altLang="zh-CN" sz="2400" dirty="0" err="1"/>
              <a:t>uname</a:t>
            </a:r>
            <a:r>
              <a:rPr lang="en-US" altLang="zh-CN" sz="2400" dirty="0"/>
              <a:t> is \"$</a:t>
            </a:r>
            <a:r>
              <a:rPr lang="en-US" altLang="zh-CN" sz="2400" dirty="0" err="1"/>
              <a:t>myname</a:t>
            </a:r>
            <a:r>
              <a:rPr lang="en-US" altLang="zh-CN" sz="2400" dirty="0"/>
              <a:t>\" and my work </a:t>
            </a:r>
            <a:r>
              <a:rPr lang="en-US" altLang="zh-CN" sz="2400" dirty="0" err="1"/>
              <a:t>dir</a:t>
            </a:r>
            <a:r>
              <a:rPr lang="en-US" altLang="zh-CN" sz="2400" dirty="0"/>
              <a:t> is \"`</a:t>
            </a:r>
            <a:r>
              <a:rPr lang="en-US" altLang="zh-CN" sz="2400" dirty="0" err="1"/>
              <a:t>pwd</a:t>
            </a:r>
            <a:r>
              <a:rPr lang="en-US" altLang="zh-CN" sz="2400" dirty="0"/>
              <a:t>`\""</a:t>
            </a:r>
            <a:endParaRPr lang="zh-CN" altLang="zh-CN" sz="2400" dirty="0"/>
          </a:p>
          <a:p>
            <a:pPr>
              <a:defRPr/>
            </a:pPr>
            <a:r>
              <a:rPr lang="en-US" altLang="zh-CN" sz="2400" dirty="0"/>
              <a:t>$ echo $myself $ echo $myself1</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A71DE4ED-8210-370C-A68B-5690C7A25C2C}"/>
              </a:ext>
            </a:extLst>
          </p:cNvPr>
          <p:cNvSpPr>
            <a:spLocks noGrp="1" noChangeArrowheads="1"/>
          </p:cNvSpPr>
          <p:nvPr>
            <p:ph type="title"/>
          </p:nvPr>
        </p:nvSpPr>
        <p:spPr/>
        <p:txBody>
          <a:bodyPr/>
          <a:lstStyle/>
          <a:p>
            <a:r>
              <a:rPr lang="en-US" altLang="zh-CN"/>
              <a:t>2</a:t>
            </a:r>
            <a:r>
              <a:rPr lang="zh-CN" altLang="zh-CN"/>
              <a:t>．参数替换</a:t>
            </a:r>
            <a:endParaRPr lang="zh-CN" altLang="en-US"/>
          </a:p>
        </p:txBody>
      </p:sp>
      <p:sp>
        <p:nvSpPr>
          <p:cNvPr id="66563" name="内容占位符 2">
            <a:extLst>
              <a:ext uri="{FF2B5EF4-FFF2-40B4-BE49-F238E27FC236}">
                <a16:creationId xmlns:a16="http://schemas.microsoft.com/office/drawing/2014/main" id="{66692AEE-78E3-4379-0B19-37115DBEDD18}"/>
              </a:ext>
            </a:extLst>
          </p:cNvPr>
          <p:cNvSpPr>
            <a:spLocks noGrp="1" noChangeArrowheads="1"/>
          </p:cNvSpPr>
          <p:nvPr>
            <p:ph idx="1"/>
          </p:nvPr>
        </p:nvSpPr>
        <p:spPr/>
        <p:txBody>
          <a:bodyPr/>
          <a:lstStyle/>
          <a:p>
            <a:r>
              <a:rPr lang="zh-CN" altLang="zh-CN" sz="4400" u="sng"/>
              <a:t>参数替换</a:t>
            </a:r>
            <a:r>
              <a:rPr lang="zh-CN" altLang="zh-CN" sz="4400"/>
              <a:t>主要是</a:t>
            </a:r>
            <a:r>
              <a:rPr lang="zh-CN" altLang="zh-CN" sz="4400">
                <a:solidFill>
                  <a:srgbClr val="FF0000"/>
                </a:solidFill>
              </a:rPr>
              <a:t>指命令行参数中的变量和命令</a:t>
            </a:r>
            <a:r>
              <a:rPr lang="zh-CN" altLang="zh-CN" sz="4400"/>
              <a:t>替换。</a:t>
            </a:r>
            <a:endParaRPr lang="en-US" altLang="zh-CN" sz="4400"/>
          </a:p>
          <a:p>
            <a:r>
              <a:rPr lang="zh-CN" altLang="zh-CN" sz="4400"/>
              <a:t>在执行命令时，命令的命令行参数既可以是常量也可以是变量，也可以包含命令替换。</a:t>
            </a:r>
            <a:endParaRPr lang="zh-CN" altLang="en-US" sz="44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82FCA762-BB9C-3FEF-2839-DD2F50C56F0E}"/>
              </a:ext>
            </a:extLst>
          </p:cNvPr>
          <p:cNvSpPr>
            <a:spLocks noGrp="1" noChangeArrowheads="1"/>
          </p:cNvSpPr>
          <p:nvPr>
            <p:ph type="title"/>
          </p:nvPr>
        </p:nvSpPr>
        <p:spPr/>
        <p:txBody>
          <a:bodyPr/>
          <a:lstStyle/>
          <a:p>
            <a:r>
              <a:rPr lang="en-US" altLang="zh-CN"/>
              <a:t>3.1.10  shell</a:t>
            </a:r>
            <a:r>
              <a:rPr lang="zh-CN" altLang="zh-CN"/>
              <a:t>命令的执行</a:t>
            </a:r>
            <a:endParaRPr lang="zh-CN" altLang="en-US"/>
          </a:p>
        </p:txBody>
      </p:sp>
      <p:sp>
        <p:nvSpPr>
          <p:cNvPr id="67587" name="内容占位符 2">
            <a:extLst>
              <a:ext uri="{FF2B5EF4-FFF2-40B4-BE49-F238E27FC236}">
                <a16:creationId xmlns:a16="http://schemas.microsoft.com/office/drawing/2014/main" id="{4EA37A7C-5B25-346A-5AEA-09CA9DC61AB1}"/>
              </a:ext>
            </a:extLst>
          </p:cNvPr>
          <p:cNvSpPr>
            <a:spLocks noGrp="1" noChangeArrowheads="1"/>
          </p:cNvSpPr>
          <p:nvPr>
            <p:ph idx="1"/>
          </p:nvPr>
        </p:nvSpPr>
        <p:spPr>
          <a:xfrm>
            <a:off x="-36513" y="620713"/>
            <a:ext cx="9072563" cy="5761037"/>
          </a:xfrm>
        </p:spPr>
        <p:txBody>
          <a:bodyPr/>
          <a:lstStyle/>
          <a:p>
            <a:pPr>
              <a:spcBef>
                <a:spcPct val="0"/>
              </a:spcBef>
              <a:spcAft>
                <a:spcPct val="0"/>
              </a:spcAft>
            </a:pPr>
            <a:r>
              <a:rPr lang="zh-CN" altLang="en-US" sz="3600"/>
              <a:t>类型：</a:t>
            </a:r>
            <a:r>
              <a:rPr lang="zh-CN" altLang="zh-CN" sz="4400">
                <a:solidFill>
                  <a:srgbClr val="FF0000"/>
                </a:solidFill>
              </a:rPr>
              <a:t>内部命令</a:t>
            </a:r>
            <a:r>
              <a:rPr lang="zh-CN" altLang="en-US" sz="4400">
                <a:solidFill>
                  <a:srgbClr val="FF0000"/>
                </a:solidFill>
              </a:rPr>
              <a:t>、外部</a:t>
            </a:r>
            <a:r>
              <a:rPr lang="zh-CN" altLang="zh-CN" sz="4400">
                <a:solidFill>
                  <a:srgbClr val="FF0000"/>
                </a:solidFill>
              </a:rPr>
              <a:t>命令</a:t>
            </a:r>
            <a:r>
              <a:rPr lang="zh-CN" altLang="en-US" sz="4400">
                <a:solidFill>
                  <a:srgbClr val="FF0000"/>
                </a:solidFill>
              </a:rPr>
              <a:t>和别名</a:t>
            </a:r>
            <a:endParaRPr lang="zh-CN" altLang="zh-CN" sz="4400">
              <a:solidFill>
                <a:srgbClr val="FF0000"/>
              </a:solidFill>
            </a:endParaRPr>
          </a:p>
          <a:p>
            <a:pPr>
              <a:spcBef>
                <a:spcPct val="0"/>
              </a:spcBef>
              <a:spcAft>
                <a:spcPct val="0"/>
              </a:spcAft>
            </a:pPr>
            <a:r>
              <a:rPr lang="zh-CN" altLang="zh-CN" sz="3600"/>
              <a:t>内部命令</a:t>
            </a:r>
            <a:r>
              <a:rPr lang="zh-CN" altLang="en-US" sz="3600"/>
              <a:t>：</a:t>
            </a:r>
            <a:r>
              <a:rPr lang="en-US" altLang="zh-CN" sz="3600" u="sng"/>
              <a:t>shell</a:t>
            </a:r>
            <a:r>
              <a:rPr lang="zh-CN" altLang="zh-CN" sz="3600" u="sng"/>
              <a:t>拥有自己的内部命令</a:t>
            </a:r>
            <a:r>
              <a:rPr lang="zh-CN" altLang="zh-CN" sz="3600"/>
              <a:t>，也能被系统中其他应用程序所调用</a:t>
            </a:r>
            <a:r>
              <a:rPr lang="zh-CN" altLang="en-US" sz="3600"/>
              <a:t>。比如</a:t>
            </a:r>
            <a:r>
              <a:rPr lang="en-US" altLang="zh-CN" sz="3600"/>
              <a:t>cd</a:t>
            </a:r>
            <a:r>
              <a:rPr lang="zh-CN" altLang="zh-CN" sz="3600"/>
              <a:t>；</a:t>
            </a:r>
            <a:endParaRPr lang="en-US" altLang="zh-CN" sz="3600"/>
          </a:p>
          <a:p>
            <a:pPr>
              <a:spcBef>
                <a:spcPct val="0"/>
              </a:spcBef>
              <a:spcAft>
                <a:spcPct val="0"/>
              </a:spcAft>
            </a:pPr>
            <a:r>
              <a:rPr lang="zh-CN" altLang="en-US" sz="3600"/>
              <a:t>外部</a:t>
            </a:r>
            <a:r>
              <a:rPr lang="zh-CN" altLang="zh-CN" sz="3600"/>
              <a:t>命令</a:t>
            </a:r>
            <a:r>
              <a:rPr lang="zh-CN" altLang="en-US" sz="3600"/>
              <a:t>：</a:t>
            </a:r>
            <a:r>
              <a:rPr lang="zh-CN" altLang="zh-CN" sz="3600" u="sng"/>
              <a:t>是存在于文件系统中某个目录下</a:t>
            </a:r>
            <a:r>
              <a:rPr lang="zh-CN" altLang="zh-CN" sz="3600"/>
              <a:t>的</a:t>
            </a:r>
            <a:r>
              <a:rPr lang="zh-CN" altLang="en-US" sz="3600"/>
              <a:t>（系统或用户）</a:t>
            </a:r>
            <a:r>
              <a:rPr lang="zh-CN" altLang="zh-CN" sz="3600"/>
              <a:t>程序；</a:t>
            </a:r>
            <a:endParaRPr lang="en-US" altLang="zh-CN" sz="3600"/>
          </a:p>
          <a:p>
            <a:pPr>
              <a:spcBef>
                <a:spcPct val="0"/>
              </a:spcBef>
              <a:spcAft>
                <a:spcPct val="0"/>
              </a:spcAft>
            </a:pPr>
            <a:r>
              <a:rPr lang="zh-CN" altLang="en-US" sz="3600" u="sng"/>
              <a:t>别名：</a:t>
            </a:r>
            <a:r>
              <a:rPr lang="zh-CN" altLang="en-US" sz="3600"/>
              <a:t>是另外一类可执行的“命令”，可用</a:t>
            </a:r>
            <a:r>
              <a:rPr lang="en-US" altLang="zh-CN" sz="3600"/>
              <a:t>alias</a:t>
            </a:r>
            <a:r>
              <a:rPr lang="zh-CN" altLang="en-US" sz="3600"/>
              <a:t>查询。</a:t>
            </a:r>
            <a:endParaRPr lang="en-US" altLang="zh-CN" sz="3600"/>
          </a:p>
          <a:p>
            <a:pPr>
              <a:spcBef>
                <a:spcPct val="0"/>
              </a:spcBef>
              <a:spcAft>
                <a:spcPct val="0"/>
              </a:spcAft>
            </a:pPr>
            <a:r>
              <a:rPr lang="zh-CN" altLang="zh-CN" sz="3600"/>
              <a:t>也还有一些命令，</a:t>
            </a:r>
            <a:r>
              <a:rPr lang="zh-CN" altLang="en-US" sz="3600"/>
              <a:t>比</a:t>
            </a:r>
            <a:r>
              <a:rPr lang="zh-CN" altLang="zh-CN" sz="3600"/>
              <a:t>如</a:t>
            </a:r>
            <a:r>
              <a:rPr lang="en-US" altLang="zh-CN" sz="3600"/>
              <a:t>echo</a:t>
            </a:r>
            <a:r>
              <a:rPr lang="zh-CN" altLang="zh-CN" sz="3600"/>
              <a:t>，既是内部命令</a:t>
            </a:r>
            <a:r>
              <a:rPr lang="zh-CN" altLang="en-US" sz="3600"/>
              <a:t>，</a:t>
            </a:r>
            <a:r>
              <a:rPr lang="zh-CN" altLang="zh-CN" sz="3600"/>
              <a:t>也是外部命令。</a:t>
            </a:r>
            <a:endParaRPr lang="en-US" altLang="zh-CN" sz="36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FA3A6E18-A062-A7FA-449E-DBD8880254DA}"/>
              </a:ext>
            </a:extLst>
          </p:cNvPr>
          <p:cNvSpPr>
            <a:spLocks noGrp="1" noChangeArrowheads="1"/>
          </p:cNvSpPr>
          <p:nvPr>
            <p:ph type="title"/>
          </p:nvPr>
        </p:nvSpPr>
        <p:spPr/>
        <p:txBody>
          <a:bodyPr/>
          <a:lstStyle/>
          <a:p>
            <a:r>
              <a:rPr lang="en-US" altLang="zh-CN"/>
              <a:t>1</a:t>
            </a:r>
            <a:r>
              <a:rPr lang="zh-CN" altLang="zh-CN"/>
              <a:t>．命令搜索</a:t>
            </a:r>
          </a:p>
        </p:txBody>
      </p:sp>
      <p:sp>
        <p:nvSpPr>
          <p:cNvPr id="68611" name="内容占位符 2">
            <a:extLst>
              <a:ext uri="{FF2B5EF4-FFF2-40B4-BE49-F238E27FC236}">
                <a16:creationId xmlns:a16="http://schemas.microsoft.com/office/drawing/2014/main" id="{C32DF697-AB61-2965-D33F-71E23433BA73}"/>
              </a:ext>
            </a:extLst>
          </p:cNvPr>
          <p:cNvSpPr>
            <a:spLocks noGrp="1" noChangeArrowheads="1"/>
          </p:cNvSpPr>
          <p:nvPr>
            <p:ph idx="1"/>
          </p:nvPr>
        </p:nvSpPr>
        <p:spPr>
          <a:xfrm>
            <a:off x="34925" y="620713"/>
            <a:ext cx="9217025" cy="5688012"/>
          </a:xfrm>
        </p:spPr>
        <p:txBody>
          <a:bodyPr/>
          <a:lstStyle/>
          <a:p>
            <a:r>
              <a:rPr lang="zh-CN" altLang="zh-CN" sz="3600"/>
              <a:t>默认情况下，当用户从键盘输入一个命令时，</a:t>
            </a:r>
            <a:r>
              <a:rPr lang="en-US" altLang="zh-CN" sz="4400">
                <a:solidFill>
                  <a:srgbClr val="FF0000"/>
                </a:solidFill>
              </a:rPr>
              <a:t>shell</a:t>
            </a:r>
            <a:r>
              <a:rPr lang="zh-CN" altLang="zh-CN" sz="4400">
                <a:solidFill>
                  <a:srgbClr val="FF0000"/>
                </a:solidFill>
              </a:rPr>
              <a:t>首先检查它是否带有路径</a:t>
            </a:r>
            <a:r>
              <a:rPr lang="zh-CN" altLang="zh-CN" sz="3600"/>
              <a:t>。若有路径则按路径搜索它，若找到则执行之，否则报错。</a:t>
            </a:r>
            <a:endParaRPr lang="en-US" altLang="zh-CN" sz="3600"/>
          </a:p>
          <a:p>
            <a:r>
              <a:rPr lang="zh-CN" altLang="zh-CN" sz="4400">
                <a:solidFill>
                  <a:srgbClr val="FF0000"/>
                </a:solidFill>
              </a:rPr>
              <a:t>若没有带路径</a:t>
            </a:r>
            <a:r>
              <a:rPr lang="zh-CN" altLang="zh-CN" sz="3600"/>
              <a:t>，则首先检查它</a:t>
            </a:r>
            <a:r>
              <a:rPr lang="zh-CN" altLang="zh-CN" sz="4400">
                <a:solidFill>
                  <a:srgbClr val="FF0000"/>
                </a:solidFill>
              </a:rPr>
              <a:t>是否为内部命令</a:t>
            </a:r>
            <a:r>
              <a:rPr lang="zh-CN" altLang="zh-CN" sz="3600"/>
              <a:t>，若是则执行之；否则，</a:t>
            </a:r>
            <a:r>
              <a:rPr lang="zh-CN" altLang="zh-CN" sz="4400">
                <a:solidFill>
                  <a:srgbClr val="FF0000"/>
                </a:solidFill>
              </a:rPr>
              <a:t>再</a:t>
            </a:r>
            <a:r>
              <a:rPr lang="zh-CN" altLang="en-US" sz="4400">
                <a:solidFill>
                  <a:srgbClr val="FF0000"/>
                </a:solidFill>
              </a:rPr>
              <a:t>沿</a:t>
            </a:r>
            <a:r>
              <a:rPr lang="en-US" altLang="zh-CN" sz="4400">
                <a:solidFill>
                  <a:srgbClr val="FF0000"/>
                </a:solidFill>
              </a:rPr>
              <a:t>$PATH</a:t>
            </a:r>
            <a:r>
              <a:rPr lang="zh-CN" altLang="en-US" sz="4400"/>
              <a:t>指定的路径</a:t>
            </a:r>
            <a:r>
              <a:rPr lang="zh-CN" altLang="zh-CN" sz="4400"/>
              <a:t>检查</a:t>
            </a:r>
            <a:r>
              <a:rPr lang="zh-CN" altLang="zh-CN" sz="3600"/>
              <a:t>是否是一个外部命令。如果能够成功找到，则执行之；否则报错。</a:t>
            </a:r>
            <a:endParaRPr lang="zh-CN" altLang="en-US" sz="36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2521B69F-2D18-0C46-AADF-DFD41FBF21EF}"/>
              </a:ext>
            </a:extLst>
          </p:cNvPr>
          <p:cNvSpPr>
            <a:spLocks noGrp="1" noChangeArrowheads="1"/>
          </p:cNvSpPr>
          <p:nvPr>
            <p:ph type="title"/>
          </p:nvPr>
        </p:nvSpPr>
        <p:spPr/>
        <p:txBody>
          <a:bodyPr/>
          <a:lstStyle/>
          <a:p>
            <a:r>
              <a:rPr lang="en-US" altLang="zh-CN"/>
              <a:t>2</a:t>
            </a:r>
            <a:r>
              <a:rPr lang="zh-CN" altLang="zh-CN"/>
              <a:t>．标准流与程序</a:t>
            </a:r>
            <a:r>
              <a:rPr lang="en-US" altLang="zh-CN"/>
              <a:t>I/O</a:t>
            </a:r>
            <a:endParaRPr lang="zh-CN" altLang="en-US"/>
          </a:p>
        </p:txBody>
      </p:sp>
      <p:sp>
        <p:nvSpPr>
          <p:cNvPr id="69635" name="内容占位符 2">
            <a:extLst>
              <a:ext uri="{FF2B5EF4-FFF2-40B4-BE49-F238E27FC236}">
                <a16:creationId xmlns:a16="http://schemas.microsoft.com/office/drawing/2014/main" id="{E9863D78-ACDB-3964-F47F-76F2D334C599}"/>
              </a:ext>
            </a:extLst>
          </p:cNvPr>
          <p:cNvSpPr>
            <a:spLocks noGrp="1" noChangeArrowheads="1"/>
          </p:cNvSpPr>
          <p:nvPr>
            <p:ph idx="1"/>
          </p:nvPr>
        </p:nvSpPr>
        <p:spPr>
          <a:xfrm>
            <a:off x="34925" y="620713"/>
            <a:ext cx="9001125" cy="5761037"/>
          </a:xfrm>
        </p:spPr>
        <p:txBody>
          <a:bodyPr/>
          <a:lstStyle/>
          <a:p>
            <a:pPr>
              <a:spcBef>
                <a:spcPct val="0"/>
              </a:spcBef>
              <a:spcAft>
                <a:spcPct val="0"/>
              </a:spcAft>
            </a:pPr>
            <a:r>
              <a:rPr lang="zh-CN" altLang="zh-CN" sz="4000">
                <a:solidFill>
                  <a:srgbClr val="FF0000"/>
                </a:solidFill>
              </a:rPr>
              <a:t>当一个命令执行时</a:t>
            </a:r>
            <a:r>
              <a:rPr lang="zh-CN" altLang="zh-CN" sz="2400"/>
              <a:t>，系统首先为</a:t>
            </a:r>
            <a:r>
              <a:rPr lang="zh-CN" altLang="zh-CN" sz="4000"/>
              <a:t>其打开</a:t>
            </a:r>
            <a:r>
              <a:rPr lang="zh-CN" altLang="zh-CN" sz="4000">
                <a:solidFill>
                  <a:srgbClr val="FF0000"/>
                </a:solidFill>
              </a:rPr>
              <a:t>三个标准流</a:t>
            </a:r>
            <a:r>
              <a:rPr lang="zh-CN" altLang="zh-CN" sz="2400"/>
              <a:t>。程序执行时，默认从</a:t>
            </a:r>
            <a:r>
              <a:rPr lang="zh-CN" altLang="zh-CN" sz="4000">
                <a:solidFill>
                  <a:srgbClr val="FF0000"/>
                </a:solidFill>
              </a:rPr>
              <a:t>标准输入读、向标准输出写、出错时将错误信息写向标准错误</a:t>
            </a:r>
            <a:r>
              <a:rPr lang="zh-CN" altLang="zh-CN" sz="2400">
                <a:solidFill>
                  <a:srgbClr val="FF0000"/>
                </a:solidFill>
              </a:rPr>
              <a:t>。</a:t>
            </a:r>
            <a:r>
              <a:rPr lang="zh-CN" altLang="en-US" sz="2400"/>
              <a:t>可以使用</a:t>
            </a:r>
            <a:r>
              <a:rPr lang="en-US" altLang="zh-CN" sz="2400"/>
              <a:t>I/O</a:t>
            </a:r>
            <a:r>
              <a:rPr lang="zh-CN" altLang="en-US" sz="2400"/>
              <a:t>重定向将</a:t>
            </a:r>
            <a:r>
              <a:rPr lang="en-US" altLang="zh-CN" sz="2400"/>
              <a:t>3</a:t>
            </a:r>
            <a:r>
              <a:rPr lang="zh-CN" altLang="en-US" sz="2400"/>
              <a:t>个标准流重定向到文件 。</a:t>
            </a:r>
            <a:endParaRPr lang="en-US" altLang="zh-CN" sz="2400"/>
          </a:p>
          <a:p>
            <a:pPr>
              <a:spcBef>
                <a:spcPct val="0"/>
              </a:spcBef>
              <a:spcAft>
                <a:spcPct val="0"/>
              </a:spcAft>
            </a:pPr>
            <a:r>
              <a:rPr lang="zh-CN" altLang="zh-CN" sz="2400"/>
              <a:t>也可将标准输入和标准输出重定向到</a:t>
            </a:r>
            <a:r>
              <a:rPr lang="zh-CN" altLang="zh-CN" sz="4000">
                <a:solidFill>
                  <a:srgbClr val="FF0000"/>
                </a:solidFill>
              </a:rPr>
              <a:t>管道</a:t>
            </a:r>
            <a:r>
              <a:rPr lang="zh-CN" altLang="zh-CN" sz="4000"/>
              <a:t>。</a:t>
            </a:r>
            <a:endParaRPr lang="en-US" altLang="zh-CN" sz="4000"/>
          </a:p>
          <a:p>
            <a:pPr>
              <a:spcBef>
                <a:spcPct val="0"/>
              </a:spcBef>
              <a:spcAft>
                <a:spcPct val="0"/>
              </a:spcAft>
            </a:pPr>
            <a:r>
              <a:rPr lang="zh-CN" altLang="zh-CN" sz="4000">
                <a:solidFill>
                  <a:srgbClr val="FF0000"/>
                </a:solidFill>
              </a:rPr>
              <a:t>当从文件读取信息时</a:t>
            </a:r>
            <a:r>
              <a:rPr lang="zh-CN" altLang="zh-CN" sz="2400"/>
              <a:t>，结束符为文件</a:t>
            </a:r>
            <a:r>
              <a:rPr lang="zh-CN" altLang="zh-CN" sz="4000">
                <a:solidFill>
                  <a:srgbClr val="FF0000"/>
                </a:solidFill>
              </a:rPr>
              <a:t>结束标志</a:t>
            </a:r>
            <a:r>
              <a:rPr lang="en-US" altLang="zh-CN" sz="4000">
                <a:solidFill>
                  <a:srgbClr val="FF0000"/>
                </a:solidFill>
              </a:rPr>
              <a:t>EOF</a:t>
            </a:r>
            <a:r>
              <a:rPr lang="zh-CN" altLang="zh-CN" sz="4000"/>
              <a:t>；</a:t>
            </a:r>
            <a:r>
              <a:rPr lang="zh-CN" altLang="zh-CN" sz="2400"/>
              <a:t>当从</a:t>
            </a:r>
            <a:r>
              <a:rPr lang="zh-CN" altLang="zh-CN" sz="4000">
                <a:solidFill>
                  <a:srgbClr val="FF0000"/>
                </a:solidFill>
              </a:rPr>
              <a:t>标准输入读取信息时</a:t>
            </a:r>
            <a:r>
              <a:rPr lang="zh-CN" altLang="zh-CN" sz="2400"/>
              <a:t>，输入完成时的结束符</a:t>
            </a:r>
            <a:r>
              <a:rPr lang="zh-CN" altLang="zh-CN" sz="4000">
                <a:solidFill>
                  <a:srgbClr val="FF0000"/>
                </a:solidFill>
              </a:rPr>
              <a:t>为</a:t>
            </a:r>
            <a:r>
              <a:rPr lang="en-US" altLang="zh-CN" sz="4000">
                <a:solidFill>
                  <a:srgbClr val="FF0000"/>
                </a:solidFill>
              </a:rPr>
              <a:t>^D</a:t>
            </a:r>
            <a:r>
              <a:rPr lang="zh-CN" altLang="zh-CN" sz="4000"/>
              <a:t>。</a:t>
            </a:r>
            <a:endParaRPr lang="zh-CN" altLang="en-US" sz="40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标题 1">
            <a:extLst>
              <a:ext uri="{FF2B5EF4-FFF2-40B4-BE49-F238E27FC236}">
                <a16:creationId xmlns:a16="http://schemas.microsoft.com/office/drawing/2014/main" id="{3C584EFA-6056-1ACE-3714-A2A75E94C59B}"/>
              </a:ext>
            </a:extLst>
          </p:cNvPr>
          <p:cNvSpPr>
            <a:spLocks noGrp="1" noChangeArrowheads="1"/>
          </p:cNvSpPr>
          <p:nvPr>
            <p:ph type="title"/>
          </p:nvPr>
        </p:nvSpPr>
        <p:spPr/>
        <p:txBody>
          <a:bodyPr/>
          <a:lstStyle/>
          <a:p>
            <a:r>
              <a:rPr lang="en-US" altLang="zh-CN"/>
              <a:t>3</a:t>
            </a:r>
            <a:r>
              <a:rPr lang="zh-CN" altLang="zh-CN"/>
              <a:t>．命令的返回值</a:t>
            </a:r>
            <a:endParaRPr lang="zh-CN" altLang="en-US"/>
          </a:p>
        </p:txBody>
      </p:sp>
      <p:sp>
        <p:nvSpPr>
          <p:cNvPr id="70659" name="内容占位符 2">
            <a:extLst>
              <a:ext uri="{FF2B5EF4-FFF2-40B4-BE49-F238E27FC236}">
                <a16:creationId xmlns:a16="http://schemas.microsoft.com/office/drawing/2014/main" id="{A35C2FFD-C372-A85C-620A-84B3081EBF3B}"/>
              </a:ext>
            </a:extLst>
          </p:cNvPr>
          <p:cNvSpPr>
            <a:spLocks noGrp="1" noChangeArrowheads="1"/>
          </p:cNvSpPr>
          <p:nvPr>
            <p:ph idx="1"/>
          </p:nvPr>
        </p:nvSpPr>
        <p:spPr>
          <a:xfrm>
            <a:off x="0" y="620713"/>
            <a:ext cx="9109075" cy="5761037"/>
          </a:xfrm>
        </p:spPr>
        <p:txBody>
          <a:bodyPr/>
          <a:lstStyle/>
          <a:p>
            <a:pPr>
              <a:spcBef>
                <a:spcPct val="0"/>
              </a:spcBef>
              <a:spcAft>
                <a:spcPct val="0"/>
              </a:spcAft>
            </a:pPr>
            <a:r>
              <a:rPr lang="zh-CN" altLang="zh-CN" sz="2400"/>
              <a:t>系统默认约定，</a:t>
            </a:r>
            <a:r>
              <a:rPr lang="en-US" altLang="zh-CN" sz="4400"/>
              <a:t>shell</a:t>
            </a:r>
            <a:r>
              <a:rPr lang="zh-CN" altLang="zh-CN" sz="4400"/>
              <a:t>命令在</a:t>
            </a:r>
            <a:r>
              <a:rPr lang="zh-CN" altLang="zh-CN" sz="4400">
                <a:solidFill>
                  <a:srgbClr val="FF0000"/>
                </a:solidFill>
              </a:rPr>
              <a:t>结束时向调用者返回一个状态码或返回值</a:t>
            </a:r>
            <a:r>
              <a:rPr lang="zh-CN" altLang="zh-CN" sz="4400"/>
              <a:t>，以表示执行成功与否</a:t>
            </a:r>
            <a:r>
              <a:rPr lang="zh-CN" altLang="zh-CN" sz="2400"/>
              <a:t>。返回值为</a:t>
            </a:r>
            <a:r>
              <a:rPr lang="en-US" altLang="zh-CN" sz="2400"/>
              <a:t>0</a:t>
            </a:r>
            <a:r>
              <a:rPr lang="zh-CN" altLang="zh-CN" sz="2400"/>
              <a:t>表示成功，非</a:t>
            </a:r>
            <a:r>
              <a:rPr lang="en-US" altLang="zh-CN" sz="2400"/>
              <a:t>0</a:t>
            </a:r>
            <a:r>
              <a:rPr lang="zh-CN" altLang="zh-CN" sz="2400"/>
              <a:t>表示失败。当命令是由管道连接的命令串，或是命令组时，最后执行的命令的返回作为整个命令串的返回值。</a:t>
            </a:r>
          </a:p>
          <a:p>
            <a:pPr>
              <a:spcBef>
                <a:spcPct val="0"/>
              </a:spcBef>
              <a:spcAft>
                <a:spcPct val="0"/>
              </a:spcAft>
            </a:pPr>
            <a:r>
              <a:rPr lang="zh-CN" altLang="zh-CN" sz="2400"/>
              <a:t>返回值可以</a:t>
            </a:r>
            <a:r>
              <a:rPr lang="zh-CN" altLang="en-US" sz="2400"/>
              <a:t>在</a:t>
            </a:r>
            <a:r>
              <a:rPr lang="zh-CN" altLang="zh-CN" sz="2400"/>
              <a:t>命令</a:t>
            </a:r>
            <a:r>
              <a:rPr lang="zh-CN" altLang="en-US" sz="2400"/>
              <a:t>刚刚执行完毕后，</a:t>
            </a:r>
            <a:r>
              <a:rPr lang="zh-CN" altLang="zh-CN" sz="4400">
                <a:solidFill>
                  <a:srgbClr val="FF0000"/>
                </a:solidFill>
              </a:rPr>
              <a:t>通过</a:t>
            </a:r>
            <a:r>
              <a:rPr lang="en-US" altLang="zh-CN" sz="4400">
                <a:solidFill>
                  <a:srgbClr val="FF0000"/>
                </a:solidFill>
              </a:rPr>
              <a:t>$?</a:t>
            </a:r>
            <a:r>
              <a:rPr lang="zh-CN" altLang="zh-CN" sz="4400">
                <a:solidFill>
                  <a:srgbClr val="FF0000"/>
                </a:solidFill>
              </a:rPr>
              <a:t>来访问</a:t>
            </a:r>
            <a:r>
              <a:rPr lang="zh-CN" altLang="zh-CN" sz="2400"/>
              <a:t>。</a:t>
            </a:r>
            <a:r>
              <a:rPr lang="zh-CN" altLang="en-US" sz="2400"/>
              <a:t>比如</a:t>
            </a:r>
            <a:r>
              <a:rPr lang="en-US" altLang="zh-CN" sz="2400"/>
              <a:t>:</a:t>
            </a:r>
          </a:p>
          <a:p>
            <a:pPr>
              <a:spcBef>
                <a:spcPct val="0"/>
              </a:spcBef>
              <a:spcAft>
                <a:spcPct val="0"/>
              </a:spcAft>
            </a:pPr>
            <a:r>
              <a:rPr lang="en-US" altLang="zh-CN" sz="4400"/>
              <a:t>$ </a:t>
            </a:r>
            <a:r>
              <a:rPr lang="en-US" altLang="zh-CN" sz="4400">
                <a:solidFill>
                  <a:srgbClr val="FF0000"/>
                </a:solidFill>
              </a:rPr>
              <a:t>echo $?</a:t>
            </a:r>
            <a:endParaRPr lang="zh-CN" altLang="en-US" sz="4400">
              <a:solidFill>
                <a:srgbClr val="FF0000"/>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标题 1">
            <a:extLst>
              <a:ext uri="{FF2B5EF4-FFF2-40B4-BE49-F238E27FC236}">
                <a16:creationId xmlns:a16="http://schemas.microsoft.com/office/drawing/2014/main" id="{B0A848EB-20C4-287D-964D-4412BF2EA6BD}"/>
              </a:ext>
            </a:extLst>
          </p:cNvPr>
          <p:cNvSpPr>
            <a:spLocks noGrp="1" noChangeArrowheads="1"/>
          </p:cNvSpPr>
          <p:nvPr>
            <p:ph type="title"/>
          </p:nvPr>
        </p:nvSpPr>
        <p:spPr/>
        <p:txBody>
          <a:bodyPr/>
          <a:lstStyle/>
          <a:p>
            <a:r>
              <a:rPr lang="en-US" altLang="zh-CN"/>
              <a:t>3.1.11  shell</a:t>
            </a:r>
            <a:r>
              <a:rPr lang="zh-CN" altLang="zh-CN"/>
              <a:t>种类</a:t>
            </a:r>
            <a:endParaRPr lang="zh-CN" altLang="en-US"/>
          </a:p>
        </p:txBody>
      </p:sp>
      <p:sp>
        <p:nvSpPr>
          <p:cNvPr id="71683" name="内容占位符 2">
            <a:extLst>
              <a:ext uri="{FF2B5EF4-FFF2-40B4-BE49-F238E27FC236}">
                <a16:creationId xmlns:a16="http://schemas.microsoft.com/office/drawing/2014/main" id="{0638F394-C924-1BBC-88BB-4F7786BF4A6B}"/>
              </a:ext>
            </a:extLst>
          </p:cNvPr>
          <p:cNvSpPr>
            <a:spLocks noGrp="1" noChangeArrowheads="1"/>
          </p:cNvSpPr>
          <p:nvPr>
            <p:ph idx="1"/>
          </p:nvPr>
        </p:nvSpPr>
        <p:spPr>
          <a:xfrm>
            <a:off x="71438" y="620713"/>
            <a:ext cx="9001125" cy="5761037"/>
          </a:xfrm>
        </p:spPr>
        <p:txBody>
          <a:bodyPr/>
          <a:lstStyle/>
          <a:p>
            <a:r>
              <a:rPr lang="en-US" altLang="zh-CN" sz="3600"/>
              <a:t>UNIX/Linux</a:t>
            </a:r>
            <a:r>
              <a:rPr lang="zh-CN" altLang="zh-CN" sz="3600"/>
              <a:t>中的</a:t>
            </a:r>
            <a:r>
              <a:rPr lang="en-US" altLang="zh-CN" sz="3600"/>
              <a:t>shell</a:t>
            </a:r>
            <a:r>
              <a:rPr lang="zh-CN" altLang="zh-CN" sz="3600"/>
              <a:t>有多种类型，其中最常用的几种是</a:t>
            </a:r>
            <a:r>
              <a:rPr lang="en-US" altLang="zh-CN" sz="3600">
                <a:solidFill>
                  <a:srgbClr val="FF0000"/>
                </a:solidFill>
              </a:rPr>
              <a:t>Bourne shell</a:t>
            </a:r>
            <a:r>
              <a:rPr lang="zh-CN" altLang="zh-CN" sz="3600">
                <a:solidFill>
                  <a:srgbClr val="FF0000"/>
                </a:solidFill>
              </a:rPr>
              <a:t>（</a:t>
            </a:r>
            <a:r>
              <a:rPr lang="en-US" altLang="zh-CN" sz="3600">
                <a:solidFill>
                  <a:srgbClr val="FF0000"/>
                </a:solidFill>
              </a:rPr>
              <a:t>sh</a:t>
            </a:r>
            <a:r>
              <a:rPr lang="zh-CN" altLang="zh-CN" sz="3600">
                <a:solidFill>
                  <a:srgbClr val="FF0000"/>
                </a:solidFill>
              </a:rPr>
              <a:t>或</a:t>
            </a:r>
            <a:r>
              <a:rPr lang="en-US" altLang="zh-CN" sz="3600">
                <a:solidFill>
                  <a:srgbClr val="FF0000"/>
                </a:solidFill>
              </a:rPr>
              <a:t>bsh</a:t>
            </a:r>
            <a:r>
              <a:rPr lang="zh-CN" altLang="zh-CN" sz="3600">
                <a:solidFill>
                  <a:srgbClr val="FF0000"/>
                </a:solidFill>
              </a:rPr>
              <a:t>）</a:t>
            </a:r>
            <a:r>
              <a:rPr lang="zh-CN" altLang="zh-CN" sz="3600"/>
              <a:t>、</a:t>
            </a:r>
            <a:r>
              <a:rPr lang="en-US" altLang="zh-CN" sz="3600">
                <a:solidFill>
                  <a:srgbClr val="FF0000"/>
                </a:solidFill>
              </a:rPr>
              <a:t>Bourne again shell</a:t>
            </a:r>
            <a:r>
              <a:rPr lang="zh-CN" altLang="zh-CN" sz="3600">
                <a:solidFill>
                  <a:srgbClr val="FF0000"/>
                </a:solidFill>
              </a:rPr>
              <a:t>（</a:t>
            </a:r>
            <a:r>
              <a:rPr lang="en-US" altLang="zh-CN" sz="3600">
                <a:solidFill>
                  <a:srgbClr val="FF0000"/>
                </a:solidFill>
              </a:rPr>
              <a:t>bash</a:t>
            </a:r>
            <a:r>
              <a:rPr lang="zh-CN" altLang="zh-CN" sz="3600">
                <a:solidFill>
                  <a:srgbClr val="FF0000"/>
                </a:solidFill>
              </a:rPr>
              <a:t>）</a:t>
            </a:r>
            <a:r>
              <a:rPr lang="zh-CN" altLang="zh-CN" sz="3600"/>
              <a:t>、</a:t>
            </a:r>
            <a:r>
              <a:rPr lang="en-US" altLang="zh-CN" sz="3600"/>
              <a:t>C shell</a:t>
            </a:r>
            <a:r>
              <a:rPr lang="zh-CN" altLang="zh-CN" sz="3600"/>
              <a:t>（</a:t>
            </a:r>
            <a:r>
              <a:rPr lang="en-US" altLang="zh-CN" sz="3600"/>
              <a:t>csh</a:t>
            </a:r>
            <a:r>
              <a:rPr lang="zh-CN" altLang="zh-CN" sz="3600"/>
              <a:t>）、</a:t>
            </a:r>
            <a:r>
              <a:rPr lang="en-US" altLang="zh-CN" sz="3600"/>
              <a:t>tc shell</a:t>
            </a:r>
            <a:r>
              <a:rPr lang="zh-CN" altLang="zh-CN" sz="3600"/>
              <a:t>（</a:t>
            </a:r>
            <a:r>
              <a:rPr lang="en-US" altLang="zh-CN" sz="3600"/>
              <a:t>tcsh</a:t>
            </a:r>
            <a:r>
              <a:rPr lang="zh-CN" altLang="zh-CN" sz="3600"/>
              <a:t>）、</a:t>
            </a:r>
            <a:r>
              <a:rPr lang="en-US" altLang="zh-CN" sz="3600"/>
              <a:t>Korn shell</a:t>
            </a:r>
            <a:r>
              <a:rPr lang="zh-CN" altLang="zh-CN" sz="3600"/>
              <a:t>（</a:t>
            </a:r>
            <a:r>
              <a:rPr lang="en-US" altLang="zh-CN" sz="3600"/>
              <a:t>ksh</a:t>
            </a:r>
            <a:r>
              <a:rPr lang="zh-CN" altLang="zh-CN" sz="3600"/>
              <a:t>）和</a:t>
            </a:r>
            <a:r>
              <a:rPr lang="en-US" altLang="zh-CN" sz="3600"/>
              <a:t>Z shell</a:t>
            </a:r>
            <a:r>
              <a:rPr lang="zh-CN" altLang="zh-CN" sz="3600"/>
              <a:t>（</a:t>
            </a:r>
            <a:r>
              <a:rPr lang="en-US" altLang="zh-CN" sz="3600"/>
              <a:t>zsh</a:t>
            </a:r>
            <a:r>
              <a:rPr lang="zh-CN" altLang="zh-CN" sz="3600"/>
              <a:t>）等。</a:t>
            </a:r>
          </a:p>
          <a:p>
            <a:r>
              <a:rPr lang="en-US" altLang="zh-CN" sz="3600"/>
              <a:t>bsh</a:t>
            </a:r>
            <a:r>
              <a:rPr lang="zh-CN" altLang="zh-CN" sz="3600"/>
              <a:t>是</a:t>
            </a:r>
            <a:r>
              <a:rPr lang="en-US" altLang="zh-CN" sz="3600"/>
              <a:t>Stephen Bourne</a:t>
            </a:r>
            <a:r>
              <a:rPr lang="zh-CN" altLang="zh-CN" sz="3600"/>
              <a:t>在</a:t>
            </a:r>
            <a:r>
              <a:rPr lang="en-US" altLang="zh-CN" sz="3600"/>
              <a:t>Bell</a:t>
            </a:r>
            <a:r>
              <a:rPr lang="zh-CN" altLang="zh-CN" sz="3600"/>
              <a:t>实验室设计的</a:t>
            </a:r>
            <a:r>
              <a:rPr lang="en-US" altLang="zh-CN" sz="3600"/>
              <a:t>shell</a:t>
            </a:r>
            <a:r>
              <a:rPr lang="zh-CN" altLang="zh-CN" sz="3600"/>
              <a:t>，在每种</a:t>
            </a:r>
            <a:r>
              <a:rPr lang="en-US" altLang="zh-CN" sz="3600"/>
              <a:t>UNIX</a:t>
            </a:r>
            <a:r>
              <a:rPr lang="zh-CN" altLang="zh-CN" sz="3600"/>
              <a:t>上都可以使用，且在众多的</a:t>
            </a:r>
            <a:r>
              <a:rPr lang="en-US" altLang="zh-CN" sz="3600"/>
              <a:t>UNIX</a:t>
            </a:r>
            <a:r>
              <a:rPr lang="zh-CN" altLang="zh-CN" sz="3600"/>
              <a:t>系统中</a:t>
            </a:r>
            <a:r>
              <a:rPr lang="en-US" altLang="zh-CN" sz="3600"/>
              <a:t>bsh</a:t>
            </a:r>
            <a:r>
              <a:rPr lang="zh-CN" altLang="zh-CN" sz="3600"/>
              <a:t>基本保持一致，它是大多数</a:t>
            </a:r>
            <a:r>
              <a:rPr lang="en-US" altLang="zh-CN" sz="3600"/>
              <a:t>UNIX</a:t>
            </a:r>
            <a:r>
              <a:rPr lang="zh-CN" altLang="zh-CN" sz="3600"/>
              <a:t>系统默认的</a:t>
            </a:r>
            <a:r>
              <a:rPr lang="en-US" altLang="zh-CN" sz="3600"/>
              <a:t>shell</a:t>
            </a:r>
            <a:r>
              <a:rPr lang="zh-CN" altLang="zh-CN" sz="3600"/>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706" name="标题 1">
            <a:extLst>
              <a:ext uri="{FF2B5EF4-FFF2-40B4-BE49-F238E27FC236}">
                <a16:creationId xmlns:a16="http://schemas.microsoft.com/office/drawing/2014/main" id="{568DDB61-C85A-0500-7B9E-022552D7CC4C}"/>
              </a:ext>
            </a:extLst>
          </p:cNvPr>
          <p:cNvSpPr>
            <a:spLocks noGrp="1" noChangeArrowheads="1"/>
          </p:cNvSpPr>
          <p:nvPr>
            <p:ph type="title"/>
          </p:nvPr>
        </p:nvSpPr>
        <p:spPr/>
        <p:txBody>
          <a:bodyPr/>
          <a:lstStyle/>
          <a:p>
            <a:r>
              <a:rPr lang="en-US" altLang="zh-CN"/>
              <a:t>bash</a:t>
            </a:r>
            <a:endParaRPr lang="zh-CN" altLang="en-US"/>
          </a:p>
        </p:txBody>
      </p:sp>
      <p:sp>
        <p:nvSpPr>
          <p:cNvPr id="72707" name="内容占位符 2">
            <a:extLst>
              <a:ext uri="{FF2B5EF4-FFF2-40B4-BE49-F238E27FC236}">
                <a16:creationId xmlns:a16="http://schemas.microsoft.com/office/drawing/2014/main" id="{1347E3D0-F6EA-2973-4C1D-F069AEE7B50F}"/>
              </a:ext>
            </a:extLst>
          </p:cNvPr>
          <p:cNvSpPr>
            <a:spLocks noGrp="1" noChangeArrowheads="1"/>
          </p:cNvSpPr>
          <p:nvPr>
            <p:ph idx="1"/>
          </p:nvPr>
        </p:nvSpPr>
        <p:spPr/>
        <p:txBody>
          <a:bodyPr/>
          <a:lstStyle/>
          <a:p>
            <a:r>
              <a:rPr lang="en-US" altLang="zh-CN" sz="3600"/>
              <a:t>bash</a:t>
            </a:r>
            <a:r>
              <a:rPr lang="zh-CN" altLang="zh-CN" sz="3600"/>
              <a:t>是</a:t>
            </a:r>
            <a:r>
              <a:rPr lang="en-US" altLang="zh-CN" sz="3600"/>
              <a:t>GNU</a:t>
            </a:r>
            <a:r>
              <a:rPr lang="zh-CN" altLang="zh-CN" sz="3600"/>
              <a:t>工程</a:t>
            </a:r>
            <a:r>
              <a:rPr lang="zh-CN" altLang="en-US" sz="3600"/>
              <a:t>（自由软件基金会）</a:t>
            </a:r>
            <a:r>
              <a:rPr lang="zh-CN" altLang="zh-CN" sz="3600"/>
              <a:t>中使用的</a:t>
            </a:r>
            <a:r>
              <a:rPr lang="en-US" altLang="zh-CN" sz="3600"/>
              <a:t>shell</a:t>
            </a:r>
            <a:r>
              <a:rPr lang="zh-CN" altLang="zh-CN" sz="3600"/>
              <a:t>，</a:t>
            </a:r>
            <a:r>
              <a:rPr lang="en-US" altLang="zh-CN" sz="3600"/>
              <a:t>bash</a:t>
            </a:r>
            <a:r>
              <a:rPr lang="zh-CN" altLang="zh-CN" sz="3600"/>
              <a:t>是在</a:t>
            </a:r>
            <a:r>
              <a:rPr lang="en-US" altLang="zh-CN" sz="3600"/>
              <a:t>bsh</a:t>
            </a:r>
            <a:r>
              <a:rPr lang="zh-CN" altLang="zh-CN" sz="3600"/>
              <a:t>基础上发展起来。</a:t>
            </a:r>
            <a:r>
              <a:rPr lang="en-US" altLang="zh-CN" sz="3600"/>
              <a:t>bash</a:t>
            </a:r>
            <a:r>
              <a:rPr lang="zh-CN" altLang="zh-CN" sz="3600"/>
              <a:t>与</a:t>
            </a:r>
            <a:r>
              <a:rPr lang="en-US" altLang="zh-CN" sz="3600"/>
              <a:t>bsh</a:t>
            </a:r>
            <a:r>
              <a:rPr lang="zh-CN" altLang="zh-CN" sz="3600"/>
              <a:t>稍有不同，它兼有</a:t>
            </a:r>
            <a:r>
              <a:rPr lang="en-US" altLang="zh-CN" sz="3600"/>
              <a:t>csh</a:t>
            </a:r>
            <a:r>
              <a:rPr lang="zh-CN" altLang="zh-CN" sz="3600"/>
              <a:t>、</a:t>
            </a:r>
            <a:r>
              <a:rPr lang="en-US" altLang="zh-CN" sz="3600"/>
              <a:t>tcsh</a:t>
            </a:r>
            <a:r>
              <a:rPr lang="zh-CN" altLang="zh-CN" sz="3600"/>
              <a:t>和</a:t>
            </a:r>
            <a:r>
              <a:rPr lang="en-US" altLang="zh-CN" sz="3600"/>
              <a:t>ksh</a:t>
            </a:r>
            <a:r>
              <a:rPr lang="zh-CN" altLang="zh-CN" sz="3600"/>
              <a:t>的特色。大多数</a:t>
            </a:r>
            <a:r>
              <a:rPr lang="en-US" altLang="zh-CN" sz="3600"/>
              <a:t>bsh</a:t>
            </a:r>
            <a:r>
              <a:rPr lang="zh-CN" altLang="zh-CN" sz="3600"/>
              <a:t>脚本程序可在其上不加修改就可运行，但</a:t>
            </a:r>
            <a:r>
              <a:rPr lang="en-US" altLang="zh-CN" sz="3600"/>
              <a:t>bash</a:t>
            </a:r>
            <a:r>
              <a:rPr lang="zh-CN" altLang="zh-CN" sz="3600"/>
              <a:t>的脚本程序则不一定能在</a:t>
            </a:r>
            <a:r>
              <a:rPr lang="en-US" altLang="zh-CN" sz="3600"/>
              <a:t>bsh</a:t>
            </a:r>
            <a:r>
              <a:rPr lang="zh-CN" altLang="zh-CN" sz="3600"/>
              <a:t>上运行。</a:t>
            </a:r>
            <a:endParaRPr lang="en-US" altLang="zh-CN" sz="3600"/>
          </a:p>
          <a:p>
            <a:r>
              <a:rPr lang="en-US" altLang="zh-CN" sz="3600"/>
              <a:t>bash</a:t>
            </a:r>
            <a:r>
              <a:rPr lang="zh-CN" altLang="zh-CN" sz="3600"/>
              <a:t>是</a:t>
            </a:r>
            <a:r>
              <a:rPr lang="en-US" altLang="zh-CN" sz="3600"/>
              <a:t>GNU</a:t>
            </a:r>
            <a:r>
              <a:rPr lang="zh-CN" altLang="zh-CN" sz="3600"/>
              <a:t>操作系统的默认</a:t>
            </a:r>
            <a:r>
              <a:rPr lang="en-US" altLang="zh-CN" sz="3600"/>
              <a:t>shell</a:t>
            </a:r>
            <a:r>
              <a:rPr lang="zh-CN" altLang="zh-CN" sz="3600"/>
              <a:t>，</a:t>
            </a:r>
            <a:r>
              <a:rPr lang="en-US" altLang="zh-CN" sz="3600"/>
              <a:t>Linux</a:t>
            </a:r>
            <a:r>
              <a:rPr lang="zh-CN" altLang="zh-CN" sz="3600"/>
              <a:t>操作系统默认的</a:t>
            </a:r>
            <a:r>
              <a:rPr lang="en-US" altLang="zh-CN" sz="3600"/>
              <a:t>shell</a:t>
            </a:r>
            <a:r>
              <a:rPr lang="zh-CN" altLang="zh-CN" sz="3600"/>
              <a:t>是</a:t>
            </a:r>
            <a:r>
              <a:rPr lang="en-US" altLang="zh-CN" sz="3600"/>
              <a:t>bash</a:t>
            </a:r>
            <a:r>
              <a:rPr lang="zh-CN" altLang="zh-CN" sz="3600"/>
              <a:t>。</a:t>
            </a:r>
            <a:r>
              <a:rPr lang="en-US" altLang="zh-CN" sz="3600"/>
              <a:t> </a:t>
            </a:r>
            <a:endParaRPr lang="zh-CN" altLang="en-US" sz="3600"/>
          </a:p>
          <a:p>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0" name="标题 1">
            <a:extLst>
              <a:ext uri="{FF2B5EF4-FFF2-40B4-BE49-F238E27FC236}">
                <a16:creationId xmlns:a16="http://schemas.microsoft.com/office/drawing/2014/main" id="{73006892-E775-BDC5-1C7F-A7994BD43BC2}"/>
              </a:ext>
            </a:extLst>
          </p:cNvPr>
          <p:cNvSpPr>
            <a:spLocks noGrp="1" noChangeArrowheads="1"/>
          </p:cNvSpPr>
          <p:nvPr>
            <p:ph type="title"/>
          </p:nvPr>
        </p:nvSpPr>
        <p:spPr/>
        <p:txBody>
          <a:bodyPr/>
          <a:lstStyle/>
          <a:p>
            <a:r>
              <a:rPr lang="en-US" altLang="zh-CN"/>
              <a:t>3.2  Linux</a:t>
            </a:r>
            <a:r>
              <a:rPr lang="zh-CN" altLang="zh-CN"/>
              <a:t>系统的基本命令</a:t>
            </a:r>
            <a:endParaRPr lang="zh-CN" altLang="en-US"/>
          </a:p>
        </p:txBody>
      </p:sp>
      <p:sp>
        <p:nvSpPr>
          <p:cNvPr id="73731" name="内容占位符 2">
            <a:extLst>
              <a:ext uri="{FF2B5EF4-FFF2-40B4-BE49-F238E27FC236}">
                <a16:creationId xmlns:a16="http://schemas.microsoft.com/office/drawing/2014/main" id="{6C75B48B-F729-51D4-8CDF-DCC02B13F14D}"/>
              </a:ext>
            </a:extLst>
          </p:cNvPr>
          <p:cNvSpPr>
            <a:spLocks noGrp="1" noChangeArrowheads="1"/>
          </p:cNvSpPr>
          <p:nvPr>
            <p:ph idx="1"/>
          </p:nvPr>
        </p:nvSpPr>
        <p:spPr>
          <a:xfrm>
            <a:off x="0" y="620713"/>
            <a:ext cx="9324975" cy="5761037"/>
          </a:xfrm>
        </p:spPr>
        <p:txBody>
          <a:bodyPr/>
          <a:lstStyle/>
          <a:p>
            <a:pPr marL="0" indent="0">
              <a:spcBef>
                <a:spcPct val="0"/>
              </a:spcBef>
              <a:spcAft>
                <a:spcPct val="0"/>
              </a:spcAft>
              <a:buFont typeface="Arial" panose="020B0604020202020204" pitchFamily="34" charset="0"/>
              <a:buNone/>
            </a:pPr>
            <a:r>
              <a:rPr lang="en-US" altLang="zh-CN" sz="4400"/>
              <a:t>3.2.1  </a:t>
            </a:r>
            <a:r>
              <a:rPr lang="zh-CN" altLang="zh-CN" sz="4400">
                <a:solidFill>
                  <a:srgbClr val="FF0000"/>
                </a:solidFill>
              </a:rPr>
              <a:t>目录</a:t>
            </a:r>
            <a:r>
              <a:rPr lang="zh-CN" altLang="zh-CN" sz="4400"/>
              <a:t>基本操作命令</a:t>
            </a:r>
          </a:p>
          <a:p>
            <a:pPr marL="0" indent="0">
              <a:spcBef>
                <a:spcPct val="0"/>
              </a:spcBef>
              <a:spcAft>
                <a:spcPct val="0"/>
              </a:spcAft>
              <a:buFont typeface="Arial" panose="020B0604020202020204" pitchFamily="34" charset="0"/>
              <a:buNone/>
            </a:pPr>
            <a:r>
              <a:rPr lang="en-US" altLang="zh-CN" sz="4400"/>
              <a:t>3.2.2  </a:t>
            </a:r>
            <a:r>
              <a:rPr lang="zh-CN" altLang="zh-CN" sz="4400">
                <a:solidFill>
                  <a:srgbClr val="FF0000"/>
                </a:solidFill>
              </a:rPr>
              <a:t>文件</a:t>
            </a:r>
            <a:r>
              <a:rPr lang="zh-CN" altLang="zh-CN" sz="4400"/>
              <a:t>操作基本命令</a:t>
            </a:r>
          </a:p>
          <a:p>
            <a:pPr marL="0" indent="0">
              <a:spcBef>
                <a:spcPct val="0"/>
              </a:spcBef>
              <a:spcAft>
                <a:spcPct val="0"/>
              </a:spcAft>
              <a:buFont typeface="Arial" panose="020B0604020202020204" pitchFamily="34" charset="0"/>
              <a:buNone/>
            </a:pPr>
            <a:r>
              <a:rPr lang="en-US" altLang="zh-CN" sz="4400"/>
              <a:t>3.2.3  </a:t>
            </a:r>
            <a:r>
              <a:rPr lang="zh-CN" altLang="zh-CN" sz="4400">
                <a:solidFill>
                  <a:srgbClr val="FF0000"/>
                </a:solidFill>
              </a:rPr>
              <a:t>文件属性</a:t>
            </a:r>
            <a:r>
              <a:rPr lang="zh-CN" altLang="zh-CN" sz="4400"/>
              <a:t>基本操作命令</a:t>
            </a:r>
          </a:p>
          <a:p>
            <a:pPr marL="0" indent="0">
              <a:spcBef>
                <a:spcPct val="0"/>
              </a:spcBef>
              <a:spcAft>
                <a:spcPct val="0"/>
              </a:spcAft>
              <a:buFont typeface="Arial" panose="020B0604020202020204" pitchFamily="34" charset="0"/>
              <a:buNone/>
            </a:pPr>
            <a:r>
              <a:rPr lang="en-US" altLang="zh-CN" sz="4400"/>
              <a:t>3.2.4 </a:t>
            </a:r>
            <a:r>
              <a:rPr lang="zh-CN" altLang="zh-CN" sz="4400">
                <a:solidFill>
                  <a:srgbClr val="FF0000"/>
                </a:solidFill>
              </a:rPr>
              <a:t>文本文件编辑</a:t>
            </a:r>
            <a:r>
              <a:rPr lang="zh-CN" altLang="zh-CN" sz="4400"/>
              <a:t>与操作基本命令</a:t>
            </a:r>
          </a:p>
          <a:p>
            <a:pPr marL="0" indent="0">
              <a:spcBef>
                <a:spcPct val="0"/>
              </a:spcBef>
              <a:spcAft>
                <a:spcPct val="0"/>
              </a:spcAft>
              <a:buFont typeface="Arial" panose="020B0604020202020204" pitchFamily="34" charset="0"/>
              <a:buNone/>
            </a:pPr>
            <a:r>
              <a:rPr lang="en-US" altLang="zh-CN" sz="4400"/>
              <a:t>3.2.5  </a:t>
            </a:r>
            <a:r>
              <a:rPr lang="zh-CN" altLang="zh-CN" sz="4400">
                <a:solidFill>
                  <a:srgbClr val="FF0000"/>
                </a:solidFill>
              </a:rPr>
              <a:t>日期、时间与时区</a:t>
            </a:r>
            <a:r>
              <a:rPr lang="zh-CN" altLang="zh-CN" sz="4400"/>
              <a:t>管理命令</a:t>
            </a:r>
          </a:p>
          <a:p>
            <a:pPr marL="0" indent="0">
              <a:spcBef>
                <a:spcPct val="0"/>
              </a:spcBef>
              <a:spcAft>
                <a:spcPct val="0"/>
              </a:spcAft>
              <a:buFont typeface="Arial" panose="020B0604020202020204" pitchFamily="34" charset="0"/>
              <a:buNone/>
            </a:pPr>
            <a:r>
              <a:rPr lang="en-US" altLang="zh-CN" sz="4400"/>
              <a:t>3.2.6  </a:t>
            </a:r>
            <a:r>
              <a:rPr lang="zh-CN" altLang="zh-CN" sz="4400">
                <a:solidFill>
                  <a:srgbClr val="FF0000"/>
                </a:solidFill>
              </a:rPr>
              <a:t>进程管理</a:t>
            </a:r>
            <a:r>
              <a:rPr lang="zh-CN" altLang="zh-CN" sz="4400"/>
              <a:t>基本命令</a:t>
            </a:r>
          </a:p>
          <a:p>
            <a:pPr marL="0" indent="0">
              <a:spcBef>
                <a:spcPct val="0"/>
              </a:spcBef>
              <a:spcAft>
                <a:spcPct val="0"/>
              </a:spcAft>
              <a:buFont typeface="Arial" panose="020B0604020202020204" pitchFamily="34" charset="0"/>
              <a:buNone/>
            </a:pPr>
            <a:r>
              <a:rPr lang="en-US" altLang="zh-CN" sz="4400"/>
              <a:t>3.2.7  </a:t>
            </a:r>
            <a:r>
              <a:rPr lang="zh-CN" altLang="zh-CN" sz="4400">
                <a:solidFill>
                  <a:srgbClr val="FF0000"/>
                </a:solidFill>
              </a:rPr>
              <a:t>文件或目录比较</a:t>
            </a:r>
            <a:r>
              <a:rPr lang="zh-CN" altLang="zh-CN" sz="4400"/>
              <a:t>命令</a:t>
            </a:r>
          </a:p>
          <a:p>
            <a:pPr marL="0" indent="0">
              <a:spcBef>
                <a:spcPct val="0"/>
              </a:spcBef>
              <a:spcAft>
                <a:spcPct val="0"/>
              </a:spcAft>
              <a:buFont typeface="Arial" panose="020B0604020202020204" pitchFamily="34" charset="0"/>
              <a:buNone/>
            </a:pPr>
            <a:r>
              <a:rPr lang="en-US" altLang="zh-CN" sz="4400"/>
              <a:t>3.2.8  </a:t>
            </a:r>
            <a:r>
              <a:rPr lang="zh-CN" altLang="zh-CN" sz="4400"/>
              <a:t>其他操作命令</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30665DC2-501A-788C-AEE2-0938FFBD2C4B}"/>
              </a:ext>
            </a:extLst>
          </p:cNvPr>
          <p:cNvSpPr>
            <a:spLocks noGrp="1" noChangeArrowheads="1"/>
          </p:cNvSpPr>
          <p:nvPr>
            <p:ph type="title"/>
          </p:nvPr>
        </p:nvSpPr>
        <p:spPr/>
        <p:txBody>
          <a:bodyPr/>
          <a:lstStyle/>
          <a:p>
            <a:r>
              <a:rPr lang="en-US" altLang="zh-CN"/>
              <a:t>3.2.1  </a:t>
            </a:r>
            <a:r>
              <a:rPr lang="zh-CN" altLang="zh-CN"/>
              <a:t>目录基本操作命令</a:t>
            </a:r>
            <a:endParaRPr lang="zh-CN" altLang="en-US"/>
          </a:p>
        </p:txBody>
      </p:sp>
      <p:sp>
        <p:nvSpPr>
          <p:cNvPr id="74755" name="内容占位符 2">
            <a:extLst>
              <a:ext uri="{FF2B5EF4-FFF2-40B4-BE49-F238E27FC236}">
                <a16:creationId xmlns:a16="http://schemas.microsoft.com/office/drawing/2014/main" id="{DF2011D2-F95D-3394-076F-59A2E1C0F0A7}"/>
              </a:ext>
            </a:extLst>
          </p:cNvPr>
          <p:cNvSpPr>
            <a:spLocks noGrp="1" noChangeArrowheads="1"/>
          </p:cNvSpPr>
          <p:nvPr>
            <p:ph idx="1"/>
          </p:nvPr>
        </p:nvSpPr>
        <p:spPr>
          <a:xfrm>
            <a:off x="457200" y="620713"/>
            <a:ext cx="8578850" cy="5761037"/>
          </a:xfrm>
        </p:spPr>
        <p:txBody>
          <a:bodyPr/>
          <a:lstStyle/>
          <a:p>
            <a:pPr>
              <a:spcBef>
                <a:spcPct val="0"/>
              </a:spcBef>
              <a:spcAft>
                <a:spcPct val="0"/>
              </a:spcAft>
            </a:pPr>
            <a:r>
              <a:rPr lang="en-US" altLang="zh-CN" sz="5400"/>
              <a:t>1</a:t>
            </a:r>
            <a:r>
              <a:rPr lang="zh-CN" altLang="zh-CN" sz="5400"/>
              <a:t>．列目录内容</a:t>
            </a:r>
            <a:r>
              <a:rPr lang="zh-CN" altLang="zh-CN" sz="5400">
                <a:solidFill>
                  <a:srgbClr val="FF0000"/>
                </a:solidFill>
              </a:rPr>
              <a:t>（</a:t>
            </a:r>
            <a:r>
              <a:rPr lang="en-US" altLang="zh-CN" sz="5400">
                <a:solidFill>
                  <a:srgbClr val="FF0000"/>
                </a:solidFill>
              </a:rPr>
              <a:t>ls</a:t>
            </a:r>
            <a:r>
              <a:rPr lang="zh-CN" altLang="zh-CN" sz="5400">
                <a:solidFill>
                  <a:srgbClr val="FF0000"/>
                </a:solidFill>
              </a:rPr>
              <a:t>）</a:t>
            </a:r>
          </a:p>
          <a:p>
            <a:pPr>
              <a:spcBef>
                <a:spcPct val="0"/>
              </a:spcBef>
              <a:spcAft>
                <a:spcPct val="0"/>
              </a:spcAft>
            </a:pPr>
            <a:r>
              <a:rPr lang="en-US" altLang="zh-CN" sz="5400"/>
              <a:t>2</a:t>
            </a:r>
            <a:r>
              <a:rPr lang="zh-CN" altLang="zh-CN" sz="5400"/>
              <a:t>．建立目录</a:t>
            </a:r>
            <a:r>
              <a:rPr lang="zh-CN" altLang="zh-CN" sz="5400">
                <a:solidFill>
                  <a:srgbClr val="FF0000"/>
                </a:solidFill>
              </a:rPr>
              <a:t>（</a:t>
            </a:r>
            <a:r>
              <a:rPr lang="en-US" altLang="zh-CN" sz="5400">
                <a:solidFill>
                  <a:srgbClr val="FF0000"/>
                </a:solidFill>
              </a:rPr>
              <a:t>mkdir</a:t>
            </a:r>
            <a:r>
              <a:rPr lang="zh-CN" altLang="zh-CN" sz="5400">
                <a:solidFill>
                  <a:srgbClr val="FF0000"/>
                </a:solidFill>
              </a:rPr>
              <a:t>）</a:t>
            </a:r>
          </a:p>
          <a:p>
            <a:pPr>
              <a:spcBef>
                <a:spcPct val="0"/>
              </a:spcBef>
              <a:spcAft>
                <a:spcPct val="0"/>
              </a:spcAft>
            </a:pPr>
            <a:r>
              <a:rPr lang="en-US" altLang="zh-CN" sz="5400"/>
              <a:t>3</a:t>
            </a:r>
            <a:r>
              <a:rPr lang="zh-CN" altLang="zh-CN" sz="5400"/>
              <a:t>．删除目录</a:t>
            </a:r>
            <a:r>
              <a:rPr lang="zh-CN" altLang="zh-CN" sz="5400">
                <a:solidFill>
                  <a:srgbClr val="FF0000"/>
                </a:solidFill>
              </a:rPr>
              <a:t>（</a:t>
            </a:r>
            <a:r>
              <a:rPr lang="en-US" altLang="zh-CN" sz="5400">
                <a:solidFill>
                  <a:srgbClr val="FF0000"/>
                </a:solidFill>
              </a:rPr>
              <a:t>rmdir</a:t>
            </a:r>
            <a:r>
              <a:rPr lang="zh-CN" altLang="zh-CN" sz="5400">
                <a:solidFill>
                  <a:srgbClr val="FF0000"/>
                </a:solidFill>
              </a:rPr>
              <a:t>）</a:t>
            </a:r>
          </a:p>
          <a:p>
            <a:pPr>
              <a:spcBef>
                <a:spcPct val="0"/>
              </a:spcBef>
              <a:spcAft>
                <a:spcPct val="0"/>
              </a:spcAft>
            </a:pPr>
            <a:r>
              <a:rPr lang="en-US" altLang="zh-CN" sz="5400"/>
              <a:t>4</a:t>
            </a:r>
            <a:r>
              <a:rPr lang="zh-CN" altLang="zh-CN" sz="5400"/>
              <a:t>．改变工作目录</a:t>
            </a:r>
            <a:r>
              <a:rPr lang="zh-CN" altLang="zh-CN" sz="5400">
                <a:solidFill>
                  <a:srgbClr val="FF0000"/>
                </a:solidFill>
              </a:rPr>
              <a:t>（</a:t>
            </a:r>
            <a:r>
              <a:rPr lang="en-US" altLang="zh-CN" sz="5400">
                <a:solidFill>
                  <a:srgbClr val="FF0000"/>
                </a:solidFill>
              </a:rPr>
              <a:t>cd</a:t>
            </a:r>
            <a:r>
              <a:rPr lang="zh-CN" altLang="zh-CN" sz="5400">
                <a:solidFill>
                  <a:srgbClr val="FF0000"/>
                </a:solidFill>
              </a:rPr>
              <a:t>）</a:t>
            </a:r>
          </a:p>
          <a:p>
            <a:pPr>
              <a:spcBef>
                <a:spcPct val="0"/>
              </a:spcBef>
              <a:spcAft>
                <a:spcPct val="0"/>
              </a:spcAft>
            </a:pPr>
            <a:r>
              <a:rPr lang="en-US" altLang="zh-CN" sz="5400"/>
              <a:t>5</a:t>
            </a:r>
            <a:r>
              <a:rPr lang="zh-CN" altLang="zh-CN" sz="5400"/>
              <a:t>．显示当前目录</a:t>
            </a:r>
            <a:r>
              <a:rPr lang="zh-CN" altLang="zh-CN" sz="5400">
                <a:solidFill>
                  <a:srgbClr val="FF0000"/>
                </a:solidFill>
              </a:rPr>
              <a:t>（</a:t>
            </a:r>
            <a:r>
              <a:rPr lang="en-US" altLang="zh-CN" sz="5400">
                <a:solidFill>
                  <a:srgbClr val="FF0000"/>
                </a:solidFill>
              </a:rPr>
              <a:t>pwd</a:t>
            </a:r>
            <a:r>
              <a:rPr lang="zh-CN" altLang="zh-CN" sz="5400">
                <a:solidFill>
                  <a:srgbClr val="FF0000"/>
                </a:solidFill>
              </a:rPr>
              <a:t>）</a:t>
            </a:r>
          </a:p>
          <a:p>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标题 1">
            <a:extLst>
              <a:ext uri="{FF2B5EF4-FFF2-40B4-BE49-F238E27FC236}">
                <a16:creationId xmlns:a16="http://schemas.microsoft.com/office/drawing/2014/main" id="{BB44D32A-9730-01DC-A743-FECAFD9D58B3}"/>
              </a:ext>
            </a:extLst>
          </p:cNvPr>
          <p:cNvSpPr>
            <a:spLocks noGrp="1" noChangeArrowheads="1"/>
          </p:cNvSpPr>
          <p:nvPr>
            <p:ph type="title"/>
          </p:nvPr>
        </p:nvSpPr>
        <p:spPr/>
        <p:txBody>
          <a:bodyPr/>
          <a:lstStyle/>
          <a:p>
            <a:r>
              <a:rPr lang="en-US" altLang="zh-CN"/>
              <a:t>1</a:t>
            </a:r>
            <a:r>
              <a:rPr lang="zh-CN" altLang="zh-CN"/>
              <a:t>．列目录内容（</a:t>
            </a:r>
            <a:r>
              <a:rPr lang="en-US" altLang="zh-CN"/>
              <a:t>ls</a:t>
            </a:r>
            <a:r>
              <a:rPr lang="zh-CN" altLang="zh-CN"/>
              <a:t>）</a:t>
            </a:r>
            <a:endParaRPr lang="zh-CN" altLang="en-US"/>
          </a:p>
        </p:txBody>
      </p:sp>
      <p:sp>
        <p:nvSpPr>
          <p:cNvPr id="75779" name="内容占位符 2">
            <a:extLst>
              <a:ext uri="{FF2B5EF4-FFF2-40B4-BE49-F238E27FC236}">
                <a16:creationId xmlns:a16="http://schemas.microsoft.com/office/drawing/2014/main" id="{77DA5C2A-AA60-EDDB-D5E8-06838ABA2190}"/>
              </a:ext>
            </a:extLst>
          </p:cNvPr>
          <p:cNvSpPr>
            <a:spLocks noGrp="1" noChangeArrowheads="1"/>
          </p:cNvSpPr>
          <p:nvPr>
            <p:ph idx="1"/>
          </p:nvPr>
        </p:nvSpPr>
        <p:spPr>
          <a:xfrm>
            <a:off x="107950" y="620713"/>
            <a:ext cx="9036050" cy="5761037"/>
          </a:xfrm>
        </p:spPr>
        <p:txBody>
          <a:bodyPr/>
          <a:lstStyle/>
          <a:p>
            <a:r>
              <a:rPr lang="en-US" altLang="zh-CN" sz="4800"/>
              <a:t>1</a:t>
            </a:r>
            <a:r>
              <a:rPr lang="zh-CN" altLang="zh-CN" sz="4800"/>
              <a:t>）功能与用法</a:t>
            </a:r>
          </a:p>
          <a:p>
            <a:r>
              <a:rPr lang="en-US" altLang="zh-CN" sz="4800"/>
              <a:t>ls</a:t>
            </a:r>
            <a:r>
              <a:rPr lang="zh-CN" altLang="zh-CN" sz="4800"/>
              <a:t>（</a:t>
            </a:r>
            <a:r>
              <a:rPr lang="en-US" altLang="zh-CN" sz="4800"/>
              <a:t>list</a:t>
            </a:r>
            <a:r>
              <a:rPr lang="zh-CN" altLang="zh-CN" sz="4800"/>
              <a:t>）的功能是列</a:t>
            </a:r>
            <a:r>
              <a:rPr lang="zh-CN" altLang="en-US" sz="4800"/>
              <a:t>出</a:t>
            </a:r>
            <a:r>
              <a:rPr lang="zh-CN" altLang="zh-CN" sz="4800"/>
              <a:t>指定目录的内容，并将输出按某种方式排序。若不指定目录，则默认当前目录。用法为：</a:t>
            </a:r>
            <a:r>
              <a:rPr lang="en-US" altLang="zh-CN" sz="4800"/>
              <a:t> </a:t>
            </a:r>
            <a:endParaRPr lang="zh-CN" altLang="zh-CN" sz="4800"/>
          </a:p>
          <a:p>
            <a:r>
              <a:rPr lang="en-US" altLang="zh-CN" sz="4800"/>
              <a:t>ls [options] [files]</a:t>
            </a:r>
            <a:r>
              <a:rPr lang="en-US" altLang="zh-CN"/>
              <a:t> </a:t>
            </a:r>
            <a:endParaRPr lang="zh-CN" altLang="zh-CN"/>
          </a:p>
          <a:p>
            <a:endParaRPr lang="zh-CN" altLang="en-US"/>
          </a:p>
        </p:txBody>
      </p:sp>
      <p:pic>
        <p:nvPicPr>
          <p:cNvPr id="4" name="Picture 5">
            <a:extLst>
              <a:ext uri="{FF2B5EF4-FFF2-40B4-BE49-F238E27FC236}">
                <a16:creationId xmlns:a16="http://schemas.microsoft.com/office/drawing/2014/main" id="{2521E219-D888-1CBE-CEE0-E2434BB690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8" y="765175"/>
            <a:ext cx="9069388"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标题 1">
            <a:extLst>
              <a:ext uri="{FF2B5EF4-FFF2-40B4-BE49-F238E27FC236}">
                <a16:creationId xmlns:a16="http://schemas.microsoft.com/office/drawing/2014/main" id="{413D4F0A-332D-AB70-56AF-D6A7E7C000A9}"/>
              </a:ext>
            </a:extLst>
          </p:cNvPr>
          <p:cNvSpPr>
            <a:spLocks noGrp="1" noChangeArrowheads="1"/>
          </p:cNvSpPr>
          <p:nvPr>
            <p:ph type="title"/>
          </p:nvPr>
        </p:nvSpPr>
        <p:spPr/>
        <p:txBody>
          <a:bodyPr/>
          <a:lstStyle/>
          <a:p>
            <a:r>
              <a:rPr lang="en-US" altLang="zh-CN"/>
              <a:t>2</a:t>
            </a:r>
            <a:r>
              <a:rPr lang="zh-CN" altLang="zh-CN"/>
              <a:t>）参数说明</a:t>
            </a:r>
            <a:endParaRPr lang="en-US" altLang="zh-CN"/>
          </a:p>
        </p:txBody>
      </p:sp>
      <p:graphicFrame>
        <p:nvGraphicFramePr>
          <p:cNvPr id="6" name="表格 5">
            <a:extLst>
              <a:ext uri="{FF2B5EF4-FFF2-40B4-BE49-F238E27FC236}">
                <a16:creationId xmlns:a16="http://schemas.microsoft.com/office/drawing/2014/main" id="{8B67741B-5BCF-A280-8D71-A27DFE6A94E0}"/>
              </a:ext>
            </a:extLst>
          </p:cNvPr>
          <p:cNvGraphicFramePr>
            <a:graphicFrameLocks noGrp="1"/>
          </p:cNvGraphicFramePr>
          <p:nvPr/>
        </p:nvGraphicFramePr>
        <p:xfrm>
          <a:off x="34925" y="549275"/>
          <a:ext cx="9074150" cy="7013575"/>
        </p:xfrm>
        <a:graphic>
          <a:graphicData uri="http://schemas.openxmlformats.org/drawingml/2006/table">
            <a:tbl>
              <a:tblPr firstRow="1" firstCol="1" bandRow="1"/>
              <a:tblGrid>
                <a:gridCol w="1128824">
                  <a:extLst>
                    <a:ext uri="{9D8B030D-6E8A-4147-A177-3AD203B41FA5}">
                      <a16:colId xmlns:a16="http://schemas.microsoft.com/office/drawing/2014/main" val="20000"/>
                    </a:ext>
                  </a:extLst>
                </a:gridCol>
                <a:gridCol w="7945326">
                  <a:extLst>
                    <a:ext uri="{9D8B030D-6E8A-4147-A177-3AD203B41FA5}">
                      <a16:colId xmlns:a16="http://schemas.microsoft.com/office/drawing/2014/main" val="20001"/>
                    </a:ext>
                  </a:extLst>
                </a:gridCol>
              </a:tblGrid>
              <a:tr h="485709">
                <a:tc>
                  <a:txBody>
                    <a:bodyPr/>
                    <a:lstStyle/>
                    <a:p>
                      <a:pPr algn="ctr">
                        <a:lnSpc>
                          <a:spcPct val="100000"/>
                        </a:lnSpc>
                        <a:spcAft>
                          <a:spcPts val="0"/>
                        </a:spcAft>
                      </a:pPr>
                      <a:r>
                        <a:rPr lang="zh-CN" sz="2400" b="1" kern="100" dirty="0">
                          <a:effectLst/>
                          <a:latin typeface="Times New Roman" panose="02020603050405020304"/>
                          <a:ea typeface="宋体" panose="02010600030101010101" pitchFamily="2" charset="-122"/>
                        </a:rPr>
                        <a:t>选</a:t>
                      </a:r>
                      <a:r>
                        <a:rPr lang="en-US" sz="2400" b="1" kern="100" dirty="0">
                          <a:effectLst/>
                          <a:latin typeface="Times New Roman" panose="02020603050405020304"/>
                          <a:ea typeface="宋体" panose="02010600030101010101" pitchFamily="2" charset="-122"/>
                        </a:rPr>
                        <a:t>    </a:t>
                      </a:r>
                      <a:r>
                        <a:rPr lang="zh-CN" sz="2400" b="1" kern="100" dirty="0">
                          <a:effectLst/>
                          <a:latin typeface="Times New Roman" panose="02020603050405020304"/>
                          <a:ea typeface="宋体" panose="02010600030101010101" pitchFamily="2" charset="-122"/>
                        </a:rPr>
                        <a:t>项</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400" b="1" kern="100" dirty="0">
                          <a:effectLst/>
                          <a:latin typeface="Times New Roman" panose="02020603050405020304"/>
                          <a:ea typeface="宋体" panose="02010600030101010101" pitchFamily="2" charset="-122"/>
                        </a:rPr>
                        <a:t>意</a:t>
                      </a:r>
                      <a:r>
                        <a:rPr lang="en-US" sz="2400" b="1" kern="100" dirty="0">
                          <a:effectLst/>
                          <a:latin typeface="Times New Roman" panose="02020603050405020304"/>
                          <a:ea typeface="宋体" panose="02010600030101010101" pitchFamily="2" charset="-122"/>
                        </a:rPr>
                        <a:t>    </a:t>
                      </a:r>
                      <a:r>
                        <a:rPr lang="zh-CN" sz="2400" b="1" kern="100" dirty="0">
                          <a:effectLst/>
                          <a:latin typeface="Times New Roman" panose="02020603050405020304"/>
                          <a:ea typeface="宋体" panose="02010600030101010101" pitchFamily="2" charset="-122"/>
                        </a:rPr>
                        <a:t>义</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31540">
                <a:tc>
                  <a:txBody>
                    <a:bodyPr/>
                    <a:lstStyle/>
                    <a:p>
                      <a:pPr algn="ctr">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rPr>
                        <a:t>-a</a:t>
                      </a:r>
                      <a:endParaRPr lang="zh-CN" sz="4800" b="1" kern="100" dirty="0">
                        <a:solidFill>
                          <a:srgbClr val="FF0000"/>
                        </a:solidFill>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400" b="1" kern="100">
                          <a:solidFill>
                            <a:srgbClr val="FF0000"/>
                          </a:solidFill>
                          <a:effectLst/>
                          <a:latin typeface="Times New Roman" panose="02020603050405020304"/>
                          <a:ea typeface="宋体" panose="02010600030101010101" pitchFamily="2" charset="-122"/>
                        </a:rPr>
                        <a:t>列出所有文件及目录（</a:t>
                      </a:r>
                      <a:r>
                        <a:rPr lang="en-US" sz="2400" b="1" kern="100">
                          <a:solidFill>
                            <a:srgbClr val="FF0000"/>
                          </a:solidFill>
                          <a:effectLst/>
                          <a:latin typeface="Times New Roman" panose="02020603050405020304"/>
                          <a:ea typeface="宋体" panose="02010600030101010101" pitchFamily="2" charset="-122"/>
                        </a:rPr>
                        <a:t>Linux</a:t>
                      </a:r>
                      <a:r>
                        <a:rPr lang="zh-CN" sz="2400" b="1" kern="100">
                          <a:solidFill>
                            <a:srgbClr val="FF0000"/>
                          </a:solidFill>
                          <a:effectLst/>
                          <a:latin typeface="Times New Roman" panose="02020603050405020304"/>
                          <a:ea typeface="宋体" panose="02010600030101010101" pitchFamily="2" charset="-122"/>
                        </a:rPr>
                        <a:t>规定以点“</a:t>
                      </a:r>
                      <a:r>
                        <a:rPr lang="en-US" sz="2400" b="1" kern="100">
                          <a:solidFill>
                            <a:srgbClr val="FF0000"/>
                          </a:solidFill>
                          <a:effectLst/>
                          <a:latin typeface="Times New Roman" panose="02020603050405020304"/>
                          <a:ea typeface="宋体" panose="02010600030101010101" pitchFamily="2" charset="-122"/>
                        </a:rPr>
                        <a:t>.</a:t>
                      </a:r>
                      <a:r>
                        <a:rPr lang="zh-CN" sz="2400" b="1" kern="100">
                          <a:solidFill>
                            <a:srgbClr val="FF0000"/>
                          </a:solidFill>
                          <a:effectLst/>
                          <a:latin typeface="Times New Roman" panose="02020603050405020304"/>
                          <a:ea typeface="宋体" panose="02010600030101010101" pitchFamily="2" charset="-122"/>
                        </a:rPr>
                        <a:t>”开头为隐藏文件，默认情况下不会列出）</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31540">
                <a:tc>
                  <a:txBody>
                    <a:bodyPr/>
                    <a:lstStyle/>
                    <a:p>
                      <a:pPr algn="ctr">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cs typeface="+mn-cs"/>
                        </a:rPr>
                        <a:t>-A</a:t>
                      </a:r>
                      <a:endParaRPr lang="zh-CN" sz="4800" b="1" kern="100" dirty="0">
                        <a:solidFill>
                          <a:srgbClr val="FF0000"/>
                        </a:solidFill>
                        <a:effectLst/>
                        <a:latin typeface="Times New Roman" panose="02020603050405020304"/>
                        <a:ea typeface="宋体" panose="02010600030101010101" pitchFamily="2" charset="-122"/>
                        <a:cs typeface="+mn-cs"/>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400" b="1" kern="100" dirty="0">
                          <a:solidFill>
                            <a:srgbClr val="FF0000"/>
                          </a:solidFill>
                          <a:effectLst/>
                          <a:latin typeface="Times New Roman" panose="02020603050405020304"/>
                          <a:ea typeface="宋体" panose="02010600030101010101" pitchFamily="2" charset="-122"/>
                        </a:rPr>
                        <a:t>同</a:t>
                      </a:r>
                      <a:r>
                        <a:rPr lang="en-US" sz="2400" b="1" kern="100" dirty="0">
                          <a:solidFill>
                            <a:srgbClr val="FF0000"/>
                          </a:solidFill>
                          <a:effectLst/>
                          <a:latin typeface="Times New Roman" panose="02020603050405020304"/>
                          <a:ea typeface="宋体" panose="02010600030101010101" pitchFamily="2" charset="-122"/>
                        </a:rPr>
                        <a:t>-a</a:t>
                      </a:r>
                      <a:r>
                        <a:rPr lang="zh-CN" sz="2400" b="1" kern="100" dirty="0">
                          <a:solidFill>
                            <a:srgbClr val="FF0000"/>
                          </a:solidFill>
                          <a:effectLst/>
                          <a:latin typeface="Times New Roman" panose="02020603050405020304"/>
                          <a:ea typeface="宋体" panose="02010600030101010101" pitchFamily="2" charset="-122"/>
                        </a:rPr>
                        <a:t>，但不列出</a:t>
                      </a:r>
                      <a:r>
                        <a:rPr lang="en-US" sz="2400" b="1" kern="100" dirty="0">
                          <a:solidFill>
                            <a:srgbClr val="FF0000"/>
                          </a:solidFill>
                          <a:effectLst/>
                          <a:latin typeface="Times New Roman" panose="02020603050405020304"/>
                          <a:ea typeface="宋体" panose="02010600030101010101" pitchFamily="2" charset="-122"/>
                        </a:rPr>
                        <a:t>.</a:t>
                      </a:r>
                      <a:r>
                        <a:rPr lang="zh-CN" sz="2400" b="1" kern="100" dirty="0">
                          <a:solidFill>
                            <a:srgbClr val="FF0000"/>
                          </a:solidFill>
                          <a:effectLst/>
                          <a:latin typeface="Times New Roman" panose="02020603050405020304"/>
                          <a:ea typeface="宋体" panose="02010600030101010101" pitchFamily="2" charset="-122"/>
                        </a:rPr>
                        <a:t>和</a:t>
                      </a:r>
                      <a:r>
                        <a:rPr lang="en-US" sz="2400" b="1" kern="100" dirty="0">
                          <a:solidFill>
                            <a:srgbClr val="FF0000"/>
                          </a:solidFill>
                          <a:effectLst/>
                          <a:latin typeface="Times New Roman" panose="02020603050405020304"/>
                          <a:ea typeface="宋体" panose="02010600030101010101" pitchFamily="2" charset="-122"/>
                        </a:rPr>
                        <a:t>..</a:t>
                      </a:r>
                      <a:endParaRPr lang="zh-CN" sz="2400" b="1" kern="100" dirty="0">
                        <a:solidFill>
                          <a:srgbClr val="FF0000"/>
                        </a:solidFill>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6945">
                <a:tc>
                  <a:txBody>
                    <a:bodyPr/>
                    <a:lstStyle/>
                    <a:p>
                      <a:pPr algn="ctr">
                        <a:lnSpc>
                          <a:spcPct val="100000"/>
                        </a:lnSpc>
                        <a:spcAft>
                          <a:spcPts val="0"/>
                        </a:spcAft>
                      </a:pPr>
                      <a:r>
                        <a:rPr lang="en-US" sz="2400" b="1" kern="100">
                          <a:effectLst/>
                          <a:latin typeface="Times New Roman" panose="02020603050405020304"/>
                          <a:ea typeface="宋体" panose="02010600030101010101" pitchFamily="2" charset="-122"/>
                        </a:rPr>
                        <a:t>-b</a:t>
                      </a:r>
                      <a:endParaRPr lang="zh-CN" sz="2400" b="1" kern="100">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400" b="1" kern="100" dirty="0">
                          <a:effectLst/>
                          <a:latin typeface="Times New Roman" panose="02020603050405020304"/>
                          <a:ea typeface="宋体" panose="02010600030101010101" pitchFamily="2" charset="-122"/>
                        </a:rPr>
                        <a:t>以八进制数字方式列出不可显示的文件</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31540">
                <a:tc>
                  <a:txBody>
                    <a:bodyPr/>
                    <a:lstStyle/>
                    <a:p>
                      <a:pPr algn="ctr">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cs typeface="+mn-cs"/>
                        </a:rPr>
                        <a:t>-</a:t>
                      </a:r>
                      <a:r>
                        <a:rPr lang="en-US" sz="4800" b="1" kern="100" dirty="0" err="1">
                          <a:solidFill>
                            <a:srgbClr val="FF0000"/>
                          </a:solidFill>
                          <a:effectLst/>
                          <a:latin typeface="Times New Roman" panose="02020603050405020304"/>
                          <a:ea typeface="宋体" panose="02010600030101010101" pitchFamily="2" charset="-122"/>
                          <a:cs typeface="+mn-cs"/>
                        </a:rPr>
                        <a:t>i</a:t>
                      </a:r>
                      <a:endParaRPr lang="zh-CN" sz="4800" b="1" kern="100" dirty="0">
                        <a:solidFill>
                          <a:srgbClr val="FF0000"/>
                        </a:solidFill>
                        <a:effectLst/>
                        <a:latin typeface="Times New Roman" panose="02020603050405020304"/>
                        <a:ea typeface="宋体" panose="02010600030101010101" pitchFamily="2" charset="-122"/>
                        <a:cs typeface="+mn-cs"/>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400" b="1" kern="100">
                          <a:solidFill>
                            <a:srgbClr val="FF0000"/>
                          </a:solidFill>
                          <a:effectLst/>
                          <a:latin typeface="Times New Roman" panose="02020603050405020304"/>
                          <a:ea typeface="宋体" panose="02010600030101010101" pitchFamily="2" charset="-122"/>
                        </a:rPr>
                        <a:t>列出目录时显示</a:t>
                      </a:r>
                      <a:r>
                        <a:rPr lang="en-US" sz="2400" b="1" kern="100">
                          <a:solidFill>
                            <a:srgbClr val="FF0000"/>
                          </a:solidFill>
                          <a:effectLst/>
                          <a:latin typeface="Times New Roman" panose="02020603050405020304"/>
                          <a:ea typeface="宋体" panose="02010600030101010101" pitchFamily="2" charset="-122"/>
                        </a:rPr>
                        <a:t>i</a:t>
                      </a:r>
                      <a:r>
                        <a:rPr lang="zh-CN" sz="2400" b="1" kern="100">
                          <a:solidFill>
                            <a:srgbClr val="FF0000"/>
                          </a:solidFill>
                          <a:effectLst/>
                          <a:latin typeface="Times New Roman" panose="02020603050405020304"/>
                          <a:ea typeface="宋体" panose="02010600030101010101" pitchFamily="2" charset="-122"/>
                        </a:rPr>
                        <a:t>节点信息</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31540">
                <a:tc>
                  <a:txBody>
                    <a:bodyPr/>
                    <a:lstStyle/>
                    <a:p>
                      <a:pPr algn="ctr">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cs typeface="+mn-cs"/>
                        </a:rPr>
                        <a:t>-l</a:t>
                      </a:r>
                      <a:endParaRPr lang="zh-CN" sz="4800" b="1" kern="100" dirty="0">
                        <a:solidFill>
                          <a:srgbClr val="FF0000"/>
                        </a:solidFill>
                        <a:effectLst/>
                        <a:latin typeface="Times New Roman" panose="02020603050405020304"/>
                        <a:ea typeface="宋体" panose="02010600030101010101" pitchFamily="2" charset="-122"/>
                        <a:cs typeface="+mn-cs"/>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400" b="1" kern="100" dirty="0">
                          <a:solidFill>
                            <a:srgbClr val="FF0000"/>
                          </a:solidFill>
                          <a:effectLst/>
                          <a:latin typeface="Times New Roman" panose="02020603050405020304"/>
                          <a:ea typeface="宋体" panose="02010600030101010101" pitchFamily="2" charset="-122"/>
                        </a:rPr>
                        <a:t>长格式列表</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94434">
                <a:tc>
                  <a:txBody>
                    <a:bodyPr/>
                    <a:lstStyle/>
                    <a:p>
                      <a:pPr algn="ctr">
                        <a:lnSpc>
                          <a:spcPct val="100000"/>
                        </a:lnSpc>
                        <a:spcAft>
                          <a:spcPts val="0"/>
                        </a:spcAft>
                      </a:pPr>
                      <a:r>
                        <a:rPr lang="en-US" sz="2400" b="1" kern="100">
                          <a:effectLst/>
                          <a:latin typeface="Times New Roman" panose="02020603050405020304"/>
                          <a:ea typeface="宋体" panose="02010600030101010101" pitchFamily="2" charset="-122"/>
                        </a:rPr>
                        <a:t>-F</a:t>
                      </a:r>
                      <a:endParaRPr lang="zh-CN" sz="2400" b="1" kern="100">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000" b="1" kern="100" dirty="0">
                          <a:effectLst/>
                          <a:latin typeface="Times New Roman" panose="02020603050405020304"/>
                          <a:ea typeface="宋体" panose="02010600030101010101" pitchFamily="2" charset="-122"/>
                        </a:rPr>
                        <a:t>短格式列表，文件名称后加一符号表示属性：可执行文件加</a:t>
                      </a:r>
                      <a:r>
                        <a:rPr lang="en-US" sz="2000" b="1" kern="100" dirty="0">
                          <a:effectLst/>
                          <a:latin typeface="Times New Roman" panose="02020603050405020304"/>
                          <a:ea typeface="宋体" panose="02010600030101010101" pitchFamily="2" charset="-122"/>
                        </a:rPr>
                        <a:t>*</a:t>
                      </a:r>
                      <a:r>
                        <a:rPr lang="zh-CN" sz="2000" b="1" kern="100" dirty="0">
                          <a:effectLst/>
                          <a:latin typeface="Times New Roman" panose="02020603050405020304"/>
                          <a:ea typeface="宋体" panose="02010600030101010101" pitchFamily="2" charset="-122"/>
                        </a:rPr>
                        <a:t>，目录</a:t>
                      </a:r>
                      <a:r>
                        <a:rPr lang="en-US" sz="2000" b="1" kern="100" dirty="0">
                          <a:effectLst/>
                          <a:latin typeface="Times New Roman" panose="02020603050405020304"/>
                          <a:ea typeface="宋体" panose="02010600030101010101" pitchFamily="2" charset="-122"/>
                        </a:rPr>
                        <a:t>/</a:t>
                      </a:r>
                      <a:endParaRPr lang="zh-CN" sz="2000" b="1" kern="100" dirty="0">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31540">
                <a:tc>
                  <a:txBody>
                    <a:bodyPr/>
                    <a:lstStyle/>
                    <a:p>
                      <a:pPr algn="ctr">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cs typeface="+mn-cs"/>
                        </a:rPr>
                        <a:t>-r</a:t>
                      </a:r>
                      <a:endParaRPr lang="zh-CN" sz="4800" b="1" kern="100" dirty="0">
                        <a:solidFill>
                          <a:srgbClr val="FF0000"/>
                        </a:solidFill>
                        <a:effectLst/>
                        <a:latin typeface="Times New Roman" panose="02020603050405020304"/>
                        <a:ea typeface="宋体" panose="02010600030101010101" pitchFamily="2" charset="-122"/>
                        <a:cs typeface="+mn-cs"/>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400" b="1" kern="100" dirty="0">
                          <a:effectLst/>
                          <a:latin typeface="Times New Roman" panose="02020603050405020304"/>
                          <a:ea typeface="宋体" panose="02010600030101010101" pitchFamily="2" charset="-122"/>
                        </a:rPr>
                        <a:t>将文件以相反排序方式列出（默认按文件名</a:t>
                      </a:r>
                      <a:r>
                        <a:rPr lang="en-US" sz="2400" b="1" kern="100" dirty="0">
                          <a:effectLst/>
                          <a:latin typeface="Times New Roman" panose="02020603050405020304"/>
                          <a:ea typeface="宋体" panose="02010600030101010101" pitchFamily="2" charset="-122"/>
                        </a:rPr>
                        <a:t>ASCII</a:t>
                      </a:r>
                      <a:r>
                        <a:rPr lang="zh-CN" sz="2400" b="1" kern="100" dirty="0">
                          <a:effectLst/>
                          <a:latin typeface="Times New Roman" panose="02020603050405020304"/>
                          <a:ea typeface="宋体" panose="02010600030101010101" pitchFamily="2" charset="-122"/>
                        </a:rPr>
                        <a:t>码值）</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731540">
                <a:tc>
                  <a:txBody>
                    <a:bodyPr/>
                    <a:lstStyle/>
                    <a:p>
                      <a:pPr algn="ctr">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cs typeface="+mn-cs"/>
                        </a:rPr>
                        <a:t>-R</a:t>
                      </a:r>
                      <a:endParaRPr lang="zh-CN" sz="4800" b="1" kern="100" dirty="0">
                        <a:solidFill>
                          <a:srgbClr val="FF0000"/>
                        </a:solidFill>
                        <a:effectLst/>
                        <a:latin typeface="Times New Roman" panose="02020603050405020304"/>
                        <a:ea typeface="宋体" panose="02010600030101010101" pitchFamily="2" charset="-122"/>
                        <a:cs typeface="+mn-cs"/>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400" b="1" kern="100" dirty="0">
                          <a:effectLst/>
                          <a:latin typeface="Times New Roman" panose="02020603050405020304"/>
                          <a:ea typeface="宋体" panose="02010600030101010101" pitchFamily="2" charset="-122"/>
                        </a:rPr>
                        <a:t>递归列出目录及其子目录</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731540">
                <a:tc>
                  <a:txBody>
                    <a:bodyPr/>
                    <a:lstStyle/>
                    <a:p>
                      <a:pPr algn="ctr">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cs typeface="+mn-cs"/>
                        </a:rPr>
                        <a:t>-t</a:t>
                      </a:r>
                      <a:endParaRPr lang="zh-CN" sz="4800" b="1" kern="100" dirty="0">
                        <a:solidFill>
                          <a:srgbClr val="FF0000"/>
                        </a:solidFill>
                        <a:effectLst/>
                        <a:latin typeface="Times New Roman" panose="02020603050405020304"/>
                        <a:ea typeface="宋体" panose="02010600030101010101" pitchFamily="2" charset="-122"/>
                        <a:cs typeface="+mn-cs"/>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400" b="1" kern="100" dirty="0">
                          <a:effectLst/>
                          <a:latin typeface="Times New Roman" panose="02020603050405020304"/>
                          <a:ea typeface="宋体" panose="02010600030101010101" pitchFamily="2" charset="-122"/>
                        </a:rPr>
                        <a:t>按文件依修改时间排序</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485709">
                <a:tc>
                  <a:txBody>
                    <a:bodyPr/>
                    <a:lstStyle/>
                    <a:p>
                      <a:pPr algn="ctr">
                        <a:lnSpc>
                          <a:spcPct val="100000"/>
                        </a:lnSpc>
                        <a:spcAft>
                          <a:spcPts val="0"/>
                        </a:spcAft>
                      </a:pPr>
                      <a:r>
                        <a:rPr lang="en-US" sz="2400" b="1" kern="100" dirty="0">
                          <a:effectLst/>
                          <a:latin typeface="Times New Roman" panose="02020603050405020304"/>
                          <a:ea typeface="宋体" panose="02010600030101010101" pitchFamily="2" charset="-122"/>
                        </a:rPr>
                        <a:t>-U</a:t>
                      </a:r>
                      <a:endParaRPr lang="zh-CN" sz="2400" b="1" kern="100" dirty="0">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400" b="1" kern="100" dirty="0">
                          <a:effectLst/>
                          <a:latin typeface="Times New Roman" panose="02020603050405020304"/>
                          <a:ea typeface="宋体" panose="02010600030101010101" pitchFamily="2" charset="-122"/>
                        </a:rPr>
                        <a:t>以不排序方式列目录</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标题 1">
            <a:extLst>
              <a:ext uri="{FF2B5EF4-FFF2-40B4-BE49-F238E27FC236}">
                <a16:creationId xmlns:a16="http://schemas.microsoft.com/office/drawing/2014/main" id="{55F5829A-575F-4D0B-5553-D14F294A2F36}"/>
              </a:ext>
            </a:extLst>
          </p:cNvPr>
          <p:cNvSpPr>
            <a:spLocks noGrp="1" noChangeArrowheads="1"/>
          </p:cNvSpPr>
          <p:nvPr>
            <p:ph type="title"/>
          </p:nvPr>
        </p:nvSpPr>
        <p:spPr/>
        <p:txBody>
          <a:bodyPr/>
          <a:lstStyle/>
          <a:p>
            <a:r>
              <a:rPr lang="en-US" altLang="zh-CN"/>
              <a:t>3</a:t>
            </a:r>
            <a:r>
              <a:rPr lang="zh-CN" altLang="zh-CN"/>
              <a:t>）示例</a:t>
            </a:r>
            <a:endParaRPr lang="zh-CN" altLang="en-US"/>
          </a:p>
        </p:txBody>
      </p:sp>
      <p:sp>
        <p:nvSpPr>
          <p:cNvPr id="77827" name="内容占位符 2">
            <a:extLst>
              <a:ext uri="{FF2B5EF4-FFF2-40B4-BE49-F238E27FC236}">
                <a16:creationId xmlns:a16="http://schemas.microsoft.com/office/drawing/2014/main" id="{EE78A830-98FE-8902-4828-3607B3128A39}"/>
              </a:ext>
            </a:extLst>
          </p:cNvPr>
          <p:cNvSpPr>
            <a:spLocks noGrp="1" noChangeArrowheads="1"/>
          </p:cNvSpPr>
          <p:nvPr>
            <p:ph idx="1"/>
          </p:nvPr>
        </p:nvSpPr>
        <p:spPr>
          <a:xfrm>
            <a:off x="179388" y="620713"/>
            <a:ext cx="8964612" cy="5761037"/>
          </a:xfrm>
        </p:spPr>
        <p:txBody>
          <a:bodyPr/>
          <a:lstStyle/>
          <a:p>
            <a:r>
              <a:rPr lang="en-US" altLang="zh-CN" sz="3600"/>
              <a:t> </a:t>
            </a:r>
            <a:r>
              <a:rPr lang="en-US" altLang="zh-CN" sz="3600">
                <a:solidFill>
                  <a:srgbClr val="FF0000"/>
                </a:solidFill>
              </a:rPr>
              <a:t>#ls -ltr s*</a:t>
            </a:r>
            <a:r>
              <a:rPr lang="en-US" altLang="zh-CN" sz="3600"/>
              <a:t>	#</a:t>
            </a:r>
            <a:r>
              <a:rPr lang="zh-CN" altLang="zh-CN" sz="3600"/>
              <a:t>列出当前目录下所有名字以</a:t>
            </a:r>
            <a:r>
              <a:rPr lang="en-US" altLang="zh-CN" sz="3600"/>
              <a:t>s</a:t>
            </a:r>
            <a:r>
              <a:rPr lang="zh-CN" altLang="zh-CN" sz="3600"/>
              <a:t>开头的文件，按修改时间倒排序</a:t>
            </a:r>
          </a:p>
          <a:p>
            <a:r>
              <a:rPr lang="en-US" altLang="zh-CN" sz="3600">
                <a:solidFill>
                  <a:srgbClr val="FF0000"/>
                </a:solidFill>
              </a:rPr>
              <a:t>#ls -lR /bin</a:t>
            </a:r>
            <a:r>
              <a:rPr lang="en-US" altLang="zh-CN" sz="3600"/>
              <a:t>	#</a:t>
            </a:r>
            <a:r>
              <a:rPr lang="zh-CN" altLang="zh-CN" sz="3600"/>
              <a:t>递归列</a:t>
            </a:r>
            <a:r>
              <a:rPr lang="en-US" altLang="zh-CN" sz="3600"/>
              <a:t>/bin</a:t>
            </a:r>
            <a:r>
              <a:rPr lang="zh-CN" altLang="zh-CN" sz="3600"/>
              <a:t>目录及其子目录</a:t>
            </a:r>
          </a:p>
          <a:p>
            <a:r>
              <a:rPr lang="en-US" altLang="zh-CN" sz="3600">
                <a:solidFill>
                  <a:srgbClr val="FF0000"/>
                </a:solidFill>
              </a:rPr>
              <a:t>#ls -ad .*</a:t>
            </a:r>
            <a:r>
              <a:rPr lang="en-US" altLang="zh-CN" sz="3600"/>
              <a:t>	#</a:t>
            </a:r>
            <a:r>
              <a:rPr lang="zh-CN" altLang="zh-CN" sz="3600"/>
              <a:t>列所有</a:t>
            </a:r>
            <a:r>
              <a:rPr lang="zh-CN" altLang="en-US" sz="3600"/>
              <a:t>名以点</a:t>
            </a:r>
            <a:r>
              <a:rPr lang="en-US" altLang="zh-CN" sz="3600"/>
              <a:t>.</a:t>
            </a:r>
            <a:r>
              <a:rPr lang="zh-CN" altLang="zh-CN" sz="3600"/>
              <a:t>开头的文件</a:t>
            </a:r>
          </a:p>
          <a:p>
            <a:r>
              <a:rPr lang="en-US" altLang="zh-CN" sz="3600"/>
              <a:t>#ls -AF		#</a:t>
            </a:r>
            <a:r>
              <a:rPr lang="zh-CN" altLang="zh-CN" sz="3600"/>
              <a:t>列当前目录，名后</a:t>
            </a:r>
            <a:r>
              <a:rPr lang="zh-CN" altLang="en-US" sz="3600"/>
              <a:t>属性字符</a:t>
            </a:r>
            <a:endParaRPr lang="zh-CN" altLang="zh-CN" sz="3600"/>
          </a:p>
          <a:p>
            <a:r>
              <a:rPr lang="en-US" altLang="zh-CN" sz="3600">
                <a:solidFill>
                  <a:srgbClr val="FF0000"/>
                </a:solidFill>
              </a:rPr>
              <a:t>#ls -lid /usr/bin/ls /dev/sda /etc</a:t>
            </a:r>
            <a:r>
              <a:rPr lang="en-US" altLang="zh-CN" sz="3600"/>
              <a:t>	#</a:t>
            </a:r>
            <a:r>
              <a:rPr lang="zh-CN" altLang="zh-CN" sz="3600"/>
              <a:t>以长格式列文件且</a:t>
            </a:r>
            <a:r>
              <a:rPr lang="zh-CN" altLang="en-US" sz="3600"/>
              <a:t>输出</a:t>
            </a:r>
            <a:r>
              <a:rPr lang="en-US" altLang="zh-CN" sz="3600"/>
              <a:t>I</a:t>
            </a:r>
            <a:r>
              <a:rPr lang="zh-CN" altLang="zh-CN" sz="3600"/>
              <a:t>节点号</a:t>
            </a:r>
            <a:endParaRPr lang="zh-CN" altLang="en-US" sz="36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标题 1">
            <a:extLst>
              <a:ext uri="{FF2B5EF4-FFF2-40B4-BE49-F238E27FC236}">
                <a16:creationId xmlns:a16="http://schemas.microsoft.com/office/drawing/2014/main" id="{86741E48-C5AB-64B4-D1AC-848CCEE9B986}"/>
              </a:ext>
            </a:extLst>
          </p:cNvPr>
          <p:cNvSpPr>
            <a:spLocks noGrp="1" noChangeArrowheads="1"/>
          </p:cNvSpPr>
          <p:nvPr>
            <p:ph type="title"/>
          </p:nvPr>
        </p:nvSpPr>
        <p:spPr/>
        <p:txBody>
          <a:bodyPr/>
          <a:lstStyle/>
          <a:p>
            <a:r>
              <a:rPr lang="en-US" altLang="zh-CN"/>
              <a:t>4</a:t>
            </a:r>
            <a:r>
              <a:rPr lang="zh-CN" altLang="zh-CN"/>
              <a:t>） </a:t>
            </a:r>
            <a:r>
              <a:rPr lang="en-US" altLang="zh-CN"/>
              <a:t>ls</a:t>
            </a:r>
            <a:r>
              <a:rPr lang="zh-CN" altLang="en-US"/>
              <a:t>的输出与文件</a:t>
            </a:r>
            <a:r>
              <a:rPr lang="zh-CN" altLang="zh-CN"/>
              <a:t>属性</a:t>
            </a:r>
            <a:endParaRPr lang="zh-CN" altLang="en-US"/>
          </a:p>
        </p:txBody>
      </p:sp>
      <p:sp>
        <p:nvSpPr>
          <p:cNvPr id="3" name="内容占位符 2">
            <a:extLst>
              <a:ext uri="{FF2B5EF4-FFF2-40B4-BE49-F238E27FC236}">
                <a16:creationId xmlns:a16="http://schemas.microsoft.com/office/drawing/2014/main" id="{795809AD-542E-E2C6-D75D-DA1F2ED2E276}"/>
              </a:ext>
            </a:extLst>
          </p:cNvPr>
          <p:cNvSpPr>
            <a:spLocks noGrp="1"/>
          </p:cNvSpPr>
          <p:nvPr>
            <p:ph idx="1"/>
          </p:nvPr>
        </p:nvSpPr>
        <p:spPr>
          <a:xfrm>
            <a:off x="34925" y="549275"/>
            <a:ext cx="9109075" cy="5688013"/>
          </a:xfrm>
        </p:spPr>
        <p:txBody>
          <a:bodyPr/>
          <a:lstStyle/>
          <a:p>
            <a:pPr>
              <a:defRPr/>
            </a:pPr>
            <a:r>
              <a:rPr lang="en-US" altLang="zh-CN" dirty="0"/>
              <a:t>ls -lid /</a:t>
            </a:r>
            <a:r>
              <a:rPr lang="en-US" altLang="zh-CN" dirty="0" err="1"/>
              <a:t>usr</a:t>
            </a:r>
            <a:r>
              <a:rPr lang="en-US" altLang="zh-CN" dirty="0"/>
              <a:t>/bin/ls /dev/</a:t>
            </a:r>
            <a:r>
              <a:rPr lang="en-US" altLang="zh-CN" dirty="0" err="1"/>
              <a:t>sda</a:t>
            </a:r>
            <a:r>
              <a:rPr lang="en-US" altLang="zh-CN" dirty="0"/>
              <a:t> /</a:t>
            </a:r>
            <a:r>
              <a:rPr lang="en-US" altLang="zh-CN" dirty="0" err="1"/>
              <a:t>etc</a:t>
            </a:r>
            <a:r>
              <a:rPr lang="zh-CN" altLang="en-US" dirty="0"/>
              <a:t>的有以下内容</a:t>
            </a:r>
            <a:r>
              <a:rPr lang="zh-CN" altLang="zh-CN" dirty="0"/>
              <a:t>：</a:t>
            </a:r>
            <a:endParaRPr lang="en-US" altLang="zh-CN" dirty="0"/>
          </a:p>
          <a:p>
            <a:pPr>
              <a:defRPr/>
            </a:pPr>
            <a:r>
              <a:rPr lang="en-US" altLang="zh-CN" sz="2000" u="sng" dirty="0">
                <a:latin typeface="+mn-ea"/>
              </a:rPr>
              <a:t>2039</a:t>
            </a:r>
            <a:r>
              <a:rPr lang="en-US" altLang="zh-CN" sz="2000" dirty="0">
                <a:latin typeface="+mn-ea"/>
              </a:rPr>
              <a:t>   </a:t>
            </a:r>
            <a:r>
              <a:rPr lang="en-US" altLang="zh-CN" sz="2000" u="sng" dirty="0">
                <a:latin typeface="+mn-ea"/>
              </a:rPr>
              <a:t>b</a:t>
            </a:r>
            <a:r>
              <a:rPr lang="en-US" altLang="zh-CN" sz="2000" dirty="0">
                <a:latin typeface="+mn-ea"/>
              </a:rPr>
              <a:t> </a:t>
            </a:r>
            <a:r>
              <a:rPr lang="en-US" altLang="zh-CN" sz="2000" u="sng" dirty="0" err="1">
                <a:latin typeface="+mn-ea"/>
              </a:rPr>
              <a:t>rw</a:t>
            </a:r>
            <a:r>
              <a:rPr lang="en-US" altLang="zh-CN" sz="2000" u="sng" dirty="0">
                <a:latin typeface="+mn-ea"/>
              </a:rPr>
              <a:t>-</a:t>
            </a:r>
            <a:r>
              <a:rPr lang="en-US" altLang="zh-CN" sz="2000" u="sng" dirty="0" err="1">
                <a:latin typeface="+mn-ea"/>
              </a:rPr>
              <a:t>rw</a:t>
            </a:r>
            <a:r>
              <a:rPr lang="en-US" altLang="zh-CN" sz="2000" u="sng" dirty="0">
                <a:latin typeface="+mn-ea"/>
              </a:rPr>
              <a:t>----</a:t>
            </a:r>
            <a:r>
              <a:rPr lang="en-US" altLang="zh-CN" sz="2000" dirty="0">
                <a:latin typeface="+mn-ea"/>
              </a:rPr>
              <a:t>.   </a:t>
            </a:r>
            <a:r>
              <a:rPr lang="en-US" altLang="zh-CN" sz="2000" u="sng" dirty="0">
                <a:latin typeface="+mn-ea"/>
              </a:rPr>
              <a:t>1</a:t>
            </a:r>
            <a:r>
              <a:rPr lang="en-US" altLang="zh-CN" sz="2000" dirty="0">
                <a:latin typeface="+mn-ea"/>
              </a:rPr>
              <a:t> </a:t>
            </a:r>
            <a:r>
              <a:rPr lang="en-US" altLang="zh-CN" sz="2000" u="sng" dirty="0">
                <a:latin typeface="+mn-ea"/>
              </a:rPr>
              <a:t>root</a:t>
            </a:r>
            <a:r>
              <a:rPr lang="en-US" altLang="zh-CN" sz="2000" dirty="0">
                <a:latin typeface="+mn-ea"/>
              </a:rPr>
              <a:t> </a:t>
            </a:r>
            <a:r>
              <a:rPr lang="en-US" altLang="zh-CN" sz="2000" u="sng" dirty="0">
                <a:latin typeface="+mn-ea"/>
              </a:rPr>
              <a:t>disk</a:t>
            </a:r>
            <a:r>
              <a:rPr lang="en-US" altLang="zh-CN" sz="2000" dirty="0">
                <a:latin typeface="+mn-ea"/>
              </a:rPr>
              <a:t>   </a:t>
            </a:r>
            <a:r>
              <a:rPr lang="en-US" altLang="zh-CN" sz="2000" u="sng" dirty="0">
                <a:latin typeface="+mn-ea"/>
              </a:rPr>
              <a:t>8, 0</a:t>
            </a:r>
            <a:r>
              <a:rPr lang="en-US" altLang="zh-CN" sz="2000" dirty="0">
                <a:latin typeface="+mn-ea"/>
              </a:rPr>
              <a:t>  </a:t>
            </a:r>
            <a:r>
              <a:rPr lang="en-US" altLang="zh-CN" sz="2000" u="sng" dirty="0">
                <a:latin typeface="+mn-ea"/>
              </a:rPr>
              <a:t>Mar 8 09:06</a:t>
            </a:r>
            <a:r>
              <a:rPr lang="en-US" altLang="zh-CN" sz="2000" dirty="0">
                <a:latin typeface="+mn-ea"/>
              </a:rPr>
              <a:t> </a:t>
            </a:r>
            <a:r>
              <a:rPr lang="en-US" altLang="zh-CN" sz="2000" u="sng" dirty="0">
                <a:latin typeface="+mn-ea"/>
              </a:rPr>
              <a:t>/</a:t>
            </a:r>
            <a:r>
              <a:rPr lang="en-US" altLang="zh-CN" sz="2000" u="sng" dirty="0" err="1">
                <a:latin typeface="+mn-ea"/>
              </a:rPr>
              <a:t>dev</a:t>
            </a:r>
            <a:r>
              <a:rPr lang="en-US" altLang="zh-CN" sz="2000" u="sng" dirty="0">
                <a:latin typeface="+mn-ea"/>
              </a:rPr>
              <a:t>/</a:t>
            </a:r>
            <a:r>
              <a:rPr lang="en-US" altLang="zh-CN" sz="2000" u="sng" dirty="0" err="1">
                <a:latin typeface="+mn-ea"/>
              </a:rPr>
              <a:t>sda</a:t>
            </a:r>
            <a:endParaRPr lang="en-US" altLang="zh-CN" sz="2000" u="sng" dirty="0">
              <a:latin typeface="+mn-ea"/>
            </a:endParaRPr>
          </a:p>
          <a:p>
            <a:pPr>
              <a:defRPr/>
            </a:pPr>
            <a:r>
              <a:rPr lang="en-US" altLang="zh-CN" sz="2000" u="sng" dirty="0">
                <a:latin typeface="+mn-ea"/>
              </a:rPr>
              <a:t>651522 d </a:t>
            </a:r>
            <a:r>
              <a:rPr lang="en-US" altLang="zh-CN" sz="2000" u="sng" dirty="0" err="1">
                <a:latin typeface="+mn-ea"/>
              </a:rPr>
              <a:t>rwxr</a:t>
            </a:r>
            <a:r>
              <a:rPr lang="en-US" altLang="zh-CN" sz="2000" u="sng" dirty="0">
                <a:latin typeface="+mn-ea"/>
              </a:rPr>
              <a:t>-</a:t>
            </a:r>
            <a:r>
              <a:rPr lang="en-US" altLang="zh-CN" sz="2000" u="sng" dirty="0" err="1">
                <a:latin typeface="+mn-ea"/>
              </a:rPr>
              <a:t>xr</a:t>
            </a:r>
            <a:r>
              <a:rPr lang="en-US" altLang="zh-CN" sz="2000" u="sng" dirty="0">
                <a:latin typeface="+mn-ea"/>
              </a:rPr>
              <a:t>-x. 141 root </a:t>
            </a:r>
            <a:r>
              <a:rPr lang="en-US" altLang="zh-CN" sz="2000" u="sng" dirty="0" err="1">
                <a:latin typeface="+mn-ea"/>
              </a:rPr>
              <a:t>root</a:t>
            </a:r>
            <a:r>
              <a:rPr lang="en-US" altLang="zh-CN" sz="2000" u="sng" dirty="0">
                <a:latin typeface="+mn-ea"/>
              </a:rPr>
              <a:t>   2288  Mar 8 09:08 /</a:t>
            </a:r>
            <a:r>
              <a:rPr lang="en-US" altLang="zh-CN" sz="2000" u="sng" dirty="0" err="1">
                <a:latin typeface="+mn-ea"/>
              </a:rPr>
              <a:t>etc</a:t>
            </a:r>
            <a:endParaRPr lang="zh-CN" altLang="zh-CN" sz="2000" u="sng" dirty="0">
              <a:latin typeface="+mn-ea"/>
            </a:endParaRPr>
          </a:p>
          <a:p>
            <a:pPr>
              <a:defRPr/>
            </a:pPr>
            <a:r>
              <a:rPr lang="en-US" altLang="zh-CN" sz="2000" u="sng" dirty="0">
                <a:latin typeface="+mn-ea"/>
              </a:rPr>
              <a:t> 894</a:t>
            </a:r>
            <a:r>
              <a:rPr lang="en-US" altLang="zh-CN" sz="2000" dirty="0">
                <a:latin typeface="+mn-ea"/>
              </a:rPr>
              <a:t>   </a:t>
            </a:r>
            <a:r>
              <a:rPr lang="en-US" altLang="zh-CN" sz="2000" u="sng" dirty="0">
                <a:latin typeface="+mn-ea"/>
              </a:rPr>
              <a:t>-</a:t>
            </a:r>
            <a:r>
              <a:rPr lang="en-US" altLang="zh-CN" sz="2000" dirty="0">
                <a:latin typeface="+mn-ea"/>
              </a:rPr>
              <a:t> </a:t>
            </a:r>
            <a:r>
              <a:rPr lang="en-US" altLang="zh-CN" sz="2000" u="sng" dirty="0" err="1">
                <a:latin typeface="+mn-ea"/>
              </a:rPr>
              <a:t>rwxr</a:t>
            </a:r>
            <a:r>
              <a:rPr lang="en-US" altLang="zh-CN" sz="2000" u="sng" dirty="0">
                <a:latin typeface="+mn-ea"/>
              </a:rPr>
              <a:t>-</a:t>
            </a:r>
            <a:r>
              <a:rPr lang="en-US" altLang="zh-CN" sz="2000" u="sng" dirty="0" err="1">
                <a:latin typeface="+mn-ea"/>
              </a:rPr>
              <a:t>xr</a:t>
            </a:r>
            <a:r>
              <a:rPr lang="en-US" altLang="zh-CN" sz="2000" u="sng" dirty="0">
                <a:latin typeface="+mn-ea"/>
              </a:rPr>
              <a:t>-x</a:t>
            </a:r>
            <a:r>
              <a:rPr lang="en-US" altLang="zh-CN" sz="2000" dirty="0">
                <a:latin typeface="+mn-ea"/>
              </a:rPr>
              <a:t>.   </a:t>
            </a:r>
            <a:r>
              <a:rPr lang="en-US" altLang="zh-CN" sz="2000" u="sng" dirty="0">
                <a:latin typeface="+mn-ea"/>
              </a:rPr>
              <a:t>1</a:t>
            </a:r>
            <a:r>
              <a:rPr lang="en-US" altLang="zh-CN" sz="2000" dirty="0">
                <a:latin typeface="+mn-ea"/>
              </a:rPr>
              <a:t> </a:t>
            </a:r>
            <a:r>
              <a:rPr lang="en-US" altLang="zh-CN" sz="2000" u="sng" dirty="0">
                <a:latin typeface="+mn-ea"/>
              </a:rPr>
              <a:t>root</a:t>
            </a:r>
            <a:r>
              <a:rPr lang="en-US" altLang="zh-CN" sz="2000" dirty="0">
                <a:latin typeface="+mn-ea"/>
              </a:rPr>
              <a:t> </a:t>
            </a:r>
            <a:r>
              <a:rPr lang="en-US" altLang="zh-CN" sz="2000" u="sng" dirty="0" err="1">
                <a:latin typeface="+mn-ea"/>
              </a:rPr>
              <a:t>root</a:t>
            </a:r>
            <a:r>
              <a:rPr lang="en-US" altLang="zh-CN" sz="2000" dirty="0">
                <a:latin typeface="+mn-ea"/>
              </a:rPr>
              <a:t>  </a:t>
            </a:r>
            <a:r>
              <a:rPr lang="en-US" altLang="zh-CN" sz="2000" u="sng" dirty="0">
                <a:latin typeface="+mn-ea"/>
              </a:rPr>
              <a:t>14159</a:t>
            </a:r>
            <a:r>
              <a:rPr lang="en-US" altLang="zh-CN" sz="2000" dirty="0">
                <a:latin typeface="+mn-ea"/>
              </a:rPr>
              <a:t>  </a:t>
            </a:r>
            <a:r>
              <a:rPr lang="en-US" altLang="zh-CN" sz="2000" u="sng" dirty="0">
                <a:latin typeface="+mn-ea"/>
              </a:rPr>
              <a:t>Nov 1 01:21</a:t>
            </a:r>
            <a:r>
              <a:rPr lang="en-US" altLang="zh-CN" sz="2000" dirty="0">
                <a:latin typeface="+mn-ea"/>
              </a:rPr>
              <a:t> </a:t>
            </a:r>
            <a:r>
              <a:rPr lang="en-US" altLang="zh-CN" sz="2000" u="sng" dirty="0">
                <a:latin typeface="+mn-ea"/>
              </a:rPr>
              <a:t>/</a:t>
            </a:r>
            <a:r>
              <a:rPr lang="en-US" altLang="zh-CN" sz="2000" u="sng" dirty="0" err="1">
                <a:latin typeface="+mn-ea"/>
              </a:rPr>
              <a:t>usr</a:t>
            </a:r>
            <a:r>
              <a:rPr lang="en-US" altLang="zh-CN" sz="2000" u="sng" dirty="0">
                <a:latin typeface="+mn-ea"/>
              </a:rPr>
              <a:t>/bin/ls</a:t>
            </a:r>
            <a:endParaRPr lang="zh-CN" altLang="zh-CN" sz="2000" dirty="0">
              <a:latin typeface="+mn-ea"/>
            </a:endParaRPr>
          </a:p>
          <a:p>
            <a:pPr>
              <a:defRPr/>
            </a:pPr>
            <a:r>
              <a:rPr lang="zh-CN" altLang="zh-CN" sz="4400" dirty="0">
                <a:latin typeface="+mn-ea"/>
              </a:rPr>
              <a:t>①</a:t>
            </a:r>
            <a:r>
              <a:rPr lang="zh-CN" altLang="zh-CN" sz="2000" dirty="0">
                <a:latin typeface="+mn-ea"/>
              </a:rPr>
              <a:t> </a:t>
            </a:r>
            <a:r>
              <a:rPr lang="zh-CN" altLang="zh-CN" sz="4400" dirty="0">
                <a:latin typeface="+mn-ea"/>
              </a:rPr>
              <a:t>②</a:t>
            </a:r>
            <a:r>
              <a:rPr lang="en-US" altLang="zh-CN" sz="2000" dirty="0">
                <a:latin typeface="+mn-ea"/>
              </a:rPr>
              <a:t>  </a:t>
            </a:r>
            <a:r>
              <a:rPr lang="zh-CN" altLang="zh-CN" sz="4400" dirty="0">
                <a:latin typeface="+mn-ea"/>
              </a:rPr>
              <a:t>③</a:t>
            </a:r>
            <a:r>
              <a:rPr lang="en-US" altLang="zh-CN" sz="2000" dirty="0">
                <a:latin typeface="+mn-ea"/>
              </a:rPr>
              <a:t>   </a:t>
            </a:r>
            <a:r>
              <a:rPr lang="zh-CN" altLang="zh-CN" sz="4400" dirty="0">
                <a:latin typeface="+mn-ea"/>
              </a:rPr>
              <a:t>④</a:t>
            </a:r>
            <a:r>
              <a:rPr lang="en-US" altLang="zh-CN" sz="2000" dirty="0">
                <a:latin typeface="+mn-ea"/>
              </a:rPr>
              <a:t> </a:t>
            </a:r>
            <a:r>
              <a:rPr lang="zh-CN" altLang="zh-CN" sz="4400" dirty="0">
                <a:latin typeface="+mn-ea"/>
              </a:rPr>
              <a:t>⑤</a:t>
            </a:r>
            <a:r>
              <a:rPr lang="en-US" altLang="zh-CN" sz="2000" dirty="0">
                <a:latin typeface="+mn-ea"/>
              </a:rPr>
              <a:t> </a:t>
            </a:r>
            <a:r>
              <a:rPr lang="zh-CN" altLang="zh-CN" sz="4400" dirty="0">
                <a:latin typeface="+mn-ea"/>
              </a:rPr>
              <a:t>⑥</a:t>
            </a:r>
            <a:r>
              <a:rPr lang="en-US" altLang="zh-CN" sz="2000" dirty="0">
                <a:latin typeface="+mn-ea"/>
              </a:rPr>
              <a:t> </a:t>
            </a:r>
            <a:r>
              <a:rPr lang="zh-CN" altLang="zh-CN" sz="4400" dirty="0">
                <a:latin typeface="+mn-ea"/>
              </a:rPr>
              <a:t>⑦</a:t>
            </a:r>
            <a:r>
              <a:rPr lang="en-US" altLang="zh-CN" sz="2000" dirty="0">
                <a:latin typeface="+mn-ea"/>
              </a:rPr>
              <a:t>       </a:t>
            </a:r>
            <a:r>
              <a:rPr lang="zh-CN" altLang="zh-CN" sz="4400" dirty="0">
                <a:latin typeface="+mn-ea"/>
              </a:rPr>
              <a:t>⑧</a:t>
            </a:r>
            <a:r>
              <a:rPr lang="en-US" altLang="zh-CN" sz="2000" dirty="0">
                <a:latin typeface="+mn-ea"/>
              </a:rPr>
              <a:t>      </a:t>
            </a:r>
            <a:r>
              <a:rPr lang="zh-CN" altLang="zh-CN" sz="4400" dirty="0">
                <a:latin typeface="+mn-ea"/>
              </a:rPr>
              <a:t>⑨</a:t>
            </a:r>
          </a:p>
          <a:p>
            <a:pPr marL="0" indent="0">
              <a:buFont typeface="Arial" panose="020B0604020202020204" pitchFamily="34" charset="0"/>
              <a:buNone/>
              <a:defRPr/>
            </a:pPr>
            <a:r>
              <a:rPr lang="zh-CN" altLang="zh-CN" sz="4000" dirty="0">
                <a:solidFill>
                  <a:srgbClr val="FF0000"/>
                </a:solidFill>
              </a:rPr>
              <a:t>各域的意义是</a:t>
            </a:r>
            <a:r>
              <a:rPr lang="zh-CN" altLang="zh-CN" sz="4000" dirty="0"/>
              <a:t>：①</a:t>
            </a:r>
            <a:r>
              <a:rPr lang="en-US" altLang="zh-CN" sz="4000" dirty="0"/>
              <a:t>I</a:t>
            </a:r>
            <a:r>
              <a:rPr lang="zh-CN" altLang="zh-CN" sz="4000" dirty="0"/>
              <a:t>节点号；②文件类型；③权限；④链接数；⑤主；⑥组；⑦普通文件为长度，特别文件为主次设备号；⑧最后修改时间；⑨文件名。</a:t>
            </a:r>
            <a:endParaRPr lang="zh-CN" altLang="en-US" sz="4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874" name="标题 1">
            <a:extLst>
              <a:ext uri="{FF2B5EF4-FFF2-40B4-BE49-F238E27FC236}">
                <a16:creationId xmlns:a16="http://schemas.microsoft.com/office/drawing/2014/main" id="{B9D72881-0999-13A6-6130-E3B2A609F008}"/>
              </a:ext>
            </a:extLst>
          </p:cNvPr>
          <p:cNvSpPr>
            <a:spLocks noGrp="1" noChangeArrowheads="1"/>
          </p:cNvSpPr>
          <p:nvPr>
            <p:ph type="title"/>
          </p:nvPr>
        </p:nvSpPr>
        <p:spPr/>
        <p:txBody>
          <a:bodyPr/>
          <a:lstStyle/>
          <a:p>
            <a:r>
              <a:rPr lang="en-US" altLang="zh-CN"/>
              <a:t>2</a:t>
            </a:r>
            <a:r>
              <a:rPr lang="zh-CN" altLang="zh-CN"/>
              <a:t>．建立目录（</a:t>
            </a:r>
            <a:r>
              <a:rPr lang="en-US" altLang="zh-CN"/>
              <a:t>mkdir</a:t>
            </a:r>
            <a:r>
              <a:rPr lang="zh-CN" altLang="zh-CN"/>
              <a:t>）</a:t>
            </a:r>
            <a:endParaRPr lang="zh-CN" altLang="en-US"/>
          </a:p>
        </p:txBody>
      </p:sp>
      <p:sp>
        <p:nvSpPr>
          <p:cNvPr id="79875" name="内容占位符 2">
            <a:extLst>
              <a:ext uri="{FF2B5EF4-FFF2-40B4-BE49-F238E27FC236}">
                <a16:creationId xmlns:a16="http://schemas.microsoft.com/office/drawing/2014/main" id="{E5E54A78-D497-B490-E37D-318D04E5DEDB}"/>
              </a:ext>
            </a:extLst>
          </p:cNvPr>
          <p:cNvSpPr>
            <a:spLocks noGrp="1" noChangeArrowheads="1"/>
          </p:cNvSpPr>
          <p:nvPr>
            <p:ph idx="1"/>
          </p:nvPr>
        </p:nvSpPr>
        <p:spPr>
          <a:xfrm>
            <a:off x="107950" y="476250"/>
            <a:ext cx="8856663" cy="5761038"/>
          </a:xfrm>
        </p:spPr>
        <p:txBody>
          <a:bodyPr/>
          <a:lstStyle/>
          <a:p>
            <a:pPr>
              <a:spcBef>
                <a:spcPct val="0"/>
              </a:spcBef>
              <a:spcAft>
                <a:spcPct val="0"/>
              </a:spcAft>
            </a:pPr>
            <a:r>
              <a:rPr lang="en-US" altLang="zh-CN" sz="4400"/>
              <a:t>1</a:t>
            </a:r>
            <a:r>
              <a:rPr lang="zh-CN" altLang="zh-CN" sz="4400"/>
              <a:t>）功能与用法</a:t>
            </a:r>
          </a:p>
          <a:p>
            <a:pPr>
              <a:spcBef>
                <a:spcPct val="0"/>
              </a:spcBef>
              <a:spcAft>
                <a:spcPct val="0"/>
              </a:spcAft>
            </a:pPr>
            <a:r>
              <a:rPr lang="en-US" altLang="zh-CN" sz="4400"/>
              <a:t>mkdir</a:t>
            </a:r>
            <a:r>
              <a:rPr lang="zh-CN" altLang="zh-CN" sz="4400"/>
              <a:t>（</a:t>
            </a:r>
            <a:r>
              <a:rPr lang="en-US" altLang="zh-CN" sz="4400"/>
              <a:t>make directory</a:t>
            </a:r>
            <a:r>
              <a:rPr lang="zh-CN" altLang="zh-CN" sz="4400"/>
              <a:t>）的功能是创建子目录，一次可以创建多个子目录，还可以一次创建包括全部父目录和子目录在内的一个完整的目录结构，它的使用受权限的制约。</a:t>
            </a:r>
            <a:r>
              <a:rPr lang="en-US" altLang="zh-CN" sz="4400"/>
              <a:t>mkdir</a:t>
            </a:r>
            <a:r>
              <a:rPr lang="zh-CN" altLang="zh-CN" sz="4400"/>
              <a:t>的用法为：</a:t>
            </a:r>
            <a:r>
              <a:rPr lang="en-US" altLang="zh-CN" sz="4400"/>
              <a:t> </a:t>
            </a:r>
            <a:endParaRPr lang="zh-CN" altLang="zh-CN" sz="4400"/>
          </a:p>
          <a:p>
            <a:pPr>
              <a:spcBef>
                <a:spcPct val="0"/>
              </a:spcBef>
              <a:spcAft>
                <a:spcPct val="0"/>
              </a:spcAft>
            </a:pPr>
            <a:r>
              <a:rPr lang="en-US" altLang="zh-CN" sz="4400"/>
              <a:t>  mkdir [-p] [-m MODE] dirs</a:t>
            </a:r>
            <a:endParaRPr lang="zh-CN" altLang="en-US" sz="44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标题 1">
            <a:extLst>
              <a:ext uri="{FF2B5EF4-FFF2-40B4-BE49-F238E27FC236}">
                <a16:creationId xmlns:a16="http://schemas.microsoft.com/office/drawing/2014/main" id="{248CC7AB-CDD3-3673-C041-6155FC4237CA}"/>
              </a:ext>
            </a:extLst>
          </p:cNvPr>
          <p:cNvSpPr>
            <a:spLocks noGrp="1" noChangeArrowheads="1"/>
          </p:cNvSpPr>
          <p:nvPr>
            <p:ph type="title"/>
          </p:nvPr>
        </p:nvSpPr>
        <p:spPr/>
        <p:txBody>
          <a:bodyPr/>
          <a:lstStyle/>
          <a:p>
            <a:r>
              <a:rPr lang="en-US" altLang="zh-CN"/>
              <a:t>2</a:t>
            </a:r>
            <a:r>
              <a:rPr lang="zh-CN" altLang="zh-CN"/>
              <a:t>．建立目录（</a:t>
            </a:r>
            <a:r>
              <a:rPr lang="en-US" altLang="zh-CN"/>
              <a:t>mkdir</a:t>
            </a:r>
            <a:r>
              <a:rPr lang="zh-CN" altLang="zh-CN"/>
              <a:t>）</a:t>
            </a:r>
            <a:endParaRPr lang="zh-CN" altLang="en-US"/>
          </a:p>
        </p:txBody>
      </p:sp>
      <p:sp>
        <p:nvSpPr>
          <p:cNvPr id="80899" name="内容占位符 2">
            <a:extLst>
              <a:ext uri="{FF2B5EF4-FFF2-40B4-BE49-F238E27FC236}">
                <a16:creationId xmlns:a16="http://schemas.microsoft.com/office/drawing/2014/main" id="{A22FF880-FDFC-2D58-105D-5AB997FC19FF}"/>
              </a:ext>
            </a:extLst>
          </p:cNvPr>
          <p:cNvSpPr>
            <a:spLocks noGrp="1" noChangeArrowheads="1"/>
          </p:cNvSpPr>
          <p:nvPr>
            <p:ph idx="1"/>
          </p:nvPr>
        </p:nvSpPr>
        <p:spPr>
          <a:xfrm>
            <a:off x="107950" y="463550"/>
            <a:ext cx="9036050" cy="5761038"/>
          </a:xfrm>
        </p:spPr>
        <p:txBody>
          <a:bodyPr/>
          <a:lstStyle/>
          <a:p>
            <a:pPr>
              <a:spcBef>
                <a:spcPct val="0"/>
              </a:spcBef>
              <a:spcAft>
                <a:spcPct val="0"/>
              </a:spcAft>
            </a:pPr>
            <a:r>
              <a:rPr lang="en-US" altLang="zh-CN" sz="3600"/>
              <a:t> 2</a:t>
            </a:r>
            <a:r>
              <a:rPr lang="zh-CN" altLang="zh-CN" sz="3600"/>
              <a:t>）参数说明</a:t>
            </a:r>
          </a:p>
          <a:p>
            <a:pPr>
              <a:spcBef>
                <a:spcPct val="0"/>
              </a:spcBef>
              <a:spcAft>
                <a:spcPct val="0"/>
              </a:spcAft>
            </a:pPr>
            <a:r>
              <a:rPr lang="en-US" altLang="zh-CN" sz="3600"/>
              <a:t>-p</a:t>
            </a:r>
            <a:r>
              <a:rPr lang="zh-CN" altLang="zh-CN" sz="3600"/>
              <a:t>：如果要创建的目录存在也不报错，必要时可一同创建父目录。</a:t>
            </a:r>
            <a:r>
              <a:rPr lang="en-US" altLang="zh-CN" sz="3600"/>
              <a:t>-m MODE</a:t>
            </a:r>
            <a:r>
              <a:rPr lang="zh-CN" altLang="zh-CN" sz="3600"/>
              <a:t>：按照权限</a:t>
            </a:r>
            <a:r>
              <a:rPr lang="en-US" altLang="zh-CN" sz="3600"/>
              <a:t>MODE</a:t>
            </a:r>
            <a:r>
              <a:rPr lang="zh-CN" altLang="zh-CN" sz="3600"/>
              <a:t>创建子目录。</a:t>
            </a:r>
          </a:p>
          <a:p>
            <a:pPr>
              <a:spcBef>
                <a:spcPct val="0"/>
              </a:spcBef>
              <a:spcAft>
                <a:spcPct val="0"/>
              </a:spcAft>
            </a:pPr>
            <a:r>
              <a:rPr lang="en-US" altLang="zh-CN" sz="3600"/>
              <a:t>3</a:t>
            </a:r>
            <a:r>
              <a:rPr lang="zh-CN" altLang="zh-CN" sz="3600"/>
              <a:t>）示例</a:t>
            </a:r>
            <a:r>
              <a:rPr lang="en-US" altLang="zh-CN" sz="3600"/>
              <a:t> </a:t>
            </a:r>
            <a:endParaRPr lang="zh-CN" altLang="zh-CN" sz="3600"/>
          </a:p>
          <a:p>
            <a:pPr>
              <a:spcBef>
                <a:spcPct val="0"/>
              </a:spcBef>
              <a:spcAft>
                <a:spcPct val="0"/>
              </a:spcAft>
            </a:pPr>
            <a:r>
              <a:rPr lang="en-US" altLang="zh-CN" sz="3600"/>
              <a:t>#</a:t>
            </a:r>
            <a:r>
              <a:rPr lang="en-US" altLang="zh-CN" sz="3600">
                <a:solidFill>
                  <a:srgbClr val="FF0000"/>
                </a:solidFill>
              </a:rPr>
              <a:t>mkdir temp	</a:t>
            </a:r>
            <a:r>
              <a:rPr lang="en-US" altLang="zh-CN" sz="3600"/>
              <a:t> #</a:t>
            </a:r>
            <a:r>
              <a:rPr lang="zh-CN" altLang="zh-CN" sz="3600"/>
              <a:t>创建名为</a:t>
            </a:r>
            <a:r>
              <a:rPr lang="en-US" altLang="zh-CN" sz="3600"/>
              <a:t>temp</a:t>
            </a:r>
            <a:r>
              <a:rPr lang="zh-CN" altLang="zh-CN" sz="3600"/>
              <a:t>的子目录</a:t>
            </a:r>
          </a:p>
          <a:p>
            <a:pPr>
              <a:spcBef>
                <a:spcPct val="0"/>
              </a:spcBef>
              <a:spcAft>
                <a:spcPct val="0"/>
              </a:spcAft>
            </a:pPr>
            <a:r>
              <a:rPr lang="en-US" altLang="zh-CN" sz="3600"/>
              <a:t>#</a:t>
            </a:r>
            <a:r>
              <a:rPr lang="en-US" altLang="zh-CN" sz="3600">
                <a:solidFill>
                  <a:srgbClr val="FF0000"/>
                </a:solidFill>
              </a:rPr>
              <a:t>mkdir temp2 temp3 </a:t>
            </a:r>
            <a:r>
              <a:rPr lang="en-US" altLang="zh-CN" sz="3600"/>
              <a:t>#</a:t>
            </a:r>
            <a:r>
              <a:rPr lang="zh-CN" altLang="en-US" sz="3600"/>
              <a:t>一次</a:t>
            </a:r>
            <a:r>
              <a:rPr lang="zh-CN" altLang="zh-CN" sz="3600"/>
              <a:t>创建多个</a:t>
            </a:r>
          </a:p>
          <a:p>
            <a:pPr>
              <a:spcBef>
                <a:spcPct val="0"/>
              </a:spcBef>
              <a:spcAft>
                <a:spcPct val="0"/>
              </a:spcAft>
            </a:pPr>
            <a:r>
              <a:rPr lang="en-US" altLang="zh-CN" sz="3600"/>
              <a:t>#</a:t>
            </a:r>
            <a:r>
              <a:rPr lang="en-US" altLang="zh-CN" sz="3600">
                <a:solidFill>
                  <a:srgbClr val="FF0000"/>
                </a:solidFill>
              </a:rPr>
              <a:t>mkdir -p temp5/child	</a:t>
            </a:r>
            <a:r>
              <a:rPr lang="en-US" altLang="zh-CN" sz="3600"/>
              <a:t>#</a:t>
            </a:r>
            <a:r>
              <a:rPr lang="zh-CN" altLang="zh-CN" sz="3600"/>
              <a:t>在子目录</a:t>
            </a:r>
            <a:r>
              <a:rPr lang="en-US" altLang="zh-CN" sz="3600"/>
              <a:t>temp5</a:t>
            </a:r>
            <a:r>
              <a:rPr lang="zh-CN" altLang="zh-CN" sz="3600"/>
              <a:t>下创建子目录</a:t>
            </a:r>
            <a:r>
              <a:rPr lang="en-US" altLang="zh-CN" sz="3600"/>
              <a:t>child</a:t>
            </a:r>
            <a:r>
              <a:rPr lang="zh-CN" altLang="zh-CN" sz="3600"/>
              <a:t>，</a:t>
            </a:r>
            <a:endParaRPr lang="zh-CN" altLang="en-US" sz="40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标题 1">
            <a:extLst>
              <a:ext uri="{FF2B5EF4-FFF2-40B4-BE49-F238E27FC236}">
                <a16:creationId xmlns:a16="http://schemas.microsoft.com/office/drawing/2014/main" id="{128D440F-DAD2-19EF-DC9B-10E378870A3C}"/>
              </a:ext>
            </a:extLst>
          </p:cNvPr>
          <p:cNvSpPr>
            <a:spLocks noGrp="1" noChangeArrowheads="1"/>
          </p:cNvSpPr>
          <p:nvPr>
            <p:ph type="title"/>
          </p:nvPr>
        </p:nvSpPr>
        <p:spPr/>
        <p:txBody>
          <a:bodyPr/>
          <a:lstStyle/>
          <a:p>
            <a:r>
              <a:rPr lang="en-US" altLang="zh-CN"/>
              <a:t>3</a:t>
            </a:r>
            <a:r>
              <a:rPr lang="zh-CN" altLang="zh-CN"/>
              <a:t>．删除目录（</a:t>
            </a:r>
            <a:r>
              <a:rPr lang="en-US" altLang="zh-CN"/>
              <a:t>rmdir</a:t>
            </a:r>
            <a:r>
              <a:rPr lang="zh-CN" altLang="zh-CN"/>
              <a:t>）</a:t>
            </a:r>
            <a:endParaRPr lang="zh-CN" altLang="en-US"/>
          </a:p>
        </p:txBody>
      </p:sp>
      <p:sp>
        <p:nvSpPr>
          <p:cNvPr id="81923" name="内容占位符 2">
            <a:extLst>
              <a:ext uri="{FF2B5EF4-FFF2-40B4-BE49-F238E27FC236}">
                <a16:creationId xmlns:a16="http://schemas.microsoft.com/office/drawing/2014/main" id="{D20D3FDB-9572-A126-94DF-70E45EACA876}"/>
              </a:ext>
            </a:extLst>
          </p:cNvPr>
          <p:cNvSpPr>
            <a:spLocks noGrp="1" noChangeArrowheads="1"/>
          </p:cNvSpPr>
          <p:nvPr>
            <p:ph idx="1"/>
          </p:nvPr>
        </p:nvSpPr>
        <p:spPr>
          <a:xfrm>
            <a:off x="0" y="620713"/>
            <a:ext cx="9144000" cy="5761037"/>
          </a:xfrm>
        </p:spPr>
        <p:txBody>
          <a:bodyPr/>
          <a:lstStyle/>
          <a:p>
            <a:pPr>
              <a:spcBef>
                <a:spcPct val="0"/>
              </a:spcBef>
              <a:spcAft>
                <a:spcPct val="0"/>
              </a:spcAft>
            </a:pPr>
            <a:r>
              <a:rPr lang="en-US" altLang="zh-CN" sz="4400"/>
              <a:t>rmdir</a:t>
            </a:r>
            <a:r>
              <a:rPr lang="zh-CN" altLang="zh-CN" sz="3600"/>
              <a:t>（</a:t>
            </a:r>
            <a:r>
              <a:rPr lang="en-US" altLang="zh-CN" sz="3600"/>
              <a:t>remove directory</a:t>
            </a:r>
            <a:r>
              <a:rPr lang="zh-CN" altLang="zh-CN" sz="3600"/>
              <a:t>）的功能是</a:t>
            </a:r>
            <a:r>
              <a:rPr lang="zh-CN" altLang="zh-CN" sz="3600">
                <a:solidFill>
                  <a:srgbClr val="FF0000"/>
                </a:solidFill>
              </a:rPr>
              <a:t>删除空子目录</a:t>
            </a:r>
            <a:r>
              <a:rPr lang="zh-CN" altLang="zh-CN" sz="3600"/>
              <a:t>，其使用受权限制约。用法为：</a:t>
            </a:r>
          </a:p>
          <a:p>
            <a:pPr>
              <a:spcBef>
                <a:spcPct val="0"/>
              </a:spcBef>
              <a:spcAft>
                <a:spcPct val="0"/>
              </a:spcAft>
            </a:pPr>
            <a:r>
              <a:rPr lang="en-US" altLang="zh-CN" sz="4400"/>
              <a:t> rmdir [-p] dirs</a:t>
            </a:r>
            <a:endParaRPr lang="zh-CN" altLang="zh-CN" sz="4400"/>
          </a:p>
          <a:p>
            <a:pPr>
              <a:spcBef>
                <a:spcPct val="0"/>
              </a:spcBef>
              <a:spcAft>
                <a:spcPct val="0"/>
              </a:spcAft>
            </a:pPr>
            <a:r>
              <a:rPr lang="zh-CN" altLang="zh-CN" sz="3600">
                <a:solidFill>
                  <a:srgbClr val="FF0000"/>
                </a:solidFill>
              </a:rPr>
              <a:t>使用</a:t>
            </a:r>
            <a:r>
              <a:rPr lang="en-US" altLang="zh-CN" sz="3600">
                <a:solidFill>
                  <a:srgbClr val="FF0000"/>
                </a:solidFill>
              </a:rPr>
              <a:t>-p</a:t>
            </a:r>
            <a:r>
              <a:rPr lang="zh-CN" altLang="zh-CN" sz="3600">
                <a:solidFill>
                  <a:srgbClr val="FF0000"/>
                </a:solidFill>
              </a:rPr>
              <a:t>参数</a:t>
            </a:r>
            <a:r>
              <a:rPr lang="zh-CN" altLang="zh-CN" sz="3600"/>
              <a:t>，</a:t>
            </a:r>
            <a:r>
              <a:rPr lang="en-US" altLang="zh-CN" sz="3600"/>
              <a:t>rmdir</a:t>
            </a:r>
            <a:r>
              <a:rPr lang="zh-CN" altLang="zh-CN" sz="3600"/>
              <a:t>在删除一个目录时，若其子目录也是空的，则一并删除。示例</a:t>
            </a:r>
            <a:r>
              <a:rPr lang="en-US" altLang="zh-CN" sz="3600"/>
              <a:t>: </a:t>
            </a:r>
            <a:endParaRPr lang="zh-CN" altLang="zh-CN" sz="3600"/>
          </a:p>
          <a:p>
            <a:pPr>
              <a:spcBef>
                <a:spcPct val="0"/>
              </a:spcBef>
              <a:spcAft>
                <a:spcPct val="0"/>
              </a:spcAft>
            </a:pPr>
            <a:r>
              <a:rPr lang="en-US" altLang="zh-CN" sz="3600">
                <a:solidFill>
                  <a:srgbClr val="FF0000"/>
                </a:solidFill>
              </a:rPr>
              <a:t>#rmdir temp</a:t>
            </a:r>
            <a:r>
              <a:rPr lang="en-US" altLang="zh-CN" sz="3600"/>
              <a:t>	 #</a:t>
            </a:r>
            <a:r>
              <a:rPr lang="zh-CN" altLang="zh-CN" sz="3600"/>
              <a:t>删除</a:t>
            </a:r>
            <a:r>
              <a:rPr lang="en-US" altLang="zh-CN" sz="3600"/>
              <a:t>temp</a:t>
            </a:r>
            <a:r>
              <a:rPr lang="zh-CN" altLang="zh-CN" sz="3600"/>
              <a:t>，若非空则报错</a:t>
            </a:r>
          </a:p>
          <a:p>
            <a:pPr>
              <a:spcBef>
                <a:spcPct val="0"/>
              </a:spcBef>
              <a:spcAft>
                <a:spcPct val="0"/>
              </a:spcAft>
            </a:pPr>
            <a:r>
              <a:rPr lang="en-US" altLang="zh-CN" sz="3600">
                <a:solidFill>
                  <a:srgbClr val="FF0000"/>
                </a:solidFill>
              </a:rPr>
              <a:t>#rmdir -p a/b/c</a:t>
            </a:r>
            <a:r>
              <a:rPr lang="en-US" altLang="zh-CN" sz="3600"/>
              <a:t>	#</a:t>
            </a:r>
            <a:r>
              <a:rPr lang="zh-CN" altLang="zh-CN" sz="3600"/>
              <a:t>删除目录时一同删除其空子目录</a:t>
            </a:r>
            <a:r>
              <a:rPr lang="en-US" altLang="zh-CN" sz="3600"/>
              <a:t>.</a:t>
            </a:r>
            <a:endParaRPr lang="zh-CN" altLang="en-US" sz="36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标题 1">
            <a:extLst>
              <a:ext uri="{FF2B5EF4-FFF2-40B4-BE49-F238E27FC236}">
                <a16:creationId xmlns:a16="http://schemas.microsoft.com/office/drawing/2014/main" id="{DD2C7FAB-59CA-72F5-49BD-C606585475C2}"/>
              </a:ext>
            </a:extLst>
          </p:cNvPr>
          <p:cNvSpPr>
            <a:spLocks noGrp="1" noChangeArrowheads="1"/>
          </p:cNvSpPr>
          <p:nvPr>
            <p:ph type="title"/>
          </p:nvPr>
        </p:nvSpPr>
        <p:spPr/>
        <p:txBody>
          <a:bodyPr/>
          <a:lstStyle/>
          <a:p>
            <a:r>
              <a:rPr lang="en-US" altLang="zh-CN"/>
              <a:t>4</a:t>
            </a:r>
            <a:r>
              <a:rPr lang="zh-CN" altLang="zh-CN"/>
              <a:t>．改变工作目录（</a:t>
            </a:r>
            <a:r>
              <a:rPr lang="en-US" altLang="zh-CN"/>
              <a:t>cd</a:t>
            </a:r>
            <a:r>
              <a:rPr lang="zh-CN" altLang="zh-CN"/>
              <a:t>）</a:t>
            </a:r>
            <a:endParaRPr lang="zh-CN" altLang="en-US"/>
          </a:p>
        </p:txBody>
      </p:sp>
      <p:sp>
        <p:nvSpPr>
          <p:cNvPr id="82947" name="内容占位符 2">
            <a:extLst>
              <a:ext uri="{FF2B5EF4-FFF2-40B4-BE49-F238E27FC236}">
                <a16:creationId xmlns:a16="http://schemas.microsoft.com/office/drawing/2014/main" id="{37A02FB4-80C2-1078-8223-80C86A6B7E9C}"/>
              </a:ext>
            </a:extLst>
          </p:cNvPr>
          <p:cNvSpPr>
            <a:spLocks noGrp="1" noChangeArrowheads="1"/>
          </p:cNvSpPr>
          <p:nvPr>
            <p:ph idx="1"/>
          </p:nvPr>
        </p:nvSpPr>
        <p:spPr>
          <a:xfrm>
            <a:off x="90488" y="404813"/>
            <a:ext cx="8963025" cy="5761037"/>
          </a:xfrm>
        </p:spPr>
        <p:txBody>
          <a:bodyPr/>
          <a:lstStyle/>
          <a:p>
            <a:pPr>
              <a:spcBef>
                <a:spcPct val="0"/>
              </a:spcBef>
              <a:spcAft>
                <a:spcPct val="0"/>
              </a:spcAft>
            </a:pPr>
            <a:r>
              <a:rPr lang="en-US" altLang="zh-CN" sz="4000">
                <a:solidFill>
                  <a:srgbClr val="FF0000"/>
                </a:solidFill>
              </a:rPr>
              <a:t>cd</a:t>
            </a:r>
            <a:r>
              <a:rPr lang="zh-CN" altLang="en-US" sz="4000">
                <a:solidFill>
                  <a:srgbClr val="FF0000"/>
                </a:solidFill>
              </a:rPr>
              <a:t>功能</a:t>
            </a:r>
            <a:r>
              <a:rPr lang="zh-CN" altLang="zh-CN" sz="4000"/>
              <a:t>是改变用户的</a:t>
            </a:r>
            <a:r>
              <a:rPr lang="zh-CN" altLang="zh-CN" sz="4000">
                <a:solidFill>
                  <a:srgbClr val="FF0000"/>
                </a:solidFill>
              </a:rPr>
              <a:t>当前目录</a:t>
            </a:r>
            <a:r>
              <a:rPr lang="zh-CN" altLang="zh-CN" sz="4000"/>
              <a:t>。它的使用受权限制约，用户必须对要进入的目录有执行权。用法：</a:t>
            </a:r>
            <a:r>
              <a:rPr lang="en-US" altLang="zh-CN" sz="4000"/>
              <a:t> </a:t>
            </a:r>
            <a:endParaRPr lang="zh-CN" altLang="zh-CN" sz="4000"/>
          </a:p>
          <a:p>
            <a:pPr>
              <a:spcBef>
                <a:spcPct val="0"/>
              </a:spcBef>
              <a:spcAft>
                <a:spcPct val="0"/>
              </a:spcAft>
            </a:pPr>
            <a:r>
              <a:rPr lang="en-US" altLang="zh-CN" sz="4000"/>
              <a:t>  cd [dir]</a:t>
            </a:r>
            <a:endParaRPr lang="zh-CN" altLang="zh-CN" sz="4000"/>
          </a:p>
          <a:p>
            <a:pPr>
              <a:spcBef>
                <a:spcPct val="0"/>
              </a:spcBef>
              <a:spcAft>
                <a:spcPct val="0"/>
              </a:spcAft>
            </a:pPr>
            <a:r>
              <a:rPr lang="zh-CN" altLang="zh-CN" sz="4000">
                <a:solidFill>
                  <a:srgbClr val="FF0000"/>
                </a:solidFill>
              </a:rPr>
              <a:t>若不指定</a:t>
            </a:r>
            <a:r>
              <a:rPr lang="en-US" altLang="zh-CN" sz="4000">
                <a:solidFill>
                  <a:srgbClr val="FF0000"/>
                </a:solidFill>
              </a:rPr>
              <a:t>dir</a:t>
            </a:r>
            <a:r>
              <a:rPr lang="en-US" altLang="zh-CN" sz="4000"/>
              <a:t> </a:t>
            </a:r>
            <a:r>
              <a:rPr lang="zh-CN" altLang="zh-CN" sz="4000"/>
              <a:t>，则切换到家目录</a:t>
            </a:r>
            <a:r>
              <a:rPr lang="en-US" altLang="zh-CN" sz="4000"/>
              <a:t>$HOME</a:t>
            </a:r>
            <a:r>
              <a:rPr lang="zh-CN" altLang="zh-CN" sz="4000"/>
              <a:t>。</a:t>
            </a:r>
            <a:endParaRPr lang="en-US" altLang="zh-CN" sz="4000"/>
          </a:p>
          <a:p>
            <a:pPr>
              <a:spcBef>
                <a:spcPct val="0"/>
              </a:spcBef>
              <a:spcAft>
                <a:spcPct val="0"/>
              </a:spcAft>
            </a:pPr>
            <a:r>
              <a:rPr lang="en-US" altLang="zh-CN" sz="4000"/>
              <a:t>#</a:t>
            </a:r>
            <a:r>
              <a:rPr lang="en-US" altLang="zh-CN" sz="4000">
                <a:solidFill>
                  <a:srgbClr val="FF0000"/>
                </a:solidFill>
              </a:rPr>
              <a:t>cd /tmp</a:t>
            </a:r>
            <a:r>
              <a:rPr lang="en-US" altLang="zh-CN" sz="4000"/>
              <a:t>	#</a:t>
            </a:r>
            <a:r>
              <a:rPr lang="zh-CN" altLang="zh-CN" sz="4000"/>
              <a:t>切换到目录</a:t>
            </a:r>
            <a:r>
              <a:rPr lang="en-US" altLang="zh-CN" sz="4000"/>
              <a:t>/tmp</a:t>
            </a:r>
            <a:endParaRPr lang="zh-CN" altLang="zh-CN" sz="4000"/>
          </a:p>
          <a:p>
            <a:pPr>
              <a:spcBef>
                <a:spcPct val="0"/>
              </a:spcBef>
              <a:spcAft>
                <a:spcPct val="0"/>
              </a:spcAft>
            </a:pPr>
            <a:r>
              <a:rPr lang="en-US" altLang="zh-CN" sz="4000"/>
              <a:t>#</a:t>
            </a:r>
            <a:r>
              <a:rPr lang="en-US" altLang="zh-CN" sz="4000">
                <a:solidFill>
                  <a:srgbClr val="FF0000"/>
                </a:solidFill>
              </a:rPr>
              <a:t>cd ~-	</a:t>
            </a:r>
            <a:r>
              <a:rPr lang="en-US" altLang="zh-CN" sz="4000"/>
              <a:t>#</a:t>
            </a:r>
            <a:r>
              <a:rPr lang="zh-CN" altLang="en-US" sz="4000"/>
              <a:t>回</a:t>
            </a:r>
            <a:r>
              <a:rPr lang="zh-CN" altLang="zh-CN" sz="4000"/>
              <a:t>到刚离开的目录</a:t>
            </a:r>
            <a:endParaRPr lang="en-US" altLang="zh-CN" sz="4000"/>
          </a:p>
          <a:p>
            <a:pPr>
              <a:spcBef>
                <a:spcPct val="0"/>
              </a:spcBef>
              <a:spcAft>
                <a:spcPct val="0"/>
              </a:spcAft>
            </a:pPr>
            <a:r>
              <a:rPr lang="en-US" altLang="zh-CN" sz="4000"/>
              <a:t>#</a:t>
            </a:r>
            <a:r>
              <a:rPr lang="en-US" altLang="zh-CN" sz="4000">
                <a:solidFill>
                  <a:srgbClr val="FF0000"/>
                </a:solidFill>
              </a:rPr>
              <a:t>cd .. </a:t>
            </a:r>
            <a:r>
              <a:rPr lang="en-US" altLang="zh-CN" sz="4000"/>
              <a:t>	#</a:t>
            </a:r>
            <a:r>
              <a:rPr lang="zh-CN" altLang="zh-CN" sz="4000"/>
              <a:t>切换到上级目录</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标题 1">
            <a:extLst>
              <a:ext uri="{FF2B5EF4-FFF2-40B4-BE49-F238E27FC236}">
                <a16:creationId xmlns:a16="http://schemas.microsoft.com/office/drawing/2014/main" id="{5B3F7320-015C-F936-A486-50605DA5518A}"/>
              </a:ext>
            </a:extLst>
          </p:cNvPr>
          <p:cNvSpPr>
            <a:spLocks noGrp="1" noChangeArrowheads="1"/>
          </p:cNvSpPr>
          <p:nvPr>
            <p:ph type="title"/>
          </p:nvPr>
        </p:nvSpPr>
        <p:spPr/>
        <p:txBody>
          <a:bodyPr/>
          <a:lstStyle/>
          <a:p>
            <a:r>
              <a:rPr lang="en-US" altLang="zh-CN"/>
              <a:t>5</a:t>
            </a:r>
            <a:r>
              <a:rPr lang="zh-CN" altLang="zh-CN"/>
              <a:t>．显示当前目录（</a:t>
            </a:r>
            <a:r>
              <a:rPr lang="en-US" altLang="zh-CN"/>
              <a:t>pwd</a:t>
            </a:r>
            <a:r>
              <a:rPr lang="zh-CN" altLang="zh-CN"/>
              <a:t>）</a:t>
            </a:r>
            <a:endParaRPr lang="zh-CN" altLang="en-US"/>
          </a:p>
        </p:txBody>
      </p:sp>
      <p:sp>
        <p:nvSpPr>
          <p:cNvPr id="83971" name="内容占位符 2">
            <a:extLst>
              <a:ext uri="{FF2B5EF4-FFF2-40B4-BE49-F238E27FC236}">
                <a16:creationId xmlns:a16="http://schemas.microsoft.com/office/drawing/2014/main" id="{E4D73DFD-2674-C60F-B2AE-943C5797E641}"/>
              </a:ext>
            </a:extLst>
          </p:cNvPr>
          <p:cNvSpPr>
            <a:spLocks noGrp="1" noChangeArrowheads="1"/>
          </p:cNvSpPr>
          <p:nvPr>
            <p:ph idx="1"/>
          </p:nvPr>
        </p:nvSpPr>
        <p:spPr/>
        <p:txBody>
          <a:bodyPr/>
          <a:lstStyle/>
          <a:p>
            <a:r>
              <a:rPr lang="en-US" altLang="zh-CN" sz="4400">
                <a:solidFill>
                  <a:srgbClr val="FF0000"/>
                </a:solidFill>
              </a:rPr>
              <a:t>pwd</a:t>
            </a:r>
            <a:r>
              <a:rPr lang="zh-CN" altLang="en-US" sz="4400"/>
              <a:t>（</a:t>
            </a:r>
            <a:r>
              <a:rPr lang="en-US" altLang="zh-CN" sz="4400"/>
              <a:t>print working directory</a:t>
            </a:r>
            <a:r>
              <a:rPr lang="zh-CN" altLang="en-US" sz="4400"/>
              <a:t>）</a:t>
            </a:r>
            <a:r>
              <a:rPr lang="zh-CN" altLang="zh-CN" sz="4400"/>
              <a:t>的功能是</a:t>
            </a:r>
            <a:r>
              <a:rPr lang="zh-CN" altLang="zh-CN" sz="4400">
                <a:solidFill>
                  <a:srgbClr val="FF0000"/>
                </a:solidFill>
              </a:rPr>
              <a:t>显示当前目录</a:t>
            </a:r>
            <a:r>
              <a:rPr lang="zh-CN" altLang="zh-CN" sz="4400"/>
              <a:t>。用法：</a:t>
            </a:r>
            <a:r>
              <a:rPr lang="en-US" altLang="zh-CN" sz="4400"/>
              <a:t> </a:t>
            </a:r>
            <a:endParaRPr lang="zh-CN" altLang="zh-CN" sz="4400"/>
          </a:p>
          <a:p>
            <a:r>
              <a:rPr lang="en-US" altLang="zh-CN" sz="4800"/>
              <a:t>  pwd [-P] [-L]</a:t>
            </a:r>
            <a:r>
              <a:rPr lang="en-US" altLang="zh-CN" sz="4400"/>
              <a:t> </a:t>
            </a:r>
            <a:endParaRPr lang="zh-CN" altLang="zh-CN" sz="4400"/>
          </a:p>
          <a:p>
            <a:r>
              <a:rPr lang="zh-CN" altLang="zh-CN" sz="4400"/>
              <a:t>选项</a:t>
            </a:r>
            <a:r>
              <a:rPr lang="en-US" altLang="zh-CN" sz="4400"/>
              <a:t>-P</a:t>
            </a:r>
            <a:r>
              <a:rPr lang="zh-CN" altLang="zh-CN" sz="4400"/>
              <a:t>、</a:t>
            </a:r>
            <a:r>
              <a:rPr lang="en-US" altLang="zh-CN" sz="4400"/>
              <a:t>-L</a:t>
            </a:r>
            <a:r>
              <a:rPr lang="zh-CN" altLang="zh-CN" sz="4400"/>
              <a:t>分别用于显示</a:t>
            </a:r>
            <a:r>
              <a:rPr lang="zh-CN" altLang="zh-CN" sz="4400">
                <a:solidFill>
                  <a:srgbClr val="FF0000"/>
                </a:solidFill>
              </a:rPr>
              <a:t>当前目录</a:t>
            </a:r>
            <a:r>
              <a:rPr lang="zh-CN" altLang="zh-CN" sz="4400"/>
              <a:t>的</a:t>
            </a:r>
            <a:r>
              <a:rPr lang="zh-CN" altLang="zh-CN" sz="4400">
                <a:solidFill>
                  <a:srgbClr val="FF0000"/>
                </a:solidFill>
              </a:rPr>
              <a:t>物理和逻辑位置</a:t>
            </a:r>
            <a:r>
              <a:rPr lang="zh-CN" altLang="zh-CN" sz="4400"/>
              <a:t>，默认为后者。</a:t>
            </a:r>
          </a:p>
          <a:p>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标题 1">
            <a:extLst>
              <a:ext uri="{FF2B5EF4-FFF2-40B4-BE49-F238E27FC236}">
                <a16:creationId xmlns:a16="http://schemas.microsoft.com/office/drawing/2014/main" id="{D2295DB0-CBC2-E99E-6119-D5DC6FC8667A}"/>
              </a:ext>
            </a:extLst>
          </p:cNvPr>
          <p:cNvSpPr>
            <a:spLocks noGrp="1" noChangeArrowheads="1"/>
          </p:cNvSpPr>
          <p:nvPr>
            <p:ph type="title"/>
          </p:nvPr>
        </p:nvSpPr>
        <p:spPr/>
        <p:txBody>
          <a:bodyPr/>
          <a:lstStyle/>
          <a:p>
            <a:r>
              <a:rPr lang="en-US" altLang="zh-CN"/>
              <a:t>3.2.2  </a:t>
            </a:r>
            <a:r>
              <a:rPr lang="zh-CN" altLang="zh-CN"/>
              <a:t>文件操作基本命令</a:t>
            </a:r>
            <a:endParaRPr lang="zh-CN" altLang="en-US"/>
          </a:p>
        </p:txBody>
      </p:sp>
      <p:sp>
        <p:nvSpPr>
          <p:cNvPr id="84995" name="内容占位符 2">
            <a:extLst>
              <a:ext uri="{FF2B5EF4-FFF2-40B4-BE49-F238E27FC236}">
                <a16:creationId xmlns:a16="http://schemas.microsoft.com/office/drawing/2014/main" id="{E16D7F2C-0B4F-83C4-02AB-0E78F145CB32}"/>
              </a:ext>
            </a:extLst>
          </p:cNvPr>
          <p:cNvSpPr>
            <a:spLocks noGrp="1" noChangeArrowheads="1"/>
          </p:cNvSpPr>
          <p:nvPr>
            <p:ph idx="1"/>
          </p:nvPr>
        </p:nvSpPr>
        <p:spPr>
          <a:xfrm>
            <a:off x="0" y="620713"/>
            <a:ext cx="9144000" cy="5761037"/>
          </a:xfrm>
        </p:spPr>
        <p:txBody>
          <a:bodyPr/>
          <a:lstStyle/>
          <a:p>
            <a:pPr marL="0" indent="0">
              <a:spcBef>
                <a:spcPct val="0"/>
              </a:spcBef>
              <a:spcAft>
                <a:spcPct val="0"/>
              </a:spcAft>
              <a:buFont typeface="Arial" panose="020B0604020202020204" pitchFamily="34" charset="0"/>
              <a:buNone/>
            </a:pPr>
            <a:r>
              <a:rPr lang="en-US" altLang="zh-CN" sz="4000"/>
              <a:t>1</a:t>
            </a:r>
            <a:r>
              <a:rPr lang="zh-CN" altLang="zh-CN" sz="4000"/>
              <a:t>．</a:t>
            </a:r>
            <a:r>
              <a:rPr lang="zh-CN" altLang="zh-CN" sz="4000">
                <a:solidFill>
                  <a:srgbClr val="FF0000"/>
                </a:solidFill>
              </a:rPr>
              <a:t>显示</a:t>
            </a:r>
            <a:r>
              <a:rPr lang="zh-CN" altLang="zh-CN" sz="4000"/>
              <a:t>文件的</a:t>
            </a:r>
            <a:r>
              <a:rPr lang="zh-CN" altLang="zh-CN" sz="4000">
                <a:solidFill>
                  <a:srgbClr val="FF0000"/>
                </a:solidFill>
              </a:rPr>
              <a:t>内容</a:t>
            </a:r>
            <a:r>
              <a:rPr lang="zh-CN" altLang="zh-CN" sz="4000"/>
              <a:t>或</a:t>
            </a:r>
            <a:r>
              <a:rPr lang="zh-CN" altLang="zh-CN" sz="4000">
                <a:solidFill>
                  <a:srgbClr val="FF0000"/>
                </a:solidFill>
              </a:rPr>
              <a:t>合并文件</a:t>
            </a:r>
            <a:r>
              <a:rPr lang="zh-CN" altLang="zh-CN" sz="4000"/>
              <a:t>（</a:t>
            </a:r>
            <a:r>
              <a:rPr lang="en-US" altLang="zh-CN" sz="4000"/>
              <a:t>cat</a:t>
            </a:r>
            <a:r>
              <a:rPr lang="zh-CN" altLang="zh-CN" sz="4000"/>
              <a:t>）</a:t>
            </a:r>
          </a:p>
          <a:p>
            <a:pPr marL="0" indent="0">
              <a:spcBef>
                <a:spcPct val="0"/>
              </a:spcBef>
              <a:spcAft>
                <a:spcPct val="0"/>
              </a:spcAft>
              <a:buFont typeface="Arial" panose="020B0604020202020204" pitchFamily="34" charset="0"/>
              <a:buNone/>
            </a:pPr>
            <a:r>
              <a:rPr lang="en-US" altLang="zh-CN" sz="4000"/>
              <a:t>2</a:t>
            </a:r>
            <a:r>
              <a:rPr lang="zh-CN" altLang="zh-CN" sz="4000"/>
              <a:t>．</a:t>
            </a:r>
            <a:r>
              <a:rPr lang="zh-CN" altLang="zh-CN" sz="4000">
                <a:solidFill>
                  <a:srgbClr val="FF0000"/>
                </a:solidFill>
              </a:rPr>
              <a:t>分屏显示</a:t>
            </a:r>
            <a:r>
              <a:rPr lang="zh-CN" altLang="zh-CN" sz="4000"/>
              <a:t>文件内容（</a:t>
            </a:r>
            <a:r>
              <a:rPr lang="en-US" altLang="zh-CN" sz="4000"/>
              <a:t>more</a:t>
            </a:r>
            <a:r>
              <a:rPr lang="zh-CN" altLang="zh-CN" sz="4000"/>
              <a:t>）</a:t>
            </a:r>
          </a:p>
          <a:p>
            <a:pPr marL="0" indent="0">
              <a:spcBef>
                <a:spcPct val="0"/>
              </a:spcBef>
              <a:spcAft>
                <a:spcPct val="0"/>
              </a:spcAft>
              <a:buFont typeface="Arial" panose="020B0604020202020204" pitchFamily="34" charset="0"/>
              <a:buNone/>
            </a:pPr>
            <a:r>
              <a:rPr lang="en-US" altLang="zh-CN" sz="4000"/>
              <a:t>3</a:t>
            </a:r>
            <a:r>
              <a:rPr lang="zh-CN" altLang="zh-CN" sz="4000"/>
              <a:t>．使用</a:t>
            </a:r>
            <a:r>
              <a:rPr lang="en-US" altLang="zh-CN" sz="4000"/>
              <a:t>less</a:t>
            </a:r>
            <a:r>
              <a:rPr lang="zh-CN" altLang="zh-CN" sz="4000"/>
              <a:t>命令浏览文件</a:t>
            </a:r>
          </a:p>
          <a:p>
            <a:pPr marL="0" indent="0">
              <a:spcBef>
                <a:spcPct val="0"/>
              </a:spcBef>
              <a:spcAft>
                <a:spcPct val="0"/>
              </a:spcAft>
              <a:buFont typeface="Arial" panose="020B0604020202020204" pitchFamily="34" charset="0"/>
              <a:buNone/>
            </a:pPr>
            <a:r>
              <a:rPr lang="en-US" altLang="zh-CN" sz="4000"/>
              <a:t>4</a:t>
            </a:r>
            <a:r>
              <a:rPr lang="zh-CN" altLang="zh-CN" sz="4000"/>
              <a:t>．</a:t>
            </a:r>
            <a:r>
              <a:rPr lang="zh-CN" altLang="zh-CN" sz="4000">
                <a:solidFill>
                  <a:srgbClr val="FF0000"/>
                </a:solidFill>
              </a:rPr>
              <a:t>文件或目录</a:t>
            </a:r>
            <a:r>
              <a:rPr lang="zh-CN" altLang="zh-CN" sz="4000"/>
              <a:t>的删除（</a:t>
            </a:r>
            <a:r>
              <a:rPr lang="en-US" altLang="zh-CN" sz="4000"/>
              <a:t>rm, unlink</a:t>
            </a:r>
            <a:r>
              <a:rPr lang="zh-CN" altLang="zh-CN" sz="4000"/>
              <a:t>）</a:t>
            </a:r>
          </a:p>
          <a:p>
            <a:pPr marL="0" indent="0">
              <a:spcBef>
                <a:spcPct val="0"/>
              </a:spcBef>
              <a:spcAft>
                <a:spcPct val="0"/>
              </a:spcAft>
              <a:buFont typeface="Arial" panose="020B0604020202020204" pitchFamily="34" charset="0"/>
              <a:buNone/>
            </a:pPr>
            <a:r>
              <a:rPr lang="en-US" altLang="zh-CN" sz="4000"/>
              <a:t>5</a:t>
            </a:r>
            <a:r>
              <a:rPr lang="zh-CN" altLang="zh-CN" sz="4000"/>
              <a:t>．文件</a:t>
            </a:r>
            <a:r>
              <a:rPr lang="zh-CN" altLang="zh-CN" sz="4000">
                <a:solidFill>
                  <a:srgbClr val="FF0000"/>
                </a:solidFill>
              </a:rPr>
              <a:t>移动或更名</a:t>
            </a:r>
            <a:r>
              <a:rPr lang="zh-CN" altLang="zh-CN" sz="4000"/>
              <a:t>（</a:t>
            </a:r>
            <a:r>
              <a:rPr lang="en-US" altLang="zh-CN" sz="4000"/>
              <a:t>mv</a:t>
            </a:r>
            <a:r>
              <a:rPr lang="zh-CN" altLang="zh-CN" sz="4000"/>
              <a:t>）</a:t>
            </a:r>
          </a:p>
          <a:p>
            <a:pPr marL="0" indent="0">
              <a:spcBef>
                <a:spcPct val="0"/>
              </a:spcBef>
              <a:spcAft>
                <a:spcPct val="0"/>
              </a:spcAft>
              <a:buFont typeface="Arial" panose="020B0604020202020204" pitchFamily="34" charset="0"/>
              <a:buNone/>
            </a:pPr>
            <a:r>
              <a:rPr lang="en-US" altLang="zh-CN" sz="4000"/>
              <a:t>6</a:t>
            </a:r>
            <a:r>
              <a:rPr lang="zh-CN" altLang="zh-CN" sz="4000"/>
              <a:t>．文件和目录</a:t>
            </a:r>
            <a:r>
              <a:rPr lang="zh-CN" altLang="zh-CN" sz="4000">
                <a:solidFill>
                  <a:srgbClr val="FF0000"/>
                </a:solidFill>
              </a:rPr>
              <a:t>复制</a:t>
            </a:r>
            <a:r>
              <a:rPr lang="zh-CN" altLang="zh-CN" sz="4000"/>
              <a:t>（</a:t>
            </a:r>
            <a:r>
              <a:rPr lang="en-US" altLang="zh-CN" sz="4000"/>
              <a:t>cp</a:t>
            </a:r>
            <a:r>
              <a:rPr lang="zh-CN" altLang="zh-CN" sz="4000"/>
              <a:t>）</a:t>
            </a:r>
          </a:p>
          <a:p>
            <a:pPr marL="0" indent="0">
              <a:spcBef>
                <a:spcPct val="0"/>
              </a:spcBef>
              <a:spcAft>
                <a:spcPct val="0"/>
              </a:spcAft>
              <a:buFont typeface="Arial" panose="020B0604020202020204" pitchFamily="34" charset="0"/>
              <a:buNone/>
            </a:pPr>
            <a:r>
              <a:rPr lang="en-US" altLang="zh-CN" sz="4000"/>
              <a:t>7</a:t>
            </a:r>
            <a:r>
              <a:rPr lang="zh-CN" altLang="zh-CN" sz="4000"/>
              <a:t>．显示文件</a:t>
            </a:r>
            <a:r>
              <a:rPr lang="zh-CN" altLang="zh-CN" sz="4000">
                <a:solidFill>
                  <a:srgbClr val="FF0000"/>
                </a:solidFill>
              </a:rPr>
              <a:t>开始</a:t>
            </a:r>
            <a:r>
              <a:rPr lang="en-US" altLang="zh-CN" sz="4000"/>
              <a:t>head;</a:t>
            </a:r>
            <a:r>
              <a:rPr lang="zh-CN" altLang="zh-CN" sz="4000">
                <a:solidFill>
                  <a:srgbClr val="FF0000"/>
                </a:solidFill>
              </a:rPr>
              <a:t>结尾</a:t>
            </a:r>
            <a:r>
              <a:rPr lang="zh-CN" altLang="zh-CN" sz="4000"/>
              <a:t>部分</a:t>
            </a:r>
            <a:r>
              <a:rPr lang="en-US" altLang="zh-CN" sz="4000"/>
              <a:t>tail</a:t>
            </a:r>
            <a:endParaRPr lang="zh-CN" altLang="zh-CN" sz="4000"/>
          </a:p>
          <a:p>
            <a:pPr marL="0" indent="0">
              <a:spcBef>
                <a:spcPct val="0"/>
              </a:spcBef>
              <a:spcAft>
                <a:spcPct val="0"/>
              </a:spcAft>
              <a:buFont typeface="Arial" panose="020B0604020202020204" pitchFamily="34" charset="0"/>
              <a:buNone/>
            </a:pPr>
            <a:r>
              <a:rPr lang="en-US" altLang="zh-CN" sz="4000">
                <a:solidFill>
                  <a:schemeClr val="tx1"/>
                </a:solidFill>
              </a:rPr>
              <a:t>8</a:t>
            </a:r>
            <a:r>
              <a:rPr lang="zh-CN" altLang="zh-CN" sz="4000">
                <a:solidFill>
                  <a:schemeClr val="tx1"/>
                </a:solidFill>
              </a:rPr>
              <a:t>．</a:t>
            </a:r>
            <a:r>
              <a:rPr lang="zh-CN" altLang="zh-CN" sz="4000">
                <a:solidFill>
                  <a:srgbClr val="FF0000"/>
                </a:solidFill>
              </a:rPr>
              <a:t>文件的格式输出（</a:t>
            </a:r>
            <a:r>
              <a:rPr lang="en-US" altLang="zh-CN" sz="4000">
                <a:solidFill>
                  <a:srgbClr val="FF0000"/>
                </a:solidFill>
              </a:rPr>
              <a:t>pr</a:t>
            </a:r>
            <a:r>
              <a:rPr lang="zh-CN" altLang="zh-CN" sz="4000">
                <a:solidFill>
                  <a:srgbClr val="FF0000"/>
                </a:solidFill>
              </a:rPr>
              <a:t>）</a:t>
            </a:r>
          </a:p>
          <a:p>
            <a:pPr marL="0" indent="0">
              <a:spcBef>
                <a:spcPct val="0"/>
              </a:spcBef>
              <a:spcAft>
                <a:spcPct val="0"/>
              </a:spcAft>
              <a:buFont typeface="Arial" panose="020B0604020202020204" pitchFamily="34" charset="0"/>
              <a:buNone/>
            </a:pPr>
            <a:r>
              <a:rPr lang="en-US" altLang="zh-CN" sz="4000">
                <a:solidFill>
                  <a:schemeClr val="tx1"/>
                </a:solidFill>
              </a:rPr>
              <a:t>9</a:t>
            </a:r>
            <a:r>
              <a:rPr lang="zh-CN" altLang="zh-CN" sz="4000">
                <a:solidFill>
                  <a:schemeClr val="tx1"/>
                </a:solidFill>
              </a:rPr>
              <a:t>．</a:t>
            </a:r>
            <a:r>
              <a:rPr lang="zh-CN" altLang="zh-CN" sz="4000"/>
              <a:t>以</a:t>
            </a:r>
            <a:r>
              <a:rPr lang="zh-CN" altLang="zh-CN" sz="4000">
                <a:solidFill>
                  <a:srgbClr val="FF0000"/>
                </a:solidFill>
              </a:rPr>
              <a:t>指定格式或进制</a:t>
            </a:r>
            <a:r>
              <a:rPr lang="zh-CN" altLang="zh-CN" sz="4000"/>
              <a:t>显示文件内容</a:t>
            </a:r>
            <a:r>
              <a:rPr lang="en-US" altLang="zh-CN" sz="4000"/>
              <a:t>od</a:t>
            </a:r>
            <a:endParaRPr lang="zh-CN" altLang="zh-CN" sz="40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标题 1">
            <a:extLst>
              <a:ext uri="{FF2B5EF4-FFF2-40B4-BE49-F238E27FC236}">
                <a16:creationId xmlns:a16="http://schemas.microsoft.com/office/drawing/2014/main" id="{8B1B841D-122C-6647-2A13-64037A1EBAB1}"/>
              </a:ext>
            </a:extLst>
          </p:cNvPr>
          <p:cNvSpPr>
            <a:spLocks noGrp="1" noChangeArrowheads="1"/>
          </p:cNvSpPr>
          <p:nvPr>
            <p:ph type="title"/>
          </p:nvPr>
        </p:nvSpPr>
        <p:spPr/>
        <p:txBody>
          <a:bodyPr/>
          <a:lstStyle/>
          <a:p>
            <a:r>
              <a:rPr lang="en-US" altLang="zh-CN"/>
              <a:t>1.</a:t>
            </a:r>
            <a:r>
              <a:rPr lang="zh-CN" altLang="zh-CN"/>
              <a:t>显示文件内容或合并文件（</a:t>
            </a:r>
            <a:r>
              <a:rPr lang="en-US" altLang="zh-CN"/>
              <a:t>cat</a:t>
            </a:r>
            <a:r>
              <a:rPr lang="zh-CN" altLang="zh-CN"/>
              <a:t>）</a:t>
            </a:r>
            <a:endParaRPr lang="zh-CN" altLang="en-US"/>
          </a:p>
        </p:txBody>
      </p:sp>
      <p:sp>
        <p:nvSpPr>
          <p:cNvPr id="87043" name="内容占位符 2">
            <a:extLst>
              <a:ext uri="{FF2B5EF4-FFF2-40B4-BE49-F238E27FC236}">
                <a16:creationId xmlns:a16="http://schemas.microsoft.com/office/drawing/2014/main" id="{A03CE856-ACD5-4BC9-559B-67E6A1EED8E3}"/>
              </a:ext>
            </a:extLst>
          </p:cNvPr>
          <p:cNvSpPr>
            <a:spLocks noGrp="1" noChangeArrowheads="1"/>
          </p:cNvSpPr>
          <p:nvPr>
            <p:ph idx="1"/>
          </p:nvPr>
        </p:nvSpPr>
        <p:spPr>
          <a:xfrm>
            <a:off x="31750" y="620713"/>
            <a:ext cx="9145588" cy="5761037"/>
          </a:xfrm>
        </p:spPr>
        <p:txBody>
          <a:bodyPr/>
          <a:lstStyle/>
          <a:p>
            <a:pPr>
              <a:spcBef>
                <a:spcPct val="0"/>
              </a:spcBef>
              <a:spcAft>
                <a:spcPct val="0"/>
              </a:spcAft>
            </a:pPr>
            <a:r>
              <a:rPr lang="en-US" altLang="zh-CN" sz="4400"/>
              <a:t>1</a:t>
            </a:r>
            <a:r>
              <a:rPr lang="zh-CN" altLang="zh-CN" sz="4400"/>
              <a:t>）功能及用法</a:t>
            </a:r>
          </a:p>
          <a:p>
            <a:pPr>
              <a:spcBef>
                <a:spcPct val="0"/>
              </a:spcBef>
              <a:spcAft>
                <a:spcPct val="0"/>
              </a:spcAft>
            </a:pPr>
            <a:r>
              <a:rPr lang="en-US" altLang="zh-CN" sz="4400"/>
              <a:t>cat</a:t>
            </a:r>
            <a:r>
              <a:rPr lang="zh-CN" altLang="zh-CN" sz="4400"/>
              <a:t>（</a:t>
            </a:r>
            <a:r>
              <a:rPr lang="en-US" altLang="zh-CN" sz="4400"/>
              <a:t>catenate</a:t>
            </a:r>
            <a:r>
              <a:rPr lang="zh-CN" altLang="zh-CN" sz="4400"/>
              <a:t>）命令用来把</a:t>
            </a:r>
            <a:r>
              <a:rPr lang="zh-CN" altLang="zh-CN" sz="4400">
                <a:solidFill>
                  <a:srgbClr val="FF0000"/>
                </a:solidFill>
              </a:rPr>
              <a:t>文件内容显示到屏幕上</a:t>
            </a:r>
            <a:r>
              <a:rPr lang="zh-CN" altLang="zh-CN" sz="4400"/>
              <a:t>，</a:t>
            </a:r>
            <a:r>
              <a:rPr lang="zh-CN" altLang="zh-CN" sz="4400">
                <a:solidFill>
                  <a:srgbClr val="FF0000"/>
                </a:solidFill>
              </a:rPr>
              <a:t>也可以</a:t>
            </a:r>
            <a:r>
              <a:rPr lang="zh-CN" altLang="zh-CN" sz="4400"/>
              <a:t>同时显示</a:t>
            </a:r>
            <a:r>
              <a:rPr lang="zh-CN" altLang="zh-CN" sz="4400">
                <a:solidFill>
                  <a:srgbClr val="FF0000"/>
                </a:solidFill>
              </a:rPr>
              <a:t>多个</a:t>
            </a:r>
            <a:r>
              <a:rPr lang="zh-CN" altLang="zh-CN" sz="4400"/>
              <a:t>文件。</a:t>
            </a:r>
            <a:r>
              <a:rPr lang="zh-CN" altLang="en-US" sz="4400">
                <a:solidFill>
                  <a:srgbClr val="FF0000"/>
                </a:solidFill>
              </a:rPr>
              <a:t>默认</a:t>
            </a:r>
            <a:r>
              <a:rPr lang="zh-CN" altLang="zh-CN" sz="4400">
                <a:solidFill>
                  <a:srgbClr val="FF0000"/>
                </a:solidFill>
              </a:rPr>
              <a:t>使用标准输入</a:t>
            </a:r>
            <a:r>
              <a:rPr lang="zh-CN" altLang="zh-CN" sz="4400"/>
              <a:t>。可以</a:t>
            </a:r>
            <a:r>
              <a:rPr lang="zh-CN" altLang="zh-CN" sz="4400">
                <a:solidFill>
                  <a:srgbClr val="FF0000"/>
                </a:solidFill>
              </a:rPr>
              <a:t>通过</a:t>
            </a:r>
            <a:r>
              <a:rPr lang="en-US" altLang="zh-CN" sz="4400">
                <a:solidFill>
                  <a:srgbClr val="FF0000"/>
                </a:solidFill>
              </a:rPr>
              <a:t>I/O</a:t>
            </a:r>
            <a:r>
              <a:rPr lang="zh-CN" altLang="zh-CN" sz="4400">
                <a:solidFill>
                  <a:srgbClr val="FF0000"/>
                </a:solidFill>
              </a:rPr>
              <a:t>重定向</a:t>
            </a:r>
            <a:r>
              <a:rPr lang="zh-CN" altLang="zh-CN" sz="4400"/>
              <a:t>的方法</a:t>
            </a:r>
            <a:r>
              <a:rPr lang="zh-CN" altLang="zh-CN" sz="4400" u="sng"/>
              <a:t>将多个文件的</a:t>
            </a:r>
            <a:r>
              <a:rPr lang="zh-CN" altLang="zh-CN" sz="4400" u="sng">
                <a:solidFill>
                  <a:srgbClr val="FF0000"/>
                </a:solidFill>
              </a:rPr>
              <a:t>显示内容改道</a:t>
            </a:r>
            <a:r>
              <a:rPr lang="zh-CN" altLang="zh-CN" sz="4400" u="sng"/>
              <a:t>到某个文件中，从而实现文件合并</a:t>
            </a:r>
            <a:r>
              <a:rPr lang="zh-CN" altLang="zh-CN" sz="4400"/>
              <a:t>。用法为：</a:t>
            </a:r>
            <a:r>
              <a:rPr lang="en-US" altLang="zh-CN" sz="4400"/>
              <a:t> </a:t>
            </a:r>
            <a:endParaRPr lang="zh-CN" altLang="zh-CN" sz="4400"/>
          </a:p>
          <a:p>
            <a:pPr>
              <a:spcBef>
                <a:spcPct val="0"/>
              </a:spcBef>
              <a:spcAft>
                <a:spcPct val="0"/>
              </a:spcAft>
            </a:pPr>
            <a:r>
              <a:rPr lang="en-US" altLang="zh-CN" sz="4400"/>
              <a:t>cat [ options ] [ files ]</a:t>
            </a:r>
            <a:endParaRPr lang="zh-CN" altLang="zh-CN" sz="44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标题 1">
            <a:extLst>
              <a:ext uri="{FF2B5EF4-FFF2-40B4-BE49-F238E27FC236}">
                <a16:creationId xmlns:a16="http://schemas.microsoft.com/office/drawing/2014/main" id="{8ABA910B-AD90-87E4-8A69-DB680105D3FE}"/>
              </a:ext>
            </a:extLst>
          </p:cNvPr>
          <p:cNvSpPr>
            <a:spLocks noGrp="1" noChangeArrowheads="1"/>
          </p:cNvSpPr>
          <p:nvPr>
            <p:ph type="title"/>
          </p:nvPr>
        </p:nvSpPr>
        <p:spPr/>
        <p:txBody>
          <a:bodyPr/>
          <a:lstStyle/>
          <a:p>
            <a:r>
              <a:rPr lang="en-US" altLang="zh-CN"/>
              <a:t>2</a:t>
            </a:r>
            <a:r>
              <a:rPr lang="zh-CN" altLang="zh-CN"/>
              <a:t>）参数说明</a:t>
            </a:r>
            <a:endParaRPr lang="zh-CN" altLang="en-US"/>
          </a:p>
        </p:txBody>
      </p:sp>
      <p:graphicFrame>
        <p:nvGraphicFramePr>
          <p:cNvPr id="6" name="内容占位符 5">
            <a:extLst>
              <a:ext uri="{FF2B5EF4-FFF2-40B4-BE49-F238E27FC236}">
                <a16:creationId xmlns:a16="http://schemas.microsoft.com/office/drawing/2014/main" id="{B70B41CF-0157-D23A-EE86-2746D7209DA2}"/>
              </a:ext>
            </a:extLst>
          </p:cNvPr>
          <p:cNvGraphicFramePr>
            <a:graphicFrameLocks noGrp="1"/>
          </p:cNvGraphicFramePr>
          <p:nvPr>
            <p:ph idx="1"/>
          </p:nvPr>
        </p:nvGraphicFramePr>
        <p:xfrm>
          <a:off x="0" y="692150"/>
          <a:ext cx="9144000" cy="5243513"/>
        </p:xfrm>
        <a:graphic>
          <a:graphicData uri="http://schemas.openxmlformats.org/drawingml/2006/table">
            <a:tbl>
              <a:tblPr firstRow="1" firstCol="1" bandRow="1"/>
              <a:tblGrid>
                <a:gridCol w="1266127">
                  <a:extLst>
                    <a:ext uri="{9D8B030D-6E8A-4147-A177-3AD203B41FA5}">
                      <a16:colId xmlns:a16="http://schemas.microsoft.com/office/drawing/2014/main" val="20000"/>
                    </a:ext>
                  </a:extLst>
                </a:gridCol>
                <a:gridCol w="3020396">
                  <a:extLst>
                    <a:ext uri="{9D8B030D-6E8A-4147-A177-3AD203B41FA5}">
                      <a16:colId xmlns:a16="http://schemas.microsoft.com/office/drawing/2014/main" val="20001"/>
                    </a:ext>
                  </a:extLst>
                </a:gridCol>
                <a:gridCol w="1433927">
                  <a:extLst>
                    <a:ext uri="{9D8B030D-6E8A-4147-A177-3AD203B41FA5}">
                      <a16:colId xmlns:a16="http://schemas.microsoft.com/office/drawing/2014/main" val="20002"/>
                    </a:ext>
                  </a:extLst>
                </a:gridCol>
                <a:gridCol w="3423550">
                  <a:extLst>
                    <a:ext uri="{9D8B030D-6E8A-4147-A177-3AD203B41FA5}">
                      <a16:colId xmlns:a16="http://schemas.microsoft.com/office/drawing/2014/main" val="20003"/>
                    </a:ext>
                  </a:extLst>
                </a:gridCol>
              </a:tblGrid>
              <a:tr h="1008122">
                <a:tc>
                  <a:txBody>
                    <a:bodyPr/>
                    <a:lstStyle/>
                    <a:p>
                      <a:pPr indent="0" algn="ctr">
                        <a:lnSpc>
                          <a:spcPct val="100000"/>
                        </a:lnSpc>
                        <a:spcAft>
                          <a:spcPts val="0"/>
                        </a:spcAft>
                      </a:pPr>
                      <a:r>
                        <a:rPr lang="zh-CN" sz="3200" kern="100" dirty="0">
                          <a:effectLst/>
                          <a:latin typeface="Times New Roman" panose="02020603050405020304"/>
                          <a:ea typeface="宋体" panose="02010600030101010101" pitchFamily="2" charset="-122"/>
                        </a:rPr>
                        <a:t>选</a:t>
                      </a:r>
                      <a:r>
                        <a:rPr lang="en-US" sz="3200" kern="100" dirty="0">
                          <a:effectLst/>
                          <a:latin typeface="Times New Roman" panose="02020603050405020304"/>
                          <a:ea typeface="宋体" panose="02010600030101010101" pitchFamily="2" charset="-122"/>
                        </a:rPr>
                        <a:t>    </a:t>
                      </a:r>
                      <a:r>
                        <a:rPr lang="zh-CN" sz="3200" kern="100" dirty="0">
                          <a:effectLst/>
                          <a:latin typeface="Times New Roman" panose="02020603050405020304"/>
                          <a:ea typeface="宋体" panose="02010600030101010101" pitchFamily="2" charset="-122"/>
                        </a:rPr>
                        <a:t>项</a:t>
                      </a: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00000"/>
                        </a:lnSpc>
                        <a:spcAft>
                          <a:spcPts val="0"/>
                        </a:spcAft>
                      </a:pPr>
                      <a:r>
                        <a:rPr lang="zh-CN" sz="3200" kern="100" dirty="0">
                          <a:effectLst/>
                          <a:latin typeface="Times New Roman" panose="02020603050405020304"/>
                          <a:ea typeface="宋体" panose="02010600030101010101" pitchFamily="2" charset="-122"/>
                        </a:rPr>
                        <a:t>意</a:t>
                      </a:r>
                      <a:r>
                        <a:rPr lang="en-US" sz="3200" kern="100" dirty="0">
                          <a:effectLst/>
                          <a:latin typeface="Times New Roman" panose="02020603050405020304"/>
                          <a:ea typeface="宋体" panose="02010600030101010101" pitchFamily="2" charset="-122"/>
                        </a:rPr>
                        <a:t>    </a:t>
                      </a:r>
                      <a:r>
                        <a:rPr lang="zh-CN" sz="3200" kern="100" dirty="0">
                          <a:effectLst/>
                          <a:latin typeface="Times New Roman" panose="02020603050405020304"/>
                          <a:ea typeface="宋体" panose="02010600030101010101" pitchFamily="2" charset="-122"/>
                        </a:rPr>
                        <a:t>义</a:t>
                      </a:r>
                    </a:p>
                  </a:txBody>
                  <a:tcPr marL="68576" marR="68576"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00000"/>
                        </a:lnSpc>
                        <a:spcAft>
                          <a:spcPts val="0"/>
                        </a:spcAft>
                      </a:pPr>
                      <a:r>
                        <a:rPr lang="zh-CN" sz="3200" kern="100">
                          <a:effectLst/>
                          <a:latin typeface="Times New Roman" panose="02020603050405020304"/>
                          <a:ea typeface="宋体" panose="02010600030101010101" pitchFamily="2" charset="-122"/>
                        </a:rPr>
                        <a:t>选</a:t>
                      </a:r>
                      <a:r>
                        <a:rPr lang="en-US" sz="3200" kern="100">
                          <a:effectLst/>
                          <a:latin typeface="Times New Roman" panose="02020603050405020304"/>
                          <a:ea typeface="宋体" panose="02010600030101010101" pitchFamily="2" charset="-122"/>
                        </a:rPr>
                        <a:t>    </a:t>
                      </a:r>
                      <a:r>
                        <a:rPr lang="zh-CN" sz="3200" kern="100">
                          <a:effectLst/>
                          <a:latin typeface="Times New Roman" panose="02020603050405020304"/>
                          <a:ea typeface="宋体" panose="02010600030101010101" pitchFamily="2" charset="-122"/>
                        </a:rPr>
                        <a:t>项</a:t>
                      </a:r>
                    </a:p>
                  </a:txBody>
                  <a:tcPr marL="68576" marR="68576"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00000"/>
                        </a:lnSpc>
                        <a:spcAft>
                          <a:spcPts val="0"/>
                        </a:spcAft>
                      </a:pPr>
                      <a:r>
                        <a:rPr lang="zh-CN" sz="3200" kern="100">
                          <a:effectLst/>
                          <a:latin typeface="Times New Roman" panose="02020603050405020304"/>
                          <a:ea typeface="宋体" panose="02010600030101010101" pitchFamily="2" charset="-122"/>
                        </a:rPr>
                        <a:t>意</a:t>
                      </a:r>
                      <a:r>
                        <a:rPr lang="en-US" sz="3200" kern="100">
                          <a:effectLst/>
                          <a:latin typeface="Times New Roman" panose="02020603050405020304"/>
                          <a:ea typeface="宋体" panose="02010600030101010101" pitchFamily="2" charset="-122"/>
                        </a:rPr>
                        <a:t>    </a:t>
                      </a:r>
                      <a:r>
                        <a:rPr lang="zh-CN" sz="3200" kern="100">
                          <a:effectLst/>
                          <a:latin typeface="Times New Roman" panose="02020603050405020304"/>
                          <a:ea typeface="宋体" panose="02010600030101010101" pitchFamily="2" charset="-122"/>
                        </a:rPr>
                        <a:t>义</a:t>
                      </a: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386168">
                <a:tc>
                  <a:txBody>
                    <a:bodyPr/>
                    <a:lstStyle/>
                    <a:p>
                      <a:pPr indent="0" algn="ctr">
                        <a:lnSpc>
                          <a:spcPct val="100000"/>
                        </a:lnSpc>
                        <a:spcAft>
                          <a:spcPts val="0"/>
                        </a:spcAft>
                      </a:pPr>
                      <a:r>
                        <a:rPr lang="en-US" sz="3200" kern="100">
                          <a:effectLst/>
                          <a:latin typeface="Times New Roman" panose="02020603050405020304"/>
                          <a:ea typeface="宋体" panose="02010600030101010101" pitchFamily="2" charset="-122"/>
                        </a:rPr>
                        <a:t>-E</a:t>
                      </a:r>
                      <a:endParaRPr lang="zh-CN" sz="3200" kern="100">
                        <a:effectLst/>
                        <a:latin typeface="Times New Roman" panose="02020603050405020304"/>
                        <a:ea typeface="宋体" panose="02010600030101010101" pitchFamily="2" charset="-122"/>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4400" b="1" kern="100" dirty="0">
                          <a:solidFill>
                            <a:srgbClr val="FF0000"/>
                          </a:solidFill>
                          <a:effectLst/>
                          <a:latin typeface="Times New Roman" panose="02020603050405020304"/>
                          <a:ea typeface="宋体" panose="02010600030101010101" pitchFamily="2" charset="-122"/>
                        </a:rPr>
                        <a:t>在行末显示</a:t>
                      </a:r>
                      <a:r>
                        <a:rPr lang="en-US" sz="4400" b="1" kern="100" dirty="0">
                          <a:solidFill>
                            <a:srgbClr val="FF0000"/>
                          </a:solidFill>
                          <a:effectLst/>
                          <a:latin typeface="Times New Roman" panose="02020603050405020304"/>
                          <a:ea typeface="宋体" panose="02010600030101010101" pitchFamily="2" charset="-122"/>
                        </a:rPr>
                        <a:t>$</a:t>
                      </a:r>
                      <a:r>
                        <a:rPr lang="zh-CN" sz="4400" b="1" kern="100" dirty="0">
                          <a:solidFill>
                            <a:srgbClr val="FF0000"/>
                          </a:solidFill>
                          <a:effectLst/>
                          <a:latin typeface="Times New Roman" panose="02020603050405020304"/>
                          <a:ea typeface="宋体" panose="02010600030101010101" pitchFamily="2" charset="-122"/>
                        </a:rPr>
                        <a:t>符号</a:t>
                      </a:r>
                    </a:p>
                  </a:txBody>
                  <a:tcPr marL="68576" marR="68576"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00000"/>
                        </a:lnSpc>
                        <a:spcAft>
                          <a:spcPts val="0"/>
                        </a:spcAft>
                      </a:pPr>
                      <a:r>
                        <a:rPr lang="en-US" sz="3200" kern="100">
                          <a:effectLst/>
                          <a:latin typeface="Times New Roman" panose="02020603050405020304"/>
                          <a:ea typeface="宋体" panose="02010600030101010101" pitchFamily="2" charset="-122"/>
                        </a:rPr>
                        <a:t>-s</a:t>
                      </a:r>
                      <a:endParaRPr lang="zh-CN" sz="3200" kern="100">
                        <a:effectLst/>
                        <a:latin typeface="Times New Roman" panose="02020603050405020304"/>
                        <a:ea typeface="宋体" panose="02010600030101010101" pitchFamily="2" charset="-122"/>
                      </a:endParaRPr>
                    </a:p>
                  </a:txBody>
                  <a:tcPr marL="68576" marR="68576"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200" kern="100" dirty="0">
                          <a:effectLst/>
                          <a:latin typeface="Times New Roman" panose="02020603050405020304"/>
                          <a:ea typeface="宋体" panose="02010600030101010101" pitchFamily="2" charset="-122"/>
                        </a:rPr>
                        <a:t>当有一个或多个空行时只显示一个</a:t>
                      </a: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386168">
                <a:tc>
                  <a:txBody>
                    <a:bodyPr/>
                    <a:lstStyle/>
                    <a:p>
                      <a:pPr indent="0" algn="ctr">
                        <a:lnSpc>
                          <a:spcPct val="100000"/>
                        </a:lnSpc>
                        <a:spcAft>
                          <a:spcPts val="0"/>
                        </a:spcAft>
                      </a:pPr>
                      <a:r>
                        <a:rPr lang="en-US" sz="3200" kern="100">
                          <a:effectLst/>
                          <a:latin typeface="Times New Roman" panose="02020603050405020304"/>
                          <a:ea typeface="宋体" panose="02010600030101010101" pitchFamily="2" charset="-122"/>
                        </a:rPr>
                        <a:t>-n</a:t>
                      </a:r>
                      <a:endParaRPr lang="zh-CN" sz="3200" kern="100">
                        <a:effectLst/>
                        <a:latin typeface="Times New Roman" panose="02020603050405020304"/>
                        <a:ea typeface="宋体" panose="02010600030101010101" pitchFamily="2" charset="-122"/>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200" kern="100" dirty="0">
                          <a:effectLst/>
                          <a:latin typeface="Times New Roman" panose="02020603050405020304"/>
                          <a:ea typeface="宋体" panose="02010600030101010101" pitchFamily="2" charset="-122"/>
                        </a:rPr>
                        <a:t>为所有行</a:t>
                      </a:r>
                      <a:r>
                        <a:rPr lang="zh-CN" sz="4000" b="1" kern="100" dirty="0">
                          <a:solidFill>
                            <a:srgbClr val="FF0000"/>
                          </a:solidFill>
                          <a:effectLst/>
                          <a:latin typeface="Times New Roman" panose="02020603050405020304"/>
                          <a:ea typeface="宋体" panose="02010600030101010101" pitchFamily="2" charset="-122"/>
                        </a:rPr>
                        <a:t>添加行号</a:t>
                      </a:r>
                    </a:p>
                  </a:txBody>
                  <a:tcPr marL="68576" marR="68576"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00000"/>
                        </a:lnSpc>
                        <a:spcAft>
                          <a:spcPts val="0"/>
                        </a:spcAft>
                      </a:pPr>
                      <a:r>
                        <a:rPr lang="en-US" sz="3200" kern="100">
                          <a:effectLst/>
                          <a:latin typeface="Times New Roman" panose="02020603050405020304"/>
                          <a:ea typeface="宋体" panose="02010600030101010101" pitchFamily="2" charset="-122"/>
                        </a:rPr>
                        <a:t>-T</a:t>
                      </a:r>
                      <a:endParaRPr lang="zh-CN" sz="3200" kern="100">
                        <a:effectLst/>
                        <a:latin typeface="Times New Roman" panose="02020603050405020304"/>
                        <a:ea typeface="宋体" panose="02010600030101010101" pitchFamily="2" charset="-122"/>
                      </a:endParaRPr>
                    </a:p>
                  </a:txBody>
                  <a:tcPr marL="68576" marR="68576"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200" kern="100" dirty="0">
                          <a:effectLst/>
                          <a:latin typeface="Times New Roman" panose="02020603050405020304"/>
                          <a:ea typeface="宋体" panose="02010600030101010101" pitchFamily="2" charset="-122"/>
                        </a:rPr>
                        <a:t>将</a:t>
                      </a:r>
                      <a:r>
                        <a:rPr lang="en-US" sz="3200" kern="100" dirty="0">
                          <a:effectLst/>
                          <a:latin typeface="Times New Roman" panose="02020603050405020304"/>
                          <a:ea typeface="宋体" panose="02010600030101010101" pitchFamily="2" charset="-122"/>
                        </a:rPr>
                        <a:t>Tab</a:t>
                      </a:r>
                      <a:r>
                        <a:rPr lang="zh-CN" sz="3200" kern="100" dirty="0">
                          <a:effectLst/>
                          <a:latin typeface="Times New Roman" panose="02020603050405020304"/>
                          <a:ea typeface="宋体" panose="02010600030101010101" pitchFamily="2" charset="-122"/>
                        </a:rPr>
                        <a:t>键显示为</a:t>
                      </a:r>
                      <a:r>
                        <a:rPr lang="en-US" sz="3200" kern="100" dirty="0">
                          <a:effectLst/>
                          <a:latin typeface="Times New Roman" panose="02020603050405020304"/>
                          <a:ea typeface="宋体" panose="02010600030101010101" pitchFamily="2" charset="-122"/>
                        </a:rPr>
                        <a:t>^I(</a:t>
                      </a:r>
                      <a:r>
                        <a:rPr lang="en-US" sz="3200" kern="100" dirty="0" err="1">
                          <a:effectLst/>
                          <a:latin typeface="Times New Roman" panose="02020603050405020304"/>
                          <a:ea typeface="宋体" panose="02010600030101010101" pitchFamily="2" charset="-122"/>
                        </a:rPr>
                        <a:t>Ctrl+I</a:t>
                      </a:r>
                      <a:r>
                        <a:rPr lang="en-US" sz="3200" kern="100" dirty="0">
                          <a:effectLst/>
                          <a:latin typeface="Times New Roman" panose="02020603050405020304"/>
                          <a:ea typeface="宋体" panose="02010600030101010101" pitchFamily="2" charset="-122"/>
                        </a:rPr>
                        <a:t>)</a:t>
                      </a:r>
                      <a:endParaRPr lang="zh-CN" sz="3200" kern="100" dirty="0">
                        <a:effectLst/>
                        <a:latin typeface="Times New Roman" panose="02020603050405020304"/>
                        <a:ea typeface="宋体" panose="02010600030101010101" pitchFamily="2" charset="-122"/>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63055">
                <a:tc>
                  <a:txBody>
                    <a:bodyPr/>
                    <a:lstStyle/>
                    <a:p>
                      <a:pPr indent="0" algn="ctr">
                        <a:lnSpc>
                          <a:spcPct val="100000"/>
                        </a:lnSpc>
                        <a:spcAft>
                          <a:spcPts val="0"/>
                        </a:spcAft>
                      </a:pPr>
                      <a:r>
                        <a:rPr lang="en-US" sz="3200" kern="100">
                          <a:effectLst/>
                          <a:latin typeface="Times New Roman" panose="02020603050405020304"/>
                          <a:ea typeface="宋体" panose="02010600030101010101" pitchFamily="2" charset="-122"/>
                        </a:rPr>
                        <a:t>-v</a:t>
                      </a:r>
                      <a:endParaRPr lang="zh-CN" sz="3200" kern="100">
                        <a:effectLst/>
                        <a:latin typeface="Times New Roman" panose="02020603050405020304"/>
                        <a:ea typeface="宋体" panose="02010600030101010101" pitchFamily="2" charset="-122"/>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indent="0" algn="just">
                        <a:lnSpc>
                          <a:spcPct val="100000"/>
                        </a:lnSpc>
                        <a:spcAft>
                          <a:spcPts val="0"/>
                        </a:spcAft>
                      </a:pPr>
                      <a:r>
                        <a:rPr lang="zh-CN" sz="3200" kern="100" dirty="0">
                          <a:effectLst/>
                          <a:latin typeface="Times New Roman" panose="02020603050405020304"/>
                          <a:ea typeface="宋体" panose="02010600030101010101" pitchFamily="2" charset="-122"/>
                        </a:rPr>
                        <a:t>显示</a:t>
                      </a:r>
                      <a:r>
                        <a:rPr lang="zh-CN" sz="3200" b="1" kern="100" dirty="0">
                          <a:effectLst/>
                          <a:latin typeface="Times New Roman" panose="02020603050405020304"/>
                          <a:ea typeface="宋体" panose="02010600030101010101" pitchFamily="2" charset="-122"/>
                        </a:rPr>
                        <a:t>所有内容</a:t>
                      </a:r>
                      <a:r>
                        <a:rPr lang="zh-CN" sz="3200" kern="100" dirty="0">
                          <a:effectLst/>
                          <a:latin typeface="Times New Roman" panose="02020603050405020304"/>
                          <a:ea typeface="宋体" panose="02010600030101010101" pitchFamily="2" charset="-122"/>
                        </a:rPr>
                        <a:t>。除回车和</a:t>
                      </a:r>
                      <a:r>
                        <a:rPr lang="en-US" sz="3200" kern="100" dirty="0">
                          <a:effectLst/>
                          <a:latin typeface="Times New Roman" panose="02020603050405020304"/>
                          <a:ea typeface="宋体" panose="02010600030101010101" pitchFamily="2" charset="-122"/>
                        </a:rPr>
                        <a:t>Tab</a:t>
                      </a:r>
                      <a:r>
                        <a:rPr lang="zh-CN" sz="3200" kern="100" dirty="0">
                          <a:effectLst/>
                          <a:latin typeface="Times New Roman" panose="02020603050405020304"/>
                          <a:ea typeface="宋体" panose="02010600030101010101" pitchFamily="2" charset="-122"/>
                        </a:rPr>
                        <a:t>键外，不可显示的字符用</a:t>
                      </a:r>
                      <a:r>
                        <a:rPr lang="en-US" sz="3200" kern="100" dirty="0">
                          <a:effectLst/>
                          <a:latin typeface="Times New Roman" panose="02020603050405020304"/>
                          <a:ea typeface="宋体" panose="02010600030101010101" pitchFamily="2" charset="-122"/>
                        </a:rPr>
                        <a:t>^</a:t>
                      </a:r>
                      <a:r>
                        <a:rPr lang="zh-CN" sz="3200" kern="100" dirty="0">
                          <a:effectLst/>
                          <a:latin typeface="Times New Roman" panose="02020603050405020304"/>
                          <a:ea typeface="宋体" panose="02010600030101010101" pitchFamily="2" charset="-122"/>
                        </a:rPr>
                        <a:t>或</a:t>
                      </a:r>
                      <a:r>
                        <a:rPr lang="en-US" sz="3200" kern="100" dirty="0">
                          <a:effectLst/>
                          <a:latin typeface="Times New Roman" panose="02020603050405020304"/>
                          <a:ea typeface="宋体" panose="02010600030101010101" pitchFamily="2" charset="-122"/>
                        </a:rPr>
                        <a:t>M-</a:t>
                      </a:r>
                      <a:r>
                        <a:rPr lang="zh-CN" sz="3200" kern="100" dirty="0">
                          <a:effectLst/>
                          <a:latin typeface="Times New Roman" panose="02020603050405020304"/>
                          <a:ea typeface="宋体" panose="02010600030101010101" pitchFamily="2" charset="-122"/>
                        </a:rPr>
                        <a:t>表示（</a:t>
                      </a:r>
                      <a:r>
                        <a:rPr lang="en-US" sz="3200" kern="100" dirty="0">
                          <a:effectLst/>
                          <a:latin typeface="Times New Roman" panose="02020603050405020304"/>
                          <a:ea typeface="宋体" panose="02010600030101010101" pitchFamily="2" charset="-122"/>
                        </a:rPr>
                        <a:t>^</a:t>
                      </a:r>
                      <a:r>
                        <a:rPr lang="zh-CN" sz="3200" kern="100" dirty="0">
                          <a:effectLst/>
                          <a:latin typeface="Times New Roman" panose="02020603050405020304"/>
                          <a:ea typeface="宋体" panose="02010600030101010101" pitchFamily="2" charset="-122"/>
                        </a:rPr>
                        <a:t>表示</a:t>
                      </a:r>
                      <a:r>
                        <a:rPr lang="en-US" sz="3200" kern="100" dirty="0">
                          <a:effectLst/>
                          <a:latin typeface="Times New Roman" panose="02020603050405020304"/>
                          <a:ea typeface="宋体" panose="02010600030101010101" pitchFamily="2" charset="-122"/>
                        </a:rPr>
                        <a:t>Ctrl</a:t>
                      </a:r>
                      <a:r>
                        <a:rPr lang="zh-CN" sz="3200" kern="100" dirty="0">
                          <a:effectLst/>
                          <a:latin typeface="Times New Roman" panose="02020603050405020304"/>
                          <a:ea typeface="宋体" panose="02010600030101010101" pitchFamily="2" charset="-122"/>
                        </a:rPr>
                        <a:t>键，</a:t>
                      </a:r>
                      <a:r>
                        <a:rPr lang="en-US" sz="3200" kern="100" dirty="0">
                          <a:effectLst/>
                          <a:latin typeface="Times New Roman" panose="02020603050405020304"/>
                          <a:ea typeface="宋体" panose="02010600030101010101" pitchFamily="2" charset="-122"/>
                        </a:rPr>
                        <a:t>M-</a:t>
                      </a:r>
                      <a:r>
                        <a:rPr lang="zh-CN" sz="3200" kern="100" dirty="0">
                          <a:effectLst/>
                          <a:latin typeface="Times New Roman" panose="02020603050405020304"/>
                          <a:ea typeface="宋体" panose="02010600030101010101" pitchFamily="2" charset="-122"/>
                        </a:rPr>
                        <a:t>表示</a:t>
                      </a:r>
                      <a:r>
                        <a:rPr lang="en-US" sz="3200" kern="100" dirty="0">
                          <a:effectLst/>
                          <a:latin typeface="Times New Roman" panose="02020603050405020304"/>
                          <a:ea typeface="宋体" panose="02010600030101010101" pitchFamily="2" charset="-122"/>
                        </a:rPr>
                        <a:t>Alt</a:t>
                      </a:r>
                      <a:r>
                        <a:rPr lang="zh-CN" sz="3200" kern="100" dirty="0">
                          <a:effectLst/>
                          <a:latin typeface="Times New Roman" panose="02020603050405020304"/>
                          <a:ea typeface="宋体" panose="02010600030101010101" pitchFamily="2" charset="-122"/>
                        </a:rPr>
                        <a:t>键）</a:t>
                      </a: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3DC0708E-9A6C-0DEA-D436-BF800BDE5612}"/>
              </a:ext>
            </a:extLst>
          </p:cNvPr>
          <p:cNvSpPr>
            <a:spLocks noGrp="1" noChangeArrowheads="1"/>
          </p:cNvSpPr>
          <p:nvPr>
            <p:ph type="title"/>
          </p:nvPr>
        </p:nvSpPr>
        <p:spPr/>
        <p:txBody>
          <a:bodyPr/>
          <a:lstStyle/>
          <a:p>
            <a:r>
              <a:rPr lang="en-US" altLang="zh-CN"/>
              <a:t>3</a:t>
            </a:r>
            <a:r>
              <a:rPr lang="zh-CN" altLang="zh-CN"/>
              <a:t>）应用举例</a:t>
            </a:r>
          </a:p>
        </p:txBody>
      </p:sp>
      <p:sp>
        <p:nvSpPr>
          <p:cNvPr id="89091" name="内容占位符 2">
            <a:extLst>
              <a:ext uri="{FF2B5EF4-FFF2-40B4-BE49-F238E27FC236}">
                <a16:creationId xmlns:a16="http://schemas.microsoft.com/office/drawing/2014/main" id="{40965BDC-D12E-7AEC-FACA-7CB48FEC8034}"/>
              </a:ext>
            </a:extLst>
          </p:cNvPr>
          <p:cNvSpPr>
            <a:spLocks noGrp="1" noChangeArrowheads="1"/>
          </p:cNvSpPr>
          <p:nvPr>
            <p:ph idx="1"/>
          </p:nvPr>
        </p:nvSpPr>
        <p:spPr>
          <a:xfrm>
            <a:off x="0" y="620713"/>
            <a:ext cx="9144000" cy="5761037"/>
          </a:xfrm>
        </p:spPr>
        <p:txBody>
          <a:bodyPr/>
          <a:lstStyle/>
          <a:p>
            <a:pPr>
              <a:spcBef>
                <a:spcPct val="0"/>
              </a:spcBef>
              <a:spcAft>
                <a:spcPct val="0"/>
              </a:spcAft>
            </a:pPr>
            <a:r>
              <a:rPr lang="en-US" altLang="zh-CN" sz="4000"/>
              <a:t>#</a:t>
            </a:r>
            <a:r>
              <a:rPr lang="en-US" altLang="zh-CN" sz="4400">
                <a:solidFill>
                  <a:srgbClr val="FF0000"/>
                </a:solidFill>
              </a:rPr>
              <a:t>cat test.txt</a:t>
            </a:r>
            <a:r>
              <a:rPr lang="en-US" altLang="zh-CN" sz="4000"/>
              <a:t>	#</a:t>
            </a:r>
            <a:r>
              <a:rPr lang="zh-CN" altLang="zh-CN" sz="4000"/>
              <a:t>显示</a:t>
            </a:r>
            <a:r>
              <a:rPr lang="en-US" altLang="zh-CN" sz="4000"/>
              <a:t>test.txt</a:t>
            </a:r>
            <a:r>
              <a:rPr lang="zh-CN" altLang="zh-CN" sz="4000"/>
              <a:t>内容</a:t>
            </a:r>
          </a:p>
          <a:p>
            <a:pPr>
              <a:spcBef>
                <a:spcPct val="0"/>
              </a:spcBef>
              <a:spcAft>
                <a:spcPct val="0"/>
              </a:spcAft>
            </a:pPr>
            <a:r>
              <a:rPr lang="en-US" altLang="zh-CN" sz="4000"/>
              <a:t>#</a:t>
            </a:r>
            <a:r>
              <a:rPr lang="en-US" altLang="zh-CN" sz="4000">
                <a:solidFill>
                  <a:srgbClr val="FF0000"/>
                </a:solidFill>
              </a:rPr>
              <a:t>cat -n test.txt</a:t>
            </a:r>
            <a:r>
              <a:rPr lang="en-US" altLang="zh-CN" sz="4000"/>
              <a:t>	#</a:t>
            </a:r>
            <a:r>
              <a:rPr lang="zh-CN" altLang="zh-CN" sz="4000"/>
              <a:t>内容并添加行号</a:t>
            </a:r>
          </a:p>
          <a:p>
            <a:pPr>
              <a:spcBef>
                <a:spcPct val="0"/>
              </a:spcBef>
              <a:spcAft>
                <a:spcPct val="0"/>
              </a:spcAft>
            </a:pPr>
            <a:r>
              <a:rPr lang="en-US" altLang="zh-CN" sz="4000"/>
              <a:t>#</a:t>
            </a:r>
            <a:r>
              <a:rPr lang="en-US" altLang="zh-CN" sz="4400">
                <a:solidFill>
                  <a:srgbClr val="FF0000"/>
                </a:solidFill>
              </a:rPr>
              <a:t>cat *.txt	</a:t>
            </a:r>
            <a:r>
              <a:rPr lang="en-US" altLang="zh-CN" sz="4000"/>
              <a:t>#</a:t>
            </a:r>
            <a:r>
              <a:rPr lang="zh-CN" altLang="zh-CN" sz="4000"/>
              <a:t>显示所有的</a:t>
            </a:r>
            <a:r>
              <a:rPr lang="en-US" altLang="zh-CN" sz="4000"/>
              <a:t>*.txt</a:t>
            </a:r>
            <a:r>
              <a:rPr lang="zh-CN" altLang="zh-CN" sz="4000"/>
              <a:t>文件</a:t>
            </a:r>
          </a:p>
          <a:p>
            <a:pPr>
              <a:spcBef>
                <a:spcPct val="0"/>
              </a:spcBef>
              <a:spcAft>
                <a:spcPct val="0"/>
              </a:spcAft>
            </a:pPr>
            <a:r>
              <a:rPr lang="en-US" altLang="zh-CN" sz="4000"/>
              <a:t>#</a:t>
            </a:r>
            <a:r>
              <a:rPr lang="en-US" altLang="zh-CN" sz="4400">
                <a:solidFill>
                  <a:srgbClr val="FF0000"/>
                </a:solidFill>
              </a:rPr>
              <a:t>cat tst1.txt tst2.txt &gt; tst.txt </a:t>
            </a:r>
            <a:r>
              <a:rPr lang="en-US" altLang="zh-CN" sz="4000"/>
              <a:t>	#</a:t>
            </a:r>
            <a:r>
              <a:rPr lang="zh-CN" altLang="zh-CN" sz="4000"/>
              <a:t>将</a:t>
            </a:r>
            <a:r>
              <a:rPr lang="en-US" altLang="zh-CN" sz="4000"/>
              <a:t>tst1.txt</a:t>
            </a:r>
            <a:r>
              <a:rPr lang="zh-CN" altLang="zh-CN" sz="4000"/>
              <a:t>和</a:t>
            </a:r>
            <a:r>
              <a:rPr lang="en-US" altLang="zh-CN" sz="4000"/>
              <a:t>tst2.txt</a:t>
            </a:r>
            <a:r>
              <a:rPr lang="zh-CN" altLang="zh-CN" sz="4000"/>
              <a:t>的内容</a:t>
            </a:r>
            <a:r>
              <a:rPr lang="zh-CN" altLang="zh-CN" sz="4000">
                <a:solidFill>
                  <a:srgbClr val="FF0000"/>
                </a:solidFill>
              </a:rPr>
              <a:t>合并</a:t>
            </a:r>
            <a:r>
              <a:rPr lang="zh-CN" altLang="zh-CN" sz="4000"/>
              <a:t>为</a:t>
            </a:r>
            <a:r>
              <a:rPr lang="en-US" altLang="zh-CN" sz="4000"/>
              <a:t>tst.txt</a:t>
            </a:r>
            <a:endParaRPr lang="zh-CN" altLang="zh-CN" sz="4000"/>
          </a:p>
          <a:p>
            <a:pPr>
              <a:spcBef>
                <a:spcPct val="0"/>
              </a:spcBef>
              <a:spcAft>
                <a:spcPct val="0"/>
              </a:spcAft>
            </a:pPr>
            <a:r>
              <a:rPr lang="en-US" altLang="zh-CN" sz="4000"/>
              <a:t>#</a:t>
            </a:r>
            <a:r>
              <a:rPr lang="en-US" altLang="zh-CN" sz="4400">
                <a:solidFill>
                  <a:srgbClr val="FF0000"/>
                </a:solidFill>
              </a:rPr>
              <a:t>cat &gt; myfile	</a:t>
            </a:r>
            <a:r>
              <a:rPr lang="en-US" altLang="zh-CN" sz="4000"/>
              <a:t>#</a:t>
            </a:r>
            <a:r>
              <a:rPr lang="zh-CN" altLang="zh-CN" sz="4000"/>
              <a:t>从键盘读入内容并将其保存到文件</a:t>
            </a:r>
            <a:r>
              <a:rPr lang="en-US" altLang="zh-CN" sz="4000"/>
              <a:t>myfile</a:t>
            </a:r>
            <a:r>
              <a:rPr lang="zh-CN" altLang="zh-CN" sz="4000"/>
              <a:t>。按</a:t>
            </a:r>
            <a:r>
              <a:rPr lang="en-US" altLang="zh-CN" sz="4000"/>
              <a:t>^D</a:t>
            </a:r>
            <a:r>
              <a:rPr lang="zh-CN" altLang="zh-CN" sz="4000"/>
              <a:t>结束</a:t>
            </a:r>
            <a:endParaRPr lang="zh-CN" altLang="en-US" sz="40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FF7FD11-DD3D-371E-8123-C24B4FE6AA7E}"/>
              </a:ext>
            </a:extLst>
          </p:cNvPr>
          <p:cNvSpPr>
            <a:spLocks noGrp="1" noChangeArrowheads="1"/>
          </p:cNvSpPr>
          <p:nvPr>
            <p:ph type="title"/>
          </p:nvPr>
        </p:nvSpPr>
        <p:spPr/>
        <p:txBody>
          <a:bodyPr/>
          <a:lstStyle/>
          <a:p>
            <a:r>
              <a:rPr lang="en-US" altLang="zh-CN"/>
              <a:t>2</a:t>
            </a:r>
            <a:r>
              <a:rPr lang="zh-CN" altLang="zh-CN"/>
              <a:t>．分屏显示文件内容（</a:t>
            </a:r>
            <a:r>
              <a:rPr lang="en-US" altLang="zh-CN"/>
              <a:t>more</a:t>
            </a:r>
            <a:r>
              <a:rPr lang="zh-CN" altLang="zh-CN"/>
              <a:t>）</a:t>
            </a:r>
            <a:endParaRPr lang="zh-CN" altLang="en-US"/>
          </a:p>
        </p:txBody>
      </p:sp>
      <p:sp>
        <p:nvSpPr>
          <p:cNvPr id="90115" name="内容占位符 2">
            <a:extLst>
              <a:ext uri="{FF2B5EF4-FFF2-40B4-BE49-F238E27FC236}">
                <a16:creationId xmlns:a16="http://schemas.microsoft.com/office/drawing/2014/main" id="{E6F671E2-65B8-D57E-2429-0C8C1BD032BB}"/>
              </a:ext>
            </a:extLst>
          </p:cNvPr>
          <p:cNvSpPr>
            <a:spLocks noGrp="1" noChangeArrowheads="1"/>
          </p:cNvSpPr>
          <p:nvPr>
            <p:ph idx="1"/>
          </p:nvPr>
        </p:nvSpPr>
        <p:spPr>
          <a:xfrm>
            <a:off x="179388" y="620713"/>
            <a:ext cx="8856662" cy="5761037"/>
          </a:xfrm>
        </p:spPr>
        <p:txBody>
          <a:bodyPr/>
          <a:lstStyle/>
          <a:p>
            <a:pPr>
              <a:spcBef>
                <a:spcPct val="0"/>
              </a:spcBef>
              <a:spcAft>
                <a:spcPct val="0"/>
              </a:spcAft>
            </a:pPr>
            <a:r>
              <a:rPr lang="en-US" altLang="zh-CN" sz="4000"/>
              <a:t>1</a:t>
            </a:r>
            <a:r>
              <a:rPr lang="zh-CN" altLang="zh-CN" sz="4000"/>
              <a:t>）功能及用法</a:t>
            </a:r>
          </a:p>
          <a:p>
            <a:pPr>
              <a:spcBef>
                <a:spcPct val="0"/>
              </a:spcBef>
              <a:spcAft>
                <a:spcPct val="0"/>
              </a:spcAft>
            </a:pPr>
            <a:r>
              <a:rPr lang="zh-CN" altLang="zh-CN" sz="4000"/>
              <a:t>功能是</a:t>
            </a:r>
            <a:r>
              <a:rPr lang="zh-CN" altLang="zh-CN" sz="4000">
                <a:solidFill>
                  <a:srgbClr val="FF0000"/>
                </a:solidFill>
              </a:rPr>
              <a:t>分屏显示文件</a:t>
            </a:r>
            <a:r>
              <a:rPr lang="zh-CN" altLang="zh-CN" sz="4000"/>
              <a:t>的内容。</a:t>
            </a:r>
            <a:r>
              <a:rPr lang="en-US" altLang="zh-CN" sz="4000"/>
              <a:t>more</a:t>
            </a:r>
            <a:r>
              <a:rPr lang="zh-CN" altLang="zh-CN" sz="4000"/>
              <a:t>是</a:t>
            </a:r>
            <a:r>
              <a:rPr lang="en-US" altLang="zh-CN" sz="4000"/>
              <a:t>UNIX/Linux</a:t>
            </a:r>
            <a:r>
              <a:rPr lang="zh-CN" altLang="zh-CN" sz="4000"/>
              <a:t>系统中</a:t>
            </a:r>
            <a:r>
              <a:rPr lang="zh-CN" altLang="zh-CN" sz="4000">
                <a:solidFill>
                  <a:srgbClr val="FF0000"/>
                </a:solidFill>
              </a:rPr>
              <a:t>分页命令家族</a:t>
            </a:r>
            <a:r>
              <a:rPr lang="zh-CN" altLang="zh-CN" sz="4000"/>
              <a:t>中的一员。能使用户在浏览文件的时候可以</a:t>
            </a:r>
            <a:r>
              <a:rPr lang="zh-CN" altLang="zh-CN" sz="4000">
                <a:solidFill>
                  <a:srgbClr val="FF0000"/>
                </a:solidFill>
              </a:rPr>
              <a:t>一次一屏或一行</a:t>
            </a:r>
            <a:r>
              <a:rPr lang="zh-CN" altLang="zh-CN" sz="4000"/>
              <a:t>进行，这在阅读大文件时特别有用。用法：</a:t>
            </a:r>
            <a:r>
              <a:rPr lang="en-US" altLang="zh-CN" sz="4000"/>
              <a:t> </a:t>
            </a:r>
            <a:endParaRPr lang="zh-CN" altLang="zh-CN" sz="4000"/>
          </a:p>
          <a:p>
            <a:pPr>
              <a:spcBef>
                <a:spcPct val="0"/>
              </a:spcBef>
              <a:spcAft>
                <a:spcPct val="0"/>
              </a:spcAft>
            </a:pPr>
            <a:r>
              <a:rPr lang="en-US" altLang="zh-CN" sz="4400">
                <a:solidFill>
                  <a:srgbClr val="FF0000"/>
                </a:solidFill>
              </a:rPr>
              <a:t>more</a:t>
            </a:r>
            <a:r>
              <a:rPr lang="en-US" altLang="zh-CN" sz="4400"/>
              <a:t> [-dflpcsu] -lines [+linenum | +/pattern] files</a:t>
            </a:r>
            <a:endParaRPr lang="zh-CN" altLang="en-US" sz="44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138" name="标题 1">
            <a:extLst>
              <a:ext uri="{FF2B5EF4-FFF2-40B4-BE49-F238E27FC236}">
                <a16:creationId xmlns:a16="http://schemas.microsoft.com/office/drawing/2014/main" id="{9BB69680-1B68-906D-A508-374099AA9964}"/>
              </a:ext>
            </a:extLst>
          </p:cNvPr>
          <p:cNvSpPr>
            <a:spLocks noGrp="1" noChangeArrowheads="1"/>
          </p:cNvSpPr>
          <p:nvPr>
            <p:ph type="title"/>
          </p:nvPr>
        </p:nvSpPr>
        <p:spPr/>
        <p:txBody>
          <a:bodyPr/>
          <a:lstStyle/>
          <a:p>
            <a:r>
              <a:rPr lang="en-US" altLang="zh-CN"/>
              <a:t>2</a:t>
            </a:r>
            <a:r>
              <a:rPr lang="zh-CN" altLang="zh-CN"/>
              <a:t>）参数与命令说明</a:t>
            </a:r>
            <a:endParaRPr lang="zh-CN" altLang="en-US"/>
          </a:p>
        </p:txBody>
      </p:sp>
      <p:graphicFrame>
        <p:nvGraphicFramePr>
          <p:cNvPr id="4" name="内容占位符 3">
            <a:extLst>
              <a:ext uri="{FF2B5EF4-FFF2-40B4-BE49-F238E27FC236}">
                <a16:creationId xmlns:a16="http://schemas.microsoft.com/office/drawing/2014/main" id="{0744E347-F730-0681-27C7-ED2A60A858BC}"/>
              </a:ext>
            </a:extLst>
          </p:cNvPr>
          <p:cNvGraphicFramePr>
            <a:graphicFrameLocks noGrp="1"/>
          </p:cNvGraphicFramePr>
          <p:nvPr>
            <p:ph idx="1"/>
          </p:nvPr>
        </p:nvGraphicFramePr>
        <p:xfrm>
          <a:off x="179388" y="620713"/>
          <a:ext cx="8856662" cy="5840412"/>
        </p:xfrm>
        <a:graphic>
          <a:graphicData uri="http://schemas.openxmlformats.org/drawingml/2006/table">
            <a:tbl>
              <a:tblPr firstRow="1" firstCol="1" bandRow="1"/>
              <a:tblGrid>
                <a:gridCol w="1807482">
                  <a:extLst>
                    <a:ext uri="{9D8B030D-6E8A-4147-A177-3AD203B41FA5}">
                      <a16:colId xmlns:a16="http://schemas.microsoft.com/office/drawing/2014/main" val="20000"/>
                    </a:ext>
                  </a:extLst>
                </a:gridCol>
                <a:gridCol w="7049180">
                  <a:extLst>
                    <a:ext uri="{9D8B030D-6E8A-4147-A177-3AD203B41FA5}">
                      <a16:colId xmlns:a16="http://schemas.microsoft.com/office/drawing/2014/main" val="20001"/>
                    </a:ext>
                  </a:extLst>
                </a:gridCol>
              </a:tblGrid>
              <a:tr h="647969">
                <a:tc>
                  <a:txBody>
                    <a:bodyPr/>
                    <a:lstStyle/>
                    <a:p>
                      <a:pPr algn="ctr">
                        <a:lnSpc>
                          <a:spcPts val="1400"/>
                        </a:lnSpc>
                        <a:spcAft>
                          <a:spcPts val="0"/>
                        </a:spcAft>
                      </a:pPr>
                      <a:r>
                        <a:rPr lang="zh-CN" sz="3200" kern="100" dirty="0">
                          <a:effectLst/>
                          <a:latin typeface="Times New Roman" panose="02020603050405020304"/>
                          <a:ea typeface="宋体" panose="02010600030101010101" pitchFamily="2" charset="-122"/>
                        </a:rPr>
                        <a:t>参</a:t>
                      </a:r>
                      <a:r>
                        <a:rPr lang="en-US" sz="3200" kern="100" dirty="0">
                          <a:effectLst/>
                          <a:latin typeface="Times New Roman" panose="02020603050405020304"/>
                          <a:ea typeface="宋体" panose="02010600030101010101" pitchFamily="2" charset="-122"/>
                        </a:rPr>
                        <a:t>    </a:t>
                      </a:r>
                      <a:r>
                        <a:rPr lang="zh-CN" sz="3200" kern="100" dirty="0">
                          <a:effectLst/>
                          <a:latin typeface="Times New Roman" panose="02020603050405020304"/>
                          <a:ea typeface="宋体" panose="02010600030101010101" pitchFamily="2" charset="-122"/>
                        </a:rPr>
                        <a:t>数</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400"/>
                        </a:lnSpc>
                        <a:spcAft>
                          <a:spcPts val="0"/>
                        </a:spcAft>
                      </a:pPr>
                      <a:r>
                        <a:rPr lang="zh-CN" sz="3200" kern="100">
                          <a:effectLst/>
                          <a:latin typeface="Times New Roman" panose="02020603050405020304"/>
                          <a:ea typeface="宋体" panose="02010600030101010101" pitchFamily="2" charset="-122"/>
                        </a:rPr>
                        <a:t>意</a:t>
                      </a:r>
                      <a:r>
                        <a:rPr lang="en-US" sz="3200" kern="100">
                          <a:effectLst/>
                          <a:latin typeface="Times New Roman" panose="02020603050405020304"/>
                          <a:ea typeface="宋体" panose="02010600030101010101" pitchFamily="2" charset="-122"/>
                        </a:rPr>
                        <a:t>    </a:t>
                      </a:r>
                      <a:r>
                        <a:rPr lang="zh-CN" sz="3200" kern="100">
                          <a:effectLst/>
                          <a:latin typeface="Times New Roman" panose="02020603050405020304"/>
                          <a:ea typeface="宋体" panose="02010600030101010101" pitchFamily="2" charset="-122"/>
                        </a:rPr>
                        <a:t>义</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05571">
                <a:tc>
                  <a:txBody>
                    <a:bodyPr/>
                    <a:lstStyle/>
                    <a:p>
                      <a:pPr algn="ctr">
                        <a:lnSpc>
                          <a:spcPts val="1400"/>
                        </a:lnSpc>
                        <a:spcAft>
                          <a:spcPts val="0"/>
                        </a:spcAft>
                      </a:pPr>
                      <a:r>
                        <a:rPr lang="en-US" sz="3200" b="1" kern="100" dirty="0">
                          <a:effectLst/>
                          <a:latin typeface="Times New Roman" panose="02020603050405020304"/>
                          <a:ea typeface="宋体" panose="02010600030101010101" pitchFamily="2" charset="-122"/>
                        </a:rPr>
                        <a:t>+/pattern</a:t>
                      </a:r>
                      <a:endParaRPr lang="zh-CN" sz="3200" b="1" kern="100" dirty="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200" kern="100" dirty="0">
                          <a:effectLst/>
                          <a:latin typeface="Times New Roman" panose="02020603050405020304"/>
                          <a:ea typeface="宋体" panose="02010600030101010101" pitchFamily="2" charset="-122"/>
                        </a:rPr>
                        <a:t>从第一个</a:t>
                      </a:r>
                      <a:r>
                        <a:rPr lang="zh-CN" sz="3200" b="1" kern="100" dirty="0">
                          <a:effectLst/>
                          <a:latin typeface="Times New Roman" panose="02020603050405020304"/>
                          <a:ea typeface="宋体" panose="02010600030101010101" pitchFamily="2" charset="-122"/>
                        </a:rPr>
                        <a:t>正规表达式</a:t>
                      </a:r>
                      <a:r>
                        <a:rPr lang="en-US" sz="3200" kern="100" dirty="0">
                          <a:effectLst/>
                          <a:latin typeface="Times New Roman" panose="02020603050405020304"/>
                          <a:ea typeface="宋体" panose="02010600030101010101" pitchFamily="2" charset="-122"/>
                        </a:rPr>
                        <a:t>pattern</a:t>
                      </a:r>
                      <a:r>
                        <a:rPr lang="zh-CN" sz="3200" kern="100" dirty="0">
                          <a:effectLst/>
                          <a:latin typeface="Times New Roman" panose="02020603050405020304"/>
                          <a:ea typeface="宋体" panose="02010600030101010101" pitchFamily="2" charset="-122"/>
                        </a:rPr>
                        <a:t>处开始显示（参见第</a:t>
                      </a:r>
                      <a:r>
                        <a:rPr lang="en-US" sz="3200" kern="100" dirty="0">
                          <a:effectLst/>
                          <a:latin typeface="Times New Roman" panose="02020603050405020304"/>
                          <a:ea typeface="宋体" panose="02010600030101010101" pitchFamily="2" charset="-122"/>
                        </a:rPr>
                        <a:t>10</a:t>
                      </a:r>
                      <a:r>
                        <a:rPr lang="zh-CN" sz="3200" kern="100" dirty="0">
                          <a:effectLst/>
                          <a:latin typeface="Times New Roman" panose="02020603050405020304"/>
                          <a:ea typeface="宋体" panose="02010600030101010101" pitchFamily="2" charset="-122"/>
                        </a:rPr>
                        <a:t>章）</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35314">
                <a:tc>
                  <a:txBody>
                    <a:bodyPr/>
                    <a:lstStyle/>
                    <a:p>
                      <a:pPr algn="ctr">
                        <a:lnSpc>
                          <a:spcPts val="1400"/>
                        </a:lnSpc>
                        <a:spcAft>
                          <a:spcPts val="0"/>
                        </a:spcAft>
                      </a:pPr>
                      <a:r>
                        <a:rPr lang="en-US" sz="3200" b="1" kern="100" dirty="0">
                          <a:effectLst/>
                          <a:latin typeface="Times New Roman" panose="02020603050405020304"/>
                          <a:ea typeface="宋体" panose="02010600030101010101" pitchFamily="2" charset="-122"/>
                        </a:rPr>
                        <a:t>+</a:t>
                      </a:r>
                      <a:r>
                        <a:rPr lang="en-US" sz="3200" b="1" kern="100" dirty="0" err="1">
                          <a:effectLst/>
                          <a:latin typeface="Times New Roman" panose="02020603050405020304"/>
                          <a:ea typeface="宋体" panose="02010600030101010101" pitchFamily="2" charset="-122"/>
                        </a:rPr>
                        <a:t>linenum</a:t>
                      </a:r>
                      <a:endParaRPr lang="zh-CN" sz="3200" b="1" kern="100" dirty="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200" kern="100" dirty="0">
                          <a:effectLst/>
                          <a:latin typeface="Times New Roman" panose="02020603050405020304"/>
                          <a:ea typeface="宋体" panose="02010600030101010101" pitchFamily="2" charset="-122"/>
                        </a:rPr>
                        <a:t>从第</a:t>
                      </a:r>
                      <a:r>
                        <a:rPr lang="en-US" sz="3200" b="1" kern="100" dirty="0" err="1">
                          <a:solidFill>
                            <a:srgbClr val="FF0000"/>
                          </a:solidFill>
                          <a:effectLst/>
                          <a:latin typeface="Times New Roman" panose="02020603050405020304"/>
                          <a:ea typeface="宋体" panose="02010600030101010101" pitchFamily="2" charset="-122"/>
                        </a:rPr>
                        <a:t>linenum</a:t>
                      </a:r>
                      <a:r>
                        <a:rPr lang="zh-CN" sz="3200" b="1" kern="100" dirty="0">
                          <a:solidFill>
                            <a:srgbClr val="FF0000"/>
                          </a:solidFill>
                          <a:effectLst/>
                          <a:latin typeface="Times New Roman" panose="02020603050405020304"/>
                          <a:ea typeface="宋体" panose="02010600030101010101" pitchFamily="2" charset="-122"/>
                        </a:rPr>
                        <a:t>行开始</a:t>
                      </a:r>
                      <a:r>
                        <a:rPr lang="zh-CN" sz="3200" kern="100" dirty="0">
                          <a:effectLst/>
                          <a:latin typeface="Times New Roman" panose="02020603050405020304"/>
                          <a:ea typeface="宋体" panose="02010600030101010101" pitchFamily="2" charset="-122"/>
                        </a:rPr>
                        <a:t>显示</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35314">
                <a:tc>
                  <a:txBody>
                    <a:bodyPr/>
                    <a:lstStyle/>
                    <a:p>
                      <a:pPr algn="ctr">
                        <a:lnSpc>
                          <a:spcPts val="1400"/>
                        </a:lnSpc>
                        <a:spcAft>
                          <a:spcPts val="0"/>
                        </a:spcAft>
                      </a:pPr>
                      <a:r>
                        <a:rPr lang="en-US" sz="3200" b="1" kern="100" dirty="0">
                          <a:effectLst/>
                          <a:latin typeface="Times New Roman" panose="02020603050405020304"/>
                          <a:ea typeface="宋体" panose="02010600030101010101" pitchFamily="2" charset="-122"/>
                        </a:rPr>
                        <a:t>-lines</a:t>
                      </a:r>
                      <a:endParaRPr lang="zh-CN" sz="3200" b="1" kern="100" dirty="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200" kern="100" dirty="0">
                          <a:effectLst/>
                          <a:latin typeface="Times New Roman" panose="02020603050405020304"/>
                          <a:ea typeface="宋体" panose="02010600030101010101" pitchFamily="2" charset="-122"/>
                        </a:rPr>
                        <a:t>指定</a:t>
                      </a:r>
                      <a:r>
                        <a:rPr lang="zh-CN" sz="3200" b="1" kern="100" dirty="0">
                          <a:solidFill>
                            <a:srgbClr val="FF0000"/>
                          </a:solidFill>
                          <a:effectLst/>
                          <a:latin typeface="Times New Roman" panose="02020603050405020304"/>
                          <a:ea typeface="宋体" panose="02010600030101010101" pitchFamily="2" charset="-122"/>
                        </a:rPr>
                        <a:t>满屏行数为</a:t>
                      </a:r>
                      <a:r>
                        <a:rPr lang="en-US" sz="3200" b="1" kern="100" dirty="0">
                          <a:solidFill>
                            <a:srgbClr val="FF0000"/>
                          </a:solidFill>
                          <a:effectLst/>
                          <a:latin typeface="Times New Roman" panose="02020603050405020304"/>
                          <a:ea typeface="宋体" panose="02010600030101010101" pitchFamily="2" charset="-122"/>
                        </a:rPr>
                        <a:t>lines</a:t>
                      </a:r>
                      <a:r>
                        <a:rPr lang="zh-CN" sz="3200" kern="100" dirty="0">
                          <a:effectLst/>
                          <a:latin typeface="Times New Roman" panose="02020603050405020304"/>
                          <a:ea typeface="宋体" panose="02010600030101010101" pitchFamily="2" charset="-122"/>
                        </a:rPr>
                        <a:t>，默认时</a:t>
                      </a:r>
                      <a:r>
                        <a:rPr lang="zh-CN" sz="3200" b="1" kern="100" dirty="0">
                          <a:effectLst/>
                          <a:latin typeface="Times New Roman" panose="02020603050405020304"/>
                          <a:ea typeface="宋体" panose="02010600030101010101" pitchFamily="2" charset="-122"/>
                        </a:rPr>
                        <a:t>为</a:t>
                      </a:r>
                      <a:r>
                        <a:rPr lang="en-US" sz="3200" b="1" kern="100" dirty="0">
                          <a:effectLst/>
                          <a:latin typeface="Times New Roman" panose="02020603050405020304"/>
                          <a:ea typeface="宋体" panose="02010600030101010101" pitchFamily="2" charset="-122"/>
                        </a:rPr>
                        <a:t>24</a:t>
                      </a:r>
                      <a:r>
                        <a:rPr lang="zh-CN" sz="3200" b="1" kern="100" dirty="0">
                          <a:effectLst/>
                          <a:latin typeface="Times New Roman" panose="02020603050405020304"/>
                          <a:ea typeface="宋体" panose="02010600030101010101" pitchFamily="2" charset="-122"/>
                        </a:rPr>
                        <a:t>行</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05571">
                <a:tc>
                  <a:txBody>
                    <a:bodyPr/>
                    <a:lstStyle/>
                    <a:p>
                      <a:pPr algn="ctr">
                        <a:lnSpc>
                          <a:spcPts val="1400"/>
                        </a:lnSpc>
                        <a:spcAft>
                          <a:spcPts val="0"/>
                        </a:spcAft>
                      </a:pPr>
                      <a:r>
                        <a:rPr lang="en-US" sz="3200" b="1" kern="100" dirty="0">
                          <a:effectLst/>
                          <a:latin typeface="Times New Roman" panose="02020603050405020304"/>
                          <a:ea typeface="宋体" panose="02010600030101010101" pitchFamily="2" charset="-122"/>
                        </a:rPr>
                        <a:t>-d</a:t>
                      </a:r>
                      <a:endParaRPr lang="zh-CN" sz="3200" b="1" kern="100" dirty="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200" b="1" kern="100" dirty="0">
                          <a:effectLst/>
                          <a:latin typeface="Times New Roman" panose="02020603050405020304"/>
                          <a:ea typeface="宋体" panose="02010600030101010101" pitchFamily="2" charset="-122"/>
                        </a:rPr>
                        <a:t>屏幕底端的默认提示</a:t>
                      </a:r>
                      <a:r>
                        <a:rPr lang="zh-CN" sz="3200" kern="100" dirty="0">
                          <a:effectLst/>
                          <a:latin typeface="Times New Roman" panose="02020603050405020304"/>
                          <a:ea typeface="宋体" panose="02010600030101010101" pitchFamily="2" charset="-122"/>
                        </a:rPr>
                        <a:t>。默认提示为</a:t>
                      </a:r>
                      <a:r>
                        <a:rPr lang="en-US" sz="3200" kern="100" dirty="0">
                          <a:effectLst/>
                          <a:latin typeface="Times New Roman" panose="02020603050405020304"/>
                          <a:ea typeface="宋体" panose="02010600030101010101" pitchFamily="2" charset="-122"/>
                        </a:rPr>
                        <a:t>--more—(##%)</a:t>
                      </a:r>
                      <a:endParaRPr lang="zh-CN" sz="3200" kern="100" dirty="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75360">
                <a:tc>
                  <a:txBody>
                    <a:bodyPr/>
                    <a:lstStyle/>
                    <a:p>
                      <a:pPr algn="ctr">
                        <a:lnSpc>
                          <a:spcPts val="1400"/>
                        </a:lnSpc>
                        <a:spcAft>
                          <a:spcPts val="0"/>
                        </a:spcAft>
                      </a:pPr>
                      <a:r>
                        <a:rPr lang="en-US" sz="3200" b="1" kern="100" dirty="0">
                          <a:effectLst/>
                          <a:latin typeface="Times New Roman" panose="02020603050405020304"/>
                          <a:ea typeface="宋体" panose="02010600030101010101" pitchFamily="2" charset="-122"/>
                        </a:rPr>
                        <a:t>-l</a:t>
                      </a:r>
                      <a:endParaRPr lang="zh-CN" sz="3200" b="1" kern="100" dirty="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200" b="1" kern="100" dirty="0">
                          <a:effectLst/>
                          <a:latin typeface="Times New Roman" panose="02020603050405020304"/>
                          <a:ea typeface="宋体" panose="02010600030101010101" pitchFamily="2" charset="-122"/>
                        </a:rPr>
                        <a:t>忽略</a:t>
                      </a:r>
                      <a:r>
                        <a:rPr lang="en-US" sz="3200" b="1" kern="100" dirty="0">
                          <a:effectLst/>
                          <a:latin typeface="Times New Roman" panose="02020603050405020304"/>
                          <a:ea typeface="宋体" panose="02010600030101010101" pitchFamily="2" charset="-122"/>
                        </a:rPr>
                        <a:t>^L</a:t>
                      </a:r>
                      <a:r>
                        <a:rPr lang="zh-CN" sz="3200" kern="100" dirty="0">
                          <a:effectLst/>
                          <a:latin typeface="Times New Roman" panose="02020603050405020304"/>
                          <a:ea typeface="宋体" panose="02010600030101010101" pitchFamily="2" charset="-122"/>
                        </a:rPr>
                        <a:t>（换页）。默认时遇到</a:t>
                      </a:r>
                      <a:r>
                        <a:rPr lang="en-US" sz="3200" kern="100" dirty="0">
                          <a:effectLst/>
                          <a:latin typeface="Times New Roman" panose="02020603050405020304"/>
                          <a:ea typeface="宋体" panose="02010600030101010101" pitchFamily="2" charset="-122"/>
                        </a:rPr>
                        <a:t>^L</a:t>
                      </a:r>
                      <a:r>
                        <a:rPr lang="zh-CN" sz="3200" kern="100" dirty="0">
                          <a:effectLst/>
                          <a:latin typeface="Times New Roman" panose="02020603050405020304"/>
                          <a:ea typeface="宋体" panose="02010600030101010101" pitchFamily="2" charset="-122"/>
                        </a:rPr>
                        <a:t>时会暂停</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735314">
                <a:tc>
                  <a:txBody>
                    <a:bodyPr/>
                    <a:lstStyle/>
                    <a:p>
                      <a:pPr algn="ctr">
                        <a:lnSpc>
                          <a:spcPts val="1400"/>
                        </a:lnSpc>
                        <a:spcAft>
                          <a:spcPts val="0"/>
                        </a:spcAft>
                      </a:pPr>
                      <a:r>
                        <a:rPr lang="en-US" sz="3200" b="1" kern="100" dirty="0">
                          <a:effectLst/>
                          <a:latin typeface="Times New Roman" panose="02020603050405020304"/>
                          <a:ea typeface="宋体" panose="02010600030101010101" pitchFamily="2" charset="-122"/>
                        </a:rPr>
                        <a:t>-s</a:t>
                      </a:r>
                      <a:endParaRPr lang="zh-CN" sz="3200" b="1" kern="100" dirty="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200" b="1" kern="100" dirty="0">
                          <a:effectLst/>
                          <a:latin typeface="Times New Roman" panose="02020603050405020304"/>
                          <a:ea typeface="宋体" panose="02010600030101010101" pitchFamily="2" charset="-122"/>
                        </a:rPr>
                        <a:t>压缩多个空行为一行</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标题 1">
            <a:extLst>
              <a:ext uri="{FF2B5EF4-FFF2-40B4-BE49-F238E27FC236}">
                <a16:creationId xmlns:a16="http://schemas.microsoft.com/office/drawing/2014/main" id="{09D33437-B73A-1A7A-44BB-43D72359E9CA}"/>
              </a:ext>
            </a:extLst>
          </p:cNvPr>
          <p:cNvSpPr>
            <a:spLocks noGrp="1" noChangeArrowheads="1"/>
          </p:cNvSpPr>
          <p:nvPr>
            <p:ph type="title"/>
          </p:nvPr>
        </p:nvSpPr>
        <p:spPr/>
        <p:txBody>
          <a:bodyPr/>
          <a:lstStyle/>
          <a:p>
            <a:r>
              <a:rPr lang="en-US" altLang="zh-CN"/>
              <a:t>more</a:t>
            </a:r>
            <a:r>
              <a:rPr lang="zh-CN" altLang="zh-CN"/>
              <a:t>命令的部分屏幕操作命令</a:t>
            </a:r>
            <a:endParaRPr lang="zh-CN" altLang="en-US"/>
          </a:p>
        </p:txBody>
      </p:sp>
      <p:graphicFrame>
        <p:nvGraphicFramePr>
          <p:cNvPr id="4" name="内容占位符 3">
            <a:extLst>
              <a:ext uri="{FF2B5EF4-FFF2-40B4-BE49-F238E27FC236}">
                <a16:creationId xmlns:a16="http://schemas.microsoft.com/office/drawing/2014/main" id="{6A98A3BF-55E5-09DC-F357-6C6CEC3BFD82}"/>
              </a:ext>
            </a:extLst>
          </p:cNvPr>
          <p:cNvGraphicFramePr>
            <a:graphicFrameLocks noGrp="1"/>
          </p:cNvGraphicFramePr>
          <p:nvPr>
            <p:ph idx="1"/>
          </p:nvPr>
        </p:nvGraphicFramePr>
        <p:xfrm>
          <a:off x="34925" y="549275"/>
          <a:ext cx="9109075" cy="5956300"/>
        </p:xfrm>
        <a:graphic>
          <a:graphicData uri="http://schemas.openxmlformats.org/drawingml/2006/table">
            <a:tbl>
              <a:tblPr firstRow="1" firstCol="1" bandRow="1"/>
              <a:tblGrid>
                <a:gridCol w="1584275">
                  <a:extLst>
                    <a:ext uri="{9D8B030D-6E8A-4147-A177-3AD203B41FA5}">
                      <a16:colId xmlns:a16="http://schemas.microsoft.com/office/drawing/2014/main" val="20000"/>
                    </a:ext>
                  </a:extLst>
                </a:gridCol>
                <a:gridCol w="3092917">
                  <a:extLst>
                    <a:ext uri="{9D8B030D-6E8A-4147-A177-3AD203B41FA5}">
                      <a16:colId xmlns:a16="http://schemas.microsoft.com/office/drawing/2014/main" val="20001"/>
                    </a:ext>
                  </a:extLst>
                </a:gridCol>
                <a:gridCol w="1430621">
                  <a:extLst>
                    <a:ext uri="{9D8B030D-6E8A-4147-A177-3AD203B41FA5}">
                      <a16:colId xmlns:a16="http://schemas.microsoft.com/office/drawing/2014/main" val="20002"/>
                    </a:ext>
                  </a:extLst>
                </a:gridCol>
                <a:gridCol w="3001261">
                  <a:extLst>
                    <a:ext uri="{9D8B030D-6E8A-4147-A177-3AD203B41FA5}">
                      <a16:colId xmlns:a16="http://schemas.microsoft.com/office/drawing/2014/main" val="20003"/>
                    </a:ext>
                  </a:extLst>
                </a:gridCol>
              </a:tblGrid>
              <a:tr h="772795">
                <a:tc>
                  <a:txBody>
                    <a:bodyPr/>
                    <a:lstStyle/>
                    <a:p>
                      <a:pPr algn="ctr">
                        <a:lnSpc>
                          <a:spcPct val="100000"/>
                        </a:lnSpc>
                        <a:spcAft>
                          <a:spcPts val="0"/>
                        </a:spcAft>
                      </a:pPr>
                      <a:r>
                        <a:rPr lang="zh-CN" sz="3200" b="1" kern="100" dirty="0">
                          <a:effectLst/>
                          <a:latin typeface="Times New Roman" panose="02020603050405020304"/>
                          <a:ea typeface="宋体" panose="02010600030101010101" pitchFamily="2" charset="-122"/>
                        </a:rPr>
                        <a:t>命</a:t>
                      </a:r>
                      <a:r>
                        <a:rPr lang="en-US" sz="3200" b="1" kern="100" dirty="0">
                          <a:effectLst/>
                          <a:latin typeface="Times New Roman" panose="02020603050405020304"/>
                          <a:ea typeface="宋体" panose="02010600030101010101" pitchFamily="2" charset="-122"/>
                        </a:rPr>
                        <a:t>    </a:t>
                      </a:r>
                      <a:r>
                        <a:rPr lang="zh-CN" sz="3200" b="1" kern="100" dirty="0">
                          <a:effectLst/>
                          <a:latin typeface="Times New Roman" panose="02020603050405020304"/>
                          <a:ea typeface="宋体" panose="02010600030101010101" pitchFamily="2" charset="-122"/>
                        </a:rPr>
                        <a:t>令</a:t>
                      </a:r>
                    </a:p>
                  </a:txBody>
                  <a:tcPr marL="68593" marR="685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200" b="1" kern="100" dirty="0">
                          <a:effectLst/>
                          <a:latin typeface="Times New Roman" panose="02020603050405020304"/>
                          <a:ea typeface="宋体" panose="02010600030101010101" pitchFamily="2" charset="-122"/>
                        </a:rPr>
                        <a:t>功</a:t>
                      </a:r>
                      <a:r>
                        <a:rPr lang="en-US" sz="3200" b="1" kern="100" dirty="0">
                          <a:effectLst/>
                          <a:latin typeface="Times New Roman" panose="02020603050405020304"/>
                          <a:ea typeface="宋体" panose="02010600030101010101" pitchFamily="2" charset="-122"/>
                        </a:rPr>
                        <a:t>    </a:t>
                      </a:r>
                      <a:r>
                        <a:rPr lang="zh-CN" sz="3200" b="1" kern="100" dirty="0">
                          <a:effectLst/>
                          <a:latin typeface="Times New Roman" panose="02020603050405020304"/>
                          <a:ea typeface="宋体" panose="02010600030101010101" pitchFamily="2" charset="-122"/>
                        </a:rPr>
                        <a:t>能</a:t>
                      </a:r>
                    </a:p>
                  </a:txBody>
                  <a:tcPr marL="68593" marR="68593"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3200" b="1" kern="100">
                          <a:effectLst/>
                          <a:latin typeface="Times New Roman" panose="02020603050405020304"/>
                          <a:ea typeface="宋体" panose="02010600030101010101" pitchFamily="2" charset="-122"/>
                        </a:rPr>
                        <a:t>命</a:t>
                      </a:r>
                      <a:r>
                        <a:rPr lang="en-US" sz="3200" b="1" kern="100">
                          <a:effectLst/>
                          <a:latin typeface="Times New Roman" panose="02020603050405020304"/>
                          <a:ea typeface="宋体" panose="02010600030101010101" pitchFamily="2" charset="-122"/>
                        </a:rPr>
                        <a:t>    </a:t>
                      </a:r>
                      <a:r>
                        <a:rPr lang="zh-CN" sz="3200" b="1" kern="100">
                          <a:effectLst/>
                          <a:latin typeface="Times New Roman" panose="02020603050405020304"/>
                          <a:ea typeface="宋体" panose="02010600030101010101" pitchFamily="2" charset="-122"/>
                        </a:rPr>
                        <a:t>令</a:t>
                      </a:r>
                    </a:p>
                  </a:txBody>
                  <a:tcPr marL="68593" marR="68593"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3200" b="1" kern="100">
                          <a:effectLst/>
                          <a:latin typeface="Times New Roman" panose="02020603050405020304"/>
                          <a:ea typeface="宋体" panose="02010600030101010101" pitchFamily="2" charset="-122"/>
                        </a:rPr>
                        <a:t>功</a:t>
                      </a:r>
                      <a:r>
                        <a:rPr lang="en-US" sz="3200" b="1" kern="100">
                          <a:effectLst/>
                          <a:latin typeface="Times New Roman" panose="02020603050405020304"/>
                          <a:ea typeface="宋体" panose="02010600030101010101" pitchFamily="2" charset="-122"/>
                        </a:rPr>
                        <a:t>    </a:t>
                      </a:r>
                      <a:r>
                        <a:rPr lang="zh-CN" sz="3200" b="1" kern="100">
                          <a:effectLst/>
                          <a:latin typeface="Times New Roman" panose="02020603050405020304"/>
                          <a:ea typeface="宋体" panose="02010600030101010101" pitchFamily="2" charset="-122"/>
                        </a:rPr>
                        <a:t>能</a:t>
                      </a:r>
                    </a:p>
                  </a:txBody>
                  <a:tcPr marL="68593" marR="685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72795">
                <a:tc>
                  <a:txBody>
                    <a:bodyPr/>
                    <a:lstStyle/>
                    <a:p>
                      <a:pPr algn="ctr">
                        <a:lnSpc>
                          <a:spcPct val="100000"/>
                        </a:lnSpc>
                        <a:spcAft>
                          <a:spcPts val="0"/>
                        </a:spcAft>
                      </a:pPr>
                      <a:r>
                        <a:rPr lang="en-US" sz="3200" b="1" kern="100" dirty="0">
                          <a:solidFill>
                            <a:srgbClr val="FF0000"/>
                          </a:solidFill>
                          <a:effectLst/>
                          <a:latin typeface="Times New Roman" panose="02020603050405020304"/>
                          <a:ea typeface="宋体" panose="02010600030101010101" pitchFamily="2" charset="-122"/>
                        </a:rPr>
                        <a:t>Q/q/^C</a:t>
                      </a:r>
                      <a:endParaRPr lang="zh-CN" sz="3200" b="1" kern="100" dirty="0">
                        <a:solidFill>
                          <a:srgbClr val="FF0000"/>
                        </a:solidFill>
                        <a:effectLst/>
                        <a:latin typeface="Times New Roman" panose="02020603050405020304"/>
                        <a:ea typeface="宋体" panose="02010600030101010101" pitchFamily="2" charset="-122"/>
                      </a:endParaRPr>
                    </a:p>
                  </a:txBody>
                  <a:tcPr marL="68593" marR="685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200" b="1" kern="100" dirty="0">
                          <a:effectLst/>
                          <a:latin typeface="Times New Roman" panose="02020603050405020304"/>
                          <a:ea typeface="宋体" panose="02010600030101010101" pitchFamily="2" charset="-122"/>
                        </a:rPr>
                        <a:t>退出</a:t>
                      </a:r>
                    </a:p>
                  </a:txBody>
                  <a:tcPr marL="68593" marR="68593"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3200" b="1" kern="100" dirty="0">
                          <a:solidFill>
                            <a:srgbClr val="FF0000"/>
                          </a:solidFill>
                          <a:effectLst/>
                          <a:latin typeface="Times New Roman" panose="02020603050405020304"/>
                          <a:ea typeface="宋体" panose="02010600030101010101" pitchFamily="2" charset="-122"/>
                        </a:rPr>
                        <a:t>!</a:t>
                      </a:r>
                      <a:r>
                        <a:rPr lang="en-US" sz="3200" b="1" kern="100" dirty="0" err="1">
                          <a:solidFill>
                            <a:srgbClr val="FF0000"/>
                          </a:solidFill>
                          <a:effectLst/>
                          <a:latin typeface="Times New Roman" panose="02020603050405020304"/>
                          <a:ea typeface="宋体" panose="02010600030101010101" pitchFamily="2" charset="-122"/>
                        </a:rPr>
                        <a:t>cmd</a:t>
                      </a:r>
                      <a:endParaRPr lang="zh-CN" sz="3200" b="1" kern="100" dirty="0">
                        <a:solidFill>
                          <a:srgbClr val="FF0000"/>
                        </a:solidFill>
                        <a:effectLst/>
                        <a:latin typeface="Times New Roman" panose="02020603050405020304"/>
                        <a:ea typeface="宋体" panose="02010600030101010101" pitchFamily="2" charset="-122"/>
                      </a:endParaRPr>
                    </a:p>
                  </a:txBody>
                  <a:tcPr marL="68593" marR="68593"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200" b="1" kern="100">
                          <a:effectLst/>
                          <a:latin typeface="Times New Roman" panose="02020603050405020304"/>
                          <a:ea typeface="宋体" panose="02010600030101010101" pitchFamily="2" charset="-122"/>
                        </a:rPr>
                        <a:t>执行</a:t>
                      </a:r>
                      <a:r>
                        <a:rPr lang="en-US" sz="3200" b="1" kern="100">
                          <a:effectLst/>
                          <a:latin typeface="Times New Roman" panose="02020603050405020304"/>
                          <a:ea typeface="宋体" panose="02010600030101010101" pitchFamily="2" charset="-122"/>
                        </a:rPr>
                        <a:t>shell</a:t>
                      </a:r>
                      <a:r>
                        <a:rPr lang="zh-CN" sz="3200" b="1" kern="100">
                          <a:effectLst/>
                          <a:latin typeface="Times New Roman" panose="02020603050405020304"/>
                          <a:ea typeface="宋体" panose="02010600030101010101" pitchFamily="2" charset="-122"/>
                        </a:rPr>
                        <a:t>命令</a:t>
                      </a:r>
                    </a:p>
                  </a:txBody>
                  <a:tcPr marL="68593" marR="685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72795">
                <a:tc>
                  <a:txBody>
                    <a:bodyPr/>
                    <a:lstStyle/>
                    <a:p>
                      <a:pPr algn="ctr">
                        <a:lnSpc>
                          <a:spcPct val="100000"/>
                        </a:lnSpc>
                        <a:spcAft>
                          <a:spcPts val="0"/>
                        </a:spcAft>
                      </a:pPr>
                      <a:r>
                        <a:rPr lang="en-US" sz="3200" b="1" kern="100">
                          <a:effectLst/>
                          <a:latin typeface="Times New Roman" panose="02020603050405020304"/>
                          <a:ea typeface="宋体" panose="02010600030101010101" pitchFamily="2" charset="-122"/>
                        </a:rPr>
                        <a:t>=</a:t>
                      </a:r>
                      <a:endParaRPr lang="zh-CN" sz="3200" b="1" kern="100">
                        <a:effectLst/>
                        <a:latin typeface="Times New Roman" panose="02020603050405020304"/>
                        <a:ea typeface="宋体" panose="02010600030101010101" pitchFamily="2" charset="-122"/>
                      </a:endParaRPr>
                    </a:p>
                  </a:txBody>
                  <a:tcPr marL="68593" marR="685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200" b="1" kern="100" dirty="0">
                          <a:effectLst/>
                          <a:latin typeface="Times New Roman" panose="02020603050405020304"/>
                          <a:ea typeface="宋体" panose="02010600030101010101" pitchFamily="2" charset="-122"/>
                        </a:rPr>
                        <a:t>显示当前行行号</a:t>
                      </a:r>
                    </a:p>
                  </a:txBody>
                  <a:tcPr marL="68593" marR="68593"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3200" b="1" kern="100" dirty="0">
                          <a:solidFill>
                            <a:srgbClr val="FF0000"/>
                          </a:solidFill>
                          <a:effectLst/>
                          <a:latin typeface="Times New Roman" panose="02020603050405020304"/>
                          <a:ea typeface="宋体" panose="02010600030101010101" pitchFamily="2" charset="-122"/>
                        </a:rPr>
                        <a:t>:n</a:t>
                      </a:r>
                      <a:endParaRPr lang="zh-CN" sz="3200" b="1" kern="100" dirty="0">
                        <a:solidFill>
                          <a:srgbClr val="FF0000"/>
                        </a:solidFill>
                        <a:effectLst/>
                        <a:latin typeface="Times New Roman" panose="02020603050405020304"/>
                        <a:ea typeface="宋体" panose="02010600030101010101" pitchFamily="2" charset="-122"/>
                      </a:endParaRPr>
                    </a:p>
                  </a:txBody>
                  <a:tcPr marL="68593" marR="68593"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200" b="1" kern="100" dirty="0">
                          <a:effectLst/>
                          <a:latin typeface="Times New Roman" panose="02020603050405020304"/>
                          <a:ea typeface="宋体" panose="02010600030101010101" pitchFamily="2" charset="-122"/>
                        </a:rPr>
                        <a:t>下一个文件</a:t>
                      </a:r>
                    </a:p>
                  </a:txBody>
                  <a:tcPr marL="68593" marR="685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75359">
                <a:tc>
                  <a:txBody>
                    <a:bodyPr/>
                    <a:lstStyle/>
                    <a:p>
                      <a:pPr algn="ctr">
                        <a:lnSpc>
                          <a:spcPct val="100000"/>
                        </a:lnSpc>
                        <a:spcAft>
                          <a:spcPts val="0"/>
                        </a:spcAft>
                      </a:pPr>
                      <a:r>
                        <a:rPr lang="en-US" sz="3200" b="1" kern="100" dirty="0">
                          <a:solidFill>
                            <a:srgbClr val="FF0000"/>
                          </a:solidFill>
                          <a:effectLst/>
                          <a:latin typeface="Times New Roman" panose="02020603050405020304"/>
                          <a:ea typeface="宋体" panose="02010600030101010101" pitchFamily="2" charset="-122"/>
                        </a:rPr>
                        <a:t>#d/#b</a:t>
                      </a:r>
                      <a:endParaRPr lang="zh-CN" sz="3200" b="1" kern="100" dirty="0">
                        <a:solidFill>
                          <a:srgbClr val="FF0000"/>
                        </a:solidFill>
                        <a:effectLst/>
                        <a:latin typeface="Times New Roman" panose="02020603050405020304"/>
                        <a:ea typeface="宋体" panose="02010600030101010101" pitchFamily="2" charset="-122"/>
                      </a:endParaRPr>
                    </a:p>
                  </a:txBody>
                  <a:tcPr marL="68593" marR="685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200" b="1" kern="100" dirty="0">
                          <a:effectLst/>
                          <a:latin typeface="Times New Roman" panose="02020603050405020304"/>
                          <a:ea typeface="宋体" panose="02010600030101010101" pitchFamily="2" charset="-122"/>
                        </a:rPr>
                        <a:t>向前</a:t>
                      </a:r>
                      <a:r>
                        <a:rPr lang="en-US" sz="3200" b="1" kern="100" dirty="0">
                          <a:effectLst/>
                          <a:latin typeface="Times New Roman" panose="02020603050405020304"/>
                          <a:ea typeface="宋体" panose="02010600030101010101" pitchFamily="2" charset="-122"/>
                        </a:rPr>
                        <a:t>/</a:t>
                      </a:r>
                      <a:r>
                        <a:rPr lang="zh-CN" sz="3200" b="1" kern="100" dirty="0">
                          <a:effectLst/>
                          <a:latin typeface="Times New Roman" panose="02020603050405020304"/>
                          <a:ea typeface="宋体" panose="02010600030101010101" pitchFamily="2" charset="-122"/>
                        </a:rPr>
                        <a:t>后滚动</a:t>
                      </a:r>
                      <a:r>
                        <a:rPr lang="en-US" sz="3200" b="1" kern="100" dirty="0">
                          <a:effectLst/>
                          <a:latin typeface="Times New Roman" panose="02020603050405020304"/>
                          <a:ea typeface="宋体" panose="02010600030101010101" pitchFamily="2" charset="-122"/>
                        </a:rPr>
                        <a:t>#</a:t>
                      </a:r>
                      <a:r>
                        <a:rPr lang="zh-CN" sz="3200" b="1" kern="100" dirty="0">
                          <a:effectLst/>
                          <a:latin typeface="Times New Roman" panose="02020603050405020304"/>
                          <a:ea typeface="宋体" panose="02010600030101010101" pitchFamily="2" charset="-122"/>
                        </a:rPr>
                        <a:t>行（</a:t>
                      </a:r>
                      <a:r>
                        <a:rPr lang="en-US" sz="3200" b="1" kern="100" dirty="0">
                          <a:effectLst/>
                          <a:latin typeface="Times New Roman" panose="02020603050405020304"/>
                          <a:ea typeface="宋体" panose="02010600030101010101" pitchFamily="2" charset="-122"/>
                        </a:rPr>
                        <a:t>#</a:t>
                      </a:r>
                      <a:r>
                        <a:rPr lang="zh-CN" sz="3200" b="1" kern="100" dirty="0">
                          <a:effectLst/>
                          <a:latin typeface="Times New Roman" panose="02020603050405020304"/>
                          <a:ea typeface="宋体" panose="02010600030101010101" pitchFamily="2" charset="-122"/>
                        </a:rPr>
                        <a:t>为数字）</a:t>
                      </a:r>
                    </a:p>
                  </a:txBody>
                  <a:tcPr marL="68593" marR="68593"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3200" b="1" kern="100" dirty="0">
                          <a:solidFill>
                            <a:srgbClr val="FF0000"/>
                          </a:solidFill>
                          <a:effectLst/>
                          <a:latin typeface="Times New Roman" panose="02020603050405020304"/>
                          <a:ea typeface="宋体" panose="02010600030101010101" pitchFamily="2" charset="-122"/>
                        </a:rPr>
                        <a:t>:p</a:t>
                      </a:r>
                      <a:endParaRPr lang="zh-CN" sz="3200" b="1" kern="100" dirty="0">
                        <a:solidFill>
                          <a:srgbClr val="FF0000"/>
                        </a:solidFill>
                        <a:effectLst/>
                        <a:latin typeface="Times New Roman" panose="02020603050405020304"/>
                        <a:ea typeface="宋体" panose="02010600030101010101" pitchFamily="2" charset="-122"/>
                      </a:endParaRPr>
                    </a:p>
                  </a:txBody>
                  <a:tcPr marL="68593" marR="68593"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200" b="1" kern="100" dirty="0">
                          <a:effectLst/>
                          <a:latin typeface="Times New Roman" panose="02020603050405020304"/>
                          <a:ea typeface="宋体" panose="02010600030101010101" pitchFamily="2" charset="-122"/>
                        </a:rPr>
                        <a:t>上一个文件</a:t>
                      </a:r>
                    </a:p>
                  </a:txBody>
                  <a:tcPr marL="68593" marR="685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75359">
                <a:tc>
                  <a:txBody>
                    <a:bodyPr/>
                    <a:lstStyle/>
                    <a:p>
                      <a:pPr algn="ctr">
                        <a:lnSpc>
                          <a:spcPct val="100000"/>
                        </a:lnSpc>
                        <a:spcAft>
                          <a:spcPts val="0"/>
                        </a:spcAft>
                      </a:pPr>
                      <a:r>
                        <a:rPr lang="zh-CN" sz="3200" b="1" kern="100" dirty="0">
                          <a:solidFill>
                            <a:srgbClr val="FF0000"/>
                          </a:solidFill>
                          <a:effectLst/>
                          <a:latin typeface="Times New Roman" panose="02020603050405020304"/>
                          <a:ea typeface="宋体" panose="02010600030101010101" pitchFamily="2" charset="-122"/>
                        </a:rPr>
                        <a:t>空格</a:t>
                      </a:r>
                    </a:p>
                  </a:txBody>
                  <a:tcPr marL="68593" marR="685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200" b="1" kern="100" dirty="0">
                          <a:effectLst/>
                          <a:latin typeface="Times New Roman" panose="02020603050405020304"/>
                          <a:ea typeface="宋体" panose="02010600030101010101" pitchFamily="2" charset="-122"/>
                        </a:rPr>
                        <a:t>向前翻一屏</a:t>
                      </a:r>
                    </a:p>
                  </a:txBody>
                  <a:tcPr marL="68593" marR="68593"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3200" b="1" kern="100" dirty="0">
                          <a:solidFill>
                            <a:srgbClr val="FF0000"/>
                          </a:solidFill>
                          <a:effectLst/>
                          <a:latin typeface="Times New Roman" panose="02020603050405020304"/>
                          <a:ea typeface="宋体" panose="02010600030101010101" pitchFamily="2" charset="-122"/>
                        </a:rPr>
                        <a:t>:f</a:t>
                      </a:r>
                      <a:endParaRPr lang="zh-CN" sz="3200" b="1" kern="100" dirty="0">
                        <a:solidFill>
                          <a:srgbClr val="FF0000"/>
                        </a:solidFill>
                        <a:effectLst/>
                        <a:latin typeface="Times New Roman" panose="02020603050405020304"/>
                        <a:ea typeface="宋体" panose="02010600030101010101" pitchFamily="2" charset="-122"/>
                      </a:endParaRPr>
                    </a:p>
                  </a:txBody>
                  <a:tcPr marL="68593" marR="68593"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200" b="1" kern="100" dirty="0">
                          <a:effectLst/>
                          <a:latin typeface="Times New Roman" panose="02020603050405020304"/>
                          <a:ea typeface="宋体" panose="02010600030101010101" pitchFamily="2" charset="-122"/>
                        </a:rPr>
                        <a:t>显示当前文件名和行号</a:t>
                      </a:r>
                    </a:p>
                  </a:txBody>
                  <a:tcPr marL="68593" marR="685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72795">
                <a:tc>
                  <a:txBody>
                    <a:bodyPr/>
                    <a:lstStyle/>
                    <a:p>
                      <a:pPr algn="ctr">
                        <a:lnSpc>
                          <a:spcPct val="100000"/>
                        </a:lnSpc>
                        <a:spcAft>
                          <a:spcPts val="0"/>
                        </a:spcAft>
                      </a:pPr>
                      <a:r>
                        <a:rPr lang="zh-CN" sz="3200" b="1" kern="100" dirty="0">
                          <a:solidFill>
                            <a:srgbClr val="FF0000"/>
                          </a:solidFill>
                          <a:effectLst/>
                          <a:latin typeface="Times New Roman" panose="02020603050405020304"/>
                          <a:ea typeface="宋体" panose="02010600030101010101" pitchFamily="2" charset="-122"/>
                        </a:rPr>
                        <a:t>回车</a:t>
                      </a:r>
                    </a:p>
                  </a:txBody>
                  <a:tcPr marL="68593" marR="685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200" b="1" kern="100" dirty="0">
                          <a:effectLst/>
                          <a:latin typeface="Times New Roman" panose="02020603050405020304"/>
                          <a:ea typeface="宋体" panose="02010600030101010101" pitchFamily="2" charset="-122"/>
                        </a:rPr>
                        <a:t>向前翻一行</a:t>
                      </a:r>
                    </a:p>
                  </a:txBody>
                  <a:tcPr marL="68593" marR="68593"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3200" b="1" kern="100" dirty="0">
                          <a:solidFill>
                            <a:srgbClr val="FF0000"/>
                          </a:solidFill>
                          <a:effectLst/>
                          <a:latin typeface="Times New Roman" panose="02020603050405020304"/>
                          <a:ea typeface="宋体" panose="02010600030101010101" pitchFamily="2" charset="-122"/>
                        </a:rPr>
                        <a:t>^L</a:t>
                      </a:r>
                      <a:endParaRPr lang="zh-CN" sz="3200" b="1" kern="100" dirty="0">
                        <a:solidFill>
                          <a:srgbClr val="FF0000"/>
                        </a:solidFill>
                        <a:effectLst/>
                        <a:latin typeface="Times New Roman" panose="02020603050405020304"/>
                        <a:ea typeface="宋体" panose="02010600030101010101" pitchFamily="2" charset="-122"/>
                      </a:endParaRPr>
                    </a:p>
                  </a:txBody>
                  <a:tcPr marL="68593" marR="68593"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200" b="1" kern="100" dirty="0">
                          <a:effectLst/>
                          <a:latin typeface="Times New Roman" panose="02020603050405020304"/>
                          <a:ea typeface="宋体" panose="02010600030101010101" pitchFamily="2" charset="-122"/>
                        </a:rPr>
                        <a:t>重显本屏内容</a:t>
                      </a:r>
                    </a:p>
                  </a:txBody>
                  <a:tcPr marL="68593" marR="685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914399">
                <a:tc>
                  <a:txBody>
                    <a:bodyPr/>
                    <a:lstStyle/>
                    <a:p>
                      <a:pPr algn="ctr">
                        <a:lnSpc>
                          <a:spcPct val="100000"/>
                        </a:lnSpc>
                        <a:spcAft>
                          <a:spcPts val="0"/>
                        </a:spcAft>
                      </a:pPr>
                      <a:r>
                        <a:rPr lang="en-US" sz="3200" b="1" kern="100">
                          <a:effectLst/>
                          <a:latin typeface="Times New Roman" panose="02020603050405020304"/>
                          <a:ea typeface="宋体" panose="02010600030101010101" pitchFamily="2" charset="-122"/>
                        </a:rPr>
                        <a:t>?/h</a:t>
                      </a:r>
                      <a:endParaRPr lang="zh-CN" sz="3200" b="1" kern="100">
                        <a:effectLst/>
                        <a:latin typeface="Times New Roman" panose="02020603050405020304"/>
                        <a:ea typeface="宋体" panose="02010600030101010101" pitchFamily="2" charset="-122"/>
                      </a:endParaRPr>
                    </a:p>
                  </a:txBody>
                  <a:tcPr marL="68593" marR="685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200" b="1" kern="100" dirty="0">
                          <a:effectLst/>
                          <a:latin typeface="Times New Roman" panose="02020603050405020304"/>
                          <a:ea typeface="宋体" panose="02010600030101010101" pitchFamily="2" charset="-122"/>
                        </a:rPr>
                        <a:t>帮助</a:t>
                      </a:r>
                    </a:p>
                  </a:txBody>
                  <a:tcPr marL="68593" marR="68593"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6000" b="1" kern="100" dirty="0">
                          <a:solidFill>
                            <a:srgbClr val="FF0000"/>
                          </a:solidFill>
                          <a:effectLst/>
                          <a:latin typeface="Times New Roman" panose="02020603050405020304"/>
                          <a:ea typeface="宋体" panose="02010600030101010101" pitchFamily="2" charset="-122"/>
                        </a:rPr>
                        <a:t>.</a:t>
                      </a:r>
                      <a:endParaRPr lang="zh-CN" sz="6000" b="1" kern="100" dirty="0">
                        <a:solidFill>
                          <a:srgbClr val="FF0000"/>
                        </a:solidFill>
                        <a:effectLst/>
                        <a:latin typeface="Times New Roman" panose="02020603050405020304"/>
                        <a:ea typeface="宋体" panose="02010600030101010101" pitchFamily="2" charset="-122"/>
                      </a:endParaRPr>
                    </a:p>
                  </a:txBody>
                  <a:tcPr marL="68593" marR="68593"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200" b="1" kern="100" dirty="0">
                          <a:effectLst/>
                          <a:latin typeface="Times New Roman" panose="02020603050405020304"/>
                          <a:ea typeface="宋体" panose="02010600030101010101" pitchFamily="2" charset="-122"/>
                        </a:rPr>
                        <a:t>重复上一个命令</a:t>
                      </a:r>
                    </a:p>
                  </a:txBody>
                  <a:tcPr marL="68593" marR="685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标题 1">
            <a:extLst>
              <a:ext uri="{FF2B5EF4-FFF2-40B4-BE49-F238E27FC236}">
                <a16:creationId xmlns:a16="http://schemas.microsoft.com/office/drawing/2014/main" id="{9938ADE2-618A-9138-AF4E-918CF0E1768E}"/>
              </a:ext>
            </a:extLst>
          </p:cNvPr>
          <p:cNvSpPr>
            <a:spLocks noGrp="1" noChangeArrowheads="1"/>
          </p:cNvSpPr>
          <p:nvPr>
            <p:ph type="title"/>
          </p:nvPr>
        </p:nvSpPr>
        <p:spPr/>
        <p:txBody>
          <a:bodyPr/>
          <a:lstStyle/>
          <a:p>
            <a:r>
              <a:rPr lang="en-US" altLang="zh-CN"/>
              <a:t>3</a:t>
            </a:r>
            <a:r>
              <a:rPr lang="zh-CN" altLang="zh-CN"/>
              <a:t>）应用举例</a:t>
            </a:r>
            <a:endParaRPr lang="zh-CN" altLang="en-US"/>
          </a:p>
        </p:txBody>
      </p:sp>
      <p:sp>
        <p:nvSpPr>
          <p:cNvPr id="93187" name="内容占位符 2">
            <a:extLst>
              <a:ext uri="{FF2B5EF4-FFF2-40B4-BE49-F238E27FC236}">
                <a16:creationId xmlns:a16="http://schemas.microsoft.com/office/drawing/2014/main" id="{C8F28DF8-F534-0253-FC23-D80D858C70A1}"/>
              </a:ext>
            </a:extLst>
          </p:cNvPr>
          <p:cNvSpPr>
            <a:spLocks noGrp="1" noChangeArrowheads="1"/>
          </p:cNvSpPr>
          <p:nvPr>
            <p:ph idx="1"/>
          </p:nvPr>
        </p:nvSpPr>
        <p:spPr/>
        <p:txBody>
          <a:bodyPr/>
          <a:lstStyle/>
          <a:p>
            <a:r>
              <a:rPr lang="en-US" altLang="zh-CN" sz="5400"/>
              <a:t> #more /etc/passwd	  #</a:t>
            </a:r>
            <a:r>
              <a:rPr lang="zh-CN" altLang="zh-CN" sz="5400"/>
              <a:t>分屏显示</a:t>
            </a:r>
            <a:r>
              <a:rPr lang="en-US" altLang="zh-CN" sz="5400"/>
              <a:t>/etc/passwd</a:t>
            </a:r>
            <a:r>
              <a:rPr lang="zh-CN" altLang="zh-CN" sz="5400"/>
              <a:t>的内容</a:t>
            </a:r>
          </a:p>
          <a:p>
            <a:r>
              <a:rPr lang="en-US" altLang="zh-CN" sz="5400"/>
              <a:t>#</a:t>
            </a:r>
            <a:r>
              <a:rPr lang="en-US" altLang="zh-CN" sz="5400">
                <a:solidFill>
                  <a:srgbClr val="FF0000"/>
                </a:solidFill>
              </a:rPr>
              <a:t>ls -l /dev | more	</a:t>
            </a:r>
            <a:r>
              <a:rPr lang="en-US" altLang="zh-CN" sz="5400"/>
              <a:t>	 #</a:t>
            </a:r>
            <a:r>
              <a:rPr lang="zh-CN" altLang="zh-CN" sz="5400"/>
              <a:t>列出系统设备目录并通过</a:t>
            </a:r>
            <a:r>
              <a:rPr lang="en-US" altLang="zh-CN" sz="5400"/>
              <a:t>more</a:t>
            </a:r>
            <a:r>
              <a:rPr lang="zh-CN" altLang="zh-CN" sz="5400"/>
              <a:t>分屏显示</a:t>
            </a:r>
          </a:p>
          <a:p>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210" name="标题 1">
            <a:extLst>
              <a:ext uri="{FF2B5EF4-FFF2-40B4-BE49-F238E27FC236}">
                <a16:creationId xmlns:a16="http://schemas.microsoft.com/office/drawing/2014/main" id="{EFB53321-2775-C62F-AAEE-851B26936B0D}"/>
              </a:ext>
            </a:extLst>
          </p:cNvPr>
          <p:cNvSpPr>
            <a:spLocks noGrp="1" noChangeArrowheads="1"/>
          </p:cNvSpPr>
          <p:nvPr>
            <p:ph type="title"/>
          </p:nvPr>
        </p:nvSpPr>
        <p:spPr/>
        <p:txBody>
          <a:bodyPr/>
          <a:lstStyle/>
          <a:p>
            <a:r>
              <a:rPr lang="en-US" altLang="zh-CN"/>
              <a:t>3</a:t>
            </a:r>
            <a:r>
              <a:rPr lang="zh-CN" altLang="zh-CN"/>
              <a:t>．使用</a:t>
            </a:r>
            <a:r>
              <a:rPr lang="en-US" altLang="zh-CN"/>
              <a:t>less</a:t>
            </a:r>
            <a:r>
              <a:rPr lang="zh-CN" altLang="zh-CN"/>
              <a:t>命令浏览文件</a:t>
            </a:r>
            <a:endParaRPr lang="zh-CN" altLang="en-US"/>
          </a:p>
        </p:txBody>
      </p:sp>
      <p:sp>
        <p:nvSpPr>
          <p:cNvPr id="94211" name="内容占位符 2">
            <a:extLst>
              <a:ext uri="{FF2B5EF4-FFF2-40B4-BE49-F238E27FC236}">
                <a16:creationId xmlns:a16="http://schemas.microsoft.com/office/drawing/2014/main" id="{DCEE16EC-B675-3766-D597-655145307D60}"/>
              </a:ext>
            </a:extLst>
          </p:cNvPr>
          <p:cNvSpPr>
            <a:spLocks noGrp="1" noChangeArrowheads="1"/>
          </p:cNvSpPr>
          <p:nvPr>
            <p:ph idx="1"/>
          </p:nvPr>
        </p:nvSpPr>
        <p:spPr>
          <a:xfrm>
            <a:off x="107950" y="620713"/>
            <a:ext cx="9063038" cy="5761037"/>
          </a:xfrm>
        </p:spPr>
        <p:txBody>
          <a:bodyPr/>
          <a:lstStyle/>
          <a:p>
            <a:r>
              <a:rPr lang="en-US" altLang="zh-CN" sz="4000"/>
              <a:t>less</a:t>
            </a:r>
            <a:r>
              <a:rPr lang="zh-CN" altLang="zh-CN" sz="4000"/>
              <a:t>命令和</a:t>
            </a:r>
            <a:r>
              <a:rPr lang="en-US" altLang="zh-CN" sz="4000"/>
              <a:t>more</a:t>
            </a:r>
            <a:r>
              <a:rPr lang="zh-CN" altLang="zh-CN" sz="4000"/>
              <a:t>一样都是分页处理命令。它</a:t>
            </a:r>
            <a:r>
              <a:rPr lang="zh-CN" altLang="zh-CN" sz="4000">
                <a:solidFill>
                  <a:srgbClr val="FF0000"/>
                </a:solidFill>
              </a:rPr>
              <a:t>改进了</a:t>
            </a:r>
            <a:r>
              <a:rPr lang="en-US" altLang="zh-CN" sz="4000">
                <a:solidFill>
                  <a:srgbClr val="FF0000"/>
                </a:solidFill>
              </a:rPr>
              <a:t>more</a:t>
            </a:r>
            <a:r>
              <a:rPr lang="zh-CN" altLang="zh-CN" sz="4000">
                <a:solidFill>
                  <a:srgbClr val="FF0000"/>
                </a:solidFill>
              </a:rPr>
              <a:t>命令</a:t>
            </a:r>
            <a:r>
              <a:rPr lang="zh-CN" altLang="zh-CN" sz="4000"/>
              <a:t>中的一些功能，并又</a:t>
            </a:r>
            <a:r>
              <a:rPr lang="zh-CN" altLang="zh-CN" sz="4000">
                <a:solidFill>
                  <a:srgbClr val="FF0000"/>
                </a:solidFill>
              </a:rPr>
              <a:t>添加了许多其他特色</a:t>
            </a:r>
            <a:r>
              <a:rPr lang="zh-CN" altLang="zh-CN" sz="4000"/>
              <a:t>，例如，可以使用</a:t>
            </a:r>
            <a:r>
              <a:rPr lang="en-US" altLang="zh-CN" sz="4000">
                <a:solidFill>
                  <a:srgbClr val="FF0000"/>
                </a:solidFill>
              </a:rPr>
              <a:t>PgUp</a:t>
            </a:r>
            <a:r>
              <a:rPr lang="zh-CN" altLang="zh-CN" sz="4000">
                <a:solidFill>
                  <a:srgbClr val="FF0000"/>
                </a:solidFill>
              </a:rPr>
              <a:t>和</a:t>
            </a:r>
            <a:r>
              <a:rPr lang="en-US" altLang="zh-CN" sz="4000">
                <a:solidFill>
                  <a:srgbClr val="FF0000"/>
                </a:solidFill>
              </a:rPr>
              <a:t>PgDn</a:t>
            </a:r>
            <a:r>
              <a:rPr lang="zh-CN" altLang="zh-CN" sz="4000"/>
              <a:t>翻页，使用</a:t>
            </a:r>
            <a:r>
              <a:rPr lang="en-US" altLang="zh-CN" sz="4000"/>
              <a:t>HOME</a:t>
            </a:r>
            <a:r>
              <a:rPr lang="zh-CN" altLang="zh-CN" sz="4000"/>
              <a:t>和</a:t>
            </a:r>
            <a:r>
              <a:rPr lang="en-US" altLang="zh-CN" sz="4000"/>
              <a:t>END</a:t>
            </a:r>
            <a:r>
              <a:rPr lang="zh-CN" altLang="zh-CN" sz="4000"/>
              <a:t>直接跳到文件开始或结尾等。</a:t>
            </a:r>
          </a:p>
          <a:p>
            <a:r>
              <a:rPr lang="zh-CN" altLang="zh-CN" sz="4000"/>
              <a:t>通过</a:t>
            </a:r>
            <a:r>
              <a:rPr lang="en-US" altLang="zh-CN" sz="4000"/>
              <a:t>less</a:t>
            </a:r>
            <a:r>
              <a:rPr lang="zh-CN" altLang="zh-CN" sz="4000"/>
              <a:t>分屏显示</a:t>
            </a:r>
            <a:r>
              <a:rPr lang="en-US" altLang="zh-CN" sz="4000"/>
              <a:t>/dev/</a:t>
            </a:r>
            <a:r>
              <a:rPr lang="zh-CN" altLang="zh-CN" sz="4000"/>
              <a:t>目录内容的示例如下：</a:t>
            </a:r>
            <a:r>
              <a:rPr lang="en-US" altLang="zh-CN" sz="4000"/>
              <a:t> </a:t>
            </a:r>
            <a:endParaRPr lang="zh-CN" altLang="zh-CN" sz="4000"/>
          </a:p>
          <a:p>
            <a:r>
              <a:rPr lang="en-US" altLang="zh-CN" sz="4000"/>
              <a:t>ls -l /dev | less</a:t>
            </a:r>
            <a:endParaRPr lang="zh-CN" altLang="en-US" sz="400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4" name="标题 1">
            <a:extLst>
              <a:ext uri="{FF2B5EF4-FFF2-40B4-BE49-F238E27FC236}">
                <a16:creationId xmlns:a16="http://schemas.microsoft.com/office/drawing/2014/main" id="{2FD2E367-3AB3-F485-7BAC-1D2B6604256E}"/>
              </a:ext>
            </a:extLst>
          </p:cNvPr>
          <p:cNvSpPr>
            <a:spLocks noGrp="1" noChangeArrowheads="1"/>
          </p:cNvSpPr>
          <p:nvPr>
            <p:ph type="title"/>
          </p:nvPr>
        </p:nvSpPr>
        <p:spPr/>
        <p:txBody>
          <a:bodyPr/>
          <a:lstStyle/>
          <a:p>
            <a:r>
              <a:rPr lang="en-US" altLang="zh-CN" sz="4000"/>
              <a:t>4</a:t>
            </a:r>
            <a:r>
              <a:rPr lang="zh-CN" altLang="zh-CN" sz="4000"/>
              <a:t>．文件或目录的删除（</a:t>
            </a:r>
            <a:r>
              <a:rPr lang="en-US" altLang="zh-CN" sz="4000"/>
              <a:t>rm, unlink</a:t>
            </a:r>
            <a:r>
              <a:rPr lang="zh-CN" altLang="zh-CN" sz="4000"/>
              <a:t>）</a:t>
            </a:r>
            <a:endParaRPr lang="zh-CN" altLang="en-US" sz="4000"/>
          </a:p>
        </p:txBody>
      </p:sp>
      <p:sp>
        <p:nvSpPr>
          <p:cNvPr id="95235" name="内容占位符 2">
            <a:extLst>
              <a:ext uri="{FF2B5EF4-FFF2-40B4-BE49-F238E27FC236}">
                <a16:creationId xmlns:a16="http://schemas.microsoft.com/office/drawing/2014/main" id="{EE206C21-AE46-DCD1-9945-BED78F46BF8E}"/>
              </a:ext>
            </a:extLst>
          </p:cNvPr>
          <p:cNvSpPr>
            <a:spLocks noGrp="1" noChangeArrowheads="1"/>
          </p:cNvSpPr>
          <p:nvPr>
            <p:ph idx="1"/>
          </p:nvPr>
        </p:nvSpPr>
        <p:spPr>
          <a:xfrm>
            <a:off x="0" y="620713"/>
            <a:ext cx="9144000" cy="5761037"/>
          </a:xfrm>
        </p:spPr>
        <p:txBody>
          <a:bodyPr/>
          <a:lstStyle/>
          <a:p>
            <a:pPr>
              <a:spcBef>
                <a:spcPct val="0"/>
              </a:spcBef>
              <a:spcAft>
                <a:spcPct val="0"/>
              </a:spcAft>
            </a:pPr>
            <a:r>
              <a:rPr lang="en-US" altLang="zh-CN" sz="4000"/>
              <a:t>1</a:t>
            </a:r>
            <a:r>
              <a:rPr lang="zh-CN" altLang="zh-CN" sz="4000"/>
              <a:t>）功能及用法</a:t>
            </a:r>
          </a:p>
          <a:p>
            <a:pPr>
              <a:spcBef>
                <a:spcPct val="0"/>
              </a:spcBef>
              <a:spcAft>
                <a:spcPct val="0"/>
              </a:spcAft>
            </a:pPr>
            <a:r>
              <a:rPr lang="zh-CN" altLang="zh-CN" sz="4000"/>
              <a:t>功能是删除文件。</a:t>
            </a:r>
            <a:r>
              <a:rPr lang="en-US" altLang="zh-CN" sz="4000"/>
              <a:t>rm</a:t>
            </a:r>
            <a:r>
              <a:rPr lang="zh-CN" altLang="zh-CN" sz="4000"/>
              <a:t>可</a:t>
            </a:r>
            <a:r>
              <a:rPr lang="zh-CN" altLang="en-US" sz="4000"/>
              <a:t>用于</a:t>
            </a:r>
            <a:r>
              <a:rPr lang="zh-CN" altLang="zh-CN" sz="4400">
                <a:solidFill>
                  <a:srgbClr val="FF0000"/>
                </a:solidFill>
              </a:rPr>
              <a:t>删除各种</a:t>
            </a:r>
            <a:r>
              <a:rPr lang="zh-CN" altLang="zh-CN" sz="4000"/>
              <a:t>类型的文件</a:t>
            </a:r>
            <a:r>
              <a:rPr lang="zh-CN" altLang="en-US" sz="4000"/>
              <a:t>；</a:t>
            </a:r>
            <a:r>
              <a:rPr lang="en-US" altLang="zh-CN" sz="4000"/>
              <a:t>unlink</a:t>
            </a:r>
            <a:r>
              <a:rPr lang="zh-CN" altLang="en-US" sz="4400">
                <a:solidFill>
                  <a:srgbClr val="FF0000"/>
                </a:solidFill>
              </a:rPr>
              <a:t>只能删除单个</a:t>
            </a:r>
            <a:r>
              <a:rPr lang="zh-CN" altLang="en-US" sz="4000"/>
              <a:t>文件。</a:t>
            </a:r>
            <a:r>
              <a:rPr lang="zh-CN" altLang="zh-CN" sz="4000"/>
              <a:t>由于</a:t>
            </a:r>
            <a:r>
              <a:rPr lang="zh-CN" altLang="en-US" sz="4000"/>
              <a:t>在</a:t>
            </a:r>
            <a:r>
              <a:rPr lang="en-US" altLang="zh-CN" sz="4000"/>
              <a:t>UNIX/Linux</a:t>
            </a:r>
            <a:r>
              <a:rPr lang="zh-CN" altLang="zh-CN" sz="4000"/>
              <a:t>系统内被删除的文件是</a:t>
            </a:r>
            <a:r>
              <a:rPr lang="zh-CN" altLang="zh-CN" sz="4400">
                <a:solidFill>
                  <a:srgbClr val="FF0000"/>
                </a:solidFill>
              </a:rPr>
              <a:t>不可恢复的</a:t>
            </a:r>
            <a:r>
              <a:rPr lang="zh-CN" altLang="zh-CN" sz="4000"/>
              <a:t>，所以使用时要特别小心。</a:t>
            </a:r>
            <a:r>
              <a:rPr lang="en-US" altLang="zh-CN" sz="4000"/>
              <a:t>rm</a:t>
            </a:r>
            <a:r>
              <a:rPr lang="zh-CN" altLang="zh-CN" sz="4000"/>
              <a:t>命令的使用方式为：</a:t>
            </a:r>
          </a:p>
          <a:p>
            <a:pPr>
              <a:spcBef>
                <a:spcPct val="0"/>
              </a:spcBef>
              <a:spcAft>
                <a:spcPct val="0"/>
              </a:spcAft>
            </a:pPr>
            <a:r>
              <a:rPr lang="en-US" altLang="zh-CN" sz="4000"/>
              <a:t> </a:t>
            </a:r>
            <a:r>
              <a:rPr lang="en-US" altLang="zh-CN" sz="4400"/>
              <a:t>rm [options] files</a:t>
            </a:r>
            <a:endParaRPr lang="zh-CN" altLang="zh-CN" sz="4400"/>
          </a:p>
          <a:p>
            <a:pPr>
              <a:spcBef>
                <a:spcPct val="0"/>
              </a:spcBef>
              <a:spcAft>
                <a:spcPct val="0"/>
              </a:spcAft>
            </a:pPr>
            <a:r>
              <a:rPr lang="en-US" altLang="zh-CN" sz="4400"/>
              <a:t> unlink file</a:t>
            </a:r>
            <a:endParaRPr lang="zh-CN" altLang="en-US" sz="44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58" name="标题 1">
            <a:extLst>
              <a:ext uri="{FF2B5EF4-FFF2-40B4-BE49-F238E27FC236}">
                <a16:creationId xmlns:a16="http://schemas.microsoft.com/office/drawing/2014/main" id="{9390A852-0223-5FCD-C5AE-D43479F42729}"/>
              </a:ext>
            </a:extLst>
          </p:cNvPr>
          <p:cNvSpPr>
            <a:spLocks noGrp="1" noChangeArrowheads="1"/>
          </p:cNvSpPr>
          <p:nvPr>
            <p:ph type="title"/>
          </p:nvPr>
        </p:nvSpPr>
        <p:spPr/>
        <p:txBody>
          <a:bodyPr/>
          <a:lstStyle/>
          <a:p>
            <a:r>
              <a:rPr lang="en-US" altLang="zh-CN"/>
              <a:t>2</a:t>
            </a:r>
            <a:r>
              <a:rPr lang="zh-CN" altLang="en-US"/>
              <a:t>）</a:t>
            </a:r>
            <a:r>
              <a:rPr lang="en-US" altLang="zh-CN"/>
              <a:t>rm</a:t>
            </a:r>
            <a:r>
              <a:rPr lang="zh-CN" altLang="zh-CN"/>
              <a:t>命令的部分参数</a:t>
            </a:r>
            <a:endParaRPr lang="zh-CN" altLang="en-US"/>
          </a:p>
        </p:txBody>
      </p:sp>
      <p:graphicFrame>
        <p:nvGraphicFramePr>
          <p:cNvPr id="4" name="内容占位符 3">
            <a:extLst>
              <a:ext uri="{FF2B5EF4-FFF2-40B4-BE49-F238E27FC236}">
                <a16:creationId xmlns:a16="http://schemas.microsoft.com/office/drawing/2014/main" id="{709396B7-17F8-CC29-D3DE-01A1D8EFE6FE}"/>
              </a:ext>
            </a:extLst>
          </p:cNvPr>
          <p:cNvGraphicFramePr>
            <a:graphicFrameLocks noGrp="1"/>
          </p:cNvGraphicFramePr>
          <p:nvPr>
            <p:ph idx="1"/>
          </p:nvPr>
        </p:nvGraphicFramePr>
        <p:xfrm>
          <a:off x="107950" y="549275"/>
          <a:ext cx="8928100" cy="5967413"/>
        </p:xfrm>
        <a:graphic>
          <a:graphicData uri="http://schemas.openxmlformats.org/drawingml/2006/table">
            <a:tbl>
              <a:tblPr firstRow="1" firstCol="1" bandRow="1"/>
              <a:tblGrid>
                <a:gridCol w="1296015">
                  <a:extLst>
                    <a:ext uri="{9D8B030D-6E8A-4147-A177-3AD203B41FA5}">
                      <a16:colId xmlns:a16="http://schemas.microsoft.com/office/drawing/2014/main" val="20000"/>
                    </a:ext>
                  </a:extLst>
                </a:gridCol>
                <a:gridCol w="7632085">
                  <a:extLst>
                    <a:ext uri="{9D8B030D-6E8A-4147-A177-3AD203B41FA5}">
                      <a16:colId xmlns:a16="http://schemas.microsoft.com/office/drawing/2014/main" val="20001"/>
                    </a:ext>
                  </a:extLst>
                </a:gridCol>
              </a:tblGrid>
              <a:tr h="791997">
                <a:tc>
                  <a:txBody>
                    <a:bodyPr/>
                    <a:lstStyle/>
                    <a:p>
                      <a:pPr indent="0" algn="ctr">
                        <a:lnSpc>
                          <a:spcPct val="100000"/>
                        </a:lnSpc>
                        <a:spcAft>
                          <a:spcPts val="0"/>
                        </a:spcAft>
                      </a:pPr>
                      <a:r>
                        <a:rPr lang="zh-CN" sz="3600" kern="100" dirty="0">
                          <a:effectLst/>
                          <a:latin typeface="Times New Roman" panose="02020603050405020304"/>
                          <a:ea typeface="宋体" panose="02010600030101010101" pitchFamily="2" charset="-122"/>
                        </a:rPr>
                        <a:t>选项</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00000"/>
                        </a:lnSpc>
                        <a:spcAft>
                          <a:spcPts val="0"/>
                        </a:spcAft>
                      </a:pPr>
                      <a:r>
                        <a:rPr lang="zh-CN" sz="3600" kern="100" dirty="0">
                          <a:effectLst/>
                          <a:latin typeface="Times New Roman" panose="02020603050405020304"/>
                          <a:ea typeface="宋体" panose="02010600030101010101" pitchFamily="2" charset="-122"/>
                        </a:rPr>
                        <a:t>功 能 描 述</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490428">
                <a:tc>
                  <a:txBody>
                    <a:bodyPr/>
                    <a:lstStyle/>
                    <a:p>
                      <a:pPr indent="0" algn="ctr">
                        <a:lnSpc>
                          <a:spcPct val="100000"/>
                        </a:lnSpc>
                        <a:spcAft>
                          <a:spcPts val="0"/>
                        </a:spcAft>
                      </a:pPr>
                      <a:r>
                        <a:rPr lang="en-US" sz="7200" kern="100" dirty="0">
                          <a:solidFill>
                            <a:srgbClr val="FF0000"/>
                          </a:solidFill>
                          <a:effectLst/>
                          <a:latin typeface="Times New Roman" panose="02020603050405020304"/>
                          <a:ea typeface="宋体" panose="02010600030101010101" pitchFamily="2" charset="-122"/>
                        </a:rPr>
                        <a:t>-</a:t>
                      </a:r>
                      <a:r>
                        <a:rPr lang="en-US" sz="7200" kern="100" dirty="0" err="1">
                          <a:solidFill>
                            <a:srgbClr val="FF0000"/>
                          </a:solidFill>
                          <a:effectLst/>
                          <a:latin typeface="Times New Roman" panose="02020603050405020304"/>
                          <a:ea typeface="宋体" panose="02010600030101010101" pitchFamily="2" charset="-122"/>
                        </a:rPr>
                        <a:t>i</a:t>
                      </a:r>
                      <a:endParaRPr lang="zh-CN" sz="7200" kern="100" dirty="0">
                        <a:solidFill>
                          <a:srgbClr val="FF0000"/>
                        </a:solidFill>
                        <a:effectLst/>
                        <a:latin typeface="Times New Roman" panose="02020603050405020304"/>
                        <a:ea typeface="宋体" panose="02010600030101010101" pitchFamily="2" charset="-122"/>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600" b="1" kern="100" dirty="0">
                          <a:solidFill>
                            <a:srgbClr val="FF0000"/>
                          </a:solidFill>
                          <a:effectLst/>
                          <a:latin typeface="Times New Roman" panose="02020603050405020304"/>
                          <a:ea typeface="宋体" panose="02010600030101010101" pitchFamily="2" charset="-122"/>
                        </a:rPr>
                        <a:t>交互</a:t>
                      </a:r>
                      <a:r>
                        <a:rPr lang="zh-CN" sz="3600" b="1" kern="100" dirty="0">
                          <a:effectLst/>
                          <a:latin typeface="Times New Roman" panose="02020603050405020304"/>
                          <a:ea typeface="宋体" panose="02010600030101010101" pitchFamily="2" charset="-122"/>
                        </a:rPr>
                        <a:t>方式。删除前逐一询问确认，回答时</a:t>
                      </a:r>
                      <a:r>
                        <a:rPr lang="en-US" sz="3600" b="1" kern="100" dirty="0">
                          <a:effectLst/>
                          <a:latin typeface="Times New Roman" panose="02020603050405020304"/>
                          <a:ea typeface="宋体" panose="02010600030101010101" pitchFamily="2" charset="-122"/>
                        </a:rPr>
                        <a:t>y/yes</a:t>
                      </a:r>
                      <a:r>
                        <a:rPr lang="zh-CN" sz="3600" b="1" kern="100" dirty="0">
                          <a:effectLst/>
                          <a:latin typeface="Times New Roman" panose="02020603050405020304"/>
                          <a:ea typeface="宋体" panose="02010600030101010101" pitchFamily="2" charset="-122"/>
                        </a:rPr>
                        <a:t>表示确认，其他为放弃</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97279">
                <a:tc>
                  <a:txBody>
                    <a:bodyPr/>
                    <a:lstStyle/>
                    <a:p>
                      <a:pPr indent="0" algn="ctr">
                        <a:lnSpc>
                          <a:spcPct val="100000"/>
                        </a:lnSpc>
                        <a:spcAft>
                          <a:spcPts val="0"/>
                        </a:spcAft>
                      </a:pPr>
                      <a:r>
                        <a:rPr lang="en-US" sz="7200" kern="100" dirty="0">
                          <a:solidFill>
                            <a:srgbClr val="FF0000"/>
                          </a:solidFill>
                          <a:effectLst/>
                          <a:latin typeface="Times New Roman" panose="02020603050405020304"/>
                          <a:ea typeface="宋体" panose="02010600030101010101" pitchFamily="2" charset="-122"/>
                        </a:rPr>
                        <a:t>-f</a:t>
                      </a:r>
                      <a:endParaRPr lang="zh-CN" sz="7200" kern="100" dirty="0">
                        <a:solidFill>
                          <a:srgbClr val="FF0000"/>
                        </a:solidFill>
                        <a:effectLst/>
                        <a:latin typeface="Times New Roman" panose="02020603050405020304"/>
                        <a:ea typeface="宋体" panose="02010600030101010101" pitchFamily="2" charset="-122"/>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600" b="1" kern="100" dirty="0">
                          <a:solidFill>
                            <a:srgbClr val="FF0000"/>
                          </a:solidFill>
                          <a:effectLst/>
                          <a:latin typeface="Times New Roman" panose="02020603050405020304"/>
                          <a:ea typeface="宋体" panose="02010600030101010101" pitchFamily="2" charset="-122"/>
                        </a:rPr>
                        <a:t>强制</a:t>
                      </a:r>
                      <a:r>
                        <a:rPr lang="zh-CN" sz="3600" b="1" kern="100" dirty="0">
                          <a:effectLst/>
                          <a:latin typeface="Times New Roman" panose="02020603050405020304"/>
                          <a:ea typeface="宋体" panose="02010600030101010101" pitchFamily="2" charset="-122"/>
                        </a:rPr>
                        <a:t>方式。强迫删除，删除时</a:t>
                      </a:r>
                      <a:r>
                        <a:rPr lang="zh-CN" sz="3600" b="1" kern="100" dirty="0">
                          <a:solidFill>
                            <a:srgbClr val="FF0000"/>
                          </a:solidFill>
                          <a:effectLst/>
                          <a:latin typeface="Times New Roman" panose="02020603050405020304"/>
                          <a:ea typeface="宋体" panose="02010600030101010101" pitchFamily="2" charset="-122"/>
                        </a:rPr>
                        <a:t>不提示</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90428">
                <a:tc>
                  <a:txBody>
                    <a:bodyPr/>
                    <a:lstStyle/>
                    <a:p>
                      <a:pPr indent="0" algn="ctr">
                        <a:lnSpc>
                          <a:spcPct val="100000"/>
                        </a:lnSpc>
                        <a:spcAft>
                          <a:spcPts val="0"/>
                        </a:spcAft>
                      </a:pPr>
                      <a:r>
                        <a:rPr lang="en-US" sz="3600" kern="100" dirty="0">
                          <a:solidFill>
                            <a:srgbClr val="FF0000"/>
                          </a:solidFill>
                          <a:effectLst/>
                          <a:latin typeface="Times New Roman" panose="02020603050405020304"/>
                          <a:ea typeface="宋体" panose="02010600030101010101" pitchFamily="2" charset="-122"/>
                        </a:rPr>
                        <a:t>-r/-R</a:t>
                      </a:r>
                      <a:endParaRPr lang="zh-CN" sz="3600" kern="100" dirty="0">
                        <a:solidFill>
                          <a:srgbClr val="FF0000"/>
                        </a:solidFill>
                        <a:effectLst/>
                        <a:latin typeface="Times New Roman" panose="02020603050405020304"/>
                        <a:ea typeface="宋体" panose="02010600030101010101" pitchFamily="2" charset="-122"/>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600" b="1" kern="100" dirty="0">
                          <a:solidFill>
                            <a:srgbClr val="FF0000"/>
                          </a:solidFill>
                          <a:effectLst/>
                          <a:latin typeface="Times New Roman" panose="02020603050405020304"/>
                          <a:ea typeface="宋体" panose="02010600030101010101" pitchFamily="2" charset="-122"/>
                        </a:rPr>
                        <a:t>递归</a:t>
                      </a:r>
                      <a:r>
                        <a:rPr lang="zh-CN" sz="3600" b="1" kern="100" dirty="0">
                          <a:effectLst/>
                          <a:latin typeface="Times New Roman" panose="02020603050405020304"/>
                          <a:ea typeface="宋体" panose="02010600030101010101" pitchFamily="2" charset="-122"/>
                        </a:rPr>
                        <a:t>方式。删除目录时，连同其子目录一起删除。删除目录时必须选此项</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97279">
                <a:tc>
                  <a:txBody>
                    <a:bodyPr/>
                    <a:lstStyle/>
                    <a:p>
                      <a:pPr marL="0" indent="0" algn="ctr" defTabSz="914400" rtl="0" eaLnBrk="1" latinLnBrk="0" hangingPunct="1">
                        <a:lnSpc>
                          <a:spcPct val="100000"/>
                        </a:lnSpc>
                        <a:spcAft>
                          <a:spcPts val="0"/>
                        </a:spcAft>
                      </a:pPr>
                      <a:r>
                        <a:rPr lang="en-US" sz="7200" kern="100" dirty="0">
                          <a:solidFill>
                            <a:srgbClr val="FF0000"/>
                          </a:solidFill>
                          <a:effectLst/>
                          <a:latin typeface="Times New Roman" panose="02020603050405020304"/>
                          <a:ea typeface="宋体" panose="02010600030101010101" pitchFamily="2" charset="-122"/>
                          <a:cs typeface="+mn-cs"/>
                        </a:rPr>
                        <a:t>--</a:t>
                      </a:r>
                      <a:endParaRPr lang="zh-CN" sz="7200" kern="100" dirty="0">
                        <a:solidFill>
                          <a:srgbClr val="FF0000"/>
                        </a:solidFill>
                        <a:effectLst/>
                        <a:latin typeface="Times New Roman" panose="02020603050405020304"/>
                        <a:ea typeface="宋体" panose="02010600030101010101" pitchFamily="2" charset="-122"/>
                        <a:cs typeface="+mn-cs"/>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600" b="1" kern="100" dirty="0">
                          <a:effectLst/>
                          <a:latin typeface="Times New Roman" panose="02020603050405020304"/>
                          <a:ea typeface="宋体" panose="02010600030101010101" pitchFamily="2" charset="-122"/>
                        </a:rPr>
                        <a:t>删除以</a:t>
                      </a:r>
                      <a:r>
                        <a:rPr lang="en-US" sz="3600" b="1" kern="100" dirty="0">
                          <a:effectLst/>
                          <a:latin typeface="Times New Roman" panose="02020603050405020304"/>
                          <a:ea typeface="宋体" panose="02010600030101010101" pitchFamily="2" charset="-122"/>
                        </a:rPr>
                        <a:t>-</a:t>
                      </a:r>
                      <a:r>
                        <a:rPr lang="zh-CN" sz="3600" b="1" kern="100" dirty="0">
                          <a:effectLst/>
                          <a:latin typeface="Times New Roman" panose="02020603050405020304"/>
                          <a:ea typeface="宋体" panose="02010600030101010101" pitchFamily="2" charset="-122"/>
                        </a:rPr>
                        <a:t>开头的文件</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标题 1">
            <a:extLst>
              <a:ext uri="{FF2B5EF4-FFF2-40B4-BE49-F238E27FC236}">
                <a16:creationId xmlns:a16="http://schemas.microsoft.com/office/drawing/2014/main" id="{10B5CC82-FB3F-D6FB-50FA-F5C8CA6B2EBA}"/>
              </a:ext>
            </a:extLst>
          </p:cNvPr>
          <p:cNvSpPr>
            <a:spLocks noGrp="1" noChangeArrowheads="1"/>
          </p:cNvSpPr>
          <p:nvPr>
            <p:ph type="title"/>
          </p:nvPr>
        </p:nvSpPr>
        <p:spPr/>
        <p:txBody>
          <a:bodyPr/>
          <a:lstStyle/>
          <a:p>
            <a:r>
              <a:rPr lang="en-US" altLang="zh-CN"/>
              <a:t>3</a:t>
            </a:r>
            <a:r>
              <a:rPr lang="zh-CN" altLang="zh-CN"/>
              <a:t>）示例</a:t>
            </a:r>
            <a:endParaRPr lang="zh-CN" altLang="en-US"/>
          </a:p>
        </p:txBody>
      </p:sp>
      <p:sp>
        <p:nvSpPr>
          <p:cNvPr id="97283" name="内容占位符 2">
            <a:extLst>
              <a:ext uri="{FF2B5EF4-FFF2-40B4-BE49-F238E27FC236}">
                <a16:creationId xmlns:a16="http://schemas.microsoft.com/office/drawing/2014/main" id="{918A6FC0-7DBC-90D9-5480-1FD4F8F32F46}"/>
              </a:ext>
            </a:extLst>
          </p:cNvPr>
          <p:cNvSpPr>
            <a:spLocks noGrp="1" noChangeArrowheads="1"/>
          </p:cNvSpPr>
          <p:nvPr>
            <p:ph idx="1"/>
          </p:nvPr>
        </p:nvSpPr>
        <p:spPr>
          <a:xfrm>
            <a:off x="34925" y="620713"/>
            <a:ext cx="9001125" cy="5761037"/>
          </a:xfrm>
        </p:spPr>
        <p:txBody>
          <a:bodyPr/>
          <a:lstStyle/>
          <a:p>
            <a:pPr>
              <a:spcBef>
                <a:spcPct val="0"/>
              </a:spcBef>
              <a:spcAft>
                <a:spcPct val="0"/>
              </a:spcAft>
            </a:pPr>
            <a:r>
              <a:rPr lang="en-US" altLang="zh-CN" sz="4000"/>
              <a:t>$</a:t>
            </a:r>
            <a:r>
              <a:rPr lang="en-US" altLang="zh-CN" sz="4000">
                <a:solidFill>
                  <a:srgbClr val="FF0000"/>
                </a:solidFill>
              </a:rPr>
              <a:t> rm  myfile  hisfile</a:t>
            </a:r>
            <a:r>
              <a:rPr lang="en-US" altLang="zh-CN" sz="4000"/>
              <a:t>	#</a:t>
            </a:r>
            <a:r>
              <a:rPr lang="zh-CN" altLang="zh-CN" sz="4000"/>
              <a:t>交互式删除，删除前需要用户确认</a:t>
            </a:r>
          </a:p>
          <a:p>
            <a:pPr>
              <a:spcBef>
                <a:spcPct val="0"/>
              </a:spcBef>
              <a:spcAft>
                <a:spcPct val="0"/>
              </a:spcAft>
            </a:pPr>
            <a:r>
              <a:rPr lang="en-US" altLang="zh-CN" sz="4000"/>
              <a:t>$ </a:t>
            </a:r>
            <a:r>
              <a:rPr lang="en-US" altLang="zh-CN" sz="4000">
                <a:solidFill>
                  <a:srgbClr val="FF0000"/>
                </a:solidFill>
              </a:rPr>
              <a:t>rm  -r  -f  myf.c mydir</a:t>
            </a:r>
            <a:r>
              <a:rPr lang="en-US" altLang="zh-CN" sz="4000"/>
              <a:t>	#</a:t>
            </a:r>
            <a:r>
              <a:rPr lang="zh-CN" altLang="zh-CN" sz="4000"/>
              <a:t>同时删除文件</a:t>
            </a:r>
            <a:r>
              <a:rPr lang="en-US" altLang="zh-CN" sz="4000"/>
              <a:t>myf.c</a:t>
            </a:r>
            <a:r>
              <a:rPr lang="zh-CN" altLang="zh-CN" sz="4000"/>
              <a:t>和目录</a:t>
            </a:r>
            <a:r>
              <a:rPr lang="en-US" altLang="zh-CN" sz="4000"/>
              <a:t>mydir</a:t>
            </a:r>
            <a:endParaRPr lang="zh-CN" altLang="zh-CN" sz="4000"/>
          </a:p>
          <a:p>
            <a:pPr>
              <a:spcBef>
                <a:spcPct val="0"/>
              </a:spcBef>
              <a:spcAft>
                <a:spcPct val="0"/>
              </a:spcAft>
            </a:pPr>
            <a:r>
              <a:rPr lang="en-US" altLang="zh-CN" sz="4000"/>
              <a:t>$ </a:t>
            </a:r>
            <a:r>
              <a:rPr lang="en-US" altLang="zh-CN" sz="4000">
                <a:solidFill>
                  <a:srgbClr val="FF0000"/>
                </a:solidFill>
              </a:rPr>
              <a:t>rm  --  -xyz</a:t>
            </a:r>
            <a:r>
              <a:rPr lang="en-US" altLang="zh-CN" sz="4000"/>
              <a:t>	#</a:t>
            </a:r>
            <a:r>
              <a:rPr lang="zh-CN" altLang="zh-CN" sz="4000"/>
              <a:t>删除</a:t>
            </a:r>
            <a:r>
              <a:rPr lang="zh-CN" altLang="en-US" sz="4000"/>
              <a:t>包含</a:t>
            </a:r>
            <a:r>
              <a:rPr lang="zh-CN" altLang="zh-CN" sz="4000"/>
              <a:t>特殊名字的文件</a:t>
            </a:r>
            <a:r>
              <a:rPr lang="en-US" altLang="zh-CN" sz="4000"/>
              <a:t>-xyz</a:t>
            </a:r>
            <a:endParaRPr lang="zh-CN" altLang="zh-CN" sz="4000"/>
          </a:p>
          <a:p>
            <a:pPr>
              <a:spcBef>
                <a:spcPct val="0"/>
              </a:spcBef>
              <a:spcAft>
                <a:spcPct val="0"/>
              </a:spcAft>
            </a:pPr>
            <a:r>
              <a:rPr lang="en-US" altLang="zh-CN" sz="4000"/>
              <a:t>$ </a:t>
            </a:r>
            <a:r>
              <a:rPr lang="en-US" altLang="zh-CN" sz="4000">
                <a:solidFill>
                  <a:srgbClr val="FF0000"/>
                </a:solidFill>
              </a:rPr>
              <a:t>rm \* \\</a:t>
            </a:r>
            <a:r>
              <a:rPr lang="en-US" altLang="zh-CN" sz="4000"/>
              <a:t>	#</a:t>
            </a:r>
            <a:r>
              <a:rPr lang="zh-CN" altLang="zh-CN" sz="4000"/>
              <a:t>删除名字为</a:t>
            </a:r>
            <a:r>
              <a:rPr lang="en-US" altLang="zh-CN" sz="4000"/>
              <a:t>*</a:t>
            </a:r>
            <a:r>
              <a:rPr lang="zh-CN" altLang="zh-CN" sz="4000"/>
              <a:t>和</a:t>
            </a:r>
            <a:r>
              <a:rPr lang="en-US" altLang="zh-CN" sz="4000"/>
              <a:t>\</a:t>
            </a:r>
            <a:r>
              <a:rPr lang="zh-CN" altLang="zh-CN" sz="4000"/>
              <a:t>的文件</a:t>
            </a:r>
          </a:p>
          <a:p>
            <a:pPr>
              <a:spcBef>
                <a:spcPct val="0"/>
              </a:spcBef>
              <a:spcAft>
                <a:spcPct val="0"/>
              </a:spcAft>
            </a:pPr>
            <a:r>
              <a:rPr lang="en-US" altLang="zh-CN" sz="4000"/>
              <a:t>$ unlink /tmp/x	#</a:t>
            </a:r>
            <a:r>
              <a:rPr lang="zh-CN" altLang="zh-CN" sz="4000"/>
              <a:t>删除</a:t>
            </a:r>
            <a:r>
              <a:rPr lang="en-US" altLang="zh-CN" sz="4000"/>
              <a:t>/tmp/x</a:t>
            </a:r>
            <a:endParaRPr lang="zh-CN" altLang="en-US" sz="40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标题 1">
            <a:extLst>
              <a:ext uri="{FF2B5EF4-FFF2-40B4-BE49-F238E27FC236}">
                <a16:creationId xmlns:a16="http://schemas.microsoft.com/office/drawing/2014/main" id="{8A1F7B62-3875-9747-A6BB-58B23A53EB89}"/>
              </a:ext>
            </a:extLst>
          </p:cNvPr>
          <p:cNvSpPr>
            <a:spLocks noGrp="1" noChangeArrowheads="1"/>
          </p:cNvSpPr>
          <p:nvPr>
            <p:ph type="title"/>
          </p:nvPr>
        </p:nvSpPr>
        <p:spPr>
          <a:xfrm>
            <a:off x="0" y="44450"/>
            <a:ext cx="9144000" cy="476250"/>
          </a:xfrm>
        </p:spPr>
        <p:txBody>
          <a:bodyPr/>
          <a:lstStyle/>
          <a:p>
            <a:r>
              <a:rPr lang="en-US" altLang="zh-CN"/>
              <a:t>5</a:t>
            </a:r>
            <a:r>
              <a:rPr lang="zh-CN" altLang="zh-CN"/>
              <a:t>．文件移动或更名（</a:t>
            </a:r>
            <a:r>
              <a:rPr lang="en-US" altLang="zh-CN"/>
              <a:t>mv</a:t>
            </a:r>
            <a:r>
              <a:rPr lang="zh-CN" altLang="zh-CN"/>
              <a:t>）</a:t>
            </a:r>
            <a:endParaRPr lang="zh-CN" altLang="en-US"/>
          </a:p>
        </p:txBody>
      </p:sp>
      <p:sp>
        <p:nvSpPr>
          <p:cNvPr id="98307" name="内容占位符 2">
            <a:extLst>
              <a:ext uri="{FF2B5EF4-FFF2-40B4-BE49-F238E27FC236}">
                <a16:creationId xmlns:a16="http://schemas.microsoft.com/office/drawing/2014/main" id="{875373F3-B7F9-EC50-1CCC-93B614C9E376}"/>
              </a:ext>
            </a:extLst>
          </p:cNvPr>
          <p:cNvSpPr>
            <a:spLocks noGrp="1" noChangeArrowheads="1"/>
          </p:cNvSpPr>
          <p:nvPr>
            <p:ph idx="1"/>
          </p:nvPr>
        </p:nvSpPr>
        <p:spPr>
          <a:xfrm>
            <a:off x="0" y="620713"/>
            <a:ext cx="9144000" cy="5761037"/>
          </a:xfrm>
        </p:spPr>
        <p:txBody>
          <a:bodyPr/>
          <a:lstStyle/>
          <a:p>
            <a:pPr>
              <a:spcBef>
                <a:spcPct val="0"/>
              </a:spcBef>
              <a:spcAft>
                <a:spcPct val="0"/>
              </a:spcAft>
            </a:pPr>
            <a:r>
              <a:rPr lang="en-US" altLang="zh-CN" sz="3200"/>
              <a:t>1</a:t>
            </a:r>
            <a:r>
              <a:rPr lang="zh-CN" altLang="zh-CN" sz="3200"/>
              <a:t>）功能及用法</a:t>
            </a:r>
          </a:p>
          <a:p>
            <a:pPr>
              <a:spcBef>
                <a:spcPct val="0"/>
              </a:spcBef>
              <a:spcAft>
                <a:spcPct val="0"/>
              </a:spcAft>
            </a:pPr>
            <a:r>
              <a:rPr lang="en-US" altLang="zh-CN" sz="3200"/>
              <a:t>mv</a:t>
            </a:r>
            <a:r>
              <a:rPr lang="zh-CN" altLang="zh-CN" sz="3200"/>
              <a:t>的功能是文件</a:t>
            </a:r>
            <a:r>
              <a:rPr lang="zh-CN" altLang="zh-CN" sz="4400">
                <a:solidFill>
                  <a:srgbClr val="FF0000"/>
                </a:solidFill>
              </a:rPr>
              <a:t>位置移动或更名</a:t>
            </a:r>
            <a:r>
              <a:rPr lang="zh-CN" altLang="zh-CN" sz="3200"/>
              <a:t>。用法</a:t>
            </a:r>
            <a:r>
              <a:rPr lang="en-US" altLang="zh-CN" sz="3200"/>
              <a:t> </a:t>
            </a:r>
            <a:endParaRPr lang="zh-CN" altLang="zh-CN" sz="3200"/>
          </a:p>
          <a:p>
            <a:pPr>
              <a:spcBef>
                <a:spcPct val="0"/>
              </a:spcBef>
              <a:spcAft>
                <a:spcPct val="0"/>
              </a:spcAft>
            </a:pPr>
            <a:r>
              <a:rPr lang="en-US" altLang="zh-CN" sz="3600"/>
              <a:t>mv [options] source  dest</a:t>
            </a:r>
            <a:endParaRPr lang="zh-CN" altLang="zh-CN" sz="3600"/>
          </a:p>
          <a:p>
            <a:pPr>
              <a:spcBef>
                <a:spcPct val="0"/>
              </a:spcBef>
              <a:spcAft>
                <a:spcPct val="0"/>
              </a:spcAft>
            </a:pPr>
            <a:r>
              <a:rPr lang="en-US" altLang="zh-CN" sz="3600"/>
              <a:t>mv [options] source ... directory</a:t>
            </a:r>
            <a:endParaRPr lang="zh-CN" altLang="zh-CN" sz="3600"/>
          </a:p>
          <a:p>
            <a:pPr>
              <a:spcBef>
                <a:spcPct val="0"/>
              </a:spcBef>
              <a:spcAft>
                <a:spcPct val="0"/>
              </a:spcAft>
            </a:pPr>
            <a:r>
              <a:rPr lang="en-US" altLang="zh-CN" sz="3200"/>
              <a:t> </a:t>
            </a:r>
            <a:r>
              <a:rPr lang="zh-CN" altLang="en-US" sz="3200">
                <a:solidFill>
                  <a:srgbClr val="FF0000"/>
                </a:solidFill>
              </a:rPr>
              <a:t>前者</a:t>
            </a:r>
            <a:r>
              <a:rPr lang="zh-CN" altLang="zh-CN" sz="3200"/>
              <a:t>是</a:t>
            </a:r>
            <a:r>
              <a:rPr lang="zh-CN" altLang="zh-CN" sz="3200">
                <a:solidFill>
                  <a:srgbClr val="FF0000"/>
                </a:solidFill>
              </a:rPr>
              <a:t>将源文件移动</a:t>
            </a:r>
            <a:r>
              <a:rPr lang="zh-CN" altLang="zh-CN" sz="3200"/>
              <a:t>到目的文件，可用于文件移动或更名；</a:t>
            </a:r>
            <a:r>
              <a:rPr lang="zh-CN" altLang="en-US" sz="3200">
                <a:solidFill>
                  <a:srgbClr val="FF0000"/>
                </a:solidFill>
              </a:rPr>
              <a:t>后者</a:t>
            </a:r>
            <a:r>
              <a:rPr lang="zh-CN" altLang="zh-CN" sz="3200"/>
              <a:t>是将一批文件移动到某个目录</a:t>
            </a:r>
            <a:r>
              <a:rPr lang="en-US" altLang="zh-CN" sz="3200"/>
              <a:t>directory</a:t>
            </a:r>
            <a:r>
              <a:rPr lang="zh-CN" altLang="zh-CN" sz="3200"/>
              <a:t>。</a:t>
            </a:r>
            <a:r>
              <a:rPr lang="en-US" altLang="zh-CN" sz="3200"/>
              <a:t>mv</a:t>
            </a:r>
            <a:r>
              <a:rPr lang="zh-CN" altLang="zh-CN" sz="3200"/>
              <a:t>命令是</a:t>
            </a:r>
            <a:r>
              <a:rPr lang="zh-CN" altLang="zh-CN" sz="3200">
                <a:solidFill>
                  <a:srgbClr val="FF0000"/>
                </a:solidFill>
              </a:rPr>
              <a:t>有副作用</a:t>
            </a:r>
            <a:r>
              <a:rPr lang="zh-CN" altLang="zh-CN" sz="3200"/>
              <a:t>的，但可使用备份方式避免。</a:t>
            </a:r>
          </a:p>
          <a:p>
            <a:pPr>
              <a:spcBef>
                <a:spcPct val="0"/>
              </a:spcBef>
              <a:spcAft>
                <a:spcPct val="0"/>
              </a:spcAft>
            </a:pPr>
            <a:r>
              <a:rPr lang="en-US" altLang="zh-CN" sz="3200"/>
              <a:t>mv</a:t>
            </a:r>
            <a:r>
              <a:rPr lang="zh-CN" altLang="zh-CN" sz="3200"/>
              <a:t>至少需要</a:t>
            </a:r>
            <a:r>
              <a:rPr lang="zh-CN" altLang="zh-CN" sz="3200">
                <a:solidFill>
                  <a:srgbClr val="FF0000"/>
                </a:solidFill>
              </a:rPr>
              <a:t>两个参数</a:t>
            </a:r>
            <a:r>
              <a:rPr lang="zh-CN" altLang="zh-CN" sz="3200"/>
              <a:t>，一个用于源文件，另一个是目标文件或位置，若目标为当前目录可用“</a:t>
            </a:r>
            <a:r>
              <a:rPr lang="en-US" altLang="zh-CN" sz="3200"/>
              <a:t>.</a:t>
            </a:r>
            <a:r>
              <a:rPr lang="zh-CN" altLang="zh-CN" sz="3200"/>
              <a:t>”表示，但不能省略。</a:t>
            </a:r>
            <a:endParaRPr lang="zh-CN" altLang="en-US" sz="320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标题 1">
            <a:extLst>
              <a:ext uri="{FF2B5EF4-FFF2-40B4-BE49-F238E27FC236}">
                <a16:creationId xmlns:a16="http://schemas.microsoft.com/office/drawing/2014/main" id="{59751205-008C-393B-4BB0-2D70567F7335}"/>
              </a:ext>
            </a:extLst>
          </p:cNvPr>
          <p:cNvSpPr>
            <a:spLocks noGrp="1" noChangeArrowheads="1"/>
          </p:cNvSpPr>
          <p:nvPr>
            <p:ph type="title"/>
          </p:nvPr>
        </p:nvSpPr>
        <p:spPr/>
        <p:txBody>
          <a:bodyPr/>
          <a:lstStyle/>
          <a:p>
            <a:r>
              <a:rPr lang="en-US" altLang="zh-CN"/>
              <a:t>2</a:t>
            </a:r>
            <a:r>
              <a:rPr lang="zh-CN" altLang="zh-CN"/>
              <a:t>）示例</a:t>
            </a:r>
            <a:endParaRPr lang="zh-CN" altLang="en-US"/>
          </a:p>
        </p:txBody>
      </p:sp>
      <p:sp>
        <p:nvSpPr>
          <p:cNvPr id="99331" name="内容占位符 2">
            <a:extLst>
              <a:ext uri="{FF2B5EF4-FFF2-40B4-BE49-F238E27FC236}">
                <a16:creationId xmlns:a16="http://schemas.microsoft.com/office/drawing/2014/main" id="{859C7A0B-E0B4-FAC0-5D7F-7939066CF829}"/>
              </a:ext>
            </a:extLst>
          </p:cNvPr>
          <p:cNvSpPr>
            <a:spLocks noGrp="1" noChangeArrowheads="1"/>
          </p:cNvSpPr>
          <p:nvPr>
            <p:ph idx="1"/>
          </p:nvPr>
        </p:nvSpPr>
        <p:spPr>
          <a:xfrm>
            <a:off x="179388" y="620713"/>
            <a:ext cx="9001125" cy="5761037"/>
          </a:xfrm>
        </p:spPr>
        <p:txBody>
          <a:bodyPr/>
          <a:lstStyle/>
          <a:p>
            <a:pPr>
              <a:spcBef>
                <a:spcPct val="0"/>
              </a:spcBef>
              <a:spcAft>
                <a:spcPct val="0"/>
              </a:spcAft>
            </a:pPr>
            <a:r>
              <a:rPr lang="en-US" altLang="zh-CN" sz="4400"/>
              <a:t> #</a:t>
            </a:r>
            <a:r>
              <a:rPr lang="en-US" altLang="zh-CN" sz="4400">
                <a:solidFill>
                  <a:srgbClr val="FF0000"/>
                </a:solidFill>
              </a:rPr>
              <a:t>mv file1 file2</a:t>
            </a:r>
            <a:r>
              <a:rPr lang="en-US" altLang="zh-CN" sz="4400"/>
              <a:t>		#</a:t>
            </a:r>
            <a:r>
              <a:rPr lang="zh-CN" altLang="zh-CN" sz="4400"/>
              <a:t>若</a:t>
            </a:r>
            <a:r>
              <a:rPr lang="en-US" altLang="zh-CN" sz="4400"/>
              <a:t>file2</a:t>
            </a:r>
            <a:r>
              <a:rPr lang="zh-CN" altLang="zh-CN" sz="4400"/>
              <a:t>存在，则在不使用备份时将被覆盖</a:t>
            </a:r>
          </a:p>
          <a:p>
            <a:pPr>
              <a:spcBef>
                <a:spcPct val="0"/>
              </a:spcBef>
              <a:spcAft>
                <a:spcPct val="0"/>
              </a:spcAft>
            </a:pPr>
            <a:r>
              <a:rPr lang="en-US" altLang="zh-CN" sz="4400"/>
              <a:t>#</a:t>
            </a:r>
            <a:r>
              <a:rPr lang="en-US" altLang="zh-CN" sz="4400">
                <a:solidFill>
                  <a:srgbClr val="FF0000"/>
                </a:solidFill>
              </a:rPr>
              <a:t>mv myfile /tmp/tmpf</a:t>
            </a:r>
            <a:r>
              <a:rPr lang="en-US" altLang="zh-CN" sz="4400"/>
              <a:t>	#</a:t>
            </a:r>
            <a:r>
              <a:rPr lang="zh-CN" altLang="zh-CN" sz="4400"/>
              <a:t>将文件</a:t>
            </a:r>
            <a:r>
              <a:rPr lang="en-US" altLang="zh-CN" sz="4400"/>
              <a:t>myfile</a:t>
            </a:r>
            <a:r>
              <a:rPr lang="zh-CN" altLang="zh-CN" sz="4400"/>
              <a:t>移动至</a:t>
            </a:r>
            <a:r>
              <a:rPr lang="en-US" altLang="zh-CN" sz="4400"/>
              <a:t>/tmp/tmpf</a:t>
            </a:r>
            <a:r>
              <a:rPr lang="zh-CN" altLang="zh-CN" sz="4400"/>
              <a:t>下或更名为</a:t>
            </a:r>
            <a:r>
              <a:rPr lang="en-US" altLang="zh-CN" sz="4400"/>
              <a:t>/tmp/tmpf</a:t>
            </a:r>
            <a:endParaRPr lang="zh-CN" altLang="zh-CN" sz="4400"/>
          </a:p>
          <a:p>
            <a:pPr>
              <a:spcBef>
                <a:spcPct val="0"/>
              </a:spcBef>
              <a:spcAft>
                <a:spcPct val="0"/>
              </a:spcAft>
            </a:pPr>
            <a:r>
              <a:rPr lang="en-US" altLang="zh-CN" sz="4400"/>
              <a:t>#</a:t>
            </a:r>
            <a:r>
              <a:rPr lang="en-US" altLang="zh-CN" sz="4400">
                <a:solidFill>
                  <a:srgbClr val="FF0000"/>
                </a:solidFill>
              </a:rPr>
              <a:t>mv file1 file2 mydir</a:t>
            </a:r>
            <a:r>
              <a:rPr lang="en-US" altLang="zh-CN" sz="4400"/>
              <a:t>	#</a:t>
            </a:r>
            <a:r>
              <a:rPr lang="zh-CN" altLang="zh-CN" sz="4400"/>
              <a:t>将文件</a:t>
            </a:r>
            <a:r>
              <a:rPr lang="en-US" altLang="zh-CN" sz="4400"/>
              <a:t>fiel1</a:t>
            </a:r>
            <a:r>
              <a:rPr lang="zh-CN" altLang="zh-CN" sz="4400"/>
              <a:t>，</a:t>
            </a:r>
            <a:r>
              <a:rPr lang="en-US" altLang="zh-CN" sz="4400"/>
              <a:t>file2</a:t>
            </a:r>
            <a:r>
              <a:rPr lang="zh-CN" altLang="zh-CN" sz="4400"/>
              <a:t>移动到目录</a:t>
            </a:r>
            <a:r>
              <a:rPr lang="en-US" altLang="zh-CN" sz="4400"/>
              <a:t>mydir</a:t>
            </a:r>
            <a:r>
              <a:rPr lang="zh-CN" altLang="zh-CN" sz="4400"/>
              <a:t>下</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0354" name="标题 1">
            <a:extLst>
              <a:ext uri="{FF2B5EF4-FFF2-40B4-BE49-F238E27FC236}">
                <a16:creationId xmlns:a16="http://schemas.microsoft.com/office/drawing/2014/main" id="{8EF5ADA1-C0B0-FAF8-5CDF-6A41A394BA4D}"/>
              </a:ext>
            </a:extLst>
          </p:cNvPr>
          <p:cNvSpPr>
            <a:spLocks noGrp="1" noChangeArrowheads="1"/>
          </p:cNvSpPr>
          <p:nvPr>
            <p:ph type="title"/>
          </p:nvPr>
        </p:nvSpPr>
        <p:spPr/>
        <p:txBody>
          <a:bodyPr/>
          <a:lstStyle/>
          <a:p>
            <a:r>
              <a:rPr lang="en-US" altLang="zh-CN"/>
              <a:t>6</a:t>
            </a:r>
            <a:r>
              <a:rPr lang="zh-CN" altLang="zh-CN"/>
              <a:t>．文件和目录复制（</a:t>
            </a:r>
            <a:r>
              <a:rPr lang="en-US" altLang="zh-CN"/>
              <a:t>cp</a:t>
            </a:r>
            <a:r>
              <a:rPr lang="zh-CN" altLang="zh-CN"/>
              <a:t>）</a:t>
            </a:r>
            <a:endParaRPr lang="zh-CN" altLang="en-US"/>
          </a:p>
        </p:txBody>
      </p:sp>
      <p:sp>
        <p:nvSpPr>
          <p:cNvPr id="100355" name="内容占位符 2">
            <a:extLst>
              <a:ext uri="{FF2B5EF4-FFF2-40B4-BE49-F238E27FC236}">
                <a16:creationId xmlns:a16="http://schemas.microsoft.com/office/drawing/2014/main" id="{7F79531C-50C8-9081-FAD2-F4E498383780}"/>
              </a:ext>
            </a:extLst>
          </p:cNvPr>
          <p:cNvSpPr>
            <a:spLocks noGrp="1" noChangeArrowheads="1"/>
          </p:cNvSpPr>
          <p:nvPr>
            <p:ph idx="1"/>
          </p:nvPr>
        </p:nvSpPr>
        <p:spPr>
          <a:xfrm>
            <a:off x="-3175" y="404813"/>
            <a:ext cx="9107488" cy="5761037"/>
          </a:xfrm>
        </p:spPr>
        <p:txBody>
          <a:bodyPr/>
          <a:lstStyle/>
          <a:p>
            <a:pPr marL="0" indent="0">
              <a:spcBef>
                <a:spcPct val="0"/>
              </a:spcBef>
              <a:spcAft>
                <a:spcPct val="0"/>
              </a:spcAft>
              <a:buFont typeface="Arial" panose="020B0604020202020204" pitchFamily="34" charset="0"/>
              <a:buNone/>
            </a:pPr>
            <a:r>
              <a:rPr lang="en-US" altLang="zh-CN" sz="3200"/>
              <a:t>1</a:t>
            </a:r>
            <a:r>
              <a:rPr lang="zh-CN" altLang="zh-CN" sz="3200"/>
              <a:t>）功能及用法</a:t>
            </a:r>
          </a:p>
          <a:p>
            <a:pPr marL="0" indent="0">
              <a:spcBef>
                <a:spcPct val="0"/>
              </a:spcBef>
              <a:spcAft>
                <a:spcPct val="0"/>
              </a:spcAft>
              <a:buFont typeface="Arial" panose="020B0604020202020204" pitchFamily="34" charset="0"/>
              <a:buNone/>
            </a:pPr>
            <a:r>
              <a:rPr lang="en-US" altLang="zh-CN" sz="3200"/>
              <a:t>cp</a:t>
            </a:r>
            <a:r>
              <a:rPr lang="zh-CN" altLang="zh-CN" sz="3200"/>
              <a:t>（</a:t>
            </a:r>
            <a:r>
              <a:rPr lang="en-US" altLang="zh-CN" sz="3200"/>
              <a:t>copy</a:t>
            </a:r>
            <a:r>
              <a:rPr lang="zh-CN" altLang="zh-CN" sz="3200"/>
              <a:t>）的功能是</a:t>
            </a:r>
            <a:r>
              <a:rPr lang="zh-CN" altLang="zh-CN" sz="3200">
                <a:solidFill>
                  <a:srgbClr val="FF0000"/>
                </a:solidFill>
              </a:rPr>
              <a:t>复制文件或目录</a:t>
            </a:r>
            <a:r>
              <a:rPr lang="zh-CN" altLang="zh-CN" sz="3200"/>
              <a:t>。</a:t>
            </a:r>
            <a:r>
              <a:rPr lang="zh-CN" altLang="zh-CN" sz="3200">
                <a:solidFill>
                  <a:srgbClr val="FF0000"/>
                </a:solidFill>
              </a:rPr>
              <a:t>不能复制</a:t>
            </a:r>
            <a:r>
              <a:rPr lang="zh-CN" altLang="zh-CN" sz="3200"/>
              <a:t>设备文件，但却</a:t>
            </a:r>
            <a:r>
              <a:rPr lang="zh-CN" altLang="zh-CN" sz="3200">
                <a:solidFill>
                  <a:srgbClr val="FF0000"/>
                </a:solidFill>
              </a:rPr>
              <a:t>可复制设备文件的内容</a:t>
            </a:r>
            <a:r>
              <a:rPr lang="zh-CN" altLang="zh-CN" sz="3200"/>
              <a:t>以构造映像。其用法为：</a:t>
            </a:r>
          </a:p>
          <a:p>
            <a:pPr marL="0" indent="0">
              <a:spcBef>
                <a:spcPct val="0"/>
              </a:spcBef>
              <a:spcAft>
                <a:spcPct val="0"/>
              </a:spcAft>
              <a:buFont typeface="Arial" panose="020B0604020202020204" pitchFamily="34" charset="0"/>
              <a:buNone/>
            </a:pPr>
            <a:r>
              <a:rPr lang="en-US" altLang="zh-CN" sz="3200"/>
              <a:t> cp [options] source  dest</a:t>
            </a:r>
            <a:endParaRPr lang="zh-CN" altLang="zh-CN" sz="3200"/>
          </a:p>
          <a:p>
            <a:pPr marL="0" indent="0">
              <a:spcBef>
                <a:spcPct val="0"/>
              </a:spcBef>
              <a:spcAft>
                <a:spcPct val="0"/>
              </a:spcAft>
              <a:buFont typeface="Arial" panose="020B0604020202020204" pitchFamily="34" charset="0"/>
              <a:buNone/>
            </a:pPr>
            <a:r>
              <a:rPr lang="en-US" altLang="zh-CN" sz="3200"/>
              <a:t> cp [options] source ... directory</a:t>
            </a:r>
            <a:endParaRPr lang="zh-CN" altLang="zh-CN" sz="3200"/>
          </a:p>
          <a:p>
            <a:pPr marL="0" indent="0">
              <a:spcBef>
                <a:spcPct val="0"/>
              </a:spcBef>
              <a:spcAft>
                <a:spcPct val="0"/>
              </a:spcAft>
              <a:buFont typeface="Arial" panose="020B0604020202020204" pitchFamily="34" charset="0"/>
              <a:buNone/>
            </a:pPr>
            <a:r>
              <a:rPr lang="zh-CN" altLang="zh-CN" sz="3200">
                <a:solidFill>
                  <a:srgbClr val="FF0000"/>
                </a:solidFill>
              </a:rPr>
              <a:t>第一种</a:t>
            </a:r>
            <a:r>
              <a:rPr lang="zh-CN" altLang="zh-CN" sz="3200"/>
              <a:t>用法是将源文件复制到目标文件，</a:t>
            </a:r>
            <a:r>
              <a:rPr lang="zh-CN" altLang="zh-CN" sz="3200">
                <a:solidFill>
                  <a:srgbClr val="FF0000"/>
                </a:solidFill>
              </a:rPr>
              <a:t>第二种</a:t>
            </a:r>
            <a:r>
              <a:rPr lang="zh-CN" altLang="zh-CN" sz="3200"/>
              <a:t>用法是将一批文件复制到某个目录</a:t>
            </a:r>
            <a:r>
              <a:rPr lang="en-US" altLang="zh-CN" sz="3200"/>
              <a:t>directory</a:t>
            </a:r>
            <a:r>
              <a:rPr lang="zh-CN" altLang="zh-CN" sz="3200"/>
              <a:t>。</a:t>
            </a:r>
            <a:r>
              <a:rPr lang="en-US" altLang="zh-CN" sz="3200"/>
              <a:t>cp</a:t>
            </a:r>
            <a:r>
              <a:rPr lang="zh-CN" altLang="zh-CN" sz="3200"/>
              <a:t>命令也是有副作用的。</a:t>
            </a:r>
          </a:p>
          <a:p>
            <a:pPr marL="0" indent="0">
              <a:spcBef>
                <a:spcPct val="0"/>
              </a:spcBef>
              <a:spcAft>
                <a:spcPct val="0"/>
              </a:spcAft>
              <a:buFont typeface="Arial" panose="020B0604020202020204" pitchFamily="34" charset="0"/>
              <a:buNone/>
            </a:pPr>
            <a:r>
              <a:rPr lang="en-US" altLang="zh-CN" sz="3200">
                <a:solidFill>
                  <a:srgbClr val="FF0000"/>
                </a:solidFill>
              </a:rPr>
              <a:t>cp</a:t>
            </a:r>
            <a:r>
              <a:rPr lang="zh-CN" altLang="zh-CN" sz="3200">
                <a:solidFill>
                  <a:srgbClr val="FF0000"/>
                </a:solidFill>
              </a:rPr>
              <a:t>至少需要两个参数</a:t>
            </a:r>
            <a:r>
              <a:rPr lang="zh-CN" altLang="zh-CN" sz="3200"/>
              <a:t>，一个用于源文件，另一个是目标文件或位置，若目标为当前目录可用“</a:t>
            </a:r>
            <a:r>
              <a:rPr lang="en-US" altLang="zh-CN" sz="3200"/>
              <a:t>.</a:t>
            </a:r>
            <a:r>
              <a:rPr lang="zh-CN" altLang="zh-CN" sz="3200"/>
              <a:t>”表示，但不能省略。</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1378" name="标题 1">
            <a:extLst>
              <a:ext uri="{FF2B5EF4-FFF2-40B4-BE49-F238E27FC236}">
                <a16:creationId xmlns:a16="http://schemas.microsoft.com/office/drawing/2014/main" id="{B120CE10-7C5C-9992-0D67-633A3A0D07A9}"/>
              </a:ext>
            </a:extLst>
          </p:cNvPr>
          <p:cNvSpPr>
            <a:spLocks noGrp="1" noChangeArrowheads="1"/>
          </p:cNvSpPr>
          <p:nvPr>
            <p:ph type="title"/>
          </p:nvPr>
        </p:nvSpPr>
        <p:spPr/>
        <p:txBody>
          <a:bodyPr/>
          <a:lstStyle/>
          <a:p>
            <a:r>
              <a:rPr lang="en-US" altLang="zh-CN"/>
              <a:t>2</a:t>
            </a:r>
            <a:r>
              <a:rPr lang="zh-CN" altLang="en-US"/>
              <a:t>）</a:t>
            </a:r>
            <a:r>
              <a:rPr lang="en-US" altLang="zh-CN"/>
              <a:t>cp</a:t>
            </a:r>
            <a:r>
              <a:rPr lang="zh-CN" altLang="zh-CN"/>
              <a:t>命令的部分选项</a:t>
            </a:r>
            <a:endParaRPr lang="zh-CN" altLang="en-US"/>
          </a:p>
        </p:txBody>
      </p:sp>
      <p:graphicFrame>
        <p:nvGraphicFramePr>
          <p:cNvPr id="4" name="内容占位符 3">
            <a:extLst>
              <a:ext uri="{FF2B5EF4-FFF2-40B4-BE49-F238E27FC236}">
                <a16:creationId xmlns:a16="http://schemas.microsoft.com/office/drawing/2014/main" id="{5127593B-EDED-986A-F84D-8521270EB28E}"/>
              </a:ext>
            </a:extLst>
          </p:cNvPr>
          <p:cNvGraphicFramePr>
            <a:graphicFrameLocks noGrp="1"/>
          </p:cNvGraphicFramePr>
          <p:nvPr>
            <p:ph idx="1"/>
          </p:nvPr>
        </p:nvGraphicFramePr>
        <p:xfrm>
          <a:off x="107950" y="620713"/>
          <a:ext cx="9001125" cy="5761037"/>
        </p:xfrm>
        <a:graphic>
          <a:graphicData uri="http://schemas.openxmlformats.org/drawingml/2006/table">
            <a:tbl>
              <a:tblPr firstRow="1" firstCol="1" bandRow="1"/>
              <a:tblGrid>
                <a:gridCol w="1747791">
                  <a:extLst>
                    <a:ext uri="{9D8B030D-6E8A-4147-A177-3AD203B41FA5}">
                      <a16:colId xmlns:a16="http://schemas.microsoft.com/office/drawing/2014/main" val="20000"/>
                    </a:ext>
                  </a:extLst>
                </a:gridCol>
                <a:gridCol w="7253334">
                  <a:extLst>
                    <a:ext uri="{9D8B030D-6E8A-4147-A177-3AD203B41FA5}">
                      <a16:colId xmlns:a16="http://schemas.microsoft.com/office/drawing/2014/main" val="20001"/>
                    </a:ext>
                  </a:extLst>
                </a:gridCol>
              </a:tblGrid>
              <a:tr h="759055">
                <a:tc>
                  <a:txBody>
                    <a:bodyPr/>
                    <a:lstStyle/>
                    <a:p>
                      <a:pPr indent="0" algn="ctr">
                        <a:lnSpc>
                          <a:spcPct val="100000"/>
                        </a:lnSpc>
                        <a:spcAft>
                          <a:spcPts val="0"/>
                        </a:spcAft>
                      </a:pPr>
                      <a:r>
                        <a:rPr lang="zh-CN" sz="3200" b="1" kern="100" dirty="0">
                          <a:effectLst/>
                          <a:latin typeface="Times New Roman" panose="02020603050405020304"/>
                          <a:ea typeface="宋体" panose="02010600030101010101" pitchFamily="2" charset="-122"/>
                        </a:rPr>
                        <a:t>选项</a:t>
                      </a: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00000"/>
                        </a:lnSpc>
                        <a:spcAft>
                          <a:spcPts val="0"/>
                        </a:spcAft>
                      </a:pPr>
                      <a:r>
                        <a:rPr lang="zh-CN" sz="3200" b="1" kern="100">
                          <a:effectLst/>
                          <a:latin typeface="Times New Roman" panose="02020603050405020304"/>
                          <a:ea typeface="宋体" panose="02010600030101010101" pitchFamily="2" charset="-122"/>
                        </a:rPr>
                        <a:t>功 能 描 述</a:t>
                      </a: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362408">
                <a:tc>
                  <a:txBody>
                    <a:bodyPr/>
                    <a:lstStyle/>
                    <a:p>
                      <a:pPr indent="0" algn="ctr">
                        <a:lnSpc>
                          <a:spcPct val="100000"/>
                        </a:lnSpc>
                        <a:spcAft>
                          <a:spcPts val="0"/>
                        </a:spcAft>
                      </a:pPr>
                      <a:r>
                        <a:rPr lang="en-US" sz="4400" b="1" kern="100" dirty="0">
                          <a:solidFill>
                            <a:srgbClr val="FF0000"/>
                          </a:solidFill>
                          <a:effectLst/>
                          <a:latin typeface="Times New Roman" panose="02020603050405020304"/>
                          <a:ea typeface="宋体" panose="02010600030101010101" pitchFamily="2" charset="-122"/>
                        </a:rPr>
                        <a:t>-d</a:t>
                      </a:r>
                      <a:endParaRPr lang="zh-CN" sz="4400" b="1" kern="100" dirty="0">
                        <a:solidFill>
                          <a:srgbClr val="FF0000"/>
                        </a:solidFill>
                        <a:effectLst/>
                        <a:latin typeface="Times New Roman" panose="02020603050405020304"/>
                        <a:ea typeface="宋体" panose="02010600030101010101" pitchFamily="2" charset="-122"/>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200" b="1" kern="100" dirty="0">
                          <a:effectLst/>
                          <a:latin typeface="Times New Roman" panose="02020603050405020304"/>
                          <a:ea typeface="宋体" panose="02010600030101010101" pitchFamily="2" charset="-122"/>
                        </a:rPr>
                        <a:t>复制时</a:t>
                      </a:r>
                      <a:r>
                        <a:rPr lang="zh-CN" sz="3200" b="1" kern="100" dirty="0">
                          <a:solidFill>
                            <a:srgbClr val="FF0000"/>
                          </a:solidFill>
                          <a:effectLst/>
                          <a:latin typeface="Times New Roman" panose="02020603050405020304"/>
                          <a:ea typeface="宋体" panose="02010600030101010101" pitchFamily="2" charset="-122"/>
                        </a:rPr>
                        <a:t>复制符号链接</a:t>
                      </a:r>
                      <a:r>
                        <a:rPr lang="zh-CN" sz="3200" b="1" kern="100" dirty="0">
                          <a:effectLst/>
                          <a:latin typeface="Times New Roman" panose="02020603050405020304"/>
                          <a:ea typeface="宋体" panose="02010600030101010101" pitchFamily="2" charset="-122"/>
                        </a:rPr>
                        <a:t>，若</a:t>
                      </a:r>
                      <a:r>
                        <a:rPr lang="zh-CN" sz="3200" b="1" kern="100" dirty="0">
                          <a:solidFill>
                            <a:srgbClr val="FF0000"/>
                          </a:solidFill>
                          <a:effectLst/>
                          <a:latin typeface="Times New Roman" panose="02020603050405020304"/>
                          <a:ea typeface="宋体" panose="02010600030101010101" pitchFamily="2" charset="-122"/>
                        </a:rPr>
                        <a:t>不指定</a:t>
                      </a:r>
                      <a:r>
                        <a:rPr lang="zh-CN" sz="3200" b="1" kern="100" dirty="0">
                          <a:effectLst/>
                          <a:latin typeface="Times New Roman" panose="02020603050405020304"/>
                          <a:ea typeface="宋体" panose="02010600030101010101" pitchFamily="2" charset="-122"/>
                        </a:rPr>
                        <a:t>则复制符号链接指向的文件</a:t>
                      </a: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59055">
                <a:tc>
                  <a:txBody>
                    <a:bodyPr/>
                    <a:lstStyle/>
                    <a:p>
                      <a:pPr marL="0" indent="0" algn="ctr" defTabSz="914400" rtl="0" eaLnBrk="1" latinLnBrk="0" hangingPunct="1">
                        <a:lnSpc>
                          <a:spcPct val="100000"/>
                        </a:lnSpc>
                        <a:spcAft>
                          <a:spcPts val="0"/>
                        </a:spcAft>
                      </a:pPr>
                      <a:r>
                        <a:rPr lang="en-US" sz="4400" b="1" kern="100" dirty="0">
                          <a:solidFill>
                            <a:srgbClr val="FF0000"/>
                          </a:solidFill>
                          <a:effectLst/>
                          <a:latin typeface="Times New Roman" panose="02020603050405020304"/>
                          <a:ea typeface="宋体" panose="02010600030101010101" pitchFamily="2" charset="-122"/>
                          <a:cs typeface="+mn-cs"/>
                        </a:rPr>
                        <a:t>-p</a:t>
                      </a:r>
                      <a:endParaRPr lang="zh-CN" sz="4400" b="1" kern="100" dirty="0">
                        <a:solidFill>
                          <a:srgbClr val="FF0000"/>
                        </a:solidFill>
                        <a:effectLst/>
                        <a:latin typeface="Times New Roman" panose="02020603050405020304"/>
                        <a:ea typeface="宋体" panose="02010600030101010101" pitchFamily="2" charset="-122"/>
                        <a:cs typeface="+mn-cs"/>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200" b="1" kern="100" dirty="0">
                          <a:effectLst/>
                          <a:latin typeface="Times New Roman" panose="02020603050405020304"/>
                          <a:ea typeface="宋体" panose="02010600030101010101" pitchFamily="2" charset="-122"/>
                        </a:rPr>
                        <a:t>复制源文件时，</a:t>
                      </a:r>
                      <a:r>
                        <a:rPr lang="zh-CN" sz="3200" b="1" kern="100" dirty="0">
                          <a:solidFill>
                            <a:srgbClr val="FF0000"/>
                          </a:solidFill>
                          <a:effectLst/>
                          <a:latin typeface="Times New Roman" panose="02020603050405020304"/>
                          <a:ea typeface="宋体" panose="02010600030101010101" pitchFamily="2" charset="-122"/>
                        </a:rPr>
                        <a:t>保留源文件的属性</a:t>
                      </a:r>
                      <a:r>
                        <a:rPr lang="zh-CN" sz="3200" b="1" kern="100" dirty="0">
                          <a:effectLst/>
                          <a:latin typeface="Times New Roman" panose="02020603050405020304"/>
                          <a:ea typeface="宋体" panose="02010600030101010101" pitchFamily="2" charset="-122"/>
                        </a:rPr>
                        <a:t>信息</a:t>
                      </a: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59055">
                <a:tc>
                  <a:txBody>
                    <a:bodyPr/>
                    <a:lstStyle/>
                    <a:p>
                      <a:pPr marL="0" indent="0" algn="ctr" defTabSz="914400" rtl="0" eaLnBrk="1" latinLnBrk="0" hangingPunct="1">
                        <a:lnSpc>
                          <a:spcPct val="100000"/>
                        </a:lnSpc>
                        <a:spcAft>
                          <a:spcPts val="0"/>
                        </a:spcAft>
                      </a:pPr>
                      <a:r>
                        <a:rPr lang="en-US" sz="4400" b="1" kern="100" dirty="0">
                          <a:solidFill>
                            <a:srgbClr val="FF0000"/>
                          </a:solidFill>
                          <a:effectLst/>
                          <a:latin typeface="Times New Roman" panose="02020603050405020304"/>
                          <a:ea typeface="宋体" panose="02010600030101010101" pitchFamily="2" charset="-122"/>
                          <a:cs typeface="+mn-cs"/>
                        </a:rPr>
                        <a:t>-l</a:t>
                      </a:r>
                      <a:endParaRPr lang="zh-CN" sz="4400" b="1" kern="100" dirty="0">
                        <a:solidFill>
                          <a:srgbClr val="FF0000"/>
                        </a:solidFill>
                        <a:effectLst/>
                        <a:latin typeface="Times New Roman" panose="02020603050405020304"/>
                        <a:ea typeface="宋体" panose="02010600030101010101" pitchFamily="2" charset="-122"/>
                        <a:cs typeface="+mn-cs"/>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200" b="1" kern="100" dirty="0">
                          <a:effectLst/>
                          <a:latin typeface="Times New Roman" panose="02020603050405020304"/>
                          <a:ea typeface="宋体" panose="02010600030101010101" pitchFamily="2" charset="-122"/>
                        </a:rPr>
                        <a:t>不作复制，</a:t>
                      </a:r>
                      <a:r>
                        <a:rPr lang="zh-CN" sz="3200" b="1" kern="100" dirty="0">
                          <a:solidFill>
                            <a:srgbClr val="FF0000"/>
                          </a:solidFill>
                          <a:effectLst/>
                          <a:latin typeface="Times New Roman" panose="02020603050405020304"/>
                          <a:ea typeface="宋体" panose="02010600030101010101" pitchFamily="2" charset="-122"/>
                        </a:rPr>
                        <a:t>只创建硬链接</a:t>
                      </a: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59055">
                <a:tc>
                  <a:txBody>
                    <a:bodyPr/>
                    <a:lstStyle/>
                    <a:p>
                      <a:pPr marL="0" indent="0" algn="ctr" defTabSz="914400" rtl="0" eaLnBrk="1" latinLnBrk="0" hangingPunct="1">
                        <a:lnSpc>
                          <a:spcPct val="100000"/>
                        </a:lnSpc>
                        <a:spcAft>
                          <a:spcPts val="0"/>
                        </a:spcAft>
                      </a:pPr>
                      <a:r>
                        <a:rPr lang="en-US" sz="4400" b="1" kern="100" dirty="0">
                          <a:solidFill>
                            <a:srgbClr val="FF0000"/>
                          </a:solidFill>
                          <a:effectLst/>
                          <a:latin typeface="Times New Roman" panose="02020603050405020304"/>
                          <a:ea typeface="宋体" panose="02010600030101010101" pitchFamily="2" charset="-122"/>
                          <a:cs typeface="+mn-cs"/>
                        </a:rPr>
                        <a:t>-s</a:t>
                      </a:r>
                      <a:endParaRPr lang="zh-CN" sz="4400" b="1" kern="100" dirty="0">
                        <a:solidFill>
                          <a:srgbClr val="FF0000"/>
                        </a:solidFill>
                        <a:effectLst/>
                        <a:latin typeface="Times New Roman" panose="02020603050405020304"/>
                        <a:ea typeface="宋体" panose="02010600030101010101" pitchFamily="2" charset="-122"/>
                        <a:cs typeface="+mn-cs"/>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200" b="1" kern="100" dirty="0">
                          <a:effectLst/>
                          <a:latin typeface="Times New Roman" panose="02020603050405020304"/>
                          <a:ea typeface="宋体" panose="02010600030101010101" pitchFamily="2" charset="-122"/>
                        </a:rPr>
                        <a:t>不作复制，</a:t>
                      </a:r>
                      <a:r>
                        <a:rPr lang="zh-CN" sz="3200" b="1" kern="100" dirty="0">
                          <a:solidFill>
                            <a:srgbClr val="FF0000"/>
                          </a:solidFill>
                          <a:effectLst/>
                          <a:latin typeface="Times New Roman" panose="02020603050405020304"/>
                          <a:ea typeface="宋体" panose="02010600030101010101" pitchFamily="2" charset="-122"/>
                        </a:rPr>
                        <a:t>只创建符号链接</a:t>
                      </a: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362408">
                <a:tc>
                  <a:txBody>
                    <a:bodyPr/>
                    <a:lstStyle/>
                    <a:p>
                      <a:pPr marL="0" indent="0" algn="ctr" defTabSz="914400" rtl="0" eaLnBrk="1" latinLnBrk="0" hangingPunct="1">
                        <a:lnSpc>
                          <a:spcPct val="100000"/>
                        </a:lnSpc>
                        <a:spcAft>
                          <a:spcPts val="0"/>
                        </a:spcAft>
                      </a:pPr>
                      <a:r>
                        <a:rPr lang="en-US" sz="4400" b="1" kern="100" dirty="0">
                          <a:solidFill>
                            <a:srgbClr val="FF0000"/>
                          </a:solidFill>
                          <a:effectLst/>
                          <a:latin typeface="Times New Roman" panose="02020603050405020304"/>
                          <a:ea typeface="宋体" panose="02010600030101010101" pitchFamily="2" charset="-122"/>
                          <a:cs typeface="+mn-cs"/>
                        </a:rPr>
                        <a:t>-R/-r</a:t>
                      </a:r>
                      <a:endParaRPr lang="zh-CN" sz="4400" b="1" kern="100" dirty="0">
                        <a:solidFill>
                          <a:srgbClr val="FF0000"/>
                        </a:solidFill>
                        <a:effectLst/>
                        <a:latin typeface="Times New Roman" panose="02020603050405020304"/>
                        <a:ea typeface="宋体" panose="02010600030101010101" pitchFamily="2" charset="-122"/>
                        <a:cs typeface="+mn-cs"/>
                      </a:endParaRP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3200" b="1" kern="100" dirty="0">
                          <a:solidFill>
                            <a:srgbClr val="FF0000"/>
                          </a:solidFill>
                          <a:effectLst/>
                          <a:latin typeface="Times New Roman" panose="02020603050405020304"/>
                          <a:ea typeface="宋体" panose="02010600030101010101" pitchFamily="2" charset="-122"/>
                        </a:rPr>
                        <a:t>递归复制</a:t>
                      </a:r>
                      <a:r>
                        <a:rPr lang="zh-CN" sz="3200" b="1" kern="100" dirty="0">
                          <a:effectLst/>
                          <a:latin typeface="Times New Roman" panose="02020603050405020304"/>
                          <a:ea typeface="宋体" panose="02010600030101010101" pitchFamily="2" charset="-122"/>
                        </a:rPr>
                        <a:t>。复制目录时，一同复制其中的所有文件和子目录</a:t>
                      </a:r>
                    </a:p>
                  </a:txBody>
                  <a:tcPr marL="68581" marR="6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02" name="标题 1">
            <a:extLst>
              <a:ext uri="{FF2B5EF4-FFF2-40B4-BE49-F238E27FC236}">
                <a16:creationId xmlns:a16="http://schemas.microsoft.com/office/drawing/2014/main" id="{4701B0C0-C675-6350-92AD-056F93583C00}"/>
              </a:ext>
            </a:extLst>
          </p:cNvPr>
          <p:cNvSpPr>
            <a:spLocks noGrp="1" noChangeArrowheads="1"/>
          </p:cNvSpPr>
          <p:nvPr>
            <p:ph type="title"/>
          </p:nvPr>
        </p:nvSpPr>
        <p:spPr/>
        <p:txBody>
          <a:bodyPr/>
          <a:lstStyle/>
          <a:p>
            <a:r>
              <a:rPr lang="en-US" altLang="zh-CN"/>
              <a:t>3</a:t>
            </a:r>
            <a:r>
              <a:rPr lang="zh-CN" altLang="zh-CN"/>
              <a:t>）示例</a:t>
            </a:r>
            <a:endParaRPr lang="zh-CN" altLang="en-US"/>
          </a:p>
        </p:txBody>
      </p:sp>
      <p:sp>
        <p:nvSpPr>
          <p:cNvPr id="102403" name="内容占位符 2">
            <a:extLst>
              <a:ext uri="{FF2B5EF4-FFF2-40B4-BE49-F238E27FC236}">
                <a16:creationId xmlns:a16="http://schemas.microsoft.com/office/drawing/2014/main" id="{4F3A481F-88D2-7495-652B-BBEC44CE927D}"/>
              </a:ext>
            </a:extLst>
          </p:cNvPr>
          <p:cNvSpPr>
            <a:spLocks noGrp="1" noChangeArrowheads="1"/>
          </p:cNvSpPr>
          <p:nvPr>
            <p:ph idx="1"/>
          </p:nvPr>
        </p:nvSpPr>
        <p:spPr>
          <a:xfrm>
            <a:off x="0" y="404813"/>
            <a:ext cx="9144000" cy="5761037"/>
          </a:xfrm>
        </p:spPr>
        <p:txBody>
          <a:bodyPr/>
          <a:lstStyle/>
          <a:p>
            <a:pPr>
              <a:spcBef>
                <a:spcPct val="0"/>
              </a:spcBef>
              <a:spcAft>
                <a:spcPct val="0"/>
              </a:spcAft>
            </a:pPr>
            <a:r>
              <a:rPr lang="en-US" altLang="zh-CN"/>
              <a:t>#</a:t>
            </a:r>
            <a:r>
              <a:rPr lang="en-US" altLang="zh-CN" sz="3600">
                <a:solidFill>
                  <a:srgbClr val="FF0000"/>
                </a:solidFill>
              </a:rPr>
              <a:t>cp file1 file2</a:t>
            </a:r>
            <a:r>
              <a:rPr lang="en-US" altLang="zh-CN"/>
              <a:t>	  #</a:t>
            </a:r>
            <a:r>
              <a:rPr lang="zh-CN" altLang="zh-CN"/>
              <a:t>将</a:t>
            </a:r>
            <a:r>
              <a:rPr lang="en-US" altLang="zh-CN"/>
              <a:t>file1</a:t>
            </a:r>
            <a:r>
              <a:rPr lang="zh-CN" altLang="zh-CN"/>
              <a:t>复制到</a:t>
            </a:r>
            <a:r>
              <a:rPr lang="en-US" altLang="zh-CN"/>
              <a:t>file2</a:t>
            </a:r>
            <a:endParaRPr lang="zh-CN" altLang="zh-CN"/>
          </a:p>
          <a:p>
            <a:pPr>
              <a:spcBef>
                <a:spcPct val="0"/>
              </a:spcBef>
              <a:spcAft>
                <a:spcPct val="0"/>
              </a:spcAft>
            </a:pPr>
            <a:r>
              <a:rPr lang="en-US" altLang="zh-CN"/>
              <a:t>#</a:t>
            </a:r>
            <a:r>
              <a:rPr lang="en-US" altLang="zh-CN" sz="3600">
                <a:solidFill>
                  <a:srgbClr val="FF0000"/>
                </a:solidFill>
              </a:rPr>
              <a:t>cp /tmp/myp.c .</a:t>
            </a:r>
            <a:r>
              <a:rPr lang="en-US" altLang="zh-CN"/>
              <a:t>	</a:t>
            </a:r>
            <a:r>
              <a:rPr lang="en-US" altLang="zh-CN" sz="2400"/>
              <a:t>#</a:t>
            </a:r>
            <a:r>
              <a:rPr lang="zh-CN" altLang="zh-CN" sz="2400"/>
              <a:t>将</a:t>
            </a:r>
            <a:r>
              <a:rPr lang="en-US" altLang="zh-CN" sz="2400"/>
              <a:t>/tmp/myp.c</a:t>
            </a:r>
            <a:r>
              <a:rPr lang="zh-CN" altLang="zh-CN" sz="2400"/>
              <a:t>复制到当前目录</a:t>
            </a:r>
          </a:p>
          <a:p>
            <a:pPr>
              <a:spcBef>
                <a:spcPct val="0"/>
              </a:spcBef>
              <a:spcAft>
                <a:spcPct val="0"/>
              </a:spcAft>
            </a:pPr>
            <a:r>
              <a:rPr lang="en-US" altLang="zh-CN"/>
              <a:t>#</a:t>
            </a:r>
            <a:r>
              <a:rPr lang="en-US" altLang="zh-CN" sz="3600">
                <a:solidFill>
                  <a:srgbClr val="FF0000"/>
                </a:solidFill>
              </a:rPr>
              <a:t>cp *.c *.txt /tmp	</a:t>
            </a:r>
            <a:r>
              <a:rPr lang="en-US" altLang="zh-CN" sz="2400"/>
              <a:t>#</a:t>
            </a:r>
            <a:r>
              <a:rPr lang="zh-CN" altLang="zh-CN" sz="2400"/>
              <a:t>将</a:t>
            </a:r>
            <a:r>
              <a:rPr lang="en-US" altLang="zh-CN" sz="2400"/>
              <a:t>*.c</a:t>
            </a:r>
            <a:r>
              <a:rPr lang="zh-CN" altLang="zh-CN" sz="2400"/>
              <a:t>和</a:t>
            </a:r>
            <a:r>
              <a:rPr lang="en-US" altLang="zh-CN" sz="2400"/>
              <a:t>*.txt</a:t>
            </a:r>
            <a:r>
              <a:rPr lang="zh-CN" altLang="zh-CN" sz="2400"/>
              <a:t>复制到目录</a:t>
            </a:r>
            <a:r>
              <a:rPr lang="en-US" altLang="zh-CN" sz="2400"/>
              <a:t>/tmp </a:t>
            </a:r>
          </a:p>
          <a:p>
            <a:pPr>
              <a:spcBef>
                <a:spcPct val="0"/>
              </a:spcBef>
              <a:spcAft>
                <a:spcPct val="0"/>
              </a:spcAft>
            </a:pPr>
            <a:r>
              <a:rPr lang="en-US" altLang="zh-CN"/>
              <a:t>#</a:t>
            </a:r>
            <a:r>
              <a:rPr lang="en-US" altLang="zh-CN" sz="3600">
                <a:solidFill>
                  <a:srgbClr val="FF0000"/>
                </a:solidFill>
              </a:rPr>
              <a:t>cp file1 /tmp/file2	</a:t>
            </a:r>
            <a:r>
              <a:rPr lang="en-US" altLang="zh-CN"/>
              <a:t>#</a:t>
            </a:r>
            <a:r>
              <a:rPr lang="zh-CN" altLang="zh-CN"/>
              <a:t>将</a:t>
            </a:r>
            <a:r>
              <a:rPr lang="en-US" altLang="zh-CN"/>
              <a:t>file1</a:t>
            </a:r>
            <a:r>
              <a:rPr lang="zh-CN" altLang="zh-CN"/>
              <a:t>复制到</a:t>
            </a:r>
            <a:r>
              <a:rPr lang="en-US" altLang="zh-CN"/>
              <a:t>/tmp/file2</a:t>
            </a:r>
            <a:endParaRPr lang="zh-CN" altLang="zh-CN"/>
          </a:p>
          <a:p>
            <a:pPr>
              <a:spcBef>
                <a:spcPct val="0"/>
              </a:spcBef>
              <a:spcAft>
                <a:spcPct val="0"/>
              </a:spcAft>
            </a:pPr>
            <a:r>
              <a:rPr lang="en-US" altLang="zh-CN"/>
              <a:t>#</a:t>
            </a:r>
            <a:r>
              <a:rPr lang="en-US" altLang="zh-CN" sz="3600">
                <a:solidFill>
                  <a:srgbClr val="FF0000"/>
                </a:solidFill>
              </a:rPr>
              <a:t>cp -rp dir1 dir2	</a:t>
            </a:r>
            <a:r>
              <a:rPr lang="en-US" altLang="zh-CN"/>
              <a:t>#</a:t>
            </a:r>
            <a:r>
              <a:rPr lang="zh-CN" altLang="zh-CN"/>
              <a:t>将目录</a:t>
            </a:r>
            <a:r>
              <a:rPr lang="en-US" altLang="zh-CN"/>
              <a:t>dir1</a:t>
            </a:r>
            <a:r>
              <a:rPr lang="zh-CN" altLang="zh-CN"/>
              <a:t>复制到目录</a:t>
            </a:r>
            <a:r>
              <a:rPr lang="en-US" altLang="zh-CN"/>
              <a:t>dir2</a:t>
            </a:r>
            <a:r>
              <a:rPr lang="zh-CN" altLang="zh-CN"/>
              <a:t>，且保持原属性</a:t>
            </a:r>
          </a:p>
          <a:p>
            <a:pPr>
              <a:spcBef>
                <a:spcPct val="0"/>
              </a:spcBef>
              <a:spcAft>
                <a:spcPct val="0"/>
              </a:spcAft>
            </a:pPr>
            <a:r>
              <a:rPr lang="en-US" altLang="zh-CN"/>
              <a:t>#</a:t>
            </a:r>
            <a:r>
              <a:rPr lang="en-US" altLang="zh-CN" sz="3600">
                <a:solidFill>
                  <a:srgbClr val="FF0000"/>
                </a:solidFill>
              </a:rPr>
              <a:t>cp -R file1 file2 dir1 dir2</a:t>
            </a:r>
            <a:r>
              <a:rPr lang="en-US" altLang="zh-CN"/>
              <a:t>	#</a:t>
            </a:r>
            <a:r>
              <a:rPr lang="zh-CN" altLang="zh-CN"/>
              <a:t>将文件</a:t>
            </a:r>
            <a:r>
              <a:rPr lang="en-US" altLang="zh-CN"/>
              <a:t>file?</a:t>
            </a:r>
            <a:r>
              <a:rPr lang="zh-CN" altLang="zh-CN"/>
              <a:t>和</a:t>
            </a:r>
            <a:r>
              <a:rPr lang="zh-CN" altLang="zh-CN">
                <a:sym typeface="+mn-ea"/>
              </a:rPr>
              <a:t>目录</a:t>
            </a:r>
            <a:r>
              <a:rPr lang="en-US" altLang="zh-CN"/>
              <a:t>dir1</a:t>
            </a:r>
            <a:r>
              <a:rPr lang="zh-CN" altLang="zh-CN"/>
              <a:t>复制到目录</a:t>
            </a:r>
            <a:r>
              <a:rPr lang="en-US" altLang="zh-CN"/>
              <a:t>dir2</a:t>
            </a:r>
            <a:endParaRPr lang="zh-CN" altLang="zh-CN"/>
          </a:p>
          <a:p>
            <a:pPr>
              <a:spcBef>
                <a:spcPct val="0"/>
              </a:spcBef>
              <a:spcAft>
                <a:spcPct val="0"/>
              </a:spcAft>
            </a:pPr>
            <a:r>
              <a:rPr lang="en-US" altLang="zh-CN"/>
              <a:t>#</a:t>
            </a:r>
            <a:r>
              <a:rPr lang="en-US" altLang="zh-CN" sz="3600">
                <a:solidFill>
                  <a:srgbClr val="FF0000"/>
                </a:solidFill>
              </a:rPr>
              <a:t>cp /dev/cdrom /tmp/disk.img</a:t>
            </a:r>
            <a:r>
              <a:rPr lang="en-US" altLang="zh-CN"/>
              <a:t>	#</a:t>
            </a:r>
            <a:r>
              <a:rPr lang="zh-CN" altLang="zh-CN"/>
              <a:t>构造光盘映像到文件</a:t>
            </a:r>
            <a:r>
              <a:rPr lang="en-US" altLang="zh-CN"/>
              <a:t>/tmp/disk.img</a:t>
            </a:r>
            <a:endParaRPr lang="zh-CN" altLang="zh-CN"/>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426" name="标题 1">
            <a:extLst>
              <a:ext uri="{FF2B5EF4-FFF2-40B4-BE49-F238E27FC236}">
                <a16:creationId xmlns:a16="http://schemas.microsoft.com/office/drawing/2014/main" id="{568715EE-E29E-B215-4366-24352F5C81B7}"/>
              </a:ext>
            </a:extLst>
          </p:cNvPr>
          <p:cNvSpPr>
            <a:spLocks noGrp="1" noChangeArrowheads="1"/>
          </p:cNvSpPr>
          <p:nvPr>
            <p:ph type="title"/>
          </p:nvPr>
        </p:nvSpPr>
        <p:spPr>
          <a:xfrm>
            <a:off x="34925" y="-26988"/>
            <a:ext cx="8929688" cy="539751"/>
          </a:xfrm>
        </p:spPr>
        <p:txBody>
          <a:bodyPr/>
          <a:lstStyle/>
          <a:p>
            <a:r>
              <a:rPr lang="en-US" altLang="zh-CN" sz="4000"/>
              <a:t>3.2.3  </a:t>
            </a:r>
            <a:r>
              <a:rPr lang="zh-CN" altLang="zh-CN" sz="4000"/>
              <a:t>文本文件编辑与操作基本命令</a:t>
            </a:r>
            <a:endParaRPr lang="zh-CN" altLang="en-US" sz="4000"/>
          </a:p>
        </p:txBody>
      </p:sp>
      <p:sp>
        <p:nvSpPr>
          <p:cNvPr id="119811" name="内容占位符 2">
            <a:extLst>
              <a:ext uri="{FF2B5EF4-FFF2-40B4-BE49-F238E27FC236}">
                <a16:creationId xmlns:a16="http://schemas.microsoft.com/office/drawing/2014/main" id="{331D9BB5-A7F3-7E6C-0783-B1E9C80192F8}"/>
              </a:ext>
            </a:extLst>
          </p:cNvPr>
          <p:cNvSpPr>
            <a:spLocks noGrp="1"/>
          </p:cNvSpPr>
          <p:nvPr>
            <p:ph idx="1"/>
          </p:nvPr>
        </p:nvSpPr>
        <p:spPr>
          <a:xfrm>
            <a:off x="0" y="620713"/>
            <a:ext cx="9180513" cy="5761037"/>
          </a:xfrm>
        </p:spPr>
        <p:txBody>
          <a:bodyPr/>
          <a:lstStyle/>
          <a:p>
            <a:pPr marL="0" indent="0">
              <a:spcBef>
                <a:spcPct val="0"/>
              </a:spcBef>
              <a:spcAft>
                <a:spcPct val="0"/>
              </a:spcAft>
              <a:buFont typeface="Arial" panose="020B0604020202020204" pitchFamily="34" charset="0"/>
              <a:buNone/>
              <a:defRPr/>
            </a:pPr>
            <a:r>
              <a:rPr lang="en-US" altLang="zh-CN" sz="5400" dirty="0"/>
              <a:t>1</a:t>
            </a:r>
            <a:r>
              <a:rPr lang="zh-CN" altLang="zh-CN" sz="5400" dirty="0"/>
              <a:t>．文本编辑命令（</a:t>
            </a:r>
            <a:r>
              <a:rPr lang="en-US" altLang="zh-CN" sz="5400" dirty="0"/>
              <a:t>vi</a:t>
            </a:r>
            <a:r>
              <a:rPr lang="zh-CN" altLang="zh-CN" sz="5400" dirty="0"/>
              <a:t>）</a:t>
            </a:r>
          </a:p>
          <a:p>
            <a:pPr marL="0" indent="0">
              <a:spcBef>
                <a:spcPct val="0"/>
              </a:spcBef>
              <a:spcAft>
                <a:spcPct val="0"/>
              </a:spcAft>
              <a:buFont typeface="Arial" panose="020B0604020202020204" pitchFamily="34" charset="0"/>
              <a:buNone/>
              <a:defRPr/>
            </a:pPr>
            <a:r>
              <a:rPr lang="en-US" altLang="zh-CN" sz="5400" dirty="0"/>
              <a:t>2</a:t>
            </a:r>
            <a:r>
              <a:rPr lang="zh-CN" altLang="zh-CN" sz="5400" dirty="0"/>
              <a:t>．文件内容信息统计（</a:t>
            </a:r>
            <a:r>
              <a:rPr lang="en-US" altLang="zh-CN" sz="5400" dirty="0" err="1"/>
              <a:t>wc</a:t>
            </a:r>
            <a:r>
              <a:rPr lang="zh-CN" altLang="zh-CN" sz="5400" dirty="0"/>
              <a:t>）</a:t>
            </a:r>
          </a:p>
          <a:p>
            <a:pPr>
              <a:defRPr/>
            </a:pPr>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标题 1">
            <a:extLst>
              <a:ext uri="{FF2B5EF4-FFF2-40B4-BE49-F238E27FC236}">
                <a16:creationId xmlns:a16="http://schemas.microsoft.com/office/drawing/2014/main" id="{82B8BC4B-BFEE-7768-10DE-FC0C778F7C99}"/>
              </a:ext>
            </a:extLst>
          </p:cNvPr>
          <p:cNvSpPr>
            <a:spLocks noGrp="1" noChangeArrowheads="1"/>
          </p:cNvSpPr>
          <p:nvPr>
            <p:ph type="title"/>
          </p:nvPr>
        </p:nvSpPr>
        <p:spPr/>
        <p:txBody>
          <a:bodyPr/>
          <a:lstStyle/>
          <a:p>
            <a:r>
              <a:rPr lang="en-US" altLang="zh-CN"/>
              <a:t>1</a:t>
            </a:r>
            <a:r>
              <a:rPr lang="zh-CN" altLang="zh-CN"/>
              <a:t>．文本编辑命令（</a:t>
            </a:r>
            <a:r>
              <a:rPr lang="en-US" altLang="zh-CN"/>
              <a:t>vi</a:t>
            </a:r>
            <a:r>
              <a:rPr lang="zh-CN" altLang="zh-CN"/>
              <a:t>）</a:t>
            </a:r>
            <a:endParaRPr lang="zh-CN" altLang="en-US"/>
          </a:p>
        </p:txBody>
      </p:sp>
      <p:sp>
        <p:nvSpPr>
          <p:cNvPr id="120835" name="内容占位符 2">
            <a:extLst>
              <a:ext uri="{FF2B5EF4-FFF2-40B4-BE49-F238E27FC236}">
                <a16:creationId xmlns:a16="http://schemas.microsoft.com/office/drawing/2014/main" id="{88AA57BB-FB9D-D7AD-497A-E0A0CCABA3BD}"/>
              </a:ext>
            </a:extLst>
          </p:cNvPr>
          <p:cNvSpPr>
            <a:spLocks noGrp="1"/>
          </p:cNvSpPr>
          <p:nvPr>
            <p:ph idx="1"/>
          </p:nvPr>
        </p:nvSpPr>
        <p:spPr>
          <a:xfrm>
            <a:off x="39688" y="404813"/>
            <a:ext cx="9107487" cy="5761037"/>
          </a:xfrm>
        </p:spPr>
        <p:txBody>
          <a:bodyPr/>
          <a:lstStyle/>
          <a:p>
            <a:pPr>
              <a:spcBef>
                <a:spcPts val="0"/>
              </a:spcBef>
              <a:spcAft>
                <a:spcPts val="0"/>
              </a:spcAft>
              <a:defRPr/>
            </a:pPr>
            <a:r>
              <a:rPr lang="en-US" altLang="zh-CN" sz="4000" dirty="0"/>
              <a:t>1</a:t>
            </a:r>
            <a:r>
              <a:rPr lang="zh-CN" altLang="zh-CN" sz="4000" dirty="0"/>
              <a:t>）功能及用法</a:t>
            </a:r>
          </a:p>
          <a:p>
            <a:pPr marL="0" indent="0">
              <a:spcBef>
                <a:spcPts val="0"/>
              </a:spcBef>
              <a:spcAft>
                <a:spcPts val="0"/>
              </a:spcAft>
              <a:buFont typeface="Arial" panose="020B0604020202020204" pitchFamily="34" charset="0"/>
              <a:buNone/>
              <a:defRPr/>
            </a:pPr>
            <a:r>
              <a:rPr lang="en-US" altLang="zh-CN" sz="4400" dirty="0"/>
              <a:t>vi</a:t>
            </a:r>
            <a:r>
              <a:rPr lang="zh-CN" altLang="zh-CN" sz="4000" dirty="0"/>
              <a:t>是</a:t>
            </a:r>
            <a:r>
              <a:rPr lang="en-US" altLang="zh-CN" sz="4000" dirty="0"/>
              <a:t>UNIX/Linux</a:t>
            </a:r>
            <a:r>
              <a:rPr lang="zh-CN" altLang="zh-CN" sz="4000" dirty="0">
                <a:solidFill>
                  <a:srgbClr val="FF0000"/>
                </a:solidFill>
              </a:rPr>
              <a:t>文本</a:t>
            </a:r>
            <a:r>
              <a:rPr lang="zh-CN" altLang="zh-CN" sz="4000" dirty="0"/>
              <a:t>文件</a:t>
            </a:r>
            <a:r>
              <a:rPr lang="zh-CN" altLang="zh-CN" sz="4000" dirty="0">
                <a:solidFill>
                  <a:srgbClr val="FF0000"/>
                </a:solidFill>
              </a:rPr>
              <a:t>全屏编辑器</a:t>
            </a:r>
            <a:r>
              <a:rPr lang="zh-CN" altLang="zh-CN" sz="4000" dirty="0"/>
              <a:t>。</a:t>
            </a:r>
          </a:p>
          <a:p>
            <a:pPr>
              <a:spcBef>
                <a:spcPts val="0"/>
              </a:spcBef>
              <a:spcAft>
                <a:spcPts val="0"/>
              </a:spcAft>
              <a:defRPr/>
            </a:pPr>
            <a:r>
              <a:rPr lang="en-US" altLang="zh-CN" sz="4000" dirty="0"/>
              <a:t>vi</a:t>
            </a:r>
            <a:r>
              <a:rPr lang="zh-CN" altLang="zh-CN" sz="4000" dirty="0"/>
              <a:t>一次可以编辑多个文件，若</a:t>
            </a:r>
            <a:r>
              <a:rPr lang="en-US" altLang="zh-CN" sz="4000" dirty="0"/>
              <a:t>vi</a:t>
            </a:r>
            <a:r>
              <a:rPr lang="zh-CN" altLang="zh-CN" sz="4000" dirty="0"/>
              <a:t>启动时没有指定文件名，则</a:t>
            </a:r>
            <a:r>
              <a:rPr lang="en-US" altLang="zh-CN" sz="4000" dirty="0"/>
              <a:t>vi</a:t>
            </a:r>
            <a:r>
              <a:rPr lang="zh-CN" altLang="zh-CN" sz="4000" dirty="0"/>
              <a:t>将创建一个无名的文件，待用户保存时由用户指定文件名。</a:t>
            </a:r>
            <a:endParaRPr lang="en-US" altLang="zh-CN" sz="4000" dirty="0"/>
          </a:p>
          <a:p>
            <a:pPr>
              <a:spcBef>
                <a:spcPts val="0"/>
              </a:spcBef>
              <a:spcAft>
                <a:spcPts val="0"/>
              </a:spcAft>
              <a:defRPr/>
            </a:pPr>
            <a:r>
              <a:rPr lang="zh-CN" altLang="zh-CN" sz="4000" dirty="0"/>
              <a:t>若指定的文件不存在，则创建一个新文件。若用户对文件的修改不保存，则原文件不发生</a:t>
            </a:r>
            <a:r>
              <a:rPr lang="zh-CN" altLang="en-US" sz="4000" dirty="0"/>
              <a:t>变化</a:t>
            </a:r>
            <a:r>
              <a:rPr lang="zh-CN" altLang="zh-CN" sz="4000" dirty="0"/>
              <a: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74" name="标题 1">
            <a:extLst>
              <a:ext uri="{FF2B5EF4-FFF2-40B4-BE49-F238E27FC236}">
                <a16:creationId xmlns:a16="http://schemas.microsoft.com/office/drawing/2014/main" id="{7817843A-8F92-CB11-DAC5-74FF2F897C8A}"/>
              </a:ext>
            </a:extLst>
          </p:cNvPr>
          <p:cNvSpPr>
            <a:spLocks noGrp="1" noChangeArrowheads="1"/>
          </p:cNvSpPr>
          <p:nvPr>
            <p:ph type="title"/>
          </p:nvPr>
        </p:nvSpPr>
        <p:spPr/>
        <p:txBody>
          <a:bodyPr/>
          <a:lstStyle/>
          <a:p>
            <a:r>
              <a:rPr lang="en-US" altLang="zh-CN"/>
              <a:t>vi</a:t>
            </a:r>
            <a:r>
              <a:rPr lang="zh-CN" altLang="en-US"/>
              <a:t>的临时文件</a:t>
            </a:r>
          </a:p>
        </p:txBody>
      </p:sp>
      <p:sp>
        <p:nvSpPr>
          <p:cNvPr id="105475" name="内容占位符 2">
            <a:extLst>
              <a:ext uri="{FF2B5EF4-FFF2-40B4-BE49-F238E27FC236}">
                <a16:creationId xmlns:a16="http://schemas.microsoft.com/office/drawing/2014/main" id="{1F088895-A31E-FAE1-4A12-6C772D509623}"/>
              </a:ext>
            </a:extLst>
          </p:cNvPr>
          <p:cNvSpPr>
            <a:spLocks noGrp="1" noChangeArrowheads="1"/>
          </p:cNvSpPr>
          <p:nvPr>
            <p:ph idx="1"/>
          </p:nvPr>
        </p:nvSpPr>
        <p:spPr>
          <a:xfrm>
            <a:off x="250825" y="620713"/>
            <a:ext cx="8713788" cy="5761037"/>
          </a:xfrm>
        </p:spPr>
        <p:txBody>
          <a:bodyPr/>
          <a:lstStyle/>
          <a:p>
            <a:r>
              <a:rPr lang="zh-CN" altLang="zh-CN" sz="3200"/>
              <a:t>设</a:t>
            </a:r>
            <a:r>
              <a:rPr lang="en-US" altLang="zh-CN" sz="3200"/>
              <a:t>vi</a:t>
            </a:r>
            <a:r>
              <a:rPr lang="zh-CN" altLang="zh-CN" sz="3200"/>
              <a:t>编辑的文件为</a:t>
            </a:r>
            <a:r>
              <a:rPr lang="en-US" altLang="zh-CN" sz="3200"/>
              <a:t>file</a:t>
            </a:r>
            <a:r>
              <a:rPr lang="zh-CN" altLang="zh-CN" sz="3200"/>
              <a:t>，则在工作时，</a:t>
            </a:r>
            <a:r>
              <a:rPr lang="en-US" altLang="zh-CN" sz="3200"/>
              <a:t>vi</a:t>
            </a:r>
            <a:r>
              <a:rPr lang="zh-CN" altLang="zh-CN" sz="3200"/>
              <a:t>创建一</a:t>
            </a:r>
            <a:r>
              <a:rPr lang="zh-CN" altLang="zh-CN" sz="3200">
                <a:solidFill>
                  <a:srgbClr val="FF0000"/>
                </a:solidFill>
              </a:rPr>
              <a:t>名为</a:t>
            </a:r>
            <a:r>
              <a:rPr lang="en-US" altLang="zh-CN" sz="3200">
                <a:solidFill>
                  <a:srgbClr val="FF0000"/>
                </a:solidFill>
              </a:rPr>
              <a:t>.file.swp</a:t>
            </a:r>
            <a:r>
              <a:rPr lang="zh-CN" altLang="zh-CN" sz="3200">
                <a:solidFill>
                  <a:srgbClr val="FF0000"/>
                </a:solidFill>
              </a:rPr>
              <a:t>的临时文件</a:t>
            </a:r>
            <a:r>
              <a:rPr lang="zh-CN" altLang="zh-CN" sz="3200"/>
              <a:t>，若没有指定文件名，创建</a:t>
            </a:r>
            <a:r>
              <a:rPr lang="en-US" altLang="zh-CN" sz="3200"/>
              <a:t>.swp</a:t>
            </a:r>
            <a:r>
              <a:rPr lang="zh-CN" altLang="zh-CN" sz="3200"/>
              <a:t>临时文件</a:t>
            </a:r>
            <a:r>
              <a:rPr lang="zh-CN" altLang="en-US" sz="3200"/>
              <a:t>。</a:t>
            </a:r>
            <a:r>
              <a:rPr lang="zh-CN" altLang="zh-CN" sz="3200"/>
              <a:t>临时文件</a:t>
            </a:r>
            <a:r>
              <a:rPr lang="zh-CN" altLang="zh-CN" sz="3200">
                <a:solidFill>
                  <a:srgbClr val="FF0000"/>
                </a:solidFill>
              </a:rPr>
              <a:t>也叫交换文件</a:t>
            </a:r>
            <a:r>
              <a:rPr lang="zh-CN" altLang="zh-CN" sz="3200"/>
              <a:t>。</a:t>
            </a:r>
            <a:endParaRPr lang="en-US" altLang="zh-CN" sz="3200"/>
          </a:p>
          <a:p>
            <a:r>
              <a:rPr lang="zh-CN" altLang="zh-CN" sz="3200"/>
              <a:t>当</a:t>
            </a:r>
            <a:r>
              <a:rPr lang="en-US" altLang="zh-CN" sz="3200"/>
              <a:t>vi</a:t>
            </a:r>
            <a:r>
              <a:rPr lang="zh-CN" altLang="zh-CN" sz="3200"/>
              <a:t>结束编辑后，对应的临时文件被自动删除</a:t>
            </a:r>
            <a:r>
              <a:rPr lang="zh-CN" altLang="en-US" sz="3200"/>
              <a:t>。</a:t>
            </a:r>
            <a:r>
              <a:rPr lang="zh-CN" altLang="zh-CN" sz="3200"/>
              <a:t>但当</a:t>
            </a:r>
            <a:r>
              <a:rPr lang="en-US" altLang="zh-CN" sz="3200">
                <a:solidFill>
                  <a:srgbClr val="FF0000"/>
                </a:solidFill>
              </a:rPr>
              <a:t>vi</a:t>
            </a:r>
            <a:r>
              <a:rPr lang="zh-CN" altLang="zh-CN" sz="3200">
                <a:solidFill>
                  <a:srgbClr val="FF0000"/>
                </a:solidFill>
              </a:rPr>
              <a:t>非正常退出时</a:t>
            </a:r>
            <a:r>
              <a:rPr lang="zh-CN" altLang="zh-CN" sz="3200"/>
              <a:t>，此临时文件就</a:t>
            </a:r>
            <a:r>
              <a:rPr lang="zh-CN" altLang="en-US" sz="3200">
                <a:solidFill>
                  <a:srgbClr val="FF0000"/>
                </a:solidFill>
              </a:rPr>
              <a:t>可能</a:t>
            </a:r>
            <a:r>
              <a:rPr lang="zh-CN" altLang="zh-CN" sz="3200">
                <a:solidFill>
                  <a:srgbClr val="FF0000"/>
                </a:solidFill>
              </a:rPr>
              <a:t>会被残留下来</a:t>
            </a:r>
            <a:r>
              <a:rPr lang="zh-CN" altLang="zh-CN" sz="3200"/>
              <a:t>，在下次再编辑此文件时会</a:t>
            </a:r>
            <a:r>
              <a:rPr lang="zh-CN" altLang="zh-CN" sz="3200">
                <a:solidFill>
                  <a:srgbClr val="FF0000"/>
                </a:solidFill>
              </a:rPr>
              <a:t>出现错误信息</a:t>
            </a:r>
            <a:r>
              <a:rPr lang="zh-CN" altLang="zh-CN" sz="3200"/>
              <a:t>。</a:t>
            </a:r>
            <a:endParaRPr lang="en-US" altLang="zh-CN" sz="3200"/>
          </a:p>
          <a:p>
            <a:r>
              <a:rPr lang="en-US" altLang="zh-CN" sz="3200"/>
              <a:t>vi</a:t>
            </a:r>
            <a:r>
              <a:rPr lang="zh-CN" altLang="zh-CN" sz="3200"/>
              <a:t>的整个工作过程和被编辑的文件无关，只是</a:t>
            </a:r>
            <a:r>
              <a:rPr lang="zh-CN" altLang="zh-CN" sz="3200">
                <a:solidFill>
                  <a:srgbClr val="FF0000"/>
                </a:solidFill>
              </a:rPr>
              <a:t>在保存的时候才修改被编辑的文件</a:t>
            </a:r>
            <a:r>
              <a:rPr lang="zh-CN" altLang="zh-CN" sz="3200"/>
              <a:t>。</a:t>
            </a:r>
            <a:endParaRPr lang="zh-CN" altLang="en-US" sz="32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498" name="标题 1">
            <a:extLst>
              <a:ext uri="{FF2B5EF4-FFF2-40B4-BE49-F238E27FC236}">
                <a16:creationId xmlns:a16="http://schemas.microsoft.com/office/drawing/2014/main" id="{36AC0C4D-72AE-7B58-665C-A387AF9008B9}"/>
              </a:ext>
            </a:extLst>
          </p:cNvPr>
          <p:cNvSpPr>
            <a:spLocks noGrp="1" noChangeArrowheads="1"/>
          </p:cNvSpPr>
          <p:nvPr>
            <p:ph type="title"/>
          </p:nvPr>
        </p:nvSpPr>
        <p:spPr/>
        <p:txBody>
          <a:bodyPr/>
          <a:lstStyle/>
          <a:p>
            <a:r>
              <a:rPr lang="en-US" altLang="zh-CN"/>
              <a:t>vi</a:t>
            </a:r>
            <a:r>
              <a:rPr lang="zh-CN" altLang="zh-CN"/>
              <a:t>有三种工作模式：</a:t>
            </a:r>
            <a:endParaRPr lang="zh-CN" altLang="en-US"/>
          </a:p>
        </p:txBody>
      </p:sp>
      <p:sp>
        <p:nvSpPr>
          <p:cNvPr id="106499" name="内容占位符 2">
            <a:extLst>
              <a:ext uri="{FF2B5EF4-FFF2-40B4-BE49-F238E27FC236}">
                <a16:creationId xmlns:a16="http://schemas.microsoft.com/office/drawing/2014/main" id="{3E3E0ACA-CE49-2F55-DED3-17F44DF4F8EF}"/>
              </a:ext>
            </a:extLst>
          </p:cNvPr>
          <p:cNvSpPr>
            <a:spLocks noGrp="1" noChangeArrowheads="1"/>
          </p:cNvSpPr>
          <p:nvPr>
            <p:ph idx="1"/>
          </p:nvPr>
        </p:nvSpPr>
        <p:spPr>
          <a:xfrm>
            <a:off x="107950" y="476250"/>
            <a:ext cx="9036050" cy="6048375"/>
          </a:xfrm>
        </p:spPr>
        <p:txBody>
          <a:bodyPr/>
          <a:lstStyle/>
          <a:p>
            <a:pPr>
              <a:spcBef>
                <a:spcPct val="0"/>
              </a:spcBef>
              <a:spcAft>
                <a:spcPct val="0"/>
              </a:spcAft>
            </a:pPr>
            <a:r>
              <a:rPr lang="zh-CN" altLang="zh-CN" sz="3600">
                <a:solidFill>
                  <a:srgbClr val="FF0000"/>
                </a:solidFill>
              </a:rPr>
              <a:t>命令模式：</a:t>
            </a:r>
            <a:r>
              <a:rPr lang="zh-CN" altLang="zh-CN" sz="3600"/>
              <a:t>当进入</a:t>
            </a:r>
            <a:r>
              <a:rPr lang="en-US" altLang="zh-CN" sz="3600"/>
              <a:t>vi</a:t>
            </a:r>
            <a:r>
              <a:rPr lang="zh-CN" altLang="zh-CN" sz="3600"/>
              <a:t>时，处在命令模式。在</a:t>
            </a:r>
            <a:r>
              <a:rPr lang="zh-CN" altLang="en-US" sz="3600"/>
              <a:t>此</a:t>
            </a:r>
            <a:r>
              <a:rPr lang="zh-CN" altLang="zh-CN" sz="3600"/>
              <a:t>模式下，可通过</a:t>
            </a:r>
            <a:r>
              <a:rPr lang="en-US" altLang="zh-CN" sz="3600"/>
              <a:t>vi</a:t>
            </a:r>
            <a:r>
              <a:rPr lang="zh-CN" altLang="zh-CN" sz="3600"/>
              <a:t>命令对文件内容进行处理，也可通过插入命令进入编辑模式</a:t>
            </a:r>
          </a:p>
          <a:p>
            <a:pPr>
              <a:spcBef>
                <a:spcPct val="0"/>
              </a:spcBef>
              <a:spcAft>
                <a:spcPct val="0"/>
              </a:spcAft>
            </a:pPr>
            <a:r>
              <a:rPr lang="zh-CN" altLang="zh-CN" sz="3600">
                <a:solidFill>
                  <a:srgbClr val="FF0000"/>
                </a:solidFill>
              </a:rPr>
              <a:t>编辑模式：</a:t>
            </a:r>
            <a:r>
              <a:rPr lang="zh-CN" altLang="zh-CN" sz="3600"/>
              <a:t>可在命令模式下通过</a:t>
            </a:r>
            <a:r>
              <a:rPr lang="en-US" altLang="zh-CN" sz="3600"/>
              <a:t>o</a:t>
            </a:r>
            <a:r>
              <a:rPr lang="zh-CN" altLang="zh-CN" sz="3600"/>
              <a:t>，</a:t>
            </a:r>
            <a:r>
              <a:rPr lang="en-US" altLang="zh-CN" sz="3600"/>
              <a:t>O</a:t>
            </a:r>
            <a:r>
              <a:rPr lang="zh-CN" altLang="zh-CN" sz="3600"/>
              <a:t>，</a:t>
            </a:r>
            <a:r>
              <a:rPr lang="en-US" altLang="zh-CN" sz="3600"/>
              <a:t>a</a:t>
            </a:r>
            <a:r>
              <a:rPr lang="zh-CN" altLang="zh-CN" sz="3600"/>
              <a:t>，</a:t>
            </a:r>
            <a:r>
              <a:rPr lang="en-US" altLang="zh-CN" sz="3600"/>
              <a:t>A</a:t>
            </a:r>
            <a:r>
              <a:rPr lang="zh-CN" altLang="zh-CN" sz="3600"/>
              <a:t>，</a:t>
            </a:r>
            <a:r>
              <a:rPr lang="en-US" altLang="zh-CN" sz="3600"/>
              <a:t>i</a:t>
            </a:r>
            <a:r>
              <a:rPr lang="zh-CN" altLang="zh-CN" sz="3600"/>
              <a:t>，</a:t>
            </a:r>
            <a:r>
              <a:rPr lang="en-US" altLang="zh-CN" sz="3600"/>
              <a:t>I</a:t>
            </a:r>
            <a:r>
              <a:rPr lang="zh-CN" altLang="zh-CN" sz="3600"/>
              <a:t>等命令使</a:t>
            </a:r>
            <a:r>
              <a:rPr lang="en-US" altLang="zh-CN" sz="3600"/>
              <a:t>vi</a:t>
            </a:r>
            <a:r>
              <a:rPr lang="zh-CN" altLang="zh-CN" sz="3600"/>
              <a:t>进入编辑模式。也可通过按</a:t>
            </a:r>
            <a:r>
              <a:rPr lang="en-US" altLang="zh-CN" sz="3600"/>
              <a:t>Esc</a:t>
            </a:r>
            <a:r>
              <a:rPr lang="zh-CN" altLang="zh-CN" sz="3600"/>
              <a:t>键返回命令模式。</a:t>
            </a:r>
          </a:p>
          <a:p>
            <a:pPr>
              <a:spcBef>
                <a:spcPct val="0"/>
              </a:spcBef>
              <a:spcAft>
                <a:spcPct val="0"/>
              </a:spcAft>
            </a:pPr>
            <a:r>
              <a:rPr lang="zh-CN" altLang="zh-CN" sz="3600">
                <a:solidFill>
                  <a:srgbClr val="FF0000"/>
                </a:solidFill>
              </a:rPr>
              <a:t>命令项模式或叫底行模式</a:t>
            </a:r>
            <a:r>
              <a:rPr lang="zh-CN" altLang="zh-CN" sz="3600"/>
              <a:t>：在命令模式下</a:t>
            </a:r>
            <a:r>
              <a:rPr lang="zh-CN" altLang="en-US" sz="3600"/>
              <a:t>，</a:t>
            </a:r>
            <a:r>
              <a:rPr lang="zh-CN" altLang="zh-CN" sz="3600"/>
              <a:t>用户输入冒号“</a:t>
            </a:r>
            <a:r>
              <a:rPr lang="en-US" altLang="zh-CN" sz="3600"/>
              <a:t>:</a:t>
            </a:r>
            <a:r>
              <a:rPr lang="zh-CN" altLang="zh-CN" sz="3600"/>
              <a:t>”后，光标会跳到底行，输入相关命令后可完成指定操作。</a:t>
            </a:r>
            <a:endParaRPr lang="en-US" altLang="zh-CN" sz="3600"/>
          </a:p>
          <a:p>
            <a:pPr>
              <a:spcBef>
                <a:spcPct val="0"/>
              </a:spcBef>
              <a:spcAft>
                <a:spcPct val="0"/>
              </a:spcAft>
            </a:pPr>
            <a:r>
              <a:rPr lang="en-US" altLang="zh-CN" sz="4800">
                <a:solidFill>
                  <a:srgbClr val="FF0000"/>
                </a:solidFill>
              </a:rPr>
              <a:t>vi [ options ]  [ files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标题 1">
            <a:extLst>
              <a:ext uri="{FF2B5EF4-FFF2-40B4-BE49-F238E27FC236}">
                <a16:creationId xmlns:a16="http://schemas.microsoft.com/office/drawing/2014/main" id="{8427027F-4F94-4B2F-BC03-00C3A3766951}"/>
              </a:ext>
            </a:extLst>
          </p:cNvPr>
          <p:cNvSpPr>
            <a:spLocks noGrp="1" noChangeArrowheads="1"/>
          </p:cNvSpPr>
          <p:nvPr>
            <p:ph type="title"/>
          </p:nvPr>
        </p:nvSpPr>
        <p:spPr/>
        <p:txBody>
          <a:bodyPr/>
          <a:lstStyle/>
          <a:p>
            <a:r>
              <a:rPr lang="en-US" altLang="zh-CN"/>
              <a:t>1</a:t>
            </a:r>
            <a:r>
              <a:rPr lang="zh-CN" altLang="zh-CN"/>
              <a:t>）参数说明</a:t>
            </a:r>
          </a:p>
        </p:txBody>
      </p:sp>
      <p:graphicFrame>
        <p:nvGraphicFramePr>
          <p:cNvPr id="4" name="表格 3">
            <a:extLst>
              <a:ext uri="{FF2B5EF4-FFF2-40B4-BE49-F238E27FC236}">
                <a16:creationId xmlns:a16="http://schemas.microsoft.com/office/drawing/2014/main" id="{8C75C605-4BA4-34EE-4C2E-292506DA1D91}"/>
              </a:ext>
            </a:extLst>
          </p:cNvPr>
          <p:cNvGraphicFramePr>
            <a:graphicFrameLocks noGrp="1"/>
          </p:cNvGraphicFramePr>
          <p:nvPr/>
        </p:nvGraphicFramePr>
        <p:xfrm>
          <a:off x="1588" y="476250"/>
          <a:ext cx="9178925" cy="6081713"/>
        </p:xfrm>
        <a:graphic>
          <a:graphicData uri="http://schemas.openxmlformats.org/drawingml/2006/table">
            <a:tbl>
              <a:tblPr firstRow="1" firstCol="1" bandRow="1"/>
              <a:tblGrid>
                <a:gridCol w="1548445">
                  <a:extLst>
                    <a:ext uri="{9D8B030D-6E8A-4147-A177-3AD203B41FA5}">
                      <a16:colId xmlns:a16="http://schemas.microsoft.com/office/drawing/2014/main" val="20000"/>
                    </a:ext>
                  </a:extLst>
                </a:gridCol>
                <a:gridCol w="7630480">
                  <a:extLst>
                    <a:ext uri="{9D8B030D-6E8A-4147-A177-3AD203B41FA5}">
                      <a16:colId xmlns:a16="http://schemas.microsoft.com/office/drawing/2014/main" val="20001"/>
                    </a:ext>
                  </a:extLst>
                </a:gridCol>
              </a:tblGrid>
              <a:tr h="432048">
                <a:tc>
                  <a:txBody>
                    <a:bodyPr/>
                    <a:lstStyle/>
                    <a:p>
                      <a:pPr indent="0" algn="ctr">
                        <a:lnSpc>
                          <a:spcPct val="100000"/>
                        </a:lnSpc>
                        <a:spcAft>
                          <a:spcPts val="0"/>
                        </a:spcAft>
                      </a:pPr>
                      <a:r>
                        <a:rPr lang="zh-CN" sz="2800" kern="100" dirty="0">
                          <a:effectLst/>
                          <a:latin typeface="Times New Roman" panose="02020603050405020304"/>
                          <a:ea typeface="宋体" panose="02010600030101010101" pitchFamily="2" charset="-122"/>
                        </a:rPr>
                        <a:t>选项</a:t>
                      </a: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00000"/>
                        </a:lnSpc>
                        <a:spcAft>
                          <a:spcPts val="0"/>
                        </a:spcAft>
                      </a:pPr>
                      <a:r>
                        <a:rPr lang="zh-CN" sz="2800" kern="100" dirty="0">
                          <a:effectLst/>
                          <a:latin typeface="Times New Roman" panose="02020603050405020304"/>
                          <a:ea typeface="宋体" panose="02010600030101010101" pitchFamily="2" charset="-122"/>
                        </a:rPr>
                        <a:t>功 能 描 述</a:t>
                      </a: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11940">
                <a:tc>
                  <a:txBody>
                    <a:bodyPr/>
                    <a:lstStyle/>
                    <a:p>
                      <a:pPr indent="0"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[files]</a:t>
                      </a:r>
                      <a:endParaRPr lang="zh-CN" sz="2800" b="1" kern="100" dirty="0">
                        <a:solidFill>
                          <a:srgbClr val="FF0000"/>
                        </a:solidFill>
                        <a:effectLst/>
                        <a:latin typeface="Times New Roman" panose="02020603050405020304"/>
                        <a:ea typeface="宋体" panose="02010600030101010101" pitchFamily="2" charset="-122"/>
                      </a:endParaRP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altLang="en-US" sz="2800" kern="100" dirty="0">
                          <a:effectLst/>
                          <a:latin typeface="Times New Roman" panose="02020603050405020304"/>
                          <a:ea typeface="宋体" panose="02010600030101010101" pitchFamily="2" charset="-122"/>
                        </a:rPr>
                        <a:t>被编辑的文件名。</a:t>
                      </a:r>
                      <a:r>
                        <a:rPr lang="zh-CN" sz="2800" kern="100" dirty="0">
                          <a:effectLst/>
                          <a:latin typeface="Times New Roman" panose="02020603050405020304"/>
                          <a:ea typeface="宋体" panose="02010600030101010101" pitchFamily="2" charset="-122"/>
                        </a:rPr>
                        <a:t>不提供时，打开一个无名文件</a:t>
                      </a: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53490">
                <a:tc>
                  <a:txBody>
                    <a:bodyPr/>
                    <a:lstStyle/>
                    <a:p>
                      <a:pPr indent="0"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 file</a:t>
                      </a:r>
                      <a:endParaRPr lang="zh-CN" sz="2800" b="1" kern="100" dirty="0">
                        <a:solidFill>
                          <a:srgbClr val="FF0000"/>
                        </a:solidFill>
                        <a:effectLst/>
                        <a:latin typeface="Times New Roman" panose="02020603050405020304"/>
                        <a:ea typeface="宋体" panose="02010600030101010101" pitchFamily="2" charset="-122"/>
                      </a:endParaRP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800" kern="100" dirty="0">
                          <a:effectLst/>
                          <a:latin typeface="Times New Roman" panose="02020603050405020304"/>
                          <a:ea typeface="宋体" panose="02010600030101010101" pitchFamily="2" charset="-122"/>
                        </a:rPr>
                        <a:t>进入</a:t>
                      </a:r>
                      <a:r>
                        <a:rPr lang="en-US" sz="2800" kern="100" dirty="0">
                          <a:effectLst/>
                          <a:latin typeface="Times New Roman" panose="02020603050405020304"/>
                          <a:ea typeface="宋体" panose="02010600030101010101" pitchFamily="2" charset="-122"/>
                        </a:rPr>
                        <a:t>vi</a:t>
                      </a:r>
                      <a:r>
                        <a:rPr lang="zh-CN" sz="2800" kern="100" dirty="0">
                          <a:effectLst/>
                          <a:latin typeface="Times New Roman" panose="02020603050405020304"/>
                          <a:ea typeface="宋体" panose="02010600030101010101" pitchFamily="2" charset="-122"/>
                        </a:rPr>
                        <a:t>后光标直接定位到第</a:t>
                      </a:r>
                      <a:r>
                        <a:rPr lang="en-US" sz="2800" kern="100" dirty="0">
                          <a:effectLst/>
                          <a:latin typeface="Times New Roman" panose="02020603050405020304"/>
                          <a:ea typeface="宋体" panose="02010600030101010101" pitchFamily="2" charset="-122"/>
                        </a:rPr>
                        <a:t>#</a:t>
                      </a:r>
                      <a:r>
                        <a:rPr lang="zh-CN" sz="2800" kern="100" dirty="0">
                          <a:effectLst/>
                          <a:latin typeface="Times New Roman" panose="02020603050405020304"/>
                          <a:ea typeface="宋体" panose="02010600030101010101" pitchFamily="2" charset="-122"/>
                        </a:rPr>
                        <a:t>行首，若不指定</a:t>
                      </a:r>
                      <a:r>
                        <a:rPr lang="en-US" sz="2800" kern="100" dirty="0">
                          <a:effectLst/>
                          <a:latin typeface="Times New Roman" panose="02020603050405020304"/>
                          <a:ea typeface="宋体" panose="02010600030101010101" pitchFamily="2" charset="-122"/>
                        </a:rPr>
                        <a:t>#</a:t>
                      </a:r>
                      <a:r>
                        <a:rPr lang="zh-CN" sz="2800" kern="100" dirty="0">
                          <a:effectLst/>
                          <a:latin typeface="Times New Roman" panose="02020603050405020304"/>
                          <a:ea typeface="宋体" panose="02010600030101010101" pitchFamily="2" charset="-122"/>
                        </a:rPr>
                        <a:t>，则光标定位到</a:t>
                      </a:r>
                      <a:r>
                        <a:rPr lang="zh-CN" sz="2800" b="1" kern="100" dirty="0">
                          <a:effectLst/>
                          <a:latin typeface="Times New Roman" panose="02020603050405020304"/>
                          <a:ea typeface="宋体" panose="02010600030101010101" pitchFamily="2" charset="-122"/>
                        </a:rPr>
                        <a:t>末行首</a:t>
                      </a: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53490">
                <a:tc>
                  <a:txBody>
                    <a:bodyPr/>
                    <a:lstStyle/>
                    <a:p>
                      <a:pPr indent="0"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+/pattern file</a:t>
                      </a:r>
                      <a:endParaRPr lang="zh-CN" sz="2800" b="1" kern="100" dirty="0">
                        <a:solidFill>
                          <a:srgbClr val="FF0000"/>
                        </a:solidFill>
                        <a:effectLst/>
                        <a:latin typeface="Times New Roman" panose="02020603050405020304"/>
                        <a:ea typeface="宋体" panose="02010600030101010101" pitchFamily="2" charset="-122"/>
                      </a:endParaRP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800" kern="100" dirty="0">
                          <a:effectLst/>
                          <a:latin typeface="Times New Roman" panose="02020603050405020304"/>
                          <a:ea typeface="宋体" panose="02010600030101010101" pitchFamily="2" charset="-122"/>
                        </a:rPr>
                        <a:t>从指定的模式匹配行行首处开始</a:t>
                      </a: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53490">
                <a:tc>
                  <a:txBody>
                    <a:bodyPr/>
                    <a:lstStyle/>
                    <a:p>
                      <a:pPr indent="0"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-r/-L</a:t>
                      </a:r>
                      <a:endParaRPr lang="zh-CN" sz="2800" b="1" kern="100" dirty="0">
                        <a:solidFill>
                          <a:srgbClr val="FF0000"/>
                        </a:solidFill>
                        <a:effectLst/>
                        <a:latin typeface="Times New Roman" panose="02020603050405020304"/>
                        <a:ea typeface="宋体" panose="02010600030101010101" pitchFamily="2" charset="-122"/>
                      </a:endParaRP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800" kern="100" dirty="0">
                          <a:effectLst/>
                          <a:latin typeface="Times New Roman" panose="02020603050405020304"/>
                          <a:ea typeface="宋体" panose="02010600030101010101" pitchFamily="2" charset="-122"/>
                        </a:rPr>
                        <a:t>列出当前目录内所有因</a:t>
                      </a:r>
                      <a:r>
                        <a:rPr lang="en-US" sz="2800" kern="100" dirty="0">
                          <a:effectLst/>
                          <a:latin typeface="Times New Roman" panose="02020603050405020304"/>
                          <a:ea typeface="宋体" panose="02010600030101010101" pitchFamily="2" charset="-122"/>
                        </a:rPr>
                        <a:t>vi</a:t>
                      </a:r>
                      <a:r>
                        <a:rPr lang="zh-CN" sz="2800" kern="100" dirty="0">
                          <a:effectLst/>
                          <a:latin typeface="Times New Roman" panose="02020603050405020304"/>
                          <a:ea typeface="宋体" panose="02010600030101010101" pitchFamily="2" charset="-122"/>
                        </a:rPr>
                        <a:t>非正常退出而残留的交换文件，以便恢复</a:t>
                      </a: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53490">
                <a:tc>
                  <a:txBody>
                    <a:bodyPr/>
                    <a:lstStyle/>
                    <a:p>
                      <a:pPr indent="0" algn="ctr">
                        <a:lnSpc>
                          <a:spcPct val="100000"/>
                        </a:lnSpc>
                        <a:spcAft>
                          <a:spcPts val="0"/>
                        </a:spcAft>
                      </a:pPr>
                      <a:r>
                        <a:rPr lang="en-US" sz="2800" kern="100">
                          <a:effectLst/>
                          <a:latin typeface="Times New Roman" panose="02020603050405020304"/>
                          <a:ea typeface="宋体" panose="02010600030101010101" pitchFamily="2" charset="-122"/>
                        </a:rPr>
                        <a:t>-r &lt;.*.swp&gt;</a:t>
                      </a:r>
                      <a:endParaRPr lang="zh-CN" sz="2800" kern="100">
                        <a:effectLst/>
                        <a:latin typeface="Times New Roman" panose="02020603050405020304"/>
                        <a:ea typeface="宋体" panose="02010600030101010101" pitchFamily="2" charset="-122"/>
                      </a:endParaRP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800" kern="100" dirty="0">
                          <a:effectLst/>
                          <a:latin typeface="Times New Roman" panose="02020603050405020304"/>
                          <a:ea typeface="宋体" panose="02010600030101010101" pitchFamily="2" charset="-122"/>
                        </a:rPr>
                        <a:t>从交换文件</a:t>
                      </a:r>
                      <a:r>
                        <a:rPr lang="en-US" sz="2800" kern="100" dirty="0">
                          <a:effectLst/>
                          <a:latin typeface="Times New Roman" panose="02020603050405020304"/>
                          <a:ea typeface="宋体" panose="02010600030101010101" pitchFamily="2" charset="-122"/>
                        </a:rPr>
                        <a:t>.*.</a:t>
                      </a:r>
                      <a:r>
                        <a:rPr lang="en-US" sz="2800" kern="100" dirty="0" err="1">
                          <a:effectLst/>
                          <a:latin typeface="Times New Roman" panose="02020603050405020304"/>
                          <a:ea typeface="宋体" panose="02010600030101010101" pitchFamily="2" charset="-122"/>
                        </a:rPr>
                        <a:t>swp</a:t>
                      </a:r>
                      <a:r>
                        <a:rPr lang="zh-CN" sz="2800" kern="100" dirty="0">
                          <a:effectLst/>
                          <a:latin typeface="Times New Roman" panose="02020603050405020304"/>
                          <a:ea typeface="宋体" panose="02010600030101010101" pitchFamily="2" charset="-122"/>
                        </a:rPr>
                        <a:t>中恢复文件</a:t>
                      </a: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84254">
                <a:tc>
                  <a:txBody>
                    <a:bodyPr/>
                    <a:lstStyle/>
                    <a:p>
                      <a:pPr indent="0"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-r file</a:t>
                      </a:r>
                      <a:endParaRPr lang="zh-CN" sz="2800" b="1" kern="100" dirty="0">
                        <a:solidFill>
                          <a:srgbClr val="FF0000"/>
                        </a:solidFill>
                        <a:effectLst/>
                        <a:latin typeface="Times New Roman" panose="02020603050405020304"/>
                        <a:ea typeface="宋体" panose="02010600030101010101" pitchFamily="2" charset="-122"/>
                      </a:endParaRP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800" kern="100" dirty="0">
                          <a:effectLst/>
                          <a:latin typeface="Times New Roman" panose="02020603050405020304"/>
                          <a:ea typeface="宋体" panose="02010600030101010101" pitchFamily="2" charset="-122"/>
                        </a:rPr>
                        <a:t>从</a:t>
                      </a:r>
                      <a:r>
                        <a:rPr lang="en-US" sz="2800" kern="100" dirty="0">
                          <a:effectLst/>
                          <a:latin typeface="Times New Roman" panose="02020603050405020304"/>
                          <a:ea typeface="宋体" panose="02010600030101010101" pitchFamily="2" charset="-122"/>
                        </a:rPr>
                        <a:t>vi</a:t>
                      </a:r>
                      <a:r>
                        <a:rPr lang="zh-CN" sz="2800" kern="100" dirty="0">
                          <a:effectLst/>
                          <a:latin typeface="Times New Roman" panose="02020603050405020304"/>
                          <a:ea typeface="宋体" panose="02010600030101010101" pitchFamily="2" charset="-122"/>
                        </a:rPr>
                        <a:t>崩溃或非正常退出中恢复文件</a:t>
                      </a: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939513">
                <a:tc>
                  <a:txBody>
                    <a:bodyPr/>
                    <a:lstStyle/>
                    <a:p>
                      <a:pPr indent="0" algn="ctr">
                        <a:lnSpc>
                          <a:spcPct val="100000"/>
                        </a:lnSpc>
                        <a:spcAft>
                          <a:spcPts val="0"/>
                        </a:spcAft>
                      </a:pPr>
                      <a:r>
                        <a:rPr lang="en-US" sz="2800" b="1" kern="100" dirty="0">
                          <a:effectLst/>
                          <a:latin typeface="Times New Roman" panose="02020603050405020304"/>
                          <a:ea typeface="宋体" panose="02010600030101010101" pitchFamily="2" charset="-122"/>
                        </a:rPr>
                        <a:t>-R</a:t>
                      </a:r>
                      <a:endParaRPr lang="zh-CN" sz="2800" b="1" kern="100" dirty="0">
                        <a:effectLst/>
                        <a:latin typeface="Times New Roman" panose="02020603050405020304"/>
                        <a:ea typeface="宋体" panose="02010600030101010101" pitchFamily="2" charset="-122"/>
                      </a:endParaRP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ct val="100000"/>
                        </a:lnSpc>
                        <a:spcAft>
                          <a:spcPts val="0"/>
                        </a:spcAft>
                      </a:pPr>
                      <a:r>
                        <a:rPr lang="zh-CN" sz="2800" kern="100" dirty="0">
                          <a:effectLst/>
                          <a:latin typeface="Times New Roman" panose="02020603050405020304"/>
                          <a:ea typeface="宋体" panose="02010600030101010101" pitchFamily="2" charset="-122"/>
                        </a:rPr>
                        <a:t>以只读方式编辑文件。使用此参数时，被编辑的文件不能回存，但可以另存</a:t>
                      </a:r>
                    </a:p>
                  </a:txBody>
                  <a:tcPr marL="68571" marR="6857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标题 1">
            <a:extLst>
              <a:ext uri="{FF2B5EF4-FFF2-40B4-BE49-F238E27FC236}">
                <a16:creationId xmlns:a16="http://schemas.microsoft.com/office/drawing/2014/main" id="{365E6336-AEE9-9B27-026E-E6BB1CCCD7FE}"/>
              </a:ext>
            </a:extLst>
          </p:cNvPr>
          <p:cNvSpPr>
            <a:spLocks noGrp="1" noChangeArrowheads="1"/>
          </p:cNvSpPr>
          <p:nvPr>
            <p:ph type="title"/>
          </p:nvPr>
        </p:nvSpPr>
        <p:spPr/>
        <p:txBody>
          <a:bodyPr/>
          <a:lstStyle/>
          <a:p>
            <a:r>
              <a:rPr lang="en-US" altLang="zh-CN"/>
              <a:t>2</a:t>
            </a:r>
            <a:r>
              <a:rPr lang="zh-CN" altLang="zh-CN"/>
              <a:t>）</a:t>
            </a:r>
            <a:r>
              <a:rPr lang="en-US" altLang="zh-CN"/>
              <a:t>vi</a:t>
            </a:r>
            <a:r>
              <a:rPr lang="zh-CN" altLang="zh-CN"/>
              <a:t>的基本操作</a:t>
            </a:r>
            <a:endParaRPr lang="zh-CN" altLang="en-US"/>
          </a:p>
        </p:txBody>
      </p:sp>
      <p:sp>
        <p:nvSpPr>
          <p:cNvPr id="108547" name="内容占位符 2">
            <a:extLst>
              <a:ext uri="{FF2B5EF4-FFF2-40B4-BE49-F238E27FC236}">
                <a16:creationId xmlns:a16="http://schemas.microsoft.com/office/drawing/2014/main" id="{FEEBD490-14B6-02A3-1B08-6757FC698C3E}"/>
              </a:ext>
            </a:extLst>
          </p:cNvPr>
          <p:cNvSpPr>
            <a:spLocks noGrp="1" noChangeArrowheads="1"/>
          </p:cNvSpPr>
          <p:nvPr>
            <p:ph idx="1"/>
          </p:nvPr>
        </p:nvSpPr>
        <p:spPr/>
        <p:txBody>
          <a:bodyPr/>
          <a:lstStyle/>
          <a:p>
            <a:pPr>
              <a:spcBef>
                <a:spcPct val="0"/>
              </a:spcBef>
              <a:spcAft>
                <a:spcPct val="0"/>
              </a:spcAft>
            </a:pPr>
            <a:r>
              <a:rPr lang="zh-CN" altLang="zh-CN" sz="4000"/>
              <a:t>（</a:t>
            </a:r>
            <a:r>
              <a:rPr lang="en-US" altLang="zh-CN" sz="4000"/>
              <a:t>1</a:t>
            </a:r>
            <a:r>
              <a:rPr lang="zh-CN" altLang="zh-CN" sz="4000"/>
              <a:t>）编辑模式</a:t>
            </a:r>
            <a:endParaRPr lang="en-US" altLang="zh-CN" sz="4000"/>
          </a:p>
          <a:p>
            <a:pPr>
              <a:spcBef>
                <a:spcPct val="0"/>
              </a:spcBef>
              <a:spcAft>
                <a:spcPct val="0"/>
              </a:spcAft>
            </a:pPr>
            <a:r>
              <a:rPr lang="zh-CN" altLang="zh-CN" sz="4000"/>
              <a:t>（</a:t>
            </a:r>
            <a:r>
              <a:rPr lang="en-US" altLang="zh-CN" sz="4000"/>
              <a:t>2</a:t>
            </a:r>
            <a:r>
              <a:rPr lang="zh-CN" altLang="zh-CN" sz="4000"/>
              <a:t>）删除命令</a:t>
            </a:r>
            <a:endParaRPr lang="en-US" altLang="zh-CN" sz="4000"/>
          </a:p>
          <a:p>
            <a:pPr>
              <a:spcBef>
                <a:spcPct val="0"/>
              </a:spcBef>
              <a:spcAft>
                <a:spcPct val="0"/>
              </a:spcAft>
            </a:pPr>
            <a:r>
              <a:rPr lang="zh-CN" altLang="zh-CN" sz="4000"/>
              <a:t>（</a:t>
            </a:r>
            <a:r>
              <a:rPr lang="en-US" altLang="zh-CN" sz="4000"/>
              <a:t>3</a:t>
            </a:r>
            <a:r>
              <a:rPr lang="zh-CN" altLang="zh-CN" sz="4000"/>
              <a:t>）修改或替换</a:t>
            </a:r>
            <a:endParaRPr lang="en-US" altLang="zh-CN" sz="4000"/>
          </a:p>
          <a:p>
            <a:pPr>
              <a:spcBef>
                <a:spcPct val="0"/>
              </a:spcBef>
              <a:spcAft>
                <a:spcPct val="0"/>
              </a:spcAft>
            </a:pPr>
            <a:r>
              <a:rPr lang="zh-CN" altLang="zh-CN" sz="4000"/>
              <a:t>（</a:t>
            </a:r>
            <a:r>
              <a:rPr lang="en-US" altLang="zh-CN" sz="4000"/>
              <a:t>4</a:t>
            </a:r>
            <a:r>
              <a:rPr lang="zh-CN" altLang="zh-CN" sz="4000"/>
              <a:t>）搜索与定位</a:t>
            </a:r>
            <a:endParaRPr lang="en-US" altLang="zh-CN" sz="4000"/>
          </a:p>
          <a:p>
            <a:pPr>
              <a:spcBef>
                <a:spcPct val="0"/>
              </a:spcBef>
              <a:spcAft>
                <a:spcPct val="0"/>
              </a:spcAft>
            </a:pPr>
            <a:r>
              <a:rPr lang="zh-CN" altLang="zh-CN" sz="4000"/>
              <a:t>（</a:t>
            </a:r>
            <a:r>
              <a:rPr lang="en-US" altLang="zh-CN" sz="4000"/>
              <a:t>5</a:t>
            </a:r>
            <a:r>
              <a:rPr lang="zh-CN" altLang="zh-CN" sz="4000"/>
              <a:t>）搜索和替换</a:t>
            </a:r>
            <a:endParaRPr lang="en-US" altLang="zh-CN" sz="4000"/>
          </a:p>
          <a:p>
            <a:pPr>
              <a:spcBef>
                <a:spcPct val="0"/>
              </a:spcBef>
              <a:spcAft>
                <a:spcPct val="0"/>
              </a:spcAft>
            </a:pPr>
            <a:r>
              <a:rPr lang="zh-CN" altLang="zh-CN" sz="4000"/>
              <a:t>（</a:t>
            </a:r>
            <a:r>
              <a:rPr lang="en-US" altLang="zh-CN" sz="4000"/>
              <a:t>6</a:t>
            </a:r>
            <a:r>
              <a:rPr lang="zh-CN" altLang="zh-CN" sz="4000"/>
              <a:t>）块操作命令</a:t>
            </a:r>
            <a:endParaRPr lang="en-US" altLang="zh-CN" sz="4000"/>
          </a:p>
          <a:p>
            <a:pPr>
              <a:spcBef>
                <a:spcPct val="0"/>
              </a:spcBef>
              <a:spcAft>
                <a:spcPct val="0"/>
              </a:spcAft>
            </a:pPr>
            <a:r>
              <a:rPr lang="zh-CN" altLang="zh-CN" sz="4000"/>
              <a:t>（</a:t>
            </a:r>
            <a:r>
              <a:rPr lang="en-US" altLang="zh-CN" sz="4000"/>
              <a:t>7</a:t>
            </a:r>
            <a:r>
              <a:rPr lang="zh-CN" altLang="zh-CN" sz="4000"/>
              <a:t>）缓冲区操作命令</a:t>
            </a:r>
            <a:endParaRPr lang="en-US" altLang="zh-CN" sz="4000"/>
          </a:p>
          <a:p>
            <a:pPr>
              <a:spcBef>
                <a:spcPct val="0"/>
              </a:spcBef>
              <a:spcAft>
                <a:spcPct val="0"/>
              </a:spcAft>
            </a:pPr>
            <a:r>
              <a:rPr lang="zh-CN" altLang="zh-CN" sz="4000"/>
              <a:t>（</a:t>
            </a:r>
            <a:r>
              <a:rPr lang="en-US" altLang="zh-CN" sz="4000"/>
              <a:t>8</a:t>
            </a:r>
            <a:r>
              <a:rPr lang="zh-CN" altLang="zh-CN" sz="4000"/>
              <a:t>）其他命令</a:t>
            </a:r>
            <a:endParaRPr lang="en-US" altLang="zh-CN" sz="4000"/>
          </a:p>
          <a:p>
            <a:pPr>
              <a:spcBef>
                <a:spcPct val="0"/>
              </a:spcBef>
              <a:spcAft>
                <a:spcPct val="0"/>
              </a:spcAft>
            </a:pPr>
            <a:r>
              <a:rPr lang="zh-CN" altLang="zh-CN" sz="4000"/>
              <a:t>（</a:t>
            </a:r>
            <a:r>
              <a:rPr lang="en-US" altLang="zh-CN" sz="4000"/>
              <a:t>9</a:t>
            </a:r>
            <a:r>
              <a:rPr lang="zh-CN" altLang="zh-CN" sz="4000"/>
              <a:t>）</a:t>
            </a:r>
            <a:r>
              <a:rPr lang="zh-CN" altLang="en-US" sz="4000"/>
              <a:t>保存与</a:t>
            </a:r>
            <a:r>
              <a:rPr lang="zh-CN" altLang="zh-CN" sz="4000"/>
              <a:t>退出</a:t>
            </a:r>
            <a:endParaRPr lang="zh-CN" altLang="en-US" sz="400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标题 1">
            <a:extLst>
              <a:ext uri="{FF2B5EF4-FFF2-40B4-BE49-F238E27FC236}">
                <a16:creationId xmlns:a16="http://schemas.microsoft.com/office/drawing/2014/main" id="{1C47AD6A-DE6E-B734-6008-98F94C2337A1}"/>
              </a:ext>
            </a:extLst>
          </p:cNvPr>
          <p:cNvSpPr>
            <a:spLocks noGrp="1" noChangeArrowheads="1"/>
          </p:cNvSpPr>
          <p:nvPr>
            <p:ph type="title"/>
          </p:nvPr>
        </p:nvSpPr>
        <p:spPr/>
        <p:txBody>
          <a:bodyPr/>
          <a:lstStyle/>
          <a:p>
            <a:r>
              <a:rPr lang="zh-CN" altLang="zh-CN"/>
              <a:t>（</a:t>
            </a:r>
            <a:r>
              <a:rPr lang="en-US" altLang="zh-CN"/>
              <a:t>1</a:t>
            </a:r>
            <a:r>
              <a:rPr lang="zh-CN" altLang="zh-CN"/>
              <a:t>）编辑模式</a:t>
            </a:r>
            <a:endParaRPr lang="zh-CN" altLang="en-US"/>
          </a:p>
        </p:txBody>
      </p:sp>
      <p:sp>
        <p:nvSpPr>
          <p:cNvPr id="109571" name="内容占位符 2">
            <a:extLst>
              <a:ext uri="{FF2B5EF4-FFF2-40B4-BE49-F238E27FC236}">
                <a16:creationId xmlns:a16="http://schemas.microsoft.com/office/drawing/2014/main" id="{07339D2F-42E7-2C03-0682-73BA83322640}"/>
              </a:ext>
            </a:extLst>
          </p:cNvPr>
          <p:cNvSpPr>
            <a:spLocks noGrp="1" noChangeArrowheads="1"/>
          </p:cNvSpPr>
          <p:nvPr>
            <p:ph idx="1"/>
          </p:nvPr>
        </p:nvSpPr>
        <p:spPr>
          <a:xfrm>
            <a:off x="107950" y="620713"/>
            <a:ext cx="8928100" cy="5761037"/>
          </a:xfrm>
        </p:spPr>
        <p:txBody>
          <a:bodyPr/>
          <a:lstStyle/>
          <a:p>
            <a:r>
              <a:rPr lang="zh-CN" altLang="zh-CN" sz="4000"/>
              <a:t>在</a:t>
            </a:r>
            <a:r>
              <a:rPr lang="zh-CN" altLang="zh-CN" sz="4000">
                <a:solidFill>
                  <a:srgbClr val="FF0000"/>
                </a:solidFill>
              </a:rPr>
              <a:t>命令模式</a:t>
            </a:r>
            <a:r>
              <a:rPr lang="zh-CN" altLang="zh-CN" sz="4000"/>
              <a:t>下，</a:t>
            </a:r>
            <a:r>
              <a:rPr lang="zh-CN" altLang="en-US" sz="4000"/>
              <a:t>输入</a:t>
            </a:r>
            <a:r>
              <a:rPr lang="en-US" altLang="zh-CN" sz="4000" u="sng">
                <a:solidFill>
                  <a:srgbClr val="FF0000"/>
                </a:solidFill>
              </a:rPr>
              <a:t>i</a:t>
            </a:r>
            <a:r>
              <a:rPr lang="zh-CN" altLang="en-US" sz="4000" u="sng">
                <a:solidFill>
                  <a:srgbClr val="FF0000"/>
                </a:solidFill>
              </a:rPr>
              <a:t>、</a:t>
            </a:r>
            <a:r>
              <a:rPr lang="en-US" altLang="zh-CN" sz="4000" u="sng">
                <a:solidFill>
                  <a:srgbClr val="FF0000"/>
                </a:solidFill>
              </a:rPr>
              <a:t>I</a:t>
            </a:r>
            <a:r>
              <a:rPr lang="zh-CN" altLang="en-US" sz="4000" u="sng">
                <a:solidFill>
                  <a:srgbClr val="FF0000"/>
                </a:solidFill>
              </a:rPr>
              <a:t>、</a:t>
            </a:r>
            <a:r>
              <a:rPr lang="en-US" altLang="zh-CN" sz="4000" u="sng">
                <a:solidFill>
                  <a:srgbClr val="FF0000"/>
                </a:solidFill>
              </a:rPr>
              <a:t>a</a:t>
            </a:r>
            <a:r>
              <a:rPr lang="zh-CN" altLang="en-US" sz="4000" u="sng">
                <a:solidFill>
                  <a:srgbClr val="FF0000"/>
                </a:solidFill>
              </a:rPr>
              <a:t>、</a:t>
            </a:r>
            <a:r>
              <a:rPr lang="en-US" altLang="zh-CN" sz="4000" u="sng">
                <a:solidFill>
                  <a:srgbClr val="FF0000"/>
                </a:solidFill>
              </a:rPr>
              <a:t>A</a:t>
            </a:r>
            <a:r>
              <a:rPr lang="zh-CN" altLang="en-US" sz="4000" u="sng">
                <a:solidFill>
                  <a:srgbClr val="FF0000"/>
                </a:solidFill>
              </a:rPr>
              <a:t>、</a:t>
            </a:r>
            <a:r>
              <a:rPr lang="en-US" altLang="zh-CN" sz="4000" u="sng">
                <a:solidFill>
                  <a:srgbClr val="FF0000"/>
                </a:solidFill>
              </a:rPr>
              <a:t>o</a:t>
            </a:r>
            <a:r>
              <a:rPr lang="zh-CN" altLang="en-US" sz="4000" u="sng">
                <a:solidFill>
                  <a:srgbClr val="FF0000"/>
                </a:solidFill>
              </a:rPr>
              <a:t>和</a:t>
            </a:r>
            <a:r>
              <a:rPr lang="en-US" altLang="zh-CN" sz="4000" u="sng">
                <a:solidFill>
                  <a:srgbClr val="FF0000"/>
                </a:solidFill>
              </a:rPr>
              <a:t>O</a:t>
            </a:r>
            <a:r>
              <a:rPr lang="zh-CN" altLang="en-US" sz="4000" u="sng">
                <a:solidFill>
                  <a:srgbClr val="FF0000"/>
                </a:solidFill>
              </a:rPr>
              <a:t>命</a:t>
            </a:r>
            <a:r>
              <a:rPr lang="zh-CN" altLang="zh-CN" sz="4000" u="sng">
                <a:solidFill>
                  <a:srgbClr val="FF0000"/>
                </a:solidFill>
              </a:rPr>
              <a:t>令进入编辑模式</a:t>
            </a:r>
            <a:r>
              <a:rPr lang="zh-CN" altLang="zh-CN" sz="4000"/>
              <a:t>，编辑完毕后通过</a:t>
            </a:r>
            <a:r>
              <a:rPr lang="zh-CN" altLang="zh-CN" sz="4000" u="sng">
                <a:solidFill>
                  <a:srgbClr val="FF0000"/>
                </a:solidFill>
              </a:rPr>
              <a:t>按</a:t>
            </a:r>
            <a:r>
              <a:rPr lang="en-US" altLang="zh-CN" sz="4000" u="sng">
                <a:solidFill>
                  <a:srgbClr val="FF0000"/>
                </a:solidFill>
              </a:rPr>
              <a:t>Esc</a:t>
            </a:r>
            <a:r>
              <a:rPr lang="zh-CN" altLang="zh-CN" sz="4000" u="sng">
                <a:solidFill>
                  <a:srgbClr val="FF0000"/>
                </a:solidFill>
              </a:rPr>
              <a:t>键</a:t>
            </a:r>
            <a:r>
              <a:rPr lang="zh-CN" altLang="zh-CN" sz="4000"/>
              <a:t>返回命令模式</a:t>
            </a:r>
            <a:r>
              <a:rPr lang="zh-CN" altLang="en-US" sz="4000"/>
              <a:t>。</a:t>
            </a:r>
            <a:endParaRPr lang="en-US" altLang="zh-CN" sz="4000"/>
          </a:p>
          <a:p>
            <a:endParaRPr lang="zh-CN" altLang="en-US"/>
          </a:p>
        </p:txBody>
      </p:sp>
      <p:graphicFrame>
        <p:nvGraphicFramePr>
          <p:cNvPr id="4" name="表格 3">
            <a:extLst>
              <a:ext uri="{FF2B5EF4-FFF2-40B4-BE49-F238E27FC236}">
                <a16:creationId xmlns:a16="http://schemas.microsoft.com/office/drawing/2014/main" id="{0632FFC3-ED60-921D-5F7A-C21A213C3785}"/>
              </a:ext>
            </a:extLst>
          </p:cNvPr>
          <p:cNvGraphicFramePr>
            <a:graphicFrameLocks noGrp="1"/>
          </p:cNvGraphicFramePr>
          <p:nvPr/>
        </p:nvGraphicFramePr>
        <p:xfrm>
          <a:off x="22225" y="2565400"/>
          <a:ext cx="9036050" cy="3787775"/>
        </p:xfrm>
        <a:graphic>
          <a:graphicData uri="http://schemas.openxmlformats.org/drawingml/2006/table">
            <a:tbl>
              <a:tblPr firstRow="1" firstCol="1" bandRow="1"/>
              <a:tblGrid>
                <a:gridCol w="1302494">
                  <a:extLst>
                    <a:ext uri="{9D8B030D-6E8A-4147-A177-3AD203B41FA5}">
                      <a16:colId xmlns:a16="http://schemas.microsoft.com/office/drawing/2014/main" val="20000"/>
                    </a:ext>
                  </a:extLst>
                </a:gridCol>
                <a:gridCol w="3215532">
                  <a:extLst>
                    <a:ext uri="{9D8B030D-6E8A-4147-A177-3AD203B41FA5}">
                      <a16:colId xmlns:a16="http://schemas.microsoft.com/office/drawing/2014/main" val="20001"/>
                    </a:ext>
                  </a:extLst>
                </a:gridCol>
                <a:gridCol w="1343197">
                  <a:extLst>
                    <a:ext uri="{9D8B030D-6E8A-4147-A177-3AD203B41FA5}">
                      <a16:colId xmlns:a16="http://schemas.microsoft.com/office/drawing/2014/main" val="20002"/>
                    </a:ext>
                  </a:extLst>
                </a:gridCol>
                <a:gridCol w="3174828">
                  <a:extLst>
                    <a:ext uri="{9D8B030D-6E8A-4147-A177-3AD203B41FA5}">
                      <a16:colId xmlns:a16="http://schemas.microsoft.com/office/drawing/2014/main" val="20003"/>
                    </a:ext>
                  </a:extLst>
                </a:gridCol>
              </a:tblGrid>
              <a:tr h="856192">
                <a:tc>
                  <a:txBody>
                    <a:bodyPr/>
                    <a:lstStyle/>
                    <a:p>
                      <a:pPr algn="ctr">
                        <a:lnSpc>
                          <a:spcPct val="100000"/>
                        </a:lnSpc>
                        <a:spcAft>
                          <a:spcPts val="0"/>
                        </a:spcAft>
                      </a:pPr>
                      <a:r>
                        <a:rPr lang="zh-CN" sz="4000" b="1" kern="100" dirty="0">
                          <a:effectLst/>
                          <a:latin typeface="Times New Roman" panose="02020603050405020304"/>
                          <a:ea typeface="宋体" panose="02010600030101010101" pitchFamily="2" charset="-122"/>
                        </a:rPr>
                        <a:t>命令</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4000" b="1" kern="100" dirty="0">
                          <a:effectLst/>
                          <a:latin typeface="Times New Roman" panose="02020603050405020304"/>
                          <a:ea typeface="宋体" panose="02010600030101010101" pitchFamily="2" charset="-122"/>
                        </a:rPr>
                        <a:t>功能描述</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4000" b="1" kern="100" dirty="0">
                          <a:effectLst/>
                          <a:latin typeface="Times New Roman" panose="02020603050405020304"/>
                          <a:ea typeface="宋体" panose="02010600030101010101" pitchFamily="2" charset="-122"/>
                        </a:rPr>
                        <a:t>命令</a:t>
                      </a: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4000" b="1" kern="100" dirty="0">
                          <a:effectLst/>
                          <a:latin typeface="Times New Roman" panose="02020603050405020304"/>
                          <a:ea typeface="宋体" panose="02010600030101010101" pitchFamily="2" charset="-122"/>
                        </a:rPr>
                        <a:t>功能描述</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56192">
                <a:tc>
                  <a:txBody>
                    <a:bodyPr/>
                    <a:lstStyle/>
                    <a:p>
                      <a:pPr algn="ctr">
                        <a:lnSpc>
                          <a:spcPct val="100000"/>
                        </a:lnSpc>
                        <a:spcAft>
                          <a:spcPts val="0"/>
                        </a:spcAft>
                      </a:pPr>
                      <a:r>
                        <a:rPr lang="en-US" sz="4000" b="1" kern="100" dirty="0">
                          <a:effectLst/>
                          <a:latin typeface="Times New Roman" panose="02020603050405020304"/>
                          <a:ea typeface="宋体" panose="02010600030101010101" pitchFamily="2" charset="-122"/>
                        </a:rPr>
                        <a:t>i</a:t>
                      </a:r>
                      <a:endParaRPr lang="zh-CN" sz="4000" b="1" kern="100" dirty="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4000" b="1" kern="100" dirty="0">
                          <a:effectLst/>
                          <a:latin typeface="Times New Roman" panose="02020603050405020304"/>
                          <a:ea typeface="宋体" panose="02010600030101010101" pitchFamily="2" charset="-122"/>
                        </a:rPr>
                        <a:t>光标处插入</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4000" b="1" kern="100" dirty="0">
                          <a:effectLst/>
                          <a:latin typeface="Times New Roman" panose="02020603050405020304"/>
                          <a:ea typeface="宋体" panose="02010600030101010101" pitchFamily="2" charset="-122"/>
                        </a:rPr>
                        <a:t>I</a:t>
                      </a:r>
                      <a:endParaRPr lang="zh-CN" sz="4000" b="1" kern="100" dirty="0">
                        <a:effectLst/>
                        <a:latin typeface="Times New Roman" panose="02020603050405020304"/>
                        <a:ea typeface="宋体" panose="02010600030101010101" pitchFamily="2" charset="-122"/>
                      </a:endParaRP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4000" b="1" kern="100" dirty="0">
                          <a:effectLst/>
                          <a:latin typeface="Times New Roman" panose="02020603050405020304"/>
                          <a:ea typeface="宋体" panose="02010600030101010101" pitchFamily="2" charset="-122"/>
                        </a:rPr>
                        <a:t>行首插入</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56192">
                <a:tc>
                  <a:txBody>
                    <a:bodyPr/>
                    <a:lstStyle/>
                    <a:p>
                      <a:pPr algn="ctr">
                        <a:lnSpc>
                          <a:spcPct val="100000"/>
                        </a:lnSpc>
                        <a:spcAft>
                          <a:spcPts val="0"/>
                        </a:spcAft>
                      </a:pPr>
                      <a:r>
                        <a:rPr lang="en-US" sz="4000" b="1" kern="100" dirty="0">
                          <a:effectLst/>
                          <a:latin typeface="Times New Roman" panose="02020603050405020304"/>
                          <a:ea typeface="宋体" panose="02010600030101010101" pitchFamily="2" charset="-122"/>
                        </a:rPr>
                        <a:t>a</a:t>
                      </a:r>
                      <a:endParaRPr lang="zh-CN" sz="4000" b="1" kern="100" dirty="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4000" b="1" kern="100">
                          <a:effectLst/>
                          <a:latin typeface="Times New Roman" panose="02020603050405020304"/>
                          <a:ea typeface="宋体" panose="02010600030101010101" pitchFamily="2" charset="-122"/>
                        </a:rPr>
                        <a:t>光标后追加</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4000" b="1" kern="100" dirty="0">
                          <a:effectLst/>
                          <a:latin typeface="Times New Roman" panose="02020603050405020304"/>
                          <a:ea typeface="宋体" panose="02010600030101010101" pitchFamily="2" charset="-122"/>
                        </a:rPr>
                        <a:t>A</a:t>
                      </a:r>
                      <a:endParaRPr lang="zh-CN" sz="4000" b="1" kern="100" dirty="0">
                        <a:effectLst/>
                        <a:latin typeface="Times New Roman" panose="02020603050405020304"/>
                        <a:ea typeface="宋体" panose="02010600030101010101" pitchFamily="2" charset="-122"/>
                      </a:endParaRP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4000" b="1" kern="100" dirty="0">
                          <a:effectLst/>
                          <a:latin typeface="Times New Roman" panose="02020603050405020304"/>
                          <a:ea typeface="宋体" panose="02010600030101010101" pitchFamily="2" charset="-122"/>
                        </a:rPr>
                        <a:t>行末追加</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219200">
                <a:tc>
                  <a:txBody>
                    <a:bodyPr/>
                    <a:lstStyle/>
                    <a:p>
                      <a:pPr algn="ctr">
                        <a:lnSpc>
                          <a:spcPct val="100000"/>
                        </a:lnSpc>
                        <a:spcAft>
                          <a:spcPts val="0"/>
                        </a:spcAft>
                      </a:pPr>
                      <a:r>
                        <a:rPr lang="en-US" sz="4000" b="1" kern="100">
                          <a:effectLst/>
                          <a:latin typeface="Times New Roman" panose="02020603050405020304"/>
                          <a:ea typeface="宋体" panose="02010600030101010101" pitchFamily="2" charset="-122"/>
                        </a:rPr>
                        <a:t>o</a:t>
                      </a:r>
                      <a:endParaRPr lang="zh-CN" sz="4000" b="1" kern="10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4000" b="1" kern="100">
                          <a:effectLst/>
                          <a:latin typeface="Times New Roman" panose="02020603050405020304"/>
                          <a:ea typeface="宋体" panose="02010600030101010101" pitchFamily="2" charset="-122"/>
                        </a:rPr>
                        <a:t>当前行后插入新行</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4000" b="1" kern="100">
                          <a:effectLst/>
                          <a:latin typeface="Times New Roman" panose="02020603050405020304"/>
                          <a:ea typeface="宋体" panose="02010600030101010101" pitchFamily="2" charset="-122"/>
                        </a:rPr>
                        <a:t>O</a:t>
                      </a:r>
                      <a:endParaRPr lang="zh-CN" sz="4000" b="1" kern="100">
                        <a:effectLst/>
                        <a:latin typeface="Times New Roman" panose="02020603050405020304"/>
                        <a:ea typeface="宋体" panose="02010600030101010101" pitchFamily="2" charset="-122"/>
                      </a:endParaRP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4000" b="1" kern="100" dirty="0">
                          <a:effectLst/>
                          <a:latin typeface="Times New Roman" panose="02020603050405020304"/>
                          <a:ea typeface="宋体" panose="02010600030101010101" pitchFamily="2" charset="-122"/>
                        </a:rPr>
                        <a:t>当前行前插入新行</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标题 1">
            <a:extLst>
              <a:ext uri="{FF2B5EF4-FFF2-40B4-BE49-F238E27FC236}">
                <a16:creationId xmlns:a16="http://schemas.microsoft.com/office/drawing/2014/main" id="{7CCE6B02-4078-CD9D-9D2B-27C6CE0ACE1E}"/>
              </a:ext>
            </a:extLst>
          </p:cNvPr>
          <p:cNvSpPr>
            <a:spLocks noGrp="1" noChangeArrowheads="1"/>
          </p:cNvSpPr>
          <p:nvPr>
            <p:ph type="title"/>
          </p:nvPr>
        </p:nvSpPr>
        <p:spPr/>
        <p:txBody>
          <a:bodyPr/>
          <a:lstStyle/>
          <a:p>
            <a:r>
              <a:rPr lang="zh-CN" altLang="zh-CN"/>
              <a:t>（</a:t>
            </a:r>
            <a:r>
              <a:rPr lang="en-US" altLang="zh-CN"/>
              <a:t>2</a:t>
            </a:r>
            <a:r>
              <a:rPr lang="zh-CN" altLang="zh-CN"/>
              <a:t>）删除命令</a:t>
            </a:r>
            <a:endParaRPr lang="zh-CN" altLang="en-US"/>
          </a:p>
        </p:txBody>
      </p:sp>
      <p:graphicFrame>
        <p:nvGraphicFramePr>
          <p:cNvPr id="4" name="内容占位符 3">
            <a:extLst>
              <a:ext uri="{FF2B5EF4-FFF2-40B4-BE49-F238E27FC236}">
                <a16:creationId xmlns:a16="http://schemas.microsoft.com/office/drawing/2014/main" id="{5C46CF2E-D3F4-70B7-F010-D1C27E6ABFB2}"/>
              </a:ext>
            </a:extLst>
          </p:cNvPr>
          <p:cNvGraphicFramePr>
            <a:graphicFrameLocks noGrp="1"/>
          </p:cNvGraphicFramePr>
          <p:nvPr>
            <p:ph idx="1"/>
          </p:nvPr>
        </p:nvGraphicFramePr>
        <p:xfrm>
          <a:off x="107950" y="620713"/>
          <a:ext cx="8928100" cy="5834062"/>
        </p:xfrm>
        <a:graphic>
          <a:graphicData uri="http://schemas.openxmlformats.org/drawingml/2006/table">
            <a:tbl>
              <a:tblPr firstRow="1" firstCol="1" bandRow="1"/>
              <a:tblGrid>
                <a:gridCol w="1224014">
                  <a:extLst>
                    <a:ext uri="{9D8B030D-6E8A-4147-A177-3AD203B41FA5}">
                      <a16:colId xmlns:a16="http://schemas.microsoft.com/office/drawing/2014/main" val="20000"/>
                    </a:ext>
                  </a:extLst>
                </a:gridCol>
                <a:gridCol w="3045946">
                  <a:extLst>
                    <a:ext uri="{9D8B030D-6E8A-4147-A177-3AD203B41FA5}">
                      <a16:colId xmlns:a16="http://schemas.microsoft.com/office/drawing/2014/main" val="20001"/>
                    </a:ext>
                  </a:extLst>
                </a:gridCol>
                <a:gridCol w="1274102">
                  <a:extLst>
                    <a:ext uri="{9D8B030D-6E8A-4147-A177-3AD203B41FA5}">
                      <a16:colId xmlns:a16="http://schemas.microsoft.com/office/drawing/2014/main" val="20002"/>
                    </a:ext>
                  </a:extLst>
                </a:gridCol>
                <a:gridCol w="3384039">
                  <a:extLst>
                    <a:ext uri="{9D8B030D-6E8A-4147-A177-3AD203B41FA5}">
                      <a16:colId xmlns:a16="http://schemas.microsoft.com/office/drawing/2014/main" val="20003"/>
                    </a:ext>
                  </a:extLst>
                </a:gridCol>
              </a:tblGrid>
              <a:tr h="1123236">
                <a:tc>
                  <a:txBody>
                    <a:bodyPr/>
                    <a:lstStyle/>
                    <a:p>
                      <a:pPr algn="ctr">
                        <a:lnSpc>
                          <a:spcPct val="100000"/>
                        </a:lnSpc>
                        <a:spcAft>
                          <a:spcPts val="0"/>
                        </a:spcAft>
                      </a:pPr>
                      <a:r>
                        <a:rPr lang="zh-CN" sz="3600" b="1" kern="100" dirty="0">
                          <a:effectLst/>
                          <a:latin typeface="Times New Roman" panose="02020603050405020304"/>
                          <a:ea typeface="宋体" panose="02010600030101010101" pitchFamily="2" charset="-122"/>
                        </a:rPr>
                        <a:t>命令</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功能描述</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3600" b="1" kern="100" dirty="0">
                          <a:effectLst/>
                          <a:latin typeface="Times New Roman" panose="02020603050405020304"/>
                          <a:ea typeface="宋体" panose="02010600030101010101" pitchFamily="2" charset="-122"/>
                        </a:rPr>
                        <a:t>命令</a:t>
                      </a: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功能描述</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23236">
                <a:tc>
                  <a:txBody>
                    <a:bodyPr/>
                    <a:lstStyle/>
                    <a:p>
                      <a:pPr algn="ctr">
                        <a:lnSpc>
                          <a:spcPct val="100000"/>
                        </a:lnSpc>
                        <a:spcAft>
                          <a:spcPts val="0"/>
                        </a:spcAft>
                      </a:pPr>
                      <a:r>
                        <a:rPr lang="en-US" sz="4400" b="1" kern="100" dirty="0">
                          <a:solidFill>
                            <a:srgbClr val="FF0000"/>
                          </a:solidFill>
                          <a:effectLst/>
                          <a:latin typeface="Times New Roman" panose="02020603050405020304"/>
                          <a:ea typeface="宋体" panose="02010600030101010101" pitchFamily="2" charset="-122"/>
                        </a:rPr>
                        <a:t>x</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删除光标处的字符</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4400" b="1" kern="100" dirty="0">
                          <a:solidFill>
                            <a:srgbClr val="FF0000"/>
                          </a:solidFill>
                          <a:effectLst/>
                          <a:latin typeface="Times New Roman" panose="02020603050405020304"/>
                          <a:ea typeface="宋体" panose="02010600030101010101" pitchFamily="2" charset="-122"/>
                        </a:rPr>
                        <a:t>X</a:t>
                      </a: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删除光标前的字符</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23236">
                <a:tc>
                  <a:txBody>
                    <a:bodyPr/>
                    <a:lstStyle/>
                    <a:p>
                      <a:pPr algn="ctr">
                        <a:lnSpc>
                          <a:spcPct val="100000"/>
                        </a:lnSpc>
                        <a:spcAft>
                          <a:spcPts val="0"/>
                        </a:spcAft>
                      </a:pPr>
                      <a:r>
                        <a:rPr lang="en-US" sz="4400" b="1" kern="100" dirty="0">
                          <a:solidFill>
                            <a:srgbClr val="FF0000"/>
                          </a:solidFill>
                          <a:effectLst/>
                          <a:latin typeface="Times New Roman" panose="02020603050405020304"/>
                          <a:ea typeface="宋体" panose="02010600030101010101" pitchFamily="2" charset="-122"/>
                        </a:rPr>
                        <a:t>d0</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从光标处删除到行首</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4400" b="1" kern="100" dirty="0">
                          <a:solidFill>
                            <a:srgbClr val="FF0000"/>
                          </a:solidFill>
                          <a:effectLst/>
                          <a:latin typeface="Times New Roman" panose="02020603050405020304"/>
                          <a:ea typeface="宋体" panose="02010600030101010101" pitchFamily="2" charset="-122"/>
                        </a:rPr>
                        <a:t>D</a:t>
                      </a: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从光标处删除到行末</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23236">
                <a:tc>
                  <a:txBody>
                    <a:bodyPr/>
                    <a:lstStyle/>
                    <a:p>
                      <a:pPr algn="ctr">
                        <a:lnSpc>
                          <a:spcPct val="100000"/>
                        </a:lnSpc>
                        <a:spcAft>
                          <a:spcPts val="0"/>
                        </a:spcAft>
                      </a:pPr>
                      <a:r>
                        <a:rPr lang="en-US" sz="4400" b="1" kern="100" dirty="0" err="1">
                          <a:solidFill>
                            <a:srgbClr val="FF0000"/>
                          </a:solidFill>
                          <a:effectLst/>
                          <a:latin typeface="Times New Roman" panose="02020603050405020304"/>
                          <a:ea typeface="宋体" panose="02010600030101010101" pitchFamily="2" charset="-122"/>
                        </a:rPr>
                        <a:t>db</a:t>
                      </a:r>
                      <a:endParaRPr lang="en-US" sz="4400" b="1" kern="100" dirty="0">
                        <a:solidFill>
                          <a:srgbClr val="FF0000"/>
                        </a:solidFill>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a:effectLst/>
                          <a:latin typeface="Times New Roman" panose="02020603050405020304"/>
                          <a:ea typeface="宋体" panose="02010600030101010101" pitchFamily="2" charset="-122"/>
                        </a:rPr>
                        <a:t>删除光标到本</a:t>
                      </a:r>
                      <a:r>
                        <a:rPr lang="en-US" sz="3600" b="1" kern="100">
                          <a:effectLst/>
                          <a:latin typeface="Times New Roman" panose="02020603050405020304"/>
                          <a:ea typeface="宋体" panose="02010600030101010101" pitchFamily="2" charset="-122"/>
                        </a:rPr>
                        <a:t>word</a:t>
                      </a:r>
                      <a:r>
                        <a:rPr lang="zh-CN" sz="3600" b="1" kern="100">
                          <a:effectLst/>
                          <a:latin typeface="Times New Roman" panose="02020603050405020304"/>
                          <a:ea typeface="宋体" panose="02010600030101010101" pitchFamily="2" charset="-122"/>
                        </a:rPr>
                        <a:t>始</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4400" b="1" kern="100" dirty="0" err="1">
                          <a:solidFill>
                            <a:srgbClr val="FF0000"/>
                          </a:solidFill>
                          <a:effectLst/>
                          <a:latin typeface="Times New Roman" panose="02020603050405020304"/>
                          <a:ea typeface="宋体" panose="02010600030101010101" pitchFamily="2" charset="-122"/>
                        </a:rPr>
                        <a:t>dw</a:t>
                      </a:r>
                      <a:endParaRPr lang="en-US" sz="4400" b="1" kern="100" dirty="0">
                        <a:solidFill>
                          <a:srgbClr val="FF0000"/>
                        </a:solidFill>
                        <a:effectLst/>
                        <a:latin typeface="Times New Roman" panose="02020603050405020304"/>
                        <a:ea typeface="宋体" panose="02010600030101010101" pitchFamily="2" charset="-122"/>
                      </a:endParaRP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删除光标到下一个词首</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341120">
                <a:tc>
                  <a:txBody>
                    <a:bodyPr/>
                    <a:lstStyle/>
                    <a:p>
                      <a:pPr algn="ctr">
                        <a:lnSpc>
                          <a:spcPct val="100000"/>
                        </a:lnSpc>
                        <a:spcAft>
                          <a:spcPts val="0"/>
                        </a:spcAft>
                      </a:pPr>
                      <a:r>
                        <a:rPr lang="en-US" sz="4400" b="1" kern="100" dirty="0" err="1">
                          <a:solidFill>
                            <a:srgbClr val="FF0000"/>
                          </a:solidFill>
                          <a:effectLst/>
                          <a:latin typeface="Times New Roman" panose="02020603050405020304"/>
                          <a:ea typeface="宋体" panose="02010600030101010101" pitchFamily="2" charset="-122"/>
                        </a:rPr>
                        <a:t>dd</a:t>
                      </a:r>
                      <a:endParaRPr lang="en-US" sz="4400" b="1" kern="100" dirty="0">
                        <a:solidFill>
                          <a:srgbClr val="FF0000"/>
                        </a:solidFill>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a:effectLst/>
                          <a:latin typeface="Times New Roman" panose="02020603050405020304"/>
                          <a:ea typeface="宋体" panose="02010600030101010101" pitchFamily="2" charset="-122"/>
                        </a:rPr>
                        <a:t>删除光标所在的行</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4400" b="1" kern="100" dirty="0">
                          <a:solidFill>
                            <a:srgbClr val="FF0000"/>
                          </a:solidFill>
                          <a:effectLst/>
                          <a:latin typeface="Times New Roman" panose="02020603050405020304"/>
                          <a:ea typeface="宋体" panose="02010600030101010101" pitchFamily="2" charset="-122"/>
                        </a:rPr>
                        <a:t>#</a:t>
                      </a:r>
                      <a:r>
                        <a:rPr lang="en-US" sz="4400" b="1" kern="100" dirty="0" err="1">
                          <a:solidFill>
                            <a:srgbClr val="FF0000"/>
                          </a:solidFill>
                          <a:effectLst/>
                          <a:latin typeface="Times New Roman" panose="02020603050405020304"/>
                          <a:ea typeface="宋体" panose="02010600030101010101" pitchFamily="2" charset="-122"/>
                        </a:rPr>
                        <a:t>cmd</a:t>
                      </a:r>
                      <a:endParaRPr lang="en-US" sz="4400" b="1" kern="100" dirty="0">
                        <a:solidFill>
                          <a:srgbClr val="FF0000"/>
                        </a:solidFill>
                        <a:effectLst/>
                        <a:latin typeface="Times New Roman" panose="02020603050405020304"/>
                        <a:ea typeface="宋体" panose="02010600030101010101" pitchFamily="2" charset="-122"/>
                      </a:endParaRP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3600" b="1" kern="100" dirty="0">
                          <a:effectLst/>
                          <a:latin typeface="Times New Roman" panose="02020603050405020304"/>
                          <a:ea typeface="+mn-ea"/>
                        </a:rPr>
                        <a:t>重复执行</a:t>
                      </a:r>
                      <a:r>
                        <a:rPr lang="zh-CN" sz="3600" b="1" kern="100" dirty="0">
                          <a:effectLst/>
                          <a:latin typeface="Times New Roman" panose="02020603050405020304"/>
                          <a:ea typeface="宋体" panose="02010600030101010101" pitchFamily="2" charset="-122"/>
                        </a:rPr>
                        <a:t>命令</a:t>
                      </a:r>
                      <a:r>
                        <a:rPr lang="en-US" sz="3600" b="1" kern="100" dirty="0" err="1">
                          <a:effectLst/>
                          <a:latin typeface="Times New Roman" panose="02020603050405020304"/>
                          <a:ea typeface="宋体" panose="02010600030101010101" pitchFamily="2" charset="-122"/>
                        </a:rPr>
                        <a:t>cmd </a:t>
                      </a:r>
                      <a:r>
                        <a:rPr lang="en-US" sz="3600" b="1" kern="100" dirty="0">
                          <a:effectLst/>
                          <a:latin typeface="Times New Roman" panose="02020603050405020304"/>
                          <a:ea typeface="宋体" panose="02010600030101010101" pitchFamily="2" charset="-122"/>
                        </a:rPr>
                        <a:t>#</a:t>
                      </a:r>
                      <a:r>
                        <a:rPr lang="zh-CN" sz="3600" b="1" kern="100" dirty="0">
                          <a:effectLst/>
                          <a:latin typeface="Times New Roman" panose="02020603050405020304"/>
                          <a:ea typeface="宋体" panose="02010600030101010101" pitchFamily="2" charset="-122"/>
                        </a:rPr>
                        <a:t>次</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1618" name="标题 1">
            <a:extLst>
              <a:ext uri="{FF2B5EF4-FFF2-40B4-BE49-F238E27FC236}">
                <a16:creationId xmlns:a16="http://schemas.microsoft.com/office/drawing/2014/main" id="{8818FC87-F29A-E292-3081-995C07492CAC}"/>
              </a:ext>
            </a:extLst>
          </p:cNvPr>
          <p:cNvSpPr>
            <a:spLocks noGrp="1" noChangeArrowheads="1"/>
          </p:cNvSpPr>
          <p:nvPr>
            <p:ph type="title"/>
          </p:nvPr>
        </p:nvSpPr>
        <p:spPr/>
        <p:txBody>
          <a:bodyPr/>
          <a:lstStyle/>
          <a:p>
            <a:r>
              <a:rPr lang="zh-CN" altLang="zh-CN"/>
              <a:t>（</a:t>
            </a:r>
            <a:r>
              <a:rPr lang="en-US" altLang="zh-CN"/>
              <a:t>3</a:t>
            </a:r>
            <a:r>
              <a:rPr lang="zh-CN" altLang="zh-CN"/>
              <a:t>）修改或替换</a:t>
            </a:r>
            <a:endParaRPr lang="zh-CN" altLang="en-US"/>
          </a:p>
        </p:txBody>
      </p:sp>
      <p:graphicFrame>
        <p:nvGraphicFramePr>
          <p:cNvPr id="5" name="内容占位符 4">
            <a:extLst>
              <a:ext uri="{FF2B5EF4-FFF2-40B4-BE49-F238E27FC236}">
                <a16:creationId xmlns:a16="http://schemas.microsoft.com/office/drawing/2014/main" id="{728CA356-EE5A-260A-E318-C0098C7465E3}"/>
              </a:ext>
            </a:extLst>
          </p:cNvPr>
          <p:cNvGraphicFramePr>
            <a:graphicFrameLocks noGrp="1"/>
          </p:cNvGraphicFramePr>
          <p:nvPr>
            <p:ph idx="1"/>
          </p:nvPr>
        </p:nvGraphicFramePr>
        <p:xfrm>
          <a:off x="107950" y="620713"/>
          <a:ext cx="9001125" cy="5622925"/>
        </p:xfrm>
        <a:graphic>
          <a:graphicData uri="http://schemas.openxmlformats.org/drawingml/2006/table">
            <a:tbl>
              <a:tblPr firstRow="1" firstCol="1" bandRow="1"/>
              <a:tblGrid>
                <a:gridCol w="1487789">
                  <a:extLst>
                    <a:ext uri="{9D8B030D-6E8A-4147-A177-3AD203B41FA5}">
                      <a16:colId xmlns:a16="http://schemas.microsoft.com/office/drawing/2014/main" val="20000"/>
                    </a:ext>
                  </a:extLst>
                </a:gridCol>
                <a:gridCol w="3012774">
                  <a:extLst>
                    <a:ext uri="{9D8B030D-6E8A-4147-A177-3AD203B41FA5}">
                      <a16:colId xmlns:a16="http://schemas.microsoft.com/office/drawing/2014/main" val="20001"/>
                    </a:ext>
                  </a:extLst>
                </a:gridCol>
                <a:gridCol w="1220492">
                  <a:extLst>
                    <a:ext uri="{9D8B030D-6E8A-4147-A177-3AD203B41FA5}">
                      <a16:colId xmlns:a16="http://schemas.microsoft.com/office/drawing/2014/main" val="20002"/>
                    </a:ext>
                  </a:extLst>
                </a:gridCol>
                <a:gridCol w="3280071">
                  <a:extLst>
                    <a:ext uri="{9D8B030D-6E8A-4147-A177-3AD203B41FA5}">
                      <a16:colId xmlns:a16="http://schemas.microsoft.com/office/drawing/2014/main" val="20003"/>
                    </a:ext>
                  </a:extLst>
                </a:gridCol>
              </a:tblGrid>
              <a:tr h="1091046">
                <a:tc>
                  <a:txBody>
                    <a:bodyPr/>
                    <a:lstStyle/>
                    <a:p>
                      <a:pPr algn="ctr">
                        <a:lnSpc>
                          <a:spcPct val="100000"/>
                        </a:lnSpc>
                        <a:spcAft>
                          <a:spcPts val="0"/>
                        </a:spcAft>
                      </a:pPr>
                      <a:r>
                        <a:rPr lang="zh-CN" sz="3600" b="1" kern="100" dirty="0">
                          <a:effectLst/>
                          <a:latin typeface="Times New Roman" panose="02020603050405020304"/>
                          <a:ea typeface="宋体" panose="02010600030101010101" pitchFamily="2" charset="-122"/>
                        </a:rPr>
                        <a:t>命令</a:t>
                      </a:r>
                    </a:p>
                  </a:txBody>
                  <a:tcPr marL="68589" marR="685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3600" b="1" kern="100" dirty="0">
                          <a:effectLst/>
                          <a:latin typeface="Times New Roman" panose="02020603050405020304"/>
                          <a:ea typeface="宋体" panose="02010600030101010101" pitchFamily="2" charset="-122"/>
                        </a:rPr>
                        <a:t>功 能</a:t>
                      </a:r>
                    </a:p>
                  </a:txBody>
                  <a:tcPr marL="68589" marR="68589"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3600" b="1" kern="100" dirty="0">
                          <a:effectLst/>
                          <a:latin typeface="Times New Roman" panose="02020603050405020304"/>
                          <a:ea typeface="宋体" panose="02010600030101010101" pitchFamily="2" charset="-122"/>
                        </a:rPr>
                        <a:t>命令</a:t>
                      </a:r>
                    </a:p>
                  </a:txBody>
                  <a:tcPr marL="68589" marR="68589"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3600" b="1" kern="100" dirty="0">
                          <a:effectLst/>
                          <a:latin typeface="Times New Roman" panose="02020603050405020304"/>
                          <a:ea typeface="宋体" panose="02010600030101010101" pitchFamily="2" charset="-122"/>
                        </a:rPr>
                        <a:t>功 能</a:t>
                      </a:r>
                    </a:p>
                  </a:txBody>
                  <a:tcPr marL="68589" marR="685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97291">
                <a:tc>
                  <a:txBody>
                    <a:bodyPr/>
                    <a:lstStyle/>
                    <a:p>
                      <a:pPr algn="ctr">
                        <a:lnSpc>
                          <a:spcPct val="100000"/>
                        </a:lnSpc>
                        <a:spcAft>
                          <a:spcPts val="0"/>
                        </a:spcAft>
                      </a:pPr>
                      <a:r>
                        <a:rPr lang="en-US" sz="4400" b="1" kern="100" dirty="0">
                          <a:solidFill>
                            <a:srgbClr val="FF0000"/>
                          </a:solidFill>
                          <a:effectLst/>
                          <a:latin typeface="Times New Roman" panose="02020603050405020304"/>
                          <a:ea typeface="宋体" panose="02010600030101010101" pitchFamily="2" charset="-122"/>
                        </a:rPr>
                        <a:t>cc/S</a:t>
                      </a:r>
                      <a:endParaRPr lang="zh-CN" sz="4400" b="1" kern="100" dirty="0">
                        <a:solidFill>
                          <a:srgbClr val="FF0000"/>
                        </a:solidFill>
                        <a:effectLst/>
                        <a:latin typeface="Times New Roman" panose="02020603050405020304"/>
                        <a:ea typeface="宋体" panose="02010600030101010101" pitchFamily="2" charset="-122"/>
                      </a:endParaRPr>
                    </a:p>
                  </a:txBody>
                  <a:tcPr marL="68589" marR="685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a:effectLst/>
                          <a:latin typeface="Times New Roman" panose="02020603050405020304"/>
                          <a:ea typeface="宋体" panose="02010600030101010101" pitchFamily="2" charset="-122"/>
                        </a:rPr>
                        <a:t>替换光标所在行</a:t>
                      </a:r>
                    </a:p>
                  </a:txBody>
                  <a:tcPr marL="68589" marR="68589"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4400" b="1" kern="100" dirty="0">
                          <a:solidFill>
                            <a:srgbClr val="FF0000"/>
                          </a:solidFill>
                          <a:effectLst/>
                          <a:latin typeface="Times New Roman" panose="02020603050405020304"/>
                          <a:ea typeface="宋体" panose="02010600030101010101" pitchFamily="2" charset="-122"/>
                        </a:rPr>
                        <a:t>s</a:t>
                      </a:r>
                      <a:endParaRPr lang="zh-CN" sz="4400" b="1" kern="100" dirty="0">
                        <a:solidFill>
                          <a:srgbClr val="FF0000"/>
                        </a:solidFill>
                        <a:effectLst/>
                        <a:latin typeface="Times New Roman" panose="02020603050405020304"/>
                        <a:ea typeface="宋体" panose="02010600030101010101" pitchFamily="2" charset="-122"/>
                      </a:endParaRPr>
                    </a:p>
                  </a:txBody>
                  <a:tcPr marL="68589" marR="68589"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替换光标处的字符</a:t>
                      </a:r>
                    </a:p>
                  </a:txBody>
                  <a:tcPr marL="68589" marR="685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76300">
                <a:tc>
                  <a:txBody>
                    <a:bodyPr/>
                    <a:lstStyle/>
                    <a:p>
                      <a:pPr algn="ctr">
                        <a:lnSpc>
                          <a:spcPct val="100000"/>
                        </a:lnSpc>
                        <a:spcAft>
                          <a:spcPts val="0"/>
                        </a:spcAft>
                      </a:pPr>
                      <a:r>
                        <a:rPr lang="en-US" sz="4400" b="1" kern="100" dirty="0">
                          <a:solidFill>
                            <a:srgbClr val="FF0000"/>
                          </a:solidFill>
                          <a:effectLst/>
                          <a:latin typeface="Times New Roman" panose="02020603050405020304"/>
                          <a:ea typeface="宋体" panose="02010600030101010101" pitchFamily="2" charset="-122"/>
                        </a:rPr>
                        <a:t>C/R</a:t>
                      </a:r>
                      <a:endParaRPr lang="zh-CN" sz="4400" b="1" kern="100" dirty="0">
                        <a:solidFill>
                          <a:srgbClr val="FF0000"/>
                        </a:solidFill>
                        <a:effectLst/>
                        <a:latin typeface="Times New Roman" panose="02020603050405020304"/>
                        <a:ea typeface="宋体" panose="02010600030101010101" pitchFamily="2" charset="-122"/>
                      </a:endParaRPr>
                    </a:p>
                  </a:txBody>
                  <a:tcPr marL="68589" marR="685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a:effectLst/>
                          <a:latin typeface="Times New Roman" panose="02020603050405020304"/>
                          <a:ea typeface="宋体" panose="02010600030101010101" pitchFamily="2" charset="-122"/>
                        </a:rPr>
                        <a:t>修改当前行光标后的部分</a:t>
                      </a:r>
                    </a:p>
                  </a:txBody>
                  <a:tcPr marL="68589" marR="68589"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4400" b="1" kern="100" dirty="0">
                          <a:solidFill>
                            <a:srgbClr val="FF0000"/>
                          </a:solidFill>
                          <a:effectLst/>
                          <a:latin typeface="Times New Roman" panose="02020603050405020304"/>
                          <a:ea typeface="宋体" panose="02010600030101010101" pitchFamily="2" charset="-122"/>
                        </a:rPr>
                        <a:t>r</a:t>
                      </a:r>
                      <a:endParaRPr lang="zh-CN" sz="4400" b="1" kern="100" dirty="0">
                        <a:solidFill>
                          <a:srgbClr val="FF0000"/>
                        </a:solidFill>
                        <a:effectLst/>
                        <a:latin typeface="Times New Roman" panose="02020603050405020304"/>
                        <a:ea typeface="宋体" panose="02010600030101010101" pitchFamily="2" charset="-122"/>
                      </a:endParaRPr>
                    </a:p>
                  </a:txBody>
                  <a:tcPr marL="68589" marR="68589"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替换当前一个字符</a:t>
                      </a:r>
                    </a:p>
                  </a:txBody>
                  <a:tcPr marL="68589" marR="685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958288">
                <a:tc>
                  <a:txBody>
                    <a:bodyPr/>
                    <a:lstStyle/>
                    <a:p>
                      <a:pPr algn="ctr">
                        <a:lnSpc>
                          <a:spcPct val="100000"/>
                        </a:lnSpc>
                        <a:spcAft>
                          <a:spcPts val="0"/>
                        </a:spcAft>
                      </a:pPr>
                      <a:r>
                        <a:rPr lang="en-US" sz="4400" b="1" kern="100" dirty="0" err="1">
                          <a:solidFill>
                            <a:srgbClr val="FF0000"/>
                          </a:solidFill>
                          <a:effectLst/>
                          <a:latin typeface="Times New Roman" panose="02020603050405020304"/>
                          <a:ea typeface="宋体" panose="02010600030101010101" pitchFamily="2" charset="-122"/>
                        </a:rPr>
                        <a:t>cw</a:t>
                      </a:r>
                      <a:endParaRPr lang="zh-CN" sz="4400" b="1" kern="100" dirty="0">
                        <a:solidFill>
                          <a:srgbClr val="FF0000"/>
                        </a:solidFill>
                        <a:effectLst/>
                        <a:latin typeface="Times New Roman" panose="02020603050405020304"/>
                        <a:ea typeface="宋体" panose="02010600030101010101" pitchFamily="2" charset="-122"/>
                      </a:endParaRPr>
                    </a:p>
                  </a:txBody>
                  <a:tcPr marL="68589" marR="685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修改光标到一个字的结尾部分</a:t>
                      </a:r>
                    </a:p>
                  </a:txBody>
                  <a:tcPr marL="68589" marR="68589"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4400" b="1" kern="100" dirty="0" err="1">
                          <a:solidFill>
                            <a:srgbClr val="FF0000"/>
                          </a:solidFill>
                          <a:effectLst/>
                          <a:latin typeface="Times New Roman" panose="02020603050405020304"/>
                          <a:ea typeface="宋体" panose="02010600030101010101" pitchFamily="2" charset="-122"/>
                        </a:rPr>
                        <a:t>cb</a:t>
                      </a:r>
                      <a:endParaRPr lang="zh-CN" sz="4400" b="1" kern="100" dirty="0">
                        <a:solidFill>
                          <a:srgbClr val="FF0000"/>
                        </a:solidFill>
                        <a:effectLst/>
                        <a:latin typeface="Times New Roman" panose="02020603050405020304"/>
                        <a:ea typeface="宋体" panose="02010600030101010101" pitchFamily="2" charset="-122"/>
                      </a:endParaRPr>
                    </a:p>
                  </a:txBody>
                  <a:tcPr marL="68589" marR="68589"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修改光标到一个字的开始部分</a:t>
                      </a:r>
                    </a:p>
                  </a:txBody>
                  <a:tcPr marL="68589" marR="685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2" name="标题 1">
            <a:extLst>
              <a:ext uri="{FF2B5EF4-FFF2-40B4-BE49-F238E27FC236}">
                <a16:creationId xmlns:a16="http://schemas.microsoft.com/office/drawing/2014/main" id="{9C01D7F8-3D58-74C5-05C5-2CE01C922DC7}"/>
              </a:ext>
            </a:extLst>
          </p:cNvPr>
          <p:cNvSpPr>
            <a:spLocks noGrp="1" noChangeArrowheads="1"/>
          </p:cNvSpPr>
          <p:nvPr>
            <p:ph type="title"/>
          </p:nvPr>
        </p:nvSpPr>
        <p:spPr/>
        <p:txBody>
          <a:bodyPr/>
          <a:lstStyle/>
          <a:p>
            <a:r>
              <a:rPr lang="zh-CN" altLang="zh-CN"/>
              <a:t>（</a:t>
            </a:r>
            <a:r>
              <a:rPr lang="en-US" altLang="zh-CN"/>
              <a:t>4</a:t>
            </a:r>
            <a:r>
              <a:rPr lang="zh-CN" altLang="zh-CN"/>
              <a:t>）搜索与定位</a:t>
            </a:r>
            <a:endParaRPr lang="zh-CN" altLang="en-US"/>
          </a:p>
        </p:txBody>
      </p:sp>
      <p:graphicFrame>
        <p:nvGraphicFramePr>
          <p:cNvPr id="4" name="内容占位符 3">
            <a:extLst>
              <a:ext uri="{FF2B5EF4-FFF2-40B4-BE49-F238E27FC236}">
                <a16:creationId xmlns:a16="http://schemas.microsoft.com/office/drawing/2014/main" id="{B9644C2C-BC73-DE77-E86A-E9753FC59075}"/>
              </a:ext>
            </a:extLst>
          </p:cNvPr>
          <p:cNvGraphicFramePr>
            <a:graphicFrameLocks noGrp="1"/>
          </p:cNvGraphicFramePr>
          <p:nvPr>
            <p:ph idx="1"/>
          </p:nvPr>
        </p:nvGraphicFramePr>
        <p:xfrm>
          <a:off x="107950" y="549275"/>
          <a:ext cx="8928100" cy="5851525"/>
        </p:xfrm>
        <a:graphic>
          <a:graphicData uri="http://schemas.openxmlformats.org/drawingml/2006/table">
            <a:tbl>
              <a:tblPr firstRow="1" firstCol="1" bandRow="1"/>
              <a:tblGrid>
                <a:gridCol w="1185145">
                  <a:extLst>
                    <a:ext uri="{9D8B030D-6E8A-4147-A177-3AD203B41FA5}">
                      <a16:colId xmlns:a16="http://schemas.microsoft.com/office/drawing/2014/main" val="20000"/>
                    </a:ext>
                  </a:extLst>
                </a:gridCol>
                <a:gridCol w="3422906">
                  <a:extLst>
                    <a:ext uri="{9D8B030D-6E8A-4147-A177-3AD203B41FA5}">
                      <a16:colId xmlns:a16="http://schemas.microsoft.com/office/drawing/2014/main" val="20001"/>
                    </a:ext>
                  </a:extLst>
                </a:gridCol>
                <a:gridCol w="1238667">
                  <a:extLst>
                    <a:ext uri="{9D8B030D-6E8A-4147-A177-3AD203B41FA5}">
                      <a16:colId xmlns:a16="http://schemas.microsoft.com/office/drawing/2014/main" val="20002"/>
                    </a:ext>
                  </a:extLst>
                </a:gridCol>
                <a:gridCol w="3081382">
                  <a:extLst>
                    <a:ext uri="{9D8B030D-6E8A-4147-A177-3AD203B41FA5}">
                      <a16:colId xmlns:a16="http://schemas.microsoft.com/office/drawing/2014/main" val="20003"/>
                    </a:ext>
                  </a:extLst>
                </a:gridCol>
              </a:tblGrid>
              <a:tr h="487627">
                <a:tc>
                  <a:txBody>
                    <a:bodyPr/>
                    <a:lstStyle/>
                    <a:p>
                      <a:pPr algn="ctr">
                        <a:lnSpc>
                          <a:spcPct val="100000"/>
                        </a:lnSpc>
                        <a:spcAft>
                          <a:spcPts val="0"/>
                        </a:spcAft>
                      </a:pPr>
                      <a:r>
                        <a:rPr lang="zh-CN" sz="3200" b="1" kern="100" dirty="0">
                          <a:effectLst/>
                          <a:latin typeface="Times New Roman" panose="02020603050405020304"/>
                          <a:ea typeface="宋体" panose="02010600030101010101" pitchFamily="2" charset="-122"/>
                        </a:rPr>
                        <a:t>命令</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3200" b="1" kern="100" dirty="0">
                          <a:effectLst/>
                          <a:latin typeface="Times New Roman" panose="02020603050405020304"/>
                          <a:ea typeface="宋体" panose="02010600030101010101" pitchFamily="2" charset="-122"/>
                        </a:rPr>
                        <a:t>功 能 描 述</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3200" b="1" kern="100" dirty="0">
                          <a:effectLst/>
                          <a:latin typeface="Times New Roman" panose="02020603050405020304"/>
                          <a:ea typeface="宋体" panose="02010600030101010101" pitchFamily="2" charset="-122"/>
                        </a:rPr>
                        <a:t>命令</a:t>
                      </a: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3200" b="1" kern="100">
                          <a:effectLst/>
                          <a:latin typeface="Times New Roman" panose="02020603050405020304"/>
                          <a:ea typeface="宋体" panose="02010600030101010101" pitchFamily="2" charset="-122"/>
                        </a:rPr>
                        <a:t>功 能 描 述</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75254">
                <a:tc>
                  <a:txBody>
                    <a:bodyPr/>
                    <a:lstStyle/>
                    <a:p>
                      <a:pPr marL="0" algn="ctr" defTabSz="914400" rtl="0" eaLnBrk="1" latinLnBrk="0" hangingPunct="1">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cs typeface="+mn-cs"/>
                        </a:rPr>
                        <a:t>0</a:t>
                      </a:r>
                      <a:endParaRPr lang="zh-CN" sz="4800" b="1" kern="100" dirty="0">
                        <a:solidFill>
                          <a:srgbClr val="FF0000"/>
                        </a:solidFill>
                        <a:effectLst/>
                        <a:latin typeface="Times New Roman" panose="02020603050405020304"/>
                        <a:ea typeface="宋体" panose="02010600030101010101" pitchFamily="2" charset="-122"/>
                        <a:cs typeface="+mn-cs"/>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3200" b="1" kern="100" dirty="0">
                          <a:effectLst/>
                          <a:latin typeface="Times New Roman" panose="02020603050405020304"/>
                          <a:ea typeface="宋体" panose="02010600030101010101" pitchFamily="2" charset="-122"/>
                        </a:rPr>
                        <a:t>定位至行首</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rPr>
                        <a:t>w</a:t>
                      </a:r>
                      <a:endParaRPr lang="zh-CN" sz="4800" b="1" kern="100" dirty="0">
                        <a:solidFill>
                          <a:srgbClr val="FF0000"/>
                        </a:solidFill>
                        <a:effectLst/>
                        <a:latin typeface="Times New Roman" panose="02020603050405020304"/>
                        <a:ea typeface="宋体" panose="02010600030101010101" pitchFamily="2" charset="-122"/>
                      </a:endParaRP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3200" b="1" kern="100">
                          <a:effectLst/>
                          <a:latin typeface="Times New Roman" panose="02020603050405020304"/>
                          <a:ea typeface="宋体" panose="02010600030101010101" pitchFamily="2" charset="-122"/>
                        </a:rPr>
                        <a:t>光标移至本行下一字开始</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75254">
                <a:tc>
                  <a:txBody>
                    <a:bodyPr/>
                    <a:lstStyle/>
                    <a:p>
                      <a:pPr marL="0" algn="ctr" defTabSz="914400" rtl="0" eaLnBrk="1" latinLnBrk="0" hangingPunct="1">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cs typeface="+mn-cs"/>
                        </a:rPr>
                        <a:t>$</a:t>
                      </a:r>
                      <a:endParaRPr lang="zh-CN" sz="4800" b="1" kern="100" dirty="0">
                        <a:solidFill>
                          <a:srgbClr val="FF0000"/>
                        </a:solidFill>
                        <a:effectLst/>
                        <a:latin typeface="Times New Roman" panose="02020603050405020304"/>
                        <a:ea typeface="宋体" panose="02010600030101010101" pitchFamily="2" charset="-122"/>
                        <a:cs typeface="+mn-cs"/>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3200" b="1" kern="100">
                          <a:effectLst/>
                          <a:latin typeface="Times New Roman" panose="02020603050405020304"/>
                          <a:ea typeface="宋体" panose="02010600030101010101" pitchFamily="2" charset="-122"/>
                        </a:rPr>
                        <a:t>定位至行末</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rPr>
                        <a:t>b</a:t>
                      </a:r>
                      <a:endParaRPr lang="zh-CN" sz="4800" b="1" kern="100" dirty="0">
                        <a:solidFill>
                          <a:srgbClr val="FF0000"/>
                        </a:solidFill>
                        <a:effectLst/>
                        <a:latin typeface="Times New Roman" panose="02020603050405020304"/>
                        <a:ea typeface="宋体" panose="02010600030101010101" pitchFamily="2" charset="-122"/>
                      </a:endParaRP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3200" b="1" kern="100" dirty="0">
                          <a:effectLst/>
                          <a:latin typeface="Times New Roman" panose="02020603050405020304"/>
                          <a:ea typeface="宋体" panose="02010600030101010101" pitchFamily="2" charset="-122"/>
                        </a:rPr>
                        <a:t>光标移至本行前</a:t>
                      </a:r>
                      <a:r>
                        <a:rPr lang="en-US" sz="3200" b="1" kern="100" dirty="0">
                          <a:effectLst/>
                          <a:latin typeface="Times New Roman" panose="02020603050405020304"/>
                          <a:ea typeface="宋体" panose="02010600030101010101" pitchFamily="2" charset="-122"/>
                        </a:rPr>
                        <a:t>/</a:t>
                      </a:r>
                      <a:r>
                        <a:rPr lang="zh-CN" sz="3200" b="1" kern="100" dirty="0">
                          <a:effectLst/>
                          <a:latin typeface="Times New Roman" panose="02020603050405020304"/>
                          <a:ea typeface="宋体" panose="02010600030101010101" pitchFamily="2" charset="-122"/>
                        </a:rPr>
                        <a:t>当前字开始</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75254">
                <a:tc>
                  <a:txBody>
                    <a:bodyPr/>
                    <a:lstStyle/>
                    <a:p>
                      <a:pPr algn="ctr">
                        <a:lnSpc>
                          <a:spcPct val="100000"/>
                        </a:lnSpc>
                        <a:spcAft>
                          <a:spcPts val="0"/>
                        </a:spcAft>
                      </a:pPr>
                      <a:r>
                        <a:rPr lang="en-US" sz="3200" b="1" kern="100" dirty="0">
                          <a:effectLst/>
                          <a:latin typeface="Times New Roman" panose="02020603050405020304"/>
                          <a:ea typeface="宋体" panose="02010600030101010101" pitchFamily="2" charset="-122"/>
                        </a:rPr>
                        <a:t>:#|#G</a:t>
                      </a:r>
                      <a:endParaRPr lang="zh-CN" sz="3200" b="1" kern="100" dirty="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3200" b="1" kern="100" dirty="0">
                          <a:effectLst/>
                          <a:latin typeface="Times New Roman" panose="02020603050405020304"/>
                          <a:ea typeface="宋体" panose="02010600030101010101" pitchFamily="2" charset="-122"/>
                        </a:rPr>
                        <a:t>定位到第</a:t>
                      </a:r>
                      <a:r>
                        <a:rPr lang="en-US" sz="3200" b="1" kern="100" dirty="0">
                          <a:effectLst/>
                          <a:latin typeface="Times New Roman" panose="02020603050405020304"/>
                          <a:ea typeface="宋体" panose="02010600030101010101" pitchFamily="2" charset="-122"/>
                        </a:rPr>
                        <a:t>#</a:t>
                      </a:r>
                      <a:r>
                        <a:rPr lang="zh-CN" sz="3200" b="1" kern="100" dirty="0">
                          <a:effectLst/>
                          <a:latin typeface="Times New Roman" panose="02020603050405020304"/>
                          <a:ea typeface="宋体" panose="02010600030101010101" pitchFamily="2" charset="-122"/>
                        </a:rPr>
                        <a:t>行首</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3200" b="1" kern="100">
                          <a:effectLst/>
                          <a:latin typeface="Times New Roman" panose="02020603050405020304"/>
                          <a:ea typeface="宋体" panose="02010600030101010101" pitchFamily="2" charset="-122"/>
                        </a:rPr>
                        <a:t>E</a:t>
                      </a:r>
                      <a:endParaRPr lang="zh-CN" sz="3200" b="1" kern="100">
                        <a:effectLst/>
                        <a:latin typeface="Times New Roman" panose="02020603050405020304"/>
                        <a:ea typeface="宋体" panose="02010600030101010101" pitchFamily="2" charset="-122"/>
                      </a:endParaRP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3200" b="1" kern="100" dirty="0">
                          <a:effectLst/>
                          <a:latin typeface="Times New Roman" panose="02020603050405020304"/>
                          <a:ea typeface="宋体" panose="02010600030101010101" pitchFamily="2" charset="-122"/>
                        </a:rPr>
                        <a:t>光标移至下一</a:t>
                      </a:r>
                      <a:r>
                        <a:rPr lang="en-US" sz="3200" b="1" kern="100" dirty="0">
                          <a:effectLst/>
                          <a:latin typeface="Times New Roman" panose="02020603050405020304"/>
                          <a:ea typeface="宋体" panose="02010600030101010101" pitchFamily="2" charset="-122"/>
                        </a:rPr>
                        <a:t>/</a:t>
                      </a:r>
                      <a:r>
                        <a:rPr lang="zh-CN" sz="3200" b="1" kern="100" dirty="0">
                          <a:effectLst/>
                          <a:latin typeface="Times New Roman" panose="02020603050405020304"/>
                          <a:ea typeface="宋体" panose="02010600030101010101" pitchFamily="2" charset="-122"/>
                        </a:rPr>
                        <a:t>当前字尾</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87627">
                <a:tc>
                  <a:txBody>
                    <a:bodyPr/>
                    <a:lstStyle/>
                    <a:p>
                      <a:pPr algn="ctr">
                        <a:lnSpc>
                          <a:spcPct val="100000"/>
                        </a:lnSpc>
                        <a:spcAft>
                          <a:spcPts val="0"/>
                        </a:spcAft>
                      </a:pPr>
                      <a:r>
                        <a:rPr lang="en-US" sz="3200" b="1" kern="100">
                          <a:effectLst/>
                          <a:latin typeface="Times New Roman" panose="02020603050405020304"/>
                          <a:ea typeface="宋体" panose="02010600030101010101" pitchFamily="2" charset="-122"/>
                        </a:rPr>
                        <a:t>:0|gg</a:t>
                      </a:r>
                      <a:endParaRPr lang="zh-CN" sz="3200" b="1" kern="10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3200" b="1" kern="100">
                          <a:effectLst/>
                          <a:latin typeface="Times New Roman" panose="02020603050405020304"/>
                          <a:ea typeface="宋体" panose="02010600030101010101" pitchFamily="2" charset="-122"/>
                        </a:rPr>
                        <a:t>定位到首行行首</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3200" b="1" kern="100">
                          <a:effectLst/>
                          <a:latin typeface="Times New Roman" panose="02020603050405020304"/>
                          <a:ea typeface="宋体" panose="02010600030101010101" pitchFamily="2" charset="-122"/>
                        </a:rPr>
                        <a:t>%</a:t>
                      </a:r>
                      <a:endParaRPr lang="zh-CN" sz="3200" b="1" kern="100">
                        <a:effectLst/>
                        <a:latin typeface="Times New Roman" panose="02020603050405020304"/>
                        <a:ea typeface="宋体" panose="02010600030101010101" pitchFamily="2" charset="-122"/>
                      </a:endParaRP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3200" b="1" kern="100" dirty="0">
                          <a:effectLst/>
                          <a:latin typeface="Times New Roman" panose="02020603050405020304"/>
                          <a:ea typeface="宋体" panose="02010600030101010101" pitchFamily="2" charset="-122"/>
                        </a:rPr>
                        <a:t>查找单括号对（）</a:t>
                      </a: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75254">
                <a:tc>
                  <a:txBody>
                    <a:bodyPr/>
                    <a:lstStyle/>
                    <a:p>
                      <a:pPr algn="ctr">
                        <a:lnSpc>
                          <a:spcPct val="100000"/>
                        </a:lnSpc>
                        <a:spcAft>
                          <a:spcPts val="0"/>
                        </a:spcAft>
                      </a:pPr>
                      <a:r>
                        <a:rPr lang="en-US" sz="3200" b="1" kern="100">
                          <a:effectLst/>
                          <a:latin typeface="Times New Roman" panose="02020603050405020304"/>
                          <a:ea typeface="宋体" panose="02010600030101010101" pitchFamily="2" charset="-122"/>
                        </a:rPr>
                        <a:t>:$|G</a:t>
                      </a:r>
                      <a:endParaRPr lang="zh-CN" sz="3200" b="1" kern="10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3200" b="1" kern="100" dirty="0">
                          <a:effectLst/>
                          <a:latin typeface="Times New Roman" panose="02020603050405020304"/>
                          <a:ea typeface="宋体" panose="02010600030101010101" pitchFamily="2" charset="-122"/>
                        </a:rPr>
                        <a:t>定位到末行行首</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3200" b="1" kern="100">
                          <a:effectLst/>
                          <a:latin typeface="Times New Roman" panose="02020603050405020304"/>
                          <a:ea typeface="宋体" panose="02010600030101010101" pitchFamily="2" charset="-122"/>
                        </a:rPr>
                        <a:t>[[|]]</a:t>
                      </a:r>
                      <a:endParaRPr lang="zh-CN" sz="3200" b="1" kern="100">
                        <a:effectLst/>
                        <a:latin typeface="Times New Roman" panose="02020603050405020304"/>
                        <a:ea typeface="宋体" panose="02010600030101010101" pitchFamily="2" charset="-122"/>
                      </a:endParaRP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3200" b="1" kern="100" dirty="0">
                          <a:effectLst/>
                          <a:latin typeface="Times New Roman" panose="02020603050405020304"/>
                          <a:ea typeface="宋体" panose="02010600030101010101" pitchFamily="2" charset="-122"/>
                        </a:rPr>
                        <a:t>定位到最外层</a:t>
                      </a:r>
                      <a:r>
                        <a:rPr lang="en-US" sz="3200" b="1" kern="100" dirty="0">
                          <a:effectLst/>
                          <a:latin typeface="Times New Roman" panose="02020603050405020304"/>
                          <a:ea typeface="宋体" panose="02010600030101010101" pitchFamily="2" charset="-122"/>
                        </a:rPr>
                        <a:t>{}</a:t>
                      </a:r>
                      <a:r>
                        <a:rPr lang="zh-CN" sz="3200" b="1" kern="100" dirty="0">
                          <a:effectLst/>
                          <a:latin typeface="Times New Roman" panose="02020603050405020304"/>
                          <a:ea typeface="宋体" panose="02010600030101010101" pitchFamily="2" charset="-122"/>
                        </a:rPr>
                        <a:t>的</a:t>
                      </a:r>
                      <a:r>
                        <a:rPr lang="en-US" sz="3200" b="1" kern="100" dirty="0">
                          <a:effectLst/>
                          <a:latin typeface="Times New Roman" panose="02020603050405020304"/>
                          <a:ea typeface="宋体" panose="02010600030101010101" pitchFamily="2" charset="-122"/>
                        </a:rPr>
                        <a:t>{/}</a:t>
                      </a:r>
                      <a:endParaRPr lang="zh-CN" sz="3200" b="1" kern="100" dirty="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975254">
                <a:tc>
                  <a:txBody>
                    <a:bodyPr/>
                    <a:lstStyle/>
                    <a:p>
                      <a:pPr algn="ctr">
                        <a:lnSpc>
                          <a:spcPct val="100000"/>
                        </a:lnSpc>
                        <a:spcAft>
                          <a:spcPts val="0"/>
                        </a:spcAft>
                      </a:pPr>
                      <a:r>
                        <a:rPr lang="en-US" sz="3200" b="1" kern="100">
                          <a:effectLst/>
                          <a:latin typeface="Times New Roman" panose="02020603050405020304"/>
                          <a:ea typeface="宋体" panose="02010600030101010101" pitchFamily="2" charset="-122"/>
                        </a:rPr>
                        <a:t>#%</a:t>
                      </a:r>
                      <a:endParaRPr lang="zh-CN" sz="3200" b="1" kern="10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3200" b="1" kern="100">
                          <a:effectLst/>
                          <a:latin typeface="Times New Roman" panose="02020603050405020304"/>
                          <a:ea typeface="宋体" panose="02010600030101010101" pitchFamily="2" charset="-122"/>
                        </a:rPr>
                        <a:t>光标移至</a:t>
                      </a:r>
                      <a:r>
                        <a:rPr lang="en-US" sz="3200" b="1" kern="100">
                          <a:effectLst/>
                          <a:latin typeface="Times New Roman" panose="02020603050405020304"/>
                          <a:ea typeface="宋体" panose="02010600030101010101" pitchFamily="2" charset="-122"/>
                        </a:rPr>
                        <a:t>#%</a:t>
                      </a:r>
                      <a:r>
                        <a:rPr lang="zh-CN" sz="3200" b="1" kern="100" dirty="0">
                          <a:effectLst/>
                          <a:latin typeface="Times New Roman" panose="02020603050405020304"/>
                          <a:ea typeface="宋体" panose="02010600030101010101" pitchFamily="2" charset="-122"/>
                        </a:rPr>
                        <a:t>处行首</a:t>
                      </a:r>
                    </a:p>
                  </a:txBody>
                  <a:tcPr marL="68578" marR="68578"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3200" b="1" kern="100">
                          <a:effectLst/>
                          <a:latin typeface="Times New Roman" panose="02020603050405020304"/>
                          <a:ea typeface="宋体" panose="02010600030101010101" pitchFamily="2" charset="-122"/>
                        </a:rPr>
                        <a:t>[{|]}</a:t>
                      </a:r>
                      <a:endParaRPr lang="zh-CN" sz="3200" b="1" kern="100">
                        <a:effectLst/>
                        <a:latin typeface="Times New Roman" panose="02020603050405020304"/>
                        <a:ea typeface="宋体" panose="02010600030101010101" pitchFamily="2" charset="-122"/>
                      </a:endParaRPr>
                    </a:p>
                  </a:txBody>
                  <a:tcPr marL="68578" marR="68578"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3200" b="1" kern="100" dirty="0">
                          <a:effectLst/>
                          <a:latin typeface="Times New Roman" panose="02020603050405020304"/>
                          <a:ea typeface="宋体" panose="02010600030101010101" pitchFamily="2" charset="-122"/>
                        </a:rPr>
                        <a:t>定位到当前层</a:t>
                      </a:r>
                      <a:r>
                        <a:rPr lang="en-US" sz="3200" b="1" kern="100" dirty="0">
                          <a:effectLst/>
                          <a:latin typeface="Times New Roman" panose="02020603050405020304"/>
                          <a:ea typeface="宋体" panose="02010600030101010101" pitchFamily="2" charset="-122"/>
                        </a:rPr>
                        <a:t>{}</a:t>
                      </a:r>
                      <a:r>
                        <a:rPr lang="zh-CN" sz="3200" b="1" kern="100" dirty="0">
                          <a:effectLst/>
                          <a:latin typeface="Times New Roman" panose="02020603050405020304"/>
                          <a:ea typeface="宋体" panose="02010600030101010101" pitchFamily="2" charset="-122"/>
                        </a:rPr>
                        <a:t>的</a:t>
                      </a:r>
                      <a:r>
                        <a:rPr lang="en-US" sz="3200" b="1" kern="100" dirty="0">
                          <a:effectLst/>
                          <a:latin typeface="Times New Roman" panose="02020603050405020304"/>
                          <a:ea typeface="宋体" panose="02010600030101010101" pitchFamily="2" charset="-122"/>
                        </a:rPr>
                        <a:t>{/}</a:t>
                      </a:r>
                      <a:endParaRPr lang="zh-CN" sz="3200" b="1" kern="100" dirty="0">
                        <a:effectLst/>
                        <a:latin typeface="Times New Roman" panose="02020603050405020304"/>
                        <a:ea typeface="宋体" panose="02010600030101010101" pitchFamily="2" charset="-122"/>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3666" name="标题 1">
            <a:extLst>
              <a:ext uri="{FF2B5EF4-FFF2-40B4-BE49-F238E27FC236}">
                <a16:creationId xmlns:a16="http://schemas.microsoft.com/office/drawing/2014/main" id="{D53B8F65-4571-0613-63AA-0BC886993EB4}"/>
              </a:ext>
            </a:extLst>
          </p:cNvPr>
          <p:cNvSpPr>
            <a:spLocks noGrp="1" noChangeArrowheads="1"/>
          </p:cNvSpPr>
          <p:nvPr>
            <p:ph type="title"/>
          </p:nvPr>
        </p:nvSpPr>
        <p:spPr/>
        <p:txBody>
          <a:bodyPr/>
          <a:lstStyle/>
          <a:p>
            <a:r>
              <a:rPr lang="zh-CN" altLang="zh-CN"/>
              <a:t>（</a:t>
            </a:r>
            <a:r>
              <a:rPr lang="en-US" altLang="zh-CN"/>
              <a:t>4</a:t>
            </a:r>
            <a:r>
              <a:rPr lang="zh-CN" altLang="zh-CN"/>
              <a:t>）搜索与定位</a:t>
            </a:r>
            <a:endParaRPr lang="zh-CN" altLang="en-US"/>
          </a:p>
        </p:txBody>
      </p:sp>
      <p:graphicFrame>
        <p:nvGraphicFramePr>
          <p:cNvPr id="4" name="内容占位符 3">
            <a:extLst>
              <a:ext uri="{FF2B5EF4-FFF2-40B4-BE49-F238E27FC236}">
                <a16:creationId xmlns:a16="http://schemas.microsoft.com/office/drawing/2014/main" id="{9AA90F7D-399F-BD72-71B5-2D6D535234A1}"/>
              </a:ext>
            </a:extLst>
          </p:cNvPr>
          <p:cNvGraphicFramePr>
            <a:graphicFrameLocks noGrp="1"/>
          </p:cNvGraphicFramePr>
          <p:nvPr>
            <p:ph idx="1"/>
          </p:nvPr>
        </p:nvGraphicFramePr>
        <p:xfrm>
          <a:off x="34925" y="620713"/>
          <a:ext cx="9001125" cy="5688012"/>
        </p:xfrm>
        <a:graphic>
          <a:graphicData uri="http://schemas.openxmlformats.org/drawingml/2006/table">
            <a:tbl>
              <a:tblPr firstRow="1" firstCol="1" bandRow="1"/>
              <a:tblGrid>
                <a:gridCol w="1194839">
                  <a:extLst>
                    <a:ext uri="{9D8B030D-6E8A-4147-A177-3AD203B41FA5}">
                      <a16:colId xmlns:a16="http://schemas.microsoft.com/office/drawing/2014/main" val="20000"/>
                    </a:ext>
                  </a:extLst>
                </a:gridCol>
                <a:gridCol w="3305723">
                  <a:extLst>
                    <a:ext uri="{9D8B030D-6E8A-4147-A177-3AD203B41FA5}">
                      <a16:colId xmlns:a16="http://schemas.microsoft.com/office/drawing/2014/main" val="20001"/>
                    </a:ext>
                  </a:extLst>
                </a:gridCol>
                <a:gridCol w="1393978">
                  <a:extLst>
                    <a:ext uri="{9D8B030D-6E8A-4147-A177-3AD203B41FA5}">
                      <a16:colId xmlns:a16="http://schemas.microsoft.com/office/drawing/2014/main" val="20002"/>
                    </a:ext>
                  </a:extLst>
                </a:gridCol>
                <a:gridCol w="3106585">
                  <a:extLst>
                    <a:ext uri="{9D8B030D-6E8A-4147-A177-3AD203B41FA5}">
                      <a16:colId xmlns:a16="http://schemas.microsoft.com/office/drawing/2014/main" val="20003"/>
                    </a:ext>
                  </a:extLst>
                </a:gridCol>
              </a:tblGrid>
              <a:tr h="437611">
                <a:tc>
                  <a:txBody>
                    <a:bodyPr/>
                    <a:lstStyle/>
                    <a:p>
                      <a:pPr algn="ctr">
                        <a:lnSpc>
                          <a:spcPct val="100000"/>
                        </a:lnSpc>
                        <a:spcAft>
                          <a:spcPts val="0"/>
                        </a:spcAft>
                      </a:pPr>
                      <a:r>
                        <a:rPr lang="zh-CN" sz="2800" b="1" kern="100" dirty="0">
                          <a:effectLst/>
                          <a:latin typeface="Times New Roman" panose="02020603050405020304"/>
                          <a:ea typeface="宋体" panose="02010600030101010101" pitchFamily="2" charset="-122"/>
                        </a:rPr>
                        <a:t>命令</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b="1" kern="100">
                          <a:effectLst/>
                          <a:latin typeface="Times New Roman" panose="02020603050405020304"/>
                          <a:ea typeface="宋体" panose="02010600030101010101" pitchFamily="2" charset="-122"/>
                        </a:rPr>
                        <a:t>功 能 描 述</a:t>
                      </a:r>
                    </a:p>
                  </a:txBody>
                  <a:tcPr marL="68586" marR="68586"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b="1" kern="100" dirty="0">
                          <a:effectLst/>
                          <a:latin typeface="Times New Roman" panose="02020603050405020304"/>
                          <a:ea typeface="宋体" panose="02010600030101010101" pitchFamily="2" charset="-122"/>
                        </a:rPr>
                        <a:t>命令</a:t>
                      </a:r>
                    </a:p>
                  </a:txBody>
                  <a:tcPr marL="68586" marR="68586"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b="1" kern="100">
                          <a:effectLst/>
                          <a:latin typeface="Times New Roman" panose="02020603050405020304"/>
                          <a:ea typeface="宋体" panose="02010600030101010101" pitchFamily="2" charset="-122"/>
                        </a:rPr>
                        <a:t>功 能 描 述</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74912">
                <a:tc>
                  <a:txBody>
                    <a:bodyPr/>
                    <a:lstStyle/>
                    <a:p>
                      <a:pPr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a:t>
                      </a:r>
                      <a:r>
                        <a:rPr lang="en-US" sz="2800" b="1" kern="100" dirty="0" err="1">
                          <a:solidFill>
                            <a:srgbClr val="FF0000"/>
                          </a:solidFill>
                          <a:effectLst/>
                          <a:latin typeface="Times New Roman" panose="02020603050405020304"/>
                          <a:ea typeface="宋体" panose="02010600030101010101" pitchFamily="2" charset="-122"/>
                        </a:rPr>
                        <a:t>exp</a:t>
                      </a:r>
                      <a:endParaRPr lang="zh-CN" sz="2800" b="1" kern="100" dirty="0">
                        <a:solidFill>
                          <a:srgbClr val="FF0000"/>
                        </a:solidFill>
                        <a:effectLst/>
                        <a:latin typeface="Times New Roman" panose="02020603050405020304"/>
                        <a:ea typeface="宋体" panose="02010600030101010101" pitchFamily="2" charset="-122"/>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后向定位到字符串</a:t>
                      </a:r>
                      <a:r>
                        <a:rPr lang="en-US" sz="2800" b="1" kern="100" dirty="0" err="1">
                          <a:effectLst/>
                          <a:latin typeface="Times New Roman" panose="02020603050405020304"/>
                          <a:ea typeface="宋体" panose="02010600030101010101" pitchFamily="2" charset="-122"/>
                        </a:rPr>
                        <a:t>exp</a:t>
                      </a:r>
                      <a:endParaRPr lang="zh-CN" sz="2800" b="1" kern="100" dirty="0">
                        <a:effectLst/>
                        <a:latin typeface="Times New Roman" panose="02020603050405020304"/>
                        <a:ea typeface="宋体" panose="02010600030101010101" pitchFamily="2" charset="-122"/>
                      </a:endParaRPr>
                    </a:p>
                  </a:txBody>
                  <a:tcPr marL="68586" marR="68586"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b="1" kern="100" dirty="0">
                          <a:effectLst/>
                          <a:latin typeface="Times New Roman" panose="02020603050405020304"/>
                          <a:ea typeface="宋体" panose="02010600030101010101" pitchFamily="2" charset="-122"/>
                        </a:rPr>
                        <a:t>[/|]/</a:t>
                      </a:r>
                      <a:endParaRPr lang="zh-CN" sz="2800" b="1" kern="100" dirty="0">
                        <a:effectLst/>
                        <a:latin typeface="Times New Roman" panose="02020603050405020304"/>
                        <a:ea typeface="宋体" panose="02010600030101010101" pitchFamily="2" charset="-122"/>
                      </a:endParaRPr>
                    </a:p>
                  </a:txBody>
                  <a:tcPr marL="68586" marR="68586"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定位到注释块的开始</a:t>
                      </a:r>
                      <a:r>
                        <a:rPr lang="en-US" sz="2800" b="1" kern="100" dirty="0">
                          <a:effectLst/>
                          <a:latin typeface="Times New Roman" panose="02020603050405020304"/>
                          <a:ea typeface="宋体" panose="02010600030101010101" pitchFamily="2" charset="-122"/>
                        </a:rPr>
                        <a:t>/</a:t>
                      </a:r>
                      <a:r>
                        <a:rPr lang="zh-CN" sz="2800" b="1" kern="100" dirty="0">
                          <a:effectLst/>
                          <a:latin typeface="Times New Roman" panose="02020603050405020304"/>
                          <a:ea typeface="宋体" panose="02010600030101010101" pitchFamily="2" charset="-122"/>
                        </a:rPr>
                        <a:t>结束</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75222">
                <a:tc>
                  <a:txBody>
                    <a:bodyPr/>
                    <a:lstStyle/>
                    <a:p>
                      <a:pPr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a:t>
                      </a:r>
                      <a:r>
                        <a:rPr lang="en-US" sz="2800" b="1" kern="100" dirty="0" err="1">
                          <a:solidFill>
                            <a:srgbClr val="FF0000"/>
                          </a:solidFill>
                          <a:effectLst/>
                          <a:latin typeface="Times New Roman" panose="02020603050405020304"/>
                          <a:ea typeface="宋体" panose="02010600030101010101" pitchFamily="2" charset="-122"/>
                        </a:rPr>
                        <a:t>exp</a:t>
                      </a:r>
                      <a:endParaRPr lang="zh-CN" sz="2800" b="1" kern="100" dirty="0">
                        <a:solidFill>
                          <a:srgbClr val="FF0000"/>
                        </a:solidFill>
                        <a:effectLst/>
                        <a:latin typeface="Times New Roman" panose="02020603050405020304"/>
                        <a:ea typeface="宋体" panose="02010600030101010101" pitchFamily="2" charset="-122"/>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前向定位到字符串</a:t>
                      </a:r>
                      <a:r>
                        <a:rPr lang="en-US" sz="2800" b="1" kern="100" dirty="0" err="1">
                          <a:effectLst/>
                          <a:latin typeface="Times New Roman" panose="02020603050405020304"/>
                          <a:ea typeface="宋体" panose="02010600030101010101" pitchFamily="2" charset="-122"/>
                        </a:rPr>
                        <a:t>exp</a:t>
                      </a:r>
                      <a:endParaRPr lang="zh-CN" sz="2800" b="1" kern="100" dirty="0">
                        <a:effectLst/>
                        <a:latin typeface="Times New Roman" panose="02020603050405020304"/>
                        <a:ea typeface="宋体" panose="02010600030101010101" pitchFamily="2" charset="-122"/>
                      </a:endParaRPr>
                    </a:p>
                  </a:txBody>
                  <a:tcPr marL="68586" marR="68586"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b="1" kern="100">
                          <a:effectLst/>
                          <a:latin typeface="Times New Roman" panose="02020603050405020304"/>
                          <a:ea typeface="宋体" panose="02010600030101010101" pitchFamily="2" charset="-122"/>
                        </a:rPr>
                        <a:t>Fc|fc</a:t>
                      </a:r>
                      <a:endParaRPr lang="zh-CN" sz="2800" b="1" kern="100">
                        <a:effectLst/>
                        <a:latin typeface="Times New Roman" panose="02020603050405020304"/>
                        <a:ea typeface="宋体" panose="02010600030101010101" pitchFamily="2" charset="-122"/>
                      </a:endParaRPr>
                    </a:p>
                  </a:txBody>
                  <a:tcPr marL="68586" marR="68586"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后</a:t>
                      </a:r>
                      <a:r>
                        <a:rPr lang="en-US" sz="2800" b="1" kern="100" dirty="0">
                          <a:effectLst/>
                          <a:latin typeface="Times New Roman" panose="02020603050405020304"/>
                          <a:ea typeface="宋体" panose="02010600030101010101" pitchFamily="2" charset="-122"/>
                        </a:rPr>
                        <a:t>/</a:t>
                      </a:r>
                      <a:r>
                        <a:rPr lang="zh-CN" sz="2800" b="1" kern="100" dirty="0">
                          <a:effectLst/>
                          <a:latin typeface="Times New Roman" panose="02020603050405020304"/>
                          <a:ea typeface="宋体" panose="02010600030101010101" pitchFamily="2" charset="-122"/>
                        </a:rPr>
                        <a:t>前向定位到当前行字符</a:t>
                      </a:r>
                      <a:r>
                        <a:rPr lang="en-US" sz="2800" b="1" kern="100" dirty="0">
                          <a:effectLst/>
                          <a:latin typeface="Times New Roman" panose="02020603050405020304"/>
                          <a:ea typeface="宋体" panose="02010600030101010101" pitchFamily="2" charset="-122"/>
                        </a:rPr>
                        <a:t>c</a:t>
                      </a:r>
                      <a:endParaRPr lang="zh-CN" sz="2800" b="1" kern="100" dirty="0">
                        <a:effectLst/>
                        <a:latin typeface="Times New Roman" panose="02020603050405020304"/>
                        <a:ea typeface="宋体" panose="02010600030101010101" pitchFamily="2" charset="-122"/>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75222">
                <a:tc>
                  <a:txBody>
                    <a:bodyPr/>
                    <a:lstStyle/>
                    <a:p>
                      <a:pPr algn="ctr">
                        <a:lnSpc>
                          <a:spcPct val="100000"/>
                        </a:lnSpc>
                        <a:spcAft>
                          <a:spcPts val="0"/>
                        </a:spcAft>
                      </a:pPr>
                      <a:r>
                        <a:rPr lang="en-US" sz="2800" b="1" kern="100">
                          <a:effectLst/>
                          <a:latin typeface="Times New Roman" panose="02020603050405020304"/>
                          <a:ea typeface="宋体" panose="02010600030101010101" pitchFamily="2" charset="-122"/>
                        </a:rPr>
                        <a:t>/^exp</a:t>
                      </a:r>
                      <a:endParaRPr lang="zh-CN" sz="2800" b="1" kern="100">
                        <a:effectLst/>
                        <a:latin typeface="Times New Roman" panose="02020603050405020304"/>
                        <a:ea typeface="宋体" panose="02010600030101010101" pitchFamily="2" charset="-122"/>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a:effectLst/>
                          <a:latin typeface="Times New Roman" panose="02020603050405020304"/>
                          <a:ea typeface="宋体" panose="02010600030101010101" pitchFamily="2" charset="-122"/>
                        </a:rPr>
                        <a:t>定位到行首为</a:t>
                      </a:r>
                      <a:r>
                        <a:rPr lang="en-US" sz="2800" b="1" kern="100">
                          <a:effectLst/>
                          <a:latin typeface="Times New Roman" panose="02020603050405020304"/>
                          <a:ea typeface="宋体" panose="02010600030101010101" pitchFamily="2" charset="-122"/>
                        </a:rPr>
                        <a:t>exp</a:t>
                      </a:r>
                      <a:r>
                        <a:rPr lang="zh-CN" sz="2800" b="1" kern="100">
                          <a:effectLst/>
                          <a:latin typeface="Times New Roman" panose="02020603050405020304"/>
                          <a:ea typeface="宋体" panose="02010600030101010101" pitchFamily="2" charset="-122"/>
                        </a:rPr>
                        <a:t>的行</a:t>
                      </a:r>
                    </a:p>
                  </a:txBody>
                  <a:tcPr marL="68586" marR="68586"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b="1" kern="100">
                          <a:effectLst/>
                          <a:latin typeface="Times New Roman" panose="02020603050405020304"/>
                          <a:ea typeface="宋体" panose="02010600030101010101" pitchFamily="2" charset="-122"/>
                        </a:rPr>
                        <a:t>Tc|tc</a:t>
                      </a:r>
                      <a:endParaRPr lang="zh-CN" sz="2800" b="1" kern="100">
                        <a:effectLst/>
                        <a:latin typeface="Times New Roman" panose="02020603050405020304"/>
                        <a:ea typeface="宋体" panose="02010600030101010101" pitchFamily="2" charset="-122"/>
                      </a:endParaRPr>
                    </a:p>
                  </a:txBody>
                  <a:tcPr marL="68586" marR="68586"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后</a:t>
                      </a:r>
                      <a:r>
                        <a:rPr lang="en-US" sz="2800" b="1" kern="100" dirty="0">
                          <a:effectLst/>
                          <a:latin typeface="Times New Roman" panose="02020603050405020304"/>
                          <a:ea typeface="宋体" panose="02010600030101010101" pitchFamily="2" charset="-122"/>
                        </a:rPr>
                        <a:t>/</a:t>
                      </a:r>
                      <a:r>
                        <a:rPr lang="zh-CN" sz="2800" b="1" kern="100" dirty="0">
                          <a:effectLst/>
                          <a:latin typeface="Times New Roman" panose="02020603050405020304"/>
                          <a:ea typeface="宋体" panose="02010600030101010101" pitchFamily="2" charset="-122"/>
                        </a:rPr>
                        <a:t>前向定位到当前行字符</a:t>
                      </a:r>
                      <a:r>
                        <a:rPr lang="en-US" sz="2800" b="1" kern="100" dirty="0">
                          <a:effectLst/>
                          <a:latin typeface="Times New Roman" panose="02020603050405020304"/>
                          <a:ea typeface="宋体" panose="02010600030101010101" pitchFamily="2" charset="-122"/>
                        </a:rPr>
                        <a:t>c</a:t>
                      </a:r>
                      <a:r>
                        <a:rPr lang="zh-CN" sz="2800" b="1" kern="100" dirty="0">
                          <a:effectLst/>
                          <a:latin typeface="Times New Roman" panose="02020603050405020304"/>
                          <a:ea typeface="宋体" panose="02010600030101010101" pitchFamily="2" charset="-122"/>
                        </a:rPr>
                        <a:t>后</a:t>
                      </a:r>
                      <a:r>
                        <a:rPr lang="en-US" sz="2800" b="1" kern="100" dirty="0">
                          <a:effectLst/>
                          <a:latin typeface="Times New Roman" panose="02020603050405020304"/>
                          <a:ea typeface="宋体" panose="02010600030101010101" pitchFamily="2" charset="-122"/>
                        </a:rPr>
                        <a:t>/</a:t>
                      </a:r>
                      <a:r>
                        <a:rPr lang="zh-CN" sz="2800" b="1" kern="100" dirty="0">
                          <a:effectLst/>
                          <a:latin typeface="Times New Roman" panose="02020603050405020304"/>
                          <a:ea typeface="宋体" panose="02010600030101010101" pitchFamily="2" charset="-122"/>
                        </a:rPr>
                        <a:t>前</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74912">
                <a:tc>
                  <a:txBody>
                    <a:bodyPr/>
                    <a:lstStyle/>
                    <a:p>
                      <a:pPr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a:t>
                      </a:r>
                      <a:r>
                        <a:rPr lang="en-US" sz="2800" b="1" kern="100" dirty="0" err="1">
                          <a:solidFill>
                            <a:srgbClr val="FF0000"/>
                          </a:solidFill>
                          <a:effectLst/>
                          <a:latin typeface="Times New Roman" panose="02020603050405020304"/>
                          <a:ea typeface="宋体" panose="02010600030101010101" pitchFamily="2" charset="-122"/>
                        </a:rPr>
                        <a:t>exp</a:t>
                      </a:r>
                      <a:r>
                        <a:rPr lang="en-US" sz="2800" b="1" kern="100" dirty="0">
                          <a:solidFill>
                            <a:srgbClr val="FF0000"/>
                          </a:solidFill>
                          <a:effectLst/>
                          <a:latin typeface="Times New Roman" panose="02020603050405020304"/>
                          <a:ea typeface="宋体" panose="02010600030101010101" pitchFamily="2" charset="-122"/>
                        </a:rPr>
                        <a:t>$</a:t>
                      </a:r>
                      <a:endParaRPr lang="zh-CN" sz="2800" b="1" kern="100" dirty="0">
                        <a:solidFill>
                          <a:srgbClr val="FF0000"/>
                        </a:solidFill>
                        <a:effectLst/>
                        <a:latin typeface="Times New Roman" panose="02020603050405020304"/>
                        <a:ea typeface="宋体" panose="02010600030101010101" pitchFamily="2" charset="-122"/>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定位到行末为</a:t>
                      </a:r>
                      <a:r>
                        <a:rPr lang="en-US" sz="2800" b="1" kern="100" dirty="0" err="1">
                          <a:effectLst/>
                          <a:latin typeface="Times New Roman" panose="02020603050405020304"/>
                          <a:ea typeface="宋体" panose="02010600030101010101" pitchFamily="2" charset="-122"/>
                        </a:rPr>
                        <a:t>exp</a:t>
                      </a:r>
                      <a:r>
                        <a:rPr lang="zh-CN" sz="2800" b="1" kern="100" dirty="0">
                          <a:effectLst/>
                          <a:latin typeface="Times New Roman" panose="02020603050405020304"/>
                          <a:ea typeface="宋体" panose="02010600030101010101" pitchFamily="2" charset="-122"/>
                        </a:rPr>
                        <a:t>的行</a:t>
                      </a:r>
                    </a:p>
                  </a:txBody>
                  <a:tcPr marL="68586" marR="68586"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b="1" kern="100">
                          <a:effectLst/>
                          <a:latin typeface="Times New Roman" panose="02020603050405020304"/>
                          <a:ea typeface="宋体" panose="02010600030101010101" pitchFamily="2" charset="-122"/>
                        </a:rPr>
                        <a:t>g0|gm|gl</a:t>
                      </a:r>
                      <a:endParaRPr lang="zh-CN" sz="2800" b="1" kern="100">
                        <a:effectLst/>
                        <a:latin typeface="Times New Roman" panose="02020603050405020304"/>
                        <a:ea typeface="宋体" panose="02010600030101010101" pitchFamily="2" charset="-122"/>
                      </a:endParaRPr>
                    </a:p>
                  </a:txBody>
                  <a:tcPr marL="68586" marR="68586"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光标移动到行首</a:t>
                      </a:r>
                      <a:r>
                        <a:rPr lang="en-US" sz="2800" b="1" kern="100" dirty="0">
                          <a:effectLst/>
                          <a:latin typeface="Times New Roman" panose="02020603050405020304"/>
                          <a:ea typeface="宋体" panose="02010600030101010101" pitchFamily="2" charset="-122"/>
                        </a:rPr>
                        <a:t>/</a:t>
                      </a:r>
                      <a:r>
                        <a:rPr lang="zh-CN" sz="2800" b="1" kern="100" dirty="0">
                          <a:effectLst/>
                          <a:latin typeface="Times New Roman" panose="02020603050405020304"/>
                          <a:ea typeface="宋体" panose="02010600030101010101" pitchFamily="2" charset="-122"/>
                        </a:rPr>
                        <a:t>中</a:t>
                      </a:r>
                      <a:r>
                        <a:rPr lang="en-US" sz="2800" b="1" kern="100" dirty="0">
                          <a:effectLst/>
                          <a:latin typeface="Times New Roman" panose="02020603050405020304"/>
                          <a:ea typeface="宋体" panose="02010600030101010101" pitchFamily="2" charset="-122"/>
                        </a:rPr>
                        <a:t>/</a:t>
                      </a:r>
                      <a:r>
                        <a:rPr lang="zh-CN" sz="2800" b="1" kern="100" dirty="0">
                          <a:effectLst/>
                          <a:latin typeface="Times New Roman" panose="02020603050405020304"/>
                          <a:ea typeface="宋体" panose="02010600030101010101" pitchFamily="2" charset="-122"/>
                        </a:rPr>
                        <a:t>末</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75222">
                <a:tc>
                  <a:txBody>
                    <a:bodyPr/>
                    <a:lstStyle/>
                    <a:p>
                      <a:pPr algn="ctr">
                        <a:lnSpc>
                          <a:spcPct val="100000"/>
                        </a:lnSpc>
                        <a:spcAft>
                          <a:spcPts val="0"/>
                        </a:spcAft>
                      </a:pPr>
                      <a:r>
                        <a:rPr lang="en-US" sz="2800" b="1" kern="100">
                          <a:effectLst/>
                          <a:latin typeface="Times New Roman" panose="02020603050405020304"/>
                          <a:ea typeface="宋体" panose="02010600030101010101" pitchFamily="2" charset="-122"/>
                        </a:rPr>
                        <a:t>n,m?|/exp</a:t>
                      </a:r>
                      <a:endParaRPr lang="zh-CN" sz="2800" b="1" kern="100">
                        <a:effectLst/>
                        <a:latin typeface="Times New Roman" panose="02020603050405020304"/>
                        <a:ea typeface="宋体" panose="02010600030101010101" pitchFamily="2" charset="-122"/>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a:effectLst/>
                          <a:latin typeface="Times New Roman" panose="02020603050405020304"/>
                          <a:ea typeface="宋体" panose="02010600030101010101" pitchFamily="2" charset="-122"/>
                        </a:rPr>
                        <a:t>在</a:t>
                      </a:r>
                      <a:r>
                        <a:rPr lang="en-US" sz="2800" b="1" kern="100">
                          <a:effectLst/>
                          <a:latin typeface="Times New Roman" panose="02020603050405020304"/>
                          <a:ea typeface="宋体" panose="02010600030101010101" pitchFamily="2" charset="-122"/>
                        </a:rPr>
                        <a:t>n-m</a:t>
                      </a:r>
                      <a:r>
                        <a:rPr lang="zh-CN" sz="2800" b="1" kern="100">
                          <a:effectLst/>
                          <a:latin typeface="Times New Roman" panose="02020603050405020304"/>
                          <a:ea typeface="宋体" panose="02010600030101010101" pitchFamily="2" charset="-122"/>
                        </a:rPr>
                        <a:t>行前</a:t>
                      </a:r>
                      <a:r>
                        <a:rPr lang="en-US" sz="2800" b="1" kern="100">
                          <a:effectLst/>
                          <a:latin typeface="Times New Roman" panose="02020603050405020304"/>
                          <a:ea typeface="宋体" panose="02010600030101010101" pitchFamily="2" charset="-122"/>
                        </a:rPr>
                        <a:t>/</a:t>
                      </a:r>
                      <a:r>
                        <a:rPr lang="zh-CN" sz="2800" b="1" kern="100">
                          <a:effectLst/>
                          <a:latin typeface="Times New Roman" panose="02020603050405020304"/>
                          <a:ea typeface="宋体" panose="02010600030101010101" pitchFamily="2" charset="-122"/>
                        </a:rPr>
                        <a:t>后向搜索</a:t>
                      </a:r>
                      <a:r>
                        <a:rPr lang="en-US" sz="2800" b="1" kern="100">
                          <a:effectLst/>
                          <a:latin typeface="Times New Roman" panose="02020603050405020304"/>
                          <a:ea typeface="宋体" panose="02010600030101010101" pitchFamily="2" charset="-122"/>
                        </a:rPr>
                        <a:t>exp</a:t>
                      </a:r>
                      <a:endParaRPr lang="zh-CN" sz="2800" b="1" kern="100">
                        <a:effectLst/>
                        <a:latin typeface="Times New Roman" panose="02020603050405020304"/>
                        <a:ea typeface="宋体" panose="02010600030101010101" pitchFamily="2" charset="-122"/>
                      </a:endParaRPr>
                    </a:p>
                  </a:txBody>
                  <a:tcPr marL="68586" marR="68586"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b="1" kern="100">
                          <a:effectLst/>
                          <a:latin typeface="Times New Roman" panose="02020603050405020304"/>
                          <a:ea typeface="宋体" panose="02010600030101010101" pitchFamily="2" charset="-122"/>
                        </a:rPr>
                        <a:t>gj|gk</a:t>
                      </a:r>
                      <a:endParaRPr lang="zh-CN" sz="2800" b="1" kern="100">
                        <a:effectLst/>
                        <a:latin typeface="Times New Roman" panose="02020603050405020304"/>
                        <a:ea typeface="宋体" panose="02010600030101010101" pitchFamily="2" charset="-122"/>
                      </a:endParaRPr>
                    </a:p>
                  </a:txBody>
                  <a:tcPr marL="68586" marR="68586"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光标下</a:t>
                      </a:r>
                      <a:r>
                        <a:rPr lang="en-US" sz="2800" b="1" kern="100" dirty="0">
                          <a:effectLst/>
                          <a:latin typeface="Times New Roman" panose="02020603050405020304"/>
                          <a:ea typeface="宋体" panose="02010600030101010101" pitchFamily="2" charset="-122"/>
                        </a:rPr>
                        <a:t>/</a:t>
                      </a:r>
                      <a:r>
                        <a:rPr lang="zh-CN" sz="2800" b="1" kern="100" dirty="0">
                          <a:effectLst/>
                          <a:latin typeface="Times New Roman" panose="02020603050405020304"/>
                          <a:ea typeface="宋体" panose="02010600030101010101" pitchFamily="2" charset="-122"/>
                        </a:rPr>
                        <a:t>上移一屏幕行（而非文本行）</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74912">
                <a:tc>
                  <a:txBody>
                    <a:bodyPr/>
                    <a:lstStyle/>
                    <a:p>
                      <a:pPr algn="ctr">
                        <a:lnSpc>
                          <a:spcPct val="100000"/>
                        </a:lnSpc>
                        <a:spcAft>
                          <a:spcPts val="0"/>
                        </a:spcAft>
                      </a:pPr>
                      <a:r>
                        <a:rPr lang="en-US" sz="4000" b="1" kern="100" dirty="0">
                          <a:solidFill>
                            <a:srgbClr val="FF0000"/>
                          </a:solidFill>
                          <a:effectLst/>
                          <a:latin typeface="Times New Roman" panose="02020603050405020304"/>
                          <a:ea typeface="宋体" panose="02010600030101010101" pitchFamily="2" charset="-122"/>
                        </a:rPr>
                        <a:t>n | N</a:t>
                      </a:r>
                      <a:endParaRPr lang="zh-CN" sz="4000" b="1" kern="100" dirty="0">
                        <a:solidFill>
                          <a:srgbClr val="FF0000"/>
                        </a:solidFill>
                        <a:effectLst/>
                        <a:latin typeface="Times New Roman" panose="02020603050405020304"/>
                        <a:ea typeface="宋体" panose="02010600030101010101" pitchFamily="2" charset="-122"/>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a:effectLst/>
                          <a:latin typeface="Times New Roman" panose="02020603050405020304"/>
                          <a:ea typeface="宋体" panose="02010600030101010101" pitchFamily="2" charset="-122"/>
                        </a:rPr>
                        <a:t>前</a:t>
                      </a:r>
                      <a:r>
                        <a:rPr lang="en-US" sz="2800" b="1" kern="100">
                          <a:effectLst/>
                          <a:latin typeface="Times New Roman" panose="02020603050405020304"/>
                          <a:ea typeface="宋体" panose="02010600030101010101" pitchFamily="2" charset="-122"/>
                        </a:rPr>
                        <a:t>/</a:t>
                      </a:r>
                      <a:r>
                        <a:rPr lang="zh-CN" sz="2800" b="1" kern="100">
                          <a:effectLst/>
                          <a:latin typeface="Times New Roman" panose="02020603050405020304"/>
                          <a:ea typeface="宋体" panose="02010600030101010101" pitchFamily="2" charset="-122"/>
                        </a:rPr>
                        <a:t>后向继续查找</a:t>
                      </a:r>
                    </a:p>
                  </a:txBody>
                  <a:tcPr marL="68586" marR="68586"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b="1" kern="100">
                          <a:effectLst/>
                          <a:latin typeface="Times New Roman" panose="02020603050405020304"/>
                          <a:ea typeface="宋体" panose="02010600030101010101" pitchFamily="2" charset="-122"/>
                        </a:rPr>
                        <a:t>*|#</a:t>
                      </a:r>
                      <a:endParaRPr lang="zh-CN" sz="2800" b="1" kern="100">
                        <a:effectLst/>
                        <a:latin typeface="Times New Roman" panose="02020603050405020304"/>
                        <a:ea typeface="宋体" panose="02010600030101010101" pitchFamily="2" charset="-122"/>
                      </a:endParaRPr>
                    </a:p>
                  </a:txBody>
                  <a:tcPr marL="68586" marR="68586"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前</a:t>
                      </a:r>
                      <a:r>
                        <a:rPr lang="en-US" sz="2800" b="1" kern="100" dirty="0">
                          <a:effectLst/>
                          <a:latin typeface="Times New Roman" panose="02020603050405020304"/>
                          <a:ea typeface="宋体" panose="02010600030101010101" pitchFamily="2" charset="-122"/>
                        </a:rPr>
                        <a:t>/</a:t>
                      </a:r>
                      <a:r>
                        <a:rPr lang="zh-CN" sz="2800" b="1" kern="100" dirty="0">
                          <a:effectLst/>
                          <a:latin typeface="Times New Roman" panose="02020603050405020304"/>
                          <a:ea typeface="宋体" panose="02010600030101010101" pitchFamily="2" charset="-122"/>
                        </a:rPr>
                        <a:t>后向搜索光标下的单词</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4690" name="标题 1">
            <a:extLst>
              <a:ext uri="{FF2B5EF4-FFF2-40B4-BE49-F238E27FC236}">
                <a16:creationId xmlns:a16="http://schemas.microsoft.com/office/drawing/2014/main" id="{CA0BCCAA-D7FF-93B2-4530-90D79F313714}"/>
              </a:ext>
            </a:extLst>
          </p:cNvPr>
          <p:cNvSpPr>
            <a:spLocks noGrp="1" noChangeArrowheads="1"/>
          </p:cNvSpPr>
          <p:nvPr>
            <p:ph type="title"/>
          </p:nvPr>
        </p:nvSpPr>
        <p:spPr/>
        <p:txBody>
          <a:bodyPr/>
          <a:lstStyle/>
          <a:p>
            <a:r>
              <a:rPr lang="zh-CN" altLang="zh-CN"/>
              <a:t>（</a:t>
            </a:r>
            <a:r>
              <a:rPr lang="en-US" altLang="zh-CN"/>
              <a:t>5</a:t>
            </a:r>
            <a:r>
              <a:rPr lang="zh-CN" altLang="zh-CN"/>
              <a:t>）搜索和替换</a:t>
            </a:r>
            <a:endParaRPr lang="zh-CN" altLang="en-US"/>
          </a:p>
        </p:txBody>
      </p:sp>
      <p:graphicFrame>
        <p:nvGraphicFramePr>
          <p:cNvPr id="4" name="内容占位符 3">
            <a:extLst>
              <a:ext uri="{FF2B5EF4-FFF2-40B4-BE49-F238E27FC236}">
                <a16:creationId xmlns:a16="http://schemas.microsoft.com/office/drawing/2014/main" id="{206476B2-5BE7-3EC1-8282-81D81BB66906}"/>
              </a:ext>
            </a:extLst>
          </p:cNvPr>
          <p:cNvGraphicFramePr>
            <a:graphicFrameLocks noGrp="1"/>
          </p:cNvGraphicFramePr>
          <p:nvPr>
            <p:ph idx="1"/>
          </p:nvPr>
        </p:nvGraphicFramePr>
        <p:xfrm>
          <a:off x="34925" y="549275"/>
          <a:ext cx="9001125" cy="5832475"/>
        </p:xfrm>
        <a:graphic>
          <a:graphicData uri="http://schemas.openxmlformats.org/drawingml/2006/table">
            <a:tbl>
              <a:tblPr firstRow="1" firstCol="1" bandRow="1"/>
              <a:tblGrid>
                <a:gridCol w="4176522">
                  <a:extLst>
                    <a:ext uri="{9D8B030D-6E8A-4147-A177-3AD203B41FA5}">
                      <a16:colId xmlns:a16="http://schemas.microsoft.com/office/drawing/2014/main" val="20000"/>
                    </a:ext>
                  </a:extLst>
                </a:gridCol>
                <a:gridCol w="4824603">
                  <a:extLst>
                    <a:ext uri="{9D8B030D-6E8A-4147-A177-3AD203B41FA5}">
                      <a16:colId xmlns:a16="http://schemas.microsoft.com/office/drawing/2014/main" val="20001"/>
                    </a:ext>
                  </a:extLst>
                </a:gridCol>
              </a:tblGrid>
              <a:tr h="750391">
                <a:tc>
                  <a:txBody>
                    <a:bodyPr/>
                    <a:lstStyle/>
                    <a:p>
                      <a:pPr algn="ctr">
                        <a:lnSpc>
                          <a:spcPct val="100000"/>
                        </a:lnSpc>
                        <a:spcAft>
                          <a:spcPts val="0"/>
                        </a:spcAft>
                      </a:pPr>
                      <a:r>
                        <a:rPr lang="zh-CN" sz="4000" b="1" kern="100" dirty="0">
                          <a:effectLst/>
                          <a:latin typeface="Times New Roman" panose="02020603050405020304"/>
                          <a:ea typeface="宋体" panose="02010600030101010101" pitchFamily="2" charset="-122"/>
                        </a:rPr>
                        <a:t>命令</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4000" b="1" kern="100" dirty="0">
                          <a:effectLst/>
                          <a:latin typeface="Times New Roman" panose="02020603050405020304"/>
                          <a:ea typeface="宋体" panose="02010600030101010101" pitchFamily="2" charset="-122"/>
                        </a:rPr>
                        <a:t>功 能 描 述</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270521">
                <a:tc>
                  <a:txBody>
                    <a:bodyPr/>
                    <a:lstStyle/>
                    <a:p>
                      <a:pPr algn="ctr">
                        <a:lnSpc>
                          <a:spcPct val="100000"/>
                        </a:lnSpc>
                        <a:spcAft>
                          <a:spcPts val="0"/>
                        </a:spcAft>
                      </a:pPr>
                      <a:r>
                        <a:rPr lang="en-US" sz="4000" b="1" kern="100" dirty="0">
                          <a:solidFill>
                            <a:srgbClr val="FF0000"/>
                          </a:solidFill>
                          <a:effectLst/>
                          <a:latin typeface="Times New Roman" panose="02020603050405020304"/>
                          <a:ea typeface="宋体" panose="02010600030101010101" pitchFamily="2" charset="-122"/>
                        </a:rPr>
                        <a:t>:s/exp1/exp2/g</a:t>
                      </a:r>
                      <a:endParaRPr lang="zh-CN" sz="4000" b="1" kern="100" dirty="0">
                        <a:solidFill>
                          <a:srgbClr val="FF0000"/>
                        </a:solidFill>
                        <a:effectLst/>
                        <a:latin typeface="Times New Roman" panose="02020603050405020304"/>
                        <a:ea typeface="宋体" panose="02010600030101010101" pitchFamily="2" charset="-122"/>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4000" b="1" kern="100" dirty="0">
                          <a:effectLst/>
                          <a:latin typeface="Times New Roman" panose="02020603050405020304"/>
                          <a:ea typeface="宋体" panose="02010600030101010101" pitchFamily="2" charset="-122"/>
                        </a:rPr>
                        <a:t>将当前行的</a:t>
                      </a:r>
                      <a:r>
                        <a:rPr lang="en-US" sz="4000" b="1" kern="100" dirty="0">
                          <a:effectLst/>
                          <a:latin typeface="Times New Roman" panose="02020603050405020304"/>
                          <a:ea typeface="宋体" panose="02010600030101010101" pitchFamily="2" charset="-122"/>
                        </a:rPr>
                        <a:t>exp1</a:t>
                      </a:r>
                      <a:r>
                        <a:rPr lang="zh-CN" sz="4000" b="1" kern="100" dirty="0">
                          <a:effectLst/>
                          <a:latin typeface="Times New Roman" panose="02020603050405020304"/>
                          <a:ea typeface="宋体" panose="02010600030101010101" pitchFamily="2" charset="-122"/>
                        </a:rPr>
                        <a:t>替换成</a:t>
                      </a:r>
                      <a:r>
                        <a:rPr lang="en-US" sz="4000" b="1" kern="100" dirty="0">
                          <a:effectLst/>
                          <a:latin typeface="Times New Roman" panose="02020603050405020304"/>
                          <a:ea typeface="宋体" panose="02010600030101010101" pitchFamily="2" charset="-122"/>
                        </a:rPr>
                        <a:t>exp2</a:t>
                      </a:r>
                      <a:endParaRPr lang="zh-CN" sz="4000" b="1" kern="100" dirty="0">
                        <a:effectLst/>
                        <a:latin typeface="Times New Roman" panose="02020603050405020304"/>
                        <a:ea typeface="宋体" panose="02010600030101010101" pitchFamily="2" charset="-122"/>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70521">
                <a:tc>
                  <a:txBody>
                    <a:bodyPr/>
                    <a:lstStyle/>
                    <a:p>
                      <a:pPr algn="ctr">
                        <a:lnSpc>
                          <a:spcPct val="100000"/>
                        </a:lnSpc>
                        <a:spcAft>
                          <a:spcPts val="0"/>
                        </a:spcAft>
                      </a:pPr>
                      <a:r>
                        <a:rPr lang="pt-BR" sz="4000" b="1" kern="100" dirty="0">
                          <a:solidFill>
                            <a:srgbClr val="FF0000"/>
                          </a:solidFill>
                          <a:effectLst/>
                          <a:latin typeface="Times New Roman" panose="02020603050405020304"/>
                          <a:ea typeface="宋体" panose="02010600030101010101" pitchFamily="2" charset="-122"/>
                        </a:rPr>
                        <a:t>:n,ms/exp1/exp2/g</a:t>
                      </a:r>
                      <a:endParaRPr lang="zh-CN" sz="4000" b="1" kern="100" dirty="0">
                        <a:solidFill>
                          <a:srgbClr val="FF0000"/>
                        </a:solidFill>
                        <a:effectLst/>
                        <a:latin typeface="Times New Roman" panose="02020603050405020304"/>
                        <a:ea typeface="宋体" panose="02010600030101010101" pitchFamily="2" charset="-122"/>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4000" b="1" kern="100" dirty="0">
                          <a:effectLst/>
                          <a:latin typeface="Times New Roman" panose="02020603050405020304"/>
                          <a:ea typeface="宋体" panose="02010600030101010101" pitchFamily="2" charset="-122"/>
                        </a:rPr>
                        <a:t>将从</a:t>
                      </a:r>
                      <a:r>
                        <a:rPr lang="en-US" sz="4000" b="1" kern="100" dirty="0">
                          <a:effectLst/>
                          <a:latin typeface="Times New Roman" panose="02020603050405020304"/>
                          <a:ea typeface="宋体" panose="02010600030101010101" pitchFamily="2" charset="-122"/>
                        </a:rPr>
                        <a:t>n</a:t>
                      </a:r>
                      <a:r>
                        <a:rPr lang="zh-CN" sz="4000" b="1" kern="100" dirty="0">
                          <a:effectLst/>
                          <a:latin typeface="Times New Roman" panose="02020603050405020304"/>
                          <a:ea typeface="宋体" panose="02010600030101010101" pitchFamily="2" charset="-122"/>
                        </a:rPr>
                        <a:t>到</a:t>
                      </a:r>
                      <a:r>
                        <a:rPr lang="en-US" sz="4000" b="1" kern="100" dirty="0">
                          <a:effectLst/>
                          <a:latin typeface="Times New Roman" panose="02020603050405020304"/>
                          <a:ea typeface="宋体" panose="02010600030101010101" pitchFamily="2" charset="-122"/>
                        </a:rPr>
                        <a:t>m</a:t>
                      </a:r>
                      <a:r>
                        <a:rPr lang="zh-CN" sz="4000" b="1" kern="100" dirty="0">
                          <a:effectLst/>
                          <a:latin typeface="Times New Roman" panose="02020603050405020304"/>
                          <a:ea typeface="宋体" panose="02010600030101010101" pitchFamily="2" charset="-122"/>
                        </a:rPr>
                        <a:t>行中的</a:t>
                      </a:r>
                      <a:r>
                        <a:rPr lang="en-US" sz="4000" b="1" kern="100" dirty="0">
                          <a:effectLst/>
                          <a:latin typeface="Times New Roman" panose="02020603050405020304"/>
                          <a:ea typeface="宋体" panose="02010600030101010101" pitchFamily="2" charset="-122"/>
                        </a:rPr>
                        <a:t>exp1</a:t>
                      </a:r>
                      <a:r>
                        <a:rPr lang="zh-CN" sz="4000" b="1" kern="100" dirty="0">
                          <a:effectLst/>
                          <a:latin typeface="Times New Roman" panose="02020603050405020304"/>
                          <a:ea typeface="宋体" panose="02010600030101010101" pitchFamily="2" charset="-122"/>
                        </a:rPr>
                        <a:t>替换为</a:t>
                      </a:r>
                      <a:r>
                        <a:rPr lang="en-US" sz="4000" b="1" kern="100" dirty="0">
                          <a:effectLst/>
                          <a:latin typeface="Times New Roman" panose="02020603050405020304"/>
                          <a:ea typeface="宋体" panose="02010600030101010101" pitchFamily="2" charset="-122"/>
                        </a:rPr>
                        <a:t>exp2</a:t>
                      </a:r>
                      <a:endParaRPr lang="zh-CN" sz="4000" b="1" kern="100" dirty="0">
                        <a:effectLst/>
                        <a:latin typeface="Times New Roman" panose="02020603050405020304"/>
                        <a:ea typeface="宋体" panose="02010600030101010101" pitchFamily="2" charset="-122"/>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270521">
                <a:tc>
                  <a:txBody>
                    <a:bodyPr/>
                    <a:lstStyle/>
                    <a:p>
                      <a:pPr algn="ctr">
                        <a:lnSpc>
                          <a:spcPct val="100000"/>
                        </a:lnSpc>
                        <a:spcAft>
                          <a:spcPts val="0"/>
                        </a:spcAft>
                      </a:pPr>
                      <a:r>
                        <a:rPr lang="pt-BR" sz="4000" b="1" kern="100" dirty="0">
                          <a:solidFill>
                            <a:schemeClr val="tx1"/>
                          </a:solidFill>
                          <a:effectLst/>
                          <a:latin typeface="Times New Roman" panose="02020603050405020304"/>
                          <a:ea typeface="宋体" panose="02010600030101010101" pitchFamily="2" charset="-122"/>
                        </a:rPr>
                        <a:t>:n,mg/exp1/s//exp2/g</a:t>
                      </a:r>
                      <a:endParaRPr lang="zh-CN" sz="4000" b="1" kern="100" dirty="0">
                        <a:solidFill>
                          <a:schemeClr val="tx1"/>
                        </a:solidFill>
                        <a:effectLst/>
                        <a:latin typeface="Times New Roman" panose="02020603050405020304"/>
                        <a:ea typeface="宋体" panose="02010600030101010101" pitchFamily="2" charset="-122"/>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4000" b="1" kern="100" dirty="0">
                          <a:effectLst/>
                          <a:latin typeface="Times New Roman" panose="02020603050405020304"/>
                          <a:ea typeface="宋体" panose="02010600030101010101" pitchFamily="2" charset="-122"/>
                        </a:rPr>
                        <a:t>将从</a:t>
                      </a:r>
                      <a:r>
                        <a:rPr lang="en-US" sz="4000" b="1" kern="100" dirty="0">
                          <a:effectLst/>
                          <a:latin typeface="Times New Roman" panose="02020603050405020304"/>
                          <a:ea typeface="宋体" panose="02010600030101010101" pitchFamily="2" charset="-122"/>
                        </a:rPr>
                        <a:t>n</a:t>
                      </a:r>
                      <a:r>
                        <a:rPr lang="zh-CN" sz="4000" b="1" kern="100" dirty="0">
                          <a:effectLst/>
                          <a:latin typeface="Times New Roman" panose="02020603050405020304"/>
                          <a:ea typeface="宋体" panose="02010600030101010101" pitchFamily="2" charset="-122"/>
                        </a:rPr>
                        <a:t>到</a:t>
                      </a:r>
                      <a:r>
                        <a:rPr lang="en-US" sz="4000" b="1" kern="100" dirty="0">
                          <a:effectLst/>
                          <a:latin typeface="Times New Roman" panose="02020603050405020304"/>
                          <a:ea typeface="宋体" panose="02010600030101010101" pitchFamily="2" charset="-122"/>
                        </a:rPr>
                        <a:t>m</a:t>
                      </a:r>
                      <a:r>
                        <a:rPr lang="zh-CN" sz="4000" b="1" kern="100" dirty="0">
                          <a:effectLst/>
                          <a:latin typeface="Times New Roman" panose="02020603050405020304"/>
                          <a:ea typeface="宋体" panose="02010600030101010101" pitchFamily="2" charset="-122"/>
                        </a:rPr>
                        <a:t>行中的</a:t>
                      </a:r>
                      <a:r>
                        <a:rPr lang="en-US" sz="4000" b="1" kern="100" dirty="0">
                          <a:effectLst/>
                          <a:latin typeface="Times New Roman" panose="02020603050405020304"/>
                          <a:ea typeface="宋体" panose="02010600030101010101" pitchFamily="2" charset="-122"/>
                        </a:rPr>
                        <a:t>exp1</a:t>
                      </a:r>
                      <a:r>
                        <a:rPr lang="zh-CN" sz="4000" b="1" kern="100" dirty="0">
                          <a:effectLst/>
                          <a:latin typeface="Times New Roman" panose="02020603050405020304"/>
                          <a:ea typeface="宋体" panose="02010600030101010101" pitchFamily="2" charset="-122"/>
                        </a:rPr>
                        <a:t>替换为</a:t>
                      </a:r>
                      <a:r>
                        <a:rPr lang="en-US" sz="4000" b="1" kern="100" dirty="0">
                          <a:effectLst/>
                          <a:latin typeface="Times New Roman" panose="02020603050405020304"/>
                          <a:ea typeface="宋体" panose="02010600030101010101" pitchFamily="2" charset="-122"/>
                        </a:rPr>
                        <a:t>exp2</a:t>
                      </a:r>
                      <a:endParaRPr lang="zh-CN" sz="4000" b="1" kern="100" dirty="0">
                        <a:effectLst/>
                        <a:latin typeface="Times New Roman" panose="02020603050405020304"/>
                        <a:ea typeface="宋体" panose="02010600030101010101" pitchFamily="2" charset="-122"/>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270521">
                <a:tc>
                  <a:txBody>
                    <a:bodyPr/>
                    <a:lstStyle/>
                    <a:p>
                      <a:pPr algn="ctr">
                        <a:lnSpc>
                          <a:spcPct val="100000"/>
                        </a:lnSpc>
                        <a:spcAft>
                          <a:spcPts val="0"/>
                        </a:spcAft>
                      </a:pPr>
                      <a:r>
                        <a:rPr lang="en-US" sz="4000" b="1" kern="100" dirty="0">
                          <a:solidFill>
                            <a:srgbClr val="FF0000"/>
                          </a:solidFill>
                          <a:effectLst/>
                          <a:latin typeface="Times New Roman" panose="02020603050405020304"/>
                          <a:ea typeface="宋体" panose="02010600030101010101" pitchFamily="2" charset="-122"/>
                        </a:rPr>
                        <a:t>:g/exp1/s//exp2/g</a:t>
                      </a:r>
                      <a:endParaRPr lang="zh-CN" sz="4000" b="1" kern="100" dirty="0">
                        <a:solidFill>
                          <a:srgbClr val="FF0000"/>
                        </a:solidFill>
                        <a:effectLst/>
                        <a:latin typeface="Times New Roman" panose="02020603050405020304"/>
                        <a:ea typeface="宋体" panose="02010600030101010101" pitchFamily="2" charset="-122"/>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4000" b="1" kern="100" dirty="0">
                          <a:effectLst/>
                          <a:latin typeface="Times New Roman" panose="02020603050405020304"/>
                          <a:ea typeface="宋体" panose="02010600030101010101" pitchFamily="2" charset="-122"/>
                        </a:rPr>
                        <a:t>将全文中的</a:t>
                      </a:r>
                      <a:r>
                        <a:rPr lang="en-US" sz="4000" b="1" kern="100" dirty="0">
                          <a:effectLst/>
                          <a:latin typeface="Times New Roman" panose="02020603050405020304"/>
                          <a:ea typeface="宋体" panose="02010600030101010101" pitchFamily="2" charset="-122"/>
                        </a:rPr>
                        <a:t>exp1</a:t>
                      </a:r>
                      <a:r>
                        <a:rPr lang="zh-CN" sz="4000" b="1" kern="100" dirty="0">
                          <a:effectLst/>
                          <a:latin typeface="Times New Roman" panose="02020603050405020304"/>
                          <a:ea typeface="宋体" panose="02010600030101010101" pitchFamily="2" charset="-122"/>
                        </a:rPr>
                        <a:t>替换为</a:t>
                      </a:r>
                      <a:r>
                        <a:rPr lang="en-US" sz="4000" b="1" kern="100" dirty="0">
                          <a:effectLst/>
                          <a:latin typeface="Times New Roman" panose="02020603050405020304"/>
                          <a:ea typeface="宋体" panose="02010600030101010101" pitchFamily="2" charset="-122"/>
                        </a:rPr>
                        <a:t>exp2</a:t>
                      </a:r>
                      <a:endParaRPr lang="zh-CN" sz="4000" b="1" kern="100" dirty="0">
                        <a:effectLst/>
                        <a:latin typeface="Times New Roman" panose="02020603050405020304"/>
                        <a:ea typeface="宋体" panose="02010600030101010101" pitchFamily="2" charset="-122"/>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标题 1">
            <a:extLst>
              <a:ext uri="{FF2B5EF4-FFF2-40B4-BE49-F238E27FC236}">
                <a16:creationId xmlns:a16="http://schemas.microsoft.com/office/drawing/2014/main" id="{D66060BC-EA82-8E03-3638-3F95EB4E37B3}"/>
              </a:ext>
            </a:extLst>
          </p:cNvPr>
          <p:cNvSpPr>
            <a:spLocks noGrp="1" noChangeArrowheads="1"/>
          </p:cNvSpPr>
          <p:nvPr>
            <p:ph type="title"/>
          </p:nvPr>
        </p:nvSpPr>
        <p:spPr/>
        <p:txBody>
          <a:bodyPr/>
          <a:lstStyle/>
          <a:p>
            <a:r>
              <a:rPr lang="zh-CN" altLang="zh-CN"/>
              <a:t>（</a:t>
            </a:r>
            <a:r>
              <a:rPr lang="en-US" altLang="zh-CN"/>
              <a:t>6</a:t>
            </a:r>
            <a:r>
              <a:rPr lang="zh-CN" altLang="zh-CN"/>
              <a:t>）块操作命令</a:t>
            </a:r>
            <a:endParaRPr lang="zh-CN" altLang="en-US"/>
          </a:p>
        </p:txBody>
      </p:sp>
      <p:graphicFrame>
        <p:nvGraphicFramePr>
          <p:cNvPr id="5" name="内容占位符 4">
            <a:extLst>
              <a:ext uri="{FF2B5EF4-FFF2-40B4-BE49-F238E27FC236}">
                <a16:creationId xmlns:a16="http://schemas.microsoft.com/office/drawing/2014/main" id="{8A0EF004-3EF2-09B9-9530-2A4AA234D5E6}"/>
              </a:ext>
            </a:extLst>
          </p:cNvPr>
          <p:cNvGraphicFramePr>
            <a:graphicFrameLocks noGrp="1"/>
          </p:cNvGraphicFramePr>
          <p:nvPr>
            <p:ph idx="1"/>
          </p:nvPr>
        </p:nvGraphicFramePr>
        <p:xfrm>
          <a:off x="34925" y="620713"/>
          <a:ext cx="9109075" cy="5688012"/>
        </p:xfrm>
        <a:graphic>
          <a:graphicData uri="http://schemas.openxmlformats.org/drawingml/2006/table">
            <a:tbl>
              <a:tblPr firstRow="1" firstCol="1" bandRow="1"/>
              <a:tblGrid>
                <a:gridCol w="3424469">
                  <a:extLst>
                    <a:ext uri="{9D8B030D-6E8A-4147-A177-3AD203B41FA5}">
                      <a16:colId xmlns:a16="http://schemas.microsoft.com/office/drawing/2014/main" val="20000"/>
                    </a:ext>
                  </a:extLst>
                </a:gridCol>
                <a:gridCol w="5684606">
                  <a:extLst>
                    <a:ext uri="{9D8B030D-6E8A-4147-A177-3AD203B41FA5}">
                      <a16:colId xmlns:a16="http://schemas.microsoft.com/office/drawing/2014/main" val="20001"/>
                    </a:ext>
                  </a:extLst>
                </a:gridCol>
              </a:tblGrid>
              <a:tr h="1035202">
                <a:tc>
                  <a:txBody>
                    <a:bodyPr/>
                    <a:lstStyle/>
                    <a:p>
                      <a:pPr algn="ctr">
                        <a:lnSpc>
                          <a:spcPct val="100000"/>
                        </a:lnSpc>
                        <a:spcAft>
                          <a:spcPts val="0"/>
                        </a:spcAft>
                      </a:pPr>
                      <a:r>
                        <a:rPr lang="zh-CN" sz="3600" b="1" kern="100" dirty="0">
                          <a:effectLst/>
                          <a:latin typeface="Times New Roman" panose="02020603050405020304"/>
                          <a:ea typeface="宋体" panose="02010600030101010101" pitchFamily="2" charset="-122"/>
                        </a:rPr>
                        <a:t>命令</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3600" b="1" kern="100" dirty="0">
                          <a:effectLst/>
                          <a:latin typeface="Times New Roman" panose="02020603050405020304"/>
                          <a:ea typeface="宋体" panose="02010600030101010101" pitchFamily="2" charset="-122"/>
                        </a:rPr>
                        <a:t>功 能 描 述</a:t>
                      </a:r>
                    </a:p>
                  </a:txBody>
                  <a:tcPr marL="68583" marR="68583"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63202">
                <a:tc>
                  <a:txBody>
                    <a:bodyPr/>
                    <a:lstStyle/>
                    <a:p>
                      <a:pPr algn="ctr">
                        <a:lnSpc>
                          <a:spcPct val="100000"/>
                        </a:lnSpc>
                        <a:spcAft>
                          <a:spcPts val="0"/>
                        </a:spcAft>
                      </a:pPr>
                      <a:r>
                        <a:rPr lang="en-US" sz="3600" b="1" kern="100" dirty="0">
                          <a:solidFill>
                            <a:srgbClr val="FF0000"/>
                          </a:solidFill>
                          <a:effectLst/>
                          <a:latin typeface="Times New Roman" panose="02020603050405020304"/>
                          <a:ea typeface="宋体" panose="02010600030101010101" pitchFamily="2" charset="-122"/>
                        </a:rPr>
                        <a:t>:n1,n2d</a:t>
                      </a:r>
                      <a:endParaRPr lang="zh-CN" sz="3600" b="1" kern="100" dirty="0">
                        <a:solidFill>
                          <a:srgbClr val="FF0000"/>
                        </a:solidFill>
                        <a:effectLst/>
                        <a:latin typeface="Times New Roman" panose="02020603050405020304"/>
                        <a:ea typeface="宋体" panose="02010600030101010101" pitchFamily="2"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删除</a:t>
                      </a:r>
                      <a:r>
                        <a:rPr lang="en-US" sz="3600" b="1" kern="100" dirty="0">
                          <a:effectLst/>
                          <a:latin typeface="Times New Roman" panose="02020603050405020304"/>
                          <a:ea typeface="宋体" panose="02010600030101010101" pitchFamily="2" charset="-122"/>
                        </a:rPr>
                        <a:t>n1</a:t>
                      </a:r>
                      <a:r>
                        <a:rPr lang="zh-CN" sz="3600" b="1" kern="100" dirty="0">
                          <a:effectLst/>
                          <a:latin typeface="Times New Roman" panose="02020603050405020304"/>
                          <a:ea typeface="宋体" panose="02010600030101010101" pitchFamily="2" charset="-122"/>
                        </a:rPr>
                        <a:t>到</a:t>
                      </a:r>
                      <a:r>
                        <a:rPr lang="en-US" sz="3600" b="1" kern="100" dirty="0">
                          <a:effectLst/>
                          <a:latin typeface="Times New Roman" panose="02020603050405020304"/>
                          <a:ea typeface="宋体" panose="02010600030101010101" pitchFamily="2" charset="-122"/>
                        </a:rPr>
                        <a:t>n2</a:t>
                      </a:r>
                      <a:r>
                        <a:rPr lang="zh-CN" sz="3600" b="1" kern="100" dirty="0">
                          <a:effectLst/>
                          <a:latin typeface="Times New Roman" panose="02020603050405020304"/>
                          <a:ea typeface="宋体" panose="02010600030101010101" pitchFamily="2" charset="-122"/>
                        </a:rPr>
                        <a:t>行的内容</a:t>
                      </a:r>
                    </a:p>
                  </a:txBody>
                  <a:tcPr marL="68583" marR="68583"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63202">
                <a:tc>
                  <a:txBody>
                    <a:bodyPr/>
                    <a:lstStyle/>
                    <a:p>
                      <a:pPr algn="ctr">
                        <a:lnSpc>
                          <a:spcPct val="100000"/>
                        </a:lnSpc>
                        <a:spcAft>
                          <a:spcPts val="0"/>
                        </a:spcAft>
                      </a:pPr>
                      <a:r>
                        <a:rPr lang="en-US" sz="3600" b="1" kern="100">
                          <a:effectLst/>
                          <a:latin typeface="Times New Roman" panose="02020603050405020304"/>
                          <a:ea typeface="宋体" panose="02010600030101010101" pitchFamily="2" charset="-122"/>
                        </a:rPr>
                        <a:t>:n1,n2mn3</a:t>
                      </a:r>
                      <a:endParaRPr lang="zh-CN" sz="3600" b="1" kern="100">
                        <a:effectLst/>
                        <a:latin typeface="Times New Roman" panose="02020603050405020304"/>
                        <a:ea typeface="宋体" panose="02010600030101010101" pitchFamily="2"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将</a:t>
                      </a:r>
                      <a:r>
                        <a:rPr lang="en-US" sz="3600" b="1" kern="100" dirty="0">
                          <a:effectLst/>
                          <a:latin typeface="Times New Roman" panose="02020603050405020304"/>
                          <a:ea typeface="宋体" panose="02010600030101010101" pitchFamily="2" charset="-122"/>
                        </a:rPr>
                        <a:t>n1</a:t>
                      </a:r>
                      <a:r>
                        <a:rPr lang="zh-CN" sz="3600" b="1" kern="100" dirty="0">
                          <a:effectLst/>
                          <a:latin typeface="Times New Roman" panose="02020603050405020304"/>
                          <a:ea typeface="宋体" panose="02010600030101010101" pitchFamily="2" charset="-122"/>
                        </a:rPr>
                        <a:t>到</a:t>
                      </a:r>
                      <a:r>
                        <a:rPr lang="en-US" sz="3600" b="1" kern="100" dirty="0">
                          <a:effectLst/>
                          <a:latin typeface="Times New Roman" panose="02020603050405020304"/>
                          <a:ea typeface="宋体" panose="02010600030101010101" pitchFamily="2" charset="-122"/>
                        </a:rPr>
                        <a:t>n2</a:t>
                      </a:r>
                      <a:r>
                        <a:rPr lang="zh-CN" sz="3600" b="1" kern="100" dirty="0">
                          <a:effectLst/>
                          <a:latin typeface="Times New Roman" panose="02020603050405020304"/>
                          <a:ea typeface="宋体" panose="02010600030101010101" pitchFamily="2" charset="-122"/>
                        </a:rPr>
                        <a:t>行内容移动到</a:t>
                      </a:r>
                      <a:r>
                        <a:rPr lang="en-US" sz="3600" b="1" kern="100" dirty="0">
                          <a:effectLst/>
                          <a:latin typeface="Times New Roman" panose="02020603050405020304"/>
                          <a:ea typeface="宋体" panose="02010600030101010101" pitchFamily="2" charset="-122"/>
                        </a:rPr>
                        <a:t>n3</a:t>
                      </a:r>
                      <a:endParaRPr lang="zh-CN" sz="3600" b="1" kern="100" dirty="0">
                        <a:effectLst/>
                        <a:latin typeface="Times New Roman" panose="02020603050405020304"/>
                        <a:ea typeface="宋体" panose="02010600030101010101" pitchFamily="2" charset="-122"/>
                      </a:endParaRPr>
                    </a:p>
                  </a:txBody>
                  <a:tcPr marL="68583" marR="68583"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63202">
                <a:tc>
                  <a:txBody>
                    <a:bodyPr/>
                    <a:lstStyle/>
                    <a:p>
                      <a:pPr algn="ctr">
                        <a:lnSpc>
                          <a:spcPct val="100000"/>
                        </a:lnSpc>
                        <a:spcAft>
                          <a:spcPts val="0"/>
                        </a:spcAft>
                      </a:pPr>
                      <a:r>
                        <a:rPr lang="en-US" sz="3600" b="1" kern="100">
                          <a:effectLst/>
                          <a:latin typeface="Times New Roman" panose="02020603050405020304"/>
                          <a:ea typeface="宋体" panose="02010600030101010101" pitchFamily="2" charset="-122"/>
                        </a:rPr>
                        <a:t>:n1,n2tn3</a:t>
                      </a:r>
                      <a:endParaRPr lang="zh-CN" sz="3600" b="1" kern="100">
                        <a:effectLst/>
                        <a:latin typeface="Times New Roman" panose="02020603050405020304"/>
                        <a:ea typeface="宋体" panose="02010600030101010101" pitchFamily="2"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将</a:t>
                      </a:r>
                      <a:r>
                        <a:rPr lang="en-US" sz="3600" b="1" kern="100" dirty="0">
                          <a:effectLst/>
                          <a:latin typeface="Times New Roman" panose="02020603050405020304"/>
                          <a:ea typeface="宋体" panose="02010600030101010101" pitchFamily="2" charset="-122"/>
                        </a:rPr>
                        <a:t>n1</a:t>
                      </a:r>
                      <a:r>
                        <a:rPr lang="zh-CN" sz="3600" b="1" kern="100" dirty="0">
                          <a:effectLst/>
                          <a:latin typeface="Times New Roman" panose="02020603050405020304"/>
                          <a:ea typeface="宋体" panose="02010600030101010101" pitchFamily="2" charset="-122"/>
                        </a:rPr>
                        <a:t>到</a:t>
                      </a:r>
                      <a:r>
                        <a:rPr lang="en-US" sz="3600" b="1" kern="100" dirty="0">
                          <a:effectLst/>
                          <a:latin typeface="Times New Roman" panose="02020603050405020304"/>
                          <a:ea typeface="宋体" panose="02010600030101010101" pitchFamily="2" charset="-122"/>
                        </a:rPr>
                        <a:t>n2</a:t>
                      </a:r>
                      <a:r>
                        <a:rPr lang="zh-CN" sz="3600" b="1" kern="100" dirty="0">
                          <a:effectLst/>
                          <a:latin typeface="Times New Roman" panose="02020603050405020304"/>
                          <a:ea typeface="宋体" panose="02010600030101010101" pitchFamily="2" charset="-122"/>
                        </a:rPr>
                        <a:t>行内容复制到</a:t>
                      </a:r>
                      <a:r>
                        <a:rPr lang="en-US" sz="3600" b="1" kern="100" dirty="0">
                          <a:effectLst/>
                          <a:latin typeface="Times New Roman" panose="02020603050405020304"/>
                          <a:ea typeface="宋体" panose="02010600030101010101" pitchFamily="2" charset="-122"/>
                        </a:rPr>
                        <a:t>n3</a:t>
                      </a:r>
                      <a:endParaRPr lang="zh-CN" sz="3600" b="1" kern="100" dirty="0">
                        <a:effectLst/>
                        <a:latin typeface="Times New Roman" panose="02020603050405020304"/>
                        <a:ea typeface="宋体" panose="02010600030101010101" pitchFamily="2" charset="-122"/>
                      </a:endParaRPr>
                    </a:p>
                  </a:txBody>
                  <a:tcPr marL="68583" marR="68583"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63202">
                <a:tc>
                  <a:txBody>
                    <a:bodyPr/>
                    <a:lstStyle/>
                    <a:p>
                      <a:pPr algn="ctr">
                        <a:lnSpc>
                          <a:spcPct val="100000"/>
                        </a:lnSpc>
                        <a:spcAft>
                          <a:spcPts val="0"/>
                        </a:spcAft>
                      </a:pPr>
                      <a:r>
                        <a:rPr lang="en-US" sz="3600" b="1" kern="100" dirty="0">
                          <a:solidFill>
                            <a:srgbClr val="FF0000"/>
                          </a:solidFill>
                          <a:effectLst/>
                          <a:latin typeface="Times New Roman" panose="02020603050405020304"/>
                          <a:ea typeface="宋体" panose="02010600030101010101" pitchFamily="2" charset="-122"/>
                        </a:rPr>
                        <a:t>:n1,n2w[!] [file]</a:t>
                      </a:r>
                      <a:endParaRPr lang="zh-CN" sz="3600" b="1" kern="100" dirty="0">
                        <a:solidFill>
                          <a:srgbClr val="FF0000"/>
                        </a:solidFill>
                        <a:effectLst/>
                        <a:latin typeface="Times New Roman" panose="02020603050405020304"/>
                        <a:ea typeface="宋体" panose="02010600030101010101" pitchFamily="2"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00000"/>
                        </a:lnSpc>
                        <a:spcAft>
                          <a:spcPts val="0"/>
                        </a:spcAft>
                      </a:pPr>
                      <a:r>
                        <a:rPr lang="zh-CN" sz="3600" b="1" kern="100" dirty="0">
                          <a:effectLst/>
                          <a:latin typeface="Times New Roman" panose="02020603050405020304"/>
                          <a:ea typeface="宋体" panose="02010600030101010101" pitchFamily="2" charset="-122"/>
                        </a:rPr>
                        <a:t>将</a:t>
                      </a:r>
                      <a:r>
                        <a:rPr lang="en-US" sz="3600" b="1" kern="100" dirty="0">
                          <a:effectLst/>
                          <a:latin typeface="Times New Roman" panose="02020603050405020304"/>
                          <a:ea typeface="宋体" panose="02010600030101010101" pitchFamily="2" charset="-122"/>
                        </a:rPr>
                        <a:t>n1</a:t>
                      </a:r>
                      <a:r>
                        <a:rPr lang="zh-CN" sz="3600" b="1" kern="100" dirty="0">
                          <a:effectLst/>
                          <a:latin typeface="Times New Roman" panose="02020603050405020304"/>
                          <a:ea typeface="宋体" panose="02010600030101010101" pitchFamily="2" charset="-122"/>
                        </a:rPr>
                        <a:t>到</a:t>
                      </a:r>
                      <a:r>
                        <a:rPr lang="en-US" sz="3600" b="1" kern="100" dirty="0">
                          <a:effectLst/>
                          <a:latin typeface="Times New Roman" panose="02020603050405020304"/>
                          <a:ea typeface="宋体" panose="02010600030101010101" pitchFamily="2" charset="-122"/>
                        </a:rPr>
                        <a:t>n2</a:t>
                      </a:r>
                      <a:r>
                        <a:rPr lang="zh-CN" sz="3600" b="1" kern="100" dirty="0">
                          <a:effectLst/>
                          <a:latin typeface="Times New Roman" panose="02020603050405020304"/>
                          <a:ea typeface="宋体" panose="02010600030101010101" pitchFamily="2" charset="-122"/>
                        </a:rPr>
                        <a:t>行内容写入</a:t>
                      </a:r>
                      <a:r>
                        <a:rPr lang="en-US" sz="3600" b="1" kern="100" dirty="0">
                          <a:effectLst/>
                          <a:latin typeface="Times New Roman" panose="02020603050405020304"/>
                          <a:ea typeface="宋体" panose="02010600030101010101" pitchFamily="2" charset="-122"/>
                        </a:rPr>
                        <a:t>[file]</a:t>
                      </a:r>
                      <a:endParaRPr lang="zh-CN" sz="3600" b="1" kern="100" dirty="0">
                        <a:effectLst/>
                        <a:latin typeface="Times New Roman" panose="02020603050405020304"/>
                        <a:ea typeface="宋体" panose="02010600030101010101" pitchFamily="2" charset="-122"/>
                      </a:endParaRPr>
                    </a:p>
                  </a:txBody>
                  <a:tcPr marL="68583" marR="68583"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6738" name="标题 1">
            <a:extLst>
              <a:ext uri="{FF2B5EF4-FFF2-40B4-BE49-F238E27FC236}">
                <a16:creationId xmlns:a16="http://schemas.microsoft.com/office/drawing/2014/main" id="{A03FFC56-0A78-4317-2756-0031D94223E7}"/>
              </a:ext>
            </a:extLst>
          </p:cNvPr>
          <p:cNvSpPr>
            <a:spLocks noGrp="1" noChangeArrowheads="1"/>
          </p:cNvSpPr>
          <p:nvPr>
            <p:ph type="title"/>
          </p:nvPr>
        </p:nvSpPr>
        <p:spPr/>
        <p:txBody>
          <a:bodyPr/>
          <a:lstStyle/>
          <a:p>
            <a:r>
              <a:rPr lang="zh-CN" altLang="zh-CN"/>
              <a:t>（</a:t>
            </a:r>
            <a:r>
              <a:rPr lang="en-US" altLang="zh-CN"/>
              <a:t>7</a:t>
            </a:r>
            <a:r>
              <a:rPr lang="zh-CN" altLang="zh-CN"/>
              <a:t>）缓冲区操作</a:t>
            </a:r>
            <a:endParaRPr lang="zh-CN" altLang="en-US"/>
          </a:p>
        </p:txBody>
      </p:sp>
      <p:sp>
        <p:nvSpPr>
          <p:cNvPr id="116739" name="内容占位符 2">
            <a:extLst>
              <a:ext uri="{FF2B5EF4-FFF2-40B4-BE49-F238E27FC236}">
                <a16:creationId xmlns:a16="http://schemas.microsoft.com/office/drawing/2014/main" id="{F908CB2A-75F5-A4AD-0A4C-13AE6606A8E3}"/>
              </a:ext>
            </a:extLst>
          </p:cNvPr>
          <p:cNvSpPr>
            <a:spLocks noGrp="1" noChangeArrowheads="1"/>
          </p:cNvSpPr>
          <p:nvPr>
            <p:ph idx="1"/>
          </p:nvPr>
        </p:nvSpPr>
        <p:spPr>
          <a:xfrm>
            <a:off x="-36513" y="549275"/>
            <a:ext cx="9180513" cy="5761038"/>
          </a:xfrm>
        </p:spPr>
        <p:txBody>
          <a:bodyPr/>
          <a:lstStyle/>
          <a:p>
            <a:pPr marL="250825">
              <a:spcBef>
                <a:spcPct val="0"/>
              </a:spcBef>
            </a:pPr>
            <a:r>
              <a:rPr lang="en-US" altLang="zh-CN" sz="3600"/>
              <a:t>vi</a:t>
            </a:r>
            <a:r>
              <a:rPr lang="zh-CN" altLang="zh-CN" sz="3600"/>
              <a:t>默认时使用</a:t>
            </a:r>
            <a:r>
              <a:rPr lang="zh-CN" altLang="zh-CN" sz="3600" u="sng">
                <a:solidFill>
                  <a:srgbClr val="FF0000"/>
                </a:solidFill>
              </a:rPr>
              <a:t>无名缓冲区</a:t>
            </a:r>
            <a:r>
              <a:rPr lang="zh-CN" altLang="zh-CN" sz="3600"/>
              <a:t>进行工作，比如，将文件的某些部分删除了，但可以用</a:t>
            </a:r>
            <a:r>
              <a:rPr lang="en-US" altLang="zh-CN" sz="3600" u="sng">
                <a:solidFill>
                  <a:srgbClr val="FF0000"/>
                </a:solidFill>
              </a:rPr>
              <a:t>u</a:t>
            </a:r>
            <a:r>
              <a:rPr lang="zh-CN" altLang="zh-CN" sz="3600" u="sng">
                <a:solidFill>
                  <a:srgbClr val="FF0000"/>
                </a:solidFill>
              </a:rPr>
              <a:t>命令进行撤销</a:t>
            </a:r>
            <a:r>
              <a:rPr lang="zh-CN" altLang="zh-CN" sz="3600"/>
              <a:t>。文件内容的复制与移动都是通过缓冲区进行的。</a:t>
            </a:r>
            <a:endParaRPr lang="en-US" altLang="zh-CN" sz="3600"/>
          </a:p>
          <a:p>
            <a:pPr marL="250825">
              <a:spcBef>
                <a:spcPct val="0"/>
              </a:spcBef>
            </a:pPr>
            <a:r>
              <a:rPr lang="zh-CN" altLang="zh-CN" sz="3600"/>
              <a:t>对使用各种删除命令</a:t>
            </a:r>
            <a:r>
              <a:rPr lang="zh-CN" altLang="zh-CN" sz="3600">
                <a:solidFill>
                  <a:srgbClr val="FF0000"/>
                </a:solidFill>
              </a:rPr>
              <a:t>删除的内容都被保留在无名缓冲区中</a:t>
            </a:r>
            <a:r>
              <a:rPr lang="zh-CN" altLang="zh-CN" sz="3600"/>
              <a:t>，用户可以</a:t>
            </a:r>
            <a:r>
              <a:rPr lang="zh-CN" altLang="zh-CN" sz="3600" u="sng">
                <a:solidFill>
                  <a:srgbClr val="FF0000"/>
                </a:solidFill>
              </a:rPr>
              <a:t>使用</a:t>
            </a:r>
            <a:r>
              <a:rPr lang="en-US" altLang="zh-CN" sz="3600" u="sng">
                <a:solidFill>
                  <a:srgbClr val="FF0000"/>
                </a:solidFill>
              </a:rPr>
              <a:t>p</a:t>
            </a:r>
            <a:r>
              <a:rPr lang="zh-CN" altLang="zh-CN" sz="3600" u="sng">
                <a:solidFill>
                  <a:srgbClr val="FF0000"/>
                </a:solidFill>
              </a:rPr>
              <a:t>命令</a:t>
            </a:r>
            <a:r>
              <a:rPr lang="zh-CN" altLang="zh-CN" sz="3600"/>
              <a:t>在光标后追加它们。</a:t>
            </a:r>
            <a:r>
              <a:rPr lang="zh-CN" altLang="en-US" sz="3600"/>
              <a:t>比如：</a:t>
            </a:r>
          </a:p>
          <a:p>
            <a:pPr marL="708025" lvl="1">
              <a:spcBef>
                <a:spcPct val="0"/>
              </a:spcBef>
            </a:pPr>
            <a:r>
              <a:rPr lang="zh-CN" altLang="zh-CN" sz="3600"/>
              <a:t>命令串</a:t>
            </a:r>
            <a:r>
              <a:rPr lang="en-US" altLang="zh-CN" sz="3600"/>
              <a:t>xp</a:t>
            </a:r>
            <a:r>
              <a:rPr lang="zh-CN" altLang="zh-CN" sz="3600"/>
              <a:t>可以交换光标处及其后两个字符的位置；</a:t>
            </a:r>
          </a:p>
          <a:p>
            <a:pPr marL="708025" lvl="1">
              <a:spcBef>
                <a:spcPct val="0"/>
              </a:spcBef>
            </a:pPr>
            <a:r>
              <a:rPr lang="en-US" altLang="zh-CN" sz="3600"/>
              <a:t>ddp</a:t>
            </a:r>
            <a:r>
              <a:rPr lang="zh-CN" altLang="zh-CN" sz="3600"/>
              <a:t>交换光标所在行及其下一行的位置。</a:t>
            </a:r>
            <a:endParaRPr lang="en-US" altLang="zh-CN" sz="360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7762" name="标题 1">
            <a:extLst>
              <a:ext uri="{FF2B5EF4-FFF2-40B4-BE49-F238E27FC236}">
                <a16:creationId xmlns:a16="http://schemas.microsoft.com/office/drawing/2014/main" id="{E53F9B79-2C0F-6BD6-6FE6-718225E786F4}"/>
              </a:ext>
            </a:extLst>
          </p:cNvPr>
          <p:cNvSpPr>
            <a:spLocks noGrp="1" noChangeArrowheads="1"/>
          </p:cNvSpPr>
          <p:nvPr>
            <p:ph type="title"/>
          </p:nvPr>
        </p:nvSpPr>
        <p:spPr/>
        <p:txBody>
          <a:bodyPr/>
          <a:lstStyle/>
          <a:p>
            <a:r>
              <a:rPr lang="zh-CN" altLang="zh-CN"/>
              <a:t>缓冲区操作命令</a:t>
            </a:r>
            <a:endParaRPr lang="zh-CN" altLang="en-US"/>
          </a:p>
        </p:txBody>
      </p:sp>
      <p:sp>
        <p:nvSpPr>
          <p:cNvPr id="117763" name="内容占位符 2">
            <a:extLst>
              <a:ext uri="{FF2B5EF4-FFF2-40B4-BE49-F238E27FC236}">
                <a16:creationId xmlns:a16="http://schemas.microsoft.com/office/drawing/2014/main" id="{B3B4E9B4-5751-8F7C-7F45-FEB1366D7871}"/>
              </a:ext>
            </a:extLst>
          </p:cNvPr>
          <p:cNvSpPr>
            <a:spLocks noGrp="1" noChangeArrowheads="1"/>
          </p:cNvSpPr>
          <p:nvPr>
            <p:ph idx="1"/>
          </p:nvPr>
        </p:nvSpPr>
        <p:spPr>
          <a:xfrm>
            <a:off x="0" y="620713"/>
            <a:ext cx="9109075" cy="5761037"/>
          </a:xfrm>
        </p:spPr>
        <p:txBody>
          <a:bodyPr/>
          <a:lstStyle/>
          <a:p>
            <a:r>
              <a:rPr lang="en-US" altLang="zh-CN" sz="4000"/>
              <a:t>vi</a:t>
            </a:r>
            <a:r>
              <a:rPr lang="zh-CN" altLang="zh-CN" sz="4000"/>
              <a:t>还可使用</a:t>
            </a:r>
            <a:r>
              <a:rPr lang="zh-CN" altLang="zh-CN" sz="4000" u="sng">
                <a:solidFill>
                  <a:srgbClr val="FF0000"/>
                </a:solidFill>
              </a:rPr>
              <a:t>命名缓冲区</a:t>
            </a:r>
            <a:r>
              <a:rPr lang="en-US" altLang="zh-CN" sz="4000" u="sng">
                <a:solidFill>
                  <a:srgbClr val="FF0000"/>
                </a:solidFill>
              </a:rPr>
              <a:t>a-z</a:t>
            </a:r>
            <a:r>
              <a:rPr lang="zh-CN" altLang="zh-CN" sz="4000"/>
              <a:t>，然后通过缓冲区进行复制或粘贴等操作。</a:t>
            </a:r>
            <a:endParaRPr lang="zh-CN" altLang="en-US" sz="4000"/>
          </a:p>
        </p:txBody>
      </p:sp>
      <p:graphicFrame>
        <p:nvGraphicFramePr>
          <p:cNvPr id="4" name="内容占位符 3">
            <a:extLst>
              <a:ext uri="{FF2B5EF4-FFF2-40B4-BE49-F238E27FC236}">
                <a16:creationId xmlns:a16="http://schemas.microsoft.com/office/drawing/2014/main" id="{AED767DB-E62F-EDB5-A3B3-330694623109}"/>
              </a:ext>
            </a:extLst>
          </p:cNvPr>
          <p:cNvGraphicFramePr/>
          <p:nvPr/>
        </p:nvGraphicFramePr>
        <p:xfrm>
          <a:off x="107950" y="1989138"/>
          <a:ext cx="8928100" cy="4319587"/>
        </p:xfrm>
        <a:graphic>
          <a:graphicData uri="http://schemas.openxmlformats.org/drawingml/2006/table">
            <a:tbl>
              <a:tblPr firstRow="1" firstCol="1" bandRow="1"/>
              <a:tblGrid>
                <a:gridCol w="1462361">
                  <a:extLst>
                    <a:ext uri="{9D8B030D-6E8A-4147-A177-3AD203B41FA5}">
                      <a16:colId xmlns:a16="http://schemas.microsoft.com/office/drawing/2014/main" val="20000"/>
                    </a:ext>
                  </a:extLst>
                </a:gridCol>
                <a:gridCol w="7465739">
                  <a:extLst>
                    <a:ext uri="{9D8B030D-6E8A-4147-A177-3AD203B41FA5}">
                      <a16:colId xmlns:a16="http://schemas.microsoft.com/office/drawing/2014/main" val="20001"/>
                    </a:ext>
                  </a:extLst>
                </a:gridCol>
              </a:tblGrid>
              <a:tr h="535894">
                <a:tc>
                  <a:txBody>
                    <a:bodyPr/>
                    <a:lstStyle/>
                    <a:p>
                      <a:pPr algn="ctr">
                        <a:lnSpc>
                          <a:spcPct val="100000"/>
                        </a:lnSpc>
                        <a:spcAft>
                          <a:spcPts val="0"/>
                        </a:spcAft>
                      </a:pPr>
                      <a:r>
                        <a:rPr lang="zh-CN" sz="2800" b="1" kern="100" dirty="0">
                          <a:effectLst/>
                          <a:latin typeface="Times New Roman" panose="02020603050405020304"/>
                          <a:ea typeface="宋体" panose="02010600030101010101" pitchFamily="2" charset="-122"/>
                        </a:rPr>
                        <a:t>命令</a:t>
                      </a:r>
                    </a:p>
                  </a:txBody>
                  <a:tcPr marL="68564" marR="685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b="1" kern="100" dirty="0">
                          <a:effectLst/>
                          <a:latin typeface="Times New Roman" panose="02020603050405020304"/>
                          <a:ea typeface="宋体" panose="02010600030101010101" pitchFamily="2" charset="-122"/>
                        </a:rPr>
                        <a:t>功 能 描 述</a:t>
                      </a:r>
                    </a:p>
                  </a:txBody>
                  <a:tcPr marL="68564" marR="685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78133">
                <a:tc>
                  <a:txBody>
                    <a:bodyPr/>
                    <a:lstStyle/>
                    <a:p>
                      <a:pPr algn="ctr">
                        <a:lnSpc>
                          <a:spcPct val="100000"/>
                        </a:lnSpc>
                        <a:spcAft>
                          <a:spcPts val="0"/>
                        </a:spcAft>
                      </a:pPr>
                      <a:r>
                        <a:rPr lang="en-US" sz="2800" b="1" kern="100">
                          <a:effectLst/>
                          <a:latin typeface="Times New Roman" panose="02020603050405020304"/>
                          <a:ea typeface="宋体" panose="02010600030101010101" pitchFamily="2" charset="-122"/>
                        </a:rPr>
                        <a:t>Y/yy</a:t>
                      </a:r>
                      <a:endParaRPr lang="zh-CN" sz="2800" b="1" kern="100">
                        <a:effectLst/>
                        <a:latin typeface="Times New Roman" panose="02020603050405020304"/>
                        <a:ea typeface="宋体" panose="02010600030101010101" pitchFamily="2" charset="-122"/>
                      </a:endParaRPr>
                    </a:p>
                  </a:txBody>
                  <a:tcPr marL="68564" marR="685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95250" algn="just">
                        <a:lnSpc>
                          <a:spcPct val="100000"/>
                        </a:lnSpc>
                        <a:spcAft>
                          <a:spcPts val="0"/>
                        </a:spcAft>
                      </a:pPr>
                      <a:r>
                        <a:rPr lang="zh-CN" sz="2800" b="1" kern="100" dirty="0">
                          <a:effectLst/>
                          <a:latin typeface="Times New Roman" panose="02020603050405020304"/>
                          <a:ea typeface="宋体" panose="02010600030101010101" pitchFamily="2" charset="-122"/>
                        </a:rPr>
                        <a:t>将当前行放入无名缓冲区</a:t>
                      </a:r>
                    </a:p>
                  </a:txBody>
                  <a:tcPr marL="68564" marR="685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71535">
                <a:tc>
                  <a:txBody>
                    <a:bodyPr/>
                    <a:lstStyle/>
                    <a:p>
                      <a:pPr algn="ctr">
                        <a:lnSpc>
                          <a:spcPct val="100000"/>
                        </a:lnSpc>
                        <a:spcAft>
                          <a:spcPts val="0"/>
                        </a:spcAft>
                      </a:pPr>
                      <a:r>
                        <a:rPr lang="en-US" sz="2800" b="1" kern="100" dirty="0">
                          <a:effectLst/>
                          <a:latin typeface="Times New Roman" panose="02020603050405020304"/>
                          <a:ea typeface="宋体" panose="02010600030101010101" pitchFamily="2" charset="-122"/>
                        </a:rPr>
                        <a:t>P/p</a:t>
                      </a:r>
                      <a:endParaRPr lang="zh-CN" sz="2800" b="1" kern="100" dirty="0">
                        <a:effectLst/>
                        <a:latin typeface="Times New Roman" panose="02020603050405020304"/>
                        <a:ea typeface="宋体" panose="02010600030101010101" pitchFamily="2" charset="-122"/>
                      </a:endParaRPr>
                    </a:p>
                  </a:txBody>
                  <a:tcPr marL="68564" marR="685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95250" algn="just">
                        <a:lnSpc>
                          <a:spcPct val="100000"/>
                        </a:lnSpc>
                        <a:spcAft>
                          <a:spcPts val="0"/>
                        </a:spcAft>
                      </a:pPr>
                      <a:r>
                        <a:rPr lang="zh-CN" sz="2800" b="1" kern="100" dirty="0">
                          <a:effectLst/>
                          <a:latin typeface="Times New Roman" panose="02020603050405020304"/>
                          <a:ea typeface="宋体" panose="02010600030101010101" pitchFamily="2" charset="-122"/>
                        </a:rPr>
                        <a:t>将无名缓冲区中的内容粘贴到当前行的上</a:t>
                      </a:r>
                      <a:r>
                        <a:rPr lang="en-US" sz="2800" b="1" kern="100" dirty="0">
                          <a:effectLst/>
                          <a:latin typeface="Times New Roman" panose="02020603050405020304"/>
                          <a:ea typeface="宋体" panose="02010600030101010101" pitchFamily="2" charset="-122"/>
                        </a:rPr>
                        <a:t>/</a:t>
                      </a:r>
                      <a:r>
                        <a:rPr lang="zh-CN" sz="2800" b="1" kern="100" dirty="0">
                          <a:effectLst/>
                          <a:latin typeface="Times New Roman" panose="02020603050405020304"/>
                          <a:ea typeface="宋体" panose="02010600030101010101" pitchFamily="2" charset="-122"/>
                        </a:rPr>
                        <a:t>下方</a:t>
                      </a:r>
                    </a:p>
                  </a:txBody>
                  <a:tcPr marL="68564" marR="685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78133">
                <a:tc>
                  <a:txBody>
                    <a:bodyPr/>
                    <a:lstStyle/>
                    <a:p>
                      <a:pPr algn="ctr">
                        <a:lnSpc>
                          <a:spcPct val="100000"/>
                        </a:lnSpc>
                        <a:spcAft>
                          <a:spcPts val="0"/>
                        </a:spcAft>
                      </a:pPr>
                      <a:r>
                        <a:rPr lang="en-US" sz="4000" b="1" kern="100" dirty="0">
                          <a:solidFill>
                            <a:srgbClr val="FF0000"/>
                          </a:solidFill>
                          <a:effectLst/>
                          <a:latin typeface="Times New Roman" panose="02020603050405020304"/>
                          <a:ea typeface="宋体" panose="02010600030101010101" pitchFamily="2" charset="-122"/>
                        </a:rPr>
                        <a:t>"</a:t>
                      </a:r>
                      <a:r>
                        <a:rPr lang="en-US" sz="2800" b="1" kern="100" dirty="0" err="1">
                          <a:effectLst/>
                          <a:latin typeface="Times New Roman" panose="02020603050405020304"/>
                          <a:ea typeface="宋体" panose="02010600030101010101" pitchFamily="2" charset="-122"/>
                        </a:rPr>
                        <a:t>cyy</a:t>
                      </a:r>
                      <a:endParaRPr lang="zh-CN" sz="2800" b="1" kern="100" dirty="0">
                        <a:effectLst/>
                        <a:latin typeface="Times New Roman" panose="02020603050405020304"/>
                        <a:ea typeface="宋体" panose="02010600030101010101" pitchFamily="2" charset="-122"/>
                      </a:endParaRPr>
                    </a:p>
                  </a:txBody>
                  <a:tcPr marL="68564" marR="685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95250" algn="just">
                        <a:lnSpc>
                          <a:spcPct val="100000"/>
                        </a:lnSpc>
                        <a:spcAft>
                          <a:spcPts val="0"/>
                        </a:spcAft>
                      </a:pPr>
                      <a:r>
                        <a:rPr lang="zh-CN" sz="2800" b="1" kern="100" dirty="0">
                          <a:effectLst/>
                          <a:latin typeface="Times New Roman" panose="02020603050405020304"/>
                          <a:ea typeface="宋体" panose="02010600030101010101" pitchFamily="2" charset="-122"/>
                        </a:rPr>
                        <a:t>将当前行放入缓冲区</a:t>
                      </a:r>
                      <a:r>
                        <a:rPr lang="en-US" sz="2800" b="1" kern="100" dirty="0">
                          <a:effectLst/>
                          <a:latin typeface="Times New Roman" panose="02020603050405020304"/>
                          <a:ea typeface="宋体" panose="02010600030101010101" pitchFamily="2" charset="-122"/>
                        </a:rPr>
                        <a:t>c</a:t>
                      </a:r>
                      <a:r>
                        <a:rPr lang="zh-CN" sz="2800" b="1" kern="100" dirty="0">
                          <a:effectLst/>
                          <a:latin typeface="Times New Roman" panose="02020603050405020304"/>
                          <a:ea typeface="宋体" panose="02010600030101010101" pitchFamily="2" charset="-122"/>
                        </a:rPr>
                        <a:t>（</a:t>
                      </a:r>
                      <a:r>
                        <a:rPr lang="en-US" sz="2800" b="1" kern="100" dirty="0">
                          <a:effectLst/>
                          <a:latin typeface="Times New Roman" panose="02020603050405020304"/>
                          <a:ea typeface="宋体" panose="02010600030101010101" pitchFamily="2" charset="-122"/>
                        </a:rPr>
                        <a:t>c</a:t>
                      </a:r>
                      <a:r>
                        <a:rPr lang="zh-CN" sz="2800" b="1" kern="100" dirty="0">
                          <a:effectLst/>
                          <a:latin typeface="Times New Roman" panose="02020603050405020304"/>
                          <a:ea typeface="宋体" panose="02010600030101010101" pitchFamily="2" charset="-122"/>
                        </a:rPr>
                        <a:t>为任何小写字母）</a:t>
                      </a:r>
                    </a:p>
                  </a:txBody>
                  <a:tcPr marL="68564" marR="685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77758">
                <a:tc>
                  <a:txBody>
                    <a:bodyPr/>
                    <a:lstStyle/>
                    <a:p>
                      <a:pPr algn="ctr">
                        <a:lnSpc>
                          <a:spcPct val="100000"/>
                        </a:lnSpc>
                        <a:spcAft>
                          <a:spcPts val="0"/>
                        </a:spcAft>
                      </a:pPr>
                      <a:r>
                        <a:rPr lang="en-US" sz="2800" b="1" kern="100">
                          <a:effectLst/>
                          <a:latin typeface="Times New Roman" panose="02020603050405020304"/>
                          <a:ea typeface="宋体" panose="02010600030101010101" pitchFamily="2" charset="-122"/>
                        </a:rPr>
                        <a:t>"cd</a:t>
                      </a:r>
                      <a:endParaRPr lang="zh-CN" sz="2800" b="1" kern="100">
                        <a:effectLst/>
                        <a:latin typeface="Times New Roman" panose="02020603050405020304"/>
                        <a:ea typeface="宋体" panose="02010600030101010101" pitchFamily="2" charset="-122"/>
                      </a:endParaRPr>
                    </a:p>
                  </a:txBody>
                  <a:tcPr marL="68564" marR="685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95250" algn="just">
                        <a:lnSpc>
                          <a:spcPct val="100000"/>
                        </a:lnSpc>
                        <a:spcAft>
                          <a:spcPts val="0"/>
                        </a:spcAft>
                      </a:pPr>
                      <a:r>
                        <a:rPr lang="zh-CN" sz="2800" b="1" kern="100" dirty="0">
                          <a:effectLst/>
                          <a:latin typeface="Times New Roman" panose="02020603050405020304"/>
                          <a:ea typeface="宋体" panose="02010600030101010101" pitchFamily="2" charset="-122"/>
                        </a:rPr>
                        <a:t>将当前行删除，内容放入缓冲区</a:t>
                      </a:r>
                      <a:r>
                        <a:rPr lang="en-US" sz="2800" b="1" kern="100" dirty="0">
                          <a:effectLst/>
                          <a:latin typeface="Times New Roman" panose="02020603050405020304"/>
                          <a:ea typeface="宋体" panose="02010600030101010101" pitchFamily="2" charset="-122"/>
                        </a:rPr>
                        <a:t>c</a:t>
                      </a:r>
                      <a:endParaRPr lang="zh-CN" sz="2800" b="1" kern="100" dirty="0">
                        <a:effectLst/>
                        <a:latin typeface="Times New Roman" panose="02020603050405020304"/>
                        <a:ea typeface="宋体" panose="02010600030101010101" pitchFamily="2" charset="-122"/>
                      </a:endParaRPr>
                    </a:p>
                  </a:txBody>
                  <a:tcPr marL="68564" marR="685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78133">
                <a:tc>
                  <a:txBody>
                    <a:bodyPr/>
                    <a:lstStyle/>
                    <a:p>
                      <a:pPr algn="ctr">
                        <a:lnSpc>
                          <a:spcPct val="100000"/>
                        </a:lnSpc>
                        <a:spcAft>
                          <a:spcPts val="0"/>
                        </a:spcAft>
                      </a:pPr>
                      <a:r>
                        <a:rPr lang="en-US" sz="2800" b="1" kern="100" dirty="0">
                          <a:effectLst/>
                          <a:latin typeface="Times New Roman" panose="02020603050405020304"/>
                          <a:ea typeface="宋体" panose="02010600030101010101" pitchFamily="2" charset="-122"/>
                        </a:rPr>
                        <a:t>"</a:t>
                      </a:r>
                      <a:r>
                        <a:rPr lang="en-US" sz="2800" b="1" kern="100" dirty="0" err="1">
                          <a:effectLst/>
                          <a:latin typeface="Times New Roman" panose="02020603050405020304"/>
                          <a:ea typeface="宋体" panose="02010600030101010101" pitchFamily="2" charset="-122"/>
                        </a:rPr>
                        <a:t>cP</a:t>
                      </a:r>
                      <a:r>
                        <a:rPr lang="en-US" sz="2800" b="1" kern="100" dirty="0">
                          <a:effectLst/>
                          <a:latin typeface="Times New Roman" panose="02020603050405020304"/>
                          <a:ea typeface="宋体" panose="02010600030101010101" pitchFamily="2" charset="-122"/>
                        </a:rPr>
                        <a:t>/"</a:t>
                      </a:r>
                      <a:r>
                        <a:rPr lang="en-US" sz="2800" b="1" kern="100" dirty="0" err="1">
                          <a:effectLst/>
                          <a:latin typeface="Times New Roman" panose="02020603050405020304"/>
                          <a:ea typeface="宋体" panose="02010600030101010101" pitchFamily="2" charset="-122"/>
                        </a:rPr>
                        <a:t>cp</a:t>
                      </a:r>
                      <a:endParaRPr lang="zh-CN" sz="2800" b="1" kern="100" dirty="0">
                        <a:effectLst/>
                        <a:latin typeface="Times New Roman" panose="02020603050405020304"/>
                        <a:ea typeface="宋体" panose="02010600030101010101" pitchFamily="2" charset="-122"/>
                      </a:endParaRPr>
                    </a:p>
                  </a:txBody>
                  <a:tcPr marL="68564" marR="685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95250" algn="just">
                        <a:lnSpc>
                          <a:spcPct val="100000"/>
                        </a:lnSpc>
                        <a:spcAft>
                          <a:spcPts val="0"/>
                        </a:spcAft>
                      </a:pPr>
                      <a:r>
                        <a:rPr lang="zh-CN" sz="2800" b="1" kern="100" dirty="0">
                          <a:effectLst/>
                          <a:latin typeface="Times New Roman" panose="02020603050405020304"/>
                          <a:ea typeface="宋体" panose="02010600030101010101" pitchFamily="2" charset="-122"/>
                        </a:rPr>
                        <a:t>将缓冲区</a:t>
                      </a:r>
                      <a:r>
                        <a:rPr lang="en-US" sz="2800" b="1" kern="100" dirty="0">
                          <a:effectLst/>
                          <a:latin typeface="Times New Roman" panose="02020603050405020304"/>
                          <a:ea typeface="宋体" panose="02010600030101010101" pitchFamily="2" charset="-122"/>
                        </a:rPr>
                        <a:t>c</a:t>
                      </a:r>
                      <a:r>
                        <a:rPr lang="zh-CN" sz="2800" b="1" kern="100" dirty="0">
                          <a:effectLst/>
                          <a:latin typeface="Times New Roman" panose="02020603050405020304"/>
                          <a:ea typeface="宋体" panose="02010600030101010101" pitchFamily="2" charset="-122"/>
                        </a:rPr>
                        <a:t>中的内容粘贴到当前行的上</a:t>
                      </a:r>
                      <a:r>
                        <a:rPr lang="en-US" sz="2800" b="1" kern="100" dirty="0">
                          <a:effectLst/>
                          <a:latin typeface="Times New Roman" panose="02020603050405020304"/>
                          <a:ea typeface="宋体" panose="02010600030101010101" pitchFamily="2" charset="-122"/>
                        </a:rPr>
                        <a:t>/</a:t>
                      </a:r>
                      <a:r>
                        <a:rPr lang="zh-CN" sz="2800" b="1" kern="100" dirty="0">
                          <a:effectLst/>
                          <a:latin typeface="Times New Roman" panose="02020603050405020304"/>
                          <a:ea typeface="宋体" panose="02010600030101010101" pitchFamily="2" charset="-122"/>
                        </a:rPr>
                        <a:t>下方</a:t>
                      </a:r>
                    </a:p>
                  </a:txBody>
                  <a:tcPr marL="68564" marR="685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5F313B86-F6A4-2794-A771-14048CCCD2A5}"/>
              </a:ext>
            </a:extLst>
          </p:cNvPr>
          <p:cNvSpPr>
            <a:spLocks noGrp="1" noChangeArrowheads="1"/>
          </p:cNvSpPr>
          <p:nvPr>
            <p:ph type="title"/>
          </p:nvPr>
        </p:nvSpPr>
        <p:spPr/>
        <p:txBody>
          <a:bodyPr/>
          <a:lstStyle/>
          <a:p>
            <a:r>
              <a:rPr lang="zh-CN" altLang="zh-CN"/>
              <a:t>（</a:t>
            </a:r>
            <a:r>
              <a:rPr lang="en-US" altLang="zh-CN"/>
              <a:t>8</a:t>
            </a:r>
            <a:r>
              <a:rPr lang="zh-CN" altLang="zh-CN"/>
              <a:t>）其他命令</a:t>
            </a:r>
            <a:endParaRPr lang="zh-CN" altLang="en-US"/>
          </a:p>
        </p:txBody>
      </p:sp>
      <p:graphicFrame>
        <p:nvGraphicFramePr>
          <p:cNvPr id="4" name="内容占位符 3">
            <a:extLst>
              <a:ext uri="{FF2B5EF4-FFF2-40B4-BE49-F238E27FC236}">
                <a16:creationId xmlns:a16="http://schemas.microsoft.com/office/drawing/2014/main" id="{DD87C8DF-35A1-2B85-7043-F6F0D0B8B2DE}"/>
              </a:ext>
            </a:extLst>
          </p:cNvPr>
          <p:cNvGraphicFramePr>
            <a:graphicFrameLocks noGrp="1"/>
          </p:cNvGraphicFramePr>
          <p:nvPr>
            <p:ph idx="1"/>
          </p:nvPr>
        </p:nvGraphicFramePr>
        <p:xfrm>
          <a:off x="107950" y="620713"/>
          <a:ext cx="9036050" cy="5765800"/>
        </p:xfrm>
        <a:graphic>
          <a:graphicData uri="http://schemas.openxmlformats.org/drawingml/2006/table">
            <a:tbl>
              <a:tblPr firstRow="1" firstCol="1" bandRow="1"/>
              <a:tblGrid>
                <a:gridCol w="1011370">
                  <a:extLst>
                    <a:ext uri="{9D8B030D-6E8A-4147-A177-3AD203B41FA5}">
                      <a16:colId xmlns:a16="http://schemas.microsoft.com/office/drawing/2014/main" val="20000"/>
                    </a:ext>
                  </a:extLst>
                </a:gridCol>
                <a:gridCol w="3363407">
                  <a:extLst>
                    <a:ext uri="{9D8B030D-6E8A-4147-A177-3AD203B41FA5}">
                      <a16:colId xmlns:a16="http://schemas.microsoft.com/office/drawing/2014/main" val="20001"/>
                    </a:ext>
                  </a:extLst>
                </a:gridCol>
                <a:gridCol w="1221237">
                  <a:extLst>
                    <a:ext uri="{9D8B030D-6E8A-4147-A177-3AD203B41FA5}">
                      <a16:colId xmlns:a16="http://schemas.microsoft.com/office/drawing/2014/main" val="20002"/>
                    </a:ext>
                  </a:extLst>
                </a:gridCol>
                <a:gridCol w="3440036">
                  <a:extLst>
                    <a:ext uri="{9D8B030D-6E8A-4147-A177-3AD203B41FA5}">
                      <a16:colId xmlns:a16="http://schemas.microsoft.com/office/drawing/2014/main" val="20003"/>
                    </a:ext>
                  </a:extLst>
                </a:gridCol>
              </a:tblGrid>
              <a:tr h="471447">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命令</a:t>
                      </a: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a:effectLst/>
                          <a:latin typeface="Times New Roman" panose="02020603050405020304"/>
                          <a:ea typeface="宋体" panose="02010600030101010101" pitchFamily="2" charset="-122"/>
                        </a:rPr>
                        <a:t>功 能 描 述</a:t>
                      </a:r>
                    </a:p>
                  </a:txBody>
                  <a:tcPr marL="68582" marR="6858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dirty="0">
                          <a:effectLst/>
                          <a:latin typeface="Times New Roman" panose="02020603050405020304"/>
                          <a:ea typeface="宋体" panose="02010600030101010101" pitchFamily="2" charset="-122"/>
                        </a:rPr>
                        <a:t>命令</a:t>
                      </a:r>
                    </a:p>
                  </a:txBody>
                  <a:tcPr marL="68582" marR="68582"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000" b="1" kern="100">
                          <a:effectLst/>
                          <a:latin typeface="Times New Roman" panose="02020603050405020304"/>
                          <a:ea typeface="宋体" panose="02010600030101010101" pitchFamily="2" charset="-122"/>
                        </a:rPr>
                        <a:t>功 能 描 述</a:t>
                      </a: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48640">
                <a:tc>
                  <a:txBody>
                    <a:bodyPr/>
                    <a:lstStyle/>
                    <a:p>
                      <a:pPr algn="ctr">
                        <a:lnSpc>
                          <a:spcPct val="100000"/>
                        </a:lnSpc>
                        <a:spcAft>
                          <a:spcPts val="0"/>
                        </a:spcAft>
                      </a:pPr>
                      <a:r>
                        <a:rPr lang="en-US" sz="3600" b="1" kern="100" dirty="0">
                          <a:solidFill>
                            <a:srgbClr val="FF0000"/>
                          </a:solidFill>
                          <a:effectLst/>
                          <a:latin typeface="Times New Roman" panose="02020603050405020304"/>
                          <a:ea typeface="宋体" panose="02010600030101010101" pitchFamily="2" charset="-122"/>
                        </a:rPr>
                        <a:t>.</a:t>
                      </a:r>
                      <a:endParaRPr lang="zh-CN" sz="3600" b="1" kern="100" dirty="0">
                        <a:solidFill>
                          <a:srgbClr val="FF0000"/>
                        </a:solidFill>
                        <a:effectLst/>
                        <a:latin typeface="Times New Roman" panose="02020603050405020304"/>
                        <a:ea typeface="宋体" panose="02010600030101010101" pitchFamily="2" charset="-122"/>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dirty="0">
                          <a:effectLst/>
                          <a:latin typeface="Times New Roman" panose="02020603050405020304"/>
                          <a:ea typeface="宋体" panose="02010600030101010101" pitchFamily="2" charset="-122"/>
                        </a:rPr>
                        <a:t>重复上次执行的命令</a:t>
                      </a:r>
                    </a:p>
                  </a:txBody>
                  <a:tcPr marL="68582" marR="6858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b="1" kern="100" dirty="0">
                          <a:solidFill>
                            <a:srgbClr val="FF0000"/>
                          </a:solidFill>
                          <a:effectLst/>
                          <a:latin typeface="Times New Roman" panose="02020603050405020304"/>
                          <a:ea typeface="宋体" panose="02010600030101010101" pitchFamily="2" charset="-122"/>
                        </a:rPr>
                        <a:t>u</a:t>
                      </a:r>
                      <a:endParaRPr lang="zh-CN" sz="2000" b="1" kern="100" dirty="0">
                        <a:solidFill>
                          <a:srgbClr val="FF0000"/>
                        </a:solidFill>
                        <a:effectLst/>
                        <a:latin typeface="Times New Roman" panose="02020603050405020304"/>
                        <a:ea typeface="宋体" panose="02010600030101010101" pitchFamily="2" charset="-122"/>
                      </a:endParaRPr>
                    </a:p>
                  </a:txBody>
                  <a:tcPr marL="68582" marR="68582"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dirty="0">
                          <a:effectLst/>
                          <a:latin typeface="Times New Roman" panose="02020603050405020304"/>
                          <a:ea typeface="宋体" panose="02010600030101010101" pitchFamily="2" charset="-122"/>
                        </a:rPr>
                        <a:t>作废刚执行过的命令</a:t>
                      </a: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71447">
                <a:tc>
                  <a:txBody>
                    <a:bodyPr/>
                    <a:lstStyle/>
                    <a:p>
                      <a:pPr algn="ctr">
                        <a:lnSpc>
                          <a:spcPct val="100000"/>
                        </a:lnSpc>
                        <a:spcAft>
                          <a:spcPts val="0"/>
                        </a:spcAft>
                      </a:pPr>
                      <a:r>
                        <a:rPr lang="en-US" sz="2400" b="1" kern="100" dirty="0">
                          <a:solidFill>
                            <a:srgbClr val="FF0000"/>
                          </a:solidFill>
                          <a:effectLst/>
                          <a:latin typeface="Times New Roman" panose="02020603050405020304"/>
                          <a:ea typeface="宋体" panose="02010600030101010101" pitchFamily="2" charset="-122"/>
                        </a:rPr>
                        <a:t>:set nu</a:t>
                      </a:r>
                      <a:endParaRPr lang="zh-CN" sz="2400" b="1" kern="100" dirty="0">
                        <a:solidFill>
                          <a:srgbClr val="FF0000"/>
                        </a:solidFill>
                        <a:effectLst/>
                        <a:latin typeface="Times New Roman" panose="02020603050405020304"/>
                        <a:ea typeface="宋体" panose="02010600030101010101" pitchFamily="2" charset="-122"/>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a:effectLst/>
                          <a:latin typeface="Times New Roman" panose="02020603050405020304"/>
                          <a:ea typeface="宋体" panose="02010600030101010101" pitchFamily="2" charset="-122"/>
                        </a:rPr>
                        <a:t>设置行号</a:t>
                      </a:r>
                    </a:p>
                  </a:txBody>
                  <a:tcPr marL="68582" marR="6858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b="1" kern="100" dirty="0">
                          <a:solidFill>
                            <a:srgbClr val="FF0000"/>
                          </a:solidFill>
                          <a:effectLst/>
                          <a:latin typeface="Times New Roman" panose="02020603050405020304"/>
                          <a:ea typeface="宋体" panose="02010600030101010101" pitchFamily="2" charset="-122"/>
                        </a:rPr>
                        <a:t>:set </a:t>
                      </a:r>
                      <a:r>
                        <a:rPr lang="en-US" sz="2000" b="1" kern="100" dirty="0" err="1">
                          <a:solidFill>
                            <a:srgbClr val="FF0000"/>
                          </a:solidFill>
                          <a:effectLst/>
                          <a:latin typeface="Times New Roman" panose="02020603050405020304"/>
                          <a:ea typeface="宋体" panose="02010600030101010101" pitchFamily="2" charset="-122"/>
                        </a:rPr>
                        <a:t>nonu</a:t>
                      </a:r>
                      <a:endParaRPr lang="zh-CN" sz="2000" b="1" kern="100" dirty="0">
                        <a:solidFill>
                          <a:srgbClr val="FF0000"/>
                        </a:solidFill>
                        <a:effectLst/>
                        <a:latin typeface="Times New Roman" panose="02020603050405020304"/>
                        <a:ea typeface="宋体" panose="02010600030101010101" pitchFamily="2" charset="-122"/>
                      </a:endParaRPr>
                    </a:p>
                  </a:txBody>
                  <a:tcPr marL="68582" marR="68582"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dirty="0">
                          <a:effectLst/>
                          <a:latin typeface="Times New Roman" panose="02020603050405020304"/>
                          <a:ea typeface="宋体" panose="02010600030101010101" pitchFamily="2" charset="-122"/>
                        </a:rPr>
                        <a:t>取消行号</a:t>
                      </a: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51853">
                <a:tc>
                  <a:txBody>
                    <a:bodyPr/>
                    <a:lstStyle/>
                    <a:p>
                      <a:pPr algn="ctr">
                        <a:lnSpc>
                          <a:spcPct val="100000"/>
                        </a:lnSpc>
                        <a:spcAft>
                          <a:spcPts val="0"/>
                        </a:spcAft>
                      </a:pPr>
                      <a:r>
                        <a:rPr lang="en-US" sz="2400" b="1" kern="100" dirty="0">
                          <a:solidFill>
                            <a:srgbClr val="FF0000"/>
                          </a:solidFill>
                          <a:effectLst/>
                          <a:latin typeface="Times New Roman" panose="02020603050405020304"/>
                          <a:ea typeface="宋体" panose="02010600030101010101" pitchFamily="2" charset="-122"/>
                        </a:rPr>
                        <a:t>J</a:t>
                      </a:r>
                      <a:endParaRPr lang="zh-CN" sz="2400" b="1" kern="100" dirty="0">
                        <a:solidFill>
                          <a:srgbClr val="FF0000"/>
                        </a:solidFill>
                        <a:effectLst/>
                        <a:latin typeface="Times New Roman" panose="02020603050405020304"/>
                        <a:ea typeface="宋体" panose="02010600030101010101" pitchFamily="2" charset="-122"/>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dirty="0">
                          <a:effectLst/>
                          <a:latin typeface="Times New Roman" panose="02020603050405020304"/>
                          <a:ea typeface="宋体" panose="02010600030101010101" pitchFamily="2" charset="-122"/>
                        </a:rPr>
                        <a:t>将下一行合并到当前行</a:t>
                      </a:r>
                    </a:p>
                  </a:txBody>
                  <a:tcPr marL="68582" marR="6858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b="1" kern="100" dirty="0">
                          <a:solidFill>
                            <a:srgbClr val="FF0000"/>
                          </a:solidFill>
                          <a:effectLst/>
                          <a:latin typeface="Times New Roman" panose="02020603050405020304"/>
                          <a:ea typeface="宋体" panose="02010600030101010101" pitchFamily="2" charset="-122"/>
                        </a:rPr>
                        <a:t>~</a:t>
                      </a:r>
                      <a:endParaRPr lang="zh-CN" sz="2000" b="1" kern="100" dirty="0">
                        <a:solidFill>
                          <a:srgbClr val="FF0000"/>
                        </a:solidFill>
                        <a:effectLst/>
                        <a:latin typeface="Times New Roman" panose="02020603050405020304"/>
                        <a:ea typeface="宋体" panose="02010600030101010101" pitchFamily="2" charset="-122"/>
                      </a:endParaRPr>
                    </a:p>
                  </a:txBody>
                  <a:tcPr marL="68582" marR="68582"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dirty="0">
                          <a:effectLst/>
                          <a:latin typeface="Times New Roman" panose="02020603050405020304"/>
                          <a:ea typeface="宋体" panose="02010600030101010101" pitchFamily="2" charset="-122"/>
                        </a:rPr>
                        <a:t>将光标处的字符大小写转换</a:t>
                      </a: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99345">
                <a:tc>
                  <a:txBody>
                    <a:bodyPr/>
                    <a:lstStyle/>
                    <a:p>
                      <a:pPr algn="ctr">
                        <a:lnSpc>
                          <a:spcPct val="100000"/>
                        </a:lnSpc>
                        <a:spcAft>
                          <a:spcPts val="0"/>
                        </a:spcAft>
                      </a:pPr>
                      <a:r>
                        <a:rPr lang="en-US" sz="2400" b="1" kern="100" dirty="0">
                          <a:solidFill>
                            <a:srgbClr val="FF0000"/>
                          </a:solidFill>
                          <a:effectLst/>
                          <a:latin typeface="Times New Roman" panose="02020603050405020304"/>
                          <a:ea typeface="宋体" panose="02010600030101010101" pitchFamily="2" charset="-122"/>
                        </a:rPr>
                        <a:t>^G</a:t>
                      </a:r>
                      <a:endParaRPr lang="zh-CN" sz="2400" b="1" kern="100" dirty="0">
                        <a:solidFill>
                          <a:srgbClr val="FF0000"/>
                        </a:solidFill>
                        <a:effectLst/>
                        <a:latin typeface="Times New Roman" panose="02020603050405020304"/>
                        <a:ea typeface="宋体" panose="02010600030101010101" pitchFamily="2" charset="-122"/>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dirty="0">
                          <a:effectLst/>
                          <a:latin typeface="Times New Roman" panose="02020603050405020304"/>
                          <a:ea typeface="宋体" panose="02010600030101010101" pitchFamily="2" charset="-122"/>
                        </a:rPr>
                        <a:t>显示当前编辑文件信息</a:t>
                      </a:r>
                    </a:p>
                  </a:txBody>
                  <a:tcPr marL="68582" marR="6858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b="1" kern="100" dirty="0">
                          <a:solidFill>
                            <a:srgbClr val="FF0000"/>
                          </a:solidFill>
                          <a:effectLst/>
                          <a:latin typeface="Times New Roman" panose="02020603050405020304"/>
                          <a:ea typeface="宋体" panose="02010600030101010101" pitchFamily="2" charset="-122"/>
                        </a:rPr>
                        <a:t>^L</a:t>
                      </a:r>
                      <a:endParaRPr lang="zh-CN" sz="2000" b="1" kern="100" dirty="0">
                        <a:solidFill>
                          <a:srgbClr val="FF0000"/>
                        </a:solidFill>
                        <a:effectLst/>
                        <a:latin typeface="Times New Roman" panose="02020603050405020304"/>
                        <a:ea typeface="宋体" panose="02010600030101010101" pitchFamily="2" charset="-122"/>
                      </a:endParaRPr>
                    </a:p>
                  </a:txBody>
                  <a:tcPr marL="68582" marR="68582"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dirty="0">
                          <a:effectLst/>
                          <a:latin typeface="Times New Roman" panose="02020603050405020304"/>
                          <a:ea typeface="宋体" panose="02010600030101010101" pitchFamily="2" charset="-122"/>
                        </a:rPr>
                        <a:t>刷新屏幕（屏幕乱时使用）</a:t>
                      </a: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71447">
                <a:tc>
                  <a:txBody>
                    <a:bodyPr/>
                    <a:lstStyle/>
                    <a:p>
                      <a:pPr algn="ctr">
                        <a:lnSpc>
                          <a:spcPct val="100000"/>
                        </a:lnSpc>
                        <a:spcAft>
                          <a:spcPts val="0"/>
                        </a:spcAft>
                      </a:pPr>
                      <a:r>
                        <a:rPr lang="en-US" sz="2400" b="1" kern="100" dirty="0">
                          <a:solidFill>
                            <a:srgbClr val="FF0000"/>
                          </a:solidFill>
                          <a:effectLst/>
                          <a:latin typeface="Times New Roman" panose="02020603050405020304"/>
                          <a:ea typeface="宋体" panose="02010600030101010101" pitchFamily="2" charset="-122"/>
                        </a:rPr>
                        <a:t>:n</a:t>
                      </a:r>
                      <a:endParaRPr lang="zh-CN" sz="2400" b="1" kern="100" dirty="0">
                        <a:solidFill>
                          <a:srgbClr val="FF0000"/>
                        </a:solidFill>
                        <a:effectLst/>
                        <a:latin typeface="Times New Roman" panose="02020603050405020304"/>
                        <a:ea typeface="宋体" panose="02010600030101010101" pitchFamily="2" charset="-122"/>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dirty="0">
                          <a:effectLst/>
                          <a:latin typeface="Times New Roman" panose="02020603050405020304"/>
                          <a:ea typeface="宋体" panose="02010600030101010101" pitchFamily="2" charset="-122"/>
                        </a:rPr>
                        <a:t>定位到下一文件</a:t>
                      </a:r>
                    </a:p>
                  </a:txBody>
                  <a:tcPr marL="68582" marR="6858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b="1" kern="100" dirty="0">
                          <a:solidFill>
                            <a:srgbClr val="FF0000"/>
                          </a:solidFill>
                          <a:effectLst/>
                          <a:latin typeface="Times New Roman" panose="02020603050405020304"/>
                          <a:ea typeface="宋体" panose="02010600030101010101" pitchFamily="2" charset="-122"/>
                        </a:rPr>
                        <a:t>:N</a:t>
                      </a:r>
                      <a:endParaRPr lang="zh-CN" sz="2000" b="1" kern="100" dirty="0">
                        <a:solidFill>
                          <a:srgbClr val="FF0000"/>
                        </a:solidFill>
                        <a:effectLst/>
                        <a:latin typeface="Times New Roman" panose="02020603050405020304"/>
                        <a:ea typeface="宋体" panose="02010600030101010101" pitchFamily="2" charset="-122"/>
                      </a:endParaRPr>
                    </a:p>
                  </a:txBody>
                  <a:tcPr marL="68582" marR="68582"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dirty="0">
                          <a:effectLst/>
                          <a:latin typeface="Times New Roman" panose="02020603050405020304"/>
                          <a:ea typeface="宋体" panose="02010600030101010101" pitchFamily="2" charset="-122"/>
                        </a:rPr>
                        <a:t>定位到上一文件</a:t>
                      </a: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71447">
                <a:tc>
                  <a:txBody>
                    <a:bodyPr/>
                    <a:lstStyle/>
                    <a:p>
                      <a:pPr algn="ctr">
                        <a:lnSpc>
                          <a:spcPct val="100000"/>
                        </a:lnSpc>
                        <a:spcAft>
                          <a:spcPts val="0"/>
                        </a:spcAft>
                      </a:pPr>
                      <a:r>
                        <a:rPr lang="en-US" sz="2400" b="1" kern="100" dirty="0">
                          <a:solidFill>
                            <a:srgbClr val="FF0000"/>
                          </a:solidFill>
                          <a:effectLst/>
                          <a:latin typeface="Times New Roman" panose="02020603050405020304"/>
                          <a:ea typeface="宋体" panose="02010600030101010101" pitchFamily="2" charset="-122"/>
                        </a:rPr>
                        <a:t>:r file</a:t>
                      </a:r>
                      <a:endParaRPr lang="zh-CN" sz="2400" b="1" kern="100" dirty="0">
                        <a:solidFill>
                          <a:srgbClr val="FF0000"/>
                        </a:solidFill>
                        <a:effectLst/>
                        <a:latin typeface="Times New Roman" panose="02020603050405020304"/>
                        <a:ea typeface="宋体" panose="02010600030101010101" pitchFamily="2" charset="-122"/>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a:effectLst/>
                          <a:latin typeface="Times New Roman" panose="02020603050405020304"/>
                          <a:ea typeface="宋体" panose="02010600030101010101" pitchFamily="2" charset="-122"/>
                        </a:rPr>
                        <a:t>读入文件到光标处</a:t>
                      </a:r>
                    </a:p>
                  </a:txBody>
                  <a:tcPr marL="68582" marR="6858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b="1" kern="100" dirty="0">
                          <a:solidFill>
                            <a:srgbClr val="FF0000"/>
                          </a:solidFill>
                          <a:effectLst/>
                          <a:latin typeface="Times New Roman" panose="02020603050405020304"/>
                          <a:ea typeface="宋体" panose="02010600030101010101" pitchFamily="2" charset="-122"/>
                        </a:rPr>
                        <a:t>:!</a:t>
                      </a:r>
                      <a:r>
                        <a:rPr lang="en-US" sz="2000" b="1" kern="100" dirty="0" err="1">
                          <a:solidFill>
                            <a:srgbClr val="FF0000"/>
                          </a:solidFill>
                          <a:effectLst/>
                          <a:latin typeface="Times New Roman" panose="02020603050405020304"/>
                          <a:ea typeface="宋体" panose="02010600030101010101" pitchFamily="2" charset="-122"/>
                        </a:rPr>
                        <a:t>cmd</a:t>
                      </a:r>
                      <a:endParaRPr lang="zh-CN" sz="2000" b="1" kern="100" dirty="0">
                        <a:solidFill>
                          <a:srgbClr val="FF0000"/>
                        </a:solidFill>
                        <a:effectLst/>
                        <a:latin typeface="Times New Roman" panose="02020603050405020304"/>
                        <a:ea typeface="宋体" panose="02010600030101010101" pitchFamily="2" charset="-122"/>
                      </a:endParaRPr>
                    </a:p>
                  </a:txBody>
                  <a:tcPr marL="68582" marR="68582"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dirty="0">
                          <a:effectLst/>
                          <a:latin typeface="Times New Roman" panose="02020603050405020304"/>
                          <a:ea typeface="宋体" panose="02010600030101010101" pitchFamily="2" charset="-122"/>
                        </a:rPr>
                        <a:t>执行</a:t>
                      </a:r>
                      <a:r>
                        <a:rPr lang="en-US" sz="2000" b="1" kern="100" dirty="0">
                          <a:effectLst/>
                          <a:latin typeface="Times New Roman" panose="02020603050405020304"/>
                          <a:ea typeface="宋体" panose="02010600030101010101" pitchFamily="2" charset="-122"/>
                        </a:rPr>
                        <a:t>shell</a:t>
                      </a:r>
                      <a:r>
                        <a:rPr lang="zh-CN" sz="2000" b="1" kern="100" dirty="0">
                          <a:effectLst/>
                          <a:latin typeface="Times New Roman" panose="02020603050405020304"/>
                          <a:ea typeface="宋体" panose="02010600030101010101" pitchFamily="2" charset="-122"/>
                        </a:rPr>
                        <a:t>命令</a:t>
                      </a:r>
                      <a:r>
                        <a:rPr lang="en-US" sz="2000" b="1" kern="100" dirty="0" err="1">
                          <a:effectLst/>
                          <a:latin typeface="Times New Roman" panose="02020603050405020304"/>
                          <a:ea typeface="宋体" panose="02010600030101010101" pitchFamily="2" charset="-122"/>
                        </a:rPr>
                        <a:t>cmd</a:t>
                      </a:r>
                      <a:endParaRPr lang="zh-CN" sz="2000" b="1" kern="100" dirty="0">
                        <a:effectLst/>
                        <a:latin typeface="Times New Roman" panose="02020603050405020304"/>
                        <a:ea typeface="宋体" panose="02010600030101010101" pitchFamily="2" charset="-122"/>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940088">
                <a:tc>
                  <a:txBody>
                    <a:bodyPr/>
                    <a:lstStyle/>
                    <a:p>
                      <a:pPr algn="ctr">
                        <a:lnSpc>
                          <a:spcPct val="100000"/>
                        </a:lnSpc>
                        <a:spcAft>
                          <a:spcPts val="0"/>
                        </a:spcAft>
                      </a:pPr>
                      <a:r>
                        <a:rPr lang="en-US" sz="2400" b="1" kern="100" dirty="0">
                          <a:solidFill>
                            <a:srgbClr val="FF0000"/>
                          </a:solidFill>
                          <a:effectLst/>
                          <a:latin typeface="Times New Roman" panose="02020603050405020304"/>
                          <a:ea typeface="宋体" panose="02010600030101010101" pitchFamily="2" charset="-122"/>
                        </a:rPr>
                        <a:t>:!!</a:t>
                      </a:r>
                      <a:endParaRPr lang="zh-CN" sz="2400" b="1" kern="100" dirty="0">
                        <a:solidFill>
                          <a:srgbClr val="FF0000"/>
                        </a:solidFill>
                        <a:effectLst/>
                        <a:latin typeface="Times New Roman" panose="02020603050405020304"/>
                        <a:ea typeface="宋体" panose="02010600030101010101" pitchFamily="2" charset="-122"/>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a:effectLst/>
                          <a:latin typeface="Times New Roman" panose="02020603050405020304"/>
                          <a:ea typeface="宋体" panose="02010600030101010101" pitchFamily="2" charset="-122"/>
                        </a:rPr>
                        <a:t>重复上次执行的</a:t>
                      </a:r>
                      <a:r>
                        <a:rPr lang="en-US" sz="2000" b="1" kern="100">
                          <a:effectLst/>
                          <a:latin typeface="Times New Roman" panose="02020603050405020304"/>
                          <a:ea typeface="宋体" panose="02010600030101010101" pitchFamily="2" charset="-122"/>
                        </a:rPr>
                        <a:t>shell</a:t>
                      </a:r>
                      <a:r>
                        <a:rPr lang="zh-CN" sz="2000" b="1" kern="100">
                          <a:effectLst/>
                          <a:latin typeface="Times New Roman" panose="02020603050405020304"/>
                          <a:ea typeface="宋体" panose="02010600030101010101" pitchFamily="2" charset="-122"/>
                        </a:rPr>
                        <a:t>命令</a:t>
                      </a:r>
                    </a:p>
                  </a:txBody>
                  <a:tcPr marL="68582" marR="6858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b="1" kern="100" dirty="0">
                          <a:solidFill>
                            <a:srgbClr val="FF0000"/>
                          </a:solidFill>
                          <a:effectLst/>
                          <a:latin typeface="Times New Roman" panose="02020603050405020304"/>
                          <a:ea typeface="宋体" panose="02010600030101010101" pitchFamily="2" charset="-122"/>
                        </a:rPr>
                        <a:t>:</a:t>
                      </a:r>
                      <a:r>
                        <a:rPr lang="en-US" sz="2000" b="1" kern="100" dirty="0" err="1">
                          <a:solidFill>
                            <a:srgbClr val="FF0000"/>
                          </a:solidFill>
                          <a:effectLst/>
                          <a:latin typeface="Times New Roman" panose="02020603050405020304"/>
                          <a:ea typeface="宋体" panose="02010600030101010101" pitchFamily="2" charset="-122"/>
                        </a:rPr>
                        <a:t>r!cmd</a:t>
                      </a:r>
                      <a:endParaRPr lang="zh-CN" sz="2000" b="1" kern="100" dirty="0">
                        <a:solidFill>
                          <a:srgbClr val="FF0000"/>
                        </a:solidFill>
                        <a:effectLst/>
                        <a:latin typeface="Times New Roman" panose="02020603050405020304"/>
                        <a:ea typeface="宋体" panose="02010600030101010101" pitchFamily="2" charset="-122"/>
                      </a:endParaRPr>
                    </a:p>
                  </a:txBody>
                  <a:tcPr marL="68582" marR="68582"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dirty="0">
                          <a:effectLst/>
                          <a:latin typeface="Times New Roman" panose="02020603050405020304"/>
                          <a:ea typeface="宋体" panose="02010600030101010101" pitchFamily="2" charset="-122"/>
                        </a:rPr>
                        <a:t>执行</a:t>
                      </a:r>
                      <a:r>
                        <a:rPr lang="en-US" sz="2000" b="1" kern="100" dirty="0" err="1">
                          <a:effectLst/>
                          <a:latin typeface="Times New Roman" panose="02020603050405020304"/>
                          <a:ea typeface="宋体" panose="02010600030101010101" pitchFamily="2" charset="-122"/>
                        </a:rPr>
                        <a:t>cmd</a:t>
                      </a:r>
                      <a:r>
                        <a:rPr lang="zh-CN" sz="2000" b="1" kern="100" dirty="0">
                          <a:effectLst/>
                          <a:latin typeface="Times New Roman" panose="02020603050405020304"/>
                          <a:ea typeface="宋体" panose="02010600030101010101" pitchFamily="2" charset="-122"/>
                        </a:rPr>
                        <a:t>并将其输出追加到光标处</a:t>
                      </a: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940088">
                <a:tc>
                  <a:txBody>
                    <a:bodyPr/>
                    <a:lstStyle/>
                    <a:p>
                      <a:pPr algn="ctr">
                        <a:lnSpc>
                          <a:spcPct val="100000"/>
                        </a:lnSpc>
                        <a:spcAft>
                          <a:spcPts val="0"/>
                        </a:spcAft>
                      </a:pPr>
                      <a:r>
                        <a:rPr lang="en-US" sz="2400" b="1" kern="100" dirty="0">
                          <a:solidFill>
                            <a:srgbClr val="FF0000"/>
                          </a:solidFill>
                          <a:effectLst/>
                          <a:latin typeface="Times New Roman" panose="02020603050405020304"/>
                          <a:ea typeface="宋体" panose="02010600030101010101" pitchFamily="2" charset="-122"/>
                        </a:rPr>
                        <a:t>:e!</a:t>
                      </a:r>
                      <a:endParaRPr lang="zh-CN" sz="2400" b="1" kern="100" dirty="0">
                        <a:solidFill>
                          <a:srgbClr val="FF0000"/>
                        </a:solidFill>
                        <a:effectLst/>
                        <a:latin typeface="Times New Roman" panose="02020603050405020304"/>
                        <a:ea typeface="宋体" panose="02010600030101010101" pitchFamily="2" charset="-122"/>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dirty="0">
                          <a:effectLst/>
                          <a:latin typeface="Times New Roman" panose="02020603050405020304"/>
                          <a:ea typeface="宋体" panose="02010600030101010101" pitchFamily="2" charset="-122"/>
                        </a:rPr>
                        <a:t>重新读入当前文件，作废以前所有操作</a:t>
                      </a:r>
                    </a:p>
                  </a:txBody>
                  <a:tcPr marL="68582" marR="6858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b="1" kern="100" dirty="0">
                          <a:effectLst/>
                          <a:latin typeface="Times New Roman" panose="02020603050405020304"/>
                          <a:ea typeface="宋体" panose="02010600030101010101" pitchFamily="2" charset="-122"/>
                        </a:rPr>
                        <a:t>:e file</a:t>
                      </a:r>
                      <a:endParaRPr lang="zh-CN" sz="2000" b="1" kern="100" dirty="0">
                        <a:effectLst/>
                        <a:latin typeface="Times New Roman" panose="02020603050405020304"/>
                        <a:ea typeface="宋体" panose="02010600030101010101" pitchFamily="2" charset="-122"/>
                      </a:endParaRPr>
                    </a:p>
                  </a:txBody>
                  <a:tcPr marL="68582" marR="68582"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000" b="1" kern="100" dirty="0">
                          <a:effectLst/>
                          <a:latin typeface="Times New Roman" panose="02020603050405020304"/>
                          <a:ea typeface="宋体" panose="02010600030101010101" pitchFamily="2" charset="-122"/>
                        </a:rPr>
                        <a:t>放弃当前文件编辑，以</a:t>
                      </a:r>
                      <a:r>
                        <a:rPr lang="en-US" sz="2000" b="1" kern="100" dirty="0">
                          <a:effectLst/>
                          <a:latin typeface="Times New Roman" panose="02020603050405020304"/>
                          <a:ea typeface="宋体" panose="02010600030101010101" pitchFamily="2" charset="-122"/>
                        </a:rPr>
                        <a:t>file</a:t>
                      </a:r>
                      <a:r>
                        <a:rPr lang="zh-CN" sz="2000" b="1" kern="100" dirty="0">
                          <a:effectLst/>
                          <a:latin typeface="Times New Roman" panose="02020603050405020304"/>
                          <a:ea typeface="宋体" panose="02010600030101010101" pitchFamily="2" charset="-122"/>
                        </a:rPr>
                        <a:t>启动</a:t>
                      </a:r>
                      <a:r>
                        <a:rPr lang="en-US" sz="2000" b="1" kern="100" dirty="0">
                          <a:effectLst/>
                          <a:latin typeface="Times New Roman" panose="02020603050405020304"/>
                          <a:ea typeface="宋体" panose="02010600030101010101" pitchFamily="2" charset="-122"/>
                        </a:rPr>
                        <a:t>vi</a:t>
                      </a:r>
                      <a:endParaRPr lang="zh-CN" sz="2000" b="1" kern="100" dirty="0">
                        <a:effectLst/>
                        <a:latin typeface="Times New Roman" panose="02020603050405020304"/>
                        <a:ea typeface="宋体" panose="02010600030101010101" pitchFamily="2" charset="-122"/>
                      </a:endParaRPr>
                    </a:p>
                  </a:txBody>
                  <a:tcPr marL="68582" marR="68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标题 1">
            <a:extLst>
              <a:ext uri="{FF2B5EF4-FFF2-40B4-BE49-F238E27FC236}">
                <a16:creationId xmlns:a16="http://schemas.microsoft.com/office/drawing/2014/main" id="{95EC2E99-7F1B-BCCC-FD52-6A569BDCEC2E}"/>
              </a:ext>
            </a:extLst>
          </p:cNvPr>
          <p:cNvSpPr>
            <a:spLocks noGrp="1" noChangeArrowheads="1"/>
          </p:cNvSpPr>
          <p:nvPr>
            <p:ph type="title"/>
          </p:nvPr>
        </p:nvSpPr>
        <p:spPr/>
        <p:txBody>
          <a:bodyPr/>
          <a:lstStyle/>
          <a:p>
            <a:r>
              <a:rPr lang="zh-CN" altLang="zh-CN"/>
              <a:t>（</a:t>
            </a:r>
            <a:r>
              <a:rPr lang="en-US" altLang="zh-CN"/>
              <a:t>9</a:t>
            </a:r>
            <a:r>
              <a:rPr lang="zh-CN" altLang="zh-CN"/>
              <a:t>）</a:t>
            </a:r>
            <a:r>
              <a:rPr lang="zh-CN" altLang="en-US"/>
              <a:t>保存与</a:t>
            </a:r>
            <a:r>
              <a:rPr lang="zh-CN" altLang="zh-CN"/>
              <a:t>退出</a:t>
            </a:r>
            <a:endParaRPr lang="zh-CN" altLang="en-US"/>
          </a:p>
        </p:txBody>
      </p:sp>
      <p:graphicFrame>
        <p:nvGraphicFramePr>
          <p:cNvPr id="4" name="内容占位符 3">
            <a:extLst>
              <a:ext uri="{FF2B5EF4-FFF2-40B4-BE49-F238E27FC236}">
                <a16:creationId xmlns:a16="http://schemas.microsoft.com/office/drawing/2014/main" id="{5330F3A1-E31A-81BE-9D1A-5C1109C9F764}"/>
              </a:ext>
            </a:extLst>
          </p:cNvPr>
          <p:cNvGraphicFramePr>
            <a:graphicFrameLocks noGrp="1"/>
          </p:cNvGraphicFramePr>
          <p:nvPr>
            <p:ph idx="1"/>
          </p:nvPr>
        </p:nvGraphicFramePr>
        <p:xfrm>
          <a:off x="107950" y="620713"/>
          <a:ext cx="9001125" cy="5800725"/>
        </p:xfrm>
        <a:graphic>
          <a:graphicData uri="http://schemas.openxmlformats.org/drawingml/2006/table">
            <a:tbl>
              <a:tblPr firstRow="1" firstCol="1" bandRow="1"/>
              <a:tblGrid>
                <a:gridCol w="1342273">
                  <a:extLst>
                    <a:ext uri="{9D8B030D-6E8A-4147-A177-3AD203B41FA5}">
                      <a16:colId xmlns:a16="http://schemas.microsoft.com/office/drawing/2014/main" val="20000"/>
                    </a:ext>
                  </a:extLst>
                </a:gridCol>
                <a:gridCol w="3158289">
                  <a:extLst>
                    <a:ext uri="{9D8B030D-6E8A-4147-A177-3AD203B41FA5}">
                      <a16:colId xmlns:a16="http://schemas.microsoft.com/office/drawing/2014/main" val="20001"/>
                    </a:ext>
                  </a:extLst>
                </a:gridCol>
                <a:gridCol w="1399334">
                  <a:extLst>
                    <a:ext uri="{9D8B030D-6E8A-4147-A177-3AD203B41FA5}">
                      <a16:colId xmlns:a16="http://schemas.microsoft.com/office/drawing/2014/main" val="20002"/>
                    </a:ext>
                  </a:extLst>
                </a:gridCol>
                <a:gridCol w="3101229">
                  <a:extLst>
                    <a:ext uri="{9D8B030D-6E8A-4147-A177-3AD203B41FA5}">
                      <a16:colId xmlns:a16="http://schemas.microsoft.com/office/drawing/2014/main" val="20003"/>
                    </a:ext>
                  </a:extLst>
                </a:gridCol>
              </a:tblGrid>
              <a:tr h="669935">
                <a:tc>
                  <a:txBody>
                    <a:bodyPr/>
                    <a:lstStyle/>
                    <a:p>
                      <a:pPr algn="ctr">
                        <a:lnSpc>
                          <a:spcPct val="100000"/>
                        </a:lnSpc>
                        <a:spcAft>
                          <a:spcPts val="0"/>
                        </a:spcAft>
                      </a:pPr>
                      <a:r>
                        <a:rPr lang="zh-CN" sz="2800" b="1" kern="100" dirty="0">
                          <a:effectLst/>
                          <a:latin typeface="Times New Roman" panose="02020603050405020304"/>
                          <a:ea typeface="宋体" panose="02010600030101010101" pitchFamily="2" charset="-122"/>
                        </a:rPr>
                        <a:t>命令</a:t>
                      </a:r>
                    </a:p>
                  </a:txBody>
                  <a:tcPr marL="68584" marR="685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b="1" kern="100" dirty="0">
                          <a:effectLst/>
                          <a:latin typeface="Times New Roman" panose="02020603050405020304"/>
                          <a:ea typeface="宋体" panose="02010600030101010101" pitchFamily="2" charset="-122"/>
                        </a:rPr>
                        <a:t>功 能 描 述</a:t>
                      </a:r>
                    </a:p>
                  </a:txBody>
                  <a:tcPr marL="68584" marR="68584"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b="1" kern="100" dirty="0">
                          <a:effectLst/>
                          <a:latin typeface="Times New Roman" panose="02020603050405020304"/>
                          <a:ea typeface="宋体" panose="02010600030101010101" pitchFamily="2" charset="-122"/>
                        </a:rPr>
                        <a:t>命令</a:t>
                      </a:r>
                    </a:p>
                  </a:txBody>
                  <a:tcPr marL="68584" marR="68584"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2800" b="1" kern="100">
                          <a:effectLst/>
                          <a:latin typeface="Times New Roman" panose="02020603050405020304"/>
                          <a:ea typeface="宋体" panose="02010600030101010101" pitchFamily="2" charset="-122"/>
                        </a:rPr>
                        <a:t>功 能 描 述</a:t>
                      </a:r>
                    </a:p>
                  </a:txBody>
                  <a:tcPr marL="68584" marR="685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53519">
                <a:tc>
                  <a:txBody>
                    <a:bodyPr/>
                    <a:lstStyle/>
                    <a:p>
                      <a:pPr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:w</a:t>
                      </a:r>
                      <a:endParaRPr lang="zh-CN" sz="2800" b="1" kern="100" dirty="0">
                        <a:solidFill>
                          <a:srgbClr val="FF0000"/>
                        </a:solidFill>
                        <a:effectLst/>
                        <a:latin typeface="Times New Roman" panose="02020603050405020304"/>
                        <a:ea typeface="宋体" panose="02010600030101010101" pitchFamily="2" charset="-122"/>
                      </a:endParaRPr>
                    </a:p>
                  </a:txBody>
                  <a:tcPr marL="68584" marR="685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a:effectLst/>
                          <a:latin typeface="Times New Roman" panose="02020603050405020304"/>
                          <a:ea typeface="宋体" panose="02010600030101010101" pitchFamily="2" charset="-122"/>
                        </a:rPr>
                        <a:t>保存文件，但不退出</a:t>
                      </a:r>
                    </a:p>
                  </a:txBody>
                  <a:tcPr marL="68584" marR="68584"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a:t>
                      </a:r>
                      <a:r>
                        <a:rPr lang="en-US" sz="2800" b="1" kern="100" dirty="0" err="1">
                          <a:solidFill>
                            <a:srgbClr val="FF0000"/>
                          </a:solidFill>
                          <a:effectLst/>
                          <a:latin typeface="Times New Roman" panose="02020603050405020304"/>
                          <a:ea typeface="宋体" panose="02010600030101010101" pitchFamily="2" charset="-122"/>
                        </a:rPr>
                        <a:t>wq</a:t>
                      </a:r>
                      <a:r>
                        <a:rPr lang="en-US" sz="2800" b="1" kern="100" dirty="0">
                          <a:solidFill>
                            <a:srgbClr val="FF0000"/>
                          </a:solidFill>
                          <a:effectLst/>
                          <a:latin typeface="Times New Roman" panose="02020603050405020304"/>
                          <a:ea typeface="宋体" panose="02010600030101010101" pitchFamily="2" charset="-122"/>
                        </a:rPr>
                        <a:t>[!]</a:t>
                      </a:r>
                      <a:endParaRPr lang="zh-CN" sz="2800" b="1" kern="100" dirty="0">
                        <a:solidFill>
                          <a:srgbClr val="FF0000"/>
                        </a:solidFill>
                        <a:effectLst/>
                        <a:latin typeface="Times New Roman" panose="02020603050405020304"/>
                        <a:ea typeface="宋体" panose="02010600030101010101" pitchFamily="2" charset="-122"/>
                      </a:endParaRPr>
                    </a:p>
                  </a:txBody>
                  <a:tcPr marL="68584" marR="68584"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保存退出</a:t>
                      </a:r>
                    </a:p>
                  </a:txBody>
                  <a:tcPr marL="68584" marR="685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02446">
                <a:tc>
                  <a:txBody>
                    <a:bodyPr/>
                    <a:lstStyle/>
                    <a:p>
                      <a:pPr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:x</a:t>
                      </a:r>
                      <a:endParaRPr lang="zh-CN" sz="2800" b="1" kern="100" dirty="0">
                        <a:solidFill>
                          <a:srgbClr val="FF0000"/>
                        </a:solidFill>
                        <a:effectLst/>
                        <a:latin typeface="Times New Roman" panose="02020603050405020304"/>
                        <a:ea typeface="宋体" panose="02010600030101010101" pitchFamily="2" charset="-122"/>
                      </a:endParaRPr>
                    </a:p>
                  </a:txBody>
                  <a:tcPr marL="68584" marR="685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保存文件，且退出</a:t>
                      </a:r>
                      <a:r>
                        <a:rPr lang="en-US" sz="2800" b="1" kern="100" dirty="0">
                          <a:effectLst/>
                          <a:latin typeface="Times New Roman" panose="02020603050405020304"/>
                          <a:ea typeface="宋体" panose="02010600030101010101" pitchFamily="2" charset="-122"/>
                        </a:rPr>
                        <a:t>vi</a:t>
                      </a:r>
                      <a:endParaRPr lang="zh-CN" sz="2800" b="1" kern="100" dirty="0">
                        <a:effectLst/>
                        <a:latin typeface="Times New Roman" panose="02020603050405020304"/>
                        <a:ea typeface="宋体" panose="02010600030101010101" pitchFamily="2" charset="-122"/>
                      </a:endParaRPr>
                    </a:p>
                  </a:txBody>
                  <a:tcPr marL="68584" marR="68584"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:w&gt;&gt;file</a:t>
                      </a:r>
                      <a:endParaRPr lang="zh-CN" sz="2800" b="1" kern="100" dirty="0">
                        <a:solidFill>
                          <a:srgbClr val="FF0000"/>
                        </a:solidFill>
                        <a:effectLst/>
                        <a:latin typeface="Times New Roman" panose="02020603050405020304"/>
                        <a:ea typeface="宋体" panose="02010600030101010101" pitchFamily="2" charset="-122"/>
                      </a:endParaRPr>
                    </a:p>
                  </a:txBody>
                  <a:tcPr marL="68584" marR="68584"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将现行文件的内容追加到文件</a:t>
                      </a:r>
                      <a:r>
                        <a:rPr lang="en-US" sz="2800" b="1" kern="100" dirty="0">
                          <a:effectLst/>
                          <a:latin typeface="Times New Roman" panose="02020603050405020304"/>
                          <a:ea typeface="宋体" panose="02010600030101010101" pitchFamily="2" charset="-122"/>
                        </a:rPr>
                        <a:t>file</a:t>
                      </a:r>
                      <a:endParaRPr lang="zh-CN" sz="2800" b="1" kern="100" dirty="0">
                        <a:effectLst/>
                        <a:latin typeface="Times New Roman" panose="02020603050405020304"/>
                        <a:ea typeface="宋体" panose="02010600030101010101" pitchFamily="2" charset="-122"/>
                      </a:endParaRPr>
                    </a:p>
                  </a:txBody>
                  <a:tcPr marL="68584" marR="685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202446">
                <a:tc>
                  <a:txBody>
                    <a:bodyPr/>
                    <a:lstStyle/>
                    <a:p>
                      <a:pPr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:q</a:t>
                      </a:r>
                      <a:endParaRPr lang="zh-CN" sz="2800" b="1" kern="100" dirty="0">
                        <a:solidFill>
                          <a:srgbClr val="FF0000"/>
                        </a:solidFill>
                        <a:effectLst/>
                        <a:latin typeface="Times New Roman" panose="02020603050405020304"/>
                        <a:ea typeface="宋体" panose="02010600030101010101" pitchFamily="2" charset="-122"/>
                      </a:endParaRPr>
                    </a:p>
                  </a:txBody>
                  <a:tcPr marL="68584" marR="685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a:effectLst/>
                          <a:latin typeface="Times New Roman" panose="02020603050405020304"/>
                          <a:ea typeface="宋体" panose="02010600030101010101" pitchFamily="2" charset="-122"/>
                        </a:rPr>
                        <a:t>退出（若文件已更改，则不能退出）</a:t>
                      </a:r>
                    </a:p>
                  </a:txBody>
                  <a:tcPr marL="68584" marR="68584"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:w file</a:t>
                      </a:r>
                      <a:endParaRPr lang="zh-CN" sz="2800" b="1" kern="100" dirty="0">
                        <a:solidFill>
                          <a:srgbClr val="FF0000"/>
                        </a:solidFill>
                        <a:effectLst/>
                        <a:latin typeface="Times New Roman" panose="02020603050405020304"/>
                        <a:ea typeface="宋体" panose="02010600030101010101" pitchFamily="2" charset="-122"/>
                      </a:endParaRPr>
                    </a:p>
                  </a:txBody>
                  <a:tcPr marL="68584" marR="68584"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将现行文件的内容写入</a:t>
                      </a:r>
                      <a:r>
                        <a:rPr lang="en-US" sz="2800" b="1" kern="100" dirty="0">
                          <a:effectLst/>
                          <a:latin typeface="Times New Roman" panose="02020603050405020304"/>
                          <a:ea typeface="宋体" panose="02010600030101010101" pitchFamily="2" charset="-122"/>
                        </a:rPr>
                        <a:t>file</a:t>
                      </a:r>
                      <a:endParaRPr lang="zh-CN" sz="2800" b="1" kern="100" dirty="0">
                        <a:effectLst/>
                        <a:latin typeface="Times New Roman" panose="02020603050405020304"/>
                        <a:ea typeface="宋体" panose="02010600030101010101" pitchFamily="2" charset="-122"/>
                      </a:endParaRPr>
                    </a:p>
                  </a:txBody>
                  <a:tcPr marL="68584" marR="685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202446">
                <a:tc>
                  <a:txBody>
                    <a:bodyPr/>
                    <a:lstStyle/>
                    <a:p>
                      <a:pPr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:q!</a:t>
                      </a:r>
                      <a:endParaRPr lang="zh-CN" sz="2800" b="1" kern="100" dirty="0">
                        <a:solidFill>
                          <a:srgbClr val="FF0000"/>
                        </a:solidFill>
                        <a:effectLst/>
                        <a:latin typeface="Times New Roman" panose="02020603050405020304"/>
                        <a:ea typeface="宋体" panose="02010600030101010101" pitchFamily="2" charset="-122"/>
                      </a:endParaRPr>
                    </a:p>
                  </a:txBody>
                  <a:tcPr marL="68584" marR="685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不保存</a:t>
                      </a:r>
                      <a:r>
                        <a:rPr lang="zh-CN" altLang="en-US" sz="2800" b="1" kern="100" dirty="0">
                          <a:effectLst/>
                          <a:latin typeface="Times New Roman" panose="02020603050405020304"/>
                          <a:ea typeface="宋体" panose="02010600030101010101" pitchFamily="2" charset="-122"/>
                        </a:rPr>
                        <a:t>强制</a:t>
                      </a:r>
                      <a:r>
                        <a:rPr lang="zh-CN" sz="2800" b="1" kern="100" dirty="0">
                          <a:effectLst/>
                          <a:latin typeface="Times New Roman" panose="02020603050405020304"/>
                          <a:ea typeface="宋体" panose="02010600030101010101" pitchFamily="2" charset="-122"/>
                        </a:rPr>
                        <a:t>退出</a:t>
                      </a:r>
                    </a:p>
                  </a:txBody>
                  <a:tcPr marL="68584" marR="68584"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:w! file</a:t>
                      </a:r>
                      <a:endParaRPr lang="zh-CN" sz="2800" b="1" kern="100" dirty="0">
                        <a:solidFill>
                          <a:srgbClr val="FF0000"/>
                        </a:solidFill>
                        <a:effectLst/>
                        <a:latin typeface="Times New Roman" panose="02020603050405020304"/>
                        <a:ea typeface="宋体" panose="02010600030101010101" pitchFamily="2" charset="-122"/>
                      </a:endParaRPr>
                    </a:p>
                  </a:txBody>
                  <a:tcPr marL="68584" marR="68584"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将现行文件内容写入已存在的</a:t>
                      </a:r>
                      <a:r>
                        <a:rPr lang="en-US" sz="2800" b="1" kern="100" dirty="0">
                          <a:effectLst/>
                          <a:latin typeface="Times New Roman" panose="02020603050405020304"/>
                          <a:ea typeface="宋体" panose="02010600030101010101" pitchFamily="2" charset="-122"/>
                        </a:rPr>
                        <a:t>file</a:t>
                      </a:r>
                      <a:endParaRPr lang="zh-CN" sz="2800" b="1" kern="100" dirty="0">
                        <a:effectLst/>
                        <a:latin typeface="Times New Roman" panose="02020603050405020304"/>
                        <a:ea typeface="宋体" panose="02010600030101010101" pitchFamily="2" charset="-122"/>
                      </a:endParaRPr>
                    </a:p>
                  </a:txBody>
                  <a:tcPr marL="68584" marR="685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69935">
                <a:tc>
                  <a:txBody>
                    <a:bodyPr/>
                    <a:lstStyle/>
                    <a:p>
                      <a:pPr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ZZ</a:t>
                      </a:r>
                      <a:endParaRPr lang="zh-CN" sz="2800" b="1" kern="100" dirty="0">
                        <a:solidFill>
                          <a:srgbClr val="FF0000"/>
                        </a:solidFill>
                        <a:effectLst/>
                        <a:latin typeface="Times New Roman" panose="02020603050405020304"/>
                        <a:ea typeface="宋体" panose="02010600030101010101" pitchFamily="2" charset="-122"/>
                      </a:endParaRPr>
                    </a:p>
                  </a:txBody>
                  <a:tcPr marL="68584" marR="685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保存文件且退出</a:t>
                      </a:r>
                      <a:r>
                        <a:rPr lang="en-US" sz="2800" b="1" kern="100" dirty="0">
                          <a:effectLst/>
                          <a:latin typeface="Times New Roman" panose="02020603050405020304"/>
                          <a:ea typeface="宋体" panose="02010600030101010101" pitchFamily="2" charset="-122"/>
                        </a:rPr>
                        <a:t>vi</a:t>
                      </a:r>
                      <a:endParaRPr lang="zh-CN" sz="2800" b="1" kern="100" dirty="0">
                        <a:effectLst/>
                        <a:latin typeface="Times New Roman" panose="02020603050405020304"/>
                        <a:ea typeface="宋体" panose="02010600030101010101" pitchFamily="2" charset="-122"/>
                      </a:endParaRPr>
                    </a:p>
                  </a:txBody>
                  <a:tcPr marL="68584" marR="68584"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800" b="1" kern="100" dirty="0">
                          <a:solidFill>
                            <a:srgbClr val="FF0000"/>
                          </a:solidFill>
                          <a:effectLst/>
                          <a:latin typeface="Times New Roman" panose="02020603050405020304"/>
                          <a:ea typeface="宋体" panose="02010600030101010101" pitchFamily="2" charset="-122"/>
                        </a:rPr>
                        <a:t>ZQ</a:t>
                      </a:r>
                      <a:endParaRPr lang="zh-CN" sz="2800" b="1" kern="100" dirty="0">
                        <a:solidFill>
                          <a:srgbClr val="FF0000"/>
                        </a:solidFill>
                        <a:effectLst/>
                        <a:latin typeface="Times New Roman" panose="02020603050405020304"/>
                        <a:ea typeface="宋体" panose="02010600030101010101" pitchFamily="2" charset="-122"/>
                      </a:endParaRPr>
                    </a:p>
                  </a:txBody>
                  <a:tcPr marL="68584" marR="68584"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zh-CN" sz="2800" b="1" kern="100" dirty="0">
                          <a:effectLst/>
                          <a:latin typeface="Times New Roman" panose="02020603050405020304"/>
                          <a:ea typeface="宋体" panose="02010600030101010101" pitchFamily="2" charset="-122"/>
                        </a:rPr>
                        <a:t>不保存退出</a:t>
                      </a:r>
                    </a:p>
                  </a:txBody>
                  <a:tcPr marL="68584" marR="685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标题 1">
            <a:extLst>
              <a:ext uri="{FF2B5EF4-FFF2-40B4-BE49-F238E27FC236}">
                <a16:creationId xmlns:a16="http://schemas.microsoft.com/office/drawing/2014/main" id="{4BA507EA-71D1-3005-12FE-1D04DE41F57B}"/>
              </a:ext>
            </a:extLst>
          </p:cNvPr>
          <p:cNvSpPr>
            <a:spLocks noGrp="1" noChangeArrowheads="1"/>
          </p:cNvSpPr>
          <p:nvPr>
            <p:ph type="title"/>
          </p:nvPr>
        </p:nvSpPr>
        <p:spPr/>
        <p:txBody>
          <a:bodyPr/>
          <a:lstStyle/>
          <a:p>
            <a:r>
              <a:rPr lang="en-US" altLang="zh-CN"/>
              <a:t>2</a:t>
            </a:r>
            <a:r>
              <a:rPr lang="zh-CN" altLang="zh-CN"/>
              <a:t>．文件内容信息统计（</a:t>
            </a:r>
            <a:r>
              <a:rPr lang="en-US" altLang="zh-CN"/>
              <a:t>wc</a:t>
            </a:r>
            <a:r>
              <a:rPr lang="zh-CN" altLang="zh-CN"/>
              <a:t>）</a:t>
            </a:r>
          </a:p>
        </p:txBody>
      </p:sp>
      <p:sp>
        <p:nvSpPr>
          <p:cNvPr id="120835" name="内容占位符 2">
            <a:extLst>
              <a:ext uri="{FF2B5EF4-FFF2-40B4-BE49-F238E27FC236}">
                <a16:creationId xmlns:a16="http://schemas.microsoft.com/office/drawing/2014/main" id="{82C9C37F-88A1-141C-6428-92A18B90F19C}"/>
              </a:ext>
            </a:extLst>
          </p:cNvPr>
          <p:cNvSpPr>
            <a:spLocks noGrp="1" noChangeArrowheads="1"/>
          </p:cNvSpPr>
          <p:nvPr>
            <p:ph idx="1"/>
          </p:nvPr>
        </p:nvSpPr>
        <p:spPr>
          <a:xfrm>
            <a:off x="34925" y="620713"/>
            <a:ext cx="9074150" cy="5761037"/>
          </a:xfrm>
        </p:spPr>
        <p:txBody>
          <a:bodyPr/>
          <a:lstStyle/>
          <a:p>
            <a:pPr>
              <a:spcBef>
                <a:spcPct val="0"/>
              </a:spcBef>
              <a:spcAft>
                <a:spcPct val="0"/>
              </a:spcAft>
            </a:pPr>
            <a:r>
              <a:rPr lang="en-US" altLang="zh-CN" sz="4000"/>
              <a:t>1</a:t>
            </a:r>
            <a:r>
              <a:rPr lang="zh-CN" altLang="zh-CN" sz="4000"/>
              <a:t>）功能及用法</a:t>
            </a:r>
          </a:p>
          <a:p>
            <a:pPr>
              <a:spcBef>
                <a:spcPct val="0"/>
              </a:spcBef>
              <a:spcAft>
                <a:spcPct val="0"/>
              </a:spcAft>
            </a:pPr>
            <a:r>
              <a:rPr lang="en-US" altLang="zh-CN" sz="4000"/>
              <a:t>wc</a:t>
            </a:r>
            <a:r>
              <a:rPr lang="zh-CN" altLang="zh-CN" sz="4000"/>
              <a:t>的功能是对</a:t>
            </a:r>
            <a:r>
              <a:rPr lang="zh-CN" altLang="zh-CN" sz="4000">
                <a:solidFill>
                  <a:srgbClr val="FF0000"/>
                </a:solidFill>
              </a:rPr>
              <a:t>输入文件的信息进行统计</a:t>
            </a:r>
            <a:r>
              <a:rPr lang="zh-CN" altLang="zh-CN" sz="4000"/>
              <a:t>。统计信息包括</a:t>
            </a:r>
            <a:r>
              <a:rPr lang="zh-CN" altLang="zh-CN" sz="4000">
                <a:solidFill>
                  <a:srgbClr val="FF0000"/>
                </a:solidFill>
              </a:rPr>
              <a:t>行数、单词数和总字节数等</a:t>
            </a:r>
            <a:r>
              <a:rPr lang="zh-CN" altLang="zh-CN" sz="4000"/>
              <a:t>。若有多个输入文件，则将对每个输入文件进行</a:t>
            </a:r>
            <a:r>
              <a:rPr lang="zh-CN" altLang="zh-CN" sz="4000">
                <a:solidFill>
                  <a:srgbClr val="FF0000"/>
                </a:solidFill>
              </a:rPr>
              <a:t>分别统计</a:t>
            </a:r>
            <a:r>
              <a:rPr lang="zh-CN" altLang="zh-CN" sz="4000"/>
              <a:t>，在最后还给出所有文件的统计信息。用法：</a:t>
            </a:r>
            <a:r>
              <a:rPr lang="en-US" altLang="zh-CN" sz="4000"/>
              <a:t> </a:t>
            </a:r>
            <a:endParaRPr lang="zh-CN" altLang="zh-CN" sz="4000"/>
          </a:p>
          <a:p>
            <a:pPr>
              <a:spcBef>
                <a:spcPct val="0"/>
              </a:spcBef>
              <a:spcAft>
                <a:spcPct val="0"/>
              </a:spcAft>
            </a:pPr>
            <a:r>
              <a:rPr lang="en-US" altLang="zh-CN" sz="4000"/>
              <a:t>wc [-c] [-m] [-w] [-l] [-L] files</a:t>
            </a:r>
            <a:endParaRPr lang="zh-CN" altLang="en-US" sz="400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标题 1">
            <a:extLst>
              <a:ext uri="{FF2B5EF4-FFF2-40B4-BE49-F238E27FC236}">
                <a16:creationId xmlns:a16="http://schemas.microsoft.com/office/drawing/2014/main" id="{843BF42A-F3E3-9219-AFD5-0872E80F2AE7}"/>
              </a:ext>
            </a:extLst>
          </p:cNvPr>
          <p:cNvSpPr>
            <a:spLocks noGrp="1" noChangeArrowheads="1"/>
          </p:cNvSpPr>
          <p:nvPr>
            <p:ph type="title"/>
          </p:nvPr>
        </p:nvSpPr>
        <p:spPr/>
        <p:txBody>
          <a:bodyPr/>
          <a:lstStyle/>
          <a:p>
            <a:r>
              <a:rPr lang="en-US" altLang="zh-CN"/>
              <a:t>2</a:t>
            </a:r>
            <a:r>
              <a:rPr lang="zh-CN" altLang="zh-CN"/>
              <a:t>）参数说明</a:t>
            </a:r>
            <a:endParaRPr lang="zh-CN" altLang="en-US"/>
          </a:p>
        </p:txBody>
      </p:sp>
      <p:graphicFrame>
        <p:nvGraphicFramePr>
          <p:cNvPr id="4" name="内容占位符 3">
            <a:extLst>
              <a:ext uri="{FF2B5EF4-FFF2-40B4-BE49-F238E27FC236}">
                <a16:creationId xmlns:a16="http://schemas.microsoft.com/office/drawing/2014/main" id="{4CC576A2-A974-0F26-F816-65F2D1CE8533}"/>
              </a:ext>
            </a:extLst>
          </p:cNvPr>
          <p:cNvGraphicFramePr>
            <a:graphicFrameLocks noGrp="1"/>
          </p:cNvGraphicFramePr>
          <p:nvPr>
            <p:ph idx="1"/>
          </p:nvPr>
        </p:nvGraphicFramePr>
        <p:xfrm>
          <a:off x="34925" y="620713"/>
          <a:ext cx="8929688" cy="5616575"/>
        </p:xfrm>
        <a:graphic>
          <a:graphicData uri="http://schemas.openxmlformats.org/drawingml/2006/table">
            <a:tbl>
              <a:tblPr firstRow="1" firstCol="1" bandRow="1"/>
              <a:tblGrid>
                <a:gridCol w="2363741">
                  <a:extLst>
                    <a:ext uri="{9D8B030D-6E8A-4147-A177-3AD203B41FA5}">
                      <a16:colId xmlns:a16="http://schemas.microsoft.com/office/drawing/2014/main" val="20000"/>
                    </a:ext>
                  </a:extLst>
                </a:gridCol>
                <a:gridCol w="6565947">
                  <a:extLst>
                    <a:ext uri="{9D8B030D-6E8A-4147-A177-3AD203B41FA5}">
                      <a16:colId xmlns:a16="http://schemas.microsoft.com/office/drawing/2014/main" val="20001"/>
                    </a:ext>
                  </a:extLst>
                </a:gridCol>
              </a:tblGrid>
              <a:tr h="1123315">
                <a:tc>
                  <a:txBody>
                    <a:bodyPr/>
                    <a:lstStyle/>
                    <a:p>
                      <a:pPr algn="ctr">
                        <a:lnSpc>
                          <a:spcPct val="100000"/>
                        </a:lnSpc>
                        <a:spcAft>
                          <a:spcPts val="0"/>
                        </a:spcAft>
                      </a:pPr>
                      <a:r>
                        <a:rPr lang="zh-CN" sz="4000" b="1" kern="100" dirty="0">
                          <a:effectLst/>
                          <a:latin typeface="Times New Roman" panose="02020603050405020304"/>
                          <a:ea typeface="宋体" panose="02010600030101010101" pitchFamily="2" charset="-122"/>
                        </a:rPr>
                        <a:t>选</a:t>
                      </a:r>
                      <a:r>
                        <a:rPr lang="en-US" sz="4000" b="1" kern="100" dirty="0">
                          <a:effectLst/>
                          <a:latin typeface="Times New Roman" panose="02020603050405020304"/>
                          <a:ea typeface="宋体" panose="02010600030101010101" pitchFamily="2" charset="-122"/>
                        </a:rPr>
                        <a:t>    </a:t>
                      </a:r>
                      <a:r>
                        <a:rPr lang="zh-CN" sz="4000" b="1" kern="100" dirty="0">
                          <a:effectLst/>
                          <a:latin typeface="Times New Roman" panose="02020603050405020304"/>
                          <a:ea typeface="宋体" panose="02010600030101010101" pitchFamily="2" charset="-122"/>
                        </a:rPr>
                        <a:t>项</a:t>
                      </a: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l">
                        <a:lnSpc>
                          <a:spcPct val="100000"/>
                        </a:lnSpc>
                        <a:spcAft>
                          <a:spcPts val="0"/>
                        </a:spcAft>
                      </a:pPr>
                      <a:r>
                        <a:rPr lang="zh-CN" sz="4000" b="1" kern="100">
                          <a:effectLst/>
                          <a:latin typeface="Times New Roman" panose="02020603050405020304"/>
                          <a:ea typeface="宋体" panose="02010600030101010101" pitchFamily="2" charset="-122"/>
                        </a:rPr>
                        <a:t>功 能 描 述</a:t>
                      </a:r>
                    </a:p>
                  </a:txBody>
                  <a:tcPr marL="68591" marR="68591"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23315">
                <a:tc>
                  <a:txBody>
                    <a:bodyPr/>
                    <a:lstStyle/>
                    <a:p>
                      <a:pPr algn="ctr">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rPr>
                        <a:t>-c/-m</a:t>
                      </a:r>
                      <a:endParaRPr lang="zh-CN" sz="4800" b="1" kern="100" dirty="0">
                        <a:solidFill>
                          <a:srgbClr val="FF0000"/>
                        </a:solidFill>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l">
                        <a:lnSpc>
                          <a:spcPct val="100000"/>
                        </a:lnSpc>
                        <a:spcAft>
                          <a:spcPts val="0"/>
                        </a:spcAft>
                      </a:pPr>
                      <a:r>
                        <a:rPr lang="zh-CN" sz="4000" b="1" kern="100">
                          <a:effectLst/>
                          <a:latin typeface="Times New Roman" panose="02020603050405020304"/>
                          <a:ea typeface="宋体" panose="02010600030101010101" pitchFamily="2" charset="-122"/>
                        </a:rPr>
                        <a:t>字节</a:t>
                      </a:r>
                      <a:r>
                        <a:rPr lang="en-US" sz="4000" b="1" kern="100">
                          <a:effectLst/>
                          <a:latin typeface="Times New Roman" panose="02020603050405020304"/>
                          <a:ea typeface="宋体" panose="02010600030101010101" pitchFamily="2" charset="-122"/>
                        </a:rPr>
                        <a:t>/</a:t>
                      </a:r>
                      <a:r>
                        <a:rPr lang="zh-CN" sz="4000" b="1" kern="100">
                          <a:effectLst/>
                          <a:latin typeface="Times New Roman" panose="02020603050405020304"/>
                          <a:ea typeface="宋体" panose="02010600030101010101" pitchFamily="2" charset="-122"/>
                        </a:rPr>
                        <a:t>字符数统计</a:t>
                      </a:r>
                    </a:p>
                  </a:txBody>
                  <a:tcPr marL="68591" marR="68591"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23315">
                <a:tc>
                  <a:txBody>
                    <a:bodyPr/>
                    <a:lstStyle/>
                    <a:p>
                      <a:pPr algn="ctr">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rPr>
                        <a:t>-l</a:t>
                      </a:r>
                      <a:endParaRPr lang="zh-CN" sz="4800" b="1" kern="100" dirty="0">
                        <a:solidFill>
                          <a:srgbClr val="FF0000"/>
                        </a:solidFill>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l">
                        <a:lnSpc>
                          <a:spcPct val="100000"/>
                        </a:lnSpc>
                        <a:spcAft>
                          <a:spcPts val="0"/>
                        </a:spcAft>
                      </a:pPr>
                      <a:r>
                        <a:rPr lang="zh-CN" sz="4000" b="1" kern="100">
                          <a:effectLst/>
                          <a:latin typeface="Times New Roman" panose="02020603050405020304"/>
                          <a:ea typeface="宋体" panose="02010600030101010101" pitchFamily="2" charset="-122"/>
                        </a:rPr>
                        <a:t>统计行数</a:t>
                      </a:r>
                    </a:p>
                  </a:txBody>
                  <a:tcPr marL="68591" marR="68591"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23315">
                <a:tc>
                  <a:txBody>
                    <a:bodyPr/>
                    <a:lstStyle/>
                    <a:p>
                      <a:pPr algn="ctr">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rPr>
                        <a:t>-w</a:t>
                      </a:r>
                      <a:endParaRPr lang="zh-CN" sz="4800" b="1" kern="100" dirty="0">
                        <a:solidFill>
                          <a:srgbClr val="FF0000"/>
                        </a:solidFill>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l">
                        <a:lnSpc>
                          <a:spcPct val="100000"/>
                        </a:lnSpc>
                        <a:spcAft>
                          <a:spcPts val="0"/>
                        </a:spcAft>
                      </a:pPr>
                      <a:r>
                        <a:rPr lang="zh-CN" sz="4000" b="1" kern="100" dirty="0">
                          <a:effectLst/>
                          <a:latin typeface="Times New Roman" panose="02020603050405020304"/>
                          <a:ea typeface="宋体" panose="02010600030101010101" pitchFamily="2" charset="-122"/>
                        </a:rPr>
                        <a:t>统计单词数</a:t>
                      </a:r>
                    </a:p>
                  </a:txBody>
                  <a:tcPr marL="68591" marR="68591"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23315">
                <a:tc>
                  <a:txBody>
                    <a:bodyPr/>
                    <a:lstStyle/>
                    <a:p>
                      <a:pPr algn="ctr">
                        <a:lnSpc>
                          <a:spcPct val="100000"/>
                        </a:lnSpc>
                        <a:spcAft>
                          <a:spcPts val="0"/>
                        </a:spcAft>
                      </a:pPr>
                      <a:r>
                        <a:rPr lang="en-US" sz="4800" b="1" kern="100" dirty="0">
                          <a:solidFill>
                            <a:srgbClr val="FF0000"/>
                          </a:solidFill>
                          <a:effectLst/>
                          <a:latin typeface="Times New Roman" panose="02020603050405020304"/>
                          <a:ea typeface="宋体" panose="02010600030101010101" pitchFamily="2" charset="-122"/>
                        </a:rPr>
                        <a:t>-L</a:t>
                      </a:r>
                      <a:endParaRPr lang="zh-CN" sz="4800" b="1" kern="100" dirty="0">
                        <a:solidFill>
                          <a:srgbClr val="FF0000"/>
                        </a:solidFill>
                        <a:effectLst/>
                        <a:latin typeface="Times New Roman" panose="02020603050405020304"/>
                        <a:ea typeface="宋体" panose="02010600030101010101" pitchFamily="2" charset="-122"/>
                      </a:endParaRPr>
                    </a:p>
                  </a:txBody>
                  <a:tcPr marL="68591" marR="685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l">
                        <a:lnSpc>
                          <a:spcPct val="100000"/>
                        </a:lnSpc>
                        <a:spcAft>
                          <a:spcPts val="0"/>
                        </a:spcAft>
                      </a:pPr>
                      <a:r>
                        <a:rPr lang="zh-CN" sz="4000" b="1" kern="100" dirty="0">
                          <a:effectLst/>
                          <a:latin typeface="Times New Roman" panose="02020603050405020304"/>
                          <a:ea typeface="宋体" panose="02010600030101010101" pitchFamily="2" charset="-122"/>
                        </a:rPr>
                        <a:t>统计最长行的字节数</a:t>
                      </a:r>
                    </a:p>
                  </a:txBody>
                  <a:tcPr marL="68591" marR="68591"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标题 1">
            <a:extLst>
              <a:ext uri="{FF2B5EF4-FFF2-40B4-BE49-F238E27FC236}">
                <a16:creationId xmlns:a16="http://schemas.microsoft.com/office/drawing/2014/main" id="{19DDEEF4-C069-FB50-9640-2315761EBF45}"/>
              </a:ext>
            </a:extLst>
          </p:cNvPr>
          <p:cNvSpPr>
            <a:spLocks noGrp="1" noChangeArrowheads="1"/>
          </p:cNvSpPr>
          <p:nvPr>
            <p:ph type="title"/>
          </p:nvPr>
        </p:nvSpPr>
        <p:spPr/>
        <p:txBody>
          <a:bodyPr/>
          <a:lstStyle/>
          <a:p>
            <a:r>
              <a:rPr lang="en-US" altLang="zh-CN"/>
              <a:t>3</a:t>
            </a:r>
            <a:r>
              <a:rPr lang="zh-CN" altLang="zh-CN"/>
              <a:t>）示例</a:t>
            </a:r>
            <a:endParaRPr lang="zh-CN" altLang="en-US"/>
          </a:p>
        </p:txBody>
      </p:sp>
      <p:sp>
        <p:nvSpPr>
          <p:cNvPr id="122883" name="内容占位符 2">
            <a:extLst>
              <a:ext uri="{FF2B5EF4-FFF2-40B4-BE49-F238E27FC236}">
                <a16:creationId xmlns:a16="http://schemas.microsoft.com/office/drawing/2014/main" id="{30254E59-B44C-E9E4-6528-64E5733A6AE8}"/>
              </a:ext>
            </a:extLst>
          </p:cNvPr>
          <p:cNvSpPr>
            <a:spLocks noGrp="1" noChangeArrowheads="1"/>
          </p:cNvSpPr>
          <p:nvPr>
            <p:ph idx="1"/>
          </p:nvPr>
        </p:nvSpPr>
        <p:spPr>
          <a:xfrm>
            <a:off x="-36513" y="620713"/>
            <a:ext cx="9180513" cy="5761037"/>
          </a:xfrm>
        </p:spPr>
        <p:txBody>
          <a:bodyPr/>
          <a:lstStyle/>
          <a:p>
            <a:pPr>
              <a:spcBef>
                <a:spcPct val="0"/>
              </a:spcBef>
              <a:spcAft>
                <a:spcPct val="0"/>
              </a:spcAft>
            </a:pPr>
            <a:r>
              <a:rPr lang="en-US" altLang="zh-CN" sz="4400"/>
              <a:t>$ wc /etc/inittab		#</a:t>
            </a:r>
            <a:r>
              <a:rPr lang="zh-CN" altLang="zh-CN" sz="4400"/>
              <a:t>综合统计</a:t>
            </a:r>
            <a:r>
              <a:rPr lang="en-US" altLang="zh-CN" sz="4400"/>
              <a:t>/etc/inittab</a:t>
            </a:r>
            <a:r>
              <a:rPr lang="zh-CN" altLang="zh-CN" sz="4400"/>
              <a:t>的内容信息</a:t>
            </a:r>
          </a:p>
          <a:p>
            <a:pPr>
              <a:spcBef>
                <a:spcPct val="0"/>
              </a:spcBef>
              <a:spcAft>
                <a:spcPct val="0"/>
              </a:spcAft>
            </a:pPr>
            <a:r>
              <a:rPr lang="en-US" altLang="zh-CN" sz="4400"/>
              <a:t>$ wc -w /etc/inittab	#</a:t>
            </a:r>
            <a:r>
              <a:rPr lang="zh-CN" altLang="zh-CN" sz="4400"/>
              <a:t>统计单词数</a:t>
            </a:r>
          </a:p>
          <a:p>
            <a:pPr>
              <a:spcBef>
                <a:spcPct val="0"/>
              </a:spcBef>
              <a:spcAft>
                <a:spcPct val="0"/>
              </a:spcAft>
            </a:pPr>
            <a:r>
              <a:rPr lang="en-US" altLang="zh-CN" sz="4400"/>
              <a:t>$ wc -l /etc/inittab		#</a:t>
            </a:r>
            <a:r>
              <a:rPr lang="zh-CN" altLang="zh-CN" sz="4400"/>
              <a:t>统计行数</a:t>
            </a:r>
          </a:p>
          <a:p>
            <a:pPr>
              <a:spcBef>
                <a:spcPct val="0"/>
              </a:spcBef>
              <a:spcAft>
                <a:spcPct val="0"/>
              </a:spcAft>
            </a:pPr>
            <a:r>
              <a:rPr lang="en-US" altLang="zh-CN" sz="4400"/>
              <a:t>$ wc -c /etc/inittab	#</a:t>
            </a:r>
            <a:r>
              <a:rPr lang="zh-CN" altLang="zh-CN" sz="4400"/>
              <a:t>统计字符数</a:t>
            </a:r>
          </a:p>
          <a:p>
            <a:endParaRPr lang="zh-CN" alt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标题 1">
            <a:extLst>
              <a:ext uri="{FF2B5EF4-FFF2-40B4-BE49-F238E27FC236}">
                <a16:creationId xmlns:a16="http://schemas.microsoft.com/office/drawing/2014/main" id="{218F7CB1-497C-23EA-4F34-8AE514634EF9}"/>
              </a:ext>
            </a:extLst>
          </p:cNvPr>
          <p:cNvSpPr>
            <a:spLocks noGrp="1" noChangeArrowheads="1"/>
          </p:cNvSpPr>
          <p:nvPr>
            <p:ph type="title"/>
          </p:nvPr>
        </p:nvSpPr>
        <p:spPr>
          <a:xfrm>
            <a:off x="-107950" y="17463"/>
            <a:ext cx="9720263" cy="476250"/>
          </a:xfrm>
        </p:spPr>
        <p:txBody>
          <a:bodyPr/>
          <a:lstStyle/>
          <a:p>
            <a:r>
              <a:rPr lang="zh-CN" altLang="en-US"/>
              <a:t>3.2.6  进程管理基本命令（与第六章共同学习）</a:t>
            </a:r>
          </a:p>
        </p:txBody>
      </p:sp>
      <p:sp>
        <p:nvSpPr>
          <p:cNvPr id="123907" name="内容占位符 2">
            <a:extLst>
              <a:ext uri="{FF2B5EF4-FFF2-40B4-BE49-F238E27FC236}">
                <a16:creationId xmlns:a16="http://schemas.microsoft.com/office/drawing/2014/main" id="{FEE57CCF-8E28-A101-A54E-355B595664D5}"/>
              </a:ext>
            </a:extLst>
          </p:cNvPr>
          <p:cNvSpPr>
            <a:spLocks noGrp="1" noChangeArrowheads="1"/>
          </p:cNvSpPr>
          <p:nvPr>
            <p:ph idx="1"/>
          </p:nvPr>
        </p:nvSpPr>
        <p:spPr>
          <a:xfrm>
            <a:off x="0" y="549275"/>
            <a:ext cx="9109075" cy="5832475"/>
          </a:xfrm>
        </p:spPr>
        <p:txBody>
          <a:bodyPr/>
          <a:lstStyle/>
          <a:p>
            <a:pPr>
              <a:spcBef>
                <a:spcPct val="0"/>
              </a:spcBef>
              <a:spcAft>
                <a:spcPct val="0"/>
              </a:spcAft>
            </a:pPr>
            <a:r>
              <a:rPr lang="zh-CN" altLang="en-US" sz="3600"/>
              <a:t>系统在启动时创建了很多进程。进程的创建者称为</a:t>
            </a:r>
            <a:r>
              <a:rPr lang="zh-CN" altLang="en-US" sz="4400">
                <a:solidFill>
                  <a:srgbClr val="FF0000"/>
                </a:solidFill>
              </a:rPr>
              <a:t>父进程</a:t>
            </a:r>
            <a:r>
              <a:rPr lang="zh-CN" altLang="en-US" sz="3600"/>
              <a:t>，被创建者称为</a:t>
            </a:r>
            <a:r>
              <a:rPr lang="zh-CN" altLang="en-US" sz="4400">
                <a:solidFill>
                  <a:srgbClr val="FF0000"/>
                </a:solidFill>
              </a:rPr>
              <a:t>子进程</a:t>
            </a:r>
            <a:r>
              <a:rPr lang="zh-CN" altLang="en-US" sz="3600"/>
              <a:t>，子进程还可以创建子进程。为对进程管理，系统为每个进程分配了一个</a:t>
            </a:r>
            <a:r>
              <a:rPr lang="zh-CN" altLang="en-US" sz="4400">
                <a:solidFill>
                  <a:srgbClr val="FF0000"/>
                </a:solidFill>
              </a:rPr>
              <a:t>编号</a:t>
            </a:r>
            <a:r>
              <a:rPr lang="en-US" altLang="zh-CN" sz="4400">
                <a:solidFill>
                  <a:srgbClr val="FF0000"/>
                </a:solidFill>
                <a:sym typeface="+mn-ea"/>
              </a:rPr>
              <a:t>PID</a:t>
            </a:r>
            <a:r>
              <a:rPr lang="zh-CN" altLang="en-US" sz="4400">
                <a:solidFill>
                  <a:srgbClr val="FF0000"/>
                </a:solidFill>
              </a:rPr>
              <a:t>：进程号或进程标识</a:t>
            </a:r>
            <a:r>
              <a:rPr lang="zh-CN" altLang="en-US" sz="3600"/>
              <a:t>。</a:t>
            </a:r>
          </a:p>
          <a:p>
            <a:pPr>
              <a:spcBef>
                <a:spcPct val="0"/>
              </a:spcBef>
              <a:spcAft>
                <a:spcPct val="0"/>
              </a:spcAft>
            </a:pPr>
            <a:r>
              <a:rPr lang="zh-CN" altLang="en-US" sz="3600"/>
              <a:t>在诸多的进程中，父、子进程之间按先后创建关系构成了一棵</a:t>
            </a:r>
            <a:r>
              <a:rPr lang="zh-CN" altLang="en-US" sz="4400">
                <a:solidFill>
                  <a:srgbClr val="FF0000"/>
                </a:solidFill>
              </a:rPr>
              <a:t>进程树</a:t>
            </a:r>
            <a:r>
              <a:rPr lang="zh-CN" altLang="en-US" sz="3600"/>
              <a:t>。进程树上的</a:t>
            </a:r>
            <a:r>
              <a:rPr lang="zh-CN" altLang="en-US" sz="3600">
                <a:solidFill>
                  <a:srgbClr val="FF0000"/>
                </a:solidFill>
              </a:rPr>
              <a:t>每一个分支都对应或描述着一组进程的家族关系</a:t>
            </a:r>
            <a:r>
              <a:rPr lang="zh-CN" altLang="en-US" sz="3600"/>
              <a:t>。进程树可用</a:t>
            </a:r>
            <a:r>
              <a:rPr lang="zh-CN" altLang="en-US" sz="4400">
                <a:solidFill>
                  <a:srgbClr val="FF0000"/>
                </a:solidFill>
              </a:rPr>
              <a:t>pstree</a:t>
            </a:r>
            <a:r>
              <a:rPr lang="zh-CN" altLang="en-US" sz="3600"/>
              <a:t>来查询。</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标题 1">
            <a:extLst>
              <a:ext uri="{FF2B5EF4-FFF2-40B4-BE49-F238E27FC236}">
                <a16:creationId xmlns:a16="http://schemas.microsoft.com/office/drawing/2014/main" id="{C4449835-1524-9005-21E7-74BFE3AE7B2F}"/>
              </a:ext>
            </a:extLst>
          </p:cNvPr>
          <p:cNvSpPr>
            <a:spLocks noGrp="1" noChangeArrowheads="1"/>
          </p:cNvSpPr>
          <p:nvPr>
            <p:ph type="title"/>
          </p:nvPr>
        </p:nvSpPr>
        <p:spPr/>
        <p:txBody>
          <a:bodyPr/>
          <a:lstStyle/>
          <a:p>
            <a:r>
              <a:rPr lang="zh-CN" altLang="en-US"/>
              <a:t>1．信号及默认处理方式</a:t>
            </a:r>
          </a:p>
        </p:txBody>
      </p:sp>
      <p:sp>
        <p:nvSpPr>
          <p:cNvPr id="124931" name="内容占位符 2">
            <a:extLst>
              <a:ext uri="{FF2B5EF4-FFF2-40B4-BE49-F238E27FC236}">
                <a16:creationId xmlns:a16="http://schemas.microsoft.com/office/drawing/2014/main" id="{C2D9AB08-0553-B081-E567-31B6D60C518D}"/>
              </a:ext>
            </a:extLst>
          </p:cNvPr>
          <p:cNvSpPr>
            <a:spLocks noGrp="1" noChangeArrowheads="1"/>
          </p:cNvSpPr>
          <p:nvPr>
            <p:ph idx="1"/>
          </p:nvPr>
        </p:nvSpPr>
        <p:spPr>
          <a:xfrm>
            <a:off x="179388" y="620713"/>
            <a:ext cx="8486775" cy="5761037"/>
          </a:xfrm>
        </p:spPr>
        <p:txBody>
          <a:bodyPr/>
          <a:lstStyle/>
          <a:p>
            <a:pPr>
              <a:spcBef>
                <a:spcPct val="0"/>
              </a:spcBef>
              <a:spcAft>
                <a:spcPct val="0"/>
              </a:spcAft>
            </a:pPr>
            <a:r>
              <a:rPr lang="zh-CN" altLang="en-US" sz="4800">
                <a:solidFill>
                  <a:srgbClr val="FF0000"/>
                </a:solidFill>
                <a:sym typeface="+mn-ea"/>
              </a:rPr>
              <a:t>进程间</a:t>
            </a:r>
            <a:r>
              <a:rPr lang="zh-CN" altLang="en-US" sz="4800">
                <a:sym typeface="+mn-ea"/>
              </a:rPr>
              <a:t>可以通过</a:t>
            </a:r>
            <a:r>
              <a:rPr lang="zh-CN" altLang="en-US" sz="4800">
                <a:solidFill>
                  <a:srgbClr val="FF0000"/>
                </a:solidFill>
                <a:sym typeface="+mn-ea"/>
              </a:rPr>
              <a:t>信号</a:t>
            </a:r>
            <a:r>
              <a:rPr lang="zh-CN" altLang="en-US" sz="4800">
                <a:sym typeface="+mn-ea"/>
              </a:rPr>
              <a:t>进行</a:t>
            </a:r>
            <a:r>
              <a:rPr lang="zh-CN" altLang="en-US" sz="4800">
                <a:solidFill>
                  <a:srgbClr val="FF0000"/>
                </a:solidFill>
                <a:sym typeface="+mn-ea"/>
              </a:rPr>
              <a:t>通信</a:t>
            </a:r>
            <a:r>
              <a:rPr lang="zh-CN" altLang="en-US" sz="4800">
                <a:sym typeface="+mn-ea"/>
              </a:rPr>
              <a:t>，以实现进程间一定程序的</a:t>
            </a:r>
            <a:r>
              <a:rPr lang="zh-CN" altLang="en-US" sz="4800">
                <a:solidFill>
                  <a:srgbClr val="FF0000"/>
                </a:solidFill>
                <a:sym typeface="+mn-ea"/>
              </a:rPr>
              <a:t>控制</a:t>
            </a:r>
            <a:r>
              <a:rPr lang="zh-CN" altLang="en-US" sz="4800">
                <a:sym typeface="+mn-ea"/>
              </a:rPr>
              <a:t>，用于</a:t>
            </a:r>
            <a:r>
              <a:rPr lang="zh-CN" altLang="en-US" sz="4800">
                <a:solidFill>
                  <a:srgbClr val="FF0000"/>
                </a:solidFill>
                <a:sym typeface="+mn-ea"/>
              </a:rPr>
              <a:t>进程间信号通信的命令</a:t>
            </a:r>
            <a:r>
              <a:rPr lang="zh-CN" altLang="en-US" sz="4800">
                <a:sym typeface="+mn-ea"/>
              </a:rPr>
              <a:t>是</a:t>
            </a:r>
            <a:r>
              <a:rPr lang="zh-CN" altLang="en-US" sz="4800">
                <a:solidFill>
                  <a:srgbClr val="FF0000"/>
                </a:solidFill>
                <a:sym typeface="+mn-ea"/>
              </a:rPr>
              <a:t>kill</a:t>
            </a:r>
            <a:r>
              <a:rPr lang="zh-CN" altLang="en-US" sz="4800">
                <a:sym typeface="+mn-ea"/>
              </a:rPr>
              <a:t>和</a:t>
            </a:r>
            <a:r>
              <a:rPr lang="zh-CN" altLang="en-US" sz="4800">
                <a:solidFill>
                  <a:srgbClr val="FF0000"/>
                </a:solidFill>
                <a:sym typeface="+mn-ea"/>
              </a:rPr>
              <a:t>trap</a:t>
            </a:r>
            <a:r>
              <a:rPr lang="zh-CN" altLang="en-US" sz="4800">
                <a:sym typeface="+mn-ea"/>
              </a:rPr>
              <a:t>。</a:t>
            </a:r>
          </a:p>
          <a:p>
            <a:pPr>
              <a:spcBef>
                <a:spcPct val="0"/>
              </a:spcBef>
              <a:spcAft>
                <a:spcPct val="0"/>
              </a:spcAft>
            </a:pPr>
            <a:r>
              <a:rPr lang="zh-CN" altLang="en-US" sz="4800">
                <a:sym typeface="+mn-ea"/>
              </a:rPr>
              <a:t>信号是</a:t>
            </a:r>
            <a:r>
              <a:rPr lang="en-US" altLang="zh-CN" sz="4800">
                <a:sym typeface="+mn-ea"/>
              </a:rPr>
              <a:t>linux</a:t>
            </a:r>
            <a:r>
              <a:rPr lang="zh-CN" altLang="en-US" sz="4800">
                <a:sym typeface="+mn-ea"/>
              </a:rPr>
              <a:t>系统</a:t>
            </a:r>
            <a:r>
              <a:rPr lang="zh-CN" altLang="en-US" sz="4800">
                <a:solidFill>
                  <a:srgbClr val="FF0000"/>
                </a:solidFill>
                <a:sym typeface="+mn-ea"/>
              </a:rPr>
              <a:t>为了响应某些状况而产生的事件</a:t>
            </a:r>
            <a:r>
              <a:rPr lang="zh-CN" altLang="en-US" sz="4800">
                <a:sym typeface="+mn-ea"/>
              </a:rPr>
              <a:t>。进程</a:t>
            </a:r>
            <a:r>
              <a:rPr lang="zh-CN" altLang="en-US" sz="4800">
                <a:solidFill>
                  <a:srgbClr val="FF0000"/>
                </a:solidFill>
                <a:sym typeface="+mn-ea"/>
              </a:rPr>
              <a:t>收到信号后应该采取</a:t>
            </a:r>
            <a:r>
              <a:rPr lang="zh-CN" altLang="en-US" sz="4800">
                <a:sym typeface="+mn-ea"/>
              </a:rPr>
              <a:t>相应的</a:t>
            </a:r>
            <a:r>
              <a:rPr lang="zh-CN" altLang="en-US" sz="4800">
                <a:solidFill>
                  <a:srgbClr val="FF0000"/>
                </a:solidFill>
                <a:sym typeface="+mn-ea"/>
              </a:rPr>
              <a:t>动作</a:t>
            </a:r>
            <a:endParaRPr lang="zh-CN" altLang="en-US" sz="4800">
              <a:solidFill>
                <a:srgbClr val="FF0000"/>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标题 1">
            <a:extLst>
              <a:ext uri="{FF2B5EF4-FFF2-40B4-BE49-F238E27FC236}">
                <a16:creationId xmlns:a16="http://schemas.microsoft.com/office/drawing/2014/main" id="{A8E99E27-AF60-693A-9FA1-A24D39DAF175}"/>
              </a:ext>
            </a:extLst>
          </p:cNvPr>
          <p:cNvSpPr>
            <a:spLocks noGrp="1" noChangeArrowheads="1"/>
          </p:cNvSpPr>
          <p:nvPr>
            <p:ph type="title"/>
          </p:nvPr>
        </p:nvSpPr>
        <p:spPr/>
        <p:txBody>
          <a:bodyPr/>
          <a:lstStyle/>
          <a:p>
            <a:r>
              <a:rPr lang="zh-CN" altLang="en-US"/>
              <a:t>常用信号</a:t>
            </a:r>
          </a:p>
        </p:txBody>
      </p:sp>
      <p:sp>
        <p:nvSpPr>
          <p:cNvPr id="125955" name="内容占位符 2">
            <a:extLst>
              <a:ext uri="{FF2B5EF4-FFF2-40B4-BE49-F238E27FC236}">
                <a16:creationId xmlns:a16="http://schemas.microsoft.com/office/drawing/2014/main" id="{CB615848-2F18-45C8-4B06-C684F9A17922}"/>
              </a:ext>
            </a:extLst>
          </p:cNvPr>
          <p:cNvSpPr>
            <a:spLocks noGrp="1" noChangeArrowheads="1"/>
          </p:cNvSpPr>
          <p:nvPr>
            <p:ph idx="1"/>
          </p:nvPr>
        </p:nvSpPr>
        <p:spPr>
          <a:xfrm>
            <a:off x="179388" y="620713"/>
            <a:ext cx="8964612" cy="5761037"/>
          </a:xfrm>
        </p:spPr>
        <p:txBody>
          <a:bodyPr/>
          <a:lstStyle/>
          <a:p>
            <a:pPr>
              <a:spcBef>
                <a:spcPct val="0"/>
              </a:spcBef>
              <a:spcAft>
                <a:spcPct val="0"/>
              </a:spcAft>
            </a:pPr>
            <a:r>
              <a:rPr lang="zh-CN" altLang="en-US" sz="3600"/>
              <a:t>在众多信号中，有的是</a:t>
            </a:r>
            <a:r>
              <a:rPr lang="zh-CN" altLang="en-US" sz="3600">
                <a:solidFill>
                  <a:srgbClr val="FF0000"/>
                </a:solidFill>
              </a:rPr>
              <a:t>硬件产生</a:t>
            </a:r>
            <a:r>
              <a:rPr lang="zh-CN" altLang="en-US" sz="3600"/>
              <a:t>的，有的是</a:t>
            </a:r>
            <a:r>
              <a:rPr lang="zh-CN" altLang="en-US" sz="3600">
                <a:solidFill>
                  <a:srgbClr val="FF0000"/>
                </a:solidFill>
              </a:rPr>
              <a:t>软件产生</a:t>
            </a:r>
            <a:r>
              <a:rPr lang="zh-CN" altLang="en-US" sz="3600"/>
              <a:t>的，还有一些是</a:t>
            </a:r>
            <a:r>
              <a:rPr lang="zh-CN" altLang="en-US" sz="3600">
                <a:solidFill>
                  <a:srgbClr val="FF0000"/>
                </a:solidFill>
              </a:rPr>
              <a:t>人工可以制造</a:t>
            </a:r>
            <a:r>
              <a:rPr lang="zh-CN" altLang="en-US" sz="3600"/>
              <a:t>的。人工可以制造的信号简称为人工信号，比如</a:t>
            </a:r>
            <a:r>
              <a:rPr lang="en-US" altLang="zh-CN" sz="3600">
                <a:solidFill>
                  <a:srgbClr val="FF0000"/>
                </a:solidFill>
              </a:rPr>
              <a:t>^C</a:t>
            </a:r>
            <a:r>
              <a:rPr lang="zh-CN" altLang="en-US" sz="3600"/>
              <a:t>可以产生</a:t>
            </a:r>
            <a:r>
              <a:rPr lang="zh-CN" altLang="en-US" sz="3600">
                <a:solidFill>
                  <a:srgbClr val="FF0000"/>
                </a:solidFill>
                <a:sym typeface="+mn-ea"/>
              </a:rPr>
              <a:t>SIGINT</a:t>
            </a:r>
            <a:r>
              <a:rPr lang="zh-CN" altLang="en-US" sz="3600">
                <a:sym typeface="+mn-ea"/>
              </a:rPr>
              <a:t>，其值</a:t>
            </a:r>
            <a:r>
              <a:rPr lang="zh-CN" altLang="en-US" sz="3600">
                <a:solidFill>
                  <a:srgbClr val="FF0000"/>
                </a:solidFill>
                <a:sym typeface="+mn-ea"/>
              </a:rPr>
              <a:t>为</a:t>
            </a:r>
            <a:r>
              <a:rPr lang="en-US" altLang="zh-CN" sz="3600">
                <a:solidFill>
                  <a:srgbClr val="FF0000"/>
                </a:solidFill>
                <a:sym typeface="+mn-ea"/>
              </a:rPr>
              <a:t>2</a:t>
            </a:r>
            <a:r>
              <a:rPr lang="zh-CN" altLang="en-US" sz="3600"/>
              <a:t>。</a:t>
            </a:r>
          </a:p>
          <a:p>
            <a:pPr>
              <a:spcBef>
                <a:spcPct val="0"/>
              </a:spcBef>
              <a:spcAft>
                <a:spcPct val="0"/>
              </a:spcAft>
            </a:pPr>
            <a:r>
              <a:rPr lang="zh-CN" altLang="en-US" sz="3600">
                <a:solidFill>
                  <a:srgbClr val="FF0000"/>
                </a:solidFill>
              </a:rPr>
              <a:t>常用信号</a:t>
            </a:r>
            <a:r>
              <a:rPr lang="zh-CN" altLang="en-US" sz="3600"/>
              <a:t>有SIGHUP、SIGINT、SIGQUIT、SIGKILL、SIGTERM、SIGUSR1和SIGUSR2等，或简写为HUP、INT、QUIT、KILL、TERM、USR1和USR2等。</a:t>
            </a:r>
          </a:p>
          <a:p>
            <a:pPr>
              <a:spcBef>
                <a:spcPct val="0"/>
              </a:spcBef>
              <a:spcAft>
                <a:spcPct val="0"/>
              </a:spcAft>
            </a:pPr>
            <a:r>
              <a:rPr lang="zh-CN" altLang="en-US" sz="3600"/>
              <a:t>这些信号中的</a:t>
            </a:r>
            <a:r>
              <a:rPr lang="zh-CN" altLang="en-US" sz="3600">
                <a:solidFill>
                  <a:srgbClr val="FF0000"/>
                </a:solidFill>
              </a:rPr>
              <a:t>一些是可以被捕获的</a:t>
            </a:r>
            <a:r>
              <a:rPr lang="zh-CN" altLang="en-US" sz="3600"/>
              <a:t>，捕获命令</a:t>
            </a:r>
            <a:r>
              <a:rPr lang="zh-CN" altLang="en-US" sz="3600">
                <a:solidFill>
                  <a:srgbClr val="FF0000"/>
                </a:solidFill>
              </a:rPr>
              <a:t>为trap</a:t>
            </a:r>
            <a:r>
              <a:rPr lang="zh-CN" altLang="en-US" sz="3600"/>
              <a:t>。</a:t>
            </a:r>
          </a:p>
        </p:txBody>
      </p:sp>
      <p:graphicFrame>
        <p:nvGraphicFramePr>
          <p:cNvPr id="2" name="表格 1">
            <a:extLst>
              <a:ext uri="{FF2B5EF4-FFF2-40B4-BE49-F238E27FC236}">
                <a16:creationId xmlns:a16="http://schemas.microsoft.com/office/drawing/2014/main" id="{844B1E03-F2BC-634C-E9AC-3C470360B644}"/>
              </a:ext>
            </a:extLst>
          </p:cNvPr>
          <p:cNvGraphicFramePr>
            <a:graphicFrameLocks noGrp="1"/>
          </p:cNvGraphicFramePr>
          <p:nvPr/>
        </p:nvGraphicFramePr>
        <p:xfrm>
          <a:off x="0" y="260350"/>
          <a:ext cx="9144000" cy="6265863"/>
        </p:xfrm>
        <a:graphic>
          <a:graphicData uri="http://schemas.openxmlformats.org/drawingml/2006/table">
            <a:tbl>
              <a:tblPr/>
              <a:tblGrid>
                <a:gridCol w="1566076">
                  <a:extLst>
                    <a:ext uri="{9D8B030D-6E8A-4147-A177-3AD203B41FA5}">
                      <a16:colId xmlns:a16="http://schemas.microsoft.com/office/drawing/2014/main" val="20000"/>
                    </a:ext>
                  </a:extLst>
                </a:gridCol>
                <a:gridCol w="1238699">
                  <a:extLst>
                    <a:ext uri="{9D8B030D-6E8A-4147-A177-3AD203B41FA5}">
                      <a16:colId xmlns:a16="http://schemas.microsoft.com/office/drawing/2014/main" val="20001"/>
                    </a:ext>
                  </a:extLst>
                </a:gridCol>
                <a:gridCol w="6339225">
                  <a:extLst>
                    <a:ext uri="{9D8B030D-6E8A-4147-A177-3AD203B41FA5}">
                      <a16:colId xmlns:a16="http://schemas.microsoft.com/office/drawing/2014/main" val="20002"/>
                    </a:ext>
                  </a:extLst>
                </a:gridCol>
              </a:tblGrid>
              <a:tr h="502914">
                <a:tc>
                  <a:txBody>
                    <a:bodyPr/>
                    <a:lstStyle/>
                    <a:p>
                      <a:r>
                        <a:rPr lang="zh-CN" altLang="en-US" sz="2800" dirty="0">
                          <a:solidFill>
                            <a:srgbClr val="444444"/>
                          </a:solidFill>
                          <a:effectLst/>
                        </a:rPr>
                        <a:t>信号编号</a:t>
                      </a:r>
                    </a:p>
                  </a:txBody>
                  <a:tcPr marL="27214" marR="27214" marT="38097" marB="38097"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EDEDED"/>
                    </a:solidFill>
                  </a:tcPr>
                </a:tc>
                <a:tc>
                  <a:txBody>
                    <a:bodyPr/>
                    <a:lstStyle/>
                    <a:p>
                      <a:r>
                        <a:rPr lang="zh-CN" altLang="en-US" sz="2800" dirty="0">
                          <a:solidFill>
                            <a:srgbClr val="444444"/>
                          </a:solidFill>
                          <a:effectLst/>
                        </a:rPr>
                        <a:t>信号名</a:t>
                      </a:r>
                    </a:p>
                  </a:txBody>
                  <a:tcPr marL="27214" marR="27214" marT="38097" marB="38097"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EDEDED"/>
                    </a:solidFill>
                  </a:tcPr>
                </a:tc>
                <a:tc>
                  <a:txBody>
                    <a:bodyPr/>
                    <a:lstStyle/>
                    <a:p>
                      <a:r>
                        <a:rPr lang="zh-CN" altLang="en-US" sz="2800">
                          <a:solidFill>
                            <a:srgbClr val="444444"/>
                          </a:solidFill>
                          <a:effectLst/>
                        </a:rPr>
                        <a:t>含义</a:t>
                      </a:r>
                    </a:p>
                  </a:txBody>
                  <a:tcPr marL="27214" marR="27214" marT="38097" marB="38097"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EDEDED"/>
                    </a:solidFill>
                  </a:tcPr>
                </a:tc>
                <a:extLst>
                  <a:ext uri="{0D108BD9-81ED-4DB2-BD59-A6C34878D82A}">
                    <a16:rowId xmlns:a16="http://schemas.microsoft.com/office/drawing/2014/main" val="10000"/>
                  </a:ext>
                </a:extLst>
              </a:tr>
              <a:tr h="481146">
                <a:tc>
                  <a:txBody>
                    <a:bodyPr/>
                    <a:lstStyle/>
                    <a:p>
                      <a:r>
                        <a:rPr lang="en-US" altLang="zh-CN" sz="2800">
                          <a:effectLst/>
                        </a:rPr>
                        <a:t>0</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tc>
                  <a:txBody>
                    <a:bodyPr/>
                    <a:lstStyle/>
                    <a:p>
                      <a:r>
                        <a:rPr lang="en-US" sz="2800" dirty="0">
                          <a:effectLst/>
                        </a:rPr>
                        <a:t>EXIT </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tc>
                  <a:txBody>
                    <a:bodyPr/>
                    <a:lstStyle/>
                    <a:p>
                      <a:r>
                        <a:rPr lang="zh-CN" altLang="en-US" sz="2800" dirty="0">
                          <a:effectLst/>
                        </a:rPr>
                        <a:t>程序退出时收到该信息。</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351881">
                <a:tc>
                  <a:txBody>
                    <a:bodyPr/>
                    <a:lstStyle/>
                    <a:p>
                      <a:r>
                        <a:rPr lang="en-US" altLang="zh-CN" sz="2800">
                          <a:effectLst/>
                        </a:rPr>
                        <a:t>1</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tc>
                  <a:txBody>
                    <a:bodyPr/>
                    <a:lstStyle/>
                    <a:p>
                      <a:r>
                        <a:rPr lang="en-US" sz="2800">
                          <a:effectLst/>
                        </a:rPr>
                        <a:t>HUP</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tc>
                  <a:txBody>
                    <a:bodyPr/>
                    <a:lstStyle/>
                    <a:p>
                      <a:r>
                        <a:rPr lang="zh-CN" altLang="en-US" sz="2800" dirty="0">
                          <a:effectLst/>
                        </a:rPr>
                        <a:t>挂掉电话线或终端连接的挂起信号，这个信号也会造成某些进程在没有终止的情况下重新初始化。</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351881">
                <a:tc>
                  <a:txBody>
                    <a:bodyPr/>
                    <a:lstStyle/>
                    <a:p>
                      <a:r>
                        <a:rPr lang="en-US" altLang="zh-CN" sz="2800">
                          <a:effectLst/>
                        </a:rPr>
                        <a:t>2</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tc>
                  <a:txBody>
                    <a:bodyPr/>
                    <a:lstStyle/>
                    <a:p>
                      <a:r>
                        <a:rPr lang="en-US" sz="2800">
                          <a:effectLst/>
                        </a:rPr>
                        <a:t>INT</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tc>
                  <a:txBody>
                    <a:bodyPr/>
                    <a:lstStyle/>
                    <a:p>
                      <a:r>
                        <a:rPr lang="zh-CN" altLang="en-US" sz="2800" dirty="0">
                          <a:effectLst/>
                        </a:rPr>
                        <a:t>表示结束进程，但并不是强制性的，常用的 </a:t>
                      </a:r>
                      <a:r>
                        <a:rPr lang="en-US" altLang="zh-CN" sz="2800" dirty="0">
                          <a:effectLst/>
                        </a:rPr>
                        <a:t>"</a:t>
                      </a:r>
                      <a:r>
                        <a:rPr lang="en-US" altLang="zh-CN" sz="2800" dirty="0" err="1">
                          <a:effectLst/>
                        </a:rPr>
                        <a:t>Ctrl+C</a:t>
                      </a:r>
                      <a:r>
                        <a:rPr lang="en-US" altLang="zh-CN" sz="2800" dirty="0">
                          <a:effectLst/>
                        </a:rPr>
                        <a:t>" </a:t>
                      </a:r>
                      <a:r>
                        <a:rPr lang="zh-CN" altLang="en-US" sz="2800" dirty="0">
                          <a:effectLst/>
                        </a:rPr>
                        <a:t>组合键发出就是一个 </a:t>
                      </a:r>
                      <a:r>
                        <a:rPr lang="en-US" altLang="zh-CN" sz="2800" dirty="0">
                          <a:effectLst/>
                        </a:rPr>
                        <a:t>kill -2 </a:t>
                      </a:r>
                      <a:r>
                        <a:rPr lang="zh-CN" altLang="en-US" sz="2800" dirty="0">
                          <a:effectLst/>
                        </a:rPr>
                        <a:t>的信号。</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1146">
                <a:tc>
                  <a:txBody>
                    <a:bodyPr/>
                    <a:lstStyle/>
                    <a:p>
                      <a:r>
                        <a:rPr lang="en-US" altLang="zh-CN" sz="2800">
                          <a:effectLst/>
                        </a:rPr>
                        <a:t>3</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tc>
                  <a:txBody>
                    <a:bodyPr/>
                    <a:lstStyle/>
                    <a:p>
                      <a:r>
                        <a:rPr lang="en-US" sz="2800">
                          <a:effectLst/>
                        </a:rPr>
                        <a:t>QUIT</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tc>
                  <a:txBody>
                    <a:bodyPr/>
                    <a:lstStyle/>
                    <a:p>
                      <a:r>
                        <a:rPr lang="zh-CN" altLang="en-US" sz="2800" dirty="0">
                          <a:effectLst/>
                        </a:rPr>
                        <a:t>退出。</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07886">
                <a:tc>
                  <a:txBody>
                    <a:bodyPr/>
                    <a:lstStyle/>
                    <a:p>
                      <a:r>
                        <a:rPr lang="en-US" altLang="zh-CN" sz="2800" dirty="0">
                          <a:solidFill>
                            <a:srgbClr val="FF0000"/>
                          </a:solidFill>
                          <a:effectLst/>
                        </a:rPr>
                        <a:t>9</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tc>
                  <a:txBody>
                    <a:bodyPr/>
                    <a:lstStyle/>
                    <a:p>
                      <a:r>
                        <a:rPr lang="en-US" sz="2800" dirty="0">
                          <a:solidFill>
                            <a:srgbClr val="FF0000"/>
                          </a:solidFill>
                          <a:effectLst/>
                        </a:rPr>
                        <a:t>KILL</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tc>
                  <a:txBody>
                    <a:bodyPr/>
                    <a:lstStyle/>
                    <a:p>
                      <a:r>
                        <a:rPr lang="zh-CN" altLang="en-US" sz="2800" dirty="0">
                          <a:solidFill>
                            <a:srgbClr val="FF0000"/>
                          </a:solidFill>
                          <a:effectLst/>
                        </a:rPr>
                        <a:t>杀死进程，即强制结束进程。</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1146">
                <a:tc>
                  <a:txBody>
                    <a:bodyPr/>
                    <a:lstStyle/>
                    <a:p>
                      <a:r>
                        <a:rPr lang="en-US" altLang="zh-CN" sz="2800">
                          <a:effectLst/>
                        </a:rPr>
                        <a:t>11</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tc>
                  <a:txBody>
                    <a:bodyPr/>
                    <a:lstStyle/>
                    <a:p>
                      <a:r>
                        <a:rPr lang="en-US" sz="2800">
                          <a:effectLst/>
                        </a:rPr>
                        <a:t>SEGV </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tc>
                  <a:txBody>
                    <a:bodyPr/>
                    <a:lstStyle/>
                    <a:p>
                      <a:r>
                        <a:rPr lang="zh-CN" altLang="en-US" sz="2800" dirty="0">
                          <a:effectLst/>
                        </a:rPr>
                        <a:t>段错误。</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907864">
                <a:tc>
                  <a:txBody>
                    <a:bodyPr/>
                    <a:lstStyle/>
                    <a:p>
                      <a:r>
                        <a:rPr lang="en-US" altLang="zh-CN" sz="2800">
                          <a:effectLst/>
                        </a:rPr>
                        <a:t>15</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tc>
                  <a:txBody>
                    <a:bodyPr/>
                    <a:lstStyle/>
                    <a:p>
                      <a:r>
                        <a:rPr lang="en-US" sz="2800">
                          <a:effectLst/>
                        </a:rPr>
                        <a:t>TERM</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tc>
                  <a:txBody>
                    <a:bodyPr/>
                    <a:lstStyle/>
                    <a:p>
                      <a:r>
                        <a:rPr lang="zh-CN" altLang="en-US" sz="2800" dirty="0">
                          <a:effectLst/>
                        </a:rPr>
                        <a:t>正常结束进程，是 </a:t>
                      </a:r>
                      <a:r>
                        <a:rPr lang="en-US" altLang="zh-CN" sz="2800" dirty="0">
                          <a:effectLst/>
                        </a:rPr>
                        <a:t>kill </a:t>
                      </a:r>
                      <a:r>
                        <a:rPr lang="zh-CN" altLang="en-US" sz="2800" dirty="0">
                          <a:effectLst/>
                        </a:rPr>
                        <a:t>命令的默认信号。</a:t>
                      </a:r>
                    </a:p>
                  </a:txBody>
                  <a:tcPr marL="27214" marR="27214" marT="27213" marB="27213" anchor="ctr">
                    <a:lnL w="5443" cap="flat" cmpd="sng" algn="ctr">
                      <a:solidFill>
                        <a:srgbClr val="CCCCCC"/>
                      </a:solidFill>
                      <a:prstDash val="solid"/>
                      <a:round/>
                      <a:headEnd type="none" w="med" len="med"/>
                      <a:tailEnd type="none" w="med" len="med"/>
                    </a:lnL>
                    <a:lnR w="5443" cap="flat" cmpd="sng" algn="ctr">
                      <a:solidFill>
                        <a:srgbClr val="CCCCCC"/>
                      </a:solidFill>
                      <a:prstDash val="solid"/>
                      <a:round/>
                      <a:headEnd type="none" w="med" len="med"/>
                      <a:tailEnd type="none" w="med" len="med"/>
                    </a:lnR>
                    <a:lnT w="5443" cap="flat" cmpd="sng" algn="ctr">
                      <a:solidFill>
                        <a:srgbClr val="CCCCCC"/>
                      </a:solidFill>
                      <a:prstDash val="solid"/>
                      <a:round/>
                      <a:headEnd type="none" w="med" len="med"/>
                      <a:tailEnd type="none" w="med" len="med"/>
                    </a:lnT>
                    <a:lnB w="544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6978" name="标题 1">
            <a:extLst>
              <a:ext uri="{FF2B5EF4-FFF2-40B4-BE49-F238E27FC236}">
                <a16:creationId xmlns:a16="http://schemas.microsoft.com/office/drawing/2014/main" id="{9996700A-4325-A7BF-1B22-E82A59EBBF08}"/>
              </a:ext>
            </a:extLst>
          </p:cNvPr>
          <p:cNvSpPr>
            <a:spLocks noGrp="1" noChangeArrowheads="1"/>
          </p:cNvSpPr>
          <p:nvPr>
            <p:ph type="title"/>
          </p:nvPr>
        </p:nvSpPr>
        <p:spPr>
          <a:xfrm>
            <a:off x="107950" y="0"/>
            <a:ext cx="8580438" cy="612775"/>
          </a:xfrm>
        </p:spPr>
        <p:txBody>
          <a:bodyPr/>
          <a:lstStyle/>
          <a:p>
            <a:r>
              <a:rPr lang="zh-CN" altLang="en-US"/>
              <a:t>2</a:t>
            </a:r>
            <a:r>
              <a:rPr lang="en-US" altLang="zh-CN"/>
              <a:t>. </a:t>
            </a:r>
            <a:r>
              <a:rPr lang="zh-CN" altLang="en-US"/>
              <a:t>进程树及进程状态查询</a:t>
            </a:r>
            <a:r>
              <a:rPr lang="en-US" altLang="zh-CN"/>
              <a:t>(</a:t>
            </a:r>
            <a:r>
              <a:rPr lang="zh-CN" altLang="en-US"/>
              <a:t>pstree</a:t>
            </a:r>
            <a:r>
              <a:rPr lang="en-US" altLang="zh-CN"/>
              <a:t>)</a:t>
            </a:r>
          </a:p>
        </p:txBody>
      </p:sp>
      <p:sp>
        <p:nvSpPr>
          <p:cNvPr id="126979" name="内容占位符 2">
            <a:extLst>
              <a:ext uri="{FF2B5EF4-FFF2-40B4-BE49-F238E27FC236}">
                <a16:creationId xmlns:a16="http://schemas.microsoft.com/office/drawing/2014/main" id="{CB17E08F-E90E-C580-3AC2-5C6DF2F1ADB5}"/>
              </a:ext>
            </a:extLst>
          </p:cNvPr>
          <p:cNvSpPr>
            <a:spLocks noGrp="1" noChangeArrowheads="1"/>
          </p:cNvSpPr>
          <p:nvPr>
            <p:ph idx="1"/>
          </p:nvPr>
        </p:nvSpPr>
        <p:spPr>
          <a:xfrm>
            <a:off x="112713" y="612775"/>
            <a:ext cx="8923337" cy="5761038"/>
          </a:xfrm>
        </p:spPr>
        <p:txBody>
          <a:bodyPr/>
          <a:lstStyle/>
          <a:p>
            <a:pPr>
              <a:spcBef>
                <a:spcPct val="0"/>
              </a:spcBef>
              <a:spcAft>
                <a:spcPct val="0"/>
              </a:spcAft>
            </a:pPr>
            <a:r>
              <a:rPr lang="zh-CN" altLang="en-US" sz="4000"/>
              <a:t>1）功能及用法</a:t>
            </a:r>
          </a:p>
          <a:p>
            <a:pPr>
              <a:spcBef>
                <a:spcPct val="0"/>
              </a:spcBef>
              <a:spcAft>
                <a:spcPct val="0"/>
              </a:spcAft>
            </a:pPr>
            <a:r>
              <a:rPr lang="zh-CN" altLang="en-US" sz="4000"/>
              <a:t>用于显示系统内进程间的关系—进程树。系统中所有进程的进程树都会以</a:t>
            </a:r>
            <a:r>
              <a:rPr lang="zh-CN" altLang="en-US" sz="4000">
                <a:solidFill>
                  <a:srgbClr val="FF0000"/>
                </a:solidFill>
              </a:rPr>
              <a:t>基本进程init(1)为根</a:t>
            </a:r>
            <a:r>
              <a:rPr lang="zh-CN" altLang="en-US" sz="4000"/>
              <a:t>，如果指定用户，则只显示此用户拥有的进程子树。用法：</a:t>
            </a:r>
          </a:p>
          <a:p>
            <a:pPr>
              <a:spcBef>
                <a:spcPct val="0"/>
              </a:spcBef>
              <a:spcAft>
                <a:spcPct val="0"/>
              </a:spcAft>
            </a:pPr>
            <a:r>
              <a:rPr lang="zh-CN" altLang="en-US" sz="4000"/>
              <a:t>pstree [-a] [-c] [-h|-Hpid] [-l] [-n] [-p] [-u] [-G|-U] [pid|user]</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标题 1">
            <a:extLst>
              <a:ext uri="{FF2B5EF4-FFF2-40B4-BE49-F238E27FC236}">
                <a16:creationId xmlns:a16="http://schemas.microsoft.com/office/drawing/2014/main" id="{E056AE58-9C20-B2FF-0F16-51E82D4B57DB}"/>
              </a:ext>
            </a:extLst>
          </p:cNvPr>
          <p:cNvSpPr>
            <a:spLocks noGrp="1" noChangeArrowheads="1"/>
          </p:cNvSpPr>
          <p:nvPr>
            <p:ph type="title"/>
          </p:nvPr>
        </p:nvSpPr>
        <p:spPr/>
        <p:txBody>
          <a:bodyPr/>
          <a:lstStyle/>
          <a:p>
            <a:r>
              <a:rPr lang="zh-CN" altLang="en-US"/>
              <a:t>2）参数说明</a:t>
            </a:r>
          </a:p>
        </p:txBody>
      </p:sp>
      <p:graphicFrame>
        <p:nvGraphicFramePr>
          <p:cNvPr id="4" name="表格 -1">
            <a:extLst>
              <a:ext uri="{FF2B5EF4-FFF2-40B4-BE49-F238E27FC236}">
                <a16:creationId xmlns:a16="http://schemas.microsoft.com/office/drawing/2014/main" id="{8BFCC571-977C-C837-F229-1982215157C9}"/>
              </a:ext>
            </a:extLst>
          </p:cNvPr>
          <p:cNvGraphicFramePr>
            <a:graphicFrameLocks noGrp="1"/>
          </p:cNvGraphicFramePr>
          <p:nvPr/>
        </p:nvGraphicFramePr>
        <p:xfrm>
          <a:off x="34925" y="549275"/>
          <a:ext cx="9074150" cy="5832475"/>
        </p:xfrm>
        <a:graphic>
          <a:graphicData uri="http://schemas.openxmlformats.org/drawingml/2006/table">
            <a:tbl>
              <a:tblPr/>
              <a:tblGrid>
                <a:gridCol w="1415669">
                  <a:extLst>
                    <a:ext uri="{9D8B030D-6E8A-4147-A177-3AD203B41FA5}">
                      <a16:colId xmlns:a16="http://schemas.microsoft.com/office/drawing/2014/main" val="20000"/>
                    </a:ext>
                  </a:extLst>
                </a:gridCol>
                <a:gridCol w="7658481">
                  <a:extLst>
                    <a:ext uri="{9D8B030D-6E8A-4147-A177-3AD203B41FA5}">
                      <a16:colId xmlns:a16="http://schemas.microsoft.com/office/drawing/2014/main" val="20001"/>
                    </a:ext>
                  </a:extLst>
                </a:gridCol>
              </a:tblGrid>
              <a:tr h="530226">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err="1">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pid</a:t>
                      </a:r>
                      <a:endParaRPr kumimoji="0" lang="en-US" altLang="zh-CN" sz="2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rPr>
                        <a:t>显示指定进程</a:t>
                      </a: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pid</a:t>
                      </a: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rPr>
                        <a:t>的子进程树</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0226">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user</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rPr>
                        <a:t>显示指定用户</a:t>
                      </a: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user</a:t>
                      </a: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rPr>
                        <a:t>的子进程树</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60443">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rPr>
                        <a:t>显示完整的命令行参数，包含</a:t>
                      </a: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pid</a:t>
                      </a: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rPr>
                        <a:t>，参数或内存驻留情况（括号内的表示被换出）</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0226">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rPr>
                        <a:t>不使用精简方式</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0226">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-h</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rPr>
                        <a:t>突出显示正在执行的进程</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0226">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-H&lt;pid&gt;</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rPr>
                        <a:t>突出显示指定进程，若指定进程不存在，则失败</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0226">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-l</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rPr>
                        <a:t>长列格式显示树状图</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0226">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rPr>
                        <a:t>按</a:t>
                      </a: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pid</a:t>
                      </a: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rPr>
                        <a:t>排序，而非默认进程名排序</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30226">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rPr>
                        <a:t>显示</a:t>
                      </a: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pid</a:t>
                      </a:r>
                      <a:endPar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30226">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-u</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显示用户名称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标题 1">
            <a:extLst>
              <a:ext uri="{FF2B5EF4-FFF2-40B4-BE49-F238E27FC236}">
                <a16:creationId xmlns:a16="http://schemas.microsoft.com/office/drawing/2014/main" id="{8E4069B6-CC8B-BA85-F578-206409687DFA}"/>
              </a:ext>
            </a:extLst>
          </p:cNvPr>
          <p:cNvSpPr>
            <a:spLocks noGrp="1" noChangeArrowheads="1"/>
          </p:cNvSpPr>
          <p:nvPr>
            <p:ph type="title"/>
          </p:nvPr>
        </p:nvSpPr>
        <p:spPr/>
        <p:txBody>
          <a:bodyPr/>
          <a:lstStyle/>
          <a:p>
            <a:r>
              <a:rPr lang="zh-CN" altLang="en-US"/>
              <a:t>3）示例</a:t>
            </a:r>
          </a:p>
        </p:txBody>
      </p:sp>
      <p:sp>
        <p:nvSpPr>
          <p:cNvPr id="129027" name="内容占位符 2">
            <a:extLst>
              <a:ext uri="{FF2B5EF4-FFF2-40B4-BE49-F238E27FC236}">
                <a16:creationId xmlns:a16="http://schemas.microsoft.com/office/drawing/2014/main" id="{FC637EB7-F617-763A-21B3-D01EADAF7F09}"/>
              </a:ext>
            </a:extLst>
          </p:cNvPr>
          <p:cNvSpPr>
            <a:spLocks noGrp="1" noChangeArrowheads="1"/>
          </p:cNvSpPr>
          <p:nvPr>
            <p:ph idx="1"/>
          </p:nvPr>
        </p:nvSpPr>
        <p:spPr>
          <a:xfrm>
            <a:off x="34925" y="620713"/>
            <a:ext cx="8929688" cy="5761037"/>
          </a:xfrm>
        </p:spPr>
        <p:txBody>
          <a:bodyPr/>
          <a:lstStyle/>
          <a:p>
            <a:r>
              <a:rPr lang="zh-CN" altLang="en-US" sz="4000"/>
              <a:t># </a:t>
            </a:r>
            <a:r>
              <a:rPr lang="zh-CN" altLang="en-US" sz="4400">
                <a:solidFill>
                  <a:srgbClr val="FF0000"/>
                </a:solidFill>
              </a:rPr>
              <a:t>pstree	</a:t>
            </a:r>
            <a:r>
              <a:rPr lang="zh-CN" altLang="en-US" sz="4000"/>
              <a:t>	</a:t>
            </a:r>
            <a:r>
              <a:rPr lang="en-US" altLang="zh-CN" sz="4000"/>
              <a:t>	</a:t>
            </a:r>
            <a:r>
              <a:rPr lang="zh-CN" altLang="en-US" sz="4000"/>
              <a:t>#显示系统进程树</a:t>
            </a:r>
          </a:p>
          <a:p>
            <a:r>
              <a:rPr lang="zh-CN" altLang="en-US" sz="4000">
                <a:sym typeface="+mn-ea"/>
              </a:rPr>
              <a:t># </a:t>
            </a:r>
            <a:r>
              <a:rPr lang="zh-CN" altLang="en-US" sz="4400">
                <a:solidFill>
                  <a:srgbClr val="FF0000"/>
                </a:solidFill>
                <a:sym typeface="+mn-ea"/>
              </a:rPr>
              <a:t>pstree	</a:t>
            </a:r>
            <a:r>
              <a:rPr lang="en-US" altLang="zh-CN" sz="4400">
                <a:solidFill>
                  <a:srgbClr val="FF0000"/>
                </a:solidFill>
                <a:sym typeface="+mn-ea"/>
              </a:rPr>
              <a:t>-p| more</a:t>
            </a:r>
            <a:r>
              <a:rPr lang="zh-CN" altLang="en-US" sz="4000">
                <a:sym typeface="+mn-ea"/>
              </a:rPr>
              <a:t>	</a:t>
            </a:r>
            <a:r>
              <a:rPr lang="en-US" altLang="zh-CN" sz="4000">
                <a:sym typeface="+mn-ea"/>
              </a:rPr>
              <a:t>#</a:t>
            </a:r>
            <a:r>
              <a:rPr lang="zh-CN" altLang="en-US" sz="4000">
                <a:sym typeface="+mn-ea"/>
              </a:rPr>
              <a:t>分屏显示系统进程树</a:t>
            </a:r>
            <a:endParaRPr lang="zh-CN" altLang="en-US" sz="4000"/>
          </a:p>
          <a:p>
            <a:r>
              <a:rPr lang="zh-CN" altLang="en-US" sz="4000"/>
              <a:t># </a:t>
            </a:r>
            <a:r>
              <a:rPr lang="zh-CN" altLang="en-US" sz="4400">
                <a:solidFill>
                  <a:srgbClr val="FF0000"/>
                </a:solidFill>
              </a:rPr>
              <a:t>pstree -p | grep vsftpd </a:t>
            </a:r>
            <a:r>
              <a:rPr lang="zh-CN" altLang="en-US" sz="4000"/>
              <a:t>#查询进程vsftpd</a:t>
            </a:r>
          </a:p>
          <a:p>
            <a:r>
              <a:rPr lang="zh-CN" altLang="en-US" sz="4000"/>
              <a:t># </a:t>
            </a:r>
            <a:r>
              <a:rPr lang="zh-CN" altLang="en-US" sz="4400">
                <a:solidFill>
                  <a:srgbClr val="FF0000"/>
                </a:solidFill>
              </a:rPr>
              <a:t>pstree user	</a:t>
            </a:r>
            <a:r>
              <a:rPr lang="zh-CN" altLang="en-US" sz="4000"/>
              <a:t> #显示指定用户（比如</a:t>
            </a:r>
            <a:r>
              <a:rPr lang="en-US" altLang="zh-CN" sz="4000"/>
              <a:t>root</a:t>
            </a:r>
            <a:r>
              <a:rPr lang="zh-CN" altLang="en-US" sz="4000"/>
              <a:t>）的进程</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0050" name="标题 1">
            <a:extLst>
              <a:ext uri="{FF2B5EF4-FFF2-40B4-BE49-F238E27FC236}">
                <a16:creationId xmlns:a16="http://schemas.microsoft.com/office/drawing/2014/main" id="{341800A0-82AF-E843-6DC3-DE505F5B1619}"/>
              </a:ext>
            </a:extLst>
          </p:cNvPr>
          <p:cNvSpPr>
            <a:spLocks noGrp="1" noChangeArrowheads="1"/>
          </p:cNvSpPr>
          <p:nvPr>
            <p:ph type="title"/>
          </p:nvPr>
        </p:nvSpPr>
        <p:spPr/>
        <p:txBody>
          <a:bodyPr/>
          <a:lstStyle/>
          <a:p>
            <a:r>
              <a:rPr lang="zh-CN" altLang="en-US"/>
              <a:t>3．终止进程执行（kill）</a:t>
            </a:r>
          </a:p>
        </p:txBody>
      </p:sp>
      <p:sp>
        <p:nvSpPr>
          <p:cNvPr id="130051" name="内容占位符 2">
            <a:extLst>
              <a:ext uri="{FF2B5EF4-FFF2-40B4-BE49-F238E27FC236}">
                <a16:creationId xmlns:a16="http://schemas.microsoft.com/office/drawing/2014/main" id="{82C03155-B566-63E9-8926-7D2E8AC7EDA3}"/>
              </a:ext>
            </a:extLst>
          </p:cNvPr>
          <p:cNvSpPr>
            <a:spLocks noGrp="1" noChangeArrowheads="1"/>
          </p:cNvSpPr>
          <p:nvPr>
            <p:ph idx="1"/>
          </p:nvPr>
        </p:nvSpPr>
        <p:spPr>
          <a:xfrm>
            <a:off x="0" y="620713"/>
            <a:ext cx="9036050" cy="5761037"/>
          </a:xfrm>
        </p:spPr>
        <p:txBody>
          <a:bodyPr/>
          <a:lstStyle/>
          <a:p>
            <a:pPr>
              <a:spcBef>
                <a:spcPct val="0"/>
              </a:spcBef>
              <a:spcAft>
                <a:spcPct val="0"/>
              </a:spcAft>
            </a:pPr>
            <a:r>
              <a:rPr lang="zh-CN" altLang="en-US" sz="3600"/>
              <a:t>1）功能及用法</a:t>
            </a:r>
          </a:p>
          <a:p>
            <a:pPr>
              <a:spcBef>
                <a:spcPct val="0"/>
              </a:spcBef>
              <a:spcAft>
                <a:spcPct val="0"/>
              </a:spcAft>
            </a:pPr>
            <a:r>
              <a:rPr lang="zh-CN" altLang="en-US" sz="3600"/>
              <a:t>向指定进程（pid）发送一个特定的信号（signal）。</a:t>
            </a:r>
            <a:r>
              <a:rPr lang="zh-CN" altLang="en-US" sz="3600">
                <a:solidFill>
                  <a:srgbClr val="FF0000"/>
                </a:solidFill>
              </a:rPr>
              <a:t>默认</a:t>
            </a:r>
            <a:r>
              <a:rPr lang="zh-CN" altLang="en-US" sz="3600"/>
              <a:t>情况下，</a:t>
            </a:r>
            <a:r>
              <a:rPr lang="zh-CN" altLang="en-US" sz="3600">
                <a:solidFill>
                  <a:srgbClr val="FF0000"/>
                </a:solidFill>
              </a:rPr>
              <a:t>kill发送终止信号TERM（正常结束）</a:t>
            </a:r>
            <a:r>
              <a:rPr lang="zh-CN" altLang="en-US" sz="3600"/>
              <a:t>，其值</a:t>
            </a:r>
            <a:r>
              <a:rPr lang="zh-CN" altLang="en-US" sz="3600">
                <a:solidFill>
                  <a:srgbClr val="FF0000"/>
                </a:solidFill>
              </a:rPr>
              <a:t>为15</a:t>
            </a:r>
            <a:r>
              <a:rPr lang="zh-CN" altLang="en-US" sz="3600"/>
              <a:t>。</a:t>
            </a:r>
          </a:p>
          <a:p>
            <a:pPr>
              <a:spcBef>
                <a:spcPct val="0"/>
              </a:spcBef>
              <a:spcAft>
                <a:spcPct val="0"/>
              </a:spcAft>
            </a:pPr>
            <a:r>
              <a:rPr lang="zh-CN" altLang="en-US" sz="3600"/>
              <a:t>按照系统规定，当进程收到某信号后，应该采取相应动作，默认动作是结束执行。</a:t>
            </a:r>
          </a:p>
          <a:p>
            <a:pPr>
              <a:spcBef>
                <a:spcPct val="0"/>
              </a:spcBef>
              <a:spcAft>
                <a:spcPct val="0"/>
              </a:spcAft>
            </a:pPr>
            <a:r>
              <a:rPr lang="zh-CN" altLang="en-US" sz="3600">
                <a:solidFill>
                  <a:srgbClr val="FF0000"/>
                </a:solidFill>
              </a:rPr>
              <a:t>kill的用法为</a:t>
            </a:r>
            <a:r>
              <a:rPr lang="zh-CN" altLang="en-US" sz="3600"/>
              <a:t>：</a:t>
            </a:r>
          </a:p>
          <a:p>
            <a:pPr lvl="1">
              <a:spcBef>
                <a:spcPct val="0"/>
              </a:spcBef>
              <a:spcAft>
                <a:spcPct val="0"/>
              </a:spcAft>
            </a:pPr>
            <a:r>
              <a:rPr lang="zh-CN" altLang="en-US" sz="3600"/>
              <a:t>kill [-s signame | -n signum | -signum] pid ...</a:t>
            </a:r>
          </a:p>
          <a:p>
            <a:pPr lvl="1">
              <a:spcBef>
                <a:spcPct val="0"/>
              </a:spcBef>
              <a:spcAft>
                <a:spcPct val="0"/>
              </a:spcAft>
            </a:pPr>
            <a:r>
              <a:rPr lang="zh-CN" altLang="en-US" sz="3600"/>
              <a:t>kill -l [signame]</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标题 1">
            <a:extLst>
              <a:ext uri="{FF2B5EF4-FFF2-40B4-BE49-F238E27FC236}">
                <a16:creationId xmlns:a16="http://schemas.microsoft.com/office/drawing/2014/main" id="{39891CEF-93EA-98E8-9780-4A5A2301BD8C}"/>
              </a:ext>
            </a:extLst>
          </p:cNvPr>
          <p:cNvSpPr>
            <a:spLocks noGrp="1" noChangeArrowheads="1"/>
          </p:cNvSpPr>
          <p:nvPr>
            <p:ph type="title"/>
          </p:nvPr>
        </p:nvSpPr>
        <p:spPr/>
        <p:txBody>
          <a:bodyPr/>
          <a:lstStyle/>
          <a:p>
            <a:r>
              <a:rPr lang="zh-CN" altLang="en-US">
                <a:sym typeface="+mn-ea"/>
              </a:rPr>
              <a:t>2）参数说明</a:t>
            </a:r>
            <a:endParaRPr lang="zh-CN" altLang="en-US"/>
          </a:p>
        </p:txBody>
      </p:sp>
      <p:sp>
        <p:nvSpPr>
          <p:cNvPr id="131075" name="内容占位符 2">
            <a:extLst>
              <a:ext uri="{FF2B5EF4-FFF2-40B4-BE49-F238E27FC236}">
                <a16:creationId xmlns:a16="http://schemas.microsoft.com/office/drawing/2014/main" id="{E32B77B5-3502-9921-76C7-5271CB198124}"/>
              </a:ext>
            </a:extLst>
          </p:cNvPr>
          <p:cNvSpPr>
            <a:spLocks noGrp="1" noChangeArrowheads="1"/>
          </p:cNvSpPr>
          <p:nvPr>
            <p:ph idx="1"/>
          </p:nvPr>
        </p:nvSpPr>
        <p:spPr>
          <a:xfrm>
            <a:off x="34925" y="620713"/>
            <a:ext cx="9001125" cy="5761037"/>
          </a:xfrm>
        </p:spPr>
        <p:txBody>
          <a:bodyPr/>
          <a:lstStyle/>
          <a:p>
            <a:pPr>
              <a:spcBef>
                <a:spcPct val="0"/>
              </a:spcBef>
              <a:spcAft>
                <a:spcPct val="0"/>
              </a:spcAft>
            </a:pPr>
            <a:r>
              <a:rPr lang="zh-CN" altLang="en-US" sz="4400">
                <a:solidFill>
                  <a:srgbClr val="FF0000"/>
                </a:solidFill>
              </a:rPr>
              <a:t>pid： </a:t>
            </a:r>
            <a:r>
              <a:rPr lang="zh-CN" altLang="en-US" sz="4000"/>
              <a:t>进程编号</a:t>
            </a:r>
          </a:p>
          <a:p>
            <a:pPr>
              <a:spcBef>
                <a:spcPct val="0"/>
              </a:spcBef>
              <a:spcAft>
                <a:spcPct val="0"/>
              </a:spcAft>
            </a:pPr>
            <a:r>
              <a:rPr lang="zh-CN" altLang="en-US" sz="4400">
                <a:solidFill>
                  <a:srgbClr val="FF0000"/>
                </a:solidFill>
              </a:rPr>
              <a:t>-l：</a:t>
            </a:r>
            <a:r>
              <a:rPr lang="zh-CN" altLang="en-US" sz="4000"/>
              <a:t>列出所有可用的信号</a:t>
            </a:r>
          </a:p>
          <a:p>
            <a:pPr>
              <a:spcBef>
                <a:spcPct val="0"/>
              </a:spcBef>
              <a:spcAft>
                <a:spcPct val="0"/>
              </a:spcAft>
            </a:pPr>
            <a:r>
              <a:rPr lang="zh-CN" altLang="en-US" sz="4000">
                <a:sym typeface="+mn-ea"/>
              </a:rPr>
              <a:t>-l signame/signum：列出指定信号</a:t>
            </a:r>
            <a:endParaRPr lang="zh-CN" altLang="en-US" sz="4000"/>
          </a:p>
          <a:p>
            <a:pPr>
              <a:spcBef>
                <a:spcPct val="0"/>
              </a:spcBef>
              <a:spcAft>
                <a:spcPct val="0"/>
              </a:spcAft>
            </a:pPr>
            <a:r>
              <a:rPr lang="zh-CN" altLang="en-US" sz="4000"/>
              <a:t>-s signame、-n signum、-sig：指定发送的信号，可用的信号有HUP(1)、INT(2)、QUIT(3)、KILL(9)和TERM(15)等，另外还可是系统为用户保留的USR1和USR2</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标题 1">
            <a:extLst>
              <a:ext uri="{FF2B5EF4-FFF2-40B4-BE49-F238E27FC236}">
                <a16:creationId xmlns:a16="http://schemas.microsoft.com/office/drawing/2014/main" id="{B8E969C1-3A3C-585B-4E55-45B5A31901C9}"/>
              </a:ext>
            </a:extLst>
          </p:cNvPr>
          <p:cNvSpPr>
            <a:spLocks noGrp="1" noChangeArrowheads="1"/>
          </p:cNvSpPr>
          <p:nvPr>
            <p:ph type="title"/>
          </p:nvPr>
        </p:nvSpPr>
        <p:spPr/>
        <p:txBody>
          <a:bodyPr/>
          <a:lstStyle/>
          <a:p>
            <a:r>
              <a:rPr lang="zh-CN" altLang="en-US"/>
              <a:t>3）使用举例</a:t>
            </a:r>
          </a:p>
        </p:txBody>
      </p:sp>
      <p:sp>
        <p:nvSpPr>
          <p:cNvPr id="132099" name="内容占位符 2">
            <a:extLst>
              <a:ext uri="{FF2B5EF4-FFF2-40B4-BE49-F238E27FC236}">
                <a16:creationId xmlns:a16="http://schemas.microsoft.com/office/drawing/2014/main" id="{C70B532A-E729-E663-E1AB-8D8383B45BAB}"/>
              </a:ext>
            </a:extLst>
          </p:cNvPr>
          <p:cNvSpPr>
            <a:spLocks noGrp="1" noChangeArrowheads="1"/>
          </p:cNvSpPr>
          <p:nvPr>
            <p:ph idx="1"/>
          </p:nvPr>
        </p:nvSpPr>
        <p:spPr>
          <a:xfrm>
            <a:off x="34925" y="620713"/>
            <a:ext cx="9109075" cy="5688012"/>
          </a:xfrm>
        </p:spPr>
        <p:txBody>
          <a:bodyPr/>
          <a:lstStyle/>
          <a:p>
            <a:pPr>
              <a:spcBef>
                <a:spcPct val="0"/>
              </a:spcBef>
              <a:spcAft>
                <a:spcPct val="0"/>
              </a:spcAft>
            </a:pPr>
            <a:r>
              <a:rPr lang="zh-CN" altLang="en-US" sz="3600"/>
              <a:t>#</a:t>
            </a:r>
            <a:r>
              <a:rPr lang="zh-CN" altLang="en-US" sz="3600">
                <a:solidFill>
                  <a:srgbClr val="FF0000"/>
                </a:solidFill>
              </a:rPr>
              <a:t>kill -l</a:t>
            </a:r>
            <a:r>
              <a:rPr lang="zh-CN" altLang="en-US" sz="3600"/>
              <a:t>	#列出所有信号（参见表3-38）</a:t>
            </a:r>
          </a:p>
          <a:p>
            <a:pPr>
              <a:spcBef>
                <a:spcPct val="0"/>
              </a:spcBef>
              <a:spcAft>
                <a:spcPct val="0"/>
              </a:spcAft>
            </a:pPr>
            <a:r>
              <a:rPr lang="zh-CN" altLang="en-US" sz="3600"/>
              <a:t>#</a:t>
            </a:r>
            <a:r>
              <a:rPr lang="zh-CN" altLang="en-US" sz="3600">
                <a:solidFill>
                  <a:srgbClr val="FF0000"/>
                </a:solidFill>
              </a:rPr>
              <a:t>kill -9 3231 </a:t>
            </a:r>
            <a:r>
              <a:rPr lang="zh-CN" altLang="en-US" sz="3600"/>
              <a:t>#发送信号9（KILL）终止pid为3231的进程</a:t>
            </a:r>
          </a:p>
          <a:p>
            <a:pPr>
              <a:spcBef>
                <a:spcPct val="0"/>
              </a:spcBef>
              <a:spcAft>
                <a:spcPct val="0"/>
              </a:spcAft>
            </a:pPr>
            <a:r>
              <a:rPr lang="zh-CN" altLang="en-US" sz="3600"/>
              <a:t>##终止名为named的进程</a:t>
            </a:r>
          </a:p>
          <a:p>
            <a:pPr lvl="1">
              <a:spcBef>
                <a:spcPct val="0"/>
              </a:spcBef>
              <a:spcAft>
                <a:spcPct val="0"/>
              </a:spcAft>
            </a:pPr>
            <a:r>
              <a:rPr lang="zh-CN" altLang="en-US" sz="3600"/>
              <a:t>#</a:t>
            </a:r>
            <a:r>
              <a:rPr lang="zh-CN" altLang="en-US" sz="3600">
                <a:solidFill>
                  <a:srgbClr val="FF0000"/>
                </a:solidFill>
              </a:rPr>
              <a:t>pstree </a:t>
            </a:r>
            <a:r>
              <a:rPr lang="en-US" altLang="zh-CN" sz="3600">
                <a:solidFill>
                  <a:srgbClr val="FF0000"/>
                </a:solidFill>
              </a:rPr>
              <a:t>-</a:t>
            </a:r>
            <a:r>
              <a:rPr lang="zh-CN" altLang="en-US" sz="3600">
                <a:solidFill>
                  <a:srgbClr val="FF0000"/>
                </a:solidFill>
              </a:rPr>
              <a:t>p | grep named </a:t>
            </a:r>
            <a:r>
              <a:rPr lang="zh-CN" altLang="en-US" sz="3600"/>
              <a:t>#查询进程信息</a:t>
            </a:r>
          </a:p>
          <a:p>
            <a:pPr lvl="1">
              <a:spcBef>
                <a:spcPct val="0"/>
              </a:spcBef>
              <a:spcAft>
                <a:spcPct val="0"/>
              </a:spcAft>
            </a:pPr>
            <a:r>
              <a:rPr lang="zh-CN" altLang="en-US" sz="3600"/>
              <a:t>#kill -9 1656 #发信号9，终止</a:t>
            </a:r>
            <a:r>
              <a:rPr lang="zh-CN" altLang="en-US" sz="3600">
                <a:sym typeface="+mn-ea"/>
              </a:rPr>
              <a:t>pid为1656的进程</a:t>
            </a:r>
            <a:endParaRPr lang="zh-CN" altLang="en-US" sz="3600"/>
          </a:p>
          <a:p>
            <a:pPr lvl="1">
              <a:spcBef>
                <a:spcPct val="0"/>
              </a:spcBef>
              <a:spcAft>
                <a:spcPct val="0"/>
              </a:spcAft>
            </a:pPr>
            <a:r>
              <a:rPr lang="zh-CN" altLang="en-US" sz="3600"/>
              <a:t>#kill -KILL 1656			#同上</a:t>
            </a:r>
          </a:p>
          <a:p>
            <a:pPr lvl="1">
              <a:spcBef>
                <a:spcPct val="0"/>
              </a:spcBef>
              <a:spcAft>
                <a:spcPct val="0"/>
              </a:spcAft>
            </a:pPr>
            <a:r>
              <a:rPr lang="zh-CN" altLang="en-US" sz="3600"/>
              <a:t>#kill -SIGKILL 1656			#同上</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标题 1">
            <a:extLst>
              <a:ext uri="{FF2B5EF4-FFF2-40B4-BE49-F238E27FC236}">
                <a16:creationId xmlns:a16="http://schemas.microsoft.com/office/drawing/2014/main" id="{06C31BA5-C15E-7814-BD94-6D5155CA727A}"/>
              </a:ext>
            </a:extLst>
          </p:cNvPr>
          <p:cNvSpPr>
            <a:spLocks noGrp="1" noChangeArrowheads="1"/>
          </p:cNvSpPr>
          <p:nvPr>
            <p:ph type="title"/>
          </p:nvPr>
        </p:nvSpPr>
        <p:spPr/>
        <p:txBody>
          <a:bodyPr/>
          <a:lstStyle/>
          <a:p>
            <a:r>
              <a:rPr lang="zh-CN" altLang="en-US"/>
              <a:t>3.2.8  其他操作命令</a:t>
            </a:r>
          </a:p>
        </p:txBody>
      </p:sp>
      <p:sp>
        <p:nvSpPr>
          <p:cNvPr id="133123" name="内容占位符 2">
            <a:extLst>
              <a:ext uri="{FF2B5EF4-FFF2-40B4-BE49-F238E27FC236}">
                <a16:creationId xmlns:a16="http://schemas.microsoft.com/office/drawing/2014/main" id="{4F43F219-8A12-FFBB-18E4-CA43C6FB899F}"/>
              </a:ext>
            </a:extLst>
          </p:cNvPr>
          <p:cNvSpPr>
            <a:spLocks noGrp="1" noChangeArrowheads="1"/>
          </p:cNvSpPr>
          <p:nvPr>
            <p:ph idx="1"/>
          </p:nvPr>
        </p:nvSpPr>
        <p:spPr>
          <a:xfrm>
            <a:off x="34925" y="620713"/>
            <a:ext cx="9074150" cy="5761037"/>
          </a:xfrm>
        </p:spPr>
        <p:txBody>
          <a:bodyPr/>
          <a:lstStyle/>
          <a:p>
            <a:pPr>
              <a:spcBef>
                <a:spcPct val="0"/>
              </a:spcBef>
              <a:spcAft>
                <a:spcPct val="0"/>
              </a:spcAft>
            </a:pPr>
            <a:r>
              <a:rPr lang="zh-CN" altLang="en-US" sz="4000"/>
              <a:t>1．清屏命令</a:t>
            </a:r>
            <a:r>
              <a:rPr lang="zh-CN" altLang="en-US" sz="4000">
                <a:solidFill>
                  <a:srgbClr val="FF0000"/>
                </a:solidFill>
              </a:rPr>
              <a:t>（clear）</a:t>
            </a:r>
          </a:p>
          <a:p>
            <a:pPr>
              <a:spcBef>
                <a:spcPct val="0"/>
              </a:spcBef>
              <a:spcAft>
                <a:spcPct val="0"/>
              </a:spcAft>
            </a:pPr>
            <a:r>
              <a:rPr lang="zh-CN" altLang="en-US" sz="4000"/>
              <a:t>2．字符串或变量输出命令（</a:t>
            </a:r>
            <a:r>
              <a:rPr lang="zh-CN" altLang="en-US" sz="4000">
                <a:solidFill>
                  <a:srgbClr val="FF0000"/>
                </a:solidFill>
              </a:rPr>
              <a:t>echo</a:t>
            </a:r>
            <a:r>
              <a:rPr lang="zh-CN" altLang="en-US" sz="4000"/>
              <a:t>）</a:t>
            </a:r>
          </a:p>
          <a:p>
            <a:pPr>
              <a:spcBef>
                <a:spcPct val="0"/>
              </a:spcBef>
              <a:spcAft>
                <a:spcPct val="0"/>
              </a:spcAft>
            </a:pPr>
            <a:r>
              <a:rPr lang="zh-CN" altLang="en-US" sz="4000"/>
              <a:t>3．变量输入命令（read）</a:t>
            </a:r>
          </a:p>
          <a:p>
            <a:pPr>
              <a:spcBef>
                <a:spcPct val="0"/>
              </a:spcBef>
              <a:spcAft>
                <a:spcPct val="0"/>
              </a:spcAft>
            </a:pPr>
            <a:r>
              <a:rPr lang="zh-CN" altLang="en-US" sz="4000"/>
              <a:t>4．显示环境变量命令（</a:t>
            </a:r>
            <a:r>
              <a:rPr lang="zh-CN" altLang="en-US" sz="4000">
                <a:solidFill>
                  <a:srgbClr val="FF0000"/>
                </a:solidFill>
              </a:rPr>
              <a:t>env</a:t>
            </a:r>
            <a:r>
              <a:rPr lang="zh-CN" altLang="en-US" sz="4000"/>
              <a:t>）</a:t>
            </a:r>
          </a:p>
          <a:p>
            <a:pPr>
              <a:spcBef>
                <a:spcPct val="0"/>
              </a:spcBef>
              <a:spcAft>
                <a:spcPct val="0"/>
              </a:spcAft>
            </a:pPr>
            <a:r>
              <a:rPr lang="zh-CN" altLang="en-US" sz="4000"/>
              <a:t>5．环境变量的定义（</a:t>
            </a:r>
            <a:r>
              <a:rPr lang="zh-CN" altLang="en-US" sz="4000">
                <a:solidFill>
                  <a:srgbClr val="FF0000"/>
                </a:solidFill>
              </a:rPr>
              <a:t>export</a:t>
            </a:r>
            <a:r>
              <a:rPr lang="zh-CN" altLang="en-US" sz="4000"/>
              <a:t>）</a:t>
            </a:r>
          </a:p>
          <a:p>
            <a:pPr>
              <a:spcBef>
                <a:spcPct val="0"/>
              </a:spcBef>
              <a:spcAft>
                <a:spcPct val="0"/>
              </a:spcAft>
            </a:pPr>
            <a:r>
              <a:rPr lang="zh-CN" altLang="en-US" sz="4000"/>
              <a:t>6．定位可执行程序及相关信息（which、whereis、whatis和apropos）</a:t>
            </a:r>
          </a:p>
          <a:p>
            <a:pPr>
              <a:spcBef>
                <a:spcPct val="0"/>
              </a:spcBef>
              <a:spcAft>
                <a:spcPct val="0"/>
              </a:spcAft>
            </a:pPr>
            <a:r>
              <a:rPr lang="zh-CN" altLang="en-US" sz="4000"/>
              <a:t>7．别名管理（</a:t>
            </a:r>
            <a:r>
              <a:rPr lang="zh-CN" altLang="en-US" sz="4000">
                <a:solidFill>
                  <a:srgbClr val="FF0000"/>
                </a:solidFill>
              </a:rPr>
              <a:t>alias、unalias</a:t>
            </a:r>
            <a:r>
              <a:rPr lang="zh-CN" altLang="en-US" sz="4000"/>
              <a:t>）</a:t>
            </a:r>
          </a:p>
          <a:p>
            <a:pPr>
              <a:spcBef>
                <a:spcPct val="0"/>
              </a:spcBef>
              <a:spcAft>
                <a:spcPct val="0"/>
              </a:spcAft>
            </a:pPr>
            <a:r>
              <a:rPr lang="zh-CN" altLang="en-US" sz="4000"/>
              <a:t>8．任意精度计算器（bc）</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4146" name="标题 1">
            <a:extLst>
              <a:ext uri="{FF2B5EF4-FFF2-40B4-BE49-F238E27FC236}">
                <a16:creationId xmlns:a16="http://schemas.microsoft.com/office/drawing/2014/main" id="{69C8E378-4335-A6B2-769F-B2453847737B}"/>
              </a:ext>
            </a:extLst>
          </p:cNvPr>
          <p:cNvSpPr>
            <a:spLocks noGrp="1" noChangeArrowheads="1"/>
          </p:cNvSpPr>
          <p:nvPr>
            <p:ph type="title"/>
          </p:nvPr>
        </p:nvSpPr>
        <p:spPr/>
        <p:txBody>
          <a:bodyPr/>
          <a:lstStyle/>
          <a:p>
            <a:r>
              <a:rPr lang="zh-CN" altLang="en-US"/>
              <a:t>1．</a:t>
            </a:r>
            <a:r>
              <a:rPr lang="zh-CN" altLang="en-US">
                <a:solidFill>
                  <a:srgbClr val="FF0000"/>
                </a:solidFill>
              </a:rPr>
              <a:t>清屏命令（clear）</a:t>
            </a:r>
          </a:p>
        </p:txBody>
      </p:sp>
      <p:sp>
        <p:nvSpPr>
          <p:cNvPr id="134147" name="内容占位符 2">
            <a:extLst>
              <a:ext uri="{FF2B5EF4-FFF2-40B4-BE49-F238E27FC236}">
                <a16:creationId xmlns:a16="http://schemas.microsoft.com/office/drawing/2014/main" id="{1D23E275-7FAD-BDAA-6F44-40936A45CEB7}"/>
              </a:ext>
            </a:extLst>
          </p:cNvPr>
          <p:cNvSpPr>
            <a:spLocks noGrp="1" noChangeArrowheads="1"/>
          </p:cNvSpPr>
          <p:nvPr>
            <p:ph idx="1"/>
          </p:nvPr>
        </p:nvSpPr>
        <p:spPr>
          <a:xfrm>
            <a:off x="107950" y="620713"/>
            <a:ext cx="8928100" cy="5761037"/>
          </a:xfrm>
        </p:spPr>
        <p:txBody>
          <a:bodyPr/>
          <a:lstStyle/>
          <a:p>
            <a:pPr>
              <a:spcBef>
                <a:spcPct val="0"/>
              </a:spcBef>
              <a:spcAft>
                <a:spcPct val="0"/>
              </a:spcAft>
            </a:pPr>
            <a:r>
              <a:rPr lang="zh-CN" altLang="en-US" sz="4400"/>
              <a:t>clear用于清除用户的终端屏幕，使光标回到屏幕的左上角。其用法为：</a:t>
            </a:r>
          </a:p>
          <a:p>
            <a:pPr>
              <a:spcBef>
                <a:spcPct val="0"/>
              </a:spcBef>
              <a:spcAft>
                <a:spcPct val="0"/>
              </a:spcAft>
            </a:pPr>
            <a:r>
              <a:rPr lang="zh-CN" altLang="en-US" sz="4400"/>
              <a:t>  clear</a:t>
            </a:r>
          </a:p>
          <a:p>
            <a:pPr>
              <a:spcBef>
                <a:spcPct val="0"/>
              </a:spcBef>
              <a:spcAft>
                <a:spcPct val="0"/>
              </a:spcAft>
            </a:pPr>
            <a:endParaRPr lang="zh-CN" altLang="en-US" sz="4400"/>
          </a:p>
          <a:p>
            <a:pPr>
              <a:spcBef>
                <a:spcPct val="0"/>
              </a:spcBef>
              <a:spcAft>
                <a:spcPct val="0"/>
              </a:spcAft>
            </a:pPr>
            <a:r>
              <a:rPr lang="zh-CN" altLang="en-US" sz="4400"/>
              <a:t>说明：</a:t>
            </a:r>
          </a:p>
          <a:p>
            <a:pPr>
              <a:spcBef>
                <a:spcPct val="0"/>
              </a:spcBef>
              <a:spcAft>
                <a:spcPct val="0"/>
              </a:spcAft>
            </a:pPr>
            <a:r>
              <a:rPr lang="zh-CN" altLang="en-US" sz="4400"/>
              <a:t>在一般终端都可以使用组合键Ctrl_L（^L）完成清屏操作。</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170" name="标题 1">
            <a:extLst>
              <a:ext uri="{FF2B5EF4-FFF2-40B4-BE49-F238E27FC236}">
                <a16:creationId xmlns:a16="http://schemas.microsoft.com/office/drawing/2014/main" id="{C8A4D9E7-B9BE-96E6-77D7-56251F9671F1}"/>
              </a:ext>
            </a:extLst>
          </p:cNvPr>
          <p:cNvSpPr>
            <a:spLocks noGrp="1" noChangeArrowheads="1"/>
          </p:cNvSpPr>
          <p:nvPr>
            <p:ph type="title"/>
          </p:nvPr>
        </p:nvSpPr>
        <p:spPr>
          <a:xfrm>
            <a:off x="323850" y="0"/>
            <a:ext cx="8515350" cy="612775"/>
          </a:xfrm>
        </p:spPr>
        <p:txBody>
          <a:bodyPr/>
          <a:lstStyle/>
          <a:p>
            <a:r>
              <a:rPr lang="zh-CN" altLang="en-US"/>
              <a:t>2．</a:t>
            </a:r>
            <a:r>
              <a:rPr lang="zh-CN" altLang="en-US">
                <a:solidFill>
                  <a:srgbClr val="FF0000"/>
                </a:solidFill>
              </a:rPr>
              <a:t>字符串或变量输出命令</a:t>
            </a:r>
            <a:r>
              <a:rPr lang="zh-CN" altLang="en-US"/>
              <a:t>（echo）</a:t>
            </a:r>
          </a:p>
        </p:txBody>
      </p:sp>
      <p:sp>
        <p:nvSpPr>
          <p:cNvPr id="135171" name="内容占位符 2">
            <a:extLst>
              <a:ext uri="{FF2B5EF4-FFF2-40B4-BE49-F238E27FC236}">
                <a16:creationId xmlns:a16="http://schemas.microsoft.com/office/drawing/2014/main" id="{FD054E0F-4131-08C1-CEA6-73EFD47F4DCA}"/>
              </a:ext>
            </a:extLst>
          </p:cNvPr>
          <p:cNvSpPr>
            <a:spLocks noGrp="1" noChangeArrowheads="1"/>
          </p:cNvSpPr>
          <p:nvPr>
            <p:ph idx="1"/>
          </p:nvPr>
        </p:nvSpPr>
        <p:spPr>
          <a:xfrm>
            <a:off x="34925" y="612775"/>
            <a:ext cx="9074150" cy="5761038"/>
          </a:xfrm>
        </p:spPr>
        <p:txBody>
          <a:bodyPr/>
          <a:lstStyle/>
          <a:p>
            <a:pPr>
              <a:spcBef>
                <a:spcPct val="0"/>
              </a:spcBef>
              <a:spcAft>
                <a:spcPct val="0"/>
              </a:spcAft>
            </a:pPr>
            <a:r>
              <a:rPr lang="zh-CN" altLang="en-US" sz="3600"/>
              <a:t>1）功能与用法</a:t>
            </a:r>
          </a:p>
          <a:p>
            <a:pPr>
              <a:spcBef>
                <a:spcPct val="0"/>
              </a:spcBef>
              <a:spcAft>
                <a:spcPct val="0"/>
              </a:spcAft>
            </a:pPr>
            <a:r>
              <a:rPr lang="zh-CN" altLang="en-US" sz="3600"/>
              <a:t>将命令行参数中的字符串或变量的值写到标准输出。默认情况下，每个echo命令执行完毕后会产生一个换行符，如果不带参数执行此命令，将输出一个空行。用法：</a:t>
            </a:r>
          </a:p>
          <a:p>
            <a:pPr>
              <a:spcBef>
                <a:spcPct val="0"/>
              </a:spcBef>
              <a:spcAft>
                <a:spcPct val="0"/>
              </a:spcAft>
            </a:pPr>
            <a:r>
              <a:rPr lang="zh-CN" altLang="en-US" sz="3600"/>
              <a:t>  echo [options] string ... </a:t>
            </a:r>
          </a:p>
          <a:p>
            <a:pPr>
              <a:spcBef>
                <a:spcPct val="0"/>
              </a:spcBef>
              <a:spcAft>
                <a:spcPct val="0"/>
              </a:spcAft>
            </a:pPr>
            <a:r>
              <a:rPr lang="zh-CN" altLang="en-US" sz="3600"/>
              <a:t>2）参数说明</a:t>
            </a:r>
          </a:p>
          <a:p>
            <a:pPr>
              <a:spcBef>
                <a:spcPct val="0"/>
              </a:spcBef>
              <a:spcAft>
                <a:spcPct val="0"/>
              </a:spcAft>
            </a:pPr>
            <a:r>
              <a:rPr lang="zh-CN" altLang="en-US" sz="3600"/>
              <a:t>-e：用于处理转义字符；-n：用于抑制默认的换行符；-E：用于抑制对转义字符的处理。</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标题 1">
            <a:extLst>
              <a:ext uri="{FF2B5EF4-FFF2-40B4-BE49-F238E27FC236}">
                <a16:creationId xmlns:a16="http://schemas.microsoft.com/office/drawing/2014/main" id="{AF86013E-D44D-593F-9BA0-3C4A59882F3C}"/>
              </a:ext>
            </a:extLst>
          </p:cNvPr>
          <p:cNvSpPr>
            <a:spLocks noGrp="1" noChangeArrowheads="1"/>
          </p:cNvSpPr>
          <p:nvPr>
            <p:ph type="title"/>
          </p:nvPr>
        </p:nvSpPr>
        <p:spPr/>
        <p:txBody>
          <a:bodyPr/>
          <a:lstStyle/>
          <a:p>
            <a:r>
              <a:rPr lang="zh-CN" altLang="en-US">
                <a:sym typeface="+mn-ea"/>
              </a:rPr>
              <a:t>3）示例</a:t>
            </a:r>
            <a:endParaRPr lang="zh-CN" altLang="en-US"/>
          </a:p>
        </p:txBody>
      </p:sp>
      <p:sp>
        <p:nvSpPr>
          <p:cNvPr id="136195" name="内容占位符 2">
            <a:extLst>
              <a:ext uri="{FF2B5EF4-FFF2-40B4-BE49-F238E27FC236}">
                <a16:creationId xmlns:a16="http://schemas.microsoft.com/office/drawing/2014/main" id="{B6C6C882-C001-F21E-FF4A-9A33440A7755}"/>
              </a:ext>
            </a:extLst>
          </p:cNvPr>
          <p:cNvSpPr>
            <a:spLocks noGrp="1" noChangeArrowheads="1"/>
          </p:cNvSpPr>
          <p:nvPr>
            <p:ph idx="1"/>
          </p:nvPr>
        </p:nvSpPr>
        <p:spPr>
          <a:xfrm>
            <a:off x="34925" y="549275"/>
            <a:ext cx="9109075" cy="5832475"/>
          </a:xfrm>
        </p:spPr>
        <p:txBody>
          <a:bodyPr/>
          <a:lstStyle/>
          <a:p>
            <a:pPr eaLnBrk="1" hangingPunct="1">
              <a:spcBef>
                <a:spcPct val="0"/>
              </a:spcBef>
              <a:spcAft>
                <a:spcPct val="0"/>
              </a:spcAft>
            </a:pPr>
            <a:r>
              <a:rPr lang="zh-CN" altLang="en-US" sz="3200">
                <a:sym typeface="+mn-ea"/>
              </a:rPr>
              <a:t>#显示字符串常量</a:t>
            </a:r>
            <a:endParaRPr lang="zh-CN" altLang="en-US" sz="3200"/>
          </a:p>
          <a:p>
            <a:pPr eaLnBrk="1" hangingPunct="1">
              <a:spcBef>
                <a:spcPct val="0"/>
              </a:spcBef>
              <a:spcAft>
                <a:spcPct val="0"/>
              </a:spcAft>
            </a:pPr>
            <a:r>
              <a:rPr lang="en-US" altLang="zh-CN" sz="3200"/>
              <a:t>$ </a:t>
            </a:r>
            <a:r>
              <a:rPr lang="zh-CN" altLang="en-US" sz="3200"/>
              <a:t>echo Please insert diskette …</a:t>
            </a:r>
          </a:p>
          <a:p>
            <a:pPr eaLnBrk="1" hangingPunct="1">
              <a:spcBef>
                <a:spcPct val="0"/>
              </a:spcBef>
              <a:spcAft>
                <a:spcPct val="0"/>
              </a:spcAft>
            </a:pPr>
            <a:r>
              <a:rPr lang="zh-CN" altLang="en-US" sz="3200">
                <a:sym typeface="+mn-ea"/>
              </a:rPr>
              <a:t>#不处理转义字符</a:t>
            </a:r>
            <a:endParaRPr lang="zh-CN" altLang="en-US" sz="3200"/>
          </a:p>
          <a:p>
            <a:pPr eaLnBrk="1" hangingPunct="1">
              <a:spcBef>
                <a:spcPct val="0"/>
              </a:spcBef>
              <a:spcAft>
                <a:spcPct val="0"/>
              </a:spcAft>
            </a:pPr>
            <a:r>
              <a:rPr lang="en-US" altLang="zh-CN" sz="3200"/>
              <a:t>$ </a:t>
            </a:r>
            <a:r>
              <a:rPr lang="zh-CN" altLang="en-US" sz="3200"/>
              <a:t>echo "My cell phone number is:\n13903750000"</a:t>
            </a:r>
          </a:p>
          <a:p>
            <a:pPr eaLnBrk="1" hangingPunct="1">
              <a:spcBef>
                <a:spcPct val="0"/>
              </a:spcBef>
              <a:spcAft>
                <a:spcPct val="0"/>
              </a:spcAft>
            </a:pPr>
            <a:r>
              <a:rPr lang="zh-CN" altLang="en-US" sz="3200">
                <a:sym typeface="+mn-ea"/>
              </a:rPr>
              <a:t>#处理转义字符</a:t>
            </a:r>
            <a:endParaRPr lang="zh-CN" altLang="en-US" sz="3200"/>
          </a:p>
          <a:p>
            <a:pPr eaLnBrk="1" hangingPunct="1">
              <a:spcBef>
                <a:spcPct val="0"/>
              </a:spcBef>
              <a:spcAft>
                <a:spcPct val="0"/>
              </a:spcAft>
            </a:pPr>
            <a:r>
              <a:rPr lang="en-US" altLang="zh-CN" sz="3200"/>
              <a:t>$ </a:t>
            </a:r>
            <a:r>
              <a:rPr lang="zh-CN" altLang="en-US" sz="3200"/>
              <a:t>echo [-e] "My cell phone number is:\n\t13903750000"</a:t>
            </a:r>
          </a:p>
          <a:p>
            <a:pPr eaLnBrk="1" hangingPunct="1">
              <a:spcBef>
                <a:spcPct val="0"/>
              </a:spcBef>
              <a:spcAft>
                <a:spcPct val="0"/>
              </a:spcAft>
            </a:pPr>
            <a:r>
              <a:rPr lang="en-US" altLang="zh-CN" sz="3200"/>
              <a:t>$ </a:t>
            </a:r>
            <a:r>
              <a:rPr lang="zh-CN" altLang="en-US" sz="3200"/>
              <a:t>echo -n "I am student, " #不处理换行</a:t>
            </a:r>
          </a:p>
          <a:p>
            <a:pPr eaLnBrk="1" hangingPunct="1">
              <a:spcBef>
                <a:spcPct val="0"/>
              </a:spcBef>
              <a:spcAft>
                <a:spcPct val="0"/>
              </a:spcAft>
            </a:pPr>
            <a:r>
              <a:rPr lang="en-US" altLang="zh-CN" sz="3200"/>
              <a:t>$ </a:t>
            </a:r>
            <a:r>
              <a:rPr lang="zh-CN" altLang="en-US" sz="3200"/>
              <a:t>echo "my name is Bill Joy"  #以上命令的输出在同一行上</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218" name="标题 1">
            <a:extLst>
              <a:ext uri="{FF2B5EF4-FFF2-40B4-BE49-F238E27FC236}">
                <a16:creationId xmlns:a16="http://schemas.microsoft.com/office/drawing/2014/main" id="{99780F48-B873-DBC5-939B-67D2AC7A25E4}"/>
              </a:ext>
            </a:extLst>
          </p:cNvPr>
          <p:cNvSpPr>
            <a:spLocks noGrp="1" noChangeArrowheads="1"/>
          </p:cNvSpPr>
          <p:nvPr>
            <p:ph type="title"/>
          </p:nvPr>
        </p:nvSpPr>
        <p:spPr/>
        <p:txBody>
          <a:bodyPr/>
          <a:lstStyle/>
          <a:p>
            <a:r>
              <a:rPr lang="zh-CN" altLang="en-US"/>
              <a:t>3．变量输入命令（read）</a:t>
            </a:r>
          </a:p>
        </p:txBody>
      </p:sp>
      <p:sp>
        <p:nvSpPr>
          <p:cNvPr id="137219" name="内容占位符 2">
            <a:extLst>
              <a:ext uri="{FF2B5EF4-FFF2-40B4-BE49-F238E27FC236}">
                <a16:creationId xmlns:a16="http://schemas.microsoft.com/office/drawing/2014/main" id="{F8FF9FF6-EEA8-FF5D-9F96-874F08B4B110}"/>
              </a:ext>
            </a:extLst>
          </p:cNvPr>
          <p:cNvSpPr>
            <a:spLocks noGrp="1" noChangeArrowheads="1"/>
          </p:cNvSpPr>
          <p:nvPr>
            <p:ph idx="1"/>
          </p:nvPr>
        </p:nvSpPr>
        <p:spPr>
          <a:xfrm>
            <a:off x="34925" y="620713"/>
            <a:ext cx="9074150" cy="5761037"/>
          </a:xfrm>
        </p:spPr>
        <p:txBody>
          <a:bodyPr/>
          <a:lstStyle/>
          <a:p>
            <a:pPr>
              <a:spcBef>
                <a:spcPct val="0"/>
              </a:spcBef>
              <a:spcAft>
                <a:spcPct val="0"/>
              </a:spcAft>
            </a:pPr>
            <a:r>
              <a:rPr lang="zh-CN" altLang="en-US" sz="3600"/>
              <a:t>read从标准输入上读入一行，并将它读到的内容按分隔符分隔的字符串传递给相应变量。若值的个数大于变量个数，则多余的部分赋给最后一个变量；若值的个数小于变量个数，则后面多余的变量被置空。如果没有指定变量名，则默认使用REPLY作为变量名。用法为：</a:t>
            </a:r>
          </a:p>
          <a:p>
            <a:pPr>
              <a:spcBef>
                <a:spcPct val="0"/>
              </a:spcBef>
              <a:spcAft>
                <a:spcPct val="0"/>
              </a:spcAft>
            </a:pPr>
            <a:r>
              <a:rPr lang="zh-CN" altLang="en-US" sz="3600"/>
              <a:t>  read [-d delim] [ -n num] [-p prompt] [-r] [-s] [-t time] var1 var2 …</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242" name="标题 1">
            <a:extLst>
              <a:ext uri="{FF2B5EF4-FFF2-40B4-BE49-F238E27FC236}">
                <a16:creationId xmlns:a16="http://schemas.microsoft.com/office/drawing/2014/main" id="{9D568EB3-E8BA-E842-F437-D2E529D5E4FD}"/>
              </a:ext>
            </a:extLst>
          </p:cNvPr>
          <p:cNvSpPr>
            <a:spLocks noGrp="1" noChangeArrowheads="1"/>
          </p:cNvSpPr>
          <p:nvPr>
            <p:ph type="title"/>
          </p:nvPr>
        </p:nvSpPr>
        <p:spPr/>
        <p:txBody>
          <a:bodyPr/>
          <a:lstStyle/>
          <a:p>
            <a:r>
              <a:rPr lang="zh-CN" altLang="en-US"/>
              <a:t>2）参数说明</a:t>
            </a:r>
          </a:p>
        </p:txBody>
      </p:sp>
      <p:graphicFrame>
        <p:nvGraphicFramePr>
          <p:cNvPr id="4" name="表格 -1">
            <a:extLst>
              <a:ext uri="{FF2B5EF4-FFF2-40B4-BE49-F238E27FC236}">
                <a16:creationId xmlns:a16="http://schemas.microsoft.com/office/drawing/2014/main" id="{F5BA1BF1-5285-9665-01BE-688796CAEBE4}"/>
              </a:ext>
            </a:extLst>
          </p:cNvPr>
          <p:cNvGraphicFramePr>
            <a:graphicFrameLocks noGrp="1"/>
          </p:cNvGraphicFramePr>
          <p:nvPr/>
        </p:nvGraphicFramePr>
        <p:xfrm>
          <a:off x="107950" y="549275"/>
          <a:ext cx="8928100" cy="6089650"/>
        </p:xfrm>
        <a:graphic>
          <a:graphicData uri="http://schemas.openxmlformats.org/drawingml/2006/table">
            <a:tbl>
              <a:tblPr/>
              <a:tblGrid>
                <a:gridCol w="1788179">
                  <a:extLst>
                    <a:ext uri="{9D8B030D-6E8A-4147-A177-3AD203B41FA5}">
                      <a16:colId xmlns:a16="http://schemas.microsoft.com/office/drawing/2014/main" val="20000"/>
                    </a:ext>
                  </a:extLst>
                </a:gridCol>
                <a:gridCol w="7139921">
                  <a:extLst>
                    <a:ext uri="{9D8B030D-6E8A-4147-A177-3AD203B41FA5}">
                      <a16:colId xmlns:a16="http://schemas.microsoft.com/office/drawing/2014/main" val="20001"/>
                    </a:ext>
                  </a:extLst>
                </a:gridCol>
              </a:tblGrid>
              <a:tr h="752787">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参</a:t>
                      </a:r>
                      <a:r>
                        <a:rPr kumimoji="0" lang="zh-CN" altLang="en-US" sz="3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32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功</a:t>
                      </a:r>
                      <a:r>
                        <a:rPr kumimoji="0" lang="zh-CN" altLang="en-US" sz="3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32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能</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52787">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 delim</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指定新的分隔符</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2787">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 num</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当</a:t>
                      </a:r>
                      <a:r>
                        <a:rPr kumimoji="0" lang="en-US" altLang="zh-CN" sz="3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read</a:t>
                      </a:r>
                      <a:r>
                        <a:rPr kumimoji="0" lang="zh-CN" altLang="en-US" sz="32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读到</a:t>
                      </a:r>
                      <a:r>
                        <a:rPr kumimoji="0" lang="en-US" altLang="zh-CN" sz="3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num</a:t>
                      </a:r>
                      <a:r>
                        <a:rPr kumimoji="0" lang="zh-CN" altLang="en-US" sz="32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个字符后返回</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52787">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 prompt</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设置提示信息</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75360">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取消转义字符的转义作用。此种情况下不能使用继续行</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975360">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安静方式。键盘输入屏幕不回显，可用于密码输入</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127780">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 timeout</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ts val="800"/>
                        </a:spcBef>
                        <a:spcAft>
                          <a:spcPts val="800"/>
                        </a:spcAft>
                        <a:buClr>
                          <a:srgbClr val="000000"/>
                        </a:buClr>
                        <a:buFont typeface="Arial" panose="020B0604020202020204" pitchFamily="34" charset="0"/>
                        <a:defRPr sz="24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defRPr sz="20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defRPr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设置超时时间为</a:t>
                      </a:r>
                      <a:r>
                        <a:rPr kumimoji="0" lang="en-US" altLang="zh-CN" sz="3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timeout</a:t>
                      </a:r>
                      <a:r>
                        <a:rPr kumimoji="0" lang="zh-CN" altLang="en-US" sz="32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。当等待时间超过</a:t>
                      </a:r>
                      <a:r>
                        <a:rPr kumimoji="0" lang="en-US" altLang="zh-CN" sz="3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timeout</a:t>
                      </a:r>
                      <a:r>
                        <a:rPr kumimoji="0" lang="zh-CN" altLang="en-US" sz="32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秒后自动返回</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9266" name="标题 1">
            <a:extLst>
              <a:ext uri="{FF2B5EF4-FFF2-40B4-BE49-F238E27FC236}">
                <a16:creationId xmlns:a16="http://schemas.microsoft.com/office/drawing/2014/main" id="{BB089421-CCCD-A430-6827-09FD89CF2C31}"/>
              </a:ext>
            </a:extLst>
          </p:cNvPr>
          <p:cNvSpPr>
            <a:spLocks noGrp="1" noChangeArrowheads="1"/>
          </p:cNvSpPr>
          <p:nvPr>
            <p:ph type="title"/>
          </p:nvPr>
        </p:nvSpPr>
        <p:spPr/>
        <p:txBody>
          <a:bodyPr/>
          <a:lstStyle/>
          <a:p>
            <a:r>
              <a:rPr lang="zh-CN" altLang="en-US">
                <a:sym typeface="+mn-ea"/>
              </a:rPr>
              <a:t>3）示例</a:t>
            </a:r>
            <a:endParaRPr lang="zh-CN" altLang="en-US"/>
          </a:p>
        </p:txBody>
      </p:sp>
      <p:sp>
        <p:nvSpPr>
          <p:cNvPr id="139267" name="内容占位符 2">
            <a:extLst>
              <a:ext uri="{FF2B5EF4-FFF2-40B4-BE49-F238E27FC236}">
                <a16:creationId xmlns:a16="http://schemas.microsoft.com/office/drawing/2014/main" id="{18B774C5-4348-262F-A878-63F95CA07A2F}"/>
              </a:ext>
            </a:extLst>
          </p:cNvPr>
          <p:cNvSpPr>
            <a:spLocks noGrp="1" noChangeArrowheads="1"/>
          </p:cNvSpPr>
          <p:nvPr>
            <p:ph idx="1"/>
          </p:nvPr>
        </p:nvSpPr>
        <p:spPr>
          <a:xfrm>
            <a:off x="34925" y="620713"/>
            <a:ext cx="9109075" cy="5761037"/>
          </a:xfrm>
        </p:spPr>
        <p:txBody>
          <a:bodyPr/>
          <a:lstStyle/>
          <a:p>
            <a:pPr>
              <a:spcBef>
                <a:spcPct val="0"/>
              </a:spcBef>
              <a:spcAft>
                <a:spcPct val="0"/>
              </a:spcAft>
            </a:pPr>
            <a:r>
              <a:rPr lang="en-US" altLang="zh-CN" sz="3600"/>
              <a:t>$ </a:t>
            </a:r>
            <a:r>
              <a:rPr lang="zh-CN" altLang="en-US" sz="3600"/>
              <a:t>read x y 	#输入：Hello World</a:t>
            </a:r>
          </a:p>
          <a:p>
            <a:pPr>
              <a:spcBef>
                <a:spcPct val="0"/>
              </a:spcBef>
              <a:spcAft>
                <a:spcPct val="0"/>
              </a:spcAft>
            </a:pPr>
            <a:r>
              <a:rPr lang="en-US" altLang="zh-CN" sz="3600"/>
              <a:t>$ </a:t>
            </a:r>
            <a:r>
              <a:rPr lang="zh-CN" altLang="en-US" sz="3600"/>
              <a:t>echo -e "x=$x\tVar y=$y"  #x=Hello  y=World</a:t>
            </a:r>
          </a:p>
          <a:p>
            <a:pPr>
              <a:spcBef>
                <a:spcPct val="0"/>
              </a:spcBef>
              <a:spcAft>
                <a:spcPct val="0"/>
              </a:spcAft>
            </a:pPr>
            <a:r>
              <a:rPr lang="en-US" altLang="zh-CN" sz="3600"/>
              <a:t>$ </a:t>
            </a:r>
            <a:r>
              <a:rPr lang="zh-CN" altLang="en-US" sz="3600"/>
              <a:t>read -p "Name and Telephone number:" x y  #输入：Bill 123456</a:t>
            </a:r>
          </a:p>
          <a:p>
            <a:pPr>
              <a:spcBef>
                <a:spcPct val="0"/>
              </a:spcBef>
              <a:spcAft>
                <a:spcPct val="0"/>
              </a:spcAft>
            </a:pPr>
            <a:r>
              <a:rPr lang="en-US" altLang="zh-CN" sz="3600"/>
              <a:t>$ </a:t>
            </a:r>
            <a:r>
              <a:rPr lang="zh-CN" altLang="en-US" sz="3600"/>
              <a:t>echo "Name is $x, and Telephone is $y"</a:t>
            </a:r>
          </a:p>
          <a:p>
            <a:pPr>
              <a:spcBef>
                <a:spcPct val="0"/>
              </a:spcBef>
              <a:spcAft>
                <a:spcPct val="0"/>
              </a:spcAft>
            </a:pPr>
            <a:r>
              <a:rPr lang="en-US" altLang="zh-CN" sz="3600"/>
              <a:t>$ </a:t>
            </a:r>
            <a:r>
              <a:rPr lang="zh-CN" altLang="en-US" sz="3600"/>
              <a:t>read -s -p "Password Please: " p  #读取密码p。输入时屏幕不回显</a:t>
            </a:r>
          </a:p>
          <a:p>
            <a:pPr>
              <a:spcBef>
                <a:spcPct val="0"/>
              </a:spcBef>
              <a:spcAft>
                <a:spcPct val="0"/>
              </a:spcAft>
            </a:pPr>
            <a:r>
              <a:rPr lang="en-US" altLang="zh-CN" sz="3600"/>
              <a:t>$ </a:t>
            </a:r>
            <a:r>
              <a:rPr lang="zh-CN" altLang="en-US" sz="3600"/>
              <a:t>echo "Password p=" $p	#显示密码变量p的值</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0290" name="标题 1">
            <a:extLst>
              <a:ext uri="{FF2B5EF4-FFF2-40B4-BE49-F238E27FC236}">
                <a16:creationId xmlns:a16="http://schemas.microsoft.com/office/drawing/2014/main" id="{582A414E-3F6B-7FB6-A380-E9B384A95FEF}"/>
              </a:ext>
            </a:extLst>
          </p:cNvPr>
          <p:cNvSpPr>
            <a:spLocks noGrp="1" noChangeArrowheads="1"/>
          </p:cNvSpPr>
          <p:nvPr>
            <p:ph type="title"/>
          </p:nvPr>
        </p:nvSpPr>
        <p:spPr/>
        <p:txBody>
          <a:bodyPr/>
          <a:lstStyle/>
          <a:p>
            <a:r>
              <a:rPr lang="zh-CN" altLang="en-US"/>
              <a:t>4．</a:t>
            </a:r>
            <a:r>
              <a:rPr lang="zh-CN" altLang="en-US">
                <a:solidFill>
                  <a:srgbClr val="FF0000"/>
                </a:solidFill>
              </a:rPr>
              <a:t>显示环境变量命令（env）</a:t>
            </a:r>
          </a:p>
        </p:txBody>
      </p:sp>
      <p:sp>
        <p:nvSpPr>
          <p:cNvPr id="140291" name="内容占位符 2">
            <a:extLst>
              <a:ext uri="{FF2B5EF4-FFF2-40B4-BE49-F238E27FC236}">
                <a16:creationId xmlns:a16="http://schemas.microsoft.com/office/drawing/2014/main" id="{BB260B73-6EB2-876B-2FED-9E0DCC60BD41}"/>
              </a:ext>
            </a:extLst>
          </p:cNvPr>
          <p:cNvSpPr>
            <a:spLocks noGrp="1" noChangeArrowheads="1"/>
          </p:cNvSpPr>
          <p:nvPr>
            <p:ph idx="1"/>
          </p:nvPr>
        </p:nvSpPr>
        <p:spPr>
          <a:xfrm>
            <a:off x="34925" y="620713"/>
            <a:ext cx="9109075" cy="5761037"/>
          </a:xfrm>
        </p:spPr>
        <p:txBody>
          <a:bodyPr/>
          <a:lstStyle/>
          <a:p>
            <a:pPr>
              <a:spcBef>
                <a:spcPct val="0"/>
              </a:spcBef>
              <a:spcAft>
                <a:spcPct val="0"/>
              </a:spcAft>
            </a:pPr>
            <a:r>
              <a:rPr lang="zh-CN" altLang="en-US" sz="3200"/>
              <a:t>用于</a:t>
            </a:r>
            <a:r>
              <a:rPr lang="zh-CN" altLang="en-US" sz="3200">
                <a:solidFill>
                  <a:srgbClr val="FF0000"/>
                </a:solidFill>
              </a:rPr>
              <a:t>显示当前环境变量或为一个将要运行的命令设置临时环境变量</a:t>
            </a:r>
            <a:r>
              <a:rPr lang="zh-CN" altLang="en-US" sz="3200"/>
              <a:t>。如果不带参数运行，则它将</a:t>
            </a:r>
            <a:r>
              <a:rPr lang="zh-CN" altLang="en-US" sz="3200">
                <a:solidFill>
                  <a:srgbClr val="FF0000"/>
                </a:solidFill>
              </a:rPr>
              <a:t>显示用户所有当前环境变量</a:t>
            </a:r>
            <a:r>
              <a:rPr lang="zh-CN" altLang="en-US" sz="3200"/>
              <a:t>。用法为：</a:t>
            </a:r>
          </a:p>
          <a:p>
            <a:pPr>
              <a:spcBef>
                <a:spcPct val="0"/>
              </a:spcBef>
              <a:spcAft>
                <a:spcPct val="0"/>
              </a:spcAft>
            </a:pPr>
            <a:r>
              <a:rPr lang="zh-CN" altLang="en-US" sz="3200"/>
              <a:t>env [-|-i] [-u env_var] [var=value] … [cmd ]</a:t>
            </a:r>
          </a:p>
          <a:p>
            <a:pPr>
              <a:spcBef>
                <a:spcPct val="0"/>
              </a:spcBef>
              <a:spcAft>
                <a:spcPct val="0"/>
              </a:spcAft>
            </a:pPr>
            <a:r>
              <a:rPr lang="zh-CN" altLang="en-US" sz="3200"/>
              <a:t>参数：  -i或-：用于忽略所有继承的环境变量设置；</a:t>
            </a:r>
          </a:p>
          <a:p>
            <a:pPr>
              <a:spcBef>
                <a:spcPct val="0"/>
              </a:spcBef>
              <a:spcAft>
                <a:spcPct val="0"/>
              </a:spcAft>
            </a:pPr>
            <a:r>
              <a:rPr lang="zh-CN" altLang="en-US" sz="3200"/>
              <a:t>-u env_var：用于取消env_var环境变量的设置；</a:t>
            </a:r>
          </a:p>
          <a:p>
            <a:pPr>
              <a:spcBef>
                <a:spcPct val="0"/>
              </a:spcBef>
              <a:spcAft>
                <a:spcPct val="0"/>
              </a:spcAft>
            </a:pPr>
            <a:r>
              <a:rPr lang="zh-CN" altLang="en-US" sz="3200"/>
              <a:t>var=value：设置新的环境变量var，其值为value；</a:t>
            </a:r>
          </a:p>
          <a:p>
            <a:pPr>
              <a:spcBef>
                <a:spcPct val="0"/>
              </a:spcBef>
              <a:spcAft>
                <a:spcPct val="0"/>
              </a:spcAft>
            </a:pPr>
            <a:r>
              <a:rPr lang="zh-CN" altLang="en-US" sz="3200"/>
              <a:t>cmd：为在新环境下执行的命令。</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314" name="标题 1">
            <a:extLst>
              <a:ext uri="{FF2B5EF4-FFF2-40B4-BE49-F238E27FC236}">
                <a16:creationId xmlns:a16="http://schemas.microsoft.com/office/drawing/2014/main" id="{269EB59B-088D-CBEF-D420-706C1047C635}"/>
              </a:ext>
            </a:extLst>
          </p:cNvPr>
          <p:cNvSpPr>
            <a:spLocks noGrp="1" noChangeArrowheads="1"/>
          </p:cNvSpPr>
          <p:nvPr>
            <p:ph type="title"/>
          </p:nvPr>
        </p:nvSpPr>
        <p:spPr/>
        <p:txBody>
          <a:bodyPr/>
          <a:lstStyle/>
          <a:p>
            <a:r>
              <a:rPr lang="zh-CN" altLang="en-US"/>
              <a:t>5．</a:t>
            </a:r>
            <a:r>
              <a:rPr lang="zh-CN" altLang="en-US">
                <a:solidFill>
                  <a:srgbClr val="FF0000"/>
                </a:solidFill>
              </a:rPr>
              <a:t>环境变量的定义（export）</a:t>
            </a:r>
          </a:p>
        </p:txBody>
      </p:sp>
      <p:sp>
        <p:nvSpPr>
          <p:cNvPr id="141315" name="内容占位符 2">
            <a:extLst>
              <a:ext uri="{FF2B5EF4-FFF2-40B4-BE49-F238E27FC236}">
                <a16:creationId xmlns:a16="http://schemas.microsoft.com/office/drawing/2014/main" id="{6C273121-D68A-BC89-B0B4-03556681A474}"/>
              </a:ext>
            </a:extLst>
          </p:cNvPr>
          <p:cNvSpPr>
            <a:spLocks noGrp="1" noChangeArrowheads="1"/>
          </p:cNvSpPr>
          <p:nvPr>
            <p:ph idx="1"/>
          </p:nvPr>
        </p:nvSpPr>
        <p:spPr>
          <a:xfrm>
            <a:off x="0" y="620713"/>
            <a:ext cx="9144000" cy="5761037"/>
          </a:xfrm>
        </p:spPr>
        <p:txBody>
          <a:bodyPr/>
          <a:lstStyle/>
          <a:p>
            <a:pPr>
              <a:spcBef>
                <a:spcPct val="0"/>
              </a:spcBef>
              <a:spcAft>
                <a:spcPct val="0"/>
              </a:spcAft>
            </a:pPr>
            <a:r>
              <a:rPr lang="zh-CN" altLang="en-US" sz="3600"/>
              <a:t>export用于环境变量的定义、修改和撤销。其用法为：</a:t>
            </a:r>
          </a:p>
          <a:p>
            <a:pPr>
              <a:spcBef>
                <a:spcPct val="0"/>
              </a:spcBef>
              <a:spcAft>
                <a:spcPct val="0"/>
              </a:spcAft>
            </a:pPr>
            <a:r>
              <a:rPr lang="zh-CN" altLang="en-US" sz="3600"/>
              <a:t>  export [-fn] [name[=value]] ...</a:t>
            </a:r>
          </a:p>
          <a:p>
            <a:pPr>
              <a:spcBef>
                <a:spcPct val="0"/>
              </a:spcBef>
              <a:spcAft>
                <a:spcPct val="0"/>
              </a:spcAft>
            </a:pPr>
            <a:r>
              <a:rPr lang="zh-CN" altLang="en-US" sz="3600"/>
              <a:t>  export -p</a:t>
            </a:r>
          </a:p>
          <a:p>
            <a:pPr>
              <a:spcBef>
                <a:spcPct val="0"/>
              </a:spcBef>
              <a:spcAft>
                <a:spcPct val="0"/>
              </a:spcAft>
            </a:pPr>
            <a:r>
              <a:rPr lang="zh-CN" altLang="en-US" sz="3600"/>
              <a:t>第1种用法用于定义、修改或撤销环境变量。</a:t>
            </a:r>
          </a:p>
          <a:p>
            <a:pPr>
              <a:spcBef>
                <a:spcPct val="0"/>
              </a:spcBef>
              <a:spcAft>
                <a:spcPct val="0"/>
              </a:spcAft>
            </a:pPr>
            <a:r>
              <a:rPr lang="zh-CN" altLang="en-US" sz="3600"/>
              <a:t>-f：用于指定一个函数；</a:t>
            </a:r>
          </a:p>
          <a:p>
            <a:pPr>
              <a:spcBef>
                <a:spcPct val="0"/>
              </a:spcBef>
              <a:spcAft>
                <a:spcPct val="0"/>
              </a:spcAft>
            </a:pPr>
            <a:r>
              <a:rPr lang="zh-CN" altLang="en-US" sz="3600"/>
              <a:t>-n：用于撤销一个环境变量。</a:t>
            </a:r>
          </a:p>
          <a:p>
            <a:pPr>
              <a:spcBef>
                <a:spcPct val="0"/>
              </a:spcBef>
              <a:spcAft>
                <a:spcPct val="0"/>
              </a:spcAft>
            </a:pPr>
            <a:r>
              <a:rPr lang="zh-CN" altLang="en-US" sz="3600"/>
              <a:t>第2种用法用于显示当前shell通过export定义的环境变量。</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2338" name="标题 1">
            <a:extLst>
              <a:ext uri="{FF2B5EF4-FFF2-40B4-BE49-F238E27FC236}">
                <a16:creationId xmlns:a16="http://schemas.microsoft.com/office/drawing/2014/main" id="{D5FE9C8E-5452-CAF2-F08A-F918BCFB1521}"/>
              </a:ext>
            </a:extLst>
          </p:cNvPr>
          <p:cNvSpPr>
            <a:spLocks noGrp="1" noChangeArrowheads="1"/>
          </p:cNvSpPr>
          <p:nvPr>
            <p:ph type="title"/>
          </p:nvPr>
        </p:nvSpPr>
        <p:spPr/>
        <p:txBody>
          <a:bodyPr/>
          <a:lstStyle/>
          <a:p>
            <a:r>
              <a:rPr lang="zh-CN" altLang="en-US">
                <a:sym typeface="+mn-ea"/>
              </a:rPr>
              <a:t>export</a:t>
            </a:r>
            <a:r>
              <a:rPr lang="zh-CN" altLang="en-US"/>
              <a:t>示例</a:t>
            </a:r>
          </a:p>
        </p:txBody>
      </p:sp>
      <p:sp>
        <p:nvSpPr>
          <p:cNvPr id="142339" name="内容占位符 2">
            <a:extLst>
              <a:ext uri="{FF2B5EF4-FFF2-40B4-BE49-F238E27FC236}">
                <a16:creationId xmlns:a16="http://schemas.microsoft.com/office/drawing/2014/main" id="{21EB501C-54EA-CBED-D46F-BB012557CD0B}"/>
              </a:ext>
            </a:extLst>
          </p:cNvPr>
          <p:cNvSpPr>
            <a:spLocks noGrp="1" noChangeArrowheads="1"/>
          </p:cNvSpPr>
          <p:nvPr>
            <p:ph idx="1"/>
          </p:nvPr>
        </p:nvSpPr>
        <p:spPr>
          <a:xfrm>
            <a:off x="34925" y="620713"/>
            <a:ext cx="9109075" cy="5761037"/>
          </a:xfrm>
        </p:spPr>
        <p:txBody>
          <a:bodyPr/>
          <a:lstStyle/>
          <a:p>
            <a:pPr>
              <a:spcBef>
                <a:spcPct val="0"/>
              </a:spcBef>
              <a:spcAft>
                <a:spcPct val="0"/>
              </a:spcAft>
            </a:pPr>
            <a:r>
              <a:rPr lang="en-US" altLang="zh-CN" sz="3200">
                <a:latin typeface="Times New Roman" panose="02020603050405020304" pitchFamily="18" charset="0"/>
              </a:rPr>
              <a:t>$ </a:t>
            </a:r>
            <a:r>
              <a:rPr lang="zh-CN" altLang="en-US" sz="3200">
                <a:latin typeface="Times New Roman" panose="02020603050405020304" pitchFamily="18" charset="0"/>
              </a:rPr>
              <a:t>my_env1="MyEnv1" #定义局部变量my_env1</a:t>
            </a:r>
          </a:p>
          <a:p>
            <a:pPr>
              <a:spcBef>
                <a:spcPct val="0"/>
              </a:spcBef>
              <a:spcAft>
                <a:spcPct val="0"/>
              </a:spcAft>
            </a:pPr>
            <a:r>
              <a:rPr lang="en-US" altLang="zh-CN" sz="3200">
                <a:latin typeface="Times New Roman" panose="02020603050405020304" pitchFamily="18" charset="0"/>
                <a:sym typeface="+mn-ea"/>
              </a:rPr>
              <a:t>$ </a:t>
            </a:r>
            <a:r>
              <a:rPr lang="zh-CN" altLang="en-US" sz="3200">
                <a:latin typeface="Times New Roman" panose="02020603050405020304" pitchFamily="18" charset="0"/>
              </a:rPr>
              <a:t>export my_env1	 #将my_env1变为环境变量</a:t>
            </a:r>
          </a:p>
          <a:p>
            <a:pPr>
              <a:spcBef>
                <a:spcPct val="0"/>
              </a:spcBef>
              <a:spcAft>
                <a:spcPct val="0"/>
              </a:spcAft>
            </a:pPr>
            <a:r>
              <a:rPr lang="en-US" altLang="zh-CN" sz="3200">
                <a:latin typeface="Times New Roman" panose="02020603050405020304" pitchFamily="18" charset="0"/>
                <a:sym typeface="+mn-ea"/>
              </a:rPr>
              <a:t>$ </a:t>
            </a:r>
            <a:r>
              <a:rPr lang="zh-CN" altLang="en-US" sz="3200">
                <a:latin typeface="Times New Roman" panose="02020603050405020304" pitchFamily="18" charset="0"/>
              </a:rPr>
              <a:t>export my_env2="MyEnv2" #直接定义环境my_env2</a:t>
            </a:r>
          </a:p>
          <a:p>
            <a:pPr>
              <a:spcBef>
                <a:spcPct val="0"/>
              </a:spcBef>
              <a:spcAft>
                <a:spcPct val="0"/>
              </a:spcAft>
            </a:pPr>
            <a:r>
              <a:rPr lang="en-US" altLang="zh-CN" sz="3200">
                <a:latin typeface="Times New Roman" panose="02020603050405020304" pitchFamily="18" charset="0"/>
                <a:sym typeface="+mn-ea"/>
              </a:rPr>
              <a:t>$ </a:t>
            </a:r>
            <a:r>
              <a:rPr lang="zh-CN" altLang="en-US" sz="3200">
                <a:latin typeface="Times New Roman" panose="02020603050405020304" pitchFamily="18" charset="0"/>
              </a:rPr>
              <a:t>env | grep my_env  #显示新定义环境变量定义</a:t>
            </a:r>
          </a:p>
          <a:p>
            <a:pPr>
              <a:spcBef>
                <a:spcPct val="0"/>
              </a:spcBef>
              <a:spcAft>
                <a:spcPct val="0"/>
              </a:spcAft>
            </a:pPr>
            <a:r>
              <a:rPr lang="en-US" altLang="zh-CN" sz="3200">
                <a:latin typeface="Times New Roman" panose="02020603050405020304" pitchFamily="18" charset="0"/>
                <a:sym typeface="+mn-ea"/>
              </a:rPr>
              <a:t>$ </a:t>
            </a:r>
            <a:r>
              <a:rPr lang="zh-CN" altLang="en-US" sz="3200">
                <a:latin typeface="Times New Roman" panose="02020603050405020304" pitchFamily="18" charset="0"/>
              </a:rPr>
              <a:t>echo $my_env1 $my_env2  #显示新定义环境变量</a:t>
            </a:r>
          </a:p>
          <a:p>
            <a:pPr>
              <a:spcBef>
                <a:spcPct val="0"/>
              </a:spcBef>
              <a:spcAft>
                <a:spcPct val="0"/>
              </a:spcAft>
            </a:pPr>
            <a:r>
              <a:rPr lang="en-US" altLang="zh-CN" sz="3200">
                <a:latin typeface="Times New Roman" panose="02020603050405020304" pitchFamily="18" charset="0"/>
                <a:sym typeface="+mn-ea"/>
              </a:rPr>
              <a:t>$ </a:t>
            </a:r>
            <a:r>
              <a:rPr lang="zh-CN" altLang="en-US" sz="3200">
                <a:latin typeface="Times New Roman" panose="02020603050405020304" pitchFamily="18" charset="0"/>
              </a:rPr>
              <a:t>export -n my_env1  #撤销对my_env1的定义</a:t>
            </a:r>
          </a:p>
          <a:p>
            <a:pPr>
              <a:spcBef>
                <a:spcPct val="0"/>
              </a:spcBef>
              <a:spcAft>
                <a:spcPct val="0"/>
              </a:spcAft>
            </a:pPr>
            <a:r>
              <a:rPr lang="en-US" altLang="zh-CN" sz="3200">
                <a:latin typeface="Times New Roman" panose="02020603050405020304" pitchFamily="18" charset="0"/>
                <a:sym typeface="+mn-ea"/>
              </a:rPr>
              <a:t>$ </a:t>
            </a:r>
            <a:r>
              <a:rPr lang="zh-CN" altLang="en-US" sz="3200">
                <a:latin typeface="Times New Roman" panose="02020603050405020304" pitchFamily="18" charset="0"/>
              </a:rPr>
              <a:t>env | grep my_env #显示新环境变量的定义（只有my_env2了）</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标题 1">
            <a:extLst>
              <a:ext uri="{FF2B5EF4-FFF2-40B4-BE49-F238E27FC236}">
                <a16:creationId xmlns:a16="http://schemas.microsoft.com/office/drawing/2014/main" id="{C275C1FC-9C69-0977-9F5A-4F6B790C59A3}"/>
              </a:ext>
            </a:extLst>
          </p:cNvPr>
          <p:cNvSpPr>
            <a:spLocks noGrp="1" noChangeArrowheads="1"/>
          </p:cNvSpPr>
          <p:nvPr>
            <p:ph type="title"/>
          </p:nvPr>
        </p:nvSpPr>
        <p:spPr/>
        <p:txBody>
          <a:bodyPr/>
          <a:lstStyle/>
          <a:p>
            <a:r>
              <a:rPr lang="zh-CN" altLang="en-US">
                <a:sym typeface="+mn-ea"/>
              </a:rPr>
              <a:t>关于export的说明</a:t>
            </a:r>
            <a:endParaRPr lang="zh-CN" altLang="en-US"/>
          </a:p>
        </p:txBody>
      </p:sp>
      <p:sp>
        <p:nvSpPr>
          <p:cNvPr id="143363" name="内容占位符 2">
            <a:extLst>
              <a:ext uri="{FF2B5EF4-FFF2-40B4-BE49-F238E27FC236}">
                <a16:creationId xmlns:a16="http://schemas.microsoft.com/office/drawing/2014/main" id="{B610DE80-9AB2-5BA0-0A05-ECC97D01208D}"/>
              </a:ext>
            </a:extLst>
          </p:cNvPr>
          <p:cNvSpPr>
            <a:spLocks noGrp="1" noChangeArrowheads="1"/>
          </p:cNvSpPr>
          <p:nvPr>
            <p:ph idx="1"/>
          </p:nvPr>
        </p:nvSpPr>
        <p:spPr>
          <a:xfrm>
            <a:off x="34925" y="620713"/>
            <a:ext cx="9074150" cy="5761037"/>
          </a:xfrm>
        </p:spPr>
        <p:txBody>
          <a:bodyPr/>
          <a:lstStyle/>
          <a:p>
            <a:pPr>
              <a:spcBef>
                <a:spcPct val="0"/>
              </a:spcBef>
              <a:spcAft>
                <a:spcPct val="0"/>
              </a:spcAft>
            </a:pPr>
            <a:r>
              <a:rPr lang="zh-CN" altLang="en-US" sz="3600"/>
              <a:t>从示例可以看出，可以通过先定义变量，再执行export命令的办法定义环境变量：</a:t>
            </a:r>
          </a:p>
          <a:p>
            <a:pPr>
              <a:spcBef>
                <a:spcPct val="0"/>
              </a:spcBef>
              <a:spcAft>
                <a:spcPct val="0"/>
              </a:spcAft>
            </a:pPr>
            <a:r>
              <a:rPr lang="zh-CN" altLang="en-US" sz="3600"/>
              <a:t>my_env1="MyEnv1"; export my_env1</a:t>
            </a:r>
          </a:p>
          <a:p>
            <a:pPr>
              <a:spcBef>
                <a:spcPct val="0"/>
              </a:spcBef>
              <a:spcAft>
                <a:spcPct val="0"/>
              </a:spcAft>
            </a:pPr>
            <a:r>
              <a:rPr lang="zh-CN" altLang="en-US" sz="3600"/>
              <a:t>也可采用一步走的办法直接定义环境变量：</a:t>
            </a:r>
          </a:p>
          <a:p>
            <a:pPr>
              <a:spcBef>
                <a:spcPct val="0"/>
              </a:spcBef>
              <a:spcAft>
                <a:spcPct val="0"/>
              </a:spcAft>
            </a:pPr>
            <a:r>
              <a:rPr lang="zh-CN" altLang="en-US" sz="3600"/>
              <a:t>export my_env2="MyEnv2"</a:t>
            </a:r>
          </a:p>
          <a:p>
            <a:pPr>
              <a:spcBef>
                <a:spcPct val="0"/>
              </a:spcBef>
              <a:spcAft>
                <a:spcPct val="0"/>
              </a:spcAft>
            </a:pPr>
            <a:r>
              <a:rPr lang="zh-CN" altLang="en-US" sz="3600"/>
              <a:t>对于错定义或不再需要的环境变量可以重新定义或撤销。</a:t>
            </a:r>
          </a:p>
          <a:p>
            <a:pPr>
              <a:spcBef>
                <a:spcPct val="0"/>
              </a:spcBef>
              <a:spcAft>
                <a:spcPct val="0"/>
              </a:spcAft>
            </a:pPr>
            <a:r>
              <a:rPr lang="zh-CN" altLang="en-US" sz="3600"/>
              <a:t>还有命令</a:t>
            </a:r>
            <a:r>
              <a:rPr lang="en-US" altLang="zh-CN" sz="3600"/>
              <a:t>declare</a:t>
            </a:r>
            <a:r>
              <a:rPr lang="zh-CN" altLang="en-US" sz="3600"/>
              <a:t>用于环境变量的管理。</a:t>
            </a:r>
            <a:endParaRPr lang="en-US" altLang="zh-CN" sz="360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4386" name="标题 1">
            <a:extLst>
              <a:ext uri="{FF2B5EF4-FFF2-40B4-BE49-F238E27FC236}">
                <a16:creationId xmlns:a16="http://schemas.microsoft.com/office/drawing/2014/main" id="{ECC3237B-1443-A1F3-5DE0-BF9532D8664F}"/>
              </a:ext>
            </a:extLst>
          </p:cNvPr>
          <p:cNvSpPr>
            <a:spLocks noGrp="1" noChangeArrowheads="1"/>
          </p:cNvSpPr>
          <p:nvPr>
            <p:ph type="title"/>
          </p:nvPr>
        </p:nvSpPr>
        <p:spPr/>
        <p:txBody>
          <a:bodyPr/>
          <a:lstStyle/>
          <a:p>
            <a:r>
              <a:rPr lang="zh-CN" altLang="en-US"/>
              <a:t>6．定位可执行程序及相关信息</a:t>
            </a:r>
          </a:p>
        </p:txBody>
      </p:sp>
      <p:sp>
        <p:nvSpPr>
          <p:cNvPr id="144387" name="标题 1">
            <a:extLst>
              <a:ext uri="{FF2B5EF4-FFF2-40B4-BE49-F238E27FC236}">
                <a16:creationId xmlns:a16="http://schemas.microsoft.com/office/drawing/2014/main" id="{B0EAC362-E7A3-ABC8-3810-43F1D412AA0D}"/>
              </a:ext>
            </a:extLst>
          </p:cNvPr>
          <p:cNvSpPr txBox="1">
            <a:spLocks/>
          </p:cNvSpPr>
          <p:nvPr/>
        </p:nvSpPr>
        <p:spPr bwMode="auto">
          <a:xfrm>
            <a:off x="-4763" y="647700"/>
            <a:ext cx="8969376"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nSpc>
                <a:spcPct val="87000"/>
              </a:lnSpc>
              <a:spcBef>
                <a:spcPct val="0"/>
              </a:spcBef>
              <a:spcAft>
                <a:spcPct val="0"/>
              </a:spcAft>
              <a:buFont typeface="Arial" panose="020B0604020202020204" pitchFamily="34" charset="0"/>
              <a:buNone/>
            </a:pPr>
            <a:r>
              <a:rPr lang="zh-CN" altLang="en-US" sz="3600">
                <a:ea typeface="华文新魏" panose="02010800040101010101" pitchFamily="2" charset="-122"/>
                <a:sym typeface="+mn-ea"/>
              </a:rPr>
              <a:t>1）which</a:t>
            </a:r>
            <a:endParaRPr lang="zh-CN" altLang="en-US" sz="3600">
              <a:ea typeface="华文新魏" panose="02010800040101010101" pitchFamily="2" charset="-122"/>
            </a:endParaRPr>
          </a:p>
        </p:txBody>
      </p:sp>
      <p:sp>
        <p:nvSpPr>
          <p:cNvPr id="144388" name="内容占位符 2">
            <a:extLst>
              <a:ext uri="{FF2B5EF4-FFF2-40B4-BE49-F238E27FC236}">
                <a16:creationId xmlns:a16="http://schemas.microsoft.com/office/drawing/2014/main" id="{75DF7D6B-1E56-EE92-8204-9E71819FB3D4}"/>
              </a:ext>
            </a:extLst>
          </p:cNvPr>
          <p:cNvSpPr>
            <a:spLocks noGrp="1" noChangeArrowheads="1"/>
          </p:cNvSpPr>
          <p:nvPr>
            <p:ph idx="1"/>
          </p:nvPr>
        </p:nvSpPr>
        <p:spPr>
          <a:xfrm>
            <a:off x="31750" y="1317625"/>
            <a:ext cx="9148763" cy="4968875"/>
          </a:xfrm>
        </p:spPr>
        <p:txBody>
          <a:bodyPr/>
          <a:lstStyle/>
          <a:p>
            <a:pPr>
              <a:spcBef>
                <a:spcPct val="0"/>
              </a:spcBef>
              <a:spcAft>
                <a:spcPct val="0"/>
              </a:spcAft>
            </a:pPr>
            <a:r>
              <a:rPr lang="zh-CN" altLang="en-US" sz="3200"/>
              <a:t>定位一个可执行程序的位置，输出信息中包括别名和路径等。用法为：</a:t>
            </a:r>
          </a:p>
          <a:p>
            <a:pPr>
              <a:spcBef>
                <a:spcPct val="0"/>
              </a:spcBef>
              <a:spcAft>
                <a:spcPct val="0"/>
              </a:spcAft>
            </a:pPr>
            <a:r>
              <a:rPr lang="zh-CN" altLang="en-US" sz="3200"/>
              <a:t>  which [options] filenames</a:t>
            </a:r>
          </a:p>
          <a:p>
            <a:pPr>
              <a:spcBef>
                <a:spcPct val="0"/>
              </a:spcBef>
              <a:spcAft>
                <a:spcPct val="0"/>
              </a:spcAft>
            </a:pPr>
            <a:r>
              <a:rPr lang="zh-CN" altLang="en-US" sz="3200"/>
              <a:t>which只能</a:t>
            </a:r>
            <a:r>
              <a:rPr lang="zh-CN" altLang="en-US" sz="3200">
                <a:sym typeface="+mn-ea"/>
              </a:rPr>
              <a:t>在PATH指定的范围内</a:t>
            </a:r>
            <a:r>
              <a:rPr lang="zh-CN" altLang="en-US" sz="3200"/>
              <a:t>定位可执行文件的位置。可用--skip-alias抑制别名的输出。示例如下：</a:t>
            </a:r>
          </a:p>
          <a:p>
            <a:pPr>
              <a:spcBef>
                <a:spcPct val="0"/>
              </a:spcBef>
              <a:spcAft>
                <a:spcPct val="0"/>
              </a:spcAft>
            </a:pPr>
            <a:r>
              <a:rPr lang="en-US" altLang="zh-CN" sz="3200"/>
              <a:t>$ </a:t>
            </a:r>
            <a:r>
              <a:rPr lang="zh-CN" altLang="en-US" sz="3200"/>
              <a:t>which which 	#查找命令which的位置</a:t>
            </a:r>
          </a:p>
          <a:p>
            <a:pPr>
              <a:spcBef>
                <a:spcPct val="0"/>
              </a:spcBef>
              <a:spcAft>
                <a:spcPct val="0"/>
              </a:spcAft>
            </a:pPr>
            <a:r>
              <a:rPr lang="en-US" altLang="zh-CN" sz="3200"/>
              <a:t>$ </a:t>
            </a:r>
            <a:r>
              <a:rPr lang="zh-CN" altLang="en-US" sz="3200"/>
              <a:t>which ls #查找命令ls</a:t>
            </a:r>
          </a:p>
          <a:p>
            <a:pPr>
              <a:spcBef>
                <a:spcPct val="0"/>
              </a:spcBef>
              <a:spcAft>
                <a:spcPct val="0"/>
              </a:spcAft>
            </a:pPr>
            <a:r>
              <a:rPr lang="en-US" altLang="zh-CN" sz="3200"/>
              <a:t>$ </a:t>
            </a:r>
            <a:r>
              <a:rPr lang="zh-CN" altLang="en-US" sz="3200"/>
              <a:t>which --skip-alias ls #查找命令ls，不要别名</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5410" name="标题 1">
            <a:extLst>
              <a:ext uri="{FF2B5EF4-FFF2-40B4-BE49-F238E27FC236}">
                <a16:creationId xmlns:a16="http://schemas.microsoft.com/office/drawing/2014/main" id="{D14D1C30-933F-8B80-A1A5-25E5732727BE}"/>
              </a:ext>
            </a:extLst>
          </p:cNvPr>
          <p:cNvSpPr>
            <a:spLocks noGrp="1" noChangeArrowheads="1"/>
          </p:cNvSpPr>
          <p:nvPr>
            <p:ph type="title"/>
          </p:nvPr>
        </p:nvSpPr>
        <p:spPr/>
        <p:txBody>
          <a:bodyPr/>
          <a:lstStyle/>
          <a:p>
            <a:r>
              <a:rPr lang="zh-CN" altLang="en-US"/>
              <a:t>2）whereis</a:t>
            </a:r>
          </a:p>
        </p:txBody>
      </p:sp>
      <p:sp>
        <p:nvSpPr>
          <p:cNvPr id="145411" name="内容占位符 2">
            <a:extLst>
              <a:ext uri="{FF2B5EF4-FFF2-40B4-BE49-F238E27FC236}">
                <a16:creationId xmlns:a16="http://schemas.microsoft.com/office/drawing/2014/main" id="{BA18EDA2-BE44-3F64-A578-FA8385E58F11}"/>
              </a:ext>
            </a:extLst>
          </p:cNvPr>
          <p:cNvSpPr>
            <a:spLocks noGrp="1" noChangeArrowheads="1"/>
          </p:cNvSpPr>
          <p:nvPr>
            <p:ph idx="1"/>
          </p:nvPr>
        </p:nvSpPr>
        <p:spPr>
          <a:xfrm>
            <a:off x="34925" y="620713"/>
            <a:ext cx="9001125" cy="5761037"/>
          </a:xfrm>
        </p:spPr>
        <p:txBody>
          <a:bodyPr/>
          <a:lstStyle/>
          <a:p>
            <a:pPr indent="0" eaLnBrk="1" hangingPunct="1">
              <a:spcBef>
                <a:spcPct val="0"/>
              </a:spcBef>
              <a:spcAft>
                <a:spcPct val="0"/>
              </a:spcAft>
            </a:pPr>
            <a:r>
              <a:rPr lang="zh-CN" altLang="en-US" sz="4000"/>
              <a:t>可用于对命令、源代码和手册页位置定位。其用法为：</a:t>
            </a:r>
          </a:p>
          <a:p>
            <a:pPr indent="0" eaLnBrk="1" hangingPunct="1">
              <a:spcBef>
                <a:spcPct val="0"/>
              </a:spcBef>
              <a:spcAft>
                <a:spcPct val="0"/>
              </a:spcAft>
            </a:pPr>
            <a:r>
              <a:rPr lang="zh-CN" altLang="en-US" sz="4000"/>
              <a:t>   whereis [ -bmsu ] file ...</a:t>
            </a:r>
          </a:p>
          <a:p>
            <a:pPr indent="0" eaLnBrk="1" hangingPunct="1">
              <a:spcBef>
                <a:spcPct val="0"/>
              </a:spcBef>
              <a:spcAft>
                <a:spcPct val="0"/>
              </a:spcAft>
            </a:pPr>
            <a:r>
              <a:rPr lang="zh-CN" altLang="en-US" sz="4000"/>
              <a:t>参数-b、-s和-m分别用于搜索file的二进制、源代码和手册页文件，比如：</a:t>
            </a:r>
          </a:p>
          <a:p>
            <a:pPr indent="0" eaLnBrk="1" hangingPunct="1">
              <a:spcBef>
                <a:spcPct val="0"/>
              </a:spcBef>
              <a:spcAft>
                <a:spcPct val="0"/>
              </a:spcAft>
            </a:pPr>
            <a:r>
              <a:rPr lang="zh-CN" altLang="en-US" sz="4000"/>
              <a:t># whereis ls who </a:t>
            </a:r>
            <a:endParaRPr lang="en-US" altLang="zh-CN" sz="4000"/>
          </a:p>
          <a:p>
            <a:pPr indent="0" eaLnBrk="1" hangingPunct="1">
              <a:spcBef>
                <a:spcPct val="0"/>
              </a:spcBef>
              <a:spcAft>
                <a:spcPct val="0"/>
              </a:spcAft>
            </a:pPr>
            <a:r>
              <a:rPr lang="zh-CN" altLang="en-US" sz="4000"/>
              <a:t># whereis -b ls </a:t>
            </a:r>
            <a:endParaRPr lang="en-US" altLang="zh-CN" sz="4000"/>
          </a:p>
          <a:p>
            <a:pPr indent="0" eaLnBrk="1" hangingPunct="1">
              <a:spcBef>
                <a:spcPct val="0"/>
              </a:spcBef>
              <a:spcAft>
                <a:spcPct val="0"/>
              </a:spcAft>
            </a:pPr>
            <a:r>
              <a:rPr lang="zh-CN" altLang="en-US" sz="4000"/>
              <a:t># whereis -m ls</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6434" name="标题 1">
            <a:extLst>
              <a:ext uri="{FF2B5EF4-FFF2-40B4-BE49-F238E27FC236}">
                <a16:creationId xmlns:a16="http://schemas.microsoft.com/office/drawing/2014/main" id="{8BBFC955-3F25-8548-DD6B-A45B30EE97B9}"/>
              </a:ext>
            </a:extLst>
          </p:cNvPr>
          <p:cNvSpPr>
            <a:spLocks noGrp="1" noChangeArrowheads="1"/>
          </p:cNvSpPr>
          <p:nvPr>
            <p:ph type="title"/>
          </p:nvPr>
        </p:nvSpPr>
        <p:spPr/>
        <p:txBody>
          <a:bodyPr/>
          <a:lstStyle/>
          <a:p>
            <a:r>
              <a:rPr lang="zh-CN" altLang="en-US"/>
              <a:t>3）whatis和apropos</a:t>
            </a:r>
          </a:p>
        </p:txBody>
      </p:sp>
      <p:sp>
        <p:nvSpPr>
          <p:cNvPr id="146435" name="内容占位符 2">
            <a:extLst>
              <a:ext uri="{FF2B5EF4-FFF2-40B4-BE49-F238E27FC236}">
                <a16:creationId xmlns:a16="http://schemas.microsoft.com/office/drawing/2014/main" id="{E02C5C97-8E29-6D48-B017-75C9B775CE3E}"/>
              </a:ext>
            </a:extLst>
          </p:cNvPr>
          <p:cNvSpPr>
            <a:spLocks noGrp="1" noChangeArrowheads="1"/>
          </p:cNvSpPr>
          <p:nvPr>
            <p:ph idx="1"/>
          </p:nvPr>
        </p:nvSpPr>
        <p:spPr>
          <a:xfrm>
            <a:off x="0" y="620713"/>
            <a:ext cx="9144000" cy="5761037"/>
          </a:xfrm>
        </p:spPr>
        <p:txBody>
          <a:bodyPr/>
          <a:lstStyle/>
          <a:p>
            <a:pPr>
              <a:spcBef>
                <a:spcPct val="0"/>
              </a:spcBef>
              <a:spcAft>
                <a:spcPct val="0"/>
              </a:spcAft>
            </a:pPr>
            <a:r>
              <a:rPr lang="zh-CN" altLang="en-US" sz="4000"/>
              <a:t>whatis和apropos用于查找whatis数据库。</a:t>
            </a:r>
          </a:p>
          <a:p>
            <a:pPr>
              <a:spcBef>
                <a:spcPct val="0"/>
              </a:spcBef>
              <a:spcAft>
                <a:spcPct val="0"/>
              </a:spcAft>
            </a:pPr>
            <a:r>
              <a:rPr lang="zh-CN" altLang="en-US" sz="4000"/>
              <a:t>whatis等价于man -f，用于从whatis数据库中查找完整的单词，属于精确查找，而apropos等价于man -k，用于从数据库中查找字符串，属于模糊查找。示例如下</a:t>
            </a:r>
            <a:r>
              <a:rPr lang="en-US" altLang="zh-CN" sz="4000"/>
              <a:t>:</a:t>
            </a:r>
            <a:endParaRPr lang="zh-CN" altLang="en-US" sz="4000"/>
          </a:p>
          <a:p>
            <a:pPr>
              <a:spcBef>
                <a:spcPct val="0"/>
              </a:spcBef>
              <a:spcAft>
                <a:spcPct val="0"/>
              </a:spcAft>
            </a:pPr>
            <a:r>
              <a:rPr lang="zh-CN" altLang="en-US" sz="4000"/>
              <a:t># whatis echo 	或	man -f echo</a:t>
            </a:r>
          </a:p>
          <a:p>
            <a:pPr>
              <a:spcBef>
                <a:spcPct val="0"/>
              </a:spcBef>
              <a:spcAft>
                <a:spcPct val="0"/>
              </a:spcAft>
            </a:pPr>
            <a:r>
              <a:rPr lang="zh-CN" altLang="en-US" sz="4000"/>
              <a:t># apropos echo	或	man -k echo</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7458" name="标题 1">
            <a:extLst>
              <a:ext uri="{FF2B5EF4-FFF2-40B4-BE49-F238E27FC236}">
                <a16:creationId xmlns:a16="http://schemas.microsoft.com/office/drawing/2014/main" id="{5FDACF2C-E7C9-3810-B62A-EBB0D055101E}"/>
              </a:ext>
            </a:extLst>
          </p:cNvPr>
          <p:cNvSpPr>
            <a:spLocks noGrp="1" noChangeArrowheads="1"/>
          </p:cNvSpPr>
          <p:nvPr>
            <p:ph type="title"/>
          </p:nvPr>
        </p:nvSpPr>
        <p:spPr/>
        <p:txBody>
          <a:bodyPr/>
          <a:lstStyle/>
          <a:p>
            <a:r>
              <a:rPr lang="zh-CN" altLang="en-US"/>
              <a:t>7．别名管理（alias、unalias）</a:t>
            </a:r>
          </a:p>
        </p:txBody>
      </p:sp>
      <p:sp>
        <p:nvSpPr>
          <p:cNvPr id="147459" name="内容占位符 2">
            <a:extLst>
              <a:ext uri="{FF2B5EF4-FFF2-40B4-BE49-F238E27FC236}">
                <a16:creationId xmlns:a16="http://schemas.microsoft.com/office/drawing/2014/main" id="{B6FF775C-BE61-D95F-8246-5368EFA85D37}"/>
              </a:ext>
            </a:extLst>
          </p:cNvPr>
          <p:cNvSpPr>
            <a:spLocks noGrp="1" noChangeArrowheads="1"/>
          </p:cNvSpPr>
          <p:nvPr>
            <p:ph idx="1"/>
          </p:nvPr>
        </p:nvSpPr>
        <p:spPr>
          <a:xfrm>
            <a:off x="107950" y="620713"/>
            <a:ext cx="8856663" cy="5761037"/>
          </a:xfrm>
        </p:spPr>
        <p:txBody>
          <a:bodyPr/>
          <a:lstStyle/>
          <a:p>
            <a:pPr>
              <a:spcBef>
                <a:spcPct val="0"/>
              </a:spcBef>
              <a:spcAft>
                <a:spcPct val="0"/>
              </a:spcAft>
            </a:pPr>
            <a:r>
              <a:rPr lang="zh-CN" altLang="en-US" sz="5400"/>
              <a:t>常用的</a:t>
            </a:r>
            <a:r>
              <a:rPr lang="en-US" altLang="zh-CN" sz="5400"/>
              <a:t>ll</a:t>
            </a:r>
            <a:r>
              <a:rPr lang="zh-CN" altLang="en-US" sz="5400"/>
              <a:t>和红帽系统超级用户使用的</a:t>
            </a:r>
            <a:r>
              <a:rPr lang="en-US" altLang="zh-CN" sz="5400"/>
              <a:t>cp</a:t>
            </a:r>
            <a:r>
              <a:rPr lang="zh-CN" altLang="en-US" sz="5400"/>
              <a:t>、</a:t>
            </a:r>
            <a:r>
              <a:rPr lang="en-US" altLang="zh-CN" sz="5400"/>
              <a:t>mv</a:t>
            </a:r>
            <a:r>
              <a:rPr lang="zh-CN" altLang="en-US" sz="5400"/>
              <a:t>等都是别名。别名管理可通过以下命令实现：</a:t>
            </a:r>
          </a:p>
          <a:p>
            <a:pPr>
              <a:spcBef>
                <a:spcPct val="0"/>
              </a:spcBef>
              <a:spcAft>
                <a:spcPct val="0"/>
              </a:spcAft>
            </a:pPr>
            <a:r>
              <a:rPr lang="zh-CN" altLang="en-US" sz="5400"/>
              <a:t>1）别名定义（alias）</a:t>
            </a:r>
          </a:p>
          <a:p>
            <a:pPr>
              <a:spcBef>
                <a:spcPct val="0"/>
              </a:spcBef>
              <a:spcAft>
                <a:spcPct val="0"/>
              </a:spcAft>
            </a:pPr>
            <a:r>
              <a:rPr lang="zh-CN" altLang="en-US" sz="5400"/>
              <a:t>2）别名取消（unalias）</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8482" name="标题 1">
            <a:extLst>
              <a:ext uri="{FF2B5EF4-FFF2-40B4-BE49-F238E27FC236}">
                <a16:creationId xmlns:a16="http://schemas.microsoft.com/office/drawing/2014/main" id="{0C011A44-6F6A-93A1-B280-6FFD920DFC46}"/>
              </a:ext>
            </a:extLst>
          </p:cNvPr>
          <p:cNvSpPr>
            <a:spLocks noGrp="1" noChangeArrowheads="1"/>
          </p:cNvSpPr>
          <p:nvPr>
            <p:ph type="title"/>
          </p:nvPr>
        </p:nvSpPr>
        <p:spPr/>
        <p:txBody>
          <a:bodyPr/>
          <a:lstStyle/>
          <a:p>
            <a:r>
              <a:rPr lang="zh-CN" altLang="en-US">
                <a:sym typeface="+mn-ea"/>
              </a:rPr>
              <a:t>1）</a:t>
            </a:r>
            <a:r>
              <a:rPr lang="zh-CN" altLang="en-US">
                <a:solidFill>
                  <a:srgbClr val="FF0000"/>
                </a:solidFill>
                <a:sym typeface="+mn-ea"/>
              </a:rPr>
              <a:t>别名定义（alias）</a:t>
            </a:r>
            <a:endParaRPr lang="zh-CN" altLang="en-US">
              <a:solidFill>
                <a:srgbClr val="FF0000"/>
              </a:solidFill>
            </a:endParaRPr>
          </a:p>
        </p:txBody>
      </p:sp>
      <p:sp>
        <p:nvSpPr>
          <p:cNvPr id="148483" name="内容占位符 2">
            <a:extLst>
              <a:ext uri="{FF2B5EF4-FFF2-40B4-BE49-F238E27FC236}">
                <a16:creationId xmlns:a16="http://schemas.microsoft.com/office/drawing/2014/main" id="{CEFE6421-4EF7-DF81-F384-1179FB7ED5F9}"/>
              </a:ext>
            </a:extLst>
          </p:cNvPr>
          <p:cNvSpPr>
            <a:spLocks noGrp="1" noChangeArrowheads="1"/>
          </p:cNvSpPr>
          <p:nvPr>
            <p:ph idx="1"/>
          </p:nvPr>
        </p:nvSpPr>
        <p:spPr>
          <a:xfrm>
            <a:off x="0" y="549275"/>
            <a:ext cx="9144000" cy="5832475"/>
          </a:xfrm>
        </p:spPr>
        <p:txBody>
          <a:bodyPr/>
          <a:lstStyle/>
          <a:p>
            <a:pPr>
              <a:spcBef>
                <a:spcPct val="0"/>
              </a:spcBef>
              <a:spcAft>
                <a:spcPct val="0"/>
              </a:spcAft>
            </a:pPr>
            <a:r>
              <a:rPr lang="zh-CN" altLang="en-US" sz="3600"/>
              <a:t>alias可用于为一个可执行程序定义别名。用法为：</a:t>
            </a:r>
          </a:p>
          <a:p>
            <a:pPr>
              <a:spcBef>
                <a:spcPct val="0"/>
              </a:spcBef>
              <a:spcAft>
                <a:spcPct val="0"/>
              </a:spcAft>
            </a:pPr>
            <a:r>
              <a:rPr lang="zh-CN" altLang="en-US" sz="3600"/>
              <a:t>  alias [-p] [name[=value]] …</a:t>
            </a:r>
          </a:p>
          <a:p>
            <a:pPr>
              <a:spcBef>
                <a:spcPct val="0"/>
              </a:spcBef>
              <a:spcAft>
                <a:spcPct val="0"/>
              </a:spcAft>
            </a:pPr>
            <a:r>
              <a:rPr lang="zh-CN" altLang="en-US" sz="3600"/>
              <a:t>参数-p用于显示别名列表，当不带参数运行alias时，将显示当前的所有别名。应用示例如下：</a:t>
            </a:r>
          </a:p>
          <a:p>
            <a:pPr>
              <a:spcBef>
                <a:spcPct val="0"/>
              </a:spcBef>
              <a:spcAft>
                <a:spcPct val="0"/>
              </a:spcAft>
            </a:pPr>
            <a:r>
              <a:rPr lang="zh-CN" altLang="en-US" sz="3600"/>
              <a:t># alias 		#显示所有已经定义的别名</a:t>
            </a:r>
          </a:p>
          <a:p>
            <a:pPr>
              <a:spcBef>
                <a:spcPct val="0"/>
              </a:spcBef>
              <a:spcAft>
                <a:spcPct val="0"/>
              </a:spcAft>
            </a:pPr>
            <a:r>
              <a:rPr lang="zh-CN" altLang="en-US" sz="3600"/>
              <a:t># alias ll rm	#显示ll和rm的别名定义</a:t>
            </a:r>
          </a:p>
          <a:p>
            <a:pPr>
              <a:spcBef>
                <a:spcPct val="0"/>
              </a:spcBef>
              <a:spcAft>
                <a:spcPct val="0"/>
              </a:spcAft>
            </a:pPr>
            <a:r>
              <a:rPr lang="zh-CN" altLang="en-US" sz="3600"/>
              <a:t># alias li='ls -l -i ' #定义别名li，其功能为ls -l -i</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9506" name="标题 1">
            <a:extLst>
              <a:ext uri="{FF2B5EF4-FFF2-40B4-BE49-F238E27FC236}">
                <a16:creationId xmlns:a16="http://schemas.microsoft.com/office/drawing/2014/main" id="{849377B4-210A-2793-79AB-8533553EC1C8}"/>
              </a:ext>
            </a:extLst>
          </p:cNvPr>
          <p:cNvSpPr>
            <a:spLocks noGrp="1" noChangeArrowheads="1"/>
          </p:cNvSpPr>
          <p:nvPr>
            <p:ph type="title"/>
          </p:nvPr>
        </p:nvSpPr>
        <p:spPr/>
        <p:txBody>
          <a:bodyPr/>
          <a:lstStyle/>
          <a:p>
            <a:r>
              <a:rPr lang="zh-CN" altLang="en-US"/>
              <a:t>2）</a:t>
            </a:r>
            <a:r>
              <a:rPr lang="zh-CN" altLang="en-US">
                <a:solidFill>
                  <a:srgbClr val="FF0000"/>
                </a:solidFill>
              </a:rPr>
              <a:t>别名取消（unalias）</a:t>
            </a:r>
          </a:p>
        </p:txBody>
      </p:sp>
      <p:sp>
        <p:nvSpPr>
          <p:cNvPr id="149507" name="内容占位符 2">
            <a:extLst>
              <a:ext uri="{FF2B5EF4-FFF2-40B4-BE49-F238E27FC236}">
                <a16:creationId xmlns:a16="http://schemas.microsoft.com/office/drawing/2014/main" id="{7A674CA7-74CD-2B32-DA4F-D4FB6F336781}"/>
              </a:ext>
            </a:extLst>
          </p:cNvPr>
          <p:cNvSpPr>
            <a:spLocks noGrp="1" noChangeArrowheads="1"/>
          </p:cNvSpPr>
          <p:nvPr>
            <p:ph idx="1"/>
          </p:nvPr>
        </p:nvSpPr>
        <p:spPr>
          <a:xfrm>
            <a:off x="34925" y="549275"/>
            <a:ext cx="9109075" cy="5832475"/>
          </a:xfrm>
        </p:spPr>
        <p:txBody>
          <a:bodyPr/>
          <a:lstStyle/>
          <a:p>
            <a:pPr>
              <a:spcBef>
                <a:spcPct val="0"/>
              </a:spcBef>
              <a:spcAft>
                <a:spcPct val="0"/>
              </a:spcAft>
            </a:pPr>
            <a:r>
              <a:rPr lang="zh-CN" altLang="en-US" sz="4400"/>
              <a:t>unalias用来取消由alias定义的别名，其用法为：</a:t>
            </a:r>
          </a:p>
          <a:p>
            <a:pPr>
              <a:spcBef>
                <a:spcPct val="0"/>
              </a:spcBef>
              <a:spcAft>
                <a:spcPct val="0"/>
              </a:spcAft>
            </a:pPr>
            <a:r>
              <a:rPr lang="zh-CN" altLang="en-US" sz="4400"/>
              <a:t>  unalias [-a] [name ...]</a:t>
            </a:r>
          </a:p>
          <a:p>
            <a:pPr>
              <a:spcBef>
                <a:spcPct val="0"/>
              </a:spcBef>
              <a:spcAft>
                <a:spcPct val="0"/>
              </a:spcAft>
            </a:pPr>
            <a:r>
              <a:rPr lang="zh-CN" altLang="en-US" sz="4400"/>
              <a:t>选项-a用于取消所有别名。</a:t>
            </a:r>
          </a:p>
          <a:p>
            <a:pPr>
              <a:spcBef>
                <a:spcPct val="0"/>
              </a:spcBef>
              <a:spcAft>
                <a:spcPct val="0"/>
              </a:spcAft>
            </a:pPr>
            <a:r>
              <a:rPr lang="zh-CN" altLang="en-US" sz="4400"/>
              <a:t>示例如下：</a:t>
            </a:r>
          </a:p>
          <a:p>
            <a:pPr>
              <a:spcBef>
                <a:spcPct val="0"/>
              </a:spcBef>
              <a:spcAft>
                <a:spcPct val="0"/>
              </a:spcAft>
            </a:pPr>
            <a:r>
              <a:rPr lang="zh-CN" altLang="en-US" sz="4400"/>
              <a:t>#unalias ll		#取消别名ll</a:t>
            </a:r>
          </a:p>
          <a:p>
            <a:pPr>
              <a:spcBef>
                <a:spcPct val="0"/>
              </a:spcBef>
              <a:spcAft>
                <a:spcPct val="0"/>
              </a:spcAft>
            </a:pPr>
            <a:r>
              <a:rPr lang="zh-CN" altLang="en-US" sz="4400"/>
              <a:t>#unalias -a		#取消所有别名。</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标题 1">
            <a:extLst>
              <a:ext uri="{FF2B5EF4-FFF2-40B4-BE49-F238E27FC236}">
                <a16:creationId xmlns:a16="http://schemas.microsoft.com/office/drawing/2014/main" id="{980AE1D4-22E6-C28C-8A2A-6D74DE84C64D}"/>
              </a:ext>
            </a:extLst>
          </p:cNvPr>
          <p:cNvSpPr>
            <a:spLocks noGrp="1" noChangeArrowheads="1"/>
          </p:cNvSpPr>
          <p:nvPr>
            <p:ph type="title"/>
          </p:nvPr>
        </p:nvSpPr>
        <p:spPr/>
        <p:txBody>
          <a:bodyPr/>
          <a:lstStyle/>
          <a:p>
            <a:r>
              <a:rPr lang="zh-CN" altLang="en-US"/>
              <a:t>8．任意精度计算器（bc）</a:t>
            </a:r>
          </a:p>
        </p:txBody>
      </p:sp>
      <p:sp>
        <p:nvSpPr>
          <p:cNvPr id="150531" name="内容占位符 2">
            <a:extLst>
              <a:ext uri="{FF2B5EF4-FFF2-40B4-BE49-F238E27FC236}">
                <a16:creationId xmlns:a16="http://schemas.microsoft.com/office/drawing/2014/main" id="{C63E610C-1798-5D04-AFB9-FA058A340429}"/>
              </a:ext>
            </a:extLst>
          </p:cNvPr>
          <p:cNvSpPr>
            <a:spLocks noGrp="1" noChangeArrowheads="1"/>
          </p:cNvSpPr>
          <p:nvPr>
            <p:ph idx="1"/>
          </p:nvPr>
        </p:nvSpPr>
        <p:spPr>
          <a:xfrm>
            <a:off x="-23813" y="476250"/>
            <a:ext cx="9109076" cy="5761038"/>
          </a:xfrm>
        </p:spPr>
        <p:txBody>
          <a:bodyPr/>
          <a:lstStyle/>
          <a:p>
            <a:pPr>
              <a:spcBef>
                <a:spcPct val="0"/>
              </a:spcBef>
              <a:spcAft>
                <a:spcPct val="0"/>
              </a:spcAft>
            </a:pPr>
            <a:r>
              <a:rPr lang="zh-CN" altLang="en-US" sz="3600">
                <a:solidFill>
                  <a:srgbClr val="FF0000"/>
                </a:solidFill>
              </a:rPr>
              <a:t>bc是一个支持任意精度计算的解释语言，提供交互式操作</a:t>
            </a:r>
            <a:r>
              <a:rPr lang="zh-CN" altLang="en-US" sz="3600"/>
              <a:t>。其用法为：</a:t>
            </a:r>
          </a:p>
          <a:p>
            <a:pPr>
              <a:spcBef>
                <a:spcPct val="0"/>
              </a:spcBef>
              <a:spcAft>
                <a:spcPct val="0"/>
              </a:spcAft>
            </a:pPr>
            <a:r>
              <a:rPr lang="zh-CN" altLang="en-US" sz="3600"/>
              <a:t>  bc [-l] [file ...]</a:t>
            </a:r>
          </a:p>
          <a:p>
            <a:pPr>
              <a:spcBef>
                <a:spcPct val="0"/>
              </a:spcBef>
              <a:spcAft>
                <a:spcPct val="0"/>
              </a:spcAft>
            </a:pPr>
            <a:r>
              <a:rPr lang="zh-CN" altLang="en-US" sz="3600"/>
              <a:t>若提供有file，则bc首先读取指定的输入文件file，在输入处理完毕后，继续读取标准输入作为处理和解释对象。若不带参数运行bc，则它进入交互式界面。</a:t>
            </a:r>
          </a:p>
          <a:p>
            <a:pPr>
              <a:spcBef>
                <a:spcPct val="0"/>
              </a:spcBef>
              <a:spcAft>
                <a:spcPct val="0"/>
              </a:spcAft>
            </a:pPr>
            <a:r>
              <a:rPr lang="zh-CN" altLang="en-US" sz="3600"/>
              <a:t>bc支持类似C语言的语法，还可通过-l选项使用函数库。</a:t>
            </a:r>
          </a:p>
          <a:p>
            <a:pPr>
              <a:spcBef>
                <a:spcPct val="0"/>
              </a:spcBef>
              <a:spcAft>
                <a:spcPct val="0"/>
              </a:spcAft>
            </a:pPr>
            <a:r>
              <a:rPr lang="zh-CN" altLang="en-US" sz="3600"/>
              <a:t>可以下办法之一退出：quit，halt，Ctrl+D。</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554" name="标题 1">
            <a:extLst>
              <a:ext uri="{FF2B5EF4-FFF2-40B4-BE49-F238E27FC236}">
                <a16:creationId xmlns:a16="http://schemas.microsoft.com/office/drawing/2014/main" id="{C9F7D0BA-82A8-7074-5949-CB70B057F88A}"/>
              </a:ext>
            </a:extLst>
          </p:cNvPr>
          <p:cNvSpPr>
            <a:spLocks noGrp="1" noChangeArrowheads="1"/>
          </p:cNvSpPr>
          <p:nvPr>
            <p:ph type="title"/>
          </p:nvPr>
        </p:nvSpPr>
        <p:spPr/>
        <p:txBody>
          <a:bodyPr/>
          <a:lstStyle/>
          <a:p>
            <a:r>
              <a:rPr lang="zh-CN" altLang="en-US">
                <a:sym typeface="+mn-ea"/>
              </a:rPr>
              <a:t>1）数</a:t>
            </a:r>
            <a:endParaRPr lang="zh-CN" altLang="en-US"/>
          </a:p>
        </p:txBody>
      </p:sp>
      <p:sp>
        <p:nvSpPr>
          <p:cNvPr id="151555" name="内容占位符 2">
            <a:extLst>
              <a:ext uri="{FF2B5EF4-FFF2-40B4-BE49-F238E27FC236}">
                <a16:creationId xmlns:a16="http://schemas.microsoft.com/office/drawing/2014/main" id="{21C860EB-DA38-A5E6-70B0-F358C9D18125}"/>
              </a:ext>
            </a:extLst>
          </p:cNvPr>
          <p:cNvSpPr>
            <a:spLocks noGrp="1" noChangeArrowheads="1"/>
          </p:cNvSpPr>
          <p:nvPr>
            <p:ph idx="1"/>
          </p:nvPr>
        </p:nvSpPr>
        <p:spPr>
          <a:xfrm>
            <a:off x="107950" y="620713"/>
            <a:ext cx="8856663" cy="5761037"/>
          </a:xfrm>
        </p:spPr>
        <p:txBody>
          <a:bodyPr/>
          <a:lstStyle/>
          <a:p>
            <a:r>
              <a:rPr lang="zh-CN" altLang="en-US" sz="4000"/>
              <a:t>bc命令接受</a:t>
            </a:r>
            <a:r>
              <a:rPr lang="en-US" altLang="zh-CN" sz="4000"/>
              <a:t>10</a:t>
            </a:r>
            <a:r>
              <a:rPr lang="zh-CN" altLang="en-US" sz="4000"/>
              <a:t>、</a:t>
            </a:r>
            <a:r>
              <a:rPr lang="en-US" altLang="zh-CN" sz="4000"/>
              <a:t>8</a:t>
            </a:r>
            <a:r>
              <a:rPr lang="zh-CN" altLang="en-US" sz="4000"/>
              <a:t>、</a:t>
            </a:r>
            <a:r>
              <a:rPr lang="en-US" altLang="zh-CN" sz="4000"/>
              <a:t>16</a:t>
            </a:r>
            <a:r>
              <a:rPr lang="zh-CN" altLang="en-US" sz="4000"/>
              <a:t>进制或其他进制数作为输入和输出进制。</a:t>
            </a:r>
            <a:r>
              <a:rPr lang="zh-CN" altLang="en-US" sz="4000">
                <a:sym typeface="+mn-ea"/>
              </a:rPr>
              <a:t>默认值为十进制。</a:t>
            </a:r>
            <a:r>
              <a:rPr lang="zh-CN" altLang="en-US" sz="4000"/>
              <a:t>ibase=n指定输入进制；obase=m指定输出进制。scale=n来指定输出数据小数部分的位数为。</a:t>
            </a:r>
          </a:p>
          <a:p>
            <a:r>
              <a:rPr lang="zh-CN" altLang="en-US" sz="4000"/>
              <a:t>在</a:t>
            </a:r>
            <a:r>
              <a:rPr lang="en-US" altLang="zh-CN" sz="4000"/>
              <a:t>16</a:t>
            </a:r>
            <a:r>
              <a:rPr lang="zh-CN" altLang="en-US" sz="4000"/>
              <a:t>进制中，A、B、C、D、E和F分别表示十进制的10、11、12、13、14和15。</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2578" name="标题 1">
            <a:extLst>
              <a:ext uri="{FF2B5EF4-FFF2-40B4-BE49-F238E27FC236}">
                <a16:creationId xmlns:a16="http://schemas.microsoft.com/office/drawing/2014/main" id="{122F7DD1-6A2C-6412-ACE2-38235F4A3C7A}"/>
              </a:ext>
            </a:extLst>
          </p:cNvPr>
          <p:cNvSpPr>
            <a:spLocks noGrp="1" noChangeArrowheads="1"/>
          </p:cNvSpPr>
          <p:nvPr>
            <p:ph type="title"/>
          </p:nvPr>
        </p:nvSpPr>
        <p:spPr/>
        <p:txBody>
          <a:bodyPr/>
          <a:lstStyle/>
          <a:p>
            <a:r>
              <a:rPr lang="zh-CN" altLang="en-US">
                <a:sym typeface="+mn-ea"/>
              </a:rPr>
              <a:t>2）变量</a:t>
            </a:r>
            <a:endParaRPr lang="zh-CN" altLang="en-US"/>
          </a:p>
        </p:txBody>
      </p:sp>
      <p:sp>
        <p:nvSpPr>
          <p:cNvPr id="152579" name="内容占位符 2">
            <a:extLst>
              <a:ext uri="{FF2B5EF4-FFF2-40B4-BE49-F238E27FC236}">
                <a16:creationId xmlns:a16="http://schemas.microsoft.com/office/drawing/2014/main" id="{A175757C-5C89-D20B-983A-D1059DD30F51}"/>
              </a:ext>
            </a:extLst>
          </p:cNvPr>
          <p:cNvSpPr>
            <a:spLocks noGrp="1" noChangeArrowheads="1"/>
          </p:cNvSpPr>
          <p:nvPr>
            <p:ph idx="1"/>
          </p:nvPr>
        </p:nvSpPr>
        <p:spPr>
          <a:xfrm>
            <a:off x="107950" y="620713"/>
            <a:ext cx="9001125" cy="5761037"/>
          </a:xfrm>
        </p:spPr>
        <p:txBody>
          <a:bodyPr/>
          <a:lstStyle/>
          <a:p>
            <a:r>
              <a:rPr lang="zh-CN" altLang="en-US" sz="3600"/>
              <a:t>在bc中，数可被存入两种类型变量：简单变量和数组变量，数组变量形式为name[]。所有变量的字母都必须是小写的。特殊变量有ibase、obase、scale和last。last代表最后显示的数据的值。显示一个变量值的办法是输入变量名后直接回车，也可以通过直接输入数值或表达式后直接回车的办法进行直接计算或数制转换（输入和输出进制由ibase和obase决定）。</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02" name="标题 1">
            <a:extLst>
              <a:ext uri="{FF2B5EF4-FFF2-40B4-BE49-F238E27FC236}">
                <a16:creationId xmlns:a16="http://schemas.microsoft.com/office/drawing/2014/main" id="{3C0305B9-030C-3DF8-5351-54F0B070F070}"/>
              </a:ext>
            </a:extLst>
          </p:cNvPr>
          <p:cNvSpPr>
            <a:spLocks noGrp="1" noChangeArrowheads="1"/>
          </p:cNvSpPr>
          <p:nvPr>
            <p:ph type="title"/>
          </p:nvPr>
        </p:nvSpPr>
        <p:spPr/>
        <p:txBody>
          <a:bodyPr/>
          <a:lstStyle/>
          <a:p>
            <a:r>
              <a:rPr lang="zh-CN" altLang="en-US">
                <a:sym typeface="+mn-ea"/>
              </a:rPr>
              <a:t>注释、继续行和表达式</a:t>
            </a:r>
            <a:endParaRPr lang="zh-CN" altLang="en-US"/>
          </a:p>
        </p:txBody>
      </p:sp>
      <p:sp>
        <p:nvSpPr>
          <p:cNvPr id="153603" name="内容占位符 2">
            <a:extLst>
              <a:ext uri="{FF2B5EF4-FFF2-40B4-BE49-F238E27FC236}">
                <a16:creationId xmlns:a16="http://schemas.microsoft.com/office/drawing/2014/main" id="{FB8A59D9-C46A-0E9D-0B6B-E1547D358B27}"/>
              </a:ext>
            </a:extLst>
          </p:cNvPr>
          <p:cNvSpPr>
            <a:spLocks noGrp="1" noChangeArrowheads="1"/>
          </p:cNvSpPr>
          <p:nvPr>
            <p:ph idx="1"/>
          </p:nvPr>
        </p:nvSpPr>
        <p:spPr>
          <a:xfrm>
            <a:off x="34925" y="620713"/>
            <a:ext cx="9074150" cy="5761037"/>
          </a:xfrm>
        </p:spPr>
        <p:txBody>
          <a:bodyPr/>
          <a:lstStyle/>
          <a:p>
            <a:pPr>
              <a:spcBef>
                <a:spcPct val="0"/>
              </a:spcBef>
              <a:spcAft>
                <a:spcPct val="0"/>
              </a:spcAft>
            </a:pPr>
            <a:r>
              <a:rPr lang="zh-CN" altLang="en-US" sz="3600"/>
              <a:t>3）注释</a:t>
            </a:r>
          </a:p>
          <a:p>
            <a:pPr>
              <a:spcBef>
                <a:spcPct val="0"/>
              </a:spcBef>
              <a:spcAft>
                <a:spcPct val="0"/>
              </a:spcAft>
            </a:pPr>
            <a:r>
              <a:rPr lang="zh-CN" altLang="en-US" sz="3600"/>
              <a:t>可以使用shell的方式进行注释，也可以使用C语言中的“/*… */”进行注释，但不能使用//方式。</a:t>
            </a:r>
          </a:p>
          <a:p>
            <a:pPr>
              <a:spcBef>
                <a:spcPct val="0"/>
              </a:spcBef>
              <a:spcAft>
                <a:spcPct val="0"/>
              </a:spcAft>
            </a:pPr>
            <a:r>
              <a:rPr lang="zh-CN" altLang="en-US" sz="3600"/>
              <a:t>4）继续行</a:t>
            </a:r>
          </a:p>
          <a:p>
            <a:pPr>
              <a:spcBef>
                <a:spcPct val="0"/>
              </a:spcBef>
              <a:spcAft>
                <a:spcPct val="0"/>
              </a:spcAft>
            </a:pPr>
            <a:r>
              <a:rPr lang="zh-CN" altLang="en-US" sz="3600"/>
              <a:t>可以像C语言和shell一样使用继续行。</a:t>
            </a:r>
          </a:p>
          <a:p>
            <a:pPr>
              <a:spcBef>
                <a:spcPct val="0"/>
              </a:spcBef>
              <a:spcAft>
                <a:spcPct val="0"/>
              </a:spcAft>
            </a:pPr>
            <a:r>
              <a:rPr lang="zh-CN" altLang="en-US" sz="3600"/>
              <a:t>5）表达式</a:t>
            </a:r>
          </a:p>
          <a:p>
            <a:pPr>
              <a:spcBef>
                <a:spcPct val="0"/>
              </a:spcBef>
              <a:spcAft>
                <a:spcPct val="0"/>
              </a:spcAft>
            </a:pPr>
            <a:r>
              <a:rPr lang="zh-CN" altLang="en-US" sz="3600"/>
              <a:t>可像其他高级语言一样使用表达式，在表达式中可用的运算符如表3-49所示。</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4626" name="标题 1">
            <a:extLst>
              <a:ext uri="{FF2B5EF4-FFF2-40B4-BE49-F238E27FC236}">
                <a16:creationId xmlns:a16="http://schemas.microsoft.com/office/drawing/2014/main" id="{4D936F39-6945-CF0D-6915-8A6D482587A4}"/>
              </a:ext>
            </a:extLst>
          </p:cNvPr>
          <p:cNvSpPr>
            <a:spLocks noGrp="1" noChangeArrowheads="1"/>
          </p:cNvSpPr>
          <p:nvPr>
            <p:ph type="title"/>
          </p:nvPr>
        </p:nvSpPr>
        <p:spPr/>
        <p:txBody>
          <a:bodyPr/>
          <a:lstStyle/>
          <a:p>
            <a:r>
              <a:rPr lang="zh-CN" altLang="en-US"/>
              <a:t>6）函数</a:t>
            </a:r>
          </a:p>
        </p:txBody>
      </p:sp>
      <p:sp>
        <p:nvSpPr>
          <p:cNvPr id="154627" name="内容占位符 2">
            <a:extLst>
              <a:ext uri="{FF2B5EF4-FFF2-40B4-BE49-F238E27FC236}">
                <a16:creationId xmlns:a16="http://schemas.microsoft.com/office/drawing/2014/main" id="{AEF580CE-1614-6449-4686-A63C20FE44E0}"/>
              </a:ext>
            </a:extLst>
          </p:cNvPr>
          <p:cNvSpPr>
            <a:spLocks noGrp="1" noChangeArrowheads="1"/>
          </p:cNvSpPr>
          <p:nvPr>
            <p:ph idx="1"/>
          </p:nvPr>
        </p:nvSpPr>
        <p:spPr>
          <a:xfrm>
            <a:off x="0" y="620713"/>
            <a:ext cx="9109075" cy="5761037"/>
          </a:xfrm>
        </p:spPr>
        <p:txBody>
          <a:bodyPr/>
          <a:lstStyle/>
          <a:p>
            <a:pPr>
              <a:spcBef>
                <a:spcPct val="0"/>
              </a:spcBef>
              <a:spcAft>
                <a:spcPct val="0"/>
              </a:spcAft>
            </a:pPr>
            <a:r>
              <a:rPr lang="zh-CN" altLang="en-US" sz="3200"/>
              <a:t>（1）bc的函数有：length(var)、read()（读取字符串）、scale(var)（求小数位数）和sqrt(var)（开平方）等。</a:t>
            </a:r>
          </a:p>
          <a:p>
            <a:pPr>
              <a:spcBef>
                <a:spcPct val="0"/>
              </a:spcBef>
              <a:spcAft>
                <a:spcPct val="0"/>
              </a:spcAft>
            </a:pPr>
            <a:r>
              <a:rPr lang="zh-CN" altLang="en-US" sz="3200"/>
              <a:t>（2）库函数（使用-l时）：s(var)、c(var)、a(var)、l(var)、e(var)和j(n,x)（x的n阶贝塞尔函数）。</a:t>
            </a:r>
          </a:p>
          <a:p>
            <a:pPr>
              <a:spcBef>
                <a:spcPct val="0"/>
              </a:spcBef>
              <a:spcAft>
                <a:spcPct val="0"/>
              </a:spcAft>
            </a:pPr>
            <a:r>
              <a:rPr lang="zh-CN" altLang="en-US" sz="3200"/>
              <a:t>（3）自定义函数：方法为：</a:t>
            </a:r>
          </a:p>
          <a:p>
            <a:pPr lvl="1">
              <a:spcBef>
                <a:spcPct val="0"/>
              </a:spcBef>
              <a:spcAft>
                <a:spcPct val="0"/>
              </a:spcAft>
            </a:pPr>
            <a:r>
              <a:rPr lang="zh-CN" altLang="en-US" sz="3200"/>
              <a:t>define func_name(parameters) {</a:t>
            </a:r>
          </a:p>
          <a:p>
            <a:pPr lvl="1">
              <a:spcBef>
                <a:spcPct val="0"/>
              </a:spcBef>
              <a:spcAft>
                <a:spcPct val="0"/>
              </a:spcAft>
            </a:pPr>
            <a:r>
              <a:rPr lang="zh-CN" altLang="en-US" sz="3200"/>
              <a:t>	auto_list</a:t>
            </a:r>
          </a:p>
          <a:p>
            <a:pPr lvl="1">
              <a:spcBef>
                <a:spcPct val="0"/>
              </a:spcBef>
              <a:spcAft>
                <a:spcPct val="0"/>
              </a:spcAft>
            </a:pPr>
            <a:r>
              <a:rPr lang="zh-CN" altLang="en-US" sz="3200"/>
              <a:t>	statement_list</a:t>
            </a:r>
          </a:p>
          <a:p>
            <a:pPr lvl="1">
              <a:spcBef>
                <a:spcPct val="0"/>
              </a:spcBef>
              <a:spcAft>
                <a:spcPct val="0"/>
              </a:spcAft>
            </a:pPr>
            <a:r>
              <a:rPr lang="zh-CN" altLang="en-US" sz="3200"/>
              <a:t>}</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5650" name="标题 1">
            <a:extLst>
              <a:ext uri="{FF2B5EF4-FFF2-40B4-BE49-F238E27FC236}">
                <a16:creationId xmlns:a16="http://schemas.microsoft.com/office/drawing/2014/main" id="{AD52627E-83A3-ABBC-1F74-06944986FC0C}"/>
              </a:ext>
            </a:extLst>
          </p:cNvPr>
          <p:cNvSpPr>
            <a:spLocks noGrp="1" noChangeArrowheads="1"/>
          </p:cNvSpPr>
          <p:nvPr>
            <p:ph type="title"/>
          </p:nvPr>
        </p:nvSpPr>
        <p:spPr/>
        <p:txBody>
          <a:bodyPr/>
          <a:lstStyle/>
          <a:p>
            <a:r>
              <a:rPr lang="zh-CN" altLang="en-US">
                <a:sym typeface="+mn-ea"/>
              </a:rPr>
              <a:t>7）语句</a:t>
            </a:r>
            <a:endParaRPr lang="zh-CN" altLang="en-US"/>
          </a:p>
        </p:txBody>
      </p:sp>
      <p:sp>
        <p:nvSpPr>
          <p:cNvPr id="155651" name="内容占位符 2">
            <a:extLst>
              <a:ext uri="{FF2B5EF4-FFF2-40B4-BE49-F238E27FC236}">
                <a16:creationId xmlns:a16="http://schemas.microsoft.com/office/drawing/2014/main" id="{B9F4CF6F-471F-6BE1-FE0C-C17C7DFCFCC1}"/>
              </a:ext>
            </a:extLst>
          </p:cNvPr>
          <p:cNvSpPr>
            <a:spLocks noGrp="1" noChangeArrowheads="1"/>
          </p:cNvSpPr>
          <p:nvPr>
            <p:ph idx="1"/>
          </p:nvPr>
        </p:nvSpPr>
        <p:spPr>
          <a:xfrm>
            <a:off x="34925" y="620713"/>
            <a:ext cx="9109075" cy="5761037"/>
          </a:xfrm>
        </p:spPr>
        <p:txBody>
          <a:bodyPr/>
          <a:lstStyle/>
          <a:p>
            <a:pPr>
              <a:spcBef>
                <a:spcPct val="0"/>
              </a:spcBef>
              <a:spcAft>
                <a:spcPct val="0"/>
              </a:spcAft>
            </a:pPr>
            <a:r>
              <a:rPr lang="zh-CN" altLang="en-US" sz="3200"/>
              <a:t>bc可使用的语句有：</a:t>
            </a:r>
          </a:p>
          <a:p>
            <a:pPr>
              <a:spcBef>
                <a:spcPct val="0"/>
              </a:spcBef>
              <a:spcAft>
                <a:spcPct val="0"/>
              </a:spcAft>
            </a:pPr>
            <a:r>
              <a:rPr lang="zh-CN" altLang="en-US" sz="3200"/>
              <a:t>print list（输出列表）；</a:t>
            </a:r>
          </a:p>
          <a:p>
            <a:pPr>
              <a:spcBef>
                <a:spcPct val="0"/>
              </a:spcBef>
              <a:spcAft>
                <a:spcPct val="0"/>
              </a:spcAft>
            </a:pPr>
            <a:r>
              <a:rPr lang="zh-CN" altLang="en-US" sz="3200"/>
              <a:t>if(expr) statement1 else statement2（if结构）；</a:t>
            </a:r>
          </a:p>
          <a:p>
            <a:pPr>
              <a:spcBef>
                <a:spcPct val="0"/>
              </a:spcBef>
              <a:spcAft>
                <a:spcPct val="0"/>
              </a:spcAft>
            </a:pPr>
            <a:r>
              <a:rPr lang="zh-CN" altLang="en-US" sz="3200"/>
              <a:t>while(expr) statement（while结构）；</a:t>
            </a:r>
          </a:p>
          <a:p>
            <a:pPr>
              <a:spcBef>
                <a:spcPct val="0"/>
              </a:spcBef>
              <a:spcAft>
                <a:spcPct val="0"/>
              </a:spcAft>
            </a:pPr>
            <a:r>
              <a:rPr lang="zh-CN" altLang="en-US" sz="3200"/>
              <a:t>for([expr1];[expr2];[expr3]) statements（for结构）；</a:t>
            </a:r>
          </a:p>
          <a:p>
            <a:pPr>
              <a:spcBef>
                <a:spcPct val="0"/>
              </a:spcBef>
              <a:spcAft>
                <a:spcPct val="0"/>
              </a:spcAft>
            </a:pPr>
            <a:r>
              <a:rPr lang="zh-CN" altLang="en-US" sz="3200"/>
              <a:t>break；continue（循环控制）；</a:t>
            </a:r>
          </a:p>
          <a:p>
            <a:pPr>
              <a:spcBef>
                <a:spcPct val="0"/>
              </a:spcBef>
              <a:spcAft>
                <a:spcPct val="0"/>
              </a:spcAft>
            </a:pPr>
            <a:r>
              <a:rPr lang="zh-CN" altLang="en-US" sz="3200"/>
              <a:t>halt、quit（退出bc）；return，return(expr)（函数中返回）；</a:t>
            </a:r>
          </a:p>
          <a:p>
            <a:pPr>
              <a:spcBef>
                <a:spcPct val="0"/>
              </a:spcBef>
              <a:spcAft>
                <a:spcPct val="0"/>
              </a:spcAft>
            </a:pPr>
            <a:r>
              <a:rPr lang="zh-CN" altLang="en-US" sz="3200"/>
              <a:t>limits（显示bc的最大值）等。</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6674" name="标题 1">
            <a:extLst>
              <a:ext uri="{FF2B5EF4-FFF2-40B4-BE49-F238E27FC236}">
                <a16:creationId xmlns:a16="http://schemas.microsoft.com/office/drawing/2014/main" id="{4B31BFA9-E3C5-6678-3220-8CB560B4CFB5}"/>
              </a:ext>
            </a:extLst>
          </p:cNvPr>
          <p:cNvSpPr>
            <a:spLocks noGrp="1" noChangeArrowheads="1"/>
          </p:cNvSpPr>
          <p:nvPr>
            <p:ph type="title"/>
          </p:nvPr>
        </p:nvSpPr>
        <p:spPr/>
        <p:txBody>
          <a:bodyPr/>
          <a:lstStyle/>
          <a:p>
            <a:r>
              <a:rPr lang="zh-CN" altLang="en-US"/>
              <a:t>8）示例</a:t>
            </a:r>
          </a:p>
        </p:txBody>
      </p:sp>
      <p:sp>
        <p:nvSpPr>
          <p:cNvPr id="156675" name="内容占位符 2">
            <a:extLst>
              <a:ext uri="{FF2B5EF4-FFF2-40B4-BE49-F238E27FC236}">
                <a16:creationId xmlns:a16="http://schemas.microsoft.com/office/drawing/2014/main" id="{2EC022F1-21EE-7945-7DDC-5028E070DBA1}"/>
              </a:ext>
            </a:extLst>
          </p:cNvPr>
          <p:cNvSpPr>
            <a:spLocks noGrp="1" noChangeArrowheads="1"/>
          </p:cNvSpPr>
          <p:nvPr>
            <p:ph idx="1"/>
          </p:nvPr>
        </p:nvSpPr>
        <p:spPr>
          <a:xfrm>
            <a:off x="34925" y="549275"/>
            <a:ext cx="9074150" cy="5761038"/>
          </a:xfrm>
        </p:spPr>
        <p:txBody>
          <a:bodyPr/>
          <a:lstStyle/>
          <a:p>
            <a:pPr>
              <a:spcBef>
                <a:spcPct val="0"/>
              </a:spcBef>
              <a:spcAft>
                <a:spcPct val="0"/>
              </a:spcAft>
            </a:pPr>
            <a:r>
              <a:rPr lang="zh-CN" altLang="en-US" sz="3600"/>
              <a:t>（1）一般（数学）计算。</a:t>
            </a:r>
          </a:p>
          <a:p>
            <a:pPr>
              <a:spcBef>
                <a:spcPct val="0"/>
              </a:spcBef>
              <a:spcAft>
                <a:spcPct val="0"/>
              </a:spcAft>
            </a:pPr>
            <a:r>
              <a:rPr lang="zh-CN" altLang="en-US" sz="3600"/>
              <a:t>#bc -l </a:t>
            </a:r>
            <a:r>
              <a:rPr lang="en-US" altLang="zh-CN" sz="3600"/>
              <a:t>	</a:t>
            </a:r>
            <a:r>
              <a:rPr lang="zh-CN" altLang="en-US" sz="3600"/>
              <a:t>#（使用库函数）进入bc，输入以下内容</a:t>
            </a:r>
          </a:p>
          <a:p>
            <a:pPr>
              <a:spcBef>
                <a:spcPct val="0"/>
              </a:spcBef>
              <a:spcAft>
                <a:spcPct val="0"/>
              </a:spcAft>
            </a:pPr>
            <a:r>
              <a:rPr lang="zh-CN" altLang="en-US" sz="3600"/>
              <a:t>	scale=4		</a:t>
            </a:r>
            <a:r>
              <a:rPr lang="en-US" altLang="zh-CN" sz="3600"/>
              <a:t>	</a:t>
            </a:r>
            <a:r>
              <a:rPr lang="zh-CN" altLang="en-US" sz="3600"/>
              <a:t>/*定义小数位数*/</a:t>
            </a:r>
          </a:p>
          <a:p>
            <a:pPr>
              <a:spcBef>
                <a:spcPct val="0"/>
              </a:spcBef>
              <a:spcAft>
                <a:spcPct val="0"/>
              </a:spcAft>
            </a:pPr>
            <a:r>
              <a:rPr lang="zh-CN" altLang="en-US" sz="3600"/>
              <a:t>	123+456*850-s(2)^2</a:t>
            </a:r>
          </a:p>
          <a:p>
            <a:pPr>
              <a:spcBef>
                <a:spcPct val="0"/>
              </a:spcBef>
              <a:spcAft>
                <a:spcPct val="0"/>
              </a:spcAft>
            </a:pPr>
            <a:r>
              <a:rPr lang="zh-CN" altLang="en-US" sz="3600"/>
              <a:t>	387722.1734		/*输出结果*/</a:t>
            </a:r>
          </a:p>
          <a:p>
            <a:pPr>
              <a:spcBef>
                <a:spcPct val="0"/>
              </a:spcBef>
              <a:spcAft>
                <a:spcPct val="0"/>
              </a:spcAft>
            </a:pPr>
            <a:r>
              <a:rPr lang="zh-CN" altLang="en-US" sz="3600"/>
              <a:t>（2）进制转换。</a:t>
            </a:r>
          </a:p>
          <a:p>
            <a:pPr>
              <a:spcBef>
                <a:spcPct val="0"/>
              </a:spcBef>
              <a:spcAft>
                <a:spcPct val="0"/>
              </a:spcAft>
            </a:pPr>
            <a:r>
              <a:rPr lang="zh-CN" altLang="en-US" sz="3600"/>
              <a:t>	obase=16		/*定义输出进制为16*/</a:t>
            </a:r>
          </a:p>
          <a:p>
            <a:pPr>
              <a:spcBef>
                <a:spcPct val="0"/>
              </a:spcBef>
              <a:spcAft>
                <a:spcPct val="0"/>
              </a:spcAft>
            </a:pPr>
            <a:r>
              <a:rPr lang="zh-CN" altLang="en-US" sz="3600"/>
              <a:t>	32767		</a:t>
            </a:r>
            <a:r>
              <a:rPr lang="en-US" altLang="zh-CN" sz="3600"/>
              <a:t>	</a:t>
            </a:r>
            <a:r>
              <a:rPr lang="zh-CN" altLang="en-US" sz="3600"/>
              <a:t>/*结果为7FFF*/</a:t>
            </a:r>
          </a:p>
          <a:p>
            <a:pPr>
              <a:spcBef>
                <a:spcPct val="0"/>
              </a:spcBef>
              <a:spcAft>
                <a:spcPct val="0"/>
              </a:spcAft>
            </a:pPr>
            <a:r>
              <a:rPr lang="zh-CN" altLang="en-US" sz="3600"/>
              <a:t>	123456		</a:t>
            </a:r>
            <a:r>
              <a:rPr lang="en-US" altLang="zh-CN" sz="3600"/>
              <a:t>	</a:t>
            </a:r>
            <a:r>
              <a:rPr lang="zh-CN" altLang="en-US" sz="3600"/>
              <a:t>/*结果为1E240*/</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7698" name="标题 1">
            <a:extLst>
              <a:ext uri="{FF2B5EF4-FFF2-40B4-BE49-F238E27FC236}">
                <a16:creationId xmlns:a16="http://schemas.microsoft.com/office/drawing/2014/main" id="{35360B68-E72F-66E4-8DDC-650D0D2BB75D}"/>
              </a:ext>
            </a:extLst>
          </p:cNvPr>
          <p:cNvSpPr>
            <a:spLocks noGrp="1" noChangeArrowheads="1"/>
          </p:cNvSpPr>
          <p:nvPr>
            <p:ph type="title"/>
          </p:nvPr>
        </p:nvSpPr>
        <p:spPr/>
        <p:txBody>
          <a:bodyPr/>
          <a:lstStyle/>
          <a:p>
            <a:r>
              <a:rPr lang="zh-CN" altLang="en-US">
                <a:sym typeface="+mn-ea"/>
              </a:rPr>
              <a:t>8）示例（续）</a:t>
            </a:r>
            <a:endParaRPr lang="zh-CN" altLang="en-US"/>
          </a:p>
        </p:txBody>
      </p:sp>
      <p:sp>
        <p:nvSpPr>
          <p:cNvPr id="157699" name="内容占位符 2">
            <a:extLst>
              <a:ext uri="{FF2B5EF4-FFF2-40B4-BE49-F238E27FC236}">
                <a16:creationId xmlns:a16="http://schemas.microsoft.com/office/drawing/2014/main" id="{1F6CA64D-8FB5-9EA8-4AB7-9E8B67DA07F5}"/>
              </a:ext>
            </a:extLst>
          </p:cNvPr>
          <p:cNvSpPr>
            <a:spLocks noGrp="1" noChangeArrowheads="1"/>
          </p:cNvSpPr>
          <p:nvPr>
            <p:ph idx="1"/>
          </p:nvPr>
        </p:nvSpPr>
        <p:spPr>
          <a:xfrm>
            <a:off x="0" y="620713"/>
            <a:ext cx="9036050" cy="5761037"/>
          </a:xfrm>
        </p:spPr>
        <p:txBody>
          <a:bodyPr/>
          <a:lstStyle/>
          <a:p>
            <a:pPr>
              <a:spcBef>
                <a:spcPct val="0"/>
              </a:spcBef>
              <a:spcAft>
                <a:spcPct val="0"/>
              </a:spcAft>
            </a:pPr>
            <a:r>
              <a:rPr lang="zh-CN" altLang="en-US" sz="3200" dirty="0"/>
              <a:t>（3）使用自定义函数。</a:t>
            </a:r>
          </a:p>
          <a:p>
            <a:pPr>
              <a:spcBef>
                <a:spcPct val="0"/>
              </a:spcBef>
              <a:spcAft>
                <a:spcPct val="0"/>
              </a:spcAft>
            </a:pPr>
            <a:r>
              <a:rPr lang="zh-CN" altLang="en-US" sz="3200" dirty="0"/>
              <a:t>#bc </a:t>
            </a:r>
            <a:r>
              <a:rPr lang="en-US" altLang="zh-CN" sz="3200" dirty="0"/>
              <a:t>-</a:t>
            </a:r>
            <a:r>
              <a:rPr lang="zh-CN" altLang="en-US" sz="3200" dirty="0"/>
              <a:t>l		#</a:t>
            </a:r>
            <a:r>
              <a:rPr lang="zh-CN" altLang="en-US" sz="3200" dirty="0">
                <a:sym typeface="+mn-ea"/>
              </a:rPr>
              <a:t>（</a:t>
            </a:r>
            <a:r>
              <a:rPr lang="zh-CN" altLang="en-US" sz="3200" dirty="0"/>
              <a:t>-l使用库函数）</a:t>
            </a:r>
            <a:endParaRPr lang="en-US" altLang="zh-CN" sz="3200" dirty="0"/>
          </a:p>
          <a:p>
            <a:pPr>
              <a:spcBef>
                <a:spcPct val="0"/>
              </a:spcBef>
              <a:spcAft>
                <a:spcPct val="0"/>
              </a:spcAft>
            </a:pPr>
            <a:r>
              <a:rPr lang="zh-CN" altLang="en-US" sz="3200" dirty="0"/>
              <a:t>scale=2</a:t>
            </a:r>
          </a:p>
          <a:p>
            <a:pPr>
              <a:spcBef>
                <a:spcPct val="0"/>
              </a:spcBef>
              <a:spcAft>
                <a:spcPct val="0"/>
              </a:spcAft>
            </a:pPr>
            <a:r>
              <a:rPr lang="zh-CN" altLang="en-US" sz="3200" dirty="0"/>
              <a:t>define myf(x) {	/*定义函数myf*/</a:t>
            </a:r>
          </a:p>
          <a:p>
            <a:pPr>
              <a:spcBef>
                <a:spcPct val="0"/>
              </a:spcBef>
              <a:spcAft>
                <a:spcPct val="0"/>
              </a:spcAft>
            </a:pPr>
            <a:r>
              <a:rPr lang="zh-CN" altLang="en-US" sz="3200" dirty="0"/>
              <a:t>	auto i,j		/*定义自动变量*/</a:t>
            </a:r>
          </a:p>
          <a:p>
            <a:pPr>
              <a:spcBef>
                <a:spcPct val="0"/>
              </a:spcBef>
              <a:spcAft>
                <a:spcPct val="0"/>
              </a:spcAft>
            </a:pPr>
            <a:r>
              <a:rPr lang="zh-CN" altLang="en-US" sz="3200" dirty="0"/>
              <a:t>	j=1</a:t>
            </a:r>
          </a:p>
          <a:p>
            <a:pPr>
              <a:spcBef>
                <a:spcPct val="0"/>
              </a:spcBef>
              <a:spcAft>
                <a:spcPct val="0"/>
              </a:spcAft>
            </a:pPr>
            <a:r>
              <a:rPr lang="zh-CN" altLang="en-US" sz="3200" dirty="0"/>
              <a:t>	for(i=1;i&lt;=x;i++)</a:t>
            </a:r>
          </a:p>
          <a:p>
            <a:pPr>
              <a:spcBef>
                <a:spcPct val="0"/>
              </a:spcBef>
              <a:spcAft>
                <a:spcPct val="0"/>
              </a:spcAft>
            </a:pPr>
            <a:r>
              <a:rPr lang="zh-CN" altLang="en-US" sz="3200" dirty="0"/>
              <a:t>		j=i*j</a:t>
            </a:r>
          </a:p>
          <a:p>
            <a:pPr>
              <a:spcBef>
                <a:spcPct val="0"/>
              </a:spcBef>
              <a:spcAft>
                <a:spcPct val="0"/>
              </a:spcAft>
            </a:pPr>
            <a:r>
              <a:rPr lang="zh-CN" altLang="en-US" sz="3200" dirty="0"/>
              <a:t>	return (j)</a:t>
            </a:r>
          </a:p>
          <a:p>
            <a:pPr>
              <a:spcBef>
                <a:spcPct val="0"/>
              </a:spcBef>
              <a:spcAft>
                <a:spcPct val="0"/>
              </a:spcAft>
            </a:pPr>
            <a:r>
              <a:rPr lang="zh-CN" altLang="en-US" sz="3200" dirty="0"/>
              <a:t>}</a:t>
            </a:r>
          </a:p>
          <a:p>
            <a:pPr>
              <a:spcBef>
                <a:spcPct val="0"/>
              </a:spcBef>
              <a:spcAft>
                <a:spcPct val="0"/>
              </a:spcAft>
            </a:pPr>
            <a:r>
              <a:rPr lang="zh-CN" altLang="en-US" sz="3200" dirty="0"/>
              <a:t>myf(5) 		/*计算myf(5)，结果为：120*/</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8722" name="标题 1">
            <a:extLst>
              <a:ext uri="{FF2B5EF4-FFF2-40B4-BE49-F238E27FC236}">
                <a16:creationId xmlns:a16="http://schemas.microsoft.com/office/drawing/2014/main" id="{221FC195-B051-CC91-B426-584370B78609}"/>
              </a:ext>
            </a:extLst>
          </p:cNvPr>
          <p:cNvSpPr>
            <a:spLocks noGrp="1" noChangeArrowheads="1"/>
          </p:cNvSpPr>
          <p:nvPr>
            <p:ph type="title"/>
          </p:nvPr>
        </p:nvSpPr>
        <p:spPr/>
        <p:txBody>
          <a:bodyPr/>
          <a:lstStyle/>
          <a:p>
            <a:r>
              <a:rPr lang="zh-CN" altLang="en-US">
                <a:sym typeface="+mn-ea"/>
              </a:rPr>
              <a:t>8）示例（续）</a:t>
            </a:r>
            <a:endParaRPr lang="zh-CN" altLang="en-US"/>
          </a:p>
        </p:txBody>
      </p:sp>
      <p:sp>
        <p:nvSpPr>
          <p:cNvPr id="158723" name="内容占位符 2">
            <a:extLst>
              <a:ext uri="{FF2B5EF4-FFF2-40B4-BE49-F238E27FC236}">
                <a16:creationId xmlns:a16="http://schemas.microsoft.com/office/drawing/2014/main" id="{B82DA5B7-57B6-471B-3E25-5D75A480EA65}"/>
              </a:ext>
            </a:extLst>
          </p:cNvPr>
          <p:cNvSpPr>
            <a:spLocks noGrp="1" noChangeArrowheads="1"/>
          </p:cNvSpPr>
          <p:nvPr>
            <p:ph idx="1"/>
          </p:nvPr>
        </p:nvSpPr>
        <p:spPr>
          <a:xfrm>
            <a:off x="34925" y="620713"/>
            <a:ext cx="9001125" cy="5761037"/>
          </a:xfrm>
        </p:spPr>
        <p:txBody>
          <a:bodyPr/>
          <a:lstStyle/>
          <a:p>
            <a:pPr>
              <a:spcBef>
                <a:spcPct val="0"/>
              </a:spcBef>
              <a:spcAft>
                <a:spcPct val="0"/>
              </a:spcAft>
            </a:pPr>
            <a:r>
              <a:rPr lang="zh-CN" altLang="en-US" sz="4000"/>
              <a:t>（4）在shell中使用bc计算。</a:t>
            </a:r>
          </a:p>
          <a:p>
            <a:pPr>
              <a:spcBef>
                <a:spcPct val="0"/>
              </a:spcBef>
              <a:spcAft>
                <a:spcPct val="0"/>
              </a:spcAft>
            </a:pPr>
            <a:r>
              <a:rPr lang="zh-CN" altLang="en-US" sz="4000">
                <a:sym typeface="+mn-ea"/>
              </a:rPr>
              <a:t>#计算并显示π的值</a:t>
            </a:r>
          </a:p>
          <a:p>
            <a:pPr>
              <a:spcBef>
                <a:spcPct val="0"/>
              </a:spcBef>
              <a:spcAft>
                <a:spcPct val="0"/>
              </a:spcAft>
            </a:pPr>
            <a:r>
              <a:rPr lang="zh-CN" altLang="en-US" sz="4000"/>
              <a:t>$ echo "scale=10; 4*a(1)" | bc -l	</a:t>
            </a:r>
          </a:p>
          <a:p>
            <a:pPr>
              <a:spcBef>
                <a:spcPct val="0"/>
              </a:spcBef>
              <a:spcAft>
                <a:spcPct val="0"/>
              </a:spcAft>
            </a:pPr>
            <a:r>
              <a:rPr lang="zh-CN" altLang="en-US" sz="4000">
                <a:sym typeface="+mn-ea"/>
              </a:rPr>
              <a:t>#计算π的值，并赋给变量pi</a:t>
            </a:r>
            <a:endParaRPr lang="zh-CN" altLang="en-US" sz="4000"/>
          </a:p>
          <a:p>
            <a:pPr>
              <a:spcBef>
                <a:spcPct val="0"/>
              </a:spcBef>
              <a:spcAft>
                <a:spcPct val="0"/>
              </a:spcAft>
            </a:pPr>
            <a:r>
              <a:rPr lang="zh-CN" altLang="en-US" sz="4000"/>
              <a:t>$ pi=$( echo 'scale=10; 4*a(1)' | bc -l) </a:t>
            </a:r>
          </a:p>
          <a:p>
            <a:pPr>
              <a:spcBef>
                <a:spcPct val="0"/>
              </a:spcBef>
              <a:spcAft>
                <a:spcPct val="0"/>
              </a:spcAft>
            </a:pPr>
            <a:r>
              <a:rPr lang="zh-CN" altLang="en-US" sz="4000"/>
              <a:t>$ echo $pi	#显示π的值：3.1415926532</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内容占位符 2">
            <a:extLst>
              <a:ext uri="{FF2B5EF4-FFF2-40B4-BE49-F238E27FC236}">
                <a16:creationId xmlns:a16="http://schemas.microsoft.com/office/drawing/2014/main" id="{35C345B9-46C7-23E3-E72A-A185D15CF657}"/>
              </a:ext>
            </a:extLst>
          </p:cNvPr>
          <p:cNvSpPr>
            <a:spLocks noGrp="1" noChangeArrowheads="1"/>
          </p:cNvSpPr>
          <p:nvPr>
            <p:ph idx="1"/>
          </p:nvPr>
        </p:nvSpPr>
        <p:spPr/>
        <p:txBody>
          <a:bodyPr/>
          <a:lstStyle/>
          <a:p>
            <a:pPr marL="0" indent="0">
              <a:buFont typeface="Arial" panose="020B0604020202020204" pitchFamily="34" charset="0"/>
              <a:buNone/>
            </a:pPr>
            <a:r>
              <a:rPr lang="zh-CN" altLang="en-US" sz="6000"/>
              <a:t>一、第三章作业</a:t>
            </a:r>
            <a:endParaRPr lang="en-US" altLang="zh-CN" sz="6000"/>
          </a:p>
          <a:p>
            <a:pPr marL="0" indent="0">
              <a:buFont typeface="Arial" panose="020B0604020202020204" pitchFamily="34" charset="0"/>
              <a:buNone/>
            </a:pPr>
            <a:r>
              <a:rPr lang="en-US" altLang="zh-CN" sz="6000"/>
              <a:t>    </a:t>
            </a:r>
            <a:r>
              <a:rPr lang="zh-CN" altLang="en-US" sz="6000"/>
              <a:t>教材课后习题</a:t>
            </a:r>
            <a:r>
              <a:rPr lang="en-US" altLang="zh-CN" sz="6000"/>
              <a:t>3</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 PL SungtiL GB"/>
        <a:ea typeface="华文新魏"/>
        <a:cs typeface=""/>
      </a:majorFont>
      <a:minorFont>
        <a:latin typeface="AR PL SungtiL GB"/>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4700</TotalTime>
  <Words>18936</Words>
  <Application>Microsoft Office PowerPoint</Application>
  <PresentationFormat>全屏显示(4:3)</PresentationFormat>
  <Paragraphs>1241</Paragraphs>
  <Slides>148</Slides>
  <Notes>3</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148</vt:i4>
      </vt:variant>
    </vt:vector>
  </HeadingPairs>
  <TitlesOfParts>
    <vt:vector size="160" baseType="lpstr">
      <vt:lpstr>AR PL SungtiL GB</vt:lpstr>
      <vt:lpstr>ibm-plex-sans</vt:lpstr>
      <vt:lpstr>StarSymbol</vt:lpstr>
      <vt:lpstr>黑体</vt:lpstr>
      <vt:lpstr>华文新魏</vt:lpstr>
      <vt:lpstr>宋体</vt:lpstr>
      <vt:lpstr>Arial</vt:lpstr>
      <vt:lpstr>Courier New</vt:lpstr>
      <vt:lpstr>Tahoma</vt:lpstr>
      <vt:lpstr>Times New Roman</vt:lpstr>
      <vt:lpstr>默认设计模板</vt:lpstr>
      <vt:lpstr>自定义设计方案</vt:lpstr>
      <vt:lpstr>PowerPoint 演示文稿</vt:lpstr>
      <vt:lpstr>第三章 shell与shell基本操作 （4学时）</vt:lpstr>
      <vt:lpstr>第三章 shell与shell基本操作</vt:lpstr>
      <vt:lpstr>第三章 shell与shell基本操作</vt:lpstr>
      <vt:lpstr>第三章 shell与shell基本操作</vt:lpstr>
      <vt:lpstr>第三章 shell与shell基本操作</vt:lpstr>
      <vt:lpstr>第三章 shell与shell基本操作</vt:lpstr>
      <vt:lpstr>第三章 shell与shell基本操作</vt:lpstr>
      <vt:lpstr>第三章 shell与shell基本操作</vt:lpstr>
      <vt:lpstr>第三章 shell与shell基本操作</vt:lpstr>
      <vt:lpstr>第三章 shell与shell基本操作</vt:lpstr>
      <vt:lpstr>第三章 shell与shell基本操作</vt:lpstr>
      <vt:lpstr>第三章 shell与shell基本操作</vt:lpstr>
      <vt:lpstr>第三章 shell与shell基本操作</vt:lpstr>
      <vt:lpstr>第三章 shell与shell基本操作</vt:lpstr>
      <vt:lpstr>第三章 shell与shell基本操作</vt:lpstr>
      <vt:lpstr>第三章 shell与shell基本操作</vt:lpstr>
      <vt:lpstr>第三章 shell与shell基本操作</vt:lpstr>
      <vt:lpstr>第三章 shell与shell基本操作</vt:lpstr>
      <vt:lpstr>PowerPoint 演示文稿</vt:lpstr>
      <vt:lpstr>PowerPoint 演示文稿</vt:lpstr>
      <vt:lpstr>PowerPoint 演示文稿</vt:lpstr>
      <vt:lpstr>第三章 shell与shell基本操作</vt:lpstr>
      <vt:lpstr>第三章 shell与shell基本操作</vt:lpstr>
      <vt:lpstr>Linux 系统的根目录结构说明</vt:lpstr>
      <vt:lpstr>第三章 shell与shell基本操作</vt:lpstr>
      <vt:lpstr>第三章 shell与shell基本操作</vt:lpstr>
      <vt:lpstr>第三章 shell与shell基本操作</vt:lpstr>
      <vt:lpstr>第三章 shell与shell基本操作</vt:lpstr>
      <vt:lpstr>第三章 shell与shell基本操作</vt:lpstr>
      <vt:lpstr>第三章 shell与shell基本操作</vt:lpstr>
      <vt:lpstr>第三章 shell与shell基本操作</vt:lpstr>
      <vt:lpstr>1）命令和文件名扩展</vt:lpstr>
      <vt:lpstr>2）命令行编辑</vt:lpstr>
      <vt:lpstr>3）历史记录</vt:lpstr>
      <vt:lpstr>history命令</vt:lpstr>
      <vt:lpstr>3.1.6 标准流与I/O重定向</vt:lpstr>
      <vt:lpstr>对于一条 Linux 的命令执行的过程如下</vt:lpstr>
      <vt:lpstr>PowerPoint 演示文稿</vt:lpstr>
      <vt:lpstr>PowerPoint 演示文稿</vt:lpstr>
      <vt:lpstr>PowerPoint 演示文稿</vt:lpstr>
      <vt:lpstr>PowerPoint 演示文稿</vt:lpstr>
      <vt:lpstr>4）标准输出、错误同时重定向</vt:lpstr>
      <vt:lpstr>3.1.7  管道与三通</vt:lpstr>
      <vt:lpstr>1．管道</vt:lpstr>
      <vt:lpstr>2．三通（tee）</vt:lpstr>
      <vt:lpstr>tee命令使用示例</vt:lpstr>
      <vt:lpstr>3.1.8  变量与环境变量</vt:lpstr>
      <vt:lpstr>变量的定义方法与示例</vt:lpstr>
      <vt:lpstr>2．环境变量</vt:lpstr>
      <vt:lpstr>常用的shell环境变量</vt:lpstr>
      <vt:lpstr>3.1.9  引号机制、命令替换与变量替换</vt:lpstr>
      <vt:lpstr>1）单引号</vt:lpstr>
      <vt:lpstr>2）反单引号</vt:lpstr>
      <vt:lpstr>命令替换的另一种形式</vt:lpstr>
      <vt:lpstr>3）双引号</vt:lpstr>
      <vt:lpstr>双引号使用示例</vt:lpstr>
      <vt:lpstr>2．参数替换</vt:lpstr>
      <vt:lpstr>3.1.10  shell命令的执行</vt:lpstr>
      <vt:lpstr>1．命令搜索</vt:lpstr>
      <vt:lpstr>2．标准流与程序I/O</vt:lpstr>
      <vt:lpstr>3．命令的返回值</vt:lpstr>
      <vt:lpstr>3.1.11  shell种类</vt:lpstr>
      <vt:lpstr>bash</vt:lpstr>
      <vt:lpstr>3.2  Linux系统的基本命令</vt:lpstr>
      <vt:lpstr>3.2.1  目录基本操作命令</vt:lpstr>
      <vt:lpstr>1．列目录内容（ls）</vt:lpstr>
      <vt:lpstr>2）参数说明</vt:lpstr>
      <vt:lpstr>3）示例</vt:lpstr>
      <vt:lpstr>4） ls的输出与文件属性</vt:lpstr>
      <vt:lpstr>2．建立目录（mkdir）</vt:lpstr>
      <vt:lpstr>2．建立目录（mkdir）</vt:lpstr>
      <vt:lpstr>3．删除目录（rmdir）</vt:lpstr>
      <vt:lpstr>4．改变工作目录（cd）</vt:lpstr>
      <vt:lpstr>5．显示当前目录（pwd）</vt:lpstr>
      <vt:lpstr>3.2.2  文件操作基本命令</vt:lpstr>
      <vt:lpstr>1.显示文件内容或合并文件（cat）</vt:lpstr>
      <vt:lpstr>2）参数说明</vt:lpstr>
      <vt:lpstr>3）应用举例</vt:lpstr>
      <vt:lpstr>2．分屏显示文件内容（more）</vt:lpstr>
      <vt:lpstr>2）参数与命令说明</vt:lpstr>
      <vt:lpstr>more命令的部分屏幕操作命令</vt:lpstr>
      <vt:lpstr>3）应用举例</vt:lpstr>
      <vt:lpstr>3．使用less命令浏览文件</vt:lpstr>
      <vt:lpstr>4．文件或目录的删除（rm, unlink）</vt:lpstr>
      <vt:lpstr>2）rm命令的部分参数</vt:lpstr>
      <vt:lpstr>3）示例</vt:lpstr>
      <vt:lpstr>5．文件移动或更名（mv）</vt:lpstr>
      <vt:lpstr>2）示例</vt:lpstr>
      <vt:lpstr>6．文件和目录复制（cp）</vt:lpstr>
      <vt:lpstr>2）cp命令的部分选项</vt:lpstr>
      <vt:lpstr>3）示例</vt:lpstr>
      <vt:lpstr>3.2.3  文本文件编辑与操作基本命令</vt:lpstr>
      <vt:lpstr>1．文本编辑命令（vi）</vt:lpstr>
      <vt:lpstr>vi的临时文件</vt:lpstr>
      <vt:lpstr>vi有三种工作模式：</vt:lpstr>
      <vt:lpstr>1）参数说明</vt:lpstr>
      <vt:lpstr>2）vi的基本操作</vt:lpstr>
      <vt:lpstr>（1）编辑模式</vt:lpstr>
      <vt:lpstr>（2）删除命令</vt:lpstr>
      <vt:lpstr>（3）修改或替换</vt:lpstr>
      <vt:lpstr>（4）搜索与定位</vt:lpstr>
      <vt:lpstr>（4）搜索与定位</vt:lpstr>
      <vt:lpstr>（5）搜索和替换</vt:lpstr>
      <vt:lpstr>（6）块操作命令</vt:lpstr>
      <vt:lpstr>（7）缓冲区操作</vt:lpstr>
      <vt:lpstr>缓冲区操作命令</vt:lpstr>
      <vt:lpstr>（8）其他命令</vt:lpstr>
      <vt:lpstr>（9）保存与退出</vt:lpstr>
      <vt:lpstr>2．文件内容信息统计（wc）</vt:lpstr>
      <vt:lpstr>2）参数说明</vt:lpstr>
      <vt:lpstr>3）示例</vt:lpstr>
      <vt:lpstr>3.2.6  进程管理基本命令（与第六章共同学习）</vt:lpstr>
      <vt:lpstr>1．信号及默认处理方式</vt:lpstr>
      <vt:lpstr>常用信号</vt:lpstr>
      <vt:lpstr>2. 进程树及进程状态查询(pstree)</vt:lpstr>
      <vt:lpstr>2）参数说明</vt:lpstr>
      <vt:lpstr>3）示例</vt:lpstr>
      <vt:lpstr>3．终止进程执行（kill）</vt:lpstr>
      <vt:lpstr>2）参数说明</vt:lpstr>
      <vt:lpstr>3）使用举例</vt:lpstr>
      <vt:lpstr>3.2.8  其他操作命令</vt:lpstr>
      <vt:lpstr>1．清屏命令（clear）</vt:lpstr>
      <vt:lpstr>2．字符串或变量输出命令（echo）</vt:lpstr>
      <vt:lpstr>3）示例</vt:lpstr>
      <vt:lpstr>3．变量输入命令（read）</vt:lpstr>
      <vt:lpstr>2）参数说明</vt:lpstr>
      <vt:lpstr>3）示例</vt:lpstr>
      <vt:lpstr>4．显示环境变量命令（env）</vt:lpstr>
      <vt:lpstr>5．环境变量的定义（export）</vt:lpstr>
      <vt:lpstr>export示例</vt:lpstr>
      <vt:lpstr>关于export的说明</vt:lpstr>
      <vt:lpstr>6．定位可执行程序及相关信息</vt:lpstr>
      <vt:lpstr>2）whereis</vt:lpstr>
      <vt:lpstr>3）whatis和apropos</vt:lpstr>
      <vt:lpstr>7．别名管理（alias、unalias）</vt:lpstr>
      <vt:lpstr>1）别名定义（alias）</vt:lpstr>
      <vt:lpstr>2）别名取消（unalias）</vt:lpstr>
      <vt:lpstr>8．任意精度计算器（bc）</vt:lpstr>
      <vt:lpstr>1）数</vt:lpstr>
      <vt:lpstr>2）变量</vt:lpstr>
      <vt:lpstr>注释、继续行和表达式</vt:lpstr>
      <vt:lpstr>6）函数</vt:lpstr>
      <vt:lpstr>7）语句</vt:lpstr>
      <vt:lpstr>8）示例</vt:lpstr>
      <vt:lpstr>8）示例（续）</vt:lpstr>
      <vt:lpstr>8）示例（续）</vt:lpstr>
      <vt:lpstr>PowerPoint 演示文稿</vt:lpstr>
    </vt:vector>
  </TitlesOfParts>
  <Company>黑龙江大学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Linux操作系统</dc:title>
  <dc:creator>青巴图</dc:creator>
  <cp:lastModifiedBy>yude bai</cp:lastModifiedBy>
  <cp:revision>541</cp:revision>
  <dcterms:modified xsi:type="dcterms:W3CDTF">2025-08-11T09:55:38Z</dcterms:modified>
</cp:coreProperties>
</file>