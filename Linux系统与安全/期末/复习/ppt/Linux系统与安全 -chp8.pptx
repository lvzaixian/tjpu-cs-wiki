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34"/>
  </p:notesMasterIdLst>
  <p:sldIdLst>
    <p:sldId id="256" r:id="rId3"/>
    <p:sldId id="326" r:id="rId4"/>
    <p:sldId id="328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57" r:id="rId23"/>
    <p:sldId id="347" r:id="rId24"/>
    <p:sldId id="348" r:id="rId25"/>
    <p:sldId id="349" r:id="rId26"/>
    <p:sldId id="350" r:id="rId27"/>
    <p:sldId id="351" r:id="rId28"/>
    <p:sldId id="352" r:id="rId29"/>
    <p:sldId id="353" r:id="rId30"/>
    <p:sldId id="354" r:id="rId31"/>
    <p:sldId id="355" r:id="rId32"/>
    <p:sldId id="356" r:id="rId33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rgbClr val="000000"/>
        </a:solidFill>
        <a:latin typeface="AR PL SungtiL GB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00FF00"/>
    <a:srgbClr val="DDDDDD"/>
    <a:srgbClr val="C0C0C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60" autoAdjust="0"/>
  </p:normalViewPr>
  <p:slideViewPr>
    <p:cSldViewPr>
      <p:cViewPr varScale="1">
        <p:scale>
          <a:sx n="110" d="100"/>
          <a:sy n="110" d="100"/>
        </p:scale>
        <p:origin x="924" y="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>
            <a:extLst>
              <a:ext uri="{FF2B5EF4-FFF2-40B4-BE49-F238E27FC236}">
                <a16:creationId xmlns:a16="http://schemas.microsoft.com/office/drawing/2014/main" id="{408FE2EA-CAEB-A5D8-7C7F-FAE4A93A8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099" name="AutoShape 2">
            <a:extLst>
              <a:ext uri="{FF2B5EF4-FFF2-40B4-BE49-F238E27FC236}">
                <a16:creationId xmlns:a16="http://schemas.microsoft.com/office/drawing/2014/main" id="{261BBE88-14D4-90C2-3C83-BC4411C708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0" name="AutoShape 3">
            <a:extLst>
              <a:ext uri="{FF2B5EF4-FFF2-40B4-BE49-F238E27FC236}">
                <a16:creationId xmlns:a16="http://schemas.microsoft.com/office/drawing/2014/main" id="{BA1F99A4-9DD6-727C-5C16-D945D9AC0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1" name="AutoShape 4">
            <a:extLst>
              <a:ext uri="{FF2B5EF4-FFF2-40B4-BE49-F238E27FC236}">
                <a16:creationId xmlns:a16="http://schemas.microsoft.com/office/drawing/2014/main" id="{E0248E21-B900-D689-5523-0413FF868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2" name="AutoShape 5">
            <a:extLst>
              <a:ext uri="{FF2B5EF4-FFF2-40B4-BE49-F238E27FC236}">
                <a16:creationId xmlns:a16="http://schemas.microsoft.com/office/drawing/2014/main" id="{5B1CFDA9-FB4F-7215-45FA-A39EE990C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3" name="AutoShape 6">
            <a:extLst>
              <a:ext uri="{FF2B5EF4-FFF2-40B4-BE49-F238E27FC236}">
                <a16:creationId xmlns:a16="http://schemas.microsoft.com/office/drawing/2014/main" id="{04F7DAF2-3E5F-6846-CA74-78E3CC944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4" name="AutoShape 7">
            <a:extLst>
              <a:ext uri="{FF2B5EF4-FFF2-40B4-BE49-F238E27FC236}">
                <a16:creationId xmlns:a16="http://schemas.microsoft.com/office/drawing/2014/main" id="{5B6128E6-8375-46B4-2AB1-009154D2D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5" name="AutoShape 8">
            <a:extLst>
              <a:ext uri="{FF2B5EF4-FFF2-40B4-BE49-F238E27FC236}">
                <a16:creationId xmlns:a16="http://schemas.microsoft.com/office/drawing/2014/main" id="{A975E6DA-71D4-A121-395F-6F687C9D8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6" name="AutoShape 9">
            <a:extLst>
              <a:ext uri="{FF2B5EF4-FFF2-40B4-BE49-F238E27FC236}">
                <a16:creationId xmlns:a16="http://schemas.microsoft.com/office/drawing/2014/main" id="{4C4FEE2A-2FE4-5E25-D9CD-3EE218148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7" name="AutoShape 10">
            <a:extLst>
              <a:ext uri="{FF2B5EF4-FFF2-40B4-BE49-F238E27FC236}">
                <a16:creationId xmlns:a16="http://schemas.microsoft.com/office/drawing/2014/main" id="{D2253AB2-EFAF-7A96-9950-4D16C86FC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8" name="AutoShape 11">
            <a:extLst>
              <a:ext uri="{FF2B5EF4-FFF2-40B4-BE49-F238E27FC236}">
                <a16:creationId xmlns:a16="http://schemas.microsoft.com/office/drawing/2014/main" id="{DF0CCCCA-5DC3-D866-53BD-8EF0B9744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4109" name="AutoShape 12">
            <a:extLst>
              <a:ext uri="{FF2B5EF4-FFF2-40B4-BE49-F238E27FC236}">
                <a16:creationId xmlns:a16="http://schemas.microsoft.com/office/drawing/2014/main" id="{055B0786-6FA1-2E14-10A4-B8851DADB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</p:spPr>
        <p:txBody>
          <a:bodyPr wrap="none" anchor="ctr"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6158" name="Rectangle 13">
            <a:extLst>
              <a:ext uri="{FF2B5EF4-FFF2-40B4-BE49-F238E27FC236}">
                <a16:creationId xmlns:a16="http://schemas.microsoft.com/office/drawing/2014/main" id="{96A3FFCF-6F95-5333-F4FE-9EDBE291CC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0" y="303213"/>
            <a:ext cx="1588" cy="58340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E0242FC1-AA46-2983-B9C6-ADEF9C4E8D4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503238" y="4316413"/>
            <a:ext cx="5856287" cy="4059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>
            <a:extLst>
              <a:ext uri="{FF2B5EF4-FFF2-40B4-BE49-F238E27FC236}">
                <a16:creationId xmlns:a16="http://schemas.microsoft.com/office/drawing/2014/main" id="{32DE929C-385B-F477-2996-CD93BFB46F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303213"/>
            <a:ext cx="1588" cy="1587"/>
          </a:xfrm>
          <a:ln/>
        </p:spPr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936A8249-58A9-A488-65F4-871EFBE72BC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503238" y="4316413"/>
            <a:ext cx="5856287" cy="4060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DCD6F9D8-D7AB-CA40-E2CF-750D4C90EBED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D33163C-FF83-4D26-B52D-B27133624206}" type="slidenum">
              <a:rPr lang="en-US" altLang="zh-CN" sz="2800">
                <a:latin typeface="AR PL SungtiL GB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zh-CN" sz="2800">
              <a:latin typeface="AR PL SungtiL GB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5B1C7A0-F20E-F6B3-967E-BF56418009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887788" y="303213"/>
            <a:ext cx="7777163" cy="5834062"/>
          </a:xfrm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22A5F77E-8692-FC11-A666-3BAB765BCB1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00C8CF18-9BEC-3369-4B24-2C2BF1FAC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系统与安全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天津工业大学大学软件学院</a:t>
            </a:r>
            <a:endParaRPr lang="en-US" altLang="zh-CN" sz="1800" dirty="0">
              <a:solidFill>
                <a:schemeClr val="accent2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C8A986C1-54CB-A1A7-1ED9-27364DFC9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5C48F432-8998-4893-AE84-823DBEED0B5E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265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lnSpc>
                <a:spcPct val="100000"/>
              </a:lnSpc>
              <a:buFont typeface="Times New Roman" panose="02020603050405020304" pitchFamily="18" charset="0"/>
              <a:buNone/>
              <a:defRPr sz="4400"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>
              <a:spcBef>
                <a:spcPct val="20000"/>
              </a:spcBef>
              <a:buFont typeface="Times New Roman" panose="02020603050405020304" pitchFamily="18" charset="0"/>
              <a:buBlip>
                <a:blip r:embed="rId2"/>
              </a:buBlip>
              <a:defRPr b="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5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6030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1024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502273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33282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988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6758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719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77154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12543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8128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3817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3817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498252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7625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620713"/>
            <a:ext cx="4027488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7088" y="620713"/>
            <a:ext cx="4029075" cy="57610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4794712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624E6AA-D02E-94A2-1A33-8A3B312695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23938-6362-4E82-9685-3330C55606A9}" type="datetime1">
              <a:rPr lang="zh-CN" altLang="en-US"/>
              <a:pPr>
                <a:defRPr/>
              </a:pPr>
              <a:t>2025/8/11</a:t>
            </a:fld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3BCFD4-CA4C-30BB-1FCF-DC8F1D12EA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AAB83053-7FF5-4183-86F4-D0CCD519C60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BE0606-0727-0302-8A5E-88A35EA799A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西安理工大学计算机科学与工程学院</a:t>
            </a:r>
          </a:p>
        </p:txBody>
      </p:sp>
    </p:spTree>
    <p:extLst>
      <p:ext uri="{BB962C8B-B14F-4D97-AF65-F5344CB8AC3E}">
        <p14:creationId xmlns:p14="http://schemas.microsoft.com/office/powerpoint/2010/main" val="3162488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E0EAEA-6504-EEA8-3C7E-8397733931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5157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871BE-5EEF-44F1-85F7-5EE30C964F20}" type="datetime1">
              <a:rPr lang="zh-CN" altLang="en-US"/>
              <a:pPr>
                <a:defRPr/>
              </a:pPr>
              <a:t>2025/8/11</a:t>
            </a:fld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33DAC3-9057-7350-CE52-F977681801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DF112B0E-98F1-4BAB-BAA6-B1C27024CE2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3E8719-98BE-6F3A-27EA-558029EAA0B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24200" y="6248400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西安理工大学计算机科学与工程学院</a:t>
            </a:r>
          </a:p>
        </p:txBody>
      </p:sp>
    </p:spTree>
    <p:extLst>
      <p:ext uri="{BB962C8B-B14F-4D97-AF65-F5344CB8AC3E}">
        <p14:creationId xmlns:p14="http://schemas.microsoft.com/office/powerpoint/2010/main" val="4035566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033F55-F942-E231-0AA5-92CCDD699A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CDD59C6-0052-AA96-733F-AB9A210B87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19DE3C-7A5D-2927-FDA6-C0B515C03D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5630B5-3237-4ECE-A8B1-ADA4EB14420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3412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63B266-2E8E-F6AC-EDDD-483EFC4880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D487F2-E250-493B-B516-4E4A6D992F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6905F3-0B1E-5338-86D5-0FE6B40C86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65DD2A-5F64-40FF-BA1A-D192D4160C3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7515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800083-7B40-21F8-5B37-76539582CE7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547F490-BF4B-A410-BD62-5947C2238B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164316C-070B-2138-AD4A-3669499DE9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0E0B9-FED2-4AF8-8C1B-17972C7B8E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2839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56243-575A-AD65-F545-B7E63AFB9A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FD4FEE-588D-718C-3ADC-5D67644F4E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45110E-4E77-E44A-845D-B25CC5FC78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E3DDD9-592D-4813-8E60-0F7DA5157B6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57467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8C67ED7-F177-4F96-6CA6-377B6BB31D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FD481E2-6E4D-208C-A162-5B113D90CA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57818DA-A2CB-DA19-B906-92B98A9164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3637ED-FCD6-46B4-A5F5-6D5D6988319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61613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EDB3BD-E958-79AE-AC2D-B871F0A7DF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2728DA-0468-E958-8197-5C3265EEC0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11E3CA8-D90E-4C60-3CAA-0F8ADCEE21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03AF5D-AD4E-4A45-AA67-1CFCF4F5ECF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58703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9F59388-44F6-5144-C85F-F97F7DA3B0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7370B1F-6CEA-C88D-0E28-D034DE8624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9BCF806-6BD0-C865-50F8-129F4BEEB7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018D4-990C-477C-B54F-513EA93BB54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07778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671E3-F27D-69F6-9CA9-D3BE1090D6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BF97DE-C4B2-991C-66EB-8A477A0E7F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04A3E8-7D37-4A7E-7391-9D3819BEAF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1DF14-BE20-4B0A-BCA3-39B4D62FBEA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410898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0EC60D-4D3E-CB13-7EB9-9889E6D069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84525-7433-D0FA-8FCB-64A7D3B41C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1D116-4835-5ECE-6235-F4E290357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6A20A-3DDC-42AC-97B8-0A309C6901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6768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F191E56-6500-E61B-7129-287226405D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3D8831-F316-0405-51BF-D75B85D8E9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B78E2B-5711-AB84-BDF7-BD7C0B970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93897-1396-46F3-8FE3-63B267DFB03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58899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4B8226-5699-AD5B-5583-E82CD83F5C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7E5E03C-A883-3008-469A-6A9B31360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D100D9-F129-8DF1-97D1-9FD6386CEF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BD2258-41F5-4BDD-B676-AB4F104972A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954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C13C719-FBA8-5DDA-7733-6C8F60FACF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请您按击鼠标，编辑标题文的格式。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05A776-A382-51DB-4E4E-8104CF2A6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620713"/>
            <a:ext cx="8208963" cy="576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GB"/>
              <a:t>请您按击鼠标，编辑大纲正文格式。</a:t>
            </a:r>
          </a:p>
          <a:p>
            <a:pPr lvl="1"/>
            <a:r>
              <a:rPr lang="zh-CN" altLang="en-GB"/>
              <a:t>第二个大纲级</a:t>
            </a:r>
          </a:p>
          <a:p>
            <a:pPr lvl="2"/>
            <a:r>
              <a:rPr lang="zh-CN" altLang="en-GB"/>
              <a:t>第三个大纲级</a:t>
            </a:r>
          </a:p>
          <a:p>
            <a:pPr lvl="3"/>
            <a:r>
              <a:rPr lang="zh-CN" altLang="en-GB"/>
              <a:t>第四个大纲级</a:t>
            </a:r>
          </a:p>
        </p:txBody>
      </p:sp>
      <p:sp>
        <p:nvSpPr>
          <p:cNvPr id="1028" name="Rectangle 5">
            <a:extLst>
              <a:ext uri="{FF2B5EF4-FFF2-40B4-BE49-F238E27FC236}">
                <a16:creationId xmlns:a16="http://schemas.microsoft.com/office/drawing/2014/main" id="{4FB72255-C06E-A877-DFA6-596C4DA14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18275"/>
            <a:ext cx="9144000" cy="3397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Char char="–"/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《Linux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系统与安全</a:t>
            </a:r>
            <a:r>
              <a:rPr lang="en-US" altLang="zh-CN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》 </a:t>
            </a:r>
            <a:r>
              <a:rPr lang="zh-CN" altLang="en-US" sz="1800" dirty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天津工业大学大学软件学院</a:t>
            </a:r>
            <a:endParaRPr lang="en-US" altLang="zh-CN" sz="1800" dirty="0">
              <a:solidFill>
                <a:schemeClr val="accent2"/>
              </a:solidFill>
              <a:latin typeface="Arial" panose="020B0604020202020204" pitchFamily="34" charset="0"/>
              <a:ea typeface="华文新魏" panose="02010800040101010101" pitchFamily="2" charset="-122"/>
            </a:endParaRP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B8327A6-0473-BD6C-D31E-D325AEB30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6496050"/>
            <a:ext cx="1730375" cy="34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第</a:t>
            </a:r>
            <a:fld id="{DE9B9D76-64F2-4D19-9116-61BE3E32B183}" type="slidenum">
              <a:rPr lang="zh-CN" altLang="en-US" sz="1800" smtClean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pPr algn="r" eaLnBrk="1" hangingPunct="1">
                <a:defRPr/>
              </a:pPr>
              <a:t>‹#›</a:t>
            </a:fld>
            <a:r>
              <a:rPr lang="zh-CN" altLang="en-US" sz="1800" b="0">
                <a:solidFill>
                  <a:schemeClr val="accent2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页</a:t>
            </a:r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D2F2AEAC-B5C4-6475-F3B3-D1F973956DE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549275"/>
            <a:ext cx="91440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3" r:id="rId1"/>
    <p:sldLayoutId id="2147484290" r:id="rId2"/>
    <p:sldLayoutId id="2147484291" r:id="rId3"/>
    <p:sldLayoutId id="2147484292" r:id="rId4"/>
    <p:sldLayoutId id="2147484293" r:id="rId5"/>
    <p:sldLayoutId id="2147484294" r:id="rId6"/>
    <p:sldLayoutId id="2147484295" r:id="rId7"/>
    <p:sldLayoutId id="2147484296" r:id="rId8"/>
    <p:sldLayoutId id="2147484297" r:id="rId9"/>
    <p:sldLayoutId id="2147484298" r:id="rId10"/>
    <p:sldLayoutId id="2147484299" r:id="rId11"/>
    <p:sldLayoutId id="2147484300" r:id="rId12"/>
    <p:sldLayoutId id="2147484301" r:id="rId13"/>
    <p:sldLayoutId id="2147484314" r:id="rId14"/>
    <p:sldLayoutId id="2147484315" r:id="rId15"/>
  </p:sldLayoutIdLst>
  <p:txStyles>
    <p:titleStyle>
      <a:lvl1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2pPr>
      <a:lvl3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3pPr>
      <a:lvl4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4pPr>
      <a:lvl5pPr algn="l" defTabSz="449263" rtl="0" eaLnBrk="0" fontAlgn="base" hangingPunct="0">
        <a:lnSpc>
          <a:spcPct val="8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3600" b="1">
          <a:solidFill>
            <a:srgbClr val="000000"/>
          </a:solidFill>
          <a:latin typeface="AR PL SungtiL GB" charset="0"/>
          <a:ea typeface="华文新魏" panose="02010800040101010101" pitchFamily="2" charset="-122"/>
        </a:defRPr>
      </a:lvl5pPr>
      <a:lvl6pPr marL="4572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defRPr sz="4400">
          <a:solidFill>
            <a:srgbClr val="000000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450850" indent="-45085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8"/>
        </a:buBlip>
        <a:defRPr sz="2800" b="1" kern="1200">
          <a:solidFill>
            <a:srgbClr val="000000"/>
          </a:solidFill>
          <a:latin typeface="+mn-lt"/>
          <a:ea typeface="+mn-ea"/>
          <a:cs typeface="+mn-cs"/>
        </a:defRPr>
      </a:lvl1pPr>
      <a:lvl2pPr marL="9874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Font typeface="Arial" panose="020B0604020202020204" pitchFamily="34" charset="0"/>
        <a:buBlip>
          <a:blip r:embed="rId19"/>
        </a:buBlip>
        <a:defRPr sz="2400" b="1" kern="1200">
          <a:solidFill>
            <a:srgbClr val="000000"/>
          </a:solidFill>
          <a:latin typeface="+mn-lt"/>
          <a:ea typeface="+mn-ea"/>
          <a:cs typeface="+mn-cs"/>
        </a:defRPr>
      </a:lvl2pPr>
      <a:lvl3pPr marL="1609725" indent="-357188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25000"/>
        <a:buFont typeface="Arial" panose="020B0604020202020204" pitchFamily="34" charset="0"/>
        <a:buBlip>
          <a:blip r:embed="rId20"/>
        </a:buBlip>
        <a:defRPr sz="2000" b="1" kern="1200">
          <a:solidFill>
            <a:srgbClr val="000000"/>
          </a:solidFill>
          <a:latin typeface="+mn-lt"/>
          <a:ea typeface="+mn-ea"/>
          <a:cs typeface="+mn-cs"/>
        </a:defRPr>
      </a:lvl3pPr>
      <a:lvl4pPr marL="2157413" indent="-368300" algn="l" defTabSz="449263" rtl="0" eaLnBrk="0" fontAlgn="base" hangingPunct="0">
        <a:spcBef>
          <a:spcPts val="800"/>
        </a:spcBef>
        <a:spcAft>
          <a:spcPts val="800"/>
        </a:spcAft>
        <a:buClr>
          <a:srgbClr val="000000"/>
        </a:buClr>
        <a:buSzPct val="100000"/>
        <a:buFont typeface="Arial" panose="020B0604020202020204" pitchFamily="34" charset="0"/>
        <a:buBlip>
          <a:blip r:embed="rId21"/>
        </a:buBlip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4pPr>
      <a:lvl5pPr marL="2565400" indent="-228600" algn="l" defTabSz="449263" rtl="0" eaLnBrk="0" fontAlgn="base" hangingPunct="0">
        <a:spcBef>
          <a:spcPts val="338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»"/>
        <a:defRPr sz="2000" b="1" kern="1200">
          <a:solidFill>
            <a:srgbClr val="000000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CA9001A-CFE8-5B3A-D87B-F2F4F662A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E7FA444-2061-76E5-CE38-DC0A864603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14372" name="Rectangle 4">
            <a:extLst>
              <a:ext uri="{FF2B5EF4-FFF2-40B4-BE49-F238E27FC236}">
                <a16:creationId xmlns:a16="http://schemas.microsoft.com/office/drawing/2014/main" id="{E6D85A8C-6A1B-E1DB-0C26-FD5331FDC2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3" name="Rectangle 5">
            <a:extLst>
              <a:ext uri="{FF2B5EF4-FFF2-40B4-BE49-F238E27FC236}">
                <a16:creationId xmlns:a16="http://schemas.microsoft.com/office/drawing/2014/main" id="{A6611165-4340-3E36-1195-D368300D748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4374" name="Rectangle 6">
            <a:extLst>
              <a:ext uri="{FF2B5EF4-FFF2-40B4-BE49-F238E27FC236}">
                <a16:creationId xmlns:a16="http://schemas.microsoft.com/office/drawing/2014/main" id="{12AE9E03-3C70-4084-8EA9-AC441010290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5A8A47F0-8E20-4858-AAFB-B1873F8BBD7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02" r:id="rId1"/>
    <p:sldLayoutId id="2147484303" r:id="rId2"/>
    <p:sldLayoutId id="2147484304" r:id="rId3"/>
    <p:sldLayoutId id="2147484305" r:id="rId4"/>
    <p:sldLayoutId id="2147484306" r:id="rId5"/>
    <p:sldLayoutId id="2147484307" r:id="rId6"/>
    <p:sldLayoutId id="2147484308" r:id="rId7"/>
    <p:sldLayoutId id="2147484309" r:id="rId8"/>
    <p:sldLayoutId id="2147484310" r:id="rId9"/>
    <p:sldLayoutId id="2147484311" r:id="rId10"/>
    <p:sldLayoutId id="214748431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craigor.com/full_gnu.htm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5DFC7BE6-C0C3-417B-F394-F0B3CA8365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84213" y="3716338"/>
            <a:ext cx="7848600" cy="2592387"/>
          </a:xfrm>
        </p:spPr>
        <p:txBody>
          <a:bodyPr/>
          <a:lstStyle/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天津工业大学计算机科学与技术学院</a:t>
            </a: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张桂玲  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en-US" altLang="zh-CN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Email:gui_ling_zhang@163.com</a:t>
            </a:r>
          </a:p>
          <a:p>
            <a:pPr algn="ctr" eaLnBrk="1" hangingPunct="1">
              <a:buFont typeface="Times New Roman" panose="02020603050405020304" pitchFamily="18" charset="0"/>
              <a:buNone/>
              <a:defRPr/>
            </a:pP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2023.8</a:t>
            </a:r>
            <a:endParaRPr lang="en-US" altLang="zh-CN" b="1" dirty="0">
              <a:effectLst>
                <a:outerShdw blurRad="38100" dist="38100" dir="2700000" algn="tl">
                  <a:srgbClr val="C0C0C0"/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9" name="Rectangle 7" descr="花束">
            <a:extLst>
              <a:ext uri="{FF2B5EF4-FFF2-40B4-BE49-F238E27FC236}">
                <a16:creationId xmlns:a16="http://schemas.microsoft.com/office/drawing/2014/main" id="{5A534F91-4E84-A0DB-5555-0F8364E36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1196975"/>
            <a:ext cx="7632700" cy="158432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>
            <a:lvl1pPr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4"/>
              </a:buBlip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9874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Font typeface="Arial" panose="020B0604020202020204" pitchFamily="34" charset="0"/>
              <a:buBlip>
                <a:blip r:embed="rId5"/>
              </a:buBlip>
              <a:defRPr sz="24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609725" indent="-357188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25000"/>
              <a:buFont typeface="Arial" panose="020B0604020202020204" pitchFamily="34" charset="0"/>
              <a:buBlip>
                <a:blip r:embed="rId6"/>
              </a:buBlip>
              <a:defRPr sz="20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2157413" indent="-368300" defTabSz="449263"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Blip>
                <a:blip r:embed="rId7"/>
              </a:buBlip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565400" indent="-228600" defTabSz="449263">
              <a:spcBef>
                <a:spcPts val="338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30226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4798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9370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394200" indent="-228600" defTabSz="449263" eaLnBrk="0" fontAlgn="base" hangingPunct="0">
              <a:spcBef>
                <a:spcPts val="338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»"/>
              <a:defRPr sz="2000" b="1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Font typeface="Times New Roman" panose="02020603050405020304" pitchFamily="18" charset="0"/>
              <a:buNone/>
              <a:defRPr/>
            </a:pPr>
            <a:r>
              <a:rPr lang="en-US" altLang="zh-CN" sz="600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Linux</a:t>
            </a:r>
            <a:r>
              <a:rPr lang="zh-CN" altLang="en-US" sz="6000">
                <a:effectLst>
                  <a:outerShdw blurRad="38100" dist="38100" dir="2700000" algn="tl">
                    <a:srgbClr val="C0C0C0"/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系统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2CE886E-76C8-C368-64FC-DFF35A1A80E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tx1"/>
                </a:solidFill>
              </a:rPr>
              <a:t>第</a:t>
            </a:r>
            <a:r>
              <a:rPr lang="en-US" altLang="zh-CN">
                <a:solidFill>
                  <a:schemeClr val="tx1"/>
                </a:solidFill>
              </a:rPr>
              <a:t>8</a:t>
            </a:r>
            <a:r>
              <a:rPr lang="zh-CN" altLang="en-US">
                <a:solidFill>
                  <a:schemeClr val="tx1"/>
                </a:solidFill>
              </a:rPr>
              <a:t>章  </a:t>
            </a:r>
            <a:r>
              <a:rPr lang="en-US" altLang="zh-CN">
                <a:solidFill>
                  <a:schemeClr val="tx1"/>
                </a:solidFill>
              </a:rPr>
              <a:t>Shell</a:t>
            </a:r>
            <a:r>
              <a:rPr lang="zh-CN" altLang="en-US">
                <a:solidFill>
                  <a:schemeClr val="tx1"/>
                </a:solidFill>
              </a:rPr>
              <a:t>程序设计</a:t>
            </a:r>
          </a:p>
        </p:txBody>
      </p:sp>
      <p:sp>
        <p:nvSpPr>
          <p:cNvPr id="9219" name="Rectangle 30">
            <a:extLst>
              <a:ext uri="{FF2B5EF4-FFF2-40B4-BE49-F238E27FC236}">
                <a16:creationId xmlns:a16="http://schemas.microsoft.com/office/drawing/2014/main" id="{928306F0-3AEB-E56C-A169-5656948BDB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482600"/>
            <a:ext cx="8928100" cy="5761038"/>
          </a:xfrm>
        </p:spPr>
        <p:txBody>
          <a:bodyPr/>
          <a:lstStyle/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5400"/>
              <a:t>概述</a:t>
            </a:r>
            <a:endParaRPr lang="en-US" altLang="zh-CN" sz="5400"/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5400"/>
              <a:t>常用命令回顾</a:t>
            </a:r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5400"/>
              <a:t>变量</a:t>
            </a:r>
            <a:endParaRPr lang="en-US" altLang="zh-CN" sz="5400"/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5400"/>
              <a:t>条件测试</a:t>
            </a:r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5400"/>
              <a:t>控制结构</a:t>
            </a:r>
          </a:p>
          <a:p>
            <a:pPr>
              <a:buFont typeface="Wingdings" panose="05000000000000000000" pitchFamily="2" charset="2"/>
              <a:buBlip>
                <a:blip r:embed="rId2"/>
              </a:buBlip>
            </a:pPr>
            <a:r>
              <a:rPr lang="zh-CN" altLang="en-US" sz="5400"/>
              <a:t>函数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7" name="Picture 5" descr="核">
            <a:extLst>
              <a:ext uri="{FF2B5EF4-FFF2-40B4-BE49-F238E27FC236}">
                <a16:creationId xmlns:a16="http://schemas.microsoft.com/office/drawing/2014/main" id="{D70F87BA-24D6-F4A0-B146-FE0C356C7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484313"/>
            <a:ext cx="331152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2">
            <a:extLst>
              <a:ext uri="{FF2B5EF4-FFF2-40B4-BE49-F238E27FC236}">
                <a16:creationId xmlns:a16="http://schemas.microsoft.com/office/drawing/2014/main" id="{C7778662-1AA7-6B0C-045D-D2F2E0C46DE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综述篇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——Shell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是什么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255B41D-3828-C25A-6EFC-62FB1EE924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700088"/>
            <a:ext cx="8434388" cy="676275"/>
          </a:xfrm>
        </p:spPr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</a:rPr>
              <a:t>壳</a:t>
            </a:r>
            <a:r>
              <a:rPr lang="en-US" altLang="zh-CN" sz="4000">
                <a:solidFill>
                  <a:schemeClr val="tx1"/>
                </a:solidFill>
              </a:rPr>
              <a:t>(</a:t>
            </a:r>
            <a:r>
              <a:rPr lang="en-US" altLang="zh-CN" sz="40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Shell</a:t>
            </a:r>
            <a:r>
              <a:rPr lang="en-US" altLang="zh-CN" sz="4000">
                <a:solidFill>
                  <a:schemeClr val="tx1"/>
                </a:solidFill>
              </a:rPr>
              <a:t>)</a:t>
            </a:r>
            <a:r>
              <a:rPr lang="zh-CN" altLang="en-US" sz="4000">
                <a:solidFill>
                  <a:schemeClr val="tx1"/>
                </a:solidFill>
              </a:rPr>
              <a:t>保护其内部的核</a:t>
            </a:r>
            <a:r>
              <a:rPr lang="en-US" altLang="zh-CN" sz="4000">
                <a:solidFill>
                  <a:schemeClr val="tx1"/>
                </a:solidFill>
              </a:rPr>
              <a:t>(</a:t>
            </a:r>
            <a:r>
              <a:rPr lang="en-US" altLang="zh-CN" sz="4000">
                <a:solidFill>
                  <a:schemeClr val="tx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Kernel</a:t>
            </a:r>
            <a:r>
              <a:rPr lang="en-US" altLang="zh-CN" sz="4000">
                <a:solidFill>
                  <a:schemeClr val="tx1"/>
                </a:solidFill>
              </a:rPr>
              <a:t>) </a:t>
            </a:r>
          </a:p>
        </p:txBody>
      </p:sp>
      <p:pic>
        <p:nvPicPr>
          <p:cNvPr id="54278" name="Picture 6" descr="蛋">
            <a:extLst>
              <a:ext uri="{FF2B5EF4-FFF2-40B4-BE49-F238E27FC236}">
                <a16:creationId xmlns:a16="http://schemas.microsoft.com/office/drawing/2014/main" id="{B0E84FFF-9A0A-3AA2-6543-EE28563D9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484313"/>
            <a:ext cx="350837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5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8ABB0B9-6303-2F79-8927-15580AB4868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概述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怎样写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Shell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D7AA219-821A-6212-BA7F-181825931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20713"/>
            <a:ext cx="5157788" cy="583247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</a:rPr>
              <a:t>利用</a:t>
            </a:r>
            <a:r>
              <a:rPr lang="en-US" altLang="zh-CN" sz="2400">
                <a:latin typeface="宋体" panose="02010600030101010101" pitchFamily="2" charset="-122"/>
              </a:rPr>
              <a:t>vi</a:t>
            </a:r>
            <a:r>
              <a:rPr lang="zh-CN" altLang="en-US" sz="2400">
                <a:latin typeface="宋体" panose="02010600030101010101" pitchFamily="2" charset="-122"/>
              </a:rPr>
              <a:t>编辑器编辑脚本，将脚本命名为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脚本功能</a:t>
            </a:r>
            <a:r>
              <a:rPr lang="en-US" altLang="zh-CN" sz="2400">
                <a:solidFill>
                  <a:srgbClr val="FF3300"/>
                </a:solidFill>
                <a:latin typeface="宋体" panose="02010600030101010101" pitchFamily="2" charset="-122"/>
              </a:rPr>
              <a:t>.sh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Shell</a:t>
            </a:r>
            <a:r>
              <a:rPr lang="zh-CN" altLang="en-US" sz="2400">
                <a:latin typeface="宋体" panose="02010600030101010101" pitchFamily="2" charset="-122"/>
              </a:rPr>
              <a:t>脚本不是复杂的程序，它是按行解释的，脚本第一行总是以　</a:t>
            </a:r>
            <a:r>
              <a:rPr lang="en-US" altLang="zh-CN" sz="24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#!/bin/sh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宋体" panose="02010600030101010101" pitchFamily="2" charset="-122"/>
              </a:rPr>
              <a:t>开头，它通知系统以下的</a:t>
            </a:r>
            <a:r>
              <a:rPr lang="en-US" altLang="zh-CN" sz="2400">
                <a:latin typeface="宋体" panose="02010600030101010101" pitchFamily="2" charset="-122"/>
              </a:rPr>
              <a:t>Shell</a:t>
            </a:r>
            <a:r>
              <a:rPr lang="zh-CN" altLang="en-US" sz="2400">
                <a:latin typeface="宋体" panose="02010600030101010101" pitchFamily="2" charset="-122"/>
              </a:rPr>
              <a:t>程序使用系统上的</a:t>
            </a:r>
            <a:r>
              <a:rPr lang="en-US" altLang="zh-CN" sz="2400">
                <a:latin typeface="宋体" panose="02010600030101010101" pitchFamily="2" charset="-122"/>
              </a:rPr>
              <a:t>Bourne Shell</a:t>
            </a:r>
            <a:r>
              <a:rPr lang="zh-CN" altLang="en-US" sz="2400">
                <a:latin typeface="宋体" panose="02010600030101010101" pitchFamily="2" charset="-122"/>
              </a:rPr>
              <a:t>来解释。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</a:rPr>
              <a:t>第二行注释中写入脚本名，第三行注释开始写入脚本功能</a:t>
            </a:r>
            <a:r>
              <a:rPr lang="en-US" altLang="zh-CN" sz="2400">
                <a:latin typeface="宋体" panose="02010600030101010101" pitchFamily="2" charset="-122"/>
              </a:rPr>
              <a:t>——</a:t>
            </a:r>
            <a:r>
              <a:rPr lang="zh-CN" altLang="en-US" sz="2400">
                <a:latin typeface="宋体" panose="02010600030101010101" pitchFamily="2" charset="-122"/>
              </a:rPr>
              <a:t>习惯。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</a:rPr>
              <a:t>以下行进入脚本正式编写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</a:rPr>
              <a:t>编写完后给脚本添加执行权限：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chmod u+x ScripName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latin typeface="宋体" panose="02010600030101010101" pitchFamily="2" charset="-122"/>
              </a:rPr>
              <a:t>运行脚本：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ScripName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</a:t>
            </a:r>
            <a:r>
              <a:rPr lang="zh-CN" altLang="en-US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或   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./ScripName</a:t>
            </a: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6FA61FD5-1E59-C19D-51E0-8EAD7FAEB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620713"/>
            <a:ext cx="4392612" cy="48942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简单脚本示例：</a:t>
            </a:r>
          </a:p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vi ShowHello.sh</a:t>
            </a:r>
          </a:p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以下为脚本内容</a:t>
            </a:r>
            <a:r>
              <a:rPr lang="zh-CN" altLang="en-US" sz="2400" dirty="0">
                <a:latin typeface="宋体" panose="02010600030101010101" pitchFamily="2" charset="-122"/>
              </a:rPr>
              <a:t>：</a:t>
            </a: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#!/bin/</a:t>
            </a: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</a:rPr>
              <a:t>sh</a:t>
            </a:r>
            <a:endParaRPr lang="en-US" altLang="zh-CN" sz="2400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#ShowHello.sh</a:t>
            </a: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#To show hello to somebody</a:t>
            </a: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echo -</a:t>
            </a: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</a:rPr>
              <a:t>n“Enter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 Your Name:”</a:t>
            </a: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read NAME</a:t>
            </a:r>
          </a:p>
          <a:p>
            <a:pPr>
              <a:defRPr/>
            </a:pP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echo “</a:t>
            </a:r>
            <a:r>
              <a:rPr lang="en-US" altLang="zh-CN" sz="2400" dirty="0" err="1">
                <a:solidFill>
                  <a:srgbClr val="FF0000"/>
                </a:solidFill>
                <a:latin typeface="宋体" panose="02010600030101010101" pitchFamily="2" charset="-122"/>
              </a:rPr>
              <a:t>Hello,$NAME</a:t>
            </a:r>
            <a:r>
              <a:rPr lang="en-US" altLang="zh-CN" sz="2400" dirty="0">
                <a:solidFill>
                  <a:srgbClr val="FF0000"/>
                </a:solidFill>
                <a:latin typeface="宋体" panose="02010600030101010101" pitchFamily="2" charset="-122"/>
              </a:rPr>
              <a:t>!”  </a:t>
            </a:r>
          </a:p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保存，退出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vi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编辑器。</a:t>
            </a:r>
          </a:p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为脚本添加可执行权限：</a:t>
            </a:r>
          </a:p>
          <a:p>
            <a:pPr>
              <a:defRPr/>
            </a:pPr>
            <a:r>
              <a:rPr lang="en-US" altLang="zh-CN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chmod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u+x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 ShowHello.sh</a:t>
            </a:r>
          </a:p>
          <a:p>
            <a:pPr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运行脚本：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ShowHello.sh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972F1F9-FC63-61C7-84F8-DCD44F22E68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概述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——cygwin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简介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BB2D0F9-FF1A-47EB-94E3-773AD927A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575" y="549275"/>
            <a:ext cx="9107488" cy="5761038"/>
          </a:xfrm>
        </p:spPr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cygwin</a:t>
            </a:r>
            <a:r>
              <a:rPr lang="en-US" altLang="zh-CN" sz="2400">
                <a:latin typeface="宋体" panose="02010600030101010101" pitchFamily="2" charset="-122"/>
              </a:rPr>
              <a:t>——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4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windows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下开发</a:t>
            </a:r>
            <a:r>
              <a:rPr lang="en-US" altLang="zh-CN" sz="24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linux</a:t>
            </a:r>
            <a:r>
              <a:rPr lang="zh-CN" altLang="en-US" sz="2400">
                <a:solidFill>
                  <a:srgbClr val="FF0000"/>
                </a:solidFill>
                <a:latin typeface="宋体" panose="02010600030101010101" pitchFamily="2" charset="-122"/>
              </a:rPr>
              <a:t>程序</a:t>
            </a:r>
            <a:r>
              <a:rPr lang="en-US" altLang="zh-CN" sz="2400">
                <a:latin typeface="宋体" panose="02010600030101010101" pitchFamily="2" charset="-122"/>
              </a:rPr>
              <a:t>!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cygwin</a:t>
            </a:r>
            <a:r>
              <a:rPr lang="zh-CN" altLang="en-US" sz="2400">
                <a:latin typeface="宋体" panose="02010600030101010101" pitchFamily="2" charset="-122"/>
              </a:rPr>
              <a:t>是一个在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window</a:t>
            </a:r>
            <a:r>
              <a:rPr lang="en-US" altLang="zh-CN" sz="2400">
                <a:latin typeface="宋体" panose="02010600030101010101" pitchFamily="2" charset="-122"/>
              </a:rPr>
              <a:t>s</a:t>
            </a:r>
            <a:r>
              <a:rPr lang="zh-CN" altLang="en-US" sz="2400">
                <a:latin typeface="宋体" panose="02010600030101010101" pitchFamily="2" charset="-122"/>
              </a:rPr>
              <a:t>平台上运行的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linux</a:t>
            </a:r>
            <a:r>
              <a:rPr lang="zh-CN" altLang="en-US" sz="2400">
                <a:latin typeface="宋体" panose="02010600030101010101" pitchFamily="2" charset="-122"/>
              </a:rPr>
              <a:t>模拟环境，是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cygnus solutions</a:t>
            </a:r>
            <a:r>
              <a:rPr lang="zh-CN" altLang="en-US" sz="2400">
                <a:latin typeface="宋体" panose="02010600030101010101" pitchFamily="2" charset="-122"/>
              </a:rPr>
              <a:t>公司开发的自由软件</a:t>
            </a:r>
            <a:r>
              <a:rPr lang="zh-CN" altLang="en-US" sz="2400"/>
              <a:t>。它</a:t>
            </a:r>
            <a:r>
              <a:rPr lang="zh-CN" altLang="en-US" sz="2400">
                <a:latin typeface="宋体" panose="02010600030101010101" pitchFamily="2" charset="-122"/>
              </a:rPr>
              <a:t>把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gcc</a:t>
            </a:r>
            <a:r>
              <a:rPr lang="zh-CN" altLang="en-US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、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gdb</a:t>
            </a:r>
            <a:r>
              <a:rPr lang="zh-CN" altLang="en-US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、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gas</a:t>
            </a:r>
            <a:r>
              <a:rPr lang="zh-CN" altLang="en-US" sz="2400">
                <a:latin typeface="宋体" panose="02010600030101010101" pitchFamily="2" charset="-122"/>
              </a:rPr>
              <a:t>等开发工具进行了改进，使它们能够生成并解释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win32</a:t>
            </a:r>
            <a:r>
              <a:rPr lang="zh-CN" altLang="en-US" sz="2400">
                <a:latin typeface="宋体" panose="02010600030101010101" pitchFamily="2" charset="-122"/>
              </a:rPr>
              <a:t>的目标文件，开发者</a:t>
            </a:r>
            <a:r>
              <a:rPr lang="zh-CN" altLang="en-US" sz="2400"/>
              <a:t>基于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win32</a:t>
            </a:r>
            <a:r>
              <a:rPr lang="en-US" altLang="zh-CN" sz="2400"/>
              <a:t> 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api</a:t>
            </a:r>
            <a:r>
              <a:rPr lang="zh-CN" altLang="en-US" sz="2400"/>
              <a:t>写了一个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unix</a:t>
            </a:r>
            <a:r>
              <a:rPr lang="zh-CN" altLang="en-US" sz="2400"/>
              <a:t>系统库的模拟层 ，只要把这些工具的源代码和这个共享库</a:t>
            </a:r>
            <a:r>
              <a:rPr lang="en-US" altLang="zh-CN" sz="2400"/>
              <a:t>(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cygwin dll</a:t>
            </a:r>
            <a:r>
              <a:rPr lang="en-US" altLang="zh-CN" sz="2400"/>
              <a:t> )</a:t>
            </a:r>
            <a:r>
              <a:rPr lang="zh-CN" altLang="en-US" sz="2400"/>
              <a:t>连接到一起，就可以使用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unix</a:t>
            </a:r>
            <a:r>
              <a:rPr lang="zh-CN" altLang="en-US" sz="2400"/>
              <a:t>主机上的交叉编译器来生成可以在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windows</a:t>
            </a:r>
            <a:r>
              <a:rPr lang="zh-CN" altLang="en-US" sz="2400"/>
              <a:t>平台上运行的工具集 。</a:t>
            </a:r>
            <a:r>
              <a:rPr lang="zh-CN" altLang="en-US" sz="2400">
                <a:latin typeface="宋体" panose="02010600030101010101" pitchFamily="2" charset="-122"/>
              </a:rPr>
              <a:t>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软件下载：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cygwin</a:t>
            </a:r>
            <a:r>
              <a:rPr lang="zh-CN" altLang="en-US" sz="2400">
                <a:latin typeface="宋体" panose="02010600030101010101" pitchFamily="2" charset="-122"/>
              </a:rPr>
              <a:t>的官方网站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:</a:t>
            </a:r>
            <a:r>
              <a:rPr lang="en-US" altLang="zh-CN" sz="2400" u="sng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www.cygwin.com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zh-CN" altLang="en-US" sz="2400">
                <a:latin typeface="宋体" panose="02010600030101010101" pitchFamily="2" charset="-122"/>
              </a:rPr>
              <a:t>推荐下载：</a:t>
            </a:r>
            <a:r>
              <a:rPr lang="en-US" altLang="zh-CN" sz="2400" u="sng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hlinkClick r:id="rId2"/>
              </a:rPr>
              <a:t>http://www.macraigor.com/full_gnu.htm</a:t>
            </a:r>
            <a:r>
              <a:rPr lang="en-US" altLang="zh-CN" sz="2400" u="sng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　软件安装：</a:t>
            </a:r>
            <a:r>
              <a:rPr lang="zh-CN" altLang="en-US" sz="2400"/>
              <a:t>在安装的过程中可选择默认安装路径：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c:\cygwin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</a:t>
            </a:r>
            <a:r>
              <a:rPr lang="zh-CN" altLang="en-US" sz="2400"/>
              <a:t>安装完后要修改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cygwin</a:t>
            </a:r>
            <a:r>
              <a:rPr lang="zh-CN" altLang="en-US" sz="2400"/>
              <a:t>目录下的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cygwin.bat</a:t>
            </a:r>
            <a:r>
              <a:rPr lang="zh-CN" altLang="en-US" sz="2400"/>
              <a:t>文件</a:t>
            </a:r>
            <a:r>
              <a:rPr lang="en-US" altLang="zh-CN" sz="2400"/>
              <a:t>,</a:t>
            </a:r>
            <a:r>
              <a:rPr lang="zh-CN" altLang="en-US" sz="2400"/>
              <a:t>在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@echo off 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</a:t>
            </a:r>
            <a:r>
              <a:rPr lang="zh-CN" altLang="en-US" sz="2400"/>
              <a:t>后面加上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set CYGWIN=title ntea</a:t>
            </a:r>
            <a:r>
              <a:rPr lang="zh-CN" altLang="en-US" sz="2400"/>
              <a:t>，这是因为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Cygwin</a:t>
            </a:r>
            <a:r>
              <a:rPr lang="zh-CN" altLang="en-US" sz="2400"/>
              <a:t>的启动批处理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/>
              <a:t>                        文件需要启动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Unix</a:t>
            </a:r>
            <a:r>
              <a:rPr lang="zh-CN" altLang="en-US" sz="2400"/>
              <a:t>文件系统模拟。</a:t>
            </a:r>
            <a:endParaRPr lang="zh-CN" altLang="en-US" sz="24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FDD7002-F39B-C0F2-D411-312F57EF898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概述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——Linux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黑洞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4C1EFAED-769C-D39F-506B-13FBB3792B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39763"/>
            <a:ext cx="5148263" cy="5668962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/dev/null</a:t>
            </a:r>
            <a:r>
              <a:rPr lang="en-US" altLang="zh-CN">
                <a:solidFill>
                  <a:srgbClr val="C00000"/>
                </a:solidFill>
              </a:rPr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/>
              <a:t>      </a:t>
            </a:r>
            <a:r>
              <a:rPr lang="zh-CN" altLang="en-US"/>
              <a:t>是一个虚设的设备，俗称</a:t>
            </a:r>
            <a:r>
              <a:rPr lang="zh-CN" altLang="en-US">
                <a:latin typeface="Arial" panose="020B0604020202020204" pitchFamily="34" charset="0"/>
              </a:rPr>
              <a:t>“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Linux</a:t>
            </a:r>
            <a:r>
              <a:rPr lang="zh-CN" altLang="en-US"/>
              <a:t>黑洞</a:t>
            </a:r>
            <a:r>
              <a:rPr lang="zh-CN" altLang="en-US">
                <a:latin typeface="Arial" panose="020B0604020202020204" pitchFamily="34" charset="0"/>
              </a:rPr>
              <a:t>”</a:t>
            </a:r>
            <a:r>
              <a:rPr lang="en-US" altLang="zh-CN"/>
              <a:t>,</a:t>
            </a:r>
            <a:r>
              <a:rPr lang="zh-CN" altLang="en-US"/>
              <a:t>任何对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/dev/null</a:t>
            </a:r>
            <a:r>
              <a:rPr lang="zh-CN" altLang="en-US"/>
              <a:t>的写入都会成功，但数据会消失得无影无踪，没有任何反馈。所以经常把</a:t>
            </a:r>
            <a:r>
              <a:rPr lang="zh-CN" altLang="en-US">
                <a:solidFill>
                  <a:srgbClr val="FF0000"/>
                </a:solidFill>
              </a:rPr>
              <a:t>不想在屏幕显示的信息全部送到</a:t>
            </a:r>
            <a:r>
              <a:rPr lang="en-US" altLang="zh-CN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/dev/null</a:t>
            </a:r>
            <a:r>
              <a:rPr lang="zh-CN" altLang="en-US">
                <a:solidFill>
                  <a:srgbClr val="FF0000"/>
                </a:solidFill>
              </a:rPr>
              <a:t>中</a:t>
            </a:r>
            <a:r>
              <a:rPr lang="zh-CN" altLang="en-US"/>
              <a:t>，在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shell</a:t>
            </a:r>
            <a:r>
              <a:rPr lang="zh-CN" altLang="en-US"/>
              <a:t>脚本中用得比较多。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/>
              <a:t>　 如：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ls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–l </a:t>
            </a:r>
            <a:r>
              <a:rPr lang="en-US" altLang="zh-CN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/dev/null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还可以用来清空文件的内容：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cat</a:t>
            </a:r>
            <a:r>
              <a:rPr lang="en-US" altLang="zh-CN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/dev/null </a:t>
            </a:r>
            <a:r>
              <a:rPr lang="en-US" altLang="zh-CN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FileName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  <p:pic>
        <p:nvPicPr>
          <p:cNvPr id="53252" name="Picture 4" descr="黑洞">
            <a:extLst>
              <a:ext uri="{FF2B5EF4-FFF2-40B4-BE49-F238E27FC236}">
                <a16:creationId xmlns:a16="http://schemas.microsoft.com/office/drawing/2014/main" id="{968B3EF3-DD4B-1BE6-6C13-7EB20E944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1412875"/>
            <a:ext cx="3887788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20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7082F1D9-B478-A20E-485F-2D77CAD1C84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06044672-D39C-894B-DA1E-6E737758B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6600"/>
              <a:t>用户管理</a:t>
            </a:r>
          </a:p>
          <a:p>
            <a:r>
              <a:rPr lang="zh-CN" altLang="en-US" sz="6600"/>
              <a:t>目录管理</a:t>
            </a:r>
          </a:p>
          <a:p>
            <a:r>
              <a:rPr lang="zh-CN" altLang="en-US" sz="6600"/>
              <a:t>文件管理</a:t>
            </a:r>
          </a:p>
          <a:p>
            <a:r>
              <a:rPr lang="zh-CN" altLang="en-US" sz="6600"/>
              <a:t>权限管理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BB10C32-BA09-40CD-D5CC-E61B0CC0609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用户管理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EE079ADC-9A84-B06F-37A0-5CC11298F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20713"/>
            <a:ext cx="9101138" cy="5761037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新建用户</a:t>
            </a:r>
            <a:r>
              <a:rPr lang="en-US" altLang="zh-CN" sz="3200"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user add</a:t>
            </a:r>
            <a:r>
              <a:rPr lang="en-US" altLang="zh-CN" sz="3200">
                <a:latin typeface="宋体" panose="02010600030101010101" pitchFamily="2" charset="-122"/>
              </a:rPr>
              <a:t>)  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useradd </a:t>
            </a: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UserName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</a:t>
            </a:r>
            <a:r>
              <a:rPr lang="zh-CN" altLang="en-US" sz="3200">
                <a:latin typeface="宋体" panose="02010600030101010101" pitchFamily="2" charset="-122"/>
              </a:rPr>
              <a:t>新建用户后，会在</a:t>
            </a:r>
            <a:r>
              <a:rPr lang="en-US" altLang="zh-CN" sz="3200">
                <a:latin typeface="宋体" panose="02010600030101010101" pitchFamily="2" charset="-122"/>
              </a:rPr>
              <a:t>/home</a:t>
            </a:r>
            <a:r>
              <a:rPr lang="zh-CN" altLang="en-US" sz="3200">
                <a:latin typeface="宋体" panose="02010600030101010101" pitchFamily="2" charset="-122"/>
              </a:rPr>
              <a:t>目录下建立一个以</a:t>
            </a:r>
            <a:r>
              <a:rPr lang="en-US" altLang="zh-CN" sz="3200">
                <a:latin typeface="宋体" panose="02010600030101010101" pitchFamily="2" charset="-122"/>
              </a:rPr>
              <a:t>UserName</a:t>
            </a:r>
            <a:r>
              <a:rPr lang="zh-CN" altLang="en-US" sz="3200">
                <a:latin typeface="宋体" panose="02010600030101010101" pitchFamily="2" charset="-122"/>
              </a:rPr>
              <a:t>命名的文件夹，用户每次登录时自动定位到该文件夹下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为用户添加密码</a:t>
            </a:r>
            <a:r>
              <a:rPr lang="en-US" altLang="zh-CN" sz="3200"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passw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or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     passwd 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UserName</a:t>
            </a:r>
            <a:endParaRPr lang="en-US" altLang="zh-CN" sz="320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删除用户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user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del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ete</a:t>
            </a:r>
            <a:r>
              <a:rPr lang="en-US" altLang="zh-CN" sz="3200">
                <a:latin typeface="宋体" panose="02010600030101010101" pitchFamily="2" charset="-122"/>
              </a:rPr>
              <a:t>)</a:t>
            </a: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userdel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UserName</a:t>
            </a:r>
            <a:r>
              <a:rPr lang="en-US" altLang="zh-CN" sz="3200">
                <a:latin typeface="宋体" panose="02010600030101010101" pitchFamily="2" charset="-122"/>
              </a:rPr>
              <a:t>  </a:t>
            </a:r>
          </a:p>
          <a:p>
            <a:pPr algn="just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宋体" panose="02010600030101010101" pitchFamily="2" charset="-122"/>
              </a:rPr>
              <a:t>       </a:t>
            </a:r>
            <a:r>
              <a:rPr lang="zh-CN" altLang="en-US" sz="3200">
                <a:latin typeface="宋体" panose="02010600030101010101" pitchFamily="2" charset="-122"/>
              </a:rPr>
              <a:t>使用</a:t>
            </a:r>
            <a:r>
              <a:rPr lang="en-US" altLang="zh-CN" sz="3200">
                <a:latin typeface="宋体" panose="02010600030101010101" pitchFamily="2" charset="-122"/>
              </a:rPr>
              <a:t>–p</a:t>
            </a:r>
            <a:r>
              <a:rPr lang="zh-CN" altLang="en-US" sz="3200">
                <a:latin typeface="宋体" panose="02010600030101010101" pitchFamily="2" charset="-122"/>
              </a:rPr>
              <a:t>选项可以删除用户目录下的文件及与用户相关联的其他文件。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新建组群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group add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 </a:t>
            </a:r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groupadd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GroupName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</a:rPr>
              <a:t>删除组群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group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del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ete)    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groupdel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GroupName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199C9CA-BA3E-C868-C4D6-1F3A8C68963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用户管理</a:t>
            </a:r>
            <a:endParaRPr lang="zh-CN" altLang="en-US" sz="4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4D37558-EB48-62A3-A4E9-AB671F57A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620713"/>
            <a:ext cx="8486775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latin typeface="宋体" panose="02010600030101010101" pitchFamily="2" charset="-122"/>
              </a:rPr>
              <a:t>用户身份     </a:t>
            </a:r>
            <a:r>
              <a:rPr lang="en-US" altLang="zh-CN" sz="40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whoami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4000">
                <a:latin typeface="宋体" panose="02010600030101010101" pitchFamily="2" charset="-122"/>
              </a:rPr>
              <a:t>  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4000">
                <a:latin typeface="宋体" panose="02010600030101010101" pitchFamily="2" charset="-122"/>
              </a:rPr>
              <a:t>查看登录用户    </a:t>
            </a:r>
            <a:r>
              <a:rPr lang="en-US" altLang="zh-CN" sz="40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who 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</a:t>
            </a:r>
            <a:r>
              <a:rPr lang="zh-CN" altLang="en-US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选项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]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-a </a:t>
            </a:r>
            <a:r>
              <a:rPr lang="zh-CN" altLang="en-US" sz="4000">
                <a:latin typeface="宋体" panose="02010600030101010101" pitchFamily="2" charset="-122"/>
              </a:rPr>
              <a:t>显示所有用户的所有信息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4000">
                <a:latin typeface="宋体" panose="02010600030101010101" pitchFamily="2" charset="-122"/>
              </a:rPr>
              <a:t>       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-H</a:t>
            </a:r>
            <a:r>
              <a:rPr lang="en-US" altLang="zh-CN" sz="4000">
                <a:latin typeface="宋体" panose="02010600030101010101" pitchFamily="2" charset="-122"/>
              </a:rPr>
              <a:t> </a:t>
            </a:r>
            <a:r>
              <a:rPr lang="zh-CN" altLang="en-US" sz="4000">
                <a:latin typeface="宋体" panose="02010600030101010101" pitchFamily="2" charset="-122"/>
              </a:rPr>
              <a:t>显示列标题</a:t>
            </a:r>
            <a:endParaRPr lang="zh-CN" altLang="en-US" sz="4000">
              <a:solidFill>
                <a:schemeClr val="hlink"/>
              </a:solidFill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4000">
                <a:latin typeface="宋体" panose="02010600030101010101" pitchFamily="2" charset="-122"/>
              </a:rPr>
              <a:t>用户间切换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40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ubstitute </a:t>
            </a:r>
            <a:r>
              <a:rPr lang="en-US" altLang="zh-CN" sz="40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ser)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40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UserName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zh-CN" altLang="en-US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如：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</a:t>
            </a:r>
            <a:r>
              <a:rPr lang="en-US" altLang="zh-CN" sz="4000">
                <a:latin typeface="宋体" panose="02010600030101010101" pitchFamily="2" charset="-122"/>
              </a:rPr>
              <a:t> </a:t>
            </a:r>
            <a:r>
              <a:rPr lang="zh-CN" altLang="en-US" sz="4000">
                <a:latin typeface="宋体" panose="02010600030101010101" pitchFamily="2" charset="-122"/>
              </a:rPr>
              <a:t>或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su root</a:t>
            </a:r>
            <a:r>
              <a:rPr lang="en-US" altLang="zh-CN" sz="4000">
                <a:latin typeface="宋体" panose="02010600030101010101" pitchFamily="2" charset="-122"/>
              </a:rPr>
              <a:t> </a:t>
            </a:r>
            <a:r>
              <a:rPr lang="zh-CN" altLang="en-US" sz="4000">
                <a:latin typeface="宋体" panose="02010600030101010101" pitchFamily="2" charset="-122"/>
              </a:rPr>
              <a:t>切换为根用户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su Haison</a:t>
            </a:r>
            <a:r>
              <a:rPr lang="en-US" altLang="zh-CN" sz="4000">
                <a:latin typeface="宋体" panose="02010600030101010101" pitchFamily="2" charset="-122"/>
              </a:rPr>
              <a:t> </a:t>
            </a:r>
            <a:r>
              <a:rPr lang="zh-CN" altLang="en-US" sz="4000">
                <a:latin typeface="宋体" panose="02010600030101010101" pitchFamily="2" charset="-122"/>
              </a:rPr>
              <a:t>切换为名为</a:t>
            </a:r>
            <a:r>
              <a:rPr lang="en-US" altLang="zh-CN" sz="40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Haison</a:t>
            </a:r>
            <a:r>
              <a:rPr lang="zh-CN" altLang="en-US" sz="4000">
                <a:latin typeface="宋体" panose="02010600030101010101" pitchFamily="2" charset="-122"/>
              </a:rPr>
              <a:t>的用户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283CDDC-3C83-07D4-E3FE-A261FAD7A03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目录管理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3EF7DD2-2053-E204-10DE-69111F9E7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9144000" cy="590391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tabLst>
                <a:tab pos="1884363" algn="l"/>
              </a:tabLst>
            </a:pPr>
            <a:r>
              <a:rPr lang="zh-CN" altLang="en-US" sz="3200">
                <a:latin typeface="宋体" panose="02010600030101010101" pitchFamily="2" charset="-122"/>
              </a:rPr>
              <a:t>创建目录</a:t>
            </a:r>
            <a:r>
              <a:rPr lang="en-US" altLang="zh-CN" sz="3200"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ake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dir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ectory</a:t>
            </a:r>
            <a:r>
              <a:rPr lang="en-US" altLang="zh-CN" sz="3200">
                <a:latin typeface="宋体" panose="02010600030101010101" pitchFamily="2" charset="-122"/>
              </a:rPr>
              <a:t>)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mkdir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DirecName</a:t>
            </a:r>
          </a:p>
          <a:p>
            <a:pPr>
              <a:spcBef>
                <a:spcPct val="0"/>
              </a:spcBef>
              <a:spcAft>
                <a:spcPct val="0"/>
              </a:spcAft>
              <a:tabLst>
                <a:tab pos="1884363" algn="l"/>
              </a:tabLst>
            </a:pPr>
            <a:r>
              <a:rPr lang="zh-CN" altLang="en-US" sz="3200">
                <a:latin typeface="宋体" panose="02010600030101010101" pitchFamily="2" charset="-122"/>
              </a:rPr>
              <a:t>删除目录</a:t>
            </a:r>
            <a:r>
              <a:rPr lang="en-US" altLang="zh-CN" sz="3200"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ove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dir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ectory</a:t>
            </a:r>
            <a:r>
              <a:rPr lang="en-US" altLang="zh-CN" sz="3200">
                <a:latin typeface="宋体" panose="02010600030101010101" pitchFamily="2" charset="-122"/>
              </a:rPr>
              <a:t>)</a:t>
            </a: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rmdir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DirecName</a:t>
            </a:r>
            <a:endParaRPr lang="en-US" altLang="zh-CN" sz="3200">
              <a:latin typeface="宋体" panose="02010600030101010101" pitchFamily="2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tabLst>
                <a:tab pos="1884363" algn="l"/>
              </a:tabLst>
            </a:pPr>
            <a:r>
              <a:rPr lang="zh-CN" altLang="en-US" sz="3200">
                <a:latin typeface="宋体" panose="02010600030101010101" pitchFamily="2" charset="-122"/>
              </a:rPr>
              <a:t>显示工作目录</a:t>
            </a:r>
            <a:r>
              <a:rPr lang="en-US" altLang="zh-CN" sz="3200"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rint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orking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irectory</a:t>
            </a:r>
            <a:r>
              <a:rPr lang="en-US" altLang="zh-CN" sz="3200">
                <a:latin typeface="宋体" panose="02010600030101010101" pitchFamily="2" charset="-122"/>
              </a:rPr>
              <a:t>)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pwd</a:t>
            </a:r>
          </a:p>
          <a:p>
            <a:pPr>
              <a:spcBef>
                <a:spcPct val="0"/>
              </a:spcBef>
              <a:spcAft>
                <a:spcPct val="0"/>
              </a:spcAft>
              <a:tabLst>
                <a:tab pos="1884363" algn="l"/>
              </a:tabLst>
            </a:pPr>
            <a:r>
              <a:rPr lang="zh-CN" altLang="en-US" sz="3200">
                <a:latin typeface="宋体" panose="02010600030101010101" pitchFamily="2" charset="-122"/>
              </a:rPr>
              <a:t>显示目录内容</a:t>
            </a:r>
            <a:r>
              <a:rPr lang="en-US" altLang="zh-CN" sz="3200"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</a:t>
            </a:r>
            <a:r>
              <a:rPr lang="en-US" altLang="zh-CN" sz="3200">
                <a:latin typeface="宋体" panose="02010600030101010101" pitchFamily="2" charset="-122"/>
              </a:rPr>
              <a:t>)</a:t>
            </a: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ls </a:t>
            </a:r>
            <a:r>
              <a:rPr lang="en-US" altLang="zh-CN" sz="3200">
                <a:latin typeface="宋体" panose="02010600030101010101" pitchFamily="2" charset="-122"/>
              </a:rPr>
              <a:t>[</a:t>
            </a:r>
            <a:r>
              <a:rPr lang="zh-CN" altLang="en-US" sz="3200">
                <a:latin typeface="宋体" panose="02010600030101010101" pitchFamily="2" charset="-122"/>
              </a:rPr>
              <a:t>选项</a:t>
            </a:r>
            <a:r>
              <a:rPr lang="en-US" altLang="zh-CN" sz="3200">
                <a:latin typeface="宋体" panose="02010600030101010101" pitchFamily="2" charset="-122"/>
              </a:rPr>
              <a:t>] </a:t>
            </a:r>
            <a:endParaRPr lang="en-US" altLang="zh-CN" sz="32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tabLst>
                <a:tab pos="1884363" algn="l"/>
              </a:tabLst>
            </a:pPr>
            <a:r>
              <a:rPr lang="en-US" altLang="zh-CN" sz="3200">
                <a:latin typeface="宋体" panose="02010600030101010101" pitchFamily="2" charset="-122"/>
              </a:rPr>
              <a:t>   </a:t>
            </a:r>
            <a:r>
              <a:rPr lang="zh-CN" altLang="en-US" sz="3200">
                <a:latin typeface="宋体" panose="02010600030101010101" pitchFamily="2" charset="-122"/>
              </a:rPr>
              <a:t>选项</a:t>
            </a:r>
            <a:r>
              <a:rPr lang="en-US" altLang="zh-CN" sz="3200">
                <a:latin typeface="宋体" panose="02010600030101010101" pitchFamily="2" charset="-122"/>
              </a:rPr>
              <a:t>:-a </a:t>
            </a:r>
            <a:r>
              <a:rPr lang="zh-CN" altLang="en-US" sz="3200">
                <a:latin typeface="宋体" panose="02010600030101010101" pitchFamily="2" charset="-122"/>
              </a:rPr>
              <a:t>显示当前目录下的所有文件，包括以</a:t>
            </a:r>
            <a:r>
              <a:rPr lang="en-US" altLang="zh-CN" sz="3200">
                <a:latin typeface="宋体" panose="02010600030101010101" pitchFamily="2" charset="-122"/>
              </a:rPr>
              <a:t>.</a:t>
            </a:r>
            <a:r>
              <a:rPr lang="zh-CN" altLang="en-US" sz="3200">
                <a:latin typeface="宋体" panose="02010600030101010101" pitchFamily="2" charset="-122"/>
              </a:rPr>
              <a:t>开头的文件。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tabLst>
                <a:tab pos="1884363" algn="l"/>
              </a:tabLst>
            </a:pPr>
            <a:r>
              <a:rPr lang="zh-CN" altLang="en-US" sz="3200">
                <a:latin typeface="宋体" panose="02010600030101010101" pitchFamily="2" charset="-122"/>
              </a:rPr>
              <a:t>    </a:t>
            </a:r>
            <a:r>
              <a:rPr lang="en-US" altLang="zh-CN" sz="3200">
                <a:latin typeface="宋体" panose="02010600030101010101" pitchFamily="2" charset="-122"/>
              </a:rPr>
              <a:t>-l </a:t>
            </a:r>
            <a:r>
              <a:rPr lang="zh-CN" altLang="en-US" sz="3200">
                <a:latin typeface="宋体" panose="02010600030101010101" pitchFamily="2" charset="-122"/>
              </a:rPr>
              <a:t>以长列表的形式显示文件列表</a:t>
            </a:r>
            <a:r>
              <a:rPr lang="en-US" altLang="zh-CN" sz="3200">
                <a:latin typeface="宋体" panose="02010600030101010101" pitchFamily="2" charset="-122"/>
              </a:rPr>
              <a:t>,</a:t>
            </a:r>
            <a:r>
              <a:rPr lang="zh-CN" altLang="en-US" sz="3200">
                <a:latin typeface="宋体" panose="02010600030101010101" pitchFamily="2" charset="-122"/>
              </a:rPr>
              <a:t>如：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  <a:tabLst>
                <a:tab pos="1884363" algn="l"/>
              </a:tabLst>
            </a:pPr>
            <a:r>
              <a:rPr lang="zh-CN" altLang="en-US" sz="3200">
                <a:latin typeface="宋体" panose="02010600030101010101" pitchFamily="2" charset="-122"/>
              </a:rPr>
              <a:t>          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-rw-r--r-- 1 haison haison 18 Nov 2 10:10 haison.c</a:t>
            </a:r>
          </a:p>
          <a:p>
            <a:pPr>
              <a:buFont typeface="Wingdings" panose="05000000000000000000" pitchFamily="2" charset="2"/>
              <a:buNone/>
              <a:tabLst>
                <a:tab pos="1884363" algn="l"/>
              </a:tabLst>
            </a:pPr>
            <a:r>
              <a:rPr lang="en-US" altLang="zh-CN" sz="2000">
                <a:latin typeface="宋体" panose="02010600030101010101" pitchFamily="2" charset="-122"/>
              </a:rPr>
              <a:t>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B8AC278-95FE-9093-3640-1AFCF311C77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目录管理</a:t>
            </a:r>
            <a:endParaRPr lang="zh-CN" altLang="en-US" sz="4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314AC31-DFEF-A93C-28D3-EF32619C5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20713"/>
            <a:ext cx="9101138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latin typeface="宋体" panose="02010600030101010101" pitchFamily="2" charset="-122"/>
              </a:rPr>
              <a:t>改变当前目录</a:t>
            </a:r>
            <a:r>
              <a:rPr lang="en-US" altLang="zh-CN" sz="3200">
                <a:latin typeface="宋体" panose="02010600030101010101" pitchFamily="2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hange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irectory</a:t>
            </a:r>
            <a:r>
              <a:rPr lang="en-US" altLang="zh-CN" sz="3200">
                <a:latin typeface="宋体" panose="02010600030101010101" pitchFamily="2" charset="-122"/>
              </a:rPr>
              <a:t>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宋体" panose="02010600030101010101" pitchFamily="2" charset="-122"/>
              </a:rPr>
              <a:t>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cd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200">
                <a:latin typeface="宋体" panose="02010600030101010101" pitchFamily="2" charset="-122"/>
              </a:rPr>
              <a:t>或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cd</a:t>
            </a: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~</a:t>
            </a:r>
            <a:r>
              <a:rPr lang="en-US" altLang="zh-CN" sz="3200">
                <a:latin typeface="宋体" panose="02010600030101010101" pitchFamily="2" charset="-122"/>
              </a:rPr>
              <a:t> </a:t>
            </a:r>
            <a:r>
              <a:rPr lang="zh-CN" altLang="en-US" sz="3200">
                <a:latin typeface="宋体" panose="02010600030101010101" pitchFamily="2" charset="-122"/>
              </a:rPr>
              <a:t>进入登录时的主目录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</a:rPr>
              <a:t>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cd</a:t>
            </a: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</a:t>
            </a:r>
            <a:r>
              <a:rPr lang="en-US" altLang="zh-CN" sz="3200">
                <a:latin typeface="宋体" panose="02010600030101010101" pitchFamily="2" charset="-122"/>
              </a:rPr>
              <a:t>       </a:t>
            </a:r>
            <a:r>
              <a:rPr lang="zh-CN" altLang="en-US" sz="3200">
                <a:latin typeface="宋体" panose="02010600030101010101" pitchFamily="2" charset="-122"/>
              </a:rPr>
              <a:t>进入根目录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</a:rPr>
              <a:t>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cd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..</a:t>
            </a:r>
            <a:r>
              <a:rPr lang="en-US" altLang="zh-CN" sz="3200">
                <a:latin typeface="宋体" panose="02010600030101010101" pitchFamily="2" charset="-122"/>
              </a:rPr>
              <a:t>       </a:t>
            </a:r>
            <a:r>
              <a:rPr lang="zh-CN" altLang="en-US" sz="3200">
                <a:latin typeface="宋体" panose="02010600030101010101" pitchFamily="2" charset="-122"/>
              </a:rPr>
              <a:t>进入上一级目录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</a:rPr>
              <a:t>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cd </a:t>
            </a: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/home</a:t>
            </a:r>
            <a:r>
              <a:rPr lang="en-US" altLang="zh-CN" sz="3200">
                <a:latin typeface="宋体" panose="02010600030101010101" pitchFamily="2" charset="-122"/>
              </a:rPr>
              <a:t>   </a:t>
            </a:r>
            <a:r>
              <a:rPr lang="zh-CN" altLang="en-US" sz="3200">
                <a:latin typeface="宋体" panose="02010600030101010101" pitchFamily="2" charset="-122"/>
              </a:rPr>
              <a:t>进入系统的</a:t>
            </a:r>
            <a:r>
              <a:rPr lang="en-US" altLang="zh-CN" sz="3200">
                <a:latin typeface="宋体" panose="02010600030101010101" pitchFamily="2" charset="-122"/>
              </a:rPr>
              <a:t>home</a:t>
            </a:r>
            <a:r>
              <a:rPr lang="zh-CN" altLang="en-US" sz="3200">
                <a:latin typeface="宋体" panose="02010600030101010101" pitchFamily="2" charset="-122"/>
              </a:rPr>
              <a:t>目录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latin typeface="宋体" panose="02010600030101010101" pitchFamily="2" charset="-122"/>
              </a:rPr>
              <a:t>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cd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home</a:t>
            </a:r>
            <a:r>
              <a:rPr lang="en-US" altLang="zh-CN" sz="3200">
                <a:latin typeface="宋体" panose="02010600030101010101" pitchFamily="2" charset="-122"/>
              </a:rPr>
              <a:t>    </a:t>
            </a:r>
            <a:r>
              <a:rPr lang="zh-CN" altLang="en-US" sz="3200">
                <a:latin typeface="宋体" panose="02010600030101010101" pitchFamily="2" charset="-122"/>
              </a:rPr>
              <a:t>进入当前目录下的</a:t>
            </a:r>
            <a:r>
              <a:rPr lang="en-US" altLang="zh-CN" sz="3200">
                <a:latin typeface="宋体" panose="02010600030101010101" pitchFamily="2" charset="-122"/>
              </a:rPr>
              <a:t>home</a:t>
            </a:r>
            <a:r>
              <a:rPr lang="zh-CN" altLang="en-US" sz="3200">
                <a:latin typeface="宋体" panose="02010600030101010101" pitchFamily="2" charset="-122"/>
              </a:rPr>
              <a:t>目录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>
                <a:latin typeface="宋体" panose="02010600030101010101" pitchFamily="2" charset="-122"/>
              </a:rPr>
              <a:t>目录重命名</a:t>
            </a:r>
            <a:r>
              <a:rPr lang="en-US" altLang="zh-CN" sz="3200"/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</a:t>
            </a:r>
            <a:r>
              <a:rPr lang="en-US" altLang="zh-CN" sz="3200"/>
              <a:t>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 mv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SourceDirecName TargetDirecName</a:t>
            </a:r>
            <a:endParaRPr lang="en-US" altLang="zh-CN" sz="3200"/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>
                <a:latin typeface="宋体" panose="02010600030101010101" pitchFamily="2" charset="-122"/>
              </a:rPr>
              <a:t>目录拷贝</a:t>
            </a:r>
            <a:r>
              <a:rPr lang="en-US" altLang="zh-CN" sz="3200"/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</a:t>
            </a:r>
            <a:r>
              <a:rPr lang="en-US" altLang="zh-CN" sz="3200"/>
              <a:t>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/>
              <a:t>    </a:t>
            </a:r>
            <a:r>
              <a:rPr lang="en-US" altLang="zh-CN" sz="3200">
                <a:solidFill>
                  <a:srgbClr val="C00000"/>
                </a:solidFill>
                <a:latin typeface="宋体" panose="02010600030101010101" pitchFamily="2" charset="-122"/>
              </a:rPr>
              <a:t> cp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SourceDirec TargetDirec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-r </a:t>
            </a:r>
            <a:r>
              <a:rPr lang="zh-CN" altLang="en-US" sz="3200">
                <a:latin typeface="Arial Unicode MS" panose="020B0604020202020204" pitchFamily="34" charset="-122"/>
              </a:rPr>
              <a:t>拷贝目录下的文件、子目录及子目录下的文件</a:t>
            </a:r>
            <a:endParaRPr lang="zh-CN" altLang="en-US" sz="3200"/>
          </a:p>
          <a:p>
            <a:pPr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6427080-DACD-FC94-F68B-0A7A80AB35D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-36513" y="0"/>
            <a:ext cx="9144001" cy="476250"/>
          </a:xfrm>
        </p:spPr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文件管理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B41C3F92-C5A5-0762-E2B6-7DAD1B4AD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620713"/>
            <a:ext cx="9180513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latin typeface="宋体" panose="02010600030101010101" pitchFamily="2" charset="-122"/>
              </a:rPr>
              <a:t>新建文件    </a:t>
            </a:r>
            <a:r>
              <a:rPr lang="en-US" altLang="zh-CN" sz="3200">
                <a:solidFill>
                  <a:srgbClr val="C00000"/>
                </a:solidFill>
              </a:rPr>
              <a:t>&gt;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3200"/>
              <a:t> </a:t>
            </a:r>
            <a:r>
              <a:rPr lang="zh-CN" altLang="en-US" sz="3200">
                <a:solidFill>
                  <a:srgbClr val="FF3300"/>
                </a:solidFill>
              </a:rPr>
              <a:t>或</a:t>
            </a:r>
            <a:r>
              <a:rPr lang="zh-CN" altLang="en-US" sz="3200"/>
              <a:t> </a:t>
            </a:r>
            <a:r>
              <a:rPr lang="en-US" altLang="zh-CN" sz="3200">
                <a:solidFill>
                  <a:srgbClr val="C00000"/>
                </a:solidFill>
              </a:rPr>
              <a:t>touch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FileName</a:t>
            </a:r>
            <a:r>
              <a:rPr lang="en-US" altLang="zh-CN" sz="3200"/>
              <a:t> </a:t>
            </a:r>
            <a:r>
              <a:rPr lang="zh-CN" altLang="en-US" sz="3200">
                <a:solidFill>
                  <a:srgbClr val="FF3300"/>
                </a:solidFill>
              </a:rPr>
              <a:t>或</a:t>
            </a:r>
            <a:r>
              <a:rPr lang="zh-CN" altLang="en-US" sz="3200"/>
              <a:t> </a:t>
            </a:r>
            <a:r>
              <a:rPr lang="en-US" altLang="zh-CN" sz="3200">
                <a:solidFill>
                  <a:srgbClr val="C00000"/>
                </a:solidFill>
              </a:rPr>
              <a:t>vi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FileName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latin typeface="宋体" panose="02010600030101010101" pitchFamily="2" charset="-122"/>
              </a:rPr>
              <a:t>删除文件</a:t>
            </a:r>
            <a:r>
              <a:rPr lang="en-US" altLang="zh-CN" sz="3200"/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ove file</a:t>
            </a:r>
            <a:r>
              <a:rPr lang="en-US" altLang="zh-CN" sz="3200"/>
              <a:t>)     </a:t>
            </a:r>
            <a:r>
              <a:rPr lang="en-US" altLang="zh-CN" sz="3200">
                <a:solidFill>
                  <a:srgbClr val="C00000"/>
                </a:solidFill>
              </a:rPr>
              <a:t>rm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</a:t>
            </a:r>
            <a:r>
              <a:rPr lang="zh-CN" altLang="en-US" sz="3200">
                <a:latin typeface="宋体" panose="02010600030101010101" pitchFamily="2" charset="-122"/>
              </a:rPr>
              <a:t>选项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] FileName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选项：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-i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系统提示是否真要删除该文件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-f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删除文件之前不提示任何确认信息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32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-r</a:t>
            </a:r>
            <a:r>
              <a:rPr lang="en-US" altLang="zh-CN" sz="3200">
                <a:solidFill>
                  <a:srgbClr val="FF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3200">
                <a:solidFill>
                  <a:srgbClr val="FF0000"/>
                </a:solidFill>
                <a:latin typeface="宋体" panose="02010600030101010101" pitchFamily="2" charset="-122"/>
              </a:rPr>
              <a:t>递归删除目录下所有子目录的内容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>
                <a:latin typeface="宋体" panose="02010600030101010101" pitchFamily="2" charset="-122"/>
              </a:rPr>
              <a:t>文件拷贝</a:t>
            </a:r>
            <a:r>
              <a:rPr lang="en-US" altLang="zh-CN" sz="3200"/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y</a:t>
            </a:r>
            <a:r>
              <a:rPr lang="en-US" altLang="zh-CN" sz="3200">
                <a:solidFill>
                  <a:srgbClr val="C00000"/>
                </a:solidFill>
              </a:rPr>
              <a:t>)     cp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SourceFile TargetFile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200">
                <a:latin typeface="宋体" panose="02010600030101010101" pitchFamily="2" charset="-122"/>
              </a:rPr>
              <a:t>文件链接</a:t>
            </a:r>
            <a:r>
              <a:rPr lang="en-US" altLang="zh-CN" sz="3200"/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k)</a:t>
            </a:r>
            <a:r>
              <a:rPr lang="en-US" altLang="zh-CN" sz="3200"/>
              <a:t>     </a:t>
            </a:r>
            <a:r>
              <a:rPr lang="en-US" altLang="zh-CN" sz="3200">
                <a:solidFill>
                  <a:srgbClr val="C00000"/>
                </a:solidFill>
              </a:rPr>
              <a:t> ln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–s  SourceFile TargetFile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320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创建文件链接</a:t>
            </a:r>
            <a:r>
              <a:rPr lang="en-US" altLang="zh-CN" sz="320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sz="320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用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ls –l</a:t>
            </a: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查看，</a:t>
            </a:r>
            <a:r>
              <a:rPr lang="zh-CN" altLang="en-US" sz="320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会看到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TargetFile-&gt;SourceFile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7308278-FE4C-CA00-A4C9-7289DDAC63F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文件管理</a:t>
            </a:r>
            <a:endParaRPr lang="zh-CN" altLang="en-US" sz="4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2E5AE2F-7266-816B-A24B-C9CD026FB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620713"/>
            <a:ext cx="9217026" cy="5761037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显示文件内容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more</a:t>
            </a:r>
            <a:r>
              <a:rPr lang="en-US" altLang="zh-CN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一次一屏的显示文件内容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空格或回车显示下一屏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less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一次一屏的显示文件内容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空格或回车显示下一屏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cat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一次全部显示文件的内容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cat file1 file2</a:t>
            </a:r>
            <a:r>
              <a:rPr lang="en-US" altLang="zh-CN" sz="2400" dirty="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file3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将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file1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、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file2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的内容写到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file3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覆盖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file3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原内容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cat file1</a:t>
            </a:r>
            <a:r>
              <a:rPr lang="en-US" altLang="zh-CN" sz="2400" dirty="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&gt;&gt;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file2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将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file1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的内容追加到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file2,file2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原内容不变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head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只显示文件的前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10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行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head –n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显示文件的前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行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zh-CN" altLang="en-US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tail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只显示文件的后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10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行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tail –n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显示文件的后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行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   </a:t>
            </a:r>
            <a:r>
              <a:rPr lang="zh-CN" altLang="en-US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nl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以编号的形式一次全部显示文件的内容</a:t>
            </a:r>
            <a:r>
              <a:rPr lang="en-US" altLang="zh-CN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忽略空格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AE284A2-2F52-4E80-50B4-9A6105C9D8A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文件管理</a:t>
            </a:r>
            <a:endParaRPr lang="zh-CN" altLang="en-US" sz="4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CEF52A9-18B3-84DC-B824-271DBAF4C39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4925" y="511175"/>
            <a:ext cx="9109075" cy="3925888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</a:rPr>
              <a:t>文件移动</a:t>
            </a:r>
            <a:r>
              <a:rPr lang="en-US" altLang="zh-CN">
                <a:latin typeface="宋体" panose="02010600030101010101" pitchFamily="2" charset="-122"/>
              </a:rPr>
              <a:t>/</a:t>
            </a:r>
            <a:r>
              <a:rPr lang="zh-CN" altLang="en-US">
                <a:latin typeface="宋体" panose="02010600030101010101" pitchFamily="2" charset="-122"/>
              </a:rPr>
              <a:t>重命名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m</a:t>
            </a:r>
            <a:r>
              <a:rPr lang="en-US" altLang="zh-CN">
                <a:latin typeface="宋体" panose="02010600030101010101" pitchFamily="2" charset="-122"/>
              </a:rPr>
              <a:t>o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v</a:t>
            </a:r>
            <a:r>
              <a:rPr lang="en-US" altLang="zh-CN">
                <a:latin typeface="宋体" panose="02010600030101010101" pitchFamily="2" charset="-122"/>
              </a:rPr>
              <a:t>e)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  </a:t>
            </a:r>
            <a:r>
              <a:rPr lang="en-US" altLang="zh-CN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mv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SourceFile TargetFile</a:t>
            </a:r>
            <a:r>
              <a:rPr lang="en-US" altLang="zh-CN">
                <a:latin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</a:rPr>
              <a:t>将一个或多个文件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移动</a:t>
            </a:r>
            <a:r>
              <a:rPr lang="zh-CN" altLang="en-US">
                <a:latin typeface="宋体" panose="02010600030101010101" pitchFamily="2" charset="-122"/>
              </a:rPr>
              <a:t>到另外一个目录下，或者将一个文件</a:t>
            </a:r>
            <a:r>
              <a:rPr lang="zh-CN" altLang="en-US">
                <a:solidFill>
                  <a:srgbClr val="FF3300"/>
                </a:solidFill>
                <a:latin typeface="宋体" panose="02010600030101010101" pitchFamily="2" charset="-122"/>
              </a:rPr>
              <a:t>重命名</a:t>
            </a:r>
            <a:r>
              <a:rPr lang="zh-CN" altLang="en-US">
                <a:latin typeface="宋体" panose="02010600030101010101" pitchFamily="2" charset="-122"/>
              </a:rPr>
              <a:t>为另一个文件。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</a:rPr>
              <a:t>文件查找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find</a:t>
            </a:r>
            <a:r>
              <a:rPr lang="en-US" altLang="zh-CN">
                <a:latin typeface="宋体" panose="02010600030101010101" pitchFamily="2" charset="-122"/>
              </a:rPr>
              <a:t>) 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   </a:t>
            </a:r>
            <a:r>
              <a:rPr lang="en-US" altLang="zh-CN">
                <a:solidFill>
                  <a:srgbClr val="C00000"/>
                </a:solidFill>
                <a:latin typeface="宋体" panose="02010600030101010101" pitchFamily="2" charset="-122"/>
              </a:rPr>
              <a:t>find</a:t>
            </a:r>
            <a:r>
              <a:rPr lang="en-US" altLang="zh-CN">
                <a:latin typeface="宋体" panose="02010600030101010101" pitchFamily="2" charset="-122"/>
              </a:rPr>
              <a:t> [</a:t>
            </a:r>
            <a:r>
              <a:rPr lang="zh-CN" altLang="en-US">
                <a:latin typeface="宋体" panose="02010600030101010101" pitchFamily="2" charset="-122"/>
              </a:rPr>
              <a:t>路径</a:t>
            </a:r>
            <a:r>
              <a:rPr lang="en-US" altLang="zh-CN">
                <a:latin typeface="宋体" panose="02010600030101010101" pitchFamily="2" charset="-122"/>
              </a:rPr>
              <a:t>] [</a:t>
            </a:r>
            <a:r>
              <a:rPr lang="zh-CN" altLang="en-US">
                <a:latin typeface="宋体" panose="02010600030101010101" pitchFamily="2" charset="-122"/>
              </a:rPr>
              <a:t>选项</a:t>
            </a:r>
            <a:r>
              <a:rPr lang="en-US" altLang="zh-CN">
                <a:latin typeface="宋体" panose="02010600030101010101" pitchFamily="2" charset="-122"/>
              </a:rPr>
              <a:t>]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</a:rPr>
              <a:t>如：</a:t>
            </a:r>
            <a:r>
              <a:rPr lang="en-US" altLang="zh-CN">
                <a:latin typeface="宋体" panose="02010600030101010101" pitchFamily="2" charset="-122"/>
              </a:rPr>
              <a:t>find / -name “Linux” -print 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latin typeface="宋体" panose="02010600030101010101" pitchFamily="2" charset="-122"/>
              </a:rPr>
              <a:t>文件内容查找</a:t>
            </a:r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3300"/>
                </a:solidFill>
                <a:latin typeface="宋体" panose="02010600030101010101" pitchFamily="2" charset="-122"/>
              </a:rPr>
              <a:t>grep</a:t>
            </a:r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hlink"/>
                </a:solidFill>
                <a:latin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</a:rPr>
              <a:t>如：</a:t>
            </a:r>
            <a:r>
              <a:rPr lang="en-US" altLang="zh-CN">
                <a:solidFill>
                  <a:srgbClr val="C00000"/>
                </a:solidFill>
                <a:latin typeface="宋体" panose="02010600030101010101" pitchFamily="2" charset="-122"/>
              </a:rPr>
              <a:t>grep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“main” haison.c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</a:rPr>
              <a:t>文件类型</a:t>
            </a:r>
          </a:p>
          <a:p>
            <a:pPr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命令</a:t>
            </a:r>
            <a:r>
              <a:rPr lang="en-US" altLang="zh-CN">
                <a:latin typeface="宋体" panose="02010600030101010101" pitchFamily="2" charset="-122"/>
              </a:rPr>
              <a:t>ls –l</a:t>
            </a:r>
            <a:r>
              <a:rPr lang="zh-CN" altLang="en-US">
                <a:latin typeface="宋体" panose="02010600030101010101" pitchFamily="2" charset="-122"/>
              </a:rPr>
              <a:t>以长列表形式显示文件的类型等</a:t>
            </a:r>
            <a:r>
              <a:rPr lang="en-US" altLang="zh-CN">
                <a:latin typeface="宋体" panose="02010600030101010101" pitchFamily="2" charset="-122"/>
              </a:rPr>
              <a:t>,</a:t>
            </a:r>
            <a:r>
              <a:rPr lang="zh-CN" altLang="en-US">
                <a:latin typeface="宋体" panose="02010600030101010101" pitchFamily="2" charset="-122"/>
              </a:rPr>
              <a:t>如</a:t>
            </a:r>
            <a:r>
              <a:rPr lang="en-US" altLang="zh-CN">
                <a:latin typeface="宋体" panose="02010600030101010101" pitchFamily="2" charset="-122"/>
              </a:rPr>
              <a:t>:-rw-r--r--</a:t>
            </a:r>
          </a:p>
        </p:txBody>
      </p:sp>
      <p:sp>
        <p:nvSpPr>
          <p:cNvPr id="22532" name="Text Box 59">
            <a:extLst>
              <a:ext uri="{FF2B5EF4-FFF2-40B4-BE49-F238E27FC236}">
                <a16:creationId xmlns:a16="http://schemas.microsoft.com/office/drawing/2014/main" id="{F5BE333A-9670-2F36-9AC8-D259A2F51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4875213"/>
            <a:ext cx="578008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zh-CN"/>
          </a:p>
        </p:txBody>
      </p:sp>
      <p:graphicFrame>
        <p:nvGraphicFramePr>
          <p:cNvPr id="29035" name="Group 363">
            <a:extLst>
              <a:ext uri="{FF2B5EF4-FFF2-40B4-BE49-F238E27FC236}">
                <a16:creationId xmlns:a16="http://schemas.microsoft.com/office/drawing/2014/main" id="{FEEBFB60-9A32-BB13-C9F8-E6CFFD0412C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35038" y="4522788"/>
          <a:ext cx="6480175" cy="1725612"/>
        </p:xfrm>
        <a:graphic>
          <a:graphicData uri="http://schemas.openxmlformats.org/drawingml/2006/table">
            <a:tbl>
              <a:tblPr/>
              <a:tblGrid>
                <a:gridCol w="64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7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82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前缀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类型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前缀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类型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—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普通文件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l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链接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l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ink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文件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7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块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b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lock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设备文件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命名管道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p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ipe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文件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3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字符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haracter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)</a:t>
                      </a: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设备文件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本地套接口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ocket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34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d</a:t>
                      </a:r>
                    </a:p>
                  </a:txBody>
                  <a:tcPr marL="90000" marR="90000" marT="46755" marB="4675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目录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(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d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irectory</a:t>
                      </a: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L="90000" marR="90000" marT="46755" marB="4675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9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079C83FE-079D-5330-2B91-7DB16391C59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85725" y="-88900"/>
            <a:ext cx="8229600" cy="728663"/>
          </a:xfrm>
        </p:spPr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权限管理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4E2A53A5-B904-D0FC-3F62-EBC934BC9DA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8588" y="617538"/>
            <a:ext cx="8907462" cy="619125"/>
          </a:xfrm>
        </p:spPr>
        <p:txBody>
          <a:bodyPr/>
          <a:lstStyle/>
          <a:p>
            <a:r>
              <a:rPr lang="zh-CN" altLang="en-US" sz="2400">
                <a:latin typeface="宋体" panose="02010600030101010101" pitchFamily="2" charset="-122"/>
              </a:rPr>
              <a:t>文件访问权限   一个文件一经创建，就具有三种访问方式</a:t>
            </a:r>
            <a:r>
              <a:rPr lang="zh-CN" altLang="en-US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</a:p>
        </p:txBody>
      </p:sp>
      <p:graphicFrame>
        <p:nvGraphicFramePr>
          <p:cNvPr id="38004" name="Group 116">
            <a:extLst>
              <a:ext uri="{FF2B5EF4-FFF2-40B4-BE49-F238E27FC236}">
                <a16:creationId xmlns:a16="http://schemas.microsoft.com/office/drawing/2014/main" id="{18ACEC9C-32B1-F196-DEBE-92F59B1FFB7A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128588" y="1125538"/>
          <a:ext cx="8893175" cy="2133600"/>
        </p:xfrm>
        <a:graphic>
          <a:graphicData uri="http://schemas.openxmlformats.org/drawingml/2006/table">
            <a:tbl>
              <a:tblPr/>
              <a:tblGrid>
                <a:gridCol w="897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9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6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3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字符</a:t>
                      </a:r>
                    </a:p>
                  </a:txBody>
                  <a:tcPr marL="46804" marR="46804" marT="46795" marB="4679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八进制表示</a:t>
                      </a: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267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</a:p>
                  </a:txBody>
                  <a:tcPr marL="46804" marR="46804" marT="46795" marB="4679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ead  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：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读，可以显示该文件的内容</a:t>
                      </a: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=4</a:t>
                      </a:r>
                      <a:endParaRPr kumimoji="0" lang="en-US" altLang="zh-CN" sz="2800" b="0" i="0" u="none" strike="noStrike" cap="none" normalizeH="0" baseline="3000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w</a:t>
                      </a:r>
                    </a:p>
                  </a:txBody>
                  <a:tcPr marL="46804" marR="46804" marT="46795" marB="4679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w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rite   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：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写，可以编辑或删除它</a:t>
                      </a: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r>
                        <a:rPr kumimoji="0" lang="en-US" altLang="zh-CN" sz="28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1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=2</a:t>
                      </a: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</a:p>
                  </a:txBody>
                  <a:tcPr marL="46804" marR="46804" marT="46795" marB="4679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cute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：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执行，如果是程序的话</a:t>
                      </a: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2</a:t>
                      </a:r>
                      <a:r>
                        <a:rPr kumimoji="0" lang="en-US" altLang="zh-CN" sz="2800" b="0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=1</a:t>
                      </a:r>
                    </a:p>
                  </a:txBody>
                  <a:tcPr marL="46804" marR="46804" marT="46795" marB="4679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999" name="Group 111">
            <a:extLst>
              <a:ext uri="{FF2B5EF4-FFF2-40B4-BE49-F238E27FC236}">
                <a16:creationId xmlns:a16="http://schemas.microsoft.com/office/drawing/2014/main" id="{8C7C10A9-05E4-2483-A1BE-2B4F32F80F5C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611188" y="4365625"/>
          <a:ext cx="3455987" cy="398463"/>
        </p:xfrm>
        <a:graphic>
          <a:graphicData uri="http://schemas.openxmlformats.org/drawingml/2006/table">
            <a:tbl>
              <a:tblPr/>
              <a:tblGrid>
                <a:gridCol w="346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44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448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984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</a:p>
                  </a:txBody>
                  <a:tcPr marL="90000" marR="90000" marT="46807" marB="4680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w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w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</a:p>
                  </a:txBody>
                  <a:tcPr marL="90000" marR="90000" marT="46807" marB="4680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008" name="Group 120">
            <a:extLst>
              <a:ext uri="{FF2B5EF4-FFF2-40B4-BE49-F238E27FC236}">
                <a16:creationId xmlns:a16="http://schemas.microsoft.com/office/drawing/2014/main" id="{C74D013F-F94F-311E-956F-5055FF5221F7}"/>
              </a:ext>
            </a:extLst>
          </p:cNvPr>
          <p:cNvGrpSpPr>
            <a:grpSpLocks/>
          </p:cNvGrpSpPr>
          <p:nvPr/>
        </p:nvGrpSpPr>
        <p:grpSpPr bwMode="auto">
          <a:xfrm>
            <a:off x="1042988" y="4870450"/>
            <a:ext cx="865187" cy="798513"/>
            <a:chOff x="657" y="3385"/>
            <a:chExt cx="545" cy="503"/>
          </a:xfrm>
        </p:grpSpPr>
        <p:sp>
          <p:nvSpPr>
            <p:cNvPr id="23619" name="AutoShape 93">
              <a:extLst>
                <a:ext uri="{FF2B5EF4-FFF2-40B4-BE49-F238E27FC236}">
                  <a16:creationId xmlns:a16="http://schemas.microsoft.com/office/drawing/2014/main" id="{50EB9B75-34AC-0D78-42CA-F1D76AE176B9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814" y="3228"/>
              <a:ext cx="232" cy="545"/>
            </a:xfrm>
            <a:prstGeom prst="leftBrace">
              <a:avLst>
                <a:gd name="adj1" fmla="val 19576"/>
                <a:gd name="adj2" fmla="val 4759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20" name="Text Box 96">
              <a:extLst>
                <a:ext uri="{FF2B5EF4-FFF2-40B4-BE49-F238E27FC236}">
                  <a16:creationId xmlns:a16="http://schemas.microsoft.com/office/drawing/2014/main" id="{A78EAA99-4E35-394A-6937-760F4ECD9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" y="365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u</a:t>
              </a:r>
            </a:p>
          </p:txBody>
        </p:sp>
      </p:grpSp>
      <p:grpSp>
        <p:nvGrpSpPr>
          <p:cNvPr id="38009" name="Group 121">
            <a:extLst>
              <a:ext uri="{FF2B5EF4-FFF2-40B4-BE49-F238E27FC236}">
                <a16:creationId xmlns:a16="http://schemas.microsoft.com/office/drawing/2014/main" id="{24CFC3B6-C941-94E1-BA91-19B773B4A6DC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4870450"/>
            <a:ext cx="1079500" cy="798513"/>
            <a:chOff x="1247" y="3385"/>
            <a:chExt cx="680" cy="503"/>
          </a:xfrm>
        </p:grpSpPr>
        <p:sp>
          <p:nvSpPr>
            <p:cNvPr id="23617" name="AutoShape 94">
              <a:extLst>
                <a:ext uri="{FF2B5EF4-FFF2-40B4-BE49-F238E27FC236}">
                  <a16:creationId xmlns:a16="http://schemas.microsoft.com/office/drawing/2014/main" id="{CAB6BEE0-EA41-AE25-2A55-9DE6FA019B2E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471" y="3161"/>
              <a:ext cx="232" cy="680"/>
            </a:xfrm>
            <a:prstGeom prst="leftBrace">
              <a:avLst>
                <a:gd name="adj1" fmla="val 55378"/>
                <a:gd name="adj2" fmla="val 4759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18" name="Text Box 97">
              <a:extLst>
                <a:ext uri="{FF2B5EF4-FFF2-40B4-BE49-F238E27FC236}">
                  <a16:creationId xmlns:a16="http://schemas.microsoft.com/office/drawing/2014/main" id="{7C2CAC26-2FE7-305C-9BB2-D2C52E63BA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4" y="365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g</a:t>
              </a:r>
            </a:p>
          </p:txBody>
        </p:sp>
      </p:grpSp>
      <p:grpSp>
        <p:nvGrpSpPr>
          <p:cNvPr id="38010" name="Group 122">
            <a:extLst>
              <a:ext uri="{FF2B5EF4-FFF2-40B4-BE49-F238E27FC236}">
                <a16:creationId xmlns:a16="http://schemas.microsoft.com/office/drawing/2014/main" id="{879C3DEF-690F-3AA9-E83F-CDF781FD2F28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4870450"/>
            <a:ext cx="935037" cy="798513"/>
            <a:chOff x="1973" y="3385"/>
            <a:chExt cx="589" cy="503"/>
          </a:xfrm>
        </p:grpSpPr>
        <p:sp>
          <p:nvSpPr>
            <p:cNvPr id="23615" name="AutoShape 95">
              <a:extLst>
                <a:ext uri="{FF2B5EF4-FFF2-40B4-BE49-F238E27FC236}">
                  <a16:creationId xmlns:a16="http://schemas.microsoft.com/office/drawing/2014/main" id="{C1F1BA6C-C023-CF3E-00D3-52775368C4C7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152" y="3206"/>
              <a:ext cx="232" cy="589"/>
            </a:xfrm>
            <a:prstGeom prst="leftBrace">
              <a:avLst>
                <a:gd name="adj1" fmla="val 21157"/>
                <a:gd name="adj2" fmla="val 4759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16" name="Text Box 98">
              <a:extLst>
                <a:ext uri="{FF2B5EF4-FFF2-40B4-BE49-F238E27FC236}">
                  <a16:creationId xmlns:a16="http://schemas.microsoft.com/office/drawing/2014/main" id="{123B907E-B802-A38F-8DF8-6C3ED6560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365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o</a:t>
              </a:r>
            </a:p>
          </p:txBody>
        </p:sp>
      </p:grpSp>
      <p:grpSp>
        <p:nvGrpSpPr>
          <p:cNvPr id="38007" name="Group 119">
            <a:extLst>
              <a:ext uri="{FF2B5EF4-FFF2-40B4-BE49-F238E27FC236}">
                <a16:creationId xmlns:a16="http://schemas.microsoft.com/office/drawing/2014/main" id="{CD376BB8-E317-E29D-17F7-B9EB667DFA56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4870450"/>
            <a:ext cx="647700" cy="768350"/>
            <a:chOff x="340" y="3385"/>
            <a:chExt cx="408" cy="484"/>
          </a:xfrm>
        </p:grpSpPr>
        <p:sp>
          <p:nvSpPr>
            <p:cNvPr id="23613" name="AutoShape 112">
              <a:extLst>
                <a:ext uri="{FF2B5EF4-FFF2-40B4-BE49-F238E27FC236}">
                  <a16:creationId xmlns:a16="http://schemas.microsoft.com/office/drawing/2014/main" id="{D7145D39-C1A9-CC52-996B-B2BC8BF88151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72" y="3398"/>
              <a:ext cx="232" cy="205"/>
            </a:xfrm>
            <a:prstGeom prst="leftBrace">
              <a:avLst>
                <a:gd name="adj1" fmla="val 8333"/>
                <a:gd name="adj2" fmla="val 47597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14" name="Text Box 113">
              <a:extLst>
                <a:ext uri="{FF2B5EF4-FFF2-40B4-BE49-F238E27FC236}">
                  <a16:creationId xmlns:a16="http://schemas.microsoft.com/office/drawing/2014/main" id="{2BFCB835-9C11-9EF8-0712-FEDEC892F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" y="3657"/>
              <a:ext cx="40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1600">
                  <a:latin typeface="宋体" panose="02010600030101010101" pitchFamily="2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类型</a:t>
              </a:r>
            </a:p>
          </p:txBody>
        </p:sp>
      </p:grpSp>
      <p:sp>
        <p:nvSpPr>
          <p:cNvPr id="38003" name="Text Box 115">
            <a:extLst>
              <a:ext uri="{FF2B5EF4-FFF2-40B4-BE49-F238E27FC236}">
                <a16:creationId xmlns:a16="http://schemas.microsoft.com/office/drawing/2014/main" id="{F51C6DD8-F37C-2915-18A7-C1DF592D7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3227388"/>
            <a:ext cx="9015412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latin typeface="宋体" panose="02010600030101010101" pitchFamily="2" charset="-122"/>
              </a:rPr>
              <a:t>    </a:t>
            </a:r>
            <a:r>
              <a:rPr lang="zh-CN" altLang="en-US">
                <a:latin typeface="宋体" panose="02010600030101010101" pitchFamily="2" charset="-122"/>
              </a:rPr>
              <a:t>一个文件由</a:t>
            </a:r>
            <a:r>
              <a:rPr lang="en-US" altLang="zh-CN">
                <a:latin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</a:rPr>
              <a:t>个类型和</a:t>
            </a:r>
            <a:r>
              <a:rPr lang="en-US" altLang="zh-CN">
                <a:latin typeface="宋体" panose="02010600030101010101" pitchFamily="2" charset="-122"/>
              </a:rPr>
              <a:t>9</a:t>
            </a:r>
            <a:r>
              <a:rPr lang="zh-CN" altLang="en-US">
                <a:latin typeface="宋体" panose="02010600030101010101" pitchFamily="2" charset="-122"/>
              </a:rPr>
              <a:t>个权限位来描述，</a:t>
            </a:r>
            <a:r>
              <a:rPr lang="en-US" altLang="zh-CN">
                <a:latin typeface="宋体" panose="02010600030101010101" pitchFamily="2" charset="-122"/>
              </a:rPr>
              <a:t>9</a:t>
            </a:r>
            <a:r>
              <a:rPr lang="zh-CN" altLang="en-US">
                <a:latin typeface="宋体" panose="02010600030101010101" pitchFamily="2" charset="-122"/>
              </a:rPr>
              <a:t>个权限位分为</a:t>
            </a: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组，每组</a:t>
            </a:r>
            <a:r>
              <a:rPr lang="en-US" altLang="zh-CN">
                <a:latin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</a:rPr>
              <a:t>个权限位，具体表示如下所示：</a:t>
            </a:r>
          </a:p>
        </p:txBody>
      </p:sp>
      <p:grpSp>
        <p:nvGrpSpPr>
          <p:cNvPr id="38011" name="Group 123">
            <a:extLst>
              <a:ext uri="{FF2B5EF4-FFF2-40B4-BE49-F238E27FC236}">
                <a16:creationId xmlns:a16="http://schemas.microsoft.com/office/drawing/2014/main" id="{6723E54C-FAB2-D778-996F-04839AC73896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4221163"/>
            <a:ext cx="3814762" cy="1665287"/>
            <a:chOff x="2835" y="2976"/>
            <a:chExt cx="2403" cy="1049"/>
          </a:xfrm>
        </p:grpSpPr>
        <p:sp>
          <p:nvSpPr>
            <p:cNvPr id="23608" name="AutoShape 100">
              <a:extLst>
                <a:ext uri="{FF2B5EF4-FFF2-40B4-BE49-F238E27FC236}">
                  <a16:creationId xmlns:a16="http://schemas.microsoft.com/office/drawing/2014/main" id="{28C15F42-B6BE-C1A6-5261-684848908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5" y="3067"/>
              <a:ext cx="90" cy="953"/>
            </a:xfrm>
            <a:prstGeom prst="leftBrace">
              <a:avLst>
                <a:gd name="adj1" fmla="val 8824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09" name="Text Box 101">
              <a:extLst>
                <a:ext uri="{FF2B5EF4-FFF2-40B4-BE49-F238E27FC236}">
                  <a16:creationId xmlns:a16="http://schemas.microsoft.com/office/drawing/2014/main" id="{290DAAE6-7F8C-7476-3A55-00C13A21A8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2976"/>
              <a:ext cx="19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u:</a:t>
              </a:r>
              <a:r>
                <a:rPr lang="en-US" altLang="zh-CN" sz="2000">
                  <a:solidFill>
                    <a:srgbClr val="FF33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u</a:t>
              </a: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ser,</a:t>
              </a:r>
              <a:r>
                <a:rPr lang="zh-CN" altLang="en-US" sz="1600">
                  <a:latin typeface="宋体" panose="02010600030101010101" pitchFamily="2" charset="-122"/>
                </a:rPr>
                <a:t>文件的属主</a:t>
              </a:r>
            </a:p>
          </p:txBody>
        </p:sp>
        <p:sp>
          <p:nvSpPr>
            <p:cNvPr id="23610" name="Text Box 102">
              <a:extLst>
                <a:ext uri="{FF2B5EF4-FFF2-40B4-BE49-F238E27FC236}">
                  <a16:creationId xmlns:a16="http://schemas.microsoft.com/office/drawing/2014/main" id="{9FE97A6F-FA91-CA69-5369-DF643129E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258"/>
              <a:ext cx="231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g:</a:t>
              </a:r>
              <a:r>
                <a:rPr lang="en-US" altLang="zh-CN" sz="2000">
                  <a:solidFill>
                    <a:srgbClr val="FF33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g</a:t>
              </a: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roup,</a:t>
              </a:r>
              <a:r>
                <a:rPr lang="zh-CN" altLang="en-US" sz="1600">
                  <a:latin typeface="宋体" panose="02010600030101010101" pitchFamily="2" charset="-122"/>
                </a:rPr>
                <a:t>文件的属主所在的组，属组</a:t>
              </a:r>
            </a:p>
          </p:txBody>
        </p:sp>
        <p:sp>
          <p:nvSpPr>
            <p:cNvPr id="23611" name="Text Box 103">
              <a:extLst>
                <a:ext uri="{FF2B5EF4-FFF2-40B4-BE49-F238E27FC236}">
                  <a16:creationId xmlns:a16="http://schemas.microsoft.com/office/drawing/2014/main" id="{5D195F4A-0802-48BE-3833-B81F16D02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5" y="3521"/>
              <a:ext cx="19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o:</a:t>
              </a:r>
              <a:r>
                <a:rPr lang="en-US" altLang="zh-CN" sz="2000">
                  <a:solidFill>
                    <a:srgbClr val="FF33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o</a:t>
              </a: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ther,</a:t>
              </a:r>
              <a:r>
                <a:rPr lang="zh-CN" altLang="en-US" sz="1600">
                  <a:latin typeface="宋体" panose="02010600030101010101" pitchFamily="2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其他的用户</a:t>
              </a:r>
              <a:endParaRPr lang="zh-CN" altLang="en-US" sz="1600">
                <a:latin typeface="宋体" panose="02010600030101010101" pitchFamily="2" charset="-122"/>
              </a:endParaRPr>
            </a:p>
          </p:txBody>
        </p:sp>
        <p:sp>
          <p:nvSpPr>
            <p:cNvPr id="23612" name="Text Box 117">
              <a:extLst>
                <a:ext uri="{FF2B5EF4-FFF2-40B4-BE49-F238E27FC236}">
                  <a16:creationId xmlns:a16="http://schemas.microsoft.com/office/drawing/2014/main" id="{465C5CAB-8605-6E54-1A6D-7EC434D6E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5" y="3775"/>
              <a:ext cx="19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a:</a:t>
              </a:r>
              <a:r>
                <a:rPr lang="en-US" altLang="zh-CN" sz="2000">
                  <a:solidFill>
                    <a:srgbClr val="FF33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a</a:t>
              </a:r>
              <a:r>
                <a:rPr lang="en-US" altLang="zh-CN" sz="20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ll,</a:t>
              </a:r>
              <a:r>
                <a:rPr lang="zh-CN" altLang="en-US" sz="1600">
                  <a:latin typeface="宋体" panose="02010600030101010101" pitchFamily="2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以上三种人</a:t>
              </a:r>
              <a:endParaRPr lang="zh-CN" altLang="en-US" sz="160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80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80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99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99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7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0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80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80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0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 decel="100000"/>
                                        <p:tgtEl>
                                          <p:spTgt spid="380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800" decel="100000" fill="hold"/>
                                        <p:tgtEl>
                                          <p:spTgt spid="3800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800" decel="100000" fill="hold"/>
                                        <p:tgtEl>
                                          <p:spTgt spid="38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38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0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0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800" decel="100000"/>
                                        <p:tgtEl>
                                          <p:spTgt spid="380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3800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38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38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800" decel="100000"/>
                                        <p:tgtEl>
                                          <p:spTgt spid="380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800" decel="100000" fill="hold"/>
                                        <p:tgtEl>
                                          <p:spTgt spid="380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00" decel="100000" fill="hold"/>
                                        <p:tgtEl>
                                          <p:spTgt spid="38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800" decel="100000" fill="hold"/>
                                        <p:tgtEl>
                                          <p:spTgt spid="38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0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0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0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F95F556-8486-43C7-7F31-B91DA981C2E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权限管理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EB72EAE-690D-1BD3-DE81-A8DB321CF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8" y="612775"/>
            <a:ext cx="9123362" cy="2836863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宋体" panose="02010600030101010101" pitchFamily="2" charset="-122"/>
              </a:rPr>
              <a:t>改变文件</a:t>
            </a:r>
            <a:r>
              <a:rPr lang="en-US" altLang="zh-CN">
                <a:latin typeface="宋体" panose="02010600030101010101" pitchFamily="2" charset="-122"/>
              </a:rPr>
              <a:t>/</a:t>
            </a:r>
            <a:r>
              <a:rPr lang="zh-CN" altLang="en-US">
                <a:latin typeface="宋体" panose="02010600030101010101" pitchFamily="2" charset="-122"/>
              </a:rPr>
              <a:t>目录的权限</a:t>
            </a:r>
            <a:r>
              <a:rPr lang="en-US" altLang="zh-CN">
                <a:latin typeface="宋体" panose="02010600030101010101" pitchFamily="2" charset="-122"/>
              </a:rPr>
              <a:t>(</a:t>
            </a:r>
            <a:r>
              <a:rPr lang="en-US" altLang="zh-CN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ange </a:t>
            </a:r>
            <a:r>
              <a:rPr lang="en-US" altLang="zh-CN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mod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</a:t>
            </a:r>
            <a:r>
              <a:rPr lang="en-US" altLang="zh-CN">
                <a:latin typeface="宋体" panose="02010600030101010101" pitchFamily="2" charset="-122"/>
              </a:rPr>
              <a:t>)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   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chmod 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[u/g/o/a] [+/-/=]</a:t>
            </a:r>
            <a:r>
              <a:rPr lang="en-US" altLang="zh-CN">
                <a:latin typeface="宋体" panose="02010600030101010101" pitchFamily="2" charset="-122"/>
              </a:rPr>
              <a:t> [</a:t>
            </a:r>
            <a:r>
              <a:rPr lang="zh-CN" altLang="en-US">
                <a:latin typeface="宋体" panose="02010600030101010101" pitchFamily="2" charset="-122"/>
              </a:rPr>
              <a:t>权限</a:t>
            </a:r>
            <a:r>
              <a:rPr lang="en-US" altLang="zh-CN">
                <a:latin typeface="宋体" panose="02010600030101010101" pitchFamily="2" charset="-122"/>
              </a:rPr>
              <a:t>]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FileName/DirecName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宋体" panose="02010600030101010101" pitchFamily="2" charset="-122"/>
              </a:rPr>
              <a:t>   </a:t>
            </a:r>
            <a:r>
              <a:rPr lang="zh-CN" altLang="en-US">
                <a:latin typeface="宋体" panose="02010600030101010101" pitchFamily="2" charset="-122"/>
              </a:rPr>
              <a:t>其中：</a:t>
            </a:r>
            <a:r>
              <a:rPr lang="en-US" altLang="zh-CN">
                <a:latin typeface="宋体" panose="02010600030101010101" pitchFamily="2" charset="-122"/>
              </a:rPr>
              <a:t>+</a:t>
            </a:r>
            <a:r>
              <a:rPr lang="zh-CN" altLang="en-US">
                <a:latin typeface="宋体" panose="02010600030101010101" pitchFamily="2" charset="-122"/>
              </a:rPr>
              <a:t>：增加指定的权限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       </a:t>
            </a:r>
            <a:r>
              <a:rPr lang="en-US" altLang="zh-CN">
                <a:latin typeface="宋体" panose="02010600030101010101" pitchFamily="2" charset="-122"/>
              </a:rPr>
              <a:t>-</a:t>
            </a:r>
            <a:r>
              <a:rPr lang="zh-CN" altLang="en-US">
                <a:latin typeface="宋体" panose="02010600030101010101" pitchFamily="2" charset="-122"/>
              </a:rPr>
              <a:t>：去掉指定的权限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       </a:t>
            </a:r>
            <a:r>
              <a:rPr lang="en-US" altLang="zh-CN">
                <a:latin typeface="宋体" panose="02010600030101010101" pitchFamily="2" charset="-122"/>
              </a:rPr>
              <a:t>=</a:t>
            </a:r>
            <a:r>
              <a:rPr lang="zh-CN" altLang="en-US">
                <a:latin typeface="宋体" panose="02010600030101010101" pitchFamily="2" charset="-122"/>
              </a:rPr>
              <a:t>：清除所选的权限并将其设置为制定的权限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chmod</a:t>
            </a:r>
            <a:r>
              <a:rPr lang="zh-CN" altLang="en-US">
                <a:latin typeface="宋体" panose="02010600030101010101" pitchFamily="2" charset="-122"/>
              </a:rPr>
              <a:t>允许使用八进制符号作为模式，改变权限。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chmod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PermissionCode FileName/DirecName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</a:t>
            </a:r>
            <a:r>
              <a:rPr lang="zh-CN" altLang="en-US">
                <a:latin typeface="宋体" panose="02010600030101010101" pitchFamily="2" charset="-122"/>
              </a:rPr>
              <a:t>其中，</a:t>
            </a:r>
            <a:r>
              <a:rPr lang="zh-CN" altLang="en-US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PermissionCode </a:t>
            </a:r>
            <a:r>
              <a:rPr lang="zh-CN" altLang="en-US">
                <a:latin typeface="宋体" panose="02010600030101010101" pitchFamily="2" charset="-122"/>
              </a:rPr>
              <a:t>按如下方式计算</a:t>
            </a:r>
          </a:p>
        </p:txBody>
      </p:sp>
      <p:graphicFrame>
        <p:nvGraphicFramePr>
          <p:cNvPr id="45060" name="Group 4">
            <a:extLst>
              <a:ext uri="{FF2B5EF4-FFF2-40B4-BE49-F238E27FC236}">
                <a16:creationId xmlns:a16="http://schemas.microsoft.com/office/drawing/2014/main" id="{E47E4994-0008-2547-6D0D-E2B0290A65CD}"/>
              </a:ext>
            </a:extLst>
          </p:cNvPr>
          <p:cNvGraphicFramePr>
            <a:graphicFrameLocks noGrp="1"/>
          </p:cNvGraphicFramePr>
          <p:nvPr/>
        </p:nvGraphicFramePr>
        <p:xfrm>
          <a:off x="827088" y="4525963"/>
          <a:ext cx="7129462" cy="582612"/>
        </p:xfrm>
        <a:graphic>
          <a:graphicData uri="http://schemas.openxmlformats.org/drawingml/2006/table">
            <a:tbl>
              <a:tblPr/>
              <a:tblGrid>
                <a:gridCol w="714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9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27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826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</a:p>
                  </a:txBody>
                  <a:tcPr marL="90000" marR="90000" marT="46913" marB="4691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w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w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x</a:t>
                      </a:r>
                    </a:p>
                  </a:txBody>
                  <a:tcPr marL="90000" marR="90000" marT="46913" marB="4691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604" name="AutoShape 28">
            <a:extLst>
              <a:ext uri="{FF2B5EF4-FFF2-40B4-BE49-F238E27FC236}">
                <a16:creationId xmlns:a16="http://schemas.microsoft.com/office/drawing/2014/main" id="{88308D15-209D-45CB-93EB-977A20648D6A}"/>
              </a:ext>
            </a:extLst>
          </p:cNvPr>
          <p:cNvSpPr>
            <a:spLocks/>
          </p:cNvSpPr>
          <p:nvPr/>
        </p:nvSpPr>
        <p:spPr bwMode="auto">
          <a:xfrm rot="-5400000">
            <a:off x="2371726" y="4313237"/>
            <a:ext cx="368300" cy="2016125"/>
          </a:xfrm>
          <a:prstGeom prst="leftBrace">
            <a:avLst>
              <a:gd name="adj1" fmla="val 45618"/>
              <a:gd name="adj2" fmla="val 50315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605" name="AutoShape 29">
            <a:extLst>
              <a:ext uri="{FF2B5EF4-FFF2-40B4-BE49-F238E27FC236}">
                <a16:creationId xmlns:a16="http://schemas.microsoft.com/office/drawing/2014/main" id="{E0EF5216-709F-EE4C-27CF-C50A71131A41}"/>
              </a:ext>
            </a:extLst>
          </p:cNvPr>
          <p:cNvSpPr>
            <a:spLocks/>
          </p:cNvSpPr>
          <p:nvPr/>
        </p:nvSpPr>
        <p:spPr bwMode="auto">
          <a:xfrm rot="-5400000">
            <a:off x="4532313" y="4313237"/>
            <a:ext cx="368300" cy="2016125"/>
          </a:xfrm>
          <a:prstGeom prst="leftBrace">
            <a:avLst>
              <a:gd name="adj1" fmla="val 103426"/>
              <a:gd name="adj2" fmla="val 51731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606" name="AutoShape 30">
            <a:extLst>
              <a:ext uri="{FF2B5EF4-FFF2-40B4-BE49-F238E27FC236}">
                <a16:creationId xmlns:a16="http://schemas.microsoft.com/office/drawing/2014/main" id="{791BB6A1-02F4-02A9-0C21-6A3370B666F2}"/>
              </a:ext>
            </a:extLst>
          </p:cNvPr>
          <p:cNvSpPr>
            <a:spLocks/>
          </p:cNvSpPr>
          <p:nvPr/>
        </p:nvSpPr>
        <p:spPr bwMode="auto">
          <a:xfrm rot="-5400000">
            <a:off x="6728619" y="4348956"/>
            <a:ext cx="368300" cy="1944688"/>
          </a:xfrm>
          <a:prstGeom prst="leftBrace">
            <a:avLst>
              <a:gd name="adj1" fmla="val 44001"/>
              <a:gd name="adj2" fmla="val 49713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4607" name="Text Box 31">
            <a:extLst>
              <a:ext uri="{FF2B5EF4-FFF2-40B4-BE49-F238E27FC236}">
                <a16:creationId xmlns:a16="http://schemas.microsoft.com/office/drawing/2014/main" id="{E44134E4-B0A1-1CB4-6EF8-5BB213743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5570538"/>
            <a:ext cx="1092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4+2+1=7</a:t>
            </a:r>
          </a:p>
        </p:txBody>
      </p:sp>
      <p:sp>
        <p:nvSpPr>
          <p:cNvPr id="24608" name="Text Box 32">
            <a:extLst>
              <a:ext uri="{FF2B5EF4-FFF2-40B4-BE49-F238E27FC236}">
                <a16:creationId xmlns:a16="http://schemas.microsoft.com/office/drawing/2014/main" id="{C1D893A1-6F00-505D-835B-CC4E332D7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7025" y="5480050"/>
            <a:ext cx="1557338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4+2=6</a:t>
            </a:r>
          </a:p>
        </p:txBody>
      </p:sp>
      <p:sp>
        <p:nvSpPr>
          <p:cNvPr id="24609" name="Text Box 33">
            <a:extLst>
              <a:ext uri="{FF2B5EF4-FFF2-40B4-BE49-F238E27FC236}">
                <a16:creationId xmlns:a16="http://schemas.microsoft.com/office/drawing/2014/main" id="{F3B8542A-959A-19B0-3376-7C180D382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50" y="5540375"/>
            <a:ext cx="1693863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4+1=5</a:t>
            </a:r>
          </a:p>
        </p:txBody>
      </p:sp>
      <p:sp>
        <p:nvSpPr>
          <p:cNvPr id="24610" name="Text Box 36">
            <a:extLst>
              <a:ext uri="{FF2B5EF4-FFF2-40B4-BE49-F238E27FC236}">
                <a16:creationId xmlns:a16="http://schemas.microsoft.com/office/drawing/2014/main" id="{C97ACE35-EE1C-12AE-5E42-70AE3F4F0D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5986463"/>
            <a:ext cx="38798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latin typeface="宋体" panose="02010600030101010101" pitchFamily="2" charset="-122"/>
              </a:rPr>
              <a:t>所以该文件</a:t>
            </a:r>
            <a:r>
              <a:rPr lang="en-US" altLang="zh-CN">
                <a:latin typeface="宋体" panose="02010600030101010101" pitchFamily="2" charset="-122"/>
              </a:rPr>
              <a:t>/</a:t>
            </a:r>
            <a:r>
              <a:rPr lang="zh-CN" altLang="en-US">
                <a:latin typeface="宋体" panose="02010600030101010101" pitchFamily="2" charset="-122"/>
              </a:rPr>
              <a:t>目录具有的权限为：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765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0E49B1EE-35DF-ED44-DC5C-10B2F7394D55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权限管理</a:t>
            </a:r>
            <a:endParaRPr lang="zh-CN" altLang="en-US" sz="4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graphicFrame>
        <p:nvGraphicFramePr>
          <p:cNvPr id="47205" name="Group 101">
            <a:extLst>
              <a:ext uri="{FF2B5EF4-FFF2-40B4-BE49-F238E27FC236}">
                <a16:creationId xmlns:a16="http://schemas.microsoft.com/office/drawing/2014/main" id="{0F782F1B-1576-633C-F7FA-D9867708DA29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395288" y="1989138"/>
          <a:ext cx="8135937" cy="2087562"/>
        </p:xfrm>
        <a:graphic>
          <a:graphicData uri="http://schemas.openxmlformats.org/drawingml/2006/table">
            <a:tbl>
              <a:tblPr/>
              <a:tblGrid>
                <a:gridCol w="2712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0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9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命令</a:t>
                      </a:r>
                    </a:p>
                  </a:txBody>
                  <a:tcPr marL="91436" marR="91436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结果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a-x haison.c</a:t>
                      </a:r>
                    </a:p>
                  </a:txBody>
                  <a:tcPr marL="91436" marR="91436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rw-rw-rw-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收回所有用户的执行权限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go-w haison.c</a:t>
                      </a:r>
                    </a:p>
                  </a:txBody>
                  <a:tcPr marL="91436" marR="91436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rw-r- -r- -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收回同组用户和其他用户的写权限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g+w haison.c</a:t>
                      </a:r>
                    </a:p>
                  </a:txBody>
                  <a:tcPr marL="91436" marR="91436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rw-rw-r- -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赋予同组用户写权限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1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a=   haison.c</a:t>
                      </a:r>
                    </a:p>
                  </a:txBody>
                  <a:tcPr marL="91436" marR="91436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 - - - - - - - - 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清除文件的所有权限</a:t>
                      </a:r>
                    </a:p>
                  </a:txBody>
                  <a:tcPr marL="91436" marR="91436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629" name="Text Box 4">
            <a:extLst>
              <a:ext uri="{FF2B5EF4-FFF2-40B4-BE49-F238E27FC236}">
                <a16:creationId xmlns:a16="http://schemas.microsoft.com/office/drawing/2014/main" id="{84892A3E-16B6-5689-42E8-E43A8A888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49275"/>
            <a:ext cx="8850313" cy="138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chmod</a:t>
            </a:r>
            <a:r>
              <a:rPr lang="zh-CN" altLang="en-US">
                <a:solidFill>
                  <a:srgbClr val="C00000"/>
                </a:solidFill>
              </a:rPr>
              <a:t>命令示例</a:t>
            </a:r>
          </a:p>
          <a:p>
            <a:r>
              <a:rPr lang="zh-CN" altLang="en-US"/>
              <a:t>假定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haison.c</a:t>
            </a:r>
            <a:r>
              <a:rPr lang="zh-CN" altLang="en-US"/>
              <a:t>最初具有这样的权限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rwxrwxrwx</a:t>
            </a:r>
            <a:r>
              <a:rPr lang="zh-CN" altLang="en-US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，连续操作如下</a:t>
            </a:r>
          </a:p>
        </p:txBody>
      </p:sp>
      <p:graphicFrame>
        <p:nvGraphicFramePr>
          <p:cNvPr id="47251" name="Group 147">
            <a:extLst>
              <a:ext uri="{FF2B5EF4-FFF2-40B4-BE49-F238E27FC236}">
                <a16:creationId xmlns:a16="http://schemas.microsoft.com/office/drawing/2014/main" id="{82A655E5-8CC9-D5CD-714B-74082CFF95C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95288" y="4221163"/>
          <a:ext cx="8137525" cy="2309812"/>
        </p:xfrm>
        <a:graphic>
          <a:graphicData uri="http://schemas.openxmlformats.org/drawingml/2006/table">
            <a:tbl>
              <a:tblPr/>
              <a:tblGrid>
                <a:gridCol w="2661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7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8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4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宋体" panose="02010600030101010101" pitchFamily="2" charset="-122"/>
                        </a:rPr>
                        <a:t>命令</a:t>
                      </a:r>
                    </a:p>
                  </a:txBody>
                  <a:tcPr marL="91447" marR="91447"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结果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含义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666 haison.c</a:t>
                      </a:r>
                    </a:p>
                  </a:txBody>
                  <a:tcPr marL="91447" marR="91447"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rw-rw-rw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赋予所有用户读和写的权限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3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644 haison.c</a:t>
                      </a:r>
                    </a:p>
                  </a:txBody>
                  <a:tcPr marL="91447" marR="91447"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rw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-r- - r- - 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赋予属主读、写权限，其他用户读权限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700 haison.c</a:t>
                      </a:r>
                    </a:p>
                  </a:txBody>
                  <a:tcPr marL="91447" marR="91447"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rwx- - - - - - 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赋予属主读、写和执行权限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4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chmod 660 haison.c</a:t>
                      </a:r>
                    </a:p>
                  </a:txBody>
                  <a:tcPr marL="91447" marR="91447" marT="45698" marB="4569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rw-rw- - - -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赋予属主、属组读和写的权限</a:t>
                      </a:r>
                    </a:p>
                  </a:txBody>
                  <a:tcPr marL="91447" marR="91447" marT="45698" marB="456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AD7D68B-E1E8-C983-2D5C-D1690C124F7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常用命令回顾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权限管理</a:t>
            </a:r>
            <a:endParaRPr lang="zh-CN" altLang="en-US" sz="4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8CCEE67F-76C9-2AD2-3EFF-D431D6B46D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6513" y="620713"/>
            <a:ext cx="9288463" cy="5761037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-rw-r--r-- 1 haison haison 18 Nov 2 10:10 haison.c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改变文件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目录的属主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ange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own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er)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chown 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Owner FileName/DirecName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320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如：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chown Dave haison.c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改变文件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目录的属组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ange 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gr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ou</a:t>
            </a:r>
            <a:r>
              <a:rPr lang="en-US" altLang="zh-CN" sz="32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chgrp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Group FileName/DirecName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320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如：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chgrp Dave haison.c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改变文件</a:t>
            </a:r>
            <a:r>
              <a:rPr lang="en-US" altLang="zh-CN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/</a:t>
            </a:r>
            <a:r>
              <a:rPr lang="zh-CN" altLang="en-US" sz="3200">
                <a:solidFill>
                  <a:schemeClr val="tx1"/>
                </a:solidFill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目录的属主和属组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zh-CN" altLang="en-US" sz="320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2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chown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owner:group FileName/DirecName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3200">
                <a:latin typeface="宋体" panose="02010600030101010101" pitchFamily="2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如：</a:t>
            </a:r>
            <a:r>
              <a: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chown Dave:Dave haison.c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050E9DE5-E1A6-6E70-6EA2-24020BB67D6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>
                <a:solidFill>
                  <a:schemeClr val="tx1"/>
                </a:solidFill>
                <a:ea typeface="华文楷体" panose="02010600040101010101" pitchFamily="2" charset="-122"/>
              </a:rPr>
              <a:t>变量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A8459622-40F2-D63A-8E1D-4B516912D2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9251950" cy="5759450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FF0000"/>
                </a:solidFill>
              </a:rPr>
              <a:t>变量</a:t>
            </a:r>
            <a:r>
              <a:rPr lang="zh-CN" altLang="en-US"/>
              <a:t>可以</a:t>
            </a:r>
            <a:r>
              <a:rPr lang="zh-CN" altLang="en-US">
                <a:solidFill>
                  <a:srgbClr val="FF0000"/>
                </a:solidFill>
              </a:rPr>
              <a:t>定制用户本身</a:t>
            </a:r>
            <a:r>
              <a:rPr lang="zh-CN" altLang="en-US"/>
              <a:t>的</a:t>
            </a:r>
            <a:r>
              <a:rPr lang="zh-CN" altLang="en-US">
                <a:solidFill>
                  <a:srgbClr val="FF0000"/>
                </a:solidFill>
              </a:rPr>
              <a:t>工作环境</a:t>
            </a:r>
            <a:r>
              <a:rPr lang="zh-CN" altLang="en-US"/>
              <a:t>，使用变量可以保存有用信息，使系统获知用户相关设置，也用于保存暂时信息。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变量一般都用</a:t>
            </a:r>
            <a:r>
              <a:rPr lang="zh-CN" altLang="en-US">
                <a:solidFill>
                  <a:srgbClr val="C00000"/>
                </a:solidFill>
              </a:rPr>
              <a:t>大写字母</a:t>
            </a:r>
            <a:r>
              <a:rPr lang="zh-CN" altLang="en-US"/>
              <a:t>表示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使用</a:t>
            </a:r>
            <a:r>
              <a:rPr lang="zh-CN" altLang="en-US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</a:t>
            </a:r>
            <a:r>
              <a:rPr lang="zh-CN" altLang="en-US"/>
              <a:t>命令可以</a:t>
            </a:r>
            <a:r>
              <a:rPr lang="zh-CN" altLang="en-US">
                <a:solidFill>
                  <a:srgbClr val="C00000"/>
                </a:solidFill>
              </a:rPr>
              <a:t>显示单个变量</a:t>
            </a:r>
            <a:r>
              <a:rPr lang="zh-CN" altLang="en-US"/>
              <a:t>的取值，要在</a:t>
            </a:r>
            <a:r>
              <a:rPr lang="zh-CN" altLang="en-US">
                <a:solidFill>
                  <a:srgbClr val="C00000"/>
                </a:solidFill>
              </a:rPr>
              <a:t>变量名前面</a:t>
            </a:r>
            <a:r>
              <a:rPr lang="zh-CN" altLang="en-US"/>
              <a:t>加</a:t>
            </a:r>
            <a:r>
              <a:rPr lang="en-US" altLang="zh-CN">
                <a:solidFill>
                  <a:srgbClr val="C00000"/>
                </a:solidFill>
              </a:rPr>
              <a:t>$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/>
              <a:t>      </a:t>
            </a:r>
            <a:r>
              <a:rPr lang="zh-CN" altLang="en-US"/>
              <a:t>如：</a:t>
            </a:r>
            <a:r>
              <a:rPr lang="en-US" altLang="zh-CN" sz="3600"/>
              <a:t>USER=</a:t>
            </a:r>
            <a:r>
              <a:rPr lang="en-US" altLang="zh-CN" sz="3600">
                <a:latin typeface="Arial" panose="020B0604020202020204" pitchFamily="34" charset="0"/>
              </a:rPr>
              <a:t>“</a:t>
            </a:r>
            <a:r>
              <a:rPr lang="en-US" altLang="zh-CN" sz="3600"/>
              <a:t>haison</a:t>
            </a:r>
            <a:r>
              <a:rPr lang="en-US" altLang="zh-CN" sz="3600">
                <a:latin typeface="Arial" panose="020B0604020202020204" pitchFamily="34" charset="0"/>
              </a:rPr>
              <a:t>”</a:t>
            </a:r>
            <a:r>
              <a:rPr lang="en-US" altLang="zh-CN" sz="3600"/>
              <a:t> 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3600"/>
              <a:t>              echo $USER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如果设置变量时，不想再改变其值，可以将其设置为只读，只要在变量名前加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readonly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使用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set</a:t>
            </a:r>
            <a:r>
              <a:rPr lang="zh-CN" altLang="en-US"/>
              <a:t>命令可以</a:t>
            </a:r>
            <a:r>
              <a:rPr lang="zh-CN" altLang="en-US">
                <a:solidFill>
                  <a:srgbClr val="C00000"/>
                </a:solidFill>
              </a:rPr>
              <a:t>显示所有本地定义的</a:t>
            </a:r>
            <a:r>
              <a:rPr lang="en-US" altLang="zh-CN">
                <a:solidFill>
                  <a:srgbClr val="C00000"/>
                </a:solidFill>
              </a:rPr>
              <a:t>shell</a:t>
            </a:r>
            <a:r>
              <a:rPr lang="zh-CN" altLang="en-US">
                <a:solidFill>
                  <a:srgbClr val="C00000"/>
                </a:solidFill>
              </a:rPr>
              <a:t>变量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/>
              <a:t>使用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unset </a:t>
            </a:r>
            <a:r>
              <a:rPr lang="zh-CN" altLang="en-US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变量名</a:t>
            </a:r>
            <a:r>
              <a:rPr lang="zh-CN" altLang="en-US"/>
              <a:t>可以清除对变量的定义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E639217-F475-86EC-CCB7-B080E66AD12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0" y="-6350"/>
            <a:ext cx="8229600" cy="706438"/>
          </a:xfrm>
        </p:spPr>
        <p:txBody>
          <a:bodyPr/>
          <a:lstStyle/>
          <a:p>
            <a:r>
              <a:rPr lang="zh-CN" altLang="en-US" sz="6000">
                <a:solidFill>
                  <a:schemeClr val="tx1"/>
                </a:solidFill>
                <a:ea typeface="华文楷体" panose="02010600040101010101" pitchFamily="2" charset="-122"/>
              </a:rPr>
              <a:t>变量</a:t>
            </a:r>
            <a:endParaRPr lang="zh-CN" altLang="en-US" sz="6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grpSp>
        <p:nvGrpSpPr>
          <p:cNvPr id="56376" name="Group 56">
            <a:extLst>
              <a:ext uri="{FF2B5EF4-FFF2-40B4-BE49-F238E27FC236}">
                <a16:creationId xmlns:a16="http://schemas.microsoft.com/office/drawing/2014/main" id="{D626CED3-610D-E5BB-8850-FE0794F6AC47}"/>
              </a:ext>
            </a:extLst>
          </p:cNvPr>
          <p:cNvGrpSpPr>
            <a:grpSpLocks/>
          </p:cNvGrpSpPr>
          <p:nvPr/>
        </p:nvGrpSpPr>
        <p:grpSpPr bwMode="auto">
          <a:xfrm>
            <a:off x="119063" y="674688"/>
            <a:ext cx="9024937" cy="2862262"/>
            <a:chOff x="75" y="425"/>
            <a:chExt cx="5617" cy="2125"/>
          </a:xfrm>
        </p:grpSpPr>
        <p:sp>
          <p:nvSpPr>
            <p:cNvPr id="28676" name="AutoShape 5">
              <a:extLst>
                <a:ext uri="{FF2B5EF4-FFF2-40B4-BE49-F238E27FC236}">
                  <a16:creationId xmlns:a16="http://schemas.microsoft.com/office/drawing/2014/main" id="{2CE324CB-14F5-3727-85C0-554625C1B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" y="496"/>
              <a:ext cx="174" cy="1755"/>
            </a:xfrm>
            <a:prstGeom prst="leftBrace">
              <a:avLst>
                <a:gd name="adj1" fmla="val 8064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677" name="Text Box 6">
              <a:extLst>
                <a:ext uri="{FF2B5EF4-FFF2-40B4-BE49-F238E27FC236}">
                  <a16:creationId xmlns:a16="http://schemas.microsoft.com/office/drawing/2014/main" id="{7E9667A9-8011-AF34-1147-F5D640DEF1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425"/>
              <a:ext cx="5443" cy="2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3600">
                  <a:solidFill>
                    <a:srgbClr val="FF0000"/>
                  </a:solidFill>
                </a:rPr>
                <a:t>本地变量</a:t>
              </a:r>
              <a:r>
                <a:rPr lang="zh-CN" altLang="en-US" sz="3600"/>
                <a:t>：用户自定义的变量。</a:t>
              </a:r>
            </a:p>
            <a:p>
              <a:r>
                <a:rPr lang="zh-CN" altLang="en-US" sz="3600">
                  <a:solidFill>
                    <a:srgbClr val="FF0000"/>
                  </a:solidFill>
                </a:rPr>
                <a:t>环境变量</a:t>
              </a:r>
              <a:r>
                <a:rPr lang="zh-CN" altLang="en-US" sz="3600"/>
                <a:t>：用于所有用户变量，用于用户</a:t>
              </a:r>
              <a:endParaRPr lang="en-US" altLang="zh-CN" sz="3600"/>
            </a:p>
            <a:p>
              <a:r>
                <a:rPr lang="en-US" altLang="zh-CN" sz="3600"/>
                <a:t>              </a:t>
              </a:r>
              <a:r>
                <a:rPr lang="zh-CN" altLang="en-US" sz="3600"/>
                <a:t>进程前，必须用</a:t>
              </a:r>
              <a:r>
                <a:rPr lang="en-US" altLang="zh-CN" sz="3600">
                  <a:solidFill>
                    <a:srgbClr val="C0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export</a:t>
              </a:r>
              <a:r>
                <a:rPr lang="zh-CN" altLang="en-US" sz="3600"/>
                <a:t>命令导出。</a:t>
              </a:r>
            </a:p>
            <a:p>
              <a:r>
                <a:rPr lang="zh-CN" altLang="en-US" sz="3600">
                  <a:solidFill>
                    <a:srgbClr val="FF0000"/>
                  </a:solidFill>
                </a:rPr>
                <a:t>位置变量</a:t>
              </a:r>
              <a:r>
                <a:rPr lang="zh-CN" altLang="en-US" sz="3600"/>
                <a:t>：</a:t>
              </a:r>
              <a:r>
                <a:rPr lang="en-US" altLang="zh-CN" sz="36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$0</a:t>
              </a:r>
              <a:r>
                <a:rPr lang="en-US" altLang="zh-CN" sz="3600"/>
                <a:t>(</a:t>
              </a:r>
              <a:r>
                <a:rPr lang="zh-CN" altLang="en-US" sz="3600"/>
                <a:t>脚本名</a:t>
              </a:r>
              <a:r>
                <a:rPr lang="en-US" altLang="zh-CN" sz="3600"/>
                <a:t>)</a:t>
              </a:r>
              <a:r>
                <a:rPr lang="zh-CN" altLang="en-US" sz="3600"/>
                <a:t>，</a:t>
              </a:r>
              <a:r>
                <a:rPr lang="en-US" altLang="zh-CN" sz="36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$1-$9:</a:t>
              </a:r>
              <a:r>
                <a:rPr lang="zh-CN" altLang="en-US" sz="3600">
                  <a:latin typeface="宋体" panose="02010600030101010101" pitchFamily="2" charset="-122"/>
                </a:rPr>
                <a:t>脚本参数。</a:t>
              </a:r>
            </a:p>
            <a:p>
              <a:r>
                <a:rPr lang="zh-CN" altLang="en-US" sz="3600">
                  <a:solidFill>
                    <a:srgbClr val="FF0000"/>
                  </a:solidFill>
                </a:rPr>
                <a:t>特定变量</a:t>
              </a:r>
              <a:r>
                <a:rPr lang="zh-CN" altLang="en-US" sz="3600"/>
                <a:t>：脚本运行时的一些相关信息。</a:t>
              </a:r>
              <a:endParaRPr lang="en-US" altLang="zh-CN" sz="3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6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3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55">
            <a:extLst>
              <a:ext uri="{FF2B5EF4-FFF2-40B4-BE49-F238E27FC236}">
                <a16:creationId xmlns:a16="http://schemas.microsoft.com/office/drawing/2014/main" id="{C07B7FF1-A216-C5ED-F35C-128A58D5EAF7}"/>
              </a:ext>
            </a:extLst>
          </p:cNvPr>
          <p:cNvGraphicFramePr>
            <a:graphicFrameLocks/>
          </p:cNvGraphicFramePr>
          <p:nvPr/>
        </p:nvGraphicFramePr>
        <p:xfrm>
          <a:off x="468313" y="981075"/>
          <a:ext cx="8424862" cy="5400675"/>
        </p:xfrm>
        <a:graphic>
          <a:graphicData uri="http://schemas.openxmlformats.org/drawingml/2006/table">
            <a:tbl>
              <a:tblPr/>
              <a:tblGrid>
                <a:gridCol w="789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$#</a:t>
                      </a:r>
                    </a:p>
                  </a:txBody>
                  <a:tcPr marL="91436" marR="91436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传递到脚本的参数个数</a:t>
                      </a:r>
                    </a:p>
                  </a:txBody>
                  <a:tcPr marL="91436" marR="91436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$*</a:t>
                      </a:r>
                    </a:p>
                  </a:txBody>
                  <a:tcPr marL="91436" marR="91436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传递到脚本的参数，与位置变量不同，此选项参数可超过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9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个</a:t>
                      </a:r>
                    </a:p>
                  </a:txBody>
                  <a:tcPr marL="91436" marR="91436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$$</a:t>
                      </a:r>
                    </a:p>
                  </a:txBody>
                  <a:tcPr marL="91436" marR="91436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脚本运行时当前进程的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号，常用作临时变量的后缀，如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haison.$$</a:t>
                      </a:r>
                    </a:p>
                  </a:txBody>
                  <a:tcPr marL="91436" marR="91436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$!</a:t>
                      </a:r>
                    </a:p>
                  </a:txBody>
                  <a:tcPr marL="91436" marR="91436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后台运行的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(&amp;)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最后一个进程的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ID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号</a:t>
                      </a:r>
                    </a:p>
                  </a:txBody>
                  <a:tcPr marL="91436" marR="91436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$@</a:t>
                      </a:r>
                    </a:p>
                  </a:txBody>
                  <a:tcPr marL="91436" marR="91436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与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$#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相同，使用时加引号，并在引号中返回参数个数</a:t>
                      </a:r>
                    </a:p>
                  </a:txBody>
                  <a:tcPr marL="91436" marR="91436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$-</a:t>
                      </a:r>
                    </a:p>
                  </a:txBody>
                  <a:tcPr marL="91436" marR="91436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上一个命令的最后一个参数</a:t>
                      </a:r>
                    </a:p>
                  </a:txBody>
                  <a:tcPr marL="91436" marR="91436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$?</a:t>
                      </a:r>
                    </a:p>
                  </a:txBody>
                  <a:tcPr marL="91436" marR="91436"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最后命令的退出状态，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表示没有错误，其他任何值表明有错误</a:t>
                      </a:r>
                    </a:p>
                  </a:txBody>
                  <a:tcPr marL="91436" marR="91436" marT="45707" marB="4570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60E8F7E-8BF8-4C97-8B45-55DAEB5E361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6000">
                <a:solidFill>
                  <a:schemeClr val="tx1"/>
                </a:solidFill>
                <a:ea typeface="华文楷体" panose="02010600040101010101" pitchFamily="2" charset="-122"/>
              </a:rPr>
              <a:t>变量</a:t>
            </a:r>
            <a:endParaRPr lang="zh-CN" altLang="en-US" sz="6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1B9E9A78-2F25-3C58-E77B-FC8E40931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213" y="620713"/>
            <a:ext cx="8986837" cy="47815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2000"/>
              <a:t>示例：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#!/bin/sh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#VarTest.sh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#To test the variables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USER=haison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"Hello,$USER,the output of this script are as follows:"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 script name is                                  :`basename $0`"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 first param of the script is                :$1"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 second param of the script is          :$2"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 tenth param of the script is              :$10"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"All the params you input are                   :$*"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 number of the params you input are:$#"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 process ID for this script is               :$$"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 exit status of this script is                 :$?"</a:t>
            </a:r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9312B508-CBFF-7F8E-A7A1-C1BB38378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81075"/>
            <a:ext cx="7667625" cy="482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0929E48-BB67-E83F-6D6F-06708DB3EB1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1275" y="-7938"/>
            <a:ext cx="8229600" cy="628651"/>
          </a:xfrm>
        </p:spPr>
        <p:txBody>
          <a:bodyPr/>
          <a:lstStyle/>
          <a:p>
            <a:r>
              <a:rPr lang="zh-CN" altLang="en-US" sz="5400">
                <a:solidFill>
                  <a:schemeClr val="tx1"/>
                </a:solidFill>
                <a:ea typeface="华文楷体" panose="02010600040101010101" pitchFamily="2" charset="-122"/>
              </a:rPr>
              <a:t>条件测试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6466EBF4-2D79-4E6F-F1CA-33B95B665C3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660400"/>
            <a:ext cx="4038600" cy="31591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600">
                <a:solidFill>
                  <a:srgbClr val="C00000"/>
                </a:solidFill>
              </a:rPr>
              <a:t>文件状态测试</a:t>
            </a:r>
          </a:p>
        </p:txBody>
      </p:sp>
      <p:graphicFrame>
        <p:nvGraphicFramePr>
          <p:cNvPr id="59455" name="Group 63">
            <a:extLst>
              <a:ext uri="{FF2B5EF4-FFF2-40B4-BE49-F238E27FC236}">
                <a16:creationId xmlns:a16="http://schemas.microsoft.com/office/drawing/2014/main" id="{84B6AA8D-725D-EC43-95D6-04825FBBB39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07950" y="1268413"/>
          <a:ext cx="8712200" cy="2136775"/>
        </p:xfrm>
        <a:graphic>
          <a:graphicData uri="http://schemas.openxmlformats.org/drawingml/2006/table">
            <a:tbl>
              <a:tblPr/>
              <a:tblGrid>
                <a:gridCol w="108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8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4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0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-d</a:t>
                      </a:r>
                    </a:p>
                  </a:txBody>
                  <a:tcPr marL="91432" marR="91432"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目录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-r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可读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0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-f</a:t>
                      </a:r>
                    </a:p>
                  </a:txBody>
                  <a:tcPr marL="91432" marR="91432"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常规文件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-w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可写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6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-L</a:t>
                      </a:r>
                    </a:p>
                  </a:txBody>
                  <a:tcPr marL="91432" marR="91432"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符号连接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-x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可执行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05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-s</a:t>
                      </a:r>
                    </a:p>
                  </a:txBody>
                  <a:tcPr marL="91432" marR="91432"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文件长度大于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0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，非空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-u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文件有</a:t>
                      </a:r>
                      <a:r>
                        <a:rPr kumimoji="0" lang="en-US" altLang="zh-CN" sz="2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suid</a:t>
                      </a:r>
                      <a:r>
                        <a:rPr kumimoji="0" lang="zh-CN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宋体" panose="02010600030101010101" pitchFamily="2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位设置</a:t>
                      </a:r>
                    </a:p>
                  </a:txBody>
                  <a:tcPr marL="91432" marR="91432"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9456" name="Rectangle 64">
            <a:extLst>
              <a:ext uri="{FF2B5EF4-FFF2-40B4-BE49-F238E27FC236}">
                <a16:creationId xmlns:a16="http://schemas.microsoft.com/office/drawing/2014/main" id="{3B29EEEC-BA3C-FDF8-3F03-076A823CA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3500438"/>
            <a:ext cx="8785225" cy="3603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zh-CN" altLang="en-US" sz="2400" dirty="0"/>
              <a:t>示例：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 -s  </a:t>
            </a:r>
            <a:r>
              <a:rPr lang="en-US" altLang="zh-CN" sz="24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haison.c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]     0</a:t>
            </a:r>
            <a:r>
              <a:rPr lang="zh-CN" altLang="en-US" sz="2400" dirty="0">
                <a:latin typeface="宋体" panose="02010600030101010101" pitchFamily="2" charset="-122"/>
              </a:rPr>
              <a:t>表示成功，其他为失败，下同。</a:t>
            </a:r>
          </a:p>
        </p:txBody>
      </p:sp>
      <p:sp>
        <p:nvSpPr>
          <p:cNvPr id="59457" name="Rectangle 65">
            <a:extLst>
              <a:ext uri="{FF2B5EF4-FFF2-40B4-BE49-F238E27FC236}">
                <a16:creationId xmlns:a16="http://schemas.microsoft.com/office/drawing/2014/main" id="{09788618-F0C2-D587-5BDC-DB25D0CC7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" y="3898900"/>
            <a:ext cx="8923338" cy="16176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zh-CN" altLang="en-US" sz="3200" dirty="0">
                <a:solidFill>
                  <a:srgbClr val="C00000"/>
                </a:solidFill>
                <a:latin typeface="宋体" panose="02010600030101010101" pitchFamily="2" charset="-122"/>
              </a:rPr>
              <a:t>逻辑操作符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18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-a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逻辑与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(and),</a:t>
            </a:r>
            <a:r>
              <a:rPr lang="zh-CN" altLang="en-US" sz="2400" dirty="0">
                <a:latin typeface="宋体" panose="02010600030101010101" pitchFamily="2" charset="-122"/>
              </a:rPr>
              <a:t>操作符两边均为真，结果为真，否则为假。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-o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</a:rPr>
              <a:t>逻辑或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(or),</a:t>
            </a:r>
            <a:r>
              <a:rPr lang="zh-CN" altLang="en-US" sz="2400" dirty="0">
                <a:latin typeface="宋体" panose="02010600030101010101" pitchFamily="2" charset="-122"/>
              </a:rPr>
              <a:t>操作符两边一边为真，结果为真，否则为假。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!    </a:t>
            </a:r>
            <a:r>
              <a:rPr lang="zh-CN" altLang="en-US" sz="2400" dirty="0">
                <a:latin typeface="宋体" panose="02010600030101010101" pitchFamily="2" charset="-122"/>
              </a:rPr>
              <a:t>逻辑否</a:t>
            </a:r>
            <a:r>
              <a:rPr lang="en-US" altLang="zh-CN" sz="2400" dirty="0">
                <a:latin typeface="宋体" panose="02010600030101010101" pitchFamily="2" charset="-122"/>
              </a:rPr>
              <a:t>,</a:t>
            </a:r>
            <a:r>
              <a:rPr lang="zh-CN" altLang="en-US" sz="2400" dirty="0">
                <a:latin typeface="宋体" panose="02010600030101010101" pitchFamily="2" charset="-122"/>
              </a:rPr>
              <a:t>条件为假，结果为真，反之。</a:t>
            </a:r>
          </a:p>
        </p:txBody>
      </p:sp>
      <p:sp>
        <p:nvSpPr>
          <p:cNvPr id="31777" name="AutoShape 66">
            <a:extLst>
              <a:ext uri="{FF2B5EF4-FFF2-40B4-BE49-F238E27FC236}">
                <a16:creationId xmlns:a16="http://schemas.microsoft.com/office/drawing/2014/main" id="{FF5C1ACD-94B7-D0C2-17FF-02FF1101B15C}"/>
              </a:ext>
            </a:extLst>
          </p:cNvPr>
          <p:cNvSpPr>
            <a:spLocks/>
          </p:cNvSpPr>
          <p:nvPr/>
        </p:nvSpPr>
        <p:spPr bwMode="auto">
          <a:xfrm>
            <a:off x="179388" y="4508500"/>
            <a:ext cx="144462" cy="936625"/>
          </a:xfrm>
          <a:prstGeom prst="leftBrace">
            <a:avLst>
              <a:gd name="adj1" fmla="val 414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59459" name="Rectangle 67">
            <a:extLst>
              <a:ext uri="{FF2B5EF4-FFF2-40B4-BE49-F238E27FC236}">
                <a16:creationId xmlns:a16="http://schemas.microsoft.com/office/drawing/2014/main" id="{1B5B2C1F-2809-0A0B-B3B0-08B244E86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5700713"/>
            <a:ext cx="7704137" cy="3603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zh-CN" altLang="en-US" sz="3200" dirty="0"/>
              <a:t>示例： 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 -r  </a:t>
            </a:r>
            <a:r>
              <a:rPr lang="en-US" altLang="zh-CN" sz="32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haison.c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–a  –w  </a:t>
            </a:r>
            <a:r>
              <a:rPr lang="en-US" altLang="zh-CN" sz="32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hai.c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]</a:t>
            </a:r>
            <a:endParaRPr lang="en-US" altLang="zh-CN" sz="32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5FED82A-B988-5A4D-0EEA-2173F73A301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-252413" y="31750"/>
            <a:ext cx="8229601" cy="633413"/>
          </a:xfrm>
        </p:spPr>
        <p:txBody>
          <a:bodyPr/>
          <a:lstStyle/>
          <a:p>
            <a:r>
              <a:rPr lang="zh-CN" altLang="en-US" sz="6000">
                <a:solidFill>
                  <a:schemeClr val="tx1"/>
                </a:solidFill>
                <a:ea typeface="华文楷体" panose="02010600040101010101" pitchFamily="2" charset="-122"/>
              </a:rPr>
              <a:t>条件测试</a:t>
            </a:r>
            <a:endParaRPr lang="zh-CN" altLang="en-US" sz="6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32771" name="Rectangle 4">
            <a:extLst>
              <a:ext uri="{FF2B5EF4-FFF2-40B4-BE49-F238E27FC236}">
                <a16:creationId xmlns:a16="http://schemas.microsoft.com/office/drawing/2014/main" id="{AEC3C5EA-6A69-516C-5527-C46C483A57A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9388" y="712788"/>
            <a:ext cx="4038600" cy="38893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zh-CN" altLang="en-US" sz="3600">
                <a:solidFill>
                  <a:srgbClr val="C00000"/>
                </a:solidFill>
              </a:rPr>
              <a:t>字符串测试</a:t>
            </a:r>
          </a:p>
        </p:txBody>
      </p:sp>
      <p:graphicFrame>
        <p:nvGraphicFramePr>
          <p:cNvPr id="61500" name="Group 60">
            <a:extLst>
              <a:ext uri="{FF2B5EF4-FFF2-40B4-BE49-F238E27FC236}">
                <a16:creationId xmlns:a16="http://schemas.microsoft.com/office/drawing/2014/main" id="{F9BA665D-D7A8-7386-16F7-14C232DEA759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323850" y="1223963"/>
          <a:ext cx="8135938" cy="925512"/>
        </p:xfrm>
        <a:graphic>
          <a:graphicData uri="http://schemas.openxmlformats.org/drawingml/2006/table">
            <a:tbl>
              <a:tblPr/>
              <a:tblGrid>
                <a:gridCol w="13936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1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9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27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=</a:t>
                      </a:r>
                    </a:p>
                  </a:txBody>
                  <a:tcPr marL="91429" marR="91429"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两个字符串相等</a:t>
                      </a:r>
                    </a:p>
                  </a:txBody>
                  <a:tcPr marL="91429" marR="91429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-z</a:t>
                      </a:r>
                    </a:p>
                  </a:txBody>
                  <a:tcPr marL="91429" marR="91429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空串</a:t>
                      </a:r>
                    </a:p>
                  </a:txBody>
                  <a:tcPr marL="91429" marR="91429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2756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！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=</a:t>
                      </a:r>
                    </a:p>
                  </a:txBody>
                  <a:tcPr marL="91429" marR="91429"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两个字符串不相等</a:t>
                      </a:r>
                    </a:p>
                  </a:txBody>
                  <a:tcPr marL="91429" marR="91429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-n</a:t>
                      </a:r>
                    </a:p>
                  </a:txBody>
                  <a:tcPr marL="91429" marR="91429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非空串</a:t>
                      </a:r>
                    </a:p>
                  </a:txBody>
                  <a:tcPr marL="91429" marR="91429"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476" name="Rectangle 36">
            <a:extLst>
              <a:ext uri="{FF2B5EF4-FFF2-40B4-BE49-F238E27FC236}">
                <a16:creationId xmlns:a16="http://schemas.microsoft.com/office/drawing/2014/main" id="{786E23AC-266C-17C9-E9C6-C722D9587C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" y="2271713"/>
            <a:ext cx="7348538" cy="38893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zh-CN" altLang="en-US" sz="3200" dirty="0"/>
              <a:t>示例：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 -z  $</a:t>
            </a:r>
            <a:r>
              <a:rPr lang="en-US" altLang="zh-CN" sz="3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SHELL</a:t>
            </a:r>
            <a:r>
              <a:rPr lang="en-US" altLang="zh-CN" sz="32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]</a:t>
            </a:r>
          </a:p>
        </p:txBody>
      </p:sp>
      <p:sp>
        <p:nvSpPr>
          <p:cNvPr id="61477" name="Rectangle 37">
            <a:extLst>
              <a:ext uri="{FF2B5EF4-FFF2-40B4-BE49-F238E27FC236}">
                <a16:creationId xmlns:a16="http://schemas.microsoft.com/office/drawing/2014/main" id="{2C8761F0-24DB-05B0-B086-F7D8730AF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828925"/>
            <a:ext cx="4038600" cy="3889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zh-CN" altLang="en-US" sz="3600" dirty="0">
                <a:solidFill>
                  <a:srgbClr val="C00000"/>
                </a:solidFill>
                <a:latin typeface="+mn-lt"/>
                <a:ea typeface="+mn-ea"/>
              </a:rPr>
              <a:t>数值测试</a:t>
            </a:r>
          </a:p>
        </p:txBody>
      </p:sp>
      <p:graphicFrame>
        <p:nvGraphicFramePr>
          <p:cNvPr id="61522" name="Group 82">
            <a:extLst>
              <a:ext uri="{FF2B5EF4-FFF2-40B4-BE49-F238E27FC236}">
                <a16:creationId xmlns:a16="http://schemas.microsoft.com/office/drawing/2014/main" id="{A7B0C043-53F4-2940-124C-EA2D1D60AFDF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163513" y="3384550"/>
          <a:ext cx="8945562" cy="2363788"/>
        </p:xfrm>
        <a:graphic>
          <a:graphicData uri="http://schemas.openxmlformats.org/drawingml/2006/table">
            <a:tbl>
              <a:tblPr/>
              <a:tblGrid>
                <a:gridCol w="851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8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321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</a:t>
                      </a: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eq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 Unicode MS" panose="020B0604020202020204" pitchFamily="34" charset="-122"/>
                        <a:ea typeface="Arial Unicode MS" panose="020B0604020202020204" pitchFamily="34" charset="-122"/>
                        <a:cs typeface="Arial Unicode MS" panose="020B0604020202020204" pitchFamily="34" charset="-122"/>
                      </a:endParaRPr>
                    </a:p>
                  </a:txBody>
                  <a:tcPr marL="91439" marR="91439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数值相等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(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eq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ual to)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-lt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第一个数小于第二个数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(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l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ess  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t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han)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35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-ne</a:t>
                      </a:r>
                    </a:p>
                  </a:txBody>
                  <a:tcPr marL="91439" marR="91439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数值不相等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(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n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ot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e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qual to)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-le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第一个数小于等于第二个数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21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-gt</a:t>
                      </a:r>
                    </a:p>
                  </a:txBody>
                  <a:tcPr marL="91439" marR="91439" marT="45709" marB="4570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第一个数大于第二个数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(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g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reater 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t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han)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 Unicode MS" panose="020B0604020202020204" pitchFamily="34" charset="-122"/>
                          <a:ea typeface="Arial Unicode MS" panose="020B0604020202020204" pitchFamily="34" charset="-122"/>
                          <a:cs typeface="Arial Unicode MS" panose="020B0604020202020204" pitchFamily="34" charset="-122"/>
                        </a:rPr>
                        <a:t>-ge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第一个数大于等于第二个数</a:t>
                      </a:r>
                    </a:p>
                  </a:txBody>
                  <a:tcPr marL="91439" marR="91439" marT="45709" marB="4570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1523" name="Rectangle 83">
            <a:extLst>
              <a:ext uri="{FF2B5EF4-FFF2-40B4-BE49-F238E27FC236}">
                <a16:creationId xmlns:a16="http://schemas.microsoft.com/office/drawing/2014/main" id="{765C2514-A4E8-756F-098F-56DCED973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876925"/>
            <a:ext cx="7705725" cy="38893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defRPr/>
            </a:pPr>
            <a:r>
              <a:rPr lang="zh-CN" altLang="en-US" sz="3600" dirty="0"/>
              <a:t>示例：</a:t>
            </a:r>
            <a:r>
              <a:rPr lang="en-US" altLang="zh-CN" sz="3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 “10”  -</a:t>
            </a:r>
            <a:r>
              <a:rPr lang="en-US" altLang="zh-CN" sz="3600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eq</a:t>
            </a:r>
            <a:r>
              <a:rPr lang="en-US" altLang="zh-CN" sz="3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“12”  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837B98D2-BE35-9B7C-2A3D-A9C407CBC54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800">
                <a:solidFill>
                  <a:schemeClr val="tx1"/>
                </a:solidFill>
                <a:ea typeface="华文楷体" panose="02010600040101010101" pitchFamily="2" charset="-122"/>
              </a:rPr>
              <a:t>控制结构</a:t>
            </a:r>
          </a:p>
        </p:txBody>
      </p:sp>
      <p:grpSp>
        <p:nvGrpSpPr>
          <p:cNvPr id="64524" name="Group 12">
            <a:extLst>
              <a:ext uri="{FF2B5EF4-FFF2-40B4-BE49-F238E27FC236}">
                <a16:creationId xmlns:a16="http://schemas.microsoft.com/office/drawing/2014/main" id="{244FA6F4-4028-90AB-7604-8A7DBCA010FD}"/>
              </a:ext>
            </a:extLst>
          </p:cNvPr>
          <p:cNvGrpSpPr>
            <a:grpSpLocks/>
          </p:cNvGrpSpPr>
          <p:nvPr/>
        </p:nvGrpSpPr>
        <p:grpSpPr bwMode="auto">
          <a:xfrm>
            <a:off x="0" y="1773238"/>
            <a:ext cx="1979613" cy="3168650"/>
            <a:chOff x="1066" y="1525"/>
            <a:chExt cx="828" cy="1588"/>
          </a:xfrm>
        </p:grpSpPr>
        <p:sp>
          <p:nvSpPr>
            <p:cNvPr id="33802" name="AutoShape 5">
              <a:extLst>
                <a:ext uri="{FF2B5EF4-FFF2-40B4-BE49-F238E27FC236}">
                  <a16:creationId xmlns:a16="http://schemas.microsoft.com/office/drawing/2014/main" id="{C8A9343F-9CB6-2D32-E0C7-C3D337CA3F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6" y="1525"/>
              <a:ext cx="137" cy="1588"/>
            </a:xfrm>
            <a:prstGeom prst="leftBrace">
              <a:avLst>
                <a:gd name="adj1" fmla="val 9659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803" name="Text Box 6">
              <a:extLst>
                <a:ext uri="{FF2B5EF4-FFF2-40B4-BE49-F238E27FC236}">
                  <a16:creationId xmlns:a16="http://schemas.microsoft.com/office/drawing/2014/main" id="{89F47013-6D8F-3191-6157-D5239B8FFD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1616"/>
              <a:ext cx="6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/>
                <a:t>选择结构</a:t>
              </a:r>
            </a:p>
          </p:txBody>
        </p:sp>
        <p:sp>
          <p:nvSpPr>
            <p:cNvPr id="33804" name="Text Box 7">
              <a:extLst>
                <a:ext uri="{FF2B5EF4-FFF2-40B4-BE49-F238E27FC236}">
                  <a16:creationId xmlns:a16="http://schemas.microsoft.com/office/drawing/2014/main" id="{C2CD132A-6291-CDBD-7B8A-1BF1D2C9E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2" y="2795"/>
              <a:ext cx="69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/>
                <a:t>循环结构</a:t>
              </a:r>
            </a:p>
          </p:txBody>
        </p:sp>
      </p:grpSp>
      <p:grpSp>
        <p:nvGrpSpPr>
          <p:cNvPr id="64525" name="Group 13">
            <a:extLst>
              <a:ext uri="{FF2B5EF4-FFF2-40B4-BE49-F238E27FC236}">
                <a16:creationId xmlns:a16="http://schemas.microsoft.com/office/drawing/2014/main" id="{A3A92924-2DA5-C5C6-60B7-612F3269D552}"/>
              </a:ext>
            </a:extLst>
          </p:cNvPr>
          <p:cNvGrpSpPr>
            <a:grpSpLocks/>
          </p:cNvGrpSpPr>
          <p:nvPr/>
        </p:nvGrpSpPr>
        <p:grpSpPr bwMode="auto">
          <a:xfrm>
            <a:off x="2282825" y="690563"/>
            <a:ext cx="6818313" cy="2738437"/>
            <a:chOff x="2025" y="843"/>
            <a:chExt cx="2968" cy="1725"/>
          </a:xfrm>
        </p:grpSpPr>
        <p:sp>
          <p:nvSpPr>
            <p:cNvPr id="33800" name="AutoShape 8">
              <a:extLst>
                <a:ext uri="{FF2B5EF4-FFF2-40B4-BE49-F238E27FC236}">
                  <a16:creationId xmlns:a16="http://schemas.microsoft.com/office/drawing/2014/main" id="{C7734A32-19ED-A40C-627E-21EFDECF9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5" y="1201"/>
              <a:ext cx="136" cy="81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801" name="Text Box 10">
              <a:extLst>
                <a:ext uri="{FF2B5EF4-FFF2-40B4-BE49-F238E27FC236}">
                  <a16:creationId xmlns:a16="http://schemas.microsoft.com/office/drawing/2014/main" id="{98CE0449-3CE9-C202-50A0-462A6C9187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5" y="843"/>
              <a:ext cx="2858" cy="1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4400">
                  <a:solidFill>
                    <a:srgbClr val="C0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if</a:t>
              </a:r>
              <a:r>
                <a:rPr lang="zh-CN" altLang="en-US" sz="4400"/>
                <a:t>语句</a:t>
              </a:r>
              <a:r>
                <a:rPr lang="en-US" altLang="zh-CN" sz="44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: </a:t>
              </a:r>
              <a:r>
                <a:rPr lang="en-US" altLang="zh-CN" sz="4400">
                  <a:solidFill>
                    <a:srgbClr val="C0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if then else</a:t>
              </a:r>
              <a:r>
                <a:rPr lang="en-US" altLang="zh-CN" sz="4400">
                  <a:solidFill>
                    <a:srgbClr val="C00000"/>
                  </a:solidFill>
                </a:rPr>
                <a:t> </a:t>
              </a:r>
              <a:r>
                <a:rPr lang="zh-CN" altLang="en-US" sz="4400"/>
                <a:t>提供条件测试</a:t>
              </a:r>
            </a:p>
            <a:p>
              <a:endParaRPr lang="zh-CN" altLang="en-US"/>
            </a:p>
            <a:p>
              <a:endParaRPr lang="zh-CN" altLang="en-US"/>
            </a:p>
          </p:txBody>
        </p:sp>
      </p:grpSp>
      <p:grpSp>
        <p:nvGrpSpPr>
          <p:cNvPr id="64526" name="Group 14">
            <a:extLst>
              <a:ext uri="{FF2B5EF4-FFF2-40B4-BE49-F238E27FC236}">
                <a16:creationId xmlns:a16="http://schemas.microsoft.com/office/drawing/2014/main" id="{CE37526F-D179-72DD-9149-E51354BFC6E2}"/>
              </a:ext>
            </a:extLst>
          </p:cNvPr>
          <p:cNvGrpSpPr>
            <a:grpSpLocks/>
          </p:cNvGrpSpPr>
          <p:nvPr/>
        </p:nvGrpSpPr>
        <p:grpSpPr bwMode="auto">
          <a:xfrm>
            <a:off x="1951038" y="2852738"/>
            <a:ext cx="7404100" cy="3182937"/>
            <a:chOff x="1808" y="2160"/>
            <a:chExt cx="3741" cy="2005"/>
          </a:xfrm>
        </p:grpSpPr>
        <p:sp>
          <p:nvSpPr>
            <p:cNvPr id="33798" name="AutoShape 9">
              <a:extLst>
                <a:ext uri="{FF2B5EF4-FFF2-40B4-BE49-F238E27FC236}">
                  <a16:creationId xmlns:a16="http://schemas.microsoft.com/office/drawing/2014/main" id="{2148784D-C00B-FCB7-2462-3954852CD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8" y="2321"/>
              <a:ext cx="126" cy="1844"/>
            </a:xfrm>
            <a:prstGeom prst="leftBrace">
              <a:avLst>
                <a:gd name="adj1" fmla="val 61182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799" name="Text Box 11">
              <a:extLst>
                <a:ext uri="{FF2B5EF4-FFF2-40B4-BE49-F238E27FC236}">
                  <a16:creationId xmlns:a16="http://schemas.microsoft.com/office/drawing/2014/main" id="{CE9C7EE6-A341-901E-66C3-0F1FE681E2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4" y="2160"/>
              <a:ext cx="3615" cy="1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000000"/>
                  </a:solidFill>
                  <a:latin typeface="AR PL SungtiL GB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>
                  <a:solidFill>
                    <a:srgbClr val="C0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case </a:t>
              </a:r>
              <a:r>
                <a:rPr lang="zh-CN" altLang="en-US" sz="3200"/>
                <a:t>语句</a:t>
              </a:r>
              <a:r>
                <a:rPr lang="zh-CN" altLang="en-US" sz="3200"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：</a:t>
              </a:r>
              <a:r>
                <a:rPr lang="zh-CN" altLang="en-US" sz="3200"/>
                <a:t>允许匹配模式、单词或值</a:t>
              </a:r>
              <a:endParaRPr lang="en-US" altLang="zh-CN" sz="32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endParaRPr>
            </a:p>
            <a:p>
              <a:r>
                <a:rPr lang="en-US" altLang="zh-CN" sz="3200">
                  <a:solidFill>
                    <a:srgbClr val="C0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for</a:t>
              </a:r>
              <a:r>
                <a:rPr lang="zh-CN" altLang="en-US" sz="3200"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：</a:t>
              </a:r>
              <a:r>
                <a:rPr lang="zh-CN" altLang="en-US" sz="3200">
                  <a:latin typeface="宋体" panose="02010600030101010101" pitchFamily="2" charset="-122"/>
                </a:rPr>
                <a:t>每次依次处理列表内的信息，直至循环耗尽。</a:t>
              </a:r>
            </a:p>
            <a:p>
              <a:r>
                <a:rPr lang="en-US" altLang="zh-CN" sz="3200">
                  <a:solidFill>
                    <a:srgbClr val="C0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until:</a:t>
              </a:r>
              <a:r>
                <a:rPr lang="zh-CN" altLang="en-US" sz="3200">
                  <a:latin typeface="宋体" panose="02010600030101010101" pitchFamily="2" charset="-122"/>
                </a:rPr>
                <a:t>不常用。条件在循环末尾，至少执行一次。</a:t>
              </a:r>
            </a:p>
            <a:p>
              <a:r>
                <a:rPr lang="en-US" altLang="zh-CN" sz="3200">
                  <a:solidFill>
                    <a:srgbClr val="C00000"/>
                  </a:solidFill>
                  <a:latin typeface="Arial Unicode MS" panose="020B0604020202020204" pitchFamily="34" charset="-122"/>
                  <a:ea typeface="Arial Unicode MS" panose="020B0604020202020204" pitchFamily="34" charset="-122"/>
                  <a:cs typeface="Arial Unicode MS" panose="020B0604020202020204" pitchFamily="34" charset="-122"/>
                </a:rPr>
                <a:t>while:</a:t>
              </a:r>
              <a:r>
                <a:rPr lang="zh-CN" altLang="en-US" sz="3200">
                  <a:latin typeface="宋体" panose="02010600030101010101" pitchFamily="2" charset="-122"/>
                </a:rPr>
                <a:t>条件在循环头部。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4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4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64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B28077EA-6D42-678B-7B48-BC89200FB49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控制结构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——if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语句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B143150C-AAB1-52B3-B6D9-2343439002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9863" y="808038"/>
            <a:ext cx="1449387" cy="2476500"/>
          </a:xfrm>
        </p:spPr>
        <p:txBody>
          <a:bodyPr/>
          <a:lstStyle/>
          <a:p>
            <a:pPr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格式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if 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条件</a:t>
            </a:r>
            <a:r>
              <a:rPr lang="zh-CN" altLang="en-US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]</a:t>
            </a:r>
          </a:p>
          <a:p>
            <a:pPr>
              <a:buFont typeface="Arial" panose="020B0604020202020204" pitchFamily="34" charset="0"/>
              <a:buNone/>
              <a:defRPr/>
            </a:pP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1600" dirty="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then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    </a:t>
            </a:r>
            <a:r>
              <a:rPr lang="zh-CN" altLang="en-US" sz="16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宋体" panose="02010600030101010101" pitchFamily="2" charset="-122"/>
              </a:rPr>
              <a:t>命令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   </a:t>
            </a:r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9D298CA4-F077-C9B5-A726-8A3EBBDBC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638" y="619125"/>
            <a:ext cx="1944687" cy="25193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格式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2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if 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</a:t>
            </a:r>
            <a:r>
              <a:rPr lang="zh-CN" altLang="en-US" sz="1600" dirty="0">
                <a:latin typeface="宋体" panose="02010600030101010101" pitchFamily="2" charset="-122"/>
              </a:rPr>
              <a:t>条件</a:t>
            </a:r>
            <a:r>
              <a:rPr lang="zh-CN" altLang="en-US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] </a:t>
            </a:r>
            <a:r>
              <a:rPr lang="en-US" altLang="zh-CN" sz="1600" dirty="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then</a:t>
            </a:r>
            <a:r>
              <a:rPr lang="zh-CN" altLang="en-US" sz="1600" dirty="0">
                <a:latin typeface="宋体" panose="02010600030101010101" pitchFamily="2" charset="-122"/>
              </a:rPr>
              <a:t>命令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zh-CN" altLang="en-US" sz="1600" dirty="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 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</a:p>
        </p:txBody>
      </p:sp>
      <p:sp>
        <p:nvSpPr>
          <p:cNvPr id="2" name="Text Box 6">
            <a:extLst>
              <a:ext uri="{FF2B5EF4-FFF2-40B4-BE49-F238E27FC236}">
                <a16:creationId xmlns:a16="http://schemas.microsoft.com/office/drawing/2014/main" id="{CD9B59E9-2EA4-1630-FF16-FCD3A6C35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5738" y="1201738"/>
            <a:ext cx="41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FF3300"/>
                </a:solidFill>
              </a:rPr>
              <a:t>或</a:t>
            </a:r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0D7CE585-41A4-28C6-CDA2-5DCECB496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3789363"/>
            <a:ext cx="1511300" cy="2087562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格式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3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if 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</a:t>
            </a:r>
            <a:r>
              <a:rPr lang="zh-CN" altLang="en-US" sz="1600" dirty="0">
                <a:latin typeface="宋体" panose="02010600030101010101" pitchFamily="2" charset="-122"/>
              </a:rPr>
              <a:t>条件</a:t>
            </a:r>
            <a:r>
              <a:rPr lang="zh-CN" altLang="en-US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]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then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    </a:t>
            </a:r>
            <a:r>
              <a:rPr lang="zh-CN" altLang="en-US" sz="1600" dirty="0">
                <a:latin typeface="宋体" panose="02010600030101010101" pitchFamily="2" charset="-122"/>
              </a:rPr>
              <a:t>命令</a:t>
            </a:r>
            <a:r>
              <a:rPr lang="en-US" altLang="zh-CN" sz="1600" dirty="0">
                <a:latin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else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    </a:t>
            </a:r>
            <a:r>
              <a:rPr lang="zh-CN" altLang="en-US" sz="1600" dirty="0">
                <a:latin typeface="宋体" panose="02010600030101010101" pitchFamily="2" charset="-122"/>
              </a:rPr>
              <a:t>命令</a:t>
            </a:r>
            <a:r>
              <a:rPr lang="en-US" altLang="zh-CN" sz="1600" dirty="0">
                <a:latin typeface="宋体" panose="02010600030101010101" pitchFamily="2" charset="-122"/>
              </a:rPr>
              <a:t>2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</a:t>
            </a:r>
          </a:p>
        </p:txBody>
      </p:sp>
      <p:sp>
        <p:nvSpPr>
          <p:cNvPr id="65544" name="Rectangle 8">
            <a:extLst>
              <a:ext uri="{FF2B5EF4-FFF2-40B4-BE49-F238E27FC236}">
                <a16:creationId xmlns:a16="http://schemas.microsoft.com/office/drawing/2014/main" id="{CE5B4459-F230-B7E4-B17B-A711DFABB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3422650"/>
            <a:ext cx="2232025" cy="31686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格式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4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if  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[ </a:t>
            </a:r>
            <a:r>
              <a:rPr lang="zh-CN" altLang="en-US" sz="1600" dirty="0">
                <a:latin typeface="宋体" panose="02010600030101010101" pitchFamily="2" charset="-122"/>
              </a:rPr>
              <a:t>条件</a:t>
            </a:r>
            <a:r>
              <a:rPr lang="en-US" altLang="zh-CN" sz="1600" dirty="0">
                <a:latin typeface="宋体" panose="02010600030101010101" pitchFamily="2" charset="-122"/>
              </a:rPr>
              <a:t>1</a:t>
            </a: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]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</a:t>
            </a:r>
            <a:r>
              <a:rPr lang="en-US" altLang="zh-CN" sz="1600" dirty="0">
                <a:solidFill>
                  <a:schemeClr val="hlink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then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      </a:t>
            </a:r>
            <a:r>
              <a:rPr lang="zh-CN" altLang="en-US" sz="1600" dirty="0">
                <a:latin typeface="宋体" panose="02010600030101010101" pitchFamily="2" charset="-122"/>
              </a:rPr>
              <a:t>命令</a:t>
            </a:r>
            <a:r>
              <a:rPr lang="en-US" altLang="zh-CN" sz="1600" dirty="0">
                <a:latin typeface="宋体" panose="02010600030101010101" pitchFamily="2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   </a:t>
            </a:r>
            <a:r>
              <a:rPr lang="en-US" altLang="zh-CN" sz="16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elif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</a:rPr>
              <a:t>[ </a:t>
            </a:r>
            <a:r>
              <a:rPr lang="zh-CN" altLang="en-US" sz="1600" dirty="0">
                <a:latin typeface="宋体" panose="02010600030101010101" pitchFamily="2" charset="-122"/>
              </a:rPr>
              <a:t>条件</a:t>
            </a:r>
            <a:r>
              <a:rPr lang="en-US" altLang="zh-CN" sz="1600" dirty="0">
                <a:latin typeface="宋体" panose="02010600030101010101" pitchFamily="2" charset="-122"/>
              </a:rPr>
              <a:t>2 ]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</a:t>
            </a: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then </a:t>
            </a:r>
            <a:r>
              <a:rPr lang="en-US" altLang="zh-CN" sz="1600" dirty="0">
                <a:latin typeface="宋体" panose="02010600030101010101" pitchFamily="2" charset="-122"/>
              </a:rPr>
              <a:t>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     </a:t>
            </a:r>
            <a:r>
              <a:rPr lang="zh-CN" altLang="en-US" sz="1600" dirty="0">
                <a:latin typeface="宋体" panose="02010600030101010101" pitchFamily="2" charset="-122"/>
              </a:rPr>
              <a:t>命令</a:t>
            </a:r>
            <a:r>
              <a:rPr lang="en-US" altLang="zh-CN" sz="1600" dirty="0">
                <a:latin typeface="宋体" panose="02010600030101010101" pitchFamily="2" charset="-122"/>
              </a:rPr>
              <a:t>2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else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latin typeface="宋体" panose="02010600030101010101" pitchFamily="2" charset="-122"/>
              </a:rPr>
              <a:t>       </a:t>
            </a:r>
            <a:r>
              <a:rPr lang="zh-CN" altLang="en-US" sz="1600" dirty="0">
                <a:latin typeface="宋体" panose="02010600030101010101" pitchFamily="2" charset="-122"/>
              </a:rPr>
              <a:t>命令</a:t>
            </a:r>
            <a:r>
              <a:rPr lang="en-US" altLang="zh-CN" sz="1600" dirty="0">
                <a:latin typeface="宋体" panose="02010600030101010101" pitchFamily="2" charset="-122"/>
              </a:rPr>
              <a:t>3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6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fi   </a:t>
            </a:r>
          </a:p>
        </p:txBody>
      </p:sp>
      <p:sp>
        <p:nvSpPr>
          <p:cNvPr id="65545" name="Rectangle 9">
            <a:extLst>
              <a:ext uri="{FF2B5EF4-FFF2-40B4-BE49-F238E27FC236}">
                <a16:creationId xmlns:a16="http://schemas.microsoft.com/office/drawing/2014/main" id="{D0557006-D89A-9D45-90C4-7CD4F5AE6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620713"/>
            <a:ext cx="5219700" cy="511175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1600" dirty="0">
                <a:solidFill>
                  <a:srgbClr val="C00000"/>
                </a:solidFill>
              </a:rPr>
              <a:t>示例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ifTest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#to show the method of if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-e "Enter the first integer:\c"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read FIRST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-n "Enter the second integer:"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read SECOND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if [ "$FIRST" -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gt</a:t>
            </a: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"$SECOND" ]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then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echo "$FIRST is greater than $SECOND"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elif</a:t>
            </a: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[ "$FIRST" -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lt</a:t>
            </a: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"$SECOND" ]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then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echo "$FIRST is less than $SECOND"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else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echo "$FIRST is equal to $SECOND" 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fi</a:t>
            </a:r>
          </a:p>
        </p:txBody>
      </p:sp>
      <p:sp>
        <p:nvSpPr>
          <p:cNvPr id="34825" name="Rectangle 10">
            <a:extLst>
              <a:ext uri="{FF2B5EF4-FFF2-40B4-BE49-F238E27FC236}">
                <a16:creationId xmlns:a16="http://schemas.microsoft.com/office/drawing/2014/main" id="{8071A573-3C18-3FF8-F083-2D5DDD132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325" y="981075"/>
            <a:ext cx="4967288" cy="5327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6D6D888-CC6D-7C3A-9693-32EF797FB27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控制结构篇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——case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语句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A1BC72AA-1CA9-4BEF-60A5-7D2FC23927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825" y="549275"/>
            <a:ext cx="4087813" cy="5903913"/>
          </a:xfrm>
        </p:spPr>
        <p:txBody>
          <a:bodyPr/>
          <a:lstStyle/>
          <a:p>
            <a:r>
              <a:rPr lang="zh-CN" altLang="en-US" sz="1600">
                <a:solidFill>
                  <a:srgbClr val="C00000"/>
                </a:solidFill>
              </a:rPr>
              <a:t>格式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1600"/>
              <a:t>   </a:t>
            </a: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case </a:t>
            </a:r>
            <a:r>
              <a:rPr lang="zh-CN" altLang="en-US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值 </a:t>
            </a: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</a:t>
            </a:r>
            <a:r>
              <a:rPr lang="zh-CN" altLang="en-US" sz="1800">
                <a:latin typeface="宋体" panose="02010600030101010101" pitchFamily="2" charset="-122"/>
              </a:rPr>
              <a:t>模式</a:t>
            </a: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</a:t>
            </a:r>
            <a:r>
              <a:rPr lang="zh-CN" altLang="en-US" sz="1800">
                <a:latin typeface="宋体" panose="02010600030101010101" pitchFamily="2" charset="-122"/>
              </a:rPr>
              <a:t>命令</a:t>
            </a: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1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;;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……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宋体" panose="02010600030101010101" pitchFamily="2" charset="-122"/>
              </a:rPr>
              <a:t>          *</a:t>
            </a: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)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 </a:t>
            </a:r>
            <a:r>
              <a:rPr lang="zh-CN" altLang="en-US" sz="1800">
                <a:latin typeface="宋体" panose="02010600030101010101" pitchFamily="2" charset="-122"/>
              </a:rPr>
              <a:t>命令</a:t>
            </a: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n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            ;;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esac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zh-CN" sz="18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000"/>
              <a:t>取值后面必须为单词</a:t>
            </a:r>
            <a:r>
              <a:rPr lang="en-US" altLang="zh-CN" sz="20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</a:t>
            </a:r>
            <a:r>
              <a:rPr lang="en-US" altLang="zh-CN" sz="2000"/>
              <a:t>,</a:t>
            </a:r>
            <a:r>
              <a:rPr lang="zh-CN" altLang="en-US" sz="2000"/>
              <a:t>每一个模式必须以</a:t>
            </a:r>
            <a:r>
              <a:rPr lang="zh-CN" altLang="en-US" sz="2000">
                <a:solidFill>
                  <a:srgbClr val="FF3300"/>
                </a:solidFill>
              </a:rPr>
              <a:t>右括号</a:t>
            </a:r>
            <a:r>
              <a:rPr lang="zh-CN" altLang="en-US" sz="2000"/>
              <a:t>结束。取值可以为变量或常数。取值检测匹配的每一个模式，一旦模式匹配，其间所有命令开始执行直至</a:t>
            </a:r>
            <a:r>
              <a:rPr lang="en-US" altLang="zh-CN" sz="2000">
                <a:solidFill>
                  <a:srgbClr val="FF33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;;</a:t>
            </a:r>
            <a:r>
              <a:rPr lang="zh-CN" altLang="en-US" sz="2000"/>
              <a:t>。执行完匹配模式相应命令后不再继续其他模式。如果无一匹配模式，使用</a:t>
            </a:r>
            <a:r>
              <a:rPr lang="zh-CN" altLang="en-US" sz="2000">
                <a:solidFill>
                  <a:srgbClr val="FF3300"/>
                </a:solidFill>
              </a:rPr>
              <a:t>*</a:t>
            </a:r>
            <a:r>
              <a:rPr lang="zh-CN" altLang="en-US" sz="2000"/>
              <a:t>号捕获该值，再接受其他输入。</a:t>
            </a:r>
          </a:p>
        </p:txBody>
      </p:sp>
      <p:sp>
        <p:nvSpPr>
          <p:cNvPr id="35844" name="Rectangle 5">
            <a:extLst>
              <a:ext uri="{FF2B5EF4-FFF2-40B4-BE49-F238E27FC236}">
                <a16:creationId xmlns:a16="http://schemas.microsoft.com/office/drawing/2014/main" id="{92516B4B-F51A-DDB4-DC25-DA8BB8C25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3573463"/>
            <a:ext cx="3895725" cy="2663825"/>
          </a:xfrm>
          <a:prstGeom prst="rect">
            <a:avLst/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6566" name="Text Box 6">
            <a:extLst>
              <a:ext uri="{FF2B5EF4-FFF2-40B4-BE49-F238E27FC236}">
                <a16:creationId xmlns:a16="http://schemas.microsoft.com/office/drawing/2014/main" id="{258DD497-28F4-533E-93DE-3F4F4BFDBD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765175"/>
            <a:ext cx="5210175" cy="44005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示例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caseTest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#to  test the method of case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USER=`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whoami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`</a:t>
            </a:r>
          </a:p>
          <a:p>
            <a:pPr>
              <a:defRPr/>
            </a:pP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case $USER in  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root)echo “You can do all the operations”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;;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Dave)echo "You can do some operations”       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;;      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*)echo "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Sorry,you</a:t>
            </a: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can not do anything"      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   ;;</a:t>
            </a:r>
          </a:p>
          <a:p>
            <a:pPr>
              <a:defRPr/>
            </a:pP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esac</a:t>
            </a:r>
            <a:r>
              <a:rPr lang="en-US" altLang="zh-CN" sz="200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35846" name="Rectangle 7">
            <a:extLst>
              <a:ext uri="{FF2B5EF4-FFF2-40B4-BE49-F238E27FC236}">
                <a16:creationId xmlns:a16="http://schemas.microsoft.com/office/drawing/2014/main" id="{83AA7E3A-2EF5-0F61-EE0E-24BB71134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008063"/>
            <a:ext cx="5029200" cy="4941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AE2608AC-49A4-A420-8AEA-85035368FC1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控制结构篇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——for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循环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ECEA240-CC1D-2EEA-1549-F1B928D185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950" y="600075"/>
            <a:ext cx="4535488" cy="599757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solidFill>
                  <a:srgbClr val="C00000"/>
                </a:solidFill>
              </a:rPr>
              <a:t>格式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for </a:t>
            </a:r>
            <a:r>
              <a:rPr lang="zh-CN" altLang="en-US"/>
              <a:t>变量名 </a:t>
            </a: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</a:t>
            </a:r>
            <a:r>
              <a:rPr lang="en-US" altLang="zh-CN"/>
              <a:t> </a:t>
            </a:r>
            <a:r>
              <a:rPr lang="zh-CN" altLang="en-US"/>
              <a:t>列表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/>
              <a:t>    </a:t>
            </a:r>
            <a:r>
              <a:rPr lang="zh-CN" altLang="en-US"/>
              <a:t>命令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当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变量值在列表里</a:t>
            </a:r>
            <a:r>
              <a:rPr lang="zh-CN" altLang="en-US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</a:t>
            </a:r>
            <a:r>
              <a:rPr lang="en-US" altLang="zh-CN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for</a:t>
            </a:r>
            <a:r>
              <a:rPr lang="zh-CN" altLang="en-US">
                <a:latin typeface="宋体" panose="02010600030101010101" pitchFamily="2" charset="-122"/>
              </a:rPr>
              <a:t>循环即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</a:rPr>
              <a:t>执行一次所有命令</a:t>
            </a:r>
            <a:r>
              <a:rPr lang="zh-CN" altLang="en-US">
                <a:latin typeface="宋体" panose="02010600030101010101" pitchFamily="2" charset="-122"/>
              </a:rPr>
              <a:t>，使用变量名访问列表中取值。嵌套循环可以将一个</a:t>
            </a:r>
            <a:r>
              <a:rPr lang="en-US" altLang="zh-CN">
                <a:latin typeface="宋体" panose="02010600030101010101" pitchFamily="2" charset="-122"/>
              </a:rPr>
              <a:t>for</a:t>
            </a:r>
            <a:r>
              <a:rPr lang="zh-CN" altLang="en-US">
                <a:latin typeface="宋体" panose="02010600030101010101" pitchFamily="2" charset="-122"/>
              </a:rPr>
              <a:t>循环嵌在另一个</a:t>
            </a:r>
            <a:r>
              <a:rPr lang="en-US" altLang="zh-CN">
                <a:latin typeface="宋体" panose="02010600030101010101" pitchFamily="2" charset="-122"/>
              </a:rPr>
              <a:t>for</a:t>
            </a:r>
            <a:r>
              <a:rPr lang="zh-CN" altLang="en-US">
                <a:latin typeface="宋体" panose="02010600030101010101" pitchFamily="2" charset="-122"/>
              </a:rPr>
              <a:t>循环里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1800">
                <a:latin typeface="宋体" panose="02010600030101010101" pitchFamily="2" charset="-122"/>
              </a:rPr>
              <a:t>  </a:t>
            </a:r>
          </a:p>
        </p:txBody>
      </p:sp>
      <p:sp>
        <p:nvSpPr>
          <p:cNvPr id="67589" name="Rectangle 5">
            <a:extLst>
              <a:ext uri="{FF2B5EF4-FFF2-40B4-BE49-F238E27FC236}">
                <a16:creationId xmlns:a16="http://schemas.microsoft.com/office/drawing/2014/main" id="{9C1D6D7C-A661-6DAC-A96A-E63D63E53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765175"/>
            <a:ext cx="4176712" cy="538956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</a:rPr>
              <a:t>示例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</a:t>
            </a:r>
            <a:endParaRPr lang="en-US" altLang="zh-CN" sz="24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forTest</a:t>
            </a:r>
            <a:endParaRPr lang="en-US" altLang="zh-CN" sz="24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#to test the method of for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COUNTER=0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for FILES in *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 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COUNTER=`expr $COUNTER + 1`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  </a:t>
            </a: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echo "There are $COUNTER files in `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pwd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` "</a:t>
            </a:r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sz="1600" dirty="0">
              <a:solidFill>
                <a:schemeClr val="hlink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1800" dirty="0"/>
              <a:t>  </a:t>
            </a:r>
          </a:p>
        </p:txBody>
      </p:sp>
      <p:sp>
        <p:nvSpPr>
          <p:cNvPr id="36869" name="Rectangle 6">
            <a:extLst>
              <a:ext uri="{FF2B5EF4-FFF2-40B4-BE49-F238E27FC236}">
                <a16:creationId xmlns:a16="http://schemas.microsoft.com/office/drawing/2014/main" id="{E11E2201-1CD9-B641-246C-20EDBF1E3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196975"/>
            <a:ext cx="4032250" cy="4824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D7B68474-2264-C4CE-467F-E54B33DD585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控制结构篇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——until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循环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69975EE-AE41-C378-9010-9C1072A03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620713"/>
            <a:ext cx="4068762" cy="583247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3600">
                <a:solidFill>
                  <a:srgbClr val="C00000"/>
                </a:solidFill>
              </a:rPr>
              <a:t>格式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</a:rPr>
              <a:t>    </a:t>
            </a:r>
            <a:r>
              <a:rPr lang="en-US" altLang="zh-CN" sz="36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until 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</a:rPr>
              <a:t>条件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36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</a:rPr>
              <a:t>命令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36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</a:t>
            </a:r>
            <a:r>
              <a:rPr lang="en-US" altLang="zh-CN" sz="36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zh-CN" sz="360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until </a:t>
            </a:r>
            <a:r>
              <a:rPr lang="zh-CN" altLang="en-US" sz="3600">
                <a:solidFill>
                  <a:schemeClr val="tx1"/>
                </a:solidFill>
                <a:latin typeface="宋体" panose="02010600030101010101" pitchFamily="2" charset="-122"/>
              </a:rPr>
              <a:t>执行一系列命令，直至条件为真时停止</a:t>
            </a:r>
          </a:p>
        </p:txBody>
      </p:sp>
      <p:sp>
        <p:nvSpPr>
          <p:cNvPr id="68613" name="Text Box 5">
            <a:extLst>
              <a:ext uri="{FF2B5EF4-FFF2-40B4-BE49-F238E27FC236}">
                <a16:creationId xmlns:a16="http://schemas.microsoft.com/office/drawing/2014/main" id="{2C80FABF-06B8-1768-25AB-9B6E64FB59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836613"/>
            <a:ext cx="4895850" cy="335438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1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示例</a:t>
            </a: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#!/bin/bash</a:t>
            </a:r>
          </a:p>
          <a:p>
            <a:pPr>
              <a:defRPr/>
            </a:pPr>
            <a:r>
              <a:rPr lang="en-US" altLang="zh-CN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myvar</a:t>
            </a: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=1</a:t>
            </a: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until [ $</a:t>
            </a:r>
            <a:r>
              <a:rPr lang="en-US" altLang="zh-CN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myvar</a:t>
            </a: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-</a:t>
            </a:r>
            <a:r>
              <a:rPr lang="en-US" altLang="zh-CN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gt</a:t>
            </a: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10 ]</a:t>
            </a: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 echo $</a:t>
            </a:r>
            <a:r>
              <a:rPr lang="en-US" altLang="zh-CN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myvar</a:t>
            </a:r>
            <a:endParaRPr lang="en-US" altLang="zh-CN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    </a:t>
            </a:r>
            <a:r>
              <a:rPr lang="en-US" altLang="zh-CN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myvar</a:t>
            </a: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=$(( $</a:t>
            </a:r>
            <a:r>
              <a:rPr lang="en-US" altLang="zh-CN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myvar</a:t>
            </a: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+ 1 ))</a:t>
            </a:r>
          </a:p>
          <a:p>
            <a:pPr>
              <a:defRPr/>
            </a:pPr>
            <a:r>
              <a:rPr lang="en-US" altLang="zh-CN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</a:t>
            </a:r>
          </a:p>
        </p:txBody>
      </p:sp>
      <p:sp>
        <p:nvSpPr>
          <p:cNvPr id="37893" name="Rectangle 6">
            <a:extLst>
              <a:ext uri="{FF2B5EF4-FFF2-40B4-BE49-F238E27FC236}">
                <a16:creationId xmlns:a16="http://schemas.microsoft.com/office/drawing/2014/main" id="{9D2789F4-0742-5CFF-A205-E135487C2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836613"/>
            <a:ext cx="4537075" cy="5400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D2DA78-5E02-E740-878C-0495E888C20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4925" y="11113"/>
            <a:ext cx="9144000" cy="476250"/>
          </a:xfrm>
        </p:spPr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控制结构篇</a:t>
            </a:r>
            <a:r>
              <a:rPr lang="en-US" altLang="zh-CN" sz="4000">
                <a:solidFill>
                  <a:schemeClr val="tx1"/>
                </a:solidFill>
                <a:ea typeface="华文楷体" panose="02010600040101010101" pitchFamily="2" charset="-122"/>
              </a:rPr>
              <a:t>——while</a:t>
            </a:r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循环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3CEAE510-D3E2-53C1-273C-A30FEB5C2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288" y="549275"/>
            <a:ext cx="4502150" cy="583247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400">
                <a:solidFill>
                  <a:srgbClr val="C00000"/>
                </a:solidFill>
              </a:rPr>
              <a:t>格式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while 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命令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</a:t>
            </a: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</a:rPr>
              <a:t>命令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en-US" altLang="zh-CN" sz="240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While</a:t>
            </a:r>
            <a:r>
              <a:rPr lang="zh-CN" altLang="en-US" sz="2400">
                <a:latin typeface="宋体" panose="02010600030101010101" pitchFamily="2" charset="-122"/>
              </a:rPr>
              <a:t>循环用于不断执行一系列命令，也用于从输入文件中读取数据。虽然通常只有一个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400">
                <a:latin typeface="宋体" panose="02010600030101010101" pitchFamily="2" charset="-122"/>
              </a:rPr>
              <a:t>，但在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while</a:t>
            </a:r>
            <a:r>
              <a:rPr lang="zh-CN" altLang="en-US" sz="2400">
                <a:latin typeface="宋体" panose="02010600030101010101" pitchFamily="2" charset="-122"/>
              </a:rPr>
              <a:t>和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  <a:r>
              <a:rPr lang="zh-CN" altLang="en-US" sz="2400">
                <a:latin typeface="宋体" panose="02010600030101010101" pitchFamily="2" charset="-122"/>
              </a:rPr>
              <a:t>之间可以放几个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400">
                <a:latin typeface="宋体" panose="02010600030101010101" pitchFamily="2" charset="-122"/>
              </a:rPr>
              <a:t>。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400">
                <a:latin typeface="宋体" panose="02010600030101010101" pitchFamily="2" charset="-122"/>
              </a:rPr>
              <a:t>通常用作测试条件，只有当</a:t>
            </a:r>
            <a:r>
              <a:rPr lang="zh-CN" altLang="en-US" sz="2400">
                <a:solidFill>
                  <a:srgbClr val="FF3300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400">
                <a:latin typeface="宋体" panose="02010600030101010101" pitchFamily="2" charset="-122"/>
              </a:rPr>
              <a:t>的</a:t>
            </a: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</a:rPr>
              <a:t>退出状态为</a:t>
            </a:r>
            <a:r>
              <a:rPr lang="en-US" altLang="zh-CN" sz="2400">
                <a:solidFill>
                  <a:srgbClr val="C00000"/>
                </a:solidFill>
                <a:latin typeface="宋体" panose="02010600030101010101" pitchFamily="2" charset="-122"/>
              </a:rPr>
              <a:t>0</a:t>
            </a:r>
            <a:r>
              <a:rPr lang="zh-CN" altLang="en-US" sz="2400">
                <a:solidFill>
                  <a:srgbClr val="C00000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sz="2400">
                <a:latin typeface="宋体" panose="02010600030101010101" pitchFamily="2" charset="-122"/>
              </a:rPr>
              <a:t>，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  <a:r>
              <a:rPr lang="zh-CN" altLang="en-US" sz="2400">
                <a:latin typeface="宋体" panose="02010600030101010101" pitchFamily="2" charset="-122"/>
              </a:rPr>
              <a:t>和</a:t>
            </a:r>
            <a:r>
              <a:rPr lang="en-US" altLang="zh-CN" sz="2400">
                <a:latin typeface="宋体" panose="02010600030101010101" pitchFamily="2" charset="-122"/>
              </a:rPr>
              <a:t>d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one</a:t>
            </a:r>
            <a:r>
              <a:rPr lang="zh-CN" altLang="en-US" sz="2400">
                <a:latin typeface="宋体" panose="02010600030101010101" pitchFamily="2" charset="-122"/>
              </a:rPr>
              <a:t>之间</a:t>
            </a:r>
            <a:r>
              <a:rPr lang="zh-CN" altLang="en-US" sz="2400">
                <a:solidFill>
                  <a:schemeClr val="hlink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sz="2400">
                <a:latin typeface="宋体" panose="02010600030101010101" pitchFamily="2" charset="-122"/>
              </a:rPr>
              <a:t>才被执行，如</a:t>
            </a:r>
          </a:p>
          <a:p>
            <a:pPr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果退出状态不是</a:t>
            </a:r>
            <a:r>
              <a:rPr lang="en-US" altLang="zh-CN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0</a:t>
            </a:r>
            <a:r>
              <a:rPr lang="zh-CN" altLang="en-US" sz="2400">
                <a:latin typeface="宋体" panose="02010600030101010101" pitchFamily="2" charset="-122"/>
              </a:rPr>
              <a:t>，则循环终止。</a:t>
            </a:r>
          </a:p>
        </p:txBody>
      </p:sp>
      <p:sp>
        <p:nvSpPr>
          <p:cNvPr id="69637" name="Text Box 5">
            <a:extLst>
              <a:ext uri="{FF2B5EF4-FFF2-40B4-BE49-F238E27FC236}">
                <a16:creationId xmlns:a16="http://schemas.microsoft.com/office/drawing/2014/main" id="{90CCA46C-4536-FE54-E7CF-D7FD9DF9E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825" y="692150"/>
            <a:ext cx="4119563" cy="612457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1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示例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</a:t>
            </a:r>
            <a:endParaRPr lang="en-US" altLang="zh-CN" sz="24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whileTest</a:t>
            </a:r>
            <a:endParaRPr lang="en-US" altLang="zh-CN" sz="24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#to test the method of while </a:t>
            </a:r>
          </a:p>
          <a:p>
            <a:pPr>
              <a:defRPr/>
            </a:pPr>
            <a:endParaRPr lang="en-US" altLang="zh-CN" sz="24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COUNTER=0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while [ $COUNTER  -</a:t>
            </a:r>
            <a:r>
              <a:rPr lang="en-US" altLang="zh-CN" sz="24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lt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10 ]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echo $COUNTER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 COUNTER=`expr $COUNTER + 1`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while read LINE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echo $LINE</a:t>
            </a:r>
          </a:p>
          <a:p>
            <a:pPr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done &lt; names.txt</a:t>
            </a:r>
          </a:p>
          <a:p>
            <a:pPr>
              <a:defRPr/>
            </a:pPr>
            <a:endParaRPr lang="en-US" altLang="zh-CN" sz="1600" dirty="0">
              <a:solidFill>
                <a:schemeClr val="hlink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38917" name="Rectangle 6">
            <a:extLst>
              <a:ext uri="{FF2B5EF4-FFF2-40B4-BE49-F238E27FC236}">
                <a16:creationId xmlns:a16="http://schemas.microsoft.com/office/drawing/2014/main" id="{F328F0F3-AAF1-06D6-DCDE-33FC4D338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825" y="981075"/>
            <a:ext cx="3887788" cy="5472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7E5978F3-E190-CB55-8CFA-1E00BAACFA3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ea typeface="华文楷体" panose="02010600040101010101" pitchFamily="2" charset="-122"/>
              </a:rPr>
              <a:t>函数</a:t>
            </a:r>
            <a:endParaRPr lang="zh-CN" altLang="en-US" sz="6000">
              <a:solidFill>
                <a:schemeClr val="hlink"/>
              </a:solidFill>
              <a:ea typeface="华文楷体" panose="02010600040101010101" pitchFamily="2" charset="-122"/>
            </a:endParaRP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85A6349D-E654-76B4-7BA3-F3289B335E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468313"/>
            <a:ext cx="4768850" cy="596265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hlink"/>
                </a:solidFill>
              </a:rPr>
              <a:t>格式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</a:rPr>
              <a:t>函数名 </a:t>
            </a: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()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</a:t>
            </a:r>
            <a:r>
              <a:rPr lang="zh-CN" altLang="en-US" sz="2400" dirty="0"/>
              <a:t>命令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所有函数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在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使用前必须定义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，这意味着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必须将函数放在脚本开始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部分，直至</a:t>
            </a:r>
            <a:r>
              <a:rPr lang="en-US" altLang="zh-CN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shell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解释器首次发现它，才可以使用。  调用函数仅使用其函数名即可，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要传给函数的变量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跟在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函数</a:t>
            </a:r>
            <a:r>
              <a:rPr lang="zh-CN" altLang="en-US" sz="240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后面</a:t>
            </a:r>
            <a:r>
              <a:rPr lang="zh-CN" altLang="en-US" sz="240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。函数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可以放在同一个文件中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作为一段代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码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，也可以放在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只包含函数的单独文件中</a:t>
            </a:r>
            <a:r>
              <a:rPr lang="zh-CN" altLang="en-US" sz="24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，文件也必须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</a:t>
            </a:r>
            <a:r>
              <a:rPr lang="en-US" altLang="zh-CN" sz="2400" dirty="0" err="1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</a:t>
            </a:r>
            <a:r>
              <a:rPr lang="zh-CN" altLang="en-US" sz="2400" dirty="0">
                <a:solidFill>
                  <a:srgbClr val="FF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开头。</a:t>
            </a:r>
          </a:p>
        </p:txBody>
      </p:sp>
      <p:sp>
        <p:nvSpPr>
          <p:cNvPr id="70661" name="Text Box 5">
            <a:extLst>
              <a:ext uri="{FF2B5EF4-FFF2-40B4-BE49-F238E27FC236}">
                <a16:creationId xmlns:a16="http://schemas.microsoft.com/office/drawing/2014/main" id="{C13CB8B7-9A93-A37A-754A-483F5E238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075" y="765175"/>
            <a:ext cx="3024188" cy="34782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0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示例</a:t>
            </a:r>
            <a:r>
              <a:rPr lang="en-US" altLang="zh-CN" sz="20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funTest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#to test the function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DATE=`date`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Hello()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{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 echo “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Hello,today</a:t>
            </a: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is $DATE”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}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Hello</a:t>
            </a:r>
          </a:p>
        </p:txBody>
      </p:sp>
      <p:sp>
        <p:nvSpPr>
          <p:cNvPr id="70663" name="Text Box 7">
            <a:extLst>
              <a:ext uri="{FF2B5EF4-FFF2-40B4-BE49-F238E27FC236}">
                <a16:creationId xmlns:a16="http://schemas.microsoft.com/office/drawing/2014/main" id="{A550828C-DD12-8A08-9E8A-1A743082D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4292600"/>
            <a:ext cx="3024188" cy="18780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1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示例</a:t>
            </a:r>
            <a:r>
              <a:rPr lang="en-US" altLang="zh-CN" sz="16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endParaRPr lang="en-US" altLang="zh-CN" sz="1600" dirty="0">
              <a:solidFill>
                <a:schemeClr val="hlink"/>
              </a:solidFill>
              <a:latin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#!/bin/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sh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</a:t>
            </a:r>
            <a:r>
              <a:rPr lang="en-US" altLang="zh-CN" sz="2000" dirty="0" err="1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funTest</a:t>
            </a:r>
            <a:endParaRPr lang="en-US" altLang="zh-CN" sz="2000" dirty="0">
              <a:solidFill>
                <a:srgbClr val="C00000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#to test the function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. ./Hello</a:t>
            </a:r>
          </a:p>
          <a:p>
            <a:pPr>
              <a:defRPr/>
            </a:pPr>
            <a:r>
              <a:rPr lang="en-US" altLang="zh-CN" sz="2000" dirty="0">
                <a:solidFill>
                  <a:srgbClr val="C00000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Hello</a:t>
            </a:r>
          </a:p>
        </p:txBody>
      </p:sp>
      <p:sp>
        <p:nvSpPr>
          <p:cNvPr id="39942" name="Rectangle 8">
            <a:extLst>
              <a:ext uri="{FF2B5EF4-FFF2-40B4-BE49-F238E27FC236}">
                <a16:creationId xmlns:a16="http://schemas.microsoft.com/office/drawing/2014/main" id="{C8CB45FD-842C-EAFC-5816-7C2AB497A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765175"/>
            <a:ext cx="3311525" cy="34782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943" name="Rectangle 9">
            <a:extLst>
              <a:ext uri="{FF2B5EF4-FFF2-40B4-BE49-F238E27FC236}">
                <a16:creationId xmlns:a16="http://schemas.microsoft.com/office/drawing/2014/main" id="{884916E7-2651-384C-D309-9AACE0F6F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4581525"/>
            <a:ext cx="2735263" cy="151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 PL SungtiL GB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 PL SungtiL GB"/>
        <a:ea typeface="华文新魏"/>
        <a:cs typeface=""/>
      </a:majorFont>
      <a:minorFont>
        <a:latin typeface="AR PL SungtiL GB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</a:bodyPr>
      <a:lstStyle>
        <a:defPPr marL="987425" marR="0" indent="-357188" algn="l" defTabSz="449263" rtl="0" eaLnBrk="1" fontAlgn="base" latinLnBrk="0" hangingPunct="1">
          <a:lnSpc>
            <a:spcPct val="100000"/>
          </a:lnSpc>
          <a:spcBef>
            <a:spcPts val="800"/>
          </a:spcBef>
          <a:spcAft>
            <a:spcPts val="800"/>
          </a:spcAft>
          <a:buClr>
            <a:srgbClr val="000000"/>
          </a:buClr>
          <a:buSzTx/>
          <a:buFont typeface="Arial" panose="020B0604020202020204" pitchFamily="34" charset="0"/>
          <a:buBlip>
            <a:blip xmlns:r="http://schemas.openxmlformats.org/officeDocument/2006/relationships" r:embed="rId1"/>
          </a:buBlip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 PL SungtiL GB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4250</TotalTime>
  <Words>4400</Words>
  <Application>Microsoft Office PowerPoint</Application>
  <PresentationFormat>全屏显示(4:3)</PresentationFormat>
  <Paragraphs>500</Paragraphs>
  <Slides>31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AR PL SungtiL GB</vt:lpstr>
      <vt:lpstr>Arial Unicode MS</vt:lpstr>
      <vt:lpstr>华文楷体</vt:lpstr>
      <vt:lpstr>华文新魏</vt:lpstr>
      <vt:lpstr>宋体</vt:lpstr>
      <vt:lpstr>Arial</vt:lpstr>
      <vt:lpstr>Garamond</vt:lpstr>
      <vt:lpstr>Times New Roman</vt:lpstr>
      <vt:lpstr>Wingdings</vt:lpstr>
      <vt:lpstr>默认设计模板</vt:lpstr>
      <vt:lpstr>自定义设计方案</vt:lpstr>
      <vt:lpstr>PowerPoint 演示文稿</vt:lpstr>
      <vt:lpstr>第8章  Shell程序设计</vt:lpstr>
      <vt:lpstr>综述篇——Shell是什么</vt:lpstr>
      <vt:lpstr>概述——怎样写Shell</vt:lpstr>
      <vt:lpstr>概述——cygwin简介</vt:lpstr>
      <vt:lpstr>概述——Linux黑洞</vt:lpstr>
      <vt:lpstr>常用命令回顾</vt:lpstr>
      <vt:lpstr>常用命令回顾——用户管理</vt:lpstr>
      <vt:lpstr>常用命令回顾——用户管理</vt:lpstr>
      <vt:lpstr>常用命令回顾——目录管理</vt:lpstr>
      <vt:lpstr>常用命令回顾——目录管理</vt:lpstr>
      <vt:lpstr>常用命令回顾——文件管理</vt:lpstr>
      <vt:lpstr>常用命令回顾——文件管理</vt:lpstr>
      <vt:lpstr>常用命令回顾——文件管理</vt:lpstr>
      <vt:lpstr>常用命令回顾——权限管理</vt:lpstr>
      <vt:lpstr>常用命令回顾——权限管理</vt:lpstr>
      <vt:lpstr>常用命令回顾——权限管理</vt:lpstr>
      <vt:lpstr>常用命令回顾——权限管理</vt:lpstr>
      <vt:lpstr>变量</vt:lpstr>
      <vt:lpstr>变量</vt:lpstr>
      <vt:lpstr>PowerPoint 演示文稿</vt:lpstr>
      <vt:lpstr>变量</vt:lpstr>
      <vt:lpstr>条件测试</vt:lpstr>
      <vt:lpstr>条件测试</vt:lpstr>
      <vt:lpstr>控制结构</vt:lpstr>
      <vt:lpstr>控制结构——if语句</vt:lpstr>
      <vt:lpstr>控制结构篇——case语句</vt:lpstr>
      <vt:lpstr>控制结构篇——for循环</vt:lpstr>
      <vt:lpstr>控制结构篇——until循环</vt:lpstr>
      <vt:lpstr>控制结构篇——while循环</vt:lpstr>
      <vt:lpstr>函数</vt:lpstr>
    </vt:vector>
  </TitlesOfParts>
  <Company>黑龙江大学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Linux操作系统</dc:title>
  <dc:creator>青巴图</dc:creator>
  <cp:lastModifiedBy>yude bai</cp:lastModifiedBy>
  <cp:revision>388</cp:revision>
  <dcterms:modified xsi:type="dcterms:W3CDTF">2025-08-11T09:59:30Z</dcterms:modified>
</cp:coreProperties>
</file>