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57"/>
  </p:notesMasterIdLst>
  <p:handoutMasterIdLst>
    <p:handoutMasterId r:id="rId58"/>
  </p:handoutMasterIdLst>
  <p:sldIdLst>
    <p:sldId id="256" r:id="rId3"/>
    <p:sldId id="695" r:id="rId4"/>
    <p:sldId id="389" r:id="rId5"/>
    <p:sldId id="257" r:id="rId6"/>
    <p:sldId id="723" r:id="rId7"/>
    <p:sldId id="724" r:id="rId8"/>
    <p:sldId id="725" r:id="rId9"/>
    <p:sldId id="726" r:id="rId10"/>
    <p:sldId id="727" r:id="rId11"/>
    <p:sldId id="728" r:id="rId12"/>
    <p:sldId id="729" r:id="rId13"/>
    <p:sldId id="696" r:id="rId14"/>
    <p:sldId id="697" r:id="rId15"/>
    <p:sldId id="698" r:id="rId16"/>
    <p:sldId id="699" r:id="rId17"/>
    <p:sldId id="701" r:id="rId18"/>
    <p:sldId id="375" r:id="rId19"/>
    <p:sldId id="376" r:id="rId20"/>
    <p:sldId id="377" r:id="rId21"/>
    <p:sldId id="379" r:id="rId22"/>
    <p:sldId id="380" r:id="rId23"/>
    <p:sldId id="384" r:id="rId24"/>
    <p:sldId id="385" r:id="rId25"/>
    <p:sldId id="667" r:id="rId26"/>
    <p:sldId id="730" r:id="rId27"/>
    <p:sldId id="731" r:id="rId28"/>
    <p:sldId id="732" r:id="rId29"/>
    <p:sldId id="733" r:id="rId30"/>
    <p:sldId id="734" r:id="rId31"/>
    <p:sldId id="735" r:id="rId32"/>
    <p:sldId id="736" r:id="rId33"/>
    <p:sldId id="737" r:id="rId34"/>
    <p:sldId id="738" r:id="rId35"/>
    <p:sldId id="739" r:id="rId36"/>
    <p:sldId id="705" r:id="rId37"/>
    <p:sldId id="277" r:id="rId38"/>
    <p:sldId id="706" r:id="rId39"/>
    <p:sldId id="707" r:id="rId40"/>
    <p:sldId id="443" r:id="rId41"/>
    <p:sldId id="459" r:id="rId42"/>
    <p:sldId id="708" r:id="rId43"/>
    <p:sldId id="709" r:id="rId44"/>
    <p:sldId id="710" r:id="rId45"/>
    <p:sldId id="711" r:id="rId46"/>
    <p:sldId id="712" r:id="rId47"/>
    <p:sldId id="713" r:id="rId48"/>
    <p:sldId id="714" r:id="rId49"/>
    <p:sldId id="715" r:id="rId50"/>
    <p:sldId id="717" r:id="rId51"/>
    <p:sldId id="718" r:id="rId52"/>
    <p:sldId id="719" r:id="rId53"/>
    <p:sldId id="720" r:id="rId54"/>
    <p:sldId id="722" r:id="rId55"/>
    <p:sldId id="721" r:id="rId56"/>
  </p:sldIdLst>
  <p:sldSz cx="9144000" cy="6858000" type="screen4x3"/>
  <p:notesSz cx="6858000" cy="9144000"/>
  <p:defaultTextStyle>
    <a:defPPr>
      <a:defRPr lang="en-GB"/>
    </a:defPPr>
    <a:lvl1pPr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1pPr>
    <a:lvl2pPr marL="4572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2pPr>
    <a:lvl3pPr marL="9144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5pPr>
    <a:lvl6pPr marL="2286000" algn="l" defTabSz="914400" rtl="0" eaLnBrk="1" latinLnBrk="0" hangingPunct="1">
      <a:defRPr sz="2800" b="1" kern="1200">
        <a:solidFill>
          <a:srgbClr val="000000"/>
        </a:solidFill>
        <a:latin typeface="AR PL SungtiL GB" charset="0"/>
        <a:ea typeface="宋体" panose="02010600030101010101" pitchFamily="2" charset="-122"/>
        <a:cs typeface="+mn-cs"/>
      </a:defRPr>
    </a:lvl6pPr>
    <a:lvl7pPr marL="2743200" algn="l" defTabSz="914400" rtl="0" eaLnBrk="1" latinLnBrk="0" hangingPunct="1">
      <a:defRPr sz="2800" b="1" kern="1200">
        <a:solidFill>
          <a:srgbClr val="000000"/>
        </a:solidFill>
        <a:latin typeface="AR PL SungtiL GB" charset="0"/>
        <a:ea typeface="宋体" panose="02010600030101010101" pitchFamily="2" charset="-122"/>
        <a:cs typeface="+mn-cs"/>
      </a:defRPr>
    </a:lvl7pPr>
    <a:lvl8pPr marL="3200400" algn="l" defTabSz="914400" rtl="0" eaLnBrk="1" latinLnBrk="0" hangingPunct="1">
      <a:defRPr sz="2800" b="1" kern="1200">
        <a:solidFill>
          <a:srgbClr val="000000"/>
        </a:solidFill>
        <a:latin typeface="AR PL SungtiL GB" charset="0"/>
        <a:ea typeface="宋体" panose="02010600030101010101" pitchFamily="2" charset="-122"/>
        <a:cs typeface="+mn-cs"/>
      </a:defRPr>
    </a:lvl8pPr>
    <a:lvl9pPr marL="3657600" algn="l" defTabSz="914400" rtl="0" eaLnBrk="1" latinLnBrk="0" hangingPunct="1">
      <a:defRPr sz="2800" b="1" kern="1200">
        <a:solidFill>
          <a:srgbClr val="000000"/>
        </a:solidFill>
        <a:latin typeface="AR PL SungtiL GB"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00FF00"/>
    <a:srgbClr val="DDDDDD"/>
    <a:srgbClr val="C0C0C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autoAdjust="0"/>
  </p:normalViewPr>
  <p:slideViewPr>
    <p:cSldViewPr>
      <p:cViewPr varScale="1">
        <p:scale>
          <a:sx n="124" d="100"/>
          <a:sy n="124" d="100"/>
        </p:scale>
        <p:origin x="1570" y="7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4" d="100"/>
          <a:sy n="94" d="100"/>
        </p:scale>
        <p:origin x="408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24D81DE-CD7E-E967-6B08-92F686F6E8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D36FA5CF-0B6E-B757-C322-9206AC83C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CC03BB6A-1683-48F9-A083-F9498EDEB64A}" type="datetimeFigureOut">
              <a:rPr lang="zh-CN" altLang="en-US"/>
              <a:pPr>
                <a:defRPr/>
              </a:pPr>
              <a:t>2025/9/8</a:t>
            </a:fld>
            <a:endParaRPr lang="zh-CN" altLang="en-US"/>
          </a:p>
        </p:txBody>
      </p:sp>
      <p:sp>
        <p:nvSpPr>
          <p:cNvPr id="4" name="页脚占位符 3">
            <a:extLst>
              <a:ext uri="{FF2B5EF4-FFF2-40B4-BE49-F238E27FC236}">
                <a16:creationId xmlns:a16="http://schemas.microsoft.com/office/drawing/2014/main" id="{834BE363-C9D8-B1B6-C756-E4BC5FBCC17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r>
              <a:rPr lang="en-US" altLang="zh-CN"/>
              <a:t>《Linux</a:t>
            </a:r>
            <a:r>
              <a:rPr lang="zh-CN" altLang="en-US"/>
              <a:t>系统与安全</a:t>
            </a:r>
            <a:r>
              <a:rPr lang="en-US" altLang="zh-CN"/>
              <a:t>》</a:t>
            </a:r>
            <a:r>
              <a:rPr lang="zh-CN" altLang="en-US"/>
              <a:t>天津工业大学软件学院</a:t>
            </a:r>
          </a:p>
        </p:txBody>
      </p:sp>
      <p:sp>
        <p:nvSpPr>
          <p:cNvPr id="5" name="灯片编号占位符 4">
            <a:extLst>
              <a:ext uri="{FF2B5EF4-FFF2-40B4-BE49-F238E27FC236}">
                <a16:creationId xmlns:a16="http://schemas.microsoft.com/office/drawing/2014/main" id="{656B814A-6225-D004-31BA-CCB53B84457F}"/>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5304491-0AE1-4DEA-AB45-330C2D06EF0C}"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5582A08C-25A9-6863-B4BA-810417F821F6}"/>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099" name="AutoShape 2">
            <a:extLst>
              <a:ext uri="{FF2B5EF4-FFF2-40B4-BE49-F238E27FC236}">
                <a16:creationId xmlns:a16="http://schemas.microsoft.com/office/drawing/2014/main" id="{FFB0A06B-6D21-2912-5D5D-3B52FDBED20D}"/>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0" name="AutoShape 3">
            <a:extLst>
              <a:ext uri="{FF2B5EF4-FFF2-40B4-BE49-F238E27FC236}">
                <a16:creationId xmlns:a16="http://schemas.microsoft.com/office/drawing/2014/main" id="{29C90461-86FA-1850-1E37-797538090DE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1" name="AutoShape 4">
            <a:extLst>
              <a:ext uri="{FF2B5EF4-FFF2-40B4-BE49-F238E27FC236}">
                <a16:creationId xmlns:a16="http://schemas.microsoft.com/office/drawing/2014/main" id="{EF7E804C-4672-D233-36B5-92406E422FC7}"/>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2" name="AutoShape 5">
            <a:extLst>
              <a:ext uri="{FF2B5EF4-FFF2-40B4-BE49-F238E27FC236}">
                <a16:creationId xmlns:a16="http://schemas.microsoft.com/office/drawing/2014/main" id="{FDEE3D44-C642-F6DF-4FA2-2AAFA128D475}"/>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3" name="AutoShape 6">
            <a:extLst>
              <a:ext uri="{FF2B5EF4-FFF2-40B4-BE49-F238E27FC236}">
                <a16:creationId xmlns:a16="http://schemas.microsoft.com/office/drawing/2014/main" id="{160A70CC-46CF-4098-6C1E-D5B18A34F0F7}"/>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4" name="AutoShape 7">
            <a:extLst>
              <a:ext uri="{FF2B5EF4-FFF2-40B4-BE49-F238E27FC236}">
                <a16:creationId xmlns:a16="http://schemas.microsoft.com/office/drawing/2014/main" id="{01D96203-1037-11B0-2FAC-48B8F607E920}"/>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5" name="AutoShape 8">
            <a:extLst>
              <a:ext uri="{FF2B5EF4-FFF2-40B4-BE49-F238E27FC236}">
                <a16:creationId xmlns:a16="http://schemas.microsoft.com/office/drawing/2014/main" id="{7F93E0CC-3728-04AE-C331-58D51334FB1D}"/>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6" name="AutoShape 9">
            <a:extLst>
              <a:ext uri="{FF2B5EF4-FFF2-40B4-BE49-F238E27FC236}">
                <a16:creationId xmlns:a16="http://schemas.microsoft.com/office/drawing/2014/main" id="{35F28AA8-B82B-5722-6091-AD46589F792A}"/>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7" name="AutoShape 10">
            <a:extLst>
              <a:ext uri="{FF2B5EF4-FFF2-40B4-BE49-F238E27FC236}">
                <a16:creationId xmlns:a16="http://schemas.microsoft.com/office/drawing/2014/main" id="{2D32A2ED-54C6-5846-2FC7-32DF1E654D5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8" name="AutoShape 11">
            <a:extLst>
              <a:ext uri="{FF2B5EF4-FFF2-40B4-BE49-F238E27FC236}">
                <a16:creationId xmlns:a16="http://schemas.microsoft.com/office/drawing/2014/main" id="{B3AD5A6E-47E3-8C72-61FC-53E7FE7AB6A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9" name="AutoShape 12">
            <a:extLst>
              <a:ext uri="{FF2B5EF4-FFF2-40B4-BE49-F238E27FC236}">
                <a16:creationId xmlns:a16="http://schemas.microsoft.com/office/drawing/2014/main" id="{5851CAFC-15EE-3095-4585-883E13C6DA9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10" name="Rectangle 13">
            <a:extLst>
              <a:ext uri="{FF2B5EF4-FFF2-40B4-BE49-F238E27FC236}">
                <a16:creationId xmlns:a16="http://schemas.microsoft.com/office/drawing/2014/main" id="{3D1F951F-081C-0541-13A3-F5D097AF4520}"/>
              </a:ext>
            </a:extLst>
          </p:cNvPr>
          <p:cNvSpPr>
            <a:spLocks noGrp="1" noRot="1" noChangeAspect="1" noChangeArrowheads="1" noTextEdit="1"/>
          </p:cNvSpPr>
          <p:nvPr>
            <p:ph type="sldImg"/>
          </p:nvPr>
        </p:nvSpPr>
        <p:spPr bwMode="auto">
          <a:xfrm>
            <a:off x="0" y="303213"/>
            <a:ext cx="1588" cy="58340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62" name="Rectangle 14">
            <a:extLst>
              <a:ext uri="{FF2B5EF4-FFF2-40B4-BE49-F238E27FC236}">
                <a16:creationId xmlns:a16="http://schemas.microsoft.com/office/drawing/2014/main" id="{D665352B-453F-B4FC-17DF-210323AF600C}"/>
              </a:ext>
            </a:extLst>
          </p:cNvPr>
          <p:cNvSpPr txBox="1">
            <a:spLocks noGrp="1" noChangeArrowheads="1"/>
          </p:cNvSpPr>
          <p:nvPr>
            <p:ph type="body" idx="1"/>
          </p:nvPr>
        </p:nvSpPr>
        <p:spPr bwMode="auto">
          <a:xfrm>
            <a:off x="503238" y="4316413"/>
            <a:ext cx="5856287" cy="4059237"/>
          </a:xfrm>
          <a:prstGeom prst="rect">
            <a:avLst/>
          </a:prstGeom>
          <a:noFill/>
          <a:ln>
            <a:noFill/>
          </a:ln>
        </p:spPr>
        <p:txBody>
          <a:bodyPr vert="horz" wrap="square" lIns="0" tIns="0" rIns="0" bIns="0" numCol="1" anchor="t" anchorCtr="0" compatLnSpc="1">
            <a:prstTxWarp prst="textNoShape">
              <a:avLst/>
            </a:prstTxWarp>
          </a:bodyPr>
          <a:lstStyle/>
          <a:p>
            <a:pPr lvl="0"/>
            <a:endParaRPr lang="zh-CN" altLang="en-US" noProof="0"/>
          </a:p>
        </p:txBody>
      </p:sp>
    </p:spTree>
  </p:cSld>
  <p:clrMap bg1="lt1" tx1="dk1" bg2="lt2" tx2="dk2" accent1="accent1" accent2="accent2" accent3="accent3" accent4="accent4" accent5="accent5" accent6="accent6" hlink="hlink" folHlink="folHlink"/>
  <p:hf hdr="0" dt="0"/>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1">
            <a:extLst>
              <a:ext uri="{FF2B5EF4-FFF2-40B4-BE49-F238E27FC236}">
                <a16:creationId xmlns:a16="http://schemas.microsoft.com/office/drawing/2014/main" id="{6003EFAF-6957-148F-2EA4-6248DCB70A54}"/>
              </a:ext>
            </a:extLst>
          </p:cNvPr>
          <p:cNvSpPr>
            <a:spLocks noGrp="1" noRot="1" noChangeAspect="1" noChangeArrowheads="1" noTextEdit="1"/>
          </p:cNvSpPr>
          <p:nvPr>
            <p:ph type="sldImg"/>
          </p:nvPr>
        </p:nvSpPr>
        <p:spPr>
          <a:xfrm>
            <a:off x="0" y="303213"/>
            <a:ext cx="1588" cy="1587"/>
          </a:xfrm>
          <a:ln/>
        </p:spPr>
      </p:sp>
      <p:sp>
        <p:nvSpPr>
          <p:cNvPr id="7171" name="Rectangle 2">
            <a:extLst>
              <a:ext uri="{FF2B5EF4-FFF2-40B4-BE49-F238E27FC236}">
                <a16:creationId xmlns:a16="http://schemas.microsoft.com/office/drawing/2014/main" id="{B98DE061-D44D-9EA0-1758-6E5DFDBB1FEA}"/>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4515C06-7F33-9E14-1508-04C7A0B7F463}"/>
              </a:ext>
            </a:extLst>
          </p:cNvPr>
          <p:cNvSpPr>
            <a:spLocks noGrp="1" noRot="1" noChangeAspect="1" noChangeArrowheads="1" noTextEdit="1"/>
          </p:cNvSpPr>
          <p:nvPr>
            <p:ph type="sldImg"/>
          </p:nvPr>
        </p:nvSpPr>
        <p:spPr>
          <a:xfrm>
            <a:off x="0" y="303213"/>
            <a:ext cx="1588" cy="1587"/>
          </a:xfrm>
          <a:ln/>
        </p:spPr>
      </p:sp>
      <p:sp>
        <p:nvSpPr>
          <p:cNvPr id="10243" name="Rectangle 3">
            <a:extLst>
              <a:ext uri="{FF2B5EF4-FFF2-40B4-BE49-F238E27FC236}">
                <a16:creationId xmlns:a16="http://schemas.microsoft.com/office/drawing/2014/main" id="{AD40EC15-A97C-E19F-6BFD-D8539DC0D6A0}"/>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90" name="Rectangle 1">
            <a:extLst>
              <a:ext uri="{FF2B5EF4-FFF2-40B4-BE49-F238E27FC236}">
                <a16:creationId xmlns:a16="http://schemas.microsoft.com/office/drawing/2014/main" id="{F5857405-B6D4-DB73-1ADC-18562DBCFDE1}"/>
              </a:ext>
            </a:extLst>
          </p:cNvPr>
          <p:cNvSpPr>
            <a:spLocks noGrp="1" noRot="1" noChangeAspect="1" noChangeArrowheads="1" noTextEdit="1"/>
          </p:cNvSpPr>
          <p:nvPr>
            <p:ph type="sldImg"/>
          </p:nvPr>
        </p:nvSpPr>
        <p:spPr>
          <a:xfrm>
            <a:off x="0" y="303213"/>
            <a:ext cx="1588" cy="1587"/>
          </a:xfrm>
          <a:ln/>
        </p:spPr>
      </p:sp>
      <p:sp>
        <p:nvSpPr>
          <p:cNvPr id="12291" name="Rectangle 2">
            <a:extLst>
              <a:ext uri="{FF2B5EF4-FFF2-40B4-BE49-F238E27FC236}">
                <a16:creationId xmlns:a16="http://schemas.microsoft.com/office/drawing/2014/main" id="{26EDEFB5-5E68-55CD-B959-B6727A793D53}"/>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08A73F2-7DF6-3445-9570-E57D0C458CE0}"/>
              </a:ext>
            </a:extLst>
          </p:cNvPr>
          <p:cNvSpPr>
            <a:spLocks noGrp="1" noRot="1" noChangeAspect="1" noChangeArrowheads="1" noTextEdit="1"/>
          </p:cNvSpPr>
          <p:nvPr>
            <p:ph type="sldImg"/>
          </p:nvPr>
        </p:nvSpPr>
        <p:spPr>
          <a:xfrm>
            <a:off x="0" y="303213"/>
            <a:ext cx="1588" cy="1587"/>
          </a:xfrm>
          <a:ln/>
        </p:spPr>
      </p:sp>
      <p:sp>
        <p:nvSpPr>
          <p:cNvPr id="46083" name="Rectangle 3">
            <a:extLst>
              <a:ext uri="{FF2B5EF4-FFF2-40B4-BE49-F238E27FC236}">
                <a16:creationId xmlns:a16="http://schemas.microsoft.com/office/drawing/2014/main" id="{5FBC53FF-82DE-5FF0-CE4B-C5D5216EFFDF}"/>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3507D7DF-F92B-0654-394F-B09B18133820}"/>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天津工业大学软件学院  </a:t>
            </a:r>
            <a:fld id="{D7BB6307-8820-4973-8855-259A4B66D5C7}" type="datetime1">
              <a:rPr lang="en-US" altLang="zh-CN" sz="1800" smtClean="0">
                <a:solidFill>
                  <a:schemeClr val="accent2"/>
                </a:solidFill>
                <a:latin typeface="Arial" panose="020B0604020202020204" pitchFamily="34" charset="0"/>
                <a:ea typeface="华文新魏" panose="02010800040101010101" pitchFamily="2" charset="-122"/>
              </a:rPr>
              <a:pPr eaLnBrk="1" hangingPunct="1">
                <a:spcBef>
                  <a:spcPct val="0"/>
                </a:spcBef>
                <a:spcAft>
                  <a:spcPct val="0"/>
                </a:spcAft>
                <a:buClrTx/>
                <a:buFontTx/>
                <a:buNone/>
                <a:defRPr/>
              </a:pPr>
              <a:t>9/8/2025</a:t>
            </a:fld>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3" name="Rectangle 9">
            <a:extLst>
              <a:ext uri="{FF2B5EF4-FFF2-40B4-BE49-F238E27FC236}">
                <a16:creationId xmlns:a16="http://schemas.microsoft.com/office/drawing/2014/main" id="{47BE5E50-3D6E-3397-0F08-554E72D84BD0}"/>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A1E8B861-C568-4CBE-8DEA-188E02457287}"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265218" name="Rectangle 2"/>
          <p:cNvSpPr>
            <a:spLocks noGrp="1" noChangeArrowheads="1"/>
          </p:cNvSpPr>
          <p:nvPr>
            <p:ph type="ctrTitle"/>
          </p:nvPr>
        </p:nvSpPr>
        <p:spPr>
          <a:xfrm>
            <a:off x="685800" y="2130425"/>
            <a:ext cx="7772400" cy="1470025"/>
          </a:xfrm>
        </p:spPr>
        <p:txBody>
          <a:bodyPr/>
          <a:lstStyle>
            <a:lvl1pPr>
              <a:lnSpc>
                <a:spcPct val="100000"/>
              </a:lnSpc>
              <a:buFont typeface="Times New Roman" panose="02020603050405020304" pitchFamily="18" charset="0"/>
              <a:buNone/>
              <a:defRPr sz="4400" b="0">
                <a:latin typeface="Times New Roman" panose="02020603050405020304" pitchFamily="18" charset="0"/>
              </a:defRPr>
            </a:lvl1pPr>
          </a:lstStyle>
          <a:p>
            <a:pPr lvl="0"/>
            <a:r>
              <a:rPr lang="zh-CN" altLang="en-US" noProof="0"/>
              <a:t>单击此处编辑母版标题样式</a:t>
            </a:r>
          </a:p>
        </p:txBody>
      </p:sp>
      <p:sp>
        <p:nvSpPr>
          <p:cNvPr id="265219" name="Rectangle 3"/>
          <p:cNvSpPr>
            <a:spLocks noGrp="1" noChangeArrowheads="1"/>
          </p:cNvSpPr>
          <p:nvPr>
            <p:ph type="subTitle" idx="1"/>
          </p:nvPr>
        </p:nvSpPr>
        <p:spPr>
          <a:xfrm>
            <a:off x="1371600" y="3886200"/>
            <a:ext cx="6400800" cy="1752600"/>
          </a:xfrm>
        </p:spPr>
        <p:txBody>
          <a:bodyPr/>
          <a:lstStyle>
            <a:lvl1pPr marL="342900" indent="-342900">
              <a:spcBef>
                <a:spcPct val="20000"/>
              </a:spcBef>
              <a:buFont typeface="Times New Roman" panose="02020603050405020304" pitchFamily="18" charset="0"/>
              <a:buBlip>
                <a:blip r:embed="rId2"/>
              </a:buBlip>
              <a:defRPr b="0">
                <a:latin typeface="Times New Roman" panose="02020603050405020304" pitchFamily="18" charset="0"/>
              </a:defRPr>
            </a:lvl1pPr>
          </a:lstStyle>
          <a:p>
            <a:pPr lvl="0"/>
            <a:r>
              <a:rPr lang="zh-CN" altLang="en-US" noProof="0" dirty="0"/>
              <a:t>单击此处编辑母版副标题样式</a:t>
            </a:r>
          </a:p>
        </p:txBody>
      </p:sp>
    </p:spTree>
    <p:extLst>
      <p:ext uri="{BB962C8B-B14F-4D97-AF65-F5344CB8AC3E}">
        <p14:creationId xmlns:p14="http://schemas.microsoft.com/office/powerpoint/2010/main" val="3028237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Rectangle 8">
            <a:extLst>
              <a:ext uri="{FF2B5EF4-FFF2-40B4-BE49-F238E27FC236}">
                <a16:creationId xmlns:a16="http://schemas.microsoft.com/office/drawing/2014/main" id="{6BE2C813-C4F9-4285-B123-B638D8171783}"/>
              </a:ext>
            </a:extLst>
          </p:cNvPr>
          <p:cNvSpPr>
            <a:spLocks noChangeArrowheads="1"/>
          </p:cNvSpPr>
          <p:nvPr userDrawn="1"/>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天津工业大学软件学院  </a:t>
            </a:r>
            <a:fld id="{D7BB6307-8820-4973-8855-259A4B66D5C7}" type="datetime1">
              <a:rPr lang="en-US" altLang="zh-CN" sz="1800" smtClean="0">
                <a:solidFill>
                  <a:schemeClr val="accent2"/>
                </a:solidFill>
                <a:latin typeface="Arial" panose="020B0604020202020204" pitchFamily="34" charset="0"/>
                <a:ea typeface="华文新魏" panose="02010800040101010101" pitchFamily="2" charset="-122"/>
              </a:rPr>
              <a:pPr eaLnBrk="1" hangingPunct="1">
                <a:spcBef>
                  <a:spcPct val="0"/>
                </a:spcBef>
                <a:spcAft>
                  <a:spcPct val="0"/>
                </a:spcAft>
                <a:buClrTx/>
                <a:buFontTx/>
                <a:buNone/>
                <a:defRPr/>
              </a:pPr>
              <a:t>9/8/2025</a:t>
            </a:fld>
            <a:endParaRPr lang="en-US" altLang="zh-CN" sz="1800" dirty="0">
              <a:solidFill>
                <a:schemeClr val="accent2"/>
              </a:solidFill>
              <a:latin typeface="Arial" panose="020B0604020202020204" pitchFamily="34" charset="0"/>
              <a:ea typeface="华文新魏" panose="02010800040101010101" pitchFamily="2" charset="-122"/>
            </a:endParaRPr>
          </a:p>
        </p:txBody>
      </p:sp>
    </p:spTree>
    <p:extLst>
      <p:ext uri="{BB962C8B-B14F-4D97-AF65-F5344CB8AC3E}">
        <p14:creationId xmlns:p14="http://schemas.microsoft.com/office/powerpoint/2010/main" val="1406122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a:extLst>
              <a:ext uri="{FF2B5EF4-FFF2-40B4-BE49-F238E27FC236}">
                <a16:creationId xmlns:a16="http://schemas.microsoft.com/office/drawing/2014/main" id="{66C2A7EC-EEEB-4D18-9998-161EB27FD0DE}"/>
              </a:ext>
            </a:extLst>
          </p:cNvPr>
          <p:cNvSpPr>
            <a:spLocks noChangeArrowheads="1"/>
          </p:cNvSpPr>
          <p:nvPr userDrawn="1"/>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天津工业大学软件学院  </a:t>
            </a:r>
            <a:fld id="{D7BB6307-8820-4973-8855-259A4B66D5C7}" type="datetime1">
              <a:rPr lang="en-US" altLang="zh-CN" sz="1800" smtClean="0">
                <a:solidFill>
                  <a:schemeClr val="accent2"/>
                </a:solidFill>
                <a:latin typeface="Arial" panose="020B0604020202020204" pitchFamily="34" charset="0"/>
                <a:ea typeface="华文新魏" panose="02010800040101010101" pitchFamily="2" charset="-122"/>
              </a:rPr>
              <a:pPr eaLnBrk="1" hangingPunct="1">
                <a:spcBef>
                  <a:spcPct val="0"/>
                </a:spcBef>
                <a:spcAft>
                  <a:spcPct val="0"/>
                </a:spcAft>
                <a:buClrTx/>
                <a:buFontTx/>
                <a:buNone/>
                <a:defRPr/>
              </a:pPr>
              <a:t>9/8/2025</a:t>
            </a:fld>
            <a:endParaRPr lang="en-US" altLang="zh-CN" sz="1800" dirty="0">
              <a:solidFill>
                <a:schemeClr val="accent2"/>
              </a:solidFill>
              <a:latin typeface="Arial" panose="020B0604020202020204" pitchFamily="34" charset="0"/>
              <a:ea typeface="华文新魏" panose="02010800040101010101" pitchFamily="2" charset="-122"/>
            </a:endParaRPr>
          </a:p>
        </p:txBody>
      </p:sp>
    </p:spTree>
    <p:extLst>
      <p:ext uri="{BB962C8B-B14F-4D97-AF65-F5344CB8AC3E}">
        <p14:creationId xmlns:p14="http://schemas.microsoft.com/office/powerpoint/2010/main" val="3951082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632550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73544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15892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82610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848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328408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809214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34478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81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381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15460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476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a:extLst>
              <a:ext uri="{FF2B5EF4-FFF2-40B4-BE49-F238E27FC236}">
                <a16:creationId xmlns:a16="http://schemas.microsoft.com/office/drawing/2014/main" id="{5F424ADD-51E9-43F0-A6BD-A80E7DD7679D}"/>
              </a:ext>
            </a:extLst>
          </p:cNvPr>
          <p:cNvSpPr>
            <a:spLocks noChangeArrowheads="1"/>
          </p:cNvSpPr>
          <p:nvPr userDrawn="1"/>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天津工业大学软件学院  </a:t>
            </a:r>
            <a:fld id="{D7BB6307-8820-4973-8855-259A4B66D5C7}" type="datetime1">
              <a:rPr lang="en-US" altLang="zh-CN" sz="1800" smtClean="0">
                <a:solidFill>
                  <a:schemeClr val="accent2"/>
                </a:solidFill>
                <a:latin typeface="Arial" panose="020B0604020202020204" pitchFamily="34" charset="0"/>
                <a:ea typeface="华文新魏" panose="02010800040101010101" pitchFamily="2" charset="-122"/>
              </a:rPr>
              <a:pPr eaLnBrk="1" hangingPunct="1">
                <a:spcBef>
                  <a:spcPct val="0"/>
                </a:spcBef>
                <a:spcAft>
                  <a:spcPct val="0"/>
                </a:spcAft>
                <a:buClrTx/>
                <a:buFontTx/>
                <a:buNone/>
                <a:defRPr/>
              </a:pPr>
              <a:t>9/8/2025</a:t>
            </a:fld>
            <a:endParaRPr lang="en-US" altLang="zh-CN" sz="1800" dirty="0">
              <a:solidFill>
                <a:schemeClr val="accent2"/>
              </a:solidFill>
              <a:latin typeface="Arial" panose="020B0604020202020204" pitchFamily="34" charset="0"/>
              <a:ea typeface="华文新魏" panose="02010800040101010101" pitchFamily="2" charset="-122"/>
            </a:endParaRPr>
          </a:p>
        </p:txBody>
      </p:sp>
    </p:spTree>
    <p:extLst>
      <p:ext uri="{BB962C8B-B14F-4D97-AF65-F5344CB8AC3E}">
        <p14:creationId xmlns:p14="http://schemas.microsoft.com/office/powerpoint/2010/main" val="4220433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7E8FE5B8-35AE-ED60-94BC-3B5C4BEDC6B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DE72B16-9C1E-E70A-72D3-F21FCCC8FFD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3E06A55-0522-30E9-6C77-0A7C8B7B81C0}"/>
              </a:ext>
            </a:extLst>
          </p:cNvPr>
          <p:cNvSpPr>
            <a:spLocks noGrp="1" noChangeArrowheads="1"/>
          </p:cNvSpPr>
          <p:nvPr>
            <p:ph type="sldNum" sz="quarter" idx="12"/>
          </p:nvPr>
        </p:nvSpPr>
        <p:spPr>
          <a:ln/>
        </p:spPr>
        <p:txBody>
          <a:bodyPr/>
          <a:lstStyle>
            <a:lvl1pPr>
              <a:defRPr/>
            </a:lvl1pPr>
          </a:lstStyle>
          <a:p>
            <a:pPr>
              <a:defRPr/>
            </a:pPr>
            <a:fld id="{CA1AA62C-2ADD-40DC-B183-DD78C181D3B8}" type="slidenum">
              <a:rPr lang="zh-CN" altLang="en-US"/>
              <a:pPr>
                <a:defRPr/>
              </a:pPr>
              <a:t>‹#›</a:t>
            </a:fld>
            <a:endParaRPr lang="en-US" altLang="zh-CN"/>
          </a:p>
        </p:txBody>
      </p:sp>
    </p:spTree>
    <p:extLst>
      <p:ext uri="{BB962C8B-B14F-4D97-AF65-F5344CB8AC3E}">
        <p14:creationId xmlns:p14="http://schemas.microsoft.com/office/powerpoint/2010/main" val="23420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5ABA0D5-7B90-9741-0DA1-2B77C72325B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9EC199E-F471-72F8-FD19-37786DC9BEC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91E4E94-EACA-6A82-2FA7-FE8FCB82DE95}"/>
              </a:ext>
            </a:extLst>
          </p:cNvPr>
          <p:cNvSpPr>
            <a:spLocks noGrp="1" noChangeArrowheads="1"/>
          </p:cNvSpPr>
          <p:nvPr>
            <p:ph type="sldNum" sz="quarter" idx="12"/>
          </p:nvPr>
        </p:nvSpPr>
        <p:spPr>
          <a:ln/>
        </p:spPr>
        <p:txBody>
          <a:bodyPr/>
          <a:lstStyle>
            <a:lvl1pPr>
              <a:defRPr/>
            </a:lvl1pPr>
          </a:lstStyle>
          <a:p>
            <a:pPr>
              <a:defRPr/>
            </a:pPr>
            <a:fld id="{C4AA5A03-3D2E-458D-8B60-FF50FCAD0602}" type="slidenum">
              <a:rPr lang="zh-CN" altLang="en-US"/>
              <a:pPr>
                <a:defRPr/>
              </a:pPr>
              <a:t>‹#›</a:t>
            </a:fld>
            <a:endParaRPr lang="en-US" altLang="zh-CN"/>
          </a:p>
        </p:txBody>
      </p:sp>
    </p:spTree>
    <p:extLst>
      <p:ext uri="{BB962C8B-B14F-4D97-AF65-F5344CB8AC3E}">
        <p14:creationId xmlns:p14="http://schemas.microsoft.com/office/powerpoint/2010/main" val="2875656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AF92F477-E0FC-3AEC-2B44-E4FFB65C509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9D9EBEE-FE36-A88B-12E2-0CBF31E4023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19B8A64-B3D2-EA7F-D3AC-A08C61927857}"/>
              </a:ext>
            </a:extLst>
          </p:cNvPr>
          <p:cNvSpPr>
            <a:spLocks noGrp="1" noChangeArrowheads="1"/>
          </p:cNvSpPr>
          <p:nvPr>
            <p:ph type="sldNum" sz="quarter" idx="12"/>
          </p:nvPr>
        </p:nvSpPr>
        <p:spPr>
          <a:ln/>
        </p:spPr>
        <p:txBody>
          <a:bodyPr/>
          <a:lstStyle>
            <a:lvl1pPr>
              <a:defRPr/>
            </a:lvl1pPr>
          </a:lstStyle>
          <a:p>
            <a:pPr>
              <a:defRPr/>
            </a:pPr>
            <a:fld id="{A825C6F8-D9AF-4792-B9D1-0AAE3CB86420}" type="slidenum">
              <a:rPr lang="zh-CN" altLang="en-US"/>
              <a:pPr>
                <a:defRPr/>
              </a:pPr>
              <a:t>‹#›</a:t>
            </a:fld>
            <a:endParaRPr lang="en-US" altLang="zh-CN"/>
          </a:p>
        </p:txBody>
      </p:sp>
    </p:spTree>
    <p:extLst>
      <p:ext uri="{BB962C8B-B14F-4D97-AF65-F5344CB8AC3E}">
        <p14:creationId xmlns:p14="http://schemas.microsoft.com/office/powerpoint/2010/main" val="7014965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064EC8F-7B97-686A-38BC-405A0E6E431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6759B99-59CB-AE3E-CF2C-6506C645C8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0B6F5FE-E3F5-B89B-9338-96C03264F30D}"/>
              </a:ext>
            </a:extLst>
          </p:cNvPr>
          <p:cNvSpPr>
            <a:spLocks noGrp="1" noChangeArrowheads="1"/>
          </p:cNvSpPr>
          <p:nvPr>
            <p:ph type="sldNum" sz="quarter" idx="12"/>
          </p:nvPr>
        </p:nvSpPr>
        <p:spPr>
          <a:ln/>
        </p:spPr>
        <p:txBody>
          <a:bodyPr/>
          <a:lstStyle>
            <a:lvl1pPr>
              <a:defRPr/>
            </a:lvl1pPr>
          </a:lstStyle>
          <a:p>
            <a:pPr>
              <a:defRPr/>
            </a:pPr>
            <a:fld id="{0D928B97-16EC-4FC0-8D6D-B4F62DCD7D95}" type="slidenum">
              <a:rPr lang="zh-CN" altLang="en-US"/>
              <a:pPr>
                <a:defRPr/>
              </a:pPr>
              <a:t>‹#›</a:t>
            </a:fld>
            <a:endParaRPr lang="en-US" altLang="zh-CN"/>
          </a:p>
        </p:txBody>
      </p:sp>
    </p:spTree>
    <p:extLst>
      <p:ext uri="{BB962C8B-B14F-4D97-AF65-F5344CB8AC3E}">
        <p14:creationId xmlns:p14="http://schemas.microsoft.com/office/powerpoint/2010/main" val="3599611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0E7A5A8-C8EC-0046-166A-C9E3EA323A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61D9BE5-2879-76AD-9262-92BC3BD991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E073860D-A3AE-F9EF-C3CA-202A63BDF597}"/>
              </a:ext>
            </a:extLst>
          </p:cNvPr>
          <p:cNvSpPr>
            <a:spLocks noGrp="1" noChangeArrowheads="1"/>
          </p:cNvSpPr>
          <p:nvPr>
            <p:ph type="sldNum" sz="quarter" idx="12"/>
          </p:nvPr>
        </p:nvSpPr>
        <p:spPr>
          <a:ln/>
        </p:spPr>
        <p:txBody>
          <a:bodyPr/>
          <a:lstStyle>
            <a:lvl1pPr>
              <a:defRPr/>
            </a:lvl1pPr>
          </a:lstStyle>
          <a:p>
            <a:pPr>
              <a:defRPr/>
            </a:pPr>
            <a:fld id="{296D9E3F-800B-48E1-BDDB-DF9ACB23BBCE}" type="slidenum">
              <a:rPr lang="zh-CN" altLang="en-US"/>
              <a:pPr>
                <a:defRPr/>
              </a:pPr>
              <a:t>‹#›</a:t>
            </a:fld>
            <a:endParaRPr lang="en-US" altLang="zh-CN"/>
          </a:p>
        </p:txBody>
      </p:sp>
    </p:spTree>
    <p:extLst>
      <p:ext uri="{BB962C8B-B14F-4D97-AF65-F5344CB8AC3E}">
        <p14:creationId xmlns:p14="http://schemas.microsoft.com/office/powerpoint/2010/main" val="31862251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AABAEF8-C43F-51BD-B955-683E7371F7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1AA8A7D5-221D-5D63-73DC-DB8B966BC9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055CB6D-2CB8-E0BD-1069-ED93D6355B50}"/>
              </a:ext>
            </a:extLst>
          </p:cNvPr>
          <p:cNvSpPr>
            <a:spLocks noGrp="1" noChangeArrowheads="1"/>
          </p:cNvSpPr>
          <p:nvPr>
            <p:ph type="sldNum" sz="quarter" idx="12"/>
          </p:nvPr>
        </p:nvSpPr>
        <p:spPr>
          <a:ln/>
        </p:spPr>
        <p:txBody>
          <a:bodyPr/>
          <a:lstStyle>
            <a:lvl1pPr>
              <a:defRPr/>
            </a:lvl1pPr>
          </a:lstStyle>
          <a:p>
            <a:pPr>
              <a:defRPr/>
            </a:pPr>
            <a:fld id="{8ED84BC8-7A54-42EC-A6A4-9C0EFD0A48E4}" type="slidenum">
              <a:rPr lang="zh-CN" altLang="en-US"/>
              <a:pPr>
                <a:defRPr/>
              </a:pPr>
              <a:t>‹#›</a:t>
            </a:fld>
            <a:endParaRPr lang="en-US" altLang="zh-CN"/>
          </a:p>
        </p:txBody>
      </p:sp>
    </p:spTree>
    <p:extLst>
      <p:ext uri="{BB962C8B-B14F-4D97-AF65-F5344CB8AC3E}">
        <p14:creationId xmlns:p14="http://schemas.microsoft.com/office/powerpoint/2010/main" val="40432835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4BF6261-FFFB-C9A7-E435-C5D2C2D8F4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10837FD1-2852-7349-EFCC-AD55868D935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594ED06-BD04-EA1B-50E4-01BCCE5E841D}"/>
              </a:ext>
            </a:extLst>
          </p:cNvPr>
          <p:cNvSpPr>
            <a:spLocks noGrp="1" noChangeArrowheads="1"/>
          </p:cNvSpPr>
          <p:nvPr>
            <p:ph type="sldNum" sz="quarter" idx="12"/>
          </p:nvPr>
        </p:nvSpPr>
        <p:spPr>
          <a:ln/>
        </p:spPr>
        <p:txBody>
          <a:bodyPr/>
          <a:lstStyle>
            <a:lvl1pPr>
              <a:defRPr/>
            </a:lvl1pPr>
          </a:lstStyle>
          <a:p>
            <a:pPr>
              <a:defRPr/>
            </a:pPr>
            <a:fld id="{65DC8F6C-D56A-48F2-9B48-A59233BF6819}" type="slidenum">
              <a:rPr lang="zh-CN" altLang="en-US"/>
              <a:pPr>
                <a:defRPr/>
              </a:pPr>
              <a:t>‹#›</a:t>
            </a:fld>
            <a:endParaRPr lang="en-US" altLang="zh-CN"/>
          </a:p>
        </p:txBody>
      </p:sp>
    </p:spTree>
    <p:extLst>
      <p:ext uri="{BB962C8B-B14F-4D97-AF65-F5344CB8AC3E}">
        <p14:creationId xmlns:p14="http://schemas.microsoft.com/office/powerpoint/2010/main" val="252371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9C7E45ED-7124-858D-B010-460969C971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F8B0402-E821-78E4-4FDE-19A49450096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622DC66-FA77-685A-E896-5DB138FB6295}"/>
              </a:ext>
            </a:extLst>
          </p:cNvPr>
          <p:cNvSpPr>
            <a:spLocks noGrp="1" noChangeArrowheads="1"/>
          </p:cNvSpPr>
          <p:nvPr>
            <p:ph type="sldNum" sz="quarter" idx="12"/>
          </p:nvPr>
        </p:nvSpPr>
        <p:spPr>
          <a:ln/>
        </p:spPr>
        <p:txBody>
          <a:bodyPr/>
          <a:lstStyle>
            <a:lvl1pPr>
              <a:defRPr/>
            </a:lvl1pPr>
          </a:lstStyle>
          <a:p>
            <a:pPr>
              <a:defRPr/>
            </a:pPr>
            <a:fld id="{2BF4E87C-A495-4BD9-9BAA-6F030574A2D8}" type="slidenum">
              <a:rPr lang="zh-CN" altLang="en-US"/>
              <a:pPr>
                <a:defRPr/>
              </a:pPr>
              <a:t>‹#›</a:t>
            </a:fld>
            <a:endParaRPr lang="en-US" altLang="zh-CN"/>
          </a:p>
        </p:txBody>
      </p:sp>
    </p:spTree>
    <p:extLst>
      <p:ext uri="{BB962C8B-B14F-4D97-AF65-F5344CB8AC3E}">
        <p14:creationId xmlns:p14="http://schemas.microsoft.com/office/powerpoint/2010/main" val="38361708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3875BD7-7E21-EBE6-ACFC-0CE26747466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09B932D-A6CC-A6B1-D7F6-7C194020B4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182FA25-C4B6-779D-7DE1-B7AC06B2FF59}"/>
              </a:ext>
            </a:extLst>
          </p:cNvPr>
          <p:cNvSpPr>
            <a:spLocks noGrp="1" noChangeArrowheads="1"/>
          </p:cNvSpPr>
          <p:nvPr>
            <p:ph type="sldNum" sz="quarter" idx="12"/>
          </p:nvPr>
        </p:nvSpPr>
        <p:spPr>
          <a:ln/>
        </p:spPr>
        <p:txBody>
          <a:bodyPr/>
          <a:lstStyle>
            <a:lvl1pPr>
              <a:defRPr/>
            </a:lvl1pPr>
          </a:lstStyle>
          <a:p>
            <a:pPr>
              <a:defRPr/>
            </a:pPr>
            <a:fld id="{DFA8BA8D-4721-4115-AD98-272B190E3DE0}" type="slidenum">
              <a:rPr lang="zh-CN" altLang="en-US"/>
              <a:pPr>
                <a:defRPr/>
              </a:pPr>
              <a:t>‹#›</a:t>
            </a:fld>
            <a:endParaRPr lang="en-US" altLang="zh-CN"/>
          </a:p>
        </p:txBody>
      </p:sp>
    </p:spTree>
    <p:extLst>
      <p:ext uri="{BB962C8B-B14F-4D97-AF65-F5344CB8AC3E}">
        <p14:creationId xmlns:p14="http://schemas.microsoft.com/office/powerpoint/2010/main" val="1028972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C83D522-28EA-5514-A210-4E241EE6AAB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86179F4-1857-916A-CD55-32BED29622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C3250AF-8C86-4DE2-FD3A-8696DB5F9E36}"/>
              </a:ext>
            </a:extLst>
          </p:cNvPr>
          <p:cNvSpPr>
            <a:spLocks noGrp="1" noChangeArrowheads="1"/>
          </p:cNvSpPr>
          <p:nvPr>
            <p:ph type="sldNum" sz="quarter" idx="12"/>
          </p:nvPr>
        </p:nvSpPr>
        <p:spPr>
          <a:ln/>
        </p:spPr>
        <p:txBody>
          <a:bodyPr/>
          <a:lstStyle>
            <a:lvl1pPr>
              <a:defRPr/>
            </a:lvl1pPr>
          </a:lstStyle>
          <a:p>
            <a:pPr>
              <a:defRPr/>
            </a:pPr>
            <a:fld id="{20BD5216-405B-4A4D-8F56-F4441C74058F}" type="slidenum">
              <a:rPr lang="zh-CN" altLang="en-US"/>
              <a:pPr>
                <a:defRPr/>
              </a:pPr>
              <a:t>‹#›</a:t>
            </a:fld>
            <a:endParaRPr lang="en-US" altLang="zh-CN"/>
          </a:p>
        </p:txBody>
      </p:sp>
    </p:spTree>
    <p:extLst>
      <p:ext uri="{BB962C8B-B14F-4D97-AF65-F5344CB8AC3E}">
        <p14:creationId xmlns:p14="http://schemas.microsoft.com/office/powerpoint/2010/main" val="12556861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4C67840-1087-3608-2075-DAAC58B809A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162010B-76CD-3B60-3A0E-117146CDBB9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9C216E-29A2-CBDD-3514-2B17EA0D9D01}"/>
              </a:ext>
            </a:extLst>
          </p:cNvPr>
          <p:cNvSpPr>
            <a:spLocks noGrp="1" noChangeArrowheads="1"/>
          </p:cNvSpPr>
          <p:nvPr>
            <p:ph type="sldNum" sz="quarter" idx="12"/>
          </p:nvPr>
        </p:nvSpPr>
        <p:spPr>
          <a:ln/>
        </p:spPr>
        <p:txBody>
          <a:bodyPr/>
          <a:lstStyle>
            <a:lvl1pPr>
              <a:defRPr/>
            </a:lvl1pPr>
          </a:lstStyle>
          <a:p>
            <a:pPr>
              <a:defRPr/>
            </a:pPr>
            <a:fld id="{5926BB1E-A142-4238-A7C7-28BB34BEB2C0}" type="slidenum">
              <a:rPr lang="zh-CN" altLang="en-US"/>
              <a:pPr>
                <a:defRPr/>
              </a:pPr>
              <a:t>‹#›</a:t>
            </a:fld>
            <a:endParaRPr lang="en-US" altLang="zh-CN"/>
          </a:p>
        </p:txBody>
      </p:sp>
    </p:spTree>
    <p:extLst>
      <p:ext uri="{BB962C8B-B14F-4D97-AF65-F5344CB8AC3E}">
        <p14:creationId xmlns:p14="http://schemas.microsoft.com/office/powerpoint/2010/main" val="219646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48D273-8CD8-688E-1AD5-07C10E96A8E0}"/>
              </a:ext>
            </a:extLst>
          </p:cNvPr>
          <p:cNvSpPr>
            <a:spLocks noGrp="1" noChangeArrowheads="1"/>
          </p:cNvSpPr>
          <p:nvPr>
            <p:ph type="title"/>
          </p:nvPr>
        </p:nvSpPr>
        <p:spPr bwMode="auto">
          <a:xfrm>
            <a:off x="0" y="0"/>
            <a:ext cx="9144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zh-CN" altLang="en-GB"/>
              <a:t>请您按击鼠标，编辑标题文的格式。</a:t>
            </a:r>
          </a:p>
        </p:txBody>
      </p:sp>
      <p:sp>
        <p:nvSpPr>
          <p:cNvPr id="1027" name="Rectangle 3">
            <a:extLst>
              <a:ext uri="{FF2B5EF4-FFF2-40B4-BE49-F238E27FC236}">
                <a16:creationId xmlns:a16="http://schemas.microsoft.com/office/drawing/2014/main" id="{962C6251-011C-6ACE-2CAF-5756EF9D94A4}"/>
              </a:ext>
            </a:extLst>
          </p:cNvPr>
          <p:cNvSpPr>
            <a:spLocks noGrp="1" noChangeArrowheads="1"/>
          </p:cNvSpPr>
          <p:nvPr>
            <p:ph type="body" idx="1"/>
          </p:nvPr>
        </p:nvSpPr>
        <p:spPr bwMode="auto">
          <a:xfrm>
            <a:off x="457200" y="620713"/>
            <a:ext cx="8208963" cy="576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CN" altLang="en-GB"/>
              <a:t>请您按击鼠标，编辑大纲正文格式。</a:t>
            </a:r>
          </a:p>
          <a:p>
            <a:pPr lvl="1"/>
            <a:r>
              <a:rPr lang="zh-CN" altLang="en-GB"/>
              <a:t>第二个大纲级</a:t>
            </a:r>
          </a:p>
          <a:p>
            <a:pPr lvl="2"/>
            <a:r>
              <a:rPr lang="zh-CN" altLang="en-GB"/>
              <a:t>第三个大纲级</a:t>
            </a:r>
          </a:p>
          <a:p>
            <a:pPr lvl="3"/>
            <a:r>
              <a:rPr lang="zh-CN" altLang="en-GB"/>
              <a:t>第四个大纲级</a:t>
            </a:r>
          </a:p>
        </p:txBody>
      </p:sp>
      <p:sp>
        <p:nvSpPr>
          <p:cNvPr id="1028" name="Rectangle 5">
            <a:extLst>
              <a:ext uri="{FF2B5EF4-FFF2-40B4-BE49-F238E27FC236}">
                <a16:creationId xmlns:a16="http://schemas.microsoft.com/office/drawing/2014/main" id="{91D29FCB-1F0D-2D1E-5444-D3712B30B3A0}"/>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r>
              <a:rPr lang="en-US" altLang="zh-CN" sz="1800" dirty="0">
                <a:solidFill>
                  <a:schemeClr val="accent2"/>
                </a:solidFill>
                <a:latin typeface="Arial" panose="020B0604020202020204" pitchFamily="34" charset="0"/>
                <a:ea typeface="华文新魏" panose="02010800040101010101" pitchFamily="2" charset="-122"/>
              </a:rPr>
              <a:t>2022</a:t>
            </a:r>
            <a:r>
              <a:rPr lang="zh-CN" altLang="en-US" sz="1800" dirty="0">
                <a:solidFill>
                  <a:schemeClr val="accent2"/>
                </a:solidFill>
                <a:latin typeface="Arial" panose="020B0604020202020204" pitchFamily="34" charset="0"/>
                <a:ea typeface="华文新魏" panose="02010800040101010101" pitchFamily="2" charset="-122"/>
              </a:rPr>
              <a:t>年</a:t>
            </a:r>
            <a:r>
              <a:rPr lang="en-US" altLang="zh-CN" sz="1800" dirty="0">
                <a:solidFill>
                  <a:schemeClr val="accent2"/>
                </a:solidFill>
                <a:latin typeface="Arial" panose="020B0604020202020204" pitchFamily="34" charset="0"/>
                <a:ea typeface="华文新魏" panose="02010800040101010101" pitchFamily="2" charset="-122"/>
              </a:rPr>
              <a:t>9</a:t>
            </a:r>
            <a:r>
              <a:rPr lang="zh-CN" altLang="en-US" sz="1800" dirty="0">
                <a:solidFill>
                  <a:schemeClr val="accent2"/>
                </a:solidFill>
                <a:latin typeface="Arial" panose="020B0604020202020204" pitchFamily="34" charset="0"/>
                <a:ea typeface="华文新魏" panose="02010800040101010101" pitchFamily="2" charset="-122"/>
              </a:rPr>
              <a:t>月</a:t>
            </a:r>
            <a:r>
              <a:rPr lang="en-US" altLang="zh-CN" sz="1800" dirty="0">
                <a:solidFill>
                  <a:schemeClr val="accent2"/>
                </a:solidFill>
                <a:latin typeface="Arial" panose="020B0604020202020204" pitchFamily="34" charset="0"/>
                <a:ea typeface="华文新魏" panose="02010800040101010101" pitchFamily="2" charset="-122"/>
              </a:rPr>
              <a:t>22</a:t>
            </a:r>
            <a:r>
              <a:rPr lang="zh-CN" altLang="en-US" sz="1800" dirty="0">
                <a:solidFill>
                  <a:schemeClr val="accent2"/>
                </a:solidFill>
                <a:latin typeface="Arial" panose="020B0604020202020204" pitchFamily="34" charset="0"/>
                <a:ea typeface="华文新魏" panose="02010800040101010101" pitchFamily="2" charset="-122"/>
              </a:rPr>
              <a:t>日</a:t>
            </a:r>
            <a:r>
              <a:rPr lang="en-US" altLang="zh-CN" sz="1800" dirty="0">
                <a:solidFill>
                  <a:schemeClr val="accent2"/>
                </a:solidFill>
                <a:latin typeface="Arial" panose="020B0604020202020204" pitchFamily="34" charset="0"/>
                <a:ea typeface="华文新魏" panose="02010800040101010101" pitchFamily="2" charset="-122"/>
              </a:rPr>
              <a:t>6</a:t>
            </a:r>
            <a:r>
              <a:rPr lang="zh-CN" altLang="en-US" sz="1800" dirty="0">
                <a:solidFill>
                  <a:schemeClr val="accent2"/>
                </a:solidFill>
                <a:latin typeface="Arial" panose="020B0604020202020204" pitchFamily="34" charset="0"/>
                <a:ea typeface="华文新魏" panose="02010800040101010101" pitchFamily="2" charset="-122"/>
              </a:rPr>
              <a:t>时</a:t>
            </a:r>
            <a:r>
              <a:rPr lang="en-US" altLang="zh-CN" sz="1800" dirty="0">
                <a:solidFill>
                  <a:schemeClr val="accent2"/>
                </a:solidFill>
                <a:latin typeface="Arial" panose="020B0604020202020204" pitchFamily="34" charset="0"/>
                <a:ea typeface="华文新魏" panose="02010800040101010101" pitchFamily="2" charset="-122"/>
              </a:rPr>
              <a:t>49</a:t>
            </a:r>
            <a:r>
              <a:rPr lang="zh-CN" altLang="en-US" sz="1800" dirty="0">
                <a:solidFill>
                  <a:schemeClr val="accent2"/>
                </a:solidFill>
                <a:latin typeface="Arial" panose="020B0604020202020204" pitchFamily="34" charset="0"/>
                <a:ea typeface="华文新魏" panose="02010800040101010101" pitchFamily="2" charset="-122"/>
              </a:rPr>
              <a:t>分</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1029" name="Rectangle 6">
            <a:extLst>
              <a:ext uri="{FF2B5EF4-FFF2-40B4-BE49-F238E27FC236}">
                <a16:creationId xmlns:a16="http://schemas.microsoft.com/office/drawing/2014/main" id="{A8460EA2-17CB-ED8A-FE30-65DE2B007D9E}"/>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C35E5057-2F2B-4AEF-B580-82A2ADBCEACA}"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1030" name="Line 7">
            <a:extLst>
              <a:ext uri="{FF2B5EF4-FFF2-40B4-BE49-F238E27FC236}">
                <a16:creationId xmlns:a16="http://schemas.microsoft.com/office/drawing/2014/main" id="{C374613B-B4FE-BD4A-212F-3031D2F1DD81}"/>
              </a:ext>
            </a:extLst>
          </p:cNvPr>
          <p:cNvSpPr>
            <a:spLocks noChangeShapeType="1"/>
          </p:cNvSpPr>
          <p:nvPr/>
        </p:nvSpPr>
        <p:spPr bwMode="auto">
          <a:xfrm>
            <a:off x="0" y="549275"/>
            <a:ext cx="914400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023"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 id="2147484011" r:id="rId13"/>
  </p:sldLayoutIdLst>
  <p:txStyles>
    <p:titleStyle>
      <a:lvl1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kern="1200">
          <a:solidFill>
            <a:srgbClr val="000000"/>
          </a:solidFill>
          <a:latin typeface="+mj-lt"/>
          <a:ea typeface="+mj-ea"/>
          <a:cs typeface="+mj-cs"/>
        </a:defRPr>
      </a:lvl1pPr>
      <a:lvl2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2pPr>
      <a:lvl3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3pPr>
      <a:lvl4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4pPr>
      <a:lvl5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5pPr>
      <a:lvl6pPr marL="4572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6pPr>
      <a:lvl7pPr marL="9144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7pPr>
      <a:lvl8pPr marL="13716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8pPr>
      <a:lvl9pPr marL="18288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9pPr>
    </p:titleStyle>
    <p:bodyStyle>
      <a:lvl1pPr marL="450850" indent="-450850" algn="l" defTabSz="449263" rtl="0" eaLnBrk="0" fontAlgn="base" hangingPunct="0">
        <a:spcBef>
          <a:spcPts val="800"/>
        </a:spcBef>
        <a:spcAft>
          <a:spcPts val="800"/>
        </a:spcAft>
        <a:buClr>
          <a:srgbClr val="000000"/>
        </a:buClr>
        <a:buFont typeface="Arial" panose="020B0604020202020204" pitchFamily="34" charset="0"/>
        <a:buBlip>
          <a:blip r:embed="rId16"/>
        </a:buBlip>
        <a:defRPr sz="2800" b="1" kern="1200">
          <a:solidFill>
            <a:srgbClr val="000000"/>
          </a:solidFill>
          <a:latin typeface="+mn-lt"/>
          <a:ea typeface="+mn-ea"/>
          <a:cs typeface="+mn-cs"/>
        </a:defRPr>
      </a:lvl1pPr>
      <a:lvl2pPr marL="987425" indent="-357188" algn="l" defTabSz="449263" rtl="0" eaLnBrk="0" fontAlgn="base" hangingPunct="0">
        <a:spcBef>
          <a:spcPts val="800"/>
        </a:spcBef>
        <a:spcAft>
          <a:spcPts val="800"/>
        </a:spcAft>
        <a:buClr>
          <a:srgbClr val="000000"/>
        </a:buClr>
        <a:buFont typeface="Arial" panose="020B0604020202020204" pitchFamily="34" charset="0"/>
        <a:buBlip>
          <a:blip r:embed="rId17"/>
        </a:buBlip>
        <a:defRPr sz="2400" b="1" kern="1200">
          <a:solidFill>
            <a:srgbClr val="000000"/>
          </a:solidFill>
          <a:latin typeface="+mn-lt"/>
          <a:ea typeface="+mn-ea"/>
          <a:cs typeface="+mn-cs"/>
        </a:defRPr>
      </a:lvl2pPr>
      <a:lvl3pPr marL="1609725" indent="-357188" algn="l" defTabSz="449263" rtl="0" eaLnBrk="0" fontAlgn="base" hangingPunct="0">
        <a:spcBef>
          <a:spcPts val="800"/>
        </a:spcBef>
        <a:spcAft>
          <a:spcPts val="800"/>
        </a:spcAft>
        <a:buClr>
          <a:srgbClr val="000000"/>
        </a:buClr>
        <a:buSzPct val="125000"/>
        <a:buFont typeface="Arial" panose="020B0604020202020204" pitchFamily="34" charset="0"/>
        <a:buBlip>
          <a:blip r:embed="rId18"/>
        </a:buBlip>
        <a:defRPr sz="2000" b="1" kern="1200">
          <a:solidFill>
            <a:srgbClr val="000000"/>
          </a:solidFill>
          <a:latin typeface="+mn-lt"/>
          <a:ea typeface="+mn-ea"/>
          <a:cs typeface="+mn-cs"/>
        </a:defRPr>
      </a:lvl3pPr>
      <a:lvl4pPr marL="2157413" indent="-368300" algn="l" defTabSz="449263" rtl="0" eaLnBrk="0" fontAlgn="base" hangingPunct="0">
        <a:spcBef>
          <a:spcPts val="800"/>
        </a:spcBef>
        <a:spcAft>
          <a:spcPts val="800"/>
        </a:spcAft>
        <a:buClr>
          <a:srgbClr val="000000"/>
        </a:buClr>
        <a:buSzPct val="100000"/>
        <a:buFont typeface="Arial" panose="020B0604020202020204" pitchFamily="34" charset="0"/>
        <a:buBlip>
          <a:blip r:embed="rId19"/>
        </a:buBlip>
        <a:defRPr sz="2000" b="1" kern="1200">
          <a:solidFill>
            <a:srgbClr val="000000"/>
          </a:solidFill>
          <a:latin typeface="Arial" panose="020B0604020202020204" pitchFamily="34" charset="0"/>
          <a:ea typeface="+mn-ea"/>
          <a:cs typeface="+mn-cs"/>
        </a:defRPr>
      </a:lvl4pPr>
      <a:lvl5pPr marL="2565400" indent="-228600" algn="l" defTabSz="449263" rtl="0" eaLnBrk="0" fontAlgn="base" hangingPunct="0">
        <a:spcBef>
          <a:spcPts val="338"/>
        </a:spcBef>
        <a:spcAft>
          <a:spcPct val="0"/>
        </a:spcAft>
        <a:buClr>
          <a:srgbClr val="000000"/>
        </a:buClr>
        <a:buSzPct val="100000"/>
        <a:buFont typeface="Arial" panose="020B0604020202020204" pitchFamily="34" charset="0"/>
        <a:buChar char="»"/>
        <a:defRPr sz="2000" b="1" kern="1200">
          <a:solidFill>
            <a:srgbClr val="00000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2E5347-6F55-F5A4-B244-AF8778B32E17}"/>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EF96448F-9401-9114-DF6D-57B25E43EA04}"/>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a:extLst>
              <a:ext uri="{FF2B5EF4-FFF2-40B4-BE49-F238E27FC236}">
                <a16:creationId xmlns:a16="http://schemas.microsoft.com/office/drawing/2014/main" id="{BD9D2267-81C4-D19D-A0CF-D84694C3BB2B}"/>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3" name="Rectangle 5">
            <a:extLst>
              <a:ext uri="{FF2B5EF4-FFF2-40B4-BE49-F238E27FC236}">
                <a16:creationId xmlns:a16="http://schemas.microsoft.com/office/drawing/2014/main" id="{9F37BBC1-57CC-2BDB-9C1F-22918EFF5A72}"/>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4" name="Rectangle 6">
            <a:extLst>
              <a:ext uri="{FF2B5EF4-FFF2-40B4-BE49-F238E27FC236}">
                <a16:creationId xmlns:a16="http://schemas.microsoft.com/office/drawing/2014/main" id="{7B6A3622-C48A-F658-BAD6-C67383C79DFF}"/>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b="0">
                <a:solidFill>
                  <a:schemeClr val="tx1"/>
                </a:solidFill>
                <a:latin typeface="Times New Roman" panose="02020603050405020304" pitchFamily="18" charset="0"/>
              </a:defRPr>
            </a:lvl1pPr>
          </a:lstStyle>
          <a:p>
            <a:pPr>
              <a:defRPr/>
            </a:pPr>
            <a:fld id="{95A6DAE8-48C4-4599-AEAF-6C2D1ADE58C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0.wmf"/><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wmf"/><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wmf"/><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wmf"/><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wmf"/><Relationship Id="rId5" Type="http://schemas.openxmlformats.org/officeDocument/2006/relationships/image" Target="../media/image5.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wmf"/><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wmf"/><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1.png"/><Relationship Id="rId7"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 Id="rId9"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a:extLst>
              <a:ext uri="{FF2B5EF4-FFF2-40B4-BE49-F238E27FC236}">
                <a16:creationId xmlns:a16="http://schemas.microsoft.com/office/drawing/2014/main" id="{9E0E2896-2FBF-1E98-6CFB-58A5722DFBE2}"/>
              </a:ext>
            </a:extLst>
          </p:cNvPr>
          <p:cNvSpPr>
            <a:spLocks noGrp="1" noChangeArrowheads="1"/>
          </p:cNvSpPr>
          <p:nvPr>
            <p:ph type="subTitle" idx="1"/>
          </p:nvPr>
        </p:nvSpPr>
        <p:spPr/>
        <p:txBody>
          <a:bodyPr/>
          <a:lstStyle/>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天津工业大学软件学院</a:t>
            </a:r>
          </a:p>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张桂玲  </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ctr" eaLnBrk="1" hangingPunct="1">
              <a:buFont typeface="Times New Roman" panose="02020603050405020304" pitchFamily="18" charset="0"/>
              <a:buNone/>
              <a:defRPr/>
            </a:pP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Email:gui_ling_zhang@163.com</a:t>
            </a:r>
          </a:p>
          <a:p>
            <a:pPr algn="ctr" eaLnBrk="1" hangingPunct="1">
              <a:buFont typeface="Times New Roman" panose="02020603050405020304" pitchFamily="18" charset="0"/>
              <a:buNone/>
              <a:defRPr/>
            </a:pPr>
            <a:r>
              <a:rPr lang="en-US" altLang="zh-CN" b="1">
                <a:effectLst>
                  <a:outerShdw blurRad="38100" dist="38100" dir="2700000" algn="tl">
                    <a:srgbClr val="C0C0C0"/>
                  </a:outerShdw>
                </a:effectLst>
                <a:latin typeface="华文新魏" panose="02010800040101010101" pitchFamily="2" charset="-122"/>
                <a:ea typeface="华文新魏" panose="02010800040101010101" pitchFamily="2" charset="-122"/>
              </a:rPr>
              <a:t>2025</a:t>
            </a:r>
            <a:r>
              <a:rPr lang="zh-CN" altLang="en-US" b="1">
                <a:effectLst>
                  <a:outerShdw blurRad="38100" dist="38100" dir="2700000" algn="tl">
                    <a:srgbClr val="C0C0C0"/>
                  </a:outerShdw>
                </a:effectLst>
                <a:latin typeface="华文新魏" panose="02010800040101010101" pitchFamily="2" charset="-122"/>
                <a:ea typeface="华文新魏" panose="02010800040101010101" pitchFamily="2" charset="-122"/>
              </a:rPr>
              <a:t>年</a:t>
            </a: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8</a:t>
            </a: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月</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3079" name="Rectangle 7" descr="花束">
            <a:extLst>
              <a:ext uri="{FF2B5EF4-FFF2-40B4-BE49-F238E27FC236}">
                <a16:creationId xmlns:a16="http://schemas.microsoft.com/office/drawing/2014/main" id="{7C295C98-6B42-34E1-DED0-70C7112FDBFE}"/>
              </a:ext>
            </a:extLst>
          </p:cNvPr>
          <p:cNvSpPr>
            <a:spLocks noChangeArrowheads="1"/>
          </p:cNvSpPr>
          <p:nvPr/>
        </p:nvSpPr>
        <p:spPr bwMode="auto">
          <a:xfrm>
            <a:off x="900113" y="1163638"/>
            <a:ext cx="7632700" cy="1584325"/>
          </a:xfrm>
          <a:prstGeom prst="rect">
            <a:avLst/>
          </a:prstGeom>
          <a:blipFill dpi="0" rotWithShape="1">
            <a:blip r:embed="rId3"/>
            <a:srcRect/>
            <a:tile tx="0" ty="0" sx="100000" sy="100000" flip="none" algn="tl"/>
          </a:blipFill>
          <a:ln w="9525">
            <a:solidFill>
              <a:schemeClr val="tx1"/>
            </a:solidFill>
            <a:miter lim="800000"/>
            <a:headEnd/>
            <a:tailEnd/>
          </a:ln>
          <a:effectLst/>
        </p:spPr>
        <p:txBody>
          <a:bodyPr anchor="ctr"/>
          <a:lstStyle>
            <a:lvl1pPr defTabSz="449263">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Font typeface="Times New Roman" panose="02020603050405020304" pitchFamily="18" charset="0"/>
              <a:buNone/>
              <a:defRPr/>
            </a:pPr>
            <a:r>
              <a:rPr lang="en-US" altLang="zh-CN" sz="6000" dirty="0">
                <a:effectLst>
                  <a:outerShdw blurRad="38100" dist="38100" dir="2700000" algn="tl">
                    <a:srgbClr val="C0C0C0"/>
                  </a:outerShdw>
                </a:effectLst>
                <a:latin typeface="华文新魏" panose="02010800040101010101" pitchFamily="2" charset="-122"/>
                <a:ea typeface="华文新魏" panose="02010800040101010101" pitchFamily="2" charset="-122"/>
              </a:rPr>
              <a:t>Linux</a:t>
            </a:r>
            <a:r>
              <a:rPr lang="zh-CN" altLang="en-US" sz="6000" dirty="0">
                <a:effectLst>
                  <a:outerShdw blurRad="38100" dist="38100" dir="2700000" algn="tl">
                    <a:srgbClr val="C0C0C0"/>
                  </a:outerShdw>
                </a:effectLst>
                <a:latin typeface="华文新魏" panose="02010800040101010101" pitchFamily="2" charset="-122"/>
                <a:ea typeface="华文新魏" panose="02010800040101010101" pitchFamily="2" charset="-122"/>
              </a:rPr>
              <a:t>系统与安全</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41FF3-4D60-EC58-A08A-20B81BFD68FC}"/>
              </a:ext>
            </a:extLst>
          </p:cNvPr>
          <p:cNvSpPr>
            <a:spLocks noGrp="1"/>
          </p:cNvSpPr>
          <p:nvPr>
            <p:ph type="title"/>
          </p:nvPr>
        </p:nvSpPr>
        <p:spPr>
          <a:xfrm>
            <a:off x="0" y="44450"/>
            <a:ext cx="9144000" cy="476250"/>
          </a:xfrm>
        </p:spPr>
        <p:txBody>
          <a:bodyPr/>
          <a:lstStyle/>
          <a:p>
            <a:pPr algn="ctr" eaLnBrk="1" hangingPunct="1">
              <a:defRPr/>
            </a:pPr>
            <a:r>
              <a:rPr lang="zh-CN" altLang="en-US" dirty="0">
                <a:latin typeface="+mn-ea"/>
                <a:ea typeface="+mn-ea"/>
              </a:rPr>
              <a:t>教学进度、考核</a:t>
            </a:r>
          </a:p>
        </p:txBody>
      </p:sp>
      <p:sp>
        <p:nvSpPr>
          <p:cNvPr id="3" name="内容占位符 2">
            <a:extLst>
              <a:ext uri="{FF2B5EF4-FFF2-40B4-BE49-F238E27FC236}">
                <a16:creationId xmlns:a16="http://schemas.microsoft.com/office/drawing/2014/main" id="{9FFB4F53-C97E-09B1-7E98-7BD345856223}"/>
              </a:ext>
            </a:extLst>
          </p:cNvPr>
          <p:cNvSpPr>
            <a:spLocks noGrp="1"/>
          </p:cNvSpPr>
          <p:nvPr>
            <p:ph idx="1"/>
          </p:nvPr>
        </p:nvSpPr>
        <p:spPr>
          <a:xfrm>
            <a:off x="34925" y="476250"/>
            <a:ext cx="9109075" cy="5689600"/>
          </a:xfrm>
        </p:spPr>
        <p:txBody>
          <a:bodyPr/>
          <a:lstStyle/>
          <a:p>
            <a:pPr eaLnBrk="1" hangingPunct="1">
              <a:spcBef>
                <a:spcPts val="0"/>
              </a:spcBef>
              <a:spcAft>
                <a:spcPts val="0"/>
              </a:spcAft>
              <a:defRPr/>
            </a:pPr>
            <a:r>
              <a:rPr lang="en-US" altLang="zh-CN" sz="3600" dirty="0"/>
              <a:t>1</a:t>
            </a:r>
            <a:r>
              <a:rPr lang="zh-CN" altLang="en-US" sz="3600" dirty="0"/>
              <a:t>、上课周数 </a:t>
            </a:r>
            <a:r>
              <a:rPr lang="en-US" altLang="zh-CN" sz="3600" dirty="0">
                <a:solidFill>
                  <a:srgbClr val="FF0000"/>
                </a:solidFill>
                <a:latin typeface="+mj-ea"/>
                <a:ea typeface="+mj-ea"/>
              </a:rPr>
              <a:t>16 </a:t>
            </a:r>
            <a:r>
              <a:rPr lang="zh-CN" altLang="en-US" sz="3600" dirty="0">
                <a:solidFill>
                  <a:schemeClr val="tx1"/>
                </a:solidFill>
                <a:latin typeface="华文琥珀" panose="02010800040101010101" pitchFamily="2" charset="-122"/>
                <a:ea typeface="华文琥珀" panose="02010800040101010101" pitchFamily="2" charset="-122"/>
              </a:rPr>
              <a:t>周</a:t>
            </a:r>
          </a:p>
          <a:p>
            <a:pPr eaLnBrk="1" hangingPunct="1">
              <a:spcBef>
                <a:spcPts val="0"/>
              </a:spcBef>
              <a:spcAft>
                <a:spcPts val="0"/>
              </a:spcAft>
              <a:defRPr/>
            </a:pPr>
            <a:r>
              <a:rPr lang="en-US" altLang="zh-CN" sz="3600" dirty="0"/>
              <a:t>2</a:t>
            </a:r>
            <a:r>
              <a:rPr lang="zh-CN" altLang="en-US" sz="3600" dirty="0"/>
              <a:t>、总学时 </a:t>
            </a:r>
            <a:r>
              <a:rPr lang="en-US" altLang="zh-CN" sz="3600" dirty="0">
                <a:solidFill>
                  <a:srgbClr val="FF0000"/>
                </a:solidFill>
                <a:latin typeface="+mj-ea"/>
                <a:ea typeface="+mj-ea"/>
              </a:rPr>
              <a:t>32 </a:t>
            </a:r>
            <a:r>
              <a:rPr lang="zh-CN" altLang="en-US" sz="3600" dirty="0">
                <a:solidFill>
                  <a:schemeClr val="tx1"/>
                </a:solidFill>
                <a:latin typeface="华文琥珀" panose="02010800040101010101" pitchFamily="2" charset="-122"/>
                <a:ea typeface="华文琥珀" panose="02010800040101010101" pitchFamily="2" charset="-122"/>
              </a:rPr>
              <a:t>学时</a:t>
            </a:r>
            <a:r>
              <a:rPr lang="zh-CN" altLang="en-US" sz="3600" dirty="0"/>
              <a:t>；</a:t>
            </a:r>
            <a:endParaRPr lang="en-US" altLang="zh-CN" sz="3600" dirty="0"/>
          </a:p>
          <a:p>
            <a:pPr eaLnBrk="1" hangingPunct="1">
              <a:spcBef>
                <a:spcPts val="0"/>
              </a:spcBef>
              <a:spcAft>
                <a:spcPts val="0"/>
              </a:spcAft>
              <a:defRPr/>
            </a:pPr>
            <a:r>
              <a:rPr lang="zh-CN" altLang="en-US" sz="3600" dirty="0"/>
              <a:t>讲课 </a:t>
            </a:r>
            <a:r>
              <a:rPr lang="en-US" altLang="zh-CN" sz="3600" dirty="0">
                <a:solidFill>
                  <a:srgbClr val="FF0000"/>
                </a:solidFill>
                <a:latin typeface="+mj-ea"/>
                <a:ea typeface="+mj-ea"/>
              </a:rPr>
              <a:t>14</a:t>
            </a:r>
            <a:r>
              <a:rPr lang="en-US" altLang="zh-CN" sz="3600" dirty="0"/>
              <a:t> </a:t>
            </a:r>
            <a:r>
              <a:rPr lang="zh-CN" altLang="en-US" sz="3600" dirty="0">
                <a:solidFill>
                  <a:schemeClr val="tx1"/>
                </a:solidFill>
                <a:latin typeface="华文琥珀" panose="02010800040101010101" pitchFamily="2" charset="-122"/>
                <a:ea typeface="华文琥珀" panose="02010800040101010101" pitchFamily="2" charset="-122"/>
              </a:rPr>
              <a:t>学时、</a:t>
            </a:r>
            <a:r>
              <a:rPr lang="zh-CN" altLang="en-US" sz="3600" dirty="0"/>
              <a:t>上机时数</a:t>
            </a:r>
            <a:r>
              <a:rPr lang="en-US" altLang="zh-CN" sz="3600" dirty="0">
                <a:solidFill>
                  <a:srgbClr val="FF0000"/>
                </a:solidFill>
                <a:latin typeface="+mj-ea"/>
                <a:ea typeface="+mj-ea"/>
              </a:rPr>
              <a:t>14</a:t>
            </a:r>
            <a:r>
              <a:rPr lang="zh-CN" altLang="en-US" sz="3600" dirty="0">
                <a:solidFill>
                  <a:schemeClr val="tx1"/>
                </a:solidFill>
                <a:latin typeface="华文琥珀" panose="02010800040101010101" pitchFamily="2" charset="-122"/>
                <a:ea typeface="华文琥珀" panose="02010800040101010101" pitchFamily="2" charset="-122"/>
              </a:rPr>
              <a:t>学时、</a:t>
            </a:r>
            <a:r>
              <a:rPr lang="zh-CN" altLang="en-US" sz="3600" dirty="0"/>
              <a:t>课堂讨论</a:t>
            </a:r>
            <a:r>
              <a:rPr lang="en-US" altLang="zh-CN" sz="3600" dirty="0">
                <a:solidFill>
                  <a:srgbClr val="FF0000"/>
                </a:solidFill>
                <a:latin typeface="+mj-ea"/>
                <a:ea typeface="+mj-ea"/>
              </a:rPr>
              <a:t>2</a:t>
            </a:r>
            <a:r>
              <a:rPr lang="en-US" altLang="zh-CN" sz="3600" dirty="0"/>
              <a:t> </a:t>
            </a:r>
            <a:r>
              <a:rPr lang="zh-CN" altLang="en-US" sz="3600" dirty="0">
                <a:solidFill>
                  <a:schemeClr val="tx1"/>
                </a:solidFill>
                <a:latin typeface="华文琥珀" panose="02010800040101010101" pitchFamily="2" charset="-122"/>
                <a:ea typeface="华文琥珀" panose="02010800040101010101" pitchFamily="2" charset="-122"/>
              </a:rPr>
              <a:t>学时、考试</a:t>
            </a:r>
            <a:r>
              <a:rPr lang="en-US" altLang="zh-CN" sz="3600" dirty="0">
                <a:solidFill>
                  <a:srgbClr val="FF0000"/>
                </a:solidFill>
                <a:latin typeface="+mj-ea"/>
                <a:ea typeface="+mj-ea"/>
              </a:rPr>
              <a:t>2</a:t>
            </a:r>
            <a:r>
              <a:rPr lang="zh-CN" altLang="en-US" sz="3600" dirty="0">
                <a:solidFill>
                  <a:schemeClr val="tx1"/>
                </a:solidFill>
                <a:latin typeface="华文琥珀" panose="02010800040101010101" pitchFamily="2" charset="-122"/>
                <a:ea typeface="华文琥珀" panose="02010800040101010101" pitchFamily="2" charset="-122"/>
              </a:rPr>
              <a:t>学时</a:t>
            </a:r>
            <a:endParaRPr lang="en-US" altLang="zh-CN" sz="3600" dirty="0">
              <a:solidFill>
                <a:schemeClr val="tx1"/>
              </a:solidFill>
              <a:latin typeface="华文琥珀" panose="02010800040101010101" pitchFamily="2" charset="-122"/>
              <a:ea typeface="华文琥珀" panose="02010800040101010101" pitchFamily="2" charset="-122"/>
            </a:endParaRPr>
          </a:p>
          <a:p>
            <a:pPr eaLnBrk="1" hangingPunct="1">
              <a:spcBef>
                <a:spcPts val="0"/>
              </a:spcBef>
              <a:spcAft>
                <a:spcPts val="0"/>
              </a:spcAft>
              <a:defRPr/>
            </a:pPr>
            <a:r>
              <a:rPr lang="en-US" altLang="zh-CN" sz="3600" dirty="0"/>
              <a:t>3</a:t>
            </a:r>
            <a:r>
              <a:rPr lang="zh-CN" altLang="en-US" sz="3600" dirty="0"/>
              <a:t>、考核方式</a:t>
            </a:r>
          </a:p>
          <a:p>
            <a:pPr marL="0" indent="0" eaLnBrk="1" hangingPunct="1">
              <a:spcBef>
                <a:spcPts val="0"/>
              </a:spcBef>
              <a:spcAft>
                <a:spcPts val="0"/>
              </a:spcAft>
              <a:buFont typeface="Arial" panose="020B0604020202020204" pitchFamily="34" charset="0"/>
              <a:buNone/>
              <a:defRPr/>
            </a:pPr>
            <a:r>
              <a:rPr lang="zh-CN" altLang="en-US" sz="3600" dirty="0"/>
              <a:t>  </a:t>
            </a:r>
            <a:r>
              <a:rPr lang="en-US" altLang="zh-CN" sz="3600" dirty="0"/>
              <a:t>(1)</a:t>
            </a:r>
            <a:r>
              <a:rPr lang="zh-CN" altLang="en-US" sz="3600" dirty="0"/>
              <a:t>期末</a:t>
            </a:r>
            <a:r>
              <a:rPr lang="zh-CN" altLang="en-US" sz="3600" dirty="0">
                <a:solidFill>
                  <a:schemeClr val="tx1"/>
                </a:solidFill>
                <a:latin typeface="华文琥珀" panose="02010800040101010101" pitchFamily="2" charset="-122"/>
                <a:ea typeface="华文琥珀" panose="02010800040101010101" pitchFamily="2" charset="-122"/>
              </a:rPr>
              <a:t>闭卷</a:t>
            </a:r>
            <a:r>
              <a:rPr lang="zh-CN" altLang="en-US" sz="3600" dirty="0"/>
              <a:t>笔试</a:t>
            </a:r>
            <a:endParaRPr lang="en-US" altLang="zh-CN" sz="3600" dirty="0"/>
          </a:p>
          <a:p>
            <a:pPr marL="0" indent="0" eaLnBrk="1" hangingPunct="1">
              <a:spcBef>
                <a:spcPts val="0"/>
              </a:spcBef>
              <a:spcAft>
                <a:spcPts val="0"/>
              </a:spcAft>
              <a:buFont typeface="Arial" panose="020B0604020202020204" pitchFamily="34" charset="0"/>
              <a:buNone/>
              <a:defRPr/>
            </a:pPr>
            <a:r>
              <a:rPr lang="zh-CN" altLang="en-US" sz="3600" dirty="0"/>
              <a:t>  </a:t>
            </a:r>
            <a:r>
              <a:rPr lang="en-US" altLang="zh-CN" sz="3600" dirty="0"/>
              <a:t>(2)</a:t>
            </a:r>
            <a:r>
              <a:rPr lang="zh-CN" altLang="en-US" sz="3600" dirty="0">
                <a:solidFill>
                  <a:schemeClr val="tx1"/>
                </a:solidFill>
                <a:latin typeface="华文琥珀" panose="02010800040101010101" pitchFamily="2" charset="-122"/>
                <a:ea typeface="华文琥珀" panose="02010800040101010101" pitchFamily="2" charset="-122"/>
              </a:rPr>
              <a:t>平时成绩</a:t>
            </a:r>
            <a:r>
              <a:rPr lang="en-US" altLang="zh-CN" sz="3600" dirty="0">
                <a:solidFill>
                  <a:srgbClr val="FF0000"/>
                </a:solidFill>
                <a:latin typeface="+mj-ea"/>
                <a:ea typeface="+mj-ea"/>
              </a:rPr>
              <a:t>40</a:t>
            </a:r>
            <a:r>
              <a:rPr lang="en-US" altLang="zh-CN" sz="3600" dirty="0"/>
              <a:t>%</a:t>
            </a:r>
            <a:r>
              <a:rPr lang="zh-CN" altLang="en-US" sz="3600" dirty="0"/>
              <a:t>和</a:t>
            </a:r>
            <a:r>
              <a:rPr lang="zh-CN" altLang="en-US" sz="3600" dirty="0">
                <a:solidFill>
                  <a:schemeClr val="tx1"/>
                </a:solidFill>
                <a:latin typeface="华文琥珀" panose="02010800040101010101" pitchFamily="2" charset="-122"/>
                <a:ea typeface="华文琥珀" panose="02010800040101010101" pitchFamily="2" charset="-122"/>
              </a:rPr>
              <a:t>期末成绩</a:t>
            </a:r>
            <a:r>
              <a:rPr lang="en-US" altLang="zh-CN" sz="3600" dirty="0">
                <a:solidFill>
                  <a:srgbClr val="FF0000"/>
                </a:solidFill>
                <a:latin typeface="+mj-ea"/>
                <a:ea typeface="+mj-ea"/>
              </a:rPr>
              <a:t>60</a:t>
            </a:r>
            <a:r>
              <a:rPr lang="en-US" altLang="zh-CN" sz="3600" dirty="0"/>
              <a:t>%</a:t>
            </a:r>
          </a:p>
          <a:p>
            <a:pPr marL="0" indent="0" eaLnBrk="1" hangingPunct="1">
              <a:spcBef>
                <a:spcPts val="0"/>
              </a:spcBef>
              <a:spcAft>
                <a:spcPts val="0"/>
              </a:spcAft>
              <a:buFont typeface="Arial" panose="020B0604020202020204" pitchFamily="34" charset="0"/>
              <a:buNone/>
              <a:defRPr/>
            </a:pPr>
            <a:r>
              <a:rPr lang="en-US" altLang="zh-CN" sz="3600" dirty="0"/>
              <a:t>  (3)</a:t>
            </a:r>
            <a:r>
              <a:rPr lang="zh-CN" altLang="en-US" sz="3600" dirty="0"/>
              <a:t>期末</a:t>
            </a:r>
            <a:r>
              <a:rPr lang="zh-CN" altLang="en-US" sz="3600" dirty="0">
                <a:solidFill>
                  <a:schemeClr val="tx1"/>
                </a:solidFill>
                <a:latin typeface="华文琥珀" panose="02010800040101010101" pitchFamily="2" charset="-122"/>
                <a:ea typeface="华文琥珀" panose="02010800040101010101" pitchFamily="2" charset="-122"/>
              </a:rPr>
              <a:t>题型</a:t>
            </a:r>
            <a:r>
              <a:rPr lang="en-US" altLang="zh-CN" sz="3600" dirty="0"/>
              <a:t>:</a:t>
            </a:r>
            <a:r>
              <a:rPr lang="zh-CN" altLang="en-US" sz="3600" dirty="0"/>
              <a:t>选择题、填空题、简答题、综合题等；</a:t>
            </a:r>
            <a:endParaRPr lang="en-US" altLang="zh-CN" sz="3600" dirty="0"/>
          </a:p>
          <a:p>
            <a:pPr marL="0" indent="0" eaLnBrk="1" hangingPunct="1">
              <a:spcBef>
                <a:spcPts val="0"/>
              </a:spcBef>
              <a:spcAft>
                <a:spcPts val="0"/>
              </a:spcAft>
              <a:buFont typeface="Arial" panose="020B0604020202020204" pitchFamily="34" charset="0"/>
              <a:buNone/>
              <a:defRPr/>
            </a:pPr>
            <a:r>
              <a:rPr lang="en-US" altLang="zh-CN" sz="3600" dirty="0"/>
              <a:t>  (4)</a:t>
            </a:r>
            <a:r>
              <a:rPr lang="zh-CN" altLang="en-US" sz="3600" dirty="0">
                <a:solidFill>
                  <a:schemeClr val="tx1"/>
                </a:solidFill>
                <a:latin typeface="华文琥珀" panose="02010800040101010101" pitchFamily="2" charset="-122"/>
                <a:ea typeface="华文琥珀" panose="02010800040101010101" pitchFamily="2" charset="-122"/>
              </a:rPr>
              <a:t>平时</a:t>
            </a:r>
            <a:r>
              <a:rPr lang="zh-CN" altLang="en-US" sz="3600" dirty="0"/>
              <a:t>成绩</a:t>
            </a:r>
            <a:r>
              <a:rPr lang="en-US" altLang="zh-CN" sz="3600" dirty="0"/>
              <a:t>:</a:t>
            </a:r>
            <a:r>
              <a:rPr lang="zh-CN" altLang="en-US" sz="3600" dirty="0"/>
              <a:t>出勤</a:t>
            </a:r>
            <a:r>
              <a:rPr lang="zh-CN" altLang="en-US" sz="3600" dirty="0">
                <a:solidFill>
                  <a:srgbClr val="FF0000"/>
                </a:solidFill>
                <a:latin typeface="华文琥珀" panose="02010800040101010101" pitchFamily="2" charset="-122"/>
                <a:ea typeface="华文琥珀" panose="02010800040101010101" pitchFamily="2" charset="-122"/>
              </a:rPr>
              <a:t>（</a:t>
            </a:r>
            <a:r>
              <a:rPr lang="en-US" altLang="zh-CN" sz="3600" dirty="0">
                <a:solidFill>
                  <a:srgbClr val="FF0000"/>
                </a:solidFill>
                <a:latin typeface="华文琥珀" panose="02010800040101010101" pitchFamily="2" charset="-122"/>
                <a:ea typeface="华文琥珀" panose="02010800040101010101" pitchFamily="2" charset="-122"/>
              </a:rPr>
              <a:t>10</a:t>
            </a:r>
            <a:r>
              <a:rPr lang="zh-CN" altLang="en-US" sz="3600" dirty="0">
                <a:solidFill>
                  <a:srgbClr val="FF0000"/>
                </a:solidFill>
                <a:latin typeface="华文琥珀" panose="02010800040101010101" pitchFamily="2" charset="-122"/>
                <a:ea typeface="华文琥珀" panose="02010800040101010101" pitchFamily="2" charset="-122"/>
              </a:rPr>
              <a:t>分）</a:t>
            </a:r>
            <a:r>
              <a:rPr lang="zh-CN" altLang="en-US" sz="3600" dirty="0"/>
              <a:t>、作业</a:t>
            </a:r>
            <a:r>
              <a:rPr lang="zh-CN" altLang="en-US" sz="3600" dirty="0">
                <a:solidFill>
                  <a:srgbClr val="FF0000"/>
                </a:solidFill>
                <a:latin typeface="华文琥珀" panose="02010800040101010101" pitchFamily="2" charset="-122"/>
                <a:ea typeface="华文琥珀" panose="02010800040101010101" pitchFamily="2" charset="-122"/>
              </a:rPr>
              <a:t>（</a:t>
            </a:r>
            <a:r>
              <a:rPr lang="en-US" altLang="zh-CN" sz="3600" dirty="0">
                <a:solidFill>
                  <a:srgbClr val="FF0000"/>
                </a:solidFill>
                <a:latin typeface="华文琥珀" panose="02010800040101010101" pitchFamily="2" charset="-122"/>
                <a:ea typeface="华文琥珀" panose="02010800040101010101" pitchFamily="2" charset="-122"/>
              </a:rPr>
              <a:t>10</a:t>
            </a:r>
            <a:r>
              <a:rPr lang="zh-CN" altLang="en-US" sz="3600" dirty="0">
                <a:solidFill>
                  <a:srgbClr val="FF0000"/>
                </a:solidFill>
                <a:latin typeface="华文琥珀" panose="02010800040101010101" pitchFamily="2" charset="-122"/>
                <a:ea typeface="华文琥珀" panose="02010800040101010101" pitchFamily="2" charset="-122"/>
              </a:rPr>
              <a:t>）</a:t>
            </a:r>
            <a:r>
              <a:rPr lang="zh-CN" altLang="en-US" sz="3600" dirty="0"/>
              <a:t>、上机实验</a:t>
            </a:r>
            <a:r>
              <a:rPr lang="zh-CN" altLang="en-US" sz="3600" dirty="0">
                <a:solidFill>
                  <a:srgbClr val="FF0000"/>
                </a:solidFill>
                <a:latin typeface="华文琥珀" panose="02010800040101010101" pitchFamily="2" charset="-122"/>
                <a:ea typeface="华文琥珀" panose="02010800040101010101" pitchFamily="2" charset="-122"/>
              </a:rPr>
              <a:t>（</a:t>
            </a:r>
            <a:r>
              <a:rPr lang="en-US" altLang="zh-CN" sz="3600" dirty="0">
                <a:solidFill>
                  <a:srgbClr val="FF0000"/>
                </a:solidFill>
                <a:latin typeface="华文琥珀" panose="02010800040101010101" pitchFamily="2" charset="-122"/>
                <a:ea typeface="华文琥珀" panose="02010800040101010101" pitchFamily="2" charset="-122"/>
              </a:rPr>
              <a:t>10</a:t>
            </a:r>
            <a:r>
              <a:rPr lang="zh-CN" altLang="en-US" sz="3600" dirty="0">
                <a:solidFill>
                  <a:srgbClr val="FF0000"/>
                </a:solidFill>
                <a:latin typeface="华文琥珀" panose="02010800040101010101" pitchFamily="2" charset="-122"/>
                <a:ea typeface="华文琥珀" panose="02010800040101010101" pitchFamily="2" charset="-122"/>
              </a:rPr>
              <a:t>）、设计性大作业（</a:t>
            </a:r>
            <a:r>
              <a:rPr lang="en-US" altLang="zh-CN" sz="3600" dirty="0">
                <a:solidFill>
                  <a:srgbClr val="FF0000"/>
                </a:solidFill>
                <a:latin typeface="华文琥珀" panose="02010800040101010101" pitchFamily="2" charset="-122"/>
                <a:ea typeface="华文琥珀" panose="02010800040101010101" pitchFamily="2" charset="-122"/>
              </a:rPr>
              <a:t>10</a:t>
            </a:r>
            <a:r>
              <a:rPr lang="zh-CN" altLang="en-US" sz="3600" dirty="0">
                <a:solidFill>
                  <a:srgbClr val="FF0000"/>
                </a:solidFill>
                <a:latin typeface="华文琥珀" panose="02010800040101010101" pitchFamily="2" charset="-122"/>
                <a:ea typeface="华文琥珀" panose="02010800040101010101" pitchFamily="2" charset="-122"/>
              </a:rPr>
              <a:t>分）</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11280A17-346B-A040-0A64-08737E765569}"/>
              </a:ext>
            </a:extLst>
          </p:cNvPr>
          <p:cNvSpPr>
            <a:spLocks noChangeArrowheads="1"/>
          </p:cNvSpPr>
          <p:nvPr/>
        </p:nvSpPr>
        <p:spPr bwMode="auto">
          <a:xfrm>
            <a:off x="684213" y="981075"/>
            <a:ext cx="7848600" cy="5256213"/>
          </a:xfrm>
          <a:prstGeom prst="rect">
            <a:avLst/>
          </a:prstGeom>
          <a:noFill/>
          <a:ln w="19050" algn="ctr">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800"/>
              </a:spcBef>
              <a:spcAft>
                <a:spcPts val="800"/>
              </a:spcAft>
              <a:buClr>
                <a:srgbClr val="000000"/>
              </a:buClr>
              <a:buFont typeface="Arial" panose="020B0604020202020204" pitchFamily="34" charset="0"/>
              <a:buBlip>
                <a:blip r:embed="rId3"/>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4"/>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5"/>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6"/>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9219" name="Rectangle 5">
            <a:extLst>
              <a:ext uri="{FF2B5EF4-FFF2-40B4-BE49-F238E27FC236}">
                <a16:creationId xmlns:a16="http://schemas.microsoft.com/office/drawing/2014/main" id="{B9D969C1-56FF-7185-4FA8-92C7BAC6DE38}"/>
              </a:ext>
            </a:extLst>
          </p:cNvPr>
          <p:cNvSpPr>
            <a:spLocks noGrp="1" noChangeArrowheads="1"/>
          </p:cNvSpPr>
          <p:nvPr>
            <p:ph type="ctrTitle"/>
          </p:nvPr>
        </p:nvSpPr>
        <p:spPr>
          <a:xfrm>
            <a:off x="0" y="0"/>
            <a:ext cx="9144000" cy="476250"/>
          </a:xfrm>
        </p:spPr>
        <p:txBody>
          <a:bodyPr/>
          <a:lstStyle/>
          <a:p>
            <a:pPr algn="ctr" eaLnBrk="1" hangingPunct="1"/>
            <a:r>
              <a:rPr lang="zh-CN" altLang="en-GB" b="1"/>
              <a:t>目  录</a:t>
            </a:r>
            <a:endParaRPr lang="zh-CN" altLang="en-US" b="1"/>
          </a:p>
        </p:txBody>
      </p:sp>
      <p:sp>
        <p:nvSpPr>
          <p:cNvPr id="9220" name="矩形 2">
            <a:extLst>
              <a:ext uri="{FF2B5EF4-FFF2-40B4-BE49-F238E27FC236}">
                <a16:creationId xmlns:a16="http://schemas.microsoft.com/office/drawing/2014/main" id="{5793CF79-66F8-3D39-480D-B15526521187}"/>
              </a:ext>
            </a:extLst>
          </p:cNvPr>
          <p:cNvSpPr>
            <a:spLocks noChangeArrowheads="1"/>
          </p:cNvSpPr>
          <p:nvPr/>
        </p:nvSpPr>
        <p:spPr bwMode="auto">
          <a:xfrm>
            <a:off x="611188" y="908050"/>
            <a:ext cx="78486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r>
              <a:rPr lang="zh-CN" altLang="en-US" dirty="0"/>
              <a:t>第一章  </a:t>
            </a:r>
            <a:r>
              <a:rPr lang="en-US" altLang="zh-CN" dirty="0"/>
              <a:t>Linux</a:t>
            </a:r>
            <a:r>
              <a:rPr lang="zh-CN" altLang="en-US" dirty="0"/>
              <a:t>系统与安全</a:t>
            </a:r>
            <a:endParaRPr lang="en-US" altLang="zh-CN" dirty="0"/>
          </a:p>
          <a:p>
            <a:r>
              <a:rPr lang="zh-CN" altLang="en-US" dirty="0"/>
              <a:t>第二章  </a:t>
            </a:r>
            <a:r>
              <a:rPr lang="en-US" altLang="zh-CN" dirty="0"/>
              <a:t>Linux</a:t>
            </a:r>
            <a:r>
              <a:rPr lang="zh-CN" altLang="en-US" dirty="0"/>
              <a:t>系统入门 </a:t>
            </a:r>
          </a:p>
          <a:p>
            <a:r>
              <a:rPr lang="zh-CN" altLang="en-US" dirty="0"/>
              <a:t>第三章  </a:t>
            </a:r>
            <a:r>
              <a:rPr lang="en-US" altLang="zh-CN" dirty="0"/>
              <a:t>Shell </a:t>
            </a:r>
            <a:r>
              <a:rPr lang="zh-CN" altLang="en-US" dirty="0"/>
              <a:t>与</a:t>
            </a:r>
            <a:r>
              <a:rPr lang="en-US" altLang="zh-CN" dirty="0"/>
              <a:t>shell</a:t>
            </a:r>
            <a:r>
              <a:rPr lang="zh-CN" altLang="en-US" dirty="0"/>
              <a:t>基本操作</a:t>
            </a:r>
          </a:p>
          <a:p>
            <a:r>
              <a:rPr lang="zh-CN" altLang="en-US" dirty="0"/>
              <a:t>第四章 用户、组和密码及安全管理</a:t>
            </a:r>
          </a:p>
          <a:p>
            <a:r>
              <a:rPr lang="zh-CN" altLang="en-US" dirty="0"/>
              <a:t>第五章 文件系统安全使用与管理</a:t>
            </a:r>
            <a:endParaRPr lang="en-US" altLang="zh-CN" dirty="0"/>
          </a:p>
          <a:p>
            <a:r>
              <a:rPr lang="zh-CN" altLang="en-US" dirty="0"/>
              <a:t>第六章 进程及安全管理</a:t>
            </a:r>
          </a:p>
          <a:p>
            <a:r>
              <a:rPr lang="zh-CN" altLang="en-US" dirty="0"/>
              <a:t>第七章 网络配置、管理与基本应用</a:t>
            </a:r>
          </a:p>
          <a:p>
            <a:r>
              <a:rPr lang="zh-CN" altLang="en-US" dirty="0"/>
              <a:t>第八章 </a:t>
            </a:r>
            <a:r>
              <a:rPr lang="en-US" altLang="zh-CN" dirty="0" err="1"/>
              <a:t>bshell</a:t>
            </a:r>
            <a:r>
              <a:rPr lang="zh-CN" altLang="en-US" dirty="0"/>
              <a:t>编程</a:t>
            </a:r>
          </a:p>
          <a:p>
            <a:r>
              <a:rPr lang="zh-CN" altLang="en-US" dirty="0"/>
              <a:t>第九章 </a:t>
            </a:r>
            <a:r>
              <a:rPr lang="en-US" altLang="zh-CN" dirty="0"/>
              <a:t>Web</a:t>
            </a:r>
            <a:r>
              <a:rPr lang="zh-CN" altLang="en-US" dirty="0"/>
              <a:t>服务器</a:t>
            </a:r>
            <a:r>
              <a:rPr lang="en-US" altLang="zh-CN" dirty="0"/>
              <a:t>Apache</a:t>
            </a:r>
            <a:r>
              <a:rPr lang="zh-CN" altLang="en-US" dirty="0"/>
              <a:t>（讨论课）</a:t>
            </a:r>
          </a:p>
          <a:p>
            <a:r>
              <a:rPr lang="zh-CN" altLang="en-US" dirty="0"/>
              <a:t>第十章 </a:t>
            </a:r>
            <a:r>
              <a:rPr lang="en-US" altLang="zh-CN" dirty="0"/>
              <a:t>DHCP</a:t>
            </a:r>
            <a:r>
              <a:rPr lang="zh-CN" altLang="en-US" dirty="0"/>
              <a:t>服务器（讨论课）</a:t>
            </a:r>
          </a:p>
          <a:p>
            <a:r>
              <a:rPr lang="zh-CN" altLang="en-US" dirty="0"/>
              <a:t>附录 实验</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
            <a:extLst>
              <a:ext uri="{FF2B5EF4-FFF2-40B4-BE49-F238E27FC236}">
                <a16:creationId xmlns:a16="http://schemas.microsoft.com/office/drawing/2014/main" id="{1074A7F0-38C9-DAF6-F689-AA4933D41A53}"/>
              </a:ext>
            </a:extLst>
          </p:cNvPr>
          <p:cNvSpPr>
            <a:spLocks noGrp="1" noChangeArrowheads="1"/>
          </p:cNvSpPr>
          <p:nvPr>
            <p:ph type="ctrTitle"/>
          </p:nvPr>
        </p:nvSpPr>
        <p:spPr>
          <a:xfrm>
            <a:off x="0" y="692150"/>
            <a:ext cx="8893175" cy="1657350"/>
          </a:xfrm>
        </p:spPr>
        <p:txBody>
          <a:bodyPr/>
          <a:lstStyle/>
          <a:p>
            <a:pPr algn="ctr" eaLnBrk="1" hangingPunct="1">
              <a:lnSpc>
                <a:spcPct val="8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zh-CN" altLang="en-GB" sz="6000" b="1">
                <a:latin typeface="华文新魏" panose="02010800040101010101" pitchFamily="2" charset="-122"/>
              </a:rPr>
              <a:t>第一章 </a:t>
            </a:r>
            <a:r>
              <a:rPr lang="en-US" altLang="zh-CN" sz="6000" b="1">
                <a:latin typeface="华文新魏" panose="02010800040101010101" pitchFamily="2" charset="-122"/>
              </a:rPr>
              <a:t>Linux</a:t>
            </a:r>
            <a:r>
              <a:rPr lang="zh-CN" altLang="en-US" sz="6000" b="1">
                <a:latin typeface="华文新魏" panose="02010800040101010101" pitchFamily="2" charset="-122"/>
              </a:rPr>
              <a:t>系统与安全</a:t>
            </a:r>
            <a:endParaRPr lang="zh-CN" altLang="en-GB" sz="6000" b="1">
              <a:latin typeface="华文新魏" panose="02010800040101010101" pitchFamily="2" charset="-122"/>
            </a:endParaRPr>
          </a:p>
        </p:txBody>
      </p:sp>
      <p:sp>
        <p:nvSpPr>
          <p:cNvPr id="3" name="矩形 2">
            <a:extLst>
              <a:ext uri="{FF2B5EF4-FFF2-40B4-BE49-F238E27FC236}">
                <a16:creationId xmlns:a16="http://schemas.microsoft.com/office/drawing/2014/main" id="{406FD0ED-C84A-3BB3-AF65-CFFCDF256C7D}"/>
              </a:ext>
            </a:extLst>
          </p:cNvPr>
          <p:cNvSpPr/>
          <p:nvPr/>
        </p:nvSpPr>
        <p:spPr>
          <a:xfrm>
            <a:off x="107950" y="2060575"/>
            <a:ext cx="9001125" cy="4402138"/>
          </a:xfrm>
          <a:prstGeom prst="rect">
            <a:avLst/>
          </a:prstGeom>
        </p:spPr>
        <p:txBody>
          <a:bodyPr>
            <a:spAutoFit/>
          </a:bodyPr>
          <a:lstStyle/>
          <a:p>
            <a:pPr eaLnBrk="1" hangingPunct="1">
              <a:spcBef>
                <a:spcPts val="800"/>
              </a:spcBef>
              <a:spcAft>
                <a:spcPts val="800"/>
              </a:spcAft>
              <a:buClr>
                <a:srgbClr val="000000"/>
              </a:buClr>
              <a:buFont typeface="Arial" panose="020B0604020202020204" pitchFamily="34" charset="0"/>
              <a:buNone/>
              <a:defRPr/>
            </a:pPr>
            <a:r>
              <a:rPr lang="en-US" altLang="zh-CN" sz="6000" dirty="0">
                <a:latin typeface="+mn-ea"/>
                <a:ea typeface="+mn-ea"/>
              </a:rPr>
              <a:t>1.1 </a:t>
            </a:r>
            <a:r>
              <a:rPr lang="zh-CN" altLang="en-US" sz="6000" dirty="0">
                <a:latin typeface="+mn-ea"/>
                <a:ea typeface="+mn-ea"/>
              </a:rPr>
              <a:t>操作系统的安全</a:t>
            </a:r>
            <a:endParaRPr lang="en-US" altLang="zh-CN" sz="6000" dirty="0">
              <a:latin typeface="+mn-ea"/>
              <a:ea typeface="+mn-ea"/>
            </a:endParaRPr>
          </a:p>
          <a:p>
            <a:pPr eaLnBrk="1" hangingPunct="1">
              <a:spcBef>
                <a:spcPts val="800"/>
              </a:spcBef>
              <a:spcAft>
                <a:spcPts val="800"/>
              </a:spcAft>
              <a:buClr>
                <a:srgbClr val="000000"/>
              </a:buClr>
              <a:buFont typeface="Arial" panose="020B0604020202020204" pitchFamily="34" charset="0"/>
              <a:buNone/>
              <a:defRPr/>
            </a:pPr>
            <a:r>
              <a:rPr lang="en-US" altLang="zh-CN" sz="6000" dirty="0">
                <a:latin typeface="+mn-ea"/>
                <a:ea typeface="+mn-ea"/>
              </a:rPr>
              <a:t>1.2 UNIX</a:t>
            </a:r>
            <a:r>
              <a:rPr lang="zh-CN" altLang="en-US" sz="6000" dirty="0">
                <a:latin typeface="+mn-ea"/>
                <a:ea typeface="+mn-ea"/>
              </a:rPr>
              <a:t>系统简介</a:t>
            </a:r>
          </a:p>
          <a:p>
            <a:pPr eaLnBrk="1" hangingPunct="1">
              <a:spcBef>
                <a:spcPts val="800"/>
              </a:spcBef>
              <a:spcAft>
                <a:spcPts val="800"/>
              </a:spcAft>
              <a:buClr>
                <a:srgbClr val="000000"/>
              </a:buClr>
              <a:buFont typeface="Arial" panose="020B0604020202020204" pitchFamily="34" charset="0"/>
              <a:buNone/>
              <a:defRPr/>
            </a:pPr>
            <a:r>
              <a:rPr lang="en-US" altLang="zh-CN" sz="6000" dirty="0">
                <a:latin typeface="+mn-ea"/>
                <a:ea typeface="+mn-ea"/>
              </a:rPr>
              <a:t>1.3 Linux</a:t>
            </a:r>
            <a:r>
              <a:rPr lang="zh-CN" altLang="en-US" sz="6000" dirty="0">
                <a:latin typeface="+mn-ea"/>
                <a:ea typeface="+mn-ea"/>
              </a:rPr>
              <a:t>系统简介</a:t>
            </a:r>
            <a:endParaRPr lang="en-US" altLang="zh-CN" sz="6000" dirty="0">
              <a:latin typeface="+mn-ea"/>
              <a:ea typeface="+mn-ea"/>
            </a:endParaRPr>
          </a:p>
          <a:p>
            <a:pPr eaLnBrk="1" hangingPunct="1">
              <a:spcBef>
                <a:spcPts val="800"/>
              </a:spcBef>
              <a:spcAft>
                <a:spcPts val="800"/>
              </a:spcAft>
              <a:buClr>
                <a:srgbClr val="000000"/>
              </a:buClr>
              <a:buFont typeface="Arial" panose="020B0604020202020204" pitchFamily="34" charset="0"/>
              <a:buNone/>
              <a:defRPr/>
            </a:pPr>
            <a:r>
              <a:rPr lang="en-US" altLang="zh-CN" sz="6000" dirty="0">
                <a:latin typeface="+mn-ea"/>
                <a:ea typeface="+mn-ea"/>
              </a:rPr>
              <a:t>1.4 Linux</a:t>
            </a:r>
            <a:r>
              <a:rPr lang="zh-CN" altLang="en-US" sz="6000" dirty="0">
                <a:latin typeface="+mn-ea"/>
                <a:ea typeface="+mn-ea"/>
              </a:rPr>
              <a:t>操作系统的安全</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541E7570-2FDB-DE4B-28D2-F3FB8D871F87}"/>
              </a:ext>
            </a:extLst>
          </p:cNvPr>
          <p:cNvSpPr>
            <a:spLocks noGrp="1" noChangeArrowheads="1"/>
          </p:cNvSpPr>
          <p:nvPr>
            <p:ph type="title"/>
          </p:nvPr>
        </p:nvSpPr>
        <p:spPr>
          <a:xfrm>
            <a:off x="0" y="44450"/>
            <a:ext cx="9144000" cy="533400"/>
          </a:xfrm>
        </p:spPr>
        <p:txBody>
          <a:bodyPr/>
          <a:lstStyle/>
          <a:p>
            <a:pPr algn="ctr"/>
            <a:r>
              <a:rPr lang="en-US" altLang="zh-CN"/>
              <a:t>1.1 </a:t>
            </a:r>
            <a:r>
              <a:rPr lang="zh-CN" altLang="en-US"/>
              <a:t>操作系统的安全</a:t>
            </a:r>
          </a:p>
        </p:txBody>
      </p:sp>
      <p:sp>
        <p:nvSpPr>
          <p:cNvPr id="13315" name="矩形 3">
            <a:extLst>
              <a:ext uri="{FF2B5EF4-FFF2-40B4-BE49-F238E27FC236}">
                <a16:creationId xmlns:a16="http://schemas.microsoft.com/office/drawing/2014/main" id="{A7CE9698-1B67-751E-EB79-3A870F5818C2}"/>
              </a:ext>
            </a:extLst>
          </p:cNvPr>
          <p:cNvSpPr>
            <a:spLocks noChangeArrowheads="1"/>
          </p:cNvSpPr>
          <p:nvPr/>
        </p:nvSpPr>
        <p:spPr bwMode="auto">
          <a:xfrm>
            <a:off x="2555875" y="892175"/>
            <a:ext cx="64801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eaLnBrk="1" hangingPunct="1"/>
            <a:r>
              <a:rPr lang="zh-CN" altLang="en-US" sz="2200">
                <a:solidFill>
                  <a:srgbClr val="29698D"/>
                </a:solidFill>
                <a:latin typeface="Arial" panose="020B0604020202020204" pitchFamily="34" charset="0"/>
              </a:rPr>
              <a:t>操作系统的安全是信息安全的基础，</a:t>
            </a:r>
            <a:r>
              <a:rPr lang="zh-CN" altLang="en-US" sz="2200">
                <a:solidFill>
                  <a:srgbClr val="FF0000"/>
                </a:solidFill>
                <a:latin typeface="Arial" panose="020B0604020202020204" pitchFamily="34" charset="0"/>
              </a:rPr>
              <a:t>没有操作系统安全，就不可能真正解决数据库安全、网络安全和其他应用软件的安全问题</a:t>
            </a:r>
            <a:r>
              <a:rPr lang="zh-CN" altLang="en-US" sz="2200">
                <a:solidFill>
                  <a:srgbClr val="29698D"/>
                </a:solidFill>
                <a:latin typeface="Arial" panose="020B0604020202020204" pitchFamily="34" charset="0"/>
              </a:rPr>
              <a:t>。</a:t>
            </a:r>
          </a:p>
        </p:txBody>
      </p:sp>
      <p:sp>
        <p:nvSpPr>
          <p:cNvPr id="5" name="Text Box 11">
            <a:extLst>
              <a:ext uri="{FF2B5EF4-FFF2-40B4-BE49-F238E27FC236}">
                <a16:creationId xmlns:a16="http://schemas.microsoft.com/office/drawing/2014/main" id="{91894EE1-9972-41CA-C54B-96602279DA7F}"/>
              </a:ext>
            </a:extLst>
          </p:cNvPr>
          <p:cNvSpPr txBox="1">
            <a:spLocks noChangeArrowheads="1"/>
          </p:cNvSpPr>
          <p:nvPr/>
        </p:nvSpPr>
        <p:spPr bwMode="auto">
          <a:xfrm>
            <a:off x="539750" y="908050"/>
            <a:ext cx="1655763" cy="411163"/>
          </a:xfrm>
          <a:prstGeom prst="rect">
            <a:avLst/>
          </a:prstGeom>
          <a:noFill/>
          <a:ln>
            <a:noFill/>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Font typeface="Arial" panose="020B0604020202020204" pitchFamily="34" charset="0"/>
              <a:buNone/>
              <a:defRPr/>
            </a:pPr>
            <a:r>
              <a:rPr lang="zh-CN" altLang="en-US" sz="3600" dirty="0">
                <a:solidFill>
                  <a:srgbClr val="FF0000"/>
                </a:solidFill>
                <a:effectLst>
                  <a:outerShdw blurRad="38100" dist="38100" dir="2700000" algn="tl">
                    <a:srgbClr val="C0C0C0"/>
                  </a:outerShdw>
                </a:effectLst>
                <a:latin typeface="华文琥珀" panose="02010800040101010101" pitchFamily="2" charset="-122"/>
                <a:ea typeface="华文琥珀" panose="02010800040101010101" pitchFamily="2" charset="-122"/>
                <a:sym typeface="+mn-ea"/>
              </a:rPr>
              <a:t>重要性</a:t>
            </a:r>
          </a:p>
        </p:txBody>
      </p:sp>
      <p:sp>
        <p:nvSpPr>
          <p:cNvPr id="13317" name="内容占位符 13">
            <a:extLst>
              <a:ext uri="{FF2B5EF4-FFF2-40B4-BE49-F238E27FC236}">
                <a16:creationId xmlns:a16="http://schemas.microsoft.com/office/drawing/2014/main" id="{10B20180-12F6-A1B1-0E90-283CFF8FCE84}"/>
              </a:ext>
            </a:extLst>
          </p:cNvPr>
          <p:cNvSpPr txBox="1">
            <a:spLocks noChangeArrowheads="1"/>
          </p:cNvSpPr>
          <p:nvPr/>
        </p:nvSpPr>
        <p:spPr bwMode="auto">
          <a:xfrm>
            <a:off x="419100" y="1260475"/>
            <a:ext cx="8040688"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eaLnBrk="1" hangingPunct="1">
              <a:spcAft>
                <a:spcPts val="600"/>
              </a:spcAft>
              <a:buFont typeface="Wingdings" panose="05000000000000000000" pitchFamily="2" charset="2"/>
              <a:buNone/>
            </a:pPr>
            <a:endParaRPr lang="zh-CN" altLang="en-US" sz="2400" b="0">
              <a:solidFill>
                <a:srgbClr val="FF0000"/>
              </a:solidFill>
              <a:latin typeface="Calibri" panose="020F0502020204030204" pitchFamily="34" charset="0"/>
              <a:ea typeface="黑体" panose="02010609060101010101" pitchFamily="49" charset="-122"/>
            </a:endParaRPr>
          </a:p>
          <a:p>
            <a:pPr algn="r" eaLnBrk="1" hangingPunct="1">
              <a:buFont typeface="Wingdings" panose="05000000000000000000" pitchFamily="2" charset="2"/>
              <a:buNone/>
            </a:pPr>
            <a:r>
              <a:rPr lang="zh-CN" altLang="en-US" sz="1800">
                <a:solidFill>
                  <a:srgbClr val="FF0000"/>
                </a:solidFill>
                <a:ea typeface="黑体" panose="02010609060101010101" pitchFamily="49" charset="-122"/>
              </a:rPr>
              <a:t> </a:t>
            </a:r>
            <a:endParaRPr lang="zh-CN" altLang="en-US" sz="1800">
              <a:ea typeface="黑体" panose="02010609060101010101" pitchFamily="49" charset="-122"/>
            </a:endParaRPr>
          </a:p>
          <a:p>
            <a:pPr algn="r" eaLnBrk="1" hangingPunct="1">
              <a:buFont typeface="Wingdings" panose="05000000000000000000" pitchFamily="2" charset="2"/>
              <a:buNone/>
            </a:pPr>
            <a:endParaRPr lang="zh-CN" altLang="en-US" sz="180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zh-CN" altLang="en-US" sz="1800">
              <a:solidFill>
                <a:srgbClr val="0000CC"/>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r>
              <a:rPr lang="zh-CN" altLang="en-US" sz="1800">
                <a:solidFill>
                  <a:srgbClr val="0000CC"/>
                </a:solidFill>
                <a:latin typeface="Times New Roman" panose="02020603050405020304" pitchFamily="18" charset="0"/>
                <a:ea typeface="黑体" panose="02010609060101010101" pitchFamily="49" charset="-122"/>
              </a:rPr>
              <a:t>  </a:t>
            </a:r>
            <a:endParaRPr lang="zh-CN" altLang="en-US" sz="1800" b="0">
              <a:solidFill>
                <a:schemeClr val="tx1"/>
              </a:solidFill>
              <a:latin typeface="Times New Roman" panose="02020603050405020304" pitchFamily="18" charset="0"/>
              <a:ea typeface="黑体" panose="02010609060101010101" pitchFamily="49" charset="-122"/>
            </a:endParaRPr>
          </a:p>
          <a:p>
            <a:pPr algn="r" eaLnBrk="1" hangingPunct="1">
              <a:buFont typeface="Wingdings" panose="05000000000000000000" pitchFamily="2" charset="2"/>
              <a:buNone/>
            </a:pPr>
            <a:endParaRPr lang="zh-CN" altLang="en-US" sz="1800">
              <a:ea typeface="黑体" panose="02010609060101010101" pitchFamily="49" charset="-122"/>
            </a:endParaRPr>
          </a:p>
        </p:txBody>
      </p:sp>
      <p:sp>
        <p:nvSpPr>
          <p:cNvPr id="13318" name="圆角矩形 18">
            <a:extLst>
              <a:ext uri="{FF2B5EF4-FFF2-40B4-BE49-F238E27FC236}">
                <a16:creationId xmlns:a16="http://schemas.microsoft.com/office/drawing/2014/main" id="{0E4F0E3D-2070-BFAC-9D15-2824C6E25EB0}"/>
              </a:ext>
            </a:extLst>
          </p:cNvPr>
          <p:cNvSpPr>
            <a:spLocks noChangeArrowheads="1"/>
          </p:cNvSpPr>
          <p:nvPr/>
        </p:nvSpPr>
        <p:spPr bwMode="auto">
          <a:xfrm>
            <a:off x="215900" y="4437063"/>
            <a:ext cx="8677275" cy="2117725"/>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20000"/>
              </a:lnSpc>
              <a:spcBef>
                <a:spcPct val="0"/>
              </a:spcBef>
              <a:spcAft>
                <a:spcPct val="0"/>
              </a:spcAft>
              <a:buClrTx/>
              <a:buFont typeface="Arial" panose="020B0604020202020204" pitchFamily="34" charset="0"/>
              <a:buNone/>
            </a:pPr>
            <a:r>
              <a:rPr lang="en-US" altLang="zh-CN" sz="2000">
                <a:solidFill>
                  <a:srgbClr val="29698D"/>
                </a:solidFill>
                <a:latin typeface="宋体" panose="02010600030101010101" pitchFamily="2" charset="-122"/>
              </a:rPr>
              <a:t>  </a:t>
            </a:r>
            <a:r>
              <a:rPr lang="zh-CN" altLang="en-US" sz="2300">
                <a:solidFill>
                  <a:srgbClr val="FF0000"/>
                </a:solidFill>
                <a:latin typeface="Times New Roman" panose="02020603050405020304" pitchFamily="18" charset="0"/>
              </a:rPr>
              <a:t>系统漏洞主要包括：</a:t>
            </a:r>
            <a:r>
              <a:rPr lang="zh-CN" altLang="en-US" sz="2300">
                <a:solidFill>
                  <a:srgbClr val="29698D"/>
                </a:solidFill>
                <a:latin typeface="Times New Roman" panose="02020603050405020304" pitchFamily="18" charset="0"/>
                <a:ea typeface="楷体" panose="02010609060101010101" pitchFamily="49" charset="-122"/>
              </a:rPr>
              <a:t>（1）系统输入验证漏洞，是指软件没有对用户提供的输入数据的合法性作适当的检查，使得攻击者能够非法进入软件系统。例如：没有正确识别输入错误、接收了无关的输入数据、无法处理空输入域、域值关联错误等都会导致输入验证错误。</a:t>
            </a:r>
          </a:p>
        </p:txBody>
      </p:sp>
      <p:sp>
        <p:nvSpPr>
          <p:cNvPr id="13319" name="内容占位符 13">
            <a:extLst>
              <a:ext uri="{FF2B5EF4-FFF2-40B4-BE49-F238E27FC236}">
                <a16:creationId xmlns:a16="http://schemas.microsoft.com/office/drawing/2014/main" id="{8EA678D6-0F7A-0BCE-9397-89EB164E7675}"/>
              </a:ext>
            </a:extLst>
          </p:cNvPr>
          <p:cNvSpPr>
            <a:spLocks noChangeArrowheads="1"/>
          </p:cNvSpPr>
          <p:nvPr/>
        </p:nvSpPr>
        <p:spPr bwMode="auto">
          <a:xfrm>
            <a:off x="215900" y="1941513"/>
            <a:ext cx="58674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20000"/>
              </a:spcBef>
              <a:spcAft>
                <a:spcPts val="600"/>
              </a:spcAft>
              <a:buClr>
                <a:schemeClr val="hlink"/>
              </a:buClr>
              <a:buFont typeface="Wingdings" panose="05000000000000000000" pitchFamily="2" charset="2"/>
              <a:buNone/>
            </a:pPr>
            <a:r>
              <a:rPr lang="en-US" altLang="zh-CN" dirty="0">
                <a:solidFill>
                  <a:schemeClr val="tx1"/>
                </a:solidFill>
                <a:latin typeface="宋体" panose="02010600030101010101" pitchFamily="2" charset="-122"/>
              </a:rPr>
              <a:t>1</a:t>
            </a:r>
            <a:r>
              <a:rPr lang="zh-CN" altLang="zh-CN" dirty="0">
                <a:solidFill>
                  <a:schemeClr val="tx1"/>
                </a:solidFill>
                <a:latin typeface="宋体" panose="02010600030101010101" pitchFamily="2" charset="-122"/>
              </a:rPr>
              <a:t>.1.1 </a:t>
            </a:r>
            <a:r>
              <a:rPr lang="zh-CN" altLang="en-US" dirty="0">
                <a:solidFill>
                  <a:schemeClr val="tx1"/>
                </a:solidFill>
                <a:latin typeface="宋体" panose="02010600030101010101" pitchFamily="2" charset="-122"/>
              </a:rPr>
              <a:t>操作系统的漏洞威胁</a:t>
            </a:r>
          </a:p>
        </p:txBody>
      </p:sp>
      <p:sp>
        <p:nvSpPr>
          <p:cNvPr id="13320" name="圆角矩形 18">
            <a:extLst>
              <a:ext uri="{FF2B5EF4-FFF2-40B4-BE49-F238E27FC236}">
                <a16:creationId xmlns:a16="http://schemas.microsoft.com/office/drawing/2014/main" id="{0373E7F6-AD57-83DB-4129-B967A1852744}"/>
              </a:ext>
            </a:extLst>
          </p:cNvPr>
          <p:cNvSpPr>
            <a:spLocks noChangeArrowheads="1"/>
          </p:cNvSpPr>
          <p:nvPr/>
        </p:nvSpPr>
        <p:spPr bwMode="auto">
          <a:xfrm>
            <a:off x="215900" y="2420938"/>
            <a:ext cx="8532813" cy="1944687"/>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 typeface="Arial" panose="020B0604020202020204" pitchFamily="34" charset="0"/>
              <a:buNone/>
            </a:pPr>
            <a:r>
              <a:rPr lang="en-US" altLang="zh-CN" sz="2300">
                <a:solidFill>
                  <a:schemeClr val="tx1"/>
                </a:solidFill>
                <a:latin typeface="Arial" panose="020B0604020202020204" pitchFamily="34" charset="0"/>
                <a:sym typeface="+mn-ea"/>
              </a:rPr>
              <a:t>    </a:t>
            </a:r>
            <a:r>
              <a:rPr lang="zh-CN" altLang="en-US" sz="2300">
                <a:solidFill>
                  <a:schemeClr val="tx1"/>
                </a:solidFill>
                <a:latin typeface="Arial" panose="020B0604020202020204" pitchFamily="34" charset="0"/>
                <a:sym typeface="+mn-ea"/>
              </a:rPr>
              <a:t>1.操作系统的漏洞及隐患</a:t>
            </a:r>
          </a:p>
          <a:p>
            <a:pPr eaLnBrk="1" hangingPunct="1">
              <a:spcBef>
                <a:spcPct val="0"/>
              </a:spcBef>
              <a:spcAft>
                <a:spcPct val="0"/>
              </a:spcAft>
              <a:buClrTx/>
              <a:buFont typeface="Arial" panose="020B0604020202020204" pitchFamily="34" charset="0"/>
              <a:buNone/>
            </a:pPr>
            <a:r>
              <a:rPr lang="zh-CN" altLang="en-US" sz="2300">
                <a:solidFill>
                  <a:schemeClr val="tx1"/>
                </a:solidFill>
                <a:latin typeface="Arial" panose="020B0604020202020204" pitchFamily="34" charset="0"/>
                <a:sym typeface="+mn-ea"/>
              </a:rPr>
              <a:t>      </a:t>
            </a:r>
            <a:r>
              <a:rPr lang="zh-CN" altLang="en-US" sz="2300">
                <a:solidFill>
                  <a:srgbClr val="FF0000"/>
                </a:solidFill>
                <a:latin typeface="Arial" panose="020B0604020202020204" pitchFamily="34" charset="0"/>
                <a:sym typeface="+mn-ea"/>
              </a:rPr>
              <a:t>系统漏洞</a:t>
            </a:r>
            <a:r>
              <a:rPr lang="zh-CN" altLang="en-US" sz="2300">
                <a:solidFill>
                  <a:schemeClr val="tx1"/>
                </a:solidFill>
                <a:latin typeface="Arial" panose="020B0604020202020204" pitchFamily="34" charset="0"/>
                <a:sym typeface="+mn-ea"/>
              </a:rPr>
              <a:t>（System vulnerabilities）是指应用软件或操作系统软件在逻辑设计上的缺陷或错误，被不法者利用，通过网络植入木马、病毒等方式来攻击或控制整个电脑，窃取电脑中的重要资料和信息，甚至破坏系统。</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圆角矩形 18">
            <a:extLst>
              <a:ext uri="{FF2B5EF4-FFF2-40B4-BE49-F238E27FC236}">
                <a16:creationId xmlns:a16="http://schemas.microsoft.com/office/drawing/2014/main" id="{DA53FF2D-023D-9429-2A66-CF62018A26BA}"/>
              </a:ext>
            </a:extLst>
          </p:cNvPr>
          <p:cNvSpPr>
            <a:spLocks noChangeArrowheads="1"/>
          </p:cNvSpPr>
          <p:nvPr/>
        </p:nvSpPr>
        <p:spPr bwMode="auto">
          <a:xfrm>
            <a:off x="215900" y="3355975"/>
            <a:ext cx="8677275" cy="2547938"/>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200000"/>
              </a:lnSpc>
              <a:spcBef>
                <a:spcPct val="0"/>
              </a:spcBef>
              <a:spcAft>
                <a:spcPct val="0"/>
              </a:spcAft>
              <a:buClrTx/>
              <a:buFont typeface="Arial" panose="020B0604020202020204" pitchFamily="34" charset="0"/>
              <a:buNone/>
            </a:pPr>
            <a:r>
              <a:rPr lang="en-US" altLang="zh-CN" sz="2000">
                <a:solidFill>
                  <a:srgbClr val="29698D"/>
                </a:solidFill>
                <a:latin typeface="宋体" panose="02010600030101010101" pitchFamily="2" charset="-122"/>
              </a:rPr>
              <a:t>  </a:t>
            </a:r>
            <a:r>
              <a:rPr lang="zh-CN" altLang="en-US" sz="2300">
                <a:solidFill>
                  <a:srgbClr val="29698D"/>
                </a:solidFill>
                <a:latin typeface="Times New Roman" panose="02020603050405020304" pitchFamily="18" charset="0"/>
                <a:ea typeface="楷体" panose="02010609060101010101" pitchFamily="49" charset="-122"/>
                <a:sym typeface="Arial" panose="020B0604020202020204" pitchFamily="34" charset="0"/>
              </a:rPr>
              <a:t>（3）</a:t>
            </a:r>
            <a:r>
              <a:rPr lang="zh-CN" altLang="en-US" sz="2300">
                <a:solidFill>
                  <a:srgbClr val="FF0000"/>
                </a:solidFill>
                <a:latin typeface="Times New Roman" panose="02020603050405020304" pitchFamily="18" charset="0"/>
                <a:ea typeface="楷体" panose="02010609060101010101" pitchFamily="49" charset="-122"/>
                <a:sym typeface="Arial" panose="020B0604020202020204" pitchFamily="34" charset="0"/>
              </a:rPr>
              <a:t>边界条件系统漏洞</a:t>
            </a:r>
            <a:r>
              <a:rPr lang="zh-CN" altLang="en-US" sz="2300">
                <a:solidFill>
                  <a:srgbClr val="29698D"/>
                </a:solidFill>
                <a:latin typeface="Times New Roman" panose="02020603050405020304" pitchFamily="18" charset="0"/>
                <a:ea typeface="楷体" panose="02010609060101010101" pitchFamily="49" charset="-122"/>
                <a:sym typeface="Arial" panose="020B0604020202020204" pitchFamily="34" charset="0"/>
              </a:rPr>
              <a:t>，没有进行边界条件的有效性校验，致使系统产生缓冲区溢出漏洞。在进行读或写操作时，输入的数据超出边界条件、系统资源耗尽等情况都会产生边界条件漏洞。</a:t>
            </a:r>
          </a:p>
        </p:txBody>
      </p:sp>
      <p:sp>
        <p:nvSpPr>
          <p:cNvPr id="14339" name="圆角矩形 18">
            <a:extLst>
              <a:ext uri="{FF2B5EF4-FFF2-40B4-BE49-F238E27FC236}">
                <a16:creationId xmlns:a16="http://schemas.microsoft.com/office/drawing/2014/main" id="{E5583976-C303-C15E-4B40-53DDA86E6A46}"/>
              </a:ext>
            </a:extLst>
          </p:cNvPr>
          <p:cNvSpPr>
            <a:spLocks noChangeArrowheads="1"/>
          </p:cNvSpPr>
          <p:nvPr/>
        </p:nvSpPr>
        <p:spPr bwMode="auto">
          <a:xfrm>
            <a:off x="323850" y="908050"/>
            <a:ext cx="8532813" cy="2339975"/>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 typeface="Arial" panose="020B0604020202020204" pitchFamily="34" charset="0"/>
              <a:buNone/>
            </a:pPr>
            <a:r>
              <a:rPr lang="en-US" altLang="zh-CN" sz="2300">
                <a:solidFill>
                  <a:srgbClr val="29698D"/>
                </a:solidFill>
                <a:latin typeface="Times New Roman" panose="02020603050405020304" pitchFamily="18" charset="0"/>
                <a:ea typeface="楷体" panose="02010609060101010101" pitchFamily="49" charset="-122"/>
                <a:sym typeface="Arial" panose="020B0604020202020204" pitchFamily="34" charset="0"/>
              </a:rPr>
              <a:t>（2）</a:t>
            </a:r>
            <a:r>
              <a:rPr lang="en-US" altLang="zh-CN" sz="2300">
                <a:solidFill>
                  <a:srgbClr val="FF0000"/>
                </a:solidFill>
                <a:latin typeface="Times New Roman" panose="02020603050405020304" pitchFamily="18" charset="0"/>
                <a:ea typeface="楷体" panose="02010609060101010101" pitchFamily="49" charset="-122"/>
                <a:sym typeface="Arial" panose="020B0604020202020204" pitchFamily="34" charset="0"/>
              </a:rPr>
              <a:t>缓冲区溢出系统漏洞</a:t>
            </a:r>
            <a:r>
              <a:rPr lang="en-US" altLang="zh-CN" sz="2300">
                <a:solidFill>
                  <a:srgbClr val="29698D"/>
                </a:solidFill>
                <a:latin typeface="Times New Roman" panose="02020603050405020304" pitchFamily="18" charset="0"/>
                <a:ea typeface="楷体" panose="02010609060101010101" pitchFamily="49" charset="-122"/>
                <a:sym typeface="Arial" panose="020B0604020202020204" pitchFamily="34" charset="0"/>
              </a:rPr>
              <a:t>，是指当计算机向缓冲区内填充时，由于向缓冲区中录入的数据超过其规定长度造成缓冲区溢出，破坏程序正常的堆栈，使程序执行其他命令。利用缓冲区溢出漏洞进行攻击，可以导致程序运行失败、系统宕机、重新启动等后果。更为严重的是，可以利用它执行非授权指令，甚至可以取得系统特权。</a:t>
            </a:r>
            <a:endParaRPr lang="zh-CN" altLang="en-US" sz="2300">
              <a:solidFill>
                <a:srgbClr val="29698D"/>
              </a:solidFill>
              <a:latin typeface="Times New Roman" panose="02020603050405020304" pitchFamily="18" charset="0"/>
              <a:ea typeface="楷体" panose="02010609060101010101" pitchFamily="49" charset="-122"/>
              <a:sym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圆角矩形 18">
            <a:extLst>
              <a:ext uri="{FF2B5EF4-FFF2-40B4-BE49-F238E27FC236}">
                <a16:creationId xmlns:a16="http://schemas.microsoft.com/office/drawing/2014/main" id="{234CB709-06B2-C9A7-2794-54B72B19C895}"/>
              </a:ext>
            </a:extLst>
          </p:cNvPr>
          <p:cNvSpPr>
            <a:spLocks noChangeArrowheads="1"/>
          </p:cNvSpPr>
          <p:nvPr/>
        </p:nvSpPr>
        <p:spPr bwMode="auto">
          <a:xfrm>
            <a:off x="287338" y="3429000"/>
            <a:ext cx="8677275" cy="2547938"/>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en-US" altLang="zh-CN" sz="2000">
                <a:solidFill>
                  <a:srgbClr val="29698D"/>
                </a:solidFill>
                <a:latin typeface="宋体" panose="02010600030101010101" pitchFamily="2" charset="-122"/>
              </a:rPr>
              <a:t>  </a:t>
            </a:r>
            <a:r>
              <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rPr>
              <a:t>（6）</a:t>
            </a:r>
            <a:r>
              <a:rPr lang="zh-CN" altLang="en-US" sz="2300">
                <a:solidFill>
                  <a:srgbClr val="FF0000"/>
                </a:solidFill>
                <a:latin typeface="Times New Roman" panose="02020603050405020304" pitchFamily="18" charset="0"/>
                <a:ea typeface="楷体" panose="02010609060101010101" pitchFamily="49" charset="-122"/>
                <a:sym typeface="Arial" panose="020B0604020202020204" pitchFamily="34" charset="0"/>
              </a:rPr>
              <a:t>竞争条件漏洞</a:t>
            </a:r>
            <a:r>
              <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rPr>
              <a:t>，竞争条件漏洞就是多个进程访问同一资源时产生的时间或者序列的冲突，并利用这个冲突来对系统进行攻击，产生内存泄露，系统崩溃，数据破坏。一个看起来无害的程序如果被恶意攻击者利用，将发生竞争条件漏洞。</a:t>
            </a:r>
          </a:p>
          <a:p>
            <a:pPr eaLnBrk="1" hangingPunct="1">
              <a:lnSpc>
                <a:spcPct val="90000"/>
              </a:lnSpc>
              <a:spcBef>
                <a:spcPct val="0"/>
              </a:spcBef>
              <a:spcAft>
                <a:spcPct val="0"/>
              </a:spcAft>
              <a:buClrTx/>
              <a:buFont typeface="Arial" panose="020B0604020202020204" pitchFamily="34" charset="0"/>
              <a:buNone/>
            </a:pPr>
            <a:endPar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endParaRPr>
          </a:p>
          <a:p>
            <a:pPr eaLnBrk="1" hangingPunct="1">
              <a:lnSpc>
                <a:spcPct val="90000"/>
              </a:lnSpc>
              <a:spcBef>
                <a:spcPct val="0"/>
              </a:spcBef>
              <a:spcAft>
                <a:spcPct val="0"/>
              </a:spcAft>
              <a:buClrTx/>
              <a:buFont typeface="Arial" panose="020B0604020202020204" pitchFamily="34" charset="0"/>
              <a:buNone/>
            </a:pPr>
            <a:r>
              <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rPr>
              <a:t>（7）</a:t>
            </a:r>
            <a:r>
              <a:rPr lang="zh-CN" altLang="en-US" sz="2300">
                <a:solidFill>
                  <a:srgbClr val="FF0000"/>
                </a:solidFill>
                <a:latin typeface="Times New Roman" panose="02020603050405020304" pitchFamily="18" charset="0"/>
                <a:ea typeface="楷体" panose="02010609060101010101" pitchFamily="49" charset="-122"/>
                <a:sym typeface="Arial" panose="020B0604020202020204" pitchFamily="34" charset="0"/>
              </a:rPr>
              <a:t>系统顺序化操作漏洞</a:t>
            </a:r>
            <a:r>
              <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rPr>
              <a:t>，由于不正确的序列化操作而造成的错误。</a:t>
            </a:r>
          </a:p>
        </p:txBody>
      </p:sp>
      <p:sp>
        <p:nvSpPr>
          <p:cNvPr id="15363" name="圆角矩形 18">
            <a:extLst>
              <a:ext uri="{FF2B5EF4-FFF2-40B4-BE49-F238E27FC236}">
                <a16:creationId xmlns:a16="http://schemas.microsoft.com/office/drawing/2014/main" id="{648A8A03-611A-0587-6CD0-2B3420AAA01A}"/>
              </a:ext>
            </a:extLst>
          </p:cNvPr>
          <p:cNvSpPr>
            <a:spLocks noChangeArrowheads="1"/>
          </p:cNvSpPr>
          <p:nvPr/>
        </p:nvSpPr>
        <p:spPr bwMode="auto">
          <a:xfrm>
            <a:off x="395288" y="981075"/>
            <a:ext cx="8532812" cy="2339975"/>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 typeface="Arial" panose="020B0604020202020204" pitchFamily="34" charset="0"/>
              <a:buNone/>
            </a:pPr>
            <a:r>
              <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rPr>
              <a:t>（4）</a:t>
            </a:r>
            <a:r>
              <a:rPr lang="en-US" altLang="zh-CN" sz="2300">
                <a:solidFill>
                  <a:srgbClr val="FF0000"/>
                </a:solidFill>
                <a:latin typeface="Times New Roman" panose="02020603050405020304" pitchFamily="18" charset="0"/>
                <a:ea typeface="楷体" panose="02010609060101010101" pitchFamily="49" charset="-122"/>
                <a:sym typeface="Arial" panose="020B0604020202020204" pitchFamily="34" charset="0"/>
              </a:rPr>
              <a:t>访问校验系统漏洞</a:t>
            </a:r>
            <a:r>
              <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rPr>
              <a:t>，由于程序的校验访问位置本身存在某些逻辑错误，导致攻击者可以不进行访问检验而直接进入系统。</a:t>
            </a:r>
          </a:p>
          <a:p>
            <a:pPr eaLnBrk="1" hangingPunct="1">
              <a:spcBef>
                <a:spcPct val="0"/>
              </a:spcBef>
              <a:spcAft>
                <a:spcPct val="0"/>
              </a:spcAft>
              <a:buClrTx/>
              <a:buFont typeface="Arial" panose="020B0604020202020204" pitchFamily="34" charset="0"/>
              <a:buNone/>
            </a:pPr>
            <a:endPar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endParaRPr>
          </a:p>
          <a:p>
            <a:pPr eaLnBrk="1" hangingPunct="1">
              <a:spcBef>
                <a:spcPct val="0"/>
              </a:spcBef>
              <a:spcAft>
                <a:spcPct val="0"/>
              </a:spcAft>
              <a:buClrTx/>
              <a:buFont typeface="Arial" panose="020B0604020202020204" pitchFamily="34" charset="0"/>
              <a:buNone/>
            </a:pPr>
            <a:r>
              <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rPr>
              <a:t>（5）</a:t>
            </a:r>
            <a:r>
              <a:rPr lang="en-US" altLang="zh-CN" sz="2300">
                <a:solidFill>
                  <a:srgbClr val="FF0000"/>
                </a:solidFill>
                <a:latin typeface="Times New Roman" panose="02020603050405020304" pitchFamily="18" charset="0"/>
                <a:ea typeface="楷体" panose="02010609060101010101" pitchFamily="49" charset="-122"/>
                <a:sym typeface="Arial" panose="020B0604020202020204" pitchFamily="34" charset="0"/>
              </a:rPr>
              <a:t>意外逻辑漏洞</a:t>
            </a:r>
            <a:r>
              <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rPr>
              <a:t>，是由于在系统的逻辑设计过程中对某些意外情形没有考虑周全，使系统缺少对由功能模块、设备或用户输入等造成的异常情况的正确处理功能，而导致运行出错。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圆角矩形 18">
            <a:extLst>
              <a:ext uri="{FF2B5EF4-FFF2-40B4-BE49-F238E27FC236}">
                <a16:creationId xmlns:a16="http://schemas.microsoft.com/office/drawing/2014/main" id="{4960ACDF-BEFF-F30F-9325-000FE08C741C}"/>
              </a:ext>
            </a:extLst>
          </p:cNvPr>
          <p:cNvSpPr>
            <a:spLocks noChangeArrowheads="1"/>
          </p:cNvSpPr>
          <p:nvPr/>
        </p:nvSpPr>
        <p:spPr bwMode="auto">
          <a:xfrm>
            <a:off x="215900" y="3284538"/>
            <a:ext cx="8677275" cy="2547937"/>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en-US" altLang="zh-CN" sz="2000">
                <a:solidFill>
                  <a:srgbClr val="29698D"/>
                </a:solidFill>
                <a:latin typeface="宋体" panose="02010600030101010101" pitchFamily="2" charset="-122"/>
              </a:rPr>
              <a:t>  </a:t>
            </a:r>
            <a:r>
              <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rPr>
              <a:t>（9）</a:t>
            </a:r>
            <a:r>
              <a:rPr lang="zh-CN" altLang="en-US" sz="2300">
                <a:solidFill>
                  <a:srgbClr val="FF0000"/>
                </a:solidFill>
                <a:latin typeface="Times New Roman" panose="02020603050405020304" pitchFamily="18" charset="0"/>
                <a:ea typeface="楷体" panose="02010609060101010101" pitchFamily="49" charset="-122"/>
                <a:sym typeface="Arial" panose="020B0604020202020204" pitchFamily="34" charset="0"/>
              </a:rPr>
              <a:t>系统配置漏洞</a:t>
            </a:r>
            <a:r>
              <a:rPr lang="zh-CN" altLang="en-US" sz="2300">
                <a:solidFill>
                  <a:schemeClr val="tx1"/>
                </a:solidFill>
                <a:latin typeface="Times New Roman" panose="02020603050405020304" pitchFamily="18" charset="0"/>
                <a:ea typeface="楷体" panose="02010609060101010101" pitchFamily="49" charset="-122"/>
                <a:sym typeface="Arial" panose="020B0604020202020204" pitchFamily="34" charset="0"/>
              </a:rPr>
              <a:t>，由于系统和应用的配置有误。例如：访问权限配置错误、参数配置错误、系统被安装在不正确的地方或位置等。</a:t>
            </a:r>
          </a:p>
        </p:txBody>
      </p:sp>
      <p:sp>
        <p:nvSpPr>
          <p:cNvPr id="16387" name="圆角矩形 18">
            <a:extLst>
              <a:ext uri="{FF2B5EF4-FFF2-40B4-BE49-F238E27FC236}">
                <a16:creationId xmlns:a16="http://schemas.microsoft.com/office/drawing/2014/main" id="{A3DB8D9F-E482-BB4C-CEC9-91CB20C2DEAE}"/>
              </a:ext>
            </a:extLst>
          </p:cNvPr>
          <p:cNvSpPr>
            <a:spLocks noChangeArrowheads="1"/>
          </p:cNvSpPr>
          <p:nvPr/>
        </p:nvSpPr>
        <p:spPr bwMode="auto">
          <a:xfrm>
            <a:off x="323850" y="836613"/>
            <a:ext cx="8532813" cy="2339975"/>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 typeface="Arial" panose="020B0604020202020204" pitchFamily="34" charset="0"/>
              <a:buNone/>
            </a:pPr>
            <a:r>
              <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rPr>
              <a:t>（8）</a:t>
            </a:r>
            <a:r>
              <a:rPr lang="en-US" altLang="zh-CN" sz="2300">
                <a:solidFill>
                  <a:srgbClr val="FF0000"/>
                </a:solidFill>
                <a:latin typeface="Times New Roman" panose="02020603050405020304" pitchFamily="18" charset="0"/>
                <a:ea typeface="楷体" panose="02010609060101010101" pitchFamily="49" charset="-122"/>
                <a:sym typeface="Arial" panose="020B0604020202020204" pitchFamily="34" charset="0"/>
              </a:rPr>
              <a:t>系统环境漏洞</a:t>
            </a:r>
            <a:r>
              <a:rPr lang="en-US" altLang="zh-CN" sz="2300">
                <a:solidFill>
                  <a:schemeClr val="tx1"/>
                </a:solidFill>
                <a:latin typeface="Times New Roman" panose="02020603050405020304" pitchFamily="18" charset="0"/>
                <a:ea typeface="楷体" panose="02010609060101010101" pitchFamily="49" charset="-122"/>
                <a:sym typeface="Arial" panose="020B0604020202020204" pitchFamily="34" charset="0"/>
              </a:rPr>
              <a:t>，环境变量的错误或恶意设置而导致，使有问题的特权程序可以执行攻击代码。例如：在特定的环境中模块之间的交互造成错误、一个程序在特定的机器或特定的配置下将出现错误、操作环境与软件设计时的假设不同造成错误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圆角矩形 18">
            <a:extLst>
              <a:ext uri="{FF2B5EF4-FFF2-40B4-BE49-F238E27FC236}">
                <a16:creationId xmlns:a16="http://schemas.microsoft.com/office/drawing/2014/main" id="{A6BD7856-8FE3-3138-0B3F-4B078BA33395}"/>
              </a:ext>
            </a:extLst>
          </p:cNvPr>
          <p:cNvSpPr>
            <a:spLocks noChangeArrowheads="1"/>
          </p:cNvSpPr>
          <p:nvPr/>
        </p:nvSpPr>
        <p:spPr bwMode="auto">
          <a:xfrm>
            <a:off x="0" y="620713"/>
            <a:ext cx="9144000" cy="5832475"/>
          </a:xfrm>
          <a:prstGeom prst="roundRect">
            <a:avLst>
              <a:gd name="adj" fmla="val 16667"/>
            </a:avLst>
          </a:prstGeom>
          <a:solidFill>
            <a:schemeClr val="bg1"/>
          </a:solidFill>
          <a:ln w="25400">
            <a:solidFill>
              <a:schemeClr val="tx1"/>
            </a:solidFill>
            <a:round/>
            <a:headEnd/>
            <a:tailEnd/>
          </a:ln>
        </p:spPr>
        <p:txBody>
          <a:bodyPr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80000"/>
              </a:lnSpc>
              <a:spcBef>
                <a:spcPct val="0"/>
              </a:spcBef>
              <a:spcAft>
                <a:spcPct val="0"/>
              </a:spcAft>
              <a:buClrTx/>
              <a:buFont typeface="Arial" panose="020B0604020202020204" pitchFamily="34" charset="0"/>
              <a:buNone/>
            </a:pP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对操作系统进行安全设置会避免一定的风险与威胁，但是</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设置不当，也会产生相应的威胁</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。包括</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远程管理员权限</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本地管理员权限</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普通用户访问权限</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权限提升</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远程拒绝服务</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本地拒绝服务</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远程非授权文件存取</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系统服务信息泄露</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读取受限文件</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a:t>
            </a:r>
            <a:r>
              <a:rPr lang="en-US" altLang="zh-CN" sz="3200">
                <a:solidFill>
                  <a:srgbClr val="FF0000"/>
                </a:solidFill>
                <a:latin typeface="Times New Roman" panose="02020603050405020304" pitchFamily="18" charset="0"/>
                <a:ea typeface="楷体" panose="02010609060101010101" pitchFamily="49" charset="-122"/>
                <a:sym typeface="Arial" panose="020B0604020202020204" pitchFamily="34" charset="0"/>
              </a:rPr>
              <a:t>口令</a:t>
            </a:r>
            <a:r>
              <a:rPr lang="en-US" altLang="zh-CN" sz="3200">
                <a:solidFill>
                  <a:schemeClr val="tx1"/>
                </a:solidFill>
                <a:latin typeface="Times New Roman" panose="02020603050405020304" pitchFamily="18" charset="0"/>
                <a:ea typeface="楷体" panose="02010609060101010101" pitchFamily="49" charset="-122"/>
                <a:sym typeface="Arial" panose="020B0604020202020204" pitchFamily="34" charset="0"/>
              </a:rPr>
              <a:t>等设置不当所产生的威胁。</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16">
            <a:extLst>
              <a:ext uri="{FF2B5EF4-FFF2-40B4-BE49-F238E27FC236}">
                <a16:creationId xmlns:a16="http://schemas.microsoft.com/office/drawing/2014/main" id="{9474D466-22E6-C14C-6F9C-35F8BDFCCA25}"/>
              </a:ext>
            </a:extLst>
          </p:cNvPr>
          <p:cNvSpPr>
            <a:spLocks noChangeArrowheads="1"/>
          </p:cNvSpPr>
          <p:nvPr/>
        </p:nvSpPr>
        <p:spPr bwMode="auto">
          <a:xfrm>
            <a:off x="179388" y="44450"/>
            <a:ext cx="6192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 typeface="Arial" panose="020B0604020202020204" pitchFamily="34" charset="0"/>
              <a:buNone/>
            </a:pPr>
            <a:r>
              <a:rPr lang="zh-CN" altLang="en-US" sz="2400">
                <a:solidFill>
                  <a:srgbClr val="CC0000"/>
                </a:solidFill>
                <a:latin typeface="Arial" panose="020B0604020202020204" pitchFamily="34" charset="0"/>
              </a:rPr>
              <a:t>系统漏洞关系</a:t>
            </a:r>
            <a:r>
              <a:rPr lang="zh-CN" altLang="en-US" sz="2400">
                <a:solidFill>
                  <a:schemeClr val="tx2"/>
                </a:solidFill>
                <a:latin typeface="Arial" panose="020B0604020202020204" pitchFamily="34" charset="0"/>
              </a:rPr>
              <a:t>，如图</a:t>
            </a:r>
            <a:r>
              <a:rPr lang="en-US" altLang="zh-CN" sz="2400">
                <a:solidFill>
                  <a:schemeClr val="tx2"/>
                </a:solidFill>
                <a:latin typeface="Arial" panose="020B0604020202020204" pitchFamily="34" charset="0"/>
              </a:rPr>
              <a:t>1-1</a:t>
            </a:r>
            <a:r>
              <a:rPr lang="zh-CN" altLang="en-US" sz="2400">
                <a:solidFill>
                  <a:schemeClr val="tx2"/>
                </a:solidFill>
                <a:latin typeface="Arial" panose="020B0604020202020204" pitchFamily="34" charset="0"/>
              </a:rPr>
              <a:t>所示。</a:t>
            </a:r>
            <a:endParaRPr lang="zh-CN" altLang="en-US" sz="2400">
              <a:solidFill>
                <a:schemeClr val="tx2"/>
              </a:solidFill>
              <a:latin typeface="宋体" panose="02010600030101010101" pitchFamily="2" charset="-122"/>
            </a:endParaRPr>
          </a:p>
        </p:txBody>
      </p:sp>
      <p:sp>
        <p:nvSpPr>
          <p:cNvPr id="18435" name="Rectangle 21">
            <a:extLst>
              <a:ext uri="{FF2B5EF4-FFF2-40B4-BE49-F238E27FC236}">
                <a16:creationId xmlns:a16="http://schemas.microsoft.com/office/drawing/2014/main" id="{08D03D5D-E1BC-AE2A-6395-D0DB23318529}"/>
              </a:ext>
            </a:extLst>
          </p:cNvPr>
          <p:cNvSpPr>
            <a:spLocks noChangeArrowheads="1"/>
          </p:cNvSpPr>
          <p:nvPr/>
        </p:nvSpPr>
        <p:spPr bwMode="auto">
          <a:xfrm>
            <a:off x="3708400" y="5995988"/>
            <a:ext cx="21923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 typeface="Arial" panose="020B0604020202020204" pitchFamily="34" charset="0"/>
              <a:buNone/>
            </a:pPr>
            <a:r>
              <a:rPr lang="zh-CN" altLang="en-US" sz="1600">
                <a:solidFill>
                  <a:schemeClr val="tx1"/>
                </a:solidFill>
                <a:latin typeface="Arial" panose="020B0604020202020204" pitchFamily="34" charset="0"/>
              </a:rPr>
              <a:t>图</a:t>
            </a:r>
            <a:r>
              <a:rPr lang="en-US" altLang="zh-CN" sz="1600">
                <a:solidFill>
                  <a:schemeClr val="tx1"/>
                </a:solidFill>
                <a:latin typeface="Arial" panose="020B0604020202020204" pitchFamily="34" charset="0"/>
              </a:rPr>
              <a:t>1</a:t>
            </a:r>
            <a:r>
              <a:rPr lang="zh-CN" altLang="zh-CN" sz="1600">
                <a:solidFill>
                  <a:schemeClr val="tx1"/>
                </a:solidFill>
                <a:latin typeface="Arial" panose="020B0604020202020204" pitchFamily="34" charset="0"/>
              </a:rPr>
              <a:t>-1 </a:t>
            </a:r>
            <a:r>
              <a:rPr lang="zh-CN" altLang="en-US" sz="1600">
                <a:solidFill>
                  <a:schemeClr val="tx1"/>
                </a:solidFill>
                <a:latin typeface="Arial" panose="020B0604020202020204" pitchFamily="34" charset="0"/>
              </a:rPr>
              <a:t>系统漏洞关系图</a:t>
            </a:r>
          </a:p>
        </p:txBody>
      </p:sp>
      <p:graphicFrame>
        <p:nvGraphicFramePr>
          <p:cNvPr id="18436" name="对象 10">
            <a:extLst>
              <a:ext uri="{FF2B5EF4-FFF2-40B4-BE49-F238E27FC236}">
                <a16:creationId xmlns:a16="http://schemas.microsoft.com/office/drawing/2014/main" id="{69402BFC-4653-1165-0B92-DCEA9F7F28CA}"/>
              </a:ext>
            </a:extLst>
          </p:cNvPr>
          <p:cNvGraphicFramePr>
            <a:graphicFrameLocks/>
          </p:cNvGraphicFramePr>
          <p:nvPr/>
        </p:nvGraphicFramePr>
        <p:xfrm>
          <a:off x="827088" y="574675"/>
          <a:ext cx="6840537" cy="5446713"/>
        </p:xfrm>
        <a:graphic>
          <a:graphicData uri="http://schemas.openxmlformats.org/presentationml/2006/ole">
            <mc:AlternateContent xmlns:mc="http://schemas.openxmlformats.org/markup-compatibility/2006">
              <mc:Choice xmlns:v="urn:schemas-microsoft-com:vml" Requires="v">
                <p:oleObj r:id="rId6" imgW="5366520" imgH="4695480" progId="">
                  <p:embed/>
                </p:oleObj>
              </mc:Choice>
              <mc:Fallback>
                <p:oleObj r:id="rId6" imgW="5366520" imgH="4695480" progId="">
                  <p:embed/>
                  <p:pic>
                    <p:nvPicPr>
                      <p:cNvPr id="0" name="对象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574675"/>
                        <a:ext cx="6840537" cy="544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圆角矩形 4">
            <a:extLst>
              <a:ext uri="{FF2B5EF4-FFF2-40B4-BE49-F238E27FC236}">
                <a16:creationId xmlns:a16="http://schemas.microsoft.com/office/drawing/2014/main" id="{1ECCF9BB-15CD-8EAA-85F8-5FE7BA65B97E}"/>
              </a:ext>
            </a:extLst>
          </p:cNvPr>
          <p:cNvSpPr>
            <a:spLocks noChangeArrowheads="1"/>
          </p:cNvSpPr>
          <p:nvPr/>
        </p:nvSpPr>
        <p:spPr bwMode="auto">
          <a:xfrm>
            <a:off x="684213" y="620713"/>
            <a:ext cx="8351837" cy="4029075"/>
          </a:xfrm>
          <a:prstGeom prst="roundRect">
            <a:avLst>
              <a:gd name="adj" fmla="val 16667"/>
            </a:avLst>
          </a:prstGeom>
          <a:solidFill>
            <a:schemeClr val="bg1"/>
          </a:solidFill>
          <a:ln w="25400">
            <a:solidFill>
              <a:schemeClr val="accent1"/>
            </a:solidFill>
            <a:round/>
            <a:headEnd/>
            <a:tailEnd/>
          </a:ln>
        </p:spPr>
        <p:txBody>
          <a:bodyPr anchor="ctr" anchorCtr="1"/>
          <a:lstStyle>
            <a:lvl1pPr indent="4572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 typeface="Arial" panose="020B0604020202020204" pitchFamily="34" charset="0"/>
              <a:buNone/>
            </a:pPr>
            <a:r>
              <a:rPr lang="zh-CN" altLang="en-US" sz="2200">
                <a:solidFill>
                  <a:srgbClr val="FF0000"/>
                </a:solidFill>
                <a:latin typeface="Arial" panose="020B0604020202020204" pitchFamily="34" charset="0"/>
              </a:rPr>
              <a:t>操作系统安全管理的主要目标</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（1）依据系统安全策略对用户的操作进行</a:t>
            </a:r>
            <a:r>
              <a:rPr lang="zh-CN" altLang="en-US" sz="2000">
                <a:solidFill>
                  <a:srgbClr val="FF0000"/>
                </a:solidFill>
                <a:latin typeface="Arial" panose="020B0604020202020204" pitchFamily="34" charset="0"/>
              </a:rPr>
              <a:t>访问控制</a:t>
            </a:r>
            <a:r>
              <a:rPr lang="zh-CN" altLang="en-US" sz="2000">
                <a:solidFill>
                  <a:schemeClr val="tx1"/>
                </a:solidFill>
                <a:latin typeface="Arial" panose="020B0604020202020204" pitchFamily="34" charset="0"/>
              </a:rPr>
              <a:t>，防止用户对信息资源的非法访问（窃取、篡改和破坏）。</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（2）标识系统中的用户和进行</a:t>
            </a:r>
            <a:r>
              <a:rPr lang="zh-CN" altLang="en-US" sz="2000">
                <a:solidFill>
                  <a:srgbClr val="FF0000"/>
                </a:solidFill>
                <a:latin typeface="Arial" panose="020B0604020202020204" pitchFamily="34" charset="0"/>
              </a:rPr>
              <a:t>身份鉴别</a:t>
            </a:r>
            <a:r>
              <a:rPr lang="zh-CN" altLang="en-US" sz="2000">
                <a:solidFill>
                  <a:schemeClr val="tx1"/>
                </a:solidFill>
                <a:latin typeface="Arial" panose="020B0604020202020204" pitchFamily="34" charset="0"/>
              </a:rPr>
              <a:t>。</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（3）</a:t>
            </a:r>
            <a:r>
              <a:rPr lang="zh-CN" altLang="en-US" sz="2000">
                <a:solidFill>
                  <a:srgbClr val="FF0000"/>
                </a:solidFill>
                <a:latin typeface="Arial" panose="020B0604020202020204" pitchFamily="34" charset="0"/>
              </a:rPr>
              <a:t>监督系统运行</a:t>
            </a:r>
            <a:r>
              <a:rPr lang="zh-CN" altLang="en-US" sz="2000">
                <a:solidFill>
                  <a:schemeClr val="tx1"/>
                </a:solidFill>
                <a:latin typeface="Arial" panose="020B0604020202020204" pitchFamily="34" charset="0"/>
              </a:rPr>
              <a:t>时的安全性。</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（4）保证系统自身的</a:t>
            </a:r>
            <a:r>
              <a:rPr lang="zh-CN" altLang="en-US" sz="2000">
                <a:solidFill>
                  <a:srgbClr val="FF0000"/>
                </a:solidFill>
                <a:latin typeface="Arial" panose="020B0604020202020204" pitchFamily="34" charset="0"/>
              </a:rPr>
              <a:t>安全性和完整性</a:t>
            </a:r>
            <a:r>
              <a:rPr lang="zh-CN" altLang="en-US" sz="2000">
                <a:solidFill>
                  <a:schemeClr val="tx1"/>
                </a:solidFill>
                <a:latin typeface="Arial" panose="020B0604020202020204" pitchFamily="34" charset="0"/>
              </a:rPr>
              <a:t>。</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（5）建立</a:t>
            </a:r>
            <a:r>
              <a:rPr lang="zh-CN" altLang="en-US" sz="2000">
                <a:solidFill>
                  <a:srgbClr val="FF0000"/>
                </a:solidFill>
                <a:latin typeface="Arial" panose="020B0604020202020204" pitchFamily="34" charset="0"/>
              </a:rPr>
              <a:t>访问控制机制</a:t>
            </a:r>
            <a:r>
              <a:rPr lang="zh-CN" altLang="en-US" sz="2000">
                <a:solidFill>
                  <a:schemeClr val="tx1"/>
                </a:solidFill>
                <a:latin typeface="Arial" panose="020B0604020202020204" pitchFamily="34" charset="0"/>
              </a:rPr>
              <a:t>：自主访问控制、安全标记与强制访问控制、客体重用等。</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（6）建立可</a:t>
            </a:r>
            <a:r>
              <a:rPr lang="zh-CN" altLang="en-US" sz="2000">
                <a:solidFill>
                  <a:srgbClr val="FF0000"/>
                </a:solidFill>
                <a:latin typeface="Arial" panose="020B0604020202020204" pitchFamily="34" charset="0"/>
              </a:rPr>
              <a:t>追究机制</a:t>
            </a:r>
            <a:r>
              <a:rPr lang="zh-CN" altLang="en-US" sz="2000">
                <a:solidFill>
                  <a:schemeClr val="tx1"/>
                </a:solidFill>
                <a:latin typeface="Arial" panose="020B0604020202020204" pitchFamily="34" charset="0"/>
              </a:rPr>
              <a:t>：标识与鉴别、可信路径、安全审计等。</a:t>
            </a:r>
          </a:p>
          <a:p>
            <a:pPr eaLnBrk="1" hangingPunct="1">
              <a:spcBef>
                <a:spcPts val="300"/>
              </a:spcBef>
              <a:spcAft>
                <a:spcPts val="300"/>
              </a:spcAft>
              <a:buClrTx/>
              <a:buFont typeface="Arial" panose="020B0604020202020204" pitchFamily="34" charset="0"/>
              <a:buNone/>
            </a:pPr>
            <a:r>
              <a:rPr lang="zh-CN" altLang="en-US" sz="2000">
                <a:solidFill>
                  <a:schemeClr val="tx1"/>
                </a:solidFill>
                <a:latin typeface="Arial" panose="020B0604020202020204" pitchFamily="34" charset="0"/>
              </a:rPr>
              <a:t>（7）建立</a:t>
            </a:r>
            <a:r>
              <a:rPr lang="zh-CN" altLang="en-US" sz="2000">
                <a:solidFill>
                  <a:srgbClr val="FF0000"/>
                </a:solidFill>
                <a:latin typeface="Arial" panose="020B0604020202020204" pitchFamily="34" charset="0"/>
              </a:rPr>
              <a:t>连续保护机制</a:t>
            </a:r>
            <a:r>
              <a:rPr lang="zh-CN" altLang="en-US" sz="2000">
                <a:solidFill>
                  <a:schemeClr val="tx1"/>
                </a:solidFill>
                <a:latin typeface="Arial" panose="020B0604020202020204" pitchFamily="34" charset="0"/>
              </a:rPr>
              <a:t>：系统完整性、隐蔽通道分析、最小特权管理、可信恢复等。</a:t>
            </a:r>
            <a:r>
              <a:rPr lang="zh-CN" altLang="en-US">
                <a:solidFill>
                  <a:schemeClr val="tx1"/>
                </a:solidFill>
                <a:latin typeface="Arial" panose="020B0604020202020204" pitchFamily="34" charset="0"/>
              </a:rPr>
              <a:t> </a:t>
            </a:r>
          </a:p>
        </p:txBody>
      </p:sp>
      <p:sp>
        <p:nvSpPr>
          <p:cNvPr id="4" name="圆角矩形 4">
            <a:extLst>
              <a:ext uri="{FF2B5EF4-FFF2-40B4-BE49-F238E27FC236}">
                <a16:creationId xmlns:a16="http://schemas.microsoft.com/office/drawing/2014/main" id="{73CDFE5E-AA33-8A90-963A-AEA56C16AA49}"/>
              </a:ext>
            </a:extLst>
          </p:cNvPr>
          <p:cNvSpPr>
            <a:spLocks noChangeArrowheads="1"/>
          </p:cNvSpPr>
          <p:nvPr/>
        </p:nvSpPr>
        <p:spPr bwMode="auto">
          <a:xfrm>
            <a:off x="1258888" y="5084763"/>
            <a:ext cx="6011862" cy="1089025"/>
          </a:xfrm>
          <a:prstGeom prst="roundRect">
            <a:avLst>
              <a:gd name="adj" fmla="val 16667"/>
            </a:avLst>
          </a:prstGeom>
          <a:solidFill>
            <a:srgbClr val="FFFF66"/>
          </a:solidFill>
          <a:ln w="25400" cap="flat" cmpd="sng">
            <a:solidFill>
              <a:schemeClr val="accent1"/>
            </a:solidFill>
            <a:round/>
          </a:ln>
          <a:effectLst/>
        </p:spPr>
        <p:txBody>
          <a:bodyPr anchor="ctr" anchorCtr="1"/>
          <a:lstStyle/>
          <a:p>
            <a:pPr eaLnBrk="1" hangingPunct="1">
              <a:buFont typeface="Arial" panose="020B0604020202020204" pitchFamily="34" charset="0"/>
              <a:buNone/>
              <a:defRPr/>
            </a:pPr>
            <a:r>
              <a:rPr lang="zh-CN" altLang="en-US" dirty="0">
                <a:solidFill>
                  <a:srgbClr val="FF0000"/>
                </a:solidFill>
                <a:effectLst>
                  <a:outerShdw blurRad="38100" dist="38100" dir="2700000" algn="tl">
                    <a:srgbClr val="000000"/>
                  </a:outerShdw>
                </a:effectLst>
                <a:latin typeface="黑体" panose="02010600030101010101" pitchFamily="49" charset="-122"/>
                <a:ea typeface="黑体" panose="02010600030101010101" pitchFamily="49" charset="-122"/>
                <a:sym typeface="Wingdings" panose="05000000000000000000" pitchFamily="2" charset="2"/>
              </a:rPr>
              <a:t></a:t>
            </a:r>
            <a:r>
              <a:rPr lang="zh-CN" altLang="en-US" dirty="0">
                <a:solidFill>
                  <a:srgbClr val="FF0000"/>
                </a:solidFill>
                <a:effectLst>
                  <a:outerShdw blurRad="38100" dist="38100" dir="2700000" algn="tl">
                    <a:srgbClr val="000000"/>
                  </a:outerShdw>
                </a:effectLst>
                <a:latin typeface="黑体" panose="02010600030101010101" pitchFamily="49" charset="-122"/>
                <a:ea typeface="黑体" panose="02010600030101010101" pitchFamily="49" charset="-122"/>
                <a:sym typeface="+mn-ea"/>
              </a:rPr>
              <a:t>讨论思考：</a:t>
            </a:r>
            <a:endParaRPr lang="en-US" altLang="zh-CN" dirty="0">
              <a:solidFill>
                <a:srgbClr val="FF0000"/>
              </a:solidFill>
              <a:effectLst>
                <a:outerShdw blurRad="38100" dist="38100" dir="2700000" algn="tl">
                  <a:srgbClr val="000000"/>
                </a:outerShdw>
              </a:effectLst>
              <a:latin typeface="黑体" panose="02010600030101010101" pitchFamily="49" charset="-122"/>
              <a:ea typeface="黑体" panose="02010600030101010101" pitchFamily="49" charset="-122"/>
              <a:sym typeface="+mn-ea"/>
            </a:endParaRPr>
          </a:p>
          <a:p>
            <a:pPr eaLnBrk="1" hangingPunct="1">
              <a:lnSpc>
                <a:spcPct val="85000"/>
              </a:lnSpc>
              <a:buFont typeface="Arial" panose="020B0604020202020204" pitchFamily="34" charset="0"/>
              <a:buNone/>
              <a:defRPr/>
            </a:pPr>
            <a:endParaRPr lang="en-US" altLang="zh-CN" sz="1600" dirty="0">
              <a:sym typeface="+mn-ea"/>
            </a:endParaRPr>
          </a:p>
          <a:p>
            <a:pPr eaLnBrk="1" hangingPunct="1">
              <a:lnSpc>
                <a:spcPct val="85000"/>
              </a:lnSpc>
              <a:buFont typeface="Arial" panose="020B0604020202020204" pitchFamily="34" charset="0"/>
              <a:buNone/>
              <a:defRPr/>
            </a:pPr>
            <a:r>
              <a:rPr lang="zh-CN" altLang="en-US" sz="1600" dirty="0">
                <a:sym typeface="+mn-ea"/>
              </a:rPr>
              <a:t>操作系统安全的主要目标是什么？</a:t>
            </a:r>
            <a:r>
              <a:rPr lang="zh-CN" altLang="en-US" sz="1600" i="1" dirty="0">
                <a:solidFill>
                  <a:srgbClr val="FF0000"/>
                </a:solidFill>
                <a:sym typeface="+mn-ea"/>
              </a:rPr>
              <a:t>与国家安全有何关联？</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42BC8883-53C6-821F-B424-F0F9777A8A93}"/>
              </a:ext>
            </a:extLst>
          </p:cNvPr>
          <p:cNvSpPr>
            <a:spLocks noGrp="1"/>
          </p:cNvSpPr>
          <p:nvPr/>
        </p:nvSpPr>
        <p:spPr bwMode="auto">
          <a:xfrm>
            <a:off x="669925" y="469900"/>
            <a:ext cx="7793038"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Font typeface="Arial" panose="020B0604020202020204" pitchFamily="34" charset="0"/>
              <a:buNone/>
            </a:pPr>
            <a:r>
              <a:rPr lang="zh-CN" altLang="en-US" sz="4400">
                <a:solidFill>
                  <a:schemeClr val="tx2"/>
                </a:solidFill>
                <a:ea typeface="华文新魏" panose="02010800040101010101" pitchFamily="2" charset="-122"/>
              </a:rPr>
              <a:t>1.</a:t>
            </a:r>
            <a:r>
              <a:rPr lang="en-US" altLang="zh-CN" sz="4400">
                <a:solidFill>
                  <a:schemeClr val="tx2"/>
                </a:solidFill>
                <a:ea typeface="华文新魏" panose="02010800040101010101" pitchFamily="2" charset="-122"/>
              </a:rPr>
              <a:t>2</a:t>
            </a:r>
            <a:r>
              <a:rPr lang="zh-CN" altLang="en-US" sz="4400">
                <a:solidFill>
                  <a:schemeClr val="tx2"/>
                </a:solidFill>
                <a:ea typeface="华文新魏" panose="02010800040101010101" pitchFamily="2" charset="-122"/>
              </a:rPr>
              <a:t>.1  UNIX系统的发展历史</a:t>
            </a:r>
          </a:p>
        </p:txBody>
      </p:sp>
      <p:sp>
        <p:nvSpPr>
          <p:cNvPr id="4" name="内容占位符 2">
            <a:extLst>
              <a:ext uri="{FF2B5EF4-FFF2-40B4-BE49-F238E27FC236}">
                <a16:creationId xmlns:a16="http://schemas.microsoft.com/office/drawing/2014/main" id="{FA7978AC-0650-9601-3391-99B21144F889}"/>
              </a:ext>
            </a:extLst>
          </p:cNvPr>
          <p:cNvSpPr>
            <a:spLocks noGrp="1"/>
          </p:cNvSpPr>
          <p:nvPr/>
        </p:nvSpPr>
        <p:spPr bwMode="auto">
          <a:xfrm>
            <a:off x="250825" y="1628775"/>
            <a:ext cx="8785225" cy="4321175"/>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a:lstStyle>
          <a:p>
            <a:pPr eaLnBrk="1" hangingPunct="1">
              <a:defRPr/>
            </a:pPr>
            <a:r>
              <a:rPr lang="zh-CN" altLang="en-US" sz="2800" dirty="0"/>
              <a:t>UNIX</a:t>
            </a:r>
            <a:r>
              <a:rPr lang="zh-CN" altLang="en-US" sz="2400" dirty="0"/>
              <a:t>来源于美国国防部研发一个称为</a:t>
            </a:r>
            <a:r>
              <a:rPr lang="zh-CN" altLang="en-US" sz="2800" dirty="0"/>
              <a:t>Multics</a:t>
            </a:r>
            <a:r>
              <a:rPr lang="zh-CN" altLang="en-US" sz="2400" dirty="0"/>
              <a:t>（MULTiplexed Information and Computing System）的新操作系统项目。</a:t>
            </a:r>
            <a:endParaRPr lang="en-US" altLang="zh-CN" sz="2400" dirty="0"/>
          </a:p>
          <a:p>
            <a:pPr eaLnBrk="1" hangingPunct="1">
              <a:defRPr/>
            </a:pPr>
            <a:r>
              <a:rPr lang="zh-CN" altLang="en-US" sz="2800" dirty="0"/>
              <a:t>按设计思想</a:t>
            </a:r>
            <a:r>
              <a:rPr lang="zh-CN" altLang="en-US" sz="2400" dirty="0"/>
              <a:t>，Multics应该是能够很漂亮地支持</a:t>
            </a:r>
            <a:r>
              <a:rPr lang="zh-CN" altLang="en-US" sz="2800" dirty="0"/>
              <a:t>大群用户交互式使用分时系统</a:t>
            </a:r>
            <a:r>
              <a:rPr lang="zh-CN" altLang="en-US" sz="2400" dirty="0"/>
              <a:t>。但Multics，（设想）太完美了，最后因无法实现而半途而废。</a:t>
            </a:r>
            <a:endParaRPr lang="en-US" altLang="zh-CN" sz="2400" dirty="0"/>
          </a:p>
          <a:p>
            <a:pPr eaLnBrk="1" hangingPunct="1">
              <a:defRPr/>
            </a:pPr>
            <a:r>
              <a:rPr lang="zh-CN" altLang="en-US" sz="2800" dirty="0"/>
              <a:t>Ken Thompson</a:t>
            </a:r>
            <a:r>
              <a:rPr lang="zh-CN" altLang="en-US" sz="2400" dirty="0">
                <a:latin typeface="+mn-ea"/>
              </a:rPr>
              <a:t>和</a:t>
            </a:r>
            <a:r>
              <a:rPr lang="zh-CN" altLang="en-US" sz="2800" dirty="0"/>
              <a:t>Dennis Ritchie</a:t>
            </a:r>
            <a:r>
              <a:rPr lang="zh-CN" altLang="en-US" sz="2400" dirty="0"/>
              <a:t>在此基础上继续坚持，做出了</a:t>
            </a:r>
            <a:r>
              <a:rPr lang="en-US" altLang="zh-CN" sz="2400" dirty="0"/>
              <a:t>UNIX</a:t>
            </a:r>
            <a:r>
              <a:rPr lang="zh-CN" altLang="en-US" sz="2400" dirty="0"/>
              <a:t>。</a:t>
            </a:r>
          </a:p>
          <a:p>
            <a:pPr eaLnBrk="1" hangingPunct="1">
              <a:defRPr/>
            </a:pPr>
            <a:r>
              <a:rPr lang="zh-CN" altLang="en-US" sz="2400" dirty="0"/>
              <a:t>之后，又继续发展博采众长，成为现在的</a:t>
            </a:r>
            <a:r>
              <a:rPr lang="en-US" altLang="zh-CN" sz="2400" dirty="0"/>
              <a:t>UNIX</a:t>
            </a:r>
            <a:r>
              <a:rPr lang="zh-CN" altLang="en-US" sz="2400" dirty="0"/>
              <a:t>系统。</a:t>
            </a:r>
            <a:endParaRPr lang="en-US" altLang="zh-CN" sz="2400" dirty="0"/>
          </a:p>
        </p:txBody>
      </p:sp>
      <p:sp>
        <p:nvSpPr>
          <p:cNvPr id="20484" name="Text Box 4">
            <a:extLst>
              <a:ext uri="{FF2B5EF4-FFF2-40B4-BE49-F238E27FC236}">
                <a16:creationId xmlns:a16="http://schemas.microsoft.com/office/drawing/2014/main" id="{DCEE65BC-0939-C8A9-0EF5-6C3376CCD0F9}"/>
              </a:ext>
            </a:extLst>
          </p:cNvPr>
          <p:cNvSpPr txBox="1">
            <a:spLocks noChangeArrowheads="1"/>
          </p:cNvSpPr>
          <p:nvPr/>
        </p:nvSpPr>
        <p:spPr bwMode="auto">
          <a:xfrm>
            <a:off x="250825" y="-36513"/>
            <a:ext cx="4140200" cy="581026"/>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a:spcBef>
                <a:spcPct val="50000"/>
              </a:spcBef>
              <a:spcAft>
                <a:spcPct val="0"/>
              </a:spcAft>
              <a:buClrTx/>
              <a:buFontTx/>
              <a:buNone/>
            </a:pPr>
            <a:r>
              <a:rPr lang="en-US" altLang="zh-CN" sz="3200">
                <a:latin typeface="华文新魏" panose="02010800040101010101" pitchFamily="2" charset="-122"/>
                <a:ea typeface="华文新魏" panose="02010800040101010101" pitchFamily="2" charset="-122"/>
              </a:rPr>
              <a:t>1.2</a:t>
            </a:r>
            <a:r>
              <a:rPr lang="zh-CN" altLang="en-GB" sz="3200">
                <a:latin typeface="华文新魏" panose="02010800040101010101" pitchFamily="2" charset="-122"/>
                <a:ea typeface="华文新魏" panose="02010800040101010101" pitchFamily="2" charset="-122"/>
              </a:rPr>
              <a:t>、</a:t>
            </a:r>
            <a:r>
              <a:rPr lang="en-US" altLang="zh-CN" sz="3200">
                <a:latin typeface="华文新魏" panose="02010800040101010101" pitchFamily="2" charset="-122"/>
                <a:ea typeface="华文新魏" panose="02010800040101010101" pitchFamily="2" charset="-122"/>
              </a:rPr>
              <a:t>UNIX</a:t>
            </a:r>
            <a:r>
              <a:rPr lang="zh-CN" altLang="en-US" sz="3200">
                <a:latin typeface="华文新魏" panose="02010800040101010101" pitchFamily="2" charset="-122"/>
                <a:ea typeface="华文新魏" panose="02010800040101010101" pitchFamily="2" charset="-122"/>
              </a:rPr>
              <a:t>系统简介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2B37C73A-E1E5-9CCB-7A78-9ECF2633C9AA}"/>
              </a:ext>
            </a:extLst>
          </p:cNvPr>
          <p:cNvSpPr txBox="1">
            <a:spLocks noChangeArrowheads="1"/>
          </p:cNvSpPr>
          <p:nvPr/>
        </p:nvSpPr>
        <p:spPr bwMode="auto">
          <a:xfrm>
            <a:off x="755650" y="476250"/>
            <a:ext cx="7793038"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87000"/>
              </a:lnSpc>
              <a:spcBef>
                <a:spcPct val="0"/>
              </a:spcBef>
              <a:spcAft>
                <a:spcPct val="0"/>
              </a:spcAft>
              <a:buFont typeface="Arial" panose="020B0604020202020204" pitchFamily="34" charset="0"/>
              <a:buNone/>
            </a:pPr>
            <a:r>
              <a:rPr lang="zh-CN" altLang="en-US" sz="3600">
                <a:ea typeface="华文新魏" panose="02010800040101010101" pitchFamily="2" charset="-122"/>
              </a:rPr>
              <a:t>1．Multics与星际旅行</a:t>
            </a:r>
          </a:p>
        </p:txBody>
      </p:sp>
      <p:sp>
        <p:nvSpPr>
          <p:cNvPr id="21507" name="内容占位符 2">
            <a:extLst>
              <a:ext uri="{FF2B5EF4-FFF2-40B4-BE49-F238E27FC236}">
                <a16:creationId xmlns:a16="http://schemas.microsoft.com/office/drawing/2014/main" id="{6139341D-373E-B926-A339-F670102A27D8}"/>
              </a:ext>
            </a:extLst>
          </p:cNvPr>
          <p:cNvSpPr txBox="1">
            <a:spLocks noChangeArrowheads="1"/>
          </p:cNvSpPr>
          <p:nvPr/>
        </p:nvSpPr>
        <p:spPr bwMode="auto">
          <a:xfrm>
            <a:off x="787400" y="1412875"/>
            <a:ext cx="77724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chemeClr val="tx1"/>
                </a:solidFill>
              </a:rPr>
              <a:t>1965年</a:t>
            </a:r>
            <a:r>
              <a:rPr lang="zh-CN" altLang="en-US" sz="2400"/>
              <a:t>，</a:t>
            </a:r>
            <a:r>
              <a:rPr lang="zh-CN" altLang="en-US">
                <a:solidFill>
                  <a:schemeClr val="tx1"/>
                </a:solidFill>
              </a:rPr>
              <a:t>AT&amp;T</a:t>
            </a:r>
            <a:r>
              <a:rPr lang="zh-CN" altLang="en-US" sz="2400"/>
              <a:t>贝尔实验室（Bell Labs）、</a:t>
            </a:r>
            <a:r>
              <a:rPr lang="zh-CN" altLang="en-US">
                <a:solidFill>
                  <a:schemeClr val="tx1"/>
                </a:solidFill>
              </a:rPr>
              <a:t>通用电气公司</a:t>
            </a:r>
            <a:r>
              <a:rPr lang="zh-CN" altLang="en-US" sz="2400"/>
              <a:t>、</a:t>
            </a:r>
            <a:r>
              <a:rPr lang="zh-CN" altLang="en-US">
                <a:solidFill>
                  <a:schemeClr val="tx1"/>
                </a:solidFill>
              </a:rPr>
              <a:t>麻省理工学院</a:t>
            </a:r>
            <a:r>
              <a:rPr lang="zh-CN" altLang="en-US" sz="2400"/>
              <a:t>MAC课题组一起联合为美国国防部研制开发一个称为Multics，项目由于种种原因， Multics 没有取得最后成功。</a:t>
            </a:r>
          </a:p>
          <a:p>
            <a:pPr eaLnBrk="1" hangingPunct="1"/>
            <a:r>
              <a:rPr lang="zh-CN" altLang="en-US" sz="2400">
                <a:sym typeface="宋体" panose="02010600030101010101" pitchFamily="2" charset="-122"/>
              </a:rPr>
              <a:t>Multics项目终止后，当贝尔实验室从Multics研究联盟中退出时，</a:t>
            </a:r>
            <a:r>
              <a:rPr lang="zh-CN" altLang="en-US">
                <a:solidFill>
                  <a:schemeClr val="tx1"/>
                </a:solidFill>
                <a:sym typeface="宋体" panose="02010600030101010101" pitchFamily="2" charset="-122"/>
              </a:rPr>
              <a:t>Ken Thompson</a:t>
            </a:r>
            <a:r>
              <a:rPr lang="zh-CN" altLang="en-US" sz="2400">
                <a:sym typeface="宋体" panose="02010600030101010101" pitchFamily="2" charset="-122"/>
              </a:rPr>
              <a:t>写出了一个名叫“</a:t>
            </a:r>
            <a:r>
              <a:rPr lang="zh-CN" altLang="en-US">
                <a:solidFill>
                  <a:schemeClr val="tx1"/>
                </a:solidFill>
                <a:sym typeface="宋体" panose="02010600030101010101" pitchFamily="2" charset="-122"/>
              </a:rPr>
              <a:t>星际旅行（Space Travel）</a:t>
            </a:r>
            <a:r>
              <a:rPr lang="zh-CN" altLang="en-US" sz="2400">
                <a:sym typeface="宋体" panose="02010600030101010101" pitchFamily="2" charset="-122"/>
              </a:rPr>
              <a:t>”的游戏程序，并找到一台废弃的DEC PDP-7计算机运行他的程序。</a:t>
            </a:r>
            <a:endParaRPr lang="zh-CN"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BFD83010-43AF-B1E7-9523-8F92B4A7CA51}"/>
              </a:ext>
            </a:extLst>
          </p:cNvPr>
          <p:cNvSpPr txBox="1">
            <a:spLocks noChangeArrowheads="1"/>
          </p:cNvSpPr>
          <p:nvPr/>
        </p:nvSpPr>
        <p:spPr bwMode="auto">
          <a:xfrm>
            <a:off x="971550" y="620713"/>
            <a:ext cx="7793038"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87000"/>
              </a:lnSpc>
              <a:spcBef>
                <a:spcPct val="0"/>
              </a:spcBef>
              <a:spcAft>
                <a:spcPct val="0"/>
              </a:spcAft>
              <a:buFont typeface="Arial" panose="020B0604020202020204" pitchFamily="34" charset="0"/>
              <a:buNone/>
            </a:pPr>
            <a:r>
              <a:rPr lang="en-US" altLang="zh-CN" sz="3600">
                <a:ea typeface="华文新魏" panose="02010800040101010101" pitchFamily="2" charset="-122"/>
              </a:rPr>
              <a:t>2</a:t>
            </a:r>
            <a:r>
              <a:rPr lang="zh-CN" altLang="en-US" sz="3600">
                <a:ea typeface="华文新魏" panose="02010800040101010101" pitchFamily="2" charset="-122"/>
              </a:rPr>
              <a:t>、UNICS与UNIX</a:t>
            </a:r>
          </a:p>
        </p:txBody>
      </p:sp>
      <p:sp>
        <p:nvSpPr>
          <p:cNvPr id="22531" name="内容占位符 2">
            <a:extLst>
              <a:ext uri="{FF2B5EF4-FFF2-40B4-BE49-F238E27FC236}">
                <a16:creationId xmlns:a16="http://schemas.microsoft.com/office/drawing/2014/main" id="{9135DC48-463E-A65F-A397-CF895001318D}"/>
              </a:ext>
            </a:extLst>
          </p:cNvPr>
          <p:cNvSpPr txBox="1">
            <a:spLocks noChangeArrowheads="1"/>
          </p:cNvSpPr>
          <p:nvPr/>
        </p:nvSpPr>
        <p:spPr bwMode="auto">
          <a:xfrm>
            <a:off x="395288" y="1268413"/>
            <a:ext cx="8202612"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t>Ken Thompson和Dennis Ritchie一起着手开发</a:t>
            </a:r>
            <a:r>
              <a:rPr lang="zh-CN" altLang="en-US" sz="4000">
                <a:solidFill>
                  <a:srgbClr val="FF0000"/>
                </a:solidFill>
              </a:rPr>
              <a:t>DEC PDP-7上的操作环境</a:t>
            </a:r>
            <a:r>
              <a:rPr lang="zh-CN" altLang="en-US"/>
              <a:t>，为支持游戏开发而在PDP-7上编制的实用程序成了UNIX的核心。当时，它的文件系统很原始，也没有实行现在的标准，没有分时使用能力。</a:t>
            </a:r>
          </a:p>
          <a:p>
            <a:pPr eaLnBrk="1" hangingPunct="1"/>
            <a:r>
              <a:rPr lang="zh-CN" altLang="en-US"/>
              <a:t>UNIX最初的名字是</a:t>
            </a:r>
            <a:r>
              <a:rPr lang="zh-CN" altLang="en-US">
                <a:solidFill>
                  <a:srgbClr val="FF0000"/>
                </a:solidFill>
              </a:rPr>
              <a:t>“UNICS”</a:t>
            </a:r>
            <a:r>
              <a:rPr lang="zh-CN" altLang="en-US"/>
              <a:t>（Uniplexed Information and Computing System）。</a:t>
            </a:r>
            <a:r>
              <a:rPr lang="zh-CN" altLang="en-US">
                <a:solidFill>
                  <a:srgbClr val="FF0000"/>
                </a:solidFill>
              </a:rPr>
              <a:t>1970年</a:t>
            </a:r>
            <a:r>
              <a:rPr lang="zh-CN" altLang="en-US"/>
              <a:t>，贝尔实验室的另一位研究员</a:t>
            </a:r>
            <a:r>
              <a:rPr lang="zh-CN" altLang="en-US">
                <a:solidFill>
                  <a:srgbClr val="FF0000"/>
                </a:solidFill>
              </a:rPr>
              <a:t>Brian Kernighan提出UNIX这个名字</a:t>
            </a:r>
            <a:r>
              <a:rPr lang="zh-CN" altLang="en-US"/>
              <a:t>，UNIX中的Uni与Multi相对应，意为没有那么复杂，而x则是cs的谐音。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E5ABDFB4-8BE7-0EA2-84C9-28434C1E68D4}"/>
              </a:ext>
            </a:extLst>
          </p:cNvPr>
          <p:cNvSpPr txBox="1">
            <a:spLocks noChangeArrowheads="1"/>
          </p:cNvSpPr>
          <p:nvPr/>
        </p:nvSpPr>
        <p:spPr bwMode="auto">
          <a:xfrm>
            <a:off x="684213" y="765175"/>
            <a:ext cx="8259762"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87000"/>
              </a:lnSpc>
              <a:spcBef>
                <a:spcPct val="0"/>
              </a:spcBef>
              <a:spcAft>
                <a:spcPct val="0"/>
              </a:spcAft>
              <a:buFont typeface="Arial" panose="020B0604020202020204" pitchFamily="34" charset="0"/>
              <a:buNone/>
            </a:pPr>
            <a:r>
              <a:rPr lang="en-US" altLang="zh-CN" sz="3600">
                <a:ea typeface="华文新魏" panose="02010800040101010101" pitchFamily="2" charset="-122"/>
                <a:sym typeface="宋体" panose="02010600030101010101" pitchFamily="2" charset="-122"/>
              </a:rPr>
              <a:t>3</a:t>
            </a:r>
            <a:r>
              <a:rPr lang="zh-CN" altLang="en-US" sz="3600">
                <a:ea typeface="华文新魏" panose="02010800040101010101" pitchFamily="2" charset="-122"/>
                <a:sym typeface="宋体" panose="02010600030101010101" pitchFamily="2" charset="-122"/>
              </a:rPr>
              <a:t>、B语言、C语言与可移植操作系统</a:t>
            </a:r>
            <a:endParaRPr lang="zh-CN" altLang="en-US" sz="3600">
              <a:ea typeface="华文新魏" panose="02010800040101010101" pitchFamily="2" charset="-122"/>
            </a:endParaRPr>
          </a:p>
        </p:txBody>
      </p:sp>
      <p:sp>
        <p:nvSpPr>
          <p:cNvPr id="23555" name="内容占位符 2">
            <a:extLst>
              <a:ext uri="{FF2B5EF4-FFF2-40B4-BE49-F238E27FC236}">
                <a16:creationId xmlns:a16="http://schemas.microsoft.com/office/drawing/2014/main" id="{3AB18992-6C51-F609-C537-6026AB9A5AF4}"/>
              </a:ext>
            </a:extLst>
          </p:cNvPr>
          <p:cNvSpPr txBox="1">
            <a:spLocks noChangeArrowheads="1"/>
          </p:cNvSpPr>
          <p:nvPr/>
        </p:nvSpPr>
        <p:spPr bwMode="auto">
          <a:xfrm>
            <a:off x="755650" y="1557338"/>
            <a:ext cx="7772400"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ym typeface="宋体" panose="02010600030101010101" pitchFamily="2" charset="-122"/>
              </a:rPr>
              <a:t>最初的UNIX用汇编语言写成，应用程序用汇编语言和解释型语言B混合编写。</a:t>
            </a:r>
          </a:p>
          <a:p>
            <a:pPr eaLnBrk="1" hangingPunct="1"/>
            <a:r>
              <a:rPr lang="zh-CN" altLang="en-US">
                <a:sym typeface="宋体" panose="02010600030101010101" pitchFamily="2" charset="-122"/>
              </a:rPr>
              <a:t>1971年起由B语言演化成了C语言。</a:t>
            </a:r>
          </a:p>
          <a:p>
            <a:pPr eaLnBrk="1" hangingPunct="1"/>
            <a:r>
              <a:rPr lang="zh-CN" altLang="en-US">
                <a:solidFill>
                  <a:srgbClr val="FF0000"/>
                </a:solidFill>
                <a:sym typeface="宋体" panose="02010600030101010101" pitchFamily="2" charset="-122"/>
              </a:rPr>
              <a:t>1973年11月，Thompson和Ritchie等人用C语言重写了UNIX</a:t>
            </a:r>
            <a:r>
              <a:rPr lang="zh-CN" altLang="en-US">
                <a:sym typeface="宋体" panose="02010600030101010101" pitchFamily="2" charset="-122"/>
              </a:rPr>
              <a:t>，这是UNIX操作系统迈向成功之路的关键一步，也成为“</a:t>
            </a:r>
            <a:r>
              <a:rPr lang="zh-CN" altLang="en-US">
                <a:solidFill>
                  <a:srgbClr val="FF0000"/>
                </a:solidFill>
                <a:sym typeface="宋体" panose="02010600030101010101" pitchFamily="2" charset="-122"/>
              </a:rPr>
              <a:t>可移植操作系统</a:t>
            </a:r>
            <a:r>
              <a:rPr lang="zh-CN" altLang="en-US">
                <a:sym typeface="宋体" panose="02010600030101010101" pitchFamily="2" charset="-122"/>
              </a:rPr>
              <a:t>”的开端。</a:t>
            </a:r>
            <a:endParaRPr lang="en-US" altLang="zh-CN">
              <a:sym typeface="宋体" panose="02010600030101010101" pitchFamily="2" charset="-122"/>
            </a:endParaRPr>
          </a:p>
          <a:p>
            <a:pPr eaLnBrk="1" hangingPunct="1"/>
            <a:r>
              <a:rPr lang="zh-CN" altLang="en-US"/>
              <a:t>AT&amp;T公司在签署简单协议的前提下，</a:t>
            </a:r>
            <a:r>
              <a:rPr lang="zh-CN" altLang="en-US">
                <a:solidFill>
                  <a:srgbClr val="FF0000"/>
                </a:solidFill>
              </a:rPr>
              <a:t>将UNIX系统无偿地提供给大学</a:t>
            </a:r>
            <a:r>
              <a:rPr lang="zh-CN" altLang="en-US"/>
              <a:t>，以供教学与研究。</a:t>
            </a:r>
          </a:p>
          <a:p>
            <a:pPr eaLnBrk="1" hangingPunct="1"/>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6ED94641-1B72-6729-875D-0D1209C76049}"/>
              </a:ext>
            </a:extLst>
          </p:cNvPr>
          <p:cNvSpPr txBox="1">
            <a:spLocks noChangeArrowheads="1"/>
          </p:cNvSpPr>
          <p:nvPr/>
        </p:nvSpPr>
        <p:spPr bwMode="auto">
          <a:xfrm>
            <a:off x="1150938" y="692150"/>
            <a:ext cx="7793037"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87000"/>
              </a:lnSpc>
              <a:spcBef>
                <a:spcPct val="0"/>
              </a:spcBef>
              <a:spcAft>
                <a:spcPct val="0"/>
              </a:spcAft>
              <a:buFont typeface="Arial" panose="020B0604020202020204" pitchFamily="34" charset="0"/>
              <a:buNone/>
            </a:pPr>
            <a:r>
              <a:rPr lang="en-US" altLang="zh-CN" sz="3600">
                <a:ea typeface="华文新魏" panose="02010800040101010101" pitchFamily="2" charset="-122"/>
              </a:rPr>
              <a:t>4</a:t>
            </a:r>
            <a:r>
              <a:rPr lang="zh-CN" altLang="en-US" sz="3600">
                <a:ea typeface="华文新魏" panose="02010800040101010101" pitchFamily="2" charset="-122"/>
              </a:rPr>
              <a:t>、System V UNIX</a:t>
            </a:r>
          </a:p>
        </p:txBody>
      </p:sp>
      <p:sp>
        <p:nvSpPr>
          <p:cNvPr id="24579" name="内容占位符 2">
            <a:extLst>
              <a:ext uri="{FF2B5EF4-FFF2-40B4-BE49-F238E27FC236}">
                <a16:creationId xmlns:a16="http://schemas.microsoft.com/office/drawing/2014/main" id="{5A4E5915-4E37-2AB2-94C0-A32A31604A8F}"/>
              </a:ext>
            </a:extLst>
          </p:cNvPr>
          <p:cNvSpPr txBox="1">
            <a:spLocks noChangeArrowheads="1"/>
          </p:cNvSpPr>
          <p:nvPr/>
        </p:nvSpPr>
        <p:spPr bwMode="auto">
          <a:xfrm>
            <a:off x="684213" y="16287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t>贝尔实验室先后在</a:t>
            </a:r>
            <a:r>
              <a:rPr lang="zh-CN" altLang="en-US" sz="4400">
                <a:solidFill>
                  <a:srgbClr val="FF0000"/>
                </a:solidFill>
              </a:rPr>
              <a:t>1983年发行了System V</a:t>
            </a:r>
            <a:r>
              <a:rPr lang="zh-CN" altLang="en-US"/>
              <a:t>和</a:t>
            </a:r>
            <a:r>
              <a:rPr lang="zh-CN" altLang="en-US" sz="4000">
                <a:solidFill>
                  <a:srgbClr val="FF0000"/>
                </a:solidFill>
              </a:rPr>
              <a:t>几种微处理机上的UNIX</a:t>
            </a:r>
            <a:r>
              <a:rPr lang="zh-CN" altLang="en-US"/>
              <a:t>，1984年发行了System V Release2（SVR2）；1986年，UNIX System V发展到了修订版Res2.1和Res3.0；1987年发行了SVR3。</a:t>
            </a:r>
          </a:p>
          <a:p>
            <a:pPr eaLnBrk="1" hangingPunct="1"/>
            <a:r>
              <a:rPr lang="zh-CN" altLang="en-US"/>
              <a:t>System V引入许多新特征、新设施，最有代表性的就是进程间通信机制（IPC）。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5622E036-9AC7-61BC-2D9D-FC8C013B675C}"/>
              </a:ext>
            </a:extLst>
          </p:cNvPr>
          <p:cNvSpPr>
            <a:spLocks noGrp="1" noChangeArrowheads="1"/>
          </p:cNvSpPr>
          <p:nvPr>
            <p:ph type="subTitle" idx="1"/>
          </p:nvPr>
        </p:nvSpPr>
        <p:spPr>
          <a:xfrm>
            <a:off x="30163" y="609600"/>
            <a:ext cx="9001125" cy="5772150"/>
          </a:xfrm>
        </p:spPr>
        <p:txBody>
          <a:bodyPr/>
          <a:lstStyle/>
          <a:p>
            <a:pPr eaLnBrk="1" hangingPunct="1">
              <a:spcBef>
                <a:spcPts val="500"/>
              </a:spcBef>
              <a:spcAft>
                <a:spcPts val="500"/>
              </a:spcAft>
              <a:buFont typeface="StarSymbol" charset="0"/>
              <a:buBlip>
                <a:blip r:embed="rId2"/>
              </a:buBlip>
            </a:pPr>
            <a:r>
              <a:rPr lang="zh-CN" altLang="en-GB">
                <a:solidFill>
                  <a:srgbClr val="FF0000"/>
                </a:solidFill>
              </a:rPr>
              <a:t>荷兰</a:t>
            </a:r>
            <a:r>
              <a:rPr lang="zh-CN" altLang="en-GB"/>
              <a:t>计算机科学家</a:t>
            </a:r>
            <a:r>
              <a:rPr lang="en-GB" altLang="zh-CN">
                <a:solidFill>
                  <a:srgbClr val="FF0000"/>
                </a:solidFill>
              </a:rPr>
              <a:t>Andy Tanenbaum </a:t>
            </a:r>
            <a:r>
              <a:rPr lang="zh-CN" altLang="en-GB"/>
              <a:t>开发了 类</a:t>
            </a:r>
            <a:r>
              <a:rPr lang="en-GB" altLang="zh-CN"/>
              <a:t>Unix</a:t>
            </a:r>
            <a:r>
              <a:rPr lang="zh-CN" altLang="en-GB"/>
              <a:t>操作系统</a:t>
            </a:r>
            <a:r>
              <a:rPr lang="en-GB" altLang="zh-CN"/>
              <a:t>-Minix</a:t>
            </a:r>
            <a:r>
              <a:rPr lang="zh-CN" altLang="en-GB"/>
              <a:t>，主要应用于教学实验。</a:t>
            </a:r>
          </a:p>
          <a:p>
            <a:pPr eaLnBrk="1" hangingPunct="1">
              <a:spcBef>
                <a:spcPts val="500"/>
              </a:spcBef>
              <a:spcAft>
                <a:spcPts val="500"/>
              </a:spcAft>
              <a:buFont typeface="StarSymbol" charset="0"/>
              <a:buBlip>
                <a:blip r:embed="rId2"/>
              </a:buBlip>
            </a:pPr>
            <a:r>
              <a:rPr lang="zh-CN" altLang="en-GB">
                <a:solidFill>
                  <a:srgbClr val="FF0000"/>
                </a:solidFill>
              </a:rPr>
              <a:t>芬兰的大学生</a:t>
            </a:r>
            <a:r>
              <a:rPr lang="en-GB" altLang="zh-CN"/>
              <a:t>Linus Torvalds</a:t>
            </a:r>
            <a:r>
              <a:rPr lang="zh-CN" altLang="en-GB"/>
              <a:t>在</a:t>
            </a:r>
            <a:r>
              <a:rPr lang="en-GB" altLang="zh-CN"/>
              <a:t>Minix</a:t>
            </a:r>
            <a:r>
              <a:rPr lang="zh-CN" altLang="en-GB"/>
              <a:t>基础上 编写了一个操作系统核心软件，并于</a:t>
            </a:r>
            <a:r>
              <a:rPr lang="en-GB" altLang="zh-CN">
                <a:solidFill>
                  <a:srgbClr val="FF0000"/>
                </a:solidFill>
              </a:rPr>
              <a:t>1991</a:t>
            </a:r>
            <a:r>
              <a:rPr lang="zh-CN" altLang="en-GB">
                <a:solidFill>
                  <a:srgbClr val="FF0000"/>
                </a:solidFill>
              </a:rPr>
              <a:t>年</a:t>
            </a:r>
            <a:r>
              <a:rPr lang="en-GB" altLang="zh-CN">
                <a:solidFill>
                  <a:srgbClr val="FF0000"/>
                </a:solidFill>
              </a:rPr>
              <a:t>10</a:t>
            </a:r>
            <a:r>
              <a:rPr lang="zh-CN" altLang="en-GB">
                <a:solidFill>
                  <a:srgbClr val="FF0000"/>
                </a:solidFill>
              </a:rPr>
              <a:t>月公布为</a:t>
            </a:r>
            <a:r>
              <a:rPr lang="en-GB" altLang="zh-CN">
                <a:solidFill>
                  <a:srgbClr val="FF0000"/>
                </a:solidFill>
              </a:rPr>
              <a:t>Linux 0.0.2</a:t>
            </a:r>
            <a:r>
              <a:rPr lang="zh-CN" altLang="en-GB">
                <a:solidFill>
                  <a:srgbClr val="FF0000"/>
                </a:solidFill>
              </a:rPr>
              <a:t>版</a:t>
            </a:r>
            <a:r>
              <a:rPr lang="zh-CN" altLang="en-GB"/>
              <a:t>。随后世界上众多的 </a:t>
            </a:r>
            <a:r>
              <a:rPr lang="en-GB" altLang="zh-CN"/>
              <a:t>Unix</a:t>
            </a:r>
            <a:r>
              <a:rPr lang="zh-CN" altLang="en-GB"/>
              <a:t>爱好者和黑客共同完善了其余部分。 </a:t>
            </a:r>
          </a:p>
          <a:p>
            <a:pPr eaLnBrk="1" hangingPunct="1">
              <a:spcBef>
                <a:spcPts val="500"/>
              </a:spcBef>
              <a:spcAft>
                <a:spcPts val="500"/>
              </a:spcAft>
              <a:buFont typeface="StarSymbol" charset="0"/>
              <a:buBlip>
                <a:blip r:embed="rId2"/>
              </a:buBlip>
            </a:pPr>
            <a:r>
              <a:rPr lang="zh-CN" altLang="en-GB"/>
              <a:t>目前有很多商业公司可以</a:t>
            </a:r>
            <a:r>
              <a:rPr lang="zh-CN" altLang="en-GB">
                <a:solidFill>
                  <a:srgbClr val="FF0000"/>
                </a:solidFill>
              </a:rPr>
              <a:t>免费得到</a:t>
            </a:r>
            <a:r>
              <a:rPr lang="en-GB" altLang="zh-CN">
                <a:solidFill>
                  <a:srgbClr val="FF0000"/>
                </a:solidFill>
              </a:rPr>
              <a:t>Linux</a:t>
            </a:r>
            <a:r>
              <a:rPr lang="zh-CN" altLang="en-GB">
                <a:solidFill>
                  <a:srgbClr val="FF0000"/>
                </a:solidFill>
              </a:rPr>
              <a:t>的核心源代码</a:t>
            </a:r>
            <a:r>
              <a:rPr lang="zh-CN" altLang="en-GB"/>
              <a:t>，并加以包装和改进后形成自己的产品， 即</a:t>
            </a:r>
            <a:r>
              <a:rPr lang="en-GB" altLang="zh-CN"/>
              <a:t>Linux</a:t>
            </a:r>
            <a:r>
              <a:rPr lang="zh-CN" altLang="en-GB"/>
              <a:t>发行套件</a:t>
            </a:r>
            <a:r>
              <a:rPr lang="en-GB" altLang="zh-CN"/>
              <a:t>(distribution)</a:t>
            </a:r>
            <a:r>
              <a:rPr lang="zh-CN" altLang="en-GB"/>
              <a:t>。 </a:t>
            </a:r>
          </a:p>
          <a:p>
            <a:pPr eaLnBrk="1" hangingPunct="1">
              <a:spcBef>
                <a:spcPts val="500"/>
              </a:spcBef>
              <a:spcAft>
                <a:spcPts val="500"/>
              </a:spcAft>
              <a:buFont typeface="StarSymbol" charset="0"/>
              <a:buBlip>
                <a:blip r:embed="rId2"/>
              </a:buBlip>
            </a:pPr>
            <a:r>
              <a:rPr lang="zh-CN" altLang="en-GB"/>
              <a:t>当前公开发行的</a:t>
            </a:r>
            <a:r>
              <a:rPr lang="en-GB" altLang="zh-CN"/>
              <a:t>Linux</a:t>
            </a:r>
            <a:r>
              <a:rPr lang="zh-CN" altLang="en-GB"/>
              <a:t>内核</a:t>
            </a:r>
            <a:r>
              <a:rPr lang="en-GB" altLang="zh-CN"/>
              <a:t>(Kernel)</a:t>
            </a:r>
            <a:r>
              <a:rPr lang="zh-CN" altLang="en-GB"/>
              <a:t>版本是</a:t>
            </a:r>
            <a:r>
              <a:rPr lang="en-GB" altLang="zh-CN"/>
              <a:t>2.6</a:t>
            </a:r>
            <a:r>
              <a:rPr lang="zh-CN" altLang="en-GB"/>
              <a:t>。发行套件版本则和具体的套件有关，如</a:t>
            </a:r>
            <a:r>
              <a:rPr lang="en-GB" altLang="zh-CN">
                <a:solidFill>
                  <a:srgbClr val="FF0000"/>
                </a:solidFill>
              </a:rPr>
              <a:t>RedHat</a:t>
            </a:r>
            <a:r>
              <a:rPr lang="zh-CN" altLang="en-GB">
                <a:solidFill>
                  <a:srgbClr val="FF0000"/>
                </a:solidFill>
              </a:rPr>
              <a:t>套件流行的版本为</a:t>
            </a:r>
            <a:r>
              <a:rPr lang="en-GB" altLang="zh-CN">
                <a:solidFill>
                  <a:srgbClr val="FF0000"/>
                </a:solidFill>
              </a:rPr>
              <a:t>9.0</a:t>
            </a:r>
            <a:r>
              <a:rPr lang="zh-CN" altLang="en-GB">
                <a:solidFill>
                  <a:srgbClr val="FF0000"/>
                </a:solidFill>
              </a:rPr>
              <a:t>。</a:t>
            </a:r>
          </a:p>
        </p:txBody>
      </p:sp>
      <p:sp>
        <p:nvSpPr>
          <p:cNvPr id="25603" name="Text Box 4">
            <a:extLst>
              <a:ext uri="{FF2B5EF4-FFF2-40B4-BE49-F238E27FC236}">
                <a16:creationId xmlns:a16="http://schemas.microsoft.com/office/drawing/2014/main" id="{98847F67-2FA4-EAE5-962F-92328A289C18}"/>
              </a:ext>
            </a:extLst>
          </p:cNvPr>
          <p:cNvSpPr txBox="1">
            <a:spLocks noChangeArrowheads="1"/>
          </p:cNvSpPr>
          <p:nvPr/>
        </p:nvSpPr>
        <p:spPr bwMode="auto">
          <a:xfrm>
            <a:off x="2484438" y="0"/>
            <a:ext cx="4094162" cy="584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a:spcBef>
                <a:spcPct val="50000"/>
              </a:spcBef>
              <a:spcAft>
                <a:spcPct val="0"/>
              </a:spcAft>
              <a:buClrTx/>
              <a:buFontTx/>
              <a:buNone/>
            </a:pPr>
            <a:r>
              <a:rPr lang="en-US" altLang="zh-CN" sz="3200">
                <a:latin typeface="华文新魏" panose="02010800040101010101" pitchFamily="2" charset="-122"/>
                <a:ea typeface="华文新魏" panose="02010800040101010101" pitchFamily="2" charset="-122"/>
              </a:rPr>
              <a:t>1.3</a:t>
            </a:r>
            <a:r>
              <a:rPr lang="zh-CN" altLang="en-GB" sz="3200">
                <a:latin typeface="华文新魏" panose="02010800040101010101" pitchFamily="2" charset="-122"/>
                <a:ea typeface="华文新魏" panose="02010800040101010101" pitchFamily="2" charset="-122"/>
              </a:rPr>
              <a:t>、</a:t>
            </a:r>
            <a:r>
              <a:rPr lang="en-GB" altLang="zh-CN" sz="3200">
                <a:latin typeface="华文新魏" panose="02010800040101010101" pitchFamily="2" charset="-122"/>
                <a:ea typeface="华文新魏" panose="02010800040101010101" pitchFamily="2" charset="-122"/>
              </a:rPr>
              <a:t>Linux</a:t>
            </a:r>
            <a:r>
              <a:rPr lang="zh-CN" altLang="en-US" sz="3200">
                <a:latin typeface="华文新魏" panose="02010800040101010101" pitchFamily="2" charset="-122"/>
                <a:ea typeface="华文新魏" panose="02010800040101010101" pitchFamily="2" charset="-122"/>
              </a:rPr>
              <a:t>系统简介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A1DB8D17-EF05-721F-81E6-29DC32A2831D}"/>
              </a:ext>
            </a:extLst>
          </p:cNvPr>
          <p:cNvSpPr>
            <a:spLocks noGrp="1" noChangeArrowheads="1"/>
          </p:cNvSpPr>
          <p:nvPr>
            <p:ph idx="1"/>
          </p:nvPr>
        </p:nvSpPr>
        <p:spPr/>
        <p:txBody>
          <a:bodyPr/>
          <a:lstStyle/>
          <a:p>
            <a:pPr marL="0" indent="0" eaLnBrk="1" hangingPunct="1">
              <a:spcBef>
                <a:spcPts val="500"/>
              </a:spcBef>
              <a:spcAft>
                <a:spcPts val="500"/>
              </a:spcAft>
              <a:buFont typeface="Arial" panose="020B0604020202020204" pitchFamily="34" charset="0"/>
              <a:buNone/>
            </a:pPr>
            <a:r>
              <a:rPr lang="en-US" altLang="zh-CN">
                <a:solidFill>
                  <a:schemeClr val="tx1"/>
                </a:solidFill>
              </a:rPr>
              <a:t>1</a:t>
            </a:r>
            <a:r>
              <a:rPr lang="zh-CN" altLang="en-US">
                <a:solidFill>
                  <a:schemeClr val="tx1"/>
                </a:solidFill>
              </a:rPr>
              <a:t>、</a:t>
            </a:r>
            <a:r>
              <a:rPr lang="en-GB" altLang="zh-CN">
                <a:solidFill>
                  <a:schemeClr val="tx1"/>
                </a:solidFill>
              </a:rPr>
              <a:t>Linux</a:t>
            </a:r>
            <a:r>
              <a:rPr lang="zh-CN" altLang="en-GB">
                <a:solidFill>
                  <a:schemeClr val="tx1"/>
                </a:solidFill>
              </a:rPr>
              <a:t>发展大事记</a:t>
            </a:r>
            <a:endParaRPr lang="zh-CN" altLang="en-GB"/>
          </a:p>
        </p:txBody>
      </p:sp>
      <p:grpSp>
        <p:nvGrpSpPr>
          <p:cNvPr id="26627" name="Group 5">
            <a:extLst>
              <a:ext uri="{FF2B5EF4-FFF2-40B4-BE49-F238E27FC236}">
                <a16:creationId xmlns:a16="http://schemas.microsoft.com/office/drawing/2014/main" id="{73C497FE-231A-4C66-7305-91F3BBE2188C}"/>
              </a:ext>
            </a:extLst>
          </p:cNvPr>
          <p:cNvGrpSpPr>
            <a:grpSpLocks/>
          </p:cNvGrpSpPr>
          <p:nvPr/>
        </p:nvGrpSpPr>
        <p:grpSpPr bwMode="auto">
          <a:xfrm>
            <a:off x="323850" y="1196975"/>
            <a:ext cx="8478838" cy="5021263"/>
            <a:chOff x="204" y="754"/>
            <a:chExt cx="5341" cy="3163"/>
          </a:xfrm>
        </p:grpSpPr>
        <p:grpSp>
          <p:nvGrpSpPr>
            <p:cNvPr id="26628" name="Group 6">
              <a:extLst>
                <a:ext uri="{FF2B5EF4-FFF2-40B4-BE49-F238E27FC236}">
                  <a16:creationId xmlns:a16="http://schemas.microsoft.com/office/drawing/2014/main" id="{2EF6CAC3-6507-C8AE-0B46-F72F19294B4F}"/>
                </a:ext>
              </a:extLst>
            </p:cNvPr>
            <p:cNvGrpSpPr>
              <a:grpSpLocks/>
            </p:cNvGrpSpPr>
            <p:nvPr/>
          </p:nvGrpSpPr>
          <p:grpSpPr bwMode="auto">
            <a:xfrm>
              <a:off x="1291" y="3643"/>
              <a:ext cx="4246" cy="261"/>
              <a:chOff x="1291" y="3643"/>
              <a:chExt cx="4246" cy="261"/>
            </a:xfrm>
          </p:grpSpPr>
          <p:sp>
            <p:nvSpPr>
              <p:cNvPr id="26707" name="AutoShape 7">
                <a:extLst>
                  <a:ext uri="{FF2B5EF4-FFF2-40B4-BE49-F238E27FC236}">
                    <a16:creationId xmlns:a16="http://schemas.microsoft.com/office/drawing/2014/main" id="{F32E274F-8B5D-EC36-2B4C-7360EC6B767A}"/>
                  </a:ext>
                </a:extLst>
              </p:cNvPr>
              <p:cNvSpPr>
                <a:spLocks noChangeArrowheads="1"/>
              </p:cNvSpPr>
              <p:nvPr/>
            </p:nvSpPr>
            <p:spPr bwMode="auto">
              <a:xfrm>
                <a:off x="1291" y="3643"/>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708" name="Text Box 8">
                <a:extLst>
                  <a:ext uri="{FF2B5EF4-FFF2-40B4-BE49-F238E27FC236}">
                    <a16:creationId xmlns:a16="http://schemas.microsoft.com/office/drawing/2014/main" id="{CEB44ECF-EAEF-DF96-1D7B-6394C9502CDD}"/>
                  </a:ext>
                </a:extLst>
              </p:cNvPr>
              <p:cNvSpPr txBox="1">
                <a:spLocks noChangeArrowheads="1"/>
              </p:cNvSpPr>
              <p:nvPr/>
            </p:nvSpPr>
            <p:spPr bwMode="auto">
              <a:xfrm>
                <a:off x="1291" y="3643"/>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Linux2.6</a:t>
                </a:r>
                <a:r>
                  <a:rPr lang="zh-CN" altLang="en-GB" sz="2000">
                    <a:cs typeface="Times New Roman" panose="02020603050405020304" pitchFamily="18" charset="0"/>
                  </a:rPr>
                  <a:t>推出。</a:t>
                </a:r>
              </a:p>
            </p:txBody>
          </p:sp>
        </p:grpSp>
        <p:grpSp>
          <p:nvGrpSpPr>
            <p:cNvPr id="26629" name="Group 9">
              <a:extLst>
                <a:ext uri="{FF2B5EF4-FFF2-40B4-BE49-F238E27FC236}">
                  <a16:creationId xmlns:a16="http://schemas.microsoft.com/office/drawing/2014/main" id="{CD272B68-CEB7-D704-FDEF-265AB64A943D}"/>
                </a:ext>
              </a:extLst>
            </p:cNvPr>
            <p:cNvGrpSpPr>
              <a:grpSpLocks/>
            </p:cNvGrpSpPr>
            <p:nvPr/>
          </p:nvGrpSpPr>
          <p:grpSpPr bwMode="auto">
            <a:xfrm>
              <a:off x="204" y="3643"/>
              <a:ext cx="1076" cy="261"/>
              <a:chOff x="204" y="3643"/>
              <a:chExt cx="1076" cy="261"/>
            </a:xfrm>
          </p:grpSpPr>
          <p:sp>
            <p:nvSpPr>
              <p:cNvPr id="26705" name="AutoShape 10">
                <a:extLst>
                  <a:ext uri="{FF2B5EF4-FFF2-40B4-BE49-F238E27FC236}">
                    <a16:creationId xmlns:a16="http://schemas.microsoft.com/office/drawing/2014/main" id="{1491B39E-D507-0DF1-683C-D19366AA55C5}"/>
                  </a:ext>
                </a:extLst>
              </p:cNvPr>
              <p:cNvSpPr>
                <a:spLocks noChangeArrowheads="1"/>
              </p:cNvSpPr>
              <p:nvPr/>
            </p:nvSpPr>
            <p:spPr bwMode="auto">
              <a:xfrm>
                <a:off x="204" y="3643"/>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706" name="Text Box 11">
                <a:extLst>
                  <a:ext uri="{FF2B5EF4-FFF2-40B4-BE49-F238E27FC236}">
                    <a16:creationId xmlns:a16="http://schemas.microsoft.com/office/drawing/2014/main" id="{4CC909F1-057E-377C-0684-5F465146C176}"/>
                  </a:ext>
                </a:extLst>
              </p:cNvPr>
              <p:cNvSpPr txBox="1">
                <a:spLocks noChangeArrowheads="1"/>
              </p:cNvSpPr>
              <p:nvPr/>
            </p:nvSpPr>
            <p:spPr bwMode="auto">
              <a:xfrm>
                <a:off x="204" y="3643"/>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2003</a:t>
                </a:r>
                <a:r>
                  <a:rPr lang="zh-CN" altLang="en-GB" sz="2000">
                    <a:cs typeface="Times New Roman" panose="02020603050405020304" pitchFamily="18" charset="0"/>
                  </a:rPr>
                  <a:t>年</a:t>
                </a:r>
                <a:r>
                  <a:rPr lang="en-GB" altLang="zh-CN" sz="2000">
                    <a:cs typeface="Times New Roman" panose="02020603050405020304" pitchFamily="18" charset="0"/>
                  </a:rPr>
                  <a:t>12</a:t>
                </a:r>
                <a:r>
                  <a:rPr lang="zh-CN" altLang="en-GB" sz="2000">
                    <a:cs typeface="Times New Roman" panose="02020603050405020304" pitchFamily="18" charset="0"/>
                  </a:rPr>
                  <a:t>月</a:t>
                </a:r>
              </a:p>
            </p:txBody>
          </p:sp>
        </p:grpSp>
        <p:grpSp>
          <p:nvGrpSpPr>
            <p:cNvPr id="26630" name="Group 12">
              <a:extLst>
                <a:ext uri="{FF2B5EF4-FFF2-40B4-BE49-F238E27FC236}">
                  <a16:creationId xmlns:a16="http://schemas.microsoft.com/office/drawing/2014/main" id="{DADBC7DA-73D1-7D8C-36D6-A80BB87E86CC}"/>
                </a:ext>
              </a:extLst>
            </p:cNvPr>
            <p:cNvGrpSpPr>
              <a:grpSpLocks/>
            </p:cNvGrpSpPr>
            <p:nvPr/>
          </p:nvGrpSpPr>
          <p:grpSpPr bwMode="auto">
            <a:xfrm>
              <a:off x="1291" y="3369"/>
              <a:ext cx="4246" cy="262"/>
              <a:chOff x="1291" y="3369"/>
              <a:chExt cx="4246" cy="262"/>
            </a:xfrm>
          </p:grpSpPr>
          <p:sp>
            <p:nvSpPr>
              <p:cNvPr id="26703" name="AutoShape 13">
                <a:extLst>
                  <a:ext uri="{FF2B5EF4-FFF2-40B4-BE49-F238E27FC236}">
                    <a16:creationId xmlns:a16="http://schemas.microsoft.com/office/drawing/2014/main" id="{8D4F0DE0-2646-2B66-D291-F441435E2A2B}"/>
                  </a:ext>
                </a:extLst>
              </p:cNvPr>
              <p:cNvSpPr>
                <a:spLocks noChangeArrowheads="1"/>
              </p:cNvSpPr>
              <p:nvPr/>
            </p:nvSpPr>
            <p:spPr bwMode="auto">
              <a:xfrm>
                <a:off x="1291" y="3369"/>
                <a:ext cx="4246" cy="262"/>
              </a:xfrm>
              <a:prstGeom prst="roundRect">
                <a:avLst>
                  <a:gd name="adj" fmla="val 38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704" name="Text Box 14">
                <a:extLst>
                  <a:ext uri="{FF2B5EF4-FFF2-40B4-BE49-F238E27FC236}">
                    <a16:creationId xmlns:a16="http://schemas.microsoft.com/office/drawing/2014/main" id="{C883171A-91C6-F0B2-6005-BE91C2500BFB}"/>
                  </a:ext>
                </a:extLst>
              </p:cNvPr>
              <p:cNvSpPr txBox="1">
                <a:spLocks noChangeArrowheads="1"/>
              </p:cNvSpPr>
              <p:nvPr/>
            </p:nvSpPr>
            <p:spPr bwMode="auto">
              <a:xfrm>
                <a:off x="1291" y="3369"/>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2.4</a:t>
                </a:r>
                <a:r>
                  <a:rPr lang="zh-CN" altLang="en-GB" sz="2000">
                    <a:cs typeface="Times New Roman" panose="02020603050405020304" pitchFamily="18" charset="0"/>
                  </a:rPr>
                  <a:t>推出；</a:t>
                </a:r>
              </a:p>
            </p:txBody>
          </p:sp>
        </p:grpSp>
        <p:grpSp>
          <p:nvGrpSpPr>
            <p:cNvPr id="26631" name="Group 15">
              <a:extLst>
                <a:ext uri="{FF2B5EF4-FFF2-40B4-BE49-F238E27FC236}">
                  <a16:creationId xmlns:a16="http://schemas.microsoft.com/office/drawing/2014/main" id="{CA563964-334E-41BF-5F3C-3EACB15EFA2F}"/>
                </a:ext>
              </a:extLst>
            </p:cNvPr>
            <p:cNvGrpSpPr>
              <a:grpSpLocks/>
            </p:cNvGrpSpPr>
            <p:nvPr/>
          </p:nvGrpSpPr>
          <p:grpSpPr bwMode="auto">
            <a:xfrm>
              <a:off x="204" y="3369"/>
              <a:ext cx="1076" cy="262"/>
              <a:chOff x="204" y="3369"/>
              <a:chExt cx="1076" cy="262"/>
            </a:xfrm>
          </p:grpSpPr>
          <p:sp>
            <p:nvSpPr>
              <p:cNvPr id="26701" name="AutoShape 16">
                <a:extLst>
                  <a:ext uri="{FF2B5EF4-FFF2-40B4-BE49-F238E27FC236}">
                    <a16:creationId xmlns:a16="http://schemas.microsoft.com/office/drawing/2014/main" id="{CE31F728-D640-F60D-11B0-9EF1EDC941FB}"/>
                  </a:ext>
                </a:extLst>
              </p:cNvPr>
              <p:cNvSpPr>
                <a:spLocks noChangeArrowheads="1"/>
              </p:cNvSpPr>
              <p:nvPr/>
            </p:nvSpPr>
            <p:spPr bwMode="auto">
              <a:xfrm>
                <a:off x="204" y="3369"/>
                <a:ext cx="1076" cy="262"/>
              </a:xfrm>
              <a:prstGeom prst="roundRect">
                <a:avLst>
                  <a:gd name="adj" fmla="val 38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702" name="Text Box 17">
                <a:extLst>
                  <a:ext uri="{FF2B5EF4-FFF2-40B4-BE49-F238E27FC236}">
                    <a16:creationId xmlns:a16="http://schemas.microsoft.com/office/drawing/2014/main" id="{9740ADD4-0EEE-A957-9DE6-450AD84D44E7}"/>
                  </a:ext>
                </a:extLst>
              </p:cNvPr>
              <p:cNvSpPr txBox="1">
                <a:spLocks noChangeArrowheads="1"/>
              </p:cNvSpPr>
              <p:nvPr/>
            </p:nvSpPr>
            <p:spPr bwMode="auto">
              <a:xfrm>
                <a:off x="204" y="3369"/>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2001</a:t>
                </a:r>
                <a:r>
                  <a:rPr lang="zh-CN" altLang="en-GB" sz="2000">
                    <a:cs typeface="Times New Roman" panose="02020603050405020304" pitchFamily="18" charset="0"/>
                  </a:rPr>
                  <a:t>年</a:t>
                </a:r>
                <a:r>
                  <a:rPr lang="en-GB" altLang="zh-CN" sz="2000">
                    <a:cs typeface="Times New Roman" panose="02020603050405020304" pitchFamily="18" charset="0"/>
                  </a:rPr>
                  <a:t>1</a:t>
                </a:r>
                <a:r>
                  <a:rPr lang="zh-CN" altLang="en-GB" sz="2000">
                    <a:cs typeface="Times New Roman" panose="02020603050405020304" pitchFamily="18" charset="0"/>
                  </a:rPr>
                  <a:t>月  </a:t>
                </a:r>
              </a:p>
            </p:txBody>
          </p:sp>
        </p:grpSp>
        <p:grpSp>
          <p:nvGrpSpPr>
            <p:cNvPr id="26632" name="Group 18">
              <a:extLst>
                <a:ext uri="{FF2B5EF4-FFF2-40B4-BE49-F238E27FC236}">
                  <a16:creationId xmlns:a16="http://schemas.microsoft.com/office/drawing/2014/main" id="{190C33C0-EF14-B7B7-48B2-036601FE1223}"/>
                </a:ext>
              </a:extLst>
            </p:cNvPr>
            <p:cNvGrpSpPr>
              <a:grpSpLocks/>
            </p:cNvGrpSpPr>
            <p:nvPr/>
          </p:nvGrpSpPr>
          <p:grpSpPr bwMode="auto">
            <a:xfrm>
              <a:off x="1291" y="3096"/>
              <a:ext cx="4246" cy="261"/>
              <a:chOff x="1291" y="3096"/>
              <a:chExt cx="4246" cy="261"/>
            </a:xfrm>
          </p:grpSpPr>
          <p:sp>
            <p:nvSpPr>
              <p:cNvPr id="26699" name="AutoShape 19">
                <a:extLst>
                  <a:ext uri="{FF2B5EF4-FFF2-40B4-BE49-F238E27FC236}">
                    <a16:creationId xmlns:a16="http://schemas.microsoft.com/office/drawing/2014/main" id="{3DD8DD40-E591-0082-3BFD-2B4A0B668FE2}"/>
                  </a:ext>
                </a:extLst>
              </p:cNvPr>
              <p:cNvSpPr>
                <a:spLocks noChangeArrowheads="1"/>
              </p:cNvSpPr>
              <p:nvPr/>
            </p:nvSpPr>
            <p:spPr bwMode="auto">
              <a:xfrm>
                <a:off x="1291" y="3096"/>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700" name="Text Box 20">
                <a:extLst>
                  <a:ext uri="{FF2B5EF4-FFF2-40B4-BE49-F238E27FC236}">
                    <a16:creationId xmlns:a16="http://schemas.microsoft.com/office/drawing/2014/main" id="{77B17D9C-C593-E5AB-04F9-F9FF7345DA66}"/>
                  </a:ext>
                </a:extLst>
              </p:cNvPr>
              <p:cNvSpPr txBox="1">
                <a:spLocks noChangeArrowheads="1"/>
              </p:cNvSpPr>
              <p:nvPr/>
            </p:nvSpPr>
            <p:spPr bwMode="auto">
              <a:xfrm>
                <a:off x="1291" y="3096"/>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2.2</a:t>
                </a:r>
                <a:r>
                  <a:rPr lang="zh-CN" altLang="en-GB" sz="2000">
                    <a:cs typeface="Times New Roman" panose="02020603050405020304" pitchFamily="18" charset="0"/>
                  </a:rPr>
                  <a:t>推出；</a:t>
                </a:r>
              </a:p>
            </p:txBody>
          </p:sp>
        </p:grpSp>
        <p:grpSp>
          <p:nvGrpSpPr>
            <p:cNvPr id="26633" name="Group 21">
              <a:extLst>
                <a:ext uri="{FF2B5EF4-FFF2-40B4-BE49-F238E27FC236}">
                  <a16:creationId xmlns:a16="http://schemas.microsoft.com/office/drawing/2014/main" id="{F6B6E732-C9B8-0EFA-E3BB-63DCFD44943B}"/>
                </a:ext>
              </a:extLst>
            </p:cNvPr>
            <p:cNvGrpSpPr>
              <a:grpSpLocks/>
            </p:cNvGrpSpPr>
            <p:nvPr/>
          </p:nvGrpSpPr>
          <p:grpSpPr bwMode="auto">
            <a:xfrm>
              <a:off x="204" y="3096"/>
              <a:ext cx="1076" cy="261"/>
              <a:chOff x="204" y="3096"/>
              <a:chExt cx="1076" cy="261"/>
            </a:xfrm>
          </p:grpSpPr>
          <p:sp>
            <p:nvSpPr>
              <p:cNvPr id="26697" name="AutoShape 22">
                <a:extLst>
                  <a:ext uri="{FF2B5EF4-FFF2-40B4-BE49-F238E27FC236}">
                    <a16:creationId xmlns:a16="http://schemas.microsoft.com/office/drawing/2014/main" id="{CDCC593F-1DB3-F95E-A4C4-4DCA8B7CC32C}"/>
                  </a:ext>
                </a:extLst>
              </p:cNvPr>
              <p:cNvSpPr>
                <a:spLocks noChangeArrowheads="1"/>
              </p:cNvSpPr>
              <p:nvPr/>
            </p:nvSpPr>
            <p:spPr bwMode="auto">
              <a:xfrm>
                <a:off x="204" y="3096"/>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98" name="Text Box 23">
                <a:extLst>
                  <a:ext uri="{FF2B5EF4-FFF2-40B4-BE49-F238E27FC236}">
                    <a16:creationId xmlns:a16="http://schemas.microsoft.com/office/drawing/2014/main" id="{C9E36E2A-3F86-066A-1E9C-7E59392FF1EB}"/>
                  </a:ext>
                </a:extLst>
              </p:cNvPr>
              <p:cNvSpPr txBox="1">
                <a:spLocks noChangeArrowheads="1"/>
              </p:cNvSpPr>
              <p:nvPr/>
            </p:nvSpPr>
            <p:spPr bwMode="auto">
              <a:xfrm>
                <a:off x="204" y="3096"/>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1999</a:t>
                </a:r>
                <a:r>
                  <a:rPr lang="zh-CN" altLang="en-GB" sz="2000">
                    <a:cs typeface="Times New Roman" panose="02020603050405020304" pitchFamily="18" charset="0"/>
                  </a:rPr>
                  <a:t>年</a:t>
                </a:r>
                <a:r>
                  <a:rPr lang="en-GB" altLang="zh-CN" sz="2000">
                    <a:cs typeface="Times New Roman" panose="02020603050405020304" pitchFamily="18" charset="0"/>
                  </a:rPr>
                  <a:t>1</a:t>
                </a:r>
                <a:r>
                  <a:rPr lang="zh-CN" altLang="en-GB" sz="2000">
                    <a:cs typeface="Times New Roman" panose="02020603050405020304" pitchFamily="18" charset="0"/>
                  </a:rPr>
                  <a:t>月  </a:t>
                </a:r>
              </a:p>
            </p:txBody>
          </p:sp>
        </p:grpSp>
        <p:grpSp>
          <p:nvGrpSpPr>
            <p:cNvPr id="26634" name="Group 24">
              <a:extLst>
                <a:ext uri="{FF2B5EF4-FFF2-40B4-BE49-F238E27FC236}">
                  <a16:creationId xmlns:a16="http://schemas.microsoft.com/office/drawing/2014/main" id="{8741FDCD-E4BB-0F72-1221-C7D34F9BB7FA}"/>
                </a:ext>
              </a:extLst>
            </p:cNvPr>
            <p:cNvGrpSpPr>
              <a:grpSpLocks/>
            </p:cNvGrpSpPr>
            <p:nvPr/>
          </p:nvGrpSpPr>
          <p:grpSpPr bwMode="auto">
            <a:xfrm>
              <a:off x="1291" y="2824"/>
              <a:ext cx="4246" cy="261"/>
              <a:chOff x="1291" y="2824"/>
              <a:chExt cx="4246" cy="261"/>
            </a:xfrm>
          </p:grpSpPr>
          <p:sp>
            <p:nvSpPr>
              <p:cNvPr id="26695" name="AutoShape 25">
                <a:extLst>
                  <a:ext uri="{FF2B5EF4-FFF2-40B4-BE49-F238E27FC236}">
                    <a16:creationId xmlns:a16="http://schemas.microsoft.com/office/drawing/2014/main" id="{2A1ED5F4-E5CD-E4FA-2DFD-E10199BA8CA4}"/>
                  </a:ext>
                </a:extLst>
              </p:cNvPr>
              <p:cNvSpPr>
                <a:spLocks noChangeArrowheads="1"/>
              </p:cNvSpPr>
              <p:nvPr/>
            </p:nvSpPr>
            <p:spPr bwMode="auto">
              <a:xfrm>
                <a:off x="1291" y="2824"/>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96" name="Text Box 26">
                <a:extLst>
                  <a:ext uri="{FF2B5EF4-FFF2-40B4-BE49-F238E27FC236}">
                    <a16:creationId xmlns:a16="http://schemas.microsoft.com/office/drawing/2014/main" id="{16A5E9AF-AFEF-999A-20AB-4136C5E9EAA0}"/>
                  </a:ext>
                </a:extLst>
              </p:cNvPr>
              <p:cNvSpPr txBox="1">
                <a:spLocks noChangeArrowheads="1"/>
              </p:cNvSpPr>
              <p:nvPr/>
            </p:nvSpPr>
            <p:spPr bwMode="auto">
              <a:xfrm>
                <a:off x="1291" y="2824"/>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2.0</a:t>
                </a:r>
                <a:r>
                  <a:rPr lang="zh-CN" altLang="en-GB" sz="2000">
                    <a:cs typeface="Times New Roman" panose="02020603050405020304" pitchFamily="18" charset="0"/>
                  </a:rPr>
                  <a:t>推出，</a:t>
                </a:r>
                <a:r>
                  <a:rPr lang="en-GB" altLang="zh-CN" sz="2000">
                    <a:cs typeface="Times New Roman" panose="02020603050405020304" pitchFamily="18" charset="0"/>
                  </a:rPr>
                  <a:t>Debian GNU/Linux 1.1</a:t>
                </a:r>
                <a:r>
                  <a:rPr lang="zh-CN" altLang="en-GB" sz="2000">
                    <a:cs typeface="Times New Roman" panose="02020603050405020304" pitchFamily="18" charset="0"/>
                  </a:rPr>
                  <a:t>推出；</a:t>
                </a:r>
              </a:p>
            </p:txBody>
          </p:sp>
        </p:grpSp>
        <p:grpSp>
          <p:nvGrpSpPr>
            <p:cNvPr id="26635" name="Group 27">
              <a:extLst>
                <a:ext uri="{FF2B5EF4-FFF2-40B4-BE49-F238E27FC236}">
                  <a16:creationId xmlns:a16="http://schemas.microsoft.com/office/drawing/2014/main" id="{5DEC49A4-9EB9-8E87-3541-E0AD63BBC3F0}"/>
                </a:ext>
              </a:extLst>
            </p:cNvPr>
            <p:cNvGrpSpPr>
              <a:grpSpLocks/>
            </p:cNvGrpSpPr>
            <p:nvPr/>
          </p:nvGrpSpPr>
          <p:grpSpPr bwMode="auto">
            <a:xfrm>
              <a:off x="204" y="2824"/>
              <a:ext cx="1076" cy="261"/>
              <a:chOff x="204" y="2824"/>
              <a:chExt cx="1076" cy="261"/>
            </a:xfrm>
          </p:grpSpPr>
          <p:sp>
            <p:nvSpPr>
              <p:cNvPr id="26693" name="AutoShape 28">
                <a:extLst>
                  <a:ext uri="{FF2B5EF4-FFF2-40B4-BE49-F238E27FC236}">
                    <a16:creationId xmlns:a16="http://schemas.microsoft.com/office/drawing/2014/main" id="{71C537DF-6395-B9F7-F189-39FFFF7AED26}"/>
                  </a:ext>
                </a:extLst>
              </p:cNvPr>
              <p:cNvSpPr>
                <a:spLocks noChangeArrowheads="1"/>
              </p:cNvSpPr>
              <p:nvPr/>
            </p:nvSpPr>
            <p:spPr bwMode="auto">
              <a:xfrm>
                <a:off x="204" y="2824"/>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94" name="Text Box 29">
                <a:extLst>
                  <a:ext uri="{FF2B5EF4-FFF2-40B4-BE49-F238E27FC236}">
                    <a16:creationId xmlns:a16="http://schemas.microsoft.com/office/drawing/2014/main" id="{72D9AA99-54BE-0CDD-F031-96212385E7D3}"/>
                  </a:ext>
                </a:extLst>
              </p:cNvPr>
              <p:cNvSpPr txBox="1">
                <a:spLocks noChangeArrowheads="1"/>
              </p:cNvSpPr>
              <p:nvPr/>
            </p:nvSpPr>
            <p:spPr bwMode="auto">
              <a:xfrm>
                <a:off x="204" y="2824"/>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1996</a:t>
                </a:r>
                <a:r>
                  <a:rPr lang="zh-CN" altLang="en-GB" sz="2000">
                    <a:cs typeface="Times New Roman" panose="02020603050405020304" pitchFamily="18" charset="0"/>
                  </a:rPr>
                  <a:t>年</a:t>
                </a:r>
                <a:r>
                  <a:rPr lang="en-GB" altLang="zh-CN" sz="2000">
                    <a:cs typeface="Times New Roman" panose="02020603050405020304" pitchFamily="18" charset="0"/>
                  </a:rPr>
                  <a:t>6</a:t>
                </a:r>
                <a:r>
                  <a:rPr lang="zh-CN" altLang="en-GB" sz="2000">
                    <a:cs typeface="Times New Roman" panose="02020603050405020304" pitchFamily="18" charset="0"/>
                  </a:rPr>
                  <a:t>月  </a:t>
                </a:r>
              </a:p>
            </p:txBody>
          </p:sp>
        </p:grpSp>
        <p:grpSp>
          <p:nvGrpSpPr>
            <p:cNvPr id="26636" name="Group 30">
              <a:extLst>
                <a:ext uri="{FF2B5EF4-FFF2-40B4-BE49-F238E27FC236}">
                  <a16:creationId xmlns:a16="http://schemas.microsoft.com/office/drawing/2014/main" id="{79F36AFC-F48B-D447-A65D-6340988E30BD}"/>
                </a:ext>
              </a:extLst>
            </p:cNvPr>
            <p:cNvGrpSpPr>
              <a:grpSpLocks/>
            </p:cNvGrpSpPr>
            <p:nvPr/>
          </p:nvGrpSpPr>
          <p:grpSpPr bwMode="auto">
            <a:xfrm>
              <a:off x="1291" y="2553"/>
              <a:ext cx="4246" cy="262"/>
              <a:chOff x="1291" y="2553"/>
              <a:chExt cx="4246" cy="262"/>
            </a:xfrm>
          </p:grpSpPr>
          <p:sp>
            <p:nvSpPr>
              <p:cNvPr id="26691" name="AutoShape 31">
                <a:extLst>
                  <a:ext uri="{FF2B5EF4-FFF2-40B4-BE49-F238E27FC236}">
                    <a16:creationId xmlns:a16="http://schemas.microsoft.com/office/drawing/2014/main" id="{FF281DD7-75DC-7318-96F3-3A5E246F2F9F}"/>
                  </a:ext>
                </a:extLst>
              </p:cNvPr>
              <p:cNvSpPr>
                <a:spLocks noChangeArrowheads="1"/>
              </p:cNvSpPr>
              <p:nvPr/>
            </p:nvSpPr>
            <p:spPr bwMode="auto">
              <a:xfrm>
                <a:off x="1291" y="2553"/>
                <a:ext cx="4246" cy="262"/>
              </a:xfrm>
              <a:prstGeom prst="roundRect">
                <a:avLst>
                  <a:gd name="adj" fmla="val 38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92" name="Text Box 32">
                <a:extLst>
                  <a:ext uri="{FF2B5EF4-FFF2-40B4-BE49-F238E27FC236}">
                    <a16:creationId xmlns:a16="http://schemas.microsoft.com/office/drawing/2014/main" id="{E054963F-E02C-6138-7267-1F9EB903854F}"/>
                  </a:ext>
                </a:extLst>
              </p:cNvPr>
              <p:cNvSpPr txBox="1">
                <a:spLocks noChangeArrowheads="1"/>
              </p:cNvSpPr>
              <p:nvPr/>
            </p:nvSpPr>
            <p:spPr bwMode="auto">
              <a:xfrm>
                <a:off x="1291" y="2553"/>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Alpha</a:t>
                </a:r>
                <a:r>
                  <a:rPr lang="zh-CN" altLang="en-GB" sz="2000">
                    <a:cs typeface="Times New Roman" panose="02020603050405020304" pitchFamily="18" charset="0"/>
                  </a:rPr>
                  <a:t>架构的</a:t>
                </a:r>
                <a:r>
                  <a:rPr lang="en-GB" altLang="zh-CN" sz="2000">
                    <a:cs typeface="Times New Roman" panose="02020603050405020304" pitchFamily="18" charset="0"/>
                  </a:rPr>
                  <a:t>Linux</a:t>
                </a:r>
                <a:r>
                  <a:rPr lang="zh-CN" altLang="en-GB" sz="2000">
                    <a:cs typeface="Times New Roman" panose="02020603050405020304" pitchFamily="18" charset="0"/>
                  </a:rPr>
                  <a:t>推出；</a:t>
                </a:r>
              </a:p>
            </p:txBody>
          </p:sp>
        </p:grpSp>
        <p:grpSp>
          <p:nvGrpSpPr>
            <p:cNvPr id="26637" name="Group 33">
              <a:extLst>
                <a:ext uri="{FF2B5EF4-FFF2-40B4-BE49-F238E27FC236}">
                  <a16:creationId xmlns:a16="http://schemas.microsoft.com/office/drawing/2014/main" id="{9607F0B9-837E-0BDB-5192-DD76F000593D}"/>
                </a:ext>
              </a:extLst>
            </p:cNvPr>
            <p:cNvGrpSpPr>
              <a:grpSpLocks/>
            </p:cNvGrpSpPr>
            <p:nvPr/>
          </p:nvGrpSpPr>
          <p:grpSpPr bwMode="auto">
            <a:xfrm>
              <a:off x="204" y="2553"/>
              <a:ext cx="1076" cy="262"/>
              <a:chOff x="204" y="2553"/>
              <a:chExt cx="1076" cy="262"/>
            </a:xfrm>
          </p:grpSpPr>
          <p:sp>
            <p:nvSpPr>
              <p:cNvPr id="26689" name="AutoShape 34">
                <a:extLst>
                  <a:ext uri="{FF2B5EF4-FFF2-40B4-BE49-F238E27FC236}">
                    <a16:creationId xmlns:a16="http://schemas.microsoft.com/office/drawing/2014/main" id="{4FAA417A-E3F5-50AF-4E9E-5E05EBE44AA3}"/>
                  </a:ext>
                </a:extLst>
              </p:cNvPr>
              <p:cNvSpPr>
                <a:spLocks noChangeArrowheads="1"/>
              </p:cNvSpPr>
              <p:nvPr/>
            </p:nvSpPr>
            <p:spPr bwMode="auto">
              <a:xfrm>
                <a:off x="204" y="2553"/>
                <a:ext cx="1076" cy="262"/>
              </a:xfrm>
              <a:prstGeom prst="roundRect">
                <a:avLst>
                  <a:gd name="adj" fmla="val 38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90" name="Text Box 35">
                <a:extLst>
                  <a:ext uri="{FF2B5EF4-FFF2-40B4-BE49-F238E27FC236}">
                    <a16:creationId xmlns:a16="http://schemas.microsoft.com/office/drawing/2014/main" id="{C158D054-F04A-9B00-CFBD-B896D314C11D}"/>
                  </a:ext>
                </a:extLst>
              </p:cNvPr>
              <p:cNvSpPr txBox="1">
                <a:spLocks noChangeArrowheads="1"/>
              </p:cNvSpPr>
              <p:nvPr/>
            </p:nvSpPr>
            <p:spPr bwMode="auto">
              <a:xfrm>
                <a:off x="204" y="2553"/>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1995</a:t>
                </a:r>
                <a:r>
                  <a:rPr lang="zh-CN" altLang="en-GB" sz="2000">
                    <a:cs typeface="Times New Roman" panose="02020603050405020304" pitchFamily="18" charset="0"/>
                  </a:rPr>
                  <a:t>年</a:t>
                </a:r>
                <a:r>
                  <a:rPr lang="en-GB" altLang="zh-CN" sz="2000">
                    <a:cs typeface="Times New Roman" panose="02020603050405020304" pitchFamily="18" charset="0"/>
                  </a:rPr>
                  <a:t>11</a:t>
                </a:r>
                <a:r>
                  <a:rPr lang="zh-CN" altLang="en-GB" sz="2000">
                    <a:cs typeface="Times New Roman" panose="02020603050405020304" pitchFamily="18" charset="0"/>
                  </a:rPr>
                  <a:t>月  </a:t>
                </a:r>
              </a:p>
            </p:txBody>
          </p:sp>
        </p:grpSp>
        <p:grpSp>
          <p:nvGrpSpPr>
            <p:cNvPr id="26638" name="Group 36">
              <a:extLst>
                <a:ext uri="{FF2B5EF4-FFF2-40B4-BE49-F238E27FC236}">
                  <a16:creationId xmlns:a16="http://schemas.microsoft.com/office/drawing/2014/main" id="{1B32303B-234F-4D12-DFCD-B75242CEE5D4}"/>
                </a:ext>
              </a:extLst>
            </p:cNvPr>
            <p:cNvGrpSpPr>
              <a:grpSpLocks/>
            </p:cNvGrpSpPr>
            <p:nvPr/>
          </p:nvGrpSpPr>
          <p:grpSpPr bwMode="auto">
            <a:xfrm>
              <a:off x="1291" y="2287"/>
              <a:ext cx="4246" cy="261"/>
              <a:chOff x="1291" y="2287"/>
              <a:chExt cx="4246" cy="261"/>
            </a:xfrm>
          </p:grpSpPr>
          <p:sp>
            <p:nvSpPr>
              <p:cNvPr id="26687" name="AutoShape 37">
                <a:extLst>
                  <a:ext uri="{FF2B5EF4-FFF2-40B4-BE49-F238E27FC236}">
                    <a16:creationId xmlns:a16="http://schemas.microsoft.com/office/drawing/2014/main" id="{90F794B3-5B26-7BCF-D8C8-50A0DBD66F35}"/>
                  </a:ext>
                </a:extLst>
              </p:cNvPr>
              <p:cNvSpPr>
                <a:spLocks noChangeArrowheads="1"/>
              </p:cNvSpPr>
              <p:nvPr/>
            </p:nvSpPr>
            <p:spPr bwMode="auto">
              <a:xfrm>
                <a:off x="1291" y="2287"/>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88" name="Text Box 38">
                <a:extLst>
                  <a:ext uri="{FF2B5EF4-FFF2-40B4-BE49-F238E27FC236}">
                    <a16:creationId xmlns:a16="http://schemas.microsoft.com/office/drawing/2014/main" id="{978DF156-8046-ED2A-42E9-E0908E570523}"/>
                  </a:ext>
                </a:extLst>
              </p:cNvPr>
              <p:cNvSpPr txBox="1">
                <a:spLocks noChangeArrowheads="1"/>
              </p:cNvSpPr>
              <p:nvPr/>
            </p:nvSpPr>
            <p:spPr bwMode="auto">
              <a:xfrm>
                <a:off x="1291" y="2287"/>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1.2</a:t>
                </a:r>
                <a:r>
                  <a:rPr lang="zh-CN" altLang="en-GB" sz="2000">
                    <a:cs typeface="Times New Roman" panose="02020603050405020304" pitchFamily="18" charset="0"/>
                  </a:rPr>
                  <a:t>推出；</a:t>
                </a:r>
              </a:p>
            </p:txBody>
          </p:sp>
        </p:grpSp>
        <p:grpSp>
          <p:nvGrpSpPr>
            <p:cNvPr id="26639" name="Group 39">
              <a:extLst>
                <a:ext uri="{FF2B5EF4-FFF2-40B4-BE49-F238E27FC236}">
                  <a16:creationId xmlns:a16="http://schemas.microsoft.com/office/drawing/2014/main" id="{6D51071E-280B-D429-072C-8C2DD2F8B17D}"/>
                </a:ext>
              </a:extLst>
            </p:cNvPr>
            <p:cNvGrpSpPr>
              <a:grpSpLocks/>
            </p:cNvGrpSpPr>
            <p:nvPr/>
          </p:nvGrpSpPr>
          <p:grpSpPr bwMode="auto">
            <a:xfrm>
              <a:off x="204" y="2287"/>
              <a:ext cx="1076" cy="261"/>
              <a:chOff x="204" y="2287"/>
              <a:chExt cx="1076" cy="261"/>
            </a:xfrm>
          </p:grpSpPr>
          <p:sp>
            <p:nvSpPr>
              <p:cNvPr id="26685" name="AutoShape 40">
                <a:extLst>
                  <a:ext uri="{FF2B5EF4-FFF2-40B4-BE49-F238E27FC236}">
                    <a16:creationId xmlns:a16="http://schemas.microsoft.com/office/drawing/2014/main" id="{2009150D-BE64-9549-AA81-FFF5706831AA}"/>
                  </a:ext>
                </a:extLst>
              </p:cNvPr>
              <p:cNvSpPr>
                <a:spLocks noChangeArrowheads="1"/>
              </p:cNvSpPr>
              <p:nvPr/>
            </p:nvSpPr>
            <p:spPr bwMode="auto">
              <a:xfrm>
                <a:off x="204" y="2287"/>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86" name="Text Box 41">
                <a:extLst>
                  <a:ext uri="{FF2B5EF4-FFF2-40B4-BE49-F238E27FC236}">
                    <a16:creationId xmlns:a16="http://schemas.microsoft.com/office/drawing/2014/main" id="{E6CF7AF7-9857-F2C1-7B01-6354AF0CE6C9}"/>
                  </a:ext>
                </a:extLst>
              </p:cNvPr>
              <p:cNvSpPr txBox="1">
                <a:spLocks noChangeArrowheads="1"/>
              </p:cNvSpPr>
              <p:nvPr/>
            </p:nvSpPr>
            <p:spPr bwMode="auto">
              <a:xfrm>
                <a:off x="204" y="2287"/>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1995</a:t>
                </a:r>
                <a:r>
                  <a:rPr lang="zh-CN" altLang="en-GB" sz="2000">
                    <a:cs typeface="Times New Roman" panose="02020603050405020304" pitchFamily="18" charset="0"/>
                  </a:rPr>
                  <a:t>年</a:t>
                </a:r>
                <a:r>
                  <a:rPr lang="en-GB" altLang="zh-CN" sz="2000">
                    <a:cs typeface="Times New Roman" panose="02020603050405020304" pitchFamily="18" charset="0"/>
                  </a:rPr>
                  <a:t>3</a:t>
                </a:r>
                <a:r>
                  <a:rPr lang="zh-CN" altLang="en-GB" sz="2000">
                    <a:cs typeface="Times New Roman" panose="02020603050405020304" pitchFamily="18" charset="0"/>
                  </a:rPr>
                  <a:t>月  </a:t>
                </a:r>
              </a:p>
            </p:txBody>
          </p:sp>
        </p:grpSp>
        <p:grpSp>
          <p:nvGrpSpPr>
            <p:cNvPr id="26640" name="Group 42">
              <a:extLst>
                <a:ext uri="{FF2B5EF4-FFF2-40B4-BE49-F238E27FC236}">
                  <a16:creationId xmlns:a16="http://schemas.microsoft.com/office/drawing/2014/main" id="{3428C3B3-D8DA-DD1B-EFAF-DD6B8B709561}"/>
                </a:ext>
              </a:extLst>
            </p:cNvPr>
            <p:cNvGrpSpPr>
              <a:grpSpLocks/>
            </p:cNvGrpSpPr>
            <p:nvPr/>
          </p:nvGrpSpPr>
          <p:grpSpPr bwMode="auto">
            <a:xfrm>
              <a:off x="1291" y="2015"/>
              <a:ext cx="4246" cy="261"/>
              <a:chOff x="1291" y="2015"/>
              <a:chExt cx="4246" cy="261"/>
            </a:xfrm>
          </p:grpSpPr>
          <p:sp>
            <p:nvSpPr>
              <p:cNvPr id="26683" name="AutoShape 43">
                <a:extLst>
                  <a:ext uri="{FF2B5EF4-FFF2-40B4-BE49-F238E27FC236}">
                    <a16:creationId xmlns:a16="http://schemas.microsoft.com/office/drawing/2014/main" id="{2344878D-F0A4-6216-6684-6E1F741A8E7F}"/>
                  </a:ext>
                </a:extLst>
              </p:cNvPr>
              <p:cNvSpPr>
                <a:spLocks noChangeArrowheads="1"/>
              </p:cNvSpPr>
              <p:nvPr/>
            </p:nvSpPr>
            <p:spPr bwMode="auto">
              <a:xfrm>
                <a:off x="1291" y="2015"/>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84" name="Text Box 44">
                <a:extLst>
                  <a:ext uri="{FF2B5EF4-FFF2-40B4-BE49-F238E27FC236}">
                    <a16:creationId xmlns:a16="http://schemas.microsoft.com/office/drawing/2014/main" id="{6CC58C5E-0526-8B4C-0B8F-724B3752B469}"/>
                  </a:ext>
                </a:extLst>
              </p:cNvPr>
              <p:cNvSpPr txBox="1">
                <a:spLocks noChangeArrowheads="1"/>
              </p:cNvSpPr>
              <p:nvPr/>
            </p:nvSpPr>
            <p:spPr bwMode="auto">
              <a:xfrm>
                <a:off x="1291" y="2015"/>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1.0</a:t>
                </a:r>
                <a:r>
                  <a:rPr lang="zh-CN" altLang="en-GB" sz="2000">
                    <a:cs typeface="Times New Roman" panose="02020603050405020304" pitchFamily="18" charset="0"/>
                  </a:rPr>
                  <a:t>推出，</a:t>
                </a:r>
                <a:r>
                  <a:rPr lang="en-GB" altLang="zh-CN" sz="2000">
                    <a:cs typeface="Times New Roman" panose="02020603050405020304" pitchFamily="18" charset="0"/>
                  </a:rPr>
                  <a:t>Linux</a:t>
                </a:r>
                <a:r>
                  <a:rPr lang="zh-CN" altLang="en-GB" sz="2000">
                    <a:cs typeface="Times New Roman" panose="02020603050405020304" pitchFamily="18" charset="0"/>
                  </a:rPr>
                  <a:t>转向</a:t>
                </a:r>
                <a:r>
                  <a:rPr lang="en-GB" altLang="zh-CN" sz="2000">
                    <a:cs typeface="Times New Roman" panose="02020603050405020304" pitchFamily="18" charset="0"/>
                  </a:rPr>
                  <a:t>GPL</a:t>
                </a:r>
                <a:r>
                  <a:rPr lang="zh-CN" altLang="en-GB" sz="2000">
                    <a:cs typeface="Times New Roman" panose="02020603050405020304" pitchFamily="18" charset="0"/>
                  </a:rPr>
                  <a:t>版权协议；</a:t>
                </a:r>
              </a:p>
            </p:txBody>
          </p:sp>
        </p:grpSp>
        <p:grpSp>
          <p:nvGrpSpPr>
            <p:cNvPr id="26641" name="Group 45">
              <a:extLst>
                <a:ext uri="{FF2B5EF4-FFF2-40B4-BE49-F238E27FC236}">
                  <a16:creationId xmlns:a16="http://schemas.microsoft.com/office/drawing/2014/main" id="{EDD1B06E-2651-A218-E1C3-E84620C39169}"/>
                </a:ext>
              </a:extLst>
            </p:cNvPr>
            <p:cNvGrpSpPr>
              <a:grpSpLocks/>
            </p:cNvGrpSpPr>
            <p:nvPr/>
          </p:nvGrpSpPr>
          <p:grpSpPr bwMode="auto">
            <a:xfrm>
              <a:off x="204" y="2015"/>
              <a:ext cx="1076" cy="261"/>
              <a:chOff x="204" y="2015"/>
              <a:chExt cx="1076" cy="261"/>
            </a:xfrm>
          </p:grpSpPr>
          <p:sp>
            <p:nvSpPr>
              <p:cNvPr id="26681" name="AutoShape 46">
                <a:extLst>
                  <a:ext uri="{FF2B5EF4-FFF2-40B4-BE49-F238E27FC236}">
                    <a16:creationId xmlns:a16="http://schemas.microsoft.com/office/drawing/2014/main" id="{D113B0DE-8B30-6FD3-16C8-3192D5AF7D94}"/>
                  </a:ext>
                </a:extLst>
              </p:cNvPr>
              <p:cNvSpPr>
                <a:spLocks noChangeArrowheads="1"/>
              </p:cNvSpPr>
              <p:nvPr/>
            </p:nvSpPr>
            <p:spPr bwMode="auto">
              <a:xfrm>
                <a:off x="204" y="2015"/>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82" name="Text Box 47">
                <a:extLst>
                  <a:ext uri="{FF2B5EF4-FFF2-40B4-BE49-F238E27FC236}">
                    <a16:creationId xmlns:a16="http://schemas.microsoft.com/office/drawing/2014/main" id="{697F97B2-EF11-EDB3-7802-9974D27BD1C3}"/>
                  </a:ext>
                </a:extLst>
              </p:cNvPr>
              <p:cNvSpPr txBox="1">
                <a:spLocks noChangeArrowheads="1"/>
              </p:cNvSpPr>
              <p:nvPr/>
            </p:nvSpPr>
            <p:spPr bwMode="auto">
              <a:xfrm>
                <a:off x="204" y="2015"/>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1994</a:t>
                </a:r>
                <a:r>
                  <a:rPr lang="zh-CN" altLang="en-GB" sz="2000">
                    <a:cs typeface="Times New Roman" panose="02020603050405020304" pitchFamily="18" charset="0"/>
                  </a:rPr>
                  <a:t>年</a:t>
                </a:r>
                <a:r>
                  <a:rPr lang="en-GB" altLang="zh-CN" sz="2000">
                    <a:cs typeface="Times New Roman" panose="02020603050405020304" pitchFamily="18" charset="0"/>
                  </a:rPr>
                  <a:t>3</a:t>
                </a:r>
                <a:r>
                  <a:rPr lang="zh-CN" altLang="en-GB" sz="2000">
                    <a:cs typeface="Times New Roman" panose="02020603050405020304" pitchFamily="18" charset="0"/>
                  </a:rPr>
                  <a:t>月  </a:t>
                </a:r>
              </a:p>
            </p:txBody>
          </p:sp>
        </p:grpSp>
        <p:grpSp>
          <p:nvGrpSpPr>
            <p:cNvPr id="26642" name="Group 48">
              <a:extLst>
                <a:ext uri="{FF2B5EF4-FFF2-40B4-BE49-F238E27FC236}">
                  <a16:creationId xmlns:a16="http://schemas.microsoft.com/office/drawing/2014/main" id="{AD7F9F6E-CB30-86BE-6A98-9D52219321ED}"/>
                </a:ext>
              </a:extLst>
            </p:cNvPr>
            <p:cNvGrpSpPr>
              <a:grpSpLocks/>
            </p:cNvGrpSpPr>
            <p:nvPr/>
          </p:nvGrpSpPr>
          <p:grpSpPr bwMode="auto">
            <a:xfrm>
              <a:off x="1291" y="1742"/>
              <a:ext cx="4246" cy="261"/>
              <a:chOff x="1291" y="1742"/>
              <a:chExt cx="4246" cy="261"/>
            </a:xfrm>
          </p:grpSpPr>
          <p:sp>
            <p:nvSpPr>
              <p:cNvPr id="26679" name="AutoShape 49">
                <a:extLst>
                  <a:ext uri="{FF2B5EF4-FFF2-40B4-BE49-F238E27FC236}">
                    <a16:creationId xmlns:a16="http://schemas.microsoft.com/office/drawing/2014/main" id="{6F5C2D7F-F4D0-A97E-B807-2C1D35F8499B}"/>
                  </a:ext>
                </a:extLst>
              </p:cNvPr>
              <p:cNvSpPr>
                <a:spLocks noChangeArrowheads="1"/>
              </p:cNvSpPr>
              <p:nvPr/>
            </p:nvSpPr>
            <p:spPr bwMode="auto">
              <a:xfrm>
                <a:off x="1291" y="1742"/>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80" name="Text Box 50">
                <a:extLst>
                  <a:ext uri="{FF2B5EF4-FFF2-40B4-BE49-F238E27FC236}">
                    <a16:creationId xmlns:a16="http://schemas.microsoft.com/office/drawing/2014/main" id="{80499907-4ACE-A8C4-84C6-5067AB3E9A6C}"/>
                  </a:ext>
                </a:extLst>
              </p:cNvPr>
              <p:cNvSpPr txBox="1">
                <a:spLocks noChangeArrowheads="1"/>
              </p:cNvSpPr>
              <p:nvPr/>
            </p:nvSpPr>
            <p:spPr bwMode="auto">
              <a:xfrm>
                <a:off x="1291" y="1742"/>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zh-CN" altLang="en-GB" sz="2000">
                    <a:cs typeface="Times New Roman" panose="02020603050405020304" pitchFamily="18" charset="0"/>
                  </a:rPr>
                  <a:t>第一个商业发行版</a:t>
                </a:r>
                <a:r>
                  <a:rPr lang="en-GB" altLang="zh-CN" sz="2000">
                    <a:cs typeface="Times New Roman" panose="02020603050405020304" pitchFamily="18" charset="0"/>
                  </a:rPr>
                  <a:t>Slackware Linux</a:t>
                </a:r>
                <a:r>
                  <a:rPr lang="zh-CN" altLang="en-GB" sz="2000">
                    <a:cs typeface="Times New Roman" panose="02020603050405020304" pitchFamily="18" charset="0"/>
                  </a:rPr>
                  <a:t>诞生；</a:t>
                </a:r>
              </a:p>
            </p:txBody>
          </p:sp>
        </p:grpSp>
        <p:grpSp>
          <p:nvGrpSpPr>
            <p:cNvPr id="26643" name="Group 51">
              <a:extLst>
                <a:ext uri="{FF2B5EF4-FFF2-40B4-BE49-F238E27FC236}">
                  <a16:creationId xmlns:a16="http://schemas.microsoft.com/office/drawing/2014/main" id="{15ED6E84-B568-98CA-F726-97DA5E00151B}"/>
                </a:ext>
              </a:extLst>
            </p:cNvPr>
            <p:cNvGrpSpPr>
              <a:grpSpLocks/>
            </p:cNvGrpSpPr>
            <p:nvPr/>
          </p:nvGrpSpPr>
          <p:grpSpPr bwMode="auto">
            <a:xfrm>
              <a:off x="204" y="1742"/>
              <a:ext cx="1076" cy="261"/>
              <a:chOff x="204" y="1742"/>
              <a:chExt cx="1076" cy="261"/>
            </a:xfrm>
          </p:grpSpPr>
          <p:sp>
            <p:nvSpPr>
              <p:cNvPr id="26677" name="AutoShape 52">
                <a:extLst>
                  <a:ext uri="{FF2B5EF4-FFF2-40B4-BE49-F238E27FC236}">
                    <a16:creationId xmlns:a16="http://schemas.microsoft.com/office/drawing/2014/main" id="{D7E843CA-26BC-8AE5-4498-45E869C84E3A}"/>
                  </a:ext>
                </a:extLst>
              </p:cNvPr>
              <p:cNvSpPr>
                <a:spLocks noChangeArrowheads="1"/>
              </p:cNvSpPr>
              <p:nvPr/>
            </p:nvSpPr>
            <p:spPr bwMode="auto">
              <a:xfrm>
                <a:off x="204" y="1742"/>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78" name="Text Box 53">
                <a:extLst>
                  <a:ext uri="{FF2B5EF4-FFF2-40B4-BE49-F238E27FC236}">
                    <a16:creationId xmlns:a16="http://schemas.microsoft.com/office/drawing/2014/main" id="{CA9758C9-F736-5593-6FA5-FEB0ED180537}"/>
                  </a:ext>
                </a:extLst>
              </p:cNvPr>
              <p:cNvSpPr txBox="1">
                <a:spLocks noChangeArrowheads="1"/>
              </p:cNvSpPr>
              <p:nvPr/>
            </p:nvSpPr>
            <p:spPr bwMode="auto">
              <a:xfrm>
                <a:off x="204" y="1742"/>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1993</a:t>
                </a:r>
                <a:r>
                  <a:rPr lang="zh-CN" altLang="en-GB" sz="2000">
                    <a:cs typeface="Times New Roman" panose="02020603050405020304" pitchFamily="18" charset="0"/>
                  </a:rPr>
                  <a:t>年</a:t>
                </a:r>
                <a:r>
                  <a:rPr lang="en-GB" altLang="zh-CN" sz="2000">
                    <a:cs typeface="Times New Roman" panose="02020603050405020304" pitchFamily="18" charset="0"/>
                  </a:rPr>
                  <a:t>1</a:t>
                </a:r>
                <a:r>
                  <a:rPr lang="zh-CN" altLang="en-GB" sz="2000">
                    <a:cs typeface="Times New Roman" panose="02020603050405020304" pitchFamily="18" charset="0"/>
                  </a:rPr>
                  <a:t>月  </a:t>
                </a:r>
              </a:p>
            </p:txBody>
          </p:sp>
        </p:grpSp>
        <p:grpSp>
          <p:nvGrpSpPr>
            <p:cNvPr id="26644" name="Group 54">
              <a:extLst>
                <a:ext uri="{FF2B5EF4-FFF2-40B4-BE49-F238E27FC236}">
                  <a16:creationId xmlns:a16="http://schemas.microsoft.com/office/drawing/2014/main" id="{C22F2B47-E6DC-CA13-A79F-6895661FB842}"/>
                </a:ext>
              </a:extLst>
            </p:cNvPr>
            <p:cNvGrpSpPr>
              <a:grpSpLocks/>
            </p:cNvGrpSpPr>
            <p:nvPr/>
          </p:nvGrpSpPr>
          <p:grpSpPr bwMode="auto">
            <a:xfrm>
              <a:off x="1291" y="1301"/>
              <a:ext cx="4246" cy="430"/>
              <a:chOff x="1291" y="1301"/>
              <a:chExt cx="4246" cy="430"/>
            </a:xfrm>
          </p:grpSpPr>
          <p:sp>
            <p:nvSpPr>
              <p:cNvPr id="26675" name="AutoShape 55">
                <a:extLst>
                  <a:ext uri="{FF2B5EF4-FFF2-40B4-BE49-F238E27FC236}">
                    <a16:creationId xmlns:a16="http://schemas.microsoft.com/office/drawing/2014/main" id="{B7B8BEA3-2EC0-1BED-1B14-292DDA7AF730}"/>
                  </a:ext>
                </a:extLst>
              </p:cNvPr>
              <p:cNvSpPr>
                <a:spLocks noChangeArrowheads="1"/>
              </p:cNvSpPr>
              <p:nvPr/>
            </p:nvSpPr>
            <p:spPr bwMode="auto">
              <a:xfrm>
                <a:off x="1291" y="1301"/>
                <a:ext cx="4246" cy="430"/>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76" name="Text Box 56">
                <a:extLst>
                  <a:ext uri="{FF2B5EF4-FFF2-40B4-BE49-F238E27FC236}">
                    <a16:creationId xmlns:a16="http://schemas.microsoft.com/office/drawing/2014/main" id="{4623D9BA-DC08-6DE1-635C-D5156F2B6F4B}"/>
                  </a:ext>
                </a:extLst>
              </p:cNvPr>
              <p:cNvSpPr txBox="1">
                <a:spLocks noChangeArrowheads="1"/>
              </p:cNvSpPr>
              <p:nvPr/>
            </p:nvSpPr>
            <p:spPr bwMode="auto">
              <a:xfrm>
                <a:off x="1291" y="1301"/>
                <a:ext cx="424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zh-CN" altLang="en-GB" sz="2000">
                    <a:cs typeface="Times New Roman" panose="02020603050405020304" pitchFamily="18" charset="0"/>
                  </a:rPr>
                  <a:t>第一个</a:t>
                </a:r>
                <a:r>
                  <a:rPr lang="en-GB" altLang="zh-CN" sz="2000">
                    <a:cs typeface="Times New Roman" panose="02020603050405020304" pitchFamily="18" charset="0"/>
                  </a:rPr>
                  <a:t>Linux</a:t>
                </a:r>
                <a:r>
                  <a:rPr lang="zh-CN" altLang="en-GB" sz="2000">
                    <a:cs typeface="Times New Roman" panose="02020603050405020304" pitchFamily="18" charset="0"/>
                  </a:rPr>
                  <a:t>新闻组</a:t>
                </a:r>
                <a:r>
                  <a:rPr lang="en-GB" altLang="zh-CN" sz="2000">
                    <a:cs typeface="Times New Roman" panose="02020603050405020304" pitchFamily="18" charset="0"/>
                  </a:rPr>
                  <a:t>comp.os.linux</a:t>
                </a:r>
                <a:r>
                  <a:rPr lang="zh-CN" altLang="en-GB" sz="2000">
                    <a:cs typeface="Times New Roman" panose="02020603050405020304" pitchFamily="18" charset="0"/>
                  </a:rPr>
                  <a:t>诞生，</a:t>
                </a:r>
                <a:r>
                  <a:rPr lang="en-GB" altLang="zh-CN" sz="2000">
                    <a:cs typeface="Times New Roman" panose="02020603050405020304" pitchFamily="18" charset="0"/>
                  </a:rPr>
                  <a:t>Linux 0.96</a:t>
                </a:r>
                <a:r>
                  <a:rPr lang="zh-CN" altLang="en-GB" sz="2000">
                    <a:cs typeface="Times New Roman" panose="02020603050405020304" pitchFamily="18" charset="0"/>
                  </a:rPr>
                  <a:t>首次可以运行</a:t>
                </a:r>
                <a:r>
                  <a:rPr lang="en-GB" altLang="zh-CN" sz="2000">
                    <a:cs typeface="Times New Roman" panose="02020603050405020304" pitchFamily="18" charset="0"/>
                  </a:rPr>
                  <a:t>X- Window</a:t>
                </a:r>
                <a:r>
                  <a:rPr lang="zh-CN" altLang="en-GB" sz="2000">
                    <a:cs typeface="Times New Roman" panose="02020603050405020304" pitchFamily="18" charset="0"/>
                  </a:rPr>
                  <a:t>；</a:t>
                </a:r>
              </a:p>
            </p:txBody>
          </p:sp>
        </p:grpSp>
        <p:grpSp>
          <p:nvGrpSpPr>
            <p:cNvPr id="26645" name="Group 57">
              <a:extLst>
                <a:ext uri="{FF2B5EF4-FFF2-40B4-BE49-F238E27FC236}">
                  <a16:creationId xmlns:a16="http://schemas.microsoft.com/office/drawing/2014/main" id="{24FE981C-44CC-4F24-8E30-C046F262BDA6}"/>
                </a:ext>
              </a:extLst>
            </p:cNvPr>
            <p:cNvGrpSpPr>
              <a:grpSpLocks/>
            </p:cNvGrpSpPr>
            <p:nvPr/>
          </p:nvGrpSpPr>
          <p:grpSpPr bwMode="auto">
            <a:xfrm>
              <a:off x="204" y="1301"/>
              <a:ext cx="1076" cy="430"/>
              <a:chOff x="204" y="1301"/>
              <a:chExt cx="1076" cy="430"/>
            </a:xfrm>
          </p:grpSpPr>
          <p:sp>
            <p:nvSpPr>
              <p:cNvPr id="26673" name="AutoShape 58">
                <a:extLst>
                  <a:ext uri="{FF2B5EF4-FFF2-40B4-BE49-F238E27FC236}">
                    <a16:creationId xmlns:a16="http://schemas.microsoft.com/office/drawing/2014/main" id="{758384DC-B055-2404-F30E-85F954967036}"/>
                  </a:ext>
                </a:extLst>
              </p:cNvPr>
              <p:cNvSpPr>
                <a:spLocks noChangeArrowheads="1"/>
              </p:cNvSpPr>
              <p:nvPr/>
            </p:nvSpPr>
            <p:spPr bwMode="auto">
              <a:xfrm>
                <a:off x="204" y="1301"/>
                <a:ext cx="1076" cy="430"/>
              </a:xfrm>
              <a:prstGeom prst="roundRect">
                <a:avLst>
                  <a:gd name="adj" fmla="val 2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74" name="Text Box 59">
                <a:extLst>
                  <a:ext uri="{FF2B5EF4-FFF2-40B4-BE49-F238E27FC236}">
                    <a16:creationId xmlns:a16="http://schemas.microsoft.com/office/drawing/2014/main" id="{A4AF82FB-9F47-F419-32E1-3C0D238C6A2A}"/>
                  </a:ext>
                </a:extLst>
              </p:cNvPr>
              <p:cNvSpPr txBox="1">
                <a:spLocks noChangeArrowheads="1"/>
              </p:cNvSpPr>
              <p:nvPr/>
            </p:nvSpPr>
            <p:spPr bwMode="auto">
              <a:xfrm>
                <a:off x="204" y="1301"/>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1992</a:t>
                </a:r>
                <a:r>
                  <a:rPr lang="zh-CN" altLang="en-GB" sz="2000">
                    <a:cs typeface="Times New Roman" panose="02020603050405020304" pitchFamily="18" charset="0"/>
                  </a:rPr>
                  <a:t>年</a:t>
                </a:r>
                <a:r>
                  <a:rPr lang="en-GB" altLang="zh-CN" sz="2000">
                    <a:cs typeface="Times New Roman" panose="02020603050405020304" pitchFamily="18" charset="0"/>
                  </a:rPr>
                  <a:t>4</a:t>
                </a:r>
                <a:r>
                  <a:rPr lang="zh-CN" altLang="en-GB" sz="2000">
                    <a:cs typeface="Times New Roman" panose="02020603050405020304" pitchFamily="18" charset="0"/>
                  </a:rPr>
                  <a:t>月</a:t>
                </a:r>
              </a:p>
            </p:txBody>
          </p:sp>
        </p:grpSp>
        <p:grpSp>
          <p:nvGrpSpPr>
            <p:cNvPr id="26646" name="Group 60">
              <a:extLst>
                <a:ext uri="{FF2B5EF4-FFF2-40B4-BE49-F238E27FC236}">
                  <a16:creationId xmlns:a16="http://schemas.microsoft.com/office/drawing/2014/main" id="{745F924E-9242-0CBC-01BC-4B8B5A09DD7E}"/>
                </a:ext>
              </a:extLst>
            </p:cNvPr>
            <p:cNvGrpSpPr>
              <a:grpSpLocks/>
            </p:cNvGrpSpPr>
            <p:nvPr/>
          </p:nvGrpSpPr>
          <p:grpSpPr bwMode="auto">
            <a:xfrm>
              <a:off x="1291" y="1027"/>
              <a:ext cx="4246" cy="262"/>
              <a:chOff x="1291" y="1027"/>
              <a:chExt cx="4246" cy="262"/>
            </a:xfrm>
          </p:grpSpPr>
          <p:sp>
            <p:nvSpPr>
              <p:cNvPr id="26671" name="AutoShape 61">
                <a:extLst>
                  <a:ext uri="{FF2B5EF4-FFF2-40B4-BE49-F238E27FC236}">
                    <a16:creationId xmlns:a16="http://schemas.microsoft.com/office/drawing/2014/main" id="{E1B2B801-A6E2-9C6D-56B0-488F918A19BF}"/>
                  </a:ext>
                </a:extLst>
              </p:cNvPr>
              <p:cNvSpPr>
                <a:spLocks noChangeArrowheads="1"/>
              </p:cNvSpPr>
              <p:nvPr/>
            </p:nvSpPr>
            <p:spPr bwMode="auto">
              <a:xfrm>
                <a:off x="1291" y="1027"/>
                <a:ext cx="4246" cy="262"/>
              </a:xfrm>
              <a:prstGeom prst="roundRect">
                <a:avLst>
                  <a:gd name="adj" fmla="val 38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72" name="Text Box 62">
                <a:extLst>
                  <a:ext uri="{FF2B5EF4-FFF2-40B4-BE49-F238E27FC236}">
                    <a16:creationId xmlns:a16="http://schemas.microsoft.com/office/drawing/2014/main" id="{4D813F69-3E6D-4A44-E95B-AE19FE7CC243}"/>
                  </a:ext>
                </a:extLst>
              </p:cNvPr>
              <p:cNvSpPr txBox="1">
                <a:spLocks noChangeArrowheads="1"/>
              </p:cNvSpPr>
              <p:nvPr/>
            </p:nvSpPr>
            <p:spPr bwMode="auto">
              <a:xfrm>
                <a:off x="1291" y="1027"/>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0.02</a:t>
                </a:r>
                <a:r>
                  <a:rPr lang="zh-CN" altLang="en-GB" sz="2000">
                    <a:cs typeface="Times New Roman" panose="02020603050405020304" pitchFamily="18" charset="0"/>
                  </a:rPr>
                  <a:t>首次命名为</a:t>
                </a:r>
                <a:r>
                  <a:rPr lang="en-GB" altLang="zh-CN" sz="2000">
                    <a:cs typeface="Times New Roman" panose="02020603050405020304" pitchFamily="18" charset="0"/>
                  </a:rPr>
                  <a:t>Linux</a:t>
                </a:r>
                <a:r>
                  <a:rPr lang="zh-CN" altLang="en-GB" sz="2000">
                    <a:cs typeface="Times New Roman" panose="02020603050405020304" pitchFamily="18" charset="0"/>
                  </a:rPr>
                  <a:t>；</a:t>
                </a:r>
              </a:p>
            </p:txBody>
          </p:sp>
        </p:grpSp>
        <p:grpSp>
          <p:nvGrpSpPr>
            <p:cNvPr id="26647" name="Group 63">
              <a:extLst>
                <a:ext uri="{FF2B5EF4-FFF2-40B4-BE49-F238E27FC236}">
                  <a16:creationId xmlns:a16="http://schemas.microsoft.com/office/drawing/2014/main" id="{7A002031-19A2-9733-2869-21EFD4D396DE}"/>
                </a:ext>
              </a:extLst>
            </p:cNvPr>
            <p:cNvGrpSpPr>
              <a:grpSpLocks/>
            </p:cNvGrpSpPr>
            <p:nvPr/>
          </p:nvGrpSpPr>
          <p:grpSpPr bwMode="auto">
            <a:xfrm>
              <a:off x="204" y="1027"/>
              <a:ext cx="1076" cy="262"/>
              <a:chOff x="204" y="1027"/>
              <a:chExt cx="1076" cy="262"/>
            </a:xfrm>
          </p:grpSpPr>
          <p:sp>
            <p:nvSpPr>
              <p:cNvPr id="26669" name="AutoShape 64">
                <a:extLst>
                  <a:ext uri="{FF2B5EF4-FFF2-40B4-BE49-F238E27FC236}">
                    <a16:creationId xmlns:a16="http://schemas.microsoft.com/office/drawing/2014/main" id="{B1B0D49E-6583-C93B-B535-975056DB4E53}"/>
                  </a:ext>
                </a:extLst>
              </p:cNvPr>
              <p:cNvSpPr>
                <a:spLocks noChangeArrowheads="1"/>
              </p:cNvSpPr>
              <p:nvPr/>
            </p:nvSpPr>
            <p:spPr bwMode="auto">
              <a:xfrm>
                <a:off x="204" y="1027"/>
                <a:ext cx="1076" cy="262"/>
              </a:xfrm>
              <a:prstGeom prst="roundRect">
                <a:avLst>
                  <a:gd name="adj" fmla="val 38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70" name="Text Box 65">
                <a:extLst>
                  <a:ext uri="{FF2B5EF4-FFF2-40B4-BE49-F238E27FC236}">
                    <a16:creationId xmlns:a16="http://schemas.microsoft.com/office/drawing/2014/main" id="{08DADCB8-AB8D-3A63-32B0-52231D4713C5}"/>
                  </a:ext>
                </a:extLst>
              </p:cNvPr>
              <p:cNvSpPr txBox="1">
                <a:spLocks noChangeArrowheads="1"/>
              </p:cNvSpPr>
              <p:nvPr/>
            </p:nvSpPr>
            <p:spPr bwMode="auto">
              <a:xfrm>
                <a:off x="204" y="1027"/>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1991</a:t>
                </a:r>
                <a:r>
                  <a:rPr lang="zh-CN" altLang="en-GB" sz="2000">
                    <a:cs typeface="Times New Roman" panose="02020603050405020304" pitchFamily="18" charset="0"/>
                  </a:rPr>
                  <a:t>年</a:t>
                </a:r>
                <a:r>
                  <a:rPr lang="en-GB" altLang="zh-CN" sz="2000">
                    <a:cs typeface="Times New Roman" panose="02020603050405020304" pitchFamily="18" charset="0"/>
                  </a:rPr>
                  <a:t>10</a:t>
                </a:r>
                <a:r>
                  <a:rPr lang="zh-CN" altLang="en-GB" sz="2000">
                    <a:cs typeface="Times New Roman" panose="02020603050405020304" pitchFamily="18" charset="0"/>
                  </a:rPr>
                  <a:t>月</a:t>
                </a:r>
              </a:p>
            </p:txBody>
          </p:sp>
        </p:grpSp>
        <p:grpSp>
          <p:nvGrpSpPr>
            <p:cNvPr id="26648" name="Group 66">
              <a:extLst>
                <a:ext uri="{FF2B5EF4-FFF2-40B4-BE49-F238E27FC236}">
                  <a16:creationId xmlns:a16="http://schemas.microsoft.com/office/drawing/2014/main" id="{B50DC5BD-DD51-FE98-2D68-B36FF42C4AFE}"/>
                </a:ext>
              </a:extLst>
            </p:cNvPr>
            <p:cNvGrpSpPr>
              <a:grpSpLocks/>
            </p:cNvGrpSpPr>
            <p:nvPr/>
          </p:nvGrpSpPr>
          <p:grpSpPr bwMode="auto">
            <a:xfrm>
              <a:off x="1291" y="754"/>
              <a:ext cx="4246" cy="261"/>
              <a:chOff x="1291" y="754"/>
              <a:chExt cx="4246" cy="261"/>
            </a:xfrm>
          </p:grpSpPr>
          <p:sp>
            <p:nvSpPr>
              <p:cNvPr id="26667" name="AutoShape 67">
                <a:extLst>
                  <a:ext uri="{FF2B5EF4-FFF2-40B4-BE49-F238E27FC236}">
                    <a16:creationId xmlns:a16="http://schemas.microsoft.com/office/drawing/2014/main" id="{CA58D586-236D-7336-FCFB-8302AC74010A}"/>
                  </a:ext>
                </a:extLst>
              </p:cNvPr>
              <p:cNvSpPr>
                <a:spLocks noChangeArrowheads="1"/>
              </p:cNvSpPr>
              <p:nvPr/>
            </p:nvSpPr>
            <p:spPr bwMode="auto">
              <a:xfrm>
                <a:off x="1291" y="754"/>
                <a:ext cx="424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68" name="Text Box 68">
                <a:extLst>
                  <a:ext uri="{FF2B5EF4-FFF2-40B4-BE49-F238E27FC236}">
                    <a16:creationId xmlns:a16="http://schemas.microsoft.com/office/drawing/2014/main" id="{4688E2E9-84D2-E0E6-13E3-F4EC5ACD15DA}"/>
                  </a:ext>
                </a:extLst>
              </p:cNvPr>
              <p:cNvSpPr txBox="1">
                <a:spLocks noChangeArrowheads="1"/>
              </p:cNvSpPr>
              <p:nvPr/>
            </p:nvSpPr>
            <p:spPr bwMode="auto">
              <a:xfrm>
                <a:off x="1291" y="754"/>
                <a:ext cx="424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Linux 0.01</a:t>
                </a:r>
                <a:r>
                  <a:rPr lang="zh-CN" altLang="en-GB" sz="2000">
                    <a:cs typeface="Times New Roman" panose="02020603050405020304" pitchFamily="18" charset="0"/>
                  </a:rPr>
                  <a:t>诞生；</a:t>
                </a:r>
              </a:p>
            </p:txBody>
          </p:sp>
        </p:grpSp>
        <p:grpSp>
          <p:nvGrpSpPr>
            <p:cNvPr id="26649" name="Group 69">
              <a:extLst>
                <a:ext uri="{FF2B5EF4-FFF2-40B4-BE49-F238E27FC236}">
                  <a16:creationId xmlns:a16="http://schemas.microsoft.com/office/drawing/2014/main" id="{1F73BAB4-F6C6-8956-EAD0-1353284A79D9}"/>
                </a:ext>
              </a:extLst>
            </p:cNvPr>
            <p:cNvGrpSpPr>
              <a:grpSpLocks/>
            </p:cNvGrpSpPr>
            <p:nvPr/>
          </p:nvGrpSpPr>
          <p:grpSpPr bwMode="auto">
            <a:xfrm>
              <a:off x="204" y="754"/>
              <a:ext cx="1076" cy="261"/>
              <a:chOff x="204" y="754"/>
              <a:chExt cx="1076" cy="261"/>
            </a:xfrm>
          </p:grpSpPr>
          <p:sp>
            <p:nvSpPr>
              <p:cNvPr id="26665" name="AutoShape 70">
                <a:extLst>
                  <a:ext uri="{FF2B5EF4-FFF2-40B4-BE49-F238E27FC236}">
                    <a16:creationId xmlns:a16="http://schemas.microsoft.com/office/drawing/2014/main" id="{1FD1AA90-5B57-56FD-E56B-C2308E4DB03E}"/>
                  </a:ext>
                </a:extLst>
              </p:cNvPr>
              <p:cNvSpPr>
                <a:spLocks noChangeArrowheads="1"/>
              </p:cNvSpPr>
              <p:nvPr/>
            </p:nvSpPr>
            <p:spPr bwMode="auto">
              <a:xfrm>
                <a:off x="204" y="754"/>
                <a:ext cx="1076" cy="261"/>
              </a:xfrm>
              <a:prstGeom prst="roundRect">
                <a:avLst>
                  <a:gd name="adj" fmla="val 38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endParaRPr lang="zh-CN" altLang="en-US"/>
              </a:p>
            </p:txBody>
          </p:sp>
          <p:sp>
            <p:nvSpPr>
              <p:cNvPr id="26666" name="Text Box 71">
                <a:extLst>
                  <a:ext uri="{FF2B5EF4-FFF2-40B4-BE49-F238E27FC236}">
                    <a16:creationId xmlns:a16="http://schemas.microsoft.com/office/drawing/2014/main" id="{8E25E28B-09FD-9EE3-F722-C512D14E2D9B}"/>
                  </a:ext>
                </a:extLst>
              </p:cNvPr>
              <p:cNvSpPr txBox="1">
                <a:spLocks noChangeArrowheads="1"/>
              </p:cNvSpPr>
              <p:nvPr/>
            </p:nvSpPr>
            <p:spPr bwMode="auto">
              <a:xfrm>
                <a:off x="204" y="754"/>
                <a:ext cx="107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ts val="800"/>
                  </a:spcBef>
                  <a:spcAft>
                    <a:spcPts val="800"/>
                  </a:spcAft>
                  <a:buClr>
                    <a:srgbClr val="000000"/>
                  </a:buClr>
                  <a:buFont typeface="Arial" panose="020B0604020202020204" pitchFamily="34" charset="0"/>
                  <a:buBlip>
                    <a:blip r:embed="rId2"/>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b="1">
                    <a:solidFill>
                      <a:srgbClr val="000000"/>
                    </a:solidFill>
                    <a:latin typeface="Arial" panose="020B0604020202020204" pitchFamily="34" charset="0"/>
                    <a:ea typeface="宋体" panose="02010600030101010101" pitchFamily="2" charset="-122"/>
                  </a:defRPr>
                </a:lvl9pPr>
              </a:lstStyle>
              <a:p>
                <a:pPr eaLnBrk="1" hangingPunct="1">
                  <a:lnSpc>
                    <a:spcPct val="83000"/>
                  </a:lnSpc>
                  <a:spcBef>
                    <a:spcPct val="0"/>
                  </a:spcBef>
                  <a:spcAft>
                    <a:spcPct val="0"/>
                  </a:spcAft>
                  <a:buSzPct val="237000"/>
                  <a:buFont typeface="Arial" panose="020B0604020202020204" pitchFamily="34" charset="0"/>
                  <a:buNone/>
                </a:pPr>
                <a:r>
                  <a:rPr lang="en-GB" altLang="zh-CN" sz="2000">
                    <a:cs typeface="Times New Roman" panose="02020603050405020304" pitchFamily="18" charset="0"/>
                  </a:rPr>
                  <a:t>1991</a:t>
                </a:r>
                <a:r>
                  <a:rPr lang="zh-CN" altLang="en-GB" sz="2000">
                    <a:cs typeface="Times New Roman" panose="02020603050405020304" pitchFamily="18" charset="0"/>
                  </a:rPr>
                  <a:t>年</a:t>
                </a:r>
                <a:r>
                  <a:rPr lang="en-GB" altLang="zh-CN" sz="2000">
                    <a:cs typeface="Times New Roman" panose="02020603050405020304" pitchFamily="18" charset="0"/>
                  </a:rPr>
                  <a:t>9</a:t>
                </a:r>
                <a:r>
                  <a:rPr lang="zh-CN" altLang="en-GB" sz="2000">
                    <a:cs typeface="Times New Roman" panose="02020603050405020304" pitchFamily="18" charset="0"/>
                  </a:rPr>
                  <a:t>月 </a:t>
                </a:r>
              </a:p>
            </p:txBody>
          </p:sp>
        </p:grpSp>
        <p:sp>
          <p:nvSpPr>
            <p:cNvPr id="26650" name="Line 72">
              <a:extLst>
                <a:ext uri="{FF2B5EF4-FFF2-40B4-BE49-F238E27FC236}">
                  <a16:creationId xmlns:a16="http://schemas.microsoft.com/office/drawing/2014/main" id="{1C097FD7-9DD0-CAFC-8418-0A372B5426EE}"/>
                </a:ext>
              </a:extLst>
            </p:cNvPr>
            <p:cNvSpPr>
              <a:spLocks noChangeShapeType="1"/>
            </p:cNvSpPr>
            <p:nvPr/>
          </p:nvSpPr>
          <p:spPr bwMode="auto">
            <a:xfrm>
              <a:off x="204" y="754"/>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1" name="Line 73">
              <a:extLst>
                <a:ext uri="{FF2B5EF4-FFF2-40B4-BE49-F238E27FC236}">
                  <a16:creationId xmlns:a16="http://schemas.microsoft.com/office/drawing/2014/main" id="{879ACBE1-C11A-25DD-A8CB-5985CCF33C6D}"/>
                </a:ext>
              </a:extLst>
            </p:cNvPr>
            <p:cNvSpPr>
              <a:spLocks noChangeShapeType="1"/>
            </p:cNvSpPr>
            <p:nvPr/>
          </p:nvSpPr>
          <p:spPr bwMode="auto">
            <a:xfrm>
              <a:off x="204" y="3916"/>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2" name="Line 74">
              <a:extLst>
                <a:ext uri="{FF2B5EF4-FFF2-40B4-BE49-F238E27FC236}">
                  <a16:creationId xmlns:a16="http://schemas.microsoft.com/office/drawing/2014/main" id="{DF012E2F-733B-BE7B-139A-D7CC66B36BED}"/>
                </a:ext>
              </a:extLst>
            </p:cNvPr>
            <p:cNvSpPr>
              <a:spLocks noChangeShapeType="1"/>
            </p:cNvSpPr>
            <p:nvPr/>
          </p:nvSpPr>
          <p:spPr bwMode="auto">
            <a:xfrm>
              <a:off x="204" y="754"/>
              <a:ext cx="1" cy="316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Line 75">
              <a:extLst>
                <a:ext uri="{FF2B5EF4-FFF2-40B4-BE49-F238E27FC236}">
                  <a16:creationId xmlns:a16="http://schemas.microsoft.com/office/drawing/2014/main" id="{D1D4CFA8-D5A8-7FCB-8236-056FFECF6A70}"/>
                </a:ext>
              </a:extLst>
            </p:cNvPr>
            <p:cNvSpPr>
              <a:spLocks noChangeShapeType="1"/>
            </p:cNvSpPr>
            <p:nvPr/>
          </p:nvSpPr>
          <p:spPr bwMode="auto">
            <a:xfrm>
              <a:off x="5544" y="754"/>
              <a:ext cx="1" cy="316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4" name="Line 76">
              <a:extLst>
                <a:ext uri="{FF2B5EF4-FFF2-40B4-BE49-F238E27FC236}">
                  <a16:creationId xmlns:a16="http://schemas.microsoft.com/office/drawing/2014/main" id="{E41DC20B-9F28-69E8-6FBF-BB6DBBDA66CD}"/>
                </a:ext>
              </a:extLst>
            </p:cNvPr>
            <p:cNvSpPr>
              <a:spLocks noChangeShapeType="1"/>
            </p:cNvSpPr>
            <p:nvPr/>
          </p:nvSpPr>
          <p:spPr bwMode="auto">
            <a:xfrm>
              <a:off x="204" y="1027"/>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5" name="Line 77">
              <a:extLst>
                <a:ext uri="{FF2B5EF4-FFF2-40B4-BE49-F238E27FC236}">
                  <a16:creationId xmlns:a16="http://schemas.microsoft.com/office/drawing/2014/main" id="{ACF523E0-DA0A-B514-F07A-A615906D7083}"/>
                </a:ext>
              </a:extLst>
            </p:cNvPr>
            <p:cNvSpPr>
              <a:spLocks noChangeShapeType="1"/>
            </p:cNvSpPr>
            <p:nvPr/>
          </p:nvSpPr>
          <p:spPr bwMode="auto">
            <a:xfrm>
              <a:off x="1291" y="754"/>
              <a:ext cx="1" cy="3162"/>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6" name="Line 78">
              <a:extLst>
                <a:ext uri="{FF2B5EF4-FFF2-40B4-BE49-F238E27FC236}">
                  <a16:creationId xmlns:a16="http://schemas.microsoft.com/office/drawing/2014/main" id="{C1111638-583C-8FF9-726F-72FA8904BCF6}"/>
                </a:ext>
              </a:extLst>
            </p:cNvPr>
            <p:cNvSpPr>
              <a:spLocks noChangeShapeType="1"/>
            </p:cNvSpPr>
            <p:nvPr/>
          </p:nvSpPr>
          <p:spPr bwMode="auto">
            <a:xfrm>
              <a:off x="204" y="1301"/>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7" name="Line 79">
              <a:extLst>
                <a:ext uri="{FF2B5EF4-FFF2-40B4-BE49-F238E27FC236}">
                  <a16:creationId xmlns:a16="http://schemas.microsoft.com/office/drawing/2014/main" id="{86E0AD2E-C044-111F-DADC-42DFC8B300C7}"/>
                </a:ext>
              </a:extLst>
            </p:cNvPr>
            <p:cNvSpPr>
              <a:spLocks noChangeShapeType="1"/>
            </p:cNvSpPr>
            <p:nvPr/>
          </p:nvSpPr>
          <p:spPr bwMode="auto">
            <a:xfrm>
              <a:off x="204" y="1742"/>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8" name="Line 80">
              <a:extLst>
                <a:ext uri="{FF2B5EF4-FFF2-40B4-BE49-F238E27FC236}">
                  <a16:creationId xmlns:a16="http://schemas.microsoft.com/office/drawing/2014/main" id="{6528C10F-310D-CE31-8664-FCD0F0CCA122}"/>
                </a:ext>
              </a:extLst>
            </p:cNvPr>
            <p:cNvSpPr>
              <a:spLocks noChangeShapeType="1"/>
            </p:cNvSpPr>
            <p:nvPr/>
          </p:nvSpPr>
          <p:spPr bwMode="auto">
            <a:xfrm>
              <a:off x="204" y="2015"/>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9" name="Line 81">
              <a:extLst>
                <a:ext uri="{FF2B5EF4-FFF2-40B4-BE49-F238E27FC236}">
                  <a16:creationId xmlns:a16="http://schemas.microsoft.com/office/drawing/2014/main" id="{1668B474-BF1D-627F-01EF-E71AE632AA28}"/>
                </a:ext>
              </a:extLst>
            </p:cNvPr>
            <p:cNvSpPr>
              <a:spLocks noChangeShapeType="1"/>
            </p:cNvSpPr>
            <p:nvPr/>
          </p:nvSpPr>
          <p:spPr bwMode="auto">
            <a:xfrm>
              <a:off x="204" y="2287"/>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0" name="Line 82">
              <a:extLst>
                <a:ext uri="{FF2B5EF4-FFF2-40B4-BE49-F238E27FC236}">
                  <a16:creationId xmlns:a16="http://schemas.microsoft.com/office/drawing/2014/main" id="{74EC0086-788B-E232-3315-E6C521C2CA7C}"/>
                </a:ext>
              </a:extLst>
            </p:cNvPr>
            <p:cNvSpPr>
              <a:spLocks noChangeShapeType="1"/>
            </p:cNvSpPr>
            <p:nvPr/>
          </p:nvSpPr>
          <p:spPr bwMode="auto">
            <a:xfrm>
              <a:off x="204" y="2553"/>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1" name="Line 83">
              <a:extLst>
                <a:ext uri="{FF2B5EF4-FFF2-40B4-BE49-F238E27FC236}">
                  <a16:creationId xmlns:a16="http://schemas.microsoft.com/office/drawing/2014/main" id="{51A71B66-233C-BBB1-8C45-24540F82725E}"/>
                </a:ext>
              </a:extLst>
            </p:cNvPr>
            <p:cNvSpPr>
              <a:spLocks noChangeShapeType="1"/>
            </p:cNvSpPr>
            <p:nvPr/>
          </p:nvSpPr>
          <p:spPr bwMode="auto">
            <a:xfrm>
              <a:off x="204" y="2824"/>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2" name="Line 84">
              <a:extLst>
                <a:ext uri="{FF2B5EF4-FFF2-40B4-BE49-F238E27FC236}">
                  <a16:creationId xmlns:a16="http://schemas.microsoft.com/office/drawing/2014/main" id="{FE060AFE-5A9D-E341-1232-7E46EFC75D02}"/>
                </a:ext>
              </a:extLst>
            </p:cNvPr>
            <p:cNvSpPr>
              <a:spLocks noChangeShapeType="1"/>
            </p:cNvSpPr>
            <p:nvPr/>
          </p:nvSpPr>
          <p:spPr bwMode="auto">
            <a:xfrm>
              <a:off x="204" y="3096"/>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3" name="Line 85">
              <a:extLst>
                <a:ext uri="{FF2B5EF4-FFF2-40B4-BE49-F238E27FC236}">
                  <a16:creationId xmlns:a16="http://schemas.microsoft.com/office/drawing/2014/main" id="{AA9CEED7-83AE-23A4-398E-992F0DBC3187}"/>
                </a:ext>
              </a:extLst>
            </p:cNvPr>
            <p:cNvSpPr>
              <a:spLocks noChangeShapeType="1"/>
            </p:cNvSpPr>
            <p:nvPr/>
          </p:nvSpPr>
          <p:spPr bwMode="auto">
            <a:xfrm>
              <a:off x="204" y="3369"/>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Line 86">
              <a:extLst>
                <a:ext uri="{FF2B5EF4-FFF2-40B4-BE49-F238E27FC236}">
                  <a16:creationId xmlns:a16="http://schemas.microsoft.com/office/drawing/2014/main" id="{22AEAEC2-72C5-23D3-C1D1-2764736CAF73}"/>
                </a:ext>
              </a:extLst>
            </p:cNvPr>
            <p:cNvSpPr>
              <a:spLocks noChangeShapeType="1"/>
            </p:cNvSpPr>
            <p:nvPr/>
          </p:nvSpPr>
          <p:spPr bwMode="auto">
            <a:xfrm>
              <a:off x="204" y="3643"/>
              <a:ext cx="5340" cy="1"/>
            </a:xfrm>
            <a:prstGeom prst="line">
              <a:avLst/>
            </a:prstGeom>
            <a:noFill/>
            <a:ln w="126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5766A2C9-A3AE-BDE9-3623-AC35CC49BA3A}"/>
              </a:ext>
            </a:extLst>
          </p:cNvPr>
          <p:cNvSpPr>
            <a:spLocks noGrp="1" noChangeArrowheads="1"/>
          </p:cNvSpPr>
          <p:nvPr>
            <p:ph idx="1"/>
          </p:nvPr>
        </p:nvSpPr>
        <p:spPr/>
        <p:txBody>
          <a:bodyPr/>
          <a:lstStyle/>
          <a:p>
            <a:pPr marL="0" indent="0" eaLnBrk="1" hangingPunct="1">
              <a:spcBef>
                <a:spcPts val="500"/>
              </a:spcBef>
              <a:spcAft>
                <a:spcPts val="500"/>
              </a:spcAft>
              <a:buFont typeface="Arial" panose="020B0604020202020204" pitchFamily="34" charset="0"/>
              <a:buNone/>
            </a:pPr>
            <a:r>
              <a:rPr lang="en-US" altLang="zh-CN"/>
              <a:t>2</a:t>
            </a:r>
            <a:r>
              <a:rPr lang="zh-CN" altLang="en-US"/>
              <a:t>、</a:t>
            </a:r>
            <a:r>
              <a:rPr lang="zh-CN" altLang="en-GB"/>
              <a:t>比较流行的</a:t>
            </a:r>
            <a:r>
              <a:rPr lang="en-GB" altLang="zh-CN"/>
              <a:t>Linux</a:t>
            </a:r>
            <a:r>
              <a:rPr lang="zh-CN" altLang="en-GB"/>
              <a:t>套件包括：</a:t>
            </a:r>
          </a:p>
          <a:p>
            <a:pPr marL="1074738" lvl="1" indent="-444500" eaLnBrk="1" hangingPunct="1">
              <a:buFont typeface="AR PL SungtiL GB" charset="0"/>
              <a:buNone/>
            </a:pPr>
            <a:r>
              <a:rPr lang="en-GB" altLang="zh-CN"/>
              <a:t>(1) Red Hat Linux(</a:t>
            </a:r>
            <a:r>
              <a:rPr lang="zh-CN" altLang="en-GB"/>
              <a:t>红帽子</a:t>
            </a:r>
            <a:r>
              <a:rPr lang="en-GB" altLang="zh-CN"/>
              <a:t>Linux):</a:t>
            </a:r>
            <a:r>
              <a:rPr lang="zh-CN" altLang="en-GB"/>
              <a:t>同时支持 </a:t>
            </a:r>
            <a:r>
              <a:rPr lang="en-GB" altLang="zh-CN"/>
              <a:t>Intel</a:t>
            </a:r>
            <a:r>
              <a:rPr lang="zh-CN" altLang="en-GB"/>
              <a:t>、 </a:t>
            </a:r>
            <a:r>
              <a:rPr lang="en-GB" altLang="zh-CN"/>
              <a:t>Alpha</a:t>
            </a:r>
            <a:r>
              <a:rPr lang="zh-CN" altLang="en-GB"/>
              <a:t>、 </a:t>
            </a:r>
            <a:r>
              <a:rPr lang="en-GB" altLang="zh-CN"/>
              <a:t>Sparc </a:t>
            </a:r>
            <a:r>
              <a:rPr lang="zh-CN" altLang="en-GB"/>
              <a:t>三种硬件平台。</a:t>
            </a:r>
          </a:p>
          <a:p>
            <a:pPr marL="1074738" lvl="1" indent="-444500" eaLnBrk="1" hangingPunct="1">
              <a:buFont typeface="AR PL SungtiL GB" charset="0"/>
              <a:buNone/>
            </a:pPr>
            <a:r>
              <a:rPr lang="en-GB" altLang="zh-CN"/>
              <a:t>(2) Turbo Linux</a:t>
            </a:r>
            <a:r>
              <a:rPr lang="zh-CN" altLang="en-GB"/>
              <a:t>：托林思</a:t>
            </a:r>
          </a:p>
          <a:p>
            <a:pPr marL="1074738" lvl="1" indent="-444500" eaLnBrk="1" hangingPunct="1">
              <a:buFont typeface="AR PL SungtiL GB" charset="0"/>
              <a:buNone/>
            </a:pPr>
            <a:r>
              <a:rPr lang="en-GB" altLang="zh-CN"/>
              <a:t>(3) Blue Point Linux(</a:t>
            </a:r>
            <a:r>
              <a:rPr lang="zh-CN" altLang="en-GB"/>
              <a:t>蓝点</a:t>
            </a:r>
            <a:r>
              <a:rPr lang="en-GB" altLang="zh-CN"/>
              <a:t>Linux)</a:t>
            </a:r>
            <a:r>
              <a:rPr lang="zh-CN" altLang="en-GB"/>
              <a:t>：深圳</a:t>
            </a:r>
          </a:p>
          <a:p>
            <a:pPr marL="1074738" lvl="1" indent="-444500" eaLnBrk="1" hangingPunct="1">
              <a:buFont typeface="AR PL SungtiL GB" charset="0"/>
              <a:buNone/>
            </a:pPr>
            <a:r>
              <a:rPr lang="en-GB" altLang="zh-CN"/>
              <a:t>(4) Red Flag Linux(</a:t>
            </a:r>
            <a:r>
              <a:rPr lang="zh-CN" altLang="en-GB"/>
              <a:t>红旗</a:t>
            </a:r>
            <a:r>
              <a:rPr lang="en-GB" altLang="zh-CN"/>
              <a:t>Linux)</a:t>
            </a:r>
            <a:r>
              <a:rPr lang="zh-CN" altLang="en-GB"/>
              <a:t>：中科院</a:t>
            </a:r>
            <a:r>
              <a:rPr lang="en-GB" altLang="zh-CN"/>
              <a:t>&amp;</a:t>
            </a:r>
            <a:r>
              <a:rPr lang="zh-CN" altLang="en-GB"/>
              <a:t>北大方正</a:t>
            </a:r>
          </a:p>
          <a:p>
            <a:pPr marL="1074738" lvl="1" indent="-444500" eaLnBrk="1" hangingPunct="1">
              <a:buFont typeface="AR PL SungtiL GB" charset="0"/>
              <a:buNone/>
            </a:pPr>
            <a:r>
              <a:rPr lang="en-GB" altLang="zh-CN"/>
              <a:t>(5) S.u.S.E Linux</a:t>
            </a:r>
            <a:r>
              <a:rPr lang="zh-CN" altLang="en-GB"/>
              <a:t>：德国</a:t>
            </a:r>
          </a:p>
          <a:p>
            <a:pPr marL="1074738" lvl="1" indent="-444500" eaLnBrk="1" hangingPunct="1">
              <a:buFont typeface="AR PL SungtiL GB" charset="0"/>
              <a:buNone/>
            </a:pPr>
            <a:r>
              <a:rPr lang="en-GB" altLang="zh-CN"/>
              <a:t>(6) Debian Linux </a:t>
            </a:r>
            <a:r>
              <a:rPr lang="zh-CN" altLang="en-GB"/>
              <a:t>：真正的非商业化</a:t>
            </a:r>
            <a:r>
              <a:rPr lang="en-GB" altLang="zh-CN"/>
              <a:t>Linux </a:t>
            </a:r>
          </a:p>
          <a:p>
            <a:pPr marL="1074738" lvl="1" indent="-444500" eaLnBrk="1" hangingPunct="1">
              <a:buFont typeface="AR PL SungtiL GB" charset="0"/>
              <a:buNone/>
            </a:pPr>
            <a:r>
              <a:rPr lang="en-GB" altLang="zh-CN"/>
              <a:t>(7) Xteam Linux(</a:t>
            </a:r>
            <a:r>
              <a:rPr lang="zh-CN" altLang="en-GB"/>
              <a:t>冲浪</a:t>
            </a:r>
            <a:r>
              <a:rPr lang="en-GB" altLang="zh-CN"/>
              <a:t>Linux)</a:t>
            </a:r>
            <a:r>
              <a:rPr lang="zh-CN" altLang="en-GB"/>
              <a:t>：北京</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0C97658F-87A7-1DFC-F671-BC1542CED6B5}"/>
              </a:ext>
            </a:extLst>
          </p:cNvPr>
          <p:cNvSpPr>
            <a:spLocks noGrp="1" noChangeArrowheads="1"/>
          </p:cNvSpPr>
          <p:nvPr>
            <p:ph idx="1"/>
          </p:nvPr>
        </p:nvSpPr>
        <p:spPr/>
        <p:txBody>
          <a:bodyPr/>
          <a:lstStyle/>
          <a:p>
            <a:pPr marL="0" indent="0" eaLnBrk="1" hangingPunct="1">
              <a:buFont typeface="Arial" panose="020B0604020202020204" pitchFamily="34" charset="0"/>
              <a:buNone/>
            </a:pPr>
            <a:r>
              <a:rPr lang="en-US" altLang="zh-CN"/>
              <a:t>3</a:t>
            </a:r>
            <a:r>
              <a:rPr lang="zh-CN" altLang="en-US"/>
              <a:t>、</a:t>
            </a:r>
            <a:r>
              <a:rPr lang="en-GB" altLang="zh-CN"/>
              <a:t>Red Hat Fedora </a:t>
            </a:r>
            <a:endParaRPr lang="zh-CN" altLang="en-GB"/>
          </a:p>
          <a:p>
            <a:pPr lvl="1" eaLnBrk="1" hangingPunct="1"/>
            <a:r>
              <a:rPr lang="en-GB" altLang="zh-CN"/>
              <a:t>Red Hat</a:t>
            </a:r>
            <a:r>
              <a:rPr lang="zh-CN" altLang="en-GB"/>
              <a:t>公司的最新</a:t>
            </a:r>
            <a:r>
              <a:rPr lang="en-GB" altLang="zh-CN"/>
              <a:t>Linux</a:t>
            </a:r>
            <a:r>
              <a:rPr lang="zh-CN" altLang="en-GB"/>
              <a:t>套件，以</a:t>
            </a:r>
            <a:r>
              <a:rPr lang="en-GB" altLang="zh-CN"/>
              <a:t>RedHatLinux</a:t>
            </a:r>
            <a:r>
              <a:rPr lang="zh-CN" altLang="en-GB"/>
              <a:t>为基础，增加了诸多新特性。目前的稳定版本为</a:t>
            </a:r>
            <a:r>
              <a:rPr lang="zh-CN" altLang="en-US">
                <a:solidFill>
                  <a:srgbClr val="FF0000"/>
                </a:solidFill>
              </a:rPr>
              <a:t>？</a:t>
            </a:r>
            <a:r>
              <a:rPr lang="zh-CN" altLang="en-GB"/>
              <a:t>，另有版本号为</a:t>
            </a:r>
            <a:r>
              <a:rPr lang="zh-CN" altLang="en-US">
                <a:solidFill>
                  <a:srgbClr val="FF0000"/>
                </a:solidFill>
              </a:rPr>
              <a:t>？</a:t>
            </a:r>
            <a:r>
              <a:rPr lang="zh-CN" altLang="en-GB"/>
              <a:t>的测试版本。 </a:t>
            </a:r>
            <a:r>
              <a:rPr lang="zh-CN" altLang="en-US"/>
              <a:t>（</a:t>
            </a:r>
            <a:r>
              <a:rPr lang="zh-CN" altLang="en-US">
                <a:solidFill>
                  <a:srgbClr val="FF0000"/>
                </a:solidFill>
              </a:rPr>
              <a:t>？要求个人去查</a:t>
            </a:r>
            <a:r>
              <a:rPr lang="zh-CN" altLang="en-US"/>
              <a:t>）</a:t>
            </a:r>
            <a:endParaRPr lang="zh-CN" altLang="en-GB"/>
          </a:p>
          <a:p>
            <a:pPr lvl="1" eaLnBrk="1" hangingPunct="1"/>
            <a:r>
              <a:rPr lang="zh-CN" altLang="en-GB"/>
              <a:t>每个版本又分为以下几种：</a:t>
            </a:r>
          </a:p>
          <a:p>
            <a:pPr lvl="2" eaLnBrk="1" hangingPunct="1">
              <a:buSzTx/>
            </a:pPr>
            <a:r>
              <a:rPr lang="en-GB" altLang="zh-CN" sz="2400"/>
              <a:t>Fedora Desktop</a:t>
            </a:r>
          </a:p>
          <a:p>
            <a:pPr lvl="2" eaLnBrk="1" hangingPunct="1">
              <a:buSzTx/>
            </a:pPr>
            <a:r>
              <a:rPr lang="en-GB" altLang="zh-CN" sz="2400"/>
              <a:t>Fedora Workstation Server(WS)</a:t>
            </a:r>
          </a:p>
          <a:p>
            <a:pPr lvl="2" eaLnBrk="1" hangingPunct="1">
              <a:buSzTx/>
            </a:pPr>
            <a:r>
              <a:rPr lang="en-GB" altLang="zh-CN" sz="2400"/>
              <a:t>Fedora Enterprise Server(ES)</a:t>
            </a:r>
          </a:p>
          <a:p>
            <a:pPr lvl="2" eaLnBrk="1" hangingPunct="1">
              <a:buSzTx/>
            </a:pPr>
            <a:r>
              <a:rPr lang="en-GB" altLang="zh-CN" sz="2400"/>
              <a:t>Fedora Advanced Server(AS)</a:t>
            </a:r>
          </a:p>
        </p:txBody>
      </p:sp>
      <p:pic>
        <p:nvPicPr>
          <p:cNvPr id="28675" name="Picture 5" descr="fedora">
            <a:extLst>
              <a:ext uri="{FF2B5EF4-FFF2-40B4-BE49-F238E27FC236}">
                <a16:creationId xmlns:a16="http://schemas.microsoft.com/office/drawing/2014/main" id="{01929C80-E02C-80E0-F575-C1A21C704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5157788"/>
            <a:ext cx="8572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E56356F0-1C5A-8997-9F61-BB42D7F80427}"/>
              </a:ext>
            </a:extLst>
          </p:cNvPr>
          <p:cNvSpPr>
            <a:spLocks noGrp="1" noChangeArrowheads="1"/>
          </p:cNvSpPr>
          <p:nvPr>
            <p:ph idx="1"/>
          </p:nvPr>
        </p:nvSpPr>
        <p:spPr/>
        <p:txBody>
          <a:bodyPr/>
          <a:lstStyle/>
          <a:p>
            <a:pPr eaLnBrk="1" hangingPunct="1"/>
            <a:r>
              <a:rPr lang="en-GB" altLang="zh-CN"/>
              <a:t>Red Hat Fedora </a:t>
            </a:r>
            <a:endParaRPr lang="zh-CN" altLang="en-GB"/>
          </a:p>
        </p:txBody>
      </p:sp>
      <p:pic>
        <p:nvPicPr>
          <p:cNvPr id="29699" name="Picture 5" descr="Screenshot">
            <a:extLst>
              <a:ext uri="{FF2B5EF4-FFF2-40B4-BE49-F238E27FC236}">
                <a16:creationId xmlns:a16="http://schemas.microsoft.com/office/drawing/2014/main" id="{F71CA1FF-EABC-A81C-6D87-48CF72D46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125538"/>
            <a:ext cx="6911975" cy="518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E044999B-43AE-6F3D-8ADB-C82D99FAD792}"/>
              </a:ext>
            </a:extLst>
          </p:cNvPr>
          <p:cNvSpPr>
            <a:spLocks noGrp="1" noChangeArrowheads="1"/>
          </p:cNvSpPr>
          <p:nvPr>
            <p:ph idx="1"/>
          </p:nvPr>
        </p:nvSpPr>
        <p:spPr/>
        <p:txBody>
          <a:bodyPr/>
          <a:lstStyle/>
          <a:p>
            <a:pPr marL="0" indent="0" eaLnBrk="1" hangingPunct="1">
              <a:buFont typeface="Arial" panose="020B0604020202020204" pitchFamily="34" charset="0"/>
              <a:buNone/>
            </a:pPr>
            <a:r>
              <a:rPr lang="en-US" altLang="zh-CN"/>
              <a:t>4</a:t>
            </a:r>
            <a:r>
              <a:rPr lang="zh-CN" altLang="en-US"/>
              <a:t>、</a:t>
            </a:r>
            <a:r>
              <a:rPr lang="en-GB" altLang="zh-CN"/>
              <a:t>Linux</a:t>
            </a:r>
            <a:r>
              <a:rPr lang="zh-CN" altLang="en-GB"/>
              <a:t>成功流行的原因</a:t>
            </a:r>
          </a:p>
          <a:p>
            <a:pPr lvl="1" eaLnBrk="1" hangingPunct="1"/>
            <a:r>
              <a:rPr lang="zh-CN" altLang="en-GB"/>
              <a:t>兼容</a:t>
            </a:r>
            <a:r>
              <a:rPr lang="en-GB" altLang="zh-CN"/>
              <a:t>Unix</a:t>
            </a:r>
            <a:r>
              <a:rPr lang="zh-CN" altLang="en-GB"/>
              <a:t>的</a:t>
            </a:r>
            <a:r>
              <a:rPr lang="en-GB" altLang="zh-CN"/>
              <a:t>PC</a:t>
            </a:r>
            <a:r>
              <a:rPr lang="zh-CN" altLang="en-GB"/>
              <a:t>机操作系统</a:t>
            </a:r>
            <a:endParaRPr lang="zh-CN" altLang="en-GB" sz="2800"/>
          </a:p>
          <a:p>
            <a:pPr lvl="1" eaLnBrk="1" hangingPunct="1"/>
            <a:r>
              <a:rPr lang="zh-CN" altLang="en-GB"/>
              <a:t>免费和公开的核心源代码，发行套件价格低廉</a:t>
            </a:r>
          </a:p>
          <a:p>
            <a:pPr lvl="1" eaLnBrk="1" hangingPunct="1"/>
            <a:r>
              <a:rPr lang="zh-CN" altLang="en-GB"/>
              <a:t>优异的服务器系统特性</a:t>
            </a:r>
          </a:p>
          <a:p>
            <a:pPr lvl="1" eaLnBrk="1" hangingPunct="1"/>
            <a:r>
              <a:rPr lang="zh-CN" altLang="en-GB"/>
              <a:t>和</a:t>
            </a:r>
            <a:r>
              <a:rPr lang="en-GB" altLang="zh-CN"/>
              <a:t>Windows</a:t>
            </a:r>
            <a:r>
              <a:rPr lang="zh-CN" altLang="en-GB"/>
              <a:t>系统对立</a:t>
            </a:r>
            <a:r>
              <a:rPr lang="zh-CN" altLang="en-US"/>
              <a:t>的</a:t>
            </a:r>
            <a:endParaRPr lang="zh-CN" alt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3">
            <a:extLst>
              <a:ext uri="{FF2B5EF4-FFF2-40B4-BE49-F238E27FC236}">
                <a16:creationId xmlns:a16="http://schemas.microsoft.com/office/drawing/2014/main" id="{22074B1C-FE7A-F0CC-64F6-BDED85A764C0}"/>
              </a:ext>
            </a:extLst>
          </p:cNvPr>
          <p:cNvSpPr>
            <a:spLocks noGrp="1" noChangeArrowheads="1"/>
          </p:cNvSpPr>
          <p:nvPr>
            <p:ph idx="1"/>
          </p:nvPr>
        </p:nvSpPr>
        <p:spPr>
          <a:xfrm>
            <a:off x="466725" y="1222375"/>
            <a:ext cx="8208963" cy="4824413"/>
          </a:xfrm>
        </p:spPr>
        <p:txBody>
          <a:bodyPr/>
          <a:lstStyle/>
          <a:p>
            <a:pPr eaLnBrk="1" hangingPunct="1"/>
            <a:r>
              <a:rPr lang="zh-CN" altLang="en-GB"/>
              <a:t>免费的内核源代码</a:t>
            </a:r>
          </a:p>
          <a:p>
            <a:pPr eaLnBrk="1" hangingPunct="1"/>
            <a:r>
              <a:rPr lang="zh-CN" altLang="en-GB"/>
              <a:t>多任务、多用户</a:t>
            </a:r>
            <a:r>
              <a:rPr lang="en-GB" altLang="zh-CN"/>
              <a:t>32</a:t>
            </a:r>
            <a:r>
              <a:rPr lang="zh-CN" altLang="en-GB"/>
              <a:t>位操作系统</a:t>
            </a:r>
            <a:r>
              <a:rPr lang="zh-CN" altLang="en-US"/>
              <a:t>（</a:t>
            </a:r>
            <a:r>
              <a:rPr lang="en-US" altLang="zh-CN"/>
              <a:t>64</a:t>
            </a:r>
            <a:r>
              <a:rPr lang="zh-CN" altLang="en-US"/>
              <a:t>位）</a:t>
            </a:r>
            <a:endParaRPr lang="zh-CN" altLang="en-GB"/>
          </a:p>
          <a:p>
            <a:pPr eaLnBrk="1" hangingPunct="1"/>
            <a:r>
              <a:rPr lang="zh-CN" altLang="en-GB"/>
              <a:t>支持多种硬件平台：</a:t>
            </a:r>
            <a:r>
              <a:rPr lang="en-GB" altLang="zh-CN"/>
              <a:t>Intel X386</a:t>
            </a:r>
            <a:r>
              <a:rPr lang="zh-CN" altLang="en-GB"/>
              <a:t>、</a:t>
            </a:r>
            <a:r>
              <a:rPr lang="en-GB" altLang="zh-CN"/>
              <a:t>Apple PowerPC</a:t>
            </a:r>
            <a:r>
              <a:rPr lang="zh-CN" altLang="en-GB"/>
              <a:t>、</a:t>
            </a:r>
            <a:r>
              <a:rPr lang="en-GB" altLang="zh-CN"/>
              <a:t>Sun Sparc</a:t>
            </a:r>
            <a:r>
              <a:rPr lang="zh-CN" altLang="en-GB"/>
              <a:t>、</a:t>
            </a:r>
            <a:r>
              <a:rPr lang="en-GB" altLang="zh-CN"/>
              <a:t>HP Alpha</a:t>
            </a:r>
            <a:r>
              <a:rPr lang="zh-CN" altLang="en-GB"/>
              <a:t>等等</a:t>
            </a:r>
          </a:p>
          <a:p>
            <a:pPr eaLnBrk="1" hangingPunct="1"/>
            <a:r>
              <a:rPr lang="zh-CN" altLang="en-GB"/>
              <a:t>采用请求分页式虚拟存储管理技术</a:t>
            </a:r>
          </a:p>
          <a:p>
            <a:pPr eaLnBrk="1" hangingPunct="1"/>
            <a:r>
              <a:rPr lang="zh-CN" altLang="en-GB"/>
              <a:t>网络功能强大：在</a:t>
            </a:r>
            <a:r>
              <a:rPr lang="en-GB" altLang="zh-CN"/>
              <a:t>TCP/IP</a:t>
            </a:r>
            <a:r>
              <a:rPr lang="zh-CN" altLang="en-GB"/>
              <a:t>协议和</a:t>
            </a:r>
            <a:r>
              <a:rPr lang="en-GB" altLang="zh-CN"/>
              <a:t>IPX/SPX</a:t>
            </a:r>
            <a:r>
              <a:rPr lang="zh-CN" altLang="en-GB"/>
              <a:t>的基础上可以提供</a:t>
            </a:r>
            <a:r>
              <a:rPr lang="en-GB" altLang="zh-CN"/>
              <a:t>WWW</a:t>
            </a:r>
            <a:r>
              <a:rPr lang="zh-CN" altLang="en-GB"/>
              <a:t>服务器、</a:t>
            </a:r>
            <a:r>
              <a:rPr lang="en-GB" altLang="zh-CN"/>
              <a:t>FTP</a:t>
            </a:r>
            <a:r>
              <a:rPr lang="zh-CN" altLang="en-GB"/>
              <a:t>服务器、邮件服务器、代理服务器、新闻组服务器、防火墙、 </a:t>
            </a:r>
            <a:r>
              <a:rPr lang="en-GB" altLang="zh-CN"/>
              <a:t>DHCP</a:t>
            </a:r>
            <a:r>
              <a:rPr lang="zh-CN" altLang="en-GB"/>
              <a:t>主机以及</a:t>
            </a:r>
            <a:r>
              <a:rPr lang="en-GB" altLang="zh-CN"/>
              <a:t>DNS</a:t>
            </a:r>
            <a:r>
              <a:rPr lang="zh-CN" altLang="en-GB"/>
              <a:t>服务器</a:t>
            </a:r>
          </a:p>
        </p:txBody>
      </p:sp>
      <p:sp>
        <p:nvSpPr>
          <p:cNvPr id="31747" name="Text Box 4">
            <a:extLst>
              <a:ext uri="{FF2B5EF4-FFF2-40B4-BE49-F238E27FC236}">
                <a16:creationId xmlns:a16="http://schemas.microsoft.com/office/drawing/2014/main" id="{FDE12A7B-3643-4BCE-CC8F-7905B0833026}"/>
              </a:ext>
            </a:extLst>
          </p:cNvPr>
          <p:cNvSpPr txBox="1">
            <a:spLocks noChangeArrowheads="1"/>
          </p:cNvSpPr>
          <p:nvPr/>
        </p:nvSpPr>
        <p:spPr bwMode="auto">
          <a:xfrm>
            <a:off x="-1189038" y="620713"/>
            <a:ext cx="4572001" cy="579437"/>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a:spcBef>
                <a:spcPct val="50000"/>
              </a:spcBef>
              <a:spcAft>
                <a:spcPct val="0"/>
              </a:spcAft>
              <a:buClrTx/>
              <a:buFontTx/>
              <a:buNone/>
            </a:pPr>
            <a:r>
              <a:rPr lang="en-US" altLang="zh-CN" sz="3200">
                <a:latin typeface="华文新魏" panose="02010800040101010101" pitchFamily="2" charset="-122"/>
                <a:ea typeface="华文新魏" panose="02010800040101010101" pitchFamily="2" charset="-122"/>
              </a:rPr>
              <a:t>5</a:t>
            </a:r>
            <a:r>
              <a:rPr lang="zh-CN" altLang="en-GB" sz="3200">
                <a:latin typeface="华文新魏" panose="02010800040101010101" pitchFamily="2" charset="-122"/>
                <a:ea typeface="华文新魏" panose="02010800040101010101" pitchFamily="2" charset="-122"/>
              </a:rPr>
              <a:t>、</a:t>
            </a:r>
            <a:r>
              <a:rPr lang="en-GB" altLang="zh-CN" sz="3200">
                <a:latin typeface="华文新魏" panose="02010800040101010101" pitchFamily="2" charset="-122"/>
                <a:ea typeface="华文新魏" panose="02010800040101010101" pitchFamily="2" charset="-122"/>
              </a:rPr>
              <a:t>Linux</a:t>
            </a:r>
            <a:r>
              <a:rPr lang="zh-CN" altLang="en-GB" sz="3200">
                <a:latin typeface="华文新魏" panose="02010800040101010101" pitchFamily="2" charset="-122"/>
                <a:ea typeface="华文新魏" panose="02010800040101010101" pitchFamily="2" charset="-122"/>
              </a:rPr>
              <a:t>的特点</a:t>
            </a:r>
            <a:endParaRPr lang="zh-CN" altLang="en-US" sz="3200">
              <a:latin typeface="华文新魏" panose="02010800040101010101" pitchFamily="2" charset="-122"/>
              <a:ea typeface="华文新魏" panose="020108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0AE3F09C-4F88-DE59-F931-6D62FBC8A3F8}"/>
              </a:ext>
            </a:extLst>
          </p:cNvPr>
          <p:cNvSpPr>
            <a:spLocks noGrp="1" noChangeArrowheads="1"/>
          </p:cNvSpPr>
          <p:nvPr>
            <p:ph idx="1"/>
          </p:nvPr>
        </p:nvSpPr>
        <p:spPr/>
        <p:txBody>
          <a:bodyPr/>
          <a:lstStyle/>
          <a:p>
            <a:pPr marL="0" indent="0" eaLnBrk="1" hangingPunct="1">
              <a:buFont typeface="Arial" panose="020B0604020202020204" pitchFamily="34" charset="0"/>
              <a:buNone/>
            </a:pPr>
            <a:r>
              <a:rPr lang="en-US" altLang="zh-CN"/>
              <a:t>6</a:t>
            </a:r>
            <a:r>
              <a:rPr lang="zh-CN" altLang="en-US"/>
              <a:t>、总结</a:t>
            </a:r>
          </a:p>
          <a:p>
            <a:pPr lvl="1" eaLnBrk="1" hangingPunct="1">
              <a:buFont typeface="Arial" panose="020B0604020202020204" pitchFamily="34" charset="0"/>
              <a:buNone/>
            </a:pPr>
            <a:r>
              <a:rPr lang="en-US" altLang="zh-CN"/>
              <a:t>Linux</a:t>
            </a:r>
            <a:r>
              <a:rPr lang="zh-CN" altLang="en-US"/>
              <a:t>操作系统是目前最为流行的服务器操作系统，它在这方面的主要优势包括</a:t>
            </a:r>
            <a:r>
              <a:rPr lang="en-US" altLang="zh-CN"/>
              <a:t>:</a:t>
            </a:r>
          </a:p>
          <a:p>
            <a:pPr lvl="1" eaLnBrk="1" hangingPunct="1"/>
            <a:r>
              <a:rPr lang="en-US" altLang="zh-CN"/>
              <a:t>Linux</a:t>
            </a:r>
            <a:r>
              <a:rPr lang="zh-CN" altLang="en-US"/>
              <a:t>是兼容</a:t>
            </a:r>
            <a:r>
              <a:rPr lang="en-US" altLang="zh-CN"/>
              <a:t>Unix</a:t>
            </a:r>
            <a:r>
              <a:rPr lang="zh-CN" altLang="en-US"/>
              <a:t>的操作系统，具有与</a:t>
            </a:r>
            <a:r>
              <a:rPr lang="en-US" altLang="zh-CN"/>
              <a:t>Unix</a:t>
            </a:r>
            <a:r>
              <a:rPr lang="zh-CN" altLang="en-US"/>
              <a:t>相似的服务能力。</a:t>
            </a:r>
          </a:p>
          <a:p>
            <a:pPr lvl="1" eaLnBrk="1" hangingPunct="1"/>
            <a:r>
              <a:rPr lang="en-US" altLang="zh-CN"/>
              <a:t>Linux</a:t>
            </a:r>
            <a:r>
              <a:rPr lang="zh-CN" altLang="en-US"/>
              <a:t>是多用户多任务操作系统，允许多个用户同时使用一台计算机。</a:t>
            </a:r>
          </a:p>
          <a:p>
            <a:pPr lvl="1" eaLnBrk="1" hangingPunct="1"/>
            <a:r>
              <a:rPr lang="en-US" altLang="zh-CN"/>
              <a:t>Linux</a:t>
            </a:r>
            <a:r>
              <a:rPr lang="zh-CN" altLang="en-US"/>
              <a:t>的网络服务功能强大，可以提供各种网络服务。</a:t>
            </a:r>
          </a:p>
          <a:p>
            <a:pPr lvl="1" eaLnBrk="1" hangingPunct="1"/>
            <a:r>
              <a:rPr lang="en-US" altLang="zh-CN"/>
              <a:t>Linux</a:t>
            </a:r>
            <a:r>
              <a:rPr lang="zh-CN" altLang="en-US"/>
              <a:t>是免费源代码的操作系统，价格低廉。</a:t>
            </a:r>
          </a:p>
          <a:p>
            <a:pPr lvl="1" eaLnBrk="1" hangingPunct="1"/>
            <a:r>
              <a:rPr lang="en-US" altLang="zh-CN"/>
              <a:t>Linux</a:t>
            </a:r>
            <a:r>
              <a:rPr lang="zh-CN" altLang="en-US"/>
              <a:t>操作系统支持多种硬件平台，可以在很多计算机内运行。</a:t>
            </a:r>
            <a:endParaRPr lang="en-GB"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Text Box 4">
            <a:extLst>
              <a:ext uri="{FF2B5EF4-FFF2-40B4-BE49-F238E27FC236}">
                <a16:creationId xmlns:a16="http://schemas.microsoft.com/office/drawing/2014/main" id="{ECAA5BF6-2674-39BB-FA24-20192ED3366D}"/>
              </a:ext>
            </a:extLst>
          </p:cNvPr>
          <p:cNvSpPr>
            <a:spLocks noGrp="1" noChangeArrowheads="1"/>
          </p:cNvSpPr>
          <p:nvPr>
            <p:ph type="title"/>
          </p:nvPr>
        </p:nvSpPr>
        <p:spPr>
          <a:xfrm>
            <a:off x="1042988" y="0"/>
            <a:ext cx="5653087" cy="530225"/>
          </a:xfrm>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algn="r">
              <a:spcBef>
                <a:spcPct val="50000"/>
              </a:spcBef>
              <a:buClrTx/>
              <a:buFontTx/>
              <a:buNone/>
            </a:pPr>
            <a:r>
              <a:rPr lang="en-US" altLang="zh-CN" sz="3200">
                <a:latin typeface="华文新魏" panose="02010800040101010101" pitchFamily="2" charset="-122"/>
              </a:rPr>
              <a:t>1.4</a:t>
            </a:r>
            <a:r>
              <a:rPr lang="zh-CN" altLang="en-GB" sz="3200">
                <a:latin typeface="华文新魏" panose="02010800040101010101" pitchFamily="2" charset="-122"/>
              </a:rPr>
              <a:t>、</a:t>
            </a:r>
            <a:r>
              <a:rPr lang="en-GB" altLang="zh-CN" sz="3200">
                <a:latin typeface="华文新魏" panose="02010800040101010101" pitchFamily="2" charset="-122"/>
              </a:rPr>
              <a:t>Linux</a:t>
            </a:r>
            <a:r>
              <a:rPr lang="zh-CN" altLang="en-US" sz="3200">
                <a:latin typeface="华文新魏" panose="02010800040101010101" pitchFamily="2" charset="-122"/>
              </a:rPr>
              <a:t>操作系统的安全</a:t>
            </a:r>
          </a:p>
        </p:txBody>
      </p:sp>
      <p:sp>
        <p:nvSpPr>
          <p:cNvPr id="33795" name="内容占位符 2">
            <a:extLst>
              <a:ext uri="{FF2B5EF4-FFF2-40B4-BE49-F238E27FC236}">
                <a16:creationId xmlns:a16="http://schemas.microsoft.com/office/drawing/2014/main" id="{409DC55C-3607-24B7-DA11-4CC3A818B68A}"/>
              </a:ext>
            </a:extLst>
          </p:cNvPr>
          <p:cNvSpPr>
            <a:spLocks noGrp="1" noChangeArrowheads="1"/>
          </p:cNvSpPr>
          <p:nvPr>
            <p:ph idx="4294967295"/>
          </p:nvPr>
        </p:nvSpPr>
        <p:spPr>
          <a:xfrm>
            <a:off x="827088" y="765175"/>
            <a:ext cx="7489825" cy="576263"/>
          </a:xfrm>
        </p:spPr>
        <p:txBody>
          <a:bodyPr/>
          <a:lstStyle/>
          <a:p>
            <a:pPr>
              <a:buFont typeface="Wingdings" panose="05000000000000000000" pitchFamily="2" charset="2"/>
              <a:buNone/>
            </a:pPr>
            <a:r>
              <a:rPr lang="zh-CN" altLang="zh-CN" sz="3600">
                <a:solidFill>
                  <a:srgbClr val="CC0000"/>
                </a:solidFill>
              </a:rPr>
              <a:t>1.</a:t>
            </a:r>
            <a:r>
              <a:rPr lang="zh-CN" altLang="en-US" sz="3600">
                <a:solidFill>
                  <a:srgbClr val="CC0000"/>
                </a:solidFill>
              </a:rPr>
              <a:t>清理系统不需要的用户和用户组</a:t>
            </a:r>
          </a:p>
        </p:txBody>
      </p:sp>
      <p:sp>
        <p:nvSpPr>
          <p:cNvPr id="33796" name="圆角矩形 4">
            <a:extLst>
              <a:ext uri="{FF2B5EF4-FFF2-40B4-BE49-F238E27FC236}">
                <a16:creationId xmlns:a16="http://schemas.microsoft.com/office/drawing/2014/main" id="{07983CFC-426E-6BCF-1E0D-DFCF8F53195F}"/>
              </a:ext>
            </a:extLst>
          </p:cNvPr>
          <p:cNvSpPr>
            <a:spLocks noChangeArrowheads="1"/>
          </p:cNvSpPr>
          <p:nvPr/>
        </p:nvSpPr>
        <p:spPr bwMode="auto">
          <a:xfrm>
            <a:off x="719138" y="1700213"/>
            <a:ext cx="7921625" cy="4175125"/>
          </a:xfrm>
          <a:prstGeom prst="roundRect">
            <a:avLst>
              <a:gd name="adj" fmla="val 16667"/>
            </a:avLst>
          </a:prstGeom>
          <a:solidFill>
            <a:schemeClr val="bg1"/>
          </a:solidFill>
          <a:ln w="25400">
            <a:solidFill>
              <a:schemeClr val="accent1"/>
            </a:solidFill>
            <a:round/>
            <a:headEnd/>
            <a:tailEnd/>
          </a:ln>
        </p:spPr>
        <p:txBody>
          <a:bodyPr anchor="ctr" anchorCtr="1"/>
          <a:lstStyle>
            <a:lvl1pPr indent="4572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10000"/>
              </a:lnSpc>
              <a:spcBef>
                <a:spcPct val="0"/>
              </a:spcBef>
              <a:spcAft>
                <a:spcPct val="0"/>
              </a:spcAft>
              <a:buClrTx/>
              <a:buFont typeface="Arial" panose="020B0604020202020204" pitchFamily="34" charset="0"/>
              <a:buNone/>
            </a:pPr>
            <a:r>
              <a:rPr lang="zh-CN" altLang="en-US" sz="1600">
                <a:solidFill>
                  <a:srgbClr val="CC0000"/>
                </a:solidFill>
                <a:latin typeface="Arial" panose="020B0604020202020204" pitchFamily="34" charset="0"/>
                <a:sym typeface="+mn-ea"/>
              </a:rPr>
              <a:t> </a:t>
            </a:r>
            <a:r>
              <a:rPr lang="zh-CN" altLang="en-US" sz="2000">
                <a:solidFill>
                  <a:schemeClr val="tx1"/>
                </a:solidFill>
                <a:latin typeface="Arial" panose="020B0604020202020204" pitchFamily="34" charset="0"/>
                <a:sym typeface="+mn-ea"/>
              </a:rPr>
              <a:t>Linux是个多用户多任务的分时操作系统，所有一个要使用系统资源的用户都必须先向系统管理员申请一个账号，然后以这个账号的身份进入系统。用户的账号一方面能帮助系统管理员对使用系统的用户进行跟踪，并控制他们对系统资源的访问；另一方面也能帮助用户组织文件，并为用户提供安全性保护。每个用户账号都拥有一个惟一的用户名和用户口令。用户在登录时键入正确的用户名和口令后，才能进入系统和自己的主目录。对于无用的用户和组，应及时进行清理。</a:t>
            </a:r>
          </a:p>
          <a:p>
            <a:pPr eaLnBrk="1" hangingPunct="1">
              <a:lnSpc>
                <a:spcPct val="110000"/>
              </a:lnSpc>
              <a:spcBef>
                <a:spcPct val="0"/>
              </a:spcBef>
              <a:spcAft>
                <a:spcPct val="0"/>
              </a:spcAft>
              <a:buClrTx/>
              <a:buFont typeface="Arial" panose="020B0604020202020204" pitchFamily="34" charset="0"/>
              <a:buNone/>
            </a:pPr>
            <a:r>
              <a:rPr lang="zh-CN" altLang="en-US" sz="2000">
                <a:solidFill>
                  <a:srgbClr val="FF0000"/>
                </a:solidFill>
                <a:latin typeface="Arial" panose="020B0604020202020204" pitchFamily="34" charset="0"/>
                <a:sym typeface="+mn-ea"/>
              </a:rPr>
              <a:t>可删除的用户</a:t>
            </a:r>
            <a:r>
              <a:rPr lang="zh-CN" altLang="en-US" sz="2000">
                <a:solidFill>
                  <a:schemeClr val="tx1"/>
                </a:solidFill>
                <a:latin typeface="Arial" panose="020B0604020202020204" pitchFamily="34" charset="0"/>
                <a:sym typeface="+mn-ea"/>
              </a:rPr>
              <a:t>，如adm、lp、sync、shutdown、halt、news、uucp、operator、games、gopher等。</a:t>
            </a:r>
          </a:p>
          <a:p>
            <a:pPr eaLnBrk="1" hangingPunct="1">
              <a:lnSpc>
                <a:spcPct val="110000"/>
              </a:lnSpc>
              <a:spcBef>
                <a:spcPct val="0"/>
              </a:spcBef>
              <a:spcAft>
                <a:spcPct val="0"/>
              </a:spcAft>
              <a:buClrTx/>
              <a:buFont typeface="Arial" panose="020B0604020202020204" pitchFamily="34" charset="0"/>
              <a:buNone/>
            </a:pPr>
            <a:r>
              <a:rPr lang="zh-CN" altLang="en-US" sz="2000">
                <a:solidFill>
                  <a:srgbClr val="FF0000"/>
                </a:solidFill>
                <a:latin typeface="Arial" panose="020B0604020202020204" pitchFamily="34" charset="0"/>
                <a:sym typeface="+mn-ea"/>
              </a:rPr>
              <a:t>可删除的用户组</a:t>
            </a:r>
            <a:r>
              <a:rPr lang="zh-CN" altLang="en-US" sz="2000">
                <a:solidFill>
                  <a:schemeClr val="tx1"/>
                </a:solidFill>
                <a:latin typeface="Arial" panose="020B0604020202020204" pitchFamily="34" charset="0"/>
                <a:sym typeface="+mn-ea"/>
              </a:rPr>
              <a:t>，如adm、lp、news、uucp、games、dip、pppusers、popusers、slipusers等。</a:t>
            </a:r>
            <a:r>
              <a:rPr lang="zh-CN" altLang="en-US" sz="1500">
                <a:solidFill>
                  <a:schemeClr val="tx2"/>
                </a:solidFill>
                <a:latin typeface="Arial" panose="020B0604020202020204" pitchFamily="34" charset="0"/>
                <a:sym typeface="+mn-ea"/>
              </a:rPr>
              <a:t>　</a:t>
            </a:r>
          </a:p>
          <a:p>
            <a:pPr eaLnBrk="1" hangingPunct="1">
              <a:lnSpc>
                <a:spcPct val="60000"/>
              </a:lnSpc>
              <a:spcBef>
                <a:spcPct val="0"/>
              </a:spcBef>
              <a:spcAft>
                <a:spcPct val="0"/>
              </a:spcAft>
              <a:buClrTx/>
              <a:buFont typeface="Arial" panose="020B0604020202020204" pitchFamily="34" charset="0"/>
              <a:buNone/>
            </a:pPr>
            <a:r>
              <a:rPr lang="zh-CN" altLang="en-US" sz="1500">
                <a:solidFill>
                  <a:schemeClr val="tx2"/>
                </a:solidFill>
                <a:latin typeface="Arial" panose="020B0604020202020204" pitchFamily="34" charset="0"/>
                <a:sym typeface="+mn-ea"/>
              </a:rPr>
              <a:t>       </a:t>
            </a:r>
          </a:p>
        </p:txBody>
      </p:sp>
      <p:pic>
        <p:nvPicPr>
          <p:cNvPr id="33797" name="Picture 5" descr="MC900436992[1]">
            <a:extLst>
              <a:ext uri="{FF2B5EF4-FFF2-40B4-BE49-F238E27FC236}">
                <a16:creationId xmlns:a16="http://schemas.microsoft.com/office/drawing/2014/main" id="{BD952F23-D569-72AE-86D5-1325D5959C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850" y="5265738"/>
            <a:ext cx="17859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内容占位符 2">
            <a:extLst>
              <a:ext uri="{FF2B5EF4-FFF2-40B4-BE49-F238E27FC236}">
                <a16:creationId xmlns:a16="http://schemas.microsoft.com/office/drawing/2014/main" id="{935BEC09-10BA-F72E-E8EF-ACCBFD50D70F}"/>
              </a:ext>
            </a:extLst>
          </p:cNvPr>
          <p:cNvSpPr txBox="1">
            <a:spLocks noChangeArrowheads="1"/>
          </p:cNvSpPr>
          <p:nvPr/>
        </p:nvSpPr>
        <p:spPr bwMode="auto">
          <a:xfrm>
            <a:off x="611188" y="765175"/>
            <a:ext cx="7561262" cy="3968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n"/>
              <a:defRPr sz="1600">
                <a:solidFill>
                  <a:schemeClr val="tx1"/>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1400">
                <a:solidFill>
                  <a:schemeClr val="tx1"/>
                </a:solidFill>
                <a:latin typeface="+mn-lt"/>
                <a:ea typeface="+mn-ea"/>
              </a:defRPr>
            </a:lvl5pPr>
            <a:lvl6pPr marL="2514600" indent="-228600" algn="l" rtl="0" eaLnBrk="0" fontAlgn="base" hangingPunct="0">
              <a:spcBef>
                <a:spcPct val="20000"/>
              </a:spcBef>
              <a:spcAft>
                <a:spcPct val="0"/>
              </a:spcAft>
              <a:buFont typeface="Wingdings" panose="05000000000000000000" pitchFamily="2" charset="2"/>
              <a:buChar char="»"/>
              <a:defRPr sz="1400">
                <a:solidFill>
                  <a:schemeClr val="tx1"/>
                </a:solidFill>
                <a:latin typeface="+mn-lt"/>
                <a:ea typeface="+mn-ea"/>
              </a:defRPr>
            </a:lvl6pPr>
            <a:lvl7pPr marL="2971800" indent="-228600" algn="l" rtl="0" eaLnBrk="0" fontAlgn="base" hangingPunct="0">
              <a:spcBef>
                <a:spcPct val="20000"/>
              </a:spcBef>
              <a:spcAft>
                <a:spcPct val="0"/>
              </a:spcAft>
              <a:buFont typeface="Wingdings" panose="05000000000000000000" pitchFamily="2" charset="2"/>
              <a:buChar char="»"/>
              <a:defRPr sz="1400">
                <a:solidFill>
                  <a:schemeClr val="tx1"/>
                </a:solidFill>
                <a:latin typeface="+mn-lt"/>
                <a:ea typeface="+mn-ea"/>
              </a:defRPr>
            </a:lvl7pPr>
            <a:lvl8pPr marL="3429000" indent="-228600" algn="l" rtl="0" eaLnBrk="0" fontAlgn="base" hangingPunct="0">
              <a:spcBef>
                <a:spcPct val="20000"/>
              </a:spcBef>
              <a:spcAft>
                <a:spcPct val="0"/>
              </a:spcAft>
              <a:buFont typeface="Wingdings" panose="05000000000000000000" pitchFamily="2" charset="2"/>
              <a:buChar char="»"/>
              <a:defRPr sz="1400">
                <a:solidFill>
                  <a:schemeClr val="tx1"/>
                </a:solidFill>
                <a:latin typeface="+mn-lt"/>
                <a:ea typeface="+mn-ea"/>
              </a:defRPr>
            </a:lvl8pPr>
            <a:lvl9pPr marL="3886200" indent="-228600" algn="l" rtl="0" eaLnBrk="0" fontAlgn="base" hangingPunct="0">
              <a:spcBef>
                <a:spcPct val="20000"/>
              </a:spcBef>
              <a:spcAft>
                <a:spcPct val="0"/>
              </a:spcAft>
              <a:buFont typeface="Wingdings" panose="05000000000000000000" pitchFamily="2" charset="2"/>
              <a:buChar char="»"/>
              <a:defRPr sz="1400">
                <a:solidFill>
                  <a:schemeClr val="tx1"/>
                </a:solidFill>
                <a:latin typeface="+mn-lt"/>
                <a:ea typeface="+mn-ea"/>
              </a:defRPr>
            </a:lvl9pPr>
          </a:lstStyle>
          <a:p>
            <a:pPr>
              <a:lnSpc>
                <a:spcPct val="80000"/>
              </a:lnSpc>
              <a:buClr>
                <a:srgbClr val="669900"/>
              </a:buClr>
              <a:buFont typeface="Wingdings" panose="05000000000000000000" pitchFamily="2" charset="2"/>
              <a:buNone/>
              <a:defRPr/>
            </a:pPr>
            <a:r>
              <a:rPr lang="zh-CN" altLang="en-US" sz="3600" kern="0" dirty="0">
                <a:solidFill>
                  <a:srgbClr val="FF0000"/>
                </a:solidFill>
                <a:latin typeface="宋体"/>
              </a:rPr>
              <a:t>     2.关闭系统不需要的服务</a:t>
            </a:r>
            <a:endParaRPr lang="zh-CN" altLang="en-US" sz="3600" kern="0" dirty="0">
              <a:solidFill>
                <a:srgbClr val="000000"/>
              </a:solidFill>
              <a:latin typeface="宋体"/>
            </a:endParaRPr>
          </a:p>
        </p:txBody>
      </p:sp>
      <p:sp>
        <p:nvSpPr>
          <p:cNvPr id="13" name="圆角矩形 4">
            <a:extLst>
              <a:ext uri="{FF2B5EF4-FFF2-40B4-BE49-F238E27FC236}">
                <a16:creationId xmlns:a16="http://schemas.microsoft.com/office/drawing/2014/main" id="{0423EE1A-DF87-A8FE-6956-C6154927FF5D}"/>
              </a:ext>
            </a:extLst>
          </p:cNvPr>
          <p:cNvSpPr>
            <a:spLocks noChangeArrowheads="1"/>
          </p:cNvSpPr>
          <p:nvPr/>
        </p:nvSpPr>
        <p:spPr bwMode="auto">
          <a:xfrm>
            <a:off x="860425" y="4221163"/>
            <a:ext cx="7453313" cy="1798637"/>
          </a:xfrm>
          <a:prstGeom prst="roundRect">
            <a:avLst>
              <a:gd name="adj" fmla="val 16667"/>
            </a:avLst>
          </a:prstGeom>
          <a:solidFill>
            <a:srgbClr val="FFFFFF"/>
          </a:solidFill>
          <a:ln w="25400">
            <a:solidFill>
              <a:srgbClr val="0099CC"/>
            </a:solidFill>
            <a:round/>
            <a:headEnd/>
            <a:tailEnd/>
          </a:ln>
        </p:spPr>
        <p:txBody>
          <a:bodyPr anchor="ctr" anchorCtr="1"/>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defRPr/>
            </a:pPr>
            <a:r>
              <a:rPr lang="en-US" altLang="zh-CN" sz="2200" kern="0">
                <a:solidFill>
                  <a:srgbClr val="29698D"/>
                </a:solidFill>
                <a:latin typeface="宋体" panose="02010600030101010101" pitchFamily="2" charset="-122"/>
              </a:rPr>
              <a:t>    </a:t>
            </a:r>
            <a:r>
              <a:rPr lang="zh-CN" altLang="en-US" sz="1800" kern="0">
                <a:solidFill>
                  <a:srgbClr val="FF0000"/>
                </a:solidFill>
                <a:latin typeface="宋体" panose="02010600030101010101" pitchFamily="2" charset="-122"/>
              </a:rPr>
              <a:t>可以选择关闭</a:t>
            </a:r>
            <a:r>
              <a:rPr lang="zh-CN" altLang="en-US" sz="1800" kern="0">
                <a:solidFill>
                  <a:srgbClr val="29698D"/>
                </a:solidFill>
                <a:latin typeface="宋体" panose="02010600030101010101" pitchFamily="2" charset="-122"/>
              </a:rPr>
              <a:t>：anacron、auditd、autofs、avahi-daemon、avahi-dnsconfd、bluetooth、cpuspeed、firstboot、gpm、haldaemon、hidd、ip6tables、ipsec、isdn、lpd、mcstrans、messagebus、netfs、nfs、nfslock、nscd、pcscd portmap、readahead_early、restorecond、rpcgssd、rpcidmapd、rstatd、sendmail、setroubleshoot、yppasswdd、ypserv。</a:t>
            </a:r>
          </a:p>
        </p:txBody>
      </p:sp>
      <p:pic>
        <p:nvPicPr>
          <p:cNvPr id="34820" name="Picture 5" descr="j0285750">
            <a:extLst>
              <a:ext uri="{FF2B5EF4-FFF2-40B4-BE49-F238E27FC236}">
                <a16:creationId xmlns:a16="http://schemas.microsoft.com/office/drawing/2014/main" id="{3795F814-9BE2-0FAC-8172-FC31B28F8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4638" y="5967413"/>
            <a:ext cx="8286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圆角矩形 8">
            <a:extLst>
              <a:ext uri="{FF2B5EF4-FFF2-40B4-BE49-F238E27FC236}">
                <a16:creationId xmlns:a16="http://schemas.microsoft.com/office/drawing/2014/main" id="{D0478A0F-66C9-3580-3BF2-123B70274F27}"/>
              </a:ext>
            </a:extLst>
          </p:cNvPr>
          <p:cNvSpPr>
            <a:spLocks noChangeArrowheads="1"/>
          </p:cNvSpPr>
          <p:nvPr/>
        </p:nvSpPr>
        <p:spPr bwMode="auto">
          <a:xfrm>
            <a:off x="787400" y="1530350"/>
            <a:ext cx="7599363" cy="2520950"/>
          </a:xfrm>
          <a:prstGeom prst="roundRect">
            <a:avLst>
              <a:gd name="adj" fmla="val 16667"/>
            </a:avLst>
          </a:prstGeom>
          <a:solidFill>
            <a:srgbClr val="FFFFFF"/>
          </a:solidFill>
          <a:ln w="25400">
            <a:solidFill>
              <a:srgbClr val="0099CC"/>
            </a:solidFill>
            <a:round/>
            <a:headEnd/>
            <a:tailEnd/>
          </a:ln>
        </p:spPr>
        <p:txBody>
          <a:bodyPr anchor="ctr" anchorCtr="1"/>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defRPr/>
            </a:pPr>
            <a:r>
              <a:rPr lang="en-US" altLang="zh-CN" sz="1400" kern="0" dirty="0">
                <a:solidFill>
                  <a:srgbClr val="29698D"/>
                </a:solidFill>
                <a:latin typeface="宋体" panose="02010600030101010101" pitchFamily="2" charset="-122"/>
              </a:rPr>
              <a:t>   </a:t>
            </a:r>
            <a:r>
              <a:rPr lang="zh-CN" altLang="en-US" sz="1800" kern="0" dirty="0">
                <a:solidFill>
                  <a:srgbClr val="29698D"/>
                </a:solidFill>
                <a:latin typeface="Times New Roman" panose="02020603050405020304" pitchFamily="18" charset="0"/>
              </a:rPr>
              <a:t>在安装完成后，Linux绑定了很多</a:t>
            </a:r>
            <a:r>
              <a:rPr lang="zh-CN" altLang="en-US" sz="1800" kern="0" dirty="0">
                <a:solidFill>
                  <a:srgbClr val="FF0000"/>
                </a:solidFill>
                <a:latin typeface="Times New Roman" panose="02020603050405020304" pitchFamily="18" charset="0"/>
              </a:rPr>
              <a:t>暂时</a:t>
            </a:r>
            <a:r>
              <a:rPr lang="zh-CN" altLang="en-US" sz="1800" kern="0" dirty="0">
                <a:solidFill>
                  <a:srgbClr val="29698D"/>
                </a:solidFill>
                <a:latin typeface="Times New Roman" panose="02020603050405020304" pitchFamily="18" charset="0"/>
              </a:rPr>
              <a:t>没用的服务，这些服务默认都是自动启动的。对于服务器来说，运行的服务越多，系统就越不安全，运行的服务越少，系统安全性越高，因此关闭一些不需要的服务，对系统安全有很大的帮助。具体关闭哪些服务，要根据服务器的用途而定。一般来说，除了http、smtp、telnet和ftp之外，其他服务都应该取消。还有一些报告系统状态的服务，如finger、efinger、systat和netstat等，虽然对系统查错和寻找用户非常有用，但也给攻击者提供了方便。例如，攻击者可以利用finger服务查找用户电话、使用目录以及其他重要信息。因此，将这些服务全部取消或部分取消，以增强系统的安全性。</a:t>
            </a:r>
            <a:endParaRPr lang="zh-CN" altLang="en-US" sz="1800" kern="0" dirty="0">
              <a:solidFill>
                <a:srgbClr val="29698D"/>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圆角矩形 4">
            <a:extLst>
              <a:ext uri="{FF2B5EF4-FFF2-40B4-BE49-F238E27FC236}">
                <a16:creationId xmlns:a16="http://schemas.microsoft.com/office/drawing/2014/main" id="{1DB5C957-FCC0-3661-4411-B4C73B0E076D}"/>
              </a:ext>
            </a:extLst>
          </p:cNvPr>
          <p:cNvSpPr>
            <a:spLocks noChangeArrowheads="1"/>
          </p:cNvSpPr>
          <p:nvPr/>
        </p:nvSpPr>
        <p:spPr bwMode="auto">
          <a:xfrm>
            <a:off x="468313" y="692150"/>
            <a:ext cx="8207375" cy="5329238"/>
          </a:xfrm>
          <a:prstGeom prst="roundRect">
            <a:avLst>
              <a:gd name="adj" fmla="val 16667"/>
            </a:avLst>
          </a:prstGeom>
          <a:solidFill>
            <a:srgbClr val="FFFFFF"/>
          </a:solidFill>
          <a:ln w="25400">
            <a:solidFill>
              <a:srgbClr val="0099CC"/>
            </a:solidFill>
            <a:round/>
            <a:headEnd/>
            <a:tailEnd/>
          </a:ln>
        </p:spPr>
        <p:txBody>
          <a:bodyPr anchor="ctr" anchorCtr="1"/>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eaLnBrk="1" fontAlgn="auto" hangingPunct="1">
              <a:lnSpc>
                <a:spcPct val="90000"/>
              </a:lnSpc>
              <a:spcBef>
                <a:spcPts val="0"/>
              </a:spcBef>
              <a:spcAft>
                <a:spcPts val="0"/>
              </a:spcAft>
              <a:defRPr/>
            </a:pPr>
            <a:endParaRPr lang="zh-CN" altLang="en-US" sz="700" kern="0" dirty="0">
              <a:solidFill>
                <a:srgbClr val="000000"/>
              </a:solidFill>
              <a:sym typeface="+mn-ea"/>
            </a:endParaRPr>
          </a:p>
          <a:p>
            <a:pPr eaLnBrk="1" fontAlgn="auto" hangingPunct="1">
              <a:spcBef>
                <a:spcPts val="0"/>
              </a:spcBef>
              <a:spcAft>
                <a:spcPts val="0"/>
              </a:spcAft>
              <a:defRPr/>
            </a:pPr>
            <a:r>
              <a:rPr lang="en-US" altLang="zh-CN" sz="2200" kern="0" dirty="0">
                <a:solidFill>
                  <a:srgbClr val="FF0000"/>
                </a:solidFill>
                <a:latin typeface="宋体" panose="02010600030101010101" pitchFamily="2" charset="-122"/>
              </a:rPr>
              <a:t>    </a:t>
            </a:r>
            <a:r>
              <a:rPr lang="zh-CN" altLang="en-US" sz="3600" kern="0" dirty="0">
                <a:solidFill>
                  <a:srgbClr val="FF0000"/>
                </a:solidFill>
                <a:latin typeface="宋体" panose="02010600030101010101" pitchFamily="2" charset="-122"/>
              </a:rPr>
              <a:t>关闭服务自动启动的方法</a:t>
            </a:r>
            <a:r>
              <a:rPr lang="zh-CN" altLang="en-US" sz="1800" kern="0" dirty="0">
                <a:solidFill>
                  <a:srgbClr val="29698D"/>
                </a:solidFill>
                <a:latin typeface="宋体" panose="02010600030101010101" pitchFamily="2" charset="-122"/>
              </a:rPr>
              <a:t>：Linux中的大部分TCP或UDP服务都是在/etc/inetd.conf文件中设定，在不需要的服务前加“#”注释就可以；也可以通过chkconfig命令实现。</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例如，要关闭bluetooth服务，执行下面命令：</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chkconfig →level 345 bluetooth off 。</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对所有需要关闭的服务都执行上面的操作后，重启服务器即可。</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service acpid stop  chkconfig acpid off    #停止服务，取消开机启动 </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service autofs stop  chkconfig autofs off  </a:t>
            </a:r>
            <a:r>
              <a:rPr lang="zh-CN" altLang="en-US" sz="1600" kern="0" dirty="0">
                <a:solidFill>
                  <a:srgbClr val="29698D"/>
                </a:solidFill>
                <a:latin typeface="宋体" panose="02010600030101010101" pitchFamily="2" charset="-122"/>
              </a:rPr>
              <a:t>#停用自动挂载档桉系统与週边装置</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service bluetooth stop  chkconfig  bluetooth  off   #停用Bluetooth蓝芽</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service cpuspeed stop  chkconfig  cpuspeed  off   #停用控制CPU速度主要用来省电</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service ip6tables stop  chkconfig ip6tables off   #禁止IPv6</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如果要恢复某一个服务，可以执行下面操作：</a:t>
            </a:r>
          </a:p>
          <a:p>
            <a:pPr eaLnBrk="1" fontAlgn="auto" hangingPunct="1">
              <a:spcBef>
                <a:spcPts val="0"/>
              </a:spcBef>
              <a:spcAft>
                <a:spcPts val="0"/>
              </a:spcAft>
              <a:defRPr/>
            </a:pPr>
            <a:r>
              <a:rPr lang="zh-CN" altLang="en-US" sz="1800" kern="0" dirty="0">
                <a:solidFill>
                  <a:srgbClr val="29698D"/>
                </a:solidFill>
                <a:latin typeface="宋体" panose="02010600030101010101" pitchFamily="2" charset="-122"/>
              </a:rPr>
              <a:t>service acpid start  chkconfig acpid on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圆角矩形 4">
            <a:extLst>
              <a:ext uri="{FF2B5EF4-FFF2-40B4-BE49-F238E27FC236}">
                <a16:creationId xmlns:a16="http://schemas.microsoft.com/office/drawing/2014/main" id="{B314A1EA-8B30-8925-E3FD-8A10F196FA98}"/>
              </a:ext>
            </a:extLst>
          </p:cNvPr>
          <p:cNvSpPr>
            <a:spLocks noChangeArrowheads="1"/>
          </p:cNvSpPr>
          <p:nvPr/>
        </p:nvSpPr>
        <p:spPr bwMode="auto">
          <a:xfrm>
            <a:off x="395288" y="1844675"/>
            <a:ext cx="8207375" cy="4211638"/>
          </a:xfrm>
          <a:prstGeom prst="roundRect">
            <a:avLst>
              <a:gd name="adj" fmla="val 16667"/>
            </a:avLst>
          </a:prstGeom>
          <a:solidFill>
            <a:srgbClr val="FFFFFF"/>
          </a:solidFill>
          <a:ln w="25400">
            <a:solidFill>
              <a:srgbClr val="0099CC"/>
            </a:solidFill>
            <a:round/>
            <a:headEnd/>
            <a:tailEnd/>
          </a:ln>
        </p:spPr>
        <p:txBody>
          <a:bodyPr anchor="ctr" anchorCtr="1"/>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eaLnBrk="1" fontAlgn="auto" hangingPunct="1">
              <a:spcBef>
                <a:spcPts val="0"/>
              </a:spcBef>
              <a:spcAft>
                <a:spcPts val="0"/>
              </a:spcAft>
              <a:defRPr/>
            </a:pPr>
            <a:r>
              <a:rPr lang="en-US" altLang="zh-CN" sz="2200" kern="0" dirty="0">
                <a:solidFill>
                  <a:srgbClr val="FF0000"/>
                </a:solidFill>
                <a:latin typeface="宋体" panose="02010600030101010101" pitchFamily="2" charset="-122"/>
              </a:rPr>
              <a:t>   </a:t>
            </a:r>
            <a:r>
              <a:rPr lang="zh-CN" altLang="en-US" sz="2400" kern="0" dirty="0">
                <a:solidFill>
                  <a:srgbClr val="29698D"/>
                </a:solidFill>
                <a:latin typeface="宋体" panose="02010600030101010101" pitchFamily="2" charset="-122"/>
              </a:rPr>
              <a:t>与UNIX相同，在Linux中也要非root用户的权限做相应的设定。特别是init.d/和rcx.d/下的系统命令，一般是不允许非root用户执行的。init.d/：各种服务器和程序的二进制文件存放目录。rcx.d/：各个启动级别的执行程序连接目录，内部都是指向init.d/的一些链接。</a:t>
            </a:r>
          </a:p>
          <a:p>
            <a:pPr eaLnBrk="1" fontAlgn="auto" hangingPunct="1">
              <a:spcBef>
                <a:spcPts val="0"/>
              </a:spcBef>
              <a:spcAft>
                <a:spcPts val="0"/>
              </a:spcAft>
              <a:defRPr/>
            </a:pPr>
            <a:endParaRPr lang="zh-CN" altLang="en-US" sz="1800" kern="0" dirty="0">
              <a:solidFill>
                <a:srgbClr val="29698D"/>
              </a:solidFill>
              <a:latin typeface="宋体" panose="02010600030101010101" pitchFamily="2" charset="-122"/>
            </a:endParaRPr>
          </a:p>
          <a:p>
            <a:pPr eaLnBrk="1" fontAlgn="auto" hangingPunct="1">
              <a:spcBef>
                <a:spcPts val="0"/>
              </a:spcBef>
              <a:spcAft>
                <a:spcPts val="0"/>
              </a:spcAft>
              <a:defRPr/>
            </a:pPr>
            <a:r>
              <a:rPr lang="zh-CN" altLang="en-US" sz="2400" kern="0" dirty="0">
                <a:solidFill>
                  <a:srgbClr val="29698D"/>
                </a:solidFill>
                <a:latin typeface="宋体" panose="02010600030101010101" pitchFamily="2" charset="-122"/>
              </a:rPr>
              <a:t>chmod -R 700 /etc/rc.d/init.d/*</a:t>
            </a:r>
          </a:p>
          <a:p>
            <a:pPr eaLnBrk="1" fontAlgn="auto" hangingPunct="1">
              <a:spcBef>
                <a:spcPts val="0"/>
              </a:spcBef>
              <a:spcAft>
                <a:spcPts val="0"/>
              </a:spcAft>
              <a:defRPr/>
            </a:pPr>
            <a:endParaRPr lang="zh-CN" altLang="en-US" sz="1800" kern="0" dirty="0">
              <a:solidFill>
                <a:srgbClr val="29698D"/>
              </a:solidFill>
              <a:latin typeface="宋体" panose="02010600030101010101" pitchFamily="2" charset="-122"/>
            </a:endParaRPr>
          </a:p>
          <a:p>
            <a:pPr eaLnBrk="1" fontAlgn="auto" hangingPunct="1">
              <a:spcBef>
                <a:spcPts val="0"/>
              </a:spcBef>
              <a:spcAft>
                <a:spcPts val="0"/>
              </a:spcAft>
              <a:defRPr/>
            </a:pPr>
            <a:r>
              <a:rPr lang="zh-CN" altLang="en-US" sz="2400" kern="0" dirty="0">
                <a:solidFill>
                  <a:srgbClr val="29698D"/>
                </a:solidFill>
                <a:latin typeface="宋体" panose="02010600030101010101" pitchFamily="2" charset="-122"/>
              </a:rPr>
              <a:t>chmod -R 777 /etc/rc.d/init.d/*    #恢复默认设置</a:t>
            </a:r>
          </a:p>
        </p:txBody>
      </p:sp>
      <p:pic>
        <p:nvPicPr>
          <p:cNvPr id="36867" name="Picture 5" descr="j0285750">
            <a:extLst>
              <a:ext uri="{FF2B5EF4-FFF2-40B4-BE49-F238E27FC236}">
                <a16:creationId xmlns:a16="http://schemas.microsoft.com/office/drawing/2014/main" id="{F6250572-6E5C-612D-69F8-B73F063F6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5661025"/>
            <a:ext cx="12287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内容占位符 2">
            <a:extLst>
              <a:ext uri="{FF2B5EF4-FFF2-40B4-BE49-F238E27FC236}">
                <a16:creationId xmlns:a16="http://schemas.microsoft.com/office/drawing/2014/main" id="{785102D6-AA93-06D9-F11B-1899855EE4E4}"/>
              </a:ext>
            </a:extLst>
          </p:cNvPr>
          <p:cNvSpPr>
            <a:spLocks noGrp="1" noChangeArrowheads="1"/>
          </p:cNvSpPr>
          <p:nvPr/>
        </p:nvSpPr>
        <p:spPr bwMode="auto">
          <a:xfrm>
            <a:off x="287338" y="765175"/>
            <a:ext cx="8424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3"/>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4"/>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5"/>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6"/>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rgbClr val="669900"/>
              </a:buClr>
              <a:buFont typeface="Wingdings" panose="05000000000000000000" pitchFamily="2" charset="2"/>
              <a:buNone/>
            </a:pPr>
            <a:r>
              <a:rPr lang="zh-CN" altLang="zh-CN" sz="3600">
                <a:solidFill>
                  <a:srgbClr val="FF0000"/>
                </a:solidFill>
                <a:latin typeface="宋体" panose="02010600030101010101" pitchFamily="2" charset="-122"/>
              </a:rPr>
              <a:t>3.</a:t>
            </a:r>
            <a:r>
              <a:rPr lang="zh-CN" altLang="en-US" sz="3600">
                <a:solidFill>
                  <a:srgbClr val="FF0000"/>
                </a:solidFill>
                <a:latin typeface="宋体" panose="02010600030101010101" pitchFamily="2" charset="-122"/>
              </a:rPr>
              <a:t>禁止非</a:t>
            </a:r>
            <a:r>
              <a:rPr lang="zh-CN" altLang="zh-CN" sz="3600">
                <a:solidFill>
                  <a:srgbClr val="FF0000"/>
                </a:solidFill>
                <a:latin typeface="宋体" panose="02010600030101010101" pitchFamily="2" charset="-122"/>
              </a:rPr>
              <a:t>root</a:t>
            </a:r>
            <a:r>
              <a:rPr lang="zh-CN" altLang="en-US" sz="3600">
                <a:solidFill>
                  <a:srgbClr val="FF0000"/>
                </a:solidFill>
                <a:latin typeface="宋体" panose="02010600030101010101" pitchFamily="2" charset="-122"/>
              </a:rPr>
              <a:t>用户执行</a:t>
            </a:r>
            <a:r>
              <a:rPr lang="zh-CN" altLang="zh-CN" sz="3600">
                <a:solidFill>
                  <a:srgbClr val="FF0000"/>
                </a:solidFill>
                <a:latin typeface="宋体" panose="02010600030101010101" pitchFamily="2" charset="-122"/>
              </a:rPr>
              <a:t>/etc/rc.d/init.d/</a:t>
            </a:r>
            <a:r>
              <a:rPr lang="zh-CN" altLang="en-US" sz="3600">
                <a:solidFill>
                  <a:srgbClr val="FF0000"/>
                </a:solidFill>
                <a:latin typeface="宋体" panose="02010600030101010101" pitchFamily="2" charset="-122"/>
              </a:rPr>
              <a:t>下的系统命令</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圆角矩形 4">
            <a:extLst>
              <a:ext uri="{FF2B5EF4-FFF2-40B4-BE49-F238E27FC236}">
                <a16:creationId xmlns:a16="http://schemas.microsoft.com/office/drawing/2014/main" id="{D9700F6E-3EDD-4A7A-9530-558239ABD301}"/>
              </a:ext>
            </a:extLst>
          </p:cNvPr>
          <p:cNvSpPr>
            <a:spLocks noChangeArrowheads="1"/>
          </p:cNvSpPr>
          <p:nvPr/>
        </p:nvSpPr>
        <p:spPr bwMode="auto">
          <a:xfrm>
            <a:off x="396875" y="1485900"/>
            <a:ext cx="8208963" cy="1692275"/>
          </a:xfrm>
          <a:prstGeom prst="roundRect">
            <a:avLst>
              <a:gd name="adj" fmla="val 16667"/>
            </a:avLst>
          </a:prstGeom>
          <a:solidFill>
            <a:schemeClr val="bg1"/>
          </a:solidFill>
          <a:ln w="25400">
            <a:solidFill>
              <a:schemeClr val="accent1"/>
            </a:solidFill>
            <a:round/>
            <a:headEnd/>
            <a:tailEnd/>
          </a:ln>
        </p:spPr>
        <p:txBody>
          <a:bodyPr anchor="ctr" anchorCtr="1"/>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zh-CN" altLang="en-US" sz="2400">
                <a:solidFill>
                  <a:schemeClr val="tx1"/>
                </a:solidFill>
                <a:latin typeface="宋体" panose="02010600030101010101" pitchFamily="2" charset="-122"/>
              </a:rPr>
              <a:t>（</a:t>
            </a:r>
            <a:r>
              <a:rPr lang="en-US" altLang="zh-CN" sz="2400">
                <a:solidFill>
                  <a:schemeClr val="tx1"/>
                </a:solidFill>
                <a:latin typeface="宋体" panose="02010600030101010101" pitchFamily="2" charset="-122"/>
              </a:rPr>
              <a:t>1</a:t>
            </a:r>
            <a:r>
              <a:rPr lang="zh-CN" altLang="en-US" sz="2400">
                <a:solidFill>
                  <a:schemeClr val="tx1"/>
                </a:solidFill>
                <a:latin typeface="宋体" panose="02010600030101010101" pitchFamily="2" charset="-122"/>
              </a:rPr>
              <a:t>）文件权限建议分配值</a:t>
            </a:r>
          </a:p>
          <a:p>
            <a:pPr eaLnBrk="1" hangingPunct="1">
              <a:lnSpc>
                <a:spcPct val="90000"/>
              </a:lnSpc>
              <a:spcBef>
                <a:spcPct val="0"/>
              </a:spcBef>
              <a:spcAft>
                <a:spcPct val="0"/>
              </a:spcAft>
              <a:buClrTx/>
              <a:buFont typeface="Arial" panose="020B0604020202020204" pitchFamily="34" charset="0"/>
              <a:buNone/>
            </a:pPr>
            <a:endParaRPr lang="zh-CN" altLang="zh-CN" sz="2400">
              <a:solidFill>
                <a:schemeClr val="tx1"/>
              </a:solidFill>
              <a:latin typeface="宋体" panose="02010600030101010101" pitchFamily="2" charset="-122"/>
            </a:endParaRPr>
          </a:p>
          <a:p>
            <a:pPr eaLnBrk="1" hangingPunct="1">
              <a:lnSpc>
                <a:spcPct val="90000"/>
              </a:lnSpc>
              <a:spcBef>
                <a:spcPct val="0"/>
              </a:spcBef>
              <a:spcAft>
                <a:spcPct val="0"/>
              </a:spcAft>
              <a:buClrTx/>
              <a:buFont typeface="Arial" panose="020B0604020202020204" pitchFamily="34" charset="0"/>
              <a:buNone/>
            </a:pPr>
            <a:r>
              <a:rPr lang="zh-CN" altLang="en-US" sz="2400">
                <a:solidFill>
                  <a:schemeClr val="tx1"/>
                </a:solidFill>
                <a:latin typeface="宋体" panose="02010600030101010101" pitchFamily="2" charset="-122"/>
              </a:rPr>
              <a:t>不正确的权限设置直接威胁系统的安全，因此运维人员应该能及时发现这些不正确的权限设置，并立刻修正，防患于未然。</a:t>
            </a:r>
            <a:r>
              <a:rPr lang="zh-CN" altLang="zh-CN" sz="2400">
                <a:solidFill>
                  <a:schemeClr val="tx1"/>
                </a:solidFill>
                <a:latin typeface="宋体" panose="02010600030101010101" pitchFamily="2" charset="-122"/>
              </a:rPr>
              <a:t>Linux</a:t>
            </a:r>
            <a:r>
              <a:rPr lang="zh-CN" altLang="en-US" sz="2400">
                <a:solidFill>
                  <a:schemeClr val="tx1"/>
                </a:solidFill>
                <a:latin typeface="宋体" panose="02010600030101010101" pitchFamily="2" charset="-122"/>
              </a:rPr>
              <a:t>系统</a:t>
            </a:r>
            <a:r>
              <a:rPr lang="zh-CN" altLang="en-US" sz="2400">
                <a:solidFill>
                  <a:srgbClr val="FF0000"/>
                </a:solidFill>
                <a:latin typeface="宋体" panose="02010600030101010101" pitchFamily="2" charset="-122"/>
              </a:rPr>
              <a:t>文件目录权限</a:t>
            </a:r>
            <a:r>
              <a:rPr lang="zh-CN" altLang="en-US" sz="2400">
                <a:solidFill>
                  <a:schemeClr val="tx1"/>
                </a:solidFill>
                <a:latin typeface="宋体" panose="02010600030101010101" pitchFamily="2" charset="-122"/>
              </a:rPr>
              <a:t>按建议值进行</a:t>
            </a:r>
            <a:r>
              <a:rPr lang="zh-CN" altLang="en-US" sz="2400">
                <a:solidFill>
                  <a:srgbClr val="FF0000"/>
                </a:solidFill>
                <a:latin typeface="宋体" panose="02010600030101010101" pitchFamily="2" charset="-122"/>
              </a:rPr>
              <a:t>分配</a:t>
            </a:r>
            <a:r>
              <a:rPr lang="zh-CN" altLang="en-US" sz="2400">
                <a:solidFill>
                  <a:schemeClr val="tx1"/>
                </a:solidFill>
                <a:latin typeface="宋体" panose="02010600030101010101" pitchFamily="2" charset="-122"/>
              </a:rPr>
              <a:t>。</a:t>
            </a:r>
          </a:p>
        </p:txBody>
      </p:sp>
      <p:sp>
        <p:nvSpPr>
          <p:cNvPr id="37891" name="内容占位符 2">
            <a:extLst>
              <a:ext uri="{FF2B5EF4-FFF2-40B4-BE49-F238E27FC236}">
                <a16:creationId xmlns:a16="http://schemas.microsoft.com/office/drawing/2014/main" id="{52972034-AD5D-F080-2A40-9085FA58CF11}"/>
              </a:ext>
            </a:extLst>
          </p:cNvPr>
          <p:cNvSpPr>
            <a:spLocks noGrp="1" noChangeArrowheads="1"/>
          </p:cNvSpPr>
          <p:nvPr/>
        </p:nvSpPr>
        <p:spPr bwMode="auto">
          <a:xfrm>
            <a:off x="288925" y="692150"/>
            <a:ext cx="8424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chemeClr val="hlink"/>
              </a:buClr>
              <a:buFont typeface="Wingdings" panose="05000000000000000000" pitchFamily="2" charset="2"/>
              <a:buNone/>
            </a:pPr>
            <a:r>
              <a:rPr lang="zh-CN" altLang="zh-CN" sz="3600">
                <a:solidFill>
                  <a:srgbClr val="FF0000"/>
                </a:solidFill>
                <a:latin typeface="宋体" panose="02010600030101010101" pitchFamily="2" charset="-122"/>
              </a:rPr>
              <a:t>4.</a:t>
            </a:r>
            <a:r>
              <a:rPr lang="zh-CN" altLang="en-US" sz="3600">
                <a:solidFill>
                  <a:srgbClr val="FF0000"/>
                </a:solidFill>
                <a:latin typeface="宋体" panose="02010600030101010101" pitchFamily="2" charset="-122"/>
              </a:rPr>
              <a:t>限制文的权限</a:t>
            </a:r>
          </a:p>
        </p:txBody>
      </p:sp>
      <p:sp>
        <p:nvSpPr>
          <p:cNvPr id="37892" name="圆角矩形 4">
            <a:extLst>
              <a:ext uri="{FF2B5EF4-FFF2-40B4-BE49-F238E27FC236}">
                <a16:creationId xmlns:a16="http://schemas.microsoft.com/office/drawing/2014/main" id="{29CAF696-A55E-1B94-2A0C-AC207B373210}"/>
              </a:ext>
            </a:extLst>
          </p:cNvPr>
          <p:cNvSpPr>
            <a:spLocks noChangeArrowheads="1"/>
          </p:cNvSpPr>
          <p:nvPr/>
        </p:nvSpPr>
        <p:spPr bwMode="auto">
          <a:xfrm>
            <a:off x="396875" y="3249613"/>
            <a:ext cx="8208963" cy="2894012"/>
          </a:xfrm>
          <a:prstGeom prst="roundRect">
            <a:avLst>
              <a:gd name="adj" fmla="val 16667"/>
            </a:avLst>
          </a:prstGeom>
          <a:solidFill>
            <a:schemeClr val="bg1"/>
          </a:solidFill>
          <a:ln w="25400">
            <a:solidFill>
              <a:schemeClr val="accent1"/>
            </a:solidFill>
            <a:miter lim="800000"/>
            <a:headEnd/>
            <a:tailEnd/>
          </a:ln>
        </p:spPr>
        <p:txBody>
          <a:bodyPr anchor="ctr" anchorCtr="1"/>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chattr +a .bash_history       #</a:t>
            </a:r>
            <a:r>
              <a:rPr lang="zh-CN" altLang="en-US" sz="1600">
                <a:solidFill>
                  <a:schemeClr val="tx1"/>
                </a:solidFill>
                <a:latin typeface="宋体" panose="02010600030101010101" pitchFamily="2" charset="-122"/>
              </a:rPr>
              <a:t>避免删除</a:t>
            </a:r>
            <a:r>
              <a:rPr lang="zh-CN" altLang="zh-CN" sz="1600">
                <a:solidFill>
                  <a:schemeClr val="tx1"/>
                </a:solidFill>
                <a:latin typeface="宋体" panose="02010600030101010101" pitchFamily="2" charset="-122"/>
              </a:rPr>
              <a:t>.bash_history</a:t>
            </a:r>
            <a:r>
              <a:rPr lang="zh-CN" altLang="en-US" sz="1600">
                <a:solidFill>
                  <a:schemeClr val="tx1"/>
                </a:solidFill>
                <a:latin typeface="宋体" panose="02010600030101010101" pitchFamily="2" charset="-122"/>
              </a:rPr>
              <a:t>或者重定向到</a:t>
            </a:r>
            <a:r>
              <a:rPr lang="zh-CN" altLang="zh-CN" sz="1600">
                <a:solidFill>
                  <a:schemeClr val="tx1"/>
                </a:solidFill>
                <a:latin typeface="宋体" panose="02010600030101010101" pitchFamily="2" charset="-122"/>
              </a:rPr>
              <a:t>/dev/null</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chattr +i .bash_history</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/usr/bin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555 /usr/bin</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/bin/ping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4755 /bin/ping</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/usr/bin/vim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/usr/bin/vim</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/bin/netstat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/bin/netstat</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/usr/bin/tail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/usr/bin/tail</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/usr/bin/less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/usr/bin/less</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/usr/bin/head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/usr/bin/head</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/bin/cat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/bin/cat</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700 /bin/uname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/bin/uname</a:t>
            </a:r>
          </a:p>
          <a:p>
            <a:pPr eaLnBrk="1" hangingPunct="1">
              <a:lnSpc>
                <a:spcPct val="90000"/>
              </a:lnSpc>
              <a:spcBef>
                <a:spcPct val="0"/>
              </a:spcBef>
              <a:spcAft>
                <a:spcPct val="0"/>
              </a:spcAft>
              <a:buClrTx/>
              <a:buFont typeface="Arial" panose="020B0604020202020204" pitchFamily="34" charset="0"/>
              <a:buNone/>
            </a:pPr>
            <a:r>
              <a:rPr lang="zh-CN" altLang="zh-CN" sz="1600">
                <a:solidFill>
                  <a:schemeClr val="tx1"/>
                </a:solidFill>
                <a:latin typeface="宋体" panose="02010600030101010101" pitchFamily="2" charset="-122"/>
              </a:rPr>
              <a:t>chmod 500 /bin/ps           </a:t>
            </a:r>
            <a:r>
              <a:rPr lang="zh-CN" altLang="en-US" sz="1600">
                <a:solidFill>
                  <a:schemeClr val="tx1"/>
                </a:solidFill>
                <a:latin typeface="宋体" panose="02010600030101010101" pitchFamily="2" charset="-122"/>
              </a:rPr>
              <a:t>恢复  </a:t>
            </a:r>
            <a:r>
              <a:rPr lang="zh-CN" altLang="zh-CN" sz="1600">
                <a:solidFill>
                  <a:schemeClr val="tx1"/>
                </a:solidFill>
                <a:latin typeface="宋体" panose="02010600030101010101" pitchFamily="2" charset="-122"/>
              </a:rPr>
              <a:t>chmod 755 /bin/ps</a:t>
            </a:r>
          </a:p>
        </p:txBody>
      </p:sp>
      <p:pic>
        <p:nvPicPr>
          <p:cNvPr id="37893" name="Picture 5" descr="j0285750">
            <a:extLst>
              <a:ext uri="{FF2B5EF4-FFF2-40B4-BE49-F238E27FC236}">
                <a16:creationId xmlns:a16="http://schemas.microsoft.com/office/drawing/2014/main" id="{8BC13D96-440F-8752-AD39-FDD2B2567D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96188" y="5661025"/>
            <a:ext cx="12287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圆角矩形 4">
            <a:extLst>
              <a:ext uri="{FF2B5EF4-FFF2-40B4-BE49-F238E27FC236}">
                <a16:creationId xmlns:a16="http://schemas.microsoft.com/office/drawing/2014/main" id="{3B0E66BF-4E0F-FAD9-C833-C45E02B76411}"/>
              </a:ext>
            </a:extLst>
          </p:cNvPr>
          <p:cNvSpPr>
            <a:spLocks noChangeArrowheads="1"/>
          </p:cNvSpPr>
          <p:nvPr/>
        </p:nvSpPr>
        <p:spPr bwMode="auto">
          <a:xfrm>
            <a:off x="396875" y="1125538"/>
            <a:ext cx="8207375" cy="971550"/>
          </a:xfrm>
          <a:prstGeom prst="roundRect">
            <a:avLst>
              <a:gd name="adj" fmla="val 16667"/>
            </a:avLst>
          </a:prstGeom>
          <a:solidFill>
            <a:schemeClr val="bg1"/>
          </a:solidFill>
          <a:ln w="25400">
            <a:solidFill>
              <a:schemeClr val="accent1"/>
            </a:solidFill>
            <a:round/>
            <a:headEnd/>
            <a:tailEnd/>
          </a:ln>
        </p:spPr>
        <p:txBody>
          <a:bodyPr anchor="ctr" anchorCtr="1"/>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zh-CN" altLang="en-US" sz="2400">
                <a:solidFill>
                  <a:schemeClr val="tx1"/>
                </a:solidFill>
                <a:latin typeface="宋体" panose="02010600030101010101" pitchFamily="2" charset="-122"/>
              </a:rPr>
              <a:t>在</a:t>
            </a:r>
            <a:r>
              <a:rPr lang="zh-CN" altLang="zh-CN" sz="2400">
                <a:solidFill>
                  <a:schemeClr val="tx1"/>
                </a:solidFill>
                <a:latin typeface="宋体" panose="02010600030101010101" pitchFamily="2" charset="-122"/>
              </a:rPr>
              <a:t>Linux</a:t>
            </a:r>
            <a:r>
              <a:rPr lang="zh-CN" altLang="en-US" sz="2400">
                <a:solidFill>
                  <a:schemeClr val="tx1"/>
                </a:solidFill>
                <a:latin typeface="宋体" panose="02010600030101010101" pitchFamily="2" charset="-122"/>
              </a:rPr>
              <a:t>的默认设置下，同时按下</a:t>
            </a:r>
            <a:r>
              <a:rPr lang="zh-CN" altLang="zh-CN" sz="2400">
                <a:solidFill>
                  <a:schemeClr val="tx1"/>
                </a:solidFill>
                <a:latin typeface="宋体" panose="02010600030101010101" pitchFamily="2" charset="-122"/>
              </a:rPr>
              <a:t>CTRL+Alt+Del</a:t>
            </a:r>
            <a:r>
              <a:rPr lang="zh-CN" altLang="en-US" sz="2400">
                <a:solidFill>
                  <a:schemeClr val="tx1"/>
                </a:solidFill>
                <a:latin typeface="宋体" panose="02010600030101010101" pitchFamily="2" charset="-122"/>
              </a:rPr>
              <a:t>组合键，系统将自动重启，这个策略是很不安全的，因此要禁止</a:t>
            </a:r>
            <a:r>
              <a:rPr lang="zh-CN" altLang="zh-CN" sz="2400">
                <a:solidFill>
                  <a:schemeClr val="tx1"/>
                </a:solidFill>
                <a:latin typeface="宋体" panose="02010600030101010101" pitchFamily="2" charset="-122"/>
              </a:rPr>
              <a:t>CTRL+Alt+Del</a:t>
            </a:r>
            <a:r>
              <a:rPr lang="zh-CN" altLang="en-US" sz="2400">
                <a:solidFill>
                  <a:schemeClr val="tx1"/>
                </a:solidFill>
                <a:latin typeface="宋体" panose="02010600030101010101" pitchFamily="2" charset="-122"/>
              </a:rPr>
              <a:t>组合键重启系统。</a:t>
            </a:r>
          </a:p>
        </p:txBody>
      </p:sp>
      <p:sp>
        <p:nvSpPr>
          <p:cNvPr id="38915" name="内容占位符 2">
            <a:extLst>
              <a:ext uri="{FF2B5EF4-FFF2-40B4-BE49-F238E27FC236}">
                <a16:creationId xmlns:a16="http://schemas.microsoft.com/office/drawing/2014/main" id="{052EA1FF-91B6-2F2B-DF10-5A610AE7F9DE}"/>
              </a:ext>
            </a:extLst>
          </p:cNvPr>
          <p:cNvSpPr>
            <a:spLocks noGrp="1" noChangeArrowheads="1"/>
          </p:cNvSpPr>
          <p:nvPr/>
        </p:nvSpPr>
        <p:spPr bwMode="auto">
          <a:xfrm>
            <a:off x="20638" y="617538"/>
            <a:ext cx="90376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chemeClr val="hlink"/>
              </a:buClr>
              <a:buFont typeface="Wingdings" panose="05000000000000000000" pitchFamily="2" charset="2"/>
              <a:buNone/>
            </a:pPr>
            <a:r>
              <a:rPr lang="zh-CN" altLang="zh-CN" sz="3600">
                <a:solidFill>
                  <a:srgbClr val="FF0000"/>
                </a:solidFill>
                <a:latin typeface="宋体" panose="02010600030101010101" pitchFamily="2" charset="-122"/>
              </a:rPr>
              <a:t>5.</a:t>
            </a:r>
            <a:r>
              <a:rPr lang="zh-CN" altLang="en-US" sz="3600">
                <a:solidFill>
                  <a:srgbClr val="FF0000"/>
                </a:solidFill>
                <a:latin typeface="宋体" panose="02010600030101010101" pitchFamily="2" charset="-122"/>
              </a:rPr>
              <a:t>禁止使用</a:t>
            </a:r>
            <a:r>
              <a:rPr lang="zh-CN" altLang="zh-CN" sz="3600">
                <a:solidFill>
                  <a:srgbClr val="FF0000"/>
                </a:solidFill>
                <a:latin typeface="宋体" panose="02010600030101010101" pitchFamily="2" charset="-122"/>
              </a:rPr>
              <a:t>CTRL+Alt+Del</a:t>
            </a:r>
            <a:r>
              <a:rPr lang="zh-CN" altLang="en-US" sz="3600">
                <a:solidFill>
                  <a:srgbClr val="FF0000"/>
                </a:solidFill>
                <a:latin typeface="宋体" panose="02010600030101010101" pitchFamily="2" charset="-122"/>
              </a:rPr>
              <a:t>快捷键重启服务器</a:t>
            </a:r>
          </a:p>
        </p:txBody>
      </p:sp>
      <p:sp>
        <p:nvSpPr>
          <p:cNvPr id="38916" name="圆角矩形 4">
            <a:extLst>
              <a:ext uri="{FF2B5EF4-FFF2-40B4-BE49-F238E27FC236}">
                <a16:creationId xmlns:a16="http://schemas.microsoft.com/office/drawing/2014/main" id="{0A499CB9-1C40-FA2D-0346-F2CD57ABA5F5}"/>
              </a:ext>
            </a:extLst>
          </p:cNvPr>
          <p:cNvSpPr>
            <a:spLocks noChangeArrowheads="1"/>
          </p:cNvSpPr>
          <p:nvPr/>
        </p:nvSpPr>
        <p:spPr bwMode="auto">
          <a:xfrm>
            <a:off x="304800" y="2924175"/>
            <a:ext cx="8207375" cy="3455988"/>
          </a:xfrm>
          <a:prstGeom prst="roundRect">
            <a:avLst>
              <a:gd name="adj" fmla="val 16667"/>
            </a:avLst>
          </a:prstGeom>
          <a:solidFill>
            <a:schemeClr val="bg1"/>
          </a:solidFill>
          <a:ln w="25400">
            <a:solidFill>
              <a:schemeClr val="accent1"/>
            </a:solidFill>
            <a:miter lim="800000"/>
            <a:headEnd/>
            <a:tailEnd/>
          </a:ln>
        </p:spPr>
        <p:txBody>
          <a:bodyPr anchor="ctr" anchorCtr="1"/>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zh-CN" altLang="en-US" sz="2200">
                <a:solidFill>
                  <a:schemeClr val="tx1"/>
                </a:solidFill>
                <a:latin typeface="宋体" panose="02010600030101010101" pitchFamily="2" charset="-122"/>
              </a:rPr>
              <a:t>使用</a:t>
            </a:r>
            <a:r>
              <a:rPr lang="zh-CN" altLang="zh-CN" sz="2200">
                <a:solidFill>
                  <a:schemeClr val="tx1"/>
                </a:solidFill>
                <a:latin typeface="宋体" panose="02010600030101010101" pitchFamily="2" charset="-122"/>
              </a:rPr>
              <a:t>yum update</a:t>
            </a:r>
            <a:r>
              <a:rPr lang="zh-CN" altLang="en-US" sz="2200">
                <a:solidFill>
                  <a:schemeClr val="tx1"/>
                </a:solidFill>
                <a:latin typeface="宋体" panose="02010600030101010101" pitchFamily="2" charset="-122"/>
              </a:rPr>
              <a:t>更新系统时</a:t>
            </a:r>
            <a:r>
              <a:rPr lang="zh-CN" altLang="en-US" sz="2200">
                <a:solidFill>
                  <a:srgbClr val="FF0000"/>
                </a:solidFill>
                <a:latin typeface="宋体" panose="02010600030101010101" pitchFamily="2" charset="-122"/>
              </a:rPr>
              <a:t>不升级内核</a:t>
            </a:r>
            <a:r>
              <a:rPr lang="zh-CN" altLang="en-US" sz="2200">
                <a:solidFill>
                  <a:schemeClr val="tx1"/>
                </a:solidFill>
                <a:latin typeface="宋体" panose="02010600030101010101" pitchFamily="2" charset="-122"/>
              </a:rPr>
              <a:t>，</a:t>
            </a:r>
            <a:r>
              <a:rPr lang="zh-CN" altLang="en-US" sz="2200">
                <a:solidFill>
                  <a:srgbClr val="FF0000"/>
                </a:solidFill>
                <a:latin typeface="宋体" panose="02010600030101010101" pitchFamily="2" charset="-122"/>
              </a:rPr>
              <a:t>只更新软件包</a:t>
            </a:r>
            <a:r>
              <a:rPr lang="zh-CN" altLang="en-US" sz="2200">
                <a:solidFill>
                  <a:schemeClr val="tx1"/>
                </a:solidFill>
                <a:latin typeface="宋体" panose="02010600030101010101" pitchFamily="2" charset="-122"/>
              </a:rPr>
              <a:t>。</a:t>
            </a:r>
          </a:p>
          <a:p>
            <a:pPr eaLnBrk="1" hangingPunct="1">
              <a:lnSpc>
                <a:spcPct val="90000"/>
              </a:lnSpc>
              <a:spcBef>
                <a:spcPct val="0"/>
              </a:spcBef>
              <a:spcAft>
                <a:spcPct val="0"/>
              </a:spcAft>
              <a:buClrTx/>
              <a:buFont typeface="Arial" panose="020B0604020202020204" pitchFamily="34" charset="0"/>
              <a:buNone/>
            </a:pPr>
            <a:r>
              <a:rPr lang="zh-CN" altLang="en-US" sz="2200">
                <a:solidFill>
                  <a:schemeClr val="tx1"/>
                </a:solidFill>
                <a:latin typeface="宋体" panose="02010600030101010101" pitchFamily="2" charset="-122"/>
              </a:rPr>
              <a:t>由于系统与硬件的兼容性问题，有可能升级内核后导致服务器不能正常启动，这是非常可怕的，没有特别的需要，建议不要随意升级内核。使用</a:t>
            </a:r>
            <a:r>
              <a:rPr lang="zh-CN" altLang="zh-CN" sz="2200">
                <a:solidFill>
                  <a:schemeClr val="tx1"/>
                </a:solidFill>
                <a:latin typeface="宋体" panose="02010600030101010101" pitchFamily="2" charset="-122"/>
              </a:rPr>
              <a:t>yum update</a:t>
            </a:r>
            <a:r>
              <a:rPr lang="zh-CN" altLang="en-US" sz="2200">
                <a:solidFill>
                  <a:schemeClr val="tx1"/>
                </a:solidFill>
                <a:latin typeface="宋体" panose="02010600030101010101" pitchFamily="2" charset="-122"/>
              </a:rPr>
              <a:t>更新系统时不升级内核，只更新软件包。</a:t>
            </a:r>
          </a:p>
          <a:p>
            <a:pPr eaLnBrk="1" hangingPunct="1">
              <a:lnSpc>
                <a:spcPct val="90000"/>
              </a:lnSpc>
              <a:spcBef>
                <a:spcPct val="0"/>
              </a:spcBef>
              <a:spcAft>
                <a:spcPct val="0"/>
              </a:spcAft>
              <a:buClrTx/>
              <a:buFont typeface="Arial" panose="020B0604020202020204" pitchFamily="34" charset="0"/>
              <a:buNone/>
            </a:pPr>
            <a:r>
              <a:rPr lang="zh-CN" altLang="en-US" sz="2200">
                <a:solidFill>
                  <a:schemeClr val="tx1"/>
                </a:solidFill>
                <a:latin typeface="宋体" panose="02010600030101010101" pitchFamily="2" charset="-122"/>
              </a:rPr>
              <a:t>将</a:t>
            </a:r>
            <a:r>
              <a:rPr lang="zh-CN" altLang="zh-CN" sz="2200">
                <a:solidFill>
                  <a:schemeClr val="tx1"/>
                </a:solidFill>
                <a:latin typeface="宋体" panose="02010600030101010101" pitchFamily="2" charset="-122"/>
              </a:rPr>
              <a:t>cp /etc/yum.conf</a:t>
            </a:r>
            <a:r>
              <a:rPr lang="zh-CN" altLang="en-US" sz="2200">
                <a:solidFill>
                  <a:schemeClr val="tx1"/>
                </a:solidFill>
                <a:latin typeface="宋体" panose="02010600030101010101" pitchFamily="2" charset="-122"/>
              </a:rPr>
              <a:t>文件做好备份后。可以利用</a:t>
            </a:r>
            <a:r>
              <a:rPr lang="zh-CN" altLang="zh-CN" sz="2200">
                <a:solidFill>
                  <a:schemeClr val="tx1"/>
                </a:solidFill>
                <a:latin typeface="宋体" panose="02010600030101010101" pitchFamily="2" charset="-122"/>
              </a:rPr>
              <a:t>vi</a:t>
            </a:r>
            <a:r>
              <a:rPr lang="zh-CN" altLang="en-US" sz="2200">
                <a:solidFill>
                  <a:schemeClr val="tx1"/>
                </a:solidFill>
                <a:latin typeface="宋体" panose="02010600030101010101" pitchFamily="2" charset="-122"/>
              </a:rPr>
              <a:t>编辑器修改</a:t>
            </a:r>
            <a:r>
              <a:rPr lang="zh-CN" altLang="zh-CN" sz="2200">
                <a:solidFill>
                  <a:schemeClr val="tx1"/>
                </a:solidFill>
                <a:latin typeface="宋体" panose="02010600030101010101" pitchFamily="2" charset="-122"/>
              </a:rPr>
              <a:t>yum</a:t>
            </a:r>
            <a:r>
              <a:rPr lang="zh-CN" altLang="en-US" sz="2200">
                <a:solidFill>
                  <a:schemeClr val="tx1"/>
                </a:solidFill>
                <a:latin typeface="宋体" panose="02010600030101010101" pitchFamily="2" charset="-122"/>
              </a:rPr>
              <a:t>的配置文件（</a:t>
            </a:r>
            <a:r>
              <a:rPr lang="zh-CN" altLang="zh-CN" sz="2200">
                <a:solidFill>
                  <a:schemeClr val="tx1"/>
                </a:solidFill>
                <a:latin typeface="宋体" panose="02010600030101010101" pitchFamily="2" charset="-122"/>
              </a:rPr>
              <a:t>vi /etc/yum.conf</a:t>
            </a:r>
            <a:r>
              <a:rPr lang="zh-CN" altLang="en-US" sz="2200">
                <a:solidFill>
                  <a:schemeClr val="tx1"/>
                </a:solidFill>
                <a:latin typeface="宋体" panose="02010600030101010101" pitchFamily="2" charset="-122"/>
              </a:rPr>
              <a:t>），在文件中找到</a:t>
            </a:r>
            <a:r>
              <a:rPr lang="zh-CN" altLang="zh-CN" sz="2200">
                <a:solidFill>
                  <a:schemeClr val="tx1"/>
                </a:solidFill>
                <a:latin typeface="宋体" panose="02010600030101010101" pitchFamily="2" charset="-122"/>
              </a:rPr>
              <a:t>[main]</a:t>
            </a:r>
            <a:r>
              <a:rPr lang="zh-CN" altLang="en-US" sz="2200">
                <a:solidFill>
                  <a:schemeClr val="tx1"/>
                </a:solidFill>
                <a:latin typeface="宋体" panose="02010600030101010101" pitchFamily="2" charset="-122"/>
              </a:rPr>
              <a:t>，在文档最后添加</a:t>
            </a:r>
            <a:r>
              <a:rPr lang="zh-CN" altLang="zh-CN" sz="2200">
                <a:solidFill>
                  <a:schemeClr val="tx1"/>
                </a:solidFill>
                <a:latin typeface="宋体" panose="02010600030101010101" pitchFamily="2" charset="-122"/>
              </a:rPr>
              <a:t>exclude=kernel*</a:t>
            </a:r>
            <a:r>
              <a:rPr lang="zh-CN" altLang="en-US" sz="2200">
                <a:solidFill>
                  <a:schemeClr val="tx1"/>
                </a:solidFill>
                <a:latin typeface="宋体" panose="02010600030101010101" pitchFamily="2" charset="-122"/>
              </a:rPr>
              <a:t>；也可以直接在</a:t>
            </a:r>
            <a:r>
              <a:rPr lang="zh-CN" altLang="zh-CN" sz="2200">
                <a:solidFill>
                  <a:schemeClr val="tx1"/>
                </a:solidFill>
                <a:latin typeface="宋体" panose="02010600030101010101" pitchFamily="2" charset="-122"/>
              </a:rPr>
              <a:t>yum</a:t>
            </a:r>
            <a:r>
              <a:rPr lang="zh-CN" altLang="en-US" sz="2200">
                <a:solidFill>
                  <a:schemeClr val="tx1"/>
                </a:solidFill>
                <a:latin typeface="宋体" panose="02010600030101010101" pitchFamily="2" charset="-122"/>
              </a:rPr>
              <a:t>的命令后面加上参数：</a:t>
            </a:r>
            <a:r>
              <a:rPr lang="zh-CN" altLang="zh-CN" sz="2200">
                <a:solidFill>
                  <a:schemeClr val="tx1"/>
                </a:solidFill>
                <a:latin typeface="宋体" panose="02010600030101010101" pitchFamily="2" charset="-122"/>
              </a:rPr>
              <a:t>yum --exclude=kernel* update</a:t>
            </a:r>
            <a:r>
              <a:rPr lang="zh-CN" altLang="en-US" sz="2200">
                <a:solidFill>
                  <a:schemeClr val="tx1"/>
                </a:solidFill>
                <a:latin typeface="宋体" panose="02010600030101010101" pitchFamily="2" charset="-122"/>
              </a:rPr>
              <a:t>。查看系统版本：</a:t>
            </a:r>
            <a:r>
              <a:rPr lang="zh-CN" altLang="zh-CN" sz="2200">
                <a:solidFill>
                  <a:schemeClr val="tx1"/>
                </a:solidFill>
                <a:latin typeface="宋体" panose="02010600030101010101" pitchFamily="2" charset="-122"/>
              </a:rPr>
              <a:t>cat /etc/issue</a:t>
            </a:r>
            <a:r>
              <a:rPr lang="zh-CN" altLang="en-US" sz="2200">
                <a:solidFill>
                  <a:schemeClr val="tx1"/>
                </a:solidFill>
                <a:latin typeface="宋体" panose="02010600030101010101" pitchFamily="2" charset="-122"/>
              </a:rPr>
              <a:t>。查看内核版本：</a:t>
            </a:r>
            <a:r>
              <a:rPr lang="zh-CN" altLang="zh-CN" sz="2200">
                <a:solidFill>
                  <a:schemeClr val="tx1"/>
                </a:solidFill>
                <a:latin typeface="宋体" panose="02010600030101010101" pitchFamily="2" charset="-122"/>
              </a:rPr>
              <a:t>uname -a</a:t>
            </a:r>
            <a:r>
              <a:rPr lang="zh-CN" altLang="en-US" sz="2200">
                <a:solidFill>
                  <a:schemeClr val="tx1"/>
                </a:solidFill>
                <a:latin typeface="宋体" panose="02010600030101010101" pitchFamily="2" charset="-122"/>
              </a:rPr>
              <a:t>。</a:t>
            </a:r>
          </a:p>
          <a:p>
            <a:pPr eaLnBrk="1" hangingPunct="1">
              <a:lnSpc>
                <a:spcPct val="90000"/>
              </a:lnSpc>
              <a:spcBef>
                <a:spcPct val="0"/>
              </a:spcBef>
              <a:spcAft>
                <a:spcPct val="0"/>
              </a:spcAft>
              <a:buClrTx/>
              <a:buFont typeface="Arial" panose="020B0604020202020204" pitchFamily="34" charset="0"/>
              <a:buNone/>
            </a:pPr>
            <a:r>
              <a:rPr lang="zh-CN" altLang="en-US" sz="2200">
                <a:solidFill>
                  <a:schemeClr val="tx1"/>
                </a:solidFill>
                <a:latin typeface="宋体" panose="02010600030101010101" pitchFamily="2" charset="-122"/>
              </a:rPr>
              <a:t>在配置好只更新软件包后，还要把系统的自动更新关闭</a:t>
            </a:r>
            <a:r>
              <a:rPr lang="zh-CN" altLang="en-US">
                <a:solidFill>
                  <a:schemeClr val="tx1"/>
                </a:solidFill>
                <a:latin typeface="宋体" panose="02010600030101010101" pitchFamily="2" charset="-122"/>
              </a:rPr>
              <a:t>。</a:t>
            </a:r>
          </a:p>
        </p:txBody>
      </p:sp>
      <p:pic>
        <p:nvPicPr>
          <p:cNvPr id="38917" name="Picture 5" descr="j0285750">
            <a:extLst>
              <a:ext uri="{FF2B5EF4-FFF2-40B4-BE49-F238E27FC236}">
                <a16:creationId xmlns:a16="http://schemas.microsoft.com/office/drawing/2014/main" id="{7FCD0AC1-3CB0-0D68-D0F8-7A345A03C8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9675" y="5913438"/>
            <a:ext cx="12287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内容占位符 2">
            <a:extLst>
              <a:ext uri="{FF2B5EF4-FFF2-40B4-BE49-F238E27FC236}">
                <a16:creationId xmlns:a16="http://schemas.microsoft.com/office/drawing/2014/main" id="{B714621A-D165-EB16-90D1-431239BF2A72}"/>
              </a:ext>
            </a:extLst>
          </p:cNvPr>
          <p:cNvSpPr>
            <a:spLocks noGrp="1" noChangeArrowheads="1"/>
          </p:cNvSpPr>
          <p:nvPr/>
        </p:nvSpPr>
        <p:spPr bwMode="auto">
          <a:xfrm>
            <a:off x="196850" y="2366963"/>
            <a:ext cx="8424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chemeClr val="hlink"/>
              </a:buClr>
              <a:buFont typeface="Wingdings" panose="05000000000000000000" pitchFamily="2" charset="2"/>
              <a:buNone/>
            </a:pPr>
            <a:r>
              <a:rPr lang="zh-CN" altLang="zh-CN" sz="3600">
                <a:solidFill>
                  <a:srgbClr val="FF0000"/>
                </a:solidFill>
                <a:latin typeface="宋体" panose="02010600030101010101" pitchFamily="2" charset="-122"/>
              </a:rPr>
              <a:t>6.</a:t>
            </a:r>
            <a:r>
              <a:rPr lang="zh-CN" altLang="en-US" sz="3600">
                <a:solidFill>
                  <a:srgbClr val="FF0000"/>
                </a:solidFill>
                <a:latin typeface="宋体" panose="02010600030101010101" pitchFamily="2" charset="-122"/>
              </a:rPr>
              <a:t>关于系统更新的安全配置</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圆角矩形 4">
            <a:extLst>
              <a:ext uri="{FF2B5EF4-FFF2-40B4-BE49-F238E27FC236}">
                <a16:creationId xmlns:a16="http://schemas.microsoft.com/office/drawing/2014/main" id="{42D3F097-B2AD-D744-B2A3-8CD61C543009}"/>
              </a:ext>
            </a:extLst>
          </p:cNvPr>
          <p:cNvSpPr>
            <a:spLocks noChangeArrowheads="1"/>
          </p:cNvSpPr>
          <p:nvPr/>
        </p:nvSpPr>
        <p:spPr bwMode="auto">
          <a:xfrm>
            <a:off x="398463" y="1487488"/>
            <a:ext cx="8277225" cy="4281487"/>
          </a:xfrm>
          <a:prstGeom prst="roundRect">
            <a:avLst>
              <a:gd name="adj" fmla="val 16667"/>
            </a:avLst>
          </a:prstGeom>
          <a:solidFill>
            <a:schemeClr val="bg1"/>
          </a:solidFill>
          <a:ln w="25400">
            <a:solidFill>
              <a:schemeClr val="accent1"/>
            </a:solidFill>
            <a:round/>
            <a:headEnd/>
            <a:tailEnd/>
          </a:ln>
        </p:spPr>
        <p:txBody>
          <a:bodyPr anchor="ctr" anchorCtr="1"/>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zh-CN" altLang="en-US" sz="3200">
                <a:solidFill>
                  <a:schemeClr val="tx1"/>
                </a:solidFill>
                <a:latin typeface="宋体" panose="02010600030101010101" pitchFamily="2" charset="-122"/>
              </a:rPr>
              <a:t>在</a:t>
            </a:r>
            <a:r>
              <a:rPr lang="zh-CN" altLang="zh-CN" sz="3200">
                <a:solidFill>
                  <a:schemeClr val="tx1"/>
                </a:solidFill>
                <a:latin typeface="宋体" panose="02010600030101010101" pitchFamily="2" charset="-122"/>
              </a:rPr>
              <a:t>Linux</a:t>
            </a:r>
            <a:r>
              <a:rPr lang="zh-CN" altLang="en-US" sz="3200">
                <a:solidFill>
                  <a:schemeClr val="tx1"/>
                </a:solidFill>
                <a:latin typeface="宋体" panose="02010600030101010101" pitchFamily="2" charset="-122"/>
              </a:rPr>
              <a:t>系统中，用来存放临时文件主要有两个目录或分区，分别是</a:t>
            </a:r>
            <a:r>
              <a:rPr lang="zh-CN" altLang="zh-CN" sz="3200">
                <a:solidFill>
                  <a:schemeClr val="tx1"/>
                </a:solidFill>
                <a:latin typeface="宋体" panose="02010600030101010101" pitchFamily="2" charset="-122"/>
              </a:rPr>
              <a:t>/tmp</a:t>
            </a:r>
            <a:r>
              <a:rPr lang="zh-CN" altLang="en-US" sz="3200">
                <a:solidFill>
                  <a:schemeClr val="tx1"/>
                </a:solidFill>
                <a:latin typeface="宋体" panose="02010600030101010101" pitchFamily="2" charset="-122"/>
              </a:rPr>
              <a:t>和</a:t>
            </a:r>
            <a:r>
              <a:rPr lang="zh-CN" altLang="zh-CN" sz="3200">
                <a:solidFill>
                  <a:schemeClr val="tx1"/>
                </a:solidFill>
                <a:latin typeface="宋体" panose="02010600030101010101" pitchFamily="2" charset="-122"/>
              </a:rPr>
              <a:t>/var/tmp</a:t>
            </a:r>
            <a:r>
              <a:rPr lang="zh-CN" altLang="en-US" sz="3200">
                <a:solidFill>
                  <a:schemeClr val="tx1"/>
                </a:solidFill>
                <a:latin typeface="宋体" panose="02010600030101010101" pitchFamily="2" charset="-122"/>
              </a:rPr>
              <a:t>。其是所有用户可读写、可执行，攻击者可以将病毒或者木马脚本放到临时文件的目录下进行信息收集或伪装。如果直接修改临时目录的读写执行权限，还有可能影响系统上应用程序正常运行，因此，如果要兼顾两者，就需要对这两个目录或分区进行特殊设置。</a:t>
            </a:r>
            <a:endParaRPr lang="zh-CN" altLang="zh-CN" sz="2400">
              <a:solidFill>
                <a:schemeClr val="tx1"/>
              </a:solidFill>
              <a:latin typeface="宋体" panose="02010600030101010101" pitchFamily="2" charset="-122"/>
            </a:endParaRPr>
          </a:p>
          <a:p>
            <a:pPr eaLnBrk="1" hangingPunct="1">
              <a:lnSpc>
                <a:spcPct val="90000"/>
              </a:lnSpc>
              <a:spcBef>
                <a:spcPct val="0"/>
              </a:spcBef>
              <a:spcAft>
                <a:spcPct val="0"/>
              </a:spcAft>
              <a:buClrTx/>
              <a:buFont typeface="Arial" panose="020B0604020202020204" pitchFamily="34" charset="0"/>
              <a:buNone/>
            </a:pPr>
            <a:endParaRPr lang="zh-CN" altLang="zh-CN" sz="2400">
              <a:solidFill>
                <a:schemeClr val="tx1"/>
              </a:solidFill>
              <a:latin typeface="宋体" panose="02010600030101010101" pitchFamily="2" charset="-122"/>
            </a:endParaRPr>
          </a:p>
        </p:txBody>
      </p:sp>
      <p:sp>
        <p:nvSpPr>
          <p:cNvPr id="39939" name="内容占位符 2">
            <a:extLst>
              <a:ext uri="{FF2B5EF4-FFF2-40B4-BE49-F238E27FC236}">
                <a16:creationId xmlns:a16="http://schemas.microsoft.com/office/drawing/2014/main" id="{0409DC0D-08E4-31E4-9C62-26802A9E2088}"/>
              </a:ext>
            </a:extLst>
          </p:cNvPr>
          <p:cNvSpPr>
            <a:spLocks noGrp="1" noChangeArrowheads="1"/>
          </p:cNvSpPr>
          <p:nvPr/>
        </p:nvSpPr>
        <p:spPr bwMode="auto">
          <a:xfrm>
            <a:off x="325438" y="765175"/>
            <a:ext cx="8423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chemeClr val="hlink"/>
              </a:buClr>
              <a:buFont typeface="Wingdings" panose="05000000000000000000" pitchFamily="2" charset="2"/>
              <a:buNone/>
            </a:pPr>
            <a:r>
              <a:rPr lang="zh-CN" altLang="zh-CN" sz="3600">
                <a:solidFill>
                  <a:srgbClr val="FF0000"/>
                </a:solidFill>
                <a:latin typeface="宋体" panose="02010600030101010101" pitchFamily="2" charset="-122"/>
              </a:rPr>
              <a:t>7./tmp</a:t>
            </a:r>
            <a:r>
              <a:rPr lang="zh-CN" altLang="en-US" sz="3600">
                <a:solidFill>
                  <a:srgbClr val="FF0000"/>
                </a:solidFill>
                <a:latin typeface="宋体" panose="02010600030101010101" pitchFamily="2" charset="-122"/>
              </a:rPr>
              <a:t>、</a:t>
            </a:r>
            <a:r>
              <a:rPr lang="zh-CN" altLang="zh-CN" sz="3600">
                <a:solidFill>
                  <a:srgbClr val="FF0000"/>
                </a:solidFill>
                <a:latin typeface="宋体" panose="02010600030101010101" pitchFamily="2" charset="-122"/>
              </a:rPr>
              <a:t>/var/tmp</a:t>
            </a:r>
            <a:r>
              <a:rPr lang="zh-CN" altLang="en-US" sz="3600">
                <a:solidFill>
                  <a:srgbClr val="FF0000"/>
                </a:solidFill>
                <a:latin typeface="宋体" panose="02010600030101010101" pitchFamily="2" charset="-122"/>
              </a:rPr>
              <a:t>安全设定</a:t>
            </a:r>
          </a:p>
        </p:txBody>
      </p:sp>
      <p:pic>
        <p:nvPicPr>
          <p:cNvPr id="39940" name="Picture 5" descr="j0285750">
            <a:extLst>
              <a:ext uri="{FF2B5EF4-FFF2-40B4-BE49-F238E27FC236}">
                <a16:creationId xmlns:a16="http://schemas.microsoft.com/office/drawing/2014/main" id="{FAF33B3F-A987-D60D-348C-9FFA0AEF51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5661025"/>
            <a:ext cx="12287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圆角矩形 4">
            <a:extLst>
              <a:ext uri="{FF2B5EF4-FFF2-40B4-BE49-F238E27FC236}">
                <a16:creationId xmlns:a16="http://schemas.microsoft.com/office/drawing/2014/main" id="{F8A89B66-E75A-FACF-1608-93E9CCD01287}"/>
              </a:ext>
            </a:extLst>
          </p:cNvPr>
          <p:cNvSpPr>
            <a:spLocks noChangeArrowheads="1"/>
          </p:cNvSpPr>
          <p:nvPr/>
        </p:nvSpPr>
        <p:spPr bwMode="auto">
          <a:xfrm>
            <a:off x="395288" y="1412875"/>
            <a:ext cx="8278812" cy="4857750"/>
          </a:xfrm>
          <a:prstGeom prst="roundRect">
            <a:avLst>
              <a:gd name="adj" fmla="val 16667"/>
            </a:avLst>
          </a:prstGeom>
          <a:solidFill>
            <a:srgbClr val="FFFFFF"/>
          </a:solidFill>
          <a:ln w="25400">
            <a:solidFill>
              <a:srgbClr val="0099CC"/>
            </a:solidFill>
            <a:round/>
            <a:headEnd/>
            <a:tailEnd/>
          </a:ln>
        </p:spPr>
        <p:txBody>
          <a:bodyPr anchor="ctr" anchorCtr="1"/>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eaLnBrk="1" fontAlgn="auto" hangingPunct="1">
              <a:lnSpc>
                <a:spcPct val="90000"/>
              </a:lnSpc>
              <a:spcBef>
                <a:spcPts val="0"/>
              </a:spcBef>
              <a:spcAft>
                <a:spcPts val="0"/>
              </a:spcAft>
              <a:defRPr/>
            </a:pPr>
            <a:r>
              <a:rPr lang="zh-CN" altLang="en-US" sz="1800" kern="0">
                <a:solidFill>
                  <a:srgbClr val="FF0000"/>
                </a:solidFill>
                <a:latin typeface="宋体" panose="02010600030101010101" pitchFamily="2" charset="-122"/>
              </a:rPr>
              <a:t>安全设定操作过程</a:t>
            </a:r>
            <a:r>
              <a:rPr lang="zh-CN" altLang="en-US" sz="1800" kern="0">
                <a:solidFill>
                  <a:srgbClr val="29698D"/>
                </a:solidFill>
                <a:latin typeface="宋体" panose="02010600030101010101" pitchFamily="2" charset="-122"/>
              </a:rPr>
              <a:t>：</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LABEL=/tmp /tmp ext3 rw,nosuid,noexec,nodev 00</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mv /var/tmp/* /tmp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ln -s  /tmp /var/tmp</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dd if=/dev/zero of=/dev/tmpfs bs=1M count=10000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mke2fs -j /dev/tmpfs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cp -av /tmp /tmp.old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mount -o loop</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noexec</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nosuid</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rw /dev/tmpfs /tmp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chmod 1 777 /tmp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mv -f /tmp.old/* /tmp/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rm -rf /tmp.old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/dev/tmpfs /tmp ext3 loop</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nosuid</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noexec</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rw 0 0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[root@tc193 tmp]# ls -al→grep shell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-rwxr-xr-x 1 root root 22 Oct 6 14</a:t>
            </a:r>
            <a:r>
              <a:rPr lang="zh-CN" altLang="en-US" sz="1800" kern="0">
                <a:solidFill>
                  <a:srgbClr val="29698D"/>
                </a:solidFill>
                <a:latin typeface="宋体" panose="02010600030101010101" pitchFamily="2" charset="-122"/>
              </a:rPr>
              <a:t>：</a:t>
            </a:r>
            <a:r>
              <a:rPr lang="zh-CN" altLang="zh-CN" sz="1800" kern="0">
                <a:solidFill>
                  <a:srgbClr val="29698D"/>
                </a:solidFill>
                <a:latin typeface="宋体" panose="02010600030101010101" pitchFamily="2" charset="-122"/>
              </a:rPr>
              <a:t>58 shell-test.sh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[root@server ~]# pwd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/tmp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[root@tc193 tmp]# ./shell-test.sh  </a:t>
            </a:r>
          </a:p>
          <a:p>
            <a:pPr eaLnBrk="1" fontAlgn="auto" hangingPunct="1">
              <a:lnSpc>
                <a:spcPct val="90000"/>
              </a:lnSpc>
              <a:spcBef>
                <a:spcPts val="0"/>
              </a:spcBef>
              <a:spcAft>
                <a:spcPts val="0"/>
              </a:spcAft>
              <a:defRPr/>
            </a:pPr>
            <a:r>
              <a:rPr lang="zh-CN" altLang="zh-CN" sz="1800" kern="0">
                <a:solidFill>
                  <a:srgbClr val="29698D"/>
                </a:solidFill>
                <a:latin typeface="宋体" panose="02010600030101010101" pitchFamily="2" charset="-122"/>
              </a:rPr>
              <a:t>-bash</a:t>
            </a:r>
            <a:r>
              <a:rPr lang="zh-CN" altLang="en-US" sz="1800" kern="0">
                <a:solidFill>
                  <a:srgbClr val="29698D"/>
                </a:solidFill>
                <a:latin typeface="宋体" panose="02010600030101010101" pitchFamily="2" charset="-122"/>
              </a:rPr>
              <a:t>： </a:t>
            </a:r>
            <a:r>
              <a:rPr lang="zh-CN" altLang="zh-CN" sz="1800" kern="0">
                <a:solidFill>
                  <a:srgbClr val="29698D"/>
                </a:solidFill>
                <a:latin typeface="宋体" panose="02010600030101010101" pitchFamily="2" charset="-122"/>
              </a:rPr>
              <a:t>./shell-test.sh</a:t>
            </a:r>
            <a:r>
              <a:rPr lang="zh-CN" altLang="en-US" sz="1800" kern="0">
                <a:solidFill>
                  <a:srgbClr val="29698D"/>
                </a:solidFill>
                <a:latin typeface="宋体" panose="02010600030101010101" pitchFamily="2" charset="-122"/>
              </a:rPr>
              <a:t>： </a:t>
            </a:r>
            <a:r>
              <a:rPr lang="zh-CN" altLang="zh-CN" sz="1800" kern="0">
                <a:solidFill>
                  <a:srgbClr val="29698D"/>
                </a:solidFill>
                <a:latin typeface="宋体" panose="02010600030101010101" pitchFamily="2" charset="-122"/>
              </a:rPr>
              <a:t>Permission denied</a:t>
            </a:r>
            <a:endParaRPr lang="zh-CN" altLang="zh-CN" sz="2400" kern="0">
              <a:solidFill>
                <a:srgbClr val="29698D"/>
              </a:solidFill>
              <a:latin typeface="宋体" panose="02010600030101010101" pitchFamily="2" charset="-122"/>
            </a:endParaRPr>
          </a:p>
        </p:txBody>
      </p:sp>
      <p:sp>
        <p:nvSpPr>
          <p:cNvPr id="40963" name="内容占位符 2">
            <a:extLst>
              <a:ext uri="{FF2B5EF4-FFF2-40B4-BE49-F238E27FC236}">
                <a16:creationId xmlns:a16="http://schemas.microsoft.com/office/drawing/2014/main" id="{518A93A8-BBBE-26B6-B4A0-DC956D709C57}"/>
              </a:ext>
            </a:extLst>
          </p:cNvPr>
          <p:cNvSpPr>
            <a:spLocks noGrp="1" noChangeArrowheads="1"/>
          </p:cNvSpPr>
          <p:nvPr/>
        </p:nvSpPr>
        <p:spPr bwMode="auto">
          <a:xfrm>
            <a:off x="322263" y="692150"/>
            <a:ext cx="8424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rgbClr val="669900"/>
              </a:buClr>
              <a:buFont typeface="Wingdings" panose="05000000000000000000" pitchFamily="2" charset="2"/>
              <a:buNone/>
            </a:pPr>
            <a:r>
              <a:rPr lang="zh-CN" altLang="zh-CN" sz="3600">
                <a:solidFill>
                  <a:srgbClr val="FF0000"/>
                </a:solidFill>
                <a:latin typeface="宋体" panose="02010600030101010101" pitchFamily="2" charset="-122"/>
              </a:rPr>
              <a:t>7./tmp</a:t>
            </a:r>
            <a:r>
              <a:rPr lang="zh-CN" altLang="en-US" sz="3600">
                <a:solidFill>
                  <a:srgbClr val="FF0000"/>
                </a:solidFill>
                <a:latin typeface="宋体" panose="02010600030101010101" pitchFamily="2" charset="-122"/>
              </a:rPr>
              <a:t>、</a:t>
            </a:r>
            <a:r>
              <a:rPr lang="zh-CN" altLang="zh-CN" sz="3600">
                <a:solidFill>
                  <a:srgbClr val="FF0000"/>
                </a:solidFill>
                <a:latin typeface="宋体" panose="02010600030101010101" pitchFamily="2" charset="-122"/>
              </a:rPr>
              <a:t>/var/tmp</a:t>
            </a:r>
            <a:r>
              <a:rPr lang="zh-CN" altLang="en-US" sz="3600">
                <a:solidFill>
                  <a:srgbClr val="FF0000"/>
                </a:solidFill>
                <a:latin typeface="宋体" panose="02010600030101010101" pitchFamily="2" charset="-122"/>
              </a:rPr>
              <a:t>安全设定</a:t>
            </a:r>
            <a:endParaRPr lang="zh-CN" altLang="en-US" sz="3600">
              <a:latin typeface="宋体" panose="02010600030101010101" pitchFamily="2" charset="-122"/>
            </a:endParaRPr>
          </a:p>
        </p:txBody>
      </p:sp>
      <p:pic>
        <p:nvPicPr>
          <p:cNvPr id="40964" name="Picture 5" descr="j0285750">
            <a:extLst>
              <a:ext uri="{FF2B5EF4-FFF2-40B4-BE49-F238E27FC236}">
                <a16:creationId xmlns:a16="http://schemas.microsoft.com/office/drawing/2014/main" id="{D22F8FC6-4393-D942-A937-45D6EE10E6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6075" y="5805488"/>
            <a:ext cx="12287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圆角矩形 4">
            <a:extLst>
              <a:ext uri="{FF2B5EF4-FFF2-40B4-BE49-F238E27FC236}">
                <a16:creationId xmlns:a16="http://schemas.microsoft.com/office/drawing/2014/main" id="{C4F3991C-2E18-3B33-8B70-6AB9E0906DDE}"/>
              </a:ext>
            </a:extLst>
          </p:cNvPr>
          <p:cNvSpPr>
            <a:spLocks noChangeArrowheads="1"/>
          </p:cNvSpPr>
          <p:nvPr/>
        </p:nvSpPr>
        <p:spPr bwMode="auto">
          <a:xfrm>
            <a:off x="396875" y="1485900"/>
            <a:ext cx="8277225" cy="4356100"/>
          </a:xfrm>
          <a:prstGeom prst="roundRect">
            <a:avLst>
              <a:gd name="adj" fmla="val 16667"/>
            </a:avLst>
          </a:prstGeom>
          <a:solidFill>
            <a:srgbClr val="FFFFFF"/>
          </a:solidFill>
          <a:ln w="25400">
            <a:solidFill>
              <a:srgbClr val="0099CC"/>
            </a:solidFill>
            <a:round/>
            <a:headEnd/>
            <a:tailEnd/>
          </a:ln>
        </p:spPr>
        <p:txBody>
          <a:bodyPr anchor="ctr" anchorCtr="1"/>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eaLnBrk="1" fontAlgn="auto" hangingPunct="1">
              <a:lnSpc>
                <a:spcPct val="110000"/>
              </a:lnSpc>
              <a:spcBef>
                <a:spcPts val="0"/>
              </a:spcBef>
              <a:spcAft>
                <a:spcPts val="0"/>
              </a:spcAft>
              <a:defRPr/>
            </a:pPr>
            <a:r>
              <a:rPr lang="zh-CN" altLang="en-US" sz="2400" kern="0">
                <a:solidFill>
                  <a:srgbClr val="29698D"/>
                </a:solidFill>
                <a:latin typeface="宋体" panose="02010600030101010101" pitchFamily="2" charset="-122"/>
              </a:rPr>
              <a:t>默认的</a:t>
            </a:r>
            <a:r>
              <a:rPr lang="zh-CN" altLang="zh-CN" sz="2400" kern="0">
                <a:solidFill>
                  <a:srgbClr val="29698D"/>
                </a:solidFill>
                <a:latin typeface="宋体" panose="02010600030101010101" pitchFamily="2" charset="-122"/>
              </a:rPr>
              <a:t>history</a:t>
            </a:r>
            <a:r>
              <a:rPr lang="zh-CN" altLang="en-US" sz="2400" kern="0">
                <a:solidFill>
                  <a:srgbClr val="29698D"/>
                </a:solidFill>
                <a:latin typeface="宋体" panose="02010600030101010101" pitchFamily="2" charset="-122"/>
              </a:rPr>
              <a:t>命令只能查看用户历史操作记录，并不能区分每个用户操作命令的时间，这点对于排查问题十分不便，不过可以通过编辑</a:t>
            </a:r>
            <a:r>
              <a:rPr lang="zh-CN" altLang="zh-CN" sz="2400" kern="0">
                <a:solidFill>
                  <a:srgbClr val="29698D"/>
                </a:solidFill>
                <a:latin typeface="宋体" panose="02010600030101010101" pitchFamily="2" charset="-122"/>
              </a:rPr>
              <a:t>/etc/bashrc</a:t>
            </a:r>
            <a:r>
              <a:rPr lang="zh-CN" altLang="en-US" sz="2400" kern="0">
                <a:solidFill>
                  <a:srgbClr val="29698D"/>
                </a:solidFill>
                <a:latin typeface="宋体" panose="02010600030101010101" pitchFamily="2" charset="-122"/>
              </a:rPr>
              <a:t>文件的方法（加入四行内容）让</a:t>
            </a:r>
            <a:r>
              <a:rPr lang="zh-CN" altLang="zh-CN" sz="2400" kern="0">
                <a:solidFill>
                  <a:srgbClr val="29698D"/>
                </a:solidFill>
                <a:latin typeface="宋体" panose="02010600030101010101" pitchFamily="2" charset="-122"/>
              </a:rPr>
              <a:t>history</a:t>
            </a:r>
            <a:r>
              <a:rPr lang="zh-CN" altLang="en-US" sz="2400" kern="0">
                <a:solidFill>
                  <a:srgbClr val="29698D"/>
                </a:solidFill>
                <a:latin typeface="宋体" panose="02010600030101010101" pitchFamily="2" charset="-122"/>
              </a:rPr>
              <a:t>命令自动记录所有</a:t>
            </a:r>
            <a:r>
              <a:rPr lang="zh-CN" altLang="zh-CN" sz="2400" kern="0">
                <a:solidFill>
                  <a:srgbClr val="29698D"/>
                </a:solidFill>
                <a:latin typeface="宋体" panose="02010600030101010101" pitchFamily="2" charset="-122"/>
              </a:rPr>
              <a:t>shell</a:t>
            </a:r>
            <a:r>
              <a:rPr lang="zh-CN" altLang="en-US" sz="2400" kern="0">
                <a:solidFill>
                  <a:srgbClr val="29698D"/>
                </a:solidFill>
                <a:latin typeface="宋体" panose="02010600030101010101" pitchFamily="2" charset="-122"/>
              </a:rPr>
              <a:t>命令的执行时间。</a:t>
            </a:r>
          </a:p>
          <a:p>
            <a:pPr eaLnBrk="1" fontAlgn="auto" hangingPunct="1">
              <a:lnSpc>
                <a:spcPct val="110000"/>
              </a:lnSpc>
              <a:spcBef>
                <a:spcPts val="0"/>
              </a:spcBef>
              <a:spcAft>
                <a:spcPts val="0"/>
              </a:spcAft>
              <a:defRPr/>
            </a:pPr>
            <a:r>
              <a:rPr lang="zh-CN" altLang="zh-CN" sz="2000" kern="0">
                <a:solidFill>
                  <a:srgbClr val="29698D"/>
                </a:solidFill>
                <a:latin typeface="宋体" panose="02010600030101010101" pitchFamily="2" charset="-122"/>
              </a:rPr>
              <a:t>HISTFILESIZE=4000 </a:t>
            </a:r>
          </a:p>
          <a:p>
            <a:pPr eaLnBrk="1" fontAlgn="auto" hangingPunct="1">
              <a:lnSpc>
                <a:spcPct val="110000"/>
              </a:lnSpc>
              <a:spcBef>
                <a:spcPts val="0"/>
              </a:spcBef>
              <a:spcAft>
                <a:spcPts val="0"/>
              </a:spcAft>
              <a:defRPr/>
            </a:pPr>
            <a:r>
              <a:rPr lang="zh-CN" altLang="zh-CN" sz="2000" kern="0">
                <a:solidFill>
                  <a:srgbClr val="29698D"/>
                </a:solidFill>
                <a:latin typeface="宋体" panose="02010600030101010101" pitchFamily="2" charset="-122"/>
              </a:rPr>
              <a:t>HISTSIZE=4000 </a:t>
            </a:r>
          </a:p>
          <a:p>
            <a:pPr eaLnBrk="1" fontAlgn="auto" hangingPunct="1">
              <a:lnSpc>
                <a:spcPct val="110000"/>
              </a:lnSpc>
              <a:spcBef>
                <a:spcPts val="0"/>
              </a:spcBef>
              <a:spcAft>
                <a:spcPts val="0"/>
              </a:spcAft>
              <a:defRPr/>
            </a:pPr>
            <a:r>
              <a:rPr lang="zh-CN" altLang="zh-CN" sz="2000" kern="0">
                <a:solidFill>
                  <a:srgbClr val="29698D"/>
                </a:solidFill>
                <a:latin typeface="宋体" panose="02010600030101010101" pitchFamily="2" charset="-122"/>
              </a:rPr>
              <a:t>HISTTIMEFORMAT='%F %T' </a:t>
            </a:r>
          </a:p>
          <a:p>
            <a:pPr eaLnBrk="1" fontAlgn="auto" hangingPunct="1">
              <a:lnSpc>
                <a:spcPct val="110000"/>
              </a:lnSpc>
              <a:spcBef>
                <a:spcPts val="0"/>
              </a:spcBef>
              <a:spcAft>
                <a:spcPts val="0"/>
              </a:spcAft>
              <a:defRPr/>
            </a:pPr>
            <a:r>
              <a:rPr lang="zh-CN" altLang="zh-CN" sz="2000" kern="0">
                <a:solidFill>
                  <a:srgbClr val="29698D"/>
                </a:solidFill>
                <a:latin typeface="宋体" panose="02010600030101010101" pitchFamily="2" charset="-122"/>
              </a:rPr>
              <a:t>export HISTTIMEFORMAT</a:t>
            </a:r>
          </a:p>
          <a:p>
            <a:pPr eaLnBrk="1" fontAlgn="auto" hangingPunct="1">
              <a:lnSpc>
                <a:spcPct val="90000"/>
              </a:lnSpc>
              <a:spcBef>
                <a:spcPts val="0"/>
              </a:spcBef>
              <a:spcAft>
                <a:spcPts val="0"/>
              </a:spcAft>
              <a:defRPr/>
            </a:pPr>
            <a:endParaRPr lang="zh-CN" altLang="zh-CN" sz="1800" kern="0">
              <a:solidFill>
                <a:srgbClr val="29698D"/>
              </a:solidFill>
              <a:latin typeface="宋体" panose="02010600030101010101" pitchFamily="2" charset="-122"/>
            </a:endParaRPr>
          </a:p>
        </p:txBody>
      </p:sp>
      <p:sp>
        <p:nvSpPr>
          <p:cNvPr id="41987" name="内容占位符 2">
            <a:extLst>
              <a:ext uri="{FF2B5EF4-FFF2-40B4-BE49-F238E27FC236}">
                <a16:creationId xmlns:a16="http://schemas.microsoft.com/office/drawing/2014/main" id="{DF8953B3-8507-14B2-437F-6FDF2E5EF24B}"/>
              </a:ext>
            </a:extLst>
          </p:cNvPr>
          <p:cNvSpPr>
            <a:spLocks noGrp="1" noChangeArrowheads="1"/>
          </p:cNvSpPr>
          <p:nvPr/>
        </p:nvSpPr>
        <p:spPr bwMode="auto">
          <a:xfrm>
            <a:off x="322263" y="765175"/>
            <a:ext cx="8424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rgbClr val="669900"/>
              </a:buClr>
              <a:buFont typeface="Wingdings" panose="05000000000000000000" pitchFamily="2" charset="2"/>
              <a:buNone/>
            </a:pPr>
            <a:r>
              <a:rPr lang="zh-CN" altLang="zh-CN" sz="3600">
                <a:solidFill>
                  <a:srgbClr val="FF0000"/>
                </a:solidFill>
                <a:latin typeface="宋体" panose="02010600030101010101" pitchFamily="2" charset="-122"/>
              </a:rPr>
              <a:t>8.</a:t>
            </a:r>
            <a:r>
              <a:rPr lang="zh-CN" altLang="en-US" sz="3600">
                <a:solidFill>
                  <a:srgbClr val="FF0000"/>
                </a:solidFill>
                <a:latin typeface="宋体" panose="02010600030101010101" pitchFamily="2" charset="-122"/>
              </a:rPr>
              <a:t>修改</a:t>
            </a:r>
            <a:r>
              <a:rPr lang="zh-CN" altLang="zh-CN" sz="3600">
                <a:solidFill>
                  <a:srgbClr val="FF0000"/>
                </a:solidFill>
                <a:latin typeface="宋体" panose="02010600030101010101" pitchFamily="2" charset="-122"/>
              </a:rPr>
              <a:t>history</a:t>
            </a:r>
            <a:r>
              <a:rPr lang="zh-CN" altLang="en-US" sz="3600">
                <a:solidFill>
                  <a:srgbClr val="FF0000"/>
                </a:solidFill>
                <a:latin typeface="宋体" panose="02010600030101010101" pitchFamily="2" charset="-122"/>
              </a:rPr>
              <a:t>命令记录</a:t>
            </a:r>
          </a:p>
        </p:txBody>
      </p:sp>
      <p:pic>
        <p:nvPicPr>
          <p:cNvPr id="41988" name="Picture 5" descr="j0285750">
            <a:extLst>
              <a:ext uri="{FF2B5EF4-FFF2-40B4-BE49-F238E27FC236}">
                <a16:creationId xmlns:a16="http://schemas.microsoft.com/office/drawing/2014/main" id="{34EF5D9A-10D1-C833-EFF0-8C0255E8EB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025" y="5518150"/>
            <a:ext cx="12287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圆角矩形 4">
            <a:extLst>
              <a:ext uri="{FF2B5EF4-FFF2-40B4-BE49-F238E27FC236}">
                <a16:creationId xmlns:a16="http://schemas.microsoft.com/office/drawing/2014/main" id="{8BA9E2B8-5291-CB5C-829F-E23BECA65415}"/>
              </a:ext>
            </a:extLst>
          </p:cNvPr>
          <p:cNvSpPr>
            <a:spLocks noChangeArrowheads="1"/>
          </p:cNvSpPr>
          <p:nvPr/>
        </p:nvSpPr>
        <p:spPr bwMode="auto">
          <a:xfrm>
            <a:off x="539750" y="4076700"/>
            <a:ext cx="8170863" cy="1619250"/>
          </a:xfrm>
          <a:prstGeom prst="roundRect">
            <a:avLst>
              <a:gd name="adj" fmla="val 16667"/>
            </a:avLst>
          </a:prstGeom>
          <a:solidFill>
            <a:srgbClr val="FFFF66"/>
          </a:solidFill>
          <a:ln w="25400" cap="flat" cmpd="sng">
            <a:solidFill>
              <a:schemeClr val="accent1"/>
            </a:solidFill>
            <a:round/>
          </a:ln>
          <a:effectLst/>
        </p:spPr>
        <p:txBody>
          <a:bodyPr anchor="ctr" anchorCtr="1"/>
          <a:lstStyle/>
          <a:p>
            <a:pPr eaLnBrk="1" hangingPunct="1">
              <a:buFont typeface="Arial" panose="020B0604020202020204" pitchFamily="34" charset="0"/>
              <a:buNone/>
              <a:defRPr/>
            </a:pPr>
            <a:r>
              <a:rPr lang="zh-CN" altLang="en-US" dirty="0">
                <a:solidFill>
                  <a:srgbClr val="FF0000"/>
                </a:solidFill>
                <a:effectLst>
                  <a:outerShdw blurRad="38100" dist="38100" dir="2700000" algn="tl">
                    <a:srgbClr val="000000"/>
                  </a:outerShdw>
                </a:effectLst>
                <a:latin typeface="黑体" panose="02010600030101010101" pitchFamily="49" charset="-122"/>
                <a:ea typeface="黑体" panose="02010600030101010101" pitchFamily="49" charset="-122"/>
                <a:sym typeface="Wingdings" panose="05000000000000000000" pitchFamily="2" charset="2"/>
              </a:rPr>
              <a:t></a:t>
            </a:r>
            <a:r>
              <a:rPr lang="zh-CN" altLang="en-US" dirty="0">
                <a:solidFill>
                  <a:srgbClr val="FF0000"/>
                </a:solidFill>
                <a:effectLst>
                  <a:outerShdw blurRad="38100" dist="38100" dir="2700000" algn="tl">
                    <a:srgbClr val="000000"/>
                  </a:outerShdw>
                </a:effectLst>
                <a:latin typeface="黑体" panose="02010600030101010101" pitchFamily="49" charset="-122"/>
                <a:ea typeface="黑体" panose="02010600030101010101" pitchFamily="49" charset="-122"/>
                <a:sym typeface="+mn-ea"/>
              </a:rPr>
              <a:t>讨论思考：</a:t>
            </a:r>
          </a:p>
          <a:p>
            <a:pPr eaLnBrk="1" hangingPunct="1">
              <a:buFont typeface="Arial" panose="020B0604020202020204" pitchFamily="34" charset="0"/>
              <a:buNone/>
              <a:defRPr/>
            </a:pPr>
            <a:endParaRPr lang="zh-CN" altLang="en-US" dirty="0">
              <a:solidFill>
                <a:srgbClr val="FF0000"/>
              </a:solidFill>
              <a:effectLst>
                <a:outerShdw blurRad="38100" dist="38100" dir="2700000" algn="tl">
                  <a:srgbClr val="000000"/>
                </a:outerShdw>
              </a:effectLst>
              <a:latin typeface="黑体" panose="02010600030101010101" pitchFamily="49" charset="-122"/>
              <a:ea typeface="黑体" panose="02010600030101010101" pitchFamily="49" charset="-122"/>
              <a:sym typeface="+mn-ea"/>
            </a:endParaRPr>
          </a:p>
          <a:p>
            <a:pPr eaLnBrk="1" hangingPunct="1">
              <a:lnSpc>
                <a:spcPct val="85000"/>
              </a:lnSpc>
              <a:buFont typeface="Arial" panose="020B0604020202020204" pitchFamily="34" charset="0"/>
              <a:buNone/>
              <a:defRPr/>
            </a:pPr>
            <a:r>
              <a:rPr lang="zh-CN" altLang="en-US" sz="1600" dirty="0">
                <a:sym typeface="+mn-ea"/>
              </a:rPr>
              <a:t>（1）Linux一般关闭哪些不必要的服务？</a:t>
            </a:r>
          </a:p>
          <a:p>
            <a:pPr eaLnBrk="1" hangingPunct="1">
              <a:lnSpc>
                <a:spcPct val="85000"/>
              </a:lnSpc>
              <a:buFont typeface="Arial" panose="020B0604020202020204" pitchFamily="34" charset="0"/>
              <a:buNone/>
              <a:defRPr/>
            </a:pPr>
            <a:endParaRPr lang="zh-CN" altLang="en-US" sz="1600" dirty="0">
              <a:sym typeface="+mn-ea"/>
            </a:endParaRPr>
          </a:p>
          <a:p>
            <a:pPr eaLnBrk="1" hangingPunct="1">
              <a:lnSpc>
                <a:spcPct val="85000"/>
              </a:lnSpc>
              <a:buFont typeface="Arial" panose="020B0604020202020204" pitchFamily="34" charset="0"/>
              <a:buNone/>
              <a:defRPr/>
            </a:pPr>
            <a:r>
              <a:rPr lang="zh-CN" altLang="en-US" sz="1600" dirty="0">
                <a:sym typeface="+mn-ea"/>
              </a:rPr>
              <a:t>（2）为什么使用yum update更新系统时不升级内核，只更新软件包？</a:t>
            </a:r>
          </a:p>
        </p:txBody>
      </p:sp>
      <p:sp>
        <p:nvSpPr>
          <p:cNvPr id="43011" name="圆角矩形 4">
            <a:extLst>
              <a:ext uri="{FF2B5EF4-FFF2-40B4-BE49-F238E27FC236}">
                <a16:creationId xmlns:a16="http://schemas.microsoft.com/office/drawing/2014/main" id="{2D48C9F0-347A-C996-3A7C-F102C926EB49}"/>
              </a:ext>
            </a:extLst>
          </p:cNvPr>
          <p:cNvSpPr>
            <a:spLocks noChangeArrowheads="1"/>
          </p:cNvSpPr>
          <p:nvPr/>
        </p:nvSpPr>
        <p:spPr bwMode="auto">
          <a:xfrm>
            <a:off x="323850" y="1628775"/>
            <a:ext cx="8207375" cy="1657350"/>
          </a:xfrm>
          <a:prstGeom prst="roundRect">
            <a:avLst>
              <a:gd name="adj" fmla="val 16667"/>
            </a:avLst>
          </a:prstGeom>
          <a:solidFill>
            <a:schemeClr val="bg1"/>
          </a:solidFill>
          <a:ln w="25400">
            <a:solidFill>
              <a:schemeClr val="accent1"/>
            </a:solidFill>
            <a:bevel/>
            <a:headEnd/>
            <a:tailEnd/>
          </a:ln>
        </p:spPr>
        <p:txBody>
          <a:bodyPr anchor="ctr" anchorCtr="1"/>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0"/>
              </a:spcBef>
              <a:spcAft>
                <a:spcPct val="0"/>
              </a:spcAft>
              <a:buClrTx/>
              <a:buFont typeface="Arial" panose="020B0604020202020204" pitchFamily="34" charset="0"/>
              <a:buNone/>
            </a:pPr>
            <a:r>
              <a:rPr lang="zh-CN" altLang="en-US" sz="2200">
                <a:solidFill>
                  <a:schemeClr val="tx1"/>
                </a:solidFill>
                <a:latin typeface="宋体" panose="02010600030101010101" pitchFamily="2" charset="-122"/>
              </a:rPr>
              <a:t>在</a:t>
            </a:r>
            <a:r>
              <a:rPr lang="zh-CN" altLang="en-US" sz="2200">
                <a:solidFill>
                  <a:srgbClr val="FF0000"/>
                </a:solidFill>
                <a:latin typeface="宋体" panose="02010600030101010101" pitchFamily="2" charset="-122"/>
              </a:rPr>
              <a:t>缺省情况</a:t>
            </a:r>
            <a:r>
              <a:rPr lang="zh-CN" altLang="en-US" sz="2200">
                <a:solidFill>
                  <a:schemeClr val="tx1"/>
                </a:solidFill>
                <a:latin typeface="宋体" panose="02010600030101010101" pitchFamily="2" charset="-122"/>
              </a:rPr>
              <a:t>下，当登录到</a:t>
            </a:r>
            <a:r>
              <a:rPr lang="zh-CN" altLang="zh-CN" sz="2200">
                <a:solidFill>
                  <a:schemeClr val="tx1"/>
                </a:solidFill>
                <a:latin typeface="宋体" panose="02010600030101010101" pitchFamily="2" charset="-122"/>
              </a:rPr>
              <a:t>Linux</a:t>
            </a:r>
            <a:r>
              <a:rPr lang="zh-CN" altLang="en-US" sz="2200">
                <a:solidFill>
                  <a:schemeClr val="tx1"/>
                </a:solidFill>
                <a:latin typeface="宋体" panose="02010600030101010101" pitchFamily="2" charset="-122"/>
              </a:rPr>
              <a:t>系统，会显示该</a:t>
            </a:r>
            <a:r>
              <a:rPr lang="zh-CN" altLang="zh-CN" sz="2200">
                <a:solidFill>
                  <a:schemeClr val="tx1"/>
                </a:solidFill>
                <a:latin typeface="宋体" panose="02010600030101010101" pitchFamily="2" charset="-122"/>
              </a:rPr>
              <a:t>Linux</a:t>
            </a:r>
            <a:r>
              <a:rPr lang="zh-CN" altLang="en-US" sz="2200">
                <a:solidFill>
                  <a:schemeClr val="tx1"/>
                </a:solidFill>
                <a:latin typeface="宋体" panose="02010600030101010101" pitchFamily="2" charset="-122"/>
              </a:rPr>
              <a:t>发行版的名称、版本、内核版本、服务器的名称。为了不让这些默认的信息泄露出来，要删除</a:t>
            </a:r>
            <a:r>
              <a:rPr lang="zh-CN" altLang="zh-CN" sz="2200">
                <a:solidFill>
                  <a:schemeClr val="tx1"/>
                </a:solidFill>
                <a:latin typeface="宋体" panose="02010600030101010101" pitchFamily="2" charset="-122"/>
              </a:rPr>
              <a:t>/etc/issue</a:t>
            </a:r>
            <a:r>
              <a:rPr lang="zh-CN" altLang="en-US" sz="2200">
                <a:solidFill>
                  <a:schemeClr val="tx1"/>
                </a:solidFill>
                <a:latin typeface="宋体" panose="02010600030101010101" pitchFamily="2" charset="-122"/>
              </a:rPr>
              <a:t>和</a:t>
            </a:r>
            <a:r>
              <a:rPr lang="zh-CN" altLang="zh-CN" sz="2200">
                <a:solidFill>
                  <a:schemeClr val="tx1"/>
                </a:solidFill>
                <a:latin typeface="宋体" panose="02010600030101010101" pitchFamily="2" charset="-122"/>
              </a:rPr>
              <a:t>/etc/issue.net</a:t>
            </a:r>
            <a:r>
              <a:rPr lang="zh-CN" altLang="en-US" sz="2200">
                <a:solidFill>
                  <a:schemeClr val="tx1"/>
                </a:solidFill>
                <a:latin typeface="宋体" panose="02010600030101010101" pitchFamily="2" charset="-122"/>
              </a:rPr>
              <a:t>这两个文件，或者把这</a:t>
            </a:r>
            <a:r>
              <a:rPr lang="zh-CN" altLang="zh-CN" sz="2200">
                <a:solidFill>
                  <a:schemeClr val="tx1"/>
                </a:solidFill>
                <a:latin typeface="宋体" panose="02010600030101010101" pitchFamily="2" charset="-122"/>
              </a:rPr>
              <a:t>2</a:t>
            </a:r>
            <a:r>
              <a:rPr lang="zh-CN" altLang="en-US" sz="2200">
                <a:solidFill>
                  <a:schemeClr val="tx1"/>
                </a:solidFill>
                <a:latin typeface="宋体" panose="02010600030101010101" pitchFamily="2" charset="-122"/>
              </a:rPr>
              <a:t>个文件改名，让它只显示一个“</a:t>
            </a:r>
            <a:r>
              <a:rPr lang="zh-CN" altLang="zh-CN" sz="2200">
                <a:solidFill>
                  <a:schemeClr val="tx1"/>
                </a:solidFill>
                <a:latin typeface="宋体" panose="02010600030101010101" pitchFamily="2" charset="-122"/>
              </a:rPr>
              <a:t>login</a:t>
            </a:r>
            <a:r>
              <a:rPr lang="zh-CN" altLang="en-US" sz="2200">
                <a:solidFill>
                  <a:schemeClr val="tx1"/>
                </a:solidFill>
                <a:latin typeface="宋体" panose="02010600030101010101" pitchFamily="2" charset="-122"/>
              </a:rPr>
              <a:t>：”提示符。</a:t>
            </a:r>
          </a:p>
        </p:txBody>
      </p:sp>
      <p:sp>
        <p:nvSpPr>
          <p:cNvPr id="43012" name="内容占位符 2">
            <a:extLst>
              <a:ext uri="{FF2B5EF4-FFF2-40B4-BE49-F238E27FC236}">
                <a16:creationId xmlns:a16="http://schemas.microsoft.com/office/drawing/2014/main" id="{A7F349D7-AC45-A4A6-6724-C9C32A2082B5}"/>
              </a:ext>
            </a:extLst>
          </p:cNvPr>
          <p:cNvSpPr>
            <a:spLocks noGrp="1" noChangeArrowheads="1"/>
          </p:cNvSpPr>
          <p:nvPr/>
        </p:nvSpPr>
        <p:spPr bwMode="auto">
          <a:xfrm>
            <a:off x="468313" y="836613"/>
            <a:ext cx="84248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0000"/>
              </a:lnSpc>
              <a:spcBef>
                <a:spcPct val="20000"/>
              </a:spcBef>
              <a:spcAft>
                <a:spcPct val="0"/>
              </a:spcAft>
              <a:buClr>
                <a:schemeClr val="hlink"/>
              </a:buClr>
              <a:buFont typeface="Wingdings" panose="05000000000000000000" pitchFamily="2" charset="2"/>
              <a:buNone/>
            </a:pPr>
            <a:r>
              <a:rPr lang="zh-CN" altLang="zh-CN" sz="3600">
                <a:solidFill>
                  <a:srgbClr val="FF0000"/>
                </a:solidFill>
                <a:latin typeface="宋体" panose="02010600030101010101" pitchFamily="2" charset="-122"/>
              </a:rPr>
              <a:t>9.</a:t>
            </a:r>
            <a:r>
              <a:rPr lang="zh-CN" altLang="en-US" sz="3600">
                <a:solidFill>
                  <a:srgbClr val="FF0000"/>
                </a:solidFill>
                <a:latin typeface="宋体" panose="02010600030101010101" pitchFamily="2" charset="-122"/>
              </a:rPr>
              <a:t>隐藏服务器系统信息</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内容占位符 2">
            <a:extLst>
              <a:ext uri="{FF2B5EF4-FFF2-40B4-BE49-F238E27FC236}">
                <a16:creationId xmlns:a16="http://schemas.microsoft.com/office/drawing/2014/main" id="{A0333B16-D5BB-F806-E960-9FA7AEDAACD9}"/>
              </a:ext>
            </a:extLst>
          </p:cNvPr>
          <p:cNvSpPr>
            <a:spLocks noGrp="1" noChangeArrowheads="1"/>
          </p:cNvSpPr>
          <p:nvPr>
            <p:ph idx="1"/>
          </p:nvPr>
        </p:nvSpPr>
        <p:spPr>
          <a:xfrm>
            <a:off x="182563" y="520700"/>
            <a:ext cx="8785225" cy="5932488"/>
          </a:xfrm>
        </p:spPr>
        <p:txBody>
          <a:bodyPr/>
          <a:lstStyle/>
          <a:p>
            <a:pPr marL="0" indent="0" algn="ctr">
              <a:buFont typeface="Arial" panose="020B0604020202020204" pitchFamily="34" charset="0"/>
              <a:buNone/>
            </a:pPr>
            <a:r>
              <a:rPr lang="zh-CN" altLang="en-US" sz="4800"/>
              <a:t>第一章 作业</a:t>
            </a:r>
            <a:endParaRPr lang="en-US" altLang="zh-CN" sz="4800"/>
          </a:p>
          <a:p>
            <a:pPr marL="0" indent="0">
              <a:buFont typeface="Arial" panose="020B0604020202020204" pitchFamily="34" charset="0"/>
              <a:buNone/>
            </a:pPr>
            <a:r>
              <a:rPr lang="zh-CN" altLang="en-US" sz="5400"/>
              <a:t>写一篇对</a:t>
            </a:r>
            <a:r>
              <a:rPr lang="en-US" altLang="zh-CN" sz="5400"/>
              <a:t>Linux</a:t>
            </a:r>
            <a:r>
              <a:rPr lang="zh-CN" altLang="en-US" sz="5400"/>
              <a:t>及其安全方面的个人思考或认识的小论文，字数不少于</a:t>
            </a:r>
            <a:r>
              <a:rPr lang="en-US" altLang="zh-CN" sz="5400"/>
              <a:t>400</a:t>
            </a:r>
            <a:r>
              <a:rPr lang="zh-CN" altLang="en-US" sz="5400"/>
              <a:t>字，不多于</a:t>
            </a:r>
            <a:r>
              <a:rPr lang="en-US" altLang="zh-CN" sz="5400"/>
              <a:t>800</a:t>
            </a:r>
            <a:r>
              <a:rPr lang="zh-CN" altLang="en-US" sz="5400"/>
              <a:t>字。一周之内交，在超星泛雅系统中提交。</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CF5708F-956D-7E36-69F9-DEDA5FA5E8DA}"/>
              </a:ext>
            </a:extLst>
          </p:cNvPr>
          <p:cNvSpPr>
            <a:spLocks noGrp="1" noChangeArrowheads="1"/>
          </p:cNvSpPr>
          <p:nvPr>
            <p:ph type="ctrTitle"/>
          </p:nvPr>
        </p:nvSpPr>
        <p:spPr>
          <a:xfrm>
            <a:off x="684213" y="1557338"/>
            <a:ext cx="8208962" cy="3455987"/>
          </a:xfrm>
        </p:spPr>
        <p:txBody>
          <a:bodyPr/>
          <a:lstStyle/>
          <a:p>
            <a:r>
              <a:rPr lang="zh-CN" altLang="en-GB" sz="4800" b="1">
                <a:latin typeface="华文新魏" panose="02010800040101010101" pitchFamily="2" charset="-122"/>
              </a:rPr>
              <a:t>第二章   </a:t>
            </a:r>
            <a:r>
              <a:rPr lang="zh-CN" altLang="en-US" sz="4800" b="1">
                <a:latin typeface="华文新魏" panose="02010800040101010101" pitchFamily="2" charset="-122"/>
              </a:rPr>
              <a:t>系统入门</a:t>
            </a:r>
            <a:br>
              <a:rPr lang="zh-CN" altLang="en-GB" sz="4800" b="1">
                <a:latin typeface="华文新魏" panose="02010800040101010101" pitchFamily="2" charset="-122"/>
              </a:rPr>
            </a:br>
            <a:br>
              <a:rPr lang="zh-CN" altLang="en-GB" sz="4800" b="1">
                <a:latin typeface="华文新魏" panose="02010800040101010101" pitchFamily="2" charset="-122"/>
              </a:rPr>
            </a:br>
            <a:r>
              <a:rPr lang="en-US" altLang="zh-CN" sz="4800"/>
              <a:t>2.1  </a:t>
            </a:r>
            <a:r>
              <a:rPr lang="zh-CN" altLang="zh-CN" sz="4800"/>
              <a:t>系统的开机与界面切换</a:t>
            </a:r>
            <a:br>
              <a:rPr lang="zh-CN" altLang="zh-CN" sz="4800"/>
            </a:br>
            <a:r>
              <a:rPr lang="en-US" altLang="zh-CN" sz="4800"/>
              <a:t>2.2  </a:t>
            </a:r>
            <a:r>
              <a:rPr lang="zh-CN" altLang="zh-CN" sz="4800"/>
              <a:t>用户的登录与注销</a:t>
            </a:r>
            <a:br>
              <a:rPr lang="zh-CN" altLang="zh-CN" sz="4800"/>
            </a:br>
            <a:r>
              <a:rPr lang="en-US" altLang="zh-CN" sz="4800"/>
              <a:t>2.3  Linux</a:t>
            </a:r>
            <a:r>
              <a:rPr lang="zh-CN" altLang="zh-CN" sz="4800"/>
              <a:t>系统的关闭与重启动</a:t>
            </a:r>
            <a:br>
              <a:rPr lang="zh-CN" altLang="zh-CN" sz="4800"/>
            </a:br>
            <a:r>
              <a:rPr lang="en-US" altLang="zh-CN" sz="3600">
                <a:solidFill>
                  <a:srgbClr val="7030A0"/>
                </a:solidFill>
              </a:rPr>
              <a:t>2.4  Linux</a:t>
            </a:r>
            <a:r>
              <a:rPr lang="zh-CN" altLang="zh-CN" sz="3600">
                <a:solidFill>
                  <a:srgbClr val="7030A0"/>
                </a:solidFill>
              </a:rPr>
              <a:t>系统的图形界面介绍</a:t>
            </a:r>
            <a:r>
              <a:rPr lang="zh-CN" altLang="en-US" sz="3600">
                <a:solidFill>
                  <a:srgbClr val="7030A0"/>
                </a:solidFill>
              </a:rPr>
              <a:t>（自学）</a:t>
            </a:r>
            <a:br>
              <a:rPr lang="zh-CN" altLang="zh-CN" sz="4800"/>
            </a:br>
            <a:endParaRPr lang="en-GB" altLang="zh-CN" sz="4800">
              <a:latin typeface="华文新魏" panose="02010800040101010101" pitchFamily="2" charset="-122"/>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内容占位符 2">
            <a:extLst>
              <a:ext uri="{FF2B5EF4-FFF2-40B4-BE49-F238E27FC236}">
                <a16:creationId xmlns:a16="http://schemas.microsoft.com/office/drawing/2014/main" id="{40181DED-16ED-8A85-CF34-DAA778202301}"/>
              </a:ext>
            </a:extLst>
          </p:cNvPr>
          <p:cNvSpPr>
            <a:spLocks noGrp="1" noChangeArrowheads="1"/>
          </p:cNvSpPr>
          <p:nvPr>
            <p:ph idx="1"/>
          </p:nvPr>
        </p:nvSpPr>
        <p:spPr/>
        <p:txBody>
          <a:bodyPr/>
          <a:lstStyle/>
          <a:p>
            <a:pPr marL="0" indent="0">
              <a:buFont typeface="Arial" panose="020B0604020202020204" pitchFamily="34" charset="0"/>
              <a:buNone/>
            </a:pPr>
            <a:r>
              <a:rPr lang="zh-CN" altLang="en-US"/>
              <a:t>2.1.1  系统的开机</a:t>
            </a:r>
            <a:endParaRPr lang="en-US" altLang="zh-CN"/>
          </a:p>
          <a:p>
            <a:pPr marL="0" indent="0">
              <a:buFont typeface="Arial" panose="020B0604020202020204" pitchFamily="34" charset="0"/>
              <a:buNone/>
            </a:pPr>
            <a:r>
              <a:rPr lang="zh-CN" altLang="en-US" sz="4400"/>
              <a:t>一、</a:t>
            </a:r>
            <a:r>
              <a:rPr lang="zh-CN" altLang="en-US" sz="4400">
                <a:solidFill>
                  <a:srgbClr val="FF0000"/>
                </a:solidFill>
              </a:rPr>
              <a:t>加电</a:t>
            </a:r>
            <a:r>
              <a:rPr lang="zh-CN" altLang="en-US" sz="4400"/>
              <a:t>后，</a:t>
            </a:r>
            <a:r>
              <a:rPr lang="en-US" altLang="zh-CN" sz="4400"/>
              <a:t>Linux</a:t>
            </a:r>
            <a:r>
              <a:rPr lang="zh-CN" altLang="en-US" sz="4400"/>
              <a:t>系统开始启动，启动完成后停留在用户登录界面。</a:t>
            </a:r>
          </a:p>
          <a:p>
            <a:pPr marL="0" indent="0">
              <a:buFont typeface="Arial" panose="020B0604020202020204" pitchFamily="34" charset="0"/>
              <a:buNone/>
            </a:pPr>
            <a:r>
              <a:rPr lang="zh-CN" altLang="en-US" sz="4400"/>
              <a:t>二、若是安装有</a:t>
            </a:r>
            <a:r>
              <a:rPr lang="zh-CN" altLang="en-US" sz="4400">
                <a:solidFill>
                  <a:srgbClr val="FF0000"/>
                </a:solidFill>
              </a:rPr>
              <a:t>图形界面</a:t>
            </a:r>
            <a:r>
              <a:rPr lang="zh-CN" altLang="en-US" sz="4400"/>
              <a:t>的工作站或桌面系统，则在启动完成后，停留在图形登录界面，否则停留在字符界面，等待用户登录。</a:t>
            </a:r>
          </a:p>
          <a:p>
            <a:pPr marL="0" indent="0">
              <a:buFont typeface="Arial" panose="020B0604020202020204" pitchFamily="34" charset="0"/>
              <a:buNone/>
            </a:pPr>
            <a:endParaRPr lang="zh-CN" altLang="en-US"/>
          </a:p>
        </p:txBody>
      </p:sp>
      <p:sp>
        <p:nvSpPr>
          <p:cNvPr id="47107" name="Text Box 4">
            <a:extLst>
              <a:ext uri="{FF2B5EF4-FFF2-40B4-BE49-F238E27FC236}">
                <a16:creationId xmlns:a16="http://schemas.microsoft.com/office/drawing/2014/main" id="{77635613-8310-090F-A383-0E09EB15A8FD}"/>
              </a:ext>
            </a:extLst>
          </p:cNvPr>
          <p:cNvSpPr>
            <a:spLocks noGrp="1" noChangeArrowheads="1"/>
          </p:cNvSpPr>
          <p:nvPr>
            <p:ph type="title"/>
          </p:nvPr>
        </p:nvSpPr>
        <p:spPr>
          <a:xfrm>
            <a:off x="611188" y="0"/>
            <a:ext cx="8280400" cy="522288"/>
          </a:xfrm>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algn="r">
              <a:spcBef>
                <a:spcPct val="50000"/>
              </a:spcBef>
              <a:buClrTx/>
              <a:buFontTx/>
              <a:buNone/>
            </a:pPr>
            <a:r>
              <a:rPr lang="zh-CN" altLang="en-GB" sz="3200">
                <a:latin typeface="华文新魏" panose="02010800040101010101" pitchFamily="2" charset="-122"/>
                <a:ea typeface="宋体" panose="02010600030101010101" pitchFamily="2" charset="-122"/>
              </a:rPr>
              <a:t>第二章</a:t>
            </a:r>
            <a:r>
              <a:rPr lang="zh-CN" altLang="zh-CN" sz="3200">
                <a:ea typeface="宋体" panose="02010600030101010101" pitchFamily="2" charset="-122"/>
              </a:rPr>
              <a:t>系统入门</a:t>
            </a:r>
            <a:r>
              <a:rPr lang="en-US" altLang="zh-CN" sz="3200">
                <a:ea typeface="宋体" panose="02010600030101010101" pitchFamily="2" charset="-122"/>
              </a:rPr>
              <a:t> </a:t>
            </a:r>
            <a:r>
              <a:rPr lang="en-US" altLang="zh-CN" sz="3200">
                <a:latin typeface="华文新魏" panose="02010800040101010101" pitchFamily="2" charset="-122"/>
              </a:rPr>
              <a:t>2.1</a:t>
            </a:r>
            <a:r>
              <a:rPr lang="zh-CN" altLang="en-GB" sz="3200">
                <a:latin typeface="华文新魏" panose="02010800040101010101" pitchFamily="2" charset="-122"/>
              </a:rPr>
              <a:t>、</a:t>
            </a:r>
            <a:r>
              <a:rPr lang="zh-CN" altLang="en-US" sz="3200">
                <a:latin typeface="华文新魏" panose="02010800040101010101" pitchFamily="2" charset="-122"/>
              </a:rPr>
              <a:t>系统的开机与界面切换</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130" name="内容占位符 -2147482613">
            <a:extLst>
              <a:ext uri="{FF2B5EF4-FFF2-40B4-BE49-F238E27FC236}">
                <a16:creationId xmlns:a16="http://schemas.microsoft.com/office/drawing/2014/main" id="{ACEAAD04-4CEB-A7FD-CB69-AC54BCD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765175"/>
            <a:ext cx="3171825" cy="2024063"/>
          </a:xfrm>
        </p:spPr>
      </p:pic>
      <p:pic>
        <p:nvPicPr>
          <p:cNvPr id="48131" name="图片 -2147482612">
            <a:extLst>
              <a:ext uri="{FF2B5EF4-FFF2-40B4-BE49-F238E27FC236}">
                <a16:creationId xmlns:a16="http://schemas.microsoft.com/office/drawing/2014/main" id="{51DA8402-4863-0B41-4DB5-0CA2808E5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863600"/>
            <a:ext cx="344805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文本框 99">
            <a:extLst>
              <a:ext uri="{FF2B5EF4-FFF2-40B4-BE49-F238E27FC236}">
                <a16:creationId xmlns:a16="http://schemas.microsoft.com/office/drawing/2014/main" id="{59D31E98-61A6-E2C8-F67D-5FEE63DECBFE}"/>
              </a:ext>
            </a:extLst>
          </p:cNvPr>
          <p:cNvSpPr txBox="1">
            <a:spLocks noChangeArrowheads="1"/>
          </p:cNvSpPr>
          <p:nvPr/>
        </p:nvSpPr>
        <p:spPr bwMode="auto">
          <a:xfrm>
            <a:off x="468313" y="3065463"/>
            <a:ext cx="82232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000">
                <a:solidFill>
                  <a:schemeClr val="tx1"/>
                </a:solidFill>
                <a:latin typeface="宋体" panose="02010600030101010101" pitchFamily="2" charset="-122"/>
              </a:rPr>
              <a:t>选择用户名后的密码输入界面  选择“</a:t>
            </a:r>
            <a:r>
              <a:rPr lang="en-US" altLang="zh-CN" sz="2000">
                <a:solidFill>
                  <a:schemeClr val="tx1"/>
                </a:solidFill>
                <a:latin typeface="Times New Roman" panose="02020603050405020304" pitchFamily="18" charset="0"/>
              </a:rPr>
              <a:t>Not listed</a:t>
            </a:r>
            <a:r>
              <a:rPr lang="en-US" altLang="zh-CN" sz="2000">
                <a:solidFill>
                  <a:schemeClr val="tx1"/>
                </a:solidFill>
                <a:latin typeface="宋体" panose="02010600030101010101" pitchFamily="2" charset="-122"/>
              </a:rPr>
              <a:t>”</a:t>
            </a:r>
            <a:r>
              <a:rPr lang="zh-CN" altLang="en-US" sz="2000">
                <a:solidFill>
                  <a:schemeClr val="tx1"/>
                </a:solidFill>
                <a:latin typeface="宋体" panose="02010600030101010101" pitchFamily="2" charset="-122"/>
              </a:rPr>
              <a:t>后的用户登录界面</a:t>
            </a:r>
            <a:endParaRPr lang="zh-CN" altLang="en-US" sz="2000">
              <a:solidFill>
                <a:schemeClr val="tx1"/>
              </a:solidFill>
              <a:latin typeface="Tahoma" panose="020B0604030504040204" pitchFamily="34" charset="0"/>
            </a:endParaRPr>
          </a:p>
        </p:txBody>
      </p:sp>
      <p:pic>
        <p:nvPicPr>
          <p:cNvPr id="48133" name="图片 -2147482611">
            <a:extLst>
              <a:ext uri="{FF2B5EF4-FFF2-40B4-BE49-F238E27FC236}">
                <a16:creationId xmlns:a16="http://schemas.microsoft.com/office/drawing/2014/main" id="{36DA6253-56AE-6146-BA4F-3798B0645D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3621088"/>
            <a:ext cx="3165475"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图片 -2147482610">
            <a:extLst>
              <a:ext uri="{FF2B5EF4-FFF2-40B4-BE49-F238E27FC236}">
                <a16:creationId xmlns:a16="http://schemas.microsoft.com/office/drawing/2014/main" id="{6CB2B4EF-F8FD-C392-F33C-018DCE24A5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56150" y="3649663"/>
            <a:ext cx="346233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5" name="文本框 3">
            <a:extLst>
              <a:ext uri="{FF2B5EF4-FFF2-40B4-BE49-F238E27FC236}">
                <a16:creationId xmlns:a16="http://schemas.microsoft.com/office/drawing/2014/main" id="{789CFDA4-AB58-5137-62F8-BC4193E1FEA3}"/>
              </a:ext>
            </a:extLst>
          </p:cNvPr>
          <p:cNvSpPr txBox="1">
            <a:spLocks noChangeArrowheads="1"/>
          </p:cNvSpPr>
          <p:nvPr/>
        </p:nvSpPr>
        <p:spPr bwMode="auto">
          <a:xfrm>
            <a:off x="1150938" y="5764213"/>
            <a:ext cx="65055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2000">
                <a:solidFill>
                  <a:schemeClr val="tx1"/>
                </a:solidFill>
                <a:latin typeface="宋体" panose="02010600030101010101" pitchFamily="2" charset="-122"/>
              </a:rPr>
              <a:t>红帽系统的</a:t>
            </a:r>
            <a:r>
              <a:rPr lang="en-US" altLang="zh-CN" sz="2000">
                <a:solidFill>
                  <a:schemeClr val="tx1"/>
                </a:solidFill>
                <a:latin typeface="Times New Roman" panose="02020603050405020304" pitchFamily="18" charset="0"/>
              </a:rPr>
              <a:t>GNOME</a:t>
            </a:r>
            <a:r>
              <a:rPr lang="zh-CN" altLang="en-US" sz="2000">
                <a:solidFill>
                  <a:schemeClr val="tx1"/>
                </a:solidFill>
                <a:latin typeface="宋体" panose="02010600030101010101" pitchFamily="2" charset="-122"/>
              </a:rPr>
              <a:t>桌面         Ubuntu的Unity桌面    </a:t>
            </a:r>
          </a:p>
        </p:txBody>
      </p:sp>
      <p:sp>
        <p:nvSpPr>
          <p:cNvPr id="48136" name="Text Box 4">
            <a:extLst>
              <a:ext uri="{FF2B5EF4-FFF2-40B4-BE49-F238E27FC236}">
                <a16:creationId xmlns:a16="http://schemas.microsoft.com/office/drawing/2014/main" id="{17E5D102-686A-3B63-D9C2-9A0C6F1FDB58}"/>
              </a:ext>
            </a:extLst>
          </p:cNvPr>
          <p:cNvSpPr txBox="1">
            <a:spLocks noChangeArrowheads="1"/>
          </p:cNvSpPr>
          <p:nvPr/>
        </p:nvSpPr>
        <p:spPr bwMode="auto">
          <a:xfrm>
            <a:off x="611188" y="0"/>
            <a:ext cx="8280400" cy="52228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defTabSz="449263">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742950" indent="-285750" defTabSz="449263">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143000" indent="-228600" defTabSz="449263">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1600200" indent="-228600" defTabSz="449263">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057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a:lnSpc>
                <a:spcPct val="87000"/>
              </a:lnSpc>
              <a:spcBef>
                <a:spcPct val="50000"/>
              </a:spcBef>
              <a:spcAft>
                <a:spcPct val="0"/>
              </a:spcAft>
              <a:buClrTx/>
              <a:buFontTx/>
              <a:buNone/>
            </a:pPr>
            <a:r>
              <a:rPr lang="zh-CN" altLang="en-GB" sz="3200">
                <a:latin typeface="华文新魏" panose="02010800040101010101" pitchFamily="2" charset="-122"/>
              </a:rPr>
              <a:t>第二章</a:t>
            </a:r>
            <a:r>
              <a:rPr lang="zh-CN" altLang="zh-CN" sz="3200"/>
              <a:t>系统入门</a:t>
            </a:r>
            <a:r>
              <a:rPr lang="en-US" altLang="zh-CN" sz="3200"/>
              <a:t> </a:t>
            </a:r>
            <a:r>
              <a:rPr lang="en-US" altLang="zh-CN" sz="3200">
                <a:latin typeface="华文新魏" panose="02010800040101010101" pitchFamily="2" charset="-122"/>
                <a:ea typeface="华文新魏" panose="02010800040101010101" pitchFamily="2" charset="-122"/>
              </a:rPr>
              <a:t>2.1</a:t>
            </a:r>
            <a:r>
              <a:rPr lang="zh-CN" altLang="en-GB" sz="3200">
                <a:latin typeface="华文新魏" panose="02010800040101010101" pitchFamily="2" charset="-122"/>
                <a:ea typeface="华文新魏" panose="02010800040101010101" pitchFamily="2" charset="-122"/>
              </a:rPr>
              <a:t>、</a:t>
            </a:r>
            <a:r>
              <a:rPr lang="zh-CN" altLang="en-US" sz="3200">
                <a:latin typeface="华文新魏" panose="02010800040101010101" pitchFamily="2" charset="-122"/>
                <a:ea typeface="华文新魏" panose="02010800040101010101" pitchFamily="2" charset="-122"/>
              </a:rPr>
              <a:t>系统的开机与界面切换</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91028701-EFB3-0BF6-A6DF-206E44706E18}"/>
              </a:ext>
            </a:extLst>
          </p:cNvPr>
          <p:cNvSpPr>
            <a:spLocks noGrp="1" noChangeArrowheads="1"/>
          </p:cNvSpPr>
          <p:nvPr>
            <p:ph idx="1"/>
          </p:nvPr>
        </p:nvSpPr>
        <p:spPr/>
        <p:txBody>
          <a:bodyPr/>
          <a:lstStyle/>
          <a:p>
            <a:pPr marL="0" indent="0" eaLnBrk="1" hangingPunct="1">
              <a:buFont typeface="Arial" panose="020B0604020202020204" pitchFamily="34" charset="0"/>
              <a:buNone/>
            </a:pPr>
            <a:r>
              <a:rPr lang="zh-CN" altLang="en-GB"/>
              <a:t>默认情况下，</a:t>
            </a:r>
            <a:r>
              <a:rPr lang="en-GB" altLang="zh-CN"/>
              <a:t>Linux</a:t>
            </a:r>
            <a:r>
              <a:rPr lang="zh-CN" altLang="en-GB"/>
              <a:t>启动完毕后显示登录窗口。登录成功后，进入图形桌面。</a:t>
            </a:r>
          </a:p>
        </p:txBody>
      </p:sp>
      <p:pic>
        <p:nvPicPr>
          <p:cNvPr id="49155" name="Picture 9">
            <a:extLst>
              <a:ext uri="{FF2B5EF4-FFF2-40B4-BE49-F238E27FC236}">
                <a16:creationId xmlns:a16="http://schemas.microsoft.com/office/drawing/2014/main" id="{6D4A8E64-0FB5-22F3-9AC8-9C5A683F65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557338"/>
            <a:ext cx="5618163" cy="488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lgn="ctr">
                <a:solidFill>
                  <a:schemeClr val="tx2"/>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56" name="Text Box 4">
            <a:extLst>
              <a:ext uri="{FF2B5EF4-FFF2-40B4-BE49-F238E27FC236}">
                <a16:creationId xmlns:a16="http://schemas.microsoft.com/office/drawing/2014/main" id="{0C6B2BBC-4248-948D-E5B1-1589F6C48A33}"/>
              </a:ext>
            </a:extLst>
          </p:cNvPr>
          <p:cNvSpPr>
            <a:spLocks noGrp="1" noChangeArrowheads="1"/>
          </p:cNvSpPr>
          <p:nvPr>
            <p:ph type="title"/>
          </p:nvPr>
        </p:nvSpPr>
        <p:spPr>
          <a:xfrm>
            <a:off x="179388" y="0"/>
            <a:ext cx="8280400" cy="522288"/>
          </a:xfrm>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algn="r">
              <a:spcBef>
                <a:spcPct val="50000"/>
              </a:spcBef>
              <a:buClrTx/>
              <a:buFontTx/>
              <a:buNone/>
            </a:pPr>
            <a:r>
              <a:rPr lang="zh-CN" altLang="en-GB" sz="3200">
                <a:latin typeface="华文新魏" panose="02010800040101010101" pitchFamily="2" charset="-122"/>
                <a:ea typeface="宋体" panose="02010600030101010101" pitchFamily="2" charset="-122"/>
              </a:rPr>
              <a:t>第二章</a:t>
            </a:r>
            <a:r>
              <a:rPr lang="zh-CN" altLang="zh-CN" sz="3200">
                <a:ea typeface="宋体" panose="02010600030101010101" pitchFamily="2" charset="-122"/>
              </a:rPr>
              <a:t>系统入门</a:t>
            </a:r>
            <a:r>
              <a:rPr lang="en-US" altLang="zh-CN" sz="3200">
                <a:ea typeface="宋体" panose="02010600030101010101" pitchFamily="2" charset="-122"/>
              </a:rPr>
              <a:t> </a:t>
            </a:r>
            <a:r>
              <a:rPr lang="en-US" altLang="zh-CN" sz="3200">
                <a:latin typeface="华文新魏" panose="02010800040101010101" pitchFamily="2" charset="-122"/>
              </a:rPr>
              <a:t>2.1</a:t>
            </a:r>
            <a:r>
              <a:rPr lang="zh-CN" altLang="en-GB" sz="3200">
                <a:latin typeface="华文新魏" panose="02010800040101010101" pitchFamily="2" charset="-122"/>
              </a:rPr>
              <a:t>、</a:t>
            </a:r>
            <a:r>
              <a:rPr lang="zh-CN" altLang="en-US" sz="3200">
                <a:latin typeface="华文新魏" panose="02010800040101010101" pitchFamily="2" charset="-122"/>
              </a:rPr>
              <a:t>系统的开机与界面切换</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5171CC1F-2D5E-C8EB-BB02-37DB4FEAD2D8}"/>
              </a:ext>
            </a:extLst>
          </p:cNvPr>
          <p:cNvSpPr>
            <a:spLocks noGrp="1" noChangeArrowheads="1"/>
          </p:cNvSpPr>
          <p:nvPr>
            <p:ph type="title"/>
          </p:nvPr>
        </p:nvSpPr>
        <p:spPr/>
        <p:txBody>
          <a:bodyPr/>
          <a:lstStyle/>
          <a:p>
            <a:pPr eaLnBrk="1" hangingPunct="1"/>
            <a:r>
              <a:rPr lang="zh-CN" altLang="en-GB">
                <a:latin typeface="华文新魏" panose="02010800040101010101" pitchFamily="2" charset="-122"/>
              </a:rPr>
              <a:t>第二章</a:t>
            </a:r>
            <a:r>
              <a:rPr lang="zh-CN" altLang="zh-CN">
                <a:ea typeface="宋体" panose="02010600030101010101" pitchFamily="2" charset="-122"/>
              </a:rPr>
              <a:t>系统入门</a:t>
            </a:r>
            <a:r>
              <a:rPr lang="en-US" altLang="zh-CN">
                <a:ea typeface="宋体" panose="02010600030101010101" pitchFamily="2" charset="-122"/>
              </a:rPr>
              <a:t> </a:t>
            </a:r>
            <a:endParaRPr lang="en-US" altLang="zh-CN">
              <a:latin typeface="华文新魏" panose="02010800040101010101" pitchFamily="2" charset="-122"/>
            </a:endParaRPr>
          </a:p>
        </p:txBody>
      </p:sp>
      <p:sp>
        <p:nvSpPr>
          <p:cNvPr id="50179" name="Rectangle 3">
            <a:extLst>
              <a:ext uri="{FF2B5EF4-FFF2-40B4-BE49-F238E27FC236}">
                <a16:creationId xmlns:a16="http://schemas.microsoft.com/office/drawing/2014/main" id="{32DAD1E4-9184-C4CF-EB76-4FA960162E63}"/>
              </a:ext>
            </a:extLst>
          </p:cNvPr>
          <p:cNvSpPr>
            <a:spLocks noGrp="1" noChangeArrowheads="1"/>
          </p:cNvSpPr>
          <p:nvPr>
            <p:ph type="body" sz="half" idx="1"/>
          </p:nvPr>
        </p:nvSpPr>
        <p:spPr>
          <a:xfrm>
            <a:off x="468313" y="620713"/>
            <a:ext cx="8291512" cy="5761037"/>
          </a:xfrm>
        </p:spPr>
        <p:txBody>
          <a:bodyPr/>
          <a:lstStyle/>
          <a:p>
            <a:pPr marL="342900" indent="-342900" eaLnBrk="1" hangingPunct="1">
              <a:spcBef>
                <a:spcPct val="20000"/>
              </a:spcBef>
              <a:buFont typeface="StarSymbol" charset="0"/>
              <a:buBlip>
                <a:blip r:embed="rId2"/>
              </a:buBlip>
            </a:pPr>
            <a:r>
              <a:rPr lang="zh-CN" altLang="en-GB" sz="4400">
                <a:latin typeface="Times New Roman" panose="02020603050405020304" pitchFamily="18" charset="0"/>
              </a:rPr>
              <a:t>用户名和密码：</a:t>
            </a:r>
            <a:r>
              <a:rPr lang="zh-CN" altLang="en-GB" sz="4400" u="sng">
                <a:solidFill>
                  <a:srgbClr val="FF0000"/>
                </a:solidFill>
                <a:latin typeface="Times New Roman" panose="02020603050405020304" pitchFamily="18" charset="0"/>
              </a:rPr>
              <a:t>区分大小写</a:t>
            </a:r>
            <a:endParaRPr lang="en-GB" altLang="zh-CN" sz="4400" u="sng">
              <a:solidFill>
                <a:srgbClr val="FF0000"/>
              </a:solidFill>
              <a:latin typeface="Times New Roman" panose="02020603050405020304" pitchFamily="18" charset="0"/>
            </a:endParaRPr>
          </a:p>
        </p:txBody>
      </p:sp>
      <p:graphicFrame>
        <p:nvGraphicFramePr>
          <p:cNvPr id="377895" name="Group 39">
            <a:extLst>
              <a:ext uri="{FF2B5EF4-FFF2-40B4-BE49-F238E27FC236}">
                <a16:creationId xmlns:a16="http://schemas.microsoft.com/office/drawing/2014/main" id="{750D241B-17FC-329E-AE8C-E3B9D8080681}"/>
              </a:ext>
            </a:extLst>
          </p:cNvPr>
          <p:cNvGraphicFramePr>
            <a:graphicFrameLocks noGrp="1"/>
          </p:cNvGraphicFramePr>
          <p:nvPr>
            <p:ph sz="half" idx="2"/>
          </p:nvPr>
        </p:nvGraphicFramePr>
        <p:xfrm>
          <a:off x="684213" y="1484313"/>
          <a:ext cx="7775575" cy="4054477"/>
        </p:xfrm>
        <a:graphic>
          <a:graphicData uri="http://schemas.openxmlformats.org/drawingml/2006/table">
            <a:tbl>
              <a:tblPr/>
              <a:tblGrid>
                <a:gridCol w="2176462">
                  <a:extLst>
                    <a:ext uri="{9D8B030D-6E8A-4147-A177-3AD203B41FA5}">
                      <a16:colId xmlns:a16="http://schemas.microsoft.com/office/drawing/2014/main" val="20000"/>
                    </a:ext>
                  </a:extLst>
                </a:gridCol>
                <a:gridCol w="2382838">
                  <a:extLst>
                    <a:ext uri="{9D8B030D-6E8A-4147-A177-3AD203B41FA5}">
                      <a16:colId xmlns:a16="http://schemas.microsoft.com/office/drawing/2014/main" val="20001"/>
                    </a:ext>
                  </a:extLst>
                </a:gridCol>
                <a:gridCol w="3216275">
                  <a:extLst>
                    <a:ext uri="{9D8B030D-6E8A-4147-A177-3AD203B41FA5}">
                      <a16:colId xmlns:a16="http://schemas.microsoft.com/office/drawing/2014/main" val="20002"/>
                    </a:ext>
                  </a:extLst>
                </a:gridCol>
              </a:tblGrid>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rPr>
                        <a:t>用户类别</a:t>
                      </a:r>
                      <a:endPar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rPr>
                        <a:t>用户名</a:t>
                      </a:r>
                      <a:endPar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ctr"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zh-CN" altLang="en-US" sz="3200" b="1" i="0" u="none" strike="noStrike" cap="none" normalizeH="0" baseline="0">
                          <a:ln>
                            <a:noFill/>
                          </a:ln>
                          <a:solidFill>
                            <a:srgbClr val="000000"/>
                          </a:solidFill>
                          <a:effectLst/>
                          <a:latin typeface="AR PL SungtiL GB" charset="0"/>
                          <a:ea typeface="宋体" panose="02010600030101010101" pitchFamily="2" charset="-122"/>
                        </a:rPr>
                        <a:t>密码</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rPr>
                        <a:t>超级用户</a:t>
                      </a:r>
                      <a:endPar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root</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computer2000</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rPr>
                        <a:t>普通用户</a:t>
                      </a:r>
                      <a:endPar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user1</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computer1</a:t>
                      </a:r>
                      <a:endPar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endParaRPr kumimoji="0" lang="zh-CN" altLang="en-US" sz="3200" b="1" i="0" u="none" strike="noStrike" cap="none" normalizeH="0" baseline="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a:ln>
                            <a:noFill/>
                          </a:ln>
                          <a:solidFill>
                            <a:srgbClr val="000000"/>
                          </a:solidFill>
                          <a:effectLst/>
                          <a:latin typeface="AR PL SungtiL GB" charset="0"/>
                          <a:ea typeface="宋体" panose="02010600030101010101" pitchFamily="2" charset="-122"/>
                        </a:rPr>
                        <a:t>user2</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computer2</a:t>
                      </a:r>
                      <a:endPar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endParaRPr kumimoji="0" lang="zh-CN" altLang="en-US" sz="3200" b="1" i="0" u="none" strike="noStrike" cap="none" normalizeH="0" baseline="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a:ln>
                            <a:noFill/>
                          </a:ln>
                          <a:solidFill>
                            <a:srgbClr val="000000"/>
                          </a:solidFill>
                          <a:effectLst/>
                          <a:latin typeface="AR PL SungtiL GB" charset="0"/>
                          <a:ea typeface="宋体" panose="02010600030101010101" pitchFamily="2" charset="-122"/>
                        </a:rPr>
                        <a:t>user3</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computer3</a:t>
                      </a:r>
                      <a:endPar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endParaRPr kumimoji="0" lang="zh-CN" altLang="en-US" sz="3200" b="1" i="0" u="none" strike="noStrike" cap="none" normalizeH="0" baseline="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lg" len="lg"/>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a:ln>
                            <a:noFill/>
                          </a:ln>
                          <a:solidFill>
                            <a:srgbClr val="000000"/>
                          </a:solidFill>
                          <a:effectLst/>
                          <a:latin typeface="AR PL SungtiL GB" charset="0"/>
                          <a:ea typeface="宋体" panose="02010600030101010101" pitchFamily="2" charset="-122"/>
                        </a:rPr>
                        <a:t>user4</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lg" len="lg"/>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computer4</a:t>
                      </a:r>
                      <a:endParaRPr kumimoji="0" lang="zh-CN" altLang="en-US" sz="3200" b="1" i="0" u="none" strike="noStrike" cap="none" normalizeH="0" baseline="0" dirty="0">
                        <a:ln>
                          <a:noFill/>
                        </a:ln>
                        <a:solidFill>
                          <a:srgbClr val="000000"/>
                        </a:solidFill>
                        <a:effectLst/>
                        <a:latin typeface="AR PL SungtiL GB" charset="0"/>
                        <a:ea typeface="宋体" panose="02010600030101010101" pitchFamily="2" charset="-122"/>
                      </a:endParaRP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lg" len="lg"/>
                    </a:lnB>
                    <a:lnTlToBr>
                      <a:noFill/>
                    </a:lnTlToBr>
                    <a:lnBlToTr>
                      <a:noFill/>
                    </a:lnBlToTr>
                    <a:solidFill>
                      <a:schemeClr val="bg1"/>
                    </a:solidFill>
                  </a:tcPr>
                </a:tc>
                <a:extLst>
                  <a:ext uri="{0D108BD9-81ED-4DB2-BD59-A6C34878D82A}">
                    <a16:rowId xmlns:a16="http://schemas.microsoft.com/office/drawing/2014/main" val="10005"/>
                  </a:ext>
                </a:extLst>
              </a:tr>
              <a:tr h="579211">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endParaRPr kumimoji="0" lang="zh-CN" altLang="en-US" sz="3200" b="1" i="0" u="none" strike="noStrike" cap="none" normalizeH="0" baseline="0">
                        <a:ln>
                          <a:noFill/>
                        </a:ln>
                        <a:solidFill>
                          <a:srgbClr val="000000"/>
                        </a:solidFill>
                        <a:effectLst/>
                        <a:latin typeface="AR PL SungtiL GB" charset="0"/>
                        <a:ea typeface="宋体" panose="02010600030101010101" pitchFamily="2" charset="-122"/>
                      </a:endParaRP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a:ln>
                            <a:noFill/>
                          </a:ln>
                          <a:solidFill>
                            <a:srgbClr val="000000"/>
                          </a:solidFill>
                          <a:effectLst/>
                          <a:latin typeface="AR PL SungtiL GB" charset="0"/>
                          <a:ea typeface="宋体" panose="02010600030101010101" pitchFamily="2" charset="-122"/>
                        </a:rPr>
                        <a:t>user5</a:t>
                      </a:r>
                    </a:p>
                  </a:txBody>
                  <a:tcPr marT="45727" marB="457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449263">
                        <a:defRPr sz="2400" b="1">
                          <a:solidFill>
                            <a:srgbClr val="000000"/>
                          </a:solidFill>
                          <a:latin typeface="AR PL SungtiL GB" charset="0"/>
                          <a:ea typeface="宋体" panose="02010600030101010101" pitchFamily="2" charset="-122"/>
                        </a:defRPr>
                      </a:lvl1pPr>
                      <a:lvl2pPr defTabSz="449263">
                        <a:defRPr sz="2000" b="1">
                          <a:solidFill>
                            <a:srgbClr val="000000"/>
                          </a:solidFill>
                          <a:latin typeface="AR PL SungtiL GB" charset="0"/>
                          <a:ea typeface="宋体" panose="02010600030101010101" pitchFamily="2" charset="-122"/>
                        </a:defRPr>
                      </a:lvl2pPr>
                      <a:lvl3pPr defTabSz="449263">
                        <a:buSzPct val="125000"/>
                        <a:defRPr b="1">
                          <a:solidFill>
                            <a:srgbClr val="000000"/>
                          </a:solidFill>
                          <a:latin typeface="AR PL SungtiL GB" charset="0"/>
                          <a:ea typeface="宋体" panose="02010600030101010101" pitchFamily="2" charset="-122"/>
                        </a:defRPr>
                      </a:lvl3pPr>
                      <a:lvl4pPr defTabSz="449263">
                        <a:buSzPct val="100000"/>
                        <a:defRPr b="1">
                          <a:solidFill>
                            <a:srgbClr val="000000"/>
                          </a:solidFill>
                          <a:latin typeface="Arial" panose="020B0604020202020204" pitchFamily="34" charset="0"/>
                          <a:ea typeface="宋体" panose="02010600030101010101" pitchFamily="2" charset="-122"/>
                        </a:defRPr>
                      </a:lvl4pPr>
                      <a:lvl5pPr defTabSz="449263">
                        <a:spcBef>
                          <a:spcPts val="338"/>
                        </a:spcBef>
                        <a:spcAft>
                          <a:spcPct val="0"/>
                        </a:spcAft>
                        <a:buSzPct val="100000"/>
                        <a:defRPr b="1">
                          <a:solidFill>
                            <a:srgbClr val="000000"/>
                          </a:solidFill>
                          <a:latin typeface="Arial" panose="020B0604020202020204" pitchFamily="34" charset="0"/>
                          <a:ea typeface="宋体" panose="02010600030101010101" pitchFamily="2" charset="-122"/>
                        </a:defRPr>
                      </a:lvl5pPr>
                      <a:lvl6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6pPr>
                      <a:lvl7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7pPr>
                      <a:lvl8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8pPr>
                      <a:lvl9pPr defTabSz="449263" fontAlgn="base">
                        <a:spcBef>
                          <a:spcPts val="338"/>
                        </a:spcBef>
                        <a:spcAft>
                          <a:spcPct val="0"/>
                        </a:spcAft>
                        <a:buClr>
                          <a:srgbClr val="000000"/>
                        </a:buClr>
                        <a:buSzPct val="100000"/>
                        <a:buFont typeface="Arial" panose="020B0604020202020204" pitchFamily="34" charset="0"/>
                        <a:defRPr b="1">
                          <a:solidFill>
                            <a:srgbClr val="000000"/>
                          </a:solidFill>
                          <a:latin typeface="Arial" panose="020B0604020202020204" pitchFamily="34" charset="0"/>
                          <a:ea typeface="宋体" panose="02010600030101010101" pitchFamily="2" charset="-122"/>
                        </a:defRPr>
                      </a:lvl9pPr>
                    </a:lstStyle>
                    <a:p>
                      <a:pPr marL="0" marR="0" lvl="0" indent="0"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None/>
                        <a:tabLst/>
                      </a:pPr>
                      <a:r>
                        <a:rPr kumimoji="0" lang="en-US" altLang="zh-CN" sz="3200" b="1" i="0" u="none" strike="noStrike" cap="none" normalizeH="0" baseline="0" dirty="0">
                          <a:ln>
                            <a:noFill/>
                          </a:ln>
                          <a:solidFill>
                            <a:srgbClr val="000000"/>
                          </a:solidFill>
                          <a:effectLst/>
                          <a:latin typeface="AR PL SungtiL GB" charset="0"/>
                          <a:ea typeface="宋体" panose="02010600030101010101" pitchFamily="2" charset="-122"/>
                        </a:rPr>
                        <a:t>computer5</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
        <p:nvSpPr>
          <p:cNvPr id="50214" name="Text Box 4">
            <a:extLst>
              <a:ext uri="{FF2B5EF4-FFF2-40B4-BE49-F238E27FC236}">
                <a16:creationId xmlns:a16="http://schemas.microsoft.com/office/drawing/2014/main" id="{0D753E1A-3EEC-7D17-510F-C42094EDABCD}"/>
              </a:ext>
            </a:extLst>
          </p:cNvPr>
          <p:cNvSpPr txBox="1">
            <a:spLocks noChangeArrowheads="1"/>
          </p:cNvSpPr>
          <p:nvPr/>
        </p:nvSpPr>
        <p:spPr bwMode="auto">
          <a:xfrm>
            <a:off x="3779838" y="-23813"/>
            <a:ext cx="5292725" cy="584201"/>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r">
              <a:spcBef>
                <a:spcPct val="50000"/>
              </a:spcBef>
              <a:spcAft>
                <a:spcPct val="0"/>
              </a:spcAft>
              <a:buClrTx/>
              <a:buFontTx/>
              <a:buNone/>
            </a:pPr>
            <a:r>
              <a:rPr lang="en-US" altLang="zh-CN" sz="3200">
                <a:latin typeface="华文新魏" panose="02010800040101010101" pitchFamily="2" charset="-122"/>
                <a:ea typeface="华文新魏" panose="02010800040101010101" pitchFamily="2" charset="-122"/>
              </a:rPr>
              <a:t>2.1</a:t>
            </a:r>
            <a:r>
              <a:rPr lang="zh-CN" altLang="en-GB" sz="3200">
                <a:latin typeface="华文新魏" panose="02010800040101010101" pitchFamily="2" charset="-122"/>
                <a:ea typeface="华文新魏" panose="02010800040101010101" pitchFamily="2" charset="-122"/>
              </a:rPr>
              <a:t>、</a:t>
            </a:r>
            <a:r>
              <a:rPr lang="zh-CN" altLang="en-US" sz="3200">
                <a:latin typeface="华文新魏" panose="02010800040101010101" pitchFamily="2" charset="-122"/>
                <a:ea typeface="华文新魏" panose="02010800040101010101" pitchFamily="2" charset="-122"/>
              </a:rPr>
              <a:t>系统的开机与界面切换</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AFF4EC0E-6C58-E169-AF5B-4E4EB662D1F8}"/>
              </a:ext>
            </a:extLst>
          </p:cNvPr>
          <p:cNvSpPr>
            <a:spLocks noGrp="1" noChangeArrowheads="1"/>
          </p:cNvSpPr>
          <p:nvPr>
            <p:ph type="title"/>
          </p:nvPr>
        </p:nvSpPr>
        <p:spPr/>
        <p:txBody>
          <a:bodyPr/>
          <a:lstStyle/>
          <a:p>
            <a:pPr eaLnBrk="1" hangingPunct="1"/>
            <a:r>
              <a:rPr lang="zh-CN" altLang="en-US"/>
              <a:t>2</a:t>
            </a:r>
            <a:r>
              <a:rPr lang="en-US" altLang="zh-CN"/>
              <a:t>.2</a:t>
            </a:r>
            <a:r>
              <a:rPr lang="zh-CN" altLang="en-US"/>
              <a:t>．用户的登录与注销（</a:t>
            </a:r>
            <a:r>
              <a:rPr lang="zh-CN" altLang="en-US">
                <a:solidFill>
                  <a:srgbClr val="FF0000"/>
                </a:solidFill>
              </a:rPr>
              <a:t>字符界面登录</a:t>
            </a:r>
            <a:r>
              <a:rPr lang="zh-CN" altLang="en-US"/>
              <a:t>）</a:t>
            </a:r>
          </a:p>
        </p:txBody>
      </p:sp>
      <p:sp>
        <p:nvSpPr>
          <p:cNvPr id="51203" name="内容占位符 2">
            <a:extLst>
              <a:ext uri="{FF2B5EF4-FFF2-40B4-BE49-F238E27FC236}">
                <a16:creationId xmlns:a16="http://schemas.microsoft.com/office/drawing/2014/main" id="{04072F68-A7BD-FC8A-8593-A355155B6A8A}"/>
              </a:ext>
            </a:extLst>
          </p:cNvPr>
          <p:cNvSpPr>
            <a:spLocks noGrp="1" noChangeArrowheads="1"/>
          </p:cNvSpPr>
          <p:nvPr>
            <p:ph idx="1"/>
          </p:nvPr>
        </p:nvSpPr>
        <p:spPr/>
        <p:txBody>
          <a:bodyPr/>
          <a:lstStyle/>
          <a:p>
            <a:pPr eaLnBrk="1" hangingPunct="1"/>
            <a:r>
              <a:rPr lang="zh-CN" altLang="en-US" sz="2400"/>
              <a:t>字符界面也叫终端界面。 root的提示符为</a:t>
            </a:r>
            <a:r>
              <a:rPr lang="zh-CN" altLang="en-US" sz="2400">
                <a:solidFill>
                  <a:srgbClr val="FF0000"/>
                </a:solidFill>
              </a:rPr>
              <a:t>“#”</a:t>
            </a:r>
            <a:r>
              <a:rPr lang="zh-CN" altLang="en-US" sz="2400"/>
              <a:t>，一般用户的提示符</a:t>
            </a:r>
            <a:r>
              <a:rPr lang="zh-CN" altLang="en-US" sz="2400">
                <a:solidFill>
                  <a:srgbClr val="FF0000"/>
                </a:solidFill>
              </a:rPr>
              <a:t>为“$”</a:t>
            </a:r>
          </a:p>
          <a:p>
            <a:pPr eaLnBrk="1" hangingPunct="1"/>
            <a:r>
              <a:rPr lang="zh-CN" altLang="en-US" sz="2400"/>
              <a:t>字符界面的登录过程与图形界面基本相同，只是所使用的界面不同而已。</a:t>
            </a:r>
          </a:p>
          <a:p>
            <a:pPr eaLnBrk="1" hangingPunct="1"/>
            <a:r>
              <a:rPr lang="zh-CN" altLang="en-US" sz="2400"/>
              <a:t>用户需要在字符登录界面中的“login：”后输入用户名，回车后在“Password：”后输入用户密码，最后回车就可以了。</a:t>
            </a:r>
          </a:p>
          <a:p>
            <a:pPr eaLnBrk="1" hangingPunct="1"/>
            <a:r>
              <a:rPr lang="zh-CN" altLang="en-US" sz="2400">
                <a:solidFill>
                  <a:srgbClr val="FF0000"/>
                </a:solidFill>
              </a:rPr>
              <a:t>注意：</a:t>
            </a:r>
            <a:r>
              <a:rPr lang="zh-CN" altLang="en-US" sz="2400"/>
              <a:t>当用户在“Password：”后输入密码时屏幕并不回显，用户只需要在输入密码完毕后回车就可以了。</a:t>
            </a:r>
          </a:p>
        </p:txBody>
      </p:sp>
      <p:pic>
        <p:nvPicPr>
          <p:cNvPr id="20483" name="图片 -2147482609">
            <a:extLst>
              <a:ext uri="{FF2B5EF4-FFF2-40B4-BE49-F238E27FC236}">
                <a16:creationId xmlns:a16="http://schemas.microsoft.com/office/drawing/2014/main" id="{5B901BF5-8A69-89E5-2935-498C026F8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1484313"/>
            <a:ext cx="8310563"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730485B6-B75F-81E6-677E-F85556825BDB}"/>
              </a:ext>
            </a:extLst>
          </p:cNvPr>
          <p:cNvSpPr>
            <a:spLocks noGrp="1" noChangeArrowheads="1"/>
          </p:cNvSpPr>
          <p:nvPr>
            <p:ph type="title"/>
          </p:nvPr>
        </p:nvSpPr>
        <p:spPr/>
        <p:txBody>
          <a:bodyPr/>
          <a:lstStyle/>
          <a:p>
            <a:pPr eaLnBrk="1" hangingPunct="1"/>
            <a:r>
              <a:rPr lang="zh-CN" altLang="en-US"/>
              <a:t>2.</a:t>
            </a:r>
            <a:r>
              <a:rPr lang="en-US" altLang="zh-CN"/>
              <a:t>2</a:t>
            </a:r>
            <a:r>
              <a:rPr lang="zh-CN" altLang="en-US"/>
              <a:t>.</a:t>
            </a:r>
            <a:r>
              <a:rPr lang="zh-CN" altLang="zh-CN"/>
              <a:t>用户的登录与注销</a:t>
            </a:r>
            <a:r>
              <a:rPr lang="zh-CN" altLang="en-US"/>
              <a:t>（注销）</a:t>
            </a:r>
          </a:p>
        </p:txBody>
      </p:sp>
      <p:sp>
        <p:nvSpPr>
          <p:cNvPr id="52227" name="内容占位符 2">
            <a:extLst>
              <a:ext uri="{FF2B5EF4-FFF2-40B4-BE49-F238E27FC236}">
                <a16:creationId xmlns:a16="http://schemas.microsoft.com/office/drawing/2014/main" id="{C54CFC28-5270-452C-CA7C-9B4FBD4AFD82}"/>
              </a:ext>
            </a:extLst>
          </p:cNvPr>
          <p:cNvSpPr>
            <a:spLocks noGrp="1" noChangeArrowheads="1"/>
          </p:cNvSpPr>
          <p:nvPr>
            <p:ph idx="1"/>
          </p:nvPr>
        </p:nvSpPr>
        <p:spPr/>
        <p:txBody>
          <a:bodyPr/>
          <a:lstStyle/>
          <a:p>
            <a:pPr eaLnBrk="1" hangingPunct="1"/>
            <a:r>
              <a:rPr lang="zh-CN" altLang="en-US"/>
              <a:t>当用户使用完系统或暂离开操作位置时，</a:t>
            </a:r>
            <a:r>
              <a:rPr lang="zh-CN" altLang="en-US" sz="3600">
                <a:solidFill>
                  <a:srgbClr val="FF0000"/>
                </a:solidFill>
              </a:rPr>
              <a:t>应该即时注销，需要时重新登录</a:t>
            </a:r>
            <a:r>
              <a:rPr lang="zh-CN" altLang="en-US"/>
              <a:t>，这样可以避免别有用心的人见缝插针地越权操作。在很多有安全要求的系统中，这既是安全的需要，也是制度的需要，尤其在安全级别要求较高的部门更是如此。</a:t>
            </a:r>
          </a:p>
          <a:p>
            <a:pPr eaLnBrk="1" hangingPunct="1"/>
            <a:r>
              <a:rPr lang="zh-CN" altLang="en-US"/>
              <a:t>但是用户注销不等于关机或关闭系统。注销是用户自己的事情，只是使用户自己退出系统或从系统签退，系统中的其他用户仍可继续工作，但关闭系统却会使得所有用户均不能工作了。</a:t>
            </a:r>
          </a:p>
        </p:txBody>
      </p:sp>
      <p:pic>
        <p:nvPicPr>
          <p:cNvPr id="52228" name="图片 -2147482608">
            <a:extLst>
              <a:ext uri="{FF2B5EF4-FFF2-40B4-BE49-F238E27FC236}">
                <a16:creationId xmlns:a16="http://schemas.microsoft.com/office/drawing/2014/main" id="{208FCF0A-689B-66AE-A721-C7910FE4D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725" y="2654300"/>
            <a:ext cx="11430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图片 -2147482607">
            <a:extLst>
              <a:ext uri="{FF2B5EF4-FFF2-40B4-BE49-F238E27FC236}">
                <a16:creationId xmlns:a16="http://schemas.microsoft.com/office/drawing/2014/main" id="{05D5CF30-303C-6A77-FACC-2F97EAF41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654300"/>
            <a:ext cx="139700" cy="11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8B79D184-764C-066E-2CED-768A37B791BF}"/>
              </a:ext>
            </a:extLst>
          </p:cNvPr>
          <p:cNvSpPr>
            <a:spLocks noGrp="1" noChangeArrowheads="1"/>
          </p:cNvSpPr>
          <p:nvPr>
            <p:ph type="title"/>
          </p:nvPr>
        </p:nvSpPr>
        <p:spPr/>
        <p:txBody>
          <a:bodyPr/>
          <a:lstStyle/>
          <a:p>
            <a:pPr eaLnBrk="1" hangingPunct="1"/>
            <a:r>
              <a:rPr lang="en-US" altLang="zh-CN"/>
              <a:t>1</a:t>
            </a:r>
            <a:r>
              <a:rPr lang="zh-CN" altLang="en-US"/>
              <a:t>、图形注销界面</a:t>
            </a:r>
          </a:p>
        </p:txBody>
      </p:sp>
      <p:pic>
        <p:nvPicPr>
          <p:cNvPr id="53251" name="内容占位符 -2147482606">
            <a:extLst>
              <a:ext uri="{FF2B5EF4-FFF2-40B4-BE49-F238E27FC236}">
                <a16:creationId xmlns:a16="http://schemas.microsoft.com/office/drawing/2014/main" id="{336BE3EC-FFBC-E392-1D82-2E59A4C908F2}"/>
              </a:ext>
            </a:extLst>
          </p:cNvPr>
          <p:cNvPicPr>
            <a:picLocks noGrp="1" noChangeAspect="1" noChangeArrowheads="1"/>
          </p:cNvPicPr>
          <p:nvPr>
            <p:ph idx="1"/>
          </p:nvPr>
        </p:nvPicPr>
        <p:blipFill>
          <a:blip r:embed="rId2">
            <a:lum bright="-20000" contrast="20000"/>
            <a:extLst>
              <a:ext uri="{28A0092B-C50C-407E-A947-70E740481C1C}">
                <a14:useLocalDpi xmlns:a14="http://schemas.microsoft.com/office/drawing/2010/main" val="0"/>
              </a:ext>
            </a:extLst>
          </a:blip>
          <a:srcRect/>
          <a:stretch>
            <a:fillRect/>
          </a:stretch>
        </p:blipFill>
        <p:spPr>
          <a:xfrm>
            <a:off x="1425575" y="625475"/>
            <a:ext cx="2498725" cy="2797175"/>
          </a:xfrm>
        </p:spPr>
      </p:pic>
      <p:pic>
        <p:nvPicPr>
          <p:cNvPr id="53252" name="图片 -2147482605">
            <a:extLst>
              <a:ext uri="{FF2B5EF4-FFF2-40B4-BE49-F238E27FC236}">
                <a16:creationId xmlns:a16="http://schemas.microsoft.com/office/drawing/2014/main" id="{3C58D6D7-4D56-F330-1328-5E54686391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731838"/>
            <a:ext cx="24638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文本框 99">
            <a:extLst>
              <a:ext uri="{FF2B5EF4-FFF2-40B4-BE49-F238E27FC236}">
                <a16:creationId xmlns:a16="http://schemas.microsoft.com/office/drawing/2014/main" id="{1D2B4222-11CD-9CEF-456C-62509D0951AB}"/>
              </a:ext>
            </a:extLst>
          </p:cNvPr>
          <p:cNvSpPr txBox="1">
            <a:spLocks noChangeArrowheads="1"/>
          </p:cNvSpPr>
          <p:nvPr/>
        </p:nvSpPr>
        <p:spPr bwMode="auto">
          <a:xfrm>
            <a:off x="1150938" y="3429000"/>
            <a:ext cx="66595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000">
                <a:solidFill>
                  <a:schemeClr val="tx1"/>
                </a:solidFill>
                <a:latin typeface="宋体" panose="02010600030101010101" pitchFamily="2" charset="-122"/>
              </a:rPr>
              <a:t>红帽系统</a:t>
            </a:r>
            <a:r>
              <a:rPr lang="en-US" altLang="zh-CN" sz="2000">
                <a:solidFill>
                  <a:schemeClr val="tx1"/>
                </a:solidFill>
                <a:latin typeface="宋体" panose="02010600030101010101" pitchFamily="2" charset="-122"/>
              </a:rPr>
              <a:t>GNOME</a:t>
            </a:r>
            <a:r>
              <a:rPr lang="zh-CN" altLang="en-US" sz="2000">
                <a:solidFill>
                  <a:schemeClr val="tx1"/>
                </a:solidFill>
                <a:latin typeface="宋体" panose="02010600030101010101" pitchFamily="2" charset="-122"/>
              </a:rPr>
              <a:t>状态栏菜单  </a:t>
            </a:r>
            <a:r>
              <a:rPr lang="zh-CN" altLang="en-US" sz="2000">
                <a:solidFill>
                  <a:schemeClr val="tx1"/>
                </a:solidFill>
                <a:latin typeface="Times New Roman" panose="02020603050405020304" pitchFamily="18" charset="0"/>
              </a:rPr>
              <a:t> </a:t>
            </a:r>
            <a:r>
              <a:rPr lang="zh-CN" altLang="en-US" sz="2000">
                <a:solidFill>
                  <a:schemeClr val="tx1"/>
                </a:solidFill>
                <a:latin typeface="宋体" panose="02010600030101010101" pitchFamily="2" charset="-122"/>
              </a:rPr>
              <a:t> </a:t>
            </a:r>
            <a:r>
              <a:rPr lang="en-US" altLang="zh-CN" sz="2000">
                <a:solidFill>
                  <a:schemeClr val="tx1"/>
                </a:solidFill>
                <a:latin typeface="Times New Roman" panose="02020603050405020304" pitchFamily="18" charset="0"/>
              </a:rPr>
              <a:t>Ubuntu Unity</a:t>
            </a:r>
            <a:r>
              <a:rPr lang="zh-CN" altLang="en-US" sz="2000">
                <a:solidFill>
                  <a:schemeClr val="tx1"/>
                </a:solidFill>
                <a:latin typeface="宋体" panose="02010600030101010101" pitchFamily="2" charset="-122"/>
              </a:rPr>
              <a:t>状态栏菜单</a:t>
            </a:r>
            <a:endParaRPr lang="zh-CN" altLang="en-US" sz="2000">
              <a:solidFill>
                <a:schemeClr val="tx1"/>
              </a:solidFill>
              <a:latin typeface="Tahoma" panose="020B0604030504040204" pitchFamily="34" charset="0"/>
            </a:endParaRPr>
          </a:p>
        </p:txBody>
      </p:sp>
      <p:pic>
        <p:nvPicPr>
          <p:cNvPr id="53254" name="图片 -2147482578">
            <a:extLst>
              <a:ext uri="{FF2B5EF4-FFF2-40B4-BE49-F238E27FC236}">
                <a16:creationId xmlns:a16="http://schemas.microsoft.com/office/drawing/2014/main" id="{A900505A-A66E-E5AF-0A7E-D01D13FD04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9338" y="3827463"/>
            <a:ext cx="159702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图片 -2147482604">
            <a:extLst>
              <a:ext uri="{FF2B5EF4-FFF2-40B4-BE49-F238E27FC236}">
                <a16:creationId xmlns:a16="http://schemas.microsoft.com/office/drawing/2014/main" id="{0DD10C17-3CBE-96D5-1740-B086BC18D5F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3925888"/>
            <a:ext cx="28686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文本框 3">
            <a:extLst>
              <a:ext uri="{FF2B5EF4-FFF2-40B4-BE49-F238E27FC236}">
                <a16:creationId xmlns:a16="http://schemas.microsoft.com/office/drawing/2014/main" id="{32609FE8-C154-4068-0A6D-C4ECC33BD9EF}"/>
              </a:ext>
            </a:extLst>
          </p:cNvPr>
          <p:cNvSpPr txBox="1">
            <a:spLocks noChangeArrowheads="1"/>
          </p:cNvSpPr>
          <p:nvPr/>
        </p:nvSpPr>
        <p:spPr bwMode="auto">
          <a:xfrm>
            <a:off x="1098550" y="5073650"/>
            <a:ext cx="64214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057400" indent="-228600">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en-US" altLang="zh-CN" sz="2000">
                <a:solidFill>
                  <a:schemeClr val="tx1"/>
                </a:solidFill>
                <a:latin typeface="宋体" panose="02010600030101010101" pitchFamily="2" charset="-122"/>
              </a:rPr>
              <a:t> </a:t>
            </a:r>
            <a:r>
              <a:rPr lang="zh-CN" altLang="en-US" sz="2000">
                <a:solidFill>
                  <a:schemeClr val="tx1"/>
                </a:solidFill>
                <a:latin typeface="宋体" panose="02010600030101010101" pitchFamily="2" charset="-122"/>
              </a:rPr>
              <a:t>红帽</a:t>
            </a:r>
            <a:r>
              <a:rPr lang="en-US" altLang="zh-CN" sz="2000">
                <a:solidFill>
                  <a:schemeClr val="tx1"/>
                </a:solidFill>
                <a:latin typeface="宋体" panose="02010600030101010101" pitchFamily="2" charset="-122"/>
              </a:rPr>
              <a:t>GNOME</a:t>
            </a:r>
            <a:r>
              <a:rPr lang="zh-CN" altLang="en-US" sz="2000">
                <a:solidFill>
                  <a:schemeClr val="tx1"/>
                </a:solidFill>
                <a:latin typeface="宋体" panose="02010600030101010101" pitchFamily="2" charset="-122"/>
              </a:rPr>
              <a:t>注销界面   </a:t>
            </a:r>
            <a:r>
              <a:rPr lang="zh-CN" altLang="en-US" sz="2000">
                <a:solidFill>
                  <a:schemeClr val="tx1"/>
                </a:solidFill>
                <a:latin typeface="Times New Roman" panose="02020603050405020304" pitchFamily="18" charset="0"/>
              </a:rPr>
              <a:t>           </a:t>
            </a:r>
            <a:r>
              <a:rPr lang="en-US" altLang="zh-CN" sz="2000">
                <a:solidFill>
                  <a:schemeClr val="tx1"/>
                </a:solidFill>
                <a:latin typeface="Times New Roman" panose="02020603050405020304" pitchFamily="18" charset="0"/>
              </a:rPr>
              <a:t>Ubuntu Unity</a:t>
            </a:r>
            <a:r>
              <a:rPr lang="zh-CN" altLang="en-US" sz="2000">
                <a:solidFill>
                  <a:schemeClr val="tx1"/>
                </a:solidFill>
                <a:latin typeface="宋体" panose="02010600030101010101" pitchFamily="2" charset="-122"/>
              </a:rPr>
              <a:t>注销界面</a:t>
            </a:r>
            <a:endParaRPr lang="zh-CN" altLang="en-US" sz="2000">
              <a:solidFill>
                <a:schemeClr val="tx1"/>
              </a:solidFill>
              <a:latin typeface="Tahoma" panose="020B060403050404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0D059176-60BE-71BF-FD62-B098A7865D5B}"/>
              </a:ext>
            </a:extLst>
          </p:cNvPr>
          <p:cNvSpPr>
            <a:spLocks noGrp="1" noChangeArrowheads="1"/>
          </p:cNvSpPr>
          <p:nvPr>
            <p:ph type="title"/>
          </p:nvPr>
        </p:nvSpPr>
        <p:spPr/>
        <p:txBody>
          <a:bodyPr/>
          <a:lstStyle/>
          <a:p>
            <a:pPr eaLnBrk="1" hangingPunct="1"/>
            <a:r>
              <a:rPr lang="zh-CN" altLang="en-US"/>
              <a:t>2．</a:t>
            </a:r>
            <a:r>
              <a:rPr lang="zh-CN" altLang="en-US">
                <a:solidFill>
                  <a:srgbClr val="FF0000"/>
                </a:solidFill>
              </a:rPr>
              <a:t>字符界面注销</a:t>
            </a:r>
          </a:p>
        </p:txBody>
      </p:sp>
      <p:sp>
        <p:nvSpPr>
          <p:cNvPr id="54275" name="内容占位符 2">
            <a:extLst>
              <a:ext uri="{FF2B5EF4-FFF2-40B4-BE49-F238E27FC236}">
                <a16:creationId xmlns:a16="http://schemas.microsoft.com/office/drawing/2014/main" id="{1CDCD644-5593-59C2-8108-577866828430}"/>
              </a:ext>
            </a:extLst>
          </p:cNvPr>
          <p:cNvSpPr>
            <a:spLocks noGrp="1" noChangeArrowheads="1"/>
          </p:cNvSpPr>
          <p:nvPr>
            <p:ph idx="1"/>
          </p:nvPr>
        </p:nvSpPr>
        <p:spPr/>
        <p:txBody>
          <a:bodyPr/>
          <a:lstStyle/>
          <a:p>
            <a:pPr eaLnBrk="1" hangingPunct="1"/>
            <a:r>
              <a:rPr lang="zh-CN" altLang="en-US" sz="5400"/>
              <a:t>在字符界面下可以通过以下方式注销。</a:t>
            </a:r>
          </a:p>
          <a:p>
            <a:pPr eaLnBrk="1" hangingPunct="1"/>
            <a:r>
              <a:rPr lang="zh-CN" altLang="en-US" sz="5400"/>
              <a:t>（1）输入Ctrl+D组合键。</a:t>
            </a:r>
          </a:p>
          <a:p>
            <a:pPr eaLnBrk="1" hangingPunct="1"/>
            <a:r>
              <a:rPr lang="zh-CN" altLang="en-US" sz="5400"/>
              <a:t>（2）执行命令exit。</a:t>
            </a:r>
          </a:p>
          <a:p>
            <a:pPr eaLnBrk="1" hangingPunct="1"/>
            <a:r>
              <a:rPr lang="zh-CN" altLang="en-US" sz="5400"/>
              <a:t>（3）执行命令logout。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B01AE8A0-3921-91F5-7346-D5FC4B4053DA}"/>
              </a:ext>
            </a:extLst>
          </p:cNvPr>
          <p:cNvSpPr>
            <a:spLocks noGrp="1" noChangeArrowheads="1"/>
          </p:cNvSpPr>
          <p:nvPr>
            <p:ph type="title"/>
          </p:nvPr>
        </p:nvSpPr>
        <p:spPr/>
        <p:txBody>
          <a:bodyPr/>
          <a:lstStyle/>
          <a:p>
            <a:pPr eaLnBrk="1" hangingPunct="1"/>
            <a:r>
              <a:rPr lang="zh-CN" altLang="en-US"/>
              <a:t>2.</a:t>
            </a:r>
            <a:r>
              <a:rPr lang="en-US" altLang="zh-CN"/>
              <a:t>3</a:t>
            </a:r>
            <a:r>
              <a:rPr lang="zh-CN" altLang="en-US"/>
              <a:t>  Linux系统的关闭与重启动</a:t>
            </a:r>
          </a:p>
        </p:txBody>
      </p:sp>
      <p:pic>
        <p:nvPicPr>
          <p:cNvPr id="55299" name="图片 4">
            <a:extLst>
              <a:ext uri="{FF2B5EF4-FFF2-40B4-BE49-F238E27FC236}">
                <a16:creationId xmlns:a16="http://schemas.microsoft.com/office/drawing/2014/main" id="{773E1F44-D08B-C225-01C1-6B9A869E8A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773238"/>
            <a:ext cx="7416800" cy="297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50AB7A57-E85E-4161-9F62-E1FBADC53BD1}"/>
              </a:ext>
            </a:extLst>
          </p:cNvPr>
          <p:cNvSpPr>
            <a:spLocks noGrp="1" noChangeArrowheads="1"/>
          </p:cNvSpPr>
          <p:nvPr>
            <p:ph type="title"/>
          </p:nvPr>
        </p:nvSpPr>
        <p:spPr/>
        <p:txBody>
          <a:bodyPr/>
          <a:lstStyle/>
          <a:p>
            <a:pPr eaLnBrk="1" hangingPunct="1"/>
            <a:r>
              <a:rPr lang="zh-CN" altLang="en-US"/>
              <a:t>2.</a:t>
            </a:r>
            <a:r>
              <a:rPr lang="en-US" altLang="zh-CN"/>
              <a:t>3</a:t>
            </a:r>
            <a:r>
              <a:rPr lang="zh-CN" altLang="en-US"/>
              <a:t>.1  </a:t>
            </a:r>
            <a:r>
              <a:rPr lang="zh-CN" altLang="en-US">
                <a:solidFill>
                  <a:srgbClr val="FF0000"/>
                </a:solidFill>
              </a:rPr>
              <a:t>字符界面</a:t>
            </a:r>
          </a:p>
        </p:txBody>
      </p:sp>
      <p:sp>
        <p:nvSpPr>
          <p:cNvPr id="56323" name="内容占位符 2">
            <a:extLst>
              <a:ext uri="{FF2B5EF4-FFF2-40B4-BE49-F238E27FC236}">
                <a16:creationId xmlns:a16="http://schemas.microsoft.com/office/drawing/2014/main" id="{B4FEB43E-6106-6FD6-0342-A2D77CDD5366}"/>
              </a:ext>
            </a:extLst>
          </p:cNvPr>
          <p:cNvSpPr>
            <a:spLocks noGrp="1" noChangeArrowheads="1"/>
          </p:cNvSpPr>
          <p:nvPr>
            <p:ph idx="1"/>
          </p:nvPr>
        </p:nvSpPr>
        <p:spPr/>
        <p:txBody>
          <a:bodyPr/>
          <a:lstStyle/>
          <a:p>
            <a:pPr eaLnBrk="1" hangingPunct="1"/>
            <a:r>
              <a:rPr lang="zh-CN" altLang="en-US" sz="4800"/>
              <a:t>在字符界面下常用的</a:t>
            </a:r>
            <a:r>
              <a:rPr lang="zh-CN" altLang="en-US" sz="4800">
                <a:solidFill>
                  <a:srgbClr val="FF0000"/>
                </a:solidFill>
              </a:rPr>
              <a:t>关机/重启命令</a:t>
            </a:r>
            <a:r>
              <a:rPr lang="zh-CN" altLang="en-US" sz="4800"/>
              <a:t>有halt、reboot、poweroff、shutdown和init等，它们都可以达到关闭或重启系统的目的，但每个命令的工作过程是不同的。</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E090DE1A-1F05-2176-5C14-30002F9E3FA1}"/>
              </a:ext>
            </a:extLst>
          </p:cNvPr>
          <p:cNvSpPr>
            <a:spLocks noGrp="1" noChangeArrowheads="1"/>
          </p:cNvSpPr>
          <p:nvPr>
            <p:ph type="title"/>
          </p:nvPr>
        </p:nvSpPr>
        <p:spPr/>
        <p:txBody>
          <a:bodyPr/>
          <a:lstStyle/>
          <a:p>
            <a:pPr eaLnBrk="1" hangingPunct="1"/>
            <a:r>
              <a:rPr lang="zh-CN" altLang="en-US"/>
              <a:t>1．</a:t>
            </a:r>
            <a:r>
              <a:rPr lang="zh-CN" altLang="en-US">
                <a:solidFill>
                  <a:srgbClr val="FF0000"/>
                </a:solidFill>
              </a:rPr>
              <a:t>halt命令</a:t>
            </a:r>
          </a:p>
        </p:txBody>
      </p:sp>
      <p:sp>
        <p:nvSpPr>
          <p:cNvPr id="57347" name="内容占位符 2">
            <a:extLst>
              <a:ext uri="{FF2B5EF4-FFF2-40B4-BE49-F238E27FC236}">
                <a16:creationId xmlns:a16="http://schemas.microsoft.com/office/drawing/2014/main" id="{50EBCB3C-1ED4-2CFC-5D94-0BD5438EA488}"/>
              </a:ext>
            </a:extLst>
          </p:cNvPr>
          <p:cNvSpPr>
            <a:spLocks noGrp="1" noChangeArrowheads="1"/>
          </p:cNvSpPr>
          <p:nvPr>
            <p:ph idx="1"/>
          </p:nvPr>
        </p:nvSpPr>
        <p:spPr/>
        <p:txBody>
          <a:bodyPr/>
          <a:lstStyle/>
          <a:p>
            <a:pPr eaLnBrk="1" hangingPunct="1"/>
            <a:r>
              <a:rPr lang="zh-CN" altLang="en-US" sz="4400"/>
              <a:t>halt</a:t>
            </a:r>
            <a:r>
              <a:rPr lang="zh-CN" altLang="en-US" sz="2400"/>
              <a:t>命令的功能是</a:t>
            </a:r>
            <a:r>
              <a:rPr lang="zh-CN" altLang="en-US" sz="4400">
                <a:solidFill>
                  <a:schemeClr val="tx1"/>
                </a:solidFill>
              </a:rPr>
              <a:t>关闭系统</a:t>
            </a:r>
            <a:r>
              <a:rPr lang="zh-CN" altLang="en-US" sz="2400"/>
              <a:t>，执行过程中，终止所有应用和系统进程，将所有数据写入存储介质，最后关闭系统。其常用方法为：</a:t>
            </a:r>
          </a:p>
          <a:p>
            <a:pPr eaLnBrk="1" hangingPunct="1"/>
            <a:r>
              <a:rPr lang="zh-CN" altLang="en-US" sz="5400"/>
              <a:t>   halt [-f] [-p]</a:t>
            </a:r>
          </a:p>
          <a:p>
            <a:pPr eaLnBrk="1" hangingPunct="1"/>
            <a:r>
              <a:rPr lang="zh-CN" altLang="en-US" sz="2400"/>
              <a:t>参数-f用于强制快速关机或重启；参数-p用于在关闭系统时关掉电源。</a:t>
            </a:r>
          </a:p>
          <a:p>
            <a:pPr eaLnBrk="1" hangingPunct="1"/>
            <a:r>
              <a:rPr lang="zh-CN" altLang="en-US" sz="2400"/>
              <a:t>一般情况下，使用-p参数时会在关闭系统后自动关闭电源。如果计算机不这样做，在看到消息“System halted.”后，可以手动关掉电源。</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069AD56D-A779-529D-3F1E-83F9BECF34E8}"/>
              </a:ext>
            </a:extLst>
          </p:cNvPr>
          <p:cNvSpPr>
            <a:spLocks noGrp="1" noChangeArrowheads="1"/>
          </p:cNvSpPr>
          <p:nvPr>
            <p:ph type="title"/>
          </p:nvPr>
        </p:nvSpPr>
        <p:spPr/>
        <p:txBody>
          <a:bodyPr/>
          <a:lstStyle/>
          <a:p>
            <a:pPr eaLnBrk="1" hangingPunct="1"/>
            <a:r>
              <a:rPr lang="zh-CN" altLang="en-US"/>
              <a:t>2．</a:t>
            </a:r>
            <a:r>
              <a:rPr lang="zh-CN" altLang="en-US">
                <a:solidFill>
                  <a:srgbClr val="FF0000"/>
                </a:solidFill>
              </a:rPr>
              <a:t>reboot命令</a:t>
            </a:r>
          </a:p>
        </p:txBody>
      </p:sp>
      <p:sp>
        <p:nvSpPr>
          <p:cNvPr id="58371" name="内容占位符 2">
            <a:extLst>
              <a:ext uri="{FF2B5EF4-FFF2-40B4-BE49-F238E27FC236}">
                <a16:creationId xmlns:a16="http://schemas.microsoft.com/office/drawing/2014/main" id="{DD9194C0-B51D-41AF-3349-98EC56CEDCB5}"/>
              </a:ext>
            </a:extLst>
          </p:cNvPr>
          <p:cNvSpPr>
            <a:spLocks noGrp="1" noChangeArrowheads="1"/>
          </p:cNvSpPr>
          <p:nvPr>
            <p:ph idx="1"/>
          </p:nvPr>
        </p:nvSpPr>
        <p:spPr>
          <a:xfrm>
            <a:off x="457200" y="620713"/>
            <a:ext cx="8208963" cy="2376487"/>
          </a:xfrm>
        </p:spPr>
        <p:txBody>
          <a:bodyPr/>
          <a:lstStyle/>
          <a:p>
            <a:pPr eaLnBrk="1" hangingPunct="1"/>
            <a:r>
              <a:rPr lang="zh-CN" altLang="en-US" sz="4800"/>
              <a:t>reboot的工作过程与halt几乎一样，但其在关闭系统时会重新启动它。</a:t>
            </a:r>
          </a:p>
        </p:txBody>
      </p:sp>
      <p:sp>
        <p:nvSpPr>
          <p:cNvPr id="58372" name="标题 1">
            <a:extLst>
              <a:ext uri="{FF2B5EF4-FFF2-40B4-BE49-F238E27FC236}">
                <a16:creationId xmlns:a16="http://schemas.microsoft.com/office/drawing/2014/main" id="{A0750486-9FB6-2401-416E-391218E601DC}"/>
              </a:ext>
            </a:extLst>
          </p:cNvPr>
          <p:cNvSpPr txBox="1">
            <a:spLocks noChangeArrowheads="1"/>
          </p:cNvSpPr>
          <p:nvPr/>
        </p:nvSpPr>
        <p:spPr bwMode="auto">
          <a:xfrm>
            <a:off x="107950" y="3068638"/>
            <a:ext cx="813593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87000"/>
              </a:lnSpc>
              <a:spcBef>
                <a:spcPct val="0"/>
              </a:spcBef>
              <a:spcAft>
                <a:spcPct val="0"/>
              </a:spcAft>
              <a:buFont typeface="Arial" panose="020B0604020202020204" pitchFamily="34" charset="0"/>
              <a:buNone/>
            </a:pPr>
            <a:r>
              <a:rPr lang="zh-CN" altLang="en-US" sz="3600">
                <a:ea typeface="华文新魏" panose="02010800040101010101" pitchFamily="2" charset="-122"/>
              </a:rPr>
              <a:t>3．</a:t>
            </a:r>
            <a:r>
              <a:rPr lang="zh-CN" altLang="en-US" sz="3600">
                <a:solidFill>
                  <a:srgbClr val="FF0000"/>
                </a:solidFill>
                <a:ea typeface="华文新魏" panose="02010800040101010101" pitchFamily="2" charset="-122"/>
              </a:rPr>
              <a:t>poweroff命令</a:t>
            </a:r>
          </a:p>
        </p:txBody>
      </p:sp>
      <p:sp>
        <p:nvSpPr>
          <p:cNvPr id="58373" name="内容占位符 2">
            <a:extLst>
              <a:ext uri="{FF2B5EF4-FFF2-40B4-BE49-F238E27FC236}">
                <a16:creationId xmlns:a16="http://schemas.microsoft.com/office/drawing/2014/main" id="{7816A15B-6D92-0EF9-B174-80B3850A8864}"/>
              </a:ext>
            </a:extLst>
          </p:cNvPr>
          <p:cNvSpPr txBox="1">
            <a:spLocks noChangeArrowheads="1"/>
          </p:cNvSpPr>
          <p:nvPr/>
        </p:nvSpPr>
        <p:spPr bwMode="auto">
          <a:xfrm>
            <a:off x="457200" y="3716338"/>
            <a:ext cx="8208963" cy="242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5400"/>
              <a:t>poweroff命令等价于halt -p，关闭系统时同时关掉电源。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604FBCFC-CC10-C205-E592-4280CA429ADA}"/>
              </a:ext>
            </a:extLst>
          </p:cNvPr>
          <p:cNvSpPr>
            <a:spLocks noGrp="1" noChangeArrowheads="1"/>
          </p:cNvSpPr>
          <p:nvPr>
            <p:ph type="title"/>
          </p:nvPr>
        </p:nvSpPr>
        <p:spPr/>
        <p:txBody>
          <a:bodyPr/>
          <a:lstStyle/>
          <a:p>
            <a:pPr eaLnBrk="1" hangingPunct="1"/>
            <a:r>
              <a:rPr lang="zh-CN" altLang="en-US"/>
              <a:t>4．</a:t>
            </a:r>
            <a:r>
              <a:rPr lang="zh-CN" altLang="en-US">
                <a:solidFill>
                  <a:srgbClr val="FF0000"/>
                </a:solidFill>
              </a:rPr>
              <a:t>shutdown命令</a:t>
            </a:r>
          </a:p>
        </p:txBody>
      </p:sp>
      <p:sp>
        <p:nvSpPr>
          <p:cNvPr id="59395" name="内容占位符 2">
            <a:extLst>
              <a:ext uri="{FF2B5EF4-FFF2-40B4-BE49-F238E27FC236}">
                <a16:creationId xmlns:a16="http://schemas.microsoft.com/office/drawing/2014/main" id="{FEF00C45-5C49-ED51-E4FA-B8AF5F30F0DE}"/>
              </a:ext>
            </a:extLst>
          </p:cNvPr>
          <p:cNvSpPr>
            <a:spLocks noGrp="1" noChangeArrowheads="1"/>
          </p:cNvSpPr>
          <p:nvPr>
            <p:ph idx="1"/>
          </p:nvPr>
        </p:nvSpPr>
        <p:spPr/>
        <p:txBody>
          <a:bodyPr/>
          <a:lstStyle/>
          <a:p>
            <a:pPr eaLnBrk="1" hangingPunct="1"/>
            <a:r>
              <a:rPr lang="zh-CN" altLang="en-US" sz="2400"/>
              <a:t>使用shutdown命令时，将</a:t>
            </a:r>
            <a:r>
              <a:rPr lang="zh-CN" altLang="en-US" sz="4000"/>
              <a:t>在关机前向系统内的所有用户发送通知或警告信息</a:t>
            </a:r>
            <a:r>
              <a:rPr lang="zh-CN" altLang="en-US" sz="2400"/>
              <a:t>，告诉系统发生了什么及如何处理，如系统要在什么时候关机或重启，请做好准备，并提前退出等。其用法为：</a:t>
            </a:r>
          </a:p>
          <a:p>
            <a:pPr eaLnBrk="1" hangingPunct="1"/>
            <a:r>
              <a:rPr lang="zh-CN" altLang="en-US" sz="4000"/>
              <a:t>shutdown [-krhfFc] time [wall msg]</a:t>
            </a:r>
          </a:p>
          <a:p>
            <a:pPr eaLnBrk="1" hangingPunct="1"/>
            <a:r>
              <a:rPr lang="zh-CN" altLang="en-US" sz="2400"/>
              <a:t>说明：当不带任何选项，比如，-h、-H、-r执行shutdown，默认切换到运行级1（单用户模式）；若要通过shutdown -c撤销已经发出的shutdown任务，则在以前的系统中，必须在与发出shutdown命令不同的终端上进行。</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79CF5AEB-078A-F0FB-A111-B784209B958F}"/>
              </a:ext>
            </a:extLst>
          </p:cNvPr>
          <p:cNvSpPr>
            <a:spLocks noGrp="1" noChangeArrowheads="1"/>
          </p:cNvSpPr>
          <p:nvPr>
            <p:ph type="title"/>
          </p:nvPr>
        </p:nvSpPr>
        <p:spPr/>
        <p:txBody>
          <a:bodyPr/>
          <a:lstStyle/>
          <a:p>
            <a:pPr eaLnBrk="1" hangingPunct="1"/>
            <a:r>
              <a:rPr lang="zh-CN" altLang="en-US">
                <a:sym typeface="宋体" panose="02010600030101010101" pitchFamily="2" charset="-122"/>
              </a:rPr>
              <a:t>shutdown</a:t>
            </a:r>
            <a:r>
              <a:rPr lang="zh-CN" altLang="en-US"/>
              <a:t>的部分参数</a:t>
            </a:r>
          </a:p>
        </p:txBody>
      </p:sp>
      <p:graphicFrame>
        <p:nvGraphicFramePr>
          <p:cNvPr id="2" name="表格 -1">
            <a:extLst>
              <a:ext uri="{FF2B5EF4-FFF2-40B4-BE49-F238E27FC236}">
                <a16:creationId xmlns:a16="http://schemas.microsoft.com/office/drawing/2014/main" id="{A11706C4-5195-A7D1-B175-7E1EEEFD6FAD}"/>
              </a:ext>
            </a:extLst>
          </p:cNvPr>
          <p:cNvGraphicFramePr>
            <a:graphicFrameLocks noGrp="1"/>
          </p:cNvGraphicFramePr>
          <p:nvPr/>
        </p:nvGraphicFramePr>
        <p:xfrm>
          <a:off x="684213" y="620713"/>
          <a:ext cx="7875587" cy="5727700"/>
        </p:xfrm>
        <a:graphic>
          <a:graphicData uri="http://schemas.openxmlformats.org/drawingml/2006/table">
            <a:tbl>
              <a:tblPr/>
              <a:tblGrid>
                <a:gridCol w="1274228">
                  <a:extLst>
                    <a:ext uri="{9D8B030D-6E8A-4147-A177-3AD203B41FA5}">
                      <a16:colId xmlns:a16="http://schemas.microsoft.com/office/drawing/2014/main" val="20000"/>
                    </a:ext>
                  </a:extLst>
                </a:gridCol>
                <a:gridCol w="6601359">
                  <a:extLst>
                    <a:ext uri="{9D8B030D-6E8A-4147-A177-3AD203B41FA5}">
                      <a16:colId xmlns:a16="http://schemas.microsoft.com/office/drawing/2014/main" val="20001"/>
                    </a:ext>
                  </a:extLst>
                </a:gridCol>
              </a:tblGrid>
              <a:tr h="62071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选项</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功</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能</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描</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述</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071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重启计算机</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071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-h/-H</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关机后关闭电源</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071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并不真正关机，只是</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发</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送警告信号给每位用户</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0409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取消目前</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已经提交的</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shutdown</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任务</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。该选项同时使用可有一个用来解释撤销关机的广播信息</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9190">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time</a:t>
                      </a: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指定关机时间。可为格式为</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hh:mm</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的绝对时间</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如</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，或相对时间（单位为分），如</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表示</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分钟后关机，</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表示</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now</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。若不指定则默认为</a:t>
                      </a:r>
                      <a:r>
                        <a:rPr kumimoji="0"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31552">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wall </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msg</a:t>
                      </a:r>
                      <a:endParaRPr kumimoji="0" lang="en-US" altLang="zh-CN"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广播信息。</a:t>
                      </a: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若不指定，系统提供默认信息</a:t>
                      </a:r>
                      <a:endPar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3F415DEF-E462-F2B7-4ECB-7198FB09BE3A}"/>
              </a:ext>
            </a:extLst>
          </p:cNvPr>
          <p:cNvSpPr>
            <a:spLocks noGrp="1" noChangeArrowheads="1"/>
          </p:cNvSpPr>
          <p:nvPr>
            <p:ph type="title"/>
          </p:nvPr>
        </p:nvSpPr>
        <p:spPr/>
        <p:txBody>
          <a:bodyPr/>
          <a:lstStyle/>
          <a:p>
            <a:pPr eaLnBrk="1" hangingPunct="1"/>
            <a:r>
              <a:rPr lang="zh-CN" altLang="en-US">
                <a:sym typeface="宋体" panose="02010600030101010101" pitchFamily="2" charset="-122"/>
              </a:rPr>
              <a:t>shutdown示例</a:t>
            </a:r>
            <a:endParaRPr lang="zh-CN" altLang="en-US"/>
          </a:p>
        </p:txBody>
      </p:sp>
      <p:sp>
        <p:nvSpPr>
          <p:cNvPr id="61443" name="内容占位符 2">
            <a:extLst>
              <a:ext uri="{FF2B5EF4-FFF2-40B4-BE49-F238E27FC236}">
                <a16:creationId xmlns:a16="http://schemas.microsoft.com/office/drawing/2014/main" id="{4DE61F64-30BD-EF11-9CAC-C74C3841804F}"/>
              </a:ext>
            </a:extLst>
          </p:cNvPr>
          <p:cNvSpPr>
            <a:spLocks noGrp="1" noChangeArrowheads="1"/>
          </p:cNvSpPr>
          <p:nvPr>
            <p:ph idx="1"/>
          </p:nvPr>
        </p:nvSpPr>
        <p:spPr>
          <a:xfrm>
            <a:off x="457200" y="620713"/>
            <a:ext cx="8578850" cy="5761037"/>
          </a:xfrm>
        </p:spPr>
        <p:txBody>
          <a:bodyPr/>
          <a:lstStyle/>
          <a:p>
            <a:pPr eaLnBrk="1" hangingPunct="1"/>
            <a:r>
              <a:rPr lang="zh-CN" altLang="en-US" sz="3200"/>
              <a:t>#shutdown -r now	#立刻重新启动</a:t>
            </a:r>
          </a:p>
          <a:p>
            <a:pPr eaLnBrk="1" hangingPunct="1"/>
            <a:r>
              <a:rPr lang="zh-CN" altLang="en-US" sz="3200"/>
              <a:t>#shutdown -h now	#立刻关机</a:t>
            </a:r>
          </a:p>
          <a:p>
            <a:pPr eaLnBrk="1" hangingPunct="1"/>
            <a:r>
              <a:rPr lang="zh-CN" altLang="en-US" sz="3200"/>
              <a:t>#shutdown -k now 'Hey Lets go now.'			#发出警告信息，但没有真关机</a:t>
            </a:r>
          </a:p>
          <a:p>
            <a:pPr eaLnBrk="1" hangingPunct="1"/>
            <a:r>
              <a:rPr lang="zh-CN" altLang="en-US" sz="3200"/>
              <a:t>#shutdown -h 10:42 "系统将在10:42关闭, 请届时退出"	#10:42分关机</a:t>
            </a:r>
          </a:p>
          <a:p>
            <a:pPr eaLnBrk="1" hangingPunct="1"/>
            <a:r>
              <a:rPr lang="zh-CN" altLang="en-US" sz="3200"/>
              <a:t>#shutdown -r +20 '20分钟后将重启系统，请提前退出' 	#20分钟后重启系统</a:t>
            </a:r>
          </a:p>
          <a:p>
            <a:pPr eaLnBrk="1" hangingPunct="1"/>
            <a:r>
              <a:rPr lang="zh-CN" altLang="en-US" sz="3200"/>
              <a:t>#shutdown -c 	#撤销已下达的shutdown命令</a:t>
            </a:r>
          </a:p>
          <a:p>
            <a:pPr eaLnBrk="1" hangingPunct="1"/>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EC7DA242-2E44-000E-D6EA-2ACA2B063E62}"/>
              </a:ext>
            </a:extLst>
          </p:cNvPr>
          <p:cNvSpPr>
            <a:spLocks noGrp="1" noChangeArrowheads="1"/>
          </p:cNvSpPr>
          <p:nvPr>
            <p:ph type="title"/>
          </p:nvPr>
        </p:nvSpPr>
        <p:spPr/>
        <p:txBody>
          <a:bodyPr/>
          <a:lstStyle/>
          <a:p>
            <a:pPr eaLnBrk="1" hangingPunct="1"/>
            <a:r>
              <a:rPr lang="zh-CN" altLang="en-US"/>
              <a:t>2.</a:t>
            </a:r>
            <a:r>
              <a:rPr lang="en-US" altLang="zh-CN"/>
              <a:t>3</a:t>
            </a:r>
            <a:r>
              <a:rPr lang="zh-CN" altLang="en-US"/>
              <a:t>.</a:t>
            </a:r>
            <a:r>
              <a:rPr lang="en-US" altLang="zh-CN"/>
              <a:t>2</a:t>
            </a:r>
            <a:r>
              <a:rPr lang="zh-CN" altLang="en-US"/>
              <a:t>  图形界面</a:t>
            </a:r>
          </a:p>
        </p:txBody>
      </p:sp>
      <p:sp>
        <p:nvSpPr>
          <p:cNvPr id="62467" name="内容占位符 2">
            <a:extLst>
              <a:ext uri="{FF2B5EF4-FFF2-40B4-BE49-F238E27FC236}">
                <a16:creationId xmlns:a16="http://schemas.microsoft.com/office/drawing/2014/main" id="{09A5C801-9963-AB9C-9BB4-E8F016AF81FD}"/>
              </a:ext>
            </a:extLst>
          </p:cNvPr>
          <p:cNvSpPr>
            <a:spLocks noGrp="1" noChangeArrowheads="1"/>
          </p:cNvSpPr>
          <p:nvPr>
            <p:ph idx="1"/>
          </p:nvPr>
        </p:nvSpPr>
        <p:spPr>
          <a:xfrm>
            <a:off x="179388" y="765175"/>
            <a:ext cx="8686800" cy="3095625"/>
          </a:xfrm>
        </p:spPr>
        <p:txBody>
          <a:bodyPr/>
          <a:lstStyle/>
          <a:p>
            <a:pPr eaLnBrk="1" hangingPunct="1"/>
            <a:r>
              <a:rPr lang="zh-CN" altLang="en-US"/>
              <a:t>在图形界面下，用户可以通过打开状态栏下拉菜单，然后单击“关机按钮”或“Shut Down”，最后在弹出的关机对话框的界面中选择“Power Off（关机）”或“Restart（重启）”进行关机、重启系统，当然也可以选择“Cancel（取消）”取消操作。</a:t>
            </a:r>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内容占位符 2">
            <a:extLst>
              <a:ext uri="{FF2B5EF4-FFF2-40B4-BE49-F238E27FC236}">
                <a16:creationId xmlns:a16="http://schemas.microsoft.com/office/drawing/2014/main" id="{81D2BF30-5818-BD38-AEDA-B420D392A237}"/>
              </a:ext>
            </a:extLst>
          </p:cNvPr>
          <p:cNvSpPr txBox="1">
            <a:spLocks/>
          </p:cNvSpPr>
          <p:nvPr/>
        </p:nvSpPr>
        <p:spPr bwMode="auto">
          <a:xfrm>
            <a:off x="179388" y="1844675"/>
            <a:ext cx="8569325" cy="201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5400"/>
              <a:t>第二章 作业 课后习题</a:t>
            </a:r>
            <a:endParaRPr lang="en-US" altLang="zh-CN" sz="5400"/>
          </a:p>
          <a:p>
            <a:pPr eaLnBrk="1" hangingPunct="1">
              <a:buFont typeface="Arial" panose="020B0604020202020204" pitchFamily="34" charset="0"/>
              <a:buNone/>
            </a:pPr>
            <a:r>
              <a:rPr lang="zh-CN" altLang="en-US" sz="5400"/>
              <a:t>  参见超星泛雅系统</a:t>
            </a: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1F51224-5548-AFC1-C0E4-128A8E903BDB}"/>
              </a:ext>
            </a:extLst>
          </p:cNvPr>
          <p:cNvSpPr>
            <a:spLocks noGrp="1"/>
          </p:cNvSpPr>
          <p:nvPr>
            <p:ph idx="1"/>
          </p:nvPr>
        </p:nvSpPr>
        <p:spPr>
          <a:xfrm>
            <a:off x="1619250" y="2205038"/>
            <a:ext cx="6769100" cy="2160587"/>
          </a:xfrm>
        </p:spPr>
        <p:txBody>
          <a:bodyPr/>
          <a:lstStyle/>
          <a:p>
            <a:pPr marL="0" indent="0">
              <a:buFont typeface="Arial" panose="020B0604020202020204" pitchFamily="34" charset="0"/>
              <a:buNone/>
              <a:defRPr/>
            </a:pPr>
            <a:r>
              <a:rPr lang="zh-CN" altLang="en-US" sz="9600" dirty="0">
                <a:latin typeface="+mj-ea"/>
                <a:ea typeface="+mj-ea"/>
              </a:rPr>
              <a:t>谢谢大家！</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 PL SungtiL GB"/>
        <a:ea typeface="华文新魏"/>
        <a:cs typeface=""/>
      </a:majorFont>
      <a:minorFont>
        <a:latin typeface="AR PL SungtiL GB"/>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4990</TotalTime>
  <Words>4978</Words>
  <Application>Microsoft Office PowerPoint</Application>
  <PresentationFormat>全屏显示(4:3)</PresentationFormat>
  <Paragraphs>324</Paragraphs>
  <Slides>54</Slides>
  <Notes>4</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0</vt:i4>
      </vt:variant>
      <vt:variant>
        <vt:lpstr>幻灯片标题</vt:lpstr>
      </vt:variant>
      <vt:variant>
        <vt:i4>54</vt:i4>
      </vt:variant>
    </vt:vector>
  </HeadingPairs>
  <TitlesOfParts>
    <vt:vector size="67" baseType="lpstr">
      <vt:lpstr>AR PL SungtiL GB</vt:lpstr>
      <vt:lpstr>StarSymbol</vt:lpstr>
      <vt:lpstr>黑体</vt:lpstr>
      <vt:lpstr>华文琥珀</vt:lpstr>
      <vt:lpstr>华文新魏</vt:lpstr>
      <vt:lpstr>宋体</vt:lpstr>
      <vt:lpstr>Arial</vt:lpstr>
      <vt:lpstr>Calibri</vt:lpstr>
      <vt:lpstr>Tahoma</vt:lpstr>
      <vt:lpstr>Times New Roman</vt:lpstr>
      <vt:lpstr>Wingdings</vt:lpstr>
      <vt:lpstr>默认设计模板</vt:lpstr>
      <vt:lpstr>自定义设计方案</vt:lpstr>
      <vt:lpstr>PowerPoint 演示文稿</vt:lpstr>
      <vt:lpstr>教学进度、考核</vt:lpstr>
      <vt:lpstr>目  录</vt:lpstr>
      <vt:lpstr>第一章 Linux系统与安全</vt:lpstr>
      <vt:lpstr>1.1 操作系统的安全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1.4、Linux操作系统的安全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第二章   系统入门  2.1  系统的开机与界面切换 2.2  用户的登录与注销 2.3  Linux系统的关闭与重启动 2.4  Linux系统的图形界面介绍（自学） </vt:lpstr>
      <vt:lpstr>第二章系统入门 2.1、系统的开机与界面切换</vt:lpstr>
      <vt:lpstr>PowerPoint 演示文稿</vt:lpstr>
      <vt:lpstr>第二章系统入门 2.1、系统的开机与界面切换</vt:lpstr>
      <vt:lpstr>第二章系统入门 </vt:lpstr>
      <vt:lpstr>2.2．用户的登录与注销（字符界面登录）</vt:lpstr>
      <vt:lpstr>2.2.用户的登录与注销（注销）</vt:lpstr>
      <vt:lpstr>1、图形注销界面</vt:lpstr>
      <vt:lpstr>2．字符界面注销</vt:lpstr>
      <vt:lpstr>2.3  Linux系统的关闭与重启动</vt:lpstr>
      <vt:lpstr>2.3.1  字符界面</vt:lpstr>
      <vt:lpstr>1．halt命令</vt:lpstr>
      <vt:lpstr>2．reboot命令</vt:lpstr>
      <vt:lpstr>4．shutdown命令</vt:lpstr>
      <vt:lpstr>shutdown的部分参数</vt:lpstr>
      <vt:lpstr>shutdown示例</vt:lpstr>
      <vt:lpstr>2.3.2  图形界面</vt:lpstr>
      <vt:lpstr>PowerPoint 演示文稿</vt:lpstr>
      <vt:lpstr>PowerPoint 演示文稿</vt:lpstr>
    </vt:vector>
  </TitlesOfParts>
  <Company>黑龙江大学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Linux操作系统</dc:title>
  <dc:creator>青巴图</dc:creator>
  <cp:lastModifiedBy>NA4264</cp:lastModifiedBy>
  <cp:revision>324</cp:revision>
  <dcterms:modified xsi:type="dcterms:W3CDTF">2025-09-08T10:11:03Z</dcterms:modified>
</cp:coreProperties>
</file>