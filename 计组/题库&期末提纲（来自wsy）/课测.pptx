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5" d="100"/>
          <a:sy n="65" d="100"/>
        </p:scale>
        <p:origin x="-1524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课堂测验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名词解释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存储字长、机器字长、指令字长</a:t>
            </a:r>
            <a:endParaRPr lang="en-US" altLang="zh-CN" dirty="0" smtClean="0"/>
          </a:p>
          <a:p>
            <a:r>
              <a:rPr lang="en-US" altLang="zh-CN" dirty="0" smtClean="0"/>
              <a:t>CPU</a:t>
            </a:r>
            <a:r>
              <a:rPr lang="zh-CN" altLang="en-US" dirty="0" smtClean="0"/>
              <a:t>、</a:t>
            </a:r>
            <a:r>
              <a:rPr lang="en-US" altLang="zh-CN" dirty="0" smtClean="0"/>
              <a:t>PC</a:t>
            </a:r>
            <a:r>
              <a:rPr lang="zh-CN" altLang="en-US" dirty="0" smtClean="0"/>
              <a:t>、</a:t>
            </a:r>
            <a:r>
              <a:rPr lang="en-US" altLang="zh-CN" dirty="0" smtClean="0"/>
              <a:t>IR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CU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ALU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ACC</a:t>
            </a:r>
            <a:r>
              <a:rPr lang="zh-CN" altLang="en-US" dirty="0" smtClean="0"/>
              <a:t>、</a:t>
            </a:r>
            <a:r>
              <a:rPr lang="en-US" altLang="zh-CN" dirty="0" smtClean="0"/>
              <a:t>MQ</a:t>
            </a:r>
            <a:endParaRPr lang="en-US" altLang="zh-CN" dirty="0" smtClean="0"/>
          </a:p>
          <a:p>
            <a:r>
              <a:rPr lang="en-US" altLang="zh-CN" dirty="0" smtClean="0"/>
              <a:t>X</a:t>
            </a:r>
            <a:r>
              <a:rPr lang="zh-CN" altLang="en-US" dirty="0" smtClean="0"/>
              <a:t>、</a:t>
            </a:r>
            <a:r>
              <a:rPr lang="en-US" altLang="zh-CN" dirty="0" smtClean="0"/>
              <a:t>MAR</a:t>
            </a:r>
            <a:r>
              <a:rPr lang="zh-CN" altLang="en-US" dirty="0" smtClean="0"/>
              <a:t>、</a:t>
            </a:r>
            <a:r>
              <a:rPr lang="en-US" altLang="zh-CN" dirty="0" smtClean="0"/>
              <a:t>MDR</a:t>
            </a:r>
            <a:r>
              <a:rPr lang="zh-CN" altLang="en-US" dirty="0" smtClean="0"/>
              <a:t>、</a:t>
            </a:r>
            <a:r>
              <a:rPr lang="en-US" altLang="zh-CN" dirty="0" smtClean="0"/>
              <a:t>I/O</a:t>
            </a:r>
            <a:r>
              <a:rPr lang="zh-CN" altLang="en-US" dirty="0" smtClean="0"/>
              <a:t>、</a:t>
            </a:r>
            <a:r>
              <a:rPr lang="en-US" altLang="zh-CN" dirty="0" smtClean="0"/>
              <a:t>MIPS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CPI</a:t>
            </a:r>
            <a:r>
              <a:rPr lang="zh-CN" altLang="en-US" dirty="0" smtClean="0"/>
              <a:t>、</a:t>
            </a:r>
            <a:r>
              <a:rPr lang="en-US" altLang="zh-CN" dirty="0" smtClean="0"/>
              <a:t>FLOPS</a:t>
            </a:r>
            <a:endParaRPr lang="en-US" altLang="zh-CN" dirty="0" smtClean="0"/>
          </a:p>
          <a:p>
            <a:r>
              <a:rPr lang="zh-CN" altLang="en-US" dirty="0" smtClean="0"/>
              <a:t>指令和数据都存于存储器中，计算机如何区分它们？</a:t>
            </a:r>
            <a:endParaRPr lang="en-US" altLang="zh-CN" smtClean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冯诺依曼计算机的特点？</a:t>
            </a:r>
            <a:endParaRPr lang="en-US" altLang="zh-CN" dirty="0" smtClean="0"/>
          </a:p>
          <a:p>
            <a:r>
              <a:rPr lang="zh-CN" altLang="en-US" dirty="0" smtClean="0"/>
              <a:t>如何理解计算机组成和计算机体系结构？</a:t>
            </a:r>
            <a:endParaRPr lang="en-US" altLang="zh-CN" dirty="0" smtClean="0"/>
          </a:p>
          <a:p>
            <a:r>
              <a:rPr lang="zh-CN" altLang="en-US" dirty="0" smtClean="0"/>
              <a:t>计算机的更新换代以什么为依据？</a:t>
            </a:r>
            <a:endParaRPr lang="en-US" altLang="zh-CN" dirty="0" smtClean="0"/>
          </a:p>
          <a:p>
            <a:r>
              <a:rPr lang="zh-CN" altLang="en-US" dirty="0" smtClean="0"/>
              <a:t>什么是摩尔定律？该定律是否永远有效？为什么？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什么是总线？总线传输有何特点？</a:t>
            </a:r>
            <a:endParaRPr lang="en-US" altLang="zh-CN" dirty="0" smtClean="0"/>
          </a:p>
          <a:p>
            <a:r>
              <a:rPr lang="zh-CN" altLang="en-US" dirty="0" smtClean="0"/>
              <a:t>总线如何分类？什么是系统总线？系统总线又分为几类？他们各有什么作用，他们与机器字长、存储字长、存储单元有何关系？</a:t>
            </a:r>
            <a:endParaRPr lang="en-US" altLang="zh-CN" dirty="0" smtClean="0"/>
          </a:p>
          <a:p>
            <a:r>
              <a:rPr lang="en-US" altLang="zh-CN" dirty="0" smtClean="0"/>
              <a:t>PCI</a:t>
            </a:r>
            <a:r>
              <a:rPr lang="zh-CN" altLang="en-US" dirty="0" smtClean="0"/>
              <a:t>、</a:t>
            </a:r>
            <a:r>
              <a:rPr lang="en-US" altLang="zh-CN" dirty="0" smtClean="0"/>
              <a:t>ISA</a:t>
            </a:r>
            <a:r>
              <a:rPr lang="zh-CN" altLang="en-US" smtClean="0"/>
              <a:t>、</a:t>
            </a:r>
            <a:r>
              <a:rPr lang="en-US" altLang="zh-CN" smtClean="0"/>
              <a:t>USB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RAM</a:t>
            </a:r>
            <a:r>
              <a:rPr lang="zh-CN" altLang="en-US" dirty="0" smtClean="0"/>
              <a:t>、</a:t>
            </a:r>
            <a:r>
              <a:rPr lang="en-US" altLang="zh-CN" dirty="0" smtClean="0"/>
              <a:t>ROM</a:t>
            </a:r>
            <a:r>
              <a:rPr lang="zh-CN" altLang="en-US" dirty="0" smtClean="0"/>
              <a:t>、</a:t>
            </a:r>
            <a:r>
              <a:rPr lang="en-US" altLang="zh-CN" dirty="0" smtClean="0"/>
              <a:t>SAM</a:t>
            </a:r>
            <a:r>
              <a:rPr lang="zh-CN" altLang="en-US" dirty="0" smtClean="0"/>
              <a:t>、</a:t>
            </a:r>
            <a:r>
              <a:rPr lang="en-US" altLang="zh-CN" dirty="0" smtClean="0"/>
              <a:t>DAM</a:t>
            </a:r>
            <a:r>
              <a:rPr lang="zh-CN" altLang="en-US" dirty="0" smtClean="0"/>
              <a:t>、</a:t>
            </a:r>
            <a:r>
              <a:rPr lang="en-US" altLang="zh-CN" dirty="0" smtClean="0"/>
              <a:t>EPROM</a:t>
            </a:r>
            <a:r>
              <a:rPr lang="zh-CN" altLang="en-US" dirty="0" smtClean="0"/>
              <a:t>、</a:t>
            </a:r>
            <a:r>
              <a:rPr lang="en-US" altLang="zh-CN" dirty="0" smtClean="0"/>
              <a:t>EEPROM</a:t>
            </a:r>
            <a:r>
              <a:rPr lang="zh-CN" altLang="en-US" dirty="0" smtClean="0"/>
              <a:t>、</a:t>
            </a:r>
            <a:r>
              <a:rPr lang="en-US" altLang="zh-CN" dirty="0" smtClean="0"/>
              <a:t>SRAM</a:t>
            </a:r>
            <a:r>
              <a:rPr lang="zh-CN" altLang="en-US" dirty="0" smtClean="0"/>
              <a:t>、</a:t>
            </a:r>
            <a:r>
              <a:rPr lang="en-US" altLang="zh-CN" dirty="0" smtClean="0"/>
              <a:t>DRAM</a:t>
            </a:r>
            <a:r>
              <a:rPr lang="zh-CN" altLang="en-US" dirty="0" smtClean="0"/>
              <a:t>、</a:t>
            </a:r>
            <a:r>
              <a:rPr lang="en-US" altLang="zh-CN" smtClean="0"/>
              <a:t>PROM</a:t>
            </a:r>
            <a:endParaRPr lang="en-US" altLang="zh-CN" dirty="0" smtClean="0"/>
          </a:p>
          <a:p>
            <a:r>
              <a:rPr lang="zh-CN" altLang="en-US" dirty="0" smtClean="0"/>
              <a:t>半导体存储芯片的译码电路驱动方式有哪两种？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 smtClean="0"/>
              <a:t>某机有</a:t>
            </a:r>
            <a:r>
              <a:rPr lang="en-US" altLang="zh-CN" dirty="0" smtClean="0"/>
              <a:t>17</a:t>
            </a:r>
            <a:r>
              <a:rPr lang="zh-CN" altLang="zh-CN" dirty="0" smtClean="0"/>
              <a:t>根地址线，字长</a:t>
            </a:r>
            <a:r>
              <a:rPr lang="en-US" altLang="zh-CN" dirty="0" smtClean="0"/>
              <a:t>16</a:t>
            </a:r>
            <a:r>
              <a:rPr lang="zh-CN" altLang="zh-CN" dirty="0" smtClean="0"/>
              <a:t>位，按字编址，使用</a:t>
            </a:r>
            <a:r>
              <a:rPr lang="en-US" altLang="zh-CN" dirty="0" smtClean="0"/>
              <a:t>32K*8</a:t>
            </a:r>
            <a:r>
              <a:rPr lang="zh-CN" altLang="zh-CN" dirty="0" smtClean="0"/>
              <a:t>的存储芯片构成其存储体。</a:t>
            </a:r>
            <a:endParaRPr lang="zh-CN" altLang="zh-CN" dirty="0" smtClean="0"/>
          </a:p>
          <a:p>
            <a:r>
              <a:rPr lang="zh-CN" altLang="zh-CN" dirty="0" smtClean="0"/>
              <a:t>（</a:t>
            </a:r>
            <a:r>
              <a:rPr lang="en-US" altLang="zh-CN" dirty="0" smtClean="0"/>
              <a:t>1</a:t>
            </a:r>
            <a:r>
              <a:rPr lang="zh-CN" altLang="zh-CN" dirty="0" smtClean="0"/>
              <a:t>）该存储体的容量是多大？</a:t>
            </a:r>
            <a:r>
              <a:rPr lang="en-US" altLang="zh-CN" dirty="0" smtClean="0"/>
              <a:t>       		</a:t>
            </a:r>
            <a:endParaRPr lang="zh-CN" altLang="zh-CN" dirty="0" smtClean="0"/>
          </a:p>
          <a:p>
            <a:r>
              <a:rPr lang="zh-CN" altLang="zh-CN" dirty="0" smtClean="0"/>
              <a:t>（</a:t>
            </a:r>
            <a:r>
              <a:rPr lang="en-US" altLang="zh-CN" dirty="0" smtClean="0"/>
              <a:t>2</a:t>
            </a:r>
            <a:r>
              <a:rPr lang="zh-CN" altLang="zh-CN" dirty="0" smtClean="0"/>
              <a:t>）</a:t>
            </a:r>
            <a:r>
              <a:rPr lang="en-US" altLang="zh-CN" dirty="0" smtClean="0"/>
              <a:t>32K*8</a:t>
            </a:r>
            <a:r>
              <a:rPr lang="zh-CN" altLang="zh-CN" dirty="0" smtClean="0"/>
              <a:t>的芯片地址线和数据线各有几根？</a:t>
            </a:r>
            <a:endParaRPr lang="zh-CN" altLang="zh-CN" dirty="0" smtClean="0"/>
          </a:p>
          <a:p>
            <a:r>
              <a:rPr lang="zh-CN" altLang="zh-CN" dirty="0" smtClean="0"/>
              <a:t>（</a:t>
            </a:r>
            <a:r>
              <a:rPr lang="en-US" altLang="zh-CN" dirty="0" smtClean="0"/>
              <a:t>3</a:t>
            </a:r>
            <a:r>
              <a:rPr lang="zh-CN" altLang="zh-CN" dirty="0" smtClean="0"/>
              <a:t>）构成该存储体需要</a:t>
            </a:r>
            <a:r>
              <a:rPr lang="en-US" altLang="zh-CN" dirty="0" smtClean="0"/>
              <a:t>32K*8</a:t>
            </a:r>
            <a:r>
              <a:rPr lang="zh-CN" altLang="zh-CN" dirty="0" smtClean="0"/>
              <a:t>的芯片几片？</a:t>
            </a:r>
            <a:endParaRPr lang="zh-CN" altLang="zh-CN" dirty="0" smtClean="0"/>
          </a:p>
          <a:p>
            <a:r>
              <a:rPr lang="zh-CN" altLang="zh-CN" dirty="0" smtClean="0"/>
              <a:t>（</a:t>
            </a:r>
            <a:r>
              <a:rPr lang="en-US" altLang="zh-CN" dirty="0" smtClean="0"/>
              <a:t>4</a:t>
            </a:r>
            <a:r>
              <a:rPr lang="zh-CN" altLang="zh-CN" smtClean="0"/>
              <a:t>）画出其存储器结构图。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altLang="zh-CN" dirty="0" smtClean="0"/>
              <a:t>CPU</a:t>
            </a:r>
            <a:r>
              <a:rPr lang="zh-CN" altLang="zh-CN" dirty="0" smtClean="0"/>
              <a:t>执行一段程序时．</a:t>
            </a:r>
            <a:r>
              <a:rPr lang="en-US" altLang="zh-CN" dirty="0" smtClean="0"/>
              <a:t>Cache</a:t>
            </a:r>
            <a:r>
              <a:rPr lang="zh-CN" altLang="zh-CN" dirty="0" smtClean="0"/>
              <a:t>完成存取的次数为</a:t>
            </a:r>
            <a:r>
              <a:rPr lang="en-US" altLang="zh-CN" dirty="0" smtClean="0"/>
              <a:t>4800</a:t>
            </a:r>
            <a:r>
              <a:rPr lang="zh-CN" altLang="zh-CN" dirty="0" smtClean="0"/>
              <a:t>次，主存完成存取的次数为</a:t>
            </a:r>
            <a:r>
              <a:rPr lang="en-US" altLang="zh-CN" dirty="0" smtClean="0"/>
              <a:t>200</a:t>
            </a:r>
            <a:r>
              <a:rPr lang="zh-CN" altLang="zh-CN" dirty="0" smtClean="0"/>
              <a:t>次，已知</a:t>
            </a:r>
            <a:r>
              <a:rPr lang="en-US" altLang="zh-CN" dirty="0" smtClean="0"/>
              <a:t>Cache</a:t>
            </a:r>
            <a:r>
              <a:rPr lang="zh-CN" altLang="zh-CN" dirty="0" smtClean="0"/>
              <a:t>存取周期为</a:t>
            </a:r>
            <a:r>
              <a:rPr lang="en-US" altLang="zh-CN" dirty="0" smtClean="0"/>
              <a:t>50ns</a:t>
            </a:r>
            <a:r>
              <a:rPr lang="zh-CN" altLang="zh-CN" dirty="0" smtClean="0"/>
              <a:t>，主存存取周期为</a:t>
            </a:r>
            <a:r>
              <a:rPr lang="en-US" altLang="zh-CN" dirty="0" smtClean="0"/>
              <a:t>250ns</a:t>
            </a:r>
            <a:r>
              <a:rPr lang="zh-CN" altLang="zh-CN" dirty="0" smtClean="0"/>
              <a:t>。求：</a:t>
            </a:r>
            <a:endParaRPr lang="zh-CN" altLang="zh-CN" dirty="0" smtClean="0"/>
          </a:p>
          <a:p>
            <a:pPr lvl="0"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r>
              <a:rPr lang="zh-CN" altLang="zh-CN" dirty="0" smtClean="0"/>
              <a:t>命中率</a:t>
            </a:r>
            <a:r>
              <a:rPr lang="en-US" altLang="zh-CN" dirty="0" smtClean="0"/>
              <a:t>				</a:t>
            </a:r>
            <a:endParaRPr lang="zh-CN" altLang="zh-CN" dirty="0" smtClean="0"/>
          </a:p>
          <a:p>
            <a:pPr lvl="0"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r>
              <a:rPr lang="zh-CN" altLang="zh-CN" dirty="0" smtClean="0"/>
              <a:t>平均访问时间。 </a:t>
            </a:r>
            <a:r>
              <a:rPr lang="en-US" altLang="zh-CN" dirty="0" smtClean="0"/>
              <a:t>	</a:t>
            </a:r>
            <a:endParaRPr lang="zh-CN" altLang="zh-CN" dirty="0" smtClean="0"/>
          </a:p>
          <a:p>
            <a:pPr lvl="0"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r>
              <a:rPr lang="en-US" altLang="zh-CN" dirty="0" smtClean="0"/>
              <a:t> Cache/</a:t>
            </a:r>
            <a:r>
              <a:rPr lang="zh-CN" altLang="zh-CN" dirty="0" smtClean="0"/>
              <a:t>主存系统的效率。</a:t>
            </a:r>
            <a:endParaRPr lang="en-US" altLang="zh-CN" dirty="0" smtClean="0"/>
          </a:p>
          <a:p>
            <a:pPr lvl="0"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）有</a:t>
            </a:r>
            <a:r>
              <a:rPr lang="en-US" altLang="zh-CN" dirty="0" smtClean="0"/>
              <a:t>Cache</a:t>
            </a:r>
            <a:r>
              <a:rPr lang="zh-CN" altLang="en-US" dirty="0" smtClean="0"/>
              <a:t>和无</a:t>
            </a:r>
            <a:r>
              <a:rPr lang="en-US" altLang="zh-CN" dirty="0" smtClean="0"/>
              <a:t>Cache</a:t>
            </a:r>
            <a:r>
              <a:rPr lang="zh-CN" altLang="en-US" dirty="0" smtClean="0"/>
              <a:t>比较，访存速度提高了多少倍？</a:t>
            </a:r>
            <a:r>
              <a:rPr lang="en-US" altLang="zh-CN" dirty="0" smtClean="0"/>
              <a:t>		</a:t>
            </a:r>
            <a:endParaRPr lang="zh-CN" altLang="zh-CN" dirty="0" smtClean="0"/>
          </a:p>
          <a:p>
            <a:r>
              <a:rPr lang="en-US" altLang="zh-CN" dirty="0" smtClean="0"/>
              <a:t>0111</a:t>
            </a:r>
            <a:r>
              <a:rPr lang="zh-CN" altLang="en-US" dirty="0" smtClean="0"/>
              <a:t>使用偶校验的汉明码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17681"/>
            <a:ext cx="8229600" cy="4525963"/>
          </a:xfrm>
        </p:spPr>
        <p:txBody>
          <a:bodyPr/>
          <a:lstStyle/>
          <a:p>
            <a:pPr lvl="0"/>
            <a:r>
              <a:rPr lang="zh-CN" altLang="zh-CN" dirty="0" smtClean="0"/>
              <a:t>某系统采用字</a:t>
            </a:r>
            <a:r>
              <a:rPr lang="zh-CN" altLang="en-US" dirty="0" smtClean="0"/>
              <a:t>节</a:t>
            </a:r>
            <a:r>
              <a:rPr lang="zh-CN" altLang="zh-CN" dirty="0" smtClean="0"/>
              <a:t>编址</a:t>
            </a:r>
            <a:r>
              <a:rPr lang="zh-CN" altLang="en-US" dirty="0" smtClean="0"/>
              <a:t>，</a:t>
            </a:r>
            <a:r>
              <a:rPr lang="zh-CN" altLang="zh-CN" dirty="0" smtClean="0"/>
              <a:t>主存容量为</a:t>
            </a:r>
            <a:r>
              <a:rPr lang="en-US" altLang="zh-CN" dirty="0" smtClean="0"/>
              <a:t>4MB</a:t>
            </a:r>
            <a:r>
              <a:rPr lang="zh-CN" altLang="zh-CN" dirty="0" smtClean="0"/>
              <a:t>，</a:t>
            </a:r>
            <a:r>
              <a:rPr lang="en-US" altLang="zh-CN" dirty="0" smtClean="0"/>
              <a:t>Cache</a:t>
            </a:r>
            <a:r>
              <a:rPr lang="zh-CN" altLang="zh-CN" dirty="0" smtClean="0"/>
              <a:t>容量为</a:t>
            </a:r>
            <a:r>
              <a:rPr lang="en-US" altLang="zh-CN" dirty="0" smtClean="0"/>
              <a:t>16KB</a:t>
            </a:r>
            <a:r>
              <a:rPr lang="zh-CN" altLang="zh-CN" dirty="0" smtClean="0"/>
              <a:t>，块长为</a:t>
            </a:r>
            <a:r>
              <a:rPr lang="en-US" altLang="zh-CN" dirty="0" smtClean="0"/>
              <a:t>8</a:t>
            </a:r>
            <a:r>
              <a:rPr lang="zh-CN" altLang="zh-CN" dirty="0" smtClean="0"/>
              <a:t>个字节。</a:t>
            </a:r>
            <a:endParaRPr lang="zh-CN" altLang="zh-CN" dirty="0" smtClean="0"/>
          </a:p>
          <a:p>
            <a:r>
              <a:rPr lang="zh-CN" altLang="zh-CN" dirty="0" smtClean="0"/>
              <a:t>（</a:t>
            </a:r>
            <a:r>
              <a:rPr lang="en-US" altLang="zh-CN" dirty="0" smtClean="0"/>
              <a:t>1</a:t>
            </a:r>
            <a:r>
              <a:rPr lang="zh-CN" altLang="zh-CN" dirty="0" smtClean="0"/>
              <a:t>）</a:t>
            </a:r>
            <a:r>
              <a:rPr lang="en-US" altLang="zh-CN" dirty="0" smtClean="0"/>
              <a:t>Cache</a:t>
            </a:r>
            <a:r>
              <a:rPr lang="zh-CN" altLang="zh-CN" dirty="0" smtClean="0"/>
              <a:t>中可装入多少块数据？（</a:t>
            </a:r>
            <a:r>
              <a:rPr lang="en-US" altLang="zh-CN" dirty="0" smtClean="0"/>
              <a:t>2</a:t>
            </a:r>
            <a:r>
              <a:rPr lang="zh-CN" altLang="zh-CN" dirty="0" smtClean="0"/>
              <a:t>分）</a:t>
            </a:r>
            <a:endParaRPr lang="zh-CN" altLang="zh-CN" dirty="0" smtClean="0"/>
          </a:p>
          <a:p>
            <a:r>
              <a:rPr lang="zh-CN" altLang="zh-CN" dirty="0" smtClean="0"/>
              <a:t>（</a:t>
            </a:r>
            <a:r>
              <a:rPr lang="en-US" altLang="zh-CN" dirty="0" smtClean="0"/>
              <a:t>2</a:t>
            </a:r>
            <a:r>
              <a:rPr lang="zh-CN" altLang="zh-CN" dirty="0" smtClean="0"/>
              <a:t>）在直接映射方式下，设计主存地址格式。</a:t>
            </a:r>
            <a:r>
              <a:rPr lang="en-US" altLang="zh-CN" dirty="0" smtClean="0"/>
              <a:t>          </a:t>
            </a:r>
            <a:r>
              <a:rPr lang="zh-CN" altLang="zh-CN" dirty="0" smtClean="0"/>
              <a:t>（</a:t>
            </a:r>
            <a:r>
              <a:rPr lang="en-US" altLang="zh-CN" dirty="0" smtClean="0"/>
              <a:t>2</a:t>
            </a:r>
            <a:r>
              <a:rPr lang="zh-CN" altLang="zh-CN" dirty="0" smtClean="0"/>
              <a:t>分）</a:t>
            </a:r>
            <a:endParaRPr lang="zh-CN" altLang="zh-CN" dirty="0" smtClean="0"/>
          </a:p>
          <a:p>
            <a:r>
              <a:rPr lang="zh-CN" altLang="zh-CN" dirty="0" smtClean="0"/>
              <a:t>（</a:t>
            </a:r>
            <a:r>
              <a:rPr lang="en-US" altLang="zh-CN" dirty="0" smtClean="0"/>
              <a:t>3</a:t>
            </a:r>
            <a:r>
              <a:rPr lang="zh-CN" altLang="zh-CN" dirty="0" smtClean="0"/>
              <a:t>）在四路组相联映射方式下，设计主存地址格式。</a:t>
            </a:r>
            <a:r>
              <a:rPr lang="en-US" altLang="zh-CN" dirty="0" smtClean="0"/>
              <a:t>    </a:t>
            </a:r>
            <a:r>
              <a:rPr lang="zh-CN" altLang="zh-CN" dirty="0" smtClean="0"/>
              <a:t>（</a:t>
            </a:r>
            <a:r>
              <a:rPr lang="en-US" altLang="zh-CN" dirty="0" smtClean="0"/>
              <a:t>2</a:t>
            </a:r>
            <a:r>
              <a:rPr lang="zh-CN" altLang="zh-CN" dirty="0" smtClean="0"/>
              <a:t>分）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zh-CN" altLang="en-US" dirty="0" smtClean="0"/>
              <a:t>机器字长</a:t>
            </a:r>
            <a:r>
              <a:rPr lang="en-US" altLang="zh-CN" dirty="0" smtClean="0"/>
              <a:t>8</a:t>
            </a:r>
            <a:r>
              <a:rPr lang="zh-CN" altLang="en-US" dirty="0" smtClean="0"/>
              <a:t>位，求下列真值的原码、补码、反码的机器数。</a:t>
            </a:r>
            <a:endParaRPr lang="en-US" altLang="zh-CN" dirty="0" smtClean="0"/>
          </a:p>
          <a:p>
            <a:pPr algn="just"/>
            <a:r>
              <a:rPr lang="en-US" altLang="zh-CN" dirty="0" smtClean="0"/>
              <a:t>0.1001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-0.1001</a:t>
            </a:r>
            <a:endParaRPr lang="en-US" altLang="zh-CN" dirty="0" smtClean="0"/>
          </a:p>
          <a:p>
            <a:pPr algn="just"/>
            <a:r>
              <a:rPr lang="en-US" altLang="zh-CN" dirty="0" smtClean="0"/>
              <a:t>0110</a:t>
            </a:r>
            <a:r>
              <a:rPr lang="zh-CN" altLang="en-US" dirty="0" smtClean="0"/>
              <a:t>、</a:t>
            </a:r>
            <a:r>
              <a:rPr lang="en-US" altLang="zh-CN" dirty="0" smtClean="0"/>
              <a:t>-0110</a:t>
            </a:r>
            <a:endParaRPr lang="en-US" altLang="zh-CN" dirty="0" smtClean="0"/>
          </a:p>
          <a:p>
            <a:pPr algn="just"/>
            <a:r>
              <a:rPr lang="en-US" altLang="zh-CN" dirty="0"/>
              <a:t>39/64   -39/64</a:t>
            </a:r>
            <a:endParaRPr lang="en-US" altLang="zh-C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zh-CN" dirty="0" smtClean="0"/>
              <a:t>机器字长为</a:t>
            </a:r>
            <a:r>
              <a:rPr lang="en-US" altLang="zh-CN" dirty="0" smtClean="0"/>
              <a:t>8</a:t>
            </a:r>
            <a:r>
              <a:rPr lang="zh-CN" altLang="zh-CN" dirty="0" smtClean="0"/>
              <a:t>位，其中</a:t>
            </a:r>
            <a:r>
              <a:rPr lang="en-US" altLang="zh-CN" dirty="0" smtClean="0"/>
              <a:t>A=17/64</a:t>
            </a:r>
            <a:r>
              <a:rPr lang="zh-CN" altLang="zh-CN" dirty="0" smtClean="0"/>
              <a:t>，</a:t>
            </a:r>
            <a:r>
              <a:rPr lang="en-US" altLang="zh-CN" dirty="0" smtClean="0"/>
              <a:t>B=-41/64</a:t>
            </a:r>
            <a:r>
              <a:rPr lang="zh-CN" altLang="zh-CN" dirty="0" smtClean="0"/>
              <a:t>，求出</a:t>
            </a:r>
            <a:r>
              <a:rPr lang="en-US" altLang="zh-CN" dirty="0" smtClean="0"/>
              <a:t>[A]</a:t>
            </a:r>
            <a:r>
              <a:rPr lang="zh-CN" altLang="zh-CN" baseline="-25000" dirty="0" smtClean="0"/>
              <a:t>补</a:t>
            </a:r>
            <a:r>
              <a:rPr lang="zh-CN" altLang="zh-CN" dirty="0" smtClean="0"/>
              <a:t>、</a:t>
            </a:r>
            <a:r>
              <a:rPr lang="en-US" altLang="zh-CN" dirty="0" smtClean="0"/>
              <a:t>[-A]</a:t>
            </a:r>
            <a:r>
              <a:rPr lang="zh-CN" altLang="zh-CN" baseline="-25000" dirty="0" smtClean="0"/>
              <a:t>补</a:t>
            </a:r>
            <a:r>
              <a:rPr lang="zh-CN" altLang="zh-CN" dirty="0" smtClean="0"/>
              <a:t>、</a:t>
            </a:r>
            <a:r>
              <a:rPr lang="en-US" altLang="zh-CN" dirty="0" smtClean="0"/>
              <a:t>[B]</a:t>
            </a:r>
            <a:r>
              <a:rPr lang="zh-CN" altLang="zh-CN" baseline="-25000" dirty="0" smtClean="0"/>
              <a:t>补</a:t>
            </a:r>
            <a:r>
              <a:rPr lang="zh-CN" altLang="zh-CN" dirty="0" smtClean="0"/>
              <a:t>、</a:t>
            </a:r>
            <a:r>
              <a:rPr lang="en-US" altLang="zh-CN" dirty="0" smtClean="0"/>
              <a:t>[-B]</a:t>
            </a:r>
            <a:r>
              <a:rPr lang="zh-CN" altLang="zh-CN" baseline="-25000" dirty="0" smtClean="0"/>
              <a:t>补</a:t>
            </a:r>
            <a:r>
              <a:rPr lang="zh-CN" altLang="zh-CN" dirty="0" smtClean="0"/>
              <a:t>、</a:t>
            </a:r>
            <a:r>
              <a:rPr lang="en-US" altLang="zh-CN" dirty="0" smtClean="0"/>
              <a:t>[A+B]</a:t>
            </a:r>
            <a:r>
              <a:rPr lang="zh-CN" altLang="zh-CN" baseline="-25000" dirty="0" smtClean="0"/>
              <a:t>补</a:t>
            </a:r>
            <a:r>
              <a:rPr lang="zh-CN" altLang="zh-CN" dirty="0" smtClean="0"/>
              <a:t>及</a:t>
            </a:r>
            <a:r>
              <a:rPr lang="en-US" altLang="zh-CN" dirty="0" smtClean="0"/>
              <a:t>A+B</a:t>
            </a:r>
            <a:r>
              <a:rPr lang="zh-CN" altLang="zh-CN" dirty="0" smtClean="0"/>
              <a:t>的真值。</a:t>
            </a:r>
            <a:r>
              <a:rPr lang="en-US" altLang="zh-CN" dirty="0" smtClean="0"/>
              <a:t>(6</a:t>
            </a:r>
            <a:r>
              <a:rPr lang="zh-CN" altLang="zh-CN" dirty="0" smtClean="0"/>
              <a:t>分</a:t>
            </a:r>
            <a:r>
              <a:rPr lang="en-US" altLang="zh-CN" dirty="0" smtClean="0"/>
              <a:t>)</a:t>
            </a:r>
            <a:r>
              <a:rPr lang="zh-CN" altLang="zh-CN" dirty="0" smtClean="0"/>
              <a:t>（每个</a:t>
            </a:r>
            <a:r>
              <a:rPr lang="en-US" altLang="zh-CN" dirty="0" smtClean="0"/>
              <a:t>1</a:t>
            </a:r>
            <a:r>
              <a:rPr lang="zh-CN" altLang="zh-CN" dirty="0" smtClean="0"/>
              <a:t>分）</a:t>
            </a:r>
            <a:endParaRPr lang="zh-CN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 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zh-CN" dirty="0" smtClean="0"/>
              <a:t>机器字长为</a:t>
            </a:r>
            <a:r>
              <a:rPr lang="en-US" altLang="zh-CN" dirty="0" smtClean="0"/>
              <a:t>8</a:t>
            </a:r>
            <a:r>
              <a:rPr lang="zh-CN" altLang="zh-CN" dirty="0" smtClean="0"/>
              <a:t>位，其中</a:t>
            </a:r>
            <a:r>
              <a:rPr lang="en-US" altLang="zh-CN" dirty="0" smtClean="0"/>
              <a:t>A=13/64</a:t>
            </a:r>
            <a:r>
              <a:rPr lang="zh-CN" altLang="zh-CN" dirty="0" smtClean="0"/>
              <a:t>，</a:t>
            </a:r>
            <a:r>
              <a:rPr lang="en-US" altLang="zh-CN" dirty="0" smtClean="0"/>
              <a:t>B=39/64</a:t>
            </a:r>
            <a:r>
              <a:rPr lang="zh-CN" altLang="zh-CN" dirty="0" smtClean="0"/>
              <a:t>，求出</a:t>
            </a:r>
            <a:r>
              <a:rPr lang="en-US" altLang="zh-CN" dirty="0" smtClean="0"/>
              <a:t>[A]</a:t>
            </a:r>
            <a:r>
              <a:rPr lang="zh-CN" altLang="zh-CN" baseline="-25000" dirty="0" smtClean="0"/>
              <a:t>补</a:t>
            </a:r>
            <a:r>
              <a:rPr lang="zh-CN" altLang="zh-CN" dirty="0" smtClean="0"/>
              <a:t>、</a:t>
            </a:r>
            <a:r>
              <a:rPr lang="en-US" altLang="zh-CN" dirty="0" smtClean="0"/>
              <a:t>[-A]</a:t>
            </a:r>
            <a:r>
              <a:rPr lang="zh-CN" altLang="zh-CN" baseline="-25000" dirty="0" smtClean="0"/>
              <a:t>补</a:t>
            </a:r>
            <a:r>
              <a:rPr lang="zh-CN" altLang="zh-CN" dirty="0" smtClean="0"/>
              <a:t>、</a:t>
            </a:r>
            <a:r>
              <a:rPr lang="en-US" altLang="zh-CN" dirty="0" smtClean="0"/>
              <a:t>[B]</a:t>
            </a:r>
            <a:r>
              <a:rPr lang="zh-CN" altLang="zh-CN" baseline="-25000" dirty="0" smtClean="0"/>
              <a:t>补</a:t>
            </a:r>
            <a:r>
              <a:rPr lang="zh-CN" altLang="zh-CN" dirty="0" smtClean="0"/>
              <a:t>、</a:t>
            </a:r>
            <a:r>
              <a:rPr lang="en-US" altLang="zh-CN" dirty="0" smtClean="0"/>
              <a:t>[-B]</a:t>
            </a:r>
            <a:r>
              <a:rPr lang="zh-CN" altLang="zh-CN" baseline="-25000" dirty="0" smtClean="0"/>
              <a:t>补</a:t>
            </a:r>
            <a:r>
              <a:rPr lang="zh-CN" altLang="zh-CN" dirty="0" smtClean="0"/>
              <a:t>、</a:t>
            </a:r>
            <a:r>
              <a:rPr lang="en-US" altLang="zh-CN" dirty="0" smtClean="0"/>
              <a:t>[A-B]</a:t>
            </a:r>
            <a:r>
              <a:rPr lang="zh-CN" altLang="zh-CN" baseline="-25000" dirty="0" smtClean="0"/>
              <a:t>补</a:t>
            </a:r>
            <a:r>
              <a:rPr lang="zh-CN" altLang="zh-CN" dirty="0" smtClean="0"/>
              <a:t>及</a:t>
            </a:r>
            <a:r>
              <a:rPr lang="en-US" altLang="zh-CN" dirty="0" smtClean="0"/>
              <a:t>A-B</a:t>
            </a:r>
            <a:r>
              <a:rPr lang="zh-CN" altLang="zh-CN" dirty="0" smtClean="0"/>
              <a:t>的真值。</a:t>
            </a:r>
            <a:r>
              <a:rPr lang="en-US" altLang="zh-CN" dirty="0" smtClean="0"/>
              <a:t>(6</a:t>
            </a:r>
            <a:r>
              <a:rPr lang="zh-CN" altLang="zh-CN" dirty="0" smtClean="0"/>
              <a:t>分</a:t>
            </a:r>
            <a:r>
              <a:rPr lang="en-US" altLang="zh-CN" dirty="0" smtClean="0"/>
              <a:t>)</a:t>
            </a:r>
            <a:endParaRPr lang="zh-CN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zh-CN" dirty="0" smtClean="0"/>
              <a:t>某机指令字长</a:t>
            </a:r>
            <a:r>
              <a:rPr lang="en-US" altLang="zh-CN" dirty="0" smtClean="0"/>
              <a:t>16</a:t>
            </a:r>
            <a:r>
              <a:rPr lang="zh-CN" altLang="zh-CN" dirty="0" smtClean="0"/>
              <a:t>位，采用扩展操作码方式设计指令系统，地址码为</a:t>
            </a:r>
            <a:r>
              <a:rPr lang="en-US" altLang="zh-CN" dirty="0" smtClean="0"/>
              <a:t>6</a:t>
            </a:r>
            <a:r>
              <a:rPr lang="zh-CN" altLang="zh-CN" dirty="0" smtClean="0"/>
              <a:t>位，</a:t>
            </a:r>
            <a:r>
              <a:rPr lang="en-US" altLang="zh-CN" dirty="0" smtClean="0"/>
              <a:t>2</a:t>
            </a:r>
            <a:r>
              <a:rPr lang="zh-CN" altLang="zh-CN" dirty="0" smtClean="0"/>
              <a:t>地址指令</a:t>
            </a:r>
            <a:r>
              <a:rPr lang="en-US" altLang="zh-CN" dirty="0" smtClean="0"/>
              <a:t>14</a:t>
            </a:r>
            <a:r>
              <a:rPr lang="zh-CN" altLang="zh-CN" dirty="0" smtClean="0"/>
              <a:t>条，</a:t>
            </a:r>
            <a:r>
              <a:rPr lang="en-US" altLang="zh-CN" dirty="0" smtClean="0"/>
              <a:t>1</a:t>
            </a:r>
            <a:r>
              <a:rPr lang="zh-CN" altLang="zh-CN" dirty="0" smtClean="0"/>
              <a:t>地址指令</a:t>
            </a:r>
            <a:r>
              <a:rPr lang="en-US" altLang="zh-CN" dirty="0" smtClean="0"/>
              <a:t>64</a:t>
            </a:r>
            <a:r>
              <a:rPr lang="zh-CN" altLang="zh-CN" dirty="0" smtClean="0"/>
              <a:t>条，</a:t>
            </a:r>
            <a:r>
              <a:rPr lang="en-US" altLang="zh-CN" dirty="0" smtClean="0"/>
              <a:t>0</a:t>
            </a:r>
            <a:r>
              <a:rPr lang="zh-CN" altLang="zh-CN" dirty="0" smtClean="0"/>
              <a:t>地址指</a:t>
            </a:r>
            <a:r>
              <a:rPr lang="en-US" altLang="zh-CN" dirty="0" smtClean="0"/>
              <a:t>64</a:t>
            </a:r>
            <a:r>
              <a:rPr lang="zh-CN" altLang="zh-CN" dirty="0" smtClean="0"/>
              <a:t>条。请给出指令的编码方案。（</a:t>
            </a:r>
            <a:r>
              <a:rPr lang="en-US" altLang="zh-CN" dirty="0" smtClean="0"/>
              <a:t>6</a:t>
            </a:r>
            <a:r>
              <a:rPr lang="zh-CN" altLang="zh-CN" smtClean="0"/>
              <a:t>分）</a:t>
            </a:r>
            <a:endParaRPr lang="zh-CN" altLang="zh-CN" smtClean="0"/>
          </a:p>
          <a:p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zh-CN" altLang="zh-CN" dirty="0" smtClean="0"/>
              <a:t>设某机有</a:t>
            </a:r>
            <a:r>
              <a:rPr lang="en-US" altLang="zh-CN" dirty="0" smtClean="0"/>
              <a:t>32</a:t>
            </a:r>
            <a:r>
              <a:rPr lang="zh-CN" altLang="zh-CN" dirty="0" smtClean="0"/>
              <a:t>个</a:t>
            </a:r>
            <a:r>
              <a:rPr lang="en-US" altLang="zh-CN" dirty="0" smtClean="0"/>
              <a:t>32</a:t>
            </a:r>
            <a:r>
              <a:rPr lang="zh-CN" altLang="zh-CN" dirty="0" smtClean="0"/>
              <a:t>位寄存器，存储字长等于机器字长等于指令字长，该机指令系统有</a:t>
            </a:r>
            <a:r>
              <a:rPr lang="en-US" altLang="zh-CN" dirty="0" smtClean="0"/>
              <a:t>153</a:t>
            </a:r>
            <a:r>
              <a:rPr lang="zh-CN" altLang="zh-CN" dirty="0" smtClean="0"/>
              <a:t>种操作，采用定长操作码，有立即寻址、直接寻址、间接寻址、相对寻址、基址寻址、变址寻址等寻址方式，有一地址和二地址两种指令格式。</a:t>
            </a:r>
            <a:endParaRPr lang="zh-CN" altLang="zh-CN" dirty="0" smtClean="0"/>
          </a:p>
          <a:p>
            <a:r>
              <a:rPr lang="en-US" altLang="zh-CN" dirty="0" smtClean="0"/>
              <a:t>1</a:t>
            </a:r>
            <a:r>
              <a:rPr lang="zh-CN" altLang="zh-CN" dirty="0" smtClean="0"/>
              <a:t>）对于一地址指令，指令可直接寻址的范围是多少？为什么？画出指令格式。（</a:t>
            </a:r>
            <a:r>
              <a:rPr lang="en-US" altLang="zh-CN" dirty="0" smtClean="0"/>
              <a:t>3</a:t>
            </a:r>
            <a:r>
              <a:rPr lang="zh-CN" altLang="zh-CN" dirty="0" smtClean="0"/>
              <a:t>分）</a:t>
            </a:r>
            <a:endParaRPr lang="zh-CN" altLang="zh-CN" dirty="0" smtClean="0"/>
          </a:p>
          <a:p>
            <a:r>
              <a:rPr lang="en-US" altLang="zh-CN" dirty="0" smtClean="0"/>
              <a:t>2</a:t>
            </a:r>
            <a:r>
              <a:rPr lang="zh-CN" altLang="zh-CN" dirty="0" smtClean="0"/>
              <a:t>）二地址指令为</a:t>
            </a:r>
            <a:r>
              <a:rPr lang="en-US" altLang="zh-CN" dirty="0" smtClean="0"/>
              <a:t>RM</a:t>
            </a:r>
            <a:r>
              <a:rPr lang="zh-CN" altLang="zh-CN" dirty="0" smtClean="0"/>
              <a:t>型，指令立即寻址的范围是多少（补码表示）？直接寻址可以访问的范围是多少？画出指令格式。（</a:t>
            </a:r>
            <a:r>
              <a:rPr lang="en-US" altLang="zh-CN" dirty="0" smtClean="0"/>
              <a:t>3</a:t>
            </a:r>
            <a:r>
              <a:rPr lang="zh-CN" altLang="zh-CN" dirty="0" smtClean="0"/>
              <a:t>分）</a:t>
            </a:r>
            <a:endParaRPr lang="zh-CN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zh-CN" dirty="0" smtClean="0"/>
              <a:t>在</a:t>
            </a:r>
            <a:r>
              <a:rPr lang="en-US" altLang="zh-CN" dirty="0" smtClean="0"/>
              <a:t>5</a:t>
            </a:r>
            <a:r>
              <a:rPr lang="zh-CN" altLang="zh-CN" dirty="0" smtClean="0"/>
              <a:t>个功能段的指令流水线中</a:t>
            </a:r>
            <a:r>
              <a:rPr lang="en-US" altLang="zh-CN" dirty="0" smtClean="0"/>
              <a:t>,</a:t>
            </a:r>
            <a:r>
              <a:rPr lang="zh-CN" altLang="zh-CN" dirty="0" smtClean="0"/>
              <a:t>每段的执行时间为</a:t>
            </a:r>
            <a:r>
              <a:rPr lang="en-US" altLang="zh-CN" dirty="0" smtClean="0"/>
              <a:t>20ns</a:t>
            </a:r>
            <a:r>
              <a:rPr lang="zh-CN" altLang="zh-CN" dirty="0" smtClean="0"/>
              <a:t>，共有</a:t>
            </a:r>
            <a:r>
              <a:rPr lang="en-US" altLang="zh-CN" dirty="0" smtClean="0"/>
              <a:t>16</a:t>
            </a:r>
            <a:r>
              <a:rPr lang="zh-CN" altLang="zh-CN" dirty="0" smtClean="0"/>
              <a:t>条指令连续输入此流水线。</a:t>
            </a:r>
            <a:endParaRPr lang="zh-CN" altLang="zh-CN" dirty="0" smtClean="0"/>
          </a:p>
          <a:p>
            <a:pPr lvl="0"/>
            <a:r>
              <a:rPr lang="zh-CN" altLang="zh-CN" dirty="0" smtClean="0"/>
              <a:t>求流水线的实际吞吐率（</a:t>
            </a:r>
            <a:r>
              <a:rPr lang="en-US" altLang="zh-CN" dirty="0" smtClean="0"/>
              <a:t>2</a:t>
            </a:r>
            <a:r>
              <a:rPr lang="zh-CN" altLang="zh-CN" dirty="0" smtClean="0"/>
              <a:t>分）</a:t>
            </a:r>
            <a:endParaRPr lang="zh-CN" altLang="zh-CN" dirty="0" smtClean="0"/>
          </a:p>
          <a:p>
            <a:pPr lvl="0"/>
            <a:r>
              <a:rPr lang="zh-CN" altLang="zh-CN" dirty="0" smtClean="0"/>
              <a:t>求流水线的加速比（</a:t>
            </a:r>
            <a:r>
              <a:rPr lang="en-US" altLang="zh-CN" dirty="0" smtClean="0"/>
              <a:t>2</a:t>
            </a:r>
            <a:r>
              <a:rPr lang="zh-CN" altLang="zh-CN" dirty="0" smtClean="0"/>
              <a:t>分）</a:t>
            </a:r>
            <a:endParaRPr lang="zh-CN" altLang="zh-CN" dirty="0" smtClean="0"/>
          </a:p>
          <a:p>
            <a:pPr lvl="0"/>
            <a:r>
              <a:rPr lang="zh-CN" altLang="zh-CN" dirty="0" smtClean="0"/>
              <a:t>求流水线的效率（</a:t>
            </a:r>
            <a:r>
              <a:rPr lang="en-US" altLang="zh-CN" dirty="0" smtClean="0"/>
              <a:t>2</a:t>
            </a:r>
            <a:r>
              <a:rPr lang="zh-CN" altLang="zh-CN" dirty="0" smtClean="0"/>
              <a:t>分）</a:t>
            </a:r>
            <a:endParaRPr lang="zh-CN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zh-CN" dirty="0" smtClean="0"/>
              <a:t>机器字长为</a:t>
            </a:r>
            <a:r>
              <a:rPr lang="en-US" altLang="zh-CN" dirty="0" smtClean="0"/>
              <a:t>8</a:t>
            </a:r>
            <a:r>
              <a:rPr lang="zh-CN" altLang="zh-CN" dirty="0" smtClean="0"/>
              <a:t>位，其中</a:t>
            </a:r>
            <a:r>
              <a:rPr lang="en-US" altLang="zh-CN" dirty="0" smtClean="0"/>
              <a:t>A=21/64</a:t>
            </a:r>
            <a:r>
              <a:rPr lang="zh-CN" altLang="zh-CN" dirty="0" smtClean="0"/>
              <a:t>，</a:t>
            </a:r>
            <a:r>
              <a:rPr lang="en-US" altLang="zh-CN" dirty="0" smtClean="0"/>
              <a:t>B=-55/64</a:t>
            </a:r>
            <a:r>
              <a:rPr lang="zh-CN" altLang="zh-CN" dirty="0" smtClean="0"/>
              <a:t>，求出</a:t>
            </a:r>
            <a:r>
              <a:rPr lang="en-US" altLang="zh-CN" dirty="0" smtClean="0"/>
              <a:t>[A]</a:t>
            </a:r>
            <a:r>
              <a:rPr lang="zh-CN" altLang="zh-CN" baseline="-25000" dirty="0" smtClean="0"/>
              <a:t>补</a:t>
            </a:r>
            <a:r>
              <a:rPr lang="zh-CN" altLang="zh-CN" dirty="0" smtClean="0"/>
              <a:t>、</a:t>
            </a:r>
            <a:r>
              <a:rPr lang="en-US" altLang="zh-CN" dirty="0" smtClean="0"/>
              <a:t>[-A]</a:t>
            </a:r>
            <a:r>
              <a:rPr lang="zh-CN" altLang="zh-CN" baseline="-25000" dirty="0" smtClean="0"/>
              <a:t>补</a:t>
            </a:r>
            <a:r>
              <a:rPr lang="zh-CN" altLang="zh-CN" dirty="0" smtClean="0"/>
              <a:t>、</a:t>
            </a:r>
            <a:r>
              <a:rPr lang="en-US" altLang="zh-CN" dirty="0" smtClean="0"/>
              <a:t>[B]</a:t>
            </a:r>
            <a:r>
              <a:rPr lang="zh-CN" altLang="zh-CN" baseline="-25000" dirty="0" smtClean="0"/>
              <a:t>补</a:t>
            </a:r>
            <a:r>
              <a:rPr lang="zh-CN" altLang="zh-CN" dirty="0" smtClean="0"/>
              <a:t>、</a:t>
            </a:r>
            <a:r>
              <a:rPr lang="en-US" altLang="zh-CN" dirty="0" smtClean="0"/>
              <a:t>[-B]</a:t>
            </a:r>
            <a:r>
              <a:rPr lang="zh-CN" altLang="zh-CN" baseline="-25000" dirty="0" smtClean="0"/>
              <a:t>补</a:t>
            </a:r>
            <a:r>
              <a:rPr lang="zh-CN" altLang="zh-CN" dirty="0" smtClean="0"/>
              <a:t>、</a:t>
            </a:r>
            <a:r>
              <a:rPr lang="en-US" altLang="zh-CN" dirty="0" smtClean="0"/>
              <a:t>[A+B]</a:t>
            </a:r>
            <a:r>
              <a:rPr lang="zh-CN" altLang="zh-CN" baseline="-25000" dirty="0" smtClean="0"/>
              <a:t>补</a:t>
            </a:r>
            <a:r>
              <a:rPr lang="zh-CN" altLang="zh-CN" dirty="0" smtClean="0"/>
              <a:t>及</a:t>
            </a:r>
            <a:r>
              <a:rPr lang="en-US" altLang="zh-CN" dirty="0" smtClean="0"/>
              <a:t>A+B</a:t>
            </a:r>
            <a:r>
              <a:rPr lang="zh-CN" altLang="zh-CN" dirty="0" smtClean="0"/>
              <a:t>的真值。</a:t>
            </a:r>
            <a:r>
              <a:rPr lang="en-US" altLang="zh-CN" dirty="0" smtClean="0"/>
              <a:t>(6</a:t>
            </a:r>
            <a:r>
              <a:rPr lang="zh-CN" altLang="zh-CN" dirty="0" smtClean="0"/>
              <a:t>分</a:t>
            </a:r>
            <a:r>
              <a:rPr lang="en-US" altLang="zh-CN" dirty="0" smtClean="0"/>
              <a:t>)</a:t>
            </a:r>
            <a:r>
              <a:rPr lang="zh-CN" altLang="zh-CN" dirty="0" smtClean="0"/>
              <a:t>（每个</a:t>
            </a:r>
            <a:r>
              <a:rPr lang="en-US" altLang="zh-CN" dirty="0" smtClean="0"/>
              <a:t>1</a:t>
            </a:r>
            <a:r>
              <a:rPr lang="zh-CN" altLang="zh-CN" dirty="0" smtClean="0"/>
              <a:t>分）</a:t>
            </a:r>
            <a:endParaRPr lang="zh-CN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1357</Words>
  <Application>WPS 演示</Application>
  <PresentationFormat>全屏显示(4:3)</PresentationFormat>
  <Paragraphs>70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课堂测验</vt:lpstr>
      <vt:lpstr>名词解释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课堂测验</dc:title>
  <dc:creator>Administrator</dc:creator>
  <cp:lastModifiedBy>林克</cp:lastModifiedBy>
  <cp:revision>23</cp:revision>
  <dcterms:created xsi:type="dcterms:W3CDTF">2023-09-04T00:59:00Z</dcterms:created>
  <dcterms:modified xsi:type="dcterms:W3CDTF">2025-04-01T02:06:50Z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7C769F554AF8424F904FCA5F49DFC495_12</vt:lpwstr>
  </property>
  <property fmtid="{D5CDD505-2E9C-101B-9397-08002B2CF9AE}" pid="3" name="KSOProductBuildVer">
    <vt:lpwstr>2052-12.1.0.20305</vt:lpwstr>
  </property>
</Properties>
</file>